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56" r:id="rId3"/>
    <p:sldId id="303" r:id="rId4"/>
    <p:sldId id="305" r:id="rId5"/>
    <p:sldId id="304" r:id="rId6"/>
    <p:sldId id="306" r:id="rId7"/>
    <p:sldId id="307" r:id="rId8"/>
    <p:sldId id="308" r:id="rId9"/>
    <p:sldId id="410" r:id="rId10"/>
    <p:sldId id="411" r:id="rId11"/>
    <p:sldId id="398" r:id="rId12"/>
    <p:sldId id="397" r:id="rId13"/>
    <p:sldId id="428" r:id="rId14"/>
    <p:sldId id="368" r:id="rId15"/>
    <p:sldId id="369" r:id="rId16"/>
    <p:sldId id="370" r:id="rId17"/>
    <p:sldId id="371" r:id="rId18"/>
    <p:sldId id="367" r:id="rId19"/>
    <p:sldId id="372" r:id="rId20"/>
    <p:sldId id="413" r:id="rId21"/>
    <p:sldId id="414" r:id="rId22"/>
    <p:sldId id="375" r:id="rId23"/>
    <p:sldId id="416" r:id="rId24"/>
    <p:sldId id="377" r:id="rId25"/>
    <p:sldId id="427" r:id="rId26"/>
    <p:sldId id="26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F48F0-C3A3-45A6-8153-E127CED709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59B49B-F519-4CDC-BBCB-A4BF35E0D1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CE217F-9882-402E-AE68-7230CEFECF99}"/>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5" name="Footer Placeholder 4">
            <a:extLst>
              <a:ext uri="{FF2B5EF4-FFF2-40B4-BE49-F238E27FC236}">
                <a16:creationId xmlns:a16="http://schemas.microsoft.com/office/drawing/2014/main" id="{01B1DBC9-CF52-4100-8473-E8EBED5EE6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4DD177-0813-4D42-B9E5-0E33B20FA29D}"/>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631558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C2ABA-DAA5-4327-B71C-BBD3BF701F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60226-DF4B-4929-A547-281189E5DE7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1D8C4E-7909-407D-A682-3827592C3333}"/>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5" name="Footer Placeholder 4">
            <a:extLst>
              <a:ext uri="{FF2B5EF4-FFF2-40B4-BE49-F238E27FC236}">
                <a16:creationId xmlns:a16="http://schemas.microsoft.com/office/drawing/2014/main" id="{A78DB55D-38E0-4CEB-8756-A26EE82476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0EF7B-64F6-483D-A44C-897CE4C308F6}"/>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3317188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83672-F2E5-4008-8926-0611EAB4AB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A6F3D8-AC44-49BA-95E2-F4B9C87C89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8E570E-9799-4780-B04C-7DD3110638F4}"/>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5" name="Footer Placeholder 4">
            <a:extLst>
              <a:ext uri="{FF2B5EF4-FFF2-40B4-BE49-F238E27FC236}">
                <a16:creationId xmlns:a16="http://schemas.microsoft.com/office/drawing/2014/main" id="{492D49CA-B56E-40E2-B5AE-BA0A6AF0A1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3F4516-7256-4324-BDE2-49026920057D}"/>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3558254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12091-100C-4A0A-A330-685AC8E6E8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FA74B3-5605-4520-BA7C-1D59EC2EBB6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80798D8-6FF6-4953-B760-9638355C5C7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208E5F-D725-4ED2-8F64-D0CE752E0282}"/>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6" name="Footer Placeholder 5">
            <a:extLst>
              <a:ext uri="{FF2B5EF4-FFF2-40B4-BE49-F238E27FC236}">
                <a16:creationId xmlns:a16="http://schemas.microsoft.com/office/drawing/2014/main" id="{5012A05E-F104-4C63-B92B-070501F15A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ECE4C1-6B63-440A-9E57-0745E6C7EC47}"/>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429234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65C8-3759-4C19-880C-B2E34F48E9B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C7D6B1-3CC2-45A3-A29B-AF101F0717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D2E79CC-EEAB-4B1C-8728-2D35D370E6E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5978150-8937-4BEE-AC9C-8FC6AEF29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814A35-D9DD-452A-A82A-241402DA211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5B9C64-81FE-4EFE-A45D-89BA0ABA7D49}"/>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8" name="Footer Placeholder 7">
            <a:extLst>
              <a:ext uri="{FF2B5EF4-FFF2-40B4-BE49-F238E27FC236}">
                <a16:creationId xmlns:a16="http://schemas.microsoft.com/office/drawing/2014/main" id="{5AAFD0E6-7F22-4798-BD80-E9F7267378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2363D8-3ED6-4D63-81A1-376C34F2761C}"/>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2863580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AC8B8-DD79-4B5A-81A6-032E9980E4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D18183-F41C-4248-8450-DC5D7A115204}"/>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4" name="Footer Placeholder 3">
            <a:extLst>
              <a:ext uri="{FF2B5EF4-FFF2-40B4-BE49-F238E27FC236}">
                <a16:creationId xmlns:a16="http://schemas.microsoft.com/office/drawing/2014/main" id="{E365529D-05A3-4DB2-AEA2-148EDFBA7EE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9209ED3-F235-44C7-8CDB-A44DDEFFFFF0}"/>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109409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32A06A-725D-4918-AFF6-50A076165DFB}"/>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3" name="Footer Placeholder 2">
            <a:extLst>
              <a:ext uri="{FF2B5EF4-FFF2-40B4-BE49-F238E27FC236}">
                <a16:creationId xmlns:a16="http://schemas.microsoft.com/office/drawing/2014/main" id="{0B8EA60E-EA31-4F9E-A0B2-75BE4F928E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5FFE51-5DBA-4C55-AACA-0147A2A1C6C0}"/>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3867421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2E5C-6F23-4793-96ED-73DE97883F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6C6990-0123-49FB-B5A7-40C12C4758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939A77-CA93-4C65-85B2-2B20DE7D9A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A8DCF38-6381-4BFA-BB1B-93A2B721B0FB}"/>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6" name="Footer Placeholder 5">
            <a:extLst>
              <a:ext uri="{FF2B5EF4-FFF2-40B4-BE49-F238E27FC236}">
                <a16:creationId xmlns:a16="http://schemas.microsoft.com/office/drawing/2014/main" id="{63077A9C-0A1D-41EF-BC68-D2C65BF06A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D31F57-1C6D-4361-8EBF-1CA2C3D60D54}"/>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3937444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79866-0C0B-42A2-A68B-2150120475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1E4601-8693-4344-92D8-D56E9B381C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67AF99-0097-40D9-8883-4B9C2C620E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9E5D310-91BF-479C-8EA8-E520FC72EBF3}"/>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6" name="Footer Placeholder 5">
            <a:extLst>
              <a:ext uri="{FF2B5EF4-FFF2-40B4-BE49-F238E27FC236}">
                <a16:creationId xmlns:a16="http://schemas.microsoft.com/office/drawing/2014/main" id="{565EBA06-544E-4DE2-883A-015D6EB62E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1D37A5-8C9A-44A5-9D3E-A81DF333445C}"/>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2459491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8AB-E622-4608-A3BC-671107B771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C49626-71B6-4DFD-9740-785DA071003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739CF8-6806-400F-9DA3-1C1BB44B6105}"/>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5" name="Footer Placeholder 4">
            <a:extLst>
              <a:ext uri="{FF2B5EF4-FFF2-40B4-BE49-F238E27FC236}">
                <a16:creationId xmlns:a16="http://schemas.microsoft.com/office/drawing/2014/main" id="{ECD01366-F6D0-47CE-B5BF-C1B09C23A7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027A80-F52E-4C3B-B821-3887CFD3FA5D}"/>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18157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24EF66-886D-484F-B90F-A9C63F3774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905568-2684-4041-A36E-FD259BB079A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437FB1-72BC-43AC-AAFB-DA3A8177E081}"/>
              </a:ext>
            </a:extLst>
          </p:cNvPr>
          <p:cNvSpPr>
            <a:spLocks noGrp="1"/>
          </p:cNvSpPr>
          <p:nvPr>
            <p:ph type="dt" sz="half" idx="10"/>
          </p:nvPr>
        </p:nvSpPr>
        <p:spPr/>
        <p:txBody>
          <a:bodyPr/>
          <a:lstStyle/>
          <a:p>
            <a:fld id="{4C0E4298-DF1A-4054-8523-9AEDD8C2D797}" type="datetimeFigureOut">
              <a:rPr lang="en-IN" smtClean="0"/>
              <a:t>29-08-2026</a:t>
            </a:fld>
            <a:endParaRPr lang="en-IN"/>
          </a:p>
        </p:txBody>
      </p:sp>
      <p:sp>
        <p:nvSpPr>
          <p:cNvPr id="5" name="Footer Placeholder 4">
            <a:extLst>
              <a:ext uri="{FF2B5EF4-FFF2-40B4-BE49-F238E27FC236}">
                <a16:creationId xmlns:a16="http://schemas.microsoft.com/office/drawing/2014/main" id="{EB9677FC-DD7B-431B-81A7-ED34BF03A6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23DD44-96C9-4952-87F9-5E021550C267}"/>
              </a:ext>
            </a:extLst>
          </p:cNvPr>
          <p:cNvSpPr>
            <a:spLocks noGrp="1"/>
          </p:cNvSpPr>
          <p:nvPr>
            <p:ph type="sldNum" sz="quarter" idx="12"/>
          </p:nvPr>
        </p:nvSpPr>
        <p:spPr/>
        <p:txBody>
          <a:bodyPr/>
          <a:lstStyle/>
          <a:p>
            <a:fld id="{95AB21B8-3DA7-4554-B43D-CE733F7F05D8}" type="slidenum">
              <a:rPr lang="en-IN" smtClean="0"/>
              <a:t>‹#›</a:t>
            </a:fld>
            <a:endParaRPr lang="en-IN"/>
          </a:p>
        </p:txBody>
      </p:sp>
    </p:spTree>
    <p:extLst>
      <p:ext uri="{BB962C8B-B14F-4D97-AF65-F5344CB8AC3E}">
        <p14:creationId xmlns:p14="http://schemas.microsoft.com/office/powerpoint/2010/main" val="1076340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DDE860-9F33-41D7-915F-DDAEF37CD6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AC02E2-4889-40BD-8F9C-FC69193381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107AEE-42D6-44B2-9641-8CF3512A49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E4298-DF1A-4054-8523-9AEDD8C2D797}" type="datetimeFigureOut">
              <a:rPr lang="en-IN" smtClean="0"/>
              <a:t>29-08-2026</a:t>
            </a:fld>
            <a:endParaRPr lang="en-IN"/>
          </a:p>
        </p:txBody>
      </p:sp>
      <p:sp>
        <p:nvSpPr>
          <p:cNvPr id="5" name="Footer Placeholder 4">
            <a:extLst>
              <a:ext uri="{FF2B5EF4-FFF2-40B4-BE49-F238E27FC236}">
                <a16:creationId xmlns:a16="http://schemas.microsoft.com/office/drawing/2014/main" id="{861548A6-4EAD-41C0-8944-656DE43D7E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ED6EA03-36F8-4FC5-8A31-E0DEDE4928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AB21B8-3DA7-4554-B43D-CE733F7F05D8}" type="slidenum">
              <a:rPr lang="en-IN" smtClean="0"/>
              <a:t>‹#›</a:t>
            </a:fld>
            <a:endParaRPr lang="en-IN"/>
          </a:p>
        </p:txBody>
      </p:sp>
    </p:spTree>
    <p:extLst>
      <p:ext uri="{BB962C8B-B14F-4D97-AF65-F5344CB8AC3E}">
        <p14:creationId xmlns:p14="http://schemas.microsoft.com/office/powerpoint/2010/main" val="1073108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2856321"/>
            <a:ext cx="9144000" cy="942001"/>
          </a:xfrm>
        </p:spPr>
        <p:txBody>
          <a:bodyPr>
            <a:normAutofit fontScale="90000"/>
          </a:bodyPr>
          <a:lstStyle/>
          <a:p>
            <a:br>
              <a:rPr lang="en-IN" sz="4000" dirty="0">
                <a:solidFill>
                  <a:srgbClr val="002060"/>
                </a:solidFill>
                <a:latin typeface="Arial Narrow" panose="020B0606020202030204" pitchFamily="34" charset="0"/>
              </a:rPr>
            </a:br>
            <a:br>
              <a:rPr lang="en-IN" sz="4000" dirty="0">
                <a:solidFill>
                  <a:srgbClr val="002060"/>
                </a:solidFill>
                <a:latin typeface="Arial Narrow" panose="020B0606020202030204" pitchFamily="34" charset="0"/>
              </a:rPr>
            </a:br>
            <a:r>
              <a:rPr lang="en-US" sz="4000">
                <a:solidFill>
                  <a:srgbClr val="002060"/>
                </a:solidFill>
                <a:latin typeface="Arial Narrow" panose="020B0606020202030204" pitchFamily="34" charset="0"/>
                <a:cs typeface="Times New Roman" panose="02020603050405020304" pitchFamily="18" charset="0"/>
              </a:rPr>
              <a:t>Transformers - III</a:t>
            </a: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582425"/>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8</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Part 3</a:t>
            </a: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E03CE7-A8E5-4994-8999-0DD16807EC57}"/>
              </a:ext>
            </a:extLst>
          </p:cNvPr>
          <p:cNvSpPr>
            <a:spLocks noGrp="1"/>
          </p:cNvSpPr>
          <p:nvPr>
            <p:ph type="title"/>
          </p:nvPr>
        </p:nvSpPr>
        <p:spPr/>
        <p:txBody>
          <a:bodyPr>
            <a:normAutofit/>
          </a:bodyPr>
          <a:lstStyle/>
          <a:p>
            <a:r>
              <a:rPr lang="en-IN" sz="3600" dirty="0">
                <a:latin typeface="Century" panose="02040604050505020304" pitchFamily="18" charset="0"/>
              </a:rPr>
              <a:t>Content</a:t>
            </a:r>
          </a:p>
        </p:txBody>
      </p:sp>
      <p:sp>
        <p:nvSpPr>
          <p:cNvPr id="5" name="Content Placeholder 4">
            <a:extLst>
              <a:ext uri="{FF2B5EF4-FFF2-40B4-BE49-F238E27FC236}">
                <a16:creationId xmlns:a16="http://schemas.microsoft.com/office/drawing/2014/main" id="{A38487B1-0776-4151-9C08-829E83A70DD1}"/>
              </a:ext>
            </a:extLst>
          </p:cNvPr>
          <p:cNvSpPr>
            <a:spLocks noGrp="1"/>
          </p:cNvSpPr>
          <p:nvPr>
            <p:ph idx="1"/>
          </p:nvPr>
        </p:nvSpPr>
        <p:spPr/>
        <p:txBody>
          <a:bodyPr/>
          <a:lstStyle/>
          <a:p>
            <a:r>
              <a:rPr lang="en-IN" dirty="0">
                <a:latin typeface="Arial Narrow" panose="020B0606020202030204" pitchFamily="34" charset="0"/>
              </a:rPr>
              <a:t>Transformer – Basics </a:t>
            </a:r>
          </a:p>
          <a:p>
            <a:r>
              <a:rPr lang="en-IN" dirty="0">
                <a:latin typeface="Arial Narrow" panose="020B0606020202030204" pitchFamily="34" charset="0"/>
              </a:rPr>
              <a:t>Transformer for Vision Tasks</a:t>
            </a:r>
          </a:p>
          <a:p>
            <a:r>
              <a:rPr lang="en-IN" dirty="0">
                <a:latin typeface="Arial Narrow" panose="020B0606020202030204" pitchFamily="34" charset="0"/>
              </a:rPr>
              <a:t>How Transformer differs from CNN?</a:t>
            </a:r>
          </a:p>
          <a:p>
            <a:r>
              <a:rPr lang="en-IN" dirty="0">
                <a:latin typeface="Arial Narrow" panose="020B0606020202030204" pitchFamily="34" charset="0"/>
              </a:rPr>
              <a:t>Transformer Architecture</a:t>
            </a:r>
          </a:p>
          <a:p>
            <a:r>
              <a:rPr lang="en-IN" dirty="0">
                <a:latin typeface="Arial Narrow" panose="020B0606020202030204" pitchFamily="34" charset="0"/>
              </a:rPr>
              <a:t>Transformer Encoder</a:t>
            </a:r>
          </a:p>
          <a:p>
            <a:pPr lvl="1"/>
            <a:r>
              <a:rPr lang="en-IN" dirty="0">
                <a:latin typeface="Arial Narrow" panose="020B0606020202030204" pitchFamily="34" charset="0"/>
              </a:rPr>
              <a:t>Input Embedding</a:t>
            </a:r>
          </a:p>
          <a:p>
            <a:pPr lvl="1"/>
            <a:r>
              <a:rPr lang="en-IN" dirty="0">
                <a:latin typeface="Arial Narrow" panose="020B0606020202030204" pitchFamily="34" charset="0"/>
              </a:rPr>
              <a:t>Positional Encoding</a:t>
            </a:r>
          </a:p>
          <a:p>
            <a:endParaRPr lang="en-IN" dirty="0"/>
          </a:p>
        </p:txBody>
      </p:sp>
    </p:spTree>
    <p:extLst>
      <p:ext uri="{BB962C8B-B14F-4D97-AF65-F5344CB8AC3E}">
        <p14:creationId xmlns:p14="http://schemas.microsoft.com/office/powerpoint/2010/main" val="3565702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3FDCA-E741-499F-B5C4-03826E3F1BCF}"/>
              </a:ext>
            </a:extLst>
          </p:cNvPr>
          <p:cNvSpPr>
            <a:spLocks noGrp="1"/>
          </p:cNvSpPr>
          <p:nvPr>
            <p:ph type="title"/>
          </p:nvPr>
        </p:nvSpPr>
        <p:spPr/>
        <p:txBody>
          <a:bodyPr>
            <a:normAutofit/>
          </a:bodyPr>
          <a:lstStyle/>
          <a:p>
            <a:r>
              <a:rPr lang="en-US" sz="3600" dirty="0">
                <a:latin typeface="Century" panose="02040604050505020304" pitchFamily="18" charset="0"/>
                <a:cs typeface="Times New Roman" panose="02020603050405020304" pitchFamily="18" charset="0"/>
              </a:rPr>
              <a:t>Transformers</a:t>
            </a:r>
            <a:endParaRPr lang="en-IN" sz="3600" dirty="0">
              <a:latin typeface="Century" panose="02040604050505020304" pitchFamily="18" charset="0"/>
            </a:endParaRPr>
          </a:p>
        </p:txBody>
      </p:sp>
      <p:sp>
        <p:nvSpPr>
          <p:cNvPr id="3" name="Content Placeholder 2">
            <a:extLst>
              <a:ext uri="{FF2B5EF4-FFF2-40B4-BE49-F238E27FC236}">
                <a16:creationId xmlns:a16="http://schemas.microsoft.com/office/drawing/2014/main" id="{2DC6D622-8552-40A4-8C89-87BD89719621}"/>
              </a:ext>
            </a:extLst>
          </p:cNvPr>
          <p:cNvSpPr>
            <a:spLocks noGrp="1"/>
          </p:cNvSpPr>
          <p:nvPr>
            <p:ph idx="1"/>
          </p:nvPr>
        </p:nvSpPr>
        <p:spPr>
          <a:xfrm>
            <a:off x="838200" y="1601507"/>
            <a:ext cx="6772835" cy="4351338"/>
          </a:xfrm>
        </p:spPr>
        <p:txBody>
          <a:bodyPr>
            <a:normAutofit lnSpcReduction="10000"/>
          </a:bodyPr>
          <a:lstStyle/>
          <a:p>
            <a:pPr algn="just"/>
            <a:r>
              <a:rPr lang="en-US" sz="2000" dirty="0">
                <a:latin typeface="Arial Narrow" panose="020B0606020202030204" pitchFamily="34" charset="0"/>
              </a:rPr>
              <a:t>Transformer is a powerful architecture for generative modelling that uses </a:t>
            </a:r>
            <a:r>
              <a:rPr lang="en-US" sz="2000" dirty="0">
                <a:solidFill>
                  <a:srgbClr val="7030A0"/>
                </a:solidFill>
                <a:latin typeface="Arial Narrow" panose="020B0606020202030204" pitchFamily="34" charset="0"/>
              </a:rPr>
              <a:t>attention mechanisms</a:t>
            </a:r>
            <a:r>
              <a:rPr lang="en-US" sz="2000" dirty="0">
                <a:latin typeface="Arial Narrow" panose="020B0606020202030204" pitchFamily="34" charset="0"/>
              </a:rPr>
              <a:t> to learn relationships between different elements of a sequence. </a:t>
            </a:r>
          </a:p>
          <a:p>
            <a:pPr algn="just"/>
            <a:endParaRPr lang="en-US" sz="2000" dirty="0">
              <a:latin typeface="Arial Narrow" panose="020B0606020202030204" pitchFamily="34" charset="0"/>
            </a:endParaRPr>
          </a:p>
          <a:p>
            <a:pPr algn="just"/>
            <a:r>
              <a:rPr lang="en-US" sz="2000" dirty="0">
                <a:solidFill>
                  <a:srgbClr val="7030A0"/>
                </a:solidFill>
                <a:latin typeface="Arial Narrow" panose="020B0606020202030204" pitchFamily="34" charset="0"/>
              </a:rPr>
              <a:t>Attention</a:t>
            </a:r>
            <a:r>
              <a:rPr lang="en-US" sz="2000" dirty="0">
                <a:latin typeface="Arial Narrow" panose="020B0606020202030204" pitchFamily="34" charset="0"/>
              </a:rPr>
              <a:t> allows the model to assign different levels of importance to input tokens when generating an output, enabling it to focus on the most relevant information.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A key component is </a:t>
            </a:r>
            <a:r>
              <a:rPr lang="en-US" sz="2000" dirty="0">
                <a:solidFill>
                  <a:srgbClr val="7030A0"/>
                </a:solidFill>
                <a:latin typeface="Arial Narrow" panose="020B0606020202030204" pitchFamily="34" charset="0"/>
              </a:rPr>
              <a:t>self-attention</a:t>
            </a:r>
            <a:r>
              <a:rPr lang="en-US" sz="2000" dirty="0">
                <a:latin typeface="Arial Narrow" panose="020B0606020202030204" pitchFamily="34" charset="0"/>
              </a:rPr>
              <a:t>, in which each token in a sequence interacts with every other token to determine their contextual relationships.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enables the Transformer to understand dependencies between words or tokens, even when they are far apart in the sequence. </a:t>
            </a:r>
          </a:p>
          <a:p>
            <a:pPr algn="just"/>
            <a:endParaRPr lang="en-US" sz="2000" dirty="0">
              <a:latin typeface="Arial Narrow" panose="020B0606020202030204" pitchFamily="34" charset="0"/>
            </a:endParaRPr>
          </a:p>
        </p:txBody>
      </p:sp>
      <p:pic>
        <p:nvPicPr>
          <p:cNvPr id="4" name="Picture 3">
            <a:extLst>
              <a:ext uri="{FF2B5EF4-FFF2-40B4-BE49-F238E27FC236}">
                <a16:creationId xmlns:a16="http://schemas.microsoft.com/office/drawing/2014/main" id="{CC9C1E3D-B32E-47FE-991A-4581CAA36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1035" y="1244647"/>
            <a:ext cx="3803448" cy="5513294"/>
          </a:xfrm>
          <a:prstGeom prst="rect">
            <a:avLst/>
          </a:prstGeom>
        </p:spPr>
      </p:pic>
      <p:sp>
        <p:nvSpPr>
          <p:cNvPr id="5" name="TextBox 4">
            <a:extLst>
              <a:ext uri="{FF2B5EF4-FFF2-40B4-BE49-F238E27FC236}">
                <a16:creationId xmlns:a16="http://schemas.microsoft.com/office/drawing/2014/main" id="{7C0EF265-6A38-4EC5-BD19-3629CE157C94}"/>
              </a:ext>
            </a:extLst>
          </p:cNvPr>
          <p:cNvSpPr txBox="1"/>
          <p:nvPr/>
        </p:nvSpPr>
        <p:spPr>
          <a:xfrm>
            <a:off x="153269" y="6488034"/>
            <a:ext cx="5753100"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Figure Source: Ashish Vaswani et. al. Attention is All You Need, NIPS 2017</a:t>
            </a:r>
          </a:p>
        </p:txBody>
      </p:sp>
    </p:spTree>
    <p:extLst>
      <p:ext uri="{BB962C8B-B14F-4D97-AF65-F5344CB8AC3E}">
        <p14:creationId xmlns:p14="http://schemas.microsoft.com/office/powerpoint/2010/main" val="4096253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AC8466-5CAC-4CBD-A330-7214D37FA62E}"/>
              </a:ext>
            </a:extLst>
          </p:cNvPr>
          <p:cNvSpPr>
            <a:spLocks noGrp="1"/>
          </p:cNvSpPr>
          <p:nvPr>
            <p:ph idx="1"/>
          </p:nvPr>
        </p:nvSpPr>
        <p:spPr>
          <a:xfrm>
            <a:off x="838199" y="1511860"/>
            <a:ext cx="7050741" cy="4351338"/>
          </a:xfrm>
        </p:spPr>
        <p:txBody>
          <a:bodyPr>
            <a:normAutofit fontScale="92500" lnSpcReduction="10000"/>
          </a:bodyPr>
          <a:lstStyle/>
          <a:p>
            <a:pPr algn="just"/>
            <a:r>
              <a:rPr lang="en-US" sz="2200" dirty="0">
                <a:latin typeface="Arial Narrow" panose="020B0606020202030204" pitchFamily="34" charset="0"/>
              </a:rPr>
              <a:t>Transformers further improve this process through </a:t>
            </a:r>
            <a:r>
              <a:rPr lang="en-US" sz="2200" dirty="0">
                <a:solidFill>
                  <a:srgbClr val="7030A0"/>
                </a:solidFill>
                <a:latin typeface="Arial Narrow" panose="020B0606020202030204" pitchFamily="34" charset="0"/>
              </a:rPr>
              <a:t>multi-head attention</a:t>
            </a:r>
            <a:r>
              <a:rPr lang="en-US" sz="2200" dirty="0">
                <a:latin typeface="Arial Narrow" panose="020B0606020202030204" pitchFamily="34" charset="0"/>
              </a:rPr>
              <a:t>, which runs </a:t>
            </a:r>
            <a:r>
              <a:rPr lang="en-US" sz="2200" dirty="0">
                <a:solidFill>
                  <a:srgbClr val="7030A0"/>
                </a:solidFill>
                <a:latin typeface="Arial Narrow" panose="020B0606020202030204" pitchFamily="34" charset="0"/>
              </a:rPr>
              <a:t>several self-attention mechanisms in parallel</a:t>
            </a:r>
            <a:r>
              <a:rPr lang="en-US" sz="2200" dirty="0">
                <a:latin typeface="Arial Narrow" panose="020B0606020202030204" pitchFamily="34" charset="0"/>
              </a:rPr>
              <a:t>, with </a:t>
            </a:r>
            <a:r>
              <a:rPr lang="en-US" sz="2200" dirty="0">
                <a:solidFill>
                  <a:srgbClr val="7030A0"/>
                </a:solidFill>
                <a:latin typeface="Arial Narrow" panose="020B0606020202030204" pitchFamily="34" charset="0"/>
              </a:rPr>
              <a:t>each head learning to capture different types of relationships</a:t>
            </a:r>
            <a:r>
              <a:rPr lang="en-US" sz="2200" dirty="0">
                <a:latin typeface="Arial Narrow" panose="020B0606020202030204" pitchFamily="34" charset="0"/>
              </a:rPr>
              <a:t> or patterns within the data.</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 By combining these attention mechanisms with </a:t>
            </a:r>
            <a:r>
              <a:rPr lang="en-US" sz="2200" dirty="0">
                <a:solidFill>
                  <a:srgbClr val="7030A0"/>
                </a:solidFill>
                <a:latin typeface="Arial Narrow" panose="020B0606020202030204" pitchFamily="34" charset="0"/>
              </a:rPr>
              <a:t>positional information and feed-forward layers</a:t>
            </a:r>
            <a:r>
              <a:rPr lang="en-US" sz="2200" dirty="0">
                <a:latin typeface="Arial Narrow" panose="020B0606020202030204" pitchFamily="34" charset="0"/>
              </a:rPr>
              <a:t>, Transformers can effectively </a:t>
            </a:r>
            <a:r>
              <a:rPr lang="en-US" sz="2200" dirty="0">
                <a:solidFill>
                  <a:srgbClr val="7030A0"/>
                </a:solidFill>
                <a:latin typeface="Arial Narrow" panose="020B0606020202030204" pitchFamily="34" charset="0"/>
              </a:rPr>
              <a:t>model complex dependencies and generate coherent text, images, code, and other forms of data</a:t>
            </a:r>
            <a:r>
              <a:rPr lang="en-US" sz="2200" dirty="0">
                <a:latin typeface="Arial Narrow" panose="020B0606020202030204" pitchFamily="34" charset="0"/>
              </a:rPr>
              <a:t>.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In generative models such as GPT, this architecture is used </a:t>
            </a:r>
            <a:r>
              <a:rPr lang="en-US" sz="2200" dirty="0">
                <a:solidFill>
                  <a:srgbClr val="7030A0"/>
                </a:solidFill>
                <a:latin typeface="Arial Narrow" panose="020B0606020202030204" pitchFamily="34" charset="0"/>
              </a:rPr>
              <a:t>autoregressively</a:t>
            </a:r>
            <a:r>
              <a:rPr lang="en-US" sz="2200" dirty="0">
                <a:latin typeface="Arial Narrow" panose="020B0606020202030204" pitchFamily="34" charset="0"/>
              </a:rPr>
              <a:t>, where the </a:t>
            </a:r>
            <a:r>
              <a:rPr lang="en-US" sz="2200" dirty="0">
                <a:solidFill>
                  <a:srgbClr val="7030A0"/>
                </a:solidFill>
                <a:latin typeface="Arial Narrow" panose="020B0606020202030204" pitchFamily="34" charset="0"/>
              </a:rPr>
              <a:t>model predicts the next token based on the previously generated tokens</a:t>
            </a:r>
            <a:r>
              <a:rPr lang="en-US" sz="2200" dirty="0">
                <a:latin typeface="Arial Narrow" panose="020B0606020202030204" pitchFamily="34" charset="0"/>
              </a:rPr>
              <a:t>, allowing it to produce new sequences that resemble the patterns learned during training.</a:t>
            </a:r>
            <a:endParaRPr lang="en-IN" sz="2200" dirty="0">
              <a:latin typeface="Arial Narrow" panose="020B0606020202030204" pitchFamily="34" charset="0"/>
            </a:endParaRPr>
          </a:p>
          <a:p>
            <a:endParaRPr lang="en-IN" dirty="0"/>
          </a:p>
        </p:txBody>
      </p:sp>
      <p:sp>
        <p:nvSpPr>
          <p:cNvPr id="4" name="Title 1">
            <a:extLst>
              <a:ext uri="{FF2B5EF4-FFF2-40B4-BE49-F238E27FC236}">
                <a16:creationId xmlns:a16="http://schemas.microsoft.com/office/drawing/2014/main" id="{24FDC356-1DFC-42CB-AE79-1E8E90FCF011}"/>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cs typeface="Times New Roman" panose="02020603050405020304" pitchFamily="18" charset="0"/>
              </a:rPr>
              <a:t>Transformers</a:t>
            </a:r>
            <a:endParaRPr lang="en-IN" sz="3600" dirty="0">
              <a:latin typeface="Century" panose="02040604050505020304" pitchFamily="18" charset="0"/>
            </a:endParaRPr>
          </a:p>
        </p:txBody>
      </p:sp>
      <p:pic>
        <p:nvPicPr>
          <p:cNvPr id="5" name="Picture 4">
            <a:extLst>
              <a:ext uri="{FF2B5EF4-FFF2-40B4-BE49-F238E27FC236}">
                <a16:creationId xmlns:a16="http://schemas.microsoft.com/office/drawing/2014/main" id="{6309C775-EFE6-493E-8E7D-6DDE78C270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9624" y="1282517"/>
            <a:ext cx="3803448" cy="5513294"/>
          </a:xfrm>
          <a:prstGeom prst="rect">
            <a:avLst/>
          </a:prstGeom>
        </p:spPr>
      </p:pic>
      <p:sp>
        <p:nvSpPr>
          <p:cNvPr id="6" name="TextBox 5">
            <a:extLst>
              <a:ext uri="{FF2B5EF4-FFF2-40B4-BE49-F238E27FC236}">
                <a16:creationId xmlns:a16="http://schemas.microsoft.com/office/drawing/2014/main" id="{C4C09EEB-9CB1-46B7-9EC7-C5496A73FD12}"/>
              </a:ext>
            </a:extLst>
          </p:cNvPr>
          <p:cNvSpPr txBox="1"/>
          <p:nvPr/>
        </p:nvSpPr>
        <p:spPr>
          <a:xfrm>
            <a:off x="153269" y="6488034"/>
            <a:ext cx="5753100"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Figure Source: Ashish Vaswani et. al. Attention is All You Need, NIPS 2017</a:t>
            </a:r>
          </a:p>
        </p:txBody>
      </p:sp>
    </p:spTree>
    <p:extLst>
      <p:ext uri="{BB962C8B-B14F-4D97-AF65-F5344CB8AC3E}">
        <p14:creationId xmlns:p14="http://schemas.microsoft.com/office/powerpoint/2010/main" val="878671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3BD2D-8199-429B-BA50-E3BF91B73837}"/>
              </a:ext>
            </a:extLst>
          </p:cNvPr>
          <p:cNvSpPr>
            <a:spLocks noGrp="1"/>
          </p:cNvSpPr>
          <p:nvPr>
            <p:ph type="title"/>
          </p:nvPr>
        </p:nvSpPr>
        <p:spPr/>
        <p:txBody>
          <a:bodyPr>
            <a:normAutofit fontScale="90000"/>
          </a:bodyPr>
          <a:lstStyle/>
          <a:p>
            <a:br>
              <a:rPr lang="en-IN" b="1" dirty="0"/>
            </a:br>
            <a:r>
              <a:rPr lang="en-IN" sz="4000" dirty="0">
                <a:latin typeface="Century" panose="02040604050505020304" pitchFamily="18" charset="0"/>
              </a:rPr>
              <a:t>Attention Mechanism</a:t>
            </a:r>
            <a:br>
              <a:rPr lang="en-IN" b="1"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C29E65-E4D3-4D3D-A0B8-174042687AE2}"/>
                  </a:ext>
                </a:extLst>
              </p:cNvPr>
              <p:cNvSpPr>
                <a:spLocks noGrp="1"/>
              </p:cNvSpPr>
              <p:nvPr>
                <p:ph idx="1"/>
              </p:nvPr>
            </p:nvSpPr>
            <p:spPr>
              <a:xfrm>
                <a:off x="838200" y="1608807"/>
                <a:ext cx="10515600" cy="4707151"/>
              </a:xfrm>
            </p:spPr>
            <p:txBody>
              <a:bodyPr>
                <a:normAutofit/>
              </a:bodyPr>
              <a:lstStyle/>
              <a:p>
                <a:r>
                  <a:rPr lang="en-US" sz="2000" dirty="0">
                    <a:solidFill>
                      <a:srgbClr val="7030A0"/>
                    </a:solidFill>
                    <a:latin typeface="Arial Narrow" panose="020B0606020202030204" pitchFamily="34" charset="0"/>
                  </a:rPr>
                  <a:t>Attention</a:t>
                </a:r>
                <a:r>
                  <a:rPr lang="en-US" sz="2000" dirty="0">
                    <a:latin typeface="Arial Narrow" panose="020B0606020202030204" pitchFamily="34" charset="0"/>
                  </a:rPr>
                  <a:t> allows a model to determine which parts of the input are most relevant for producing an output.</a:t>
                </a:r>
              </a:p>
              <a:p>
                <a:r>
                  <a:rPr lang="en-US" sz="2000" dirty="0">
                    <a:latin typeface="Arial Narrow" panose="020B0606020202030204" pitchFamily="34" charset="0"/>
                  </a:rPr>
                  <a:t>Each token is represented using three vectors:</a:t>
                </a:r>
              </a:p>
              <a:p>
                <a:pPr lvl="1"/>
                <a:r>
                  <a:rPr lang="en-US" sz="2000" dirty="0">
                    <a:solidFill>
                      <a:srgbClr val="7030A0"/>
                    </a:solidFill>
                    <a:latin typeface="Arial Narrow" panose="020B0606020202030204" pitchFamily="34" charset="0"/>
                  </a:rPr>
                  <a:t>Query (Q):</a:t>
                </a:r>
                <a:r>
                  <a:rPr lang="en-US" sz="2000" dirty="0">
                    <a:latin typeface="Arial Narrow" panose="020B0606020202030204" pitchFamily="34" charset="0"/>
                  </a:rPr>
                  <a:t> What information am I looking for?</a:t>
                </a:r>
              </a:p>
              <a:p>
                <a:pPr lvl="1"/>
                <a:r>
                  <a:rPr lang="en-US" sz="2000" dirty="0">
                    <a:solidFill>
                      <a:srgbClr val="7030A0"/>
                    </a:solidFill>
                    <a:latin typeface="Arial Narrow" panose="020B0606020202030204" pitchFamily="34" charset="0"/>
                  </a:rPr>
                  <a:t>Key (K):</a:t>
                </a:r>
                <a:r>
                  <a:rPr lang="en-US" sz="2000" dirty="0">
                    <a:latin typeface="Arial Narrow" panose="020B0606020202030204" pitchFamily="34" charset="0"/>
                  </a:rPr>
                  <a:t> What information do I contain?</a:t>
                </a:r>
              </a:p>
              <a:p>
                <a:pPr lvl="1"/>
                <a:r>
                  <a:rPr lang="en-US" sz="2000" dirty="0">
                    <a:solidFill>
                      <a:srgbClr val="7030A0"/>
                    </a:solidFill>
                    <a:latin typeface="Arial Narrow" panose="020B0606020202030204" pitchFamily="34" charset="0"/>
                  </a:rPr>
                  <a:t>Value (V):</a:t>
                </a:r>
                <a:r>
                  <a:rPr lang="en-US" sz="2000" dirty="0">
                    <a:latin typeface="Arial Narrow" panose="020B0606020202030204" pitchFamily="34" charset="0"/>
                  </a:rPr>
                  <a:t> What information should I provide?</a:t>
                </a:r>
              </a:p>
              <a:p>
                <a:pPr lvl="1"/>
                <a:endParaRPr lang="en-US" sz="2000" dirty="0">
                  <a:latin typeface="Arial Narrow" panose="020B0606020202030204" pitchFamily="34" charset="0"/>
                </a:endParaRPr>
              </a:p>
              <a:p>
                <a:r>
                  <a:rPr lang="en-US" sz="2000" dirty="0">
                    <a:latin typeface="Arial Narrow" panose="020B0606020202030204" pitchFamily="34" charset="0"/>
                  </a:rPr>
                  <a:t>Attention scores measure the compatibility between queries and keys.</a:t>
                </a:r>
              </a:p>
              <a:p>
                <a:r>
                  <a:rPr lang="en-US" sz="2000" dirty="0">
                    <a:latin typeface="Arial Narrow" panose="020B0606020202030204" pitchFamily="34" charset="0"/>
                  </a:rPr>
                  <a:t>The standard scaled dot-product attention is:</a:t>
                </a:r>
              </a:p>
              <a:p>
                <a:pPr marL="0" indent="0">
                  <a:buNone/>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𝐴𝑡𝑡𝑒𝑛𝑡𝑖𝑜𝑛</m:t>
                      </m:r>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𝑄</m:t>
                          </m:r>
                          <m:r>
                            <a:rPr lang="en-IN" sz="2000" b="0" i="1" smtClean="0">
                              <a:latin typeface="Cambria Math" panose="02040503050406030204" pitchFamily="18" charset="0"/>
                            </a:rPr>
                            <m:t>,</m:t>
                          </m:r>
                          <m:r>
                            <a:rPr lang="en-IN" sz="2000" b="0" i="1" smtClean="0">
                              <a:latin typeface="Cambria Math" panose="02040503050406030204" pitchFamily="18" charset="0"/>
                            </a:rPr>
                            <m:t>𝐾</m:t>
                          </m:r>
                          <m:r>
                            <a:rPr lang="en-IN" sz="2000" b="0" i="1" smtClean="0">
                              <a:latin typeface="Cambria Math" panose="02040503050406030204" pitchFamily="18" charset="0"/>
                            </a:rPr>
                            <m:t>,</m:t>
                          </m:r>
                          <m:r>
                            <a:rPr lang="en-IN" sz="2000" b="0" i="1" smtClean="0">
                              <a:latin typeface="Cambria Math" panose="02040503050406030204" pitchFamily="18" charset="0"/>
                            </a:rPr>
                            <m:t>𝑉</m:t>
                          </m:r>
                        </m:e>
                      </m:d>
                      <m:r>
                        <a:rPr lang="en-IN" sz="2000" b="0" i="1" smtClean="0">
                          <a:latin typeface="Cambria Math" panose="02040503050406030204" pitchFamily="18" charset="0"/>
                        </a:rPr>
                        <m:t>=</m:t>
                      </m:r>
                      <m:r>
                        <a:rPr lang="en-IN" sz="2000" b="0" i="1" smtClean="0">
                          <a:latin typeface="Cambria Math" panose="02040503050406030204" pitchFamily="18" charset="0"/>
                        </a:rPr>
                        <m:t>𝑠𝑜𝑓𝑡𝑚𝑎𝑥</m:t>
                      </m:r>
                      <m:d>
                        <m:dPr>
                          <m:ctrlPr>
                            <a:rPr lang="en-IN" sz="2000" b="0" i="1" smtClean="0">
                              <a:latin typeface="Cambria Math" panose="02040503050406030204" pitchFamily="18" charset="0"/>
                            </a:rPr>
                          </m:ctrlPr>
                        </m:dPr>
                        <m:e>
                          <m:f>
                            <m:fPr>
                              <m:ctrlPr>
                                <a:rPr lang="en-IN" sz="2000" b="0" i="1" smtClean="0">
                                  <a:latin typeface="Cambria Math" panose="02040503050406030204" pitchFamily="18" charset="0"/>
                                </a:rPr>
                              </m:ctrlPr>
                            </m:fPr>
                            <m:num>
                              <m:r>
                                <a:rPr lang="en-IN" sz="2000" b="0" i="1" smtClean="0">
                                  <a:latin typeface="Cambria Math" panose="02040503050406030204" pitchFamily="18" charset="0"/>
                                </a:rPr>
                                <m:t>𝑄</m:t>
                              </m:r>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𝐾</m:t>
                                  </m:r>
                                </m:e>
                                <m:sup>
                                  <m:r>
                                    <a:rPr lang="en-IN" sz="2000" b="0" i="1" smtClean="0">
                                      <a:latin typeface="Cambria Math" panose="02040503050406030204" pitchFamily="18" charset="0"/>
                                    </a:rPr>
                                    <m:t>𝑇</m:t>
                                  </m:r>
                                </m:sup>
                              </m:sSup>
                            </m:num>
                            <m:den>
                              <m:rad>
                                <m:radPr>
                                  <m:degHide m:val="on"/>
                                  <m:ctrlPr>
                                    <a:rPr lang="en-IN" sz="2000" b="0" i="1" smtClean="0">
                                      <a:latin typeface="Cambria Math" panose="02040503050406030204" pitchFamily="18" charset="0"/>
                                    </a:rPr>
                                  </m:ctrlPr>
                                </m:radPr>
                                <m:deg/>
                                <m:e>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𝑑</m:t>
                                      </m:r>
                                    </m:e>
                                    <m:sub>
                                      <m:r>
                                        <a:rPr lang="en-IN" sz="2000" b="0" i="1" smtClean="0">
                                          <a:latin typeface="Cambria Math" panose="02040503050406030204" pitchFamily="18" charset="0"/>
                                        </a:rPr>
                                        <m:t>𝑘</m:t>
                                      </m:r>
                                    </m:sub>
                                  </m:sSub>
                                </m:e>
                              </m:rad>
                            </m:den>
                          </m:f>
                        </m:e>
                      </m:d>
                      <m:r>
                        <a:rPr lang="en-IN" sz="2000" b="0" i="1" smtClean="0">
                          <a:latin typeface="Cambria Math" panose="02040503050406030204" pitchFamily="18" charset="0"/>
                        </a:rPr>
                        <m:t>𝑉</m:t>
                      </m:r>
                    </m:oMath>
                  </m:oMathPara>
                </a14:m>
                <a:endParaRPr lang="en-US" sz="2000" dirty="0">
                  <a:latin typeface="Arial Narrow" panose="020B0606020202030204" pitchFamily="34" charset="0"/>
                </a:endParaRPr>
              </a:p>
              <a:p>
                <a:pPr marL="0" indent="0">
                  <a:buNone/>
                </a:pPr>
                <a:r>
                  <a:rPr lang="en-US" sz="2000" dirty="0">
                    <a:latin typeface="Arial Narrow" panose="020B0606020202030204" pitchFamily="34" charset="0"/>
                  </a:rPr>
                  <a:t>    where </a:t>
                </a:r>
                <a14:m>
                  <m:oMath xmlns:m="http://schemas.openxmlformats.org/officeDocument/2006/math">
                    <m:r>
                      <a:rPr lang="en-IN" sz="2000" b="0" i="1" smtClean="0">
                        <a:latin typeface="Cambria Math" panose="02040503050406030204" pitchFamily="18" charset="0"/>
                      </a:rPr>
                      <m:t>𝑄</m:t>
                    </m:r>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𝐾</m:t>
                        </m:r>
                      </m:e>
                      <m:sup>
                        <m:r>
                          <a:rPr lang="en-IN" sz="2000" b="0" i="1" smtClean="0">
                            <a:latin typeface="Cambria Math" panose="02040503050406030204" pitchFamily="18" charset="0"/>
                          </a:rPr>
                          <m:t>𝑇</m:t>
                        </m:r>
                      </m:sup>
                    </m:sSup>
                  </m:oMath>
                </a14:m>
                <a:r>
                  <a:rPr lang="en-US" sz="2000" dirty="0">
                    <a:latin typeface="Arial Narrow" panose="020B0606020202030204" pitchFamily="34" charset="0"/>
                  </a:rPr>
                  <a:t>calculates similarity between tokens. Scaling by </a:t>
                </a:r>
                <a14:m>
                  <m:oMath xmlns:m="http://schemas.openxmlformats.org/officeDocument/2006/math">
                    <m:rad>
                      <m:radPr>
                        <m:degHide m:val="on"/>
                        <m:ctrlPr>
                          <a:rPr lang="en-IN" sz="2000" b="0" i="1" smtClean="0">
                            <a:latin typeface="Cambria Math" panose="02040503050406030204" pitchFamily="18" charset="0"/>
                          </a:rPr>
                        </m:ctrlPr>
                      </m:radPr>
                      <m:deg/>
                      <m:e>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𝑑</m:t>
                            </m:r>
                          </m:e>
                          <m:sub>
                            <m:r>
                              <a:rPr lang="en-IN" sz="2000" b="0" i="1" smtClean="0">
                                <a:latin typeface="Cambria Math" panose="02040503050406030204" pitchFamily="18" charset="0"/>
                              </a:rPr>
                              <m:t>𝑘</m:t>
                            </m:r>
                          </m:sub>
                        </m:sSub>
                      </m:e>
                    </m:rad>
                  </m:oMath>
                </a14:m>
                <a:r>
                  <a:rPr lang="en-US" sz="2000" dirty="0">
                    <a:latin typeface="Arial Narrow" panose="020B0606020202030204" pitchFamily="34" charset="0"/>
                  </a:rPr>
                  <a:t> improves numerical stability. </a:t>
                </a:r>
                <a:r>
                  <a:rPr lang="en-US" sz="2000" dirty="0" err="1">
                    <a:latin typeface="Arial Narrow" panose="020B0606020202030204" pitchFamily="34" charset="0"/>
                  </a:rPr>
                  <a:t>Softmax</a:t>
                </a:r>
                <a:r>
                  <a:rPr lang="en-US" sz="2000" dirty="0">
                    <a:latin typeface="Arial Narrow" panose="020B0606020202030204" pitchFamily="34" charset="0"/>
                  </a:rPr>
                  <a:t> converts scores into attention weights. Weighted values produce the final representation.</a:t>
                </a:r>
              </a:p>
              <a:p>
                <a:pPr marL="0" indent="0">
                  <a:buNone/>
                </a:pPr>
                <a:endParaRPr lang="en-US" sz="2000" dirty="0">
                  <a:latin typeface="Arial Narrow" panose="020B0606020202030204" pitchFamily="34" charset="0"/>
                </a:endParaRPr>
              </a:p>
              <a:p>
                <a:endParaRPr lang="en-IN" dirty="0"/>
              </a:p>
            </p:txBody>
          </p:sp>
        </mc:Choice>
        <mc:Fallback xmlns="">
          <p:sp>
            <p:nvSpPr>
              <p:cNvPr id="3" name="Content Placeholder 2">
                <a:extLst>
                  <a:ext uri="{FF2B5EF4-FFF2-40B4-BE49-F238E27FC236}">
                    <a16:creationId xmlns:a16="http://schemas.microsoft.com/office/drawing/2014/main" id="{A6C29E65-E4D3-4D3D-A0B8-174042687AE2}"/>
                  </a:ext>
                </a:extLst>
              </p:cNvPr>
              <p:cNvSpPr>
                <a:spLocks noGrp="1" noRot="1" noChangeAspect="1" noMove="1" noResize="1" noEditPoints="1" noAdjustHandles="1" noChangeArrowheads="1" noChangeShapeType="1" noTextEdit="1"/>
              </p:cNvSpPr>
              <p:nvPr>
                <p:ph idx="1"/>
              </p:nvPr>
            </p:nvSpPr>
            <p:spPr>
              <a:xfrm>
                <a:off x="838200" y="1608807"/>
                <a:ext cx="10515600" cy="4707151"/>
              </a:xfrm>
              <a:blipFill>
                <a:blip r:embed="rId2"/>
                <a:stretch>
                  <a:fillRect l="-638" t="-1425"/>
                </a:stretch>
              </a:blipFill>
            </p:spPr>
            <p:txBody>
              <a:bodyPr/>
              <a:lstStyle/>
              <a:p>
                <a:r>
                  <a:rPr lang="en-IN">
                    <a:noFill/>
                  </a:rPr>
                  <a:t> </a:t>
                </a:r>
              </a:p>
            </p:txBody>
          </p:sp>
        </mc:Fallback>
      </mc:AlternateContent>
    </p:spTree>
    <p:extLst>
      <p:ext uri="{BB962C8B-B14F-4D97-AF65-F5344CB8AC3E}">
        <p14:creationId xmlns:p14="http://schemas.microsoft.com/office/powerpoint/2010/main" val="4289512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89B1D-7877-4585-9C2C-169322427C4E}"/>
              </a:ext>
            </a:extLst>
          </p:cNvPr>
          <p:cNvSpPr>
            <a:spLocks noGrp="1"/>
          </p:cNvSpPr>
          <p:nvPr>
            <p:ph type="title"/>
          </p:nvPr>
        </p:nvSpPr>
        <p:spPr/>
        <p:txBody>
          <a:bodyPr>
            <a:normAutofit/>
          </a:bodyPr>
          <a:lstStyle/>
          <a:p>
            <a:r>
              <a:rPr lang="en-IN" sz="3600" dirty="0">
                <a:latin typeface="Century" panose="02040604050505020304" pitchFamily="18" charset="0"/>
              </a:rPr>
              <a:t>Transformer for Vision Tasks</a:t>
            </a:r>
          </a:p>
        </p:txBody>
      </p:sp>
      <p:sp>
        <p:nvSpPr>
          <p:cNvPr id="3" name="Content Placeholder 2">
            <a:extLst>
              <a:ext uri="{FF2B5EF4-FFF2-40B4-BE49-F238E27FC236}">
                <a16:creationId xmlns:a16="http://schemas.microsoft.com/office/drawing/2014/main" id="{089B9159-C50A-41F1-92D8-AC706DCB0E1A}"/>
              </a:ext>
            </a:extLst>
          </p:cNvPr>
          <p:cNvSpPr>
            <a:spLocks noGrp="1"/>
          </p:cNvSpPr>
          <p:nvPr>
            <p:ph idx="1"/>
          </p:nvPr>
        </p:nvSpPr>
        <p:spPr>
          <a:xfrm>
            <a:off x="838200" y="1488140"/>
            <a:ext cx="10515600" cy="5190565"/>
          </a:xfrm>
        </p:spPr>
        <p:txBody>
          <a:bodyPr>
            <a:normAutofit fontScale="62500" lnSpcReduction="20000"/>
          </a:bodyPr>
          <a:lstStyle/>
          <a:p>
            <a:pPr algn="just"/>
            <a:r>
              <a:rPr lang="en-US" dirty="0">
                <a:latin typeface="Arial Narrow" panose="020B0606020202030204" pitchFamily="34" charset="0"/>
              </a:rPr>
              <a:t>Transformers can be used for computer vision by treating an image as a sequence of smaller regions, or </a:t>
            </a:r>
            <a:r>
              <a:rPr lang="en-US" dirty="0">
                <a:solidFill>
                  <a:srgbClr val="7030A0"/>
                </a:solidFill>
                <a:latin typeface="Arial Narrow" panose="020B0606020202030204" pitchFamily="34" charset="0"/>
              </a:rPr>
              <a:t>patches</a:t>
            </a:r>
            <a:r>
              <a:rPr lang="en-US" dirty="0">
                <a:latin typeface="Arial Narrow" panose="020B0606020202030204" pitchFamily="34" charset="0"/>
              </a:rPr>
              <a:t>, rather than processing the entire image at once. </a:t>
            </a:r>
          </a:p>
          <a:p>
            <a:pPr algn="just"/>
            <a:endParaRPr lang="en-US" dirty="0">
              <a:latin typeface="Arial Narrow" panose="020B0606020202030204" pitchFamily="34" charset="0"/>
            </a:endParaRPr>
          </a:p>
          <a:p>
            <a:pPr algn="just"/>
            <a:r>
              <a:rPr lang="en-US" dirty="0">
                <a:latin typeface="Arial Narrow" panose="020B0606020202030204" pitchFamily="34" charset="0"/>
              </a:rPr>
              <a:t>For example, in the </a:t>
            </a:r>
            <a:r>
              <a:rPr lang="en-US" dirty="0">
                <a:solidFill>
                  <a:srgbClr val="7030A0"/>
                </a:solidFill>
                <a:latin typeface="Arial Narrow" panose="020B0606020202030204" pitchFamily="34" charset="0"/>
              </a:rPr>
              <a:t>Vision Transformer (</a:t>
            </a:r>
            <a:r>
              <a:rPr lang="en-US" dirty="0" err="1">
                <a:solidFill>
                  <a:srgbClr val="7030A0"/>
                </a:solidFill>
                <a:latin typeface="Arial Narrow" panose="020B0606020202030204" pitchFamily="34" charset="0"/>
              </a:rPr>
              <a:t>ViT</a:t>
            </a:r>
            <a:r>
              <a:rPr lang="en-US" dirty="0">
                <a:solidFill>
                  <a:srgbClr val="7030A0"/>
                </a:solidFill>
                <a:latin typeface="Arial Narrow" panose="020B0606020202030204" pitchFamily="34" charset="0"/>
              </a:rPr>
              <a:t>)</a:t>
            </a:r>
            <a:r>
              <a:rPr lang="en-US" dirty="0">
                <a:latin typeface="Arial Narrow" panose="020B0606020202030204" pitchFamily="34" charset="0"/>
              </a:rPr>
              <a:t>, an image is divided into fixed-size patches, such as 16×16 pixels, and each patch is converted into a numerical vector called an </a:t>
            </a:r>
            <a:r>
              <a:rPr lang="en-US" dirty="0">
                <a:solidFill>
                  <a:srgbClr val="7030A0"/>
                </a:solidFill>
                <a:latin typeface="Arial Narrow" panose="020B0606020202030204" pitchFamily="34" charset="0"/>
              </a:rPr>
              <a:t>embedding</a:t>
            </a:r>
            <a:r>
              <a:rPr lang="en-US" dirty="0">
                <a:latin typeface="Arial Narrow" panose="020B0606020202030204" pitchFamily="34" charset="0"/>
              </a:rPr>
              <a:t>. </a:t>
            </a:r>
          </a:p>
          <a:p>
            <a:pPr algn="just"/>
            <a:endParaRPr lang="en-US" dirty="0">
              <a:latin typeface="Arial Narrow" panose="020B0606020202030204" pitchFamily="34" charset="0"/>
            </a:endParaRPr>
          </a:p>
          <a:p>
            <a:pPr algn="just"/>
            <a:r>
              <a:rPr lang="en-US" dirty="0">
                <a:latin typeface="Arial Narrow" panose="020B0606020202030204" pitchFamily="34" charset="0"/>
              </a:rPr>
              <a:t>These patch embeddings are then given </a:t>
            </a:r>
            <a:r>
              <a:rPr lang="en-US" dirty="0">
                <a:solidFill>
                  <a:srgbClr val="7030A0"/>
                </a:solidFill>
                <a:latin typeface="Arial Narrow" panose="020B0606020202030204" pitchFamily="34" charset="0"/>
              </a:rPr>
              <a:t>positional information so that the model can understand where each patch is located in the image</a:t>
            </a:r>
            <a:r>
              <a:rPr lang="en-US" dirty="0">
                <a:latin typeface="Arial Narrow" panose="020B0606020202030204" pitchFamily="34" charset="0"/>
              </a:rPr>
              <a:t>. </a:t>
            </a:r>
          </a:p>
          <a:p>
            <a:pPr algn="just"/>
            <a:endParaRPr lang="en-US" dirty="0">
              <a:latin typeface="Arial Narrow" panose="020B0606020202030204" pitchFamily="34" charset="0"/>
            </a:endParaRPr>
          </a:p>
          <a:p>
            <a:pPr algn="just"/>
            <a:r>
              <a:rPr lang="en-US" dirty="0">
                <a:latin typeface="Arial Narrow" panose="020B0606020202030204" pitchFamily="34" charset="0"/>
              </a:rPr>
              <a:t>The embeddings are passed through Transformer encoder layers, which use </a:t>
            </a:r>
            <a:r>
              <a:rPr lang="en-US" dirty="0">
                <a:solidFill>
                  <a:srgbClr val="7030A0"/>
                </a:solidFill>
                <a:latin typeface="Arial Narrow" panose="020B0606020202030204" pitchFamily="34" charset="0"/>
              </a:rPr>
              <a:t>self-attention</a:t>
            </a:r>
            <a:r>
              <a:rPr lang="en-US" dirty="0">
                <a:latin typeface="Arial Narrow" panose="020B0606020202030204" pitchFamily="34" charset="0"/>
              </a:rPr>
              <a:t> to learn relationships between different parts of the image. </a:t>
            </a:r>
          </a:p>
          <a:p>
            <a:pPr algn="just"/>
            <a:endParaRPr lang="en-US" dirty="0">
              <a:latin typeface="Arial Narrow" panose="020B0606020202030204" pitchFamily="34" charset="0"/>
            </a:endParaRPr>
          </a:p>
          <a:p>
            <a:pPr algn="just"/>
            <a:r>
              <a:rPr lang="en-US" dirty="0">
                <a:latin typeface="Arial Narrow" panose="020B0606020202030204" pitchFamily="34" charset="0"/>
              </a:rPr>
              <a:t>This allows the model to identify both local features and long-range dependencies, such as relationships between objects that are far apart. The resulting representations can then be used for tasks such as </a:t>
            </a:r>
            <a:r>
              <a:rPr lang="en-US" dirty="0">
                <a:solidFill>
                  <a:srgbClr val="7030A0"/>
                </a:solidFill>
                <a:latin typeface="Arial Narrow" panose="020B0606020202030204" pitchFamily="34" charset="0"/>
              </a:rPr>
              <a:t>image classification, object detection, image segmentation, and image generation</a:t>
            </a:r>
            <a:r>
              <a:rPr lang="en-US" dirty="0">
                <a:latin typeface="Arial Narrow" panose="020B0606020202030204" pitchFamily="34" charset="0"/>
              </a:rPr>
              <a:t>. </a:t>
            </a:r>
          </a:p>
          <a:p>
            <a:pPr algn="just"/>
            <a:endParaRPr lang="en-US" dirty="0">
              <a:latin typeface="Arial Narrow" panose="020B0606020202030204" pitchFamily="34" charset="0"/>
            </a:endParaRPr>
          </a:p>
          <a:p>
            <a:pPr algn="just"/>
            <a:r>
              <a:rPr lang="en-US" dirty="0">
                <a:latin typeface="Arial Narrow" panose="020B0606020202030204" pitchFamily="34" charset="0"/>
              </a:rPr>
              <a:t>Thus, Transformers provide a powerful alternative to </a:t>
            </a:r>
            <a:r>
              <a:rPr lang="en-US" dirty="0">
                <a:solidFill>
                  <a:srgbClr val="7030A0"/>
                </a:solidFill>
                <a:latin typeface="Arial Narrow" panose="020B0606020202030204" pitchFamily="34" charset="0"/>
              </a:rPr>
              <a:t>traditional convolutional neural networks (CNNs) for many computer vision applications.</a:t>
            </a:r>
            <a:endParaRPr lang="en-IN" dirty="0">
              <a:solidFill>
                <a:srgbClr val="7030A0"/>
              </a:solidFill>
              <a:latin typeface="Arial Narrow" panose="020B0606020202030204" pitchFamily="34" charset="0"/>
            </a:endParaRPr>
          </a:p>
        </p:txBody>
      </p:sp>
    </p:spTree>
    <p:extLst>
      <p:ext uri="{BB962C8B-B14F-4D97-AF65-F5344CB8AC3E}">
        <p14:creationId xmlns:p14="http://schemas.microsoft.com/office/powerpoint/2010/main" val="1040401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62CA9-2D84-45AD-997F-A1BBB6BA891B}"/>
              </a:ext>
            </a:extLst>
          </p:cNvPr>
          <p:cNvSpPr>
            <a:spLocks noGrp="1"/>
          </p:cNvSpPr>
          <p:nvPr>
            <p:ph type="title"/>
          </p:nvPr>
        </p:nvSpPr>
        <p:spPr/>
        <p:txBody>
          <a:bodyPr>
            <a:normAutofit/>
          </a:bodyPr>
          <a:lstStyle/>
          <a:p>
            <a:r>
              <a:rPr lang="en-IN" sz="3200" dirty="0">
                <a:latin typeface="Century" panose="02040604050505020304" pitchFamily="18" charset="0"/>
              </a:rPr>
              <a:t>How Transformer works differently </a:t>
            </a:r>
            <a:br>
              <a:rPr lang="en-IN" sz="3200" dirty="0">
                <a:latin typeface="Century" panose="02040604050505020304" pitchFamily="18" charset="0"/>
              </a:rPr>
            </a:br>
            <a:r>
              <a:rPr lang="en-IN" sz="3200" dirty="0">
                <a:latin typeface="Century" panose="02040604050505020304" pitchFamily="18" charset="0"/>
              </a:rPr>
              <a:t>than CNN?</a:t>
            </a:r>
          </a:p>
        </p:txBody>
      </p:sp>
      <p:sp>
        <p:nvSpPr>
          <p:cNvPr id="3" name="Content Placeholder 2">
            <a:extLst>
              <a:ext uri="{FF2B5EF4-FFF2-40B4-BE49-F238E27FC236}">
                <a16:creationId xmlns:a16="http://schemas.microsoft.com/office/drawing/2014/main" id="{58AF9254-6C80-4774-B329-E5CF8F5BCF17}"/>
              </a:ext>
            </a:extLst>
          </p:cNvPr>
          <p:cNvSpPr>
            <a:spLocks noGrp="1"/>
          </p:cNvSpPr>
          <p:nvPr>
            <p:ph idx="1"/>
          </p:nvPr>
        </p:nvSpPr>
        <p:spPr>
          <a:xfrm>
            <a:off x="770791" y="2541322"/>
            <a:ext cx="6539753" cy="2181599"/>
          </a:xfrm>
        </p:spPr>
        <p:txBody>
          <a:bodyPr>
            <a:normAutofit/>
          </a:bodyPr>
          <a:lstStyle/>
          <a:p>
            <a:pPr algn="just"/>
            <a:r>
              <a:rPr lang="en-US" sz="2000" dirty="0">
                <a:latin typeface="Arial Narrow" panose="020B0606020202030204" pitchFamily="34" charset="0"/>
              </a:rPr>
              <a:t>Suppose an image contains a </a:t>
            </a:r>
            <a:r>
              <a:rPr lang="en-US" sz="2000" dirty="0">
                <a:solidFill>
                  <a:srgbClr val="7030A0"/>
                </a:solidFill>
                <a:latin typeface="Arial Narrow" panose="020B0606020202030204" pitchFamily="34" charset="0"/>
              </a:rPr>
              <a:t>person holding a flag</a:t>
            </a:r>
            <a:r>
              <a:rPr lang="en-US" sz="2000" dirty="0">
                <a:latin typeface="Arial Narrow" panose="020B0606020202030204" pitchFamily="34" charset="0"/>
              </a:rPr>
              <a:t>.</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A </a:t>
            </a:r>
            <a:r>
              <a:rPr lang="en-US" sz="2000" dirty="0">
                <a:solidFill>
                  <a:srgbClr val="7030A0"/>
                </a:solidFill>
                <a:latin typeface="Arial Narrow" panose="020B0606020202030204" pitchFamily="34" charset="0"/>
              </a:rPr>
              <a:t>CNN </a:t>
            </a:r>
            <a:r>
              <a:rPr lang="en-US" sz="2000" dirty="0">
                <a:latin typeface="Arial Narrow" panose="020B0606020202030204" pitchFamily="34" charset="0"/>
              </a:rPr>
              <a:t>uses convolutional filters to first identify local features such as edges, shapes, and textures. As the information moves through deeper layers, the CNN gradually combines these local features to understand that the person is holding the flag.</a:t>
            </a:r>
          </a:p>
          <a:p>
            <a:pPr algn="just"/>
            <a:endParaRPr lang="en-US" sz="2400" dirty="0">
              <a:latin typeface="Arial Narrow" panose="020B0606020202030204" pitchFamily="34" charset="0"/>
            </a:endParaRPr>
          </a:p>
          <a:p>
            <a:pPr algn="just"/>
            <a:endParaRPr lang="en-US" sz="2400" dirty="0">
              <a:latin typeface="Arial Narrow" panose="020B0606020202030204" pitchFamily="34" charset="0"/>
            </a:endParaRPr>
          </a:p>
          <a:p>
            <a:endParaRPr lang="en-IN" dirty="0"/>
          </a:p>
        </p:txBody>
      </p:sp>
      <p:grpSp>
        <p:nvGrpSpPr>
          <p:cNvPr id="53" name="Group 52">
            <a:extLst>
              <a:ext uri="{FF2B5EF4-FFF2-40B4-BE49-F238E27FC236}">
                <a16:creationId xmlns:a16="http://schemas.microsoft.com/office/drawing/2014/main" id="{48AC1B41-E758-4D9A-B404-4B0C5BF72CF9}"/>
              </a:ext>
            </a:extLst>
          </p:cNvPr>
          <p:cNvGrpSpPr/>
          <p:nvPr/>
        </p:nvGrpSpPr>
        <p:grpSpPr>
          <a:xfrm>
            <a:off x="7450623" y="902254"/>
            <a:ext cx="3142051" cy="5796050"/>
            <a:chOff x="7809212" y="1108443"/>
            <a:chExt cx="3142051" cy="5796050"/>
          </a:xfrm>
        </p:grpSpPr>
        <p:sp>
          <p:nvSpPr>
            <p:cNvPr id="25" name="TextBox 24">
              <a:extLst>
                <a:ext uri="{FF2B5EF4-FFF2-40B4-BE49-F238E27FC236}">
                  <a16:creationId xmlns:a16="http://schemas.microsoft.com/office/drawing/2014/main" id="{C9AC930D-AE5D-48CE-9C00-585AF20740FE}"/>
                </a:ext>
              </a:extLst>
            </p:cNvPr>
            <p:cNvSpPr txBox="1"/>
            <p:nvPr/>
          </p:nvSpPr>
          <p:spPr>
            <a:xfrm>
              <a:off x="9813155" y="6565939"/>
              <a:ext cx="1015021" cy="338554"/>
            </a:xfrm>
            <a:prstGeom prst="rect">
              <a:avLst/>
            </a:prstGeom>
            <a:noFill/>
          </p:spPr>
          <p:txBody>
            <a:bodyPr wrap="none" rtlCol="0">
              <a:spAutoFit/>
            </a:bodyPr>
            <a:lstStyle/>
            <a:p>
              <a:r>
                <a:rPr lang="en-IN" sz="1600" dirty="0">
                  <a:latin typeface="Arial Narrow" panose="020B0606020202030204" pitchFamily="34" charset="0"/>
                </a:rPr>
                <a:t>Predictions</a:t>
              </a:r>
            </a:p>
          </p:txBody>
        </p:sp>
        <p:pic>
          <p:nvPicPr>
            <p:cNvPr id="4" name="Picture 3">
              <a:extLst>
                <a:ext uri="{FF2B5EF4-FFF2-40B4-BE49-F238E27FC236}">
                  <a16:creationId xmlns:a16="http://schemas.microsoft.com/office/drawing/2014/main" id="{C9ECD444-5CD9-4ADF-8467-E3389F42EE05}"/>
                </a:ext>
              </a:extLst>
            </p:cNvPr>
            <p:cNvPicPr>
              <a:picLocks noChangeAspect="1"/>
            </p:cNvPicPr>
            <p:nvPr/>
          </p:nvPicPr>
          <p:blipFill>
            <a:blip r:embed="rId2"/>
            <a:stretch>
              <a:fillRect/>
            </a:stretch>
          </p:blipFill>
          <p:spPr>
            <a:xfrm>
              <a:off x="10012594" y="1108443"/>
              <a:ext cx="815582" cy="867741"/>
            </a:xfrm>
            <a:prstGeom prst="rect">
              <a:avLst/>
            </a:prstGeom>
          </p:spPr>
        </p:pic>
        <p:sp>
          <p:nvSpPr>
            <p:cNvPr id="6" name="Rounded Rectangle 4">
              <a:extLst>
                <a:ext uri="{FF2B5EF4-FFF2-40B4-BE49-F238E27FC236}">
                  <a16:creationId xmlns:a16="http://schemas.microsoft.com/office/drawing/2014/main" id="{A0101CFC-0FFE-42CB-B854-2C09961D8B75}"/>
                </a:ext>
              </a:extLst>
            </p:cNvPr>
            <p:cNvSpPr/>
            <p:nvPr/>
          </p:nvSpPr>
          <p:spPr>
            <a:xfrm>
              <a:off x="7879133" y="2283318"/>
              <a:ext cx="895350" cy="379932"/>
            </a:xfrm>
            <a:prstGeom prst="roundRect">
              <a:avLst/>
            </a:prstGeom>
            <a:solidFill>
              <a:schemeClr val="accent2">
                <a:lumMod val="60000"/>
                <a:lumOff val="40000"/>
                <a:alpha val="28000"/>
              </a:schemeClr>
            </a:solid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A29BA25C-4CA3-4CEA-9AD4-4157D2B6B16D}"/>
                </a:ext>
              </a:extLst>
            </p:cNvPr>
            <p:cNvSpPr/>
            <p:nvPr/>
          </p:nvSpPr>
          <p:spPr>
            <a:xfrm>
              <a:off x="9778924" y="2283318"/>
              <a:ext cx="921424" cy="504747"/>
            </a:xfrm>
            <a:prstGeom prst="ellipse">
              <a:avLst/>
            </a:prstGeom>
            <a:solidFill>
              <a:schemeClr val="accent4">
                <a:lumMod val="20000"/>
                <a:lumOff val="80000"/>
                <a:alpha val="51000"/>
              </a:schemeClr>
            </a:solidFill>
            <a:ln w="25400">
              <a:solidFill>
                <a:schemeClr val="accent1">
                  <a:shade val="50000"/>
                  <a:alpha val="9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F53939CF-4859-4669-9E03-6BDA42794FDE}"/>
                </a:ext>
              </a:extLst>
            </p:cNvPr>
            <p:cNvSpPr txBox="1"/>
            <p:nvPr/>
          </p:nvSpPr>
          <p:spPr>
            <a:xfrm>
              <a:off x="9740763" y="2295623"/>
              <a:ext cx="1020697" cy="492443"/>
            </a:xfrm>
            <a:prstGeom prst="rect">
              <a:avLst/>
            </a:prstGeom>
            <a:noFill/>
          </p:spPr>
          <p:txBody>
            <a:bodyPr wrap="square" rtlCol="0">
              <a:spAutoFit/>
            </a:bodyPr>
            <a:lstStyle/>
            <a:p>
              <a:pPr algn="ctr"/>
              <a:r>
                <a:rPr lang="en-IN" sz="1300" dirty="0">
                  <a:latin typeface="Arial Narrow" panose="020B0606020202030204" pitchFamily="34" charset="0"/>
                </a:rPr>
                <a:t>Low Level Features</a:t>
              </a:r>
            </a:p>
          </p:txBody>
        </p:sp>
        <p:cxnSp>
          <p:nvCxnSpPr>
            <p:cNvPr id="10" name="Straight Arrow Connector 9">
              <a:extLst>
                <a:ext uri="{FF2B5EF4-FFF2-40B4-BE49-F238E27FC236}">
                  <a16:creationId xmlns:a16="http://schemas.microsoft.com/office/drawing/2014/main" id="{A468B2E4-E46E-4BA1-9DC1-67C8C7929E2C}"/>
                </a:ext>
              </a:extLst>
            </p:cNvPr>
            <p:cNvCxnSpPr>
              <a:cxnSpLocks/>
              <a:endCxn id="7" idx="0"/>
            </p:cNvCxnSpPr>
            <p:nvPr/>
          </p:nvCxnSpPr>
          <p:spPr>
            <a:xfrm>
              <a:off x="10232583" y="1962123"/>
              <a:ext cx="7053" cy="321195"/>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904BCD45-7E50-46D2-A53A-A5EAD462D35A}"/>
                </a:ext>
              </a:extLst>
            </p:cNvPr>
            <p:cNvSpPr/>
            <p:nvPr/>
          </p:nvSpPr>
          <p:spPr>
            <a:xfrm>
              <a:off x="9790218" y="3100268"/>
              <a:ext cx="910130" cy="529039"/>
            </a:xfrm>
            <a:prstGeom prst="ellipse">
              <a:avLst/>
            </a:prstGeom>
            <a:solidFill>
              <a:schemeClr val="accent4">
                <a:lumMod val="20000"/>
                <a:lumOff val="80000"/>
                <a:alpha val="51000"/>
              </a:schemeClr>
            </a:solidFill>
            <a:ln w="25400">
              <a:solidFill>
                <a:schemeClr val="accent1">
                  <a:shade val="50000"/>
                  <a:alpha val="9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B61ABCC4-022C-4A6E-92E9-95CBD5BF6ABB}"/>
                </a:ext>
              </a:extLst>
            </p:cNvPr>
            <p:cNvSpPr txBox="1"/>
            <p:nvPr/>
          </p:nvSpPr>
          <p:spPr>
            <a:xfrm>
              <a:off x="9753274" y="3136864"/>
              <a:ext cx="1008186" cy="492443"/>
            </a:xfrm>
            <a:prstGeom prst="rect">
              <a:avLst/>
            </a:prstGeom>
            <a:noFill/>
          </p:spPr>
          <p:txBody>
            <a:bodyPr wrap="square" rtlCol="0">
              <a:spAutoFit/>
            </a:bodyPr>
            <a:lstStyle/>
            <a:p>
              <a:pPr algn="ctr"/>
              <a:r>
                <a:rPr lang="en-IN" sz="1300" dirty="0">
                  <a:latin typeface="Arial Narrow" panose="020B0606020202030204" pitchFamily="34" charset="0"/>
                </a:rPr>
                <a:t>Mid-Level Features</a:t>
              </a:r>
            </a:p>
          </p:txBody>
        </p:sp>
        <p:cxnSp>
          <p:nvCxnSpPr>
            <p:cNvPr id="13" name="Straight Arrow Connector 12">
              <a:extLst>
                <a:ext uri="{FF2B5EF4-FFF2-40B4-BE49-F238E27FC236}">
                  <a16:creationId xmlns:a16="http://schemas.microsoft.com/office/drawing/2014/main" id="{8F689E82-9C76-4CA5-8D06-2E788637CD35}"/>
                </a:ext>
              </a:extLst>
            </p:cNvPr>
            <p:cNvCxnSpPr>
              <a:stCxn id="7" idx="4"/>
              <a:endCxn id="11" idx="0"/>
            </p:cNvCxnSpPr>
            <p:nvPr/>
          </p:nvCxnSpPr>
          <p:spPr>
            <a:xfrm>
              <a:off x="10239636" y="2788065"/>
              <a:ext cx="5647" cy="312203"/>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961999A2-7E52-4349-890B-CF19D1613D66}"/>
                </a:ext>
              </a:extLst>
            </p:cNvPr>
            <p:cNvSpPr/>
            <p:nvPr/>
          </p:nvSpPr>
          <p:spPr>
            <a:xfrm>
              <a:off x="9794758" y="3942316"/>
              <a:ext cx="910130" cy="547041"/>
            </a:xfrm>
            <a:prstGeom prst="ellipse">
              <a:avLst/>
            </a:prstGeom>
            <a:solidFill>
              <a:schemeClr val="accent4">
                <a:lumMod val="20000"/>
                <a:lumOff val="80000"/>
                <a:alpha val="51000"/>
              </a:schemeClr>
            </a:solidFill>
            <a:ln w="25400">
              <a:solidFill>
                <a:schemeClr val="accent1">
                  <a:shade val="50000"/>
                  <a:alpha val="9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606DC5DD-73A5-4472-8825-9D705D24F4A7}"/>
                </a:ext>
              </a:extLst>
            </p:cNvPr>
            <p:cNvSpPr txBox="1"/>
            <p:nvPr/>
          </p:nvSpPr>
          <p:spPr>
            <a:xfrm>
              <a:off x="9757814" y="3984610"/>
              <a:ext cx="1008186" cy="492443"/>
            </a:xfrm>
            <a:prstGeom prst="rect">
              <a:avLst/>
            </a:prstGeom>
            <a:noFill/>
          </p:spPr>
          <p:txBody>
            <a:bodyPr wrap="square" rtlCol="0">
              <a:spAutoFit/>
            </a:bodyPr>
            <a:lstStyle/>
            <a:p>
              <a:pPr algn="ctr"/>
              <a:r>
                <a:rPr lang="en-IN" sz="1300" dirty="0">
                  <a:latin typeface="Arial Narrow" panose="020B0606020202030204" pitchFamily="34" charset="0"/>
                </a:rPr>
                <a:t>High-Level Features</a:t>
              </a:r>
            </a:p>
          </p:txBody>
        </p:sp>
        <p:cxnSp>
          <p:nvCxnSpPr>
            <p:cNvPr id="16" name="Straight Arrow Connector 15">
              <a:extLst>
                <a:ext uri="{FF2B5EF4-FFF2-40B4-BE49-F238E27FC236}">
                  <a16:creationId xmlns:a16="http://schemas.microsoft.com/office/drawing/2014/main" id="{AA9A51BB-9961-43CB-BA6F-65C9A8081AF0}"/>
                </a:ext>
              </a:extLst>
            </p:cNvPr>
            <p:cNvCxnSpPr>
              <a:stCxn id="11" idx="4"/>
              <a:endCxn id="14" idx="0"/>
            </p:cNvCxnSpPr>
            <p:nvPr/>
          </p:nvCxnSpPr>
          <p:spPr>
            <a:xfrm>
              <a:off x="10245283" y="3629307"/>
              <a:ext cx="4540" cy="313009"/>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6CDCCA6-1FFC-4B35-9C10-E06E4DD37A48}"/>
                </a:ext>
              </a:extLst>
            </p:cNvPr>
            <p:cNvCxnSpPr>
              <a:stCxn id="14" idx="4"/>
              <a:endCxn id="18" idx="0"/>
            </p:cNvCxnSpPr>
            <p:nvPr/>
          </p:nvCxnSpPr>
          <p:spPr>
            <a:xfrm flipH="1">
              <a:off x="10247683" y="4489357"/>
              <a:ext cx="2140" cy="279727"/>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6">
              <a:extLst>
                <a:ext uri="{FF2B5EF4-FFF2-40B4-BE49-F238E27FC236}">
                  <a16:creationId xmlns:a16="http://schemas.microsoft.com/office/drawing/2014/main" id="{C7154BC7-3081-454F-BE6A-8F4E5BAA0F51}"/>
                </a:ext>
              </a:extLst>
            </p:cNvPr>
            <p:cNvSpPr/>
            <p:nvPr/>
          </p:nvSpPr>
          <p:spPr>
            <a:xfrm>
              <a:off x="9596808" y="4769084"/>
              <a:ext cx="1301749" cy="738538"/>
            </a:xfrm>
            <a:prstGeom prst="roundRect">
              <a:avLst/>
            </a:prstGeom>
            <a:solidFill>
              <a:schemeClr val="accent2">
                <a:lumMod val="60000"/>
                <a:lumOff val="40000"/>
                <a:alpha val="58000"/>
              </a:schemeClr>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F3240606-A45E-4D24-B36C-8AC2F4509A56}"/>
                </a:ext>
              </a:extLst>
            </p:cNvPr>
            <p:cNvSpPr/>
            <p:nvPr/>
          </p:nvSpPr>
          <p:spPr>
            <a:xfrm>
              <a:off x="9790218" y="4865207"/>
              <a:ext cx="910130" cy="1665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49B184AB-33FF-4358-8974-37F863EC8E63}"/>
                </a:ext>
              </a:extLst>
            </p:cNvPr>
            <p:cNvSpPr/>
            <p:nvPr/>
          </p:nvSpPr>
          <p:spPr>
            <a:xfrm>
              <a:off x="9802302" y="5074156"/>
              <a:ext cx="910130" cy="1552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805D77F0-814F-4820-BC30-B85AA66E2530}"/>
                </a:ext>
              </a:extLst>
            </p:cNvPr>
            <p:cNvSpPr/>
            <p:nvPr/>
          </p:nvSpPr>
          <p:spPr>
            <a:xfrm>
              <a:off x="9806040" y="5256550"/>
              <a:ext cx="910130" cy="178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D6DEC6F2-D822-47F3-891C-93DBD63EDC24}"/>
                </a:ext>
              </a:extLst>
            </p:cNvPr>
            <p:cNvCxnSpPr>
              <a:stCxn id="18" idx="2"/>
              <a:endCxn id="23" idx="0"/>
            </p:cNvCxnSpPr>
            <p:nvPr/>
          </p:nvCxnSpPr>
          <p:spPr>
            <a:xfrm>
              <a:off x="10247683" y="5507622"/>
              <a:ext cx="3493" cy="325128"/>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F0B25323-9404-4BC0-92F3-D052BFD1CA0D}"/>
                </a:ext>
              </a:extLst>
            </p:cNvPr>
            <p:cNvSpPr/>
            <p:nvPr/>
          </p:nvSpPr>
          <p:spPr>
            <a:xfrm>
              <a:off x="9551088" y="5832750"/>
              <a:ext cx="1400175" cy="472656"/>
            </a:xfrm>
            <a:prstGeom prst="ellipse">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24" name="Straight Arrow Connector 23">
              <a:extLst>
                <a:ext uri="{FF2B5EF4-FFF2-40B4-BE49-F238E27FC236}">
                  <a16:creationId xmlns:a16="http://schemas.microsoft.com/office/drawing/2014/main" id="{6CB03435-3033-4280-8130-83A11E4E20F9}"/>
                </a:ext>
              </a:extLst>
            </p:cNvPr>
            <p:cNvCxnSpPr>
              <a:stCxn id="23" idx="4"/>
            </p:cNvCxnSpPr>
            <p:nvPr/>
          </p:nvCxnSpPr>
          <p:spPr>
            <a:xfrm>
              <a:off x="10251176" y="6305406"/>
              <a:ext cx="2113" cy="338531"/>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EB9CCD5-F257-4ED6-A3D4-9D2CE8A658D7}"/>
                </a:ext>
              </a:extLst>
            </p:cNvPr>
            <p:cNvSpPr txBox="1"/>
            <p:nvPr/>
          </p:nvSpPr>
          <p:spPr>
            <a:xfrm>
              <a:off x="9839823" y="5868649"/>
              <a:ext cx="800219" cy="338554"/>
            </a:xfrm>
            <a:prstGeom prst="rect">
              <a:avLst/>
            </a:prstGeom>
            <a:noFill/>
          </p:spPr>
          <p:txBody>
            <a:bodyPr wrap="none" rtlCol="0">
              <a:spAutoFit/>
            </a:bodyPr>
            <a:lstStyle/>
            <a:p>
              <a:r>
                <a:rPr lang="en-IN" sz="1600" dirty="0" err="1">
                  <a:latin typeface="Arial Narrow" panose="020B0606020202030204" pitchFamily="34" charset="0"/>
                </a:rPr>
                <a:t>Softmax</a:t>
              </a:r>
              <a:endParaRPr lang="en-IN" sz="1600" dirty="0">
                <a:latin typeface="Arial Narrow" panose="020B0606020202030204" pitchFamily="34" charset="0"/>
              </a:endParaRPr>
            </a:p>
          </p:txBody>
        </p:sp>
        <p:sp>
          <p:nvSpPr>
            <p:cNvPr id="27" name="Rectangle 26">
              <a:extLst>
                <a:ext uri="{FF2B5EF4-FFF2-40B4-BE49-F238E27FC236}">
                  <a16:creationId xmlns:a16="http://schemas.microsoft.com/office/drawing/2014/main" id="{7D0A05D9-9DA4-4591-8901-D2BC804CF119}"/>
                </a:ext>
              </a:extLst>
            </p:cNvPr>
            <p:cNvSpPr/>
            <p:nvPr/>
          </p:nvSpPr>
          <p:spPr>
            <a:xfrm>
              <a:off x="9923497" y="2039422"/>
              <a:ext cx="618172" cy="1163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F942501B-BEEA-4517-9EB1-7C28681BA074}"/>
                </a:ext>
              </a:extLst>
            </p:cNvPr>
            <p:cNvSpPr/>
            <p:nvPr/>
          </p:nvSpPr>
          <p:spPr>
            <a:xfrm>
              <a:off x="9923497" y="2857455"/>
              <a:ext cx="618172" cy="1163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0E19BE8D-5F58-4E53-93D6-397F024AF452}"/>
                </a:ext>
              </a:extLst>
            </p:cNvPr>
            <p:cNvSpPr/>
            <p:nvPr/>
          </p:nvSpPr>
          <p:spPr>
            <a:xfrm>
              <a:off x="9923497" y="3686115"/>
              <a:ext cx="618172" cy="1163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50B0694E-CED7-482E-B89C-28D0AD1224CC}"/>
                </a:ext>
              </a:extLst>
            </p:cNvPr>
            <p:cNvSpPr/>
            <p:nvPr/>
          </p:nvSpPr>
          <p:spPr>
            <a:xfrm>
              <a:off x="9923497" y="4529981"/>
              <a:ext cx="618172" cy="1163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8A60D18F-7402-46C7-80C6-F0B461D24BED}"/>
                </a:ext>
              </a:extLst>
            </p:cNvPr>
            <p:cNvSpPr txBox="1"/>
            <p:nvPr/>
          </p:nvSpPr>
          <p:spPr>
            <a:xfrm>
              <a:off x="7828333" y="2308718"/>
              <a:ext cx="1016000" cy="307777"/>
            </a:xfrm>
            <a:prstGeom prst="rect">
              <a:avLst/>
            </a:prstGeom>
            <a:noFill/>
          </p:spPr>
          <p:txBody>
            <a:bodyPr wrap="square" rtlCol="0">
              <a:spAutoFit/>
            </a:bodyPr>
            <a:lstStyle/>
            <a:p>
              <a:pPr algn="ctr"/>
              <a:r>
                <a:rPr lang="en-IN" sz="1400" dirty="0">
                  <a:latin typeface="Arial Narrow" panose="020B0606020202030204" pitchFamily="34" charset="0"/>
                </a:rPr>
                <a:t>Convolution</a:t>
              </a:r>
            </a:p>
          </p:txBody>
        </p:sp>
        <p:sp>
          <p:nvSpPr>
            <p:cNvPr id="32" name="Rounded Rectangle 30">
              <a:extLst>
                <a:ext uri="{FF2B5EF4-FFF2-40B4-BE49-F238E27FC236}">
                  <a16:creationId xmlns:a16="http://schemas.microsoft.com/office/drawing/2014/main" id="{AE270D38-27A8-406C-AF47-787DCA356924}"/>
                </a:ext>
              </a:extLst>
            </p:cNvPr>
            <p:cNvSpPr/>
            <p:nvPr/>
          </p:nvSpPr>
          <p:spPr>
            <a:xfrm>
              <a:off x="7879132" y="3095141"/>
              <a:ext cx="895350" cy="528347"/>
            </a:xfrm>
            <a:prstGeom prst="roundRect">
              <a:avLst/>
            </a:prstGeom>
            <a:solidFill>
              <a:schemeClr val="accent2">
                <a:lumMod val="60000"/>
                <a:lumOff val="40000"/>
                <a:alpha val="28000"/>
              </a:schemeClr>
            </a:solid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8E7DC248-7763-4E2D-B3F8-CC5F8B3BDF7E}"/>
                </a:ext>
              </a:extLst>
            </p:cNvPr>
            <p:cNvSpPr txBox="1"/>
            <p:nvPr/>
          </p:nvSpPr>
          <p:spPr>
            <a:xfrm>
              <a:off x="7818807" y="3100268"/>
              <a:ext cx="1016000" cy="523220"/>
            </a:xfrm>
            <a:prstGeom prst="rect">
              <a:avLst/>
            </a:prstGeom>
            <a:noFill/>
          </p:spPr>
          <p:txBody>
            <a:bodyPr wrap="square" rtlCol="0">
              <a:spAutoFit/>
            </a:bodyPr>
            <a:lstStyle/>
            <a:p>
              <a:pPr algn="ctr"/>
              <a:r>
                <a:rPr lang="en-IN" sz="1400" dirty="0">
                  <a:latin typeface="Arial Narrow" panose="020B0606020202030204" pitchFamily="34" charset="0"/>
                </a:rPr>
                <a:t>Non-linear Activation</a:t>
              </a:r>
            </a:p>
          </p:txBody>
        </p:sp>
        <p:sp>
          <p:nvSpPr>
            <p:cNvPr id="34" name="Rounded Rectangle 32">
              <a:extLst>
                <a:ext uri="{FF2B5EF4-FFF2-40B4-BE49-F238E27FC236}">
                  <a16:creationId xmlns:a16="http://schemas.microsoft.com/office/drawing/2014/main" id="{34B948C9-4152-4DF2-9D08-FC6669A80B69}"/>
                </a:ext>
              </a:extLst>
            </p:cNvPr>
            <p:cNvSpPr/>
            <p:nvPr/>
          </p:nvSpPr>
          <p:spPr>
            <a:xfrm>
              <a:off x="7879133" y="3984610"/>
              <a:ext cx="895350" cy="333042"/>
            </a:xfrm>
            <a:prstGeom prst="roundRect">
              <a:avLst/>
            </a:prstGeom>
            <a:solidFill>
              <a:schemeClr val="accent2">
                <a:lumMod val="60000"/>
                <a:lumOff val="40000"/>
                <a:alpha val="28000"/>
              </a:schemeClr>
            </a:solid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76E75AFA-0F50-46E1-A9A1-5981CD0504BE}"/>
                </a:ext>
              </a:extLst>
            </p:cNvPr>
            <p:cNvSpPr txBox="1"/>
            <p:nvPr/>
          </p:nvSpPr>
          <p:spPr>
            <a:xfrm>
              <a:off x="7818808" y="3989736"/>
              <a:ext cx="1016000" cy="276999"/>
            </a:xfrm>
            <a:prstGeom prst="rect">
              <a:avLst/>
            </a:prstGeom>
            <a:noFill/>
          </p:spPr>
          <p:txBody>
            <a:bodyPr wrap="square" rtlCol="0">
              <a:spAutoFit/>
            </a:bodyPr>
            <a:lstStyle/>
            <a:p>
              <a:pPr algn="ctr"/>
              <a:r>
                <a:rPr lang="en-IN" sz="1200" dirty="0">
                  <a:latin typeface="Arial Narrow" panose="020B0606020202030204" pitchFamily="34" charset="0"/>
                </a:rPr>
                <a:t>Normalization</a:t>
              </a:r>
            </a:p>
          </p:txBody>
        </p:sp>
        <p:sp>
          <p:nvSpPr>
            <p:cNvPr id="36" name="Rounded Rectangle 34">
              <a:extLst>
                <a:ext uri="{FF2B5EF4-FFF2-40B4-BE49-F238E27FC236}">
                  <a16:creationId xmlns:a16="http://schemas.microsoft.com/office/drawing/2014/main" id="{07A52C03-54D6-4E79-A08A-6895FF61AF93}"/>
                </a:ext>
              </a:extLst>
            </p:cNvPr>
            <p:cNvSpPr/>
            <p:nvPr/>
          </p:nvSpPr>
          <p:spPr>
            <a:xfrm>
              <a:off x="7888658" y="4806888"/>
              <a:ext cx="895350" cy="330255"/>
            </a:xfrm>
            <a:prstGeom prst="roundRect">
              <a:avLst/>
            </a:prstGeom>
            <a:solidFill>
              <a:schemeClr val="accent2">
                <a:lumMod val="60000"/>
                <a:lumOff val="40000"/>
                <a:alpha val="28000"/>
              </a:schemeClr>
            </a:solid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F0F90AEB-9B74-4713-82F4-3CCD7E646186}"/>
                </a:ext>
              </a:extLst>
            </p:cNvPr>
            <p:cNvSpPr txBox="1"/>
            <p:nvPr/>
          </p:nvSpPr>
          <p:spPr>
            <a:xfrm>
              <a:off x="7828333" y="4812015"/>
              <a:ext cx="1016000" cy="307777"/>
            </a:xfrm>
            <a:prstGeom prst="rect">
              <a:avLst/>
            </a:prstGeom>
            <a:noFill/>
          </p:spPr>
          <p:txBody>
            <a:bodyPr wrap="square" rtlCol="0">
              <a:spAutoFit/>
            </a:bodyPr>
            <a:lstStyle/>
            <a:p>
              <a:pPr algn="ctr"/>
              <a:r>
                <a:rPr lang="en-IN" sz="1400" dirty="0">
                  <a:latin typeface="Arial Narrow" panose="020B0606020202030204" pitchFamily="34" charset="0"/>
                </a:rPr>
                <a:t>Pooling</a:t>
              </a:r>
            </a:p>
          </p:txBody>
        </p:sp>
        <p:cxnSp>
          <p:nvCxnSpPr>
            <p:cNvPr id="38" name="Straight Arrow Connector 37">
              <a:extLst>
                <a:ext uri="{FF2B5EF4-FFF2-40B4-BE49-F238E27FC236}">
                  <a16:creationId xmlns:a16="http://schemas.microsoft.com/office/drawing/2014/main" id="{45DC8B24-26D0-4625-B1EF-BB428F852B48}"/>
                </a:ext>
              </a:extLst>
            </p:cNvPr>
            <p:cNvCxnSpPr>
              <a:endCxn id="6" idx="0"/>
            </p:cNvCxnSpPr>
            <p:nvPr/>
          </p:nvCxnSpPr>
          <p:spPr>
            <a:xfrm>
              <a:off x="8326808" y="1947596"/>
              <a:ext cx="0" cy="335722"/>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B644A3D-0DD7-44F2-9224-ADD23149FECB}"/>
                </a:ext>
              </a:extLst>
            </p:cNvPr>
            <p:cNvCxnSpPr>
              <a:stCxn id="6" idx="2"/>
              <a:endCxn id="33" idx="0"/>
            </p:cNvCxnSpPr>
            <p:nvPr/>
          </p:nvCxnSpPr>
          <p:spPr>
            <a:xfrm flipH="1">
              <a:off x="8326807" y="2663250"/>
              <a:ext cx="1" cy="437018"/>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31AB67B-1B85-440B-B3E0-24A20295B3FA}"/>
                </a:ext>
              </a:extLst>
            </p:cNvPr>
            <p:cNvCxnSpPr>
              <a:stCxn id="32" idx="2"/>
              <a:endCxn id="35" idx="0"/>
            </p:cNvCxnSpPr>
            <p:nvPr/>
          </p:nvCxnSpPr>
          <p:spPr>
            <a:xfrm>
              <a:off x="8326807" y="3623488"/>
              <a:ext cx="1" cy="366248"/>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F817870-2519-4775-8015-A0061DE6342A}"/>
                </a:ext>
              </a:extLst>
            </p:cNvPr>
            <p:cNvCxnSpPr>
              <a:stCxn id="34" idx="2"/>
              <a:endCxn id="37" idx="0"/>
            </p:cNvCxnSpPr>
            <p:nvPr/>
          </p:nvCxnSpPr>
          <p:spPr>
            <a:xfrm>
              <a:off x="8326808" y="4317652"/>
              <a:ext cx="9525" cy="494363"/>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0D9FFC4-23B9-4166-8745-C87A384769EB}"/>
                </a:ext>
              </a:extLst>
            </p:cNvPr>
            <p:cNvCxnSpPr>
              <a:stCxn id="37" idx="2"/>
            </p:cNvCxnSpPr>
            <p:nvPr/>
          </p:nvCxnSpPr>
          <p:spPr>
            <a:xfrm>
              <a:off x="8336333" y="5119792"/>
              <a:ext cx="0" cy="335470"/>
            </a:xfrm>
            <a:prstGeom prst="straightConnector1">
              <a:avLst/>
            </a:prstGeom>
            <a:ln w="25400">
              <a:solidFill>
                <a:schemeClr val="accent6">
                  <a:lumMod val="75000"/>
                  <a:alpha val="97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Right Bracket 42">
              <a:extLst>
                <a:ext uri="{FF2B5EF4-FFF2-40B4-BE49-F238E27FC236}">
                  <a16:creationId xmlns:a16="http://schemas.microsoft.com/office/drawing/2014/main" id="{84AB2AF2-B258-46ED-9F15-8C35F86FDF6B}"/>
                </a:ext>
              </a:extLst>
            </p:cNvPr>
            <p:cNvSpPr/>
            <p:nvPr/>
          </p:nvSpPr>
          <p:spPr>
            <a:xfrm>
              <a:off x="8836192" y="2131075"/>
              <a:ext cx="60325" cy="3181247"/>
            </a:xfrm>
            <a:prstGeom prst="rightBracket">
              <a:avLst/>
            </a:prstGeom>
            <a:ln w="2222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44" name="Straight Connector 43">
              <a:extLst>
                <a:ext uri="{FF2B5EF4-FFF2-40B4-BE49-F238E27FC236}">
                  <a16:creationId xmlns:a16="http://schemas.microsoft.com/office/drawing/2014/main" id="{1557981B-6116-4466-A8D4-D966D21A88B8}"/>
                </a:ext>
              </a:extLst>
            </p:cNvPr>
            <p:cNvCxnSpPr>
              <a:stCxn id="27" idx="1"/>
            </p:cNvCxnSpPr>
            <p:nvPr/>
          </p:nvCxnSpPr>
          <p:spPr>
            <a:xfrm flipH="1" flipV="1">
              <a:off x="9470236" y="2097590"/>
              <a:ext cx="453261" cy="1"/>
            </a:xfrm>
            <a:prstGeom prst="line">
              <a:avLst/>
            </a:prstGeom>
            <a:ln w="15875">
              <a:solidFill>
                <a:schemeClr val="accent2">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4967083-C5B6-4F37-AFC8-748290EABE50}"/>
                </a:ext>
              </a:extLst>
            </p:cNvPr>
            <p:cNvCxnSpPr>
              <a:stCxn id="30" idx="1"/>
            </p:cNvCxnSpPr>
            <p:nvPr/>
          </p:nvCxnSpPr>
          <p:spPr>
            <a:xfrm flipH="1">
              <a:off x="9472983" y="4588150"/>
              <a:ext cx="450514" cy="2756"/>
            </a:xfrm>
            <a:prstGeom prst="line">
              <a:avLst/>
            </a:prstGeom>
            <a:ln w="15875">
              <a:solidFill>
                <a:schemeClr val="accent2">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EC994BF-ED8C-44AB-8195-A3C91BA21DA8}"/>
                </a:ext>
              </a:extLst>
            </p:cNvPr>
            <p:cNvCxnSpPr/>
            <p:nvPr/>
          </p:nvCxnSpPr>
          <p:spPr>
            <a:xfrm flipH="1">
              <a:off x="9470236" y="2090594"/>
              <a:ext cx="2747" cy="2508668"/>
            </a:xfrm>
            <a:prstGeom prst="line">
              <a:avLst/>
            </a:prstGeom>
            <a:ln w="158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B10601B-B09A-458B-91F2-A0F043559F52}"/>
                </a:ext>
              </a:extLst>
            </p:cNvPr>
            <p:cNvCxnSpPr>
              <a:stCxn id="28" idx="1"/>
            </p:cNvCxnSpPr>
            <p:nvPr/>
          </p:nvCxnSpPr>
          <p:spPr>
            <a:xfrm flipH="1" flipV="1">
              <a:off x="9470236" y="2914070"/>
              <a:ext cx="453261" cy="1554"/>
            </a:xfrm>
            <a:prstGeom prst="line">
              <a:avLst/>
            </a:prstGeom>
            <a:ln w="15875">
              <a:solidFill>
                <a:schemeClr val="accent2">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B883EA2-2E14-48DB-82B1-C3FAF37CAEB8}"/>
                </a:ext>
              </a:extLst>
            </p:cNvPr>
            <p:cNvCxnSpPr>
              <a:stCxn id="29" idx="1"/>
            </p:cNvCxnSpPr>
            <p:nvPr/>
          </p:nvCxnSpPr>
          <p:spPr>
            <a:xfrm flipH="1" flipV="1">
              <a:off x="9466758" y="3740404"/>
              <a:ext cx="456739" cy="3880"/>
            </a:xfrm>
            <a:prstGeom prst="line">
              <a:avLst/>
            </a:prstGeom>
            <a:ln w="15875">
              <a:solidFill>
                <a:schemeClr val="accent2">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EA8BE52-1E9F-4B52-A711-505BBBC8DBF1}"/>
                </a:ext>
              </a:extLst>
            </p:cNvPr>
            <p:cNvCxnSpPr>
              <a:endCxn id="43" idx="2"/>
            </p:cNvCxnSpPr>
            <p:nvPr/>
          </p:nvCxnSpPr>
          <p:spPr>
            <a:xfrm flipH="1" flipV="1">
              <a:off x="8896517" y="3721699"/>
              <a:ext cx="570241" cy="10349"/>
            </a:xfrm>
            <a:prstGeom prst="line">
              <a:avLst/>
            </a:prstGeom>
            <a:ln w="15875">
              <a:solidFill>
                <a:schemeClr val="accent2">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0" name="Left Bracket 49">
              <a:extLst>
                <a:ext uri="{FF2B5EF4-FFF2-40B4-BE49-F238E27FC236}">
                  <a16:creationId xmlns:a16="http://schemas.microsoft.com/office/drawing/2014/main" id="{272F55B5-4D9F-4A2E-8C96-805E277577EF}"/>
                </a:ext>
              </a:extLst>
            </p:cNvPr>
            <p:cNvSpPr/>
            <p:nvPr/>
          </p:nvSpPr>
          <p:spPr>
            <a:xfrm>
              <a:off x="7809212" y="2097590"/>
              <a:ext cx="75968" cy="3214732"/>
            </a:xfrm>
            <a:prstGeom prst="leftBracket">
              <a:avLst/>
            </a:prstGeom>
            <a:ln w="2222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1" name="TextBox 50">
              <a:extLst>
                <a:ext uri="{FF2B5EF4-FFF2-40B4-BE49-F238E27FC236}">
                  <a16:creationId xmlns:a16="http://schemas.microsoft.com/office/drawing/2014/main" id="{F13332D5-5CAB-452E-A0D3-45EAA2E1DCD9}"/>
                </a:ext>
              </a:extLst>
            </p:cNvPr>
            <p:cNvSpPr txBox="1"/>
            <p:nvPr/>
          </p:nvSpPr>
          <p:spPr>
            <a:xfrm>
              <a:off x="9846278" y="4815694"/>
              <a:ext cx="915182" cy="646331"/>
            </a:xfrm>
            <a:prstGeom prst="rect">
              <a:avLst/>
            </a:prstGeom>
            <a:noFill/>
          </p:spPr>
          <p:txBody>
            <a:bodyPr wrap="square" rtlCol="0">
              <a:spAutoFit/>
            </a:bodyPr>
            <a:lstStyle/>
            <a:p>
              <a:pPr algn="ctr"/>
              <a:r>
                <a:rPr lang="en-IN" sz="1200" dirty="0">
                  <a:solidFill>
                    <a:schemeClr val="bg1"/>
                  </a:solidFill>
                  <a:latin typeface="Arial Narrow" panose="020B0606020202030204" pitchFamily="34" charset="0"/>
                </a:rPr>
                <a:t>Fully Connected layers</a:t>
              </a:r>
            </a:p>
          </p:txBody>
        </p:sp>
      </p:grpSp>
    </p:spTree>
    <p:extLst>
      <p:ext uri="{BB962C8B-B14F-4D97-AF65-F5344CB8AC3E}">
        <p14:creationId xmlns:p14="http://schemas.microsoft.com/office/powerpoint/2010/main" val="3764042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EAE501-F59E-4955-AEFA-86F7AE8D445C}"/>
              </a:ext>
            </a:extLst>
          </p:cNvPr>
          <p:cNvSpPr>
            <a:spLocks noGrp="1"/>
          </p:cNvSpPr>
          <p:nvPr>
            <p:ph idx="1"/>
          </p:nvPr>
        </p:nvSpPr>
        <p:spPr>
          <a:xfrm>
            <a:off x="838200" y="1825624"/>
            <a:ext cx="10515600" cy="4602069"/>
          </a:xfrm>
        </p:spPr>
        <p:txBody>
          <a:bodyPr>
            <a:normAutofit/>
          </a:bodyPr>
          <a:lstStyle/>
          <a:p>
            <a:pPr algn="just"/>
            <a:r>
              <a:rPr lang="en-US" sz="2200" dirty="0">
                <a:latin typeface="Arial Narrow" panose="020B0606020202030204" pitchFamily="34" charset="0"/>
              </a:rPr>
              <a:t>A </a:t>
            </a:r>
            <a:r>
              <a:rPr lang="en-US" sz="2200" dirty="0">
                <a:solidFill>
                  <a:srgbClr val="7030A0"/>
                </a:solidFill>
                <a:latin typeface="Arial Narrow" panose="020B0606020202030204" pitchFamily="34" charset="0"/>
              </a:rPr>
              <a:t>Transformer</a:t>
            </a:r>
            <a:r>
              <a:rPr lang="en-US" sz="2200" dirty="0">
                <a:latin typeface="Arial Narrow" panose="020B0606020202030204" pitchFamily="34" charset="0"/>
              </a:rPr>
              <a:t>, on the other hand, conceptually divides the image into patches and uses </a:t>
            </a:r>
            <a:r>
              <a:rPr lang="en-US" sz="2200" dirty="0">
                <a:solidFill>
                  <a:srgbClr val="7030A0"/>
                </a:solidFill>
                <a:latin typeface="Arial Narrow" panose="020B0606020202030204" pitchFamily="34" charset="0"/>
              </a:rPr>
              <a:t>self-attention</a:t>
            </a:r>
            <a:r>
              <a:rPr lang="en-US" sz="2200" dirty="0">
                <a:latin typeface="Arial Narrow" panose="020B0606020202030204" pitchFamily="34" charset="0"/>
              </a:rPr>
              <a:t> to determine how important each patch is to every other patch.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It can directly learn that the patch containing the person's hand is related to the patch containing the flag, even if they are relatively far apart.</a:t>
            </a:r>
          </a:p>
          <a:p>
            <a:pPr marL="0" indent="0" algn="just">
              <a:buNone/>
            </a:pPr>
            <a:endParaRPr lang="en-US" sz="2200" dirty="0">
              <a:latin typeface="Arial Narrow" panose="020B0606020202030204" pitchFamily="34" charset="0"/>
            </a:endParaRPr>
          </a:p>
          <a:p>
            <a:pPr algn="just"/>
            <a:r>
              <a:rPr lang="en-US" sz="2200" dirty="0">
                <a:latin typeface="Arial Narrow" panose="020B0606020202030204" pitchFamily="34" charset="0"/>
              </a:rPr>
              <a:t>CNNs are naturally good at learning </a:t>
            </a:r>
            <a:r>
              <a:rPr lang="en-US" sz="2200" dirty="0">
                <a:solidFill>
                  <a:srgbClr val="7030A0"/>
                </a:solidFill>
                <a:latin typeface="Arial Narrow" panose="020B0606020202030204" pitchFamily="34" charset="0"/>
              </a:rPr>
              <a:t>local patterns and spatial features</a:t>
            </a:r>
            <a:r>
              <a:rPr lang="en-US" sz="2200" dirty="0">
                <a:latin typeface="Arial Narrow" panose="020B0606020202030204" pitchFamily="34" charset="0"/>
              </a:rPr>
              <a:t>, while Transformers are particularly powerful at learning </a:t>
            </a:r>
            <a:r>
              <a:rPr lang="en-US" sz="2200" dirty="0">
                <a:solidFill>
                  <a:srgbClr val="7030A0"/>
                </a:solidFill>
                <a:latin typeface="Arial Narrow" panose="020B0606020202030204" pitchFamily="34" charset="0"/>
              </a:rPr>
              <a:t>relationships between different regions of an image</a:t>
            </a:r>
            <a:r>
              <a:rPr lang="en-US" sz="2200" dirty="0">
                <a:latin typeface="Arial Narrow" panose="020B0606020202030204" pitchFamily="34" charset="0"/>
              </a:rPr>
              <a:t>.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Modern vision systems often combine ideas from both approaches to get the advantages of each.</a:t>
            </a:r>
          </a:p>
          <a:p>
            <a:endParaRPr lang="en-IN" dirty="0"/>
          </a:p>
        </p:txBody>
      </p:sp>
      <p:sp>
        <p:nvSpPr>
          <p:cNvPr id="4" name="Title 1">
            <a:extLst>
              <a:ext uri="{FF2B5EF4-FFF2-40B4-BE49-F238E27FC236}">
                <a16:creationId xmlns:a16="http://schemas.microsoft.com/office/drawing/2014/main" id="{E89B4C7E-04B6-490A-9EBB-F8FA990BF45D}"/>
              </a:ext>
            </a:extLst>
          </p:cNvPr>
          <p:cNvSpPr>
            <a:spLocks noGrp="1"/>
          </p:cNvSpPr>
          <p:nvPr>
            <p:ph type="title"/>
          </p:nvPr>
        </p:nvSpPr>
        <p:spPr>
          <a:xfrm>
            <a:off x="838200" y="365125"/>
            <a:ext cx="10515600" cy="1325563"/>
          </a:xfrm>
        </p:spPr>
        <p:txBody>
          <a:bodyPr>
            <a:normAutofit/>
          </a:bodyPr>
          <a:lstStyle/>
          <a:p>
            <a:r>
              <a:rPr lang="en-IN" sz="3200" dirty="0">
                <a:latin typeface="Century" panose="02040604050505020304" pitchFamily="18" charset="0"/>
              </a:rPr>
              <a:t>How Transformer works differently than CNN?</a:t>
            </a:r>
          </a:p>
        </p:txBody>
      </p:sp>
    </p:spTree>
    <p:extLst>
      <p:ext uri="{BB962C8B-B14F-4D97-AF65-F5344CB8AC3E}">
        <p14:creationId xmlns:p14="http://schemas.microsoft.com/office/powerpoint/2010/main" val="29632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FD3D6D-44E4-431F-A490-71A85A39AA41}"/>
              </a:ext>
            </a:extLst>
          </p:cNvPr>
          <p:cNvSpPr>
            <a:spLocks noGrp="1"/>
          </p:cNvSpPr>
          <p:nvPr>
            <p:ph type="title"/>
          </p:nvPr>
        </p:nvSpPr>
        <p:spPr/>
        <p:txBody>
          <a:bodyPr>
            <a:normAutofit/>
          </a:bodyPr>
          <a:lstStyle/>
          <a:p>
            <a:r>
              <a:rPr lang="en-IN" sz="3600" dirty="0">
                <a:latin typeface="Century" panose="02040604050505020304" pitchFamily="18" charset="0"/>
              </a:rPr>
              <a:t>Transformer Architecture</a:t>
            </a:r>
          </a:p>
        </p:txBody>
      </p:sp>
      <p:pic>
        <p:nvPicPr>
          <p:cNvPr id="5" name="Picture 4">
            <a:extLst>
              <a:ext uri="{FF2B5EF4-FFF2-40B4-BE49-F238E27FC236}">
                <a16:creationId xmlns:a16="http://schemas.microsoft.com/office/drawing/2014/main" id="{4C71C5B5-1925-4D97-9F20-8521C78E9C91}"/>
              </a:ext>
            </a:extLst>
          </p:cNvPr>
          <p:cNvPicPr>
            <a:picLocks noChangeAspect="1"/>
          </p:cNvPicPr>
          <p:nvPr/>
        </p:nvPicPr>
        <p:blipFill>
          <a:blip r:embed="rId2"/>
          <a:stretch>
            <a:fillRect/>
          </a:stretch>
        </p:blipFill>
        <p:spPr>
          <a:xfrm>
            <a:off x="3926377" y="1745739"/>
            <a:ext cx="659356" cy="701524"/>
          </a:xfrm>
          <a:prstGeom prst="rect">
            <a:avLst/>
          </a:prstGeom>
        </p:spPr>
      </p:pic>
      <p:sp>
        <p:nvSpPr>
          <p:cNvPr id="6" name="Trapezoid 5">
            <a:extLst>
              <a:ext uri="{FF2B5EF4-FFF2-40B4-BE49-F238E27FC236}">
                <a16:creationId xmlns:a16="http://schemas.microsoft.com/office/drawing/2014/main" id="{6D43B010-34B1-44D8-AD7D-5372741B2840}"/>
              </a:ext>
            </a:extLst>
          </p:cNvPr>
          <p:cNvSpPr/>
          <p:nvPr/>
        </p:nvSpPr>
        <p:spPr>
          <a:xfrm>
            <a:off x="3619847" y="2486520"/>
            <a:ext cx="1030542" cy="581313"/>
          </a:xfrm>
          <a:prstGeom prst="trapezoid">
            <a:avLst>
              <a:gd name="adj" fmla="val 35465"/>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Arial Narrow" panose="020B0606020202030204" pitchFamily="34" charset="0"/>
              </a:rPr>
              <a:t>CNN</a:t>
            </a:r>
          </a:p>
        </p:txBody>
      </p:sp>
      <p:grpSp>
        <p:nvGrpSpPr>
          <p:cNvPr id="7" name="Group 6">
            <a:extLst>
              <a:ext uri="{FF2B5EF4-FFF2-40B4-BE49-F238E27FC236}">
                <a16:creationId xmlns:a16="http://schemas.microsoft.com/office/drawing/2014/main" id="{3427B2BF-FD10-4743-B524-5F5E8D53460D}"/>
              </a:ext>
            </a:extLst>
          </p:cNvPr>
          <p:cNvGrpSpPr/>
          <p:nvPr/>
        </p:nvGrpSpPr>
        <p:grpSpPr>
          <a:xfrm>
            <a:off x="3573531" y="3125562"/>
            <a:ext cx="1123173" cy="894783"/>
            <a:chOff x="3907525" y="3282431"/>
            <a:chExt cx="1399431" cy="991913"/>
          </a:xfrm>
          <a:solidFill>
            <a:srgbClr val="FFC000">
              <a:alpha val="36000"/>
            </a:srgbClr>
          </a:solidFill>
        </p:grpSpPr>
        <p:sp>
          <p:nvSpPr>
            <p:cNvPr id="8" name="Rectangle 7">
              <a:extLst>
                <a:ext uri="{FF2B5EF4-FFF2-40B4-BE49-F238E27FC236}">
                  <a16:creationId xmlns:a16="http://schemas.microsoft.com/office/drawing/2014/main" id="{C4EF0702-3EAD-4BFE-B3CE-F37780064E4B}"/>
                </a:ext>
              </a:extLst>
            </p:cNvPr>
            <p:cNvSpPr/>
            <p:nvPr/>
          </p:nvSpPr>
          <p:spPr>
            <a:xfrm>
              <a:off x="3907525" y="3282431"/>
              <a:ext cx="466794" cy="334605"/>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0,0</a:t>
              </a:r>
            </a:p>
          </p:txBody>
        </p:sp>
        <p:sp>
          <p:nvSpPr>
            <p:cNvPr id="9" name="Rectangle 8">
              <a:extLst>
                <a:ext uri="{FF2B5EF4-FFF2-40B4-BE49-F238E27FC236}">
                  <a16:creationId xmlns:a16="http://schemas.microsoft.com/office/drawing/2014/main" id="{6F87748A-CCA8-4AAA-9C7D-CCAA37A418EF}"/>
                </a:ext>
              </a:extLst>
            </p:cNvPr>
            <p:cNvSpPr/>
            <p:nvPr/>
          </p:nvSpPr>
          <p:spPr>
            <a:xfrm>
              <a:off x="4373368" y="3282433"/>
              <a:ext cx="466794"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0,1</a:t>
              </a:r>
            </a:p>
          </p:txBody>
        </p:sp>
        <p:sp>
          <p:nvSpPr>
            <p:cNvPr id="10" name="Rectangle 9">
              <a:extLst>
                <a:ext uri="{FF2B5EF4-FFF2-40B4-BE49-F238E27FC236}">
                  <a16:creationId xmlns:a16="http://schemas.microsoft.com/office/drawing/2014/main" id="{6700D26D-D96D-46C3-8912-B630A8CB068D}"/>
                </a:ext>
              </a:extLst>
            </p:cNvPr>
            <p:cNvSpPr/>
            <p:nvPr/>
          </p:nvSpPr>
          <p:spPr>
            <a:xfrm>
              <a:off x="4840162" y="3282432"/>
              <a:ext cx="466794"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0,2</a:t>
              </a:r>
            </a:p>
          </p:txBody>
        </p:sp>
        <p:sp>
          <p:nvSpPr>
            <p:cNvPr id="11" name="Rectangle 10">
              <a:extLst>
                <a:ext uri="{FF2B5EF4-FFF2-40B4-BE49-F238E27FC236}">
                  <a16:creationId xmlns:a16="http://schemas.microsoft.com/office/drawing/2014/main" id="{B4424BE8-1AAD-4FAE-86A4-960C0B38972A}"/>
                </a:ext>
              </a:extLst>
            </p:cNvPr>
            <p:cNvSpPr/>
            <p:nvPr/>
          </p:nvSpPr>
          <p:spPr>
            <a:xfrm>
              <a:off x="3907526" y="3617038"/>
              <a:ext cx="466794"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1,0</a:t>
              </a:r>
            </a:p>
          </p:txBody>
        </p:sp>
        <p:sp>
          <p:nvSpPr>
            <p:cNvPr id="12" name="Rectangle 11">
              <a:extLst>
                <a:ext uri="{FF2B5EF4-FFF2-40B4-BE49-F238E27FC236}">
                  <a16:creationId xmlns:a16="http://schemas.microsoft.com/office/drawing/2014/main" id="{72182044-A907-4790-B2FD-0AEF91EBF543}"/>
                </a:ext>
              </a:extLst>
            </p:cNvPr>
            <p:cNvSpPr/>
            <p:nvPr/>
          </p:nvSpPr>
          <p:spPr>
            <a:xfrm>
              <a:off x="4373368" y="3617038"/>
              <a:ext cx="466794"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1,1</a:t>
              </a:r>
            </a:p>
          </p:txBody>
        </p:sp>
        <p:sp>
          <p:nvSpPr>
            <p:cNvPr id="13" name="Rectangle 12">
              <a:extLst>
                <a:ext uri="{FF2B5EF4-FFF2-40B4-BE49-F238E27FC236}">
                  <a16:creationId xmlns:a16="http://schemas.microsoft.com/office/drawing/2014/main" id="{FB03F6A5-F1A4-4401-87CC-E93D4DB175B1}"/>
                </a:ext>
              </a:extLst>
            </p:cNvPr>
            <p:cNvSpPr/>
            <p:nvPr/>
          </p:nvSpPr>
          <p:spPr>
            <a:xfrm>
              <a:off x="4840162" y="3617037"/>
              <a:ext cx="466794"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1,2</a:t>
              </a:r>
            </a:p>
          </p:txBody>
        </p:sp>
        <p:sp>
          <p:nvSpPr>
            <p:cNvPr id="14" name="Rectangle 13">
              <a:extLst>
                <a:ext uri="{FF2B5EF4-FFF2-40B4-BE49-F238E27FC236}">
                  <a16:creationId xmlns:a16="http://schemas.microsoft.com/office/drawing/2014/main" id="{77B30569-0277-45C0-A03E-3391FE86E069}"/>
                </a:ext>
              </a:extLst>
            </p:cNvPr>
            <p:cNvSpPr/>
            <p:nvPr/>
          </p:nvSpPr>
          <p:spPr>
            <a:xfrm>
              <a:off x="3907525" y="3951644"/>
              <a:ext cx="466794" cy="322700"/>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2,0</a:t>
              </a:r>
            </a:p>
          </p:txBody>
        </p:sp>
        <p:sp>
          <p:nvSpPr>
            <p:cNvPr id="15" name="Rectangle 14">
              <a:extLst>
                <a:ext uri="{FF2B5EF4-FFF2-40B4-BE49-F238E27FC236}">
                  <a16:creationId xmlns:a16="http://schemas.microsoft.com/office/drawing/2014/main" id="{FF014026-D72B-4298-91A7-393FB90BFF75}"/>
                </a:ext>
              </a:extLst>
            </p:cNvPr>
            <p:cNvSpPr/>
            <p:nvPr/>
          </p:nvSpPr>
          <p:spPr>
            <a:xfrm>
              <a:off x="4373367" y="3951644"/>
              <a:ext cx="466794" cy="322700"/>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2,1</a:t>
              </a:r>
            </a:p>
          </p:txBody>
        </p:sp>
        <p:sp>
          <p:nvSpPr>
            <p:cNvPr id="16" name="Rectangle 15">
              <a:extLst>
                <a:ext uri="{FF2B5EF4-FFF2-40B4-BE49-F238E27FC236}">
                  <a16:creationId xmlns:a16="http://schemas.microsoft.com/office/drawing/2014/main" id="{80B6569B-7EC5-4E16-8998-A183CE524A56}"/>
                </a:ext>
              </a:extLst>
            </p:cNvPr>
            <p:cNvSpPr/>
            <p:nvPr/>
          </p:nvSpPr>
          <p:spPr>
            <a:xfrm>
              <a:off x="4840161" y="3951643"/>
              <a:ext cx="466794" cy="322700"/>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2,2</a:t>
              </a:r>
            </a:p>
          </p:txBody>
        </p:sp>
      </p:grpSp>
      <p:sp>
        <p:nvSpPr>
          <p:cNvPr id="17" name="Rectangle 16">
            <a:extLst>
              <a:ext uri="{FF2B5EF4-FFF2-40B4-BE49-F238E27FC236}">
                <a16:creationId xmlns:a16="http://schemas.microsoft.com/office/drawing/2014/main" id="{008F625D-CC5A-45DB-9CC2-C0D8AA288411}"/>
              </a:ext>
            </a:extLst>
          </p:cNvPr>
          <p:cNvSpPr/>
          <p:nvPr/>
        </p:nvSpPr>
        <p:spPr>
          <a:xfrm>
            <a:off x="3187373" y="4428895"/>
            <a:ext cx="374645" cy="301840"/>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0,0</a:t>
            </a:r>
          </a:p>
        </p:txBody>
      </p:sp>
      <p:sp>
        <p:nvSpPr>
          <p:cNvPr id="18" name="Rectangle 17">
            <a:extLst>
              <a:ext uri="{FF2B5EF4-FFF2-40B4-BE49-F238E27FC236}">
                <a16:creationId xmlns:a16="http://schemas.microsoft.com/office/drawing/2014/main" id="{984E3344-3943-4BAD-9D88-E8C4A51BB77D}"/>
              </a:ext>
            </a:extLst>
          </p:cNvPr>
          <p:cNvSpPr/>
          <p:nvPr/>
        </p:nvSpPr>
        <p:spPr>
          <a:xfrm>
            <a:off x="3561255" y="4428897"/>
            <a:ext cx="374645" cy="301839"/>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0,1</a:t>
            </a:r>
          </a:p>
        </p:txBody>
      </p:sp>
      <p:sp>
        <p:nvSpPr>
          <p:cNvPr id="19" name="Rectangle 18">
            <a:extLst>
              <a:ext uri="{FF2B5EF4-FFF2-40B4-BE49-F238E27FC236}">
                <a16:creationId xmlns:a16="http://schemas.microsoft.com/office/drawing/2014/main" id="{9289E1A8-55B2-4B3E-A23D-654C4BF29A91}"/>
              </a:ext>
            </a:extLst>
          </p:cNvPr>
          <p:cNvSpPr/>
          <p:nvPr/>
        </p:nvSpPr>
        <p:spPr>
          <a:xfrm>
            <a:off x="3935901" y="4428896"/>
            <a:ext cx="374645" cy="301839"/>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0,2</a:t>
            </a:r>
          </a:p>
        </p:txBody>
      </p:sp>
      <p:sp>
        <p:nvSpPr>
          <p:cNvPr id="20" name="Rectangle 19">
            <a:extLst>
              <a:ext uri="{FF2B5EF4-FFF2-40B4-BE49-F238E27FC236}">
                <a16:creationId xmlns:a16="http://schemas.microsoft.com/office/drawing/2014/main" id="{D1DFEF06-2FF9-4B8F-83DA-0F9F424A4C8E}"/>
              </a:ext>
            </a:extLst>
          </p:cNvPr>
          <p:cNvSpPr/>
          <p:nvPr/>
        </p:nvSpPr>
        <p:spPr>
          <a:xfrm>
            <a:off x="4706227" y="4428896"/>
            <a:ext cx="374645" cy="301839"/>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2,2</a:t>
            </a:r>
          </a:p>
        </p:txBody>
      </p:sp>
      <p:sp>
        <p:nvSpPr>
          <p:cNvPr id="21" name="TextBox 20">
            <a:extLst>
              <a:ext uri="{FF2B5EF4-FFF2-40B4-BE49-F238E27FC236}">
                <a16:creationId xmlns:a16="http://schemas.microsoft.com/office/drawing/2014/main" id="{4F78041A-053A-4510-8377-5ACC2A53F6FA}"/>
              </a:ext>
            </a:extLst>
          </p:cNvPr>
          <p:cNvSpPr txBox="1"/>
          <p:nvPr/>
        </p:nvSpPr>
        <p:spPr>
          <a:xfrm>
            <a:off x="4330838" y="4376363"/>
            <a:ext cx="343364" cy="369332"/>
          </a:xfrm>
          <a:prstGeom prst="rect">
            <a:avLst/>
          </a:prstGeom>
          <a:noFill/>
        </p:spPr>
        <p:txBody>
          <a:bodyPr wrap="none" rtlCol="0">
            <a:spAutoFit/>
          </a:bodyPr>
          <a:lstStyle/>
          <a:p>
            <a:r>
              <a:rPr lang="en-IN" dirty="0">
                <a:solidFill>
                  <a:srgbClr val="0070C0"/>
                </a:solidFill>
              </a:rPr>
              <a:t>…</a:t>
            </a:r>
          </a:p>
        </p:txBody>
      </p:sp>
      <p:sp>
        <p:nvSpPr>
          <p:cNvPr id="22" name="Rounded Rectangle 23">
            <a:extLst>
              <a:ext uri="{FF2B5EF4-FFF2-40B4-BE49-F238E27FC236}">
                <a16:creationId xmlns:a16="http://schemas.microsoft.com/office/drawing/2014/main" id="{5CB54A26-B6D2-4FF8-B73B-EC03A42E9E30}"/>
              </a:ext>
            </a:extLst>
          </p:cNvPr>
          <p:cNvSpPr/>
          <p:nvPr/>
        </p:nvSpPr>
        <p:spPr>
          <a:xfrm>
            <a:off x="3137534" y="4388746"/>
            <a:ext cx="1990725" cy="382950"/>
          </a:xfrm>
          <a:prstGeom prst="roundRect">
            <a:avLst/>
          </a:prstGeom>
          <a:solidFill>
            <a:schemeClr val="bg2">
              <a:lumMod val="75000"/>
              <a:alpha val="33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35B94853-7B61-48C0-9231-A74051D7D780}"/>
              </a:ext>
            </a:extLst>
          </p:cNvPr>
          <p:cNvSpPr/>
          <p:nvPr/>
        </p:nvSpPr>
        <p:spPr>
          <a:xfrm>
            <a:off x="3187372" y="5784269"/>
            <a:ext cx="374645" cy="301840"/>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c</a:t>
            </a:r>
            <a:r>
              <a:rPr lang="en-IN" sz="1400" baseline="-25000" dirty="0">
                <a:latin typeface="Times New Roman" panose="02020603050405020304" pitchFamily="18" charset="0"/>
                <a:cs typeface="Times New Roman" panose="02020603050405020304" pitchFamily="18" charset="0"/>
              </a:rPr>
              <a:t>0,0</a:t>
            </a:r>
          </a:p>
        </p:txBody>
      </p:sp>
      <p:sp>
        <p:nvSpPr>
          <p:cNvPr id="24" name="Rectangle 23">
            <a:extLst>
              <a:ext uri="{FF2B5EF4-FFF2-40B4-BE49-F238E27FC236}">
                <a16:creationId xmlns:a16="http://schemas.microsoft.com/office/drawing/2014/main" id="{A1138616-E92B-4F5F-9558-767724160683}"/>
              </a:ext>
            </a:extLst>
          </p:cNvPr>
          <p:cNvSpPr/>
          <p:nvPr/>
        </p:nvSpPr>
        <p:spPr>
          <a:xfrm>
            <a:off x="3561254" y="5784271"/>
            <a:ext cx="374645" cy="301839"/>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c</a:t>
            </a:r>
            <a:r>
              <a:rPr lang="en-IN" sz="1400" baseline="-25000" dirty="0">
                <a:latin typeface="Times New Roman" panose="02020603050405020304" pitchFamily="18" charset="0"/>
                <a:cs typeface="Times New Roman" panose="02020603050405020304" pitchFamily="18" charset="0"/>
              </a:rPr>
              <a:t>0,1</a:t>
            </a:r>
          </a:p>
        </p:txBody>
      </p:sp>
      <p:sp>
        <p:nvSpPr>
          <p:cNvPr id="25" name="Rectangle 24">
            <a:extLst>
              <a:ext uri="{FF2B5EF4-FFF2-40B4-BE49-F238E27FC236}">
                <a16:creationId xmlns:a16="http://schemas.microsoft.com/office/drawing/2014/main" id="{7D952446-1763-4AE0-9B5F-99D26E77A99C}"/>
              </a:ext>
            </a:extLst>
          </p:cNvPr>
          <p:cNvSpPr/>
          <p:nvPr/>
        </p:nvSpPr>
        <p:spPr>
          <a:xfrm>
            <a:off x="3935900" y="5784270"/>
            <a:ext cx="374645" cy="301839"/>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c</a:t>
            </a:r>
            <a:r>
              <a:rPr lang="en-IN" sz="1400" baseline="-25000" dirty="0">
                <a:latin typeface="Times New Roman" panose="02020603050405020304" pitchFamily="18" charset="0"/>
                <a:cs typeface="Times New Roman" panose="02020603050405020304" pitchFamily="18" charset="0"/>
              </a:rPr>
              <a:t>0,2</a:t>
            </a:r>
          </a:p>
        </p:txBody>
      </p:sp>
      <p:sp>
        <p:nvSpPr>
          <p:cNvPr id="26" name="Rectangle 25">
            <a:extLst>
              <a:ext uri="{FF2B5EF4-FFF2-40B4-BE49-F238E27FC236}">
                <a16:creationId xmlns:a16="http://schemas.microsoft.com/office/drawing/2014/main" id="{F91C7E9D-CAEC-475A-AAC5-B1EB8ABF476F}"/>
              </a:ext>
            </a:extLst>
          </p:cNvPr>
          <p:cNvSpPr/>
          <p:nvPr/>
        </p:nvSpPr>
        <p:spPr>
          <a:xfrm>
            <a:off x="4706226" y="5784270"/>
            <a:ext cx="374645" cy="301839"/>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c</a:t>
            </a:r>
            <a:r>
              <a:rPr lang="en-IN" sz="1400" baseline="-25000" dirty="0">
                <a:latin typeface="Times New Roman" panose="02020603050405020304" pitchFamily="18" charset="0"/>
                <a:cs typeface="Times New Roman" panose="02020603050405020304" pitchFamily="18" charset="0"/>
              </a:rPr>
              <a:t>2,2</a:t>
            </a:r>
          </a:p>
        </p:txBody>
      </p:sp>
      <p:sp>
        <p:nvSpPr>
          <p:cNvPr id="27" name="TextBox 26">
            <a:extLst>
              <a:ext uri="{FF2B5EF4-FFF2-40B4-BE49-F238E27FC236}">
                <a16:creationId xmlns:a16="http://schemas.microsoft.com/office/drawing/2014/main" id="{2DF51206-4213-4F36-ADF8-75CB41E90FC4}"/>
              </a:ext>
            </a:extLst>
          </p:cNvPr>
          <p:cNvSpPr txBox="1"/>
          <p:nvPr/>
        </p:nvSpPr>
        <p:spPr>
          <a:xfrm>
            <a:off x="4337187" y="5712687"/>
            <a:ext cx="343364" cy="369332"/>
          </a:xfrm>
          <a:prstGeom prst="rect">
            <a:avLst/>
          </a:prstGeom>
          <a:noFill/>
        </p:spPr>
        <p:txBody>
          <a:bodyPr wrap="none" rtlCol="0">
            <a:spAutoFit/>
          </a:bodyPr>
          <a:lstStyle/>
          <a:p>
            <a:r>
              <a:rPr lang="en-IN" dirty="0">
                <a:solidFill>
                  <a:srgbClr val="0070C0"/>
                </a:solidFill>
              </a:rPr>
              <a:t>…</a:t>
            </a:r>
          </a:p>
        </p:txBody>
      </p:sp>
      <p:sp>
        <p:nvSpPr>
          <p:cNvPr id="28" name="TextBox 27">
            <a:extLst>
              <a:ext uri="{FF2B5EF4-FFF2-40B4-BE49-F238E27FC236}">
                <a16:creationId xmlns:a16="http://schemas.microsoft.com/office/drawing/2014/main" id="{DFBA4BB7-0C26-4AAE-9D4A-8FBCC7CA6714}"/>
              </a:ext>
            </a:extLst>
          </p:cNvPr>
          <p:cNvSpPr txBox="1"/>
          <p:nvPr/>
        </p:nvSpPr>
        <p:spPr>
          <a:xfrm>
            <a:off x="3148334" y="5094018"/>
            <a:ext cx="1969124" cy="338554"/>
          </a:xfrm>
          <a:prstGeom prst="rect">
            <a:avLst/>
          </a:prstGeom>
          <a:solidFill>
            <a:schemeClr val="accent5">
              <a:lumMod val="60000"/>
              <a:lumOff val="40000"/>
            </a:schemeClr>
          </a:solidFill>
          <a:ln w="15875">
            <a:solidFill>
              <a:schemeClr val="accent3">
                <a:lumMod val="75000"/>
              </a:schemeClr>
            </a:solidFill>
          </a:ln>
        </p:spPr>
        <p:txBody>
          <a:bodyPr wrap="square" rtlCol="0">
            <a:spAutoFit/>
          </a:bodyPr>
          <a:lstStyle/>
          <a:p>
            <a:pPr algn="ctr"/>
            <a:r>
              <a:rPr lang="en-IN" sz="1600" dirty="0">
                <a:latin typeface="Arial Narrow" panose="020B0606020202030204" pitchFamily="34" charset="0"/>
              </a:rPr>
              <a:t>Transformer Encoder</a:t>
            </a:r>
          </a:p>
        </p:txBody>
      </p:sp>
      <p:cxnSp>
        <p:nvCxnSpPr>
          <p:cNvPr id="29" name="Straight Arrow Connector 28">
            <a:extLst>
              <a:ext uri="{FF2B5EF4-FFF2-40B4-BE49-F238E27FC236}">
                <a16:creationId xmlns:a16="http://schemas.microsoft.com/office/drawing/2014/main" id="{413D0F8C-6AF9-4E10-A13D-AEA87D5146DD}"/>
              </a:ext>
            </a:extLst>
          </p:cNvPr>
          <p:cNvCxnSpPr>
            <a:stCxn id="15" idx="2"/>
            <a:endCxn id="22" idx="0"/>
          </p:cNvCxnSpPr>
          <p:nvPr/>
        </p:nvCxnSpPr>
        <p:spPr>
          <a:xfrm flipH="1">
            <a:off x="4132897" y="4020345"/>
            <a:ext cx="1838" cy="36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ADB8926-3C2F-4830-9CB2-67082D31BEDF}"/>
              </a:ext>
            </a:extLst>
          </p:cNvPr>
          <p:cNvCxnSpPr>
            <a:stCxn id="22" idx="2"/>
            <a:endCxn id="28" idx="0"/>
          </p:cNvCxnSpPr>
          <p:nvPr/>
        </p:nvCxnSpPr>
        <p:spPr>
          <a:xfrm flipH="1">
            <a:off x="4132896" y="4771696"/>
            <a:ext cx="1" cy="32232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BEACDF2-EF8C-45AE-9ECC-A5C3DC472FCE}"/>
              </a:ext>
            </a:extLst>
          </p:cNvPr>
          <p:cNvCxnSpPr>
            <a:stCxn id="28" idx="2"/>
            <a:endCxn id="44" idx="0"/>
          </p:cNvCxnSpPr>
          <p:nvPr/>
        </p:nvCxnSpPr>
        <p:spPr>
          <a:xfrm>
            <a:off x="4132896" y="5432572"/>
            <a:ext cx="0" cy="3115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437C7BD-0D08-4135-AFC0-92B7868CFB5F}"/>
              </a:ext>
            </a:extLst>
          </p:cNvPr>
          <p:cNvSpPr/>
          <p:nvPr/>
        </p:nvSpPr>
        <p:spPr>
          <a:xfrm>
            <a:off x="6460331" y="4397145"/>
            <a:ext cx="281266" cy="330416"/>
          </a:xfrm>
          <a:prstGeom prst="rect">
            <a:avLst/>
          </a:prstGeom>
          <a:solidFill>
            <a:schemeClr val="accent2">
              <a:lumMod val="75000"/>
              <a:alpha val="36000"/>
            </a:schemeClr>
          </a:solidFill>
          <a:ln>
            <a:solidFill>
              <a:schemeClr val="accent6">
                <a:lumMod val="75000"/>
              </a:schemeClr>
            </a:solidFill>
          </a:ln>
        </p:spPr>
        <p:txBody>
          <a:bodyPr wrap="none">
            <a:noAutofit/>
          </a:bodyPr>
          <a:lstStyle/>
          <a:p>
            <a:r>
              <a:rPr lang="en-IN" sz="1600" dirty="0">
                <a:latin typeface="Times New Roman" panose="02020603050405020304" pitchFamily="18" charset="0"/>
                <a:cs typeface="Times New Roman" panose="02020603050405020304" pitchFamily="18" charset="0"/>
              </a:rPr>
              <a:t>y</a:t>
            </a:r>
            <a:r>
              <a:rPr lang="en-IN" sz="1600" baseline="-25000" dirty="0">
                <a:latin typeface="Times New Roman" panose="02020603050405020304" pitchFamily="18" charset="0"/>
                <a:cs typeface="Times New Roman" panose="02020603050405020304" pitchFamily="18" charset="0"/>
              </a:rPr>
              <a:t>0</a:t>
            </a:r>
          </a:p>
        </p:txBody>
      </p:sp>
      <p:sp>
        <p:nvSpPr>
          <p:cNvPr id="33" name="Rectangle 32">
            <a:extLst>
              <a:ext uri="{FF2B5EF4-FFF2-40B4-BE49-F238E27FC236}">
                <a16:creationId xmlns:a16="http://schemas.microsoft.com/office/drawing/2014/main" id="{FFE9F133-18AB-44C2-9244-C2C59F59FD39}"/>
              </a:ext>
            </a:extLst>
          </p:cNvPr>
          <p:cNvSpPr/>
          <p:nvPr/>
        </p:nvSpPr>
        <p:spPr>
          <a:xfrm>
            <a:off x="7086582" y="4391474"/>
            <a:ext cx="268382" cy="336087"/>
          </a:xfrm>
          <a:prstGeom prst="rect">
            <a:avLst/>
          </a:prstGeom>
          <a:solidFill>
            <a:schemeClr val="accent2">
              <a:lumMod val="75000"/>
              <a:alpha val="36000"/>
            </a:schemeClr>
          </a:solidFill>
          <a:ln>
            <a:solidFill>
              <a:schemeClr val="accent6">
                <a:lumMod val="75000"/>
              </a:schemeClr>
            </a:solidFill>
          </a:ln>
        </p:spPr>
        <p:txBody>
          <a:bodyPr wrap="none">
            <a:noAutofit/>
          </a:bodyPr>
          <a:lstStyle/>
          <a:p>
            <a:r>
              <a:rPr lang="en-IN" sz="1600" dirty="0">
                <a:latin typeface="Times New Roman" panose="02020603050405020304" pitchFamily="18" charset="0"/>
                <a:cs typeface="Times New Roman" panose="02020603050405020304" pitchFamily="18" charset="0"/>
              </a:rPr>
              <a:t>y</a:t>
            </a:r>
            <a:r>
              <a:rPr lang="en-IN" sz="1600" baseline="-25000" dirty="0">
                <a:latin typeface="Times New Roman" panose="02020603050405020304" pitchFamily="18" charset="0"/>
                <a:cs typeface="Times New Roman" panose="02020603050405020304" pitchFamily="18" charset="0"/>
              </a:rPr>
              <a:t>1</a:t>
            </a:r>
          </a:p>
        </p:txBody>
      </p:sp>
      <p:sp>
        <p:nvSpPr>
          <p:cNvPr id="34" name="Rectangle 33">
            <a:extLst>
              <a:ext uri="{FF2B5EF4-FFF2-40B4-BE49-F238E27FC236}">
                <a16:creationId xmlns:a16="http://schemas.microsoft.com/office/drawing/2014/main" id="{F8E9190F-0428-474C-ACC4-BDE3390C5B2C}"/>
              </a:ext>
            </a:extLst>
          </p:cNvPr>
          <p:cNvSpPr/>
          <p:nvPr/>
        </p:nvSpPr>
        <p:spPr>
          <a:xfrm>
            <a:off x="7699949" y="4397145"/>
            <a:ext cx="278549" cy="330416"/>
          </a:xfrm>
          <a:prstGeom prst="rect">
            <a:avLst/>
          </a:prstGeom>
          <a:solidFill>
            <a:schemeClr val="accent2">
              <a:lumMod val="75000"/>
              <a:alpha val="36000"/>
            </a:schemeClr>
          </a:solidFill>
          <a:ln>
            <a:solidFill>
              <a:schemeClr val="accent6">
                <a:lumMod val="75000"/>
              </a:schemeClr>
            </a:solidFill>
          </a:ln>
        </p:spPr>
        <p:txBody>
          <a:bodyPr wrap="none">
            <a:noAutofit/>
          </a:bodyPr>
          <a:lstStyle/>
          <a:p>
            <a:r>
              <a:rPr lang="en-IN" sz="1600" dirty="0">
                <a:latin typeface="Times New Roman" panose="02020603050405020304" pitchFamily="18" charset="0"/>
                <a:cs typeface="Times New Roman" panose="02020603050405020304" pitchFamily="18" charset="0"/>
              </a:rPr>
              <a:t>y</a:t>
            </a:r>
            <a:r>
              <a:rPr lang="en-IN" sz="1600" baseline="-25000" dirty="0">
                <a:latin typeface="Times New Roman" panose="02020603050405020304" pitchFamily="18" charset="0"/>
                <a:cs typeface="Times New Roman" panose="02020603050405020304" pitchFamily="18" charset="0"/>
              </a:rPr>
              <a:t>2</a:t>
            </a:r>
          </a:p>
        </p:txBody>
      </p:sp>
      <p:sp>
        <p:nvSpPr>
          <p:cNvPr id="35" name="Rectangle 34">
            <a:extLst>
              <a:ext uri="{FF2B5EF4-FFF2-40B4-BE49-F238E27FC236}">
                <a16:creationId xmlns:a16="http://schemas.microsoft.com/office/drawing/2014/main" id="{8BF26F41-DB5C-4312-97FD-D6907B5C19C8}"/>
              </a:ext>
            </a:extLst>
          </p:cNvPr>
          <p:cNvSpPr/>
          <p:nvPr/>
        </p:nvSpPr>
        <p:spPr>
          <a:xfrm>
            <a:off x="8323483" y="4397144"/>
            <a:ext cx="278549" cy="330417"/>
          </a:xfrm>
          <a:prstGeom prst="rect">
            <a:avLst/>
          </a:prstGeom>
          <a:solidFill>
            <a:schemeClr val="accent2">
              <a:lumMod val="75000"/>
              <a:alpha val="36000"/>
            </a:schemeClr>
          </a:solidFill>
          <a:ln>
            <a:solidFill>
              <a:schemeClr val="accent6">
                <a:lumMod val="75000"/>
              </a:schemeClr>
            </a:solidFill>
          </a:ln>
        </p:spPr>
        <p:txBody>
          <a:bodyPr wrap="none">
            <a:noAutofit/>
          </a:bodyPr>
          <a:lstStyle/>
          <a:p>
            <a:r>
              <a:rPr lang="en-IN" sz="1600" dirty="0">
                <a:latin typeface="Times New Roman" panose="02020603050405020304" pitchFamily="18" charset="0"/>
                <a:cs typeface="Times New Roman" panose="02020603050405020304" pitchFamily="18" charset="0"/>
              </a:rPr>
              <a:t>y</a:t>
            </a:r>
            <a:r>
              <a:rPr lang="en-IN" sz="1600" baseline="-25000" dirty="0">
                <a:latin typeface="Times New Roman" panose="02020603050405020304" pitchFamily="18" charset="0"/>
                <a:cs typeface="Times New Roman" panose="02020603050405020304" pitchFamily="18" charset="0"/>
              </a:rPr>
              <a:t>3</a:t>
            </a:r>
          </a:p>
        </p:txBody>
      </p:sp>
      <p:sp>
        <p:nvSpPr>
          <p:cNvPr id="36" name="TextBox 35">
            <a:extLst>
              <a:ext uri="{FF2B5EF4-FFF2-40B4-BE49-F238E27FC236}">
                <a16:creationId xmlns:a16="http://schemas.microsoft.com/office/drawing/2014/main" id="{EA18B98C-8334-4B31-BF0A-2B8A7BD42ECF}"/>
              </a:ext>
            </a:extLst>
          </p:cNvPr>
          <p:cNvSpPr txBox="1"/>
          <p:nvPr/>
        </p:nvSpPr>
        <p:spPr>
          <a:xfrm>
            <a:off x="6322513" y="5094017"/>
            <a:ext cx="2412863" cy="338554"/>
          </a:xfrm>
          <a:prstGeom prst="rect">
            <a:avLst/>
          </a:prstGeom>
          <a:solidFill>
            <a:schemeClr val="bg2">
              <a:lumMod val="75000"/>
            </a:schemeClr>
          </a:solidFill>
          <a:ln w="15875">
            <a:solidFill>
              <a:schemeClr val="accent3">
                <a:lumMod val="75000"/>
              </a:schemeClr>
            </a:solidFill>
          </a:ln>
        </p:spPr>
        <p:txBody>
          <a:bodyPr wrap="square" rtlCol="0">
            <a:spAutoFit/>
          </a:bodyPr>
          <a:lstStyle/>
          <a:p>
            <a:pPr algn="ctr"/>
            <a:r>
              <a:rPr lang="en-IN" sz="1600" dirty="0">
                <a:latin typeface="Arial Narrow" panose="020B0606020202030204" pitchFamily="34" charset="0"/>
              </a:rPr>
              <a:t>Transformer Decoder</a:t>
            </a:r>
          </a:p>
        </p:txBody>
      </p:sp>
      <p:cxnSp>
        <p:nvCxnSpPr>
          <p:cNvPr id="37" name="Straight Arrow Connector 36">
            <a:extLst>
              <a:ext uri="{FF2B5EF4-FFF2-40B4-BE49-F238E27FC236}">
                <a16:creationId xmlns:a16="http://schemas.microsoft.com/office/drawing/2014/main" id="{93557685-683B-4665-B998-C085A24B7784}"/>
              </a:ext>
            </a:extLst>
          </p:cNvPr>
          <p:cNvCxnSpPr>
            <a:stCxn id="56" idx="2"/>
            <a:endCxn id="36" idx="0"/>
          </p:cNvCxnSpPr>
          <p:nvPr/>
        </p:nvCxnSpPr>
        <p:spPr>
          <a:xfrm>
            <a:off x="7528945" y="4773602"/>
            <a:ext cx="0" cy="32041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B527A2E-8008-4BA0-A920-6F5B1D47A264}"/>
              </a:ext>
            </a:extLst>
          </p:cNvPr>
          <p:cNvCxnSpPr>
            <a:stCxn id="36" idx="2"/>
            <a:endCxn id="57" idx="0"/>
          </p:cNvCxnSpPr>
          <p:nvPr/>
        </p:nvCxnSpPr>
        <p:spPr>
          <a:xfrm>
            <a:off x="7528945" y="5432571"/>
            <a:ext cx="0" cy="30392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CB77E61F-5427-4511-B9A2-6335F38A088A}"/>
              </a:ext>
            </a:extLst>
          </p:cNvPr>
          <p:cNvSpPr/>
          <p:nvPr/>
        </p:nvSpPr>
        <p:spPr>
          <a:xfrm>
            <a:off x="6460331" y="5784268"/>
            <a:ext cx="281266" cy="335181"/>
          </a:xfrm>
          <a:prstGeom prst="rect">
            <a:avLst/>
          </a:prstGeom>
          <a:solidFill>
            <a:schemeClr val="accent2">
              <a:lumMod val="75000"/>
              <a:alpha val="36000"/>
            </a:schemeClr>
          </a:solidFill>
          <a:ln>
            <a:solidFill>
              <a:schemeClr val="accent6">
                <a:lumMod val="75000"/>
              </a:schemeClr>
            </a:solidFill>
          </a:ln>
        </p:spPr>
        <p:txBody>
          <a:bodyPr wrap="none">
            <a:noAutofit/>
          </a:bodyPr>
          <a:lstStyle/>
          <a:p>
            <a:r>
              <a:rPr lang="en-IN" sz="1600" dirty="0">
                <a:latin typeface="Times New Roman" panose="02020603050405020304" pitchFamily="18" charset="0"/>
                <a:cs typeface="Times New Roman" panose="02020603050405020304" pitchFamily="18" charset="0"/>
              </a:rPr>
              <a:t>y</a:t>
            </a:r>
            <a:r>
              <a:rPr lang="en-IN" sz="1600" baseline="-25000" dirty="0">
                <a:latin typeface="Times New Roman" panose="02020603050405020304" pitchFamily="18" charset="0"/>
                <a:cs typeface="Times New Roman" panose="02020603050405020304" pitchFamily="18" charset="0"/>
              </a:rPr>
              <a:t>1</a:t>
            </a:r>
          </a:p>
        </p:txBody>
      </p:sp>
      <p:sp>
        <p:nvSpPr>
          <p:cNvPr id="40" name="Rectangle 39">
            <a:extLst>
              <a:ext uri="{FF2B5EF4-FFF2-40B4-BE49-F238E27FC236}">
                <a16:creationId xmlns:a16="http://schemas.microsoft.com/office/drawing/2014/main" id="{8E3956E5-55B4-404E-8872-8DE1E39ED3B1}"/>
              </a:ext>
            </a:extLst>
          </p:cNvPr>
          <p:cNvSpPr/>
          <p:nvPr/>
        </p:nvSpPr>
        <p:spPr>
          <a:xfrm>
            <a:off x="7086582" y="5778598"/>
            <a:ext cx="268382" cy="340851"/>
          </a:xfrm>
          <a:prstGeom prst="rect">
            <a:avLst/>
          </a:prstGeom>
          <a:solidFill>
            <a:schemeClr val="accent2">
              <a:lumMod val="75000"/>
              <a:alpha val="36000"/>
            </a:schemeClr>
          </a:solidFill>
          <a:ln>
            <a:solidFill>
              <a:schemeClr val="accent6">
                <a:lumMod val="75000"/>
              </a:schemeClr>
            </a:solidFill>
          </a:ln>
        </p:spPr>
        <p:txBody>
          <a:bodyPr wrap="none">
            <a:noAutofit/>
          </a:bodyPr>
          <a:lstStyle/>
          <a:p>
            <a:r>
              <a:rPr lang="en-IN" sz="1600" dirty="0">
                <a:latin typeface="Times New Roman" panose="02020603050405020304" pitchFamily="18" charset="0"/>
                <a:cs typeface="Times New Roman" panose="02020603050405020304" pitchFamily="18" charset="0"/>
              </a:rPr>
              <a:t>y</a:t>
            </a:r>
            <a:r>
              <a:rPr lang="en-IN" sz="1600" baseline="-25000" dirty="0">
                <a:latin typeface="Times New Roman" panose="02020603050405020304" pitchFamily="18" charset="0"/>
                <a:cs typeface="Times New Roman" panose="02020603050405020304" pitchFamily="18" charset="0"/>
              </a:rPr>
              <a:t>2</a:t>
            </a:r>
          </a:p>
        </p:txBody>
      </p:sp>
      <p:sp>
        <p:nvSpPr>
          <p:cNvPr id="41" name="Rectangle 40">
            <a:extLst>
              <a:ext uri="{FF2B5EF4-FFF2-40B4-BE49-F238E27FC236}">
                <a16:creationId xmlns:a16="http://schemas.microsoft.com/office/drawing/2014/main" id="{DD7D7453-1B43-499E-9F3E-CD1F442CC7CC}"/>
              </a:ext>
            </a:extLst>
          </p:cNvPr>
          <p:cNvSpPr/>
          <p:nvPr/>
        </p:nvSpPr>
        <p:spPr>
          <a:xfrm>
            <a:off x="7699949" y="5784269"/>
            <a:ext cx="278549" cy="335180"/>
          </a:xfrm>
          <a:prstGeom prst="rect">
            <a:avLst/>
          </a:prstGeom>
          <a:solidFill>
            <a:schemeClr val="accent2">
              <a:lumMod val="75000"/>
              <a:alpha val="36000"/>
            </a:schemeClr>
          </a:solidFill>
          <a:ln>
            <a:solidFill>
              <a:schemeClr val="accent6">
                <a:lumMod val="75000"/>
              </a:schemeClr>
            </a:solidFill>
          </a:ln>
        </p:spPr>
        <p:txBody>
          <a:bodyPr wrap="none">
            <a:noAutofit/>
          </a:bodyPr>
          <a:lstStyle/>
          <a:p>
            <a:r>
              <a:rPr lang="en-IN" sz="1600" dirty="0">
                <a:latin typeface="Times New Roman" panose="02020603050405020304" pitchFamily="18" charset="0"/>
                <a:cs typeface="Times New Roman" panose="02020603050405020304" pitchFamily="18" charset="0"/>
              </a:rPr>
              <a:t>y</a:t>
            </a:r>
            <a:r>
              <a:rPr lang="en-IN" sz="1600" baseline="-25000" dirty="0">
                <a:latin typeface="Times New Roman" panose="02020603050405020304" pitchFamily="18" charset="0"/>
                <a:cs typeface="Times New Roman" panose="02020603050405020304" pitchFamily="18" charset="0"/>
              </a:rPr>
              <a:t>3</a:t>
            </a:r>
          </a:p>
        </p:txBody>
      </p:sp>
      <p:sp>
        <p:nvSpPr>
          <p:cNvPr id="42" name="Rectangle 41">
            <a:extLst>
              <a:ext uri="{FF2B5EF4-FFF2-40B4-BE49-F238E27FC236}">
                <a16:creationId xmlns:a16="http://schemas.microsoft.com/office/drawing/2014/main" id="{CC915CE2-FC94-407A-BE7B-7AE235058F1C}"/>
              </a:ext>
            </a:extLst>
          </p:cNvPr>
          <p:cNvSpPr/>
          <p:nvPr/>
        </p:nvSpPr>
        <p:spPr>
          <a:xfrm>
            <a:off x="8323483" y="5784268"/>
            <a:ext cx="278549" cy="335181"/>
          </a:xfrm>
          <a:prstGeom prst="rect">
            <a:avLst/>
          </a:prstGeom>
          <a:solidFill>
            <a:schemeClr val="accent2">
              <a:lumMod val="75000"/>
              <a:alpha val="36000"/>
            </a:schemeClr>
          </a:solidFill>
          <a:ln>
            <a:solidFill>
              <a:schemeClr val="accent6">
                <a:lumMod val="75000"/>
              </a:schemeClr>
            </a:solidFill>
          </a:ln>
        </p:spPr>
        <p:txBody>
          <a:bodyPr wrap="none">
            <a:noAutofit/>
          </a:bodyPr>
          <a:lstStyle/>
          <a:p>
            <a:r>
              <a:rPr lang="en-IN" sz="1600" dirty="0">
                <a:latin typeface="Times New Roman" panose="02020603050405020304" pitchFamily="18" charset="0"/>
                <a:cs typeface="Times New Roman" panose="02020603050405020304" pitchFamily="18" charset="0"/>
              </a:rPr>
              <a:t>y</a:t>
            </a:r>
            <a:r>
              <a:rPr lang="en-IN" sz="1600" baseline="-25000" dirty="0">
                <a:latin typeface="Times New Roman" panose="02020603050405020304" pitchFamily="18" charset="0"/>
                <a:cs typeface="Times New Roman" panose="02020603050405020304" pitchFamily="18" charset="0"/>
              </a:rPr>
              <a:t>4</a:t>
            </a:r>
          </a:p>
        </p:txBody>
      </p:sp>
      <p:cxnSp>
        <p:nvCxnSpPr>
          <p:cNvPr id="43" name="Elbow Connector 85">
            <a:extLst>
              <a:ext uri="{FF2B5EF4-FFF2-40B4-BE49-F238E27FC236}">
                <a16:creationId xmlns:a16="http://schemas.microsoft.com/office/drawing/2014/main" id="{954387AD-117B-4F4C-AA76-D3CC114F6C33}"/>
              </a:ext>
            </a:extLst>
          </p:cNvPr>
          <p:cNvCxnSpPr>
            <a:stCxn id="44" idx="2"/>
            <a:endCxn id="36" idx="1"/>
          </p:cNvCxnSpPr>
          <p:nvPr/>
        </p:nvCxnSpPr>
        <p:spPr>
          <a:xfrm rot="5400000" flipH="1" flipV="1">
            <a:off x="4795816" y="4600373"/>
            <a:ext cx="863776" cy="2189617"/>
          </a:xfrm>
          <a:prstGeom prst="bentConnector4">
            <a:avLst>
              <a:gd name="adj1" fmla="val -26465"/>
              <a:gd name="adj2" fmla="val 72729"/>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4" name="Rounded Rectangle 35">
            <a:extLst>
              <a:ext uri="{FF2B5EF4-FFF2-40B4-BE49-F238E27FC236}">
                <a16:creationId xmlns:a16="http://schemas.microsoft.com/office/drawing/2014/main" id="{1CCC77CB-E64E-467E-8644-A23BFA12AAE0}"/>
              </a:ext>
            </a:extLst>
          </p:cNvPr>
          <p:cNvSpPr/>
          <p:nvPr/>
        </p:nvSpPr>
        <p:spPr>
          <a:xfrm>
            <a:off x="3137533" y="5744120"/>
            <a:ext cx="1990725" cy="382950"/>
          </a:xfrm>
          <a:prstGeom prst="roundRect">
            <a:avLst/>
          </a:prstGeom>
          <a:solidFill>
            <a:schemeClr val="bg2">
              <a:lumMod val="75000"/>
              <a:alpha val="33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C4EA1A19-529D-44EE-A81F-84B09E05471A}"/>
              </a:ext>
            </a:extLst>
          </p:cNvPr>
          <p:cNvSpPr txBox="1"/>
          <p:nvPr/>
        </p:nvSpPr>
        <p:spPr>
          <a:xfrm>
            <a:off x="6267365" y="3960016"/>
            <a:ext cx="735586" cy="307777"/>
          </a:xfrm>
          <a:prstGeom prst="rect">
            <a:avLst/>
          </a:prstGeom>
          <a:noFill/>
        </p:spPr>
        <p:txBody>
          <a:bodyPr wrap="none" rtlCol="0">
            <a:spAutoFit/>
          </a:bodyPr>
          <a:lstStyle/>
          <a:p>
            <a:r>
              <a:rPr lang="en-IN" sz="1400" dirty="0">
                <a:solidFill>
                  <a:srgbClr val="7030A0"/>
                </a:solidFill>
                <a:latin typeface="Arial Narrow" panose="020B0606020202030204" pitchFamily="34" charset="0"/>
              </a:rPr>
              <a:t>[START]</a:t>
            </a:r>
          </a:p>
        </p:txBody>
      </p:sp>
      <p:sp>
        <p:nvSpPr>
          <p:cNvPr id="46" name="TextBox 45">
            <a:extLst>
              <a:ext uri="{FF2B5EF4-FFF2-40B4-BE49-F238E27FC236}">
                <a16:creationId xmlns:a16="http://schemas.microsoft.com/office/drawing/2014/main" id="{0DC8FE9B-EF3D-4481-9CD7-F34B5F377EFD}"/>
              </a:ext>
            </a:extLst>
          </p:cNvPr>
          <p:cNvSpPr txBox="1"/>
          <p:nvPr/>
        </p:nvSpPr>
        <p:spPr>
          <a:xfrm>
            <a:off x="7026649" y="3960019"/>
            <a:ext cx="421910" cy="307777"/>
          </a:xfrm>
          <a:prstGeom prst="rect">
            <a:avLst/>
          </a:prstGeom>
          <a:noFill/>
        </p:spPr>
        <p:txBody>
          <a:bodyPr wrap="none" rtlCol="0">
            <a:spAutoFit/>
          </a:bodyPr>
          <a:lstStyle/>
          <a:p>
            <a:r>
              <a:rPr lang="en-IN" sz="1400" dirty="0">
                <a:solidFill>
                  <a:srgbClr val="7030A0"/>
                </a:solidFill>
                <a:latin typeface="Arial Narrow" panose="020B0606020202030204" pitchFamily="34" charset="0"/>
              </a:rPr>
              <a:t>boy</a:t>
            </a:r>
          </a:p>
        </p:txBody>
      </p:sp>
      <p:sp>
        <p:nvSpPr>
          <p:cNvPr id="47" name="TextBox 46">
            <a:extLst>
              <a:ext uri="{FF2B5EF4-FFF2-40B4-BE49-F238E27FC236}">
                <a16:creationId xmlns:a16="http://schemas.microsoft.com/office/drawing/2014/main" id="{25A21162-7155-4C81-B20F-4DFF410810F8}"/>
              </a:ext>
            </a:extLst>
          </p:cNvPr>
          <p:cNvSpPr txBox="1"/>
          <p:nvPr/>
        </p:nvSpPr>
        <p:spPr>
          <a:xfrm>
            <a:off x="7528944" y="3960018"/>
            <a:ext cx="641522" cy="307777"/>
          </a:xfrm>
          <a:prstGeom prst="rect">
            <a:avLst/>
          </a:prstGeom>
          <a:noFill/>
        </p:spPr>
        <p:txBody>
          <a:bodyPr wrap="none" rtlCol="0">
            <a:spAutoFit/>
          </a:bodyPr>
          <a:lstStyle/>
          <a:p>
            <a:r>
              <a:rPr lang="en-IN" sz="1400" dirty="0">
                <a:solidFill>
                  <a:srgbClr val="7030A0"/>
                </a:solidFill>
                <a:latin typeface="Arial Narrow" panose="020B0606020202030204" pitchFamily="34" charset="0"/>
              </a:rPr>
              <a:t>waving</a:t>
            </a:r>
          </a:p>
        </p:txBody>
      </p:sp>
      <p:sp>
        <p:nvSpPr>
          <p:cNvPr id="48" name="TextBox 47">
            <a:extLst>
              <a:ext uri="{FF2B5EF4-FFF2-40B4-BE49-F238E27FC236}">
                <a16:creationId xmlns:a16="http://schemas.microsoft.com/office/drawing/2014/main" id="{A71F6C7E-DF18-44D4-99E1-E5EB5EE4F78B}"/>
              </a:ext>
            </a:extLst>
          </p:cNvPr>
          <p:cNvSpPr txBox="1"/>
          <p:nvPr/>
        </p:nvSpPr>
        <p:spPr>
          <a:xfrm>
            <a:off x="8268633" y="3960017"/>
            <a:ext cx="421910" cy="307777"/>
          </a:xfrm>
          <a:prstGeom prst="rect">
            <a:avLst/>
          </a:prstGeom>
          <a:noFill/>
        </p:spPr>
        <p:txBody>
          <a:bodyPr wrap="none" rtlCol="0">
            <a:spAutoFit/>
          </a:bodyPr>
          <a:lstStyle/>
          <a:p>
            <a:r>
              <a:rPr lang="en-IN" sz="1400" dirty="0">
                <a:solidFill>
                  <a:srgbClr val="7030A0"/>
                </a:solidFill>
                <a:latin typeface="Arial Narrow" panose="020B0606020202030204" pitchFamily="34" charset="0"/>
              </a:rPr>
              <a:t>flag</a:t>
            </a:r>
          </a:p>
        </p:txBody>
      </p:sp>
      <p:sp>
        <p:nvSpPr>
          <p:cNvPr id="49" name="TextBox 48">
            <a:extLst>
              <a:ext uri="{FF2B5EF4-FFF2-40B4-BE49-F238E27FC236}">
                <a16:creationId xmlns:a16="http://schemas.microsoft.com/office/drawing/2014/main" id="{7AE2FE28-7B11-4FB1-996C-255146EBE7AE}"/>
              </a:ext>
            </a:extLst>
          </p:cNvPr>
          <p:cNvSpPr txBox="1"/>
          <p:nvPr/>
        </p:nvSpPr>
        <p:spPr>
          <a:xfrm>
            <a:off x="6428150" y="6185098"/>
            <a:ext cx="421910" cy="307777"/>
          </a:xfrm>
          <a:prstGeom prst="rect">
            <a:avLst/>
          </a:prstGeom>
          <a:noFill/>
        </p:spPr>
        <p:txBody>
          <a:bodyPr wrap="none" rtlCol="0">
            <a:spAutoFit/>
          </a:bodyPr>
          <a:lstStyle/>
          <a:p>
            <a:r>
              <a:rPr lang="en-IN" sz="1400" dirty="0">
                <a:solidFill>
                  <a:srgbClr val="7030A0"/>
                </a:solidFill>
                <a:latin typeface="Arial Narrow" panose="020B0606020202030204" pitchFamily="34" charset="0"/>
              </a:rPr>
              <a:t>boy</a:t>
            </a:r>
          </a:p>
        </p:txBody>
      </p:sp>
      <p:sp>
        <p:nvSpPr>
          <p:cNvPr id="50" name="TextBox 49">
            <a:extLst>
              <a:ext uri="{FF2B5EF4-FFF2-40B4-BE49-F238E27FC236}">
                <a16:creationId xmlns:a16="http://schemas.microsoft.com/office/drawing/2014/main" id="{C7CD552F-5F41-4FF5-96DE-134893DB0A57}"/>
              </a:ext>
            </a:extLst>
          </p:cNvPr>
          <p:cNvSpPr txBox="1"/>
          <p:nvPr/>
        </p:nvSpPr>
        <p:spPr>
          <a:xfrm>
            <a:off x="6930445" y="6185097"/>
            <a:ext cx="641522" cy="307777"/>
          </a:xfrm>
          <a:prstGeom prst="rect">
            <a:avLst/>
          </a:prstGeom>
          <a:noFill/>
        </p:spPr>
        <p:txBody>
          <a:bodyPr wrap="none" rtlCol="0">
            <a:spAutoFit/>
          </a:bodyPr>
          <a:lstStyle/>
          <a:p>
            <a:r>
              <a:rPr lang="en-IN" sz="1400" dirty="0">
                <a:solidFill>
                  <a:srgbClr val="7030A0"/>
                </a:solidFill>
                <a:latin typeface="Arial Narrow" panose="020B0606020202030204" pitchFamily="34" charset="0"/>
              </a:rPr>
              <a:t>waving</a:t>
            </a:r>
          </a:p>
        </p:txBody>
      </p:sp>
      <p:sp>
        <p:nvSpPr>
          <p:cNvPr id="51" name="TextBox 50">
            <a:extLst>
              <a:ext uri="{FF2B5EF4-FFF2-40B4-BE49-F238E27FC236}">
                <a16:creationId xmlns:a16="http://schemas.microsoft.com/office/drawing/2014/main" id="{44B1462E-D4C6-4374-A696-C67313C4E782}"/>
              </a:ext>
            </a:extLst>
          </p:cNvPr>
          <p:cNvSpPr txBox="1"/>
          <p:nvPr/>
        </p:nvSpPr>
        <p:spPr>
          <a:xfrm>
            <a:off x="7670134" y="6185096"/>
            <a:ext cx="421910" cy="307777"/>
          </a:xfrm>
          <a:prstGeom prst="rect">
            <a:avLst/>
          </a:prstGeom>
          <a:noFill/>
        </p:spPr>
        <p:txBody>
          <a:bodyPr wrap="none" rtlCol="0">
            <a:spAutoFit/>
          </a:bodyPr>
          <a:lstStyle/>
          <a:p>
            <a:r>
              <a:rPr lang="en-IN" sz="1400" dirty="0">
                <a:solidFill>
                  <a:srgbClr val="7030A0"/>
                </a:solidFill>
                <a:latin typeface="Arial Narrow" panose="020B0606020202030204" pitchFamily="34" charset="0"/>
              </a:rPr>
              <a:t>flag</a:t>
            </a:r>
          </a:p>
        </p:txBody>
      </p:sp>
      <p:sp>
        <p:nvSpPr>
          <p:cNvPr id="52" name="TextBox 51">
            <a:extLst>
              <a:ext uri="{FF2B5EF4-FFF2-40B4-BE49-F238E27FC236}">
                <a16:creationId xmlns:a16="http://schemas.microsoft.com/office/drawing/2014/main" id="{E57BBD1E-20D3-43FC-8E0C-4B1880FA8AFB}"/>
              </a:ext>
            </a:extLst>
          </p:cNvPr>
          <p:cNvSpPr txBox="1"/>
          <p:nvPr/>
        </p:nvSpPr>
        <p:spPr>
          <a:xfrm>
            <a:off x="8203125" y="6185096"/>
            <a:ext cx="577402" cy="307777"/>
          </a:xfrm>
          <a:prstGeom prst="rect">
            <a:avLst/>
          </a:prstGeom>
          <a:noFill/>
        </p:spPr>
        <p:txBody>
          <a:bodyPr wrap="none" rtlCol="0">
            <a:spAutoFit/>
          </a:bodyPr>
          <a:lstStyle/>
          <a:p>
            <a:r>
              <a:rPr lang="en-IN" sz="1400" dirty="0">
                <a:solidFill>
                  <a:srgbClr val="7030A0"/>
                </a:solidFill>
                <a:latin typeface="Arial Narrow" panose="020B0606020202030204" pitchFamily="34" charset="0"/>
              </a:rPr>
              <a:t>[END]</a:t>
            </a:r>
          </a:p>
        </p:txBody>
      </p:sp>
      <p:sp>
        <p:nvSpPr>
          <p:cNvPr id="53" name="TextBox 52">
            <a:extLst>
              <a:ext uri="{FF2B5EF4-FFF2-40B4-BE49-F238E27FC236}">
                <a16:creationId xmlns:a16="http://schemas.microsoft.com/office/drawing/2014/main" id="{1D0083FD-A570-4834-AB07-C070328A4815}"/>
              </a:ext>
            </a:extLst>
          </p:cNvPr>
          <p:cNvSpPr txBox="1"/>
          <p:nvPr/>
        </p:nvSpPr>
        <p:spPr>
          <a:xfrm>
            <a:off x="5117458" y="2407844"/>
            <a:ext cx="2573140" cy="830997"/>
          </a:xfrm>
          <a:prstGeom prst="rect">
            <a:avLst/>
          </a:prstGeom>
          <a:noFill/>
        </p:spPr>
        <p:txBody>
          <a:bodyPr wrap="none" rtlCol="0">
            <a:spAutoFit/>
          </a:bodyPr>
          <a:lstStyle/>
          <a:p>
            <a:r>
              <a:rPr lang="en-IN" sz="1600" b="1" dirty="0">
                <a:latin typeface="Arial Narrow" panose="020B0606020202030204" pitchFamily="34" charset="0"/>
              </a:rPr>
              <a:t>Encoder</a:t>
            </a:r>
            <a:r>
              <a:rPr lang="en-IN" sz="1600" dirty="0">
                <a:latin typeface="Arial Narrow" panose="020B0606020202030204" pitchFamily="34" charset="0"/>
              </a:rPr>
              <a:t>: c = T</a:t>
            </a:r>
            <a:r>
              <a:rPr lang="en-IN" baseline="-10000" dirty="0">
                <a:latin typeface="Arial Narrow" panose="020B0606020202030204" pitchFamily="34" charset="0"/>
              </a:rPr>
              <a:t>w</a:t>
            </a:r>
            <a:r>
              <a:rPr lang="en-IN" sz="1600" b="1" dirty="0">
                <a:latin typeface="Arial Narrow" panose="020B0606020202030204" pitchFamily="34" charset="0"/>
              </a:rPr>
              <a:t>(z)</a:t>
            </a:r>
          </a:p>
          <a:p>
            <a:r>
              <a:rPr lang="en-IN" sz="1600" dirty="0">
                <a:latin typeface="Arial Narrow" panose="020B0606020202030204" pitchFamily="34" charset="0"/>
              </a:rPr>
              <a:t>Where </a:t>
            </a:r>
            <a:r>
              <a:rPr lang="en-IN" sz="1600" b="1" dirty="0">
                <a:latin typeface="Arial Narrow" panose="020B0606020202030204" pitchFamily="34" charset="0"/>
              </a:rPr>
              <a:t>z</a:t>
            </a:r>
            <a:r>
              <a:rPr lang="en-IN" sz="1600" dirty="0">
                <a:latin typeface="Arial Narrow" panose="020B0606020202030204" pitchFamily="34" charset="0"/>
              </a:rPr>
              <a:t> is spatial CNN features</a:t>
            </a:r>
          </a:p>
          <a:p>
            <a:r>
              <a:rPr lang="en-IN" sz="1600" dirty="0">
                <a:latin typeface="Arial Narrow" panose="020B0606020202030204" pitchFamily="34" charset="0"/>
              </a:rPr>
              <a:t>T</a:t>
            </a:r>
            <a:r>
              <a:rPr lang="en-IN" baseline="-10000" dirty="0">
                <a:latin typeface="Arial Narrow" panose="020B0606020202030204" pitchFamily="34" charset="0"/>
              </a:rPr>
              <a:t>w</a:t>
            </a:r>
            <a:r>
              <a:rPr lang="en-IN" sz="1600" b="1" dirty="0">
                <a:latin typeface="Arial Narrow" panose="020B0606020202030204" pitchFamily="34" charset="0"/>
              </a:rPr>
              <a:t>(.)</a:t>
            </a:r>
            <a:r>
              <a:rPr lang="en-IN" sz="1600" dirty="0">
                <a:latin typeface="Arial Narrow" panose="020B0606020202030204" pitchFamily="34" charset="0"/>
              </a:rPr>
              <a:t> is the transformer encoder</a:t>
            </a:r>
          </a:p>
        </p:txBody>
      </p:sp>
      <p:sp>
        <p:nvSpPr>
          <p:cNvPr id="54" name="TextBox 53">
            <a:extLst>
              <a:ext uri="{FF2B5EF4-FFF2-40B4-BE49-F238E27FC236}">
                <a16:creationId xmlns:a16="http://schemas.microsoft.com/office/drawing/2014/main" id="{C11B1CAB-1846-4792-8C58-94D547157037}"/>
              </a:ext>
            </a:extLst>
          </p:cNvPr>
          <p:cNvSpPr txBox="1"/>
          <p:nvPr/>
        </p:nvSpPr>
        <p:spPr>
          <a:xfrm>
            <a:off x="2390512" y="1728146"/>
            <a:ext cx="1358064" cy="830997"/>
          </a:xfrm>
          <a:prstGeom prst="rect">
            <a:avLst/>
          </a:prstGeom>
          <a:noFill/>
        </p:spPr>
        <p:txBody>
          <a:bodyPr wrap="none" rtlCol="0">
            <a:spAutoFit/>
          </a:bodyPr>
          <a:lstStyle/>
          <a:p>
            <a:r>
              <a:rPr lang="en-IN" sz="1600" dirty="0">
                <a:latin typeface="Arial Narrow" panose="020B0606020202030204" pitchFamily="34" charset="0"/>
              </a:rPr>
              <a:t>Extract spatial</a:t>
            </a:r>
          </a:p>
          <a:p>
            <a:r>
              <a:rPr lang="en-IN" sz="1600" dirty="0">
                <a:latin typeface="Arial Narrow" panose="020B0606020202030204" pitchFamily="34" charset="0"/>
              </a:rPr>
              <a:t>features from a </a:t>
            </a:r>
          </a:p>
          <a:p>
            <a:r>
              <a:rPr lang="en-IN" sz="1600" dirty="0">
                <a:latin typeface="Arial Narrow" panose="020B0606020202030204" pitchFamily="34" charset="0"/>
              </a:rPr>
              <a:t>pretrained CNN</a:t>
            </a:r>
          </a:p>
        </p:txBody>
      </p:sp>
      <p:sp>
        <p:nvSpPr>
          <p:cNvPr id="55" name="TextBox 54">
            <a:extLst>
              <a:ext uri="{FF2B5EF4-FFF2-40B4-BE49-F238E27FC236}">
                <a16:creationId xmlns:a16="http://schemas.microsoft.com/office/drawing/2014/main" id="{1F084A9B-1027-456C-81E2-191A87A0C85A}"/>
              </a:ext>
            </a:extLst>
          </p:cNvPr>
          <p:cNvSpPr txBox="1"/>
          <p:nvPr/>
        </p:nvSpPr>
        <p:spPr>
          <a:xfrm>
            <a:off x="2418299" y="3245881"/>
            <a:ext cx="1096775" cy="677108"/>
          </a:xfrm>
          <a:prstGeom prst="rect">
            <a:avLst/>
          </a:prstGeom>
          <a:noFill/>
        </p:spPr>
        <p:txBody>
          <a:bodyPr wrap="none" rtlCol="0">
            <a:spAutoFit/>
          </a:bodyPr>
          <a:lstStyle/>
          <a:p>
            <a:r>
              <a:rPr lang="en-IN" dirty="0">
                <a:latin typeface="Arial Narrow" panose="020B0606020202030204" pitchFamily="34" charset="0"/>
              </a:rPr>
              <a:t>Features </a:t>
            </a:r>
            <a:r>
              <a:rPr lang="en-IN" sz="2000" dirty="0">
                <a:latin typeface="Arial Narrow" panose="020B0606020202030204" pitchFamily="34" charset="0"/>
              </a:rPr>
              <a:t>:</a:t>
            </a:r>
            <a:r>
              <a:rPr lang="en-IN" dirty="0">
                <a:latin typeface="Arial Narrow" panose="020B0606020202030204" pitchFamily="34" charset="0"/>
              </a:rPr>
              <a:t> </a:t>
            </a:r>
          </a:p>
          <a:p>
            <a:r>
              <a:rPr lang="en-IN" dirty="0">
                <a:latin typeface="Arial Narrow" panose="020B0606020202030204" pitchFamily="34" charset="0"/>
              </a:rPr>
              <a:t>H x W x D</a:t>
            </a:r>
          </a:p>
        </p:txBody>
      </p:sp>
      <p:sp>
        <p:nvSpPr>
          <p:cNvPr id="56" name="Rounded Rectangle 52">
            <a:extLst>
              <a:ext uri="{FF2B5EF4-FFF2-40B4-BE49-F238E27FC236}">
                <a16:creationId xmlns:a16="http://schemas.microsoft.com/office/drawing/2014/main" id="{BD4CE528-4AA7-4974-B649-3D64C1526C44}"/>
              </a:ext>
            </a:extLst>
          </p:cNvPr>
          <p:cNvSpPr/>
          <p:nvPr/>
        </p:nvSpPr>
        <p:spPr>
          <a:xfrm>
            <a:off x="6317114" y="4337644"/>
            <a:ext cx="2423662" cy="435958"/>
          </a:xfrm>
          <a:prstGeom prst="roundRect">
            <a:avLst/>
          </a:prstGeom>
          <a:solidFill>
            <a:schemeClr val="accent5">
              <a:lumMod val="40000"/>
              <a:lumOff val="60000"/>
              <a:alpha val="19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ounded Rectangle 74">
            <a:extLst>
              <a:ext uri="{FF2B5EF4-FFF2-40B4-BE49-F238E27FC236}">
                <a16:creationId xmlns:a16="http://schemas.microsoft.com/office/drawing/2014/main" id="{E1E1E80F-3DF3-450D-9D90-950AF33B89DA}"/>
              </a:ext>
            </a:extLst>
          </p:cNvPr>
          <p:cNvSpPr/>
          <p:nvPr/>
        </p:nvSpPr>
        <p:spPr>
          <a:xfrm>
            <a:off x="6317114" y="5736500"/>
            <a:ext cx="2423662" cy="448596"/>
          </a:xfrm>
          <a:prstGeom prst="roundRect">
            <a:avLst/>
          </a:prstGeom>
          <a:solidFill>
            <a:schemeClr val="accent5">
              <a:lumMod val="40000"/>
              <a:lumOff val="60000"/>
              <a:alpha val="19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63161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7709D-43C2-47EA-A190-F0BEC114412F}"/>
              </a:ext>
            </a:extLst>
          </p:cNvPr>
          <p:cNvSpPr>
            <a:spLocks noGrp="1"/>
          </p:cNvSpPr>
          <p:nvPr>
            <p:ph type="title"/>
          </p:nvPr>
        </p:nvSpPr>
        <p:spPr/>
        <p:txBody>
          <a:bodyPr>
            <a:normAutofit/>
          </a:bodyPr>
          <a:lstStyle/>
          <a:p>
            <a:r>
              <a:rPr lang="en-IN" sz="3600" dirty="0">
                <a:latin typeface="Century" panose="02040604050505020304" pitchFamily="18" charset="0"/>
              </a:rPr>
              <a:t>Transformer Architecture</a:t>
            </a:r>
            <a:endParaRPr lang="en-IN" sz="3600" dirty="0"/>
          </a:p>
        </p:txBody>
      </p:sp>
      <p:sp>
        <p:nvSpPr>
          <p:cNvPr id="3" name="Content Placeholder 2">
            <a:extLst>
              <a:ext uri="{FF2B5EF4-FFF2-40B4-BE49-F238E27FC236}">
                <a16:creationId xmlns:a16="http://schemas.microsoft.com/office/drawing/2014/main" id="{85F731C3-87A6-4643-85F9-F22F7210CA1C}"/>
              </a:ext>
            </a:extLst>
          </p:cNvPr>
          <p:cNvSpPr>
            <a:spLocks noGrp="1"/>
          </p:cNvSpPr>
          <p:nvPr>
            <p:ph idx="1"/>
          </p:nvPr>
        </p:nvSpPr>
        <p:spPr>
          <a:xfrm>
            <a:off x="838200" y="1825625"/>
            <a:ext cx="6001871" cy="4351338"/>
          </a:xfrm>
        </p:spPr>
        <p:txBody>
          <a:bodyPr/>
          <a:lstStyle/>
          <a:p>
            <a:pPr algn="just"/>
            <a:r>
              <a:rPr lang="en-US" sz="2000" dirty="0">
                <a:latin typeface="Arial Narrow" panose="020B0606020202030204" pitchFamily="34" charset="0"/>
              </a:rPr>
              <a:t>It consists of two main components:</a:t>
            </a:r>
          </a:p>
          <a:p>
            <a:pPr algn="just"/>
            <a:endParaRPr lang="en-US" sz="2000" dirty="0">
              <a:latin typeface="Arial Narrow" panose="020B0606020202030204" pitchFamily="34" charset="0"/>
            </a:endParaRPr>
          </a:p>
          <a:p>
            <a:pPr lvl="1" algn="just"/>
            <a:r>
              <a:rPr lang="en-US" sz="2000" b="1" dirty="0">
                <a:latin typeface="Arial Narrow" panose="020B0606020202030204" pitchFamily="34" charset="0"/>
              </a:rPr>
              <a:t>Encoder:</a:t>
            </a:r>
            <a:r>
              <a:rPr lang="en-US" sz="2000" dirty="0">
                <a:latin typeface="Arial Narrow" panose="020B0606020202030204" pitchFamily="34" charset="0"/>
              </a:rPr>
              <a:t> converts the input sequence into contextualized representations.</a:t>
            </a:r>
          </a:p>
          <a:p>
            <a:pPr lvl="1" algn="just"/>
            <a:endParaRPr lang="en-US" sz="2000" dirty="0">
              <a:latin typeface="Arial Narrow" panose="020B0606020202030204" pitchFamily="34" charset="0"/>
            </a:endParaRPr>
          </a:p>
          <a:p>
            <a:pPr lvl="1" algn="just"/>
            <a:r>
              <a:rPr lang="en-US" sz="2000" b="1" dirty="0">
                <a:latin typeface="Arial Narrow" panose="020B0606020202030204" pitchFamily="34" charset="0"/>
              </a:rPr>
              <a:t>Decoder:</a:t>
            </a:r>
            <a:r>
              <a:rPr lang="en-US" sz="2000" dirty="0">
                <a:latin typeface="Arial Narrow" panose="020B0606020202030204" pitchFamily="34" charset="0"/>
              </a:rPr>
              <a:t> generates the output sequence autoregressively using the encoder representations.</a:t>
            </a:r>
          </a:p>
          <a:p>
            <a:endParaRPr lang="en-IN" dirty="0"/>
          </a:p>
        </p:txBody>
      </p:sp>
      <p:pic>
        <p:nvPicPr>
          <p:cNvPr id="4" name="Picture 3">
            <a:extLst>
              <a:ext uri="{FF2B5EF4-FFF2-40B4-BE49-F238E27FC236}">
                <a16:creationId xmlns:a16="http://schemas.microsoft.com/office/drawing/2014/main" id="{430BF850-5D3B-4C81-AE4A-E219AFBF54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6899" y="539365"/>
            <a:ext cx="4192910" cy="6077840"/>
          </a:xfrm>
          <a:prstGeom prst="rect">
            <a:avLst/>
          </a:prstGeom>
          <a:solidFill>
            <a:schemeClr val="accent4">
              <a:lumMod val="60000"/>
              <a:lumOff val="40000"/>
              <a:alpha val="32000"/>
            </a:schemeClr>
          </a:solidFill>
        </p:spPr>
      </p:pic>
      <p:sp>
        <p:nvSpPr>
          <p:cNvPr id="5" name="TextBox 4">
            <a:extLst>
              <a:ext uri="{FF2B5EF4-FFF2-40B4-BE49-F238E27FC236}">
                <a16:creationId xmlns:a16="http://schemas.microsoft.com/office/drawing/2014/main" id="{976CD6E0-6E26-4A85-9D2F-3A7041301C70}"/>
              </a:ext>
            </a:extLst>
          </p:cNvPr>
          <p:cNvSpPr txBox="1"/>
          <p:nvPr/>
        </p:nvSpPr>
        <p:spPr>
          <a:xfrm>
            <a:off x="2524420" y="6543998"/>
            <a:ext cx="5753100"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Figure Source: Ashish Vaswani et. al. Attention is All You Need, NIPS 2017</a:t>
            </a:r>
          </a:p>
        </p:txBody>
      </p:sp>
    </p:spTree>
    <p:extLst>
      <p:ext uri="{BB962C8B-B14F-4D97-AF65-F5344CB8AC3E}">
        <p14:creationId xmlns:p14="http://schemas.microsoft.com/office/powerpoint/2010/main" val="3154718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Picture 60">
            <a:extLst>
              <a:ext uri="{FF2B5EF4-FFF2-40B4-BE49-F238E27FC236}">
                <a16:creationId xmlns:a16="http://schemas.microsoft.com/office/drawing/2014/main" id="{7C421029-3B17-4B29-B004-D563F2ADC8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9275" y="620046"/>
            <a:ext cx="4192910" cy="6077840"/>
          </a:xfrm>
          <a:prstGeom prst="rect">
            <a:avLst/>
          </a:prstGeom>
          <a:solidFill>
            <a:schemeClr val="accent4">
              <a:lumMod val="60000"/>
              <a:lumOff val="40000"/>
              <a:alpha val="32000"/>
            </a:schemeClr>
          </a:solidFill>
        </p:spPr>
      </p:pic>
      <p:sp>
        <p:nvSpPr>
          <p:cNvPr id="83" name="TextBox 82">
            <a:extLst>
              <a:ext uri="{FF2B5EF4-FFF2-40B4-BE49-F238E27FC236}">
                <a16:creationId xmlns:a16="http://schemas.microsoft.com/office/drawing/2014/main" id="{2AAC38F4-5C1F-4C38-92C9-5F8EABD467A0}"/>
              </a:ext>
            </a:extLst>
          </p:cNvPr>
          <p:cNvSpPr txBox="1"/>
          <p:nvPr/>
        </p:nvSpPr>
        <p:spPr>
          <a:xfrm>
            <a:off x="586153" y="390001"/>
            <a:ext cx="6096000" cy="584775"/>
          </a:xfrm>
          <a:prstGeom prst="rect">
            <a:avLst/>
          </a:prstGeom>
          <a:noFill/>
        </p:spPr>
        <p:txBody>
          <a:bodyPr wrap="square">
            <a:spAutoFit/>
          </a:bodyPr>
          <a:lstStyle/>
          <a:p>
            <a:r>
              <a:rPr lang="en-IN" sz="3200" dirty="0">
                <a:latin typeface="Century" panose="02040604050505020304" pitchFamily="18" charset="0"/>
              </a:rPr>
              <a:t>Transformer Architecture</a:t>
            </a:r>
          </a:p>
        </p:txBody>
      </p:sp>
      <p:sp>
        <p:nvSpPr>
          <p:cNvPr id="67" name="TextBox 66">
            <a:extLst>
              <a:ext uri="{FF2B5EF4-FFF2-40B4-BE49-F238E27FC236}">
                <a16:creationId xmlns:a16="http://schemas.microsoft.com/office/drawing/2014/main" id="{3B8F14BF-F895-4A4C-ACDA-405F44AEC7DA}"/>
              </a:ext>
            </a:extLst>
          </p:cNvPr>
          <p:cNvSpPr txBox="1"/>
          <p:nvPr/>
        </p:nvSpPr>
        <p:spPr>
          <a:xfrm>
            <a:off x="2524420" y="6543998"/>
            <a:ext cx="5753100"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Figure Source: Ashish Vaswani et. al. Attention is All You Need, NIPS 2017</a:t>
            </a:r>
          </a:p>
        </p:txBody>
      </p:sp>
      <p:sp>
        <p:nvSpPr>
          <p:cNvPr id="72" name="Rounded Rectangle 50">
            <a:extLst>
              <a:ext uri="{FF2B5EF4-FFF2-40B4-BE49-F238E27FC236}">
                <a16:creationId xmlns:a16="http://schemas.microsoft.com/office/drawing/2014/main" id="{B5E2FDFB-7AB5-4688-8AF7-CEC8CF1075BE}"/>
              </a:ext>
            </a:extLst>
          </p:cNvPr>
          <p:cNvSpPr/>
          <p:nvPr/>
        </p:nvSpPr>
        <p:spPr>
          <a:xfrm>
            <a:off x="1863251" y="1303082"/>
            <a:ext cx="3506298" cy="3741238"/>
          </a:xfrm>
          <a:prstGeom prst="roundRect">
            <a:avLst/>
          </a:prstGeom>
          <a:solidFill>
            <a:schemeClr val="accent6">
              <a:lumMod val="40000"/>
              <a:lumOff val="60000"/>
              <a:alpha val="18000"/>
            </a:schemeClr>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Rectangle 72">
            <a:extLst>
              <a:ext uri="{FF2B5EF4-FFF2-40B4-BE49-F238E27FC236}">
                <a16:creationId xmlns:a16="http://schemas.microsoft.com/office/drawing/2014/main" id="{AC582037-E6AB-4131-96BF-B562F30A8FBF}"/>
              </a:ext>
            </a:extLst>
          </p:cNvPr>
          <p:cNvSpPr/>
          <p:nvPr/>
        </p:nvSpPr>
        <p:spPr>
          <a:xfrm>
            <a:off x="1184182" y="1426906"/>
            <a:ext cx="142876" cy="180975"/>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Rectangle 73">
            <a:extLst>
              <a:ext uri="{FF2B5EF4-FFF2-40B4-BE49-F238E27FC236}">
                <a16:creationId xmlns:a16="http://schemas.microsoft.com/office/drawing/2014/main" id="{F70B8A26-45C4-4A89-8CF1-2BA8733A1529}"/>
              </a:ext>
            </a:extLst>
          </p:cNvPr>
          <p:cNvSpPr/>
          <p:nvPr/>
        </p:nvSpPr>
        <p:spPr>
          <a:xfrm>
            <a:off x="1184182" y="1607881"/>
            <a:ext cx="142876" cy="180975"/>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Rectangle 83">
            <a:extLst>
              <a:ext uri="{FF2B5EF4-FFF2-40B4-BE49-F238E27FC236}">
                <a16:creationId xmlns:a16="http://schemas.microsoft.com/office/drawing/2014/main" id="{E4B5A8DE-D540-4D32-A486-6109C49DF256}"/>
              </a:ext>
            </a:extLst>
          </p:cNvPr>
          <p:cNvSpPr/>
          <p:nvPr/>
        </p:nvSpPr>
        <p:spPr>
          <a:xfrm>
            <a:off x="1184182" y="1788856"/>
            <a:ext cx="142876" cy="180975"/>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Rectangle 84">
            <a:extLst>
              <a:ext uri="{FF2B5EF4-FFF2-40B4-BE49-F238E27FC236}">
                <a16:creationId xmlns:a16="http://schemas.microsoft.com/office/drawing/2014/main" id="{919AE2ED-5B14-4EF4-991C-E3C8F93483EC}"/>
              </a:ext>
            </a:extLst>
          </p:cNvPr>
          <p:cNvSpPr/>
          <p:nvPr/>
        </p:nvSpPr>
        <p:spPr>
          <a:xfrm>
            <a:off x="1184182" y="1969831"/>
            <a:ext cx="142876" cy="180975"/>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Rectangle 85">
            <a:extLst>
              <a:ext uri="{FF2B5EF4-FFF2-40B4-BE49-F238E27FC236}">
                <a16:creationId xmlns:a16="http://schemas.microsoft.com/office/drawing/2014/main" id="{E92CE5C6-08B8-42EE-8F6F-03DFE59DA1CC}"/>
              </a:ext>
            </a:extLst>
          </p:cNvPr>
          <p:cNvSpPr/>
          <p:nvPr/>
        </p:nvSpPr>
        <p:spPr>
          <a:xfrm>
            <a:off x="1184182" y="2514506"/>
            <a:ext cx="142876" cy="180975"/>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Rectangle 86">
            <a:extLst>
              <a:ext uri="{FF2B5EF4-FFF2-40B4-BE49-F238E27FC236}">
                <a16:creationId xmlns:a16="http://schemas.microsoft.com/office/drawing/2014/main" id="{8892D7D5-7FAC-4BA3-B77D-0BCBFCF09FFC}"/>
              </a:ext>
            </a:extLst>
          </p:cNvPr>
          <p:cNvSpPr/>
          <p:nvPr/>
        </p:nvSpPr>
        <p:spPr>
          <a:xfrm>
            <a:off x="1184182" y="2879955"/>
            <a:ext cx="142876" cy="180975"/>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Rectangle 87">
            <a:extLst>
              <a:ext uri="{FF2B5EF4-FFF2-40B4-BE49-F238E27FC236}">
                <a16:creationId xmlns:a16="http://schemas.microsoft.com/office/drawing/2014/main" id="{9E0AF7BA-8567-4D83-ADB8-D601179ED5B7}"/>
              </a:ext>
            </a:extLst>
          </p:cNvPr>
          <p:cNvSpPr/>
          <p:nvPr/>
        </p:nvSpPr>
        <p:spPr>
          <a:xfrm>
            <a:off x="1184182" y="2331781"/>
            <a:ext cx="142876" cy="180975"/>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Rectangle 88">
            <a:extLst>
              <a:ext uri="{FF2B5EF4-FFF2-40B4-BE49-F238E27FC236}">
                <a16:creationId xmlns:a16="http://schemas.microsoft.com/office/drawing/2014/main" id="{3EC4A867-3582-485D-8BBC-49872D707988}"/>
              </a:ext>
            </a:extLst>
          </p:cNvPr>
          <p:cNvSpPr/>
          <p:nvPr/>
        </p:nvSpPr>
        <p:spPr>
          <a:xfrm>
            <a:off x="1184182" y="2695481"/>
            <a:ext cx="142876" cy="180975"/>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Rectangle 89">
            <a:extLst>
              <a:ext uri="{FF2B5EF4-FFF2-40B4-BE49-F238E27FC236}">
                <a16:creationId xmlns:a16="http://schemas.microsoft.com/office/drawing/2014/main" id="{CC0FF84B-4686-4382-8E6B-FFEE54FB7DCD}"/>
              </a:ext>
            </a:extLst>
          </p:cNvPr>
          <p:cNvSpPr/>
          <p:nvPr/>
        </p:nvSpPr>
        <p:spPr>
          <a:xfrm>
            <a:off x="1184182" y="3606852"/>
            <a:ext cx="142876" cy="180975"/>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Rectangle 90">
            <a:extLst>
              <a:ext uri="{FF2B5EF4-FFF2-40B4-BE49-F238E27FC236}">
                <a16:creationId xmlns:a16="http://schemas.microsoft.com/office/drawing/2014/main" id="{0C033DCE-4836-4BB8-BC63-9A08BA69C6EE}"/>
              </a:ext>
            </a:extLst>
          </p:cNvPr>
          <p:cNvSpPr/>
          <p:nvPr/>
        </p:nvSpPr>
        <p:spPr>
          <a:xfrm>
            <a:off x="1184182" y="3244902"/>
            <a:ext cx="142876" cy="180975"/>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Rectangle 91">
            <a:extLst>
              <a:ext uri="{FF2B5EF4-FFF2-40B4-BE49-F238E27FC236}">
                <a16:creationId xmlns:a16="http://schemas.microsoft.com/office/drawing/2014/main" id="{BC043931-3784-4F7D-B4CD-EA87BE213EFD}"/>
              </a:ext>
            </a:extLst>
          </p:cNvPr>
          <p:cNvSpPr/>
          <p:nvPr/>
        </p:nvSpPr>
        <p:spPr>
          <a:xfrm>
            <a:off x="1184182" y="3787827"/>
            <a:ext cx="142876" cy="180975"/>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Rectangle 92">
            <a:extLst>
              <a:ext uri="{FF2B5EF4-FFF2-40B4-BE49-F238E27FC236}">
                <a16:creationId xmlns:a16="http://schemas.microsoft.com/office/drawing/2014/main" id="{AF3ACD00-4C78-4AE3-A6DE-711CC789D341}"/>
              </a:ext>
            </a:extLst>
          </p:cNvPr>
          <p:cNvSpPr/>
          <p:nvPr/>
        </p:nvSpPr>
        <p:spPr>
          <a:xfrm>
            <a:off x="1184182" y="3425877"/>
            <a:ext cx="142876" cy="180975"/>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Rectangle 93">
            <a:extLst>
              <a:ext uri="{FF2B5EF4-FFF2-40B4-BE49-F238E27FC236}">
                <a16:creationId xmlns:a16="http://schemas.microsoft.com/office/drawing/2014/main" id="{E5286CB7-B958-4A6E-A028-E5881A7ED6A7}"/>
              </a:ext>
            </a:extLst>
          </p:cNvPr>
          <p:cNvSpPr/>
          <p:nvPr/>
        </p:nvSpPr>
        <p:spPr>
          <a:xfrm>
            <a:off x="1184182" y="4692704"/>
            <a:ext cx="142876" cy="180975"/>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Rectangle 94">
            <a:extLst>
              <a:ext uri="{FF2B5EF4-FFF2-40B4-BE49-F238E27FC236}">
                <a16:creationId xmlns:a16="http://schemas.microsoft.com/office/drawing/2014/main" id="{9BBDA08F-523E-4DE7-82B9-127ED48DD550}"/>
              </a:ext>
            </a:extLst>
          </p:cNvPr>
          <p:cNvSpPr/>
          <p:nvPr/>
        </p:nvSpPr>
        <p:spPr>
          <a:xfrm>
            <a:off x="1184182" y="4511729"/>
            <a:ext cx="142876" cy="180975"/>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Rectangle 95">
            <a:extLst>
              <a:ext uri="{FF2B5EF4-FFF2-40B4-BE49-F238E27FC236}">
                <a16:creationId xmlns:a16="http://schemas.microsoft.com/office/drawing/2014/main" id="{498C2D98-0504-4660-B6CF-8668EC7F4636}"/>
              </a:ext>
            </a:extLst>
          </p:cNvPr>
          <p:cNvSpPr/>
          <p:nvPr/>
        </p:nvSpPr>
        <p:spPr>
          <a:xfrm>
            <a:off x="1184182" y="4330753"/>
            <a:ext cx="142876" cy="180975"/>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7" name="Rectangle 96">
            <a:extLst>
              <a:ext uri="{FF2B5EF4-FFF2-40B4-BE49-F238E27FC236}">
                <a16:creationId xmlns:a16="http://schemas.microsoft.com/office/drawing/2014/main" id="{06A30941-0DC0-4823-91B1-F64136DE12CF}"/>
              </a:ext>
            </a:extLst>
          </p:cNvPr>
          <p:cNvSpPr/>
          <p:nvPr/>
        </p:nvSpPr>
        <p:spPr>
          <a:xfrm>
            <a:off x="1184182" y="4149777"/>
            <a:ext cx="142876" cy="180975"/>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8" name="TextBox 97">
            <a:extLst>
              <a:ext uri="{FF2B5EF4-FFF2-40B4-BE49-F238E27FC236}">
                <a16:creationId xmlns:a16="http://schemas.microsoft.com/office/drawing/2014/main" id="{D066C590-B962-4FF8-B6AD-56C050FF71D6}"/>
              </a:ext>
            </a:extLst>
          </p:cNvPr>
          <p:cNvSpPr txBox="1"/>
          <p:nvPr/>
        </p:nvSpPr>
        <p:spPr>
          <a:xfrm>
            <a:off x="261762" y="1573774"/>
            <a:ext cx="484221"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z</a:t>
            </a:r>
            <a:r>
              <a:rPr lang="en-IN" sz="2000" baseline="-25000" dirty="0">
                <a:latin typeface="Times New Roman" panose="02020603050405020304" pitchFamily="18" charset="0"/>
                <a:cs typeface="Times New Roman" panose="02020603050405020304" pitchFamily="18" charset="0"/>
              </a:rPr>
              <a:t>00</a:t>
            </a:r>
          </a:p>
        </p:txBody>
      </p:sp>
      <p:sp>
        <p:nvSpPr>
          <p:cNvPr id="99" name="Rounded Rectangle 23">
            <a:extLst>
              <a:ext uri="{FF2B5EF4-FFF2-40B4-BE49-F238E27FC236}">
                <a16:creationId xmlns:a16="http://schemas.microsoft.com/office/drawing/2014/main" id="{0A67B2E0-09DE-4064-ADCE-5F4ABF98DF7E}"/>
              </a:ext>
            </a:extLst>
          </p:cNvPr>
          <p:cNvSpPr/>
          <p:nvPr/>
        </p:nvSpPr>
        <p:spPr>
          <a:xfrm>
            <a:off x="268112" y="1648658"/>
            <a:ext cx="443325" cy="35195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00" name="TextBox 99">
            <a:extLst>
              <a:ext uri="{FF2B5EF4-FFF2-40B4-BE49-F238E27FC236}">
                <a16:creationId xmlns:a16="http://schemas.microsoft.com/office/drawing/2014/main" id="{A02676BC-EBCD-4E6E-9B58-74FB9035B810}"/>
              </a:ext>
            </a:extLst>
          </p:cNvPr>
          <p:cNvSpPr txBox="1"/>
          <p:nvPr/>
        </p:nvSpPr>
        <p:spPr>
          <a:xfrm>
            <a:off x="261762" y="2482772"/>
            <a:ext cx="484221"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z</a:t>
            </a:r>
            <a:r>
              <a:rPr lang="en-IN" sz="2000" baseline="-25000" dirty="0">
                <a:latin typeface="Times New Roman" panose="02020603050405020304" pitchFamily="18" charset="0"/>
                <a:cs typeface="Times New Roman" panose="02020603050405020304" pitchFamily="18" charset="0"/>
              </a:rPr>
              <a:t>01</a:t>
            </a:r>
          </a:p>
        </p:txBody>
      </p:sp>
      <p:sp>
        <p:nvSpPr>
          <p:cNvPr id="101" name="Rounded Rectangle 27">
            <a:extLst>
              <a:ext uri="{FF2B5EF4-FFF2-40B4-BE49-F238E27FC236}">
                <a16:creationId xmlns:a16="http://schemas.microsoft.com/office/drawing/2014/main" id="{93098FBA-EB4C-48DB-83F2-DBC9BA35D9CB}"/>
              </a:ext>
            </a:extLst>
          </p:cNvPr>
          <p:cNvSpPr/>
          <p:nvPr/>
        </p:nvSpPr>
        <p:spPr>
          <a:xfrm>
            <a:off x="249062" y="2557656"/>
            <a:ext cx="456025" cy="3252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AC751CF5-0BFF-4929-A457-3EBB2A346739}"/>
              </a:ext>
            </a:extLst>
          </p:cNvPr>
          <p:cNvSpPr txBox="1"/>
          <p:nvPr/>
        </p:nvSpPr>
        <p:spPr>
          <a:xfrm>
            <a:off x="264506" y="4274043"/>
            <a:ext cx="484221"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z</a:t>
            </a:r>
            <a:r>
              <a:rPr lang="en-IN" sz="2000" baseline="-25000" dirty="0">
                <a:latin typeface="Times New Roman" panose="02020603050405020304" pitchFamily="18" charset="0"/>
                <a:cs typeface="Times New Roman" panose="02020603050405020304" pitchFamily="18" charset="0"/>
              </a:rPr>
              <a:t>22</a:t>
            </a:r>
          </a:p>
        </p:txBody>
      </p:sp>
      <p:sp>
        <p:nvSpPr>
          <p:cNvPr id="103" name="Rounded Rectangle 33">
            <a:extLst>
              <a:ext uri="{FF2B5EF4-FFF2-40B4-BE49-F238E27FC236}">
                <a16:creationId xmlns:a16="http://schemas.microsoft.com/office/drawing/2014/main" id="{B4736CB0-FE05-470F-B33F-A66261C93025}"/>
              </a:ext>
            </a:extLst>
          </p:cNvPr>
          <p:cNvSpPr/>
          <p:nvPr/>
        </p:nvSpPr>
        <p:spPr>
          <a:xfrm>
            <a:off x="249062" y="4348927"/>
            <a:ext cx="458769" cy="34377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grpSp>
        <p:nvGrpSpPr>
          <p:cNvPr id="104" name="Group 103">
            <a:extLst>
              <a:ext uri="{FF2B5EF4-FFF2-40B4-BE49-F238E27FC236}">
                <a16:creationId xmlns:a16="http://schemas.microsoft.com/office/drawing/2014/main" id="{DF1D37FE-8C1E-46DD-8FB3-53CB6A02E38B}"/>
              </a:ext>
            </a:extLst>
          </p:cNvPr>
          <p:cNvGrpSpPr/>
          <p:nvPr/>
        </p:nvGrpSpPr>
        <p:grpSpPr>
          <a:xfrm>
            <a:off x="758683" y="1796540"/>
            <a:ext cx="372592" cy="2700830"/>
            <a:chOff x="1493788" y="2038595"/>
            <a:chExt cx="925562" cy="2700830"/>
          </a:xfrm>
        </p:grpSpPr>
        <p:cxnSp>
          <p:nvCxnSpPr>
            <p:cNvPr id="105" name="Straight Arrow Connector 104">
              <a:extLst>
                <a:ext uri="{FF2B5EF4-FFF2-40B4-BE49-F238E27FC236}">
                  <a16:creationId xmlns:a16="http://schemas.microsoft.com/office/drawing/2014/main" id="{AAF7308C-33A3-4895-9BD0-5C88BFEF8041}"/>
                </a:ext>
              </a:extLst>
            </p:cNvPr>
            <p:cNvCxnSpPr/>
            <p:nvPr/>
          </p:nvCxnSpPr>
          <p:spPr>
            <a:xfrm>
              <a:off x="1493788" y="2038595"/>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CA06643B-8F6A-46B7-A730-A18DBF3D35A8}"/>
                </a:ext>
              </a:extLst>
            </p:cNvPr>
            <p:cNvCxnSpPr/>
            <p:nvPr/>
          </p:nvCxnSpPr>
          <p:spPr>
            <a:xfrm>
              <a:off x="1493788" y="2931431"/>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B29B31ED-BD9D-4E63-B5DF-90154730C3DB}"/>
                </a:ext>
              </a:extLst>
            </p:cNvPr>
            <p:cNvCxnSpPr/>
            <p:nvPr/>
          </p:nvCxnSpPr>
          <p:spPr>
            <a:xfrm>
              <a:off x="1493788" y="3869295"/>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6E6E43E5-05D9-402F-9390-30267E09AF2D}"/>
                </a:ext>
              </a:extLst>
            </p:cNvPr>
            <p:cNvCxnSpPr/>
            <p:nvPr/>
          </p:nvCxnSpPr>
          <p:spPr>
            <a:xfrm>
              <a:off x="1493788" y="4739425"/>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9" name="Group 108">
            <a:extLst>
              <a:ext uri="{FF2B5EF4-FFF2-40B4-BE49-F238E27FC236}">
                <a16:creationId xmlns:a16="http://schemas.microsoft.com/office/drawing/2014/main" id="{3B2BD969-8D43-4A50-8FF0-B1F9FF5F1FAE}"/>
              </a:ext>
            </a:extLst>
          </p:cNvPr>
          <p:cNvGrpSpPr/>
          <p:nvPr/>
        </p:nvGrpSpPr>
        <p:grpSpPr>
          <a:xfrm>
            <a:off x="1361933" y="1796540"/>
            <a:ext cx="453973" cy="2700830"/>
            <a:chOff x="2659013" y="2038595"/>
            <a:chExt cx="925562" cy="2700830"/>
          </a:xfrm>
        </p:grpSpPr>
        <p:cxnSp>
          <p:nvCxnSpPr>
            <p:cNvPr id="110" name="Straight Arrow Connector 109">
              <a:extLst>
                <a:ext uri="{FF2B5EF4-FFF2-40B4-BE49-F238E27FC236}">
                  <a16:creationId xmlns:a16="http://schemas.microsoft.com/office/drawing/2014/main" id="{B84179E1-73BF-4CB2-BCAF-1D4108CB11B1}"/>
                </a:ext>
              </a:extLst>
            </p:cNvPr>
            <p:cNvCxnSpPr/>
            <p:nvPr/>
          </p:nvCxnSpPr>
          <p:spPr>
            <a:xfrm>
              <a:off x="2659013" y="2038595"/>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99F22BBE-17C3-484B-9CFE-7066A30DEAE2}"/>
                </a:ext>
              </a:extLst>
            </p:cNvPr>
            <p:cNvCxnSpPr/>
            <p:nvPr/>
          </p:nvCxnSpPr>
          <p:spPr>
            <a:xfrm>
              <a:off x="2659013" y="2931431"/>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5A885902-00F5-48D0-9B21-A08B14B380AE}"/>
                </a:ext>
              </a:extLst>
            </p:cNvPr>
            <p:cNvCxnSpPr/>
            <p:nvPr/>
          </p:nvCxnSpPr>
          <p:spPr>
            <a:xfrm>
              <a:off x="2659013" y="3869295"/>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A2627246-B456-40C7-9999-F2A563293495}"/>
                </a:ext>
              </a:extLst>
            </p:cNvPr>
            <p:cNvCxnSpPr/>
            <p:nvPr/>
          </p:nvCxnSpPr>
          <p:spPr>
            <a:xfrm>
              <a:off x="2659013" y="4739425"/>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14" name="TextBox 113">
            <a:extLst>
              <a:ext uri="{FF2B5EF4-FFF2-40B4-BE49-F238E27FC236}">
                <a16:creationId xmlns:a16="http://schemas.microsoft.com/office/drawing/2014/main" id="{11329446-2C93-400C-B4B9-0F8118A0738C}"/>
              </a:ext>
            </a:extLst>
          </p:cNvPr>
          <p:cNvSpPr txBox="1"/>
          <p:nvPr/>
        </p:nvSpPr>
        <p:spPr>
          <a:xfrm>
            <a:off x="2026041" y="2718243"/>
            <a:ext cx="1515579" cy="523220"/>
          </a:xfrm>
          <a:prstGeom prst="rect">
            <a:avLst/>
          </a:prstGeom>
          <a:solidFill>
            <a:schemeClr val="accent4">
              <a:lumMod val="60000"/>
              <a:lumOff val="40000"/>
              <a:alpha val="85000"/>
            </a:schemeClr>
          </a:solidFill>
          <a:ln>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TRANSFORMER</a:t>
            </a:r>
          </a:p>
          <a:p>
            <a:pPr algn="ctr"/>
            <a:r>
              <a:rPr lang="en-IN" sz="1400" dirty="0">
                <a:latin typeface="Times New Roman" panose="02020603050405020304" pitchFamily="18" charset="0"/>
                <a:cs typeface="Times New Roman" panose="02020603050405020304" pitchFamily="18" charset="0"/>
              </a:rPr>
              <a:t> ENCODER </a:t>
            </a:r>
          </a:p>
        </p:txBody>
      </p:sp>
      <p:sp>
        <p:nvSpPr>
          <p:cNvPr id="115" name="TextBox 114">
            <a:extLst>
              <a:ext uri="{FF2B5EF4-FFF2-40B4-BE49-F238E27FC236}">
                <a16:creationId xmlns:a16="http://schemas.microsoft.com/office/drawing/2014/main" id="{9C8D09B8-4BCC-4D03-8A14-6309AFD0D876}"/>
              </a:ext>
            </a:extLst>
          </p:cNvPr>
          <p:cNvSpPr txBox="1"/>
          <p:nvPr/>
        </p:nvSpPr>
        <p:spPr>
          <a:xfrm>
            <a:off x="3612676" y="2727041"/>
            <a:ext cx="1642044" cy="523220"/>
          </a:xfrm>
          <a:prstGeom prst="rect">
            <a:avLst/>
          </a:prstGeom>
          <a:solidFill>
            <a:srgbClr val="7030A0">
              <a:alpha val="57000"/>
            </a:srgbClr>
          </a:solidFill>
          <a:ln>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TRANSFORMER </a:t>
            </a:r>
          </a:p>
          <a:p>
            <a:pPr algn="ctr"/>
            <a:r>
              <a:rPr lang="en-IN" sz="1400" dirty="0">
                <a:latin typeface="Times New Roman" panose="02020603050405020304" pitchFamily="18" charset="0"/>
                <a:cs typeface="Times New Roman" panose="02020603050405020304" pitchFamily="18" charset="0"/>
              </a:rPr>
              <a:t>DECODER </a:t>
            </a:r>
          </a:p>
        </p:txBody>
      </p:sp>
      <p:sp>
        <p:nvSpPr>
          <p:cNvPr id="116" name="Rectangle 115">
            <a:extLst>
              <a:ext uri="{FF2B5EF4-FFF2-40B4-BE49-F238E27FC236}">
                <a16:creationId xmlns:a16="http://schemas.microsoft.com/office/drawing/2014/main" id="{83B2B64E-E1B6-4638-AD6B-AD039B9216B1}"/>
              </a:ext>
            </a:extLst>
          </p:cNvPr>
          <p:cNvSpPr/>
          <p:nvPr/>
        </p:nvSpPr>
        <p:spPr>
          <a:xfrm>
            <a:off x="5855044" y="1400181"/>
            <a:ext cx="142876" cy="180975"/>
          </a:xfrm>
          <a:prstGeom prst="rect">
            <a:avLst/>
          </a:prstGeom>
          <a:solidFill>
            <a:srgbClr val="7030A0">
              <a:alpha val="6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Rectangle 116">
            <a:extLst>
              <a:ext uri="{FF2B5EF4-FFF2-40B4-BE49-F238E27FC236}">
                <a16:creationId xmlns:a16="http://schemas.microsoft.com/office/drawing/2014/main" id="{B13F1155-697B-45D7-9A88-BA598E1FD72F}"/>
              </a:ext>
            </a:extLst>
          </p:cNvPr>
          <p:cNvSpPr/>
          <p:nvPr/>
        </p:nvSpPr>
        <p:spPr>
          <a:xfrm>
            <a:off x="5855044" y="1581156"/>
            <a:ext cx="142876" cy="180975"/>
          </a:xfrm>
          <a:prstGeom prst="rect">
            <a:avLst/>
          </a:prstGeom>
          <a:solidFill>
            <a:srgbClr val="7030A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Rectangle 117">
            <a:extLst>
              <a:ext uri="{FF2B5EF4-FFF2-40B4-BE49-F238E27FC236}">
                <a16:creationId xmlns:a16="http://schemas.microsoft.com/office/drawing/2014/main" id="{000AF4AD-4390-4FE3-87A1-2E195226CC50}"/>
              </a:ext>
            </a:extLst>
          </p:cNvPr>
          <p:cNvSpPr/>
          <p:nvPr/>
        </p:nvSpPr>
        <p:spPr>
          <a:xfrm>
            <a:off x="5855044" y="1762131"/>
            <a:ext cx="142876" cy="180975"/>
          </a:xfrm>
          <a:prstGeom prst="rect">
            <a:avLst/>
          </a:prstGeom>
          <a:solidFill>
            <a:srgbClr val="7030A0">
              <a:alpha val="8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Rectangle 118">
            <a:extLst>
              <a:ext uri="{FF2B5EF4-FFF2-40B4-BE49-F238E27FC236}">
                <a16:creationId xmlns:a16="http://schemas.microsoft.com/office/drawing/2014/main" id="{845AEFDB-C19F-4F8B-97D0-3A87CA698420}"/>
              </a:ext>
            </a:extLst>
          </p:cNvPr>
          <p:cNvSpPr/>
          <p:nvPr/>
        </p:nvSpPr>
        <p:spPr>
          <a:xfrm>
            <a:off x="5855044" y="1943106"/>
            <a:ext cx="142876" cy="180975"/>
          </a:xfrm>
          <a:prstGeom prst="rect">
            <a:avLst/>
          </a:prstGeom>
          <a:solidFill>
            <a:srgbClr val="7030A0">
              <a:alpha val="2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Rectangle 119">
            <a:extLst>
              <a:ext uri="{FF2B5EF4-FFF2-40B4-BE49-F238E27FC236}">
                <a16:creationId xmlns:a16="http://schemas.microsoft.com/office/drawing/2014/main" id="{F3E6D516-7D81-4E1D-B4A8-3AEC90B9A04E}"/>
              </a:ext>
            </a:extLst>
          </p:cNvPr>
          <p:cNvSpPr/>
          <p:nvPr/>
        </p:nvSpPr>
        <p:spPr>
          <a:xfrm>
            <a:off x="5855044" y="2487781"/>
            <a:ext cx="142876" cy="180975"/>
          </a:xfrm>
          <a:prstGeom prst="rect">
            <a:avLst/>
          </a:prstGeom>
          <a:solidFill>
            <a:srgbClr val="7030A0">
              <a:alpha val="3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1" name="Rectangle 120">
            <a:extLst>
              <a:ext uri="{FF2B5EF4-FFF2-40B4-BE49-F238E27FC236}">
                <a16:creationId xmlns:a16="http://schemas.microsoft.com/office/drawing/2014/main" id="{D9784143-BCB7-4D5F-A06D-F64BA9562769}"/>
              </a:ext>
            </a:extLst>
          </p:cNvPr>
          <p:cNvSpPr/>
          <p:nvPr/>
        </p:nvSpPr>
        <p:spPr>
          <a:xfrm>
            <a:off x="5855044" y="2853230"/>
            <a:ext cx="142876" cy="180975"/>
          </a:xfrm>
          <a:prstGeom prst="rect">
            <a:avLst/>
          </a:prstGeom>
          <a:solidFill>
            <a:srgbClr val="7030A0">
              <a:alpha val="6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Rectangle 121">
            <a:extLst>
              <a:ext uri="{FF2B5EF4-FFF2-40B4-BE49-F238E27FC236}">
                <a16:creationId xmlns:a16="http://schemas.microsoft.com/office/drawing/2014/main" id="{D3909C12-9499-41CF-901B-8DD1E584304E}"/>
              </a:ext>
            </a:extLst>
          </p:cNvPr>
          <p:cNvSpPr/>
          <p:nvPr/>
        </p:nvSpPr>
        <p:spPr>
          <a:xfrm>
            <a:off x="5855044" y="2305056"/>
            <a:ext cx="142876" cy="180975"/>
          </a:xfrm>
          <a:prstGeom prst="rect">
            <a:avLst/>
          </a:prstGeom>
          <a:solidFill>
            <a:srgbClr val="7030A0">
              <a:alpha val="8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Rectangle 122">
            <a:extLst>
              <a:ext uri="{FF2B5EF4-FFF2-40B4-BE49-F238E27FC236}">
                <a16:creationId xmlns:a16="http://schemas.microsoft.com/office/drawing/2014/main" id="{E4939208-3E26-49A1-93DB-2DC7CA5C18F6}"/>
              </a:ext>
            </a:extLst>
          </p:cNvPr>
          <p:cNvSpPr/>
          <p:nvPr/>
        </p:nvSpPr>
        <p:spPr>
          <a:xfrm>
            <a:off x="5855044" y="2668756"/>
            <a:ext cx="142876" cy="180975"/>
          </a:xfrm>
          <a:prstGeom prst="rect">
            <a:avLst/>
          </a:prstGeom>
          <a:solidFill>
            <a:srgbClr val="7030A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Rectangle 123">
            <a:extLst>
              <a:ext uri="{FF2B5EF4-FFF2-40B4-BE49-F238E27FC236}">
                <a16:creationId xmlns:a16="http://schemas.microsoft.com/office/drawing/2014/main" id="{0EC228F3-BA9D-4477-8268-075A4414DC86}"/>
              </a:ext>
            </a:extLst>
          </p:cNvPr>
          <p:cNvSpPr/>
          <p:nvPr/>
        </p:nvSpPr>
        <p:spPr>
          <a:xfrm>
            <a:off x="5855044" y="3580127"/>
            <a:ext cx="142876" cy="180975"/>
          </a:xfrm>
          <a:prstGeom prst="rect">
            <a:avLst/>
          </a:prstGeom>
          <a:solidFill>
            <a:srgbClr val="7030A0">
              <a:alpha val="1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5" name="Rectangle 124">
            <a:extLst>
              <a:ext uri="{FF2B5EF4-FFF2-40B4-BE49-F238E27FC236}">
                <a16:creationId xmlns:a16="http://schemas.microsoft.com/office/drawing/2014/main" id="{CB29D58D-A313-49CC-A31D-33A5A9387BE8}"/>
              </a:ext>
            </a:extLst>
          </p:cNvPr>
          <p:cNvSpPr/>
          <p:nvPr/>
        </p:nvSpPr>
        <p:spPr>
          <a:xfrm>
            <a:off x="5855044" y="3218177"/>
            <a:ext cx="142876" cy="180975"/>
          </a:xfrm>
          <a:prstGeom prst="rect">
            <a:avLst/>
          </a:prstGeom>
          <a:solidFill>
            <a:srgbClr val="7030A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Rectangle 125">
            <a:extLst>
              <a:ext uri="{FF2B5EF4-FFF2-40B4-BE49-F238E27FC236}">
                <a16:creationId xmlns:a16="http://schemas.microsoft.com/office/drawing/2014/main" id="{EB54FB84-5506-4A9D-B32F-BB3FC93A14BB}"/>
              </a:ext>
            </a:extLst>
          </p:cNvPr>
          <p:cNvSpPr/>
          <p:nvPr/>
        </p:nvSpPr>
        <p:spPr>
          <a:xfrm>
            <a:off x="5855044" y="3761102"/>
            <a:ext cx="142876" cy="180975"/>
          </a:xfrm>
          <a:prstGeom prst="rect">
            <a:avLst/>
          </a:prstGeom>
          <a:solidFill>
            <a:srgbClr val="7030A0">
              <a:alpha val="8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Rectangle 126">
            <a:extLst>
              <a:ext uri="{FF2B5EF4-FFF2-40B4-BE49-F238E27FC236}">
                <a16:creationId xmlns:a16="http://schemas.microsoft.com/office/drawing/2014/main" id="{999F0DE8-18A1-4B72-ABD1-5DFFE3869049}"/>
              </a:ext>
            </a:extLst>
          </p:cNvPr>
          <p:cNvSpPr/>
          <p:nvPr/>
        </p:nvSpPr>
        <p:spPr>
          <a:xfrm>
            <a:off x="5855044" y="3399152"/>
            <a:ext cx="142876" cy="180975"/>
          </a:xfrm>
          <a:prstGeom prst="rect">
            <a:avLst/>
          </a:prstGeom>
          <a:solidFill>
            <a:srgbClr val="7030A0">
              <a:alpha val="7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Rectangle 127">
            <a:extLst>
              <a:ext uri="{FF2B5EF4-FFF2-40B4-BE49-F238E27FC236}">
                <a16:creationId xmlns:a16="http://schemas.microsoft.com/office/drawing/2014/main" id="{79D2EA78-9B5B-4B14-9431-EF80F865F0B3}"/>
              </a:ext>
            </a:extLst>
          </p:cNvPr>
          <p:cNvSpPr/>
          <p:nvPr/>
        </p:nvSpPr>
        <p:spPr>
          <a:xfrm>
            <a:off x="5855044" y="4665979"/>
            <a:ext cx="142876" cy="180975"/>
          </a:xfrm>
          <a:prstGeom prst="rect">
            <a:avLst/>
          </a:prstGeom>
          <a:solidFill>
            <a:srgbClr val="7030A0">
              <a:alpha val="4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Rectangle 128">
            <a:extLst>
              <a:ext uri="{FF2B5EF4-FFF2-40B4-BE49-F238E27FC236}">
                <a16:creationId xmlns:a16="http://schemas.microsoft.com/office/drawing/2014/main" id="{3F21FC7F-5683-4805-BBF7-AA27FA5E81BA}"/>
              </a:ext>
            </a:extLst>
          </p:cNvPr>
          <p:cNvSpPr/>
          <p:nvPr/>
        </p:nvSpPr>
        <p:spPr>
          <a:xfrm>
            <a:off x="5855044" y="4485004"/>
            <a:ext cx="142876" cy="180975"/>
          </a:xfrm>
          <a:prstGeom prst="rect">
            <a:avLst/>
          </a:prstGeom>
          <a:solidFill>
            <a:srgbClr val="7030A0">
              <a:alpha val="8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Rectangle 129">
            <a:extLst>
              <a:ext uri="{FF2B5EF4-FFF2-40B4-BE49-F238E27FC236}">
                <a16:creationId xmlns:a16="http://schemas.microsoft.com/office/drawing/2014/main" id="{834AC8A5-4897-47DC-A9DF-81C3C43D39D5}"/>
              </a:ext>
            </a:extLst>
          </p:cNvPr>
          <p:cNvSpPr/>
          <p:nvPr/>
        </p:nvSpPr>
        <p:spPr>
          <a:xfrm>
            <a:off x="5855044" y="4304028"/>
            <a:ext cx="142876" cy="180975"/>
          </a:xfrm>
          <a:prstGeom prst="rect">
            <a:avLst/>
          </a:prstGeom>
          <a:solidFill>
            <a:srgbClr val="7030A0">
              <a:alpha val="4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1" name="Rectangle 130">
            <a:extLst>
              <a:ext uri="{FF2B5EF4-FFF2-40B4-BE49-F238E27FC236}">
                <a16:creationId xmlns:a16="http://schemas.microsoft.com/office/drawing/2014/main" id="{32F4DC92-DDED-4048-9994-637233CB1084}"/>
              </a:ext>
            </a:extLst>
          </p:cNvPr>
          <p:cNvSpPr/>
          <p:nvPr/>
        </p:nvSpPr>
        <p:spPr>
          <a:xfrm>
            <a:off x="5855044" y="4123052"/>
            <a:ext cx="142876" cy="180975"/>
          </a:xfrm>
          <a:prstGeom prst="rect">
            <a:avLst/>
          </a:prstGeom>
          <a:solidFill>
            <a:srgbClr val="7030A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3" name="Straight Arrow Connector 132">
            <a:extLst>
              <a:ext uri="{FF2B5EF4-FFF2-40B4-BE49-F238E27FC236}">
                <a16:creationId xmlns:a16="http://schemas.microsoft.com/office/drawing/2014/main" id="{EDEBAE80-C05F-46E1-81A6-1D8225A014A8}"/>
              </a:ext>
            </a:extLst>
          </p:cNvPr>
          <p:cNvCxnSpPr/>
          <p:nvPr/>
        </p:nvCxnSpPr>
        <p:spPr>
          <a:xfrm>
            <a:off x="5400970" y="1769815"/>
            <a:ext cx="41106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A50B239B-7731-47EC-8C53-EDBD361617A3}"/>
              </a:ext>
            </a:extLst>
          </p:cNvPr>
          <p:cNvCxnSpPr/>
          <p:nvPr/>
        </p:nvCxnSpPr>
        <p:spPr>
          <a:xfrm>
            <a:off x="5400970" y="2662651"/>
            <a:ext cx="41106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1BB6DC62-693D-4132-ADE0-8CC7A3AB93C8}"/>
              </a:ext>
            </a:extLst>
          </p:cNvPr>
          <p:cNvCxnSpPr/>
          <p:nvPr/>
        </p:nvCxnSpPr>
        <p:spPr>
          <a:xfrm>
            <a:off x="5400970" y="3600515"/>
            <a:ext cx="41106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D4B1EC44-846D-4D92-AB93-805240CAB356}"/>
              </a:ext>
            </a:extLst>
          </p:cNvPr>
          <p:cNvCxnSpPr/>
          <p:nvPr/>
        </p:nvCxnSpPr>
        <p:spPr>
          <a:xfrm>
            <a:off x="5400970" y="4470645"/>
            <a:ext cx="41106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37" name="Group 136">
            <a:extLst>
              <a:ext uri="{FF2B5EF4-FFF2-40B4-BE49-F238E27FC236}">
                <a16:creationId xmlns:a16="http://schemas.microsoft.com/office/drawing/2014/main" id="{8AC97C8D-4A4A-41DC-8291-B22FBCAC11EA}"/>
              </a:ext>
            </a:extLst>
          </p:cNvPr>
          <p:cNvGrpSpPr/>
          <p:nvPr/>
        </p:nvGrpSpPr>
        <p:grpSpPr>
          <a:xfrm>
            <a:off x="6032795" y="1769815"/>
            <a:ext cx="231417" cy="2700830"/>
            <a:chOff x="8415725" y="2011870"/>
            <a:chExt cx="925562" cy="2700830"/>
          </a:xfrm>
        </p:grpSpPr>
        <p:cxnSp>
          <p:nvCxnSpPr>
            <p:cNvPr id="138" name="Straight Arrow Connector 137">
              <a:extLst>
                <a:ext uri="{FF2B5EF4-FFF2-40B4-BE49-F238E27FC236}">
                  <a16:creationId xmlns:a16="http://schemas.microsoft.com/office/drawing/2014/main" id="{50321D68-9DE9-4BE9-A9D7-91AAAC571C95}"/>
                </a:ext>
              </a:extLst>
            </p:cNvPr>
            <p:cNvCxnSpPr/>
            <p:nvPr/>
          </p:nvCxnSpPr>
          <p:spPr>
            <a:xfrm>
              <a:off x="8415725" y="2011870"/>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A8756D58-551A-4F48-BF02-9D9EA7B4DAF5}"/>
                </a:ext>
              </a:extLst>
            </p:cNvPr>
            <p:cNvCxnSpPr/>
            <p:nvPr/>
          </p:nvCxnSpPr>
          <p:spPr>
            <a:xfrm>
              <a:off x="8415725" y="2904706"/>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8BC356E4-DBA4-48BE-AAB3-C1832E1506DC}"/>
                </a:ext>
              </a:extLst>
            </p:cNvPr>
            <p:cNvCxnSpPr/>
            <p:nvPr/>
          </p:nvCxnSpPr>
          <p:spPr>
            <a:xfrm>
              <a:off x="8415725" y="3842570"/>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AFDF4B43-66E1-4566-9774-C574073E7883}"/>
                </a:ext>
              </a:extLst>
            </p:cNvPr>
            <p:cNvCxnSpPr/>
            <p:nvPr/>
          </p:nvCxnSpPr>
          <p:spPr>
            <a:xfrm>
              <a:off x="8415725" y="4712700"/>
              <a:ext cx="92556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42" name="TextBox 141">
            <a:extLst>
              <a:ext uri="{FF2B5EF4-FFF2-40B4-BE49-F238E27FC236}">
                <a16:creationId xmlns:a16="http://schemas.microsoft.com/office/drawing/2014/main" id="{49E6DA19-5D67-4179-96F9-A04EBCFBCF29}"/>
              </a:ext>
            </a:extLst>
          </p:cNvPr>
          <p:cNvSpPr txBox="1"/>
          <p:nvPr/>
        </p:nvSpPr>
        <p:spPr>
          <a:xfrm>
            <a:off x="341733" y="3384699"/>
            <a:ext cx="248786" cy="490968"/>
          </a:xfrm>
          <a:prstGeom prst="rect">
            <a:avLst/>
          </a:prstGeom>
          <a:noFill/>
        </p:spPr>
        <p:txBody>
          <a:bodyPr wrap="none" rtlCol="0">
            <a:spAutoFit/>
          </a:bodyPr>
          <a:lstStyle/>
          <a:p>
            <a:pPr>
              <a:lnSpc>
                <a:spcPct val="40000"/>
              </a:lnSpc>
            </a:pPr>
            <a:r>
              <a:rPr lang="en-IN" sz="2000" dirty="0">
                <a:latin typeface="Times New Roman" panose="02020603050405020304" pitchFamily="18" charset="0"/>
                <a:cs typeface="Times New Roman" panose="02020603050405020304" pitchFamily="18" charset="0"/>
              </a:rPr>
              <a:t>.</a:t>
            </a:r>
          </a:p>
          <a:p>
            <a:pPr>
              <a:lnSpc>
                <a:spcPct val="40000"/>
              </a:lnSpc>
            </a:pPr>
            <a:r>
              <a:rPr lang="en-IN" sz="2000" dirty="0">
                <a:latin typeface="Times New Roman" panose="02020603050405020304" pitchFamily="18" charset="0"/>
                <a:cs typeface="Times New Roman" panose="02020603050405020304" pitchFamily="18" charset="0"/>
              </a:rPr>
              <a:t>.</a:t>
            </a:r>
          </a:p>
          <a:p>
            <a:pPr>
              <a:lnSpc>
                <a:spcPct val="40000"/>
              </a:lnSpc>
            </a:pPr>
            <a:r>
              <a:rPr lang="en-IN" sz="2000" dirty="0">
                <a:latin typeface="Times New Roman" panose="02020603050405020304" pitchFamily="18" charset="0"/>
                <a:cs typeface="Times New Roman" panose="02020603050405020304" pitchFamily="18" charset="0"/>
              </a:rPr>
              <a:t>.</a:t>
            </a:r>
          </a:p>
        </p:txBody>
      </p:sp>
      <p:sp>
        <p:nvSpPr>
          <p:cNvPr id="143" name="TextBox 142">
            <a:extLst>
              <a:ext uri="{FF2B5EF4-FFF2-40B4-BE49-F238E27FC236}">
                <a16:creationId xmlns:a16="http://schemas.microsoft.com/office/drawing/2014/main" id="{0CE6C2EA-B02C-47AB-A09D-98A71442A22D}"/>
              </a:ext>
            </a:extLst>
          </p:cNvPr>
          <p:cNvSpPr txBox="1"/>
          <p:nvPr/>
        </p:nvSpPr>
        <p:spPr>
          <a:xfrm>
            <a:off x="6229917" y="1583742"/>
            <a:ext cx="612668"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Boy</a:t>
            </a:r>
          </a:p>
        </p:txBody>
      </p:sp>
      <p:sp>
        <p:nvSpPr>
          <p:cNvPr id="144" name="TextBox 143">
            <a:extLst>
              <a:ext uri="{FF2B5EF4-FFF2-40B4-BE49-F238E27FC236}">
                <a16:creationId xmlns:a16="http://schemas.microsoft.com/office/drawing/2014/main" id="{24CA19D5-3351-42DB-8147-D3F4BAC4982D}"/>
              </a:ext>
            </a:extLst>
          </p:cNvPr>
          <p:cNvSpPr txBox="1"/>
          <p:nvPr/>
        </p:nvSpPr>
        <p:spPr>
          <a:xfrm>
            <a:off x="6229917" y="2448759"/>
            <a:ext cx="975267"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Waving</a:t>
            </a:r>
          </a:p>
        </p:txBody>
      </p:sp>
      <p:sp>
        <p:nvSpPr>
          <p:cNvPr id="145" name="TextBox 144">
            <a:extLst>
              <a:ext uri="{FF2B5EF4-FFF2-40B4-BE49-F238E27FC236}">
                <a16:creationId xmlns:a16="http://schemas.microsoft.com/office/drawing/2014/main" id="{22F4BB04-A768-4F92-9905-DB60C108124E}"/>
              </a:ext>
            </a:extLst>
          </p:cNvPr>
          <p:cNvSpPr txBox="1"/>
          <p:nvPr/>
        </p:nvSpPr>
        <p:spPr>
          <a:xfrm>
            <a:off x="6231451" y="3381834"/>
            <a:ext cx="63991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Flag</a:t>
            </a:r>
          </a:p>
        </p:txBody>
      </p:sp>
      <p:sp>
        <p:nvSpPr>
          <p:cNvPr id="146" name="TextBox 145">
            <a:extLst>
              <a:ext uri="{FF2B5EF4-FFF2-40B4-BE49-F238E27FC236}">
                <a16:creationId xmlns:a16="http://schemas.microsoft.com/office/drawing/2014/main" id="{B8E8D92F-D905-4292-A739-89DC8297C7B8}"/>
              </a:ext>
            </a:extLst>
          </p:cNvPr>
          <p:cNvSpPr txBox="1"/>
          <p:nvPr/>
        </p:nvSpPr>
        <p:spPr>
          <a:xfrm>
            <a:off x="6229917" y="4261106"/>
            <a:ext cx="883575"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[END]</a:t>
            </a:r>
          </a:p>
        </p:txBody>
      </p:sp>
      <p:sp>
        <p:nvSpPr>
          <p:cNvPr id="71" name="Rectangle 70">
            <a:extLst>
              <a:ext uri="{FF2B5EF4-FFF2-40B4-BE49-F238E27FC236}">
                <a16:creationId xmlns:a16="http://schemas.microsoft.com/office/drawing/2014/main" id="{DC93BB95-0671-4EC3-B3F2-9366AE27E58E}"/>
              </a:ext>
            </a:extLst>
          </p:cNvPr>
          <p:cNvSpPr/>
          <p:nvPr/>
        </p:nvSpPr>
        <p:spPr>
          <a:xfrm>
            <a:off x="7375410" y="2872939"/>
            <a:ext cx="1544471" cy="2198140"/>
          </a:xfrm>
          <a:prstGeom prst="rect">
            <a:avLst/>
          </a:prstGeom>
          <a:solidFill>
            <a:schemeClr val="accent4">
              <a:lumMod val="60000"/>
              <a:lumOff val="40000"/>
              <a:alpha val="3200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5" name="Picture 74">
            <a:extLst>
              <a:ext uri="{FF2B5EF4-FFF2-40B4-BE49-F238E27FC236}">
                <a16:creationId xmlns:a16="http://schemas.microsoft.com/office/drawing/2014/main" id="{9A5DA8DF-A49D-482E-B170-888B50FA7809}"/>
              </a:ext>
            </a:extLst>
          </p:cNvPr>
          <p:cNvPicPr>
            <a:picLocks noChangeAspect="1"/>
          </p:cNvPicPr>
          <p:nvPr/>
        </p:nvPicPr>
        <p:blipFill>
          <a:blip r:embed="rId3"/>
          <a:stretch>
            <a:fillRect/>
          </a:stretch>
        </p:blipFill>
        <p:spPr>
          <a:xfrm>
            <a:off x="632917" y="5475293"/>
            <a:ext cx="659356" cy="701524"/>
          </a:xfrm>
          <a:prstGeom prst="rect">
            <a:avLst/>
          </a:prstGeom>
        </p:spPr>
      </p:pic>
      <p:sp>
        <p:nvSpPr>
          <p:cNvPr id="76" name="Trapezoid 75">
            <a:extLst>
              <a:ext uri="{FF2B5EF4-FFF2-40B4-BE49-F238E27FC236}">
                <a16:creationId xmlns:a16="http://schemas.microsoft.com/office/drawing/2014/main" id="{7000079A-1EC1-455D-A511-9D9511BA9CB7}"/>
              </a:ext>
            </a:extLst>
          </p:cNvPr>
          <p:cNvSpPr/>
          <p:nvPr/>
        </p:nvSpPr>
        <p:spPr>
          <a:xfrm rot="16200000">
            <a:off x="1171117" y="5565219"/>
            <a:ext cx="1030542" cy="581313"/>
          </a:xfrm>
          <a:prstGeom prst="trapezoid">
            <a:avLst>
              <a:gd name="adj" fmla="val 35465"/>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Arial Narrow" panose="020B0606020202030204" pitchFamily="34" charset="0"/>
              </a:rPr>
              <a:t>CNN</a:t>
            </a:r>
          </a:p>
        </p:txBody>
      </p:sp>
      <p:sp>
        <p:nvSpPr>
          <p:cNvPr id="151" name="Rectangle 150">
            <a:extLst>
              <a:ext uri="{FF2B5EF4-FFF2-40B4-BE49-F238E27FC236}">
                <a16:creationId xmlns:a16="http://schemas.microsoft.com/office/drawing/2014/main" id="{1E1E9C47-98B0-478F-BFF8-E7F1381191CA}"/>
              </a:ext>
            </a:extLst>
          </p:cNvPr>
          <p:cNvSpPr/>
          <p:nvPr/>
        </p:nvSpPr>
        <p:spPr>
          <a:xfrm>
            <a:off x="3953141" y="5675634"/>
            <a:ext cx="374645" cy="301840"/>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0,0</a:t>
            </a:r>
          </a:p>
        </p:txBody>
      </p:sp>
      <p:sp>
        <p:nvSpPr>
          <p:cNvPr id="152" name="Rectangle 151">
            <a:extLst>
              <a:ext uri="{FF2B5EF4-FFF2-40B4-BE49-F238E27FC236}">
                <a16:creationId xmlns:a16="http://schemas.microsoft.com/office/drawing/2014/main" id="{8FF12413-C141-4B0A-B9CA-AACBB1ED6214}"/>
              </a:ext>
            </a:extLst>
          </p:cNvPr>
          <p:cNvSpPr/>
          <p:nvPr/>
        </p:nvSpPr>
        <p:spPr>
          <a:xfrm>
            <a:off x="4327023" y="5675636"/>
            <a:ext cx="374645" cy="301839"/>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0,1</a:t>
            </a:r>
          </a:p>
        </p:txBody>
      </p:sp>
      <p:sp>
        <p:nvSpPr>
          <p:cNvPr id="153" name="Rectangle 152">
            <a:extLst>
              <a:ext uri="{FF2B5EF4-FFF2-40B4-BE49-F238E27FC236}">
                <a16:creationId xmlns:a16="http://schemas.microsoft.com/office/drawing/2014/main" id="{5547CCF5-23D7-4B8F-BBB7-104EB1CFEADE}"/>
              </a:ext>
            </a:extLst>
          </p:cNvPr>
          <p:cNvSpPr/>
          <p:nvPr/>
        </p:nvSpPr>
        <p:spPr>
          <a:xfrm>
            <a:off x="4701669" y="5675635"/>
            <a:ext cx="374645" cy="301839"/>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0,2</a:t>
            </a:r>
          </a:p>
        </p:txBody>
      </p:sp>
      <p:sp>
        <p:nvSpPr>
          <p:cNvPr id="154" name="Rectangle 153">
            <a:extLst>
              <a:ext uri="{FF2B5EF4-FFF2-40B4-BE49-F238E27FC236}">
                <a16:creationId xmlns:a16="http://schemas.microsoft.com/office/drawing/2014/main" id="{89B32D05-072C-4828-A2D7-2EAE1C0E825B}"/>
              </a:ext>
            </a:extLst>
          </p:cNvPr>
          <p:cNvSpPr/>
          <p:nvPr/>
        </p:nvSpPr>
        <p:spPr>
          <a:xfrm>
            <a:off x="5471995" y="5675635"/>
            <a:ext cx="374645" cy="301839"/>
          </a:xfrm>
          <a:prstGeom prst="rect">
            <a:avLst/>
          </a:prstGeom>
          <a:solidFill>
            <a:srgbClr val="FFC000">
              <a:alpha val="36000"/>
            </a:srgbClr>
          </a:solid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2,2</a:t>
            </a:r>
          </a:p>
        </p:txBody>
      </p:sp>
      <p:sp>
        <p:nvSpPr>
          <p:cNvPr id="155" name="TextBox 154">
            <a:extLst>
              <a:ext uri="{FF2B5EF4-FFF2-40B4-BE49-F238E27FC236}">
                <a16:creationId xmlns:a16="http://schemas.microsoft.com/office/drawing/2014/main" id="{4F0AA45C-EAE3-4E69-BD69-9CB6B7AC6324}"/>
              </a:ext>
            </a:extLst>
          </p:cNvPr>
          <p:cNvSpPr txBox="1"/>
          <p:nvPr/>
        </p:nvSpPr>
        <p:spPr>
          <a:xfrm>
            <a:off x="5096606" y="5623102"/>
            <a:ext cx="343364" cy="369332"/>
          </a:xfrm>
          <a:prstGeom prst="rect">
            <a:avLst/>
          </a:prstGeom>
          <a:noFill/>
        </p:spPr>
        <p:txBody>
          <a:bodyPr wrap="none" rtlCol="0">
            <a:spAutoFit/>
          </a:bodyPr>
          <a:lstStyle/>
          <a:p>
            <a:r>
              <a:rPr lang="en-IN" dirty="0">
                <a:solidFill>
                  <a:srgbClr val="0070C0"/>
                </a:solidFill>
              </a:rPr>
              <a:t>…</a:t>
            </a:r>
          </a:p>
        </p:txBody>
      </p:sp>
      <p:sp>
        <p:nvSpPr>
          <p:cNvPr id="156" name="Rounded Rectangle 23">
            <a:extLst>
              <a:ext uri="{FF2B5EF4-FFF2-40B4-BE49-F238E27FC236}">
                <a16:creationId xmlns:a16="http://schemas.microsoft.com/office/drawing/2014/main" id="{410D406C-042C-4B6F-B522-5A3F4839DA4D}"/>
              </a:ext>
            </a:extLst>
          </p:cNvPr>
          <p:cNvSpPr/>
          <p:nvPr/>
        </p:nvSpPr>
        <p:spPr>
          <a:xfrm>
            <a:off x="3898186" y="5634580"/>
            <a:ext cx="1990725" cy="382950"/>
          </a:xfrm>
          <a:prstGeom prst="roundRect">
            <a:avLst/>
          </a:prstGeom>
          <a:solidFill>
            <a:schemeClr val="bg2">
              <a:lumMod val="75000"/>
              <a:alpha val="33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0" name="Group 169">
            <a:extLst>
              <a:ext uri="{FF2B5EF4-FFF2-40B4-BE49-F238E27FC236}">
                <a16:creationId xmlns:a16="http://schemas.microsoft.com/office/drawing/2014/main" id="{A67B04DA-4491-4AA2-BF8F-0B2B596C08D8}"/>
              </a:ext>
            </a:extLst>
          </p:cNvPr>
          <p:cNvGrpSpPr/>
          <p:nvPr/>
        </p:nvGrpSpPr>
        <p:grpSpPr>
          <a:xfrm>
            <a:off x="2384863" y="5425904"/>
            <a:ext cx="1123173" cy="894783"/>
            <a:chOff x="3907525" y="3282431"/>
            <a:chExt cx="1399431" cy="991913"/>
          </a:xfrm>
          <a:solidFill>
            <a:srgbClr val="FFC000">
              <a:alpha val="36000"/>
            </a:srgbClr>
          </a:solidFill>
        </p:grpSpPr>
        <p:sp>
          <p:nvSpPr>
            <p:cNvPr id="171" name="Rectangle 170">
              <a:extLst>
                <a:ext uri="{FF2B5EF4-FFF2-40B4-BE49-F238E27FC236}">
                  <a16:creationId xmlns:a16="http://schemas.microsoft.com/office/drawing/2014/main" id="{4A9AB727-C488-4ACF-BBB7-B573B9C9C84D}"/>
                </a:ext>
              </a:extLst>
            </p:cNvPr>
            <p:cNvSpPr/>
            <p:nvPr/>
          </p:nvSpPr>
          <p:spPr>
            <a:xfrm>
              <a:off x="3907525" y="3282431"/>
              <a:ext cx="466794" cy="334605"/>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0,0</a:t>
              </a:r>
            </a:p>
          </p:txBody>
        </p:sp>
        <p:sp>
          <p:nvSpPr>
            <p:cNvPr id="172" name="Rectangle 171">
              <a:extLst>
                <a:ext uri="{FF2B5EF4-FFF2-40B4-BE49-F238E27FC236}">
                  <a16:creationId xmlns:a16="http://schemas.microsoft.com/office/drawing/2014/main" id="{A407EF48-BA9B-4DAA-8B9B-10DD05FB7A46}"/>
                </a:ext>
              </a:extLst>
            </p:cNvPr>
            <p:cNvSpPr/>
            <p:nvPr/>
          </p:nvSpPr>
          <p:spPr>
            <a:xfrm>
              <a:off x="4373368" y="3282433"/>
              <a:ext cx="466794"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0,1</a:t>
              </a:r>
            </a:p>
          </p:txBody>
        </p:sp>
        <p:sp>
          <p:nvSpPr>
            <p:cNvPr id="173" name="Rectangle 172">
              <a:extLst>
                <a:ext uri="{FF2B5EF4-FFF2-40B4-BE49-F238E27FC236}">
                  <a16:creationId xmlns:a16="http://schemas.microsoft.com/office/drawing/2014/main" id="{0167FAD7-9BA3-49AB-BA6E-7BD1986FC5CA}"/>
                </a:ext>
              </a:extLst>
            </p:cNvPr>
            <p:cNvSpPr/>
            <p:nvPr/>
          </p:nvSpPr>
          <p:spPr>
            <a:xfrm>
              <a:off x="4840162" y="3282432"/>
              <a:ext cx="466794"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0,2</a:t>
              </a:r>
            </a:p>
          </p:txBody>
        </p:sp>
        <p:sp>
          <p:nvSpPr>
            <p:cNvPr id="174" name="Rectangle 173">
              <a:extLst>
                <a:ext uri="{FF2B5EF4-FFF2-40B4-BE49-F238E27FC236}">
                  <a16:creationId xmlns:a16="http://schemas.microsoft.com/office/drawing/2014/main" id="{3C2DE51F-4A3F-443C-BC4C-E56D93FBD8D1}"/>
                </a:ext>
              </a:extLst>
            </p:cNvPr>
            <p:cNvSpPr/>
            <p:nvPr/>
          </p:nvSpPr>
          <p:spPr>
            <a:xfrm>
              <a:off x="3907526" y="3617038"/>
              <a:ext cx="466794"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1,0</a:t>
              </a:r>
            </a:p>
          </p:txBody>
        </p:sp>
        <p:sp>
          <p:nvSpPr>
            <p:cNvPr id="175" name="Rectangle 174">
              <a:extLst>
                <a:ext uri="{FF2B5EF4-FFF2-40B4-BE49-F238E27FC236}">
                  <a16:creationId xmlns:a16="http://schemas.microsoft.com/office/drawing/2014/main" id="{7B9C505F-FC22-40C2-942D-E73EDA6D6251}"/>
                </a:ext>
              </a:extLst>
            </p:cNvPr>
            <p:cNvSpPr/>
            <p:nvPr/>
          </p:nvSpPr>
          <p:spPr>
            <a:xfrm>
              <a:off x="4373368" y="3617038"/>
              <a:ext cx="466793"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1,1</a:t>
              </a:r>
            </a:p>
          </p:txBody>
        </p:sp>
        <p:sp>
          <p:nvSpPr>
            <p:cNvPr id="176" name="Rectangle 175">
              <a:extLst>
                <a:ext uri="{FF2B5EF4-FFF2-40B4-BE49-F238E27FC236}">
                  <a16:creationId xmlns:a16="http://schemas.microsoft.com/office/drawing/2014/main" id="{5F3D4F0A-D547-499D-8AA7-1C8DFDA28717}"/>
                </a:ext>
              </a:extLst>
            </p:cNvPr>
            <p:cNvSpPr/>
            <p:nvPr/>
          </p:nvSpPr>
          <p:spPr>
            <a:xfrm>
              <a:off x="4840162" y="3617037"/>
              <a:ext cx="466794" cy="334604"/>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1,2</a:t>
              </a:r>
            </a:p>
          </p:txBody>
        </p:sp>
        <p:sp>
          <p:nvSpPr>
            <p:cNvPr id="177" name="Rectangle 176">
              <a:extLst>
                <a:ext uri="{FF2B5EF4-FFF2-40B4-BE49-F238E27FC236}">
                  <a16:creationId xmlns:a16="http://schemas.microsoft.com/office/drawing/2014/main" id="{83E53B17-D937-4F17-A73C-954B5F2FE7E3}"/>
                </a:ext>
              </a:extLst>
            </p:cNvPr>
            <p:cNvSpPr/>
            <p:nvPr/>
          </p:nvSpPr>
          <p:spPr>
            <a:xfrm>
              <a:off x="3907525" y="3951644"/>
              <a:ext cx="466794" cy="322700"/>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2,0</a:t>
              </a:r>
            </a:p>
          </p:txBody>
        </p:sp>
        <p:sp>
          <p:nvSpPr>
            <p:cNvPr id="178" name="Rectangle 177">
              <a:extLst>
                <a:ext uri="{FF2B5EF4-FFF2-40B4-BE49-F238E27FC236}">
                  <a16:creationId xmlns:a16="http://schemas.microsoft.com/office/drawing/2014/main" id="{07007A40-85A7-4A1E-A88B-F2B675DA0F8E}"/>
                </a:ext>
              </a:extLst>
            </p:cNvPr>
            <p:cNvSpPr/>
            <p:nvPr/>
          </p:nvSpPr>
          <p:spPr>
            <a:xfrm>
              <a:off x="4373367" y="3951644"/>
              <a:ext cx="466794" cy="322700"/>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2,1</a:t>
              </a:r>
            </a:p>
          </p:txBody>
        </p:sp>
        <p:sp>
          <p:nvSpPr>
            <p:cNvPr id="179" name="Rectangle 178">
              <a:extLst>
                <a:ext uri="{FF2B5EF4-FFF2-40B4-BE49-F238E27FC236}">
                  <a16:creationId xmlns:a16="http://schemas.microsoft.com/office/drawing/2014/main" id="{D2A3B263-A366-4BF4-A235-ED3FE1EFC3F1}"/>
                </a:ext>
              </a:extLst>
            </p:cNvPr>
            <p:cNvSpPr/>
            <p:nvPr/>
          </p:nvSpPr>
          <p:spPr>
            <a:xfrm>
              <a:off x="4840161" y="3951643"/>
              <a:ext cx="466794" cy="322700"/>
            </a:xfrm>
            <a:prstGeom prst="rect">
              <a:avLst/>
            </a:prstGeom>
            <a:grpFill/>
            <a:ln>
              <a:solidFill>
                <a:schemeClr val="accent1">
                  <a:lumMod val="75000"/>
                </a:schemeClr>
              </a:solidFill>
            </a:ln>
          </p:spPr>
          <p:txBody>
            <a:bodyPr wrap="none">
              <a:normAutofit lnSpcReduction="10000"/>
            </a:bodyPr>
            <a:lstStyle/>
            <a:p>
              <a:r>
                <a:rPr lang="en-IN" sz="1400" dirty="0">
                  <a:latin typeface="Times New Roman" panose="02020603050405020304" pitchFamily="18" charset="0"/>
                  <a:cs typeface="Times New Roman" panose="02020603050405020304" pitchFamily="18" charset="0"/>
                </a:rPr>
                <a:t>z</a:t>
              </a:r>
              <a:r>
                <a:rPr lang="en-IN" sz="1400" baseline="-25000" dirty="0">
                  <a:latin typeface="Times New Roman" panose="02020603050405020304" pitchFamily="18" charset="0"/>
                  <a:cs typeface="Times New Roman" panose="02020603050405020304" pitchFamily="18" charset="0"/>
                </a:rPr>
                <a:t>2,2</a:t>
              </a:r>
            </a:p>
          </p:txBody>
        </p:sp>
      </p:grpSp>
      <p:cxnSp>
        <p:nvCxnSpPr>
          <p:cNvPr id="180" name="Straight Arrow Connector 179">
            <a:extLst>
              <a:ext uri="{FF2B5EF4-FFF2-40B4-BE49-F238E27FC236}">
                <a16:creationId xmlns:a16="http://schemas.microsoft.com/office/drawing/2014/main" id="{0899C284-F897-46C7-93B6-D88F17254039}"/>
              </a:ext>
            </a:extLst>
          </p:cNvPr>
          <p:cNvCxnSpPr/>
          <p:nvPr/>
        </p:nvCxnSpPr>
        <p:spPr>
          <a:xfrm>
            <a:off x="1977045" y="5871462"/>
            <a:ext cx="41106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D26DA8D3-0813-41AD-AABC-2353DB3D9E09}"/>
              </a:ext>
            </a:extLst>
          </p:cNvPr>
          <p:cNvCxnSpPr/>
          <p:nvPr/>
        </p:nvCxnSpPr>
        <p:spPr>
          <a:xfrm>
            <a:off x="3502374" y="5846498"/>
            <a:ext cx="41106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315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E04A51-A4A1-43FC-A70C-FD47220615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9280" y="813808"/>
            <a:ext cx="3803448" cy="5513294"/>
          </a:xfrm>
          <a:prstGeom prst="rect">
            <a:avLst/>
          </a:prstGeom>
          <a:solidFill>
            <a:schemeClr val="accent4">
              <a:lumMod val="60000"/>
              <a:lumOff val="40000"/>
              <a:alpha val="32000"/>
            </a:schemeClr>
          </a:solidFill>
        </p:spPr>
      </p:pic>
      <p:sp>
        <p:nvSpPr>
          <p:cNvPr id="27" name="TextBox 26">
            <a:extLst>
              <a:ext uri="{FF2B5EF4-FFF2-40B4-BE49-F238E27FC236}">
                <a16:creationId xmlns:a16="http://schemas.microsoft.com/office/drawing/2014/main" id="{D10F847A-A548-416D-9F4A-96B6BDF51AF9}"/>
              </a:ext>
            </a:extLst>
          </p:cNvPr>
          <p:cNvSpPr txBox="1"/>
          <p:nvPr/>
        </p:nvSpPr>
        <p:spPr>
          <a:xfrm>
            <a:off x="6213411" y="6430775"/>
            <a:ext cx="5753100"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Figure </a:t>
            </a:r>
            <a:r>
              <a:rPr lang="en-IN" sz="1400" dirty="0">
                <a:latin typeface="Arial Narrow" panose="020B0606020202030204" pitchFamily="34" charset="0"/>
                <a:cs typeface="Times New Roman" panose="02020603050405020304" pitchFamily="18" charset="0"/>
              </a:rPr>
              <a:t>Source</a:t>
            </a:r>
            <a:r>
              <a:rPr lang="en-IN" sz="1400" dirty="0">
                <a:latin typeface="Times New Roman" panose="02020603050405020304" pitchFamily="18" charset="0"/>
                <a:cs typeface="Times New Roman" panose="02020603050405020304" pitchFamily="18" charset="0"/>
              </a:rPr>
              <a:t>: Ashish Vaswani et. al. Attention is All You Need, NIPS 2017</a:t>
            </a:r>
          </a:p>
        </p:txBody>
      </p:sp>
      <p:sp>
        <p:nvSpPr>
          <p:cNvPr id="40" name="Rounded Rectangle 571">
            <a:extLst>
              <a:ext uri="{FF2B5EF4-FFF2-40B4-BE49-F238E27FC236}">
                <a16:creationId xmlns:a16="http://schemas.microsoft.com/office/drawing/2014/main" id="{FB55AD12-313B-40F9-A7FF-92BC15CED981}"/>
              </a:ext>
            </a:extLst>
          </p:cNvPr>
          <p:cNvSpPr/>
          <p:nvPr/>
        </p:nvSpPr>
        <p:spPr>
          <a:xfrm>
            <a:off x="973393" y="1192796"/>
            <a:ext cx="2601453" cy="810482"/>
          </a:xfrm>
          <a:prstGeom prst="roundRect">
            <a:avLst>
              <a:gd name="adj" fmla="val 12450"/>
            </a:avLst>
          </a:prstGeom>
          <a:solidFill>
            <a:schemeClr val="accent2">
              <a:lumMod val="20000"/>
              <a:lumOff val="80000"/>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grpSp>
        <p:nvGrpSpPr>
          <p:cNvPr id="41" name="Group 40">
            <a:extLst>
              <a:ext uri="{FF2B5EF4-FFF2-40B4-BE49-F238E27FC236}">
                <a16:creationId xmlns:a16="http://schemas.microsoft.com/office/drawing/2014/main" id="{66438934-ABF7-43AC-9346-17A77B47E23A}"/>
              </a:ext>
            </a:extLst>
          </p:cNvPr>
          <p:cNvGrpSpPr/>
          <p:nvPr/>
        </p:nvGrpSpPr>
        <p:grpSpPr>
          <a:xfrm rot="5400000">
            <a:off x="1273619" y="1644446"/>
            <a:ext cx="119111" cy="394426"/>
            <a:chOff x="2116943" y="2112159"/>
            <a:chExt cx="160187" cy="566252"/>
          </a:xfrm>
        </p:grpSpPr>
        <p:sp>
          <p:nvSpPr>
            <p:cNvPr id="42" name="Rectangle 41">
              <a:extLst>
                <a:ext uri="{FF2B5EF4-FFF2-40B4-BE49-F238E27FC236}">
                  <a16:creationId xmlns:a16="http://schemas.microsoft.com/office/drawing/2014/main" id="{202B7A15-9600-4571-A1F5-BD9522B28456}"/>
                </a:ext>
              </a:extLst>
            </p:cNvPr>
            <p:cNvSpPr/>
            <p:nvPr/>
          </p:nvSpPr>
          <p:spPr>
            <a:xfrm>
              <a:off x="2116943" y="2112159"/>
              <a:ext cx="160187" cy="141563"/>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43" name="Rectangle 42">
              <a:extLst>
                <a:ext uri="{FF2B5EF4-FFF2-40B4-BE49-F238E27FC236}">
                  <a16:creationId xmlns:a16="http://schemas.microsoft.com/office/drawing/2014/main" id="{9DB589B3-785C-48DD-834D-2925854BE4F5}"/>
                </a:ext>
              </a:extLst>
            </p:cNvPr>
            <p:cNvSpPr/>
            <p:nvPr/>
          </p:nvSpPr>
          <p:spPr>
            <a:xfrm>
              <a:off x="2116943" y="2253722"/>
              <a:ext cx="160187" cy="141563"/>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44" name="Rectangle 43">
              <a:extLst>
                <a:ext uri="{FF2B5EF4-FFF2-40B4-BE49-F238E27FC236}">
                  <a16:creationId xmlns:a16="http://schemas.microsoft.com/office/drawing/2014/main" id="{F3F53FE7-A95B-4498-B65A-4859E7A43472}"/>
                </a:ext>
              </a:extLst>
            </p:cNvPr>
            <p:cNvSpPr/>
            <p:nvPr/>
          </p:nvSpPr>
          <p:spPr>
            <a:xfrm>
              <a:off x="2116943" y="2395285"/>
              <a:ext cx="160187" cy="141563"/>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45" name="Rectangle 44">
              <a:extLst>
                <a:ext uri="{FF2B5EF4-FFF2-40B4-BE49-F238E27FC236}">
                  <a16:creationId xmlns:a16="http://schemas.microsoft.com/office/drawing/2014/main" id="{A413E3D5-B42E-4926-B549-303A3936320A}"/>
                </a:ext>
              </a:extLst>
            </p:cNvPr>
            <p:cNvSpPr/>
            <p:nvPr/>
          </p:nvSpPr>
          <p:spPr>
            <a:xfrm>
              <a:off x="2116943" y="2536848"/>
              <a:ext cx="160187" cy="141563"/>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grpSp>
      <p:grpSp>
        <p:nvGrpSpPr>
          <p:cNvPr id="46" name="Group 45">
            <a:extLst>
              <a:ext uri="{FF2B5EF4-FFF2-40B4-BE49-F238E27FC236}">
                <a16:creationId xmlns:a16="http://schemas.microsoft.com/office/drawing/2014/main" id="{0ABF3A1B-1052-4FA6-B20F-579D2566E287}"/>
              </a:ext>
            </a:extLst>
          </p:cNvPr>
          <p:cNvGrpSpPr/>
          <p:nvPr/>
        </p:nvGrpSpPr>
        <p:grpSpPr>
          <a:xfrm rot="5400000">
            <a:off x="1871324" y="1643016"/>
            <a:ext cx="119111" cy="397287"/>
            <a:chOff x="932940" y="2382785"/>
            <a:chExt cx="119111" cy="397287"/>
          </a:xfrm>
        </p:grpSpPr>
        <p:sp>
          <p:nvSpPr>
            <p:cNvPr id="47" name="Rectangle 46">
              <a:extLst>
                <a:ext uri="{FF2B5EF4-FFF2-40B4-BE49-F238E27FC236}">
                  <a16:creationId xmlns:a16="http://schemas.microsoft.com/office/drawing/2014/main" id="{08AFF451-D012-4549-A8B2-80917DA157E2}"/>
                </a:ext>
              </a:extLst>
            </p:cNvPr>
            <p:cNvSpPr/>
            <p:nvPr/>
          </p:nvSpPr>
          <p:spPr>
            <a:xfrm>
              <a:off x="932940" y="2482345"/>
              <a:ext cx="119111" cy="98607"/>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48" name="Rectangle 47">
              <a:extLst>
                <a:ext uri="{FF2B5EF4-FFF2-40B4-BE49-F238E27FC236}">
                  <a16:creationId xmlns:a16="http://schemas.microsoft.com/office/drawing/2014/main" id="{986C6D5A-5602-4B54-A2D8-1DB8E4114B25}"/>
                </a:ext>
              </a:extLst>
            </p:cNvPr>
            <p:cNvSpPr/>
            <p:nvPr/>
          </p:nvSpPr>
          <p:spPr>
            <a:xfrm>
              <a:off x="932940" y="2681465"/>
              <a:ext cx="119111" cy="98607"/>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49" name="Rectangle 48">
              <a:extLst>
                <a:ext uri="{FF2B5EF4-FFF2-40B4-BE49-F238E27FC236}">
                  <a16:creationId xmlns:a16="http://schemas.microsoft.com/office/drawing/2014/main" id="{4E7FC7E2-252D-4B2D-98BB-F4E208BE73EF}"/>
                </a:ext>
              </a:extLst>
            </p:cNvPr>
            <p:cNvSpPr/>
            <p:nvPr/>
          </p:nvSpPr>
          <p:spPr>
            <a:xfrm>
              <a:off x="932940" y="2382785"/>
              <a:ext cx="119111" cy="98607"/>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50" name="Rectangle 49">
              <a:extLst>
                <a:ext uri="{FF2B5EF4-FFF2-40B4-BE49-F238E27FC236}">
                  <a16:creationId xmlns:a16="http://schemas.microsoft.com/office/drawing/2014/main" id="{0AF3DE13-D4F0-4751-B67D-0691B08B8243}"/>
                </a:ext>
              </a:extLst>
            </p:cNvPr>
            <p:cNvSpPr/>
            <p:nvPr/>
          </p:nvSpPr>
          <p:spPr>
            <a:xfrm>
              <a:off x="932940" y="2580952"/>
              <a:ext cx="119111" cy="98607"/>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grpSp>
      <p:grpSp>
        <p:nvGrpSpPr>
          <p:cNvPr id="51" name="Group 50">
            <a:extLst>
              <a:ext uri="{FF2B5EF4-FFF2-40B4-BE49-F238E27FC236}">
                <a16:creationId xmlns:a16="http://schemas.microsoft.com/office/drawing/2014/main" id="{1F679ECD-BF51-4601-A9CB-270877124EC8}"/>
              </a:ext>
            </a:extLst>
          </p:cNvPr>
          <p:cNvGrpSpPr/>
          <p:nvPr/>
        </p:nvGrpSpPr>
        <p:grpSpPr>
          <a:xfrm rot="5400000">
            <a:off x="2507312" y="1644447"/>
            <a:ext cx="119111" cy="394427"/>
            <a:chOff x="932940" y="2880311"/>
            <a:chExt cx="119111" cy="394427"/>
          </a:xfrm>
        </p:grpSpPr>
        <p:sp>
          <p:nvSpPr>
            <p:cNvPr id="52" name="Rectangle 51">
              <a:extLst>
                <a:ext uri="{FF2B5EF4-FFF2-40B4-BE49-F238E27FC236}">
                  <a16:creationId xmlns:a16="http://schemas.microsoft.com/office/drawing/2014/main" id="{58B5F270-1329-4309-A207-0A36764AADC3}"/>
                </a:ext>
              </a:extLst>
            </p:cNvPr>
            <p:cNvSpPr/>
            <p:nvPr/>
          </p:nvSpPr>
          <p:spPr>
            <a:xfrm>
              <a:off x="932940" y="3077524"/>
              <a:ext cx="119111" cy="98607"/>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53" name="Rectangle 52">
              <a:extLst>
                <a:ext uri="{FF2B5EF4-FFF2-40B4-BE49-F238E27FC236}">
                  <a16:creationId xmlns:a16="http://schemas.microsoft.com/office/drawing/2014/main" id="{C964FABE-39D7-4571-8B94-519B473D488F}"/>
                </a:ext>
              </a:extLst>
            </p:cNvPr>
            <p:cNvSpPr/>
            <p:nvPr/>
          </p:nvSpPr>
          <p:spPr>
            <a:xfrm>
              <a:off x="932940" y="2880311"/>
              <a:ext cx="119111" cy="98607"/>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54" name="Rectangle 53">
              <a:extLst>
                <a:ext uri="{FF2B5EF4-FFF2-40B4-BE49-F238E27FC236}">
                  <a16:creationId xmlns:a16="http://schemas.microsoft.com/office/drawing/2014/main" id="{EA05C72A-A5CD-4AC8-8A3F-B4B4F233A2C0}"/>
                </a:ext>
              </a:extLst>
            </p:cNvPr>
            <p:cNvSpPr/>
            <p:nvPr/>
          </p:nvSpPr>
          <p:spPr>
            <a:xfrm>
              <a:off x="932940" y="3176131"/>
              <a:ext cx="119111" cy="98607"/>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55" name="Rectangle 54">
              <a:extLst>
                <a:ext uri="{FF2B5EF4-FFF2-40B4-BE49-F238E27FC236}">
                  <a16:creationId xmlns:a16="http://schemas.microsoft.com/office/drawing/2014/main" id="{9E45F857-EF92-4995-9D00-AC1E73E4F7DC}"/>
                </a:ext>
              </a:extLst>
            </p:cNvPr>
            <p:cNvSpPr/>
            <p:nvPr/>
          </p:nvSpPr>
          <p:spPr>
            <a:xfrm>
              <a:off x="932940" y="2978917"/>
              <a:ext cx="119111" cy="98607"/>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grpSp>
      <p:grpSp>
        <p:nvGrpSpPr>
          <p:cNvPr id="56" name="Group 55">
            <a:extLst>
              <a:ext uri="{FF2B5EF4-FFF2-40B4-BE49-F238E27FC236}">
                <a16:creationId xmlns:a16="http://schemas.microsoft.com/office/drawing/2014/main" id="{1B9EAEDA-2ABA-4DBD-BA1C-5089F56165E9}"/>
              </a:ext>
            </a:extLst>
          </p:cNvPr>
          <p:cNvGrpSpPr/>
          <p:nvPr/>
        </p:nvGrpSpPr>
        <p:grpSpPr>
          <a:xfrm rot="5400000">
            <a:off x="3112036" y="1645143"/>
            <a:ext cx="119111" cy="394427"/>
            <a:chOff x="932940" y="3373344"/>
            <a:chExt cx="119111" cy="394427"/>
          </a:xfrm>
        </p:grpSpPr>
        <p:sp>
          <p:nvSpPr>
            <p:cNvPr id="57" name="Rectangle 56">
              <a:extLst>
                <a:ext uri="{FF2B5EF4-FFF2-40B4-BE49-F238E27FC236}">
                  <a16:creationId xmlns:a16="http://schemas.microsoft.com/office/drawing/2014/main" id="{6F99E284-AD3E-44D3-AF0C-CA4BB7823F0F}"/>
                </a:ext>
              </a:extLst>
            </p:cNvPr>
            <p:cNvSpPr/>
            <p:nvPr/>
          </p:nvSpPr>
          <p:spPr>
            <a:xfrm>
              <a:off x="932940" y="3669164"/>
              <a:ext cx="119111" cy="98607"/>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58" name="Rectangle 57">
              <a:extLst>
                <a:ext uri="{FF2B5EF4-FFF2-40B4-BE49-F238E27FC236}">
                  <a16:creationId xmlns:a16="http://schemas.microsoft.com/office/drawing/2014/main" id="{744BE79F-3815-4931-B510-30EC1C9A1471}"/>
                </a:ext>
              </a:extLst>
            </p:cNvPr>
            <p:cNvSpPr/>
            <p:nvPr/>
          </p:nvSpPr>
          <p:spPr>
            <a:xfrm>
              <a:off x="932940" y="3570558"/>
              <a:ext cx="119111" cy="98607"/>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59" name="Rectangle 58">
              <a:extLst>
                <a:ext uri="{FF2B5EF4-FFF2-40B4-BE49-F238E27FC236}">
                  <a16:creationId xmlns:a16="http://schemas.microsoft.com/office/drawing/2014/main" id="{31BCA864-90DC-4171-82C4-CD94C79D3D5E}"/>
                </a:ext>
              </a:extLst>
            </p:cNvPr>
            <p:cNvSpPr/>
            <p:nvPr/>
          </p:nvSpPr>
          <p:spPr>
            <a:xfrm>
              <a:off x="932940" y="3471951"/>
              <a:ext cx="119111" cy="98607"/>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sp>
          <p:nvSpPr>
            <p:cNvPr id="60" name="Rectangle 59">
              <a:extLst>
                <a:ext uri="{FF2B5EF4-FFF2-40B4-BE49-F238E27FC236}">
                  <a16:creationId xmlns:a16="http://schemas.microsoft.com/office/drawing/2014/main" id="{6EC1B04C-B637-4DEB-9E8E-6DF9AD1B996A}"/>
                </a:ext>
              </a:extLst>
            </p:cNvPr>
            <p:cNvSpPr/>
            <p:nvPr/>
          </p:nvSpPr>
          <p:spPr>
            <a:xfrm>
              <a:off x="932940" y="3373344"/>
              <a:ext cx="119111" cy="98607"/>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endParaRPr>
            </a:p>
          </p:txBody>
        </p:sp>
      </p:grpSp>
      <p:grpSp>
        <p:nvGrpSpPr>
          <p:cNvPr id="61" name="Group 60">
            <a:extLst>
              <a:ext uri="{FF2B5EF4-FFF2-40B4-BE49-F238E27FC236}">
                <a16:creationId xmlns:a16="http://schemas.microsoft.com/office/drawing/2014/main" id="{DFA904EC-EF82-4579-8607-15462AE8AE29}"/>
              </a:ext>
            </a:extLst>
          </p:cNvPr>
          <p:cNvGrpSpPr/>
          <p:nvPr/>
        </p:nvGrpSpPr>
        <p:grpSpPr>
          <a:xfrm>
            <a:off x="1135961" y="1262725"/>
            <a:ext cx="372372" cy="307777"/>
            <a:chOff x="1179312" y="1272368"/>
            <a:chExt cx="372372" cy="307777"/>
          </a:xfrm>
        </p:grpSpPr>
        <p:sp>
          <p:nvSpPr>
            <p:cNvPr id="62" name="TextBox 61">
              <a:extLst>
                <a:ext uri="{FF2B5EF4-FFF2-40B4-BE49-F238E27FC236}">
                  <a16:creationId xmlns:a16="http://schemas.microsoft.com/office/drawing/2014/main" id="{11D78E4A-0499-434F-A15A-1F7EDBB0FF0D}"/>
                </a:ext>
              </a:extLst>
            </p:cNvPr>
            <p:cNvSpPr txBox="1"/>
            <p:nvPr/>
          </p:nvSpPr>
          <p:spPr>
            <a:xfrm>
              <a:off x="1191629" y="1272368"/>
              <a:ext cx="360055"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Is</a:t>
              </a:r>
              <a:endParaRPr lang="en-IN" sz="1400" baseline="-25000" dirty="0">
                <a:latin typeface="Arial Narrow" panose="020B0606020202030204" pitchFamily="34" charset="0"/>
                <a:cs typeface="Times New Roman" panose="02020603050405020304" pitchFamily="18" charset="0"/>
              </a:endParaRPr>
            </a:p>
          </p:txBody>
        </p:sp>
        <p:sp>
          <p:nvSpPr>
            <p:cNvPr id="63" name="Rounded Rectangle 586">
              <a:extLst>
                <a:ext uri="{FF2B5EF4-FFF2-40B4-BE49-F238E27FC236}">
                  <a16:creationId xmlns:a16="http://schemas.microsoft.com/office/drawing/2014/main" id="{E2EFB986-79E8-4BED-9C67-F9427769D79D}"/>
                </a:ext>
              </a:extLst>
            </p:cNvPr>
            <p:cNvSpPr/>
            <p:nvPr/>
          </p:nvSpPr>
          <p:spPr>
            <a:xfrm>
              <a:off x="1179312" y="1306296"/>
              <a:ext cx="329646" cy="24515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cs typeface="Times New Roman" panose="02020603050405020304" pitchFamily="18" charset="0"/>
              </a:endParaRPr>
            </a:p>
          </p:txBody>
        </p:sp>
      </p:grpSp>
      <p:grpSp>
        <p:nvGrpSpPr>
          <p:cNvPr id="64" name="Group 63">
            <a:extLst>
              <a:ext uri="{FF2B5EF4-FFF2-40B4-BE49-F238E27FC236}">
                <a16:creationId xmlns:a16="http://schemas.microsoft.com/office/drawing/2014/main" id="{5A4671E8-30EE-46C3-B9BA-892610EC3758}"/>
              </a:ext>
            </a:extLst>
          </p:cNvPr>
          <p:cNvGrpSpPr/>
          <p:nvPr/>
        </p:nvGrpSpPr>
        <p:grpSpPr>
          <a:xfrm>
            <a:off x="1667522" y="1257178"/>
            <a:ext cx="512154" cy="307777"/>
            <a:chOff x="1695398" y="1262725"/>
            <a:chExt cx="512154" cy="307777"/>
          </a:xfrm>
        </p:grpSpPr>
        <p:sp>
          <p:nvSpPr>
            <p:cNvPr id="65" name="TextBox 64">
              <a:extLst>
                <a:ext uri="{FF2B5EF4-FFF2-40B4-BE49-F238E27FC236}">
                  <a16:creationId xmlns:a16="http://schemas.microsoft.com/office/drawing/2014/main" id="{AEC262A7-2FFB-4C59-9A02-1434C0ECC9E0}"/>
                </a:ext>
              </a:extLst>
            </p:cNvPr>
            <p:cNvSpPr txBox="1"/>
            <p:nvPr/>
          </p:nvSpPr>
          <p:spPr>
            <a:xfrm>
              <a:off x="1695398" y="1262725"/>
              <a:ext cx="512154"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mac</a:t>
              </a:r>
              <a:endParaRPr lang="en-IN" sz="1400" baseline="-25000" dirty="0">
                <a:latin typeface="Arial Narrow" panose="020B0606020202030204" pitchFamily="34" charset="0"/>
                <a:cs typeface="Times New Roman" panose="02020603050405020304" pitchFamily="18" charset="0"/>
              </a:endParaRPr>
            </a:p>
          </p:txBody>
        </p:sp>
        <p:sp>
          <p:nvSpPr>
            <p:cNvPr id="66" name="Rounded Rectangle 588">
              <a:extLst>
                <a:ext uri="{FF2B5EF4-FFF2-40B4-BE49-F238E27FC236}">
                  <a16:creationId xmlns:a16="http://schemas.microsoft.com/office/drawing/2014/main" id="{2B75F49F-1AD3-492E-9B25-88333BCC7CD2}"/>
                </a:ext>
              </a:extLst>
            </p:cNvPr>
            <p:cNvSpPr/>
            <p:nvPr/>
          </p:nvSpPr>
          <p:spPr>
            <a:xfrm>
              <a:off x="1695398" y="1306296"/>
              <a:ext cx="471646" cy="2265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cs typeface="Times New Roman" panose="02020603050405020304" pitchFamily="18" charset="0"/>
              </a:endParaRPr>
            </a:p>
          </p:txBody>
        </p:sp>
      </p:grpSp>
      <p:grpSp>
        <p:nvGrpSpPr>
          <p:cNvPr id="67" name="Group 66">
            <a:extLst>
              <a:ext uri="{FF2B5EF4-FFF2-40B4-BE49-F238E27FC236}">
                <a16:creationId xmlns:a16="http://schemas.microsoft.com/office/drawing/2014/main" id="{AB915C72-BC9C-40F2-B183-E3248B4113A5}"/>
              </a:ext>
            </a:extLst>
          </p:cNvPr>
          <p:cNvGrpSpPr/>
          <p:nvPr/>
        </p:nvGrpSpPr>
        <p:grpSpPr>
          <a:xfrm>
            <a:off x="2286404" y="1313638"/>
            <a:ext cx="494046" cy="250438"/>
            <a:chOff x="2320237" y="1317918"/>
            <a:chExt cx="494046" cy="250438"/>
          </a:xfrm>
        </p:grpSpPr>
        <p:sp>
          <p:nvSpPr>
            <p:cNvPr id="68" name="TextBox 67">
              <a:extLst>
                <a:ext uri="{FF2B5EF4-FFF2-40B4-BE49-F238E27FC236}">
                  <a16:creationId xmlns:a16="http://schemas.microsoft.com/office/drawing/2014/main" id="{42AA0C78-B851-40EA-9517-158A491F06D1}"/>
                </a:ext>
              </a:extLst>
            </p:cNvPr>
            <p:cNvSpPr txBox="1"/>
            <p:nvPr/>
          </p:nvSpPr>
          <p:spPr>
            <a:xfrm>
              <a:off x="2320237" y="1371379"/>
              <a:ext cx="494046" cy="196977"/>
            </a:xfrm>
            <a:prstGeom prst="rect">
              <a:avLst/>
            </a:prstGeom>
            <a:noFill/>
          </p:spPr>
          <p:txBody>
            <a:bodyPr wrap="none" rtlCol="0">
              <a:spAutoFit/>
            </a:bodyPr>
            <a:lstStyle/>
            <a:p>
              <a:pPr>
                <a:lnSpc>
                  <a:spcPct val="40000"/>
                </a:lnSpc>
              </a:pPr>
              <a:r>
                <a:rPr lang="en-IN" sz="1400" dirty="0">
                  <a:latin typeface="Arial Narrow" panose="020B0606020202030204" pitchFamily="34" charset="0"/>
                  <a:cs typeface="Times New Roman" panose="02020603050405020304" pitchFamily="18" charset="0"/>
                </a:rPr>
                <a:t>léinn</a:t>
              </a:r>
            </a:p>
          </p:txBody>
        </p:sp>
        <p:sp>
          <p:nvSpPr>
            <p:cNvPr id="69" name="Rounded Rectangle 593">
              <a:extLst>
                <a:ext uri="{FF2B5EF4-FFF2-40B4-BE49-F238E27FC236}">
                  <a16:creationId xmlns:a16="http://schemas.microsoft.com/office/drawing/2014/main" id="{D6B95935-38AB-4162-9C0C-1964F57F50DD}"/>
                </a:ext>
              </a:extLst>
            </p:cNvPr>
            <p:cNvSpPr/>
            <p:nvPr/>
          </p:nvSpPr>
          <p:spPr>
            <a:xfrm>
              <a:off x="2331045" y="1317918"/>
              <a:ext cx="471646" cy="2265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cs typeface="Times New Roman" panose="02020603050405020304" pitchFamily="18" charset="0"/>
              </a:endParaRPr>
            </a:p>
          </p:txBody>
        </p:sp>
      </p:grpSp>
      <p:grpSp>
        <p:nvGrpSpPr>
          <p:cNvPr id="70" name="Group 69">
            <a:extLst>
              <a:ext uri="{FF2B5EF4-FFF2-40B4-BE49-F238E27FC236}">
                <a16:creationId xmlns:a16="http://schemas.microsoft.com/office/drawing/2014/main" id="{4087F1A1-6E4E-40D1-B95C-43A6100FAE2D}"/>
              </a:ext>
            </a:extLst>
          </p:cNvPr>
          <p:cNvGrpSpPr/>
          <p:nvPr/>
        </p:nvGrpSpPr>
        <p:grpSpPr>
          <a:xfrm>
            <a:off x="2954729" y="1273018"/>
            <a:ext cx="484209" cy="307777"/>
            <a:chOff x="3034978" y="1272368"/>
            <a:chExt cx="484209" cy="307777"/>
          </a:xfrm>
        </p:grpSpPr>
        <p:sp>
          <p:nvSpPr>
            <p:cNvPr id="71" name="TextBox 70">
              <a:extLst>
                <a:ext uri="{FF2B5EF4-FFF2-40B4-BE49-F238E27FC236}">
                  <a16:creationId xmlns:a16="http://schemas.microsoft.com/office/drawing/2014/main" id="{1AEC764B-837D-4703-8651-9415048B304C}"/>
                </a:ext>
              </a:extLst>
            </p:cNvPr>
            <p:cNvSpPr txBox="1"/>
            <p:nvPr/>
          </p:nvSpPr>
          <p:spPr>
            <a:xfrm>
              <a:off x="3083708" y="1272368"/>
              <a:ext cx="435479" cy="307777"/>
            </a:xfrm>
            <a:prstGeom prst="rect">
              <a:avLst/>
            </a:prstGeom>
            <a:noFill/>
          </p:spPr>
          <p:txBody>
            <a:bodyPr wrap="square" rtlCol="0">
              <a:spAutoFit/>
            </a:bodyPr>
            <a:lstStyle/>
            <a:p>
              <a:r>
                <a:rPr lang="en-IN" sz="1400" dirty="0" err="1">
                  <a:latin typeface="Arial Narrow" panose="020B0606020202030204" pitchFamily="34" charset="0"/>
                  <a:cs typeface="Times New Roman" panose="02020603050405020304" pitchFamily="18" charset="0"/>
                </a:rPr>
                <a:t>mé</a:t>
              </a:r>
              <a:endParaRPr lang="en-IN" sz="1400" dirty="0">
                <a:latin typeface="Arial Narrow" panose="020B0606020202030204" pitchFamily="34" charset="0"/>
                <a:cs typeface="Times New Roman" panose="02020603050405020304" pitchFamily="18" charset="0"/>
              </a:endParaRPr>
            </a:p>
          </p:txBody>
        </p:sp>
        <p:sp>
          <p:nvSpPr>
            <p:cNvPr id="72" name="Rounded Rectangle 595">
              <a:extLst>
                <a:ext uri="{FF2B5EF4-FFF2-40B4-BE49-F238E27FC236}">
                  <a16:creationId xmlns:a16="http://schemas.microsoft.com/office/drawing/2014/main" id="{A9F9A38D-2A3C-4912-965B-B4AA90DF2292}"/>
                </a:ext>
              </a:extLst>
            </p:cNvPr>
            <p:cNvSpPr/>
            <p:nvPr/>
          </p:nvSpPr>
          <p:spPr>
            <a:xfrm>
              <a:off x="3034978" y="1313638"/>
              <a:ext cx="443320" cy="2265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cs typeface="Times New Roman" panose="02020603050405020304" pitchFamily="18" charset="0"/>
              </a:endParaRPr>
            </a:p>
          </p:txBody>
        </p:sp>
      </p:grpSp>
      <p:sp>
        <p:nvSpPr>
          <p:cNvPr id="73" name="TextBox 72">
            <a:extLst>
              <a:ext uri="{FF2B5EF4-FFF2-40B4-BE49-F238E27FC236}">
                <a16:creationId xmlns:a16="http://schemas.microsoft.com/office/drawing/2014/main" id="{FCA7051E-B19D-422A-A7F6-12843EE6AA5E}"/>
              </a:ext>
            </a:extLst>
          </p:cNvPr>
          <p:cNvSpPr txBox="1"/>
          <p:nvPr/>
        </p:nvSpPr>
        <p:spPr>
          <a:xfrm>
            <a:off x="1700077" y="2326318"/>
            <a:ext cx="817853"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ENCODER</a:t>
            </a:r>
          </a:p>
        </p:txBody>
      </p:sp>
      <p:sp>
        <p:nvSpPr>
          <p:cNvPr id="74" name="TextBox 73">
            <a:extLst>
              <a:ext uri="{FF2B5EF4-FFF2-40B4-BE49-F238E27FC236}">
                <a16:creationId xmlns:a16="http://schemas.microsoft.com/office/drawing/2014/main" id="{A8A7146F-B22D-421C-BA37-1D2E7FCF3509}"/>
              </a:ext>
            </a:extLst>
          </p:cNvPr>
          <p:cNvSpPr txBox="1"/>
          <p:nvPr/>
        </p:nvSpPr>
        <p:spPr>
          <a:xfrm>
            <a:off x="1703929" y="2891440"/>
            <a:ext cx="817853"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ENCODER</a:t>
            </a:r>
          </a:p>
        </p:txBody>
      </p:sp>
      <p:sp>
        <p:nvSpPr>
          <p:cNvPr id="75" name="TextBox 74">
            <a:extLst>
              <a:ext uri="{FF2B5EF4-FFF2-40B4-BE49-F238E27FC236}">
                <a16:creationId xmlns:a16="http://schemas.microsoft.com/office/drawing/2014/main" id="{9E380E0A-973E-4186-9AAF-22CF6B5C5715}"/>
              </a:ext>
            </a:extLst>
          </p:cNvPr>
          <p:cNvSpPr txBox="1"/>
          <p:nvPr/>
        </p:nvSpPr>
        <p:spPr>
          <a:xfrm>
            <a:off x="1724676" y="3456004"/>
            <a:ext cx="817853"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ENCODER</a:t>
            </a:r>
          </a:p>
        </p:txBody>
      </p:sp>
      <p:sp>
        <p:nvSpPr>
          <p:cNvPr id="76" name="TextBox 75">
            <a:extLst>
              <a:ext uri="{FF2B5EF4-FFF2-40B4-BE49-F238E27FC236}">
                <a16:creationId xmlns:a16="http://schemas.microsoft.com/office/drawing/2014/main" id="{29E160E5-CCD0-4482-B99D-81EF01FE6EBA}"/>
              </a:ext>
            </a:extLst>
          </p:cNvPr>
          <p:cNvSpPr txBox="1"/>
          <p:nvPr/>
        </p:nvSpPr>
        <p:spPr>
          <a:xfrm>
            <a:off x="1719787" y="4020568"/>
            <a:ext cx="817853"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ENCODER</a:t>
            </a:r>
          </a:p>
        </p:txBody>
      </p:sp>
      <p:sp>
        <p:nvSpPr>
          <p:cNvPr id="77" name="TextBox 76">
            <a:extLst>
              <a:ext uri="{FF2B5EF4-FFF2-40B4-BE49-F238E27FC236}">
                <a16:creationId xmlns:a16="http://schemas.microsoft.com/office/drawing/2014/main" id="{4EB315E7-8D9A-4826-90CD-428434DE5540}"/>
              </a:ext>
            </a:extLst>
          </p:cNvPr>
          <p:cNvSpPr txBox="1"/>
          <p:nvPr/>
        </p:nvSpPr>
        <p:spPr>
          <a:xfrm>
            <a:off x="1732236" y="4585132"/>
            <a:ext cx="817853"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ENCODER</a:t>
            </a:r>
          </a:p>
        </p:txBody>
      </p:sp>
      <p:sp>
        <p:nvSpPr>
          <p:cNvPr id="78" name="TextBox 77">
            <a:extLst>
              <a:ext uri="{FF2B5EF4-FFF2-40B4-BE49-F238E27FC236}">
                <a16:creationId xmlns:a16="http://schemas.microsoft.com/office/drawing/2014/main" id="{799F674A-414C-4078-9960-6FC6AA543AC4}"/>
              </a:ext>
            </a:extLst>
          </p:cNvPr>
          <p:cNvSpPr txBox="1"/>
          <p:nvPr/>
        </p:nvSpPr>
        <p:spPr>
          <a:xfrm>
            <a:off x="1723007" y="5155193"/>
            <a:ext cx="817853"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ENCODER</a:t>
            </a:r>
          </a:p>
        </p:txBody>
      </p:sp>
      <p:sp>
        <p:nvSpPr>
          <p:cNvPr id="79" name="TextBox 78">
            <a:extLst>
              <a:ext uri="{FF2B5EF4-FFF2-40B4-BE49-F238E27FC236}">
                <a16:creationId xmlns:a16="http://schemas.microsoft.com/office/drawing/2014/main" id="{17FA4C7A-FFD2-4408-9A45-BDC2FED5101C}"/>
              </a:ext>
            </a:extLst>
          </p:cNvPr>
          <p:cNvSpPr txBox="1"/>
          <p:nvPr/>
        </p:nvSpPr>
        <p:spPr>
          <a:xfrm>
            <a:off x="3782655" y="5158283"/>
            <a:ext cx="817853"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DECODER</a:t>
            </a:r>
          </a:p>
        </p:txBody>
      </p:sp>
      <p:sp>
        <p:nvSpPr>
          <p:cNvPr id="80" name="TextBox 79">
            <a:extLst>
              <a:ext uri="{FF2B5EF4-FFF2-40B4-BE49-F238E27FC236}">
                <a16:creationId xmlns:a16="http://schemas.microsoft.com/office/drawing/2014/main" id="{26F96859-2BA5-4C5D-8908-B92DC8D67A7A}"/>
              </a:ext>
            </a:extLst>
          </p:cNvPr>
          <p:cNvSpPr txBox="1"/>
          <p:nvPr/>
        </p:nvSpPr>
        <p:spPr>
          <a:xfrm>
            <a:off x="3782655" y="4585132"/>
            <a:ext cx="817853"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DECODER</a:t>
            </a:r>
          </a:p>
        </p:txBody>
      </p:sp>
      <p:sp>
        <p:nvSpPr>
          <p:cNvPr id="81" name="TextBox 80">
            <a:extLst>
              <a:ext uri="{FF2B5EF4-FFF2-40B4-BE49-F238E27FC236}">
                <a16:creationId xmlns:a16="http://schemas.microsoft.com/office/drawing/2014/main" id="{18B6E49F-1648-40EA-97D6-0E59FC66A05B}"/>
              </a:ext>
            </a:extLst>
          </p:cNvPr>
          <p:cNvSpPr txBox="1"/>
          <p:nvPr/>
        </p:nvSpPr>
        <p:spPr>
          <a:xfrm>
            <a:off x="3772305" y="2891440"/>
            <a:ext cx="817853"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DECODER</a:t>
            </a:r>
          </a:p>
        </p:txBody>
      </p:sp>
      <p:sp>
        <p:nvSpPr>
          <p:cNvPr id="82" name="TextBox 81">
            <a:extLst>
              <a:ext uri="{FF2B5EF4-FFF2-40B4-BE49-F238E27FC236}">
                <a16:creationId xmlns:a16="http://schemas.microsoft.com/office/drawing/2014/main" id="{4572DBA4-B3B5-4599-BFFA-DB75904C2FF4}"/>
              </a:ext>
            </a:extLst>
          </p:cNvPr>
          <p:cNvSpPr txBox="1"/>
          <p:nvPr/>
        </p:nvSpPr>
        <p:spPr>
          <a:xfrm>
            <a:off x="3782654" y="2331641"/>
            <a:ext cx="817853"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DECODER</a:t>
            </a:r>
          </a:p>
        </p:txBody>
      </p:sp>
      <p:sp>
        <p:nvSpPr>
          <p:cNvPr id="83" name="TextBox 82">
            <a:extLst>
              <a:ext uri="{FF2B5EF4-FFF2-40B4-BE49-F238E27FC236}">
                <a16:creationId xmlns:a16="http://schemas.microsoft.com/office/drawing/2014/main" id="{6AA56BF7-B56B-4528-A80D-5554C5B682E4}"/>
              </a:ext>
            </a:extLst>
          </p:cNvPr>
          <p:cNvSpPr txBox="1"/>
          <p:nvPr/>
        </p:nvSpPr>
        <p:spPr>
          <a:xfrm>
            <a:off x="3772305" y="4020567"/>
            <a:ext cx="817853"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DECODER</a:t>
            </a:r>
          </a:p>
        </p:txBody>
      </p:sp>
      <p:sp>
        <p:nvSpPr>
          <p:cNvPr id="84" name="TextBox 83">
            <a:extLst>
              <a:ext uri="{FF2B5EF4-FFF2-40B4-BE49-F238E27FC236}">
                <a16:creationId xmlns:a16="http://schemas.microsoft.com/office/drawing/2014/main" id="{9ADFC751-60A7-4957-BE9C-1CED2CC78D48}"/>
              </a:ext>
            </a:extLst>
          </p:cNvPr>
          <p:cNvSpPr txBox="1"/>
          <p:nvPr/>
        </p:nvSpPr>
        <p:spPr>
          <a:xfrm>
            <a:off x="3782655" y="3454967"/>
            <a:ext cx="817853"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Arial Narrow" panose="020B0606020202030204" pitchFamily="34" charset="0"/>
                <a:cs typeface="Times New Roman" panose="02020603050405020304" pitchFamily="18" charset="0"/>
              </a:rPr>
              <a:t>DECODER</a:t>
            </a:r>
          </a:p>
        </p:txBody>
      </p:sp>
      <p:cxnSp>
        <p:nvCxnSpPr>
          <p:cNvPr id="85" name="Straight Arrow Connector 84">
            <a:extLst>
              <a:ext uri="{FF2B5EF4-FFF2-40B4-BE49-F238E27FC236}">
                <a16:creationId xmlns:a16="http://schemas.microsoft.com/office/drawing/2014/main" id="{E9E71D54-C225-4600-B06A-0562482432AA}"/>
              </a:ext>
            </a:extLst>
          </p:cNvPr>
          <p:cNvCxnSpPr>
            <a:cxnSpLocks/>
          </p:cNvCxnSpPr>
          <p:nvPr/>
        </p:nvCxnSpPr>
        <p:spPr>
          <a:xfrm>
            <a:off x="1308537" y="1540176"/>
            <a:ext cx="0" cy="25481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C9503F7A-ED13-4D86-AC31-5F6FF76C5D1E}"/>
              </a:ext>
            </a:extLst>
          </p:cNvPr>
          <p:cNvCxnSpPr>
            <a:cxnSpLocks/>
          </p:cNvCxnSpPr>
          <p:nvPr/>
        </p:nvCxnSpPr>
        <p:spPr>
          <a:xfrm>
            <a:off x="1915247" y="1521528"/>
            <a:ext cx="0" cy="25481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0E0E4C2-796A-4904-8847-D35AAE6682B6}"/>
              </a:ext>
            </a:extLst>
          </p:cNvPr>
          <p:cNvCxnSpPr>
            <a:cxnSpLocks/>
          </p:cNvCxnSpPr>
          <p:nvPr/>
        </p:nvCxnSpPr>
        <p:spPr>
          <a:xfrm>
            <a:off x="2566868" y="1552041"/>
            <a:ext cx="0" cy="25481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167BEB06-3726-45A9-939E-97C38F138E9E}"/>
              </a:ext>
            </a:extLst>
          </p:cNvPr>
          <p:cNvCxnSpPr>
            <a:cxnSpLocks/>
          </p:cNvCxnSpPr>
          <p:nvPr/>
        </p:nvCxnSpPr>
        <p:spPr>
          <a:xfrm>
            <a:off x="3167522" y="1540176"/>
            <a:ext cx="0" cy="25481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E786F8A-C4E2-4FD5-92D8-3AAF67818975}"/>
              </a:ext>
            </a:extLst>
          </p:cNvPr>
          <p:cNvCxnSpPr>
            <a:cxnSpLocks/>
          </p:cNvCxnSpPr>
          <p:nvPr/>
        </p:nvCxnSpPr>
        <p:spPr>
          <a:xfrm>
            <a:off x="2159019" y="2003468"/>
            <a:ext cx="0" cy="32227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B4CAF8BE-4160-4FFA-A5D1-DA4668F83BC9}"/>
              </a:ext>
            </a:extLst>
          </p:cNvPr>
          <p:cNvCxnSpPr>
            <a:stCxn id="73" idx="2"/>
            <a:endCxn id="74" idx="0"/>
          </p:cNvCxnSpPr>
          <p:nvPr/>
        </p:nvCxnSpPr>
        <p:spPr>
          <a:xfrm>
            <a:off x="2109004" y="2603317"/>
            <a:ext cx="3852" cy="28812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6902240B-03C3-4B2B-A232-203B308FDCE5}"/>
              </a:ext>
            </a:extLst>
          </p:cNvPr>
          <p:cNvCxnSpPr/>
          <p:nvPr/>
        </p:nvCxnSpPr>
        <p:spPr>
          <a:xfrm>
            <a:off x="2142167" y="3173378"/>
            <a:ext cx="3852" cy="28812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71341734-5DF4-4520-9886-4596A68D5394}"/>
              </a:ext>
            </a:extLst>
          </p:cNvPr>
          <p:cNvCxnSpPr/>
          <p:nvPr/>
        </p:nvCxnSpPr>
        <p:spPr>
          <a:xfrm>
            <a:off x="2141799" y="3744523"/>
            <a:ext cx="3852" cy="28812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8C078232-A280-4F88-A54A-DEBD5944708C}"/>
              </a:ext>
            </a:extLst>
          </p:cNvPr>
          <p:cNvCxnSpPr/>
          <p:nvPr/>
        </p:nvCxnSpPr>
        <p:spPr>
          <a:xfrm>
            <a:off x="2151413" y="4293321"/>
            <a:ext cx="3852" cy="28812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A1E1561B-33DA-4E21-896D-480CA9D690DF}"/>
              </a:ext>
            </a:extLst>
          </p:cNvPr>
          <p:cNvCxnSpPr/>
          <p:nvPr/>
        </p:nvCxnSpPr>
        <p:spPr>
          <a:xfrm>
            <a:off x="2160653" y="4861573"/>
            <a:ext cx="3852" cy="28812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96" name="Picture 95">
            <a:extLst>
              <a:ext uri="{FF2B5EF4-FFF2-40B4-BE49-F238E27FC236}">
                <a16:creationId xmlns:a16="http://schemas.microsoft.com/office/drawing/2014/main" id="{254A2412-EA86-4461-8049-917548A51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8238" y="5878627"/>
            <a:ext cx="2552917" cy="172191"/>
          </a:xfrm>
          <a:prstGeom prst="rect">
            <a:avLst/>
          </a:prstGeom>
        </p:spPr>
      </p:pic>
      <p:sp>
        <p:nvSpPr>
          <p:cNvPr id="99" name="TextBox 98">
            <a:extLst>
              <a:ext uri="{FF2B5EF4-FFF2-40B4-BE49-F238E27FC236}">
                <a16:creationId xmlns:a16="http://schemas.microsoft.com/office/drawing/2014/main" id="{4C7E2D75-BAA9-4AB1-8696-DCC7E575B62C}"/>
              </a:ext>
            </a:extLst>
          </p:cNvPr>
          <p:cNvSpPr txBox="1"/>
          <p:nvPr/>
        </p:nvSpPr>
        <p:spPr>
          <a:xfrm>
            <a:off x="4800332" y="6239436"/>
            <a:ext cx="705524" cy="307777"/>
          </a:xfrm>
          <a:prstGeom prst="rect">
            <a:avLst/>
          </a:prstGeom>
          <a:noFill/>
          <a:ln>
            <a:solidFill>
              <a:schemeClr val="tx1"/>
            </a:solidFill>
          </a:ln>
        </p:spPr>
        <p:txBody>
          <a:bodyPr wrap="square" rtlCol="0">
            <a:spAutoFit/>
          </a:bodyPr>
          <a:lstStyle/>
          <a:p>
            <a:pPr algn="ctr"/>
            <a:r>
              <a:rPr lang="en-IN" sz="1400" dirty="0">
                <a:latin typeface="Arial Narrow" panose="020B0606020202030204" pitchFamily="34" charset="0"/>
                <a:cs typeface="Times New Roman" panose="02020603050405020304" pitchFamily="18" charset="0"/>
              </a:rPr>
              <a:t>student</a:t>
            </a:r>
          </a:p>
        </p:txBody>
      </p:sp>
      <p:sp>
        <p:nvSpPr>
          <p:cNvPr id="104" name="TextBox 103">
            <a:extLst>
              <a:ext uri="{FF2B5EF4-FFF2-40B4-BE49-F238E27FC236}">
                <a16:creationId xmlns:a16="http://schemas.microsoft.com/office/drawing/2014/main" id="{D64430C9-E677-4906-80F7-CCA6EB4CC9B7}"/>
              </a:ext>
            </a:extLst>
          </p:cNvPr>
          <p:cNvSpPr txBox="1"/>
          <p:nvPr/>
        </p:nvSpPr>
        <p:spPr>
          <a:xfrm>
            <a:off x="2996144" y="6259103"/>
            <a:ext cx="335616" cy="307777"/>
          </a:xfrm>
          <a:prstGeom prst="rect">
            <a:avLst/>
          </a:prstGeom>
          <a:noFill/>
          <a:ln>
            <a:solidFill>
              <a:schemeClr val="tx1"/>
            </a:solidFill>
          </a:ln>
        </p:spPr>
        <p:txBody>
          <a:bodyPr wrap="square" rtlCol="0">
            <a:spAutoFit/>
          </a:bodyPr>
          <a:lstStyle/>
          <a:p>
            <a:pPr algn="ctr"/>
            <a:r>
              <a:rPr lang="en-IN" sz="1400" dirty="0">
                <a:latin typeface="Arial Narrow" panose="020B0606020202030204" pitchFamily="34" charset="0"/>
                <a:cs typeface="Times New Roman" panose="02020603050405020304" pitchFamily="18" charset="0"/>
              </a:rPr>
              <a:t>I</a:t>
            </a:r>
          </a:p>
        </p:txBody>
      </p:sp>
      <p:sp>
        <p:nvSpPr>
          <p:cNvPr id="105" name="TextBox 104">
            <a:extLst>
              <a:ext uri="{FF2B5EF4-FFF2-40B4-BE49-F238E27FC236}">
                <a16:creationId xmlns:a16="http://schemas.microsoft.com/office/drawing/2014/main" id="{A6FB80E1-3F18-4893-8A58-6B9B190AA2DB}"/>
              </a:ext>
            </a:extLst>
          </p:cNvPr>
          <p:cNvSpPr txBox="1"/>
          <p:nvPr/>
        </p:nvSpPr>
        <p:spPr>
          <a:xfrm>
            <a:off x="3620412" y="6249268"/>
            <a:ext cx="503774" cy="307777"/>
          </a:xfrm>
          <a:prstGeom prst="rect">
            <a:avLst/>
          </a:prstGeom>
          <a:noFill/>
          <a:ln>
            <a:solidFill>
              <a:schemeClr val="tx1"/>
            </a:solidFill>
          </a:ln>
        </p:spPr>
        <p:txBody>
          <a:bodyPr wrap="square" rtlCol="0">
            <a:spAutoFit/>
          </a:bodyPr>
          <a:lstStyle/>
          <a:p>
            <a:pPr algn="ctr"/>
            <a:r>
              <a:rPr lang="en-IN" sz="1400" dirty="0">
                <a:latin typeface="Arial Narrow" panose="020B0606020202030204" pitchFamily="34" charset="0"/>
                <a:cs typeface="Times New Roman" panose="02020603050405020304" pitchFamily="18" charset="0"/>
              </a:rPr>
              <a:t>am</a:t>
            </a:r>
          </a:p>
        </p:txBody>
      </p:sp>
      <p:sp>
        <p:nvSpPr>
          <p:cNvPr id="106" name="TextBox 105">
            <a:extLst>
              <a:ext uri="{FF2B5EF4-FFF2-40B4-BE49-F238E27FC236}">
                <a16:creationId xmlns:a16="http://schemas.microsoft.com/office/drawing/2014/main" id="{84FEE488-293A-4D82-AF95-06320567A372}"/>
              </a:ext>
            </a:extLst>
          </p:cNvPr>
          <p:cNvSpPr txBox="1"/>
          <p:nvPr/>
        </p:nvSpPr>
        <p:spPr>
          <a:xfrm>
            <a:off x="4349406" y="6259100"/>
            <a:ext cx="341985" cy="307777"/>
          </a:xfrm>
          <a:prstGeom prst="rect">
            <a:avLst/>
          </a:prstGeom>
          <a:noFill/>
          <a:ln>
            <a:solidFill>
              <a:schemeClr val="tx1"/>
            </a:solidFill>
          </a:ln>
        </p:spPr>
        <p:txBody>
          <a:bodyPr wrap="square" rtlCol="0">
            <a:spAutoFit/>
          </a:bodyPr>
          <a:lstStyle/>
          <a:p>
            <a:pPr algn="ctr"/>
            <a:r>
              <a:rPr lang="en-IN" sz="1400" dirty="0">
                <a:latin typeface="Arial Narrow" panose="020B0606020202030204" pitchFamily="34" charset="0"/>
                <a:cs typeface="Times New Roman" panose="02020603050405020304" pitchFamily="18" charset="0"/>
              </a:rPr>
              <a:t>a</a:t>
            </a:r>
          </a:p>
        </p:txBody>
      </p:sp>
      <p:sp>
        <p:nvSpPr>
          <p:cNvPr id="108" name="Rectangle 107">
            <a:extLst>
              <a:ext uri="{FF2B5EF4-FFF2-40B4-BE49-F238E27FC236}">
                <a16:creationId xmlns:a16="http://schemas.microsoft.com/office/drawing/2014/main" id="{376E1F2A-4670-4709-BF0A-D936284796E1}"/>
              </a:ext>
            </a:extLst>
          </p:cNvPr>
          <p:cNvSpPr/>
          <p:nvPr/>
        </p:nvSpPr>
        <p:spPr>
          <a:xfrm>
            <a:off x="2774156" y="5784251"/>
            <a:ext cx="2907124" cy="839647"/>
          </a:xfrm>
          <a:prstGeom prst="rect">
            <a:avLst/>
          </a:prstGeom>
          <a:solidFill>
            <a:schemeClr val="accent2">
              <a:lumMod val="60000"/>
              <a:lumOff val="40000"/>
              <a:alpha val="2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cxnSp>
        <p:nvCxnSpPr>
          <p:cNvPr id="119" name="Straight Arrow Connector 118">
            <a:extLst>
              <a:ext uri="{FF2B5EF4-FFF2-40B4-BE49-F238E27FC236}">
                <a16:creationId xmlns:a16="http://schemas.microsoft.com/office/drawing/2014/main" id="{1F00957C-ADA1-4F2A-B96B-927D8CEBF0E7}"/>
              </a:ext>
            </a:extLst>
          </p:cNvPr>
          <p:cNvCxnSpPr>
            <a:endCxn id="104" idx="0"/>
          </p:cNvCxnSpPr>
          <p:nvPr/>
        </p:nvCxnSpPr>
        <p:spPr>
          <a:xfrm>
            <a:off x="3163952" y="6050818"/>
            <a:ext cx="0" cy="20828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66FCB049-38C0-4EFE-BB78-948B97DE6186}"/>
              </a:ext>
            </a:extLst>
          </p:cNvPr>
          <p:cNvCxnSpPr/>
          <p:nvPr/>
        </p:nvCxnSpPr>
        <p:spPr>
          <a:xfrm>
            <a:off x="3872299" y="6050818"/>
            <a:ext cx="0" cy="20828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00639112-2906-43AC-8423-26D4BBDA579A}"/>
              </a:ext>
            </a:extLst>
          </p:cNvPr>
          <p:cNvCxnSpPr/>
          <p:nvPr/>
        </p:nvCxnSpPr>
        <p:spPr>
          <a:xfrm>
            <a:off x="4550274" y="6040221"/>
            <a:ext cx="0" cy="20828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A4CEAA8B-23FC-4C84-8498-13A750179ED1}"/>
              </a:ext>
            </a:extLst>
          </p:cNvPr>
          <p:cNvCxnSpPr/>
          <p:nvPr/>
        </p:nvCxnSpPr>
        <p:spPr>
          <a:xfrm>
            <a:off x="5192422" y="6038139"/>
            <a:ext cx="0" cy="20828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96EEFB29-A6BD-4190-9638-50495A42C55D}"/>
              </a:ext>
            </a:extLst>
          </p:cNvPr>
          <p:cNvCxnSpPr/>
          <p:nvPr/>
        </p:nvCxnSpPr>
        <p:spPr>
          <a:xfrm>
            <a:off x="4238067" y="5432192"/>
            <a:ext cx="7984" cy="35490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76030D91-F25B-4ADA-88F9-660D0EAB9711}"/>
              </a:ext>
            </a:extLst>
          </p:cNvPr>
          <p:cNvCxnSpPr/>
          <p:nvPr/>
        </p:nvCxnSpPr>
        <p:spPr>
          <a:xfrm>
            <a:off x="4238067" y="2603317"/>
            <a:ext cx="0" cy="28533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AF7F0EC9-0FC6-418F-9807-E4A231576965}"/>
              </a:ext>
            </a:extLst>
          </p:cNvPr>
          <p:cNvCxnSpPr/>
          <p:nvPr/>
        </p:nvCxnSpPr>
        <p:spPr>
          <a:xfrm>
            <a:off x="4231666" y="3168439"/>
            <a:ext cx="0" cy="28533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4B8E64AC-2012-44F8-BCA1-2674849086CF}"/>
              </a:ext>
            </a:extLst>
          </p:cNvPr>
          <p:cNvCxnSpPr/>
          <p:nvPr/>
        </p:nvCxnSpPr>
        <p:spPr>
          <a:xfrm>
            <a:off x="4231666" y="3731966"/>
            <a:ext cx="0" cy="28533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629B0679-C0CC-44C0-9AA0-E35EDD2C5960}"/>
              </a:ext>
            </a:extLst>
          </p:cNvPr>
          <p:cNvCxnSpPr/>
          <p:nvPr/>
        </p:nvCxnSpPr>
        <p:spPr>
          <a:xfrm>
            <a:off x="4217281" y="4287275"/>
            <a:ext cx="0" cy="28533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8A01D7A0-CC7A-4326-8843-D6276FC80DFC}"/>
              </a:ext>
            </a:extLst>
          </p:cNvPr>
          <p:cNvCxnSpPr/>
          <p:nvPr/>
        </p:nvCxnSpPr>
        <p:spPr>
          <a:xfrm>
            <a:off x="4193064" y="4872953"/>
            <a:ext cx="0" cy="28533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795104F4-236F-443C-B0F5-5A7C9C04F3E4}"/>
              </a:ext>
            </a:extLst>
          </p:cNvPr>
          <p:cNvCxnSpPr>
            <a:stCxn id="78" idx="3"/>
            <a:endCxn id="79" idx="1"/>
          </p:cNvCxnSpPr>
          <p:nvPr/>
        </p:nvCxnSpPr>
        <p:spPr>
          <a:xfrm>
            <a:off x="2540860" y="5293693"/>
            <a:ext cx="1241795" cy="309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9F3B14F3-A631-4F77-AA7F-C62D00D0DC1C}"/>
              </a:ext>
            </a:extLst>
          </p:cNvPr>
          <p:cNvCxnSpPr>
            <a:stCxn id="78" idx="3"/>
            <a:endCxn id="80" idx="1"/>
          </p:cNvCxnSpPr>
          <p:nvPr/>
        </p:nvCxnSpPr>
        <p:spPr>
          <a:xfrm flipV="1">
            <a:off x="2540860" y="4723632"/>
            <a:ext cx="1241795" cy="570061"/>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09B10E4F-B5E7-4DAE-9151-9F1EDD592788}"/>
              </a:ext>
            </a:extLst>
          </p:cNvPr>
          <p:cNvCxnSpPr>
            <a:stCxn id="78" idx="3"/>
            <a:endCxn id="83" idx="1"/>
          </p:cNvCxnSpPr>
          <p:nvPr/>
        </p:nvCxnSpPr>
        <p:spPr>
          <a:xfrm flipV="1">
            <a:off x="2540860" y="4159067"/>
            <a:ext cx="1231445" cy="11346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1CA5CEDB-7D25-479A-A95F-3EF17CF054E7}"/>
              </a:ext>
            </a:extLst>
          </p:cNvPr>
          <p:cNvCxnSpPr>
            <a:stCxn id="78" idx="3"/>
            <a:endCxn id="84" idx="1"/>
          </p:cNvCxnSpPr>
          <p:nvPr/>
        </p:nvCxnSpPr>
        <p:spPr>
          <a:xfrm flipV="1">
            <a:off x="2540860" y="3593467"/>
            <a:ext cx="1241795" cy="17002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6414B97C-0941-452A-B86F-140768B77415}"/>
              </a:ext>
            </a:extLst>
          </p:cNvPr>
          <p:cNvCxnSpPr>
            <a:stCxn id="78" idx="3"/>
            <a:endCxn id="81" idx="1"/>
          </p:cNvCxnSpPr>
          <p:nvPr/>
        </p:nvCxnSpPr>
        <p:spPr>
          <a:xfrm flipV="1">
            <a:off x="2540860" y="3029940"/>
            <a:ext cx="1231445" cy="226375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4C86301E-8FFC-4EA9-A8DF-1403C6E11164}"/>
              </a:ext>
            </a:extLst>
          </p:cNvPr>
          <p:cNvCxnSpPr>
            <a:stCxn id="78" idx="3"/>
            <a:endCxn id="82" idx="1"/>
          </p:cNvCxnSpPr>
          <p:nvPr/>
        </p:nvCxnSpPr>
        <p:spPr>
          <a:xfrm flipV="1">
            <a:off x="2540860" y="2470141"/>
            <a:ext cx="1241794" cy="2823552"/>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792C464D-FE18-4691-B8B9-ED8CD5AE9C1E}"/>
              </a:ext>
            </a:extLst>
          </p:cNvPr>
          <p:cNvSpPr txBox="1"/>
          <p:nvPr/>
        </p:nvSpPr>
        <p:spPr>
          <a:xfrm>
            <a:off x="586153" y="390001"/>
            <a:ext cx="6096000" cy="584775"/>
          </a:xfrm>
          <a:prstGeom prst="rect">
            <a:avLst/>
          </a:prstGeom>
          <a:noFill/>
        </p:spPr>
        <p:txBody>
          <a:bodyPr wrap="square">
            <a:spAutoFit/>
          </a:bodyPr>
          <a:lstStyle/>
          <a:p>
            <a:r>
              <a:rPr lang="en-IN" sz="3200" dirty="0">
                <a:latin typeface="Century" panose="02040604050505020304" pitchFamily="18" charset="0"/>
              </a:rPr>
              <a:t>Transformer Architecture</a:t>
            </a:r>
          </a:p>
        </p:txBody>
      </p:sp>
      <p:sp>
        <p:nvSpPr>
          <p:cNvPr id="97" name="Rectangle 96">
            <a:extLst>
              <a:ext uri="{FF2B5EF4-FFF2-40B4-BE49-F238E27FC236}">
                <a16:creationId xmlns:a16="http://schemas.microsoft.com/office/drawing/2014/main" id="{0E9F6663-7E9D-46B8-8CFD-FFD52AE9C90A}"/>
              </a:ext>
            </a:extLst>
          </p:cNvPr>
          <p:cNvSpPr/>
          <p:nvPr/>
        </p:nvSpPr>
        <p:spPr>
          <a:xfrm>
            <a:off x="6968071" y="2887820"/>
            <a:ext cx="1512696" cy="1973622"/>
          </a:xfrm>
          <a:prstGeom prst="rect">
            <a:avLst/>
          </a:prstGeom>
          <a:solidFill>
            <a:schemeClr val="accent4">
              <a:lumMod val="60000"/>
              <a:lumOff val="40000"/>
              <a:alpha val="3200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46613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8C28C4F5-59BB-7C2B-9E5D-3AF0CBBFDBDB}"/>
              </a:ext>
            </a:extLst>
          </p:cNvPr>
          <p:cNvSpPr txBox="1"/>
          <p:nvPr/>
        </p:nvSpPr>
        <p:spPr>
          <a:xfrm>
            <a:off x="545760" y="309292"/>
            <a:ext cx="5461518" cy="584775"/>
          </a:xfrm>
          <a:prstGeom prst="rect">
            <a:avLst/>
          </a:prstGeom>
          <a:noFill/>
        </p:spPr>
        <p:txBody>
          <a:bodyPr wrap="square" rtlCol="0">
            <a:spAutoFit/>
          </a:bodyPr>
          <a:lstStyle>
            <a:defPPr>
              <a:defRPr lang="en-US"/>
            </a:defPPr>
            <a:lvl1pPr>
              <a:defRPr sz="3200">
                <a:solidFill>
                  <a:srgbClr val="C00000"/>
                </a:solidFill>
                <a:latin typeface="Book Antiqua" panose="02040602050305030304" pitchFamily="18" charset="0"/>
              </a:defRPr>
            </a:lvl1pPr>
          </a:lstStyle>
          <a:p>
            <a:r>
              <a:rPr lang="en-US" dirty="0">
                <a:solidFill>
                  <a:schemeClr val="tx1"/>
                </a:solidFill>
                <a:latin typeface="Century" panose="02040604050505020304" pitchFamily="18" charset="0"/>
              </a:rPr>
              <a:t>Full Encoder at a glance</a:t>
            </a:r>
            <a:endParaRPr lang="en-IN" dirty="0">
              <a:solidFill>
                <a:schemeClr val="tx1"/>
              </a:solidFill>
              <a:latin typeface="Century" panose="02040604050505020304" pitchFamily="18" charset="0"/>
            </a:endParaRPr>
          </a:p>
        </p:txBody>
      </p:sp>
      <p:sp>
        <p:nvSpPr>
          <p:cNvPr id="242" name="Rounded Rectangle 241"/>
          <p:cNvSpPr/>
          <p:nvPr/>
        </p:nvSpPr>
        <p:spPr>
          <a:xfrm>
            <a:off x="2365972" y="1676400"/>
            <a:ext cx="4539702" cy="3225800"/>
          </a:xfrm>
          <a:prstGeom prst="roundRect">
            <a:avLst>
              <a:gd name="adj" fmla="val 6013"/>
            </a:avLst>
          </a:prstGeom>
          <a:solidFill>
            <a:schemeClr val="accent2">
              <a:lumMod val="40000"/>
              <a:lumOff val="60000"/>
              <a:alpha val="49000"/>
            </a:schemeClr>
          </a:solidFill>
          <a:ln w="158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9" name="Elbow Connector 178"/>
          <p:cNvCxnSpPr>
            <a:stCxn id="116" idx="0"/>
            <a:endCxn id="153" idx="0"/>
          </p:cNvCxnSpPr>
          <p:nvPr/>
        </p:nvCxnSpPr>
        <p:spPr>
          <a:xfrm rot="5400000" flipH="1" flipV="1">
            <a:off x="2871824" y="1199468"/>
            <a:ext cx="104" cy="1500333"/>
          </a:xfrm>
          <a:prstGeom prst="bentConnector3">
            <a:avLst>
              <a:gd name="adj1" fmla="val 195484615"/>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Elbow Connector 181"/>
          <p:cNvCxnSpPr>
            <a:stCxn id="117" idx="0"/>
            <a:endCxn id="154" idx="0"/>
          </p:cNvCxnSpPr>
          <p:nvPr/>
        </p:nvCxnSpPr>
        <p:spPr>
          <a:xfrm rot="5400000" flipH="1" flipV="1">
            <a:off x="2872598" y="1937804"/>
            <a:ext cx="104" cy="1500333"/>
          </a:xfrm>
          <a:prstGeom prst="bentConnector3">
            <a:avLst>
              <a:gd name="adj1" fmla="val 195484615"/>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Elbow Connector 184"/>
          <p:cNvCxnSpPr>
            <a:stCxn id="118" idx="0"/>
            <a:endCxn id="155" idx="0"/>
          </p:cNvCxnSpPr>
          <p:nvPr/>
        </p:nvCxnSpPr>
        <p:spPr>
          <a:xfrm rot="5400000" flipH="1" flipV="1">
            <a:off x="2871824" y="2702960"/>
            <a:ext cx="104" cy="1500333"/>
          </a:xfrm>
          <a:prstGeom prst="bentConnector3">
            <a:avLst>
              <a:gd name="adj1" fmla="val 207696154"/>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Elbow Connector 186"/>
          <p:cNvCxnSpPr>
            <a:stCxn id="119" idx="0"/>
            <a:endCxn id="156" idx="0"/>
          </p:cNvCxnSpPr>
          <p:nvPr/>
        </p:nvCxnSpPr>
        <p:spPr>
          <a:xfrm rot="5400000" flipH="1" flipV="1">
            <a:off x="2871824" y="3451650"/>
            <a:ext cx="104" cy="1500333"/>
          </a:xfrm>
          <a:prstGeom prst="bentConnector3">
            <a:avLst>
              <a:gd name="adj1" fmla="val 171061538"/>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Elbow Connector 224"/>
          <p:cNvCxnSpPr>
            <a:stCxn id="195" idx="0"/>
            <a:endCxn id="216" idx="0"/>
          </p:cNvCxnSpPr>
          <p:nvPr/>
        </p:nvCxnSpPr>
        <p:spPr>
          <a:xfrm rot="16200000" flipH="1">
            <a:off x="5428843" y="1203836"/>
            <a:ext cx="12580" cy="1500333"/>
          </a:xfrm>
          <a:prstGeom prst="bentConnector3">
            <a:avLst>
              <a:gd name="adj1" fmla="val -1562627"/>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Elbow Connector 225"/>
          <p:cNvCxnSpPr>
            <a:stCxn id="196" idx="0"/>
            <a:endCxn id="217" idx="0"/>
          </p:cNvCxnSpPr>
          <p:nvPr/>
        </p:nvCxnSpPr>
        <p:spPr>
          <a:xfrm rot="16200000" flipH="1">
            <a:off x="5429617" y="1942172"/>
            <a:ext cx="12580" cy="1500333"/>
          </a:xfrm>
          <a:prstGeom prst="bentConnector3">
            <a:avLst>
              <a:gd name="adj1" fmla="val -1487024"/>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Elbow Connector 226"/>
          <p:cNvCxnSpPr>
            <a:stCxn id="197" idx="0"/>
            <a:endCxn id="218" idx="0"/>
          </p:cNvCxnSpPr>
          <p:nvPr/>
        </p:nvCxnSpPr>
        <p:spPr>
          <a:xfrm rot="16200000" flipH="1">
            <a:off x="5428843" y="2707329"/>
            <a:ext cx="12580" cy="1500333"/>
          </a:xfrm>
          <a:prstGeom prst="bentConnector3">
            <a:avLst>
              <a:gd name="adj1" fmla="val -1613040"/>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8" name="Elbow Connector 227"/>
          <p:cNvCxnSpPr>
            <a:stCxn id="198" idx="0"/>
            <a:endCxn id="219" idx="0"/>
          </p:cNvCxnSpPr>
          <p:nvPr/>
        </p:nvCxnSpPr>
        <p:spPr>
          <a:xfrm rot="16200000" flipH="1">
            <a:off x="5428843" y="3456019"/>
            <a:ext cx="12580" cy="1500333"/>
          </a:xfrm>
          <a:prstGeom prst="bentConnector3">
            <a:avLst>
              <a:gd name="adj1" fmla="val -1587839"/>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EF45905-DB18-49B6-9565-CE8D8F1375A9}"/>
              </a:ext>
            </a:extLst>
          </p:cNvPr>
          <p:cNvSpPr txBox="1"/>
          <p:nvPr/>
        </p:nvSpPr>
        <p:spPr>
          <a:xfrm>
            <a:off x="327901" y="2003515"/>
            <a:ext cx="46079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Is</a:t>
            </a:r>
            <a:endParaRPr lang="en-IN" baseline="-25000" dirty="0">
              <a:latin typeface="Times New Roman" panose="02020603050405020304" pitchFamily="18" charset="0"/>
              <a:cs typeface="Times New Roman" panose="02020603050405020304" pitchFamily="18" charset="0"/>
            </a:endParaRPr>
          </a:p>
        </p:txBody>
      </p:sp>
      <p:sp>
        <p:nvSpPr>
          <p:cNvPr id="20" name="Rounded Rectangle 19"/>
          <p:cNvSpPr/>
          <p:nvPr/>
        </p:nvSpPr>
        <p:spPr>
          <a:xfrm>
            <a:off x="288206" y="2025673"/>
            <a:ext cx="525465" cy="340248"/>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9EF45905-DB18-49B6-9565-CE8D8F1375A9}"/>
              </a:ext>
            </a:extLst>
          </p:cNvPr>
          <p:cNvSpPr txBox="1"/>
          <p:nvPr/>
        </p:nvSpPr>
        <p:spPr>
          <a:xfrm>
            <a:off x="209542" y="2727643"/>
            <a:ext cx="77101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mac</a:t>
            </a:r>
            <a:endParaRPr lang="en-IN" baseline="-25000" dirty="0">
              <a:latin typeface="Times New Roman" panose="02020603050405020304" pitchFamily="18" charset="0"/>
              <a:cs typeface="Times New Roman" panose="02020603050405020304" pitchFamily="18" charset="0"/>
            </a:endParaRPr>
          </a:p>
        </p:txBody>
      </p:sp>
      <p:sp>
        <p:nvSpPr>
          <p:cNvPr id="22" name="Rounded Rectangle 21"/>
          <p:cNvSpPr/>
          <p:nvPr/>
        </p:nvSpPr>
        <p:spPr>
          <a:xfrm>
            <a:off x="162274" y="2762864"/>
            <a:ext cx="655618" cy="347133"/>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9EF45905-DB18-49B6-9565-CE8D8F1375A9}"/>
              </a:ext>
            </a:extLst>
          </p:cNvPr>
          <p:cNvSpPr txBox="1"/>
          <p:nvPr/>
        </p:nvSpPr>
        <p:spPr>
          <a:xfrm>
            <a:off x="261123" y="4234984"/>
            <a:ext cx="636780" cy="369332"/>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mé</a:t>
            </a:r>
            <a:endParaRPr lang="en-IN" dirty="0">
              <a:latin typeface="Times New Roman" panose="02020603050405020304" pitchFamily="18" charset="0"/>
              <a:cs typeface="Times New Roman" panose="02020603050405020304" pitchFamily="18" charset="0"/>
            </a:endParaRPr>
          </a:p>
        </p:txBody>
      </p:sp>
      <p:cxnSp>
        <p:nvCxnSpPr>
          <p:cNvPr id="24" name="Straight Arrow Connector 23"/>
          <p:cNvCxnSpPr>
            <a:stCxn id="20" idx="3"/>
            <a:endCxn id="43" idx="1"/>
          </p:cNvCxnSpPr>
          <p:nvPr/>
        </p:nvCxnSpPr>
        <p:spPr>
          <a:xfrm flipV="1">
            <a:off x="813671" y="2193124"/>
            <a:ext cx="318146" cy="267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7" idx="3"/>
            <a:endCxn id="49" idx="1"/>
          </p:cNvCxnSpPr>
          <p:nvPr/>
        </p:nvCxnSpPr>
        <p:spPr>
          <a:xfrm flipV="1">
            <a:off x="812046" y="3696617"/>
            <a:ext cx="319770" cy="490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61773" y="3618923"/>
            <a:ext cx="848621" cy="203133"/>
          </a:xfrm>
          <a:prstGeom prst="rect">
            <a:avLst/>
          </a:prstGeom>
          <a:noFill/>
        </p:spPr>
        <p:txBody>
          <a:bodyPr wrap="square" rtlCol="0">
            <a:spAutoFit/>
          </a:bodyPr>
          <a:lstStyle/>
          <a:p>
            <a:pPr>
              <a:lnSpc>
                <a:spcPct val="40000"/>
              </a:lnSpc>
            </a:pPr>
            <a:r>
              <a:rPr lang="en-IN" dirty="0">
                <a:latin typeface="Times New Roman" panose="02020603050405020304" pitchFamily="18" charset="0"/>
                <a:cs typeface="Times New Roman" panose="02020603050405020304" pitchFamily="18" charset="0"/>
              </a:rPr>
              <a:t>léinn</a:t>
            </a:r>
          </a:p>
        </p:txBody>
      </p:sp>
      <p:sp>
        <p:nvSpPr>
          <p:cNvPr id="27" name="Rounded Rectangle 26"/>
          <p:cNvSpPr/>
          <p:nvPr/>
        </p:nvSpPr>
        <p:spPr>
          <a:xfrm>
            <a:off x="148104" y="3523659"/>
            <a:ext cx="663942" cy="355719"/>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28" name="Straight Arrow Connector 27"/>
          <p:cNvCxnSpPr>
            <a:stCxn id="22" idx="3"/>
            <a:endCxn id="46" idx="1"/>
          </p:cNvCxnSpPr>
          <p:nvPr/>
        </p:nvCxnSpPr>
        <p:spPr>
          <a:xfrm flipV="1">
            <a:off x="817892" y="2931460"/>
            <a:ext cx="314699" cy="497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Rounded Rectangle 28"/>
          <p:cNvSpPr/>
          <p:nvPr/>
        </p:nvSpPr>
        <p:spPr>
          <a:xfrm>
            <a:off x="251328" y="4283150"/>
            <a:ext cx="560719" cy="330175"/>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30" name="Straight Arrow Connector 29"/>
          <p:cNvCxnSpPr>
            <a:stCxn id="29" idx="3"/>
            <a:endCxn id="52" idx="1"/>
          </p:cNvCxnSpPr>
          <p:nvPr/>
        </p:nvCxnSpPr>
        <p:spPr>
          <a:xfrm flipV="1">
            <a:off x="812046" y="4445307"/>
            <a:ext cx="319770" cy="293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1131816" y="1944782"/>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p:cNvSpPr/>
          <p:nvPr/>
        </p:nvSpPr>
        <p:spPr>
          <a:xfrm>
            <a:off x="1132591" y="2683118"/>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48"/>
          <p:cNvSpPr/>
          <p:nvPr/>
        </p:nvSpPr>
        <p:spPr>
          <a:xfrm>
            <a:off x="1131816" y="3448275"/>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51"/>
          <p:cNvSpPr/>
          <p:nvPr/>
        </p:nvSpPr>
        <p:spPr>
          <a:xfrm>
            <a:off x="1131816" y="4196965"/>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Plus 87"/>
          <p:cNvSpPr/>
          <p:nvPr/>
        </p:nvSpPr>
        <p:spPr>
          <a:xfrm>
            <a:off x="1335949" y="2109328"/>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Plus 88"/>
          <p:cNvSpPr/>
          <p:nvPr/>
        </p:nvSpPr>
        <p:spPr>
          <a:xfrm>
            <a:off x="1331525" y="2847663"/>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Plus 89"/>
          <p:cNvSpPr/>
          <p:nvPr/>
        </p:nvSpPr>
        <p:spPr>
          <a:xfrm>
            <a:off x="1330938" y="3584481"/>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Plus 90"/>
          <p:cNvSpPr/>
          <p:nvPr/>
        </p:nvSpPr>
        <p:spPr>
          <a:xfrm>
            <a:off x="1333951" y="4361510"/>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Rectangle 99"/>
          <p:cNvSpPr/>
          <p:nvPr/>
        </p:nvSpPr>
        <p:spPr>
          <a:xfrm>
            <a:off x="1560272" y="1944782"/>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Rectangle 100"/>
          <p:cNvSpPr/>
          <p:nvPr/>
        </p:nvSpPr>
        <p:spPr>
          <a:xfrm>
            <a:off x="1561046" y="2683118"/>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Rectangle 101"/>
          <p:cNvSpPr/>
          <p:nvPr/>
        </p:nvSpPr>
        <p:spPr>
          <a:xfrm>
            <a:off x="1560272" y="3448275"/>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Rectangle 102"/>
          <p:cNvSpPr/>
          <p:nvPr/>
        </p:nvSpPr>
        <p:spPr>
          <a:xfrm>
            <a:off x="1560272" y="4196965"/>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2" name="Straight Arrow Connector 111"/>
          <p:cNvCxnSpPr>
            <a:endCxn id="116" idx="1"/>
          </p:cNvCxnSpPr>
          <p:nvPr/>
        </p:nvCxnSpPr>
        <p:spPr>
          <a:xfrm flipV="1">
            <a:off x="1721317" y="2198028"/>
            <a:ext cx="318146" cy="2674"/>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endCxn id="118" idx="1"/>
          </p:cNvCxnSpPr>
          <p:nvPr/>
        </p:nvCxnSpPr>
        <p:spPr>
          <a:xfrm flipV="1">
            <a:off x="1719693" y="3701521"/>
            <a:ext cx="319770" cy="490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endCxn id="117" idx="1"/>
          </p:cNvCxnSpPr>
          <p:nvPr/>
        </p:nvCxnSpPr>
        <p:spPr>
          <a:xfrm flipV="1">
            <a:off x="1725539" y="2936364"/>
            <a:ext cx="314699" cy="497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endCxn id="119" idx="1"/>
          </p:cNvCxnSpPr>
          <p:nvPr/>
        </p:nvCxnSpPr>
        <p:spPr>
          <a:xfrm flipV="1">
            <a:off x="1719693" y="4450211"/>
            <a:ext cx="319770" cy="293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6" name="Rectangle 115"/>
          <p:cNvSpPr/>
          <p:nvPr/>
        </p:nvSpPr>
        <p:spPr>
          <a:xfrm>
            <a:off x="2039463" y="1949686"/>
            <a:ext cx="164492" cy="49668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Rectangle 116"/>
          <p:cNvSpPr/>
          <p:nvPr/>
        </p:nvSpPr>
        <p:spPr>
          <a:xfrm>
            <a:off x="2040237" y="2688022"/>
            <a:ext cx="164492" cy="49668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Rectangle 117"/>
          <p:cNvSpPr/>
          <p:nvPr/>
        </p:nvSpPr>
        <p:spPr>
          <a:xfrm>
            <a:off x="2039463" y="3453179"/>
            <a:ext cx="164492" cy="49668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Rectangle 118"/>
          <p:cNvSpPr/>
          <p:nvPr/>
        </p:nvSpPr>
        <p:spPr>
          <a:xfrm>
            <a:off x="2039463" y="4201869"/>
            <a:ext cx="164492" cy="49668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Rectangle 119"/>
          <p:cNvSpPr/>
          <p:nvPr/>
        </p:nvSpPr>
        <p:spPr>
          <a:xfrm>
            <a:off x="2532316" y="2025673"/>
            <a:ext cx="269818" cy="2587652"/>
          </a:xfrm>
          <a:prstGeom prst="rect">
            <a:avLst/>
          </a:prstGeom>
          <a:solidFill>
            <a:schemeClr val="accent2">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900" dirty="0">
                <a:latin typeface="Times New Roman" panose="02020603050405020304" pitchFamily="18" charset="0"/>
                <a:cs typeface="Times New Roman" panose="02020603050405020304" pitchFamily="18" charset="0"/>
              </a:rPr>
              <a:t>MULTI-HEAD</a:t>
            </a:r>
            <a:r>
              <a:rPr lang="en-IN" sz="900" dirty="0"/>
              <a:t> ATTENTION</a:t>
            </a:r>
          </a:p>
        </p:txBody>
      </p:sp>
      <p:cxnSp>
        <p:nvCxnSpPr>
          <p:cNvPr id="121" name="Straight Arrow Connector 120"/>
          <p:cNvCxnSpPr>
            <a:stCxn id="116" idx="3"/>
          </p:cNvCxnSpPr>
          <p:nvPr/>
        </p:nvCxnSpPr>
        <p:spPr>
          <a:xfrm flipV="1">
            <a:off x="2203955" y="2195738"/>
            <a:ext cx="324034" cy="229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p:nvPr/>
        </p:nvCxnSpPr>
        <p:spPr>
          <a:xfrm flipV="1">
            <a:off x="2207444" y="3693738"/>
            <a:ext cx="320544" cy="31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p:cNvCxnSpPr>
            <a:stCxn id="117" idx="3"/>
          </p:cNvCxnSpPr>
          <p:nvPr/>
        </p:nvCxnSpPr>
        <p:spPr>
          <a:xfrm>
            <a:off x="2204729" y="2936364"/>
            <a:ext cx="32325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a:stCxn id="119" idx="3"/>
          </p:cNvCxnSpPr>
          <p:nvPr/>
        </p:nvCxnSpPr>
        <p:spPr>
          <a:xfrm>
            <a:off x="2203955" y="4450211"/>
            <a:ext cx="324034"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a:endCxn id="141" idx="1"/>
          </p:cNvCxnSpPr>
          <p:nvPr/>
        </p:nvCxnSpPr>
        <p:spPr>
          <a:xfrm flipV="1">
            <a:off x="2803928" y="2196055"/>
            <a:ext cx="318146" cy="267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a:endCxn id="143" idx="1"/>
          </p:cNvCxnSpPr>
          <p:nvPr/>
        </p:nvCxnSpPr>
        <p:spPr>
          <a:xfrm flipV="1">
            <a:off x="2802304" y="3699548"/>
            <a:ext cx="319770" cy="490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a:endCxn id="142" idx="1"/>
          </p:cNvCxnSpPr>
          <p:nvPr/>
        </p:nvCxnSpPr>
        <p:spPr>
          <a:xfrm flipV="1">
            <a:off x="2808150" y="2934391"/>
            <a:ext cx="314699" cy="497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a:endCxn id="144" idx="1"/>
          </p:cNvCxnSpPr>
          <p:nvPr/>
        </p:nvCxnSpPr>
        <p:spPr>
          <a:xfrm flipV="1">
            <a:off x="2802304" y="4448238"/>
            <a:ext cx="319770" cy="293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140"/>
          <p:cNvSpPr/>
          <p:nvPr/>
        </p:nvSpPr>
        <p:spPr>
          <a:xfrm>
            <a:off x="3122074" y="1947713"/>
            <a:ext cx="164492" cy="496685"/>
          </a:xfrm>
          <a:prstGeom prst="rect">
            <a:avLst/>
          </a:prstGeom>
          <a:solidFill>
            <a:srgbClr val="0070C0">
              <a:alpha val="82000"/>
            </a:srgbClr>
          </a:solid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2" name="Rectangle 141"/>
          <p:cNvSpPr/>
          <p:nvPr/>
        </p:nvSpPr>
        <p:spPr>
          <a:xfrm>
            <a:off x="3122848" y="2686049"/>
            <a:ext cx="164492" cy="496685"/>
          </a:xfrm>
          <a:prstGeom prst="rect">
            <a:avLst/>
          </a:prstGeom>
          <a:solidFill>
            <a:srgbClr val="0070C0">
              <a:alpha val="82000"/>
            </a:srgbClr>
          </a:solid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3" name="Rectangle 142"/>
          <p:cNvSpPr/>
          <p:nvPr/>
        </p:nvSpPr>
        <p:spPr>
          <a:xfrm>
            <a:off x="3122074" y="3451205"/>
            <a:ext cx="164492" cy="496685"/>
          </a:xfrm>
          <a:prstGeom prst="rect">
            <a:avLst/>
          </a:prstGeom>
          <a:solidFill>
            <a:srgbClr val="0070C0">
              <a:alpha val="82000"/>
            </a:srgbClr>
          </a:solid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Rectangle 143"/>
          <p:cNvSpPr/>
          <p:nvPr/>
        </p:nvSpPr>
        <p:spPr>
          <a:xfrm>
            <a:off x="3122074" y="4199895"/>
            <a:ext cx="164492" cy="496685"/>
          </a:xfrm>
          <a:prstGeom prst="rect">
            <a:avLst/>
          </a:prstGeom>
          <a:solidFill>
            <a:srgbClr val="0070C0">
              <a:alpha val="82000"/>
            </a:srgbClr>
          </a:solid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5" name="Plus 144"/>
          <p:cNvSpPr/>
          <p:nvPr/>
        </p:nvSpPr>
        <p:spPr>
          <a:xfrm>
            <a:off x="3334409" y="2109328"/>
            <a:ext cx="167755" cy="173455"/>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6" name="Plus 145"/>
          <p:cNvSpPr/>
          <p:nvPr/>
        </p:nvSpPr>
        <p:spPr>
          <a:xfrm>
            <a:off x="3329984" y="2847663"/>
            <a:ext cx="167755" cy="173455"/>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7" name="Plus 146"/>
          <p:cNvSpPr/>
          <p:nvPr/>
        </p:nvSpPr>
        <p:spPr>
          <a:xfrm>
            <a:off x="3329397" y="3584481"/>
            <a:ext cx="167755" cy="173455"/>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8" name="Plus 147"/>
          <p:cNvSpPr/>
          <p:nvPr/>
        </p:nvSpPr>
        <p:spPr>
          <a:xfrm>
            <a:off x="3332410" y="4361510"/>
            <a:ext cx="167755" cy="173455"/>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3" name="Rectangle 152"/>
          <p:cNvSpPr/>
          <p:nvPr/>
        </p:nvSpPr>
        <p:spPr>
          <a:xfrm>
            <a:off x="3539796" y="1949582"/>
            <a:ext cx="164492" cy="496685"/>
          </a:xfrm>
          <a:prstGeom prst="rect">
            <a:avLst/>
          </a:prstGeom>
          <a:solidFill>
            <a:srgbClr val="FF9999">
              <a:alpha val="70000"/>
            </a:srgbClr>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4" name="Rectangle 153"/>
          <p:cNvSpPr/>
          <p:nvPr/>
        </p:nvSpPr>
        <p:spPr>
          <a:xfrm>
            <a:off x="3540570" y="2687918"/>
            <a:ext cx="164492" cy="496685"/>
          </a:xfrm>
          <a:prstGeom prst="rect">
            <a:avLst/>
          </a:prstGeom>
          <a:solidFill>
            <a:srgbClr val="FF9999">
              <a:alpha val="70000"/>
            </a:srgbClr>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Rectangle 154"/>
          <p:cNvSpPr/>
          <p:nvPr/>
        </p:nvSpPr>
        <p:spPr>
          <a:xfrm>
            <a:off x="3539796" y="3453075"/>
            <a:ext cx="164492" cy="496685"/>
          </a:xfrm>
          <a:prstGeom prst="rect">
            <a:avLst/>
          </a:prstGeom>
          <a:solidFill>
            <a:srgbClr val="FF9999">
              <a:alpha val="70000"/>
            </a:srgbClr>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6" name="Rectangle 155"/>
          <p:cNvSpPr/>
          <p:nvPr/>
        </p:nvSpPr>
        <p:spPr>
          <a:xfrm>
            <a:off x="3539796" y="4201765"/>
            <a:ext cx="164492" cy="496685"/>
          </a:xfrm>
          <a:prstGeom prst="rect">
            <a:avLst/>
          </a:prstGeom>
          <a:solidFill>
            <a:srgbClr val="FF9999">
              <a:alpha val="70000"/>
            </a:srgbClr>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7" name="Straight Arrow Connector 156"/>
          <p:cNvCxnSpPr>
            <a:stCxn id="153" idx="3"/>
          </p:cNvCxnSpPr>
          <p:nvPr/>
        </p:nvCxnSpPr>
        <p:spPr>
          <a:xfrm flipV="1">
            <a:off x="3704288" y="2195634"/>
            <a:ext cx="324034" cy="229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flipV="1">
            <a:off x="3707777" y="3706318"/>
            <a:ext cx="320544" cy="31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a:stCxn id="154" idx="3"/>
          </p:cNvCxnSpPr>
          <p:nvPr/>
        </p:nvCxnSpPr>
        <p:spPr>
          <a:xfrm>
            <a:off x="3705062" y="2936260"/>
            <a:ext cx="32325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p:cNvCxnSpPr>
            <a:stCxn id="156" idx="3"/>
          </p:cNvCxnSpPr>
          <p:nvPr/>
        </p:nvCxnSpPr>
        <p:spPr>
          <a:xfrm>
            <a:off x="3704288" y="4450107"/>
            <a:ext cx="324034"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1" name="Rectangle 160"/>
          <p:cNvSpPr/>
          <p:nvPr/>
        </p:nvSpPr>
        <p:spPr>
          <a:xfrm>
            <a:off x="4013132" y="2025673"/>
            <a:ext cx="269818" cy="2619122"/>
          </a:xfrm>
          <a:prstGeom prst="rect">
            <a:avLst/>
          </a:prstGeom>
          <a:solidFill>
            <a:schemeClr val="accent2">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900" dirty="0">
                <a:latin typeface="Times New Roman" panose="02020603050405020304" pitchFamily="18" charset="0"/>
                <a:cs typeface="Times New Roman" panose="02020603050405020304" pitchFamily="18" charset="0"/>
              </a:rPr>
              <a:t>LAYER NORMALIZATION</a:t>
            </a:r>
            <a:endParaRPr lang="en-IN" sz="900" dirty="0"/>
          </a:p>
        </p:txBody>
      </p:sp>
      <p:cxnSp>
        <p:nvCxnSpPr>
          <p:cNvPr id="191" name="Straight Arrow Connector 190"/>
          <p:cNvCxnSpPr>
            <a:endCxn id="195" idx="1"/>
          </p:cNvCxnSpPr>
          <p:nvPr/>
        </p:nvCxnSpPr>
        <p:spPr>
          <a:xfrm flipV="1">
            <a:off x="4284574" y="2196055"/>
            <a:ext cx="318146" cy="2674"/>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p:cNvCxnSpPr>
            <a:endCxn id="197" idx="1"/>
          </p:cNvCxnSpPr>
          <p:nvPr/>
        </p:nvCxnSpPr>
        <p:spPr>
          <a:xfrm flipV="1">
            <a:off x="4282950" y="3699548"/>
            <a:ext cx="319770" cy="490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p:cNvCxnSpPr>
            <a:endCxn id="196" idx="1"/>
          </p:cNvCxnSpPr>
          <p:nvPr/>
        </p:nvCxnSpPr>
        <p:spPr>
          <a:xfrm flipV="1">
            <a:off x="4288796" y="2934391"/>
            <a:ext cx="314699" cy="497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a:endCxn id="198" idx="1"/>
          </p:cNvCxnSpPr>
          <p:nvPr/>
        </p:nvCxnSpPr>
        <p:spPr>
          <a:xfrm flipV="1">
            <a:off x="4282950" y="4448238"/>
            <a:ext cx="319770" cy="293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5" name="Rectangle 194"/>
          <p:cNvSpPr/>
          <p:nvPr/>
        </p:nvSpPr>
        <p:spPr>
          <a:xfrm>
            <a:off x="4602720" y="1947713"/>
            <a:ext cx="164492" cy="496685"/>
          </a:xfrm>
          <a:prstGeom prst="rect">
            <a:avLst/>
          </a:prstGeom>
          <a:solidFill>
            <a:srgbClr val="66FFFF">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6" name="Rectangle 195"/>
          <p:cNvSpPr/>
          <p:nvPr/>
        </p:nvSpPr>
        <p:spPr>
          <a:xfrm>
            <a:off x="4603494" y="2686049"/>
            <a:ext cx="164492" cy="496685"/>
          </a:xfrm>
          <a:prstGeom prst="rect">
            <a:avLst/>
          </a:prstGeom>
          <a:solidFill>
            <a:srgbClr val="66FFFF">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7" name="Rectangle 196"/>
          <p:cNvSpPr/>
          <p:nvPr/>
        </p:nvSpPr>
        <p:spPr>
          <a:xfrm>
            <a:off x="4602720" y="3451205"/>
            <a:ext cx="164492" cy="496685"/>
          </a:xfrm>
          <a:prstGeom prst="rect">
            <a:avLst/>
          </a:prstGeom>
          <a:solidFill>
            <a:srgbClr val="66FFFF">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 name="Rectangle 197"/>
          <p:cNvSpPr/>
          <p:nvPr/>
        </p:nvSpPr>
        <p:spPr>
          <a:xfrm>
            <a:off x="4602720" y="4199895"/>
            <a:ext cx="164492" cy="496685"/>
          </a:xfrm>
          <a:prstGeom prst="rect">
            <a:avLst/>
          </a:prstGeom>
          <a:solidFill>
            <a:srgbClr val="66FFFF">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9" name="Rectangle 198"/>
          <p:cNvSpPr/>
          <p:nvPr/>
        </p:nvSpPr>
        <p:spPr>
          <a:xfrm>
            <a:off x="5095573" y="2036384"/>
            <a:ext cx="269818" cy="2587652"/>
          </a:xfrm>
          <a:prstGeom prst="rect">
            <a:avLst/>
          </a:prstGeom>
          <a:solidFill>
            <a:schemeClr val="accent2">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800" dirty="0">
                <a:latin typeface="Times New Roman" panose="02020603050405020304" pitchFamily="18" charset="0"/>
                <a:cs typeface="Times New Roman" panose="02020603050405020304" pitchFamily="18" charset="0"/>
              </a:rPr>
              <a:t>FEED FORWARD NEURAL NETWORK</a:t>
            </a:r>
            <a:endParaRPr lang="en-IN" sz="800" dirty="0"/>
          </a:p>
        </p:txBody>
      </p:sp>
      <p:cxnSp>
        <p:nvCxnSpPr>
          <p:cNvPr id="200" name="Straight Arrow Connector 199"/>
          <p:cNvCxnSpPr>
            <a:stCxn id="195" idx="3"/>
          </p:cNvCxnSpPr>
          <p:nvPr/>
        </p:nvCxnSpPr>
        <p:spPr>
          <a:xfrm flipV="1">
            <a:off x="4767212" y="2193765"/>
            <a:ext cx="324034" cy="229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p:cNvCxnSpPr/>
          <p:nvPr/>
        </p:nvCxnSpPr>
        <p:spPr>
          <a:xfrm flipV="1">
            <a:off x="4770701" y="3704449"/>
            <a:ext cx="320544" cy="31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a:stCxn id="196" idx="3"/>
          </p:cNvCxnSpPr>
          <p:nvPr/>
        </p:nvCxnSpPr>
        <p:spPr>
          <a:xfrm>
            <a:off x="4767986" y="2934391"/>
            <a:ext cx="32325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stCxn id="198" idx="3"/>
          </p:cNvCxnSpPr>
          <p:nvPr/>
        </p:nvCxnSpPr>
        <p:spPr>
          <a:xfrm>
            <a:off x="4767212" y="4448238"/>
            <a:ext cx="324034"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a:endCxn id="208" idx="1"/>
          </p:cNvCxnSpPr>
          <p:nvPr/>
        </p:nvCxnSpPr>
        <p:spPr>
          <a:xfrm flipV="1">
            <a:off x="5367185" y="2206766"/>
            <a:ext cx="318146" cy="267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a:endCxn id="210" idx="1"/>
          </p:cNvCxnSpPr>
          <p:nvPr/>
        </p:nvCxnSpPr>
        <p:spPr>
          <a:xfrm flipV="1">
            <a:off x="5365561" y="3710258"/>
            <a:ext cx="319770" cy="490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a:endCxn id="209" idx="1"/>
          </p:cNvCxnSpPr>
          <p:nvPr/>
        </p:nvCxnSpPr>
        <p:spPr>
          <a:xfrm flipV="1">
            <a:off x="5371407" y="2945102"/>
            <a:ext cx="314699" cy="497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a:endCxn id="211" idx="1"/>
          </p:cNvCxnSpPr>
          <p:nvPr/>
        </p:nvCxnSpPr>
        <p:spPr>
          <a:xfrm flipV="1">
            <a:off x="5365561" y="4458948"/>
            <a:ext cx="319770" cy="293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8" name="Rectangle 207"/>
          <p:cNvSpPr/>
          <p:nvPr/>
        </p:nvSpPr>
        <p:spPr>
          <a:xfrm>
            <a:off x="5685331" y="1958423"/>
            <a:ext cx="164492" cy="49668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9" name="Rectangle 208"/>
          <p:cNvSpPr/>
          <p:nvPr/>
        </p:nvSpPr>
        <p:spPr>
          <a:xfrm>
            <a:off x="5686105" y="2696759"/>
            <a:ext cx="164492" cy="49668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0" name="Rectangle 209"/>
          <p:cNvSpPr/>
          <p:nvPr/>
        </p:nvSpPr>
        <p:spPr>
          <a:xfrm>
            <a:off x="5685331" y="3461916"/>
            <a:ext cx="164492" cy="49668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1" name="Rectangle 210"/>
          <p:cNvSpPr/>
          <p:nvPr/>
        </p:nvSpPr>
        <p:spPr>
          <a:xfrm>
            <a:off x="5685331" y="4210606"/>
            <a:ext cx="164492" cy="49668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2" name="Plus 211"/>
          <p:cNvSpPr/>
          <p:nvPr/>
        </p:nvSpPr>
        <p:spPr>
          <a:xfrm>
            <a:off x="5897666" y="2120038"/>
            <a:ext cx="167755" cy="173455"/>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3" name="Plus 212"/>
          <p:cNvSpPr/>
          <p:nvPr/>
        </p:nvSpPr>
        <p:spPr>
          <a:xfrm>
            <a:off x="5893241" y="2858374"/>
            <a:ext cx="167755" cy="173455"/>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4" name="Plus 213"/>
          <p:cNvSpPr/>
          <p:nvPr/>
        </p:nvSpPr>
        <p:spPr>
          <a:xfrm>
            <a:off x="5892654" y="3595192"/>
            <a:ext cx="167755" cy="173455"/>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5" name="Plus 214"/>
          <p:cNvSpPr/>
          <p:nvPr/>
        </p:nvSpPr>
        <p:spPr>
          <a:xfrm>
            <a:off x="5895667" y="4372221"/>
            <a:ext cx="167755" cy="173455"/>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6" name="Rectangle 215"/>
          <p:cNvSpPr/>
          <p:nvPr/>
        </p:nvSpPr>
        <p:spPr>
          <a:xfrm>
            <a:off x="6103053" y="1960293"/>
            <a:ext cx="164492" cy="49668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7" name="Rectangle 216"/>
          <p:cNvSpPr/>
          <p:nvPr/>
        </p:nvSpPr>
        <p:spPr>
          <a:xfrm>
            <a:off x="6103827" y="2698629"/>
            <a:ext cx="164492" cy="49668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8" name="Rectangle 217"/>
          <p:cNvSpPr/>
          <p:nvPr/>
        </p:nvSpPr>
        <p:spPr>
          <a:xfrm>
            <a:off x="6103053" y="3463786"/>
            <a:ext cx="164492" cy="49668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9" name="Rectangle 218"/>
          <p:cNvSpPr/>
          <p:nvPr/>
        </p:nvSpPr>
        <p:spPr>
          <a:xfrm>
            <a:off x="6103053" y="4212475"/>
            <a:ext cx="164492" cy="49668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0" name="Straight Arrow Connector 219"/>
          <p:cNvCxnSpPr>
            <a:stCxn id="216" idx="3"/>
          </p:cNvCxnSpPr>
          <p:nvPr/>
        </p:nvCxnSpPr>
        <p:spPr>
          <a:xfrm flipV="1">
            <a:off x="6267545" y="2206345"/>
            <a:ext cx="324034" cy="229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p:cNvCxnSpPr/>
          <p:nvPr/>
        </p:nvCxnSpPr>
        <p:spPr>
          <a:xfrm flipV="1">
            <a:off x="6271034" y="3717029"/>
            <a:ext cx="320544" cy="31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Straight Arrow Connector 221"/>
          <p:cNvCxnSpPr>
            <a:stCxn id="217" idx="3"/>
          </p:cNvCxnSpPr>
          <p:nvPr/>
        </p:nvCxnSpPr>
        <p:spPr>
          <a:xfrm>
            <a:off x="6268319" y="2946971"/>
            <a:ext cx="32325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p:cNvCxnSpPr>
            <a:cxnSpLocks/>
            <a:stCxn id="219" idx="3"/>
          </p:cNvCxnSpPr>
          <p:nvPr/>
        </p:nvCxnSpPr>
        <p:spPr>
          <a:xfrm>
            <a:off x="6267545" y="4460818"/>
            <a:ext cx="324034"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7" name="Rectangle 236"/>
          <p:cNvSpPr/>
          <p:nvPr/>
        </p:nvSpPr>
        <p:spPr>
          <a:xfrm>
            <a:off x="6582244" y="1952614"/>
            <a:ext cx="164492" cy="496685"/>
          </a:xfrm>
          <a:prstGeom prst="rect">
            <a:avLst/>
          </a:prstGeom>
          <a:solidFill>
            <a:srgbClr val="A9AB4F"/>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8" name="Rectangle 237"/>
          <p:cNvSpPr/>
          <p:nvPr/>
        </p:nvSpPr>
        <p:spPr>
          <a:xfrm>
            <a:off x="6583018" y="2690950"/>
            <a:ext cx="164492" cy="496685"/>
          </a:xfrm>
          <a:prstGeom prst="rect">
            <a:avLst/>
          </a:prstGeom>
          <a:solidFill>
            <a:srgbClr val="A9AB4F"/>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9" name="Rectangle 238"/>
          <p:cNvSpPr/>
          <p:nvPr/>
        </p:nvSpPr>
        <p:spPr>
          <a:xfrm>
            <a:off x="6582244" y="3456107"/>
            <a:ext cx="164492" cy="496685"/>
          </a:xfrm>
          <a:prstGeom prst="rect">
            <a:avLst/>
          </a:prstGeom>
          <a:solidFill>
            <a:srgbClr val="A9AB4F"/>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0" name="Rectangle 239"/>
          <p:cNvSpPr/>
          <p:nvPr/>
        </p:nvSpPr>
        <p:spPr>
          <a:xfrm>
            <a:off x="6582244" y="4204797"/>
            <a:ext cx="164492" cy="496685"/>
          </a:xfrm>
          <a:prstGeom prst="rect">
            <a:avLst/>
          </a:prstGeom>
          <a:solidFill>
            <a:srgbClr val="A9AB4F"/>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4" name="Left Bracket 243"/>
          <p:cNvSpPr/>
          <p:nvPr/>
        </p:nvSpPr>
        <p:spPr>
          <a:xfrm rot="16200000">
            <a:off x="3347892" y="4600075"/>
            <a:ext cx="130764" cy="739165"/>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5" name="Left Bracket 244"/>
          <p:cNvSpPr/>
          <p:nvPr/>
        </p:nvSpPr>
        <p:spPr>
          <a:xfrm rot="16200000">
            <a:off x="5911149" y="4610830"/>
            <a:ext cx="130764" cy="739165"/>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6" name="Right Bracket 245"/>
          <p:cNvSpPr/>
          <p:nvPr/>
        </p:nvSpPr>
        <p:spPr>
          <a:xfrm>
            <a:off x="6909163" y="1879599"/>
            <a:ext cx="137160" cy="2886075"/>
          </a:xfrm>
          <a:prstGeom prst="rightBracket">
            <a:avLst>
              <a:gd name="adj" fmla="val 5463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7" name="TextBox 246">
            <a:extLst>
              <a:ext uri="{FF2B5EF4-FFF2-40B4-BE49-F238E27FC236}">
                <a16:creationId xmlns:a16="http://schemas.microsoft.com/office/drawing/2014/main" id="{168ABEAE-7EED-0371-3543-D8652B3854C2}"/>
              </a:ext>
            </a:extLst>
          </p:cNvPr>
          <p:cNvSpPr txBox="1"/>
          <p:nvPr/>
        </p:nvSpPr>
        <p:spPr>
          <a:xfrm rot="5400000">
            <a:off x="6364891" y="3016304"/>
            <a:ext cx="2183284" cy="369332"/>
          </a:xfrm>
          <a:prstGeom prst="rect">
            <a:avLst/>
          </a:prstGeom>
          <a:noFill/>
        </p:spPr>
        <p:txBody>
          <a:bodyPr wrap="square" rtlCol="0">
            <a:spAutoFit/>
          </a:bodyPr>
          <a:lstStyle/>
          <a:p>
            <a:pPr algn="ctr"/>
            <a:r>
              <a:rPr lang="en-US" dirty="0">
                <a:solidFill>
                  <a:srgbClr val="7030A0"/>
                </a:solidFill>
                <a:latin typeface="Times New Roman" panose="02020603050405020304" pitchFamily="18" charset="0"/>
                <a:cs typeface="Times New Roman" panose="02020603050405020304" pitchFamily="18" charset="0"/>
              </a:rPr>
              <a:t>To next encoder layer</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248" name="TextBox 247">
            <a:extLst>
              <a:ext uri="{FF2B5EF4-FFF2-40B4-BE49-F238E27FC236}">
                <a16:creationId xmlns:a16="http://schemas.microsoft.com/office/drawing/2014/main" id="{168ABEAE-7EED-0371-3543-D8652B3854C2}"/>
              </a:ext>
            </a:extLst>
          </p:cNvPr>
          <p:cNvSpPr txBox="1"/>
          <p:nvPr/>
        </p:nvSpPr>
        <p:spPr>
          <a:xfrm>
            <a:off x="5255450" y="5002367"/>
            <a:ext cx="1442161"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Add &amp; Normalization</a:t>
            </a:r>
            <a:endParaRPr lang="en-IN" sz="1400" dirty="0">
              <a:latin typeface="Times New Roman" panose="02020603050405020304" pitchFamily="18" charset="0"/>
              <a:cs typeface="Times New Roman" panose="02020603050405020304" pitchFamily="18" charset="0"/>
            </a:endParaRPr>
          </a:p>
        </p:txBody>
      </p:sp>
      <p:sp>
        <p:nvSpPr>
          <p:cNvPr id="250" name="TextBox 249">
            <a:extLst>
              <a:ext uri="{FF2B5EF4-FFF2-40B4-BE49-F238E27FC236}">
                <a16:creationId xmlns:a16="http://schemas.microsoft.com/office/drawing/2014/main" id="{168ABEAE-7EED-0371-3543-D8652B3854C2}"/>
              </a:ext>
            </a:extLst>
          </p:cNvPr>
          <p:cNvSpPr txBox="1"/>
          <p:nvPr/>
        </p:nvSpPr>
        <p:spPr>
          <a:xfrm>
            <a:off x="2720357" y="4992338"/>
            <a:ext cx="1442161"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Add &amp; Normalization</a:t>
            </a:r>
            <a:endParaRPr lang="en-IN" sz="1400" dirty="0">
              <a:latin typeface="Times New Roman" panose="02020603050405020304" pitchFamily="18" charset="0"/>
              <a:cs typeface="Times New Roman" panose="02020603050405020304" pitchFamily="18" charset="0"/>
            </a:endParaRPr>
          </a:p>
        </p:txBody>
      </p:sp>
      <p:sp>
        <p:nvSpPr>
          <p:cNvPr id="251" name="TextBox 250">
            <a:extLst>
              <a:ext uri="{FF2B5EF4-FFF2-40B4-BE49-F238E27FC236}">
                <a16:creationId xmlns:a16="http://schemas.microsoft.com/office/drawing/2014/main" id="{168ABEAE-7EED-0371-3543-D8652B3854C2}"/>
              </a:ext>
            </a:extLst>
          </p:cNvPr>
          <p:cNvSpPr txBox="1"/>
          <p:nvPr/>
        </p:nvSpPr>
        <p:spPr>
          <a:xfrm>
            <a:off x="1681133" y="4796080"/>
            <a:ext cx="958215"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Input to encoder</a:t>
            </a:r>
            <a:endParaRPr lang="en-IN" sz="1400" dirty="0">
              <a:latin typeface="Times New Roman" panose="02020603050405020304" pitchFamily="18" charset="0"/>
              <a:cs typeface="Times New Roman" panose="02020603050405020304" pitchFamily="18" charset="0"/>
            </a:endParaRPr>
          </a:p>
        </p:txBody>
      </p:sp>
      <p:sp>
        <p:nvSpPr>
          <p:cNvPr id="252" name="TextBox 251">
            <a:extLst>
              <a:ext uri="{FF2B5EF4-FFF2-40B4-BE49-F238E27FC236}">
                <a16:creationId xmlns:a16="http://schemas.microsoft.com/office/drawing/2014/main" id="{168ABEAE-7EED-0371-3543-D8652B3854C2}"/>
              </a:ext>
            </a:extLst>
          </p:cNvPr>
          <p:cNvSpPr txBox="1"/>
          <p:nvPr/>
        </p:nvSpPr>
        <p:spPr>
          <a:xfrm>
            <a:off x="1037869" y="1252502"/>
            <a:ext cx="1205972"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Positional Encoding</a:t>
            </a:r>
            <a:endParaRPr lang="en-IN" sz="1400" dirty="0">
              <a:latin typeface="Times New Roman" panose="02020603050405020304" pitchFamily="18" charset="0"/>
              <a:cs typeface="Times New Roman" panose="02020603050405020304" pitchFamily="18" charset="0"/>
            </a:endParaRPr>
          </a:p>
        </p:txBody>
      </p:sp>
      <p:sp>
        <p:nvSpPr>
          <p:cNvPr id="253" name="Left Bracket 252"/>
          <p:cNvSpPr/>
          <p:nvPr/>
        </p:nvSpPr>
        <p:spPr>
          <a:xfrm rot="16200000">
            <a:off x="2052144" y="4628642"/>
            <a:ext cx="130764" cy="334876"/>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54" name="Left Bracket 253"/>
          <p:cNvSpPr/>
          <p:nvPr/>
        </p:nvSpPr>
        <p:spPr>
          <a:xfrm rot="5400000">
            <a:off x="1577136" y="1695664"/>
            <a:ext cx="130764" cy="356566"/>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55" name="TextBox 254">
            <a:extLst>
              <a:ext uri="{FF2B5EF4-FFF2-40B4-BE49-F238E27FC236}">
                <a16:creationId xmlns:a16="http://schemas.microsoft.com/office/drawing/2014/main" id="{168ABEAE-7EED-0371-3543-D8652B3854C2}"/>
              </a:ext>
            </a:extLst>
          </p:cNvPr>
          <p:cNvSpPr txBox="1"/>
          <p:nvPr/>
        </p:nvSpPr>
        <p:spPr>
          <a:xfrm>
            <a:off x="615574" y="4813214"/>
            <a:ext cx="1158765"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Word Embedding</a:t>
            </a:r>
            <a:endParaRPr lang="en-IN" sz="1400" dirty="0">
              <a:latin typeface="Times New Roman" panose="02020603050405020304" pitchFamily="18" charset="0"/>
              <a:cs typeface="Times New Roman" panose="02020603050405020304" pitchFamily="18" charset="0"/>
            </a:endParaRPr>
          </a:p>
        </p:txBody>
      </p:sp>
      <p:sp>
        <p:nvSpPr>
          <p:cNvPr id="256" name="Left Bracket 255"/>
          <p:cNvSpPr/>
          <p:nvPr/>
        </p:nvSpPr>
        <p:spPr>
          <a:xfrm rot="16200000">
            <a:off x="1160294" y="4570643"/>
            <a:ext cx="130764" cy="334876"/>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5" name="TextBox 124">
            <a:extLst>
              <a:ext uri="{FF2B5EF4-FFF2-40B4-BE49-F238E27FC236}">
                <a16:creationId xmlns:a16="http://schemas.microsoft.com/office/drawing/2014/main" id="{9102B111-DF06-40B3-8DF7-EB0C7F1BFEEA}"/>
              </a:ext>
            </a:extLst>
          </p:cNvPr>
          <p:cNvSpPr txBox="1"/>
          <p:nvPr/>
        </p:nvSpPr>
        <p:spPr>
          <a:xfrm>
            <a:off x="7668094" y="6566025"/>
            <a:ext cx="4443223" cy="276999"/>
          </a:xfrm>
          <a:prstGeom prst="rect">
            <a:avLst/>
          </a:prstGeom>
          <a:noFill/>
        </p:spPr>
        <p:txBody>
          <a:bodyPr wrap="square" rtlCol="0">
            <a:spAutoFit/>
          </a:bodyPr>
          <a:lstStyle/>
          <a:p>
            <a:r>
              <a:rPr lang="en-IN" sz="1200" dirty="0">
                <a:latin typeface="Arial Narrow" panose="020B0606020202030204" pitchFamily="34" charset="0"/>
                <a:cs typeface="Times New Roman" panose="02020603050405020304" pitchFamily="18" charset="0"/>
              </a:rPr>
              <a:t>Figure Source: Ashish Vaswani et. al. Attention is All You Need, NIPS 2017</a:t>
            </a:r>
          </a:p>
        </p:txBody>
      </p:sp>
      <p:pic>
        <p:nvPicPr>
          <p:cNvPr id="126" name="Picture 125">
            <a:extLst>
              <a:ext uri="{FF2B5EF4-FFF2-40B4-BE49-F238E27FC236}">
                <a16:creationId xmlns:a16="http://schemas.microsoft.com/office/drawing/2014/main" id="{3984B8BE-935A-4CD8-BE1F-FBF38B45B0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7301" y="1073252"/>
            <a:ext cx="3803448" cy="5513294"/>
          </a:xfrm>
          <a:prstGeom prst="rect">
            <a:avLst/>
          </a:prstGeom>
          <a:solidFill>
            <a:schemeClr val="accent4">
              <a:lumMod val="60000"/>
              <a:lumOff val="40000"/>
              <a:alpha val="32000"/>
            </a:schemeClr>
          </a:solidFill>
        </p:spPr>
      </p:pic>
      <p:cxnSp>
        <p:nvCxnSpPr>
          <p:cNvPr id="131" name="Straight Arrow Connector 130">
            <a:extLst>
              <a:ext uri="{FF2B5EF4-FFF2-40B4-BE49-F238E27FC236}">
                <a16:creationId xmlns:a16="http://schemas.microsoft.com/office/drawing/2014/main" id="{39539B0D-02D6-4F16-9D08-0C15F801005E}"/>
              </a:ext>
            </a:extLst>
          </p:cNvPr>
          <p:cNvCxnSpPr/>
          <p:nvPr/>
        </p:nvCxnSpPr>
        <p:spPr>
          <a:xfrm flipV="1">
            <a:off x="7049012" y="3273084"/>
            <a:ext cx="324034" cy="229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C9EB8A7-CA75-44B9-89A0-070E3E9EAB58}"/>
              </a:ext>
            </a:extLst>
          </p:cNvPr>
          <p:cNvCxnSpPr>
            <a:stCxn id="237" idx="3"/>
          </p:cNvCxnSpPr>
          <p:nvPr/>
        </p:nvCxnSpPr>
        <p:spPr>
          <a:xfrm>
            <a:off x="6746736" y="2200957"/>
            <a:ext cx="312877" cy="53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EC5D8D80-6737-4D17-B201-72F94A2395AD}"/>
              </a:ext>
            </a:extLst>
          </p:cNvPr>
          <p:cNvCxnSpPr/>
          <p:nvPr/>
        </p:nvCxnSpPr>
        <p:spPr>
          <a:xfrm>
            <a:off x="6736578" y="2963331"/>
            <a:ext cx="312877" cy="53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F8FF62E-3782-4A41-BDAF-58345FD91218}"/>
              </a:ext>
            </a:extLst>
          </p:cNvPr>
          <p:cNvCxnSpPr/>
          <p:nvPr/>
        </p:nvCxnSpPr>
        <p:spPr>
          <a:xfrm>
            <a:off x="6726694" y="3715159"/>
            <a:ext cx="312877" cy="53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6D36F444-8E57-4BD5-AEC6-FD0C80C2CA34}"/>
              </a:ext>
            </a:extLst>
          </p:cNvPr>
          <p:cNvCxnSpPr/>
          <p:nvPr/>
        </p:nvCxnSpPr>
        <p:spPr>
          <a:xfrm>
            <a:off x="6746736" y="4447751"/>
            <a:ext cx="312877" cy="53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D16DBDD0-4850-4AB2-BDDF-38B11FD7DF63}"/>
              </a:ext>
            </a:extLst>
          </p:cNvPr>
          <p:cNvSpPr/>
          <p:nvPr/>
        </p:nvSpPr>
        <p:spPr>
          <a:xfrm>
            <a:off x="7975046" y="3141094"/>
            <a:ext cx="1512696" cy="1973622"/>
          </a:xfrm>
          <a:prstGeom prst="rect">
            <a:avLst/>
          </a:prstGeom>
          <a:solidFill>
            <a:schemeClr val="accent4">
              <a:lumMod val="60000"/>
              <a:lumOff val="40000"/>
              <a:alpha val="3200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1987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Arrow Connector 2"/>
          <p:cNvCxnSpPr/>
          <p:nvPr/>
        </p:nvCxnSpPr>
        <p:spPr>
          <a:xfrm flipV="1">
            <a:off x="4501812" y="3716777"/>
            <a:ext cx="5204166" cy="911774"/>
          </a:xfrm>
          <a:prstGeom prst="straightConnector1">
            <a:avLst/>
          </a:prstGeom>
          <a:ln w="158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3585559" y="3686483"/>
            <a:ext cx="2456047" cy="930844"/>
          </a:xfrm>
          <a:prstGeom prst="straightConnector1">
            <a:avLst/>
          </a:prstGeom>
          <a:ln w="158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57" name="TextBox 256">
            <a:extLst>
              <a:ext uri="{FF2B5EF4-FFF2-40B4-BE49-F238E27FC236}">
                <a16:creationId xmlns:a16="http://schemas.microsoft.com/office/drawing/2014/main" id="{006765CC-8187-42FD-AE18-C69B87A97849}"/>
              </a:ext>
            </a:extLst>
          </p:cNvPr>
          <p:cNvSpPr txBox="1"/>
          <p:nvPr/>
        </p:nvSpPr>
        <p:spPr>
          <a:xfrm>
            <a:off x="7054" y="6504763"/>
            <a:ext cx="5753100"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Figure Source: Ashish Vaswani et. al. Attention is All You Need, NIPS </a:t>
            </a:r>
            <a:r>
              <a:rPr lang="en-IN" sz="1400" dirty="0">
                <a:latin typeface="Arial Narrow" panose="020B0606020202030204" pitchFamily="34" charset="0"/>
                <a:cs typeface="Times New Roman" panose="02020603050405020304" pitchFamily="18" charset="0"/>
              </a:rPr>
              <a:t>2017</a:t>
            </a:r>
          </a:p>
        </p:txBody>
      </p:sp>
      <p:sp>
        <p:nvSpPr>
          <p:cNvPr id="393" name="Rounded Rectangle 392"/>
          <p:cNvSpPr/>
          <p:nvPr/>
        </p:nvSpPr>
        <p:spPr>
          <a:xfrm>
            <a:off x="5900881" y="823996"/>
            <a:ext cx="3943150" cy="2878010"/>
          </a:xfrm>
          <a:prstGeom prst="roundRect">
            <a:avLst>
              <a:gd name="adj" fmla="val 6013"/>
            </a:avLst>
          </a:prstGeom>
          <a:solidFill>
            <a:schemeClr val="accent2">
              <a:lumMod val="40000"/>
              <a:lumOff val="60000"/>
              <a:alpha val="49000"/>
            </a:schemeClr>
          </a:solidFill>
          <a:ln w="158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94" name="Elbow Connector 393"/>
          <p:cNvCxnSpPr>
            <a:stCxn id="430" idx="0"/>
            <a:endCxn id="451" idx="0"/>
          </p:cNvCxnSpPr>
          <p:nvPr/>
        </p:nvCxnSpPr>
        <p:spPr>
          <a:xfrm rot="5400000" flipH="1" flipV="1">
            <a:off x="6340259" y="416183"/>
            <a:ext cx="93" cy="1303178"/>
          </a:xfrm>
          <a:prstGeom prst="bentConnector3">
            <a:avLst>
              <a:gd name="adj1" fmla="val 195484615"/>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5" name="Elbow Connector 394"/>
          <p:cNvCxnSpPr>
            <a:stCxn id="431" idx="0"/>
            <a:endCxn id="452" idx="0"/>
          </p:cNvCxnSpPr>
          <p:nvPr/>
        </p:nvCxnSpPr>
        <p:spPr>
          <a:xfrm rot="5400000" flipH="1" flipV="1">
            <a:off x="6340931" y="1074916"/>
            <a:ext cx="93" cy="1303178"/>
          </a:xfrm>
          <a:prstGeom prst="bentConnector3">
            <a:avLst>
              <a:gd name="adj1" fmla="val 195484615"/>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6" name="Elbow Connector 395"/>
          <p:cNvCxnSpPr>
            <a:stCxn id="432" idx="0"/>
            <a:endCxn id="453" idx="0"/>
          </p:cNvCxnSpPr>
          <p:nvPr/>
        </p:nvCxnSpPr>
        <p:spPr>
          <a:xfrm rot="5400000" flipH="1" flipV="1">
            <a:off x="6340259" y="1757576"/>
            <a:ext cx="93" cy="1303178"/>
          </a:xfrm>
          <a:prstGeom prst="bentConnector3">
            <a:avLst>
              <a:gd name="adj1" fmla="val 207696154"/>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Elbow Connector 396"/>
          <p:cNvCxnSpPr>
            <a:stCxn id="433" idx="0"/>
            <a:endCxn id="454" idx="0"/>
          </p:cNvCxnSpPr>
          <p:nvPr/>
        </p:nvCxnSpPr>
        <p:spPr>
          <a:xfrm rot="5400000" flipH="1" flipV="1">
            <a:off x="6340259" y="2425546"/>
            <a:ext cx="93" cy="1303178"/>
          </a:xfrm>
          <a:prstGeom prst="bentConnector3">
            <a:avLst>
              <a:gd name="adj1" fmla="val 171061538"/>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8" name="Elbow Connector 397"/>
          <p:cNvCxnSpPr>
            <a:stCxn id="464" idx="0"/>
            <a:endCxn id="485" idx="0"/>
          </p:cNvCxnSpPr>
          <p:nvPr/>
        </p:nvCxnSpPr>
        <p:spPr>
          <a:xfrm rot="16200000" flipH="1">
            <a:off x="8561118" y="420080"/>
            <a:ext cx="11224" cy="1303178"/>
          </a:xfrm>
          <a:prstGeom prst="bentConnector3">
            <a:avLst>
              <a:gd name="adj1" fmla="val -1562627"/>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9" name="Elbow Connector 398"/>
          <p:cNvCxnSpPr>
            <a:stCxn id="465" idx="0"/>
            <a:endCxn id="486" idx="0"/>
          </p:cNvCxnSpPr>
          <p:nvPr/>
        </p:nvCxnSpPr>
        <p:spPr>
          <a:xfrm rot="16200000" flipH="1">
            <a:off x="8561791" y="1078813"/>
            <a:ext cx="11224" cy="1303178"/>
          </a:xfrm>
          <a:prstGeom prst="bentConnector3">
            <a:avLst>
              <a:gd name="adj1" fmla="val -1487024"/>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0" name="Elbow Connector 399"/>
          <p:cNvCxnSpPr>
            <a:stCxn id="466" idx="0"/>
            <a:endCxn id="487" idx="0"/>
          </p:cNvCxnSpPr>
          <p:nvPr/>
        </p:nvCxnSpPr>
        <p:spPr>
          <a:xfrm rot="16200000" flipH="1">
            <a:off x="8561118" y="1761474"/>
            <a:ext cx="11224" cy="1303178"/>
          </a:xfrm>
          <a:prstGeom prst="bentConnector3">
            <a:avLst>
              <a:gd name="adj1" fmla="val -1613040"/>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1" name="Elbow Connector 400"/>
          <p:cNvCxnSpPr>
            <a:stCxn id="467" idx="0"/>
            <a:endCxn id="488" idx="0"/>
          </p:cNvCxnSpPr>
          <p:nvPr/>
        </p:nvCxnSpPr>
        <p:spPr>
          <a:xfrm rot="16200000" flipH="1">
            <a:off x="8561118" y="2429444"/>
            <a:ext cx="11224" cy="1303178"/>
          </a:xfrm>
          <a:prstGeom prst="bentConnector3">
            <a:avLst>
              <a:gd name="adj1" fmla="val -1587839"/>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2" name="TextBox 401">
            <a:extLst>
              <a:ext uri="{FF2B5EF4-FFF2-40B4-BE49-F238E27FC236}">
                <a16:creationId xmlns:a16="http://schemas.microsoft.com/office/drawing/2014/main" id="{9EF45905-DB18-49B6-9565-CE8D8F1375A9}"/>
              </a:ext>
            </a:extLst>
          </p:cNvPr>
          <p:cNvSpPr txBox="1"/>
          <p:nvPr/>
        </p:nvSpPr>
        <p:spPr>
          <a:xfrm>
            <a:off x="4130628" y="1115843"/>
            <a:ext cx="400246" cy="32951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Is</a:t>
            </a:r>
            <a:endParaRPr lang="en-IN" baseline="-25000" dirty="0">
              <a:latin typeface="Times New Roman" panose="02020603050405020304" pitchFamily="18" charset="0"/>
              <a:cs typeface="Times New Roman" panose="02020603050405020304" pitchFamily="18" charset="0"/>
            </a:endParaRPr>
          </a:p>
        </p:txBody>
      </p:sp>
      <p:sp>
        <p:nvSpPr>
          <p:cNvPr id="403" name="Rounded Rectangle 402"/>
          <p:cNvSpPr/>
          <p:nvPr/>
        </p:nvSpPr>
        <p:spPr>
          <a:xfrm>
            <a:off x="4096150" y="1135613"/>
            <a:ext cx="456415" cy="303564"/>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404" name="TextBox 403">
            <a:extLst>
              <a:ext uri="{FF2B5EF4-FFF2-40B4-BE49-F238E27FC236}">
                <a16:creationId xmlns:a16="http://schemas.microsoft.com/office/drawing/2014/main" id="{9EF45905-DB18-49B6-9565-CE8D8F1375A9}"/>
              </a:ext>
            </a:extLst>
          </p:cNvPr>
          <p:cNvSpPr txBox="1"/>
          <p:nvPr/>
        </p:nvSpPr>
        <p:spPr>
          <a:xfrm>
            <a:off x="4027823" y="1761900"/>
            <a:ext cx="669699" cy="32951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mac</a:t>
            </a:r>
            <a:endParaRPr lang="en-IN" baseline="-25000" dirty="0">
              <a:latin typeface="Times New Roman" panose="02020603050405020304" pitchFamily="18" charset="0"/>
              <a:cs typeface="Times New Roman" panose="02020603050405020304" pitchFamily="18" charset="0"/>
            </a:endParaRPr>
          </a:p>
        </p:txBody>
      </p:sp>
      <p:sp>
        <p:nvSpPr>
          <p:cNvPr id="405" name="Rounded Rectangle 404"/>
          <p:cNvSpPr/>
          <p:nvPr/>
        </p:nvSpPr>
        <p:spPr>
          <a:xfrm>
            <a:off x="3986766" y="1793323"/>
            <a:ext cx="569465" cy="309707"/>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406" name="TextBox 405">
            <a:extLst>
              <a:ext uri="{FF2B5EF4-FFF2-40B4-BE49-F238E27FC236}">
                <a16:creationId xmlns:a16="http://schemas.microsoft.com/office/drawing/2014/main" id="{9EF45905-DB18-49B6-9565-CE8D8F1375A9}"/>
              </a:ext>
            </a:extLst>
          </p:cNvPr>
          <p:cNvSpPr txBox="1"/>
          <p:nvPr/>
        </p:nvSpPr>
        <p:spPr>
          <a:xfrm>
            <a:off x="4072625" y="3106726"/>
            <a:ext cx="553102" cy="329512"/>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mé</a:t>
            </a:r>
            <a:endParaRPr lang="en-IN" dirty="0">
              <a:latin typeface="Times New Roman" panose="02020603050405020304" pitchFamily="18" charset="0"/>
              <a:cs typeface="Times New Roman" panose="02020603050405020304" pitchFamily="18" charset="0"/>
            </a:endParaRPr>
          </a:p>
        </p:txBody>
      </p:sp>
      <p:cxnSp>
        <p:nvCxnSpPr>
          <p:cNvPr id="407" name="Straight Arrow Connector 406"/>
          <p:cNvCxnSpPr>
            <a:stCxn id="403" idx="3"/>
            <a:endCxn id="414" idx="1"/>
          </p:cNvCxnSpPr>
          <p:nvPr/>
        </p:nvCxnSpPr>
        <p:spPr>
          <a:xfrm flipV="1">
            <a:off x="4552564" y="1285010"/>
            <a:ext cx="276339" cy="238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8" name="Straight Arrow Connector 407"/>
          <p:cNvCxnSpPr>
            <a:stCxn id="410" idx="3"/>
            <a:endCxn id="416" idx="1"/>
          </p:cNvCxnSpPr>
          <p:nvPr/>
        </p:nvCxnSpPr>
        <p:spPr>
          <a:xfrm flipV="1">
            <a:off x="4551153" y="2626404"/>
            <a:ext cx="277750" cy="437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9" name="TextBox 408"/>
          <p:cNvSpPr txBox="1"/>
          <p:nvPr/>
        </p:nvSpPr>
        <p:spPr>
          <a:xfrm>
            <a:off x="3986331" y="2557086"/>
            <a:ext cx="737106" cy="181232"/>
          </a:xfrm>
          <a:prstGeom prst="rect">
            <a:avLst/>
          </a:prstGeom>
          <a:noFill/>
        </p:spPr>
        <p:txBody>
          <a:bodyPr wrap="square" rtlCol="0">
            <a:spAutoFit/>
          </a:bodyPr>
          <a:lstStyle/>
          <a:p>
            <a:pPr>
              <a:lnSpc>
                <a:spcPct val="40000"/>
              </a:lnSpc>
            </a:pPr>
            <a:r>
              <a:rPr lang="en-IN" dirty="0">
                <a:latin typeface="Times New Roman" panose="02020603050405020304" pitchFamily="18" charset="0"/>
                <a:cs typeface="Times New Roman" panose="02020603050405020304" pitchFamily="18" charset="0"/>
              </a:rPr>
              <a:t>léinn</a:t>
            </a:r>
          </a:p>
        </p:txBody>
      </p:sp>
      <p:sp>
        <p:nvSpPr>
          <p:cNvPr id="410" name="Rounded Rectangle 409"/>
          <p:cNvSpPr/>
          <p:nvPr/>
        </p:nvSpPr>
        <p:spPr>
          <a:xfrm>
            <a:off x="3974458" y="2472093"/>
            <a:ext cx="576695" cy="317367"/>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411" name="Straight Arrow Connector 410"/>
          <p:cNvCxnSpPr>
            <a:stCxn id="405" idx="3"/>
            <a:endCxn id="415" idx="1"/>
          </p:cNvCxnSpPr>
          <p:nvPr/>
        </p:nvCxnSpPr>
        <p:spPr>
          <a:xfrm flipV="1">
            <a:off x="4556231" y="1943742"/>
            <a:ext cx="273345" cy="443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2" name="Rounded Rectangle 411"/>
          <p:cNvSpPr/>
          <p:nvPr/>
        </p:nvSpPr>
        <p:spPr>
          <a:xfrm>
            <a:off x="4064118" y="3149699"/>
            <a:ext cx="487036" cy="294577"/>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413" name="Straight Arrow Connector 412"/>
          <p:cNvCxnSpPr>
            <a:stCxn id="412" idx="3"/>
            <a:endCxn id="417" idx="1"/>
          </p:cNvCxnSpPr>
          <p:nvPr/>
        </p:nvCxnSpPr>
        <p:spPr>
          <a:xfrm flipV="1">
            <a:off x="4551153" y="3294373"/>
            <a:ext cx="277750" cy="261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4" name="Rectangle 413"/>
          <p:cNvSpPr/>
          <p:nvPr/>
        </p:nvSpPr>
        <p:spPr>
          <a:xfrm>
            <a:off x="4828903" y="1063443"/>
            <a:ext cx="142876" cy="44313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5" name="Rectangle 414"/>
          <p:cNvSpPr/>
          <p:nvPr/>
        </p:nvSpPr>
        <p:spPr>
          <a:xfrm>
            <a:off x="4829576" y="1722175"/>
            <a:ext cx="142876" cy="44313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6" name="Rectangle 415"/>
          <p:cNvSpPr/>
          <p:nvPr/>
        </p:nvSpPr>
        <p:spPr>
          <a:xfrm>
            <a:off x="4828903" y="2404837"/>
            <a:ext cx="142876" cy="44313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7" name="Rectangle 416"/>
          <p:cNvSpPr/>
          <p:nvPr/>
        </p:nvSpPr>
        <p:spPr>
          <a:xfrm>
            <a:off x="4828903" y="3072806"/>
            <a:ext cx="142876" cy="44313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8" name="Plus 417"/>
          <p:cNvSpPr/>
          <p:nvPr/>
        </p:nvSpPr>
        <p:spPr>
          <a:xfrm>
            <a:off x="5006211" y="1210248"/>
            <a:ext cx="145711" cy="154754"/>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9" name="Plus 418"/>
          <p:cNvSpPr/>
          <p:nvPr/>
        </p:nvSpPr>
        <p:spPr>
          <a:xfrm>
            <a:off x="5002368" y="1868980"/>
            <a:ext cx="145711" cy="154754"/>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0" name="Plus 419"/>
          <p:cNvSpPr/>
          <p:nvPr/>
        </p:nvSpPr>
        <p:spPr>
          <a:xfrm>
            <a:off x="5001858" y="2526357"/>
            <a:ext cx="145711" cy="154754"/>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1" name="Plus 420"/>
          <p:cNvSpPr/>
          <p:nvPr/>
        </p:nvSpPr>
        <p:spPr>
          <a:xfrm>
            <a:off x="5004475" y="3219611"/>
            <a:ext cx="145711" cy="154754"/>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2" name="Rectangle 421"/>
          <p:cNvSpPr/>
          <p:nvPr/>
        </p:nvSpPr>
        <p:spPr>
          <a:xfrm>
            <a:off x="5201056" y="1063443"/>
            <a:ext cx="142876" cy="44313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3" name="Rectangle 422"/>
          <p:cNvSpPr/>
          <p:nvPr/>
        </p:nvSpPr>
        <p:spPr>
          <a:xfrm>
            <a:off x="5201728" y="1722175"/>
            <a:ext cx="142876" cy="44313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4" name="Rectangle 423"/>
          <p:cNvSpPr/>
          <p:nvPr/>
        </p:nvSpPr>
        <p:spPr>
          <a:xfrm>
            <a:off x="5201056" y="2404837"/>
            <a:ext cx="142876" cy="44313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5" name="Rectangle 424"/>
          <p:cNvSpPr/>
          <p:nvPr/>
        </p:nvSpPr>
        <p:spPr>
          <a:xfrm>
            <a:off x="5201056" y="3072806"/>
            <a:ext cx="142876" cy="44313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26" name="Straight Arrow Connector 425"/>
          <p:cNvCxnSpPr>
            <a:endCxn id="430" idx="1"/>
          </p:cNvCxnSpPr>
          <p:nvPr/>
        </p:nvCxnSpPr>
        <p:spPr>
          <a:xfrm flipV="1">
            <a:off x="5340939" y="1289385"/>
            <a:ext cx="276339" cy="2386"/>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7" name="Straight Arrow Connector 426"/>
          <p:cNvCxnSpPr>
            <a:endCxn id="432" idx="1"/>
          </p:cNvCxnSpPr>
          <p:nvPr/>
        </p:nvCxnSpPr>
        <p:spPr>
          <a:xfrm flipV="1">
            <a:off x="5339528" y="2630779"/>
            <a:ext cx="277750" cy="4373"/>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8" name="Straight Arrow Connector 427"/>
          <p:cNvCxnSpPr>
            <a:endCxn id="431" idx="1"/>
          </p:cNvCxnSpPr>
          <p:nvPr/>
        </p:nvCxnSpPr>
        <p:spPr>
          <a:xfrm flipV="1">
            <a:off x="5344606" y="1948117"/>
            <a:ext cx="273345" cy="443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9" name="Straight Arrow Connector 428"/>
          <p:cNvCxnSpPr>
            <a:endCxn id="433" idx="1"/>
          </p:cNvCxnSpPr>
          <p:nvPr/>
        </p:nvCxnSpPr>
        <p:spPr>
          <a:xfrm flipV="1">
            <a:off x="5339528" y="3298749"/>
            <a:ext cx="277750" cy="261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0" name="Rectangle 429"/>
          <p:cNvSpPr/>
          <p:nvPr/>
        </p:nvSpPr>
        <p:spPr>
          <a:xfrm>
            <a:off x="5617278" y="1067818"/>
            <a:ext cx="142876" cy="44313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1" name="Rectangle 430"/>
          <p:cNvSpPr/>
          <p:nvPr/>
        </p:nvSpPr>
        <p:spPr>
          <a:xfrm>
            <a:off x="5617950" y="1726550"/>
            <a:ext cx="142876" cy="44313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2" name="Rectangle 431"/>
          <p:cNvSpPr/>
          <p:nvPr/>
        </p:nvSpPr>
        <p:spPr>
          <a:xfrm>
            <a:off x="5617278" y="2409212"/>
            <a:ext cx="142876" cy="44313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3" name="Rectangle 432"/>
          <p:cNvSpPr/>
          <p:nvPr/>
        </p:nvSpPr>
        <p:spPr>
          <a:xfrm>
            <a:off x="5617278" y="3077182"/>
            <a:ext cx="142876" cy="44313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4" name="Rectangle 433"/>
          <p:cNvSpPr/>
          <p:nvPr/>
        </p:nvSpPr>
        <p:spPr>
          <a:xfrm>
            <a:off x="6045366" y="1135613"/>
            <a:ext cx="234362" cy="2308664"/>
          </a:xfrm>
          <a:prstGeom prst="rect">
            <a:avLst/>
          </a:prstGeom>
          <a:solidFill>
            <a:schemeClr val="accent2">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900" dirty="0">
                <a:latin typeface="Times New Roman" panose="02020603050405020304" pitchFamily="18" charset="0"/>
                <a:cs typeface="Times New Roman" panose="02020603050405020304" pitchFamily="18" charset="0"/>
              </a:rPr>
              <a:t>MULTI-HEAD</a:t>
            </a:r>
            <a:r>
              <a:rPr lang="en-IN" sz="900" dirty="0"/>
              <a:t> ATTENTION</a:t>
            </a:r>
          </a:p>
        </p:txBody>
      </p:sp>
      <p:cxnSp>
        <p:nvCxnSpPr>
          <p:cNvPr id="435" name="Straight Arrow Connector 434"/>
          <p:cNvCxnSpPr>
            <a:stCxn id="430" idx="3"/>
          </p:cNvCxnSpPr>
          <p:nvPr/>
        </p:nvCxnSpPr>
        <p:spPr>
          <a:xfrm flipV="1">
            <a:off x="5760154" y="1287342"/>
            <a:ext cx="281453" cy="204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6" name="Straight Arrow Connector 435"/>
          <p:cNvCxnSpPr/>
          <p:nvPr/>
        </p:nvCxnSpPr>
        <p:spPr>
          <a:xfrm flipV="1">
            <a:off x="5763185" y="2623835"/>
            <a:ext cx="278422" cy="28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7" name="Straight Arrow Connector 436"/>
          <p:cNvCxnSpPr>
            <a:stCxn id="431" idx="3"/>
          </p:cNvCxnSpPr>
          <p:nvPr/>
        </p:nvCxnSpPr>
        <p:spPr>
          <a:xfrm>
            <a:off x="5760826" y="1948117"/>
            <a:ext cx="28078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8" name="Straight Arrow Connector 437"/>
          <p:cNvCxnSpPr>
            <a:stCxn id="433" idx="3"/>
          </p:cNvCxnSpPr>
          <p:nvPr/>
        </p:nvCxnSpPr>
        <p:spPr>
          <a:xfrm>
            <a:off x="5760154" y="3298749"/>
            <a:ext cx="281453"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9" name="Straight Arrow Connector 438"/>
          <p:cNvCxnSpPr>
            <a:endCxn id="443" idx="1"/>
          </p:cNvCxnSpPr>
          <p:nvPr/>
        </p:nvCxnSpPr>
        <p:spPr>
          <a:xfrm flipV="1">
            <a:off x="6281286" y="1287625"/>
            <a:ext cx="276339" cy="238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0" name="Straight Arrow Connector 439"/>
          <p:cNvCxnSpPr>
            <a:endCxn id="445" idx="1"/>
          </p:cNvCxnSpPr>
          <p:nvPr/>
        </p:nvCxnSpPr>
        <p:spPr>
          <a:xfrm flipV="1">
            <a:off x="6279875" y="2629019"/>
            <a:ext cx="277750" cy="437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1" name="Straight Arrow Connector 440"/>
          <p:cNvCxnSpPr>
            <a:endCxn id="444" idx="1"/>
          </p:cNvCxnSpPr>
          <p:nvPr/>
        </p:nvCxnSpPr>
        <p:spPr>
          <a:xfrm flipV="1">
            <a:off x="6284953" y="1946357"/>
            <a:ext cx="273345" cy="443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Straight Arrow Connector 441"/>
          <p:cNvCxnSpPr>
            <a:endCxn id="446" idx="1"/>
          </p:cNvCxnSpPr>
          <p:nvPr/>
        </p:nvCxnSpPr>
        <p:spPr>
          <a:xfrm flipV="1">
            <a:off x="6279875" y="3296988"/>
            <a:ext cx="277750" cy="261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3" name="Rectangle 442"/>
          <p:cNvSpPr/>
          <p:nvPr/>
        </p:nvSpPr>
        <p:spPr>
          <a:xfrm>
            <a:off x="6557625" y="1066058"/>
            <a:ext cx="142876" cy="443135"/>
          </a:xfrm>
          <a:prstGeom prst="rect">
            <a:avLst/>
          </a:prstGeom>
          <a:solidFill>
            <a:srgbClr val="0070C0">
              <a:alpha val="82000"/>
            </a:srgbClr>
          </a:solid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4" name="Rectangle 443"/>
          <p:cNvSpPr/>
          <p:nvPr/>
        </p:nvSpPr>
        <p:spPr>
          <a:xfrm>
            <a:off x="6558298" y="1724790"/>
            <a:ext cx="142876" cy="443135"/>
          </a:xfrm>
          <a:prstGeom prst="rect">
            <a:avLst/>
          </a:prstGeom>
          <a:solidFill>
            <a:srgbClr val="0070C0">
              <a:alpha val="82000"/>
            </a:srgbClr>
          </a:solid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5" name="Rectangle 444"/>
          <p:cNvSpPr/>
          <p:nvPr/>
        </p:nvSpPr>
        <p:spPr>
          <a:xfrm>
            <a:off x="6557625" y="2407451"/>
            <a:ext cx="142876" cy="443135"/>
          </a:xfrm>
          <a:prstGeom prst="rect">
            <a:avLst/>
          </a:prstGeom>
          <a:solidFill>
            <a:srgbClr val="0070C0">
              <a:alpha val="82000"/>
            </a:srgbClr>
          </a:solid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6" name="Rectangle 445"/>
          <p:cNvSpPr/>
          <p:nvPr/>
        </p:nvSpPr>
        <p:spPr>
          <a:xfrm>
            <a:off x="6557625" y="3075421"/>
            <a:ext cx="142876" cy="443135"/>
          </a:xfrm>
          <a:prstGeom prst="rect">
            <a:avLst/>
          </a:prstGeom>
          <a:solidFill>
            <a:srgbClr val="0070C0">
              <a:alpha val="82000"/>
            </a:srgbClr>
          </a:solid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7" name="Plus 446"/>
          <p:cNvSpPr/>
          <p:nvPr/>
        </p:nvSpPr>
        <p:spPr>
          <a:xfrm>
            <a:off x="6742058" y="1210248"/>
            <a:ext cx="145711" cy="154754"/>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8" name="Plus 447"/>
          <p:cNvSpPr/>
          <p:nvPr/>
        </p:nvSpPr>
        <p:spPr>
          <a:xfrm>
            <a:off x="6738214" y="1868980"/>
            <a:ext cx="145711" cy="154754"/>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9" name="Plus 448"/>
          <p:cNvSpPr/>
          <p:nvPr/>
        </p:nvSpPr>
        <p:spPr>
          <a:xfrm>
            <a:off x="6737704" y="2526357"/>
            <a:ext cx="145711" cy="154754"/>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0" name="Plus 449"/>
          <p:cNvSpPr/>
          <p:nvPr/>
        </p:nvSpPr>
        <p:spPr>
          <a:xfrm>
            <a:off x="6740321" y="3219611"/>
            <a:ext cx="145711" cy="154754"/>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1" name="Rectangle 450"/>
          <p:cNvSpPr/>
          <p:nvPr/>
        </p:nvSpPr>
        <p:spPr>
          <a:xfrm>
            <a:off x="6920455" y="1067725"/>
            <a:ext cx="142876" cy="443135"/>
          </a:xfrm>
          <a:prstGeom prst="rect">
            <a:avLst/>
          </a:prstGeom>
          <a:solidFill>
            <a:srgbClr val="FF9999">
              <a:alpha val="70000"/>
            </a:srgbClr>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2" name="Rectangle 451"/>
          <p:cNvSpPr/>
          <p:nvPr/>
        </p:nvSpPr>
        <p:spPr>
          <a:xfrm>
            <a:off x="6921128" y="1726458"/>
            <a:ext cx="142876" cy="443135"/>
          </a:xfrm>
          <a:prstGeom prst="rect">
            <a:avLst/>
          </a:prstGeom>
          <a:solidFill>
            <a:srgbClr val="FF9999">
              <a:alpha val="70000"/>
            </a:srgbClr>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3" name="Rectangle 452"/>
          <p:cNvSpPr/>
          <p:nvPr/>
        </p:nvSpPr>
        <p:spPr>
          <a:xfrm>
            <a:off x="6920455" y="2409119"/>
            <a:ext cx="142876" cy="443135"/>
          </a:xfrm>
          <a:prstGeom prst="rect">
            <a:avLst/>
          </a:prstGeom>
          <a:solidFill>
            <a:srgbClr val="FF9999">
              <a:alpha val="70000"/>
            </a:srgbClr>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4" name="Rectangle 453"/>
          <p:cNvSpPr/>
          <p:nvPr/>
        </p:nvSpPr>
        <p:spPr>
          <a:xfrm>
            <a:off x="6920455" y="3077089"/>
            <a:ext cx="142876" cy="443135"/>
          </a:xfrm>
          <a:prstGeom prst="rect">
            <a:avLst/>
          </a:prstGeom>
          <a:solidFill>
            <a:srgbClr val="FF9999">
              <a:alpha val="70000"/>
            </a:srgbClr>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55" name="Straight Arrow Connector 454"/>
          <p:cNvCxnSpPr>
            <a:stCxn id="451" idx="3"/>
          </p:cNvCxnSpPr>
          <p:nvPr/>
        </p:nvCxnSpPr>
        <p:spPr>
          <a:xfrm flipV="1">
            <a:off x="7063332" y="1287249"/>
            <a:ext cx="281453" cy="204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p:cNvCxnSpPr/>
          <p:nvPr/>
        </p:nvCxnSpPr>
        <p:spPr>
          <a:xfrm flipV="1">
            <a:off x="7066362" y="2635059"/>
            <a:ext cx="278422" cy="28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Straight Arrow Connector 456"/>
          <p:cNvCxnSpPr>
            <a:stCxn id="452" idx="3"/>
          </p:cNvCxnSpPr>
          <p:nvPr/>
        </p:nvCxnSpPr>
        <p:spPr>
          <a:xfrm>
            <a:off x="7064004" y="1948024"/>
            <a:ext cx="28078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p:cNvCxnSpPr>
            <a:stCxn id="454" idx="3"/>
          </p:cNvCxnSpPr>
          <p:nvPr/>
        </p:nvCxnSpPr>
        <p:spPr>
          <a:xfrm>
            <a:off x="7063332" y="3298656"/>
            <a:ext cx="281453"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9" name="Rectangle 458"/>
          <p:cNvSpPr/>
          <p:nvPr/>
        </p:nvSpPr>
        <p:spPr>
          <a:xfrm>
            <a:off x="7331591" y="1135613"/>
            <a:ext cx="234362" cy="2336741"/>
          </a:xfrm>
          <a:prstGeom prst="rect">
            <a:avLst/>
          </a:prstGeom>
          <a:solidFill>
            <a:schemeClr val="accent2">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900" dirty="0">
                <a:latin typeface="Times New Roman" panose="02020603050405020304" pitchFamily="18" charset="0"/>
                <a:cs typeface="Times New Roman" panose="02020603050405020304" pitchFamily="18" charset="0"/>
              </a:rPr>
              <a:t>LAYER NORMALIZATION</a:t>
            </a:r>
            <a:endParaRPr lang="en-IN" sz="900" dirty="0"/>
          </a:p>
        </p:txBody>
      </p:sp>
      <p:cxnSp>
        <p:nvCxnSpPr>
          <p:cNvPr id="460" name="Straight Arrow Connector 459"/>
          <p:cNvCxnSpPr>
            <a:endCxn id="464" idx="1"/>
          </p:cNvCxnSpPr>
          <p:nvPr/>
        </p:nvCxnSpPr>
        <p:spPr>
          <a:xfrm flipV="1">
            <a:off x="7567364" y="1287625"/>
            <a:ext cx="276339" cy="2386"/>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p:cNvCxnSpPr>
            <a:endCxn id="466" idx="1"/>
          </p:cNvCxnSpPr>
          <p:nvPr/>
        </p:nvCxnSpPr>
        <p:spPr>
          <a:xfrm flipV="1">
            <a:off x="7565953" y="2629019"/>
            <a:ext cx="277750" cy="4373"/>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p:cNvCxnSpPr>
            <a:endCxn id="465" idx="1"/>
          </p:cNvCxnSpPr>
          <p:nvPr/>
        </p:nvCxnSpPr>
        <p:spPr>
          <a:xfrm flipV="1">
            <a:off x="7571031" y="1946357"/>
            <a:ext cx="273345" cy="443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3" name="Straight Arrow Connector 462"/>
          <p:cNvCxnSpPr>
            <a:endCxn id="467" idx="1"/>
          </p:cNvCxnSpPr>
          <p:nvPr/>
        </p:nvCxnSpPr>
        <p:spPr>
          <a:xfrm flipV="1">
            <a:off x="7565953" y="3296988"/>
            <a:ext cx="277750" cy="261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4" name="Rectangle 463"/>
          <p:cNvSpPr/>
          <p:nvPr/>
        </p:nvSpPr>
        <p:spPr>
          <a:xfrm>
            <a:off x="7843703" y="1066058"/>
            <a:ext cx="142876" cy="443135"/>
          </a:xfrm>
          <a:prstGeom prst="rect">
            <a:avLst/>
          </a:prstGeom>
          <a:solidFill>
            <a:srgbClr val="66FFFF">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5" name="Rectangle 464"/>
          <p:cNvSpPr/>
          <p:nvPr/>
        </p:nvSpPr>
        <p:spPr>
          <a:xfrm>
            <a:off x="7844375" y="1724790"/>
            <a:ext cx="142876" cy="443135"/>
          </a:xfrm>
          <a:prstGeom prst="rect">
            <a:avLst/>
          </a:prstGeom>
          <a:solidFill>
            <a:srgbClr val="66FFFF">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6" name="Rectangle 465"/>
          <p:cNvSpPr/>
          <p:nvPr/>
        </p:nvSpPr>
        <p:spPr>
          <a:xfrm>
            <a:off x="7843703" y="2407451"/>
            <a:ext cx="142876" cy="443135"/>
          </a:xfrm>
          <a:prstGeom prst="rect">
            <a:avLst/>
          </a:prstGeom>
          <a:solidFill>
            <a:srgbClr val="66FFFF">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7" name="Rectangle 466"/>
          <p:cNvSpPr/>
          <p:nvPr/>
        </p:nvSpPr>
        <p:spPr>
          <a:xfrm>
            <a:off x="7843703" y="3075421"/>
            <a:ext cx="142876" cy="443135"/>
          </a:xfrm>
          <a:prstGeom prst="rect">
            <a:avLst/>
          </a:prstGeom>
          <a:solidFill>
            <a:srgbClr val="66FFFF">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8" name="Rectangle 467"/>
          <p:cNvSpPr/>
          <p:nvPr/>
        </p:nvSpPr>
        <p:spPr>
          <a:xfrm>
            <a:off x="8271791" y="1145169"/>
            <a:ext cx="234362" cy="2308664"/>
          </a:xfrm>
          <a:prstGeom prst="rect">
            <a:avLst/>
          </a:prstGeom>
          <a:solidFill>
            <a:schemeClr val="accent2">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800" dirty="0">
                <a:latin typeface="Times New Roman" panose="02020603050405020304" pitchFamily="18" charset="0"/>
                <a:cs typeface="Times New Roman" panose="02020603050405020304" pitchFamily="18" charset="0"/>
              </a:rPr>
              <a:t>FEED FORWARD NEURAL NETWORK</a:t>
            </a:r>
            <a:endParaRPr lang="en-IN" sz="800" dirty="0"/>
          </a:p>
        </p:txBody>
      </p:sp>
      <p:cxnSp>
        <p:nvCxnSpPr>
          <p:cNvPr id="469" name="Straight Arrow Connector 468"/>
          <p:cNvCxnSpPr>
            <a:stCxn id="464" idx="3"/>
          </p:cNvCxnSpPr>
          <p:nvPr/>
        </p:nvCxnSpPr>
        <p:spPr>
          <a:xfrm flipV="1">
            <a:off x="7986579" y="1285582"/>
            <a:ext cx="281453" cy="204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0" name="Straight Arrow Connector 469"/>
          <p:cNvCxnSpPr/>
          <p:nvPr/>
        </p:nvCxnSpPr>
        <p:spPr>
          <a:xfrm flipV="1">
            <a:off x="7989610" y="2633391"/>
            <a:ext cx="278422" cy="28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1" name="Straight Arrow Connector 470"/>
          <p:cNvCxnSpPr>
            <a:stCxn id="465" idx="3"/>
          </p:cNvCxnSpPr>
          <p:nvPr/>
        </p:nvCxnSpPr>
        <p:spPr>
          <a:xfrm>
            <a:off x="7987252" y="1946357"/>
            <a:ext cx="28078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2" name="Straight Arrow Connector 471"/>
          <p:cNvCxnSpPr>
            <a:stCxn id="467" idx="3"/>
          </p:cNvCxnSpPr>
          <p:nvPr/>
        </p:nvCxnSpPr>
        <p:spPr>
          <a:xfrm>
            <a:off x="7986579" y="3296988"/>
            <a:ext cx="281453"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3" name="Straight Arrow Connector 472"/>
          <p:cNvCxnSpPr>
            <a:endCxn id="477" idx="1"/>
          </p:cNvCxnSpPr>
          <p:nvPr/>
        </p:nvCxnSpPr>
        <p:spPr>
          <a:xfrm flipV="1">
            <a:off x="8507711" y="1297181"/>
            <a:ext cx="276339" cy="238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4" name="Straight Arrow Connector 473"/>
          <p:cNvCxnSpPr>
            <a:endCxn id="479" idx="1"/>
          </p:cNvCxnSpPr>
          <p:nvPr/>
        </p:nvCxnSpPr>
        <p:spPr>
          <a:xfrm flipV="1">
            <a:off x="8506301" y="2638574"/>
            <a:ext cx="277750" cy="437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5" name="Straight Arrow Connector 474"/>
          <p:cNvCxnSpPr>
            <a:endCxn id="478" idx="1"/>
          </p:cNvCxnSpPr>
          <p:nvPr/>
        </p:nvCxnSpPr>
        <p:spPr>
          <a:xfrm flipV="1">
            <a:off x="8511378" y="1955913"/>
            <a:ext cx="273345" cy="443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6" name="Straight Arrow Connector 475"/>
          <p:cNvCxnSpPr>
            <a:endCxn id="480" idx="1"/>
          </p:cNvCxnSpPr>
          <p:nvPr/>
        </p:nvCxnSpPr>
        <p:spPr>
          <a:xfrm flipV="1">
            <a:off x="8506301" y="3306544"/>
            <a:ext cx="277750" cy="261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7" name="Rectangle 476"/>
          <p:cNvSpPr/>
          <p:nvPr/>
        </p:nvSpPr>
        <p:spPr>
          <a:xfrm>
            <a:off x="8784050" y="1075613"/>
            <a:ext cx="142876" cy="44313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8" name="Rectangle 477"/>
          <p:cNvSpPr/>
          <p:nvPr/>
        </p:nvSpPr>
        <p:spPr>
          <a:xfrm>
            <a:off x="8784723" y="1734345"/>
            <a:ext cx="142876" cy="44313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9" name="Rectangle 478"/>
          <p:cNvSpPr/>
          <p:nvPr/>
        </p:nvSpPr>
        <p:spPr>
          <a:xfrm>
            <a:off x="8784050" y="2417007"/>
            <a:ext cx="142876" cy="44313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0" name="Rectangle 479"/>
          <p:cNvSpPr/>
          <p:nvPr/>
        </p:nvSpPr>
        <p:spPr>
          <a:xfrm>
            <a:off x="8784050" y="3084977"/>
            <a:ext cx="142876" cy="44313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1" name="Plus 480"/>
          <p:cNvSpPr/>
          <p:nvPr/>
        </p:nvSpPr>
        <p:spPr>
          <a:xfrm>
            <a:off x="8968483" y="1219804"/>
            <a:ext cx="145711" cy="154754"/>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2" name="Plus 481"/>
          <p:cNvSpPr/>
          <p:nvPr/>
        </p:nvSpPr>
        <p:spPr>
          <a:xfrm>
            <a:off x="8964639" y="1878536"/>
            <a:ext cx="145711" cy="154754"/>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3" name="Plus 482"/>
          <p:cNvSpPr/>
          <p:nvPr/>
        </p:nvSpPr>
        <p:spPr>
          <a:xfrm>
            <a:off x="8964129" y="2535914"/>
            <a:ext cx="145711" cy="154754"/>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4" name="Plus 483"/>
          <p:cNvSpPr/>
          <p:nvPr/>
        </p:nvSpPr>
        <p:spPr>
          <a:xfrm>
            <a:off x="8966747" y="3229167"/>
            <a:ext cx="145711" cy="154754"/>
          </a:xfrm>
          <a:prstGeom prst="mathPlus">
            <a:avLst>
              <a:gd name="adj1" fmla="val 4770"/>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5" name="Rectangle 484"/>
          <p:cNvSpPr/>
          <p:nvPr/>
        </p:nvSpPr>
        <p:spPr>
          <a:xfrm>
            <a:off x="9146880" y="1077281"/>
            <a:ext cx="142876" cy="44313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6" name="Rectangle 485"/>
          <p:cNvSpPr/>
          <p:nvPr/>
        </p:nvSpPr>
        <p:spPr>
          <a:xfrm>
            <a:off x="9147553" y="1736014"/>
            <a:ext cx="142876" cy="44313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7" name="Rectangle 486"/>
          <p:cNvSpPr/>
          <p:nvPr/>
        </p:nvSpPr>
        <p:spPr>
          <a:xfrm>
            <a:off x="9146880" y="2418675"/>
            <a:ext cx="142876" cy="44313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8" name="Rectangle 487"/>
          <p:cNvSpPr/>
          <p:nvPr/>
        </p:nvSpPr>
        <p:spPr>
          <a:xfrm>
            <a:off x="9146880" y="3086644"/>
            <a:ext cx="142876" cy="443135"/>
          </a:xfrm>
          <a:prstGeom prst="rect">
            <a:avLst/>
          </a:prstGeom>
          <a:solidFill>
            <a:srgbClr val="00B05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9" name="Straight Arrow Connector 488"/>
          <p:cNvCxnSpPr>
            <a:stCxn id="485" idx="3"/>
          </p:cNvCxnSpPr>
          <p:nvPr/>
        </p:nvCxnSpPr>
        <p:spPr>
          <a:xfrm flipV="1">
            <a:off x="9289757" y="1296805"/>
            <a:ext cx="281453" cy="204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p:cNvCxnSpPr/>
          <p:nvPr/>
        </p:nvCxnSpPr>
        <p:spPr>
          <a:xfrm flipV="1">
            <a:off x="9292787" y="2644615"/>
            <a:ext cx="278422" cy="28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1" name="Straight Arrow Connector 490"/>
          <p:cNvCxnSpPr>
            <a:stCxn id="486" idx="3"/>
          </p:cNvCxnSpPr>
          <p:nvPr/>
        </p:nvCxnSpPr>
        <p:spPr>
          <a:xfrm>
            <a:off x="9290429" y="1957581"/>
            <a:ext cx="28078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2" name="Straight Arrow Connector 491"/>
          <p:cNvCxnSpPr>
            <a:stCxn id="488" idx="3"/>
          </p:cNvCxnSpPr>
          <p:nvPr/>
        </p:nvCxnSpPr>
        <p:spPr>
          <a:xfrm>
            <a:off x="9289757" y="3308212"/>
            <a:ext cx="281453"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3" name="Rectangle 492"/>
          <p:cNvSpPr/>
          <p:nvPr/>
        </p:nvSpPr>
        <p:spPr>
          <a:xfrm>
            <a:off x="9563102" y="1070430"/>
            <a:ext cx="142876" cy="443135"/>
          </a:xfrm>
          <a:prstGeom prst="rect">
            <a:avLst/>
          </a:prstGeom>
          <a:solidFill>
            <a:srgbClr val="A9AB4F"/>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4" name="Rectangle 493"/>
          <p:cNvSpPr/>
          <p:nvPr/>
        </p:nvSpPr>
        <p:spPr>
          <a:xfrm>
            <a:off x="9563774" y="1729163"/>
            <a:ext cx="142876" cy="443135"/>
          </a:xfrm>
          <a:prstGeom prst="rect">
            <a:avLst/>
          </a:prstGeom>
          <a:solidFill>
            <a:srgbClr val="A9AB4F"/>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5" name="Rectangle 494"/>
          <p:cNvSpPr/>
          <p:nvPr/>
        </p:nvSpPr>
        <p:spPr>
          <a:xfrm>
            <a:off x="9563102" y="2411824"/>
            <a:ext cx="142876" cy="443135"/>
          </a:xfrm>
          <a:prstGeom prst="rect">
            <a:avLst/>
          </a:prstGeom>
          <a:solidFill>
            <a:srgbClr val="A9AB4F"/>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6" name="Rectangle 495"/>
          <p:cNvSpPr/>
          <p:nvPr/>
        </p:nvSpPr>
        <p:spPr>
          <a:xfrm>
            <a:off x="9563102" y="3079794"/>
            <a:ext cx="142876" cy="443135"/>
          </a:xfrm>
          <a:prstGeom prst="rect">
            <a:avLst/>
          </a:prstGeom>
          <a:solidFill>
            <a:srgbClr val="A9AB4F"/>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7" name="Left Bracket 496"/>
          <p:cNvSpPr/>
          <p:nvPr/>
        </p:nvSpPr>
        <p:spPr>
          <a:xfrm rot="16200000">
            <a:off x="6752226" y="3441175"/>
            <a:ext cx="116666" cy="642033"/>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98" name="Left Bracket 497"/>
          <p:cNvSpPr/>
          <p:nvPr/>
        </p:nvSpPr>
        <p:spPr>
          <a:xfrm rot="16200000">
            <a:off x="8978652" y="3450770"/>
            <a:ext cx="116666" cy="642033"/>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00" name="TextBox 499">
            <a:extLst>
              <a:ext uri="{FF2B5EF4-FFF2-40B4-BE49-F238E27FC236}">
                <a16:creationId xmlns:a16="http://schemas.microsoft.com/office/drawing/2014/main" id="{168ABEAE-7EED-0371-3543-D8652B3854C2}"/>
              </a:ext>
            </a:extLst>
          </p:cNvPr>
          <p:cNvSpPr txBox="1"/>
          <p:nvPr/>
        </p:nvSpPr>
        <p:spPr>
          <a:xfrm rot="5400000">
            <a:off x="9382427" y="2086631"/>
            <a:ext cx="2101273" cy="338554"/>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To next encoder layer</a:t>
            </a:r>
            <a:endParaRPr lang="en-IN" sz="1600" dirty="0">
              <a:latin typeface="Times New Roman" panose="02020603050405020304" pitchFamily="18" charset="0"/>
              <a:cs typeface="Times New Roman" panose="02020603050405020304" pitchFamily="18" charset="0"/>
            </a:endParaRPr>
          </a:p>
        </p:txBody>
      </p:sp>
      <p:sp>
        <p:nvSpPr>
          <p:cNvPr id="501" name="TextBox 500">
            <a:extLst>
              <a:ext uri="{FF2B5EF4-FFF2-40B4-BE49-F238E27FC236}">
                <a16:creationId xmlns:a16="http://schemas.microsoft.com/office/drawing/2014/main" id="{168ABEAE-7EED-0371-3543-D8652B3854C2}"/>
              </a:ext>
            </a:extLst>
          </p:cNvPr>
          <p:cNvSpPr txBox="1"/>
          <p:nvPr/>
        </p:nvSpPr>
        <p:spPr>
          <a:xfrm>
            <a:off x="8410659" y="3791374"/>
            <a:ext cx="1252650" cy="466809"/>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Add &amp; Normalization</a:t>
            </a:r>
            <a:endParaRPr lang="en-IN" sz="1400" dirty="0">
              <a:latin typeface="Times New Roman" panose="02020603050405020304" pitchFamily="18" charset="0"/>
              <a:cs typeface="Times New Roman" panose="02020603050405020304" pitchFamily="18" charset="0"/>
            </a:endParaRPr>
          </a:p>
        </p:txBody>
      </p:sp>
      <p:sp>
        <p:nvSpPr>
          <p:cNvPr id="502" name="TextBox 501">
            <a:extLst>
              <a:ext uri="{FF2B5EF4-FFF2-40B4-BE49-F238E27FC236}">
                <a16:creationId xmlns:a16="http://schemas.microsoft.com/office/drawing/2014/main" id="{168ABEAE-7EED-0371-3543-D8652B3854C2}"/>
              </a:ext>
            </a:extLst>
          </p:cNvPr>
          <p:cNvSpPr txBox="1"/>
          <p:nvPr/>
        </p:nvSpPr>
        <p:spPr>
          <a:xfrm>
            <a:off x="6208697" y="3782426"/>
            <a:ext cx="1252650" cy="466809"/>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Add &amp; Normalization</a:t>
            </a:r>
            <a:endParaRPr lang="en-IN" sz="1400" dirty="0">
              <a:latin typeface="Times New Roman" panose="02020603050405020304" pitchFamily="18" charset="0"/>
              <a:cs typeface="Times New Roman" panose="02020603050405020304" pitchFamily="18" charset="0"/>
            </a:endParaRPr>
          </a:p>
        </p:txBody>
      </p:sp>
      <p:sp>
        <p:nvSpPr>
          <p:cNvPr id="503" name="TextBox 502">
            <a:extLst>
              <a:ext uri="{FF2B5EF4-FFF2-40B4-BE49-F238E27FC236}">
                <a16:creationId xmlns:a16="http://schemas.microsoft.com/office/drawing/2014/main" id="{168ABEAE-7EED-0371-3543-D8652B3854C2}"/>
              </a:ext>
            </a:extLst>
          </p:cNvPr>
          <p:cNvSpPr txBox="1"/>
          <p:nvPr/>
        </p:nvSpPr>
        <p:spPr>
          <a:xfrm>
            <a:off x="5248885" y="3594628"/>
            <a:ext cx="832298" cy="466809"/>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Input to encoder</a:t>
            </a:r>
            <a:endParaRPr lang="en-IN" sz="1400" dirty="0">
              <a:latin typeface="Times New Roman" panose="02020603050405020304" pitchFamily="18" charset="0"/>
              <a:cs typeface="Times New Roman" panose="02020603050405020304" pitchFamily="18" charset="0"/>
            </a:endParaRPr>
          </a:p>
        </p:txBody>
      </p:sp>
      <p:sp>
        <p:nvSpPr>
          <p:cNvPr id="504" name="TextBox 503">
            <a:extLst>
              <a:ext uri="{FF2B5EF4-FFF2-40B4-BE49-F238E27FC236}">
                <a16:creationId xmlns:a16="http://schemas.microsoft.com/office/drawing/2014/main" id="{168ABEAE-7EED-0371-3543-D8652B3854C2}"/>
              </a:ext>
            </a:extLst>
          </p:cNvPr>
          <p:cNvSpPr txBox="1"/>
          <p:nvPr/>
        </p:nvSpPr>
        <p:spPr>
          <a:xfrm>
            <a:off x="4747301" y="445801"/>
            <a:ext cx="1047498" cy="466809"/>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Positional Encoding</a:t>
            </a:r>
            <a:endParaRPr lang="en-IN" sz="1400" dirty="0">
              <a:latin typeface="Times New Roman" panose="02020603050405020304" pitchFamily="18" charset="0"/>
              <a:cs typeface="Times New Roman" panose="02020603050405020304" pitchFamily="18" charset="0"/>
            </a:endParaRPr>
          </a:p>
        </p:txBody>
      </p:sp>
      <p:sp>
        <p:nvSpPr>
          <p:cNvPr id="505" name="Left Bracket 504"/>
          <p:cNvSpPr/>
          <p:nvPr/>
        </p:nvSpPr>
        <p:spPr>
          <a:xfrm rot="16200000">
            <a:off x="5626750" y="3461893"/>
            <a:ext cx="116666" cy="290871"/>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06" name="Left Bracket 505"/>
          <p:cNvSpPr/>
          <p:nvPr/>
        </p:nvSpPr>
        <p:spPr>
          <a:xfrm rot="5400000">
            <a:off x="5214162" y="845390"/>
            <a:ext cx="116666" cy="309710"/>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07" name="TextBox 506">
            <a:extLst>
              <a:ext uri="{FF2B5EF4-FFF2-40B4-BE49-F238E27FC236}">
                <a16:creationId xmlns:a16="http://schemas.microsoft.com/office/drawing/2014/main" id="{168ABEAE-7EED-0371-3543-D8652B3854C2}"/>
              </a:ext>
            </a:extLst>
          </p:cNvPr>
          <p:cNvSpPr txBox="1"/>
          <p:nvPr/>
        </p:nvSpPr>
        <p:spPr>
          <a:xfrm>
            <a:off x="4355099" y="3584515"/>
            <a:ext cx="1006494" cy="466809"/>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Word Embedding</a:t>
            </a:r>
            <a:endParaRPr lang="en-IN" sz="1400" dirty="0">
              <a:latin typeface="Times New Roman" panose="02020603050405020304" pitchFamily="18" charset="0"/>
              <a:cs typeface="Times New Roman" panose="02020603050405020304" pitchFamily="18" charset="0"/>
            </a:endParaRPr>
          </a:p>
        </p:txBody>
      </p:sp>
      <p:sp>
        <p:nvSpPr>
          <p:cNvPr id="508" name="Left Bracket 507"/>
          <p:cNvSpPr/>
          <p:nvPr/>
        </p:nvSpPr>
        <p:spPr>
          <a:xfrm rot="16200000">
            <a:off x="4839396" y="3410147"/>
            <a:ext cx="116666" cy="290871"/>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510" name="Straight Arrow Connector 509"/>
          <p:cNvCxnSpPr>
            <a:stCxn id="572" idx="3"/>
            <a:endCxn id="512" idx="1"/>
          </p:cNvCxnSpPr>
          <p:nvPr/>
        </p:nvCxnSpPr>
        <p:spPr>
          <a:xfrm>
            <a:off x="3256008" y="4766937"/>
            <a:ext cx="334977" cy="237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11" name="Group 510"/>
          <p:cNvGrpSpPr/>
          <p:nvPr/>
        </p:nvGrpSpPr>
        <p:grpSpPr>
          <a:xfrm>
            <a:off x="2275991" y="3756958"/>
            <a:ext cx="980017" cy="2019958"/>
            <a:chOff x="666750" y="1303815"/>
            <a:chExt cx="1183005" cy="2571505"/>
          </a:xfrm>
        </p:grpSpPr>
        <p:sp>
          <p:nvSpPr>
            <p:cNvPr id="572" name="Rounded Rectangle 571"/>
            <p:cNvSpPr/>
            <p:nvPr/>
          </p:nvSpPr>
          <p:spPr>
            <a:xfrm>
              <a:off x="666750" y="1303815"/>
              <a:ext cx="1183005" cy="2571505"/>
            </a:xfrm>
            <a:prstGeom prst="roundRect">
              <a:avLst>
                <a:gd name="adj" fmla="val 12450"/>
              </a:avLst>
            </a:prstGeom>
            <a:solidFill>
              <a:schemeClr val="accent2">
                <a:lumMod val="20000"/>
                <a:lumOff val="80000"/>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grpSp>
          <p:nvGrpSpPr>
            <p:cNvPr id="573" name="Group 572"/>
            <p:cNvGrpSpPr/>
            <p:nvPr/>
          </p:nvGrpSpPr>
          <p:grpSpPr>
            <a:xfrm>
              <a:off x="1588577" y="1369048"/>
              <a:ext cx="143782" cy="502124"/>
              <a:chOff x="2116943" y="2112159"/>
              <a:chExt cx="160187" cy="566252"/>
            </a:xfrm>
          </p:grpSpPr>
          <p:sp>
            <p:nvSpPr>
              <p:cNvPr id="598" name="Rectangle 597">
                <a:extLst>
                  <a:ext uri="{FF2B5EF4-FFF2-40B4-BE49-F238E27FC236}">
                    <a16:creationId xmlns:a16="http://schemas.microsoft.com/office/drawing/2014/main" id="{3CBFCDD1-8C86-47C3-AB82-364A1D43CCF6}"/>
                  </a:ext>
                </a:extLst>
              </p:cNvPr>
              <p:cNvSpPr/>
              <p:nvPr/>
            </p:nvSpPr>
            <p:spPr>
              <a:xfrm>
                <a:off x="2116943" y="2112159"/>
                <a:ext cx="160187" cy="141563"/>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99" name="Rectangle 598">
                <a:extLst>
                  <a:ext uri="{FF2B5EF4-FFF2-40B4-BE49-F238E27FC236}">
                    <a16:creationId xmlns:a16="http://schemas.microsoft.com/office/drawing/2014/main" id="{3CBFCDD1-8C86-47C3-AB82-364A1D43CCF6}"/>
                  </a:ext>
                </a:extLst>
              </p:cNvPr>
              <p:cNvSpPr/>
              <p:nvPr/>
            </p:nvSpPr>
            <p:spPr>
              <a:xfrm>
                <a:off x="2116943" y="2253722"/>
                <a:ext cx="160187" cy="141563"/>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600" name="Rectangle 599">
                <a:extLst>
                  <a:ext uri="{FF2B5EF4-FFF2-40B4-BE49-F238E27FC236}">
                    <a16:creationId xmlns:a16="http://schemas.microsoft.com/office/drawing/2014/main" id="{3CBFCDD1-8C86-47C3-AB82-364A1D43CCF6}"/>
                  </a:ext>
                </a:extLst>
              </p:cNvPr>
              <p:cNvSpPr/>
              <p:nvPr/>
            </p:nvSpPr>
            <p:spPr>
              <a:xfrm>
                <a:off x="2116943" y="2395285"/>
                <a:ext cx="160187" cy="141563"/>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601" name="Rectangle 600">
                <a:extLst>
                  <a:ext uri="{FF2B5EF4-FFF2-40B4-BE49-F238E27FC236}">
                    <a16:creationId xmlns:a16="http://schemas.microsoft.com/office/drawing/2014/main" id="{3CBFCDD1-8C86-47C3-AB82-364A1D43CCF6}"/>
                  </a:ext>
                </a:extLst>
              </p:cNvPr>
              <p:cNvSpPr/>
              <p:nvPr/>
            </p:nvSpPr>
            <p:spPr>
              <a:xfrm>
                <a:off x="2116943" y="2536848"/>
                <a:ext cx="160187" cy="141563"/>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grpSp>
        <p:sp>
          <p:nvSpPr>
            <p:cNvPr id="574" name="Rectangle 573">
              <a:extLst>
                <a:ext uri="{FF2B5EF4-FFF2-40B4-BE49-F238E27FC236}">
                  <a16:creationId xmlns:a16="http://schemas.microsoft.com/office/drawing/2014/main" id="{3CBFCDD1-8C86-47C3-AB82-364A1D43CCF6}"/>
                </a:ext>
              </a:extLst>
            </p:cNvPr>
            <p:cNvSpPr/>
            <p:nvPr/>
          </p:nvSpPr>
          <p:spPr>
            <a:xfrm>
              <a:off x="1588577" y="2123447"/>
              <a:ext cx="143782" cy="125531"/>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75" name="Rectangle 574">
              <a:extLst>
                <a:ext uri="{FF2B5EF4-FFF2-40B4-BE49-F238E27FC236}">
                  <a16:creationId xmlns:a16="http://schemas.microsoft.com/office/drawing/2014/main" id="{3CBFCDD1-8C86-47C3-AB82-364A1D43CCF6}"/>
                </a:ext>
              </a:extLst>
            </p:cNvPr>
            <p:cNvSpPr/>
            <p:nvPr/>
          </p:nvSpPr>
          <p:spPr>
            <a:xfrm>
              <a:off x="1588577" y="2376937"/>
              <a:ext cx="143782" cy="125531"/>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76" name="Rectangle 575">
              <a:extLst>
                <a:ext uri="{FF2B5EF4-FFF2-40B4-BE49-F238E27FC236}">
                  <a16:creationId xmlns:a16="http://schemas.microsoft.com/office/drawing/2014/main" id="{3CBFCDD1-8C86-47C3-AB82-364A1D43CCF6}"/>
                </a:ext>
              </a:extLst>
            </p:cNvPr>
            <p:cNvSpPr/>
            <p:nvPr/>
          </p:nvSpPr>
          <p:spPr>
            <a:xfrm>
              <a:off x="1588577" y="1996702"/>
              <a:ext cx="143782" cy="125531"/>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77" name="Rectangle 576">
              <a:extLst>
                <a:ext uri="{FF2B5EF4-FFF2-40B4-BE49-F238E27FC236}">
                  <a16:creationId xmlns:a16="http://schemas.microsoft.com/office/drawing/2014/main" id="{3CBFCDD1-8C86-47C3-AB82-364A1D43CCF6}"/>
                </a:ext>
              </a:extLst>
            </p:cNvPr>
            <p:cNvSpPr/>
            <p:nvPr/>
          </p:nvSpPr>
          <p:spPr>
            <a:xfrm>
              <a:off x="1588577" y="2248979"/>
              <a:ext cx="143782" cy="125531"/>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78" name="Rectangle 577">
              <a:extLst>
                <a:ext uri="{FF2B5EF4-FFF2-40B4-BE49-F238E27FC236}">
                  <a16:creationId xmlns:a16="http://schemas.microsoft.com/office/drawing/2014/main" id="{3CBFCDD1-8C86-47C3-AB82-364A1D43CCF6}"/>
                </a:ext>
              </a:extLst>
            </p:cNvPr>
            <p:cNvSpPr/>
            <p:nvPr/>
          </p:nvSpPr>
          <p:spPr>
            <a:xfrm>
              <a:off x="1588577" y="2881139"/>
              <a:ext cx="143782" cy="125531"/>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79" name="Rectangle 578">
              <a:extLst>
                <a:ext uri="{FF2B5EF4-FFF2-40B4-BE49-F238E27FC236}">
                  <a16:creationId xmlns:a16="http://schemas.microsoft.com/office/drawing/2014/main" id="{3CBFCDD1-8C86-47C3-AB82-364A1D43CCF6}"/>
                </a:ext>
              </a:extLst>
            </p:cNvPr>
            <p:cNvSpPr/>
            <p:nvPr/>
          </p:nvSpPr>
          <p:spPr>
            <a:xfrm>
              <a:off x="1588577" y="2630077"/>
              <a:ext cx="143782" cy="125531"/>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80" name="Rectangle 579">
              <a:extLst>
                <a:ext uri="{FF2B5EF4-FFF2-40B4-BE49-F238E27FC236}">
                  <a16:creationId xmlns:a16="http://schemas.microsoft.com/office/drawing/2014/main" id="{3CBFCDD1-8C86-47C3-AB82-364A1D43CCF6}"/>
                </a:ext>
              </a:extLst>
            </p:cNvPr>
            <p:cNvSpPr/>
            <p:nvPr/>
          </p:nvSpPr>
          <p:spPr>
            <a:xfrm>
              <a:off x="1588577" y="3006670"/>
              <a:ext cx="143782" cy="125531"/>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81" name="Rectangle 580">
              <a:extLst>
                <a:ext uri="{FF2B5EF4-FFF2-40B4-BE49-F238E27FC236}">
                  <a16:creationId xmlns:a16="http://schemas.microsoft.com/office/drawing/2014/main" id="{3CBFCDD1-8C86-47C3-AB82-364A1D43CCF6}"/>
                </a:ext>
              </a:extLst>
            </p:cNvPr>
            <p:cNvSpPr/>
            <p:nvPr/>
          </p:nvSpPr>
          <p:spPr>
            <a:xfrm>
              <a:off x="1588577" y="2755608"/>
              <a:ext cx="143782" cy="125531"/>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82" name="Rectangle 581">
              <a:extLst>
                <a:ext uri="{FF2B5EF4-FFF2-40B4-BE49-F238E27FC236}">
                  <a16:creationId xmlns:a16="http://schemas.microsoft.com/office/drawing/2014/main" id="{3CBFCDD1-8C86-47C3-AB82-364A1D43CCF6}"/>
                </a:ext>
              </a:extLst>
            </p:cNvPr>
            <p:cNvSpPr/>
            <p:nvPr/>
          </p:nvSpPr>
          <p:spPr>
            <a:xfrm>
              <a:off x="1588577" y="3634326"/>
              <a:ext cx="143782" cy="125531"/>
            </a:xfrm>
            <a:prstGeom prst="rect">
              <a:avLst/>
            </a:prstGeom>
            <a:solidFill>
              <a:schemeClr val="accent6">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83" name="Rectangle 582">
              <a:extLst>
                <a:ext uri="{FF2B5EF4-FFF2-40B4-BE49-F238E27FC236}">
                  <a16:creationId xmlns:a16="http://schemas.microsoft.com/office/drawing/2014/main" id="{3CBFCDD1-8C86-47C3-AB82-364A1D43CCF6}"/>
                </a:ext>
              </a:extLst>
            </p:cNvPr>
            <p:cNvSpPr/>
            <p:nvPr/>
          </p:nvSpPr>
          <p:spPr>
            <a:xfrm>
              <a:off x="1588577" y="3508795"/>
              <a:ext cx="143782" cy="125531"/>
            </a:xfrm>
            <a:prstGeom prst="rect">
              <a:avLst/>
            </a:prstGeom>
            <a:solidFill>
              <a:schemeClr val="accent6">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84" name="Rectangle 583">
              <a:extLst>
                <a:ext uri="{FF2B5EF4-FFF2-40B4-BE49-F238E27FC236}">
                  <a16:creationId xmlns:a16="http://schemas.microsoft.com/office/drawing/2014/main" id="{3CBFCDD1-8C86-47C3-AB82-364A1D43CCF6}"/>
                </a:ext>
              </a:extLst>
            </p:cNvPr>
            <p:cNvSpPr/>
            <p:nvPr/>
          </p:nvSpPr>
          <p:spPr>
            <a:xfrm>
              <a:off x="1588577" y="3383264"/>
              <a:ext cx="143782" cy="125531"/>
            </a:xfrm>
            <a:prstGeom prst="rect">
              <a:avLst/>
            </a:prstGeom>
            <a:solidFill>
              <a:schemeClr val="accent6">
                <a:lumMod val="75000"/>
                <a:alpha val="92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85" name="Rectangle 584">
              <a:extLst>
                <a:ext uri="{FF2B5EF4-FFF2-40B4-BE49-F238E27FC236}">
                  <a16:creationId xmlns:a16="http://schemas.microsoft.com/office/drawing/2014/main" id="{3CBFCDD1-8C86-47C3-AB82-364A1D43CCF6}"/>
                </a:ext>
              </a:extLst>
            </p:cNvPr>
            <p:cNvSpPr/>
            <p:nvPr/>
          </p:nvSpPr>
          <p:spPr>
            <a:xfrm>
              <a:off x="1588577" y="3257732"/>
              <a:ext cx="143782" cy="125531"/>
            </a:xfrm>
            <a:prstGeom prst="rect">
              <a:avLst/>
            </a:prstGeom>
            <a:solidFill>
              <a:schemeClr val="accent6">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86" name="TextBox 585">
              <a:extLst>
                <a:ext uri="{FF2B5EF4-FFF2-40B4-BE49-F238E27FC236}">
                  <a16:creationId xmlns:a16="http://schemas.microsoft.com/office/drawing/2014/main" id="{9EF45905-DB18-49B6-9565-CE8D8F1375A9}"/>
                </a:ext>
              </a:extLst>
            </p:cNvPr>
            <p:cNvSpPr txBox="1"/>
            <p:nvPr/>
          </p:nvSpPr>
          <p:spPr>
            <a:xfrm>
              <a:off x="936344" y="1438250"/>
              <a:ext cx="434632" cy="391815"/>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Is</a:t>
              </a:r>
              <a:endParaRPr lang="en-IN" sz="1400" baseline="-25000" dirty="0">
                <a:latin typeface="Times New Roman" panose="02020603050405020304" pitchFamily="18" charset="0"/>
                <a:cs typeface="Times New Roman" panose="02020603050405020304" pitchFamily="18" charset="0"/>
              </a:endParaRPr>
            </a:p>
          </p:txBody>
        </p:sp>
        <p:sp>
          <p:nvSpPr>
            <p:cNvPr id="587" name="Rounded Rectangle 586"/>
            <p:cNvSpPr/>
            <p:nvPr/>
          </p:nvSpPr>
          <p:spPr>
            <a:xfrm>
              <a:off x="916193" y="1469222"/>
              <a:ext cx="397924" cy="31209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588" name="TextBox 587">
              <a:extLst>
                <a:ext uri="{FF2B5EF4-FFF2-40B4-BE49-F238E27FC236}">
                  <a16:creationId xmlns:a16="http://schemas.microsoft.com/office/drawing/2014/main" id="{9EF45905-DB18-49B6-9565-CE8D8F1375A9}"/>
                </a:ext>
              </a:extLst>
            </p:cNvPr>
            <p:cNvSpPr txBox="1"/>
            <p:nvPr/>
          </p:nvSpPr>
          <p:spPr>
            <a:xfrm>
              <a:off x="745241" y="2057900"/>
              <a:ext cx="618235" cy="391815"/>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mac</a:t>
              </a:r>
              <a:endParaRPr lang="en-IN" sz="1400" baseline="-25000" dirty="0">
                <a:latin typeface="Times New Roman" panose="02020603050405020304" pitchFamily="18" charset="0"/>
                <a:cs typeface="Times New Roman" panose="02020603050405020304" pitchFamily="18" charset="0"/>
              </a:endParaRPr>
            </a:p>
          </p:txBody>
        </p:sp>
        <p:sp>
          <p:nvSpPr>
            <p:cNvPr id="589" name="Rounded Rectangle 588"/>
            <p:cNvSpPr/>
            <p:nvPr/>
          </p:nvSpPr>
          <p:spPr>
            <a:xfrm>
              <a:off x="749539" y="2114364"/>
              <a:ext cx="569337" cy="28839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590" name="TextBox 589">
              <a:extLst>
                <a:ext uri="{FF2B5EF4-FFF2-40B4-BE49-F238E27FC236}">
                  <a16:creationId xmlns:a16="http://schemas.microsoft.com/office/drawing/2014/main" id="{9EF45905-DB18-49B6-9565-CE8D8F1375A9}"/>
                </a:ext>
              </a:extLst>
            </p:cNvPr>
            <p:cNvSpPr txBox="1"/>
            <p:nvPr/>
          </p:nvSpPr>
          <p:spPr>
            <a:xfrm>
              <a:off x="837797" y="3316412"/>
              <a:ext cx="525678" cy="391815"/>
            </a:xfrm>
            <a:prstGeom prst="rect">
              <a:avLst/>
            </a:prstGeom>
            <a:noFill/>
          </p:spPr>
          <p:txBody>
            <a:bodyPr wrap="square" rtlCol="0">
              <a:spAutoFit/>
            </a:bodyPr>
            <a:lstStyle/>
            <a:p>
              <a:r>
                <a:rPr lang="en-IN" sz="1400" dirty="0" err="1">
                  <a:latin typeface="Times New Roman" panose="02020603050405020304" pitchFamily="18" charset="0"/>
                  <a:cs typeface="Times New Roman" panose="02020603050405020304" pitchFamily="18" charset="0"/>
                </a:rPr>
                <a:t>mé</a:t>
              </a:r>
              <a:endParaRPr lang="en-IN" sz="1400" dirty="0">
                <a:latin typeface="Times New Roman" panose="02020603050405020304" pitchFamily="18" charset="0"/>
                <a:cs typeface="Times New Roman" panose="02020603050405020304" pitchFamily="18" charset="0"/>
              </a:endParaRPr>
            </a:p>
          </p:txBody>
        </p:sp>
        <p:cxnSp>
          <p:nvCxnSpPr>
            <p:cNvPr id="591" name="Straight Arrow Connector 590"/>
            <p:cNvCxnSpPr>
              <a:stCxn id="587" idx="3"/>
            </p:cNvCxnSpPr>
            <p:nvPr/>
          </p:nvCxnSpPr>
          <p:spPr>
            <a:xfrm flipV="1">
              <a:off x="1314117" y="1621938"/>
              <a:ext cx="268892" cy="333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2" name="Straight Arrow Connector 591"/>
            <p:cNvCxnSpPr>
              <a:stCxn id="594" idx="3"/>
            </p:cNvCxnSpPr>
            <p:nvPr/>
          </p:nvCxnSpPr>
          <p:spPr>
            <a:xfrm flipV="1">
              <a:off x="1316556" y="2881139"/>
              <a:ext cx="266453" cy="296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3" name="TextBox 592"/>
            <p:cNvSpPr txBox="1"/>
            <p:nvPr/>
          </p:nvSpPr>
          <p:spPr>
            <a:xfrm>
              <a:off x="734173" y="2807968"/>
              <a:ext cx="656362" cy="227252"/>
            </a:xfrm>
            <a:prstGeom prst="rect">
              <a:avLst/>
            </a:prstGeom>
            <a:noFill/>
          </p:spPr>
          <p:txBody>
            <a:bodyPr wrap="none" rtlCol="0">
              <a:spAutoFit/>
            </a:bodyPr>
            <a:lstStyle/>
            <a:p>
              <a:pPr>
                <a:lnSpc>
                  <a:spcPct val="40000"/>
                </a:lnSpc>
              </a:pPr>
              <a:r>
                <a:rPr lang="en-IN" sz="1400" dirty="0">
                  <a:latin typeface="Times New Roman" panose="02020603050405020304" pitchFamily="18" charset="0"/>
                  <a:cs typeface="Times New Roman" panose="02020603050405020304" pitchFamily="18" charset="0"/>
                </a:rPr>
                <a:t>léinn</a:t>
              </a:r>
            </a:p>
          </p:txBody>
        </p:sp>
        <p:sp>
          <p:nvSpPr>
            <p:cNvPr id="594" name="Rounded Rectangle 593"/>
            <p:cNvSpPr/>
            <p:nvPr/>
          </p:nvSpPr>
          <p:spPr>
            <a:xfrm>
              <a:off x="747219" y="2739909"/>
              <a:ext cx="569337" cy="28839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595" name="Straight Arrow Connector 594"/>
            <p:cNvCxnSpPr>
              <a:stCxn id="589" idx="3"/>
            </p:cNvCxnSpPr>
            <p:nvPr/>
          </p:nvCxnSpPr>
          <p:spPr>
            <a:xfrm flipV="1">
              <a:off x="1318876" y="2253808"/>
              <a:ext cx="266270" cy="475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6" name="Rounded Rectangle 595"/>
            <p:cNvSpPr/>
            <p:nvPr/>
          </p:nvSpPr>
          <p:spPr>
            <a:xfrm>
              <a:off x="778974" y="3368951"/>
              <a:ext cx="535143" cy="28839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597" name="Straight Arrow Connector 596"/>
            <p:cNvCxnSpPr>
              <a:stCxn id="596" idx="3"/>
            </p:cNvCxnSpPr>
            <p:nvPr/>
          </p:nvCxnSpPr>
          <p:spPr>
            <a:xfrm>
              <a:off x="1314117" y="3513148"/>
              <a:ext cx="26889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512" name="TextBox 511"/>
          <p:cNvSpPr txBox="1"/>
          <p:nvPr/>
        </p:nvSpPr>
        <p:spPr>
          <a:xfrm>
            <a:off x="3590985" y="4630814"/>
            <a:ext cx="910827"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ENCODER</a:t>
            </a:r>
          </a:p>
        </p:txBody>
      </p:sp>
      <p:sp>
        <p:nvSpPr>
          <p:cNvPr id="513" name="TextBox 512"/>
          <p:cNvSpPr txBox="1"/>
          <p:nvPr/>
        </p:nvSpPr>
        <p:spPr>
          <a:xfrm>
            <a:off x="4650828" y="4630866"/>
            <a:ext cx="910827"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ENCODER</a:t>
            </a:r>
          </a:p>
        </p:txBody>
      </p:sp>
      <p:sp>
        <p:nvSpPr>
          <p:cNvPr id="514" name="TextBox 513"/>
          <p:cNvSpPr txBox="1"/>
          <p:nvPr/>
        </p:nvSpPr>
        <p:spPr>
          <a:xfrm>
            <a:off x="5710671" y="4630532"/>
            <a:ext cx="910827"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ENCODER</a:t>
            </a:r>
          </a:p>
        </p:txBody>
      </p:sp>
      <p:sp>
        <p:nvSpPr>
          <p:cNvPr id="515" name="TextBox 514"/>
          <p:cNvSpPr txBox="1"/>
          <p:nvPr/>
        </p:nvSpPr>
        <p:spPr>
          <a:xfrm>
            <a:off x="6772587" y="4630814"/>
            <a:ext cx="910827"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ENCODER</a:t>
            </a:r>
          </a:p>
        </p:txBody>
      </p:sp>
      <p:sp>
        <p:nvSpPr>
          <p:cNvPr id="516" name="TextBox 515"/>
          <p:cNvSpPr txBox="1"/>
          <p:nvPr/>
        </p:nvSpPr>
        <p:spPr>
          <a:xfrm>
            <a:off x="7832896" y="4630813"/>
            <a:ext cx="910827"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ENCODER</a:t>
            </a:r>
          </a:p>
        </p:txBody>
      </p:sp>
      <p:sp>
        <p:nvSpPr>
          <p:cNvPr id="517" name="TextBox 516"/>
          <p:cNvSpPr txBox="1"/>
          <p:nvPr/>
        </p:nvSpPr>
        <p:spPr>
          <a:xfrm>
            <a:off x="8892274" y="4630812"/>
            <a:ext cx="910827" cy="276999"/>
          </a:xfrm>
          <a:prstGeom prst="rect">
            <a:avLst/>
          </a:prstGeom>
          <a:solidFill>
            <a:schemeClr val="accent4">
              <a:lumMod val="60000"/>
              <a:lumOff val="4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ENCODER</a:t>
            </a:r>
          </a:p>
        </p:txBody>
      </p:sp>
      <p:cxnSp>
        <p:nvCxnSpPr>
          <p:cNvPr id="518" name="Straight Arrow Connector 517"/>
          <p:cNvCxnSpPr>
            <a:stCxn id="512" idx="3"/>
            <a:endCxn id="513" idx="1"/>
          </p:cNvCxnSpPr>
          <p:nvPr/>
        </p:nvCxnSpPr>
        <p:spPr>
          <a:xfrm>
            <a:off x="4501812" y="4769314"/>
            <a:ext cx="149016" cy="52"/>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9" name="Straight Arrow Connector 518"/>
          <p:cNvCxnSpPr>
            <a:stCxn id="513" idx="3"/>
            <a:endCxn id="514" idx="1"/>
          </p:cNvCxnSpPr>
          <p:nvPr/>
        </p:nvCxnSpPr>
        <p:spPr>
          <a:xfrm flipV="1">
            <a:off x="5561655" y="4769032"/>
            <a:ext cx="149016" cy="33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0" name="Straight Arrow Connector 519"/>
          <p:cNvCxnSpPr>
            <a:stCxn id="514" idx="3"/>
            <a:endCxn id="515" idx="1"/>
          </p:cNvCxnSpPr>
          <p:nvPr/>
        </p:nvCxnSpPr>
        <p:spPr>
          <a:xfrm>
            <a:off x="6621498" y="4769032"/>
            <a:ext cx="151089" cy="282"/>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1" name="Straight Arrow Connector 520"/>
          <p:cNvCxnSpPr>
            <a:stCxn id="515" idx="3"/>
            <a:endCxn id="516" idx="1"/>
          </p:cNvCxnSpPr>
          <p:nvPr/>
        </p:nvCxnSpPr>
        <p:spPr>
          <a:xfrm flipV="1">
            <a:off x="7683414" y="4769313"/>
            <a:ext cx="149482" cy="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2" name="Straight Arrow Connector 521"/>
          <p:cNvCxnSpPr>
            <a:stCxn id="516" idx="3"/>
            <a:endCxn id="517" idx="1"/>
          </p:cNvCxnSpPr>
          <p:nvPr/>
        </p:nvCxnSpPr>
        <p:spPr>
          <a:xfrm flipV="1">
            <a:off x="8743723" y="4769312"/>
            <a:ext cx="148551" cy="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3" name="TextBox 522"/>
          <p:cNvSpPr txBox="1"/>
          <p:nvPr/>
        </p:nvSpPr>
        <p:spPr>
          <a:xfrm>
            <a:off x="3591845" y="5522743"/>
            <a:ext cx="910827"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DECODER</a:t>
            </a:r>
          </a:p>
        </p:txBody>
      </p:sp>
      <p:sp>
        <p:nvSpPr>
          <p:cNvPr id="524" name="TextBox 523"/>
          <p:cNvSpPr txBox="1"/>
          <p:nvPr/>
        </p:nvSpPr>
        <p:spPr>
          <a:xfrm>
            <a:off x="4651689" y="5522794"/>
            <a:ext cx="910827"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DECODER</a:t>
            </a:r>
          </a:p>
        </p:txBody>
      </p:sp>
      <p:sp>
        <p:nvSpPr>
          <p:cNvPr id="525" name="TextBox 524"/>
          <p:cNvSpPr txBox="1"/>
          <p:nvPr/>
        </p:nvSpPr>
        <p:spPr>
          <a:xfrm>
            <a:off x="5711532" y="5522460"/>
            <a:ext cx="910827"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DECODER</a:t>
            </a:r>
          </a:p>
        </p:txBody>
      </p:sp>
      <p:sp>
        <p:nvSpPr>
          <p:cNvPr id="526" name="TextBox 525"/>
          <p:cNvSpPr txBox="1"/>
          <p:nvPr/>
        </p:nvSpPr>
        <p:spPr>
          <a:xfrm>
            <a:off x="6773448" y="5522742"/>
            <a:ext cx="910827"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DECODER</a:t>
            </a:r>
          </a:p>
        </p:txBody>
      </p:sp>
      <p:sp>
        <p:nvSpPr>
          <p:cNvPr id="527" name="TextBox 526"/>
          <p:cNvSpPr txBox="1"/>
          <p:nvPr/>
        </p:nvSpPr>
        <p:spPr>
          <a:xfrm>
            <a:off x="7833757" y="5522741"/>
            <a:ext cx="910827"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DECODER</a:t>
            </a:r>
          </a:p>
        </p:txBody>
      </p:sp>
      <p:sp>
        <p:nvSpPr>
          <p:cNvPr id="528" name="TextBox 527"/>
          <p:cNvSpPr txBox="1"/>
          <p:nvPr/>
        </p:nvSpPr>
        <p:spPr>
          <a:xfrm>
            <a:off x="8893134" y="5522740"/>
            <a:ext cx="910827" cy="276999"/>
          </a:xfrm>
          <a:prstGeom prst="rect">
            <a:avLst/>
          </a:prstGeom>
          <a:solidFill>
            <a:schemeClr val="accent3">
              <a:lumMod val="40000"/>
              <a:lumOff val="60000"/>
            </a:schemeClr>
          </a:solidFill>
          <a:ln w="12700">
            <a:solidFill>
              <a:schemeClr val="bg2">
                <a:lumMod val="25000"/>
              </a:schemeClr>
            </a:solidFill>
          </a:ln>
        </p:spPr>
        <p:txBody>
          <a:bodyPr wrap="none" rtlCol="0">
            <a:spAutoFit/>
          </a:bodyPr>
          <a:lstStyle/>
          <a:p>
            <a:r>
              <a:rPr lang="en-IN" sz="1200" dirty="0">
                <a:latin typeface="Times New Roman" panose="02020603050405020304" pitchFamily="18" charset="0"/>
                <a:cs typeface="Times New Roman" panose="02020603050405020304" pitchFamily="18" charset="0"/>
              </a:rPr>
              <a:t>DECODER</a:t>
            </a:r>
          </a:p>
        </p:txBody>
      </p:sp>
      <p:cxnSp>
        <p:nvCxnSpPr>
          <p:cNvPr id="529" name="Straight Arrow Connector 528"/>
          <p:cNvCxnSpPr>
            <a:stCxn id="523" idx="3"/>
            <a:endCxn id="524" idx="1"/>
          </p:cNvCxnSpPr>
          <p:nvPr/>
        </p:nvCxnSpPr>
        <p:spPr>
          <a:xfrm>
            <a:off x="4502672" y="5661243"/>
            <a:ext cx="149017" cy="5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0" name="Straight Arrow Connector 529"/>
          <p:cNvCxnSpPr>
            <a:stCxn id="524" idx="3"/>
            <a:endCxn id="525" idx="1"/>
          </p:cNvCxnSpPr>
          <p:nvPr/>
        </p:nvCxnSpPr>
        <p:spPr>
          <a:xfrm flipV="1">
            <a:off x="5562516" y="5660960"/>
            <a:ext cx="149016" cy="33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1" name="Straight Arrow Connector 530"/>
          <p:cNvCxnSpPr>
            <a:stCxn id="525" idx="3"/>
            <a:endCxn id="526" idx="1"/>
          </p:cNvCxnSpPr>
          <p:nvPr/>
        </p:nvCxnSpPr>
        <p:spPr>
          <a:xfrm>
            <a:off x="6622359" y="5660960"/>
            <a:ext cx="151089" cy="282"/>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2" name="Straight Arrow Connector 531"/>
          <p:cNvCxnSpPr>
            <a:stCxn id="526" idx="3"/>
            <a:endCxn id="527" idx="1"/>
          </p:cNvCxnSpPr>
          <p:nvPr/>
        </p:nvCxnSpPr>
        <p:spPr>
          <a:xfrm flipV="1">
            <a:off x="7684275" y="5661241"/>
            <a:ext cx="149482" cy="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3" name="Straight Arrow Connector 532"/>
          <p:cNvCxnSpPr>
            <a:stCxn id="527" idx="3"/>
            <a:endCxn id="528" idx="1"/>
          </p:cNvCxnSpPr>
          <p:nvPr/>
        </p:nvCxnSpPr>
        <p:spPr>
          <a:xfrm flipV="1">
            <a:off x="8744584" y="5661240"/>
            <a:ext cx="148550" cy="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34" name="Group 533"/>
          <p:cNvGrpSpPr/>
          <p:nvPr/>
        </p:nvGrpSpPr>
        <p:grpSpPr>
          <a:xfrm>
            <a:off x="10074726" y="4607483"/>
            <a:ext cx="1226347" cy="2102977"/>
            <a:chOff x="10561108" y="2542508"/>
            <a:chExt cx="1480357" cy="2677192"/>
          </a:xfrm>
        </p:grpSpPr>
        <p:sp>
          <p:nvSpPr>
            <p:cNvPr id="542" name="Rounded Rectangle 541"/>
            <p:cNvSpPr/>
            <p:nvPr/>
          </p:nvSpPr>
          <p:spPr>
            <a:xfrm>
              <a:off x="10561108" y="2542508"/>
              <a:ext cx="1480357" cy="2677192"/>
            </a:xfrm>
            <a:prstGeom prst="roundRect">
              <a:avLst>
                <a:gd name="adj" fmla="val 12450"/>
              </a:avLst>
            </a:prstGeom>
            <a:solidFill>
              <a:srgbClr val="00B0F0">
                <a:alpha val="13000"/>
              </a:srgb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43" name="TextBox 542">
              <a:extLst>
                <a:ext uri="{FF2B5EF4-FFF2-40B4-BE49-F238E27FC236}">
                  <a16:creationId xmlns:a16="http://schemas.microsoft.com/office/drawing/2014/main" id="{9EF45905-DB18-49B6-9565-CE8D8F1375A9}"/>
                </a:ext>
              </a:extLst>
            </p:cNvPr>
            <p:cNvSpPr txBox="1"/>
            <p:nvPr/>
          </p:nvSpPr>
          <p:spPr>
            <a:xfrm>
              <a:off x="11187214" y="2741491"/>
              <a:ext cx="434632" cy="391815"/>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I</a:t>
              </a:r>
              <a:endParaRPr lang="en-IN" sz="1400" baseline="-25000" dirty="0">
                <a:latin typeface="Times New Roman" panose="02020603050405020304" pitchFamily="18" charset="0"/>
                <a:cs typeface="Times New Roman" panose="02020603050405020304" pitchFamily="18" charset="0"/>
              </a:endParaRPr>
            </a:p>
          </p:txBody>
        </p:sp>
        <p:sp>
          <p:nvSpPr>
            <p:cNvPr id="544" name="Rounded Rectangle 543"/>
            <p:cNvSpPr/>
            <p:nvPr/>
          </p:nvSpPr>
          <p:spPr>
            <a:xfrm>
              <a:off x="11139454" y="2774313"/>
              <a:ext cx="397924" cy="31209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545" name="TextBox 544">
              <a:extLst>
                <a:ext uri="{FF2B5EF4-FFF2-40B4-BE49-F238E27FC236}">
                  <a16:creationId xmlns:a16="http://schemas.microsoft.com/office/drawing/2014/main" id="{9EF45905-DB18-49B6-9565-CE8D8F1375A9}"/>
                </a:ext>
              </a:extLst>
            </p:cNvPr>
            <p:cNvSpPr txBox="1"/>
            <p:nvPr/>
          </p:nvSpPr>
          <p:spPr>
            <a:xfrm>
              <a:off x="11118868" y="3356206"/>
              <a:ext cx="566562" cy="391815"/>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am</a:t>
              </a:r>
              <a:endParaRPr lang="en-IN" sz="1400" baseline="-25000" dirty="0">
                <a:latin typeface="Times New Roman" panose="02020603050405020304" pitchFamily="18" charset="0"/>
                <a:cs typeface="Times New Roman" panose="02020603050405020304" pitchFamily="18" charset="0"/>
              </a:endParaRPr>
            </a:p>
          </p:txBody>
        </p:sp>
        <p:sp>
          <p:nvSpPr>
            <p:cNvPr id="546" name="Rounded Rectangle 545"/>
            <p:cNvSpPr/>
            <p:nvPr/>
          </p:nvSpPr>
          <p:spPr>
            <a:xfrm>
              <a:off x="11152611" y="3419744"/>
              <a:ext cx="435030" cy="28839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547" name="TextBox 546">
              <a:extLst>
                <a:ext uri="{FF2B5EF4-FFF2-40B4-BE49-F238E27FC236}">
                  <a16:creationId xmlns:a16="http://schemas.microsoft.com/office/drawing/2014/main" id="{9EF45905-DB18-49B6-9565-CE8D8F1375A9}"/>
                </a:ext>
              </a:extLst>
            </p:cNvPr>
            <p:cNvSpPr txBox="1"/>
            <p:nvPr/>
          </p:nvSpPr>
          <p:spPr>
            <a:xfrm>
              <a:off x="11112392" y="4623907"/>
              <a:ext cx="849972" cy="391815"/>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student</a:t>
              </a:r>
            </a:p>
          </p:txBody>
        </p:sp>
        <p:cxnSp>
          <p:nvCxnSpPr>
            <p:cNvPr id="548" name="Straight Arrow Connector 547"/>
            <p:cNvCxnSpPr>
              <a:endCxn id="544" idx="1"/>
            </p:cNvCxnSpPr>
            <p:nvPr/>
          </p:nvCxnSpPr>
          <p:spPr>
            <a:xfrm flipV="1">
              <a:off x="10867789" y="2930360"/>
              <a:ext cx="271665" cy="425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9" name="Straight Arrow Connector 548"/>
            <p:cNvCxnSpPr>
              <a:endCxn id="551" idx="1"/>
            </p:cNvCxnSpPr>
            <p:nvPr/>
          </p:nvCxnSpPr>
          <p:spPr>
            <a:xfrm>
              <a:off x="10871971" y="4197338"/>
              <a:ext cx="266453"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0" name="TextBox 549"/>
            <p:cNvSpPr txBox="1"/>
            <p:nvPr/>
          </p:nvSpPr>
          <p:spPr>
            <a:xfrm>
              <a:off x="11117676" y="4114651"/>
              <a:ext cx="319667" cy="227252"/>
            </a:xfrm>
            <a:prstGeom prst="rect">
              <a:avLst/>
            </a:prstGeom>
            <a:noFill/>
          </p:spPr>
          <p:txBody>
            <a:bodyPr wrap="none" rtlCol="0">
              <a:spAutoFit/>
            </a:bodyPr>
            <a:lstStyle/>
            <a:p>
              <a:pPr>
                <a:lnSpc>
                  <a:spcPct val="40000"/>
                </a:lnSpc>
              </a:pPr>
              <a:r>
                <a:rPr lang="en-IN" sz="1400" dirty="0">
                  <a:latin typeface="Times New Roman" panose="02020603050405020304" pitchFamily="18" charset="0"/>
                  <a:cs typeface="Times New Roman" panose="02020603050405020304" pitchFamily="18" charset="0"/>
                </a:rPr>
                <a:t>a</a:t>
              </a:r>
            </a:p>
          </p:txBody>
        </p:sp>
        <p:sp>
          <p:nvSpPr>
            <p:cNvPr id="551" name="Rounded Rectangle 550"/>
            <p:cNvSpPr/>
            <p:nvPr/>
          </p:nvSpPr>
          <p:spPr>
            <a:xfrm>
              <a:off x="11138424" y="4053141"/>
              <a:ext cx="254315" cy="28839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552" name="Rounded Rectangle 551"/>
            <p:cNvSpPr/>
            <p:nvPr/>
          </p:nvSpPr>
          <p:spPr>
            <a:xfrm>
              <a:off x="11140805" y="4682183"/>
              <a:ext cx="845296" cy="28839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grpSp>
          <p:nvGrpSpPr>
            <p:cNvPr id="553" name="Group 552"/>
            <p:cNvGrpSpPr/>
            <p:nvPr/>
          </p:nvGrpSpPr>
          <p:grpSpPr>
            <a:xfrm>
              <a:off x="10704805" y="2680132"/>
              <a:ext cx="160125" cy="2401350"/>
              <a:chOff x="9333349" y="1642236"/>
              <a:chExt cx="142876" cy="3446773"/>
            </a:xfrm>
          </p:grpSpPr>
          <p:sp>
            <p:nvSpPr>
              <p:cNvPr id="556" name="Rectangle 555">
                <a:extLst>
                  <a:ext uri="{FF2B5EF4-FFF2-40B4-BE49-F238E27FC236}">
                    <a16:creationId xmlns:a16="http://schemas.microsoft.com/office/drawing/2014/main" id="{3CBFCDD1-8C86-47C3-AB82-364A1D43CCF6}"/>
                  </a:ext>
                </a:extLst>
              </p:cNvPr>
              <p:cNvSpPr/>
              <p:nvPr/>
            </p:nvSpPr>
            <p:spPr>
              <a:xfrm>
                <a:off x="9333349" y="1642236"/>
                <a:ext cx="142876" cy="180975"/>
              </a:xfrm>
              <a:prstGeom prst="rect">
                <a:avLst/>
              </a:prstGeom>
              <a:solidFill>
                <a:srgbClr val="7030A0">
                  <a:alpha val="6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7" name="Rectangle 556">
                <a:extLst>
                  <a:ext uri="{FF2B5EF4-FFF2-40B4-BE49-F238E27FC236}">
                    <a16:creationId xmlns:a16="http://schemas.microsoft.com/office/drawing/2014/main" id="{3CBFCDD1-8C86-47C3-AB82-364A1D43CCF6}"/>
                  </a:ext>
                </a:extLst>
              </p:cNvPr>
              <p:cNvSpPr/>
              <p:nvPr/>
            </p:nvSpPr>
            <p:spPr>
              <a:xfrm>
                <a:off x="9333349" y="1823211"/>
                <a:ext cx="142876" cy="180975"/>
              </a:xfrm>
              <a:prstGeom prst="rect">
                <a:avLst/>
              </a:prstGeom>
              <a:solidFill>
                <a:srgbClr val="7030A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8" name="Rectangle 557">
                <a:extLst>
                  <a:ext uri="{FF2B5EF4-FFF2-40B4-BE49-F238E27FC236}">
                    <a16:creationId xmlns:a16="http://schemas.microsoft.com/office/drawing/2014/main" id="{3CBFCDD1-8C86-47C3-AB82-364A1D43CCF6}"/>
                  </a:ext>
                </a:extLst>
              </p:cNvPr>
              <p:cNvSpPr/>
              <p:nvPr/>
            </p:nvSpPr>
            <p:spPr>
              <a:xfrm>
                <a:off x="9333349" y="2004186"/>
                <a:ext cx="142876" cy="180975"/>
              </a:xfrm>
              <a:prstGeom prst="rect">
                <a:avLst/>
              </a:prstGeom>
              <a:solidFill>
                <a:srgbClr val="7030A0">
                  <a:alpha val="8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9" name="Rectangle 558">
                <a:extLst>
                  <a:ext uri="{FF2B5EF4-FFF2-40B4-BE49-F238E27FC236}">
                    <a16:creationId xmlns:a16="http://schemas.microsoft.com/office/drawing/2014/main" id="{3CBFCDD1-8C86-47C3-AB82-364A1D43CCF6}"/>
                  </a:ext>
                </a:extLst>
              </p:cNvPr>
              <p:cNvSpPr/>
              <p:nvPr/>
            </p:nvSpPr>
            <p:spPr>
              <a:xfrm>
                <a:off x="9333349" y="2185161"/>
                <a:ext cx="142876" cy="180975"/>
              </a:xfrm>
              <a:prstGeom prst="rect">
                <a:avLst/>
              </a:prstGeom>
              <a:solidFill>
                <a:srgbClr val="7030A0">
                  <a:alpha val="2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0" name="Rectangle 559">
                <a:extLst>
                  <a:ext uri="{FF2B5EF4-FFF2-40B4-BE49-F238E27FC236}">
                    <a16:creationId xmlns:a16="http://schemas.microsoft.com/office/drawing/2014/main" id="{3CBFCDD1-8C86-47C3-AB82-364A1D43CCF6}"/>
                  </a:ext>
                </a:extLst>
              </p:cNvPr>
              <p:cNvSpPr/>
              <p:nvPr/>
            </p:nvSpPr>
            <p:spPr>
              <a:xfrm>
                <a:off x="9333349" y="2729836"/>
                <a:ext cx="142876" cy="180975"/>
              </a:xfrm>
              <a:prstGeom prst="rect">
                <a:avLst/>
              </a:prstGeom>
              <a:solidFill>
                <a:srgbClr val="7030A0">
                  <a:alpha val="3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61" name="Rectangle 560">
                <a:extLst>
                  <a:ext uri="{FF2B5EF4-FFF2-40B4-BE49-F238E27FC236}">
                    <a16:creationId xmlns:a16="http://schemas.microsoft.com/office/drawing/2014/main" id="{3CBFCDD1-8C86-47C3-AB82-364A1D43CCF6}"/>
                  </a:ext>
                </a:extLst>
              </p:cNvPr>
              <p:cNvSpPr/>
              <p:nvPr/>
            </p:nvSpPr>
            <p:spPr>
              <a:xfrm>
                <a:off x="9333349" y="3095285"/>
                <a:ext cx="142876" cy="180975"/>
              </a:xfrm>
              <a:prstGeom prst="rect">
                <a:avLst/>
              </a:prstGeom>
              <a:solidFill>
                <a:srgbClr val="7030A0">
                  <a:alpha val="6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2" name="Rectangle 561">
                <a:extLst>
                  <a:ext uri="{FF2B5EF4-FFF2-40B4-BE49-F238E27FC236}">
                    <a16:creationId xmlns:a16="http://schemas.microsoft.com/office/drawing/2014/main" id="{3CBFCDD1-8C86-47C3-AB82-364A1D43CCF6}"/>
                  </a:ext>
                </a:extLst>
              </p:cNvPr>
              <p:cNvSpPr/>
              <p:nvPr/>
            </p:nvSpPr>
            <p:spPr>
              <a:xfrm>
                <a:off x="9333349" y="2547111"/>
                <a:ext cx="142876" cy="180975"/>
              </a:xfrm>
              <a:prstGeom prst="rect">
                <a:avLst/>
              </a:prstGeom>
              <a:solidFill>
                <a:srgbClr val="7030A0">
                  <a:alpha val="8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3" name="Rectangle 562">
                <a:extLst>
                  <a:ext uri="{FF2B5EF4-FFF2-40B4-BE49-F238E27FC236}">
                    <a16:creationId xmlns:a16="http://schemas.microsoft.com/office/drawing/2014/main" id="{3CBFCDD1-8C86-47C3-AB82-364A1D43CCF6}"/>
                  </a:ext>
                </a:extLst>
              </p:cNvPr>
              <p:cNvSpPr/>
              <p:nvPr/>
            </p:nvSpPr>
            <p:spPr>
              <a:xfrm>
                <a:off x="9333349" y="2910811"/>
                <a:ext cx="142876" cy="180975"/>
              </a:xfrm>
              <a:prstGeom prst="rect">
                <a:avLst/>
              </a:prstGeom>
              <a:solidFill>
                <a:srgbClr val="7030A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4" name="Rectangle 563">
                <a:extLst>
                  <a:ext uri="{FF2B5EF4-FFF2-40B4-BE49-F238E27FC236}">
                    <a16:creationId xmlns:a16="http://schemas.microsoft.com/office/drawing/2014/main" id="{3CBFCDD1-8C86-47C3-AB82-364A1D43CCF6}"/>
                  </a:ext>
                </a:extLst>
              </p:cNvPr>
              <p:cNvSpPr/>
              <p:nvPr/>
            </p:nvSpPr>
            <p:spPr>
              <a:xfrm>
                <a:off x="9333349" y="3822182"/>
                <a:ext cx="142876" cy="180975"/>
              </a:xfrm>
              <a:prstGeom prst="rect">
                <a:avLst/>
              </a:prstGeom>
              <a:solidFill>
                <a:srgbClr val="7030A0">
                  <a:alpha val="1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5" name="Rectangle 564">
                <a:extLst>
                  <a:ext uri="{FF2B5EF4-FFF2-40B4-BE49-F238E27FC236}">
                    <a16:creationId xmlns:a16="http://schemas.microsoft.com/office/drawing/2014/main" id="{3CBFCDD1-8C86-47C3-AB82-364A1D43CCF6}"/>
                  </a:ext>
                </a:extLst>
              </p:cNvPr>
              <p:cNvSpPr/>
              <p:nvPr/>
            </p:nvSpPr>
            <p:spPr>
              <a:xfrm>
                <a:off x="9333349" y="3460232"/>
                <a:ext cx="142876" cy="180975"/>
              </a:xfrm>
              <a:prstGeom prst="rect">
                <a:avLst/>
              </a:prstGeom>
              <a:solidFill>
                <a:srgbClr val="7030A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6" name="Rectangle 565">
                <a:extLst>
                  <a:ext uri="{FF2B5EF4-FFF2-40B4-BE49-F238E27FC236}">
                    <a16:creationId xmlns:a16="http://schemas.microsoft.com/office/drawing/2014/main" id="{3CBFCDD1-8C86-47C3-AB82-364A1D43CCF6}"/>
                  </a:ext>
                </a:extLst>
              </p:cNvPr>
              <p:cNvSpPr/>
              <p:nvPr/>
            </p:nvSpPr>
            <p:spPr>
              <a:xfrm>
                <a:off x="9333349" y="4003157"/>
                <a:ext cx="142876" cy="180975"/>
              </a:xfrm>
              <a:prstGeom prst="rect">
                <a:avLst/>
              </a:prstGeom>
              <a:solidFill>
                <a:srgbClr val="7030A0">
                  <a:alpha val="8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7" name="Rectangle 566">
                <a:extLst>
                  <a:ext uri="{FF2B5EF4-FFF2-40B4-BE49-F238E27FC236}">
                    <a16:creationId xmlns:a16="http://schemas.microsoft.com/office/drawing/2014/main" id="{3CBFCDD1-8C86-47C3-AB82-364A1D43CCF6}"/>
                  </a:ext>
                </a:extLst>
              </p:cNvPr>
              <p:cNvSpPr/>
              <p:nvPr/>
            </p:nvSpPr>
            <p:spPr>
              <a:xfrm>
                <a:off x="9333349" y="3641207"/>
                <a:ext cx="142876" cy="180975"/>
              </a:xfrm>
              <a:prstGeom prst="rect">
                <a:avLst/>
              </a:prstGeom>
              <a:solidFill>
                <a:srgbClr val="7030A0">
                  <a:alpha val="7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8" name="Rectangle 567">
                <a:extLst>
                  <a:ext uri="{FF2B5EF4-FFF2-40B4-BE49-F238E27FC236}">
                    <a16:creationId xmlns:a16="http://schemas.microsoft.com/office/drawing/2014/main" id="{3CBFCDD1-8C86-47C3-AB82-364A1D43CCF6}"/>
                  </a:ext>
                </a:extLst>
              </p:cNvPr>
              <p:cNvSpPr/>
              <p:nvPr/>
            </p:nvSpPr>
            <p:spPr>
              <a:xfrm>
                <a:off x="9333349" y="4908034"/>
                <a:ext cx="142876" cy="180975"/>
              </a:xfrm>
              <a:prstGeom prst="rect">
                <a:avLst/>
              </a:prstGeom>
              <a:solidFill>
                <a:srgbClr val="7030A0">
                  <a:alpha val="4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9" name="Rectangle 568">
                <a:extLst>
                  <a:ext uri="{FF2B5EF4-FFF2-40B4-BE49-F238E27FC236}">
                    <a16:creationId xmlns:a16="http://schemas.microsoft.com/office/drawing/2014/main" id="{3CBFCDD1-8C86-47C3-AB82-364A1D43CCF6}"/>
                  </a:ext>
                </a:extLst>
              </p:cNvPr>
              <p:cNvSpPr/>
              <p:nvPr/>
            </p:nvSpPr>
            <p:spPr>
              <a:xfrm>
                <a:off x="9333349" y="4727059"/>
                <a:ext cx="142876" cy="180975"/>
              </a:xfrm>
              <a:prstGeom prst="rect">
                <a:avLst/>
              </a:prstGeom>
              <a:solidFill>
                <a:srgbClr val="7030A0">
                  <a:alpha val="85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0" name="Rectangle 569">
                <a:extLst>
                  <a:ext uri="{FF2B5EF4-FFF2-40B4-BE49-F238E27FC236}">
                    <a16:creationId xmlns:a16="http://schemas.microsoft.com/office/drawing/2014/main" id="{3CBFCDD1-8C86-47C3-AB82-364A1D43CCF6}"/>
                  </a:ext>
                </a:extLst>
              </p:cNvPr>
              <p:cNvSpPr/>
              <p:nvPr/>
            </p:nvSpPr>
            <p:spPr>
              <a:xfrm>
                <a:off x="9333349" y="4546083"/>
                <a:ext cx="142876" cy="180975"/>
              </a:xfrm>
              <a:prstGeom prst="rect">
                <a:avLst/>
              </a:prstGeom>
              <a:solidFill>
                <a:srgbClr val="7030A0">
                  <a:alpha val="40000"/>
                </a:srgb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1" name="Rectangle 570">
                <a:extLst>
                  <a:ext uri="{FF2B5EF4-FFF2-40B4-BE49-F238E27FC236}">
                    <a16:creationId xmlns:a16="http://schemas.microsoft.com/office/drawing/2014/main" id="{3CBFCDD1-8C86-47C3-AB82-364A1D43CCF6}"/>
                  </a:ext>
                </a:extLst>
              </p:cNvPr>
              <p:cNvSpPr/>
              <p:nvPr/>
            </p:nvSpPr>
            <p:spPr>
              <a:xfrm>
                <a:off x="9333349" y="4365107"/>
                <a:ext cx="142876" cy="180975"/>
              </a:xfrm>
              <a:prstGeom prst="rect">
                <a:avLst/>
              </a:prstGeom>
              <a:solidFill>
                <a:srgbClr val="7030A0"/>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554" name="Straight Arrow Connector 553"/>
            <p:cNvCxnSpPr>
              <a:endCxn id="552" idx="1"/>
            </p:cNvCxnSpPr>
            <p:nvPr/>
          </p:nvCxnSpPr>
          <p:spPr>
            <a:xfrm>
              <a:off x="10868956" y="4826380"/>
              <a:ext cx="27184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5" name="Straight Arrow Connector 554"/>
            <p:cNvCxnSpPr>
              <a:endCxn id="546" idx="1"/>
            </p:cNvCxnSpPr>
            <p:nvPr/>
          </p:nvCxnSpPr>
          <p:spPr>
            <a:xfrm flipV="1">
              <a:off x="10869040" y="3563941"/>
              <a:ext cx="283571" cy="11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35" name="Straight Arrow Connector 534"/>
          <p:cNvCxnSpPr>
            <a:stCxn id="528" idx="3"/>
            <a:endCxn id="542" idx="1"/>
          </p:cNvCxnSpPr>
          <p:nvPr/>
        </p:nvCxnSpPr>
        <p:spPr>
          <a:xfrm flipV="1">
            <a:off x="9803961" y="5658972"/>
            <a:ext cx="270765" cy="226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6" name="Straight Arrow Connector 535"/>
          <p:cNvCxnSpPr>
            <a:stCxn id="517" idx="2"/>
            <a:endCxn id="528" idx="0"/>
          </p:cNvCxnSpPr>
          <p:nvPr/>
        </p:nvCxnSpPr>
        <p:spPr>
          <a:xfrm>
            <a:off x="9347688" y="4907811"/>
            <a:ext cx="860" cy="61492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7" name="Straight Arrow Connector 536"/>
          <p:cNvCxnSpPr>
            <a:stCxn id="517" idx="2"/>
            <a:endCxn id="527" idx="0"/>
          </p:cNvCxnSpPr>
          <p:nvPr/>
        </p:nvCxnSpPr>
        <p:spPr>
          <a:xfrm flipH="1">
            <a:off x="8289171" y="4907811"/>
            <a:ext cx="1058517" cy="61493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8" name="Straight Arrow Connector 537"/>
          <p:cNvCxnSpPr>
            <a:stCxn id="517" idx="2"/>
            <a:endCxn id="526" idx="0"/>
          </p:cNvCxnSpPr>
          <p:nvPr/>
        </p:nvCxnSpPr>
        <p:spPr>
          <a:xfrm flipH="1">
            <a:off x="7228862" y="4907811"/>
            <a:ext cx="2118826" cy="61493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9" name="Straight Arrow Connector 538"/>
          <p:cNvCxnSpPr>
            <a:stCxn id="517" idx="2"/>
            <a:endCxn id="525" idx="0"/>
          </p:cNvCxnSpPr>
          <p:nvPr/>
        </p:nvCxnSpPr>
        <p:spPr>
          <a:xfrm flipH="1">
            <a:off x="6166946" y="4907811"/>
            <a:ext cx="3180742" cy="61464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0" name="Straight Arrow Connector 539"/>
          <p:cNvCxnSpPr>
            <a:stCxn id="517" idx="2"/>
            <a:endCxn id="523" idx="0"/>
          </p:cNvCxnSpPr>
          <p:nvPr/>
        </p:nvCxnSpPr>
        <p:spPr>
          <a:xfrm flipH="1">
            <a:off x="4047259" y="4907811"/>
            <a:ext cx="5300429" cy="61493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1" name="Straight Arrow Connector 540"/>
          <p:cNvCxnSpPr>
            <a:stCxn id="517" idx="2"/>
            <a:endCxn id="524" idx="0"/>
          </p:cNvCxnSpPr>
          <p:nvPr/>
        </p:nvCxnSpPr>
        <p:spPr>
          <a:xfrm flipH="1">
            <a:off x="5107103" y="4907811"/>
            <a:ext cx="4240585" cy="61498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5" name="Right Bracket 214">
            <a:extLst>
              <a:ext uri="{FF2B5EF4-FFF2-40B4-BE49-F238E27FC236}">
                <a16:creationId xmlns:a16="http://schemas.microsoft.com/office/drawing/2014/main" id="{9F511903-4153-4F28-9F53-A2CC8900208C}"/>
              </a:ext>
            </a:extLst>
          </p:cNvPr>
          <p:cNvSpPr/>
          <p:nvPr/>
        </p:nvSpPr>
        <p:spPr>
          <a:xfrm>
            <a:off x="9850619" y="1066056"/>
            <a:ext cx="131571" cy="2454167"/>
          </a:xfrm>
          <a:prstGeom prst="rightBracket">
            <a:avLst>
              <a:gd name="adj" fmla="val 5463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216" name="Straight Arrow Connector 215">
            <a:extLst>
              <a:ext uri="{FF2B5EF4-FFF2-40B4-BE49-F238E27FC236}">
                <a16:creationId xmlns:a16="http://schemas.microsoft.com/office/drawing/2014/main" id="{AF589F48-A034-439D-B970-D1FA1B2C1EF0}"/>
              </a:ext>
            </a:extLst>
          </p:cNvPr>
          <p:cNvCxnSpPr>
            <a:cxnSpLocks/>
          </p:cNvCxnSpPr>
          <p:nvPr/>
        </p:nvCxnSpPr>
        <p:spPr>
          <a:xfrm flipV="1">
            <a:off x="9973400" y="2257823"/>
            <a:ext cx="271720" cy="10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6774628B-4106-4C97-9AE5-1C5E331A8B5C}"/>
              </a:ext>
            </a:extLst>
          </p:cNvPr>
          <p:cNvCxnSpPr>
            <a:cxnSpLocks/>
          </p:cNvCxnSpPr>
          <p:nvPr/>
        </p:nvCxnSpPr>
        <p:spPr>
          <a:xfrm>
            <a:off x="9697498" y="1287108"/>
            <a:ext cx="262364" cy="35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1FB60F7A-BCC5-4643-80F8-2A2C3846A0E9}"/>
              </a:ext>
            </a:extLst>
          </p:cNvPr>
          <p:cNvCxnSpPr>
            <a:cxnSpLocks/>
          </p:cNvCxnSpPr>
          <p:nvPr/>
        </p:nvCxnSpPr>
        <p:spPr>
          <a:xfrm>
            <a:off x="9713238" y="1942335"/>
            <a:ext cx="262364" cy="35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DE389596-D499-4D43-8BC5-CDB1FB09C504}"/>
              </a:ext>
            </a:extLst>
          </p:cNvPr>
          <p:cNvCxnSpPr>
            <a:cxnSpLocks/>
          </p:cNvCxnSpPr>
          <p:nvPr/>
        </p:nvCxnSpPr>
        <p:spPr>
          <a:xfrm>
            <a:off x="9721722" y="2644615"/>
            <a:ext cx="262364" cy="35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1257DAB6-FD86-437E-B266-8E8C93250C5F}"/>
              </a:ext>
            </a:extLst>
          </p:cNvPr>
          <p:cNvCxnSpPr>
            <a:cxnSpLocks/>
          </p:cNvCxnSpPr>
          <p:nvPr/>
        </p:nvCxnSpPr>
        <p:spPr>
          <a:xfrm>
            <a:off x="9721722" y="3301184"/>
            <a:ext cx="262364" cy="35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31" name="TextBox 230">
            <a:extLst>
              <a:ext uri="{FF2B5EF4-FFF2-40B4-BE49-F238E27FC236}">
                <a16:creationId xmlns:a16="http://schemas.microsoft.com/office/drawing/2014/main" id="{FF5D5E2B-533E-4C6B-B9C0-1F70D6020B80}"/>
              </a:ext>
            </a:extLst>
          </p:cNvPr>
          <p:cNvSpPr txBox="1"/>
          <p:nvPr/>
        </p:nvSpPr>
        <p:spPr>
          <a:xfrm>
            <a:off x="7054" y="327268"/>
            <a:ext cx="5461518" cy="584775"/>
          </a:xfrm>
          <a:prstGeom prst="rect">
            <a:avLst/>
          </a:prstGeom>
          <a:noFill/>
        </p:spPr>
        <p:txBody>
          <a:bodyPr wrap="square" rtlCol="0">
            <a:spAutoFit/>
          </a:bodyPr>
          <a:lstStyle>
            <a:defPPr>
              <a:defRPr lang="en-US"/>
            </a:defPPr>
            <a:lvl1pPr>
              <a:defRPr sz="3200">
                <a:solidFill>
                  <a:srgbClr val="C00000"/>
                </a:solidFill>
                <a:latin typeface="Book Antiqua" panose="02040602050305030304" pitchFamily="18" charset="0"/>
              </a:defRPr>
            </a:lvl1pPr>
          </a:lstStyle>
          <a:p>
            <a:r>
              <a:rPr lang="en-US" dirty="0">
                <a:solidFill>
                  <a:schemeClr val="tx1"/>
                </a:solidFill>
                <a:latin typeface="Century" panose="02040604050505020304" pitchFamily="18" charset="0"/>
              </a:rPr>
              <a:t>Full Encoder at a glance</a:t>
            </a:r>
            <a:endParaRPr lang="en-IN" dirty="0">
              <a:solidFill>
                <a:schemeClr val="tx1"/>
              </a:solidFill>
              <a:latin typeface="Century" panose="02040604050505020304" pitchFamily="18" charset="0"/>
            </a:endParaRPr>
          </a:p>
        </p:txBody>
      </p:sp>
    </p:spTree>
    <p:extLst>
      <p:ext uri="{BB962C8B-B14F-4D97-AF65-F5344CB8AC3E}">
        <p14:creationId xmlns:p14="http://schemas.microsoft.com/office/powerpoint/2010/main" val="2297656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TextBox 256">
            <a:extLst>
              <a:ext uri="{FF2B5EF4-FFF2-40B4-BE49-F238E27FC236}">
                <a16:creationId xmlns:a16="http://schemas.microsoft.com/office/drawing/2014/main" id="{006765CC-8187-42FD-AE18-C69B87A97849}"/>
              </a:ext>
            </a:extLst>
          </p:cNvPr>
          <p:cNvSpPr txBox="1"/>
          <p:nvPr/>
        </p:nvSpPr>
        <p:spPr>
          <a:xfrm>
            <a:off x="6213411" y="6430775"/>
            <a:ext cx="5753100"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Figure Source: Ashish Vaswani et. al. Attention is All You Need, NIPS 2017</a:t>
            </a:r>
          </a:p>
        </p:txBody>
      </p:sp>
      <p:sp>
        <p:nvSpPr>
          <p:cNvPr id="16" name="TextBox 15">
            <a:extLst>
              <a:ext uri="{FF2B5EF4-FFF2-40B4-BE49-F238E27FC236}">
                <a16:creationId xmlns:a16="http://schemas.microsoft.com/office/drawing/2014/main" id="{F44DC211-10C4-4C7C-8F72-71B47F0BFEB8}"/>
              </a:ext>
            </a:extLst>
          </p:cNvPr>
          <p:cNvSpPr txBox="1"/>
          <p:nvPr/>
        </p:nvSpPr>
        <p:spPr>
          <a:xfrm>
            <a:off x="1709026" y="2070190"/>
            <a:ext cx="46079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Is</a:t>
            </a:r>
            <a:endParaRPr lang="en-IN" baseline="-25000" dirty="0">
              <a:latin typeface="Times New Roman" panose="02020603050405020304" pitchFamily="18" charset="0"/>
              <a:cs typeface="Times New Roman" panose="02020603050405020304" pitchFamily="18" charset="0"/>
            </a:endParaRPr>
          </a:p>
        </p:txBody>
      </p:sp>
      <p:sp>
        <p:nvSpPr>
          <p:cNvPr id="17" name="Rounded Rectangle 19">
            <a:extLst>
              <a:ext uri="{FF2B5EF4-FFF2-40B4-BE49-F238E27FC236}">
                <a16:creationId xmlns:a16="http://schemas.microsoft.com/office/drawing/2014/main" id="{30770608-24EB-4631-A29F-CD4D27C62F79}"/>
              </a:ext>
            </a:extLst>
          </p:cNvPr>
          <p:cNvSpPr/>
          <p:nvPr/>
        </p:nvSpPr>
        <p:spPr>
          <a:xfrm>
            <a:off x="1669331" y="2092348"/>
            <a:ext cx="525465" cy="340248"/>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73B7F30B-AA99-4685-8E0A-2BCE3F633C56}"/>
              </a:ext>
            </a:extLst>
          </p:cNvPr>
          <p:cNvSpPr txBox="1"/>
          <p:nvPr/>
        </p:nvSpPr>
        <p:spPr>
          <a:xfrm>
            <a:off x="1590667" y="2794318"/>
            <a:ext cx="77101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mac</a:t>
            </a:r>
            <a:endParaRPr lang="en-IN" baseline="-25000" dirty="0">
              <a:latin typeface="Times New Roman" panose="02020603050405020304" pitchFamily="18" charset="0"/>
              <a:cs typeface="Times New Roman" panose="02020603050405020304" pitchFamily="18" charset="0"/>
            </a:endParaRPr>
          </a:p>
        </p:txBody>
      </p:sp>
      <p:sp>
        <p:nvSpPr>
          <p:cNvPr id="31" name="Rounded Rectangle 21">
            <a:extLst>
              <a:ext uri="{FF2B5EF4-FFF2-40B4-BE49-F238E27FC236}">
                <a16:creationId xmlns:a16="http://schemas.microsoft.com/office/drawing/2014/main" id="{2C151270-9482-4A21-8D73-985E602D92A7}"/>
              </a:ext>
            </a:extLst>
          </p:cNvPr>
          <p:cNvSpPr/>
          <p:nvPr/>
        </p:nvSpPr>
        <p:spPr>
          <a:xfrm>
            <a:off x="1543399" y="2829539"/>
            <a:ext cx="655618" cy="347133"/>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A30078A2-2DD5-4A49-94DC-23B5114D9A25}"/>
              </a:ext>
            </a:extLst>
          </p:cNvPr>
          <p:cNvSpPr txBox="1"/>
          <p:nvPr/>
        </p:nvSpPr>
        <p:spPr>
          <a:xfrm>
            <a:off x="1657488" y="4301659"/>
            <a:ext cx="636780" cy="369332"/>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mé</a:t>
            </a:r>
            <a:endParaRPr lang="en-IN" dirty="0">
              <a:latin typeface="Times New Roman" panose="02020603050405020304" pitchFamily="18" charset="0"/>
              <a:cs typeface="Times New Roman" panose="02020603050405020304" pitchFamily="18" charset="0"/>
            </a:endParaRPr>
          </a:p>
        </p:txBody>
      </p:sp>
      <p:cxnSp>
        <p:nvCxnSpPr>
          <p:cNvPr id="33" name="Straight Arrow Connector 32">
            <a:extLst>
              <a:ext uri="{FF2B5EF4-FFF2-40B4-BE49-F238E27FC236}">
                <a16:creationId xmlns:a16="http://schemas.microsoft.com/office/drawing/2014/main" id="{CFDCE254-618B-451A-A9B1-D0810A24197F}"/>
              </a:ext>
            </a:extLst>
          </p:cNvPr>
          <p:cNvCxnSpPr>
            <a:cxnSpLocks/>
            <a:stCxn id="17" idx="3"/>
          </p:cNvCxnSpPr>
          <p:nvPr/>
        </p:nvCxnSpPr>
        <p:spPr>
          <a:xfrm flipV="1">
            <a:off x="2194796" y="2259799"/>
            <a:ext cx="318146" cy="267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CDA155A-4608-42A0-B95C-2C791E131D8C}"/>
              </a:ext>
            </a:extLst>
          </p:cNvPr>
          <p:cNvCxnSpPr>
            <a:cxnSpLocks/>
            <a:stCxn id="37" idx="3"/>
          </p:cNvCxnSpPr>
          <p:nvPr/>
        </p:nvCxnSpPr>
        <p:spPr>
          <a:xfrm flipV="1">
            <a:off x="2193171" y="3763292"/>
            <a:ext cx="319770" cy="490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0409C19-391E-4BD8-A1D6-18B899DD3878}"/>
              </a:ext>
            </a:extLst>
          </p:cNvPr>
          <p:cNvSpPr txBox="1"/>
          <p:nvPr/>
        </p:nvSpPr>
        <p:spPr>
          <a:xfrm>
            <a:off x="1542898" y="3685598"/>
            <a:ext cx="848621" cy="203133"/>
          </a:xfrm>
          <a:prstGeom prst="rect">
            <a:avLst/>
          </a:prstGeom>
          <a:noFill/>
        </p:spPr>
        <p:txBody>
          <a:bodyPr wrap="square" rtlCol="0">
            <a:spAutoFit/>
          </a:bodyPr>
          <a:lstStyle/>
          <a:p>
            <a:pPr>
              <a:lnSpc>
                <a:spcPct val="40000"/>
              </a:lnSpc>
            </a:pPr>
            <a:r>
              <a:rPr lang="en-IN" dirty="0">
                <a:latin typeface="Times New Roman" panose="02020603050405020304" pitchFamily="18" charset="0"/>
                <a:cs typeface="Times New Roman" panose="02020603050405020304" pitchFamily="18" charset="0"/>
              </a:rPr>
              <a:t>léinn</a:t>
            </a:r>
          </a:p>
        </p:txBody>
      </p:sp>
      <p:sp>
        <p:nvSpPr>
          <p:cNvPr id="37" name="Rounded Rectangle 26">
            <a:extLst>
              <a:ext uri="{FF2B5EF4-FFF2-40B4-BE49-F238E27FC236}">
                <a16:creationId xmlns:a16="http://schemas.microsoft.com/office/drawing/2014/main" id="{EA2DFA5D-3F42-4464-85EB-10589A5146DE}"/>
              </a:ext>
            </a:extLst>
          </p:cNvPr>
          <p:cNvSpPr/>
          <p:nvPr/>
        </p:nvSpPr>
        <p:spPr>
          <a:xfrm>
            <a:off x="1529229" y="3590334"/>
            <a:ext cx="663942" cy="355719"/>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38" name="Straight Arrow Connector 37">
            <a:extLst>
              <a:ext uri="{FF2B5EF4-FFF2-40B4-BE49-F238E27FC236}">
                <a16:creationId xmlns:a16="http://schemas.microsoft.com/office/drawing/2014/main" id="{F810CC74-D933-4C46-BEE2-889080B428EE}"/>
              </a:ext>
            </a:extLst>
          </p:cNvPr>
          <p:cNvCxnSpPr>
            <a:cxnSpLocks/>
            <a:stCxn id="31" idx="3"/>
          </p:cNvCxnSpPr>
          <p:nvPr/>
        </p:nvCxnSpPr>
        <p:spPr>
          <a:xfrm flipV="1">
            <a:off x="2199017" y="2998135"/>
            <a:ext cx="314699" cy="497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Rounded Rectangle 28">
            <a:extLst>
              <a:ext uri="{FF2B5EF4-FFF2-40B4-BE49-F238E27FC236}">
                <a16:creationId xmlns:a16="http://schemas.microsoft.com/office/drawing/2014/main" id="{F532853D-A02C-4DB6-8223-D1C2E8501A80}"/>
              </a:ext>
            </a:extLst>
          </p:cNvPr>
          <p:cNvSpPr/>
          <p:nvPr/>
        </p:nvSpPr>
        <p:spPr>
          <a:xfrm>
            <a:off x="1632453" y="4349825"/>
            <a:ext cx="560719" cy="330175"/>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40" name="Straight Arrow Connector 39">
            <a:extLst>
              <a:ext uri="{FF2B5EF4-FFF2-40B4-BE49-F238E27FC236}">
                <a16:creationId xmlns:a16="http://schemas.microsoft.com/office/drawing/2014/main" id="{18AC5B64-77E0-4902-A14E-B34D38E7C1DE}"/>
              </a:ext>
            </a:extLst>
          </p:cNvPr>
          <p:cNvCxnSpPr>
            <a:cxnSpLocks/>
            <a:stCxn id="39" idx="3"/>
          </p:cNvCxnSpPr>
          <p:nvPr/>
        </p:nvCxnSpPr>
        <p:spPr>
          <a:xfrm flipV="1">
            <a:off x="2193171" y="4511982"/>
            <a:ext cx="319770" cy="293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53FB633-C4D5-4B29-85B9-8C4DD319A0DA}"/>
              </a:ext>
            </a:extLst>
          </p:cNvPr>
          <p:cNvSpPr txBox="1"/>
          <p:nvPr/>
        </p:nvSpPr>
        <p:spPr>
          <a:xfrm>
            <a:off x="545760" y="309292"/>
            <a:ext cx="5461518" cy="584775"/>
          </a:xfrm>
          <a:prstGeom prst="rect">
            <a:avLst/>
          </a:prstGeom>
          <a:noFill/>
        </p:spPr>
        <p:txBody>
          <a:bodyPr wrap="square" rtlCol="0">
            <a:spAutoFit/>
          </a:bodyPr>
          <a:lstStyle>
            <a:defPPr>
              <a:defRPr lang="en-US"/>
            </a:defPPr>
            <a:lvl1pPr>
              <a:defRPr sz="3200">
                <a:solidFill>
                  <a:srgbClr val="C00000"/>
                </a:solidFill>
                <a:latin typeface="Book Antiqua" panose="02040602050305030304" pitchFamily="18" charset="0"/>
              </a:defRPr>
            </a:lvl1pPr>
          </a:lstStyle>
          <a:p>
            <a:r>
              <a:rPr lang="en-US" dirty="0">
                <a:solidFill>
                  <a:schemeClr val="tx1"/>
                </a:solidFill>
                <a:latin typeface="Century" panose="02040604050505020304" pitchFamily="18" charset="0"/>
              </a:rPr>
              <a:t>Full Encoder at a glance</a:t>
            </a:r>
            <a:endParaRPr lang="en-IN" dirty="0">
              <a:solidFill>
                <a:schemeClr val="tx1"/>
              </a:solidFill>
              <a:latin typeface="Century" panose="02040604050505020304" pitchFamily="18" charset="0"/>
            </a:endParaRPr>
          </a:p>
        </p:txBody>
      </p:sp>
    </p:spTree>
    <p:extLst>
      <p:ext uri="{BB962C8B-B14F-4D97-AF65-F5344CB8AC3E}">
        <p14:creationId xmlns:p14="http://schemas.microsoft.com/office/powerpoint/2010/main" val="15628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9EF45905-DB18-49B6-9565-CE8D8F1375A9}"/>
              </a:ext>
            </a:extLst>
          </p:cNvPr>
          <p:cNvSpPr txBox="1"/>
          <p:nvPr/>
        </p:nvSpPr>
        <p:spPr>
          <a:xfrm>
            <a:off x="1709026" y="2070190"/>
            <a:ext cx="46079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Is</a:t>
            </a:r>
            <a:endParaRPr lang="en-IN" baseline="-25000" dirty="0">
              <a:latin typeface="Times New Roman" panose="02020603050405020304" pitchFamily="18" charset="0"/>
              <a:cs typeface="Times New Roman" panose="02020603050405020304" pitchFamily="18" charset="0"/>
            </a:endParaRPr>
          </a:p>
        </p:txBody>
      </p:sp>
      <p:sp>
        <p:nvSpPr>
          <p:cNvPr id="20" name="Rounded Rectangle 19"/>
          <p:cNvSpPr/>
          <p:nvPr/>
        </p:nvSpPr>
        <p:spPr>
          <a:xfrm>
            <a:off x="1669331" y="2092348"/>
            <a:ext cx="525465" cy="340248"/>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9EF45905-DB18-49B6-9565-CE8D8F1375A9}"/>
              </a:ext>
            </a:extLst>
          </p:cNvPr>
          <p:cNvSpPr txBox="1"/>
          <p:nvPr/>
        </p:nvSpPr>
        <p:spPr>
          <a:xfrm>
            <a:off x="1590667" y="2794318"/>
            <a:ext cx="77101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mac</a:t>
            </a:r>
            <a:endParaRPr lang="en-IN" baseline="-25000" dirty="0">
              <a:latin typeface="Times New Roman" panose="02020603050405020304" pitchFamily="18" charset="0"/>
              <a:cs typeface="Times New Roman" panose="02020603050405020304" pitchFamily="18" charset="0"/>
            </a:endParaRPr>
          </a:p>
        </p:txBody>
      </p:sp>
      <p:sp>
        <p:nvSpPr>
          <p:cNvPr id="22" name="Rounded Rectangle 21"/>
          <p:cNvSpPr/>
          <p:nvPr/>
        </p:nvSpPr>
        <p:spPr>
          <a:xfrm>
            <a:off x="1543399" y="2829539"/>
            <a:ext cx="655618" cy="347133"/>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9EF45905-DB18-49B6-9565-CE8D8F1375A9}"/>
              </a:ext>
            </a:extLst>
          </p:cNvPr>
          <p:cNvSpPr txBox="1"/>
          <p:nvPr/>
        </p:nvSpPr>
        <p:spPr>
          <a:xfrm>
            <a:off x="1657488" y="4301659"/>
            <a:ext cx="636780" cy="369332"/>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mé</a:t>
            </a:r>
            <a:endParaRPr lang="en-IN" dirty="0">
              <a:latin typeface="Times New Roman" panose="02020603050405020304" pitchFamily="18" charset="0"/>
              <a:cs typeface="Times New Roman" panose="02020603050405020304" pitchFamily="18" charset="0"/>
            </a:endParaRPr>
          </a:p>
        </p:txBody>
      </p:sp>
      <p:cxnSp>
        <p:nvCxnSpPr>
          <p:cNvPr id="24" name="Straight Arrow Connector 23"/>
          <p:cNvCxnSpPr>
            <a:stCxn id="20" idx="3"/>
            <a:endCxn id="43" idx="1"/>
          </p:cNvCxnSpPr>
          <p:nvPr/>
        </p:nvCxnSpPr>
        <p:spPr>
          <a:xfrm flipV="1">
            <a:off x="2194796" y="2259799"/>
            <a:ext cx="318146" cy="267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7" idx="3"/>
            <a:endCxn id="49" idx="1"/>
          </p:cNvCxnSpPr>
          <p:nvPr/>
        </p:nvCxnSpPr>
        <p:spPr>
          <a:xfrm flipV="1">
            <a:off x="2193171" y="3763292"/>
            <a:ext cx="319770" cy="490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542898" y="3685598"/>
            <a:ext cx="848621" cy="203133"/>
          </a:xfrm>
          <a:prstGeom prst="rect">
            <a:avLst/>
          </a:prstGeom>
          <a:noFill/>
        </p:spPr>
        <p:txBody>
          <a:bodyPr wrap="square" rtlCol="0">
            <a:spAutoFit/>
          </a:bodyPr>
          <a:lstStyle/>
          <a:p>
            <a:pPr>
              <a:lnSpc>
                <a:spcPct val="40000"/>
              </a:lnSpc>
            </a:pPr>
            <a:r>
              <a:rPr lang="en-IN" dirty="0">
                <a:latin typeface="Times New Roman" panose="02020603050405020304" pitchFamily="18" charset="0"/>
                <a:cs typeface="Times New Roman" panose="02020603050405020304" pitchFamily="18" charset="0"/>
              </a:rPr>
              <a:t>léinn</a:t>
            </a:r>
          </a:p>
        </p:txBody>
      </p:sp>
      <p:sp>
        <p:nvSpPr>
          <p:cNvPr id="27" name="Rounded Rectangle 26"/>
          <p:cNvSpPr/>
          <p:nvPr/>
        </p:nvSpPr>
        <p:spPr>
          <a:xfrm>
            <a:off x="1529229" y="3590334"/>
            <a:ext cx="663942" cy="355719"/>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28" name="Straight Arrow Connector 27"/>
          <p:cNvCxnSpPr>
            <a:stCxn id="22" idx="3"/>
            <a:endCxn id="46" idx="1"/>
          </p:cNvCxnSpPr>
          <p:nvPr/>
        </p:nvCxnSpPr>
        <p:spPr>
          <a:xfrm flipV="1">
            <a:off x="2199017" y="2998135"/>
            <a:ext cx="314699" cy="497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Rounded Rectangle 28"/>
          <p:cNvSpPr/>
          <p:nvPr/>
        </p:nvSpPr>
        <p:spPr>
          <a:xfrm>
            <a:off x="1632453" y="4349825"/>
            <a:ext cx="560719" cy="330175"/>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30" name="Straight Arrow Connector 29"/>
          <p:cNvCxnSpPr>
            <a:stCxn id="29" idx="3"/>
            <a:endCxn id="52" idx="1"/>
          </p:cNvCxnSpPr>
          <p:nvPr/>
        </p:nvCxnSpPr>
        <p:spPr>
          <a:xfrm flipV="1">
            <a:off x="2193171" y="4511982"/>
            <a:ext cx="319770" cy="293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2512941" y="2011457"/>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p:cNvSpPr/>
          <p:nvPr/>
        </p:nvSpPr>
        <p:spPr>
          <a:xfrm>
            <a:off x="2513716" y="2749793"/>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48"/>
          <p:cNvSpPr/>
          <p:nvPr/>
        </p:nvSpPr>
        <p:spPr>
          <a:xfrm>
            <a:off x="2512941" y="3514950"/>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51"/>
          <p:cNvSpPr/>
          <p:nvPr/>
        </p:nvSpPr>
        <p:spPr>
          <a:xfrm>
            <a:off x="2512941" y="4263640"/>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5" name="TextBox 254">
            <a:extLst>
              <a:ext uri="{FF2B5EF4-FFF2-40B4-BE49-F238E27FC236}">
                <a16:creationId xmlns:a16="http://schemas.microsoft.com/office/drawing/2014/main" id="{168ABEAE-7EED-0371-3543-D8652B3854C2}"/>
              </a:ext>
            </a:extLst>
          </p:cNvPr>
          <p:cNvSpPr txBox="1"/>
          <p:nvPr/>
        </p:nvSpPr>
        <p:spPr>
          <a:xfrm>
            <a:off x="1996699" y="4879889"/>
            <a:ext cx="1158765" cy="584775"/>
          </a:xfrm>
          <a:prstGeom prst="rect">
            <a:avLst/>
          </a:prstGeom>
          <a:noFill/>
        </p:spPr>
        <p:txBody>
          <a:bodyPr wrap="square" rtlCol="0">
            <a:spAutoFit/>
          </a:bodyPr>
          <a:lstStyle/>
          <a:p>
            <a:pPr algn="ctr"/>
            <a:r>
              <a:rPr lang="en-US" sz="1600" dirty="0">
                <a:solidFill>
                  <a:srgbClr val="7030A0"/>
                </a:solidFill>
                <a:latin typeface="Times New Roman" panose="02020603050405020304" pitchFamily="18" charset="0"/>
                <a:cs typeface="Times New Roman" panose="02020603050405020304" pitchFamily="18" charset="0"/>
              </a:rPr>
              <a:t>Input Embedding</a:t>
            </a:r>
            <a:endParaRPr lang="en-IN" sz="1600" dirty="0">
              <a:solidFill>
                <a:srgbClr val="7030A0"/>
              </a:solidFill>
              <a:latin typeface="Times New Roman" panose="02020603050405020304" pitchFamily="18" charset="0"/>
              <a:cs typeface="Times New Roman" panose="02020603050405020304" pitchFamily="18" charset="0"/>
            </a:endParaRPr>
          </a:p>
        </p:txBody>
      </p:sp>
      <p:sp>
        <p:nvSpPr>
          <p:cNvPr id="256" name="Left Bracket 255"/>
          <p:cNvSpPr/>
          <p:nvPr/>
        </p:nvSpPr>
        <p:spPr>
          <a:xfrm rot="16200000">
            <a:off x="2541419" y="4637318"/>
            <a:ext cx="130764" cy="334876"/>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57" name="TextBox 256">
            <a:extLst>
              <a:ext uri="{FF2B5EF4-FFF2-40B4-BE49-F238E27FC236}">
                <a16:creationId xmlns:a16="http://schemas.microsoft.com/office/drawing/2014/main" id="{006765CC-8187-42FD-AE18-C69B87A97849}"/>
              </a:ext>
            </a:extLst>
          </p:cNvPr>
          <p:cNvSpPr txBox="1"/>
          <p:nvPr/>
        </p:nvSpPr>
        <p:spPr>
          <a:xfrm>
            <a:off x="6213411" y="6430775"/>
            <a:ext cx="5753100"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Figure </a:t>
            </a:r>
            <a:r>
              <a:rPr lang="en-IN" sz="1400" dirty="0">
                <a:latin typeface="Arial Narrow" panose="020B0606020202030204" pitchFamily="34" charset="0"/>
                <a:cs typeface="Times New Roman" panose="02020603050405020304" pitchFamily="18" charset="0"/>
              </a:rPr>
              <a:t>Source</a:t>
            </a:r>
            <a:r>
              <a:rPr lang="en-IN" sz="1400" dirty="0">
                <a:latin typeface="Times New Roman" panose="02020603050405020304" pitchFamily="18" charset="0"/>
                <a:cs typeface="Times New Roman" panose="02020603050405020304" pitchFamily="18" charset="0"/>
              </a:rPr>
              <a:t>: Ashish Vaswani et. al. Attention is All You Need, NIPS 2017</a:t>
            </a:r>
          </a:p>
        </p:txBody>
      </p:sp>
      <p:sp>
        <p:nvSpPr>
          <p:cNvPr id="31" name="TextBox 30">
            <a:extLst>
              <a:ext uri="{FF2B5EF4-FFF2-40B4-BE49-F238E27FC236}">
                <a16:creationId xmlns:a16="http://schemas.microsoft.com/office/drawing/2014/main" id="{A9B63250-368D-4BD0-9A11-779E2044EFF3}"/>
              </a:ext>
            </a:extLst>
          </p:cNvPr>
          <p:cNvSpPr txBox="1"/>
          <p:nvPr/>
        </p:nvSpPr>
        <p:spPr>
          <a:xfrm>
            <a:off x="545760" y="309292"/>
            <a:ext cx="5461518" cy="584775"/>
          </a:xfrm>
          <a:prstGeom prst="rect">
            <a:avLst/>
          </a:prstGeom>
          <a:noFill/>
        </p:spPr>
        <p:txBody>
          <a:bodyPr wrap="square" rtlCol="0">
            <a:spAutoFit/>
          </a:bodyPr>
          <a:lstStyle>
            <a:defPPr>
              <a:defRPr lang="en-US"/>
            </a:defPPr>
            <a:lvl1pPr>
              <a:defRPr sz="3200">
                <a:solidFill>
                  <a:srgbClr val="C00000"/>
                </a:solidFill>
                <a:latin typeface="Book Antiqua" panose="02040602050305030304" pitchFamily="18" charset="0"/>
              </a:defRPr>
            </a:lvl1pPr>
          </a:lstStyle>
          <a:p>
            <a:r>
              <a:rPr lang="en-US" dirty="0">
                <a:solidFill>
                  <a:schemeClr val="tx1"/>
                </a:solidFill>
                <a:latin typeface="Century" panose="02040604050505020304" pitchFamily="18" charset="0"/>
              </a:rPr>
              <a:t>Full Encoder at a glance</a:t>
            </a:r>
            <a:endParaRPr lang="en-IN" dirty="0">
              <a:solidFill>
                <a:schemeClr val="tx1"/>
              </a:solidFill>
              <a:latin typeface="Century" panose="02040604050505020304" pitchFamily="18" charset="0"/>
            </a:endParaRPr>
          </a:p>
        </p:txBody>
      </p:sp>
    </p:spTree>
    <p:extLst>
      <p:ext uri="{BB962C8B-B14F-4D97-AF65-F5344CB8AC3E}">
        <p14:creationId xmlns:p14="http://schemas.microsoft.com/office/powerpoint/2010/main" val="4188677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31B9-A482-4396-8932-38E3E0394431}"/>
              </a:ext>
            </a:extLst>
          </p:cNvPr>
          <p:cNvSpPr>
            <a:spLocks noGrp="1"/>
          </p:cNvSpPr>
          <p:nvPr>
            <p:ph type="title"/>
          </p:nvPr>
        </p:nvSpPr>
        <p:spPr>
          <a:xfrm>
            <a:off x="838200" y="365125"/>
            <a:ext cx="10515600" cy="949887"/>
          </a:xfrm>
        </p:spPr>
        <p:txBody>
          <a:bodyPr>
            <a:normAutofit/>
          </a:bodyPr>
          <a:lstStyle/>
          <a:p>
            <a:r>
              <a:rPr lang="en-US" sz="3200" dirty="0">
                <a:latin typeface="Century" panose="02040604050505020304" pitchFamily="18" charset="0"/>
              </a:rPr>
              <a:t>Input Embedding</a:t>
            </a:r>
            <a:endParaRPr lang="en-IN" sz="3200" dirty="0">
              <a:latin typeface="Century" panose="02040604050505020304" pitchFamily="18" charset="0"/>
            </a:endParaRPr>
          </a:p>
        </p:txBody>
      </p:sp>
      <p:sp>
        <p:nvSpPr>
          <p:cNvPr id="3" name="Content Placeholder 2">
            <a:extLst>
              <a:ext uri="{FF2B5EF4-FFF2-40B4-BE49-F238E27FC236}">
                <a16:creationId xmlns:a16="http://schemas.microsoft.com/office/drawing/2014/main" id="{1BD7FCDB-5CE1-47AA-BB29-2572A681B415}"/>
              </a:ext>
            </a:extLst>
          </p:cNvPr>
          <p:cNvSpPr>
            <a:spLocks noGrp="1"/>
          </p:cNvSpPr>
          <p:nvPr>
            <p:ph idx="1"/>
          </p:nvPr>
        </p:nvSpPr>
        <p:spPr>
          <a:xfrm>
            <a:off x="838200" y="1315012"/>
            <a:ext cx="6342962" cy="5513294"/>
          </a:xfrm>
        </p:spPr>
        <p:txBody>
          <a:bodyPr>
            <a:normAutofit fontScale="85000" lnSpcReduction="10000"/>
          </a:bodyPr>
          <a:lstStyle/>
          <a:p>
            <a:pPr algn="just"/>
            <a:r>
              <a:rPr lang="en-US" sz="2000" dirty="0">
                <a:solidFill>
                  <a:srgbClr val="7030A0"/>
                </a:solidFill>
                <a:latin typeface="Arial Narrow" panose="020B0606020202030204" pitchFamily="34" charset="0"/>
              </a:rPr>
              <a:t>Input embedding </a:t>
            </a:r>
            <a:r>
              <a:rPr lang="en-US" sz="2000" dirty="0">
                <a:latin typeface="Arial Narrow" panose="020B0606020202030204" pitchFamily="34" charset="0"/>
              </a:rPr>
              <a:t>in a Transformer is the process of </a:t>
            </a:r>
            <a:r>
              <a:rPr lang="en-US" sz="2000" dirty="0">
                <a:solidFill>
                  <a:srgbClr val="7030A0"/>
                </a:solidFill>
                <a:latin typeface="Arial Narrow" panose="020B0606020202030204" pitchFamily="34" charset="0"/>
              </a:rPr>
              <a:t>converting text tokens into numerical vector representations</a:t>
            </a:r>
            <a:r>
              <a:rPr lang="en-US" sz="2000" dirty="0">
                <a:latin typeface="Arial Narrow" panose="020B0606020202030204" pitchFamily="34" charset="0"/>
              </a:rPr>
              <a:t> that the model can process mathematically.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input text is first </a:t>
            </a:r>
            <a:r>
              <a:rPr lang="en-US" sz="2000" dirty="0">
                <a:solidFill>
                  <a:srgbClr val="7030A0"/>
                </a:solidFill>
                <a:latin typeface="Arial Narrow" panose="020B0606020202030204" pitchFamily="34" charset="0"/>
              </a:rPr>
              <a:t>tokenized into smaller units</a:t>
            </a:r>
            <a:r>
              <a:rPr lang="en-US" sz="2000" dirty="0">
                <a:latin typeface="Arial Narrow" panose="020B0606020202030204" pitchFamily="34" charset="0"/>
              </a:rPr>
              <a:t>, such as words, </a:t>
            </a:r>
            <a:r>
              <a:rPr lang="en-US" sz="2000" dirty="0" err="1">
                <a:latin typeface="Arial Narrow" panose="020B0606020202030204" pitchFamily="34" charset="0"/>
              </a:rPr>
              <a:t>subwords</a:t>
            </a:r>
            <a:r>
              <a:rPr lang="en-US" sz="2000" dirty="0">
                <a:latin typeface="Arial Narrow" panose="020B0606020202030204" pitchFamily="34" charset="0"/>
              </a:rPr>
              <a:t>, or individual tokens.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Each token is then </a:t>
            </a:r>
            <a:r>
              <a:rPr lang="en-US" sz="2000" dirty="0">
                <a:solidFill>
                  <a:srgbClr val="7030A0"/>
                </a:solidFill>
                <a:latin typeface="Arial Narrow" panose="020B0606020202030204" pitchFamily="34" charset="0"/>
              </a:rPr>
              <a:t>mapped to a dense, fixed-dimensional vector using a learnable embedding matrix</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These embeddings provide a </a:t>
            </a:r>
            <a:r>
              <a:rPr lang="en-US" sz="2000" dirty="0">
                <a:solidFill>
                  <a:srgbClr val="7030A0"/>
                </a:solidFill>
                <a:latin typeface="Arial Narrow" panose="020B0606020202030204" pitchFamily="34" charset="0"/>
              </a:rPr>
              <a:t>continuous representation of the tokens </a:t>
            </a:r>
            <a:r>
              <a:rPr lang="en-US" sz="2000" dirty="0">
                <a:latin typeface="Arial Narrow" panose="020B0606020202030204" pitchFamily="34" charset="0"/>
              </a:rPr>
              <a:t>and allow the model to </a:t>
            </a:r>
            <a:r>
              <a:rPr lang="en-US" sz="2000" dirty="0">
                <a:solidFill>
                  <a:srgbClr val="7030A0"/>
                </a:solidFill>
                <a:latin typeface="Arial Narrow" panose="020B0606020202030204" pitchFamily="34" charset="0"/>
              </a:rPr>
              <a:t>capture meaningful semantic and syntactic relationships between them</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During training, the embedding vectors are learned such that </a:t>
            </a:r>
            <a:r>
              <a:rPr lang="en-US" sz="2000" dirty="0">
                <a:solidFill>
                  <a:srgbClr val="7030A0"/>
                </a:solidFill>
                <a:latin typeface="Arial Narrow" panose="020B0606020202030204" pitchFamily="34" charset="0"/>
              </a:rPr>
              <a:t>tokens with similar meanings or usage patterns tend to have similar representations in the vector space</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resulting embeddings are then combined with positional information and supplied to the Transformer layers for further processing.</a:t>
            </a:r>
            <a:endParaRPr lang="en-IN" sz="2000" dirty="0">
              <a:latin typeface="Arial Narrow" panose="020B0606020202030204" pitchFamily="34" charset="0"/>
            </a:endParaRPr>
          </a:p>
        </p:txBody>
      </p:sp>
      <p:sp>
        <p:nvSpPr>
          <p:cNvPr id="6" name="TextBox 5">
            <a:extLst>
              <a:ext uri="{FF2B5EF4-FFF2-40B4-BE49-F238E27FC236}">
                <a16:creationId xmlns:a16="http://schemas.microsoft.com/office/drawing/2014/main" id="{AFC83DBE-0EED-441C-AB72-6F464C1E259E}"/>
              </a:ext>
            </a:extLst>
          </p:cNvPr>
          <p:cNvSpPr txBox="1"/>
          <p:nvPr/>
        </p:nvSpPr>
        <p:spPr>
          <a:xfrm>
            <a:off x="7181162" y="6544770"/>
            <a:ext cx="4911789"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Fi</a:t>
            </a:r>
            <a:r>
              <a:rPr lang="en-IN" sz="1200" dirty="0">
                <a:latin typeface="Arial Narrow" panose="020B0606020202030204" pitchFamily="34" charset="0"/>
                <a:cs typeface="Times New Roman" panose="02020603050405020304" pitchFamily="18" charset="0"/>
              </a:rPr>
              <a:t>g</a:t>
            </a:r>
            <a:r>
              <a:rPr lang="en-IN" sz="1200" dirty="0">
                <a:latin typeface="Times New Roman" panose="02020603050405020304" pitchFamily="18" charset="0"/>
                <a:cs typeface="Times New Roman" panose="02020603050405020304" pitchFamily="18" charset="0"/>
              </a:rPr>
              <a:t>ure Source: Ashish Vaswani et. al. Attention is All You Need, NIPS 2017</a:t>
            </a:r>
          </a:p>
        </p:txBody>
      </p:sp>
      <p:pic>
        <p:nvPicPr>
          <p:cNvPr id="5" name="Picture 4">
            <a:extLst>
              <a:ext uri="{FF2B5EF4-FFF2-40B4-BE49-F238E27FC236}">
                <a16:creationId xmlns:a16="http://schemas.microsoft.com/office/drawing/2014/main" id="{220D1BFE-51FB-4D24-9F29-C81B8B8FC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5757" y="840068"/>
            <a:ext cx="3803448" cy="5513294"/>
          </a:xfrm>
          <a:prstGeom prst="rect">
            <a:avLst/>
          </a:prstGeom>
          <a:solidFill>
            <a:schemeClr val="accent4">
              <a:lumMod val="60000"/>
              <a:lumOff val="40000"/>
              <a:alpha val="32000"/>
            </a:schemeClr>
          </a:solidFill>
        </p:spPr>
      </p:pic>
      <p:sp>
        <p:nvSpPr>
          <p:cNvPr id="7" name="Rectangle 6">
            <a:extLst>
              <a:ext uri="{FF2B5EF4-FFF2-40B4-BE49-F238E27FC236}">
                <a16:creationId xmlns:a16="http://schemas.microsoft.com/office/drawing/2014/main" id="{DBD5D2B7-F854-4971-9634-A0EE1E6A3783}"/>
              </a:ext>
            </a:extLst>
          </p:cNvPr>
          <p:cNvSpPr/>
          <p:nvPr/>
        </p:nvSpPr>
        <p:spPr>
          <a:xfrm>
            <a:off x="7994493" y="5262282"/>
            <a:ext cx="1272988" cy="430306"/>
          </a:xfrm>
          <a:prstGeom prst="rect">
            <a:avLst/>
          </a:prstGeom>
          <a:solidFill>
            <a:schemeClr val="accent4">
              <a:lumMod val="60000"/>
              <a:lumOff val="40000"/>
              <a:alpha val="3200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4747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Rounded Rectangle 307"/>
          <p:cNvSpPr/>
          <p:nvPr/>
        </p:nvSpPr>
        <p:spPr>
          <a:xfrm>
            <a:off x="6177052" y="3832006"/>
            <a:ext cx="5375862" cy="2957224"/>
          </a:xfrm>
          <a:prstGeom prst="roundRect">
            <a:avLst/>
          </a:prstGeom>
          <a:solidFill>
            <a:schemeClr val="accent6">
              <a:lumMod val="60000"/>
              <a:lumOff val="40000"/>
              <a:alpha val="3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7" name="TextBox 6">
            <a:extLst>
              <a:ext uri="{FF2B5EF4-FFF2-40B4-BE49-F238E27FC236}">
                <a16:creationId xmlns:a16="http://schemas.microsoft.com/office/drawing/2014/main" id="{32E5F565-F611-84AB-EF96-FC2A8B776516}"/>
              </a:ext>
            </a:extLst>
          </p:cNvPr>
          <p:cNvSpPr txBox="1"/>
          <p:nvPr/>
        </p:nvSpPr>
        <p:spPr>
          <a:xfrm>
            <a:off x="586152" y="189976"/>
            <a:ext cx="4863531" cy="584775"/>
          </a:xfrm>
          <a:prstGeom prst="rect">
            <a:avLst/>
          </a:prstGeom>
          <a:noFill/>
        </p:spPr>
        <p:txBody>
          <a:bodyPr wrap="square">
            <a:spAutoFit/>
          </a:bodyPr>
          <a:lstStyle/>
          <a:p>
            <a:r>
              <a:rPr lang="en-IN" sz="3200" dirty="0">
                <a:latin typeface="Century" panose="02040604050505020304" pitchFamily="18" charset="0"/>
                <a:cs typeface="Times New Roman" panose="02020603050405020304" pitchFamily="18" charset="0"/>
              </a:rPr>
              <a:t>Encoder Architecture</a:t>
            </a:r>
          </a:p>
        </p:txBody>
      </p:sp>
      <p:sp>
        <p:nvSpPr>
          <p:cNvPr id="8" name="TextBox 7">
            <a:extLst>
              <a:ext uri="{FF2B5EF4-FFF2-40B4-BE49-F238E27FC236}">
                <a16:creationId xmlns:a16="http://schemas.microsoft.com/office/drawing/2014/main" id="{322A2994-56E3-FFFB-C220-97BD03B817FD}"/>
              </a:ext>
            </a:extLst>
          </p:cNvPr>
          <p:cNvSpPr txBox="1"/>
          <p:nvPr/>
        </p:nvSpPr>
        <p:spPr>
          <a:xfrm>
            <a:off x="9746788" y="1815781"/>
            <a:ext cx="1244618" cy="461665"/>
          </a:xfrm>
          <a:prstGeom prst="rect">
            <a:avLst/>
          </a:prstGeom>
          <a:noFill/>
        </p:spPr>
        <p:txBody>
          <a:bodyPr wrap="square" rtlCol="0">
            <a:spAutoFit/>
          </a:bodyPr>
          <a:lstStyle/>
          <a:p>
            <a:r>
              <a:rPr lang="en-IN" sz="2400" dirty="0">
                <a:solidFill>
                  <a:srgbClr val="7030A0"/>
                </a:solidFill>
                <a:latin typeface="Arial Narrow" panose="020B0606020202030204" pitchFamily="34" charset="0"/>
                <a:cs typeface="Times New Roman" panose="02020603050405020304" pitchFamily="18" charset="0"/>
              </a:rPr>
              <a:t>Encoder</a:t>
            </a:r>
          </a:p>
        </p:txBody>
      </p:sp>
      <p:sp>
        <p:nvSpPr>
          <p:cNvPr id="124" name="TextBox 123">
            <a:extLst>
              <a:ext uri="{FF2B5EF4-FFF2-40B4-BE49-F238E27FC236}">
                <a16:creationId xmlns:a16="http://schemas.microsoft.com/office/drawing/2014/main" id="{4B5FAFCE-F7DC-43F1-B175-E95899221A32}"/>
              </a:ext>
            </a:extLst>
          </p:cNvPr>
          <p:cNvSpPr txBox="1"/>
          <p:nvPr/>
        </p:nvSpPr>
        <p:spPr>
          <a:xfrm>
            <a:off x="997421" y="3848165"/>
            <a:ext cx="557943" cy="408623"/>
          </a:xfrm>
          <a:prstGeom prst="roundRect">
            <a:avLst/>
          </a:prstGeom>
          <a:solidFill>
            <a:schemeClr val="accent2">
              <a:lumMod val="75000"/>
              <a:alpha val="32000"/>
            </a:schemeClr>
          </a:solidFill>
          <a:ln>
            <a:solidFill>
              <a:srgbClr val="002060"/>
            </a:solidFill>
          </a:ln>
        </p:spPr>
        <p:txBody>
          <a:bodyPr wrap="square" rtlCol="0">
            <a:spAutoFit/>
          </a:bodyPr>
          <a:lstStyle/>
          <a:p>
            <a:r>
              <a:rPr lang="en-US" dirty="0">
                <a:latin typeface="Arial Narrow" panose="020B0606020202030204" pitchFamily="34" charset="0"/>
                <a:cs typeface="Times New Roman" panose="02020603050405020304" pitchFamily="18" charset="0"/>
              </a:rPr>
              <a:t>Raj</a:t>
            </a:r>
            <a:endParaRPr lang="en-IN" dirty="0">
              <a:latin typeface="Arial Narrow" panose="020B0606020202030204" pitchFamily="34" charset="0"/>
              <a:cs typeface="Times New Roman" panose="02020603050405020304" pitchFamily="18" charset="0"/>
            </a:endParaRPr>
          </a:p>
        </p:txBody>
      </p:sp>
      <p:sp>
        <p:nvSpPr>
          <p:cNvPr id="125" name="TextBox 124">
            <a:extLst>
              <a:ext uri="{FF2B5EF4-FFF2-40B4-BE49-F238E27FC236}">
                <a16:creationId xmlns:a16="http://schemas.microsoft.com/office/drawing/2014/main" id="{CF1FDC92-635E-4F5E-998C-D99D5C7446D3}"/>
              </a:ext>
            </a:extLst>
          </p:cNvPr>
          <p:cNvSpPr txBox="1"/>
          <p:nvPr/>
        </p:nvSpPr>
        <p:spPr>
          <a:xfrm>
            <a:off x="1784837" y="3853557"/>
            <a:ext cx="454640" cy="408623"/>
          </a:xfrm>
          <a:prstGeom prst="roundRect">
            <a:avLst/>
          </a:prstGeom>
          <a:solidFill>
            <a:schemeClr val="accent2">
              <a:lumMod val="75000"/>
              <a:alpha val="32000"/>
            </a:schemeClr>
          </a:solidFill>
          <a:ln>
            <a:solidFill>
              <a:srgbClr val="002060"/>
            </a:solidFill>
          </a:ln>
        </p:spPr>
        <p:txBody>
          <a:bodyPr wrap="square" rtlCol="0">
            <a:spAutoFit/>
          </a:bodyPr>
          <a:lstStyle/>
          <a:p>
            <a:pPr algn="ctr"/>
            <a:r>
              <a:rPr lang="en-US" dirty="0">
                <a:latin typeface="Arial Narrow" panose="020B0606020202030204" pitchFamily="34" charset="0"/>
                <a:cs typeface="Times New Roman" panose="02020603050405020304" pitchFamily="18" charset="0"/>
              </a:rPr>
              <a:t>is</a:t>
            </a:r>
            <a:endParaRPr lang="en-IN" dirty="0">
              <a:latin typeface="Arial Narrow" panose="020B0606020202030204" pitchFamily="34" charset="0"/>
              <a:cs typeface="Times New Roman" panose="02020603050405020304" pitchFamily="18" charset="0"/>
            </a:endParaRPr>
          </a:p>
        </p:txBody>
      </p:sp>
      <p:sp>
        <p:nvSpPr>
          <p:cNvPr id="126" name="TextBox 125">
            <a:extLst>
              <a:ext uri="{FF2B5EF4-FFF2-40B4-BE49-F238E27FC236}">
                <a16:creationId xmlns:a16="http://schemas.microsoft.com/office/drawing/2014/main" id="{0E60CC01-188D-4FBE-BD2D-0FCB23B8520E}"/>
              </a:ext>
            </a:extLst>
          </p:cNvPr>
          <p:cNvSpPr txBox="1"/>
          <p:nvPr/>
        </p:nvSpPr>
        <p:spPr>
          <a:xfrm>
            <a:off x="2448932" y="3852423"/>
            <a:ext cx="462460" cy="408623"/>
          </a:xfrm>
          <a:prstGeom prst="roundRect">
            <a:avLst/>
          </a:prstGeom>
          <a:solidFill>
            <a:schemeClr val="accent2">
              <a:lumMod val="75000"/>
              <a:alpha val="32000"/>
            </a:schemeClr>
          </a:solidFill>
          <a:ln>
            <a:solidFill>
              <a:srgbClr val="002060"/>
            </a:solidFill>
          </a:ln>
        </p:spPr>
        <p:txBody>
          <a:bodyPr wrap="square" rtlCol="0">
            <a:spAutoFit/>
          </a:bodyPr>
          <a:lstStyle/>
          <a:p>
            <a:pPr algn="ctr"/>
            <a:r>
              <a:rPr lang="en-US" dirty="0">
                <a:latin typeface="Arial Narrow" panose="020B0606020202030204" pitchFamily="34" charset="0"/>
                <a:cs typeface="Times New Roman" panose="02020603050405020304" pitchFamily="18" charset="0"/>
              </a:rPr>
              <a:t>a</a:t>
            </a:r>
            <a:endParaRPr lang="en-IN" dirty="0">
              <a:latin typeface="Arial Narrow" panose="020B0606020202030204" pitchFamily="34" charset="0"/>
              <a:cs typeface="Times New Roman" panose="02020603050405020304" pitchFamily="18" charset="0"/>
            </a:endParaRPr>
          </a:p>
        </p:txBody>
      </p:sp>
      <p:sp>
        <p:nvSpPr>
          <p:cNvPr id="127" name="TextBox 126">
            <a:extLst>
              <a:ext uri="{FF2B5EF4-FFF2-40B4-BE49-F238E27FC236}">
                <a16:creationId xmlns:a16="http://schemas.microsoft.com/office/drawing/2014/main" id="{DF21B61C-2305-4616-98A4-590B680F07C8}"/>
              </a:ext>
            </a:extLst>
          </p:cNvPr>
          <p:cNvSpPr txBox="1"/>
          <p:nvPr/>
        </p:nvSpPr>
        <p:spPr>
          <a:xfrm>
            <a:off x="3078870" y="3852300"/>
            <a:ext cx="697774" cy="408623"/>
          </a:xfrm>
          <a:prstGeom prst="roundRect">
            <a:avLst/>
          </a:prstGeom>
          <a:solidFill>
            <a:schemeClr val="accent2">
              <a:lumMod val="75000"/>
              <a:alpha val="32000"/>
            </a:schemeClr>
          </a:solidFill>
          <a:ln>
            <a:solidFill>
              <a:srgbClr val="002060"/>
            </a:solidFill>
          </a:ln>
        </p:spPr>
        <p:txBody>
          <a:bodyPr wrap="square" rtlCol="0">
            <a:spAutoFit/>
          </a:bodyPr>
          <a:lstStyle/>
          <a:p>
            <a:pPr algn="ctr"/>
            <a:r>
              <a:rPr lang="en-US" dirty="0">
                <a:latin typeface="Arial Narrow" panose="020B0606020202030204" pitchFamily="34" charset="0"/>
                <a:cs typeface="Times New Roman" panose="02020603050405020304" pitchFamily="18" charset="0"/>
              </a:rPr>
              <a:t>good</a:t>
            </a:r>
            <a:endParaRPr lang="en-IN" dirty="0">
              <a:latin typeface="Arial Narrow" panose="020B0606020202030204" pitchFamily="34" charset="0"/>
              <a:cs typeface="Times New Roman" panose="02020603050405020304" pitchFamily="18" charset="0"/>
            </a:endParaRPr>
          </a:p>
        </p:txBody>
      </p:sp>
      <p:sp>
        <p:nvSpPr>
          <p:cNvPr id="128" name="TextBox 127">
            <a:extLst>
              <a:ext uri="{FF2B5EF4-FFF2-40B4-BE49-F238E27FC236}">
                <a16:creationId xmlns:a16="http://schemas.microsoft.com/office/drawing/2014/main" id="{BD29A30E-3FAB-4185-A29D-8825686DCCBA}"/>
              </a:ext>
            </a:extLst>
          </p:cNvPr>
          <p:cNvSpPr txBox="1"/>
          <p:nvPr/>
        </p:nvSpPr>
        <p:spPr>
          <a:xfrm>
            <a:off x="3926762" y="3845470"/>
            <a:ext cx="592364" cy="408623"/>
          </a:xfrm>
          <a:prstGeom prst="roundRect">
            <a:avLst/>
          </a:prstGeom>
          <a:solidFill>
            <a:schemeClr val="accent2">
              <a:lumMod val="75000"/>
              <a:alpha val="32000"/>
            </a:schemeClr>
          </a:solidFill>
          <a:ln>
            <a:solidFill>
              <a:srgbClr val="002060"/>
            </a:solidFill>
          </a:ln>
        </p:spPr>
        <p:txBody>
          <a:bodyPr wrap="square" rtlCol="0">
            <a:spAutoFit/>
          </a:bodyPr>
          <a:lstStyle/>
          <a:p>
            <a:pPr algn="ctr"/>
            <a:r>
              <a:rPr lang="en-US" dirty="0">
                <a:latin typeface="Arial Narrow" panose="020B0606020202030204" pitchFamily="34" charset="0"/>
                <a:cs typeface="Times New Roman" panose="02020603050405020304" pitchFamily="18" charset="0"/>
              </a:rPr>
              <a:t>boy</a:t>
            </a:r>
            <a:endParaRPr lang="en-IN" dirty="0">
              <a:latin typeface="Arial Narrow" panose="020B0606020202030204" pitchFamily="34" charset="0"/>
              <a:cs typeface="Times New Roman" panose="02020603050405020304" pitchFamily="18" charset="0"/>
            </a:endParaRPr>
          </a:p>
        </p:txBody>
      </p:sp>
      <p:sp>
        <p:nvSpPr>
          <p:cNvPr id="130" name="Rectangle 129">
            <a:extLst>
              <a:ext uri="{FF2B5EF4-FFF2-40B4-BE49-F238E27FC236}">
                <a16:creationId xmlns:a16="http://schemas.microsoft.com/office/drawing/2014/main" id="{C1E7516A-8BB3-4F1F-8BDD-8BB2E2E9A746}"/>
              </a:ext>
            </a:extLst>
          </p:cNvPr>
          <p:cNvSpPr/>
          <p:nvPr/>
        </p:nvSpPr>
        <p:spPr>
          <a:xfrm>
            <a:off x="997421" y="4910508"/>
            <a:ext cx="3521705" cy="400110"/>
          </a:xfrm>
          <a:prstGeom prst="rect">
            <a:avLst/>
          </a:prstGeom>
          <a:solidFill>
            <a:schemeClr val="accent4">
              <a:lumMod val="60000"/>
              <a:lumOff val="40000"/>
            </a:schemeClr>
          </a:solidFill>
          <a:ln w="12700">
            <a:solidFill>
              <a:srgbClr val="66FFFF"/>
            </a:solidFill>
          </a:ln>
        </p:spPr>
        <p:txBody>
          <a:bodyPr wrap="square" rtlCol="0">
            <a:spAutoFit/>
          </a:bodyPr>
          <a:lstStyle/>
          <a:p>
            <a:pPr algn="ctr"/>
            <a:r>
              <a:rPr lang="en-US" sz="2000" dirty="0">
                <a:solidFill>
                  <a:srgbClr val="7030A0"/>
                </a:solidFill>
                <a:latin typeface="Arial Narrow" panose="020B0606020202030204" pitchFamily="34" charset="0"/>
                <a:cs typeface="Times New Roman" panose="02020603050405020304" pitchFamily="18" charset="0"/>
              </a:rPr>
              <a:t>Input Embedding</a:t>
            </a:r>
            <a:endParaRPr lang="en-IN" sz="2000" dirty="0">
              <a:solidFill>
                <a:srgbClr val="7030A0"/>
              </a:solidFill>
              <a:latin typeface="Arial Narrow" panose="020B0606020202030204" pitchFamily="34" charset="0"/>
              <a:cs typeface="Times New Roman" panose="02020603050405020304" pitchFamily="18" charset="0"/>
            </a:endParaRPr>
          </a:p>
        </p:txBody>
      </p:sp>
      <p:cxnSp>
        <p:nvCxnSpPr>
          <p:cNvPr id="131" name="Straight Arrow Connector 130"/>
          <p:cNvCxnSpPr>
            <a:stCxn id="124" idx="2"/>
            <a:endCxn id="130" idx="0"/>
          </p:cNvCxnSpPr>
          <p:nvPr/>
        </p:nvCxnSpPr>
        <p:spPr>
          <a:xfrm>
            <a:off x="1276393" y="4256788"/>
            <a:ext cx="1481881" cy="653720"/>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125" idx="2"/>
            <a:endCxn id="130" idx="0"/>
          </p:cNvCxnSpPr>
          <p:nvPr/>
        </p:nvCxnSpPr>
        <p:spPr>
          <a:xfrm>
            <a:off x="2012157" y="4262180"/>
            <a:ext cx="746117" cy="648328"/>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a:stCxn id="126" idx="2"/>
            <a:endCxn id="130" idx="0"/>
          </p:cNvCxnSpPr>
          <p:nvPr/>
        </p:nvCxnSpPr>
        <p:spPr>
          <a:xfrm>
            <a:off x="2680162" y="4261046"/>
            <a:ext cx="78112" cy="649462"/>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a:stCxn id="127" idx="2"/>
            <a:endCxn id="130" idx="0"/>
          </p:cNvCxnSpPr>
          <p:nvPr/>
        </p:nvCxnSpPr>
        <p:spPr>
          <a:xfrm flipH="1">
            <a:off x="2758274" y="4260923"/>
            <a:ext cx="669483" cy="64958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a:stCxn id="128" idx="2"/>
            <a:endCxn id="130" idx="0"/>
          </p:cNvCxnSpPr>
          <p:nvPr/>
        </p:nvCxnSpPr>
        <p:spPr>
          <a:xfrm flipH="1">
            <a:off x="2758274" y="4254093"/>
            <a:ext cx="1464670" cy="65641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223" name="Group 222"/>
          <p:cNvGrpSpPr/>
          <p:nvPr/>
        </p:nvGrpSpPr>
        <p:grpSpPr>
          <a:xfrm>
            <a:off x="159827" y="6038727"/>
            <a:ext cx="969530" cy="272468"/>
            <a:chOff x="8517814" y="3618576"/>
            <a:chExt cx="1475210" cy="409425"/>
          </a:xfrm>
        </p:grpSpPr>
        <p:sp>
          <p:nvSpPr>
            <p:cNvPr id="137" name="Rectangle 136"/>
            <p:cNvSpPr/>
            <p:nvPr/>
          </p:nvSpPr>
          <p:spPr>
            <a:xfrm>
              <a:off x="8517814" y="3618576"/>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38" name="Rectangle 137"/>
            <p:cNvSpPr/>
            <p:nvPr/>
          </p:nvSpPr>
          <p:spPr>
            <a:xfrm>
              <a:off x="8842117"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39" name="Rectangle 138"/>
            <p:cNvSpPr/>
            <p:nvPr/>
          </p:nvSpPr>
          <p:spPr>
            <a:xfrm>
              <a:off x="9160295" y="3619378"/>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140" name="Rectangle 139"/>
            <p:cNvSpPr/>
            <p:nvPr/>
          </p:nvSpPr>
          <p:spPr>
            <a:xfrm>
              <a:off x="9668721"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224" name="Group 223"/>
          <p:cNvGrpSpPr/>
          <p:nvPr/>
        </p:nvGrpSpPr>
        <p:grpSpPr>
          <a:xfrm>
            <a:off x="1227237" y="6038727"/>
            <a:ext cx="969530" cy="272468"/>
            <a:chOff x="8517814" y="3618576"/>
            <a:chExt cx="1475210" cy="409425"/>
          </a:xfrm>
        </p:grpSpPr>
        <p:sp>
          <p:nvSpPr>
            <p:cNvPr id="225" name="Rectangle 224"/>
            <p:cNvSpPr/>
            <p:nvPr/>
          </p:nvSpPr>
          <p:spPr>
            <a:xfrm>
              <a:off x="8517814" y="3618576"/>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26" name="Rectangle 225"/>
            <p:cNvSpPr/>
            <p:nvPr/>
          </p:nvSpPr>
          <p:spPr>
            <a:xfrm>
              <a:off x="8842117"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27" name="Rectangle 226"/>
            <p:cNvSpPr/>
            <p:nvPr/>
          </p:nvSpPr>
          <p:spPr>
            <a:xfrm>
              <a:off x="9160295" y="3619378"/>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228" name="Rectangle 227"/>
            <p:cNvSpPr/>
            <p:nvPr/>
          </p:nvSpPr>
          <p:spPr>
            <a:xfrm>
              <a:off x="9668721"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229" name="Group 228"/>
          <p:cNvGrpSpPr/>
          <p:nvPr/>
        </p:nvGrpSpPr>
        <p:grpSpPr>
          <a:xfrm>
            <a:off x="2306563" y="6038727"/>
            <a:ext cx="969530" cy="272468"/>
            <a:chOff x="8517814" y="3618576"/>
            <a:chExt cx="1475210" cy="409425"/>
          </a:xfrm>
        </p:grpSpPr>
        <p:sp>
          <p:nvSpPr>
            <p:cNvPr id="230" name="Rectangle 229"/>
            <p:cNvSpPr/>
            <p:nvPr/>
          </p:nvSpPr>
          <p:spPr>
            <a:xfrm>
              <a:off x="8517814" y="3618576"/>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31" name="Rectangle 230"/>
            <p:cNvSpPr/>
            <p:nvPr/>
          </p:nvSpPr>
          <p:spPr>
            <a:xfrm>
              <a:off x="8842117"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32" name="Rectangle 231"/>
            <p:cNvSpPr/>
            <p:nvPr/>
          </p:nvSpPr>
          <p:spPr>
            <a:xfrm>
              <a:off x="9160295" y="3619378"/>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233" name="Rectangle 232"/>
            <p:cNvSpPr/>
            <p:nvPr/>
          </p:nvSpPr>
          <p:spPr>
            <a:xfrm>
              <a:off x="9668721"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234" name="Group 233"/>
          <p:cNvGrpSpPr/>
          <p:nvPr/>
        </p:nvGrpSpPr>
        <p:grpSpPr>
          <a:xfrm>
            <a:off x="3383523" y="6038727"/>
            <a:ext cx="969530" cy="272468"/>
            <a:chOff x="8517814" y="3618576"/>
            <a:chExt cx="1475210" cy="409425"/>
          </a:xfrm>
        </p:grpSpPr>
        <p:sp>
          <p:nvSpPr>
            <p:cNvPr id="235" name="Rectangle 234"/>
            <p:cNvSpPr/>
            <p:nvPr/>
          </p:nvSpPr>
          <p:spPr>
            <a:xfrm>
              <a:off x="8517814" y="3618576"/>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36" name="Rectangle 235"/>
            <p:cNvSpPr/>
            <p:nvPr/>
          </p:nvSpPr>
          <p:spPr>
            <a:xfrm>
              <a:off x="8842117"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37" name="Rectangle 236"/>
            <p:cNvSpPr/>
            <p:nvPr/>
          </p:nvSpPr>
          <p:spPr>
            <a:xfrm>
              <a:off x="9160295" y="3619378"/>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238" name="Rectangle 237"/>
            <p:cNvSpPr/>
            <p:nvPr/>
          </p:nvSpPr>
          <p:spPr>
            <a:xfrm>
              <a:off x="9668721"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239" name="Group 238"/>
          <p:cNvGrpSpPr/>
          <p:nvPr/>
        </p:nvGrpSpPr>
        <p:grpSpPr>
          <a:xfrm>
            <a:off x="4473808" y="6038727"/>
            <a:ext cx="969530" cy="272468"/>
            <a:chOff x="8517814" y="3618576"/>
            <a:chExt cx="1475210" cy="409425"/>
          </a:xfrm>
        </p:grpSpPr>
        <p:sp>
          <p:nvSpPr>
            <p:cNvPr id="240" name="Rectangle 239"/>
            <p:cNvSpPr/>
            <p:nvPr/>
          </p:nvSpPr>
          <p:spPr>
            <a:xfrm>
              <a:off x="8517814" y="3618576"/>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41" name="Rectangle 240"/>
            <p:cNvSpPr/>
            <p:nvPr/>
          </p:nvSpPr>
          <p:spPr>
            <a:xfrm>
              <a:off x="8842117"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42" name="Rectangle 241"/>
            <p:cNvSpPr/>
            <p:nvPr/>
          </p:nvSpPr>
          <p:spPr>
            <a:xfrm>
              <a:off x="9160295" y="3619378"/>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243" name="Rectangle 242"/>
            <p:cNvSpPr/>
            <p:nvPr/>
          </p:nvSpPr>
          <p:spPr>
            <a:xfrm>
              <a:off x="9668721" y="361937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cxnSp>
        <p:nvCxnSpPr>
          <p:cNvPr id="250" name="Straight Arrow Connector 249"/>
          <p:cNvCxnSpPr>
            <a:stCxn id="130" idx="2"/>
          </p:cNvCxnSpPr>
          <p:nvPr/>
        </p:nvCxnSpPr>
        <p:spPr>
          <a:xfrm flipH="1">
            <a:off x="625475" y="5310618"/>
            <a:ext cx="2132799" cy="72757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p:cNvCxnSpPr>
            <a:stCxn id="130" idx="2"/>
          </p:cNvCxnSpPr>
          <p:nvPr/>
        </p:nvCxnSpPr>
        <p:spPr>
          <a:xfrm flipH="1">
            <a:off x="1679718" y="5310618"/>
            <a:ext cx="1078556" cy="72757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4" name="Straight Arrow Connector 253"/>
          <p:cNvCxnSpPr>
            <a:stCxn id="130" idx="2"/>
          </p:cNvCxnSpPr>
          <p:nvPr/>
        </p:nvCxnSpPr>
        <p:spPr>
          <a:xfrm>
            <a:off x="2758274" y="5310618"/>
            <a:ext cx="770" cy="72757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Straight Arrow Connector 255"/>
          <p:cNvCxnSpPr>
            <a:stCxn id="130" idx="2"/>
          </p:cNvCxnSpPr>
          <p:nvPr/>
        </p:nvCxnSpPr>
        <p:spPr>
          <a:xfrm>
            <a:off x="2758274" y="5310618"/>
            <a:ext cx="1067410" cy="72757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8" name="Straight Arrow Connector 257"/>
          <p:cNvCxnSpPr/>
          <p:nvPr/>
        </p:nvCxnSpPr>
        <p:spPr>
          <a:xfrm>
            <a:off x="2787737" y="5316757"/>
            <a:ext cx="2142710" cy="721436"/>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4B5FAFCE-F7DC-43F1-B175-E95899221A32}"/>
              </a:ext>
            </a:extLst>
          </p:cNvPr>
          <p:cNvSpPr txBox="1"/>
          <p:nvPr/>
        </p:nvSpPr>
        <p:spPr>
          <a:xfrm>
            <a:off x="7243224" y="3982564"/>
            <a:ext cx="557943" cy="408623"/>
          </a:xfrm>
          <a:prstGeom prst="roundRect">
            <a:avLst/>
          </a:prstGeom>
          <a:solidFill>
            <a:schemeClr val="accent2">
              <a:lumMod val="75000"/>
              <a:alpha val="32000"/>
            </a:schemeClr>
          </a:solidFill>
          <a:ln>
            <a:solidFill>
              <a:srgbClr val="002060"/>
            </a:solidFill>
          </a:ln>
        </p:spPr>
        <p:txBody>
          <a:bodyPr wrap="square" rtlCol="0">
            <a:spAutoFit/>
          </a:bodyPr>
          <a:lstStyle/>
          <a:p>
            <a:r>
              <a:rPr lang="en-US" dirty="0">
                <a:latin typeface="Arial Narrow" panose="020B0606020202030204" pitchFamily="34" charset="0"/>
                <a:cs typeface="Times New Roman" panose="02020603050405020304" pitchFamily="18" charset="0"/>
              </a:rPr>
              <a:t>Raj</a:t>
            </a:r>
            <a:endParaRPr lang="en-IN" dirty="0">
              <a:latin typeface="Arial Narrow" panose="020B0606020202030204" pitchFamily="34" charset="0"/>
              <a:cs typeface="Times New Roman" panose="02020603050405020304" pitchFamily="18" charset="0"/>
            </a:endParaRPr>
          </a:p>
        </p:txBody>
      </p:sp>
      <p:sp>
        <p:nvSpPr>
          <p:cNvPr id="273" name="TextBox 272">
            <a:extLst>
              <a:ext uri="{FF2B5EF4-FFF2-40B4-BE49-F238E27FC236}">
                <a16:creationId xmlns:a16="http://schemas.microsoft.com/office/drawing/2014/main" id="{CF1FDC92-635E-4F5E-998C-D99D5C7446D3}"/>
              </a:ext>
            </a:extLst>
          </p:cNvPr>
          <p:cNvSpPr txBox="1"/>
          <p:nvPr/>
        </p:nvSpPr>
        <p:spPr>
          <a:xfrm>
            <a:off x="8228754" y="3987250"/>
            <a:ext cx="454640" cy="408623"/>
          </a:xfrm>
          <a:prstGeom prst="roundRect">
            <a:avLst/>
          </a:prstGeom>
          <a:solidFill>
            <a:schemeClr val="accent2">
              <a:lumMod val="75000"/>
              <a:alpha val="32000"/>
            </a:schemeClr>
          </a:solidFill>
          <a:ln>
            <a:solidFill>
              <a:srgbClr val="002060"/>
            </a:solidFill>
          </a:ln>
        </p:spPr>
        <p:txBody>
          <a:bodyPr wrap="square" rtlCol="0">
            <a:spAutoFit/>
          </a:bodyPr>
          <a:lstStyle/>
          <a:p>
            <a:pPr algn="ctr"/>
            <a:r>
              <a:rPr lang="en-US" dirty="0">
                <a:latin typeface="Arial Narrow" panose="020B0606020202030204" pitchFamily="34" charset="0"/>
                <a:cs typeface="Times New Roman" panose="02020603050405020304" pitchFamily="18" charset="0"/>
              </a:rPr>
              <a:t>is</a:t>
            </a:r>
            <a:endParaRPr lang="en-IN" dirty="0">
              <a:latin typeface="Arial Narrow" panose="020B0606020202030204" pitchFamily="34" charset="0"/>
              <a:cs typeface="Times New Roman" panose="02020603050405020304" pitchFamily="18" charset="0"/>
            </a:endParaRPr>
          </a:p>
        </p:txBody>
      </p:sp>
      <p:cxnSp>
        <p:nvCxnSpPr>
          <p:cNvPr id="274" name="Straight Arrow Connector 273"/>
          <p:cNvCxnSpPr>
            <a:stCxn id="272" idx="2"/>
            <a:endCxn id="281" idx="0"/>
          </p:cNvCxnSpPr>
          <p:nvPr/>
        </p:nvCxnSpPr>
        <p:spPr>
          <a:xfrm>
            <a:off x="7522196" y="4391187"/>
            <a:ext cx="1768" cy="277736"/>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a:stCxn id="273" idx="2"/>
            <a:endCxn id="295" idx="0"/>
          </p:cNvCxnSpPr>
          <p:nvPr/>
        </p:nvCxnSpPr>
        <p:spPr>
          <a:xfrm>
            <a:off x="8456074" y="4395873"/>
            <a:ext cx="6148" cy="273050"/>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81" name="Rectangle 280"/>
          <p:cNvSpPr/>
          <p:nvPr/>
        </p:nvSpPr>
        <p:spPr>
          <a:xfrm>
            <a:off x="7188990" y="4668923"/>
            <a:ext cx="669948" cy="273050"/>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7030A0"/>
                </a:solidFill>
                <a:latin typeface="Arial Narrow" panose="020B0606020202030204" pitchFamily="34" charset="0"/>
                <a:cs typeface="Times New Roman" panose="02020603050405020304" pitchFamily="18" charset="0"/>
              </a:rPr>
              <a:t>0.1</a:t>
            </a:r>
          </a:p>
        </p:txBody>
      </p:sp>
      <p:sp>
        <p:nvSpPr>
          <p:cNvPr id="282" name="Rectangle 281"/>
          <p:cNvSpPr/>
          <p:nvPr/>
        </p:nvSpPr>
        <p:spPr>
          <a:xfrm>
            <a:off x="7188990" y="4941973"/>
            <a:ext cx="669948" cy="273050"/>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7030A0"/>
                </a:solidFill>
                <a:latin typeface="Arial Narrow" panose="020B0606020202030204" pitchFamily="34" charset="0"/>
                <a:cs typeface="Times New Roman" panose="02020603050405020304" pitchFamily="18" charset="0"/>
              </a:rPr>
              <a:t>0.39</a:t>
            </a:r>
          </a:p>
        </p:txBody>
      </p:sp>
      <p:sp>
        <p:nvSpPr>
          <p:cNvPr id="283" name="Rectangle 282"/>
          <p:cNvSpPr/>
          <p:nvPr/>
        </p:nvSpPr>
        <p:spPr>
          <a:xfrm>
            <a:off x="7188190" y="5215023"/>
            <a:ext cx="671178" cy="273050"/>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7030A0"/>
                </a:solidFill>
                <a:latin typeface="Arial Narrow" panose="020B0606020202030204" pitchFamily="34" charset="0"/>
                <a:cs typeface="Times New Roman" panose="02020603050405020304" pitchFamily="18" charset="0"/>
              </a:rPr>
              <a:t>-0.25</a:t>
            </a:r>
          </a:p>
        </p:txBody>
      </p:sp>
      <p:sp>
        <p:nvSpPr>
          <p:cNvPr id="284" name="Rectangle 283"/>
          <p:cNvSpPr/>
          <p:nvPr/>
        </p:nvSpPr>
        <p:spPr>
          <a:xfrm>
            <a:off x="7187390" y="5488072"/>
            <a:ext cx="672408" cy="766937"/>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60000"/>
              </a:lnSpc>
            </a:pPr>
            <a:r>
              <a:rPr lang="en-IN" sz="2400" dirty="0">
                <a:solidFill>
                  <a:srgbClr val="7030A0"/>
                </a:solidFill>
                <a:latin typeface="Arial Narrow" panose="020B0606020202030204" pitchFamily="34" charset="0"/>
                <a:cs typeface="Times New Roman" panose="02020603050405020304" pitchFamily="18" charset="0"/>
              </a:rPr>
              <a:t>.</a:t>
            </a:r>
          </a:p>
          <a:p>
            <a:pPr algn="ctr">
              <a:lnSpc>
                <a:spcPct val="60000"/>
              </a:lnSpc>
            </a:pPr>
            <a:r>
              <a:rPr lang="en-IN" sz="2400" dirty="0">
                <a:solidFill>
                  <a:srgbClr val="7030A0"/>
                </a:solidFill>
                <a:latin typeface="Arial Narrow" panose="020B0606020202030204" pitchFamily="34" charset="0"/>
                <a:cs typeface="Times New Roman" panose="02020603050405020304" pitchFamily="18" charset="0"/>
              </a:rPr>
              <a:t>.</a:t>
            </a:r>
          </a:p>
          <a:p>
            <a:pPr algn="ctr">
              <a:lnSpc>
                <a:spcPct val="60000"/>
              </a:lnSpc>
            </a:pPr>
            <a:r>
              <a:rPr lang="en-IN" sz="2400" dirty="0">
                <a:solidFill>
                  <a:srgbClr val="7030A0"/>
                </a:solidFill>
                <a:latin typeface="Arial Narrow" panose="020B0606020202030204" pitchFamily="34" charset="0"/>
                <a:cs typeface="Times New Roman" panose="02020603050405020304" pitchFamily="18" charset="0"/>
              </a:rPr>
              <a:t>.</a:t>
            </a:r>
          </a:p>
        </p:txBody>
      </p:sp>
      <p:sp>
        <p:nvSpPr>
          <p:cNvPr id="285" name="Rectangle 284"/>
          <p:cNvSpPr/>
          <p:nvPr/>
        </p:nvSpPr>
        <p:spPr>
          <a:xfrm>
            <a:off x="7187390" y="6255009"/>
            <a:ext cx="672408" cy="273050"/>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7030A0"/>
                </a:solidFill>
                <a:latin typeface="Arial Narrow" panose="020B0606020202030204" pitchFamily="34" charset="0"/>
                <a:cs typeface="Times New Roman" panose="02020603050405020304" pitchFamily="18" charset="0"/>
              </a:rPr>
              <a:t>0.15</a:t>
            </a:r>
          </a:p>
        </p:txBody>
      </p:sp>
      <p:sp>
        <p:nvSpPr>
          <p:cNvPr id="291" name="TextBox 290"/>
          <p:cNvSpPr txBox="1"/>
          <p:nvPr/>
        </p:nvSpPr>
        <p:spPr>
          <a:xfrm>
            <a:off x="6798185" y="4651616"/>
            <a:ext cx="287258" cy="338554"/>
          </a:xfrm>
          <a:prstGeom prst="rect">
            <a:avLst/>
          </a:prstGeom>
          <a:noFill/>
        </p:spPr>
        <p:txBody>
          <a:bodyPr wrap="none" rtlCol="0">
            <a:spAutoFit/>
          </a:bodyPr>
          <a:lstStyle/>
          <a:p>
            <a:r>
              <a:rPr lang="en-IN" sz="1600" dirty="0">
                <a:latin typeface="Arial Narrow" panose="020B0606020202030204" pitchFamily="34" charset="0"/>
                <a:cs typeface="Times New Roman" panose="02020603050405020304" pitchFamily="18" charset="0"/>
              </a:rPr>
              <a:t>1</a:t>
            </a:r>
          </a:p>
        </p:txBody>
      </p:sp>
      <p:sp>
        <p:nvSpPr>
          <p:cNvPr id="292" name="TextBox 291"/>
          <p:cNvSpPr txBox="1"/>
          <p:nvPr/>
        </p:nvSpPr>
        <p:spPr>
          <a:xfrm>
            <a:off x="6791909" y="4927832"/>
            <a:ext cx="277640" cy="338554"/>
          </a:xfrm>
          <a:prstGeom prst="rect">
            <a:avLst/>
          </a:prstGeom>
          <a:noFill/>
        </p:spPr>
        <p:txBody>
          <a:bodyPr wrap="none" rtlCol="0">
            <a:spAutoFit/>
          </a:bodyPr>
          <a:lstStyle/>
          <a:p>
            <a:r>
              <a:rPr lang="en-IN" sz="1600" dirty="0">
                <a:latin typeface="Arial Narrow" panose="020B0606020202030204" pitchFamily="34" charset="0"/>
                <a:cs typeface="Times New Roman" panose="02020603050405020304" pitchFamily="18" charset="0"/>
              </a:rPr>
              <a:t>2</a:t>
            </a:r>
          </a:p>
        </p:txBody>
      </p:sp>
      <p:sp>
        <p:nvSpPr>
          <p:cNvPr id="293" name="TextBox 292"/>
          <p:cNvSpPr txBox="1"/>
          <p:nvPr/>
        </p:nvSpPr>
        <p:spPr>
          <a:xfrm>
            <a:off x="6791909" y="5204047"/>
            <a:ext cx="277640" cy="338554"/>
          </a:xfrm>
          <a:prstGeom prst="rect">
            <a:avLst/>
          </a:prstGeom>
          <a:noFill/>
        </p:spPr>
        <p:txBody>
          <a:bodyPr wrap="none" rtlCol="0">
            <a:spAutoFit/>
          </a:bodyPr>
          <a:lstStyle/>
          <a:p>
            <a:r>
              <a:rPr lang="en-IN" sz="1600" dirty="0">
                <a:latin typeface="Arial Narrow" panose="020B0606020202030204" pitchFamily="34" charset="0"/>
                <a:cs typeface="Times New Roman" panose="02020603050405020304" pitchFamily="18" charset="0"/>
              </a:rPr>
              <a:t>3</a:t>
            </a:r>
          </a:p>
        </p:txBody>
      </p:sp>
      <p:sp>
        <p:nvSpPr>
          <p:cNvPr id="294" name="TextBox 293"/>
          <p:cNvSpPr txBox="1"/>
          <p:nvPr/>
        </p:nvSpPr>
        <p:spPr>
          <a:xfrm>
            <a:off x="6725436" y="6255009"/>
            <a:ext cx="463588" cy="338554"/>
          </a:xfrm>
          <a:prstGeom prst="rect">
            <a:avLst/>
          </a:prstGeom>
          <a:noFill/>
        </p:spPr>
        <p:txBody>
          <a:bodyPr wrap="none" rtlCol="0">
            <a:spAutoFit/>
          </a:bodyPr>
          <a:lstStyle/>
          <a:p>
            <a:r>
              <a:rPr lang="en-IN" sz="1600" dirty="0">
                <a:latin typeface="Arial Narrow" panose="020B0606020202030204" pitchFamily="34" charset="0"/>
                <a:cs typeface="Times New Roman" panose="02020603050405020304" pitchFamily="18" charset="0"/>
              </a:rPr>
              <a:t>512</a:t>
            </a:r>
          </a:p>
        </p:txBody>
      </p:sp>
      <p:sp>
        <p:nvSpPr>
          <p:cNvPr id="295" name="Rectangle 294"/>
          <p:cNvSpPr/>
          <p:nvPr/>
        </p:nvSpPr>
        <p:spPr>
          <a:xfrm>
            <a:off x="8127248" y="4668923"/>
            <a:ext cx="669948" cy="273050"/>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7030A0"/>
                </a:solidFill>
                <a:latin typeface="Arial Narrow" panose="020B0606020202030204" pitchFamily="34" charset="0"/>
                <a:cs typeface="Times New Roman" panose="02020603050405020304" pitchFamily="18" charset="0"/>
              </a:rPr>
              <a:t>0.23</a:t>
            </a:r>
          </a:p>
        </p:txBody>
      </p:sp>
      <p:sp>
        <p:nvSpPr>
          <p:cNvPr id="296" name="Rectangle 295"/>
          <p:cNvSpPr/>
          <p:nvPr/>
        </p:nvSpPr>
        <p:spPr>
          <a:xfrm>
            <a:off x="8127248" y="4941973"/>
            <a:ext cx="669948" cy="273050"/>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7030A0"/>
                </a:solidFill>
                <a:latin typeface="Arial Narrow" panose="020B0606020202030204" pitchFamily="34" charset="0"/>
                <a:cs typeface="Times New Roman" panose="02020603050405020304" pitchFamily="18" charset="0"/>
              </a:rPr>
              <a:t>0.06</a:t>
            </a:r>
          </a:p>
        </p:txBody>
      </p:sp>
      <p:sp>
        <p:nvSpPr>
          <p:cNvPr id="297" name="Rectangle 296"/>
          <p:cNvSpPr/>
          <p:nvPr/>
        </p:nvSpPr>
        <p:spPr>
          <a:xfrm>
            <a:off x="8126448" y="5215023"/>
            <a:ext cx="671178" cy="273050"/>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7030A0"/>
                </a:solidFill>
                <a:latin typeface="Arial Narrow" panose="020B0606020202030204" pitchFamily="34" charset="0"/>
                <a:cs typeface="Times New Roman" panose="02020603050405020304" pitchFamily="18" charset="0"/>
              </a:rPr>
              <a:t>0.5</a:t>
            </a:r>
          </a:p>
        </p:txBody>
      </p:sp>
      <p:sp>
        <p:nvSpPr>
          <p:cNvPr id="298" name="Rectangle 297"/>
          <p:cNvSpPr/>
          <p:nvPr/>
        </p:nvSpPr>
        <p:spPr>
          <a:xfrm>
            <a:off x="8125648" y="5488072"/>
            <a:ext cx="672408" cy="766937"/>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60000"/>
              </a:lnSpc>
            </a:pPr>
            <a:r>
              <a:rPr lang="en-IN" sz="2400" dirty="0">
                <a:solidFill>
                  <a:srgbClr val="7030A0"/>
                </a:solidFill>
                <a:latin typeface="Arial Narrow" panose="020B0606020202030204" pitchFamily="34" charset="0"/>
                <a:cs typeface="Times New Roman" panose="02020603050405020304" pitchFamily="18" charset="0"/>
              </a:rPr>
              <a:t>.</a:t>
            </a:r>
          </a:p>
          <a:p>
            <a:pPr algn="ctr">
              <a:lnSpc>
                <a:spcPct val="60000"/>
              </a:lnSpc>
            </a:pPr>
            <a:r>
              <a:rPr lang="en-IN" sz="2400" dirty="0">
                <a:solidFill>
                  <a:srgbClr val="7030A0"/>
                </a:solidFill>
                <a:latin typeface="Arial Narrow" panose="020B0606020202030204" pitchFamily="34" charset="0"/>
                <a:cs typeface="Times New Roman" panose="02020603050405020304" pitchFamily="18" charset="0"/>
              </a:rPr>
              <a:t>.</a:t>
            </a:r>
          </a:p>
          <a:p>
            <a:pPr algn="ctr">
              <a:lnSpc>
                <a:spcPct val="60000"/>
              </a:lnSpc>
            </a:pPr>
            <a:r>
              <a:rPr lang="en-IN" sz="2400" dirty="0">
                <a:solidFill>
                  <a:srgbClr val="7030A0"/>
                </a:solidFill>
                <a:latin typeface="Arial Narrow" panose="020B0606020202030204" pitchFamily="34" charset="0"/>
                <a:cs typeface="Times New Roman" panose="02020603050405020304" pitchFamily="18" charset="0"/>
              </a:rPr>
              <a:t>.</a:t>
            </a:r>
          </a:p>
        </p:txBody>
      </p:sp>
      <p:sp>
        <p:nvSpPr>
          <p:cNvPr id="299" name="Rectangle 298"/>
          <p:cNvSpPr/>
          <p:nvPr/>
        </p:nvSpPr>
        <p:spPr>
          <a:xfrm>
            <a:off x="8125648" y="6255009"/>
            <a:ext cx="672408" cy="273050"/>
          </a:xfrm>
          <a:prstGeom prst="rect">
            <a:avLst/>
          </a:prstGeom>
          <a:solidFill>
            <a:schemeClr val="accent1">
              <a:lumMod val="40000"/>
              <a:lumOff val="60000"/>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7030A0"/>
                </a:solidFill>
                <a:latin typeface="Arial Narrow" panose="020B0606020202030204" pitchFamily="34" charset="0"/>
                <a:cs typeface="Times New Roman" panose="02020603050405020304" pitchFamily="18" charset="0"/>
              </a:rPr>
              <a:t>-0.51</a:t>
            </a:r>
          </a:p>
        </p:txBody>
      </p:sp>
      <p:sp>
        <p:nvSpPr>
          <p:cNvPr id="306" name="TextBox 305"/>
          <p:cNvSpPr txBox="1"/>
          <p:nvPr/>
        </p:nvSpPr>
        <p:spPr>
          <a:xfrm>
            <a:off x="9320465" y="5279663"/>
            <a:ext cx="1189749" cy="707886"/>
          </a:xfrm>
          <a:prstGeom prst="rect">
            <a:avLst/>
          </a:prstGeom>
          <a:noFill/>
        </p:spPr>
        <p:txBody>
          <a:bodyPr wrap="none" rtlCol="0">
            <a:spAutoFit/>
          </a:bodyPr>
          <a:lstStyle/>
          <a:p>
            <a:r>
              <a:rPr lang="en-IN" sz="4000" spc="600" dirty="0">
                <a:solidFill>
                  <a:srgbClr val="7030A0"/>
                </a:solidFill>
                <a:latin typeface="Arial Narrow" panose="020B0606020202030204" pitchFamily="34" charset="0"/>
              </a:rPr>
              <a:t>. . .</a:t>
            </a:r>
          </a:p>
        </p:txBody>
      </p:sp>
      <p:sp>
        <p:nvSpPr>
          <p:cNvPr id="307" name="TextBox 306">
            <a:extLst>
              <a:ext uri="{FF2B5EF4-FFF2-40B4-BE49-F238E27FC236}">
                <a16:creationId xmlns:a16="http://schemas.microsoft.com/office/drawing/2014/main" id="{3146A6CA-63B2-16F0-5027-0C774331C8BD}"/>
              </a:ext>
            </a:extLst>
          </p:cNvPr>
          <p:cNvSpPr txBox="1"/>
          <p:nvPr/>
        </p:nvSpPr>
        <p:spPr>
          <a:xfrm>
            <a:off x="9185280" y="4049781"/>
            <a:ext cx="2367634" cy="400110"/>
          </a:xfrm>
          <a:prstGeom prst="rect">
            <a:avLst/>
          </a:prstGeom>
          <a:noFill/>
        </p:spPr>
        <p:txBody>
          <a:bodyPr wrap="square" rtlCol="0">
            <a:spAutoFit/>
          </a:bodyPr>
          <a:lstStyle/>
          <a:p>
            <a:r>
              <a:rPr lang="en-IN" sz="2000" dirty="0">
                <a:solidFill>
                  <a:srgbClr val="7030A0"/>
                </a:solidFill>
                <a:latin typeface="Arial Narrow" panose="020B0606020202030204" pitchFamily="34" charset="0"/>
                <a:cs typeface="Times New Roman" panose="02020603050405020304" pitchFamily="18" charset="0"/>
              </a:rPr>
              <a:t>Input Embedding</a:t>
            </a:r>
          </a:p>
        </p:txBody>
      </p:sp>
      <p:pic>
        <p:nvPicPr>
          <p:cNvPr id="27" name="Picture 26">
            <a:extLst>
              <a:ext uri="{FF2B5EF4-FFF2-40B4-BE49-F238E27FC236}">
                <a16:creationId xmlns:a16="http://schemas.microsoft.com/office/drawing/2014/main" id="{5791FBE0-3E25-4891-A55C-E76F172865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0198" y="1030841"/>
            <a:ext cx="8226279" cy="2293800"/>
          </a:xfrm>
          <a:prstGeom prst="rect">
            <a:avLst/>
          </a:prstGeom>
        </p:spPr>
      </p:pic>
    </p:spTree>
    <p:extLst>
      <p:ext uri="{BB962C8B-B14F-4D97-AF65-F5344CB8AC3E}">
        <p14:creationId xmlns:p14="http://schemas.microsoft.com/office/powerpoint/2010/main" val="1002590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8C28C4F5-59BB-7C2B-9E5D-3AF0CBBFDBDB}"/>
              </a:ext>
            </a:extLst>
          </p:cNvPr>
          <p:cNvSpPr txBox="1"/>
          <p:nvPr/>
        </p:nvSpPr>
        <p:spPr>
          <a:xfrm>
            <a:off x="544835" y="219876"/>
            <a:ext cx="5461518" cy="584775"/>
          </a:xfrm>
          <a:prstGeom prst="rect">
            <a:avLst/>
          </a:prstGeom>
          <a:noFill/>
        </p:spPr>
        <p:txBody>
          <a:bodyPr wrap="square" rtlCol="0">
            <a:spAutoFit/>
          </a:bodyPr>
          <a:lstStyle>
            <a:defPPr>
              <a:defRPr lang="en-US"/>
            </a:defPPr>
            <a:lvl1pPr>
              <a:defRPr sz="3200">
                <a:solidFill>
                  <a:srgbClr val="C00000"/>
                </a:solidFill>
                <a:latin typeface="Book Antiqua" panose="02040602050305030304" pitchFamily="18" charset="0"/>
              </a:defRPr>
            </a:lvl1pPr>
          </a:lstStyle>
          <a:p>
            <a:r>
              <a:rPr lang="en-US" dirty="0">
                <a:solidFill>
                  <a:schemeClr val="tx1"/>
                </a:solidFill>
                <a:latin typeface="Century" panose="02040604050505020304" pitchFamily="18" charset="0"/>
              </a:rPr>
              <a:t>Full Encoder at a glance</a:t>
            </a:r>
            <a:endParaRPr lang="en-IN" dirty="0">
              <a:solidFill>
                <a:schemeClr val="tx1"/>
              </a:solidFill>
              <a:latin typeface="Century" panose="02040604050505020304" pitchFamily="18" charset="0"/>
            </a:endParaRPr>
          </a:p>
        </p:txBody>
      </p:sp>
      <p:sp>
        <p:nvSpPr>
          <p:cNvPr id="19" name="TextBox 18">
            <a:extLst>
              <a:ext uri="{FF2B5EF4-FFF2-40B4-BE49-F238E27FC236}">
                <a16:creationId xmlns:a16="http://schemas.microsoft.com/office/drawing/2014/main" id="{9EF45905-DB18-49B6-9565-CE8D8F1375A9}"/>
              </a:ext>
            </a:extLst>
          </p:cNvPr>
          <p:cNvSpPr txBox="1"/>
          <p:nvPr/>
        </p:nvSpPr>
        <p:spPr>
          <a:xfrm>
            <a:off x="1709026" y="2070190"/>
            <a:ext cx="460798"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Is</a:t>
            </a:r>
            <a:endParaRPr lang="en-IN" baseline="-25000" dirty="0">
              <a:latin typeface="Arial Narrow" panose="020B0606020202030204" pitchFamily="34" charset="0"/>
              <a:cs typeface="Times New Roman" panose="02020603050405020304" pitchFamily="18" charset="0"/>
            </a:endParaRPr>
          </a:p>
        </p:txBody>
      </p:sp>
      <p:sp>
        <p:nvSpPr>
          <p:cNvPr id="20" name="Rounded Rectangle 19"/>
          <p:cNvSpPr/>
          <p:nvPr/>
        </p:nvSpPr>
        <p:spPr>
          <a:xfrm>
            <a:off x="1669331" y="2092348"/>
            <a:ext cx="525465" cy="340248"/>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9EF45905-DB18-49B6-9565-CE8D8F1375A9}"/>
              </a:ext>
            </a:extLst>
          </p:cNvPr>
          <p:cNvSpPr txBox="1"/>
          <p:nvPr/>
        </p:nvSpPr>
        <p:spPr>
          <a:xfrm>
            <a:off x="1590667" y="2794318"/>
            <a:ext cx="771017"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mac</a:t>
            </a:r>
            <a:endParaRPr lang="en-IN" baseline="-25000" dirty="0">
              <a:latin typeface="Arial Narrow" panose="020B0606020202030204" pitchFamily="34" charset="0"/>
              <a:cs typeface="Times New Roman" panose="02020603050405020304" pitchFamily="18" charset="0"/>
            </a:endParaRPr>
          </a:p>
        </p:txBody>
      </p:sp>
      <p:sp>
        <p:nvSpPr>
          <p:cNvPr id="22" name="Rounded Rectangle 21"/>
          <p:cNvSpPr/>
          <p:nvPr/>
        </p:nvSpPr>
        <p:spPr>
          <a:xfrm>
            <a:off x="1543399" y="2829539"/>
            <a:ext cx="655618" cy="347133"/>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9EF45905-DB18-49B6-9565-CE8D8F1375A9}"/>
              </a:ext>
            </a:extLst>
          </p:cNvPr>
          <p:cNvSpPr txBox="1"/>
          <p:nvPr/>
        </p:nvSpPr>
        <p:spPr>
          <a:xfrm>
            <a:off x="1642248" y="4301659"/>
            <a:ext cx="636780" cy="369332"/>
          </a:xfrm>
          <a:prstGeom prst="rect">
            <a:avLst/>
          </a:prstGeom>
          <a:noFill/>
        </p:spPr>
        <p:txBody>
          <a:bodyPr wrap="square" rtlCol="0">
            <a:spAutoFit/>
          </a:bodyPr>
          <a:lstStyle/>
          <a:p>
            <a:r>
              <a:rPr lang="en-IN" dirty="0" err="1">
                <a:latin typeface="Arial Narrow" panose="020B0606020202030204" pitchFamily="34" charset="0"/>
                <a:cs typeface="Times New Roman" panose="02020603050405020304" pitchFamily="18" charset="0"/>
              </a:rPr>
              <a:t>mé</a:t>
            </a:r>
            <a:endParaRPr lang="en-IN" dirty="0">
              <a:latin typeface="Arial Narrow" panose="020B0606020202030204" pitchFamily="34" charset="0"/>
              <a:cs typeface="Times New Roman" panose="02020603050405020304" pitchFamily="18" charset="0"/>
            </a:endParaRPr>
          </a:p>
        </p:txBody>
      </p:sp>
      <p:cxnSp>
        <p:nvCxnSpPr>
          <p:cNvPr id="24" name="Straight Arrow Connector 23"/>
          <p:cNvCxnSpPr>
            <a:stCxn id="20" idx="3"/>
            <a:endCxn id="43" idx="1"/>
          </p:cNvCxnSpPr>
          <p:nvPr/>
        </p:nvCxnSpPr>
        <p:spPr>
          <a:xfrm flipV="1">
            <a:off x="2194796" y="2259799"/>
            <a:ext cx="318146" cy="267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7" idx="3"/>
            <a:endCxn id="49" idx="1"/>
          </p:cNvCxnSpPr>
          <p:nvPr/>
        </p:nvCxnSpPr>
        <p:spPr>
          <a:xfrm flipV="1">
            <a:off x="2193171" y="3763292"/>
            <a:ext cx="319770" cy="490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542898" y="3685598"/>
            <a:ext cx="848621" cy="226922"/>
          </a:xfrm>
          <a:prstGeom prst="rect">
            <a:avLst/>
          </a:prstGeom>
          <a:noFill/>
        </p:spPr>
        <p:txBody>
          <a:bodyPr wrap="square" rtlCol="0">
            <a:spAutoFit/>
          </a:bodyPr>
          <a:lstStyle/>
          <a:p>
            <a:pPr>
              <a:lnSpc>
                <a:spcPct val="40000"/>
              </a:lnSpc>
            </a:pPr>
            <a:r>
              <a:rPr lang="en-IN" dirty="0">
                <a:latin typeface="Arial Narrow" panose="020B0606020202030204" pitchFamily="34" charset="0"/>
                <a:cs typeface="Times New Roman" panose="02020603050405020304" pitchFamily="18" charset="0"/>
              </a:rPr>
              <a:t>léinn</a:t>
            </a:r>
          </a:p>
        </p:txBody>
      </p:sp>
      <p:sp>
        <p:nvSpPr>
          <p:cNvPr id="27" name="Rounded Rectangle 26"/>
          <p:cNvSpPr/>
          <p:nvPr/>
        </p:nvSpPr>
        <p:spPr>
          <a:xfrm>
            <a:off x="1529229" y="3590334"/>
            <a:ext cx="663942" cy="355719"/>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cs typeface="Times New Roman" panose="02020603050405020304" pitchFamily="18" charset="0"/>
            </a:endParaRPr>
          </a:p>
        </p:txBody>
      </p:sp>
      <p:cxnSp>
        <p:nvCxnSpPr>
          <p:cNvPr id="28" name="Straight Arrow Connector 27"/>
          <p:cNvCxnSpPr>
            <a:stCxn id="22" idx="3"/>
            <a:endCxn id="46" idx="1"/>
          </p:cNvCxnSpPr>
          <p:nvPr/>
        </p:nvCxnSpPr>
        <p:spPr>
          <a:xfrm flipV="1">
            <a:off x="2199017" y="2998135"/>
            <a:ext cx="314699" cy="497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Rounded Rectangle 28"/>
          <p:cNvSpPr/>
          <p:nvPr/>
        </p:nvSpPr>
        <p:spPr>
          <a:xfrm>
            <a:off x="1632453" y="4349825"/>
            <a:ext cx="560719" cy="330175"/>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Arial Narrow" panose="020B0606020202030204" pitchFamily="34" charset="0"/>
              <a:cs typeface="Times New Roman" panose="02020603050405020304" pitchFamily="18" charset="0"/>
            </a:endParaRPr>
          </a:p>
        </p:txBody>
      </p:sp>
      <p:cxnSp>
        <p:nvCxnSpPr>
          <p:cNvPr id="30" name="Straight Arrow Connector 29"/>
          <p:cNvCxnSpPr>
            <a:stCxn id="29" idx="3"/>
            <a:endCxn id="52" idx="1"/>
          </p:cNvCxnSpPr>
          <p:nvPr/>
        </p:nvCxnSpPr>
        <p:spPr>
          <a:xfrm flipV="1">
            <a:off x="2193171" y="4511982"/>
            <a:ext cx="319770" cy="293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2512941" y="2011457"/>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46" name="Rectangle 45"/>
          <p:cNvSpPr/>
          <p:nvPr/>
        </p:nvSpPr>
        <p:spPr>
          <a:xfrm>
            <a:off x="2513716" y="2749793"/>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49" name="Rectangle 48"/>
          <p:cNvSpPr/>
          <p:nvPr/>
        </p:nvSpPr>
        <p:spPr>
          <a:xfrm>
            <a:off x="2512941" y="3514950"/>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52" name="Rectangle 51"/>
          <p:cNvSpPr/>
          <p:nvPr/>
        </p:nvSpPr>
        <p:spPr>
          <a:xfrm>
            <a:off x="2512941" y="4263640"/>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88" name="Plus 87"/>
          <p:cNvSpPr/>
          <p:nvPr/>
        </p:nvSpPr>
        <p:spPr>
          <a:xfrm>
            <a:off x="2717074" y="2176003"/>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89" name="Plus 88"/>
          <p:cNvSpPr/>
          <p:nvPr/>
        </p:nvSpPr>
        <p:spPr>
          <a:xfrm>
            <a:off x="2712650" y="2914338"/>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0" name="Plus 89"/>
          <p:cNvSpPr/>
          <p:nvPr/>
        </p:nvSpPr>
        <p:spPr>
          <a:xfrm>
            <a:off x="2712063" y="3651156"/>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1" name="Plus 90"/>
          <p:cNvSpPr/>
          <p:nvPr/>
        </p:nvSpPr>
        <p:spPr>
          <a:xfrm>
            <a:off x="2715076" y="4428185"/>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0" name="Rectangle 99"/>
          <p:cNvSpPr/>
          <p:nvPr/>
        </p:nvSpPr>
        <p:spPr>
          <a:xfrm>
            <a:off x="2941397" y="2011457"/>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1" name="Rectangle 100"/>
          <p:cNvSpPr/>
          <p:nvPr/>
        </p:nvSpPr>
        <p:spPr>
          <a:xfrm>
            <a:off x="2942171" y="2749793"/>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2" name="Rectangle 101"/>
          <p:cNvSpPr/>
          <p:nvPr/>
        </p:nvSpPr>
        <p:spPr>
          <a:xfrm>
            <a:off x="2941397" y="3514950"/>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3" name="Rectangle 102"/>
          <p:cNvSpPr/>
          <p:nvPr/>
        </p:nvSpPr>
        <p:spPr>
          <a:xfrm>
            <a:off x="2941397" y="4263640"/>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112" name="Straight Arrow Connector 111"/>
          <p:cNvCxnSpPr>
            <a:endCxn id="116" idx="1"/>
          </p:cNvCxnSpPr>
          <p:nvPr/>
        </p:nvCxnSpPr>
        <p:spPr>
          <a:xfrm flipV="1">
            <a:off x="3102442" y="2264703"/>
            <a:ext cx="318146" cy="2674"/>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endCxn id="118" idx="1"/>
          </p:cNvCxnSpPr>
          <p:nvPr/>
        </p:nvCxnSpPr>
        <p:spPr>
          <a:xfrm flipV="1">
            <a:off x="3100818" y="3768196"/>
            <a:ext cx="319770" cy="490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endCxn id="117" idx="1"/>
          </p:cNvCxnSpPr>
          <p:nvPr/>
        </p:nvCxnSpPr>
        <p:spPr>
          <a:xfrm flipV="1">
            <a:off x="3106664" y="3003039"/>
            <a:ext cx="314699" cy="497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endCxn id="119" idx="1"/>
          </p:cNvCxnSpPr>
          <p:nvPr/>
        </p:nvCxnSpPr>
        <p:spPr>
          <a:xfrm flipV="1">
            <a:off x="3100818" y="4516886"/>
            <a:ext cx="319770" cy="293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2" name="TextBox 251">
            <a:extLst>
              <a:ext uri="{FF2B5EF4-FFF2-40B4-BE49-F238E27FC236}">
                <a16:creationId xmlns:a16="http://schemas.microsoft.com/office/drawing/2014/main" id="{168ABEAE-7EED-0371-3543-D8652B3854C2}"/>
              </a:ext>
            </a:extLst>
          </p:cNvPr>
          <p:cNvSpPr txBox="1"/>
          <p:nvPr/>
        </p:nvSpPr>
        <p:spPr>
          <a:xfrm>
            <a:off x="2420657" y="1261688"/>
            <a:ext cx="1205972" cy="584775"/>
          </a:xfrm>
          <a:prstGeom prst="rect">
            <a:avLst/>
          </a:prstGeom>
          <a:noFill/>
        </p:spPr>
        <p:txBody>
          <a:bodyPr wrap="square" rtlCol="0">
            <a:spAutoFit/>
          </a:bodyPr>
          <a:lstStyle/>
          <a:p>
            <a:pPr algn="ctr"/>
            <a:r>
              <a:rPr lang="en-US" sz="1600" dirty="0">
                <a:solidFill>
                  <a:srgbClr val="C00000"/>
                </a:solidFill>
                <a:latin typeface="Arial Narrow" panose="020B0606020202030204" pitchFamily="34" charset="0"/>
                <a:cs typeface="Times New Roman" panose="02020603050405020304" pitchFamily="18" charset="0"/>
              </a:rPr>
              <a:t>Positional Encoding</a:t>
            </a:r>
            <a:endParaRPr lang="en-IN" sz="1600" dirty="0">
              <a:solidFill>
                <a:srgbClr val="C00000"/>
              </a:solidFill>
              <a:latin typeface="Arial Narrow" panose="020B0606020202030204" pitchFamily="34" charset="0"/>
              <a:cs typeface="Times New Roman" panose="02020603050405020304" pitchFamily="18" charset="0"/>
            </a:endParaRPr>
          </a:p>
        </p:txBody>
      </p:sp>
      <p:sp>
        <p:nvSpPr>
          <p:cNvPr id="254" name="Left Bracket 253"/>
          <p:cNvSpPr/>
          <p:nvPr/>
        </p:nvSpPr>
        <p:spPr>
          <a:xfrm rot="5400000">
            <a:off x="2958261" y="1762339"/>
            <a:ext cx="130764" cy="356566"/>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latin typeface="Arial Narrow" panose="020B0606020202030204" pitchFamily="34" charset="0"/>
            </a:endParaRPr>
          </a:p>
        </p:txBody>
      </p:sp>
      <p:sp>
        <p:nvSpPr>
          <p:cNvPr id="256" name="Left Bracket 255"/>
          <p:cNvSpPr/>
          <p:nvPr/>
        </p:nvSpPr>
        <p:spPr>
          <a:xfrm rot="16200000">
            <a:off x="2541419" y="4637318"/>
            <a:ext cx="130764" cy="334876"/>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latin typeface="Arial Narrow" panose="020B0606020202030204" pitchFamily="34" charset="0"/>
            </a:endParaRPr>
          </a:p>
        </p:txBody>
      </p:sp>
      <p:sp>
        <p:nvSpPr>
          <p:cNvPr id="257" name="TextBox 256">
            <a:extLst>
              <a:ext uri="{FF2B5EF4-FFF2-40B4-BE49-F238E27FC236}">
                <a16:creationId xmlns:a16="http://schemas.microsoft.com/office/drawing/2014/main" id="{006765CC-8187-42FD-AE18-C69B87A97849}"/>
              </a:ext>
            </a:extLst>
          </p:cNvPr>
          <p:cNvSpPr txBox="1"/>
          <p:nvPr/>
        </p:nvSpPr>
        <p:spPr>
          <a:xfrm>
            <a:off x="6213411" y="6430775"/>
            <a:ext cx="5753100"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Figure Source: Ashish Vaswani et. al. Attention is All You Need, NIPS 2017</a:t>
            </a:r>
          </a:p>
        </p:txBody>
      </p:sp>
      <p:sp>
        <p:nvSpPr>
          <p:cNvPr id="125" name="TextBox 124">
            <a:extLst>
              <a:ext uri="{FF2B5EF4-FFF2-40B4-BE49-F238E27FC236}">
                <a16:creationId xmlns:a16="http://schemas.microsoft.com/office/drawing/2014/main" id="{168ABEAE-7EED-0371-3543-D8652B3854C2}"/>
              </a:ext>
            </a:extLst>
          </p:cNvPr>
          <p:cNvSpPr txBox="1"/>
          <p:nvPr/>
        </p:nvSpPr>
        <p:spPr>
          <a:xfrm>
            <a:off x="1996699" y="4889316"/>
            <a:ext cx="1158765" cy="584775"/>
          </a:xfrm>
          <a:prstGeom prst="rect">
            <a:avLst/>
          </a:prstGeom>
          <a:noFill/>
        </p:spPr>
        <p:txBody>
          <a:bodyPr wrap="square" rtlCol="0">
            <a:spAutoFit/>
          </a:bodyPr>
          <a:lstStyle/>
          <a:p>
            <a:pPr algn="ctr"/>
            <a:r>
              <a:rPr lang="en-US" sz="1600" dirty="0">
                <a:latin typeface="Arial Narrow" panose="020B0606020202030204" pitchFamily="34" charset="0"/>
                <a:cs typeface="Times New Roman" panose="02020603050405020304" pitchFamily="18" charset="0"/>
              </a:rPr>
              <a:t>Input Embedding</a:t>
            </a:r>
            <a:endParaRPr lang="en-IN" sz="16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448143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B95033-C3D4-4DE4-962F-40E35BE86CB8}"/>
              </a:ext>
            </a:extLst>
          </p:cNvPr>
          <p:cNvSpPr>
            <a:spLocks noGrp="1"/>
          </p:cNvSpPr>
          <p:nvPr>
            <p:ph idx="1"/>
          </p:nvPr>
        </p:nvSpPr>
        <p:spPr>
          <a:xfrm>
            <a:off x="586153" y="1545337"/>
            <a:ext cx="7508976" cy="4922662"/>
          </a:xfrm>
        </p:spPr>
        <p:txBody>
          <a:bodyPr>
            <a:normAutofit/>
          </a:bodyPr>
          <a:lstStyle/>
          <a:p>
            <a:pPr algn="just"/>
            <a:r>
              <a:rPr lang="en-US" sz="2000" dirty="0">
                <a:solidFill>
                  <a:srgbClr val="7030A0"/>
                </a:solidFill>
                <a:latin typeface="Arial Narrow" panose="020B0606020202030204" pitchFamily="34" charset="0"/>
              </a:rPr>
              <a:t>Positional encoding </a:t>
            </a:r>
            <a:r>
              <a:rPr lang="en-US" sz="2000" dirty="0">
                <a:latin typeface="Arial Narrow" panose="020B0606020202030204" pitchFamily="34" charset="0"/>
              </a:rPr>
              <a:t>is a technique used to provide information about the </a:t>
            </a:r>
            <a:r>
              <a:rPr lang="en-US" sz="2000" dirty="0">
                <a:solidFill>
                  <a:srgbClr val="7030A0"/>
                </a:solidFill>
                <a:latin typeface="Arial Narrow" panose="020B0606020202030204" pitchFamily="34" charset="0"/>
              </a:rPr>
              <a:t>order and position of tokens within a sequence</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Since Transformers process all tokens in </a:t>
            </a:r>
            <a:r>
              <a:rPr lang="en-US" sz="2000" dirty="0">
                <a:solidFill>
                  <a:srgbClr val="7030A0"/>
                </a:solidFill>
                <a:latin typeface="Arial Narrow" panose="020B0606020202030204" pitchFamily="34" charset="0"/>
              </a:rPr>
              <a:t>parallel </a:t>
            </a:r>
            <a:r>
              <a:rPr lang="en-US" sz="2000" dirty="0">
                <a:latin typeface="Arial Narrow" panose="020B0606020202030204" pitchFamily="34" charset="0"/>
              </a:rPr>
              <a:t>and self-attention does not inherently encode their </a:t>
            </a:r>
            <a:r>
              <a:rPr lang="en-US" sz="2000" dirty="0">
                <a:solidFill>
                  <a:srgbClr val="7030A0"/>
                </a:solidFill>
                <a:latin typeface="Arial Narrow" panose="020B0606020202030204" pitchFamily="34" charset="0"/>
              </a:rPr>
              <a:t>sequential order</a:t>
            </a:r>
            <a:r>
              <a:rPr lang="en-US" sz="2000" dirty="0">
                <a:latin typeface="Arial Narrow" panose="020B0606020202030204" pitchFamily="34" charset="0"/>
              </a:rPr>
              <a:t>, the model </a:t>
            </a:r>
            <a:r>
              <a:rPr lang="en-US" sz="2000" dirty="0">
                <a:solidFill>
                  <a:srgbClr val="7030A0"/>
                </a:solidFill>
                <a:latin typeface="Arial Narrow" panose="020B0606020202030204" pitchFamily="34" charset="0"/>
              </a:rPr>
              <a:t>requires additional positional information</a:t>
            </a:r>
            <a:r>
              <a:rPr lang="en-US" sz="2000" dirty="0">
                <a:latin typeface="Arial Narrow" panose="020B0606020202030204" pitchFamily="34" charset="0"/>
              </a:rPr>
              <a:t> to distinguish between different </a:t>
            </a:r>
            <a:r>
              <a:rPr lang="en-US" sz="2000" dirty="0">
                <a:solidFill>
                  <a:srgbClr val="7030A0"/>
                </a:solidFill>
                <a:latin typeface="Arial Narrow" panose="020B0606020202030204" pitchFamily="34" charset="0"/>
              </a:rPr>
              <a:t>token arrangements</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To address this, </a:t>
            </a:r>
            <a:r>
              <a:rPr lang="en-US" sz="2000" dirty="0">
                <a:solidFill>
                  <a:srgbClr val="7030A0"/>
                </a:solidFill>
                <a:latin typeface="Arial Narrow" panose="020B0606020202030204" pitchFamily="34" charset="0"/>
              </a:rPr>
              <a:t>a unique positional vector is generated for each position in the sequence and added to the corresponding token embedding </a:t>
            </a:r>
            <a:r>
              <a:rPr lang="en-US" sz="2000" dirty="0">
                <a:latin typeface="Arial Narrow" panose="020B0606020202030204" pitchFamily="34" charset="0"/>
              </a:rPr>
              <a:t>before the representation is passed into the Transformer layers.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This allows the model to incorporate information about the </a:t>
            </a:r>
            <a:r>
              <a:rPr lang="en-US" sz="2000" dirty="0">
                <a:solidFill>
                  <a:srgbClr val="7030A0"/>
                </a:solidFill>
                <a:latin typeface="Arial Narrow" panose="020B0606020202030204" pitchFamily="34" charset="0"/>
              </a:rPr>
              <a:t>relative and absolute positions of tokens</a:t>
            </a:r>
            <a:r>
              <a:rPr lang="en-US" sz="2000" dirty="0">
                <a:latin typeface="Arial Narrow" panose="020B0606020202030204" pitchFamily="34" charset="0"/>
              </a:rPr>
              <a:t>, enabling it to understand the order of words and capture relationships that depend on their </a:t>
            </a:r>
            <a:r>
              <a:rPr lang="en-US" sz="2000" dirty="0">
                <a:solidFill>
                  <a:srgbClr val="7030A0"/>
                </a:solidFill>
                <a:latin typeface="Arial Narrow" panose="020B0606020202030204" pitchFamily="34" charset="0"/>
              </a:rPr>
              <a:t>positions within the sequence</a:t>
            </a:r>
            <a:r>
              <a:rPr lang="en-US" sz="2000" dirty="0">
                <a:latin typeface="Arial Narrow" panose="020B0606020202030204" pitchFamily="34" charset="0"/>
              </a:rPr>
              <a:t>.</a:t>
            </a:r>
            <a:endParaRPr lang="en-US" sz="2000" dirty="0">
              <a:latin typeface="Arial Narrow" panose="020B0606020202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3AC1787-206F-4962-BAB6-606D43F67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4443" y="1345271"/>
            <a:ext cx="3459772" cy="5015118"/>
          </a:xfrm>
          <a:prstGeom prst="rect">
            <a:avLst/>
          </a:prstGeom>
          <a:solidFill>
            <a:schemeClr val="accent4">
              <a:lumMod val="60000"/>
              <a:lumOff val="40000"/>
              <a:alpha val="32000"/>
            </a:schemeClr>
          </a:solidFill>
        </p:spPr>
      </p:pic>
      <p:sp>
        <p:nvSpPr>
          <p:cNvPr id="5" name="Rectangle 4">
            <a:extLst>
              <a:ext uri="{FF2B5EF4-FFF2-40B4-BE49-F238E27FC236}">
                <a16:creationId xmlns:a16="http://schemas.microsoft.com/office/drawing/2014/main" id="{0EC87954-4147-4DAD-A159-B66D60CF7ECF}"/>
              </a:ext>
            </a:extLst>
          </p:cNvPr>
          <p:cNvSpPr/>
          <p:nvPr/>
        </p:nvSpPr>
        <p:spPr>
          <a:xfrm>
            <a:off x="8304443" y="4989979"/>
            <a:ext cx="1272988" cy="372596"/>
          </a:xfrm>
          <a:prstGeom prst="rect">
            <a:avLst/>
          </a:prstGeom>
          <a:solidFill>
            <a:schemeClr val="accent4">
              <a:lumMod val="60000"/>
              <a:lumOff val="40000"/>
              <a:alpha val="3200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36247D6-C17A-4919-B979-4838ECA8C47D}"/>
              </a:ext>
            </a:extLst>
          </p:cNvPr>
          <p:cNvSpPr txBox="1"/>
          <p:nvPr/>
        </p:nvSpPr>
        <p:spPr>
          <a:xfrm>
            <a:off x="586153" y="390001"/>
            <a:ext cx="6096000" cy="954107"/>
          </a:xfrm>
          <a:prstGeom prst="rect">
            <a:avLst/>
          </a:prstGeom>
          <a:noFill/>
        </p:spPr>
        <p:txBody>
          <a:bodyPr wrap="square">
            <a:spAutoFit/>
          </a:bodyPr>
          <a:lstStyle/>
          <a:p>
            <a:r>
              <a:rPr lang="en-IN" sz="3200" dirty="0">
                <a:latin typeface="Century" panose="02040604050505020304" pitchFamily="18" charset="0"/>
              </a:rPr>
              <a:t>Transformer Architecture</a:t>
            </a:r>
          </a:p>
          <a:p>
            <a:r>
              <a:rPr lang="en-IN" sz="2400" dirty="0">
                <a:latin typeface="Century" panose="02040604050505020304" pitchFamily="18" charset="0"/>
              </a:rPr>
              <a:t>Positional Encoding</a:t>
            </a:r>
          </a:p>
        </p:txBody>
      </p:sp>
      <p:sp>
        <p:nvSpPr>
          <p:cNvPr id="7" name="TextBox 6">
            <a:extLst>
              <a:ext uri="{FF2B5EF4-FFF2-40B4-BE49-F238E27FC236}">
                <a16:creationId xmlns:a16="http://schemas.microsoft.com/office/drawing/2014/main" id="{49CB1A2A-DE9A-418F-ACB5-EB890B478951}"/>
              </a:ext>
            </a:extLst>
          </p:cNvPr>
          <p:cNvSpPr txBox="1"/>
          <p:nvPr/>
        </p:nvSpPr>
        <p:spPr>
          <a:xfrm>
            <a:off x="6213411" y="6430775"/>
            <a:ext cx="5753100"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Figure Source: Ashish Vaswani et. al. Attention is All You Need, NIPS 2017</a:t>
            </a:r>
          </a:p>
        </p:txBody>
      </p:sp>
    </p:spTree>
    <p:extLst>
      <p:ext uri="{BB962C8B-B14F-4D97-AF65-F5344CB8AC3E}">
        <p14:creationId xmlns:p14="http://schemas.microsoft.com/office/powerpoint/2010/main" val="3386393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57A68A-B8A1-40A9-A989-D1ED4961F5E0}"/>
              </a:ext>
            </a:extLst>
          </p:cNvPr>
          <p:cNvSpPr>
            <a:spLocks noGrp="1"/>
          </p:cNvSpPr>
          <p:nvPr>
            <p:ph idx="1"/>
          </p:nvPr>
        </p:nvSpPr>
        <p:spPr>
          <a:xfrm>
            <a:off x="586152" y="1677161"/>
            <a:ext cx="10485260" cy="4351338"/>
          </a:xfrm>
        </p:spPr>
        <p:txBody>
          <a:bodyPr>
            <a:normAutofit lnSpcReduction="10000"/>
          </a:bodyPr>
          <a:lstStyle/>
          <a:p>
            <a:pPr algn="just"/>
            <a:r>
              <a:rPr lang="en-US" sz="2000" dirty="0">
                <a:solidFill>
                  <a:srgbClr val="7030A0"/>
                </a:solidFill>
                <a:latin typeface="Arial Narrow" panose="020B0606020202030204" pitchFamily="34" charset="0"/>
              </a:rPr>
              <a:t>Positional vectors are typically generated using sine and cosine functions with different frequencies</a:t>
            </a:r>
            <a:r>
              <a:rPr lang="en-US" sz="2000" dirty="0">
                <a:latin typeface="Arial Narrow" panose="020B0606020202030204" pitchFamily="34" charset="0"/>
              </a:rPr>
              <a:t>, creating unique patterns for different positions in the sequence and enabling the model to </a:t>
            </a:r>
            <a:r>
              <a:rPr lang="en-US" sz="2000" dirty="0">
                <a:solidFill>
                  <a:srgbClr val="7030A0"/>
                </a:solidFill>
                <a:latin typeface="Arial Narrow" panose="020B0606020202030204" pitchFamily="34" charset="0"/>
              </a:rPr>
              <a:t>capture relationships between positions</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These positional encodings are </a:t>
            </a:r>
            <a:r>
              <a:rPr lang="en-US" sz="2000" dirty="0">
                <a:solidFill>
                  <a:srgbClr val="7030A0"/>
                </a:solidFill>
                <a:latin typeface="Arial Narrow" panose="020B0606020202030204" pitchFamily="34" charset="0"/>
              </a:rPr>
              <a:t>added to the corresponding token embeddings</a:t>
            </a:r>
            <a:r>
              <a:rPr lang="en-US" sz="2000" dirty="0">
                <a:latin typeface="Arial Narrow" panose="020B0606020202030204" pitchFamily="34" charset="0"/>
              </a:rPr>
              <a:t>, allowing the Transformer </a:t>
            </a:r>
            <a:r>
              <a:rPr lang="en-US" sz="2000" dirty="0">
                <a:solidFill>
                  <a:srgbClr val="7030A0"/>
                </a:solidFill>
                <a:latin typeface="Arial Narrow" panose="020B0606020202030204" pitchFamily="34" charset="0"/>
              </a:rPr>
              <a:t>to distinguish between sequences in which the same words appear in different orders</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For example, the sentences “</a:t>
            </a:r>
            <a:r>
              <a:rPr lang="en-US" sz="2000" i="1" dirty="0">
                <a:solidFill>
                  <a:srgbClr val="00B0F0"/>
                </a:solidFill>
                <a:latin typeface="Arial Narrow" panose="020B0606020202030204" pitchFamily="34" charset="0"/>
              </a:rPr>
              <a:t>dog bites man</a:t>
            </a:r>
            <a:r>
              <a:rPr lang="en-US" sz="2000" dirty="0">
                <a:latin typeface="Arial Narrow" panose="020B0606020202030204" pitchFamily="34" charset="0"/>
              </a:rPr>
              <a:t>” and “</a:t>
            </a:r>
            <a:r>
              <a:rPr lang="en-US" sz="2000" i="1" dirty="0">
                <a:solidFill>
                  <a:srgbClr val="00B0F0"/>
                </a:solidFill>
                <a:latin typeface="Arial Narrow" panose="020B0606020202030204" pitchFamily="34" charset="0"/>
              </a:rPr>
              <a:t>man bites dog</a:t>
            </a:r>
            <a:r>
              <a:rPr lang="en-US" sz="2000" dirty="0">
                <a:latin typeface="Arial Narrow" panose="020B0606020202030204" pitchFamily="34" charset="0"/>
              </a:rPr>
              <a:t>” contain the </a:t>
            </a:r>
            <a:r>
              <a:rPr lang="en-US" sz="2000" dirty="0">
                <a:solidFill>
                  <a:srgbClr val="7030A0"/>
                </a:solidFill>
                <a:latin typeface="Arial Narrow" panose="020B0606020202030204" pitchFamily="34" charset="0"/>
              </a:rPr>
              <a:t>same words </a:t>
            </a:r>
            <a:r>
              <a:rPr lang="en-US" sz="2000" dirty="0">
                <a:latin typeface="Arial Narrow" panose="020B0606020202030204" pitchFamily="34" charset="0"/>
              </a:rPr>
              <a:t>but have </a:t>
            </a:r>
            <a:r>
              <a:rPr lang="en-US" sz="2000" dirty="0">
                <a:solidFill>
                  <a:srgbClr val="7030A0"/>
                </a:solidFill>
                <a:latin typeface="Arial Narrow" panose="020B0606020202030204" pitchFamily="34" charset="0"/>
              </a:rPr>
              <a:t>different meanings because their word order is different</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By incorporating </a:t>
            </a:r>
            <a:r>
              <a:rPr lang="en-US" sz="2000" dirty="0">
                <a:solidFill>
                  <a:srgbClr val="7030A0"/>
                </a:solidFill>
                <a:latin typeface="Arial Narrow" panose="020B0606020202030204" pitchFamily="34" charset="0"/>
              </a:rPr>
              <a:t>positional information into the token representations</a:t>
            </a:r>
            <a:r>
              <a:rPr lang="en-US" sz="2000" dirty="0">
                <a:latin typeface="Arial Narrow" panose="020B0606020202030204" pitchFamily="34" charset="0"/>
              </a:rPr>
              <a:t>, mechanisms such as self-attention can effectively capture both the </a:t>
            </a:r>
            <a:r>
              <a:rPr lang="en-US" sz="2000" dirty="0">
                <a:solidFill>
                  <a:srgbClr val="7030A0"/>
                </a:solidFill>
                <a:latin typeface="Arial Narrow" panose="020B0606020202030204" pitchFamily="34" charset="0"/>
              </a:rPr>
              <a:t>contextual relationships and positional dependencies between tokens</a:t>
            </a:r>
            <a:r>
              <a:rPr lang="en-US" sz="2000" dirty="0">
                <a:latin typeface="Arial Narrow" panose="020B0606020202030204" pitchFamily="34" charset="0"/>
              </a:rPr>
              <a:t>, enabling the model to better </a:t>
            </a:r>
            <a:r>
              <a:rPr lang="en-US" sz="2000" dirty="0">
                <a:solidFill>
                  <a:srgbClr val="7030A0"/>
                </a:solidFill>
                <a:latin typeface="Arial Narrow" panose="020B0606020202030204" pitchFamily="34" charset="0"/>
              </a:rPr>
              <a:t>understand the structure and meaning of the sequence</a:t>
            </a:r>
            <a:r>
              <a:rPr lang="en-US" sz="2000" dirty="0">
                <a:latin typeface="Arial Narrow" panose="020B0606020202030204" pitchFamily="34" charset="0"/>
              </a:rPr>
              <a:t>.</a:t>
            </a:r>
            <a:endParaRPr lang="en-IN" sz="2000" dirty="0">
              <a:latin typeface="Arial Narrow" panose="020B0606020202030204" pitchFamily="34" charset="0"/>
            </a:endParaRPr>
          </a:p>
        </p:txBody>
      </p:sp>
      <p:sp>
        <p:nvSpPr>
          <p:cNvPr id="8" name="TextBox 7">
            <a:extLst>
              <a:ext uri="{FF2B5EF4-FFF2-40B4-BE49-F238E27FC236}">
                <a16:creationId xmlns:a16="http://schemas.microsoft.com/office/drawing/2014/main" id="{7195707E-1B1B-4123-9380-E76D5CAEE435}"/>
              </a:ext>
            </a:extLst>
          </p:cNvPr>
          <p:cNvSpPr txBox="1"/>
          <p:nvPr/>
        </p:nvSpPr>
        <p:spPr>
          <a:xfrm>
            <a:off x="586153" y="390001"/>
            <a:ext cx="6096000" cy="954107"/>
          </a:xfrm>
          <a:prstGeom prst="rect">
            <a:avLst/>
          </a:prstGeom>
          <a:noFill/>
        </p:spPr>
        <p:txBody>
          <a:bodyPr wrap="square">
            <a:spAutoFit/>
          </a:bodyPr>
          <a:lstStyle/>
          <a:p>
            <a:r>
              <a:rPr lang="en-IN" sz="3200" dirty="0">
                <a:latin typeface="Century" panose="02040604050505020304" pitchFamily="18" charset="0"/>
              </a:rPr>
              <a:t>Transformer Architecture</a:t>
            </a:r>
          </a:p>
          <a:p>
            <a:r>
              <a:rPr lang="en-IN" sz="2400" dirty="0">
                <a:latin typeface="Century" panose="02040604050505020304" pitchFamily="18" charset="0"/>
              </a:rPr>
              <a:t>Positional Encoding</a:t>
            </a:r>
          </a:p>
        </p:txBody>
      </p:sp>
    </p:spTree>
    <p:extLst>
      <p:ext uri="{BB962C8B-B14F-4D97-AF65-F5344CB8AC3E}">
        <p14:creationId xmlns:p14="http://schemas.microsoft.com/office/powerpoint/2010/main" val="2317681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0536CE-1A51-243D-4681-9BDCCFDAEE8B}"/>
              </a:ext>
            </a:extLst>
          </p:cNvPr>
          <p:cNvSpPr txBox="1"/>
          <p:nvPr/>
        </p:nvSpPr>
        <p:spPr>
          <a:xfrm>
            <a:off x="650630" y="1575926"/>
            <a:ext cx="8858254" cy="646331"/>
          </a:xfrm>
          <a:prstGeom prst="rect">
            <a:avLst/>
          </a:prstGeom>
          <a:noFill/>
        </p:spPr>
        <p:txBody>
          <a:bodyPr wrap="square" rtlCol="0">
            <a:spAutoFit/>
          </a:bodyPr>
          <a:lstStyle/>
          <a:p>
            <a:r>
              <a:rPr lang="en-US" dirty="0">
                <a:latin typeface="Arial Narrow" panose="020B0606020202030204" pitchFamily="34" charset="0"/>
              </a:rPr>
              <a:t>• Positional information of each word in the </a:t>
            </a:r>
            <a:r>
              <a:rPr lang="en-US" dirty="0" err="1">
                <a:latin typeface="Arial Narrow" panose="020B0606020202030204" pitchFamily="34" charset="0"/>
              </a:rPr>
              <a:t>i</a:t>
            </a:r>
            <a:r>
              <a:rPr lang="en-US" dirty="0">
                <a:latin typeface="Arial Narrow" panose="020B0606020202030204" pitchFamily="34" charset="0"/>
              </a:rPr>
              <a:t>/p sentence.</a:t>
            </a:r>
          </a:p>
          <a:p>
            <a:r>
              <a:rPr lang="en-US" dirty="0">
                <a:latin typeface="Arial Narrow" panose="020B0606020202030204" pitchFamily="34" charset="0"/>
              </a:rPr>
              <a:t>• Relative distance (close / far) between words in the sentence.</a:t>
            </a:r>
          </a:p>
        </p:txBody>
      </p:sp>
      <p:sp>
        <p:nvSpPr>
          <p:cNvPr id="5" name="TextBox 4">
            <a:extLst>
              <a:ext uri="{FF2B5EF4-FFF2-40B4-BE49-F238E27FC236}">
                <a16:creationId xmlns:a16="http://schemas.microsoft.com/office/drawing/2014/main" id="{82C112CA-86B3-E8FF-6608-A3E0E7C1C4E2}"/>
              </a:ext>
            </a:extLst>
          </p:cNvPr>
          <p:cNvSpPr txBox="1"/>
          <p:nvPr/>
        </p:nvSpPr>
        <p:spPr>
          <a:xfrm>
            <a:off x="586153" y="390001"/>
            <a:ext cx="6096000" cy="954107"/>
          </a:xfrm>
          <a:prstGeom prst="rect">
            <a:avLst/>
          </a:prstGeom>
          <a:noFill/>
        </p:spPr>
        <p:txBody>
          <a:bodyPr wrap="square">
            <a:spAutoFit/>
          </a:bodyPr>
          <a:lstStyle/>
          <a:p>
            <a:r>
              <a:rPr lang="en-IN" sz="3200" dirty="0">
                <a:latin typeface="Century" panose="02040604050505020304" pitchFamily="18" charset="0"/>
              </a:rPr>
              <a:t>Transformer Architecture</a:t>
            </a:r>
          </a:p>
          <a:p>
            <a:r>
              <a:rPr lang="en-IN" sz="2400" dirty="0">
                <a:latin typeface="Century" panose="02040604050505020304" pitchFamily="18" charset="0"/>
              </a:rPr>
              <a:t>Positional Encoding</a:t>
            </a:r>
          </a:p>
        </p:txBody>
      </p:sp>
      <p:sp>
        <p:nvSpPr>
          <p:cNvPr id="6" name="TextBox 5"/>
          <p:cNvSpPr txBox="1"/>
          <p:nvPr/>
        </p:nvSpPr>
        <p:spPr>
          <a:xfrm>
            <a:off x="5825768" y="2554666"/>
            <a:ext cx="500458" cy="400110"/>
          </a:xfrm>
          <a:prstGeom prst="rect">
            <a:avLst/>
          </a:prstGeom>
          <a:solidFill>
            <a:schemeClr val="accent4">
              <a:lumMod val="40000"/>
              <a:lumOff val="60000"/>
            </a:schemeClr>
          </a:solidFill>
          <a:ln w="15875">
            <a:solidFill>
              <a:srgbClr val="002060"/>
            </a:solidFill>
          </a:ln>
        </p:spPr>
        <p:txBody>
          <a:bodyPr wrap="none" rtlCol="0">
            <a:spAutoFit/>
          </a:bodyPr>
          <a:lstStyle/>
          <a:p>
            <a:r>
              <a:rPr lang="en-IN" sz="2000" dirty="0">
                <a:latin typeface="Arial Narrow" panose="020B0606020202030204" pitchFamily="34" charset="0"/>
                <a:cs typeface="Times New Roman" panose="02020603050405020304" pitchFamily="18" charset="0"/>
              </a:rPr>
              <a:t>Raj</a:t>
            </a:r>
          </a:p>
        </p:txBody>
      </p:sp>
      <p:sp>
        <p:nvSpPr>
          <p:cNvPr id="7" name="TextBox 6"/>
          <p:cNvSpPr txBox="1"/>
          <p:nvPr/>
        </p:nvSpPr>
        <p:spPr>
          <a:xfrm>
            <a:off x="7550977" y="2554666"/>
            <a:ext cx="336952" cy="400110"/>
          </a:xfrm>
          <a:prstGeom prst="rect">
            <a:avLst/>
          </a:prstGeom>
          <a:solidFill>
            <a:schemeClr val="accent4">
              <a:lumMod val="40000"/>
              <a:lumOff val="60000"/>
            </a:schemeClr>
          </a:solidFill>
          <a:ln w="15875">
            <a:solidFill>
              <a:srgbClr val="002060"/>
            </a:solidFill>
          </a:ln>
        </p:spPr>
        <p:txBody>
          <a:bodyPr wrap="none" rtlCol="0">
            <a:spAutoFit/>
          </a:bodyPr>
          <a:lstStyle/>
          <a:p>
            <a:r>
              <a:rPr lang="en-IN" sz="2000" dirty="0">
                <a:latin typeface="Arial Narrow" panose="020B0606020202030204" pitchFamily="34" charset="0"/>
                <a:cs typeface="Times New Roman" panose="02020603050405020304" pitchFamily="18" charset="0"/>
              </a:rPr>
              <a:t>is</a:t>
            </a:r>
          </a:p>
        </p:txBody>
      </p:sp>
      <p:sp>
        <p:nvSpPr>
          <p:cNvPr id="8" name="TextBox 7"/>
          <p:cNvSpPr txBox="1"/>
          <p:nvPr/>
        </p:nvSpPr>
        <p:spPr>
          <a:xfrm>
            <a:off x="9080807" y="2554666"/>
            <a:ext cx="652743" cy="400110"/>
          </a:xfrm>
          <a:prstGeom prst="rect">
            <a:avLst/>
          </a:prstGeom>
          <a:solidFill>
            <a:schemeClr val="accent4">
              <a:lumMod val="40000"/>
              <a:lumOff val="60000"/>
            </a:schemeClr>
          </a:solidFill>
          <a:ln w="15875">
            <a:solidFill>
              <a:srgbClr val="002060"/>
            </a:solidFill>
          </a:ln>
        </p:spPr>
        <p:txBody>
          <a:bodyPr wrap="none" rtlCol="0">
            <a:spAutoFit/>
          </a:bodyPr>
          <a:lstStyle/>
          <a:p>
            <a:r>
              <a:rPr lang="en-IN" sz="2000" dirty="0">
                <a:latin typeface="Arial Narrow" panose="020B0606020202030204" pitchFamily="34" charset="0"/>
                <a:cs typeface="Times New Roman" panose="02020603050405020304" pitchFamily="18" charset="0"/>
              </a:rPr>
              <a:t>good</a:t>
            </a:r>
          </a:p>
        </p:txBody>
      </p:sp>
      <p:sp>
        <p:nvSpPr>
          <p:cNvPr id="9" name="TextBox 8"/>
          <p:cNvSpPr txBox="1"/>
          <p:nvPr/>
        </p:nvSpPr>
        <p:spPr>
          <a:xfrm>
            <a:off x="10934889" y="2554666"/>
            <a:ext cx="524503" cy="400110"/>
          </a:xfrm>
          <a:prstGeom prst="rect">
            <a:avLst/>
          </a:prstGeom>
          <a:solidFill>
            <a:schemeClr val="accent4">
              <a:lumMod val="40000"/>
              <a:lumOff val="60000"/>
            </a:schemeClr>
          </a:solidFill>
          <a:ln w="15875">
            <a:solidFill>
              <a:srgbClr val="002060"/>
            </a:solidFill>
          </a:ln>
        </p:spPr>
        <p:txBody>
          <a:bodyPr wrap="none" rtlCol="0">
            <a:spAutoFit/>
          </a:bodyPr>
          <a:lstStyle/>
          <a:p>
            <a:r>
              <a:rPr lang="en-IN" sz="2000" dirty="0">
                <a:latin typeface="Arial Narrow" panose="020B0606020202030204" pitchFamily="34" charset="0"/>
                <a:cs typeface="Times New Roman" panose="02020603050405020304" pitchFamily="18" charset="0"/>
              </a:rPr>
              <a:t>boy</a:t>
            </a:r>
          </a:p>
        </p:txBody>
      </p:sp>
      <p:grpSp>
        <p:nvGrpSpPr>
          <p:cNvPr id="14" name="Group 13"/>
          <p:cNvGrpSpPr/>
          <p:nvPr/>
        </p:nvGrpSpPr>
        <p:grpSpPr>
          <a:xfrm>
            <a:off x="5358429" y="3365162"/>
            <a:ext cx="1475210" cy="409425"/>
            <a:chOff x="10577404" y="416208"/>
            <a:chExt cx="1475210" cy="409425"/>
          </a:xfrm>
        </p:grpSpPr>
        <p:sp>
          <p:nvSpPr>
            <p:cNvPr id="10" name="Rectangle 9"/>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 name="Rectangle 10"/>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2" name="Rectangle 11"/>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13" name="Rectangle 12"/>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15" name="Group 14"/>
          <p:cNvGrpSpPr/>
          <p:nvPr/>
        </p:nvGrpSpPr>
        <p:grpSpPr>
          <a:xfrm>
            <a:off x="7085107" y="3364360"/>
            <a:ext cx="1475210" cy="409425"/>
            <a:chOff x="10577404" y="416208"/>
            <a:chExt cx="1475210" cy="409425"/>
          </a:xfrm>
        </p:grpSpPr>
        <p:sp>
          <p:nvSpPr>
            <p:cNvPr id="16" name="Rectangle 15"/>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7" name="Rectangle 16"/>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8" name="Rectangle 17"/>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19" name="Rectangle 18"/>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20" name="Group 19"/>
          <p:cNvGrpSpPr/>
          <p:nvPr/>
        </p:nvGrpSpPr>
        <p:grpSpPr>
          <a:xfrm>
            <a:off x="8815133" y="3363558"/>
            <a:ext cx="1475210" cy="409425"/>
            <a:chOff x="10577404" y="416208"/>
            <a:chExt cx="1475210" cy="409425"/>
          </a:xfrm>
        </p:grpSpPr>
        <p:sp>
          <p:nvSpPr>
            <p:cNvPr id="21" name="Rectangle 20"/>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2" name="Rectangle 21"/>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3" name="Rectangle 22"/>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24" name="Rectangle 23"/>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25" name="Group 24"/>
          <p:cNvGrpSpPr/>
          <p:nvPr/>
        </p:nvGrpSpPr>
        <p:grpSpPr>
          <a:xfrm>
            <a:off x="10513485" y="3362756"/>
            <a:ext cx="1475210" cy="409425"/>
            <a:chOff x="10577404" y="416208"/>
            <a:chExt cx="1475210" cy="409425"/>
          </a:xfrm>
        </p:grpSpPr>
        <p:sp>
          <p:nvSpPr>
            <p:cNvPr id="26" name="Rectangle 25"/>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7" name="Rectangle 26"/>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28" name="Rectangle 27"/>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29" name="Rectangle 28"/>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sp>
        <p:nvSpPr>
          <p:cNvPr id="30" name="Plus 29"/>
          <p:cNvSpPr/>
          <p:nvPr/>
        </p:nvSpPr>
        <p:spPr>
          <a:xfrm>
            <a:off x="6000910" y="3953415"/>
            <a:ext cx="266379" cy="294736"/>
          </a:xfrm>
          <a:prstGeom prst="mathPlus">
            <a:avLst>
              <a:gd name="adj1" fmla="val 4770"/>
            </a:avLst>
          </a:prstGeom>
          <a:solidFill>
            <a:schemeClr val="tx1">
              <a:lumMod val="75000"/>
              <a:lumOff val="25000"/>
            </a:scheme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31" name="Plus 30"/>
          <p:cNvSpPr/>
          <p:nvPr/>
        </p:nvSpPr>
        <p:spPr>
          <a:xfrm>
            <a:off x="7639182" y="3953415"/>
            <a:ext cx="266379" cy="294736"/>
          </a:xfrm>
          <a:prstGeom prst="mathPlus">
            <a:avLst>
              <a:gd name="adj1" fmla="val 4770"/>
            </a:avLst>
          </a:prstGeom>
          <a:solidFill>
            <a:schemeClr val="tx1">
              <a:lumMod val="75000"/>
              <a:lumOff val="25000"/>
            </a:scheme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32" name="Plus 31"/>
          <p:cNvSpPr/>
          <p:nvPr/>
        </p:nvSpPr>
        <p:spPr>
          <a:xfrm>
            <a:off x="9324424" y="3953415"/>
            <a:ext cx="266379" cy="294736"/>
          </a:xfrm>
          <a:prstGeom prst="mathPlus">
            <a:avLst>
              <a:gd name="adj1" fmla="val 4770"/>
            </a:avLst>
          </a:prstGeom>
          <a:solidFill>
            <a:schemeClr val="tx1">
              <a:lumMod val="75000"/>
              <a:lumOff val="25000"/>
            </a:scheme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33" name="Plus 32"/>
          <p:cNvSpPr/>
          <p:nvPr/>
        </p:nvSpPr>
        <p:spPr>
          <a:xfrm>
            <a:off x="11022776" y="3950077"/>
            <a:ext cx="266379" cy="294736"/>
          </a:xfrm>
          <a:prstGeom prst="mathPlus">
            <a:avLst>
              <a:gd name="adj1" fmla="val 4770"/>
            </a:avLst>
          </a:prstGeom>
          <a:solidFill>
            <a:schemeClr val="tx1">
              <a:lumMod val="75000"/>
              <a:lumOff val="25000"/>
            </a:scheme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nvGrpSpPr>
          <p:cNvPr id="34" name="Group 33"/>
          <p:cNvGrpSpPr/>
          <p:nvPr/>
        </p:nvGrpSpPr>
        <p:grpSpPr>
          <a:xfrm>
            <a:off x="5358429" y="4367998"/>
            <a:ext cx="1475210" cy="409425"/>
            <a:chOff x="10577404" y="416208"/>
            <a:chExt cx="1475210" cy="409425"/>
          </a:xfrm>
        </p:grpSpPr>
        <p:sp>
          <p:nvSpPr>
            <p:cNvPr id="35" name="Rectangle 34"/>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36" name="Rectangle 35"/>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37" name="Rectangle 36"/>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38" name="Rectangle 37"/>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39" name="Group 38"/>
          <p:cNvGrpSpPr/>
          <p:nvPr/>
        </p:nvGrpSpPr>
        <p:grpSpPr>
          <a:xfrm>
            <a:off x="7085107" y="4367196"/>
            <a:ext cx="1475210" cy="409425"/>
            <a:chOff x="10577404" y="416208"/>
            <a:chExt cx="1475210" cy="409425"/>
          </a:xfrm>
        </p:grpSpPr>
        <p:sp>
          <p:nvSpPr>
            <p:cNvPr id="40" name="Rectangle 39"/>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41" name="Rectangle 40"/>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42" name="Rectangle 41"/>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43" name="Rectangle 42"/>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44" name="Group 43"/>
          <p:cNvGrpSpPr/>
          <p:nvPr/>
        </p:nvGrpSpPr>
        <p:grpSpPr>
          <a:xfrm>
            <a:off x="8815133" y="4366394"/>
            <a:ext cx="1475210" cy="409425"/>
            <a:chOff x="10577404" y="416208"/>
            <a:chExt cx="1475210" cy="409425"/>
          </a:xfrm>
        </p:grpSpPr>
        <p:sp>
          <p:nvSpPr>
            <p:cNvPr id="45" name="Rectangle 44"/>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46" name="Rectangle 45"/>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47" name="Rectangle 46"/>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48" name="Rectangle 47"/>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49" name="Group 48"/>
          <p:cNvGrpSpPr/>
          <p:nvPr/>
        </p:nvGrpSpPr>
        <p:grpSpPr>
          <a:xfrm>
            <a:off x="10513485" y="4366394"/>
            <a:ext cx="1475210" cy="408623"/>
            <a:chOff x="10577404" y="417010"/>
            <a:chExt cx="1475210" cy="408623"/>
          </a:xfrm>
        </p:grpSpPr>
        <p:sp>
          <p:nvSpPr>
            <p:cNvPr id="50" name="Rectangle 49"/>
            <p:cNvSpPr/>
            <p:nvPr/>
          </p:nvSpPr>
          <p:spPr>
            <a:xfrm>
              <a:off x="10577404" y="417829"/>
              <a:ext cx="324303" cy="407002"/>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51" name="Rectangle 50"/>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52" name="Rectangle 51"/>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53" name="Rectangle 52"/>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54" name="Group 53"/>
          <p:cNvGrpSpPr/>
          <p:nvPr/>
        </p:nvGrpSpPr>
        <p:grpSpPr>
          <a:xfrm>
            <a:off x="5358429" y="5924992"/>
            <a:ext cx="1475210" cy="409425"/>
            <a:chOff x="10577404" y="416208"/>
            <a:chExt cx="1475210" cy="409425"/>
          </a:xfrm>
        </p:grpSpPr>
        <p:sp>
          <p:nvSpPr>
            <p:cNvPr id="55" name="Rectangle 54"/>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56" name="Rectangle 55"/>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57" name="Rectangle 56"/>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58" name="Rectangle 57"/>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59" name="Group 58"/>
          <p:cNvGrpSpPr/>
          <p:nvPr/>
        </p:nvGrpSpPr>
        <p:grpSpPr>
          <a:xfrm>
            <a:off x="7085107" y="5924190"/>
            <a:ext cx="1475210" cy="409425"/>
            <a:chOff x="10577404" y="416208"/>
            <a:chExt cx="1475210" cy="409425"/>
          </a:xfrm>
        </p:grpSpPr>
        <p:sp>
          <p:nvSpPr>
            <p:cNvPr id="60" name="Rectangle 59"/>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61" name="Rectangle 60"/>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62" name="Rectangle 61"/>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63" name="Rectangle 62"/>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64" name="Group 63"/>
          <p:cNvGrpSpPr/>
          <p:nvPr/>
        </p:nvGrpSpPr>
        <p:grpSpPr>
          <a:xfrm>
            <a:off x="8815133" y="5923388"/>
            <a:ext cx="1475210" cy="409425"/>
            <a:chOff x="10577404" y="416208"/>
            <a:chExt cx="1475210" cy="409425"/>
          </a:xfrm>
        </p:grpSpPr>
        <p:sp>
          <p:nvSpPr>
            <p:cNvPr id="65" name="Rectangle 64"/>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66" name="Rectangle 65"/>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67" name="Rectangle 66"/>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68" name="Rectangle 67"/>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grpSp>
        <p:nvGrpSpPr>
          <p:cNvPr id="69" name="Group 68"/>
          <p:cNvGrpSpPr/>
          <p:nvPr/>
        </p:nvGrpSpPr>
        <p:grpSpPr>
          <a:xfrm>
            <a:off x="10513485" y="5922586"/>
            <a:ext cx="1475210" cy="409425"/>
            <a:chOff x="10577404" y="416208"/>
            <a:chExt cx="1475210" cy="409425"/>
          </a:xfrm>
        </p:grpSpPr>
        <p:sp>
          <p:nvSpPr>
            <p:cNvPr id="70" name="Rectangle 69"/>
            <p:cNvSpPr/>
            <p:nvPr/>
          </p:nvSpPr>
          <p:spPr>
            <a:xfrm>
              <a:off x="10577404" y="416208"/>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71" name="Rectangle 70"/>
            <p:cNvSpPr/>
            <p:nvPr/>
          </p:nvSpPr>
          <p:spPr>
            <a:xfrm>
              <a:off x="10901707"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72" name="Rectangle 71"/>
            <p:cNvSpPr/>
            <p:nvPr/>
          </p:nvSpPr>
          <p:spPr>
            <a:xfrm>
              <a:off x="11219885" y="417010"/>
              <a:ext cx="508426" cy="408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7030A0"/>
                  </a:solidFill>
                  <a:latin typeface="Arial Narrow" panose="020B0606020202030204" pitchFamily="34" charset="0"/>
                </a:rPr>
                <a:t>…</a:t>
              </a:r>
            </a:p>
          </p:txBody>
        </p:sp>
        <p:sp>
          <p:nvSpPr>
            <p:cNvPr id="73" name="Rectangle 72"/>
            <p:cNvSpPr/>
            <p:nvPr/>
          </p:nvSpPr>
          <p:spPr>
            <a:xfrm>
              <a:off x="11728311" y="417010"/>
              <a:ext cx="324303" cy="408623"/>
            </a:xfrm>
            <a:prstGeom prst="rect">
              <a:avLst/>
            </a:prstGeom>
            <a:solidFill>
              <a:schemeClr val="accent3">
                <a:lumMod val="40000"/>
                <a:lumOff val="60000"/>
                <a:alpha val="5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grpSp>
      <p:sp>
        <p:nvSpPr>
          <p:cNvPr id="74" name="Down Arrow 73"/>
          <p:cNvSpPr/>
          <p:nvPr/>
        </p:nvSpPr>
        <p:spPr>
          <a:xfrm>
            <a:off x="6000910" y="4898072"/>
            <a:ext cx="266379" cy="937120"/>
          </a:xfrm>
          <a:prstGeom prst="downArrow">
            <a:avLst/>
          </a:prstGeom>
          <a:solidFill>
            <a:srgbClr val="66FFFF">
              <a:alpha val="45000"/>
            </a:srgbClr>
          </a:solidFill>
          <a:ln w="158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76" name="Down Arrow 75"/>
          <p:cNvSpPr/>
          <p:nvPr/>
        </p:nvSpPr>
        <p:spPr>
          <a:xfrm>
            <a:off x="7639182" y="4898926"/>
            <a:ext cx="266379" cy="937120"/>
          </a:xfrm>
          <a:prstGeom prst="downArrow">
            <a:avLst/>
          </a:prstGeom>
          <a:solidFill>
            <a:srgbClr val="66FFFF">
              <a:alpha val="45000"/>
            </a:srgbClr>
          </a:solidFill>
          <a:ln w="158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77" name="Down Arrow 76"/>
          <p:cNvSpPr/>
          <p:nvPr/>
        </p:nvSpPr>
        <p:spPr>
          <a:xfrm>
            <a:off x="9327553" y="4898926"/>
            <a:ext cx="266379" cy="937120"/>
          </a:xfrm>
          <a:prstGeom prst="downArrow">
            <a:avLst/>
          </a:prstGeom>
          <a:solidFill>
            <a:srgbClr val="66FFFF">
              <a:alpha val="45000"/>
            </a:srgbClr>
          </a:solidFill>
          <a:ln w="158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78" name="Down Arrow 77"/>
          <p:cNvSpPr/>
          <p:nvPr/>
        </p:nvSpPr>
        <p:spPr>
          <a:xfrm>
            <a:off x="11022775" y="4895588"/>
            <a:ext cx="266379" cy="937120"/>
          </a:xfrm>
          <a:prstGeom prst="downArrow">
            <a:avLst/>
          </a:prstGeom>
          <a:solidFill>
            <a:srgbClr val="66FFFF">
              <a:alpha val="45000"/>
            </a:srgbClr>
          </a:solidFill>
          <a:ln w="158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79" name="TextBox 78"/>
          <p:cNvSpPr txBox="1"/>
          <p:nvPr/>
        </p:nvSpPr>
        <p:spPr>
          <a:xfrm>
            <a:off x="922964" y="3127420"/>
            <a:ext cx="500458" cy="400110"/>
          </a:xfrm>
          <a:prstGeom prst="rect">
            <a:avLst/>
          </a:prstGeom>
          <a:solidFill>
            <a:schemeClr val="accent2">
              <a:lumMod val="60000"/>
              <a:lumOff val="40000"/>
            </a:schemeClr>
          </a:solidFill>
          <a:ln w="15875">
            <a:noFill/>
          </a:ln>
        </p:spPr>
        <p:txBody>
          <a:bodyPr wrap="none" rtlCol="0">
            <a:spAutoFit/>
          </a:bodyPr>
          <a:lstStyle/>
          <a:p>
            <a:r>
              <a:rPr lang="en-IN" sz="2000" dirty="0">
                <a:latin typeface="Arial Narrow" panose="020B0606020202030204" pitchFamily="34" charset="0"/>
                <a:cs typeface="Times New Roman" panose="02020603050405020304" pitchFamily="18" charset="0"/>
              </a:rPr>
              <a:t>Raj</a:t>
            </a:r>
          </a:p>
        </p:txBody>
      </p:sp>
      <p:sp>
        <p:nvSpPr>
          <p:cNvPr id="80" name="TextBox 79"/>
          <p:cNvSpPr txBox="1"/>
          <p:nvPr/>
        </p:nvSpPr>
        <p:spPr>
          <a:xfrm>
            <a:off x="1009810" y="4059142"/>
            <a:ext cx="336952" cy="400110"/>
          </a:xfrm>
          <a:prstGeom prst="rect">
            <a:avLst/>
          </a:prstGeom>
          <a:solidFill>
            <a:schemeClr val="accent2">
              <a:lumMod val="60000"/>
              <a:lumOff val="40000"/>
            </a:schemeClr>
          </a:solidFill>
          <a:ln w="15875">
            <a:noFill/>
          </a:ln>
        </p:spPr>
        <p:txBody>
          <a:bodyPr wrap="none" rtlCol="0">
            <a:spAutoFit/>
          </a:bodyPr>
          <a:lstStyle/>
          <a:p>
            <a:r>
              <a:rPr lang="en-IN" sz="2000" dirty="0">
                <a:latin typeface="Arial Narrow" panose="020B0606020202030204" pitchFamily="34" charset="0"/>
                <a:cs typeface="Times New Roman" panose="02020603050405020304" pitchFamily="18" charset="0"/>
              </a:rPr>
              <a:t>is</a:t>
            </a:r>
          </a:p>
        </p:txBody>
      </p:sp>
      <p:sp>
        <p:nvSpPr>
          <p:cNvPr id="81" name="TextBox 80"/>
          <p:cNvSpPr txBox="1"/>
          <p:nvPr/>
        </p:nvSpPr>
        <p:spPr>
          <a:xfrm>
            <a:off x="833543" y="4990864"/>
            <a:ext cx="652743" cy="400110"/>
          </a:xfrm>
          <a:prstGeom prst="rect">
            <a:avLst/>
          </a:prstGeom>
          <a:solidFill>
            <a:schemeClr val="accent2">
              <a:lumMod val="60000"/>
              <a:lumOff val="40000"/>
            </a:schemeClr>
          </a:solidFill>
          <a:ln w="15875">
            <a:noFill/>
          </a:ln>
        </p:spPr>
        <p:txBody>
          <a:bodyPr wrap="none" rtlCol="0">
            <a:spAutoFit/>
          </a:bodyPr>
          <a:lstStyle/>
          <a:p>
            <a:r>
              <a:rPr lang="en-IN" sz="2000" dirty="0">
                <a:latin typeface="Arial Narrow" panose="020B0606020202030204" pitchFamily="34" charset="0"/>
                <a:cs typeface="Times New Roman" panose="02020603050405020304" pitchFamily="18" charset="0"/>
              </a:rPr>
              <a:t>good</a:t>
            </a:r>
          </a:p>
        </p:txBody>
      </p:sp>
      <p:sp>
        <p:nvSpPr>
          <p:cNvPr id="82" name="TextBox 81"/>
          <p:cNvSpPr txBox="1"/>
          <p:nvPr/>
        </p:nvSpPr>
        <p:spPr>
          <a:xfrm>
            <a:off x="903080" y="5922586"/>
            <a:ext cx="524503" cy="400110"/>
          </a:xfrm>
          <a:prstGeom prst="rect">
            <a:avLst/>
          </a:prstGeom>
          <a:solidFill>
            <a:schemeClr val="accent2">
              <a:lumMod val="60000"/>
              <a:lumOff val="40000"/>
            </a:schemeClr>
          </a:solidFill>
          <a:ln w="15875">
            <a:noFill/>
          </a:ln>
        </p:spPr>
        <p:txBody>
          <a:bodyPr wrap="none" rtlCol="0">
            <a:spAutoFit/>
          </a:bodyPr>
          <a:lstStyle/>
          <a:p>
            <a:r>
              <a:rPr lang="en-IN" sz="2000" dirty="0">
                <a:latin typeface="Arial Narrow" panose="020B0606020202030204" pitchFamily="34" charset="0"/>
                <a:cs typeface="Times New Roman" panose="02020603050405020304" pitchFamily="18" charset="0"/>
              </a:rPr>
              <a:t>boy</a:t>
            </a:r>
          </a:p>
        </p:txBody>
      </p:sp>
      <p:cxnSp>
        <p:nvCxnSpPr>
          <p:cNvPr id="84" name="Elbow Connector 83"/>
          <p:cNvCxnSpPr>
            <a:stCxn id="79" idx="1"/>
            <a:endCxn id="80" idx="1"/>
          </p:cNvCxnSpPr>
          <p:nvPr/>
        </p:nvCxnSpPr>
        <p:spPr>
          <a:xfrm rot="10800000" flipH="1" flipV="1">
            <a:off x="922964" y="3327475"/>
            <a:ext cx="86846" cy="931722"/>
          </a:xfrm>
          <a:prstGeom prst="bentConnector3">
            <a:avLst>
              <a:gd name="adj1" fmla="val -263225"/>
            </a:avLst>
          </a:prstGeom>
          <a:ln w="15875">
            <a:solidFill>
              <a:srgbClr val="6666FF"/>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p:cNvCxnSpPr>
            <a:stCxn id="79" idx="3"/>
            <a:endCxn id="82" idx="3"/>
          </p:cNvCxnSpPr>
          <p:nvPr/>
        </p:nvCxnSpPr>
        <p:spPr>
          <a:xfrm>
            <a:off x="1423422" y="3327475"/>
            <a:ext cx="4161" cy="2795166"/>
          </a:xfrm>
          <a:prstGeom prst="bentConnector3">
            <a:avLst>
              <a:gd name="adj1" fmla="val 5593872"/>
            </a:avLst>
          </a:prstGeom>
          <a:ln w="15875">
            <a:solidFill>
              <a:srgbClr val="6666FF"/>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74109" y="3617183"/>
            <a:ext cx="627095" cy="369332"/>
          </a:xfrm>
          <a:prstGeom prst="rect">
            <a:avLst/>
          </a:prstGeom>
          <a:noFill/>
        </p:spPr>
        <p:txBody>
          <a:bodyPr wrap="none" rtlCol="0">
            <a:spAutoFit/>
          </a:bodyPr>
          <a:lstStyle/>
          <a:p>
            <a:r>
              <a:rPr lang="en-IN" dirty="0">
                <a:solidFill>
                  <a:srgbClr val="7030A0"/>
                </a:solidFill>
                <a:latin typeface="Arial Narrow" panose="020B0606020202030204" pitchFamily="34" charset="0"/>
                <a:cs typeface="Times New Roman" panose="02020603050405020304" pitchFamily="18" charset="0"/>
              </a:rPr>
              <a:t>close</a:t>
            </a:r>
          </a:p>
        </p:txBody>
      </p:sp>
      <p:sp>
        <p:nvSpPr>
          <p:cNvPr id="88" name="TextBox 87"/>
          <p:cNvSpPr txBox="1"/>
          <p:nvPr/>
        </p:nvSpPr>
        <p:spPr>
          <a:xfrm>
            <a:off x="1707782" y="4663563"/>
            <a:ext cx="744114" cy="369332"/>
          </a:xfrm>
          <a:prstGeom prst="rect">
            <a:avLst/>
          </a:prstGeom>
          <a:noFill/>
        </p:spPr>
        <p:txBody>
          <a:bodyPr wrap="none" rtlCol="0">
            <a:spAutoFit/>
          </a:bodyPr>
          <a:lstStyle/>
          <a:p>
            <a:r>
              <a:rPr lang="en-IN" dirty="0">
                <a:solidFill>
                  <a:srgbClr val="7030A0"/>
                </a:solidFill>
                <a:latin typeface="Arial Narrow" panose="020B0606020202030204" pitchFamily="34" charset="0"/>
                <a:cs typeface="Times New Roman" panose="02020603050405020304" pitchFamily="18" charset="0"/>
              </a:rPr>
              <a:t>distant</a:t>
            </a:r>
          </a:p>
        </p:txBody>
      </p:sp>
      <p:sp>
        <p:nvSpPr>
          <p:cNvPr id="100" name="TextBox 99">
            <a:extLst>
              <a:ext uri="{FF2B5EF4-FFF2-40B4-BE49-F238E27FC236}">
                <a16:creationId xmlns:a16="http://schemas.microsoft.com/office/drawing/2014/main" id="{E3A2E31C-0AA4-EC5F-3423-3A4FDA7957DF}"/>
              </a:ext>
            </a:extLst>
          </p:cNvPr>
          <p:cNvSpPr txBox="1"/>
          <p:nvPr/>
        </p:nvSpPr>
        <p:spPr>
          <a:xfrm>
            <a:off x="3156705" y="3295763"/>
            <a:ext cx="2174639" cy="584775"/>
          </a:xfrm>
          <a:prstGeom prst="rect">
            <a:avLst/>
          </a:prstGeom>
          <a:noFill/>
        </p:spPr>
        <p:txBody>
          <a:bodyPr wrap="square">
            <a:spAutoFit/>
          </a:bodyPr>
          <a:lstStyle/>
          <a:p>
            <a:r>
              <a:rPr lang="en-US" sz="1600" b="1" dirty="0">
                <a:solidFill>
                  <a:srgbClr val="7030A0"/>
                </a:solidFill>
                <a:latin typeface="Arial Narrow" panose="020B0606020202030204" pitchFamily="34" charset="0"/>
              </a:rPr>
              <a:t>vector size 512</a:t>
            </a:r>
            <a:br>
              <a:rPr lang="en-US" sz="1600" dirty="0">
                <a:solidFill>
                  <a:srgbClr val="7030A0"/>
                </a:solidFill>
                <a:latin typeface="Arial Narrow" panose="020B0606020202030204" pitchFamily="34" charset="0"/>
              </a:rPr>
            </a:br>
            <a:r>
              <a:rPr lang="en-US" sz="1600" dirty="0">
                <a:solidFill>
                  <a:srgbClr val="7030A0"/>
                </a:solidFill>
                <a:latin typeface="Arial Narrow" panose="020B0606020202030204" pitchFamily="34" charset="0"/>
              </a:rPr>
              <a:t>Word Embedding</a:t>
            </a:r>
            <a:endParaRPr lang="en-IN" sz="1600" dirty="0">
              <a:solidFill>
                <a:srgbClr val="7030A0"/>
              </a:solidFill>
              <a:latin typeface="Arial Narrow" panose="020B0606020202030204" pitchFamily="34" charset="0"/>
            </a:endParaRPr>
          </a:p>
        </p:txBody>
      </p:sp>
      <p:sp>
        <p:nvSpPr>
          <p:cNvPr id="101" name="TextBox 100">
            <a:extLst>
              <a:ext uri="{FF2B5EF4-FFF2-40B4-BE49-F238E27FC236}">
                <a16:creationId xmlns:a16="http://schemas.microsoft.com/office/drawing/2014/main" id="{DAD7BA6A-78F4-1D9C-C6F3-A234B92B81C5}"/>
              </a:ext>
            </a:extLst>
          </p:cNvPr>
          <p:cNvSpPr txBox="1"/>
          <p:nvPr/>
        </p:nvSpPr>
        <p:spPr>
          <a:xfrm>
            <a:off x="2714399" y="4059142"/>
            <a:ext cx="2523401" cy="1077218"/>
          </a:xfrm>
          <a:prstGeom prst="rect">
            <a:avLst/>
          </a:prstGeom>
          <a:noFill/>
        </p:spPr>
        <p:txBody>
          <a:bodyPr wrap="square">
            <a:spAutoFit/>
          </a:bodyPr>
          <a:lstStyle/>
          <a:p>
            <a:pPr algn="ctr"/>
            <a:r>
              <a:rPr lang="en-US" sz="1600" dirty="0">
                <a:solidFill>
                  <a:srgbClr val="7030A0"/>
                </a:solidFill>
                <a:latin typeface="Arial Narrow" panose="020B0606020202030204" pitchFamily="34" charset="0"/>
              </a:rPr>
              <a:t>Positional embedding</a:t>
            </a:r>
            <a:br>
              <a:rPr lang="en-US" sz="1600" dirty="0">
                <a:solidFill>
                  <a:srgbClr val="7030A0"/>
                </a:solidFill>
                <a:latin typeface="Arial Narrow" panose="020B0606020202030204" pitchFamily="34" charset="0"/>
              </a:rPr>
            </a:br>
            <a:r>
              <a:rPr lang="en-US" sz="1600" dirty="0">
                <a:solidFill>
                  <a:srgbClr val="7030A0"/>
                </a:solidFill>
                <a:latin typeface="Arial Narrow" panose="020B0606020202030204" pitchFamily="34" charset="0"/>
              </a:rPr>
              <a:t>vector size: 512</a:t>
            </a:r>
            <a:br>
              <a:rPr lang="en-US" sz="1600" dirty="0">
                <a:solidFill>
                  <a:srgbClr val="7030A0"/>
                </a:solidFill>
                <a:latin typeface="Arial Narrow" panose="020B0606020202030204" pitchFamily="34" charset="0"/>
              </a:rPr>
            </a:br>
            <a:r>
              <a:rPr lang="en-US" sz="1600" dirty="0">
                <a:solidFill>
                  <a:srgbClr val="7030A0"/>
                </a:solidFill>
                <a:latin typeface="Arial Narrow" panose="020B0606020202030204" pitchFamily="34" charset="0"/>
              </a:rPr>
              <a:t>computed once</a:t>
            </a:r>
            <a:br>
              <a:rPr lang="en-US" sz="1600" dirty="0">
                <a:solidFill>
                  <a:srgbClr val="7030A0"/>
                </a:solidFill>
                <a:latin typeface="Arial Narrow" panose="020B0606020202030204" pitchFamily="34" charset="0"/>
              </a:rPr>
            </a:br>
            <a:r>
              <a:rPr lang="en-US" sz="1600" dirty="0">
                <a:solidFill>
                  <a:srgbClr val="7030A0"/>
                </a:solidFill>
                <a:latin typeface="Arial Narrow" panose="020B0606020202030204" pitchFamily="34" charset="0"/>
              </a:rPr>
              <a:t>Not learned</a:t>
            </a:r>
            <a:endParaRPr lang="en-IN" sz="1600" dirty="0">
              <a:solidFill>
                <a:srgbClr val="7030A0"/>
              </a:solidFill>
              <a:latin typeface="Arial Narrow" panose="020B0606020202030204" pitchFamily="34" charset="0"/>
            </a:endParaRPr>
          </a:p>
        </p:txBody>
      </p:sp>
      <p:sp>
        <p:nvSpPr>
          <p:cNvPr id="102" name="Rounded Rectangle 101"/>
          <p:cNvSpPr/>
          <p:nvPr/>
        </p:nvSpPr>
        <p:spPr>
          <a:xfrm>
            <a:off x="5079757" y="3270605"/>
            <a:ext cx="7043113" cy="645551"/>
          </a:xfrm>
          <a:prstGeom prst="round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3" name="Rounded Rectangle 102"/>
          <p:cNvSpPr/>
          <p:nvPr/>
        </p:nvSpPr>
        <p:spPr>
          <a:xfrm>
            <a:off x="5079757" y="4245390"/>
            <a:ext cx="7043113" cy="645551"/>
          </a:xfrm>
          <a:prstGeom prst="round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4" name="Rounded Rectangle 103"/>
          <p:cNvSpPr/>
          <p:nvPr/>
        </p:nvSpPr>
        <p:spPr>
          <a:xfrm>
            <a:off x="5170600" y="5841890"/>
            <a:ext cx="7043113" cy="590692"/>
          </a:xfrm>
          <a:prstGeom prst="round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5" name="TextBox 104">
            <a:extLst>
              <a:ext uri="{FF2B5EF4-FFF2-40B4-BE49-F238E27FC236}">
                <a16:creationId xmlns:a16="http://schemas.microsoft.com/office/drawing/2014/main" id="{AC9CA65E-2C3E-7D92-ED2E-D8CBA9185AAA}"/>
              </a:ext>
            </a:extLst>
          </p:cNvPr>
          <p:cNvSpPr txBox="1"/>
          <p:nvPr/>
        </p:nvSpPr>
        <p:spPr>
          <a:xfrm>
            <a:off x="3179503" y="5847806"/>
            <a:ext cx="2026849" cy="584775"/>
          </a:xfrm>
          <a:prstGeom prst="rect">
            <a:avLst/>
          </a:prstGeom>
          <a:noFill/>
        </p:spPr>
        <p:txBody>
          <a:bodyPr wrap="square">
            <a:spAutoFit/>
          </a:bodyPr>
          <a:lstStyle/>
          <a:p>
            <a:pPr algn="ctr"/>
            <a:r>
              <a:rPr lang="en-IN" sz="1600" dirty="0">
                <a:solidFill>
                  <a:srgbClr val="7030A0"/>
                </a:solidFill>
                <a:latin typeface="Arial Narrow" panose="020B0606020202030204" pitchFamily="34" charset="0"/>
              </a:rPr>
              <a:t>Encoder I/P</a:t>
            </a:r>
            <a:br>
              <a:rPr lang="en-IN" sz="1600" dirty="0">
                <a:solidFill>
                  <a:srgbClr val="7030A0"/>
                </a:solidFill>
                <a:latin typeface="Arial Narrow" panose="020B0606020202030204" pitchFamily="34" charset="0"/>
              </a:rPr>
            </a:br>
            <a:r>
              <a:rPr lang="en-IN" sz="1600" dirty="0">
                <a:solidFill>
                  <a:srgbClr val="7030A0"/>
                </a:solidFill>
                <a:latin typeface="Arial Narrow" panose="020B0606020202030204" pitchFamily="34" charset="0"/>
              </a:rPr>
              <a:t>(512)</a:t>
            </a:r>
          </a:p>
        </p:txBody>
      </p:sp>
      <p:cxnSp>
        <p:nvCxnSpPr>
          <p:cNvPr id="95" name="Straight Arrow Connector 94">
            <a:extLst>
              <a:ext uri="{FF2B5EF4-FFF2-40B4-BE49-F238E27FC236}">
                <a16:creationId xmlns:a16="http://schemas.microsoft.com/office/drawing/2014/main" id="{145E51BD-AA0A-4CE1-A037-EC4DEAB5C5C7}"/>
              </a:ext>
            </a:extLst>
          </p:cNvPr>
          <p:cNvCxnSpPr>
            <a:cxnSpLocks/>
          </p:cNvCxnSpPr>
          <p:nvPr/>
        </p:nvCxnSpPr>
        <p:spPr>
          <a:xfrm flipH="1">
            <a:off x="6096000" y="2954776"/>
            <a:ext cx="35" cy="40798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A69EDCD9-01F8-4468-BA20-34488EBDD773}"/>
              </a:ext>
            </a:extLst>
          </p:cNvPr>
          <p:cNvCxnSpPr>
            <a:cxnSpLocks/>
          </p:cNvCxnSpPr>
          <p:nvPr/>
        </p:nvCxnSpPr>
        <p:spPr>
          <a:xfrm flipH="1">
            <a:off x="7727588" y="2954776"/>
            <a:ext cx="681" cy="40798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150C3489-2691-427E-AA82-E272E4F4190A}"/>
              </a:ext>
            </a:extLst>
          </p:cNvPr>
          <p:cNvCxnSpPr>
            <a:cxnSpLocks/>
          </p:cNvCxnSpPr>
          <p:nvPr/>
        </p:nvCxnSpPr>
        <p:spPr>
          <a:xfrm>
            <a:off x="9434366" y="2954776"/>
            <a:ext cx="0" cy="40798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C5FE706D-B267-4639-A5EC-14DCFB51FA52}"/>
              </a:ext>
            </a:extLst>
          </p:cNvPr>
          <p:cNvCxnSpPr>
            <a:cxnSpLocks/>
          </p:cNvCxnSpPr>
          <p:nvPr/>
        </p:nvCxnSpPr>
        <p:spPr>
          <a:xfrm>
            <a:off x="11218910" y="2954776"/>
            <a:ext cx="0" cy="40798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149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2E19E8-40F2-4476-B669-B1EF206433CD}"/>
                  </a:ext>
                </a:extLst>
              </p:cNvPr>
              <p:cNvSpPr>
                <a:spLocks noGrp="1"/>
              </p:cNvSpPr>
              <p:nvPr>
                <p:ph idx="1"/>
              </p:nvPr>
            </p:nvSpPr>
            <p:spPr>
              <a:xfrm>
                <a:off x="838200" y="1825625"/>
                <a:ext cx="5257800" cy="3293222"/>
              </a:xfrm>
            </p:spPr>
            <p:txBody>
              <a:bodyPr>
                <a:normAutofit/>
              </a:bodyPr>
              <a:lstStyle/>
              <a:p>
                <a:pPr algn="just"/>
                <a:r>
                  <a:rPr lang="en-IN" sz="2000" dirty="0">
                    <a:latin typeface="Arial Narrow" panose="020B0606020202030204" pitchFamily="34" charset="0"/>
                    <a:cs typeface="Times New Roman" panose="02020603050405020304" pitchFamily="18" charset="0"/>
                  </a:rPr>
                  <a:t>Concatenate special positional </a:t>
                </a:r>
                <a:r>
                  <a:rPr lang="en-US" sz="2000" dirty="0">
                    <a:latin typeface="Arial Narrow" panose="020B0606020202030204" pitchFamily="34" charset="0"/>
                    <a:cs typeface="Times New Roman" panose="02020603050405020304" pitchFamily="18" charset="0"/>
                  </a:rPr>
                  <a:t>encoding </a:t>
                </a:r>
                <a:r>
                  <a:rPr lang="en-US" sz="2000" dirty="0" err="1">
                    <a:latin typeface="Arial Narrow" panose="020B0606020202030204" pitchFamily="34" charset="0"/>
                    <a:cs typeface="Times New Roman" panose="02020603050405020304" pitchFamily="18" charset="0"/>
                  </a:rPr>
                  <a:t>pj</a:t>
                </a:r>
                <a:r>
                  <a:rPr lang="en-US" sz="2000" dirty="0">
                    <a:latin typeface="Arial Narrow" panose="020B0606020202030204" pitchFamily="34" charset="0"/>
                    <a:cs typeface="Times New Roman" panose="02020603050405020304" pitchFamily="18" charset="0"/>
                  </a:rPr>
                  <a:t> to each input vector </a:t>
                </a:r>
                <a:r>
                  <a:rPr lang="en-US" sz="2000" dirty="0" err="1">
                    <a:latin typeface="Arial Narrow" panose="020B0606020202030204" pitchFamily="34" charset="0"/>
                    <a:cs typeface="Times New Roman" panose="02020603050405020304" pitchFamily="18" charset="0"/>
                  </a:rPr>
                  <a:t>xj</a:t>
                </a:r>
                <a:endParaRPr lang="en-US" sz="2000" dirty="0">
                  <a:latin typeface="Arial Narrow" panose="020B0606020202030204" pitchFamily="34" charset="0"/>
                  <a:cs typeface="Times New Roman" panose="02020603050405020304" pitchFamily="18" charset="0"/>
                </a:endParaRPr>
              </a:p>
              <a:p>
                <a:pPr algn="just"/>
                <a:endParaRPr lang="en-US" sz="2000" dirty="0">
                  <a:latin typeface="Arial Narrow" panose="020B0606020202030204" pitchFamily="34" charset="0"/>
                  <a:cs typeface="Times New Roman" panose="02020603050405020304" pitchFamily="18" charset="0"/>
                </a:endParaRPr>
              </a:p>
              <a:p>
                <a:pPr algn="just"/>
                <a:r>
                  <a:rPr lang="en-US" sz="2000" dirty="0">
                    <a:latin typeface="Arial Narrow" panose="020B0606020202030204" pitchFamily="34" charset="0"/>
                    <a:cs typeface="Times New Roman" panose="02020603050405020304" pitchFamily="18" charset="0"/>
                  </a:rPr>
                  <a:t>We use a function </a:t>
                </a:r>
                <a:r>
                  <a:rPr lang="en-US" sz="2000" i="1" dirty="0">
                    <a:latin typeface="Arial Narrow" panose="020B0606020202030204" pitchFamily="34" charset="0"/>
                    <a:cs typeface="Times New Roman" panose="02020603050405020304" pitchFamily="18" charset="0"/>
                  </a:rPr>
                  <a:t>pos</a:t>
                </a:r>
                <a:r>
                  <a:rPr lang="en-US" sz="2000" dirty="0">
                    <a:latin typeface="Arial Narrow" panose="020B0606020202030204" pitchFamily="34" charset="0"/>
                    <a:cs typeface="Times New Roman" panose="02020603050405020304" pitchFamily="18" charset="0"/>
                  </a:rPr>
                  <a:t>: N →</a:t>
                </a:r>
                <a14:m>
                  <m:oMath xmlns:m="http://schemas.openxmlformats.org/officeDocument/2006/math">
                    <m:sSup>
                      <m:sSupPr>
                        <m:ctrlPr>
                          <a:rPr lang="en-US" sz="2000" i="1" dirty="0" smtClean="0">
                            <a:latin typeface="Cambria Math" panose="02040503050406030204" pitchFamily="18" charset="0"/>
                            <a:cs typeface="Times New Roman" panose="02020603050405020304" pitchFamily="18" charset="0"/>
                          </a:rPr>
                        </m:ctrlPr>
                      </m:sSupPr>
                      <m:e>
                        <m:r>
                          <a:rPr lang="en-US" sz="2000" i="1" dirty="0" smtClean="0">
                            <a:latin typeface="Cambria Math" panose="02040503050406030204" pitchFamily="18" charset="0"/>
                            <a:cs typeface="Times New Roman" panose="02020603050405020304" pitchFamily="18" charset="0"/>
                          </a:rPr>
                          <m:t>ℝ</m:t>
                        </m:r>
                      </m:e>
                      <m:sup>
                        <m:r>
                          <a:rPr lang="en-IN" sz="2000" b="0" i="1" dirty="0" smtClean="0">
                            <a:latin typeface="Cambria Math" panose="02040503050406030204" pitchFamily="18" charset="0"/>
                            <a:cs typeface="Times New Roman" panose="02020603050405020304" pitchFamily="18" charset="0"/>
                          </a:rPr>
                          <m:t>𝑑</m:t>
                        </m:r>
                      </m:sup>
                    </m:sSup>
                  </m:oMath>
                </a14:m>
                <a:r>
                  <a:rPr lang="en-US" sz="2000" dirty="0">
                    <a:latin typeface="Arial Narrow" panose="020B0606020202030204" pitchFamily="34" charset="0"/>
                    <a:cs typeface="Times New Roman" panose="02020603050405020304" pitchFamily="18" charset="0"/>
                  </a:rPr>
                  <a:t> to process the position j of the </a:t>
                </a:r>
                <a:r>
                  <a:rPr lang="en-IN" sz="2000" dirty="0">
                    <a:latin typeface="Arial Narrow" panose="020B0606020202030204" pitchFamily="34" charset="0"/>
                    <a:cs typeface="Times New Roman" panose="02020603050405020304" pitchFamily="18" charset="0"/>
                  </a:rPr>
                  <a:t>vector into a d-dimensional vector</a:t>
                </a:r>
              </a:p>
              <a:p>
                <a:pPr algn="just"/>
                <a:r>
                  <a:rPr lang="en-IN" sz="2000" dirty="0">
                    <a:latin typeface="Arial Narrow" panose="020B0606020202030204" pitchFamily="34" charset="0"/>
                    <a:cs typeface="Times New Roman" panose="02020603050405020304" pitchFamily="18" charset="0"/>
                  </a:rPr>
                  <a:t>So, </a:t>
                </a:r>
                <a14:m>
                  <m:oMath xmlns:m="http://schemas.openxmlformats.org/officeDocument/2006/math">
                    <m:sSub>
                      <m:sSubPr>
                        <m:ctrlPr>
                          <a:rPr lang="en-IN" sz="2000" i="1" dirty="0" smtClean="0">
                            <a:latin typeface="Cambria Math" panose="02040503050406030204" pitchFamily="18" charset="0"/>
                            <a:cs typeface="Times New Roman" panose="02020603050405020304" pitchFamily="18" charset="0"/>
                          </a:rPr>
                        </m:ctrlPr>
                      </m:sSubPr>
                      <m:e>
                        <m:r>
                          <a:rPr lang="en-IN" sz="2000" b="0" i="1" dirty="0" smtClean="0">
                            <a:latin typeface="Cambria Math" panose="02040503050406030204" pitchFamily="18" charset="0"/>
                            <a:cs typeface="Times New Roman" panose="02020603050405020304" pitchFamily="18" charset="0"/>
                          </a:rPr>
                          <m:t>𝑝</m:t>
                        </m:r>
                      </m:e>
                      <m:sub>
                        <m:r>
                          <a:rPr lang="en-IN" sz="2000" b="0" i="1" dirty="0" smtClean="0">
                            <a:latin typeface="Cambria Math" panose="02040503050406030204" pitchFamily="18" charset="0"/>
                            <a:cs typeface="Times New Roman" panose="02020603050405020304" pitchFamily="18" charset="0"/>
                          </a:rPr>
                          <m:t>𝑗</m:t>
                        </m:r>
                      </m:sub>
                    </m:sSub>
                    <m:r>
                      <a:rPr lang="en-IN" sz="2000" i="1" dirty="0">
                        <a:latin typeface="Cambria Math" panose="02040503050406030204" pitchFamily="18" charset="0"/>
                        <a:cs typeface="Times New Roman" panose="02020603050405020304" pitchFamily="18" charset="0"/>
                      </a:rPr>
                      <m:t>= </m:t>
                    </m:r>
                    <m:r>
                      <a:rPr lang="en-IN" sz="2000" i="1" dirty="0" err="1">
                        <a:latin typeface="Cambria Math" panose="02040503050406030204" pitchFamily="18" charset="0"/>
                        <a:cs typeface="Times New Roman" panose="02020603050405020304" pitchFamily="18" charset="0"/>
                      </a:rPr>
                      <m:t>𝑝𝑜𝑠</m:t>
                    </m:r>
                    <m:r>
                      <a:rPr lang="en-IN" sz="2000" i="1" dirty="0">
                        <a:latin typeface="Cambria Math" panose="02040503050406030204" pitchFamily="18" charset="0"/>
                        <a:cs typeface="Times New Roman" panose="02020603050405020304" pitchFamily="18" charset="0"/>
                      </a:rPr>
                      <m:t>(</m:t>
                    </m:r>
                    <m:r>
                      <a:rPr lang="en-IN" sz="2000" i="1" dirty="0">
                        <a:latin typeface="Cambria Math" panose="02040503050406030204" pitchFamily="18" charset="0"/>
                        <a:cs typeface="Times New Roman" panose="02020603050405020304" pitchFamily="18" charset="0"/>
                      </a:rPr>
                      <m:t>𝑗</m:t>
                    </m:r>
                    <m:r>
                      <a:rPr lang="en-IN" sz="2000" i="1" dirty="0" smtClean="0">
                        <a:latin typeface="Cambria Math" panose="02040503050406030204" pitchFamily="18" charset="0"/>
                        <a:cs typeface="Times New Roman" panose="02020603050405020304" pitchFamily="18" charset="0"/>
                      </a:rPr>
                      <m:t>)</m:t>
                    </m:r>
                  </m:oMath>
                </a14:m>
                <a:endParaRPr lang="en-IN" sz="2000" dirty="0">
                  <a:latin typeface="Arial Narrow" panose="020B0606020202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92E19E8-40F2-4476-B669-B1EF206433CD}"/>
                  </a:ext>
                </a:extLst>
              </p:cNvPr>
              <p:cNvSpPr>
                <a:spLocks noGrp="1" noRot="1" noChangeAspect="1" noMove="1" noResize="1" noEditPoints="1" noAdjustHandles="1" noChangeArrowheads="1" noChangeShapeType="1" noTextEdit="1"/>
              </p:cNvSpPr>
              <p:nvPr>
                <p:ph idx="1"/>
              </p:nvPr>
            </p:nvSpPr>
            <p:spPr>
              <a:xfrm>
                <a:off x="838200" y="1825625"/>
                <a:ext cx="5257800" cy="3293222"/>
              </a:xfrm>
              <a:blipFill>
                <a:blip r:embed="rId2"/>
                <a:stretch>
                  <a:fillRect l="-1044" t="-1848" r="-116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F64DE4D-1FE9-4EBD-964F-B7097F479C0D}"/>
                  </a:ext>
                </a:extLst>
              </p:cNvPr>
              <p:cNvSpPr txBox="1"/>
              <p:nvPr/>
            </p:nvSpPr>
            <p:spPr>
              <a:xfrm>
                <a:off x="7019365" y="3983778"/>
                <a:ext cx="2118785" cy="2089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𝑝</m:t>
                      </m:r>
                      <m:d>
                        <m:dPr>
                          <m:ctrlPr>
                            <a:rPr lang="en-IN" b="0" i="1" smtClean="0">
                              <a:latin typeface="Cambria Math" panose="02040503050406030204" pitchFamily="18" charset="0"/>
                            </a:rPr>
                          </m:ctrlPr>
                        </m:dPr>
                        <m:e>
                          <m:r>
                            <a:rPr lang="en-IN" b="0" i="1" smtClean="0">
                              <a:latin typeface="Cambria Math" panose="02040503050406030204" pitchFamily="18" charset="0"/>
                            </a:rPr>
                            <m:t>𝑡</m:t>
                          </m:r>
                        </m:e>
                      </m:d>
                      <m:r>
                        <a:rPr lang="en-IN" b="0" i="1" smtClean="0">
                          <a:latin typeface="Cambria Math" panose="02040503050406030204" pitchFamily="18" charset="0"/>
                        </a:rPr>
                        <m:t>=</m:t>
                      </m:r>
                      <m:d>
                        <m:dPr>
                          <m:begChr m:val="["/>
                          <m:endChr m:val="]"/>
                          <m:ctrlPr>
                            <a:rPr lang="en-IN" b="0" i="1" smtClean="0">
                              <a:latin typeface="Cambria Math" panose="02040503050406030204" pitchFamily="18" charset="0"/>
                            </a:rPr>
                          </m:ctrlPr>
                        </m:dPr>
                        <m:e>
                          <m:m>
                            <m:mPr>
                              <m:mcs>
                                <m:mc>
                                  <m:mcPr>
                                    <m:count m:val="1"/>
                                    <m:mcJc m:val="center"/>
                                  </m:mcPr>
                                </m:mc>
                              </m:mcs>
                              <m:ctrlPr>
                                <a:rPr lang="en-IN" b="0" i="1" smtClean="0">
                                  <a:latin typeface="Cambria Math" panose="02040503050406030204" pitchFamily="18" charset="0"/>
                                </a:rPr>
                              </m:ctrlPr>
                            </m:mPr>
                            <m:mr>
                              <m:e>
                                <m:m>
                                  <m:mPr>
                                    <m:mcs>
                                      <m:mc>
                                        <m:mcPr>
                                          <m:count m:val="1"/>
                                          <m:mcJc m:val="center"/>
                                        </m:mcPr>
                                      </m:mc>
                                    </m:mcs>
                                    <m:ctrlPr>
                                      <a:rPr lang="en-IN" b="0" i="1" smtClean="0">
                                        <a:latin typeface="Cambria Math" panose="02040503050406030204" pitchFamily="18" charset="0"/>
                                      </a:rPr>
                                    </m:ctrlPr>
                                  </m:mPr>
                                  <m:mr>
                                    <m:e>
                                      <m:r>
                                        <m:rPr>
                                          <m:sty m:val="p"/>
                                          <m:brk m:alnAt="7"/>
                                        </m:rPr>
                                        <a:rPr lang="en-IN" b="0" i="0" smtClean="0">
                                          <a:latin typeface="Cambria Math" panose="02040503050406030204" pitchFamily="18" charset="0"/>
                                        </a:rPr>
                                        <m:t>s</m:t>
                                      </m:r>
                                      <m:r>
                                        <m:rPr>
                                          <m:sty m:val="p"/>
                                        </m:rPr>
                                        <a:rPr lang="en-IN" b="0" i="0" smtClean="0">
                                          <a:latin typeface="Cambria Math" panose="02040503050406030204" pitchFamily="18" charset="0"/>
                                        </a:rPr>
                                        <m:t>in</m:t>
                                      </m:r>
                                      <m:r>
                                        <m:rPr>
                                          <m:brk m:alnAt="7"/>
                                        </m:rPr>
                                        <a:rPr lang="en-IN" b="0" i="1" smtClean="0">
                                          <a:latin typeface="Cambria Math" panose="02040503050406030204" pitchFamily="18" charset="0"/>
                                        </a:rPr>
                                        <m:t>⁡</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𝜔</m:t>
                                          </m:r>
                                        </m:e>
                                        <m:sub>
                                          <m:r>
                                            <a:rPr lang="en-IN" b="0" i="1" smtClean="0">
                                              <a:latin typeface="Cambria Math" panose="02040503050406030204" pitchFamily="18" charset="0"/>
                                            </a:rPr>
                                            <m:t>1</m:t>
                                          </m:r>
                                        </m:sub>
                                      </m:sSub>
                                      <m:r>
                                        <m:rPr>
                                          <m:brk m:alnAt="7"/>
                                        </m:rPr>
                                        <a:rPr lang="en-IN" b="0" i="1" smtClean="0">
                                          <a:latin typeface="Cambria Math" panose="02040503050406030204" pitchFamily="18" charset="0"/>
                                        </a:rPr>
                                        <m:t>.</m:t>
                                      </m:r>
                                      <m:r>
                                        <a:rPr lang="en-IN" b="0" i="1" smtClean="0">
                                          <a:latin typeface="Cambria Math" panose="02040503050406030204" pitchFamily="18" charset="0"/>
                                        </a:rPr>
                                        <m:t>𝑡</m:t>
                                      </m:r>
                                      <m:r>
                                        <a:rPr lang="en-IN" b="0" i="1" smtClean="0">
                                          <a:latin typeface="Cambria Math" panose="02040503050406030204" pitchFamily="18" charset="0"/>
                                        </a:rPr>
                                        <m:t>)</m:t>
                                      </m:r>
                                    </m:e>
                                  </m:mr>
                                  <m:mr>
                                    <m:e>
                                      <m:func>
                                        <m:funcPr>
                                          <m:ctrlPr>
                                            <a:rPr lang="en-IN" b="0" i="1" smtClean="0">
                                              <a:latin typeface="Cambria Math" panose="02040503050406030204" pitchFamily="18" charset="0"/>
                                            </a:rPr>
                                          </m:ctrlPr>
                                        </m:funcPr>
                                        <m:fName>
                                          <m:r>
                                            <m:rPr>
                                              <m:sty m:val="p"/>
                                            </m:rPr>
                                            <a:rPr lang="en-IN" b="0" i="0" smtClean="0">
                                              <a:latin typeface="Cambria Math" panose="02040503050406030204" pitchFamily="18" charset="0"/>
                                            </a:rPr>
                                            <m:t>cos</m:t>
                                          </m:r>
                                        </m:fName>
                                        <m:e>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𝜔</m:t>
                                                  </m:r>
                                                </m:e>
                                                <m:sub>
                                                  <m:r>
                                                    <a:rPr lang="en-IN" b="0" i="1" smtClean="0">
                                                      <a:latin typeface="Cambria Math" panose="02040503050406030204" pitchFamily="18" charset="0"/>
                                                    </a:rPr>
                                                    <m:t>1</m:t>
                                                  </m:r>
                                                </m:sub>
                                              </m:sSub>
                                              <m:r>
                                                <a:rPr lang="en-IN" b="0" i="1" smtClean="0">
                                                  <a:latin typeface="Cambria Math" panose="02040503050406030204" pitchFamily="18" charset="0"/>
                                                </a:rPr>
                                                <m:t>.</m:t>
                                              </m:r>
                                              <m:r>
                                                <a:rPr lang="en-IN" b="0" i="1" smtClean="0">
                                                  <a:latin typeface="Cambria Math" panose="02040503050406030204" pitchFamily="18" charset="0"/>
                                                </a:rPr>
                                                <m:t>𝑡</m:t>
                                              </m:r>
                                            </m:e>
                                          </m:d>
                                        </m:e>
                                      </m:func>
                                    </m:e>
                                  </m:mr>
                                </m:m>
                              </m:e>
                            </m:mr>
                            <m:mr>
                              <m:e>
                                <m:m>
                                  <m:mPr>
                                    <m:mcs>
                                      <m:mc>
                                        <m:mcPr>
                                          <m:count m:val="1"/>
                                          <m:mcJc m:val="center"/>
                                        </m:mcPr>
                                      </m:mc>
                                    </m:mcs>
                                    <m:ctrlPr>
                                      <a:rPr lang="en-IN" b="0" i="1" smtClean="0">
                                        <a:latin typeface="Cambria Math" panose="02040503050406030204" pitchFamily="18" charset="0"/>
                                      </a:rPr>
                                    </m:ctrlPr>
                                  </m:mPr>
                                  <m:mr>
                                    <m:e>
                                      <m:r>
                                        <m:rPr>
                                          <m:sty m:val="p"/>
                                          <m:brk m:alnAt="7"/>
                                        </m:rPr>
                                        <a:rPr lang="en-IN" b="0" i="0" smtClean="0">
                                          <a:latin typeface="Cambria Math" panose="02040503050406030204" pitchFamily="18" charset="0"/>
                                        </a:rPr>
                                        <m:t>s</m:t>
                                      </m:r>
                                      <m:r>
                                        <m:rPr>
                                          <m:sty m:val="p"/>
                                        </m:rPr>
                                        <a:rPr lang="en-IN" b="0" i="0" smtClean="0">
                                          <a:latin typeface="Cambria Math" panose="02040503050406030204" pitchFamily="18" charset="0"/>
                                        </a:rPr>
                                        <m:t>in</m:t>
                                      </m:r>
                                      <m:r>
                                        <m:rPr>
                                          <m:brk m:alnAt="7"/>
                                        </m:rPr>
                                        <a:rPr lang="en-IN" b="0" i="1" smtClean="0">
                                          <a:latin typeface="Cambria Math" panose="02040503050406030204" pitchFamily="18" charset="0"/>
                                        </a:rPr>
                                        <m:t>⁡</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𝜔</m:t>
                                          </m:r>
                                        </m:e>
                                        <m:sub>
                                          <m:r>
                                            <a:rPr lang="en-IN" b="0" i="1" smtClean="0">
                                              <a:latin typeface="Cambria Math" panose="02040503050406030204" pitchFamily="18" charset="0"/>
                                              <a:ea typeface="Cambria Math" panose="02040503050406030204" pitchFamily="18" charset="0"/>
                                            </a:rPr>
                                            <m:t>2</m:t>
                                          </m:r>
                                        </m:sub>
                                      </m:sSub>
                                      <m:r>
                                        <m:rPr>
                                          <m:brk m:alnAt="7"/>
                                        </m:rPr>
                                        <a:rPr lang="en-IN" b="0" i="1" smtClean="0">
                                          <a:latin typeface="Cambria Math" panose="02040503050406030204" pitchFamily="18" charset="0"/>
                                        </a:rPr>
                                        <m:t>.</m:t>
                                      </m:r>
                                      <m:r>
                                        <a:rPr lang="en-IN" b="0" i="1" smtClean="0">
                                          <a:latin typeface="Cambria Math" panose="02040503050406030204" pitchFamily="18" charset="0"/>
                                        </a:rPr>
                                        <m:t>𝑡</m:t>
                                      </m:r>
                                      <m:r>
                                        <a:rPr lang="en-IN" b="0" i="1" smtClean="0">
                                          <a:latin typeface="Cambria Math" panose="02040503050406030204" pitchFamily="18" charset="0"/>
                                        </a:rPr>
                                        <m:t>)</m:t>
                                      </m:r>
                                    </m:e>
                                  </m:mr>
                                  <m:mr>
                                    <m:e>
                                      <m:func>
                                        <m:funcPr>
                                          <m:ctrlPr>
                                            <a:rPr lang="en-IN" b="0" i="1" smtClean="0">
                                              <a:latin typeface="Cambria Math" panose="02040503050406030204" pitchFamily="18" charset="0"/>
                                            </a:rPr>
                                          </m:ctrlPr>
                                        </m:funcPr>
                                        <m:fName>
                                          <m:r>
                                            <m:rPr>
                                              <m:sty m:val="p"/>
                                            </m:rPr>
                                            <a:rPr lang="en-IN" b="0" i="0" smtClean="0">
                                              <a:latin typeface="Cambria Math" panose="02040503050406030204" pitchFamily="18" charset="0"/>
                                            </a:rPr>
                                            <m:t>cos</m:t>
                                          </m:r>
                                        </m:fName>
                                        <m:e>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𝜔</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𝑡</m:t>
                                              </m:r>
                                            </m:e>
                                          </m:d>
                                        </m:e>
                                      </m:func>
                                    </m:e>
                                  </m:mr>
                                </m:m>
                              </m:e>
                            </m:mr>
                            <m:mr>
                              <m:e>
                                <m:m>
                                  <m:mPr>
                                    <m:mcs>
                                      <m:mc>
                                        <m:mcPr>
                                          <m:count m:val="1"/>
                                          <m:mcJc m:val="center"/>
                                        </m:mcPr>
                                      </m:mc>
                                    </m:mcs>
                                    <m:ctrlPr>
                                      <a:rPr lang="en-IN" b="0" i="1" smtClean="0">
                                        <a:latin typeface="Cambria Math" panose="02040503050406030204" pitchFamily="18" charset="0"/>
                                      </a:rPr>
                                    </m:ctrlPr>
                                  </m:mPr>
                                  <m:mr>
                                    <m:e>
                                      <m:m>
                                        <m:mPr>
                                          <m:mcs>
                                            <m:mc>
                                              <m:mcPr>
                                                <m:count m:val="1"/>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m:t>
                                            </m:r>
                                          </m:e>
                                        </m:mr>
                                        <m:mr>
                                          <m:e>
                                            <m:r>
                                              <m:rPr>
                                                <m:sty m:val="p"/>
                                                <m:brk m:alnAt="7"/>
                                              </m:rPr>
                                              <a:rPr lang="en-IN" b="0" i="0" smtClean="0">
                                                <a:latin typeface="Cambria Math" panose="02040503050406030204" pitchFamily="18" charset="0"/>
                                              </a:rPr>
                                              <m:t>s</m:t>
                                            </m:r>
                                            <m:r>
                                              <m:rPr>
                                                <m:sty m:val="p"/>
                                              </m:rPr>
                                              <a:rPr lang="en-IN" b="0" i="0" smtClean="0">
                                                <a:latin typeface="Cambria Math" panose="02040503050406030204" pitchFamily="18" charset="0"/>
                                              </a:rPr>
                                              <m:t>in</m:t>
                                            </m:r>
                                            <m:r>
                                              <m:rPr>
                                                <m:brk m:alnAt="7"/>
                                              </m:rPr>
                                              <a:rPr lang="en-IN" b="0" i="1" smtClean="0">
                                                <a:latin typeface="Cambria Math" panose="02040503050406030204" pitchFamily="18" charset="0"/>
                                              </a:rPr>
                                              <m:t>⁡</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𝜔</m:t>
                                                </m:r>
                                              </m:e>
                                              <m:sub>
                                                <m:r>
                                                  <a:rPr lang="en-IN" b="0" i="1" smtClean="0">
                                                    <a:latin typeface="Cambria Math" panose="02040503050406030204" pitchFamily="18" charset="0"/>
                                                    <a:ea typeface="Cambria Math" panose="02040503050406030204" pitchFamily="18" charset="0"/>
                                                  </a:rPr>
                                                  <m:t>𝑑</m:t>
                                                </m:r>
                                                <m:r>
                                                  <a:rPr lang="en-IN" b="0" i="1" smtClean="0">
                                                    <a:latin typeface="Cambria Math" panose="02040503050406030204" pitchFamily="18" charset="0"/>
                                                    <a:ea typeface="Cambria Math" panose="02040503050406030204" pitchFamily="18" charset="0"/>
                                                  </a:rPr>
                                                  <m:t>/2</m:t>
                                                </m:r>
                                              </m:sub>
                                            </m:sSub>
                                            <m:r>
                                              <m:rPr>
                                                <m:brk m:alnAt="7"/>
                                              </m:rPr>
                                              <a:rPr lang="en-IN" b="0" i="1" smtClean="0">
                                                <a:latin typeface="Cambria Math" panose="02040503050406030204" pitchFamily="18" charset="0"/>
                                              </a:rPr>
                                              <m:t>.</m:t>
                                            </m:r>
                                            <m:r>
                                              <a:rPr lang="en-IN" b="0" i="1" smtClean="0">
                                                <a:latin typeface="Cambria Math" panose="02040503050406030204" pitchFamily="18" charset="0"/>
                                              </a:rPr>
                                              <m:t>𝑡</m:t>
                                            </m:r>
                                            <m:r>
                                              <a:rPr lang="en-IN" b="0" i="1" smtClean="0">
                                                <a:latin typeface="Cambria Math" panose="02040503050406030204" pitchFamily="18" charset="0"/>
                                              </a:rPr>
                                              <m:t>)</m:t>
                                            </m:r>
                                          </m:e>
                                        </m:mr>
                                      </m:m>
                                    </m:e>
                                  </m:mr>
                                  <m:mr>
                                    <m:e>
                                      <m:func>
                                        <m:funcPr>
                                          <m:ctrlPr>
                                            <a:rPr lang="en-IN" b="0" i="1" smtClean="0">
                                              <a:latin typeface="Cambria Math" panose="02040503050406030204" pitchFamily="18" charset="0"/>
                                            </a:rPr>
                                          </m:ctrlPr>
                                        </m:funcPr>
                                        <m:fName>
                                          <m:r>
                                            <m:rPr>
                                              <m:sty m:val="p"/>
                                            </m:rPr>
                                            <a:rPr lang="en-IN" b="0" i="0" smtClean="0">
                                              <a:latin typeface="Cambria Math" panose="02040503050406030204" pitchFamily="18" charset="0"/>
                                            </a:rPr>
                                            <m:t>cos</m:t>
                                          </m:r>
                                        </m:fName>
                                        <m:e>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𝜔</m:t>
                                                  </m:r>
                                                </m:e>
                                                <m:sub>
                                                  <m:r>
                                                    <a:rPr lang="en-IN" b="0" i="1" smtClean="0">
                                                      <a:latin typeface="Cambria Math" panose="02040503050406030204" pitchFamily="18" charset="0"/>
                                                      <a:ea typeface="Cambria Math" panose="02040503050406030204" pitchFamily="18" charset="0"/>
                                                    </a:rPr>
                                                    <m:t>𝑑</m:t>
                                                  </m:r>
                                                  <m:r>
                                                    <a:rPr lang="en-IN" b="0" i="1" smtClean="0">
                                                      <a:latin typeface="Cambria Math" panose="02040503050406030204" pitchFamily="18" charset="0"/>
                                                      <a:ea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𝑡</m:t>
                                              </m:r>
                                            </m:e>
                                          </m:d>
                                        </m:e>
                                      </m:func>
                                    </m:e>
                                  </m:mr>
                                </m:m>
                              </m:e>
                            </m:mr>
                          </m:m>
                        </m:e>
                      </m:d>
                    </m:oMath>
                  </m:oMathPara>
                </a14:m>
                <a:endParaRPr lang="en-IN" dirty="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FF64DE4D-1FE9-4EBD-964F-B7097F479C0D}"/>
                  </a:ext>
                </a:extLst>
              </p:cNvPr>
              <p:cNvSpPr txBox="1">
                <a:spLocks noRot="1" noChangeAspect="1" noMove="1" noResize="1" noEditPoints="1" noAdjustHandles="1" noChangeArrowheads="1" noChangeShapeType="1" noTextEdit="1"/>
              </p:cNvSpPr>
              <p:nvPr/>
            </p:nvSpPr>
            <p:spPr>
              <a:xfrm>
                <a:off x="7019365" y="3983778"/>
                <a:ext cx="2118785" cy="208993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E2CCEAE-8292-437C-94EA-D0DFAA3BB85F}"/>
                  </a:ext>
                </a:extLst>
              </p:cNvPr>
              <p:cNvSpPr txBox="1"/>
              <p:nvPr/>
            </p:nvSpPr>
            <p:spPr>
              <a:xfrm>
                <a:off x="9045388" y="4804049"/>
                <a:ext cx="2707341" cy="629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𝑤h𝑒𝑟𝑒</m:t>
                      </m:r>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𝜔</m:t>
                          </m:r>
                        </m:e>
                        <m:sub>
                          <m:r>
                            <a:rPr lang="en-IN" b="0" i="1" smtClean="0">
                              <a:latin typeface="Cambria Math" panose="02040503050406030204" pitchFamily="18" charset="0"/>
                            </a:rPr>
                            <m:t>𝑘</m:t>
                          </m:r>
                        </m:sub>
                      </m:sSub>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sSup>
                            <m:sSupPr>
                              <m:ctrlPr>
                                <a:rPr lang="en-IN" b="0" i="1" smtClean="0">
                                  <a:latin typeface="Cambria Math" panose="02040503050406030204" pitchFamily="18" charset="0"/>
                                </a:rPr>
                              </m:ctrlPr>
                            </m:sSupPr>
                            <m:e>
                              <m:r>
                                <a:rPr lang="en-IN" b="0" i="1" smtClean="0">
                                  <a:latin typeface="Cambria Math" panose="02040503050406030204" pitchFamily="18" charset="0"/>
                                </a:rPr>
                                <m:t>1000</m:t>
                              </m:r>
                            </m:e>
                            <m:sup>
                              <m:r>
                                <a:rPr lang="en-IN" b="0" i="1" smtClean="0">
                                  <a:latin typeface="Cambria Math" panose="02040503050406030204" pitchFamily="18" charset="0"/>
                                </a:rPr>
                                <m:t>2</m:t>
                              </m:r>
                              <m:r>
                                <a:rPr lang="en-IN" b="0" i="1" smtClean="0">
                                  <a:latin typeface="Cambria Math" panose="02040503050406030204" pitchFamily="18" charset="0"/>
                                </a:rPr>
                                <m:t>𝑘</m:t>
                              </m:r>
                              <m:r>
                                <a:rPr lang="en-IN" b="0" i="1" smtClean="0">
                                  <a:latin typeface="Cambria Math" panose="02040503050406030204" pitchFamily="18" charset="0"/>
                                </a:rPr>
                                <m:t>/</m:t>
                              </m:r>
                              <m:r>
                                <a:rPr lang="en-IN" b="0" i="1" smtClean="0">
                                  <a:latin typeface="Cambria Math" panose="02040503050406030204" pitchFamily="18" charset="0"/>
                                </a:rPr>
                                <m:t>𝑑</m:t>
                              </m:r>
                            </m:sup>
                          </m:sSup>
                        </m:den>
                      </m:f>
                    </m:oMath>
                  </m:oMathPara>
                </a14:m>
                <a:endParaRPr lang="en-IN" dirty="0">
                  <a:latin typeface="Arial Narrow" panose="020B0606020202030204" pitchFamily="34" charset="0"/>
                </a:endParaRPr>
              </a:p>
            </p:txBody>
          </p:sp>
        </mc:Choice>
        <mc:Fallback xmlns="">
          <p:sp>
            <p:nvSpPr>
              <p:cNvPr id="5" name="TextBox 4">
                <a:extLst>
                  <a:ext uri="{FF2B5EF4-FFF2-40B4-BE49-F238E27FC236}">
                    <a16:creationId xmlns:a16="http://schemas.microsoft.com/office/drawing/2014/main" id="{4E2CCEAE-8292-437C-94EA-D0DFAA3BB85F}"/>
                  </a:ext>
                </a:extLst>
              </p:cNvPr>
              <p:cNvSpPr txBox="1">
                <a:spLocks noRot="1" noChangeAspect="1" noMove="1" noResize="1" noEditPoints="1" noAdjustHandles="1" noChangeArrowheads="1" noChangeShapeType="1" noTextEdit="1"/>
              </p:cNvSpPr>
              <p:nvPr/>
            </p:nvSpPr>
            <p:spPr>
              <a:xfrm>
                <a:off x="9045388" y="4804049"/>
                <a:ext cx="2707341" cy="629596"/>
              </a:xfrm>
              <a:prstGeom prst="rect">
                <a:avLst/>
              </a:prstGeom>
              <a:blipFill>
                <a:blip r:embed="rId4"/>
                <a:stretch>
                  <a:fillRect/>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AA59B197-D58A-4328-894D-8B2397C93EF0}"/>
              </a:ext>
            </a:extLst>
          </p:cNvPr>
          <p:cNvSpPr txBox="1"/>
          <p:nvPr/>
        </p:nvSpPr>
        <p:spPr>
          <a:xfrm>
            <a:off x="6096001" y="1723372"/>
            <a:ext cx="5486400" cy="2431435"/>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Options for </a:t>
            </a:r>
            <a:r>
              <a:rPr lang="en-IN" sz="2000" i="1" dirty="0" err="1">
                <a:latin typeface="Arial Narrow" panose="020B0606020202030204" pitchFamily="34" charset="0"/>
                <a:cs typeface="Times New Roman" panose="02020603050405020304" pitchFamily="18" charset="0"/>
              </a:rPr>
              <a:t>pos</a:t>
            </a:r>
            <a:r>
              <a:rPr lang="en-IN" sz="2000" dirty="0">
                <a:latin typeface="Arial Narrow" panose="020B0606020202030204" pitchFamily="34" charset="0"/>
                <a:cs typeface="Times New Roman" panose="02020603050405020304" pitchFamily="18" charset="0"/>
              </a:rPr>
              <a:t>(.)</a:t>
            </a:r>
          </a:p>
          <a:p>
            <a:endParaRPr lang="en-IN" sz="2000" dirty="0">
              <a:latin typeface="Arial Narrow" panose="020B0606020202030204" pitchFamily="34" charset="0"/>
              <a:cs typeface="Times New Roman" panose="02020603050405020304" pitchFamily="18" charset="0"/>
            </a:endParaRPr>
          </a:p>
          <a:p>
            <a:pPr lvl="1" algn="just"/>
            <a:r>
              <a:rPr lang="en-US" sz="2000" dirty="0">
                <a:latin typeface="Arial Narrow" panose="020B0606020202030204" pitchFamily="34" charset="0"/>
                <a:cs typeface="Times New Roman" panose="02020603050405020304" pitchFamily="18" charset="0"/>
              </a:rPr>
              <a:t>1. Learn a lookup table:</a:t>
            </a:r>
          </a:p>
          <a:p>
            <a:pPr lvl="2" algn="just"/>
            <a:r>
              <a:rPr lang="en-US" dirty="0">
                <a:latin typeface="Arial Narrow" panose="020B0606020202030204" pitchFamily="34" charset="0"/>
                <a:cs typeface="Times New Roman" panose="02020603050405020304" pitchFamily="18" charset="0"/>
              </a:rPr>
              <a:t>Learn parameters to use for </a:t>
            </a:r>
            <a:r>
              <a:rPr lang="en-US" i="1" dirty="0">
                <a:latin typeface="Arial Narrow" panose="020B0606020202030204" pitchFamily="34" charset="0"/>
                <a:cs typeface="Times New Roman" panose="02020603050405020304" pitchFamily="18" charset="0"/>
              </a:rPr>
              <a:t>pos</a:t>
            </a:r>
            <a:r>
              <a:rPr lang="en-US" dirty="0">
                <a:latin typeface="Arial Narrow" panose="020B0606020202030204" pitchFamily="34" charset="0"/>
                <a:cs typeface="Times New Roman" panose="02020603050405020304" pitchFamily="18" charset="0"/>
              </a:rPr>
              <a:t>(t) for t ε [0, T)</a:t>
            </a:r>
          </a:p>
          <a:p>
            <a:pPr lvl="2" algn="just"/>
            <a:r>
              <a:rPr lang="en-IN" dirty="0">
                <a:latin typeface="Arial Narrow" panose="020B0606020202030204" pitchFamily="34" charset="0"/>
                <a:cs typeface="Times New Roman" panose="02020603050405020304" pitchFamily="18" charset="0"/>
              </a:rPr>
              <a:t>Lookup table contains T x d parameters.</a:t>
            </a:r>
          </a:p>
          <a:p>
            <a:pPr lvl="2" algn="just"/>
            <a:endParaRPr lang="en-IN" dirty="0">
              <a:latin typeface="Arial Narrow" panose="020B0606020202030204" pitchFamily="34" charset="0"/>
              <a:cs typeface="Times New Roman" panose="02020603050405020304" pitchFamily="18" charset="0"/>
            </a:endParaRPr>
          </a:p>
          <a:p>
            <a:pPr lvl="1" algn="just"/>
            <a:r>
              <a:rPr lang="en-US" sz="2000" dirty="0">
                <a:latin typeface="Arial Narrow" panose="020B0606020202030204" pitchFamily="34" charset="0"/>
                <a:cs typeface="Times New Roman" panose="02020603050405020304" pitchFamily="18" charset="0"/>
              </a:rPr>
              <a:t>2. Design a fixed function with the desiderata</a:t>
            </a:r>
            <a:endParaRPr lang="en-IN" sz="2000" dirty="0">
              <a:latin typeface="Arial Narrow" panose="020B0606020202030204" pitchFamily="34" charset="0"/>
              <a:cs typeface="Times New Roman" panose="02020603050405020304" pitchFamily="18" charset="0"/>
            </a:endParaRPr>
          </a:p>
          <a:p>
            <a:endParaRPr lang="en-IN" dirty="0">
              <a:latin typeface="Arial Narrow" panose="020B0606020202030204" pitchFamily="34" charset="0"/>
            </a:endParaRPr>
          </a:p>
        </p:txBody>
      </p:sp>
      <p:sp>
        <p:nvSpPr>
          <p:cNvPr id="7" name="TextBox 6">
            <a:extLst>
              <a:ext uri="{FF2B5EF4-FFF2-40B4-BE49-F238E27FC236}">
                <a16:creationId xmlns:a16="http://schemas.microsoft.com/office/drawing/2014/main" id="{ABD7B0F4-DBEF-46F6-B7A1-8E715C5FF912}"/>
              </a:ext>
            </a:extLst>
          </p:cNvPr>
          <p:cNvSpPr txBox="1"/>
          <p:nvPr/>
        </p:nvSpPr>
        <p:spPr>
          <a:xfrm>
            <a:off x="586153" y="390001"/>
            <a:ext cx="6096000" cy="954107"/>
          </a:xfrm>
          <a:prstGeom prst="rect">
            <a:avLst/>
          </a:prstGeom>
          <a:noFill/>
        </p:spPr>
        <p:txBody>
          <a:bodyPr wrap="square">
            <a:spAutoFit/>
          </a:bodyPr>
          <a:lstStyle/>
          <a:p>
            <a:r>
              <a:rPr lang="en-IN" sz="3200" dirty="0">
                <a:latin typeface="Century" panose="02040604050505020304" pitchFamily="18" charset="0"/>
              </a:rPr>
              <a:t>Transformer Architecture</a:t>
            </a:r>
          </a:p>
          <a:p>
            <a:r>
              <a:rPr lang="en-IN" sz="2400" dirty="0">
                <a:latin typeface="Century" panose="02040604050505020304" pitchFamily="18" charset="0"/>
              </a:rPr>
              <a:t>Positional Encoding</a:t>
            </a:r>
          </a:p>
        </p:txBody>
      </p:sp>
      <p:sp>
        <p:nvSpPr>
          <p:cNvPr id="8" name="TextBox 7">
            <a:extLst>
              <a:ext uri="{FF2B5EF4-FFF2-40B4-BE49-F238E27FC236}">
                <a16:creationId xmlns:a16="http://schemas.microsoft.com/office/drawing/2014/main" id="{48EEC383-64C4-4FB1-BE5F-6DE1A18EE4B7}"/>
              </a:ext>
            </a:extLst>
          </p:cNvPr>
          <p:cNvSpPr txBox="1"/>
          <p:nvPr/>
        </p:nvSpPr>
        <p:spPr>
          <a:xfrm>
            <a:off x="7540999" y="6445952"/>
            <a:ext cx="4337237" cy="276999"/>
          </a:xfrm>
          <a:prstGeom prst="rect">
            <a:avLst/>
          </a:prstGeom>
          <a:noFill/>
        </p:spPr>
        <p:txBody>
          <a:bodyPr wrap="square" rtlCol="0">
            <a:spAutoFit/>
          </a:bodyPr>
          <a:lstStyle/>
          <a:p>
            <a:r>
              <a:rPr lang="en-IN" sz="1200" dirty="0">
                <a:latin typeface="Arial Narrow" panose="020B0606020202030204" pitchFamily="34" charset="0"/>
                <a:cs typeface="Times New Roman" panose="02020603050405020304" pitchFamily="18" charset="0"/>
              </a:rPr>
              <a:t>Concept: Fei-Fei Li Attention and Transformers CS231n Stanford Lecture</a:t>
            </a:r>
          </a:p>
        </p:txBody>
      </p:sp>
    </p:spTree>
    <p:extLst>
      <p:ext uri="{BB962C8B-B14F-4D97-AF65-F5344CB8AC3E}">
        <p14:creationId xmlns:p14="http://schemas.microsoft.com/office/powerpoint/2010/main" val="1071037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8C28C4F5-59BB-7C2B-9E5D-3AF0CBBFDBDB}"/>
              </a:ext>
            </a:extLst>
          </p:cNvPr>
          <p:cNvSpPr txBox="1"/>
          <p:nvPr/>
        </p:nvSpPr>
        <p:spPr>
          <a:xfrm>
            <a:off x="544835" y="219876"/>
            <a:ext cx="5461518" cy="954107"/>
          </a:xfrm>
          <a:prstGeom prst="rect">
            <a:avLst/>
          </a:prstGeom>
          <a:noFill/>
        </p:spPr>
        <p:txBody>
          <a:bodyPr wrap="square" rtlCol="0">
            <a:spAutoFit/>
          </a:bodyPr>
          <a:lstStyle>
            <a:defPPr>
              <a:defRPr lang="en-US"/>
            </a:defPPr>
            <a:lvl1pPr>
              <a:defRPr sz="3200">
                <a:solidFill>
                  <a:srgbClr val="C00000"/>
                </a:solidFill>
                <a:latin typeface="Book Antiqua" panose="02040602050305030304" pitchFamily="18" charset="0"/>
              </a:defRPr>
            </a:lvl1pPr>
          </a:lstStyle>
          <a:p>
            <a:r>
              <a:rPr lang="en-US" dirty="0">
                <a:solidFill>
                  <a:schemeClr val="tx1"/>
                </a:solidFill>
                <a:latin typeface="Century" panose="02040604050505020304" pitchFamily="18" charset="0"/>
              </a:rPr>
              <a:t>Full Encoder at a glance</a:t>
            </a:r>
          </a:p>
          <a:p>
            <a:r>
              <a:rPr lang="en-US" sz="2400" dirty="0">
                <a:solidFill>
                  <a:schemeClr val="tx1"/>
                </a:solidFill>
                <a:latin typeface="Century" panose="02040604050505020304" pitchFamily="18" charset="0"/>
                <a:cs typeface="Times New Roman" panose="02020603050405020304" pitchFamily="18" charset="0"/>
              </a:rPr>
              <a:t>Input to Encoder</a:t>
            </a:r>
            <a:endParaRPr lang="en-IN" sz="2400" dirty="0">
              <a:solidFill>
                <a:schemeClr val="tx1"/>
              </a:solidFill>
              <a:latin typeface="Century" panose="02040604050505020304" pitchFamily="18" charset="0"/>
            </a:endParaRPr>
          </a:p>
        </p:txBody>
      </p:sp>
      <p:sp>
        <p:nvSpPr>
          <p:cNvPr id="19" name="TextBox 18">
            <a:extLst>
              <a:ext uri="{FF2B5EF4-FFF2-40B4-BE49-F238E27FC236}">
                <a16:creationId xmlns:a16="http://schemas.microsoft.com/office/drawing/2014/main" id="{9EF45905-DB18-49B6-9565-CE8D8F1375A9}"/>
              </a:ext>
            </a:extLst>
          </p:cNvPr>
          <p:cNvSpPr txBox="1"/>
          <p:nvPr/>
        </p:nvSpPr>
        <p:spPr>
          <a:xfrm>
            <a:off x="1691096" y="2500495"/>
            <a:ext cx="46079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Is</a:t>
            </a:r>
            <a:endParaRPr lang="en-IN" baseline="-25000" dirty="0">
              <a:latin typeface="Times New Roman" panose="02020603050405020304" pitchFamily="18" charset="0"/>
              <a:cs typeface="Times New Roman" panose="02020603050405020304" pitchFamily="18" charset="0"/>
            </a:endParaRPr>
          </a:p>
        </p:txBody>
      </p:sp>
      <p:sp>
        <p:nvSpPr>
          <p:cNvPr id="20" name="Rounded Rectangle 19"/>
          <p:cNvSpPr/>
          <p:nvPr/>
        </p:nvSpPr>
        <p:spPr>
          <a:xfrm>
            <a:off x="1651401" y="2522653"/>
            <a:ext cx="525465" cy="340248"/>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9EF45905-DB18-49B6-9565-CE8D8F1375A9}"/>
              </a:ext>
            </a:extLst>
          </p:cNvPr>
          <p:cNvSpPr txBox="1"/>
          <p:nvPr/>
        </p:nvSpPr>
        <p:spPr>
          <a:xfrm>
            <a:off x="1572737" y="3224623"/>
            <a:ext cx="77101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mac</a:t>
            </a:r>
            <a:endParaRPr lang="en-IN" baseline="-25000" dirty="0">
              <a:latin typeface="Times New Roman" panose="02020603050405020304" pitchFamily="18" charset="0"/>
              <a:cs typeface="Times New Roman" panose="02020603050405020304" pitchFamily="18" charset="0"/>
            </a:endParaRPr>
          </a:p>
        </p:txBody>
      </p:sp>
      <p:sp>
        <p:nvSpPr>
          <p:cNvPr id="22" name="Rounded Rectangle 21"/>
          <p:cNvSpPr/>
          <p:nvPr/>
        </p:nvSpPr>
        <p:spPr>
          <a:xfrm>
            <a:off x="1525469" y="3259844"/>
            <a:ext cx="655618" cy="347133"/>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9EF45905-DB18-49B6-9565-CE8D8F1375A9}"/>
              </a:ext>
            </a:extLst>
          </p:cNvPr>
          <p:cNvSpPr txBox="1"/>
          <p:nvPr/>
        </p:nvSpPr>
        <p:spPr>
          <a:xfrm>
            <a:off x="1624318" y="4731964"/>
            <a:ext cx="636780" cy="369332"/>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mé</a:t>
            </a:r>
            <a:endParaRPr lang="en-IN" dirty="0">
              <a:latin typeface="Times New Roman" panose="02020603050405020304" pitchFamily="18" charset="0"/>
              <a:cs typeface="Times New Roman" panose="02020603050405020304" pitchFamily="18" charset="0"/>
            </a:endParaRPr>
          </a:p>
        </p:txBody>
      </p:sp>
      <p:cxnSp>
        <p:nvCxnSpPr>
          <p:cNvPr id="24" name="Straight Arrow Connector 23"/>
          <p:cNvCxnSpPr>
            <a:stCxn id="20" idx="3"/>
            <a:endCxn id="43" idx="1"/>
          </p:cNvCxnSpPr>
          <p:nvPr/>
        </p:nvCxnSpPr>
        <p:spPr>
          <a:xfrm flipV="1">
            <a:off x="2176866" y="2690104"/>
            <a:ext cx="318146" cy="267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7" idx="3"/>
            <a:endCxn id="49" idx="1"/>
          </p:cNvCxnSpPr>
          <p:nvPr/>
        </p:nvCxnSpPr>
        <p:spPr>
          <a:xfrm flipV="1">
            <a:off x="2175241" y="4193597"/>
            <a:ext cx="319770" cy="490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524968" y="4115903"/>
            <a:ext cx="848621" cy="203133"/>
          </a:xfrm>
          <a:prstGeom prst="rect">
            <a:avLst/>
          </a:prstGeom>
          <a:noFill/>
        </p:spPr>
        <p:txBody>
          <a:bodyPr wrap="square" rtlCol="0">
            <a:spAutoFit/>
          </a:bodyPr>
          <a:lstStyle/>
          <a:p>
            <a:pPr>
              <a:lnSpc>
                <a:spcPct val="40000"/>
              </a:lnSpc>
            </a:pPr>
            <a:r>
              <a:rPr lang="en-IN" dirty="0">
                <a:latin typeface="Times New Roman" panose="02020603050405020304" pitchFamily="18" charset="0"/>
                <a:cs typeface="Times New Roman" panose="02020603050405020304" pitchFamily="18" charset="0"/>
              </a:rPr>
              <a:t>léinn</a:t>
            </a:r>
          </a:p>
        </p:txBody>
      </p:sp>
      <p:sp>
        <p:nvSpPr>
          <p:cNvPr id="27" name="Rounded Rectangle 26"/>
          <p:cNvSpPr/>
          <p:nvPr/>
        </p:nvSpPr>
        <p:spPr>
          <a:xfrm>
            <a:off x="1511299" y="4020639"/>
            <a:ext cx="663942" cy="355719"/>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28" name="Straight Arrow Connector 27"/>
          <p:cNvCxnSpPr>
            <a:stCxn id="22" idx="3"/>
            <a:endCxn id="46" idx="1"/>
          </p:cNvCxnSpPr>
          <p:nvPr/>
        </p:nvCxnSpPr>
        <p:spPr>
          <a:xfrm flipV="1">
            <a:off x="2181087" y="3428440"/>
            <a:ext cx="314699" cy="497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Rounded Rectangle 28"/>
          <p:cNvSpPr/>
          <p:nvPr/>
        </p:nvSpPr>
        <p:spPr>
          <a:xfrm>
            <a:off x="1614523" y="4780130"/>
            <a:ext cx="560719" cy="330175"/>
          </a:xfrm>
          <a:prstGeom prst="roundRect">
            <a:avLst/>
          </a:prstGeom>
          <a:noFill/>
          <a:ln w="9525">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cxnSp>
        <p:nvCxnSpPr>
          <p:cNvPr id="30" name="Straight Arrow Connector 29"/>
          <p:cNvCxnSpPr>
            <a:stCxn id="29" idx="3"/>
            <a:endCxn id="52" idx="1"/>
          </p:cNvCxnSpPr>
          <p:nvPr/>
        </p:nvCxnSpPr>
        <p:spPr>
          <a:xfrm flipV="1">
            <a:off x="2175241" y="4942287"/>
            <a:ext cx="319770" cy="293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2495011" y="2441762"/>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p:cNvSpPr/>
          <p:nvPr/>
        </p:nvSpPr>
        <p:spPr>
          <a:xfrm>
            <a:off x="2495786" y="3180098"/>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48"/>
          <p:cNvSpPr/>
          <p:nvPr/>
        </p:nvSpPr>
        <p:spPr>
          <a:xfrm>
            <a:off x="2495011" y="3945255"/>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51"/>
          <p:cNvSpPr/>
          <p:nvPr/>
        </p:nvSpPr>
        <p:spPr>
          <a:xfrm>
            <a:off x="2495011" y="4693945"/>
            <a:ext cx="164492" cy="496685"/>
          </a:xfrm>
          <a:prstGeom prst="rect">
            <a:avLst/>
          </a:prstGeom>
          <a:solidFill>
            <a:schemeClr val="accent4">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Plus 87"/>
          <p:cNvSpPr/>
          <p:nvPr/>
        </p:nvSpPr>
        <p:spPr>
          <a:xfrm>
            <a:off x="2699144" y="2606308"/>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Plus 88"/>
          <p:cNvSpPr/>
          <p:nvPr/>
        </p:nvSpPr>
        <p:spPr>
          <a:xfrm>
            <a:off x="2694720" y="3344643"/>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Plus 89"/>
          <p:cNvSpPr/>
          <p:nvPr/>
        </p:nvSpPr>
        <p:spPr>
          <a:xfrm>
            <a:off x="2694133" y="4081461"/>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Plus 90"/>
          <p:cNvSpPr/>
          <p:nvPr/>
        </p:nvSpPr>
        <p:spPr>
          <a:xfrm>
            <a:off x="2697146" y="4858490"/>
            <a:ext cx="167755" cy="173455"/>
          </a:xfrm>
          <a:prstGeom prst="mathPlus">
            <a:avLst>
              <a:gd name="adj1" fmla="val 4770"/>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Rectangle 99"/>
          <p:cNvSpPr/>
          <p:nvPr/>
        </p:nvSpPr>
        <p:spPr>
          <a:xfrm>
            <a:off x="2923467" y="2441762"/>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Rectangle 100"/>
          <p:cNvSpPr/>
          <p:nvPr/>
        </p:nvSpPr>
        <p:spPr>
          <a:xfrm>
            <a:off x="2924241" y="3180098"/>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Rectangle 101"/>
          <p:cNvSpPr/>
          <p:nvPr/>
        </p:nvSpPr>
        <p:spPr>
          <a:xfrm>
            <a:off x="2923467" y="3945255"/>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Rectangle 102"/>
          <p:cNvSpPr/>
          <p:nvPr/>
        </p:nvSpPr>
        <p:spPr>
          <a:xfrm>
            <a:off x="2923467" y="4693945"/>
            <a:ext cx="164492" cy="496685"/>
          </a:xfrm>
          <a:prstGeom prst="rect">
            <a:avLst/>
          </a:prstGeom>
          <a:solidFill>
            <a:schemeClr val="accent1">
              <a:lumMod val="40000"/>
              <a:lumOff val="60000"/>
            </a:schemeClr>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2" name="Straight Arrow Connector 111"/>
          <p:cNvCxnSpPr>
            <a:endCxn id="116" idx="1"/>
          </p:cNvCxnSpPr>
          <p:nvPr/>
        </p:nvCxnSpPr>
        <p:spPr>
          <a:xfrm flipV="1">
            <a:off x="3084512" y="2695008"/>
            <a:ext cx="318146" cy="2674"/>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endCxn id="118" idx="1"/>
          </p:cNvCxnSpPr>
          <p:nvPr/>
        </p:nvCxnSpPr>
        <p:spPr>
          <a:xfrm flipV="1">
            <a:off x="3082888" y="4198501"/>
            <a:ext cx="319770" cy="490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endCxn id="117" idx="1"/>
          </p:cNvCxnSpPr>
          <p:nvPr/>
        </p:nvCxnSpPr>
        <p:spPr>
          <a:xfrm flipV="1">
            <a:off x="3088734" y="3433344"/>
            <a:ext cx="314699" cy="497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endCxn id="119" idx="1"/>
          </p:cNvCxnSpPr>
          <p:nvPr/>
        </p:nvCxnSpPr>
        <p:spPr>
          <a:xfrm flipV="1">
            <a:off x="3082888" y="4947191"/>
            <a:ext cx="319770" cy="293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6" name="Rectangle 115"/>
          <p:cNvSpPr/>
          <p:nvPr/>
        </p:nvSpPr>
        <p:spPr>
          <a:xfrm>
            <a:off x="3402658" y="2446666"/>
            <a:ext cx="164492" cy="49668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Rectangle 116"/>
          <p:cNvSpPr/>
          <p:nvPr/>
        </p:nvSpPr>
        <p:spPr>
          <a:xfrm>
            <a:off x="3403432" y="3185002"/>
            <a:ext cx="164492" cy="49668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Rectangle 117"/>
          <p:cNvSpPr/>
          <p:nvPr/>
        </p:nvSpPr>
        <p:spPr>
          <a:xfrm>
            <a:off x="3402658" y="3950159"/>
            <a:ext cx="164492" cy="49668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Rectangle 118"/>
          <p:cNvSpPr/>
          <p:nvPr/>
        </p:nvSpPr>
        <p:spPr>
          <a:xfrm>
            <a:off x="3402658" y="4698849"/>
            <a:ext cx="164492" cy="496685"/>
          </a:xfrm>
          <a:prstGeom prst="rect">
            <a:avLst/>
          </a:prstGeom>
          <a:solidFill>
            <a:srgbClr val="92D050">
              <a:alpha val="70000"/>
            </a:srgbClr>
          </a:solidFill>
          <a:ln w="952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1" name="Straight Arrow Connector 120"/>
          <p:cNvCxnSpPr>
            <a:stCxn id="116" idx="3"/>
          </p:cNvCxnSpPr>
          <p:nvPr/>
        </p:nvCxnSpPr>
        <p:spPr>
          <a:xfrm flipV="1">
            <a:off x="3567150" y="2692718"/>
            <a:ext cx="324034" cy="229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p:nvPr/>
        </p:nvCxnSpPr>
        <p:spPr>
          <a:xfrm flipV="1">
            <a:off x="3570639" y="4190718"/>
            <a:ext cx="320544" cy="31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p:cNvCxnSpPr>
            <a:stCxn id="117" idx="3"/>
          </p:cNvCxnSpPr>
          <p:nvPr/>
        </p:nvCxnSpPr>
        <p:spPr>
          <a:xfrm>
            <a:off x="3567924" y="3433344"/>
            <a:ext cx="32325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a:stCxn id="119" idx="3"/>
          </p:cNvCxnSpPr>
          <p:nvPr/>
        </p:nvCxnSpPr>
        <p:spPr>
          <a:xfrm>
            <a:off x="3567150" y="4947191"/>
            <a:ext cx="324034"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168ABEAE-7EED-0371-3543-D8652B3854C2}"/>
              </a:ext>
            </a:extLst>
          </p:cNvPr>
          <p:cNvSpPr txBox="1"/>
          <p:nvPr/>
        </p:nvSpPr>
        <p:spPr>
          <a:xfrm>
            <a:off x="3044328" y="5302487"/>
            <a:ext cx="958215" cy="584775"/>
          </a:xfrm>
          <a:prstGeom prst="rect">
            <a:avLst/>
          </a:prstGeom>
          <a:noFill/>
        </p:spPr>
        <p:txBody>
          <a:bodyPr wrap="square" rtlCol="0">
            <a:spAutoFit/>
          </a:bodyPr>
          <a:lstStyle/>
          <a:p>
            <a:pPr algn="ctr"/>
            <a:r>
              <a:rPr lang="en-US" sz="1600" dirty="0">
                <a:solidFill>
                  <a:srgbClr val="C00000"/>
                </a:solidFill>
                <a:latin typeface="Times New Roman" panose="02020603050405020304" pitchFamily="18" charset="0"/>
                <a:cs typeface="Times New Roman" panose="02020603050405020304" pitchFamily="18" charset="0"/>
              </a:rPr>
              <a:t>Input to encoder</a:t>
            </a:r>
            <a:endParaRPr lang="en-IN" sz="1600" dirty="0">
              <a:solidFill>
                <a:srgbClr val="C00000"/>
              </a:solidFill>
              <a:latin typeface="Times New Roman" panose="02020603050405020304" pitchFamily="18" charset="0"/>
              <a:cs typeface="Times New Roman" panose="02020603050405020304" pitchFamily="18" charset="0"/>
            </a:endParaRPr>
          </a:p>
        </p:txBody>
      </p:sp>
      <p:sp>
        <p:nvSpPr>
          <p:cNvPr id="252" name="TextBox 251">
            <a:extLst>
              <a:ext uri="{FF2B5EF4-FFF2-40B4-BE49-F238E27FC236}">
                <a16:creationId xmlns:a16="http://schemas.microsoft.com/office/drawing/2014/main" id="{168ABEAE-7EED-0371-3543-D8652B3854C2}"/>
              </a:ext>
            </a:extLst>
          </p:cNvPr>
          <p:cNvSpPr txBox="1"/>
          <p:nvPr/>
        </p:nvSpPr>
        <p:spPr>
          <a:xfrm>
            <a:off x="2401064" y="1730628"/>
            <a:ext cx="1205972" cy="584775"/>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Positional Encoding</a:t>
            </a:r>
            <a:endParaRPr lang="en-IN" sz="1600" dirty="0">
              <a:latin typeface="Times New Roman" panose="02020603050405020304" pitchFamily="18" charset="0"/>
              <a:cs typeface="Times New Roman" panose="02020603050405020304" pitchFamily="18" charset="0"/>
            </a:endParaRPr>
          </a:p>
        </p:txBody>
      </p:sp>
      <p:sp>
        <p:nvSpPr>
          <p:cNvPr id="253" name="Left Bracket 252"/>
          <p:cNvSpPr/>
          <p:nvPr/>
        </p:nvSpPr>
        <p:spPr>
          <a:xfrm rot="16200000">
            <a:off x="3415339" y="5125622"/>
            <a:ext cx="130764" cy="334876"/>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54" name="Left Bracket 253"/>
          <p:cNvSpPr/>
          <p:nvPr/>
        </p:nvSpPr>
        <p:spPr>
          <a:xfrm rot="5400000">
            <a:off x="2940331" y="2192644"/>
            <a:ext cx="130764" cy="356566"/>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55" name="TextBox 254">
            <a:extLst>
              <a:ext uri="{FF2B5EF4-FFF2-40B4-BE49-F238E27FC236}">
                <a16:creationId xmlns:a16="http://schemas.microsoft.com/office/drawing/2014/main" id="{168ABEAE-7EED-0371-3543-D8652B3854C2}"/>
              </a:ext>
            </a:extLst>
          </p:cNvPr>
          <p:cNvSpPr txBox="1"/>
          <p:nvPr/>
        </p:nvSpPr>
        <p:spPr>
          <a:xfrm>
            <a:off x="1978769" y="5319621"/>
            <a:ext cx="1158765" cy="584775"/>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Word Embedding</a:t>
            </a:r>
            <a:endParaRPr lang="en-IN" sz="1600" dirty="0">
              <a:latin typeface="Times New Roman" panose="02020603050405020304" pitchFamily="18" charset="0"/>
              <a:cs typeface="Times New Roman" panose="02020603050405020304" pitchFamily="18" charset="0"/>
            </a:endParaRPr>
          </a:p>
        </p:txBody>
      </p:sp>
      <p:sp>
        <p:nvSpPr>
          <p:cNvPr id="256" name="Left Bracket 255"/>
          <p:cNvSpPr/>
          <p:nvPr/>
        </p:nvSpPr>
        <p:spPr>
          <a:xfrm rot="16200000">
            <a:off x="2523489" y="5067623"/>
            <a:ext cx="130764" cy="334876"/>
          </a:xfrm>
          <a:prstGeom prst="leftBracket">
            <a:avLst/>
          </a:pr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57" name="TextBox 256">
            <a:extLst>
              <a:ext uri="{FF2B5EF4-FFF2-40B4-BE49-F238E27FC236}">
                <a16:creationId xmlns:a16="http://schemas.microsoft.com/office/drawing/2014/main" id="{006765CC-8187-42FD-AE18-C69B87A97849}"/>
              </a:ext>
            </a:extLst>
          </p:cNvPr>
          <p:cNvSpPr txBox="1"/>
          <p:nvPr/>
        </p:nvSpPr>
        <p:spPr>
          <a:xfrm>
            <a:off x="6213411" y="6430775"/>
            <a:ext cx="5753100" cy="307777"/>
          </a:xfrm>
          <a:prstGeom prst="rect">
            <a:avLst/>
          </a:prstGeom>
          <a:noFill/>
        </p:spPr>
        <p:txBody>
          <a:bodyPr wrap="square" rtlCol="0">
            <a:spAutoFit/>
          </a:bodyPr>
          <a:lstStyle/>
          <a:p>
            <a:r>
              <a:rPr lang="en-IN" sz="1400" dirty="0">
                <a:latin typeface="Arial Narrow" panose="020B0606020202030204" pitchFamily="34" charset="0"/>
                <a:cs typeface="Times New Roman" panose="02020603050405020304" pitchFamily="18" charset="0"/>
              </a:rPr>
              <a:t>Figure Source: Ashish Vaswani et. al. Attention is All You Need, NIPS 2017</a:t>
            </a:r>
          </a:p>
        </p:txBody>
      </p:sp>
      <p:sp>
        <p:nvSpPr>
          <p:cNvPr id="47" name="Rounded Rectangle 241">
            <a:extLst>
              <a:ext uri="{FF2B5EF4-FFF2-40B4-BE49-F238E27FC236}">
                <a16:creationId xmlns:a16="http://schemas.microsoft.com/office/drawing/2014/main" id="{BC7D32F9-6696-4098-B737-8B3BEB93F195}"/>
              </a:ext>
            </a:extLst>
          </p:cNvPr>
          <p:cNvSpPr/>
          <p:nvPr/>
        </p:nvSpPr>
        <p:spPr>
          <a:xfrm>
            <a:off x="3740969" y="2168562"/>
            <a:ext cx="4539702" cy="3225800"/>
          </a:xfrm>
          <a:prstGeom prst="roundRect">
            <a:avLst>
              <a:gd name="adj" fmla="val 6013"/>
            </a:avLst>
          </a:prstGeom>
          <a:solidFill>
            <a:schemeClr val="accent2">
              <a:lumMod val="40000"/>
              <a:lumOff val="60000"/>
              <a:alpha val="49000"/>
            </a:schemeClr>
          </a:solidFill>
          <a:ln w="158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EC844655-DB6B-441A-BCAF-BE2B62A72A93}"/>
              </a:ext>
            </a:extLst>
          </p:cNvPr>
          <p:cNvSpPr txBox="1"/>
          <p:nvPr/>
        </p:nvSpPr>
        <p:spPr>
          <a:xfrm>
            <a:off x="5052605" y="3518098"/>
            <a:ext cx="1936376" cy="461665"/>
          </a:xfrm>
          <a:prstGeom prst="rect">
            <a:avLst/>
          </a:prstGeom>
          <a:noFill/>
        </p:spPr>
        <p:txBody>
          <a:bodyPr wrap="square" rtlCol="0">
            <a:spAutoFit/>
          </a:bodyPr>
          <a:lstStyle/>
          <a:p>
            <a:pPr algn="ctr"/>
            <a:r>
              <a:rPr lang="en-IN" sz="2400" dirty="0">
                <a:solidFill>
                  <a:srgbClr val="C00000"/>
                </a:solidFill>
                <a:latin typeface="Arial Narrow" panose="020B0606020202030204" pitchFamily="34" charset="0"/>
              </a:rPr>
              <a:t>Encoder</a:t>
            </a:r>
          </a:p>
        </p:txBody>
      </p:sp>
    </p:spTree>
    <p:extLst>
      <p:ext uri="{BB962C8B-B14F-4D97-AF65-F5344CB8AC3E}">
        <p14:creationId xmlns:p14="http://schemas.microsoft.com/office/powerpoint/2010/main" val="982001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E03CE7-A8E5-4994-8999-0DD16807EC57}"/>
              </a:ext>
            </a:extLst>
          </p:cNvPr>
          <p:cNvSpPr>
            <a:spLocks noGrp="1"/>
          </p:cNvSpPr>
          <p:nvPr>
            <p:ph type="title"/>
          </p:nvPr>
        </p:nvSpPr>
        <p:spPr/>
        <p:txBody>
          <a:bodyPr>
            <a:normAutofit/>
          </a:bodyPr>
          <a:lstStyle/>
          <a:p>
            <a:r>
              <a:rPr lang="en-IN" sz="3600" dirty="0">
                <a:latin typeface="Century" panose="02040604050505020304" pitchFamily="18" charset="0"/>
              </a:rPr>
              <a:t>Summary</a:t>
            </a:r>
          </a:p>
        </p:txBody>
      </p:sp>
      <p:sp>
        <p:nvSpPr>
          <p:cNvPr id="5" name="Content Placeholder 4">
            <a:extLst>
              <a:ext uri="{FF2B5EF4-FFF2-40B4-BE49-F238E27FC236}">
                <a16:creationId xmlns:a16="http://schemas.microsoft.com/office/drawing/2014/main" id="{A38487B1-0776-4151-9C08-829E83A70DD1}"/>
              </a:ext>
            </a:extLst>
          </p:cNvPr>
          <p:cNvSpPr>
            <a:spLocks noGrp="1"/>
          </p:cNvSpPr>
          <p:nvPr>
            <p:ph idx="1"/>
          </p:nvPr>
        </p:nvSpPr>
        <p:spPr/>
        <p:txBody>
          <a:bodyPr/>
          <a:lstStyle/>
          <a:p>
            <a:r>
              <a:rPr lang="en-IN" dirty="0">
                <a:latin typeface="Arial Narrow" panose="020B0606020202030204" pitchFamily="34" charset="0"/>
              </a:rPr>
              <a:t>Transformer – Basics </a:t>
            </a:r>
          </a:p>
          <a:p>
            <a:r>
              <a:rPr lang="en-IN" dirty="0">
                <a:latin typeface="Arial Narrow" panose="020B0606020202030204" pitchFamily="34" charset="0"/>
              </a:rPr>
              <a:t>Transformer for Vision Tasks</a:t>
            </a:r>
          </a:p>
          <a:p>
            <a:r>
              <a:rPr lang="en-IN" dirty="0">
                <a:latin typeface="Arial Narrow" panose="020B0606020202030204" pitchFamily="34" charset="0"/>
              </a:rPr>
              <a:t>How Transformer differs from CNN?</a:t>
            </a:r>
          </a:p>
          <a:p>
            <a:r>
              <a:rPr lang="en-IN" dirty="0">
                <a:latin typeface="Arial Narrow" panose="020B0606020202030204" pitchFamily="34" charset="0"/>
              </a:rPr>
              <a:t>Transformer Architecture</a:t>
            </a:r>
          </a:p>
          <a:p>
            <a:r>
              <a:rPr lang="en-IN" dirty="0">
                <a:latin typeface="Arial Narrow" panose="020B0606020202030204" pitchFamily="34" charset="0"/>
              </a:rPr>
              <a:t>Transformer Encoder</a:t>
            </a:r>
          </a:p>
          <a:p>
            <a:pPr lvl="1"/>
            <a:r>
              <a:rPr lang="en-IN" dirty="0">
                <a:latin typeface="Arial Narrow" panose="020B0606020202030204" pitchFamily="34" charset="0"/>
              </a:rPr>
              <a:t>Input Embedding</a:t>
            </a:r>
          </a:p>
          <a:p>
            <a:pPr lvl="1"/>
            <a:r>
              <a:rPr lang="en-IN" dirty="0">
                <a:latin typeface="Arial Narrow" panose="020B0606020202030204" pitchFamily="34" charset="0"/>
              </a:rPr>
              <a:t>Positional Encoding</a:t>
            </a:r>
          </a:p>
          <a:p>
            <a:endParaRPr lang="en-IN" dirty="0"/>
          </a:p>
        </p:txBody>
      </p:sp>
    </p:spTree>
    <p:extLst>
      <p:ext uri="{BB962C8B-B14F-4D97-AF65-F5344CB8AC3E}">
        <p14:creationId xmlns:p14="http://schemas.microsoft.com/office/powerpoint/2010/main" val="28509183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742339"/>
            <a:ext cx="9144000" cy="2387600"/>
          </a:xfrm>
        </p:spPr>
        <p:txBody>
          <a:bodyPr>
            <a:normAutofit/>
          </a:bodyPr>
          <a:lstStyle/>
          <a:p>
            <a:r>
              <a:rPr lang="en-US" sz="4000" dirty="0">
                <a:solidFill>
                  <a:srgbClr val="002060"/>
                </a:solidFill>
                <a:latin typeface="Arial Narrow" panose="020B0606020202030204" pitchFamily="34" charset="0"/>
              </a:rPr>
              <a:t>Transformers - IV</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Lecture 8: Part 5</a:t>
            </a:r>
          </a:p>
        </p:txBody>
      </p:sp>
    </p:spTree>
    <p:extLst>
      <p:ext uri="{BB962C8B-B14F-4D97-AF65-F5344CB8AC3E}">
        <p14:creationId xmlns:p14="http://schemas.microsoft.com/office/powerpoint/2010/main" val="757281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7600</TotalTime>
  <Words>1938</Words>
  <Application>Microsoft Office PowerPoint</Application>
  <PresentationFormat>Widescreen</PresentationFormat>
  <Paragraphs>389</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Arial Narrow</vt:lpstr>
      <vt:lpstr>Book Antiqua</vt:lpstr>
      <vt:lpstr>Calibri</vt:lpstr>
      <vt:lpstr>Calibri Light</vt:lpstr>
      <vt:lpstr>Cambria Math</vt:lpstr>
      <vt:lpstr>Century</vt:lpstr>
      <vt:lpstr>Times New Roman</vt:lpstr>
      <vt:lpstr>Office Theme</vt:lpstr>
      <vt:lpstr>  Transformers - III</vt:lpstr>
      <vt:lpstr>Content</vt:lpstr>
      <vt:lpstr>Transformers</vt:lpstr>
      <vt:lpstr>Transformers</vt:lpstr>
      <vt:lpstr> Attention Mechanism </vt:lpstr>
      <vt:lpstr>Transformer for Vision Tasks</vt:lpstr>
      <vt:lpstr>How Transformer works differently  than CNN?</vt:lpstr>
      <vt:lpstr>How Transformer works differently than CNN?</vt:lpstr>
      <vt:lpstr>Transformer Architecture</vt:lpstr>
      <vt:lpstr>Transformer Architecture</vt:lpstr>
      <vt:lpstr>PowerPoint Presentation</vt:lpstr>
      <vt:lpstr>PowerPoint Presentation</vt:lpstr>
      <vt:lpstr>PowerPoint Presentation</vt:lpstr>
      <vt:lpstr>PowerPoint Presentation</vt:lpstr>
      <vt:lpstr>PowerPoint Presentation</vt:lpstr>
      <vt:lpstr>PowerPoint Presentation</vt:lpstr>
      <vt:lpstr>Input Embedding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Transformers - IV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Transformers</dc:title>
  <dc:creator>IITG</dc:creator>
  <cp:lastModifiedBy>HP</cp:lastModifiedBy>
  <cp:revision>55</cp:revision>
  <dcterms:created xsi:type="dcterms:W3CDTF">2026-08-23T07:18:53Z</dcterms:created>
  <dcterms:modified xsi:type="dcterms:W3CDTF">2026-08-29T15:44:56Z</dcterms:modified>
</cp:coreProperties>
</file>