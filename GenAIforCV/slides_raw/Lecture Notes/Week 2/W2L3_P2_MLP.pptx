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8" r:id="rId3"/>
    <p:sldId id="279" r:id="rId4"/>
    <p:sldId id="269" r:id="rId5"/>
    <p:sldId id="281" r:id="rId6"/>
    <p:sldId id="283" r:id="rId7"/>
    <p:sldId id="282" r:id="rId8"/>
    <p:sldId id="284" r:id="rId9"/>
    <p:sldId id="285" r:id="rId10"/>
    <p:sldId id="286" r:id="rId11"/>
    <p:sldId id="287" r:id="rId12"/>
    <p:sldId id="280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1163-D527-4E7B-872A-CC447AFAA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431B6-E913-4374-8A97-973664FDB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C606B-AC96-4B22-A766-77550ACF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48432-9B5B-437B-B3B7-0C4E0403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20E1F-89C6-4A24-BB9C-23D0F4D4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D55C-517F-4DD0-BEE5-9369172B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A24EC-6D80-4961-B3D2-9CB8B2642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2205-1D84-4893-96BB-1CFDE70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178DC-BE7B-4750-AE78-0CEE337C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BBA67-9868-4A87-9D02-D5357AE9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54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F60C-A454-46A5-8CBD-CCCE0C47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66F47-3D93-46AD-9D99-B712227EA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CA5C5-394C-4E17-A2EA-92D83206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09B03-4999-4DDE-B61B-7F9EDA2E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B410-143A-4451-B1A8-DD03E881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61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20E5-9B06-4558-9F7F-C956132A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983D-D24F-410C-80F8-712ACDBEF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22B16-FDCA-4FF1-8E90-1C6861005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59FD2-11DB-4893-96C4-AC20B124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0FC46-2424-43B7-90A0-AAB55400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94E7C-6C39-49D5-B08F-DBA04547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1AD2-11E9-4BE6-8B2F-B214E23DD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91842-2D91-481D-BBA0-B9E2C8F7E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08478-6186-4FDC-AE5B-3D5B9542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B0894-1F16-4945-917F-6BBFF3470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E563C-3655-4D09-818E-FF9105173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2BC38-37D6-434B-B5EB-66E0D123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3A968-4670-4E38-8231-3012E6F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7DB51-F0E9-494A-8FF7-AA42B2BB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8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A19C-F651-46A0-B109-AA7ADB45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F8662-16DF-4BDF-94C5-C266038C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EC38A-EA33-42E1-824C-83EE6478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EC42D-37CC-42D3-954B-B88BCD8A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6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57ED2-8510-46B2-8988-683FE433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D6D10-E26A-4D70-9BF0-FC33B508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D2B3-A673-4E53-A67C-10AF9B71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5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7393-612C-47DF-8993-7F2479BA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450A-3179-4D3F-8994-46854D3E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396FB-A417-4C51-B72C-B5B43D6AE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4D0F3-E10F-4864-813D-BE0F4FC7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FBA2B-4446-47A2-A6EE-01FD5388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7CD5A-27C3-4252-BD0C-9961C60F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4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E6C7-56FC-46C9-9DEC-89733F6B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F32C4-3676-4F16-A5C0-4B2F1CD54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27511-F55F-4011-9B34-447868221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E0CB1-DE6E-4389-8C4A-F0D2798A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97EF8-C671-4294-81E2-45F8D747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44BF1-3137-44F7-906D-2B3E53A6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4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7AE7-E948-4760-9E16-5F363429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30139-4A9A-4B07-8790-264682455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43B62-33AF-46F3-B331-362D735D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57872-102A-419C-982A-37F1696D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39C86-FC19-4CC5-8B29-9988E2A8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2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A96B2-E5AD-4C8C-99C8-11CBDB255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5641B-1D84-46FD-8EF2-78FD8B55B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7C9F7-FC15-415D-B296-A5DB0469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A4D1-72BD-434B-A130-0A89774A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9689-CC29-44B1-A5D8-8D98E9D2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0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20435-3085-4FBE-85DC-CEA817F4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D3BFB-0A0D-46CF-9A8B-D86362A1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25DD9-C117-4200-8155-44FD32494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40651-EDA8-4548-82E5-F3A93E92727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F54F-0F52-4C4F-8C3F-4CC8C9C69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50290-9214-48C4-BB6A-454231B9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8AF9E-1579-4030-86DD-30CDDDE63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6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0.png"/><Relationship Id="rId17" Type="http://schemas.openxmlformats.org/officeDocument/2006/relationships/image" Target="../media/image440.png"/><Relationship Id="rId2" Type="http://schemas.openxmlformats.org/officeDocument/2006/relationships/image" Target="../media/image29.png"/><Relationship Id="rId16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0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Neural Network Fundamentals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2800" dirty="0">
                <a:solidFill>
                  <a:srgbClr val="002060"/>
                </a:solidFill>
                <a:latin typeface="Arial Narrow" panose="020B0606020202030204" pitchFamily="34" charset="0"/>
              </a:rPr>
              <a:t>Multi-Layer Perceptron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751865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3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Multi-Layer Perceptron</a:t>
            </a:r>
          </a:p>
          <a:p>
            <a:pPr marL="457200" indent="-457200">
              <a:lnSpc>
                <a:spcPct val="150000"/>
              </a:lnSpc>
            </a:pP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Activation Function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Softmax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B2E46931-2D5D-4D45-BCD6-6592CF494585}"/>
              </a:ext>
            </a:extLst>
          </p:cNvPr>
          <p:cNvGrpSpPr/>
          <p:nvPr/>
        </p:nvGrpSpPr>
        <p:grpSpPr>
          <a:xfrm>
            <a:off x="7251542" y="4687007"/>
            <a:ext cx="3489320" cy="1684387"/>
            <a:chOff x="4437282" y="3931076"/>
            <a:chExt cx="3657752" cy="1580227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EC63CE0-4929-4CC2-AC73-A73991270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939" y="3931076"/>
              <a:ext cx="1983652" cy="1180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12">
                  <a:extLst>
                    <a:ext uri="{FF2B5EF4-FFF2-40B4-BE49-F238E27FC236}">
                      <a16:creationId xmlns:a16="http://schemas.microsoft.com/office/drawing/2014/main" id="{4D94CA7A-87AB-481B-A729-B187B0F051F8}"/>
                    </a:ext>
                  </a:extLst>
                </p:cNvPr>
                <p:cNvSpPr txBox="1"/>
                <p:nvPr/>
              </p:nvSpPr>
              <p:spPr>
                <a:xfrm>
                  <a:off x="6268645" y="4087596"/>
                  <a:ext cx="1826389" cy="524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89" name="TextBox 12">
                  <a:extLst>
                    <a:ext uri="{FF2B5EF4-FFF2-40B4-BE49-F238E27FC236}">
                      <a16:creationId xmlns:a16="http://schemas.microsoft.com/office/drawing/2014/main" id="{4D94CA7A-87AB-481B-A729-B187B0F05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645" y="4087596"/>
                  <a:ext cx="1826389" cy="52449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TextBox 13">
              <a:extLst>
                <a:ext uri="{FF2B5EF4-FFF2-40B4-BE49-F238E27FC236}">
                  <a16:creationId xmlns:a16="http://schemas.microsoft.com/office/drawing/2014/main" id="{38D41E45-FC2E-4B9B-BB88-5F15DFD2156D}"/>
                </a:ext>
              </a:extLst>
            </p:cNvPr>
            <p:cNvSpPr txBox="1"/>
            <p:nvPr/>
          </p:nvSpPr>
          <p:spPr>
            <a:xfrm>
              <a:off x="5729780" y="5222558"/>
              <a:ext cx="1593391" cy="288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latin typeface="Arial Narrow" panose="020B0606020202030204" pitchFamily="34" charset="0"/>
                </a:rPr>
                <a:t>Sigmoid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29">
                  <a:extLst>
                    <a:ext uri="{FF2B5EF4-FFF2-40B4-BE49-F238E27FC236}">
                      <a16:creationId xmlns:a16="http://schemas.microsoft.com/office/drawing/2014/main" id="{22BA13FF-DF8A-4CF3-ACA4-7C71F45EEFF2}"/>
                    </a:ext>
                  </a:extLst>
                </p:cNvPr>
                <p:cNvSpPr txBox="1"/>
                <p:nvPr/>
              </p:nvSpPr>
              <p:spPr>
                <a:xfrm>
                  <a:off x="6320671" y="4973032"/>
                  <a:ext cx="525840" cy="2598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Arial Narrow" panose="020B0606020202030204" pitchFamily="34" charset="0"/>
                    </a:rPr>
                    <a:t>+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2" name="TextBox 29">
                  <a:extLst>
                    <a:ext uri="{FF2B5EF4-FFF2-40B4-BE49-F238E27FC236}">
                      <a16:creationId xmlns:a16="http://schemas.microsoft.com/office/drawing/2014/main" id="{22BA13FF-DF8A-4CF3-ACA4-7C71F45EE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671" y="4973032"/>
                  <a:ext cx="525840" cy="259870"/>
                </a:xfrm>
                <a:prstGeom prst="rect">
                  <a:avLst/>
                </a:prstGeom>
                <a:blipFill>
                  <a:blip r:embed="rId4"/>
                  <a:stretch>
                    <a:fillRect t="-2222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30">
                  <a:extLst>
                    <a:ext uri="{FF2B5EF4-FFF2-40B4-BE49-F238E27FC236}">
                      <a16:creationId xmlns:a16="http://schemas.microsoft.com/office/drawing/2014/main" id="{59448F38-4F69-4C48-B590-E79F41762F94}"/>
                    </a:ext>
                  </a:extLst>
                </p:cNvPr>
                <p:cNvSpPr txBox="1"/>
                <p:nvPr/>
              </p:nvSpPr>
              <p:spPr>
                <a:xfrm>
                  <a:off x="4437282" y="4903782"/>
                  <a:ext cx="525840" cy="2598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Arial Narrow" panose="020B0606020202030204" pitchFamily="34" charset="0"/>
                    </a:rPr>
                    <a:t>-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3" name="TextBox 30">
                  <a:extLst>
                    <a:ext uri="{FF2B5EF4-FFF2-40B4-BE49-F238E27FC236}">
                      <a16:creationId xmlns:a16="http://schemas.microsoft.com/office/drawing/2014/main" id="{59448F38-4F69-4C48-B590-E79F41762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282" y="4903782"/>
                  <a:ext cx="525840" cy="259870"/>
                </a:xfrm>
                <a:prstGeom prst="rect">
                  <a:avLst/>
                </a:prstGeom>
                <a:blipFill>
                  <a:blip r:embed="rId5"/>
                  <a:stretch>
                    <a:fillRect l="-1220" t="-4444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TextBox 31">
              <a:extLst>
                <a:ext uri="{FF2B5EF4-FFF2-40B4-BE49-F238E27FC236}">
                  <a16:creationId xmlns:a16="http://schemas.microsoft.com/office/drawing/2014/main" id="{5FAAAF53-0B6A-4480-92DD-3D8FFFC71762}"/>
                </a:ext>
              </a:extLst>
            </p:cNvPr>
            <p:cNvSpPr txBox="1"/>
            <p:nvPr/>
          </p:nvSpPr>
          <p:spPr>
            <a:xfrm>
              <a:off x="5198187" y="4410742"/>
              <a:ext cx="525840" cy="25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0.5</a:t>
              </a:r>
            </a:p>
          </p:txBody>
        </p:sp>
        <p:sp>
          <p:nvSpPr>
            <p:cNvPr id="95" name="TextBox 32">
              <a:extLst>
                <a:ext uri="{FF2B5EF4-FFF2-40B4-BE49-F238E27FC236}">
                  <a16:creationId xmlns:a16="http://schemas.microsoft.com/office/drawing/2014/main" id="{4C0A711F-1C05-4D3F-9527-EF94A47CC98A}"/>
                </a:ext>
              </a:extLst>
            </p:cNvPr>
            <p:cNvSpPr txBox="1"/>
            <p:nvPr/>
          </p:nvSpPr>
          <p:spPr>
            <a:xfrm>
              <a:off x="5303387" y="3993642"/>
              <a:ext cx="315440" cy="25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1</a:t>
              </a:r>
            </a:p>
          </p:txBody>
        </p:sp>
        <p:sp>
          <p:nvSpPr>
            <p:cNvPr id="96" name="TextBox 33">
              <a:extLst>
                <a:ext uri="{FF2B5EF4-FFF2-40B4-BE49-F238E27FC236}">
                  <a16:creationId xmlns:a16="http://schemas.microsoft.com/office/drawing/2014/main" id="{51993DB0-AD55-48C9-A88D-E98A75E7D92E}"/>
                </a:ext>
              </a:extLst>
            </p:cNvPr>
            <p:cNvSpPr txBox="1"/>
            <p:nvPr/>
          </p:nvSpPr>
          <p:spPr>
            <a:xfrm>
              <a:off x="5376045" y="4903782"/>
              <a:ext cx="315440" cy="25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97" name="TextBox 34">
              <a:extLst>
                <a:ext uri="{FF2B5EF4-FFF2-40B4-BE49-F238E27FC236}">
                  <a16:creationId xmlns:a16="http://schemas.microsoft.com/office/drawing/2014/main" id="{31455DA6-DEF0-46C0-9C78-3F0FA617C337}"/>
                </a:ext>
              </a:extLst>
            </p:cNvPr>
            <p:cNvSpPr txBox="1"/>
            <p:nvPr/>
          </p:nvSpPr>
          <p:spPr>
            <a:xfrm>
              <a:off x="6409977" y="4809757"/>
              <a:ext cx="525840" cy="25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Z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778" y="221089"/>
            <a:ext cx="10515600" cy="964911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entury" panose="02040604050505020304" pitchFamily="18" charset="0"/>
                <a:cs typeface="Times New Roman" panose="02020603050405020304" pitchFamily="18" charset="0"/>
              </a:rPr>
              <a:t>XOR Problem: Solution by Multi-Layer Perceptron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E0B95-2CA8-4E1B-9CC7-3AA8D06E83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6253" y="4194883"/>
          <a:ext cx="176910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01">
                  <a:extLst>
                    <a:ext uri="{9D8B030D-6E8A-4147-A177-3AD203B41FA5}">
                      <a16:colId xmlns:a16="http://schemas.microsoft.com/office/drawing/2014/main" val="1869332136"/>
                    </a:ext>
                  </a:extLst>
                </a:gridCol>
                <a:gridCol w="589701">
                  <a:extLst>
                    <a:ext uri="{9D8B030D-6E8A-4147-A177-3AD203B41FA5}">
                      <a16:colId xmlns:a16="http://schemas.microsoft.com/office/drawing/2014/main" val="578415405"/>
                    </a:ext>
                  </a:extLst>
                </a:gridCol>
                <a:gridCol w="589701">
                  <a:extLst>
                    <a:ext uri="{9D8B030D-6E8A-4147-A177-3AD203B41FA5}">
                      <a16:colId xmlns:a16="http://schemas.microsoft.com/office/drawing/2014/main" val="1952219316"/>
                    </a:ext>
                  </a:extLst>
                </a:gridCol>
              </a:tblGrid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181375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155385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835926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82662"/>
                  </a:ext>
                </a:extLst>
              </a:tr>
              <a:tr h="3183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1882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6806" y="60508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XOR Logic</a:t>
            </a:r>
          </a:p>
        </p:txBody>
      </p:sp>
      <p:sp>
        <p:nvSpPr>
          <p:cNvPr id="12" name="TextBox 66">
            <a:extLst>
              <a:ext uri="{FF2B5EF4-FFF2-40B4-BE49-F238E27FC236}">
                <a16:creationId xmlns:a16="http://schemas.microsoft.com/office/drawing/2014/main" id="{BF424B8B-44AE-4497-95B2-8B943074EE83}"/>
              </a:ext>
            </a:extLst>
          </p:cNvPr>
          <p:cNvSpPr txBox="1"/>
          <p:nvPr/>
        </p:nvSpPr>
        <p:spPr>
          <a:xfrm>
            <a:off x="3026786" y="5146120"/>
            <a:ext cx="128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Layer </a:t>
            </a:r>
            <a:r>
              <a:rPr lang="en-IN" sz="1200" dirty="0">
                <a:latin typeface="Arial Narrow" panose="020B0606020202030204" pitchFamily="34" charset="0"/>
              </a:rPr>
              <a:t> 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90279" y="4827396"/>
            <a:ext cx="623863" cy="40872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3248899" y="5761361"/>
            <a:ext cx="515614" cy="4087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4720823" y="4602990"/>
            <a:ext cx="515614" cy="4087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4745521" y="5762588"/>
            <a:ext cx="515614" cy="4087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/>
          <p:cNvSpPr/>
          <p:nvPr/>
        </p:nvSpPr>
        <p:spPr>
          <a:xfrm>
            <a:off x="5850132" y="5120472"/>
            <a:ext cx="515614" cy="4087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3248899" y="4603268"/>
            <a:ext cx="515614" cy="4087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34">
                <a:extLst>
                  <a:ext uri="{FF2B5EF4-FFF2-40B4-BE49-F238E27FC236}">
                    <a16:creationId xmlns:a16="http://schemas.microsoft.com/office/drawing/2014/main" id="{025400A2-F6EC-405A-BF95-12E83426DA60}"/>
                  </a:ext>
                </a:extLst>
              </p:cNvPr>
              <p:cNvSpPr txBox="1"/>
              <p:nvPr/>
            </p:nvSpPr>
            <p:spPr>
              <a:xfrm>
                <a:off x="3309304" y="4591514"/>
                <a:ext cx="38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9" name="TextBox 34">
                <a:extLst>
                  <a:ext uri="{FF2B5EF4-FFF2-40B4-BE49-F238E27FC236}">
                    <a16:creationId xmlns:a16="http://schemas.microsoft.com/office/drawing/2014/main" id="{025400A2-F6EC-405A-BF95-12E83426D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304" y="4591514"/>
                <a:ext cx="3847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36">
                <a:extLst>
                  <a:ext uri="{FF2B5EF4-FFF2-40B4-BE49-F238E27FC236}">
                    <a16:creationId xmlns:a16="http://schemas.microsoft.com/office/drawing/2014/main" id="{BCE6ECC7-6CD3-4473-84CD-3C9EAD31745C}"/>
                  </a:ext>
                </a:extLst>
              </p:cNvPr>
              <p:cNvSpPr txBox="1"/>
              <p:nvPr/>
            </p:nvSpPr>
            <p:spPr>
              <a:xfrm>
                <a:off x="3294064" y="5773061"/>
                <a:ext cx="384791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11" name="TextBox 36">
                <a:extLst>
                  <a:ext uri="{FF2B5EF4-FFF2-40B4-BE49-F238E27FC236}">
                    <a16:creationId xmlns:a16="http://schemas.microsoft.com/office/drawing/2014/main" id="{BCE6ECC7-6CD3-4473-84CD-3C9EAD317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064" y="5773061"/>
                <a:ext cx="384791" cy="362984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4">
                <a:extLst>
                  <a:ext uri="{FF2B5EF4-FFF2-40B4-BE49-F238E27FC236}">
                    <a16:creationId xmlns:a16="http://schemas.microsoft.com/office/drawing/2014/main" id="{744BBFC8-F836-4CF0-8B41-BB10972EB35D}"/>
                  </a:ext>
                </a:extLst>
              </p:cNvPr>
              <p:cNvSpPr txBox="1"/>
              <p:nvPr/>
            </p:nvSpPr>
            <p:spPr>
              <a:xfrm>
                <a:off x="4785838" y="4583894"/>
                <a:ext cx="38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14" name="TextBox 34">
                <a:extLst>
                  <a:ext uri="{FF2B5EF4-FFF2-40B4-BE49-F238E27FC236}">
                    <a16:creationId xmlns:a16="http://schemas.microsoft.com/office/drawing/2014/main" id="{744BBFC8-F836-4CF0-8B41-BB10972EB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38" y="4583894"/>
                <a:ext cx="38479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34">
                <a:extLst>
                  <a:ext uri="{FF2B5EF4-FFF2-40B4-BE49-F238E27FC236}">
                    <a16:creationId xmlns:a16="http://schemas.microsoft.com/office/drawing/2014/main" id="{84BA9724-0053-4821-A4B1-87C73798A773}"/>
                  </a:ext>
                </a:extLst>
              </p:cNvPr>
              <p:cNvSpPr txBox="1"/>
              <p:nvPr/>
            </p:nvSpPr>
            <p:spPr>
              <a:xfrm>
                <a:off x="4823938" y="5781060"/>
                <a:ext cx="38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16" name="TextBox 34">
                <a:extLst>
                  <a:ext uri="{FF2B5EF4-FFF2-40B4-BE49-F238E27FC236}">
                    <a16:creationId xmlns:a16="http://schemas.microsoft.com/office/drawing/2014/main" id="{84BA9724-0053-4821-A4B1-87C73798A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938" y="5781060"/>
                <a:ext cx="38479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06785C-B30D-4B52-841C-35B5B30B9570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flipV="1">
            <a:off x="3764513" y="4807355"/>
            <a:ext cx="956310" cy="278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9DA35D-5CD8-44C3-97B9-41E89FCDDC8F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764513" y="5965726"/>
            <a:ext cx="981008" cy="1227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A17568-B553-448B-8250-E5A2C769EA09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3764513" y="4807355"/>
            <a:ext cx="956310" cy="1158371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0F98E-B9E0-42F5-AA30-B0B3A2E8A938}"/>
              </a:ext>
            </a:extLst>
          </p:cNvPr>
          <p:cNvCxnSpPr>
            <a:stCxn id="29" idx="3"/>
            <a:endCxn id="33" idx="1"/>
          </p:cNvCxnSpPr>
          <p:nvPr/>
        </p:nvCxnSpPr>
        <p:spPr>
          <a:xfrm>
            <a:off x="3764513" y="4807633"/>
            <a:ext cx="981008" cy="1159320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34">
            <a:extLst>
              <a:ext uri="{FF2B5EF4-FFF2-40B4-BE49-F238E27FC236}">
                <a16:creationId xmlns:a16="http://schemas.microsoft.com/office/drawing/2014/main" id="{0E0FB068-92C8-49D5-97B3-0C9AF5D306CD}"/>
              </a:ext>
            </a:extLst>
          </p:cNvPr>
          <p:cNvSpPr txBox="1"/>
          <p:nvPr/>
        </p:nvSpPr>
        <p:spPr>
          <a:xfrm>
            <a:off x="5943461" y="5120472"/>
            <a:ext cx="3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B8312D-7595-4099-9326-CEF5D0CFD5CB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5236437" y="4807355"/>
            <a:ext cx="613695" cy="517482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3761E2-8311-4A6A-8B0C-9D9521708CA3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 flipV="1">
            <a:off x="5261135" y="5324837"/>
            <a:ext cx="588997" cy="642116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66">
            <a:extLst>
              <a:ext uri="{FF2B5EF4-FFF2-40B4-BE49-F238E27FC236}">
                <a16:creationId xmlns:a16="http://schemas.microsoft.com/office/drawing/2014/main" id="{480091C7-5E2D-4EA7-BBEC-24C289348100}"/>
              </a:ext>
            </a:extLst>
          </p:cNvPr>
          <p:cNvSpPr txBox="1"/>
          <p:nvPr/>
        </p:nvSpPr>
        <p:spPr>
          <a:xfrm>
            <a:off x="4375906" y="5129061"/>
            <a:ext cx="149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Hidden Layer </a:t>
            </a:r>
            <a:r>
              <a:rPr lang="en-IN" sz="1200" dirty="0">
                <a:latin typeface="Arial Narrow" panose="020B0606020202030204" pitchFamily="34" charset="0"/>
              </a:rPr>
              <a:t>  </a:t>
            </a:r>
          </a:p>
        </p:txBody>
      </p:sp>
      <p:sp>
        <p:nvSpPr>
          <p:cNvPr id="26" name="TextBox 66">
            <a:extLst>
              <a:ext uri="{FF2B5EF4-FFF2-40B4-BE49-F238E27FC236}">
                <a16:creationId xmlns:a16="http://schemas.microsoft.com/office/drawing/2014/main" id="{2C822941-BDC1-4753-B185-918F19DD2211}"/>
              </a:ext>
            </a:extLst>
          </p:cNvPr>
          <p:cNvSpPr txBox="1"/>
          <p:nvPr/>
        </p:nvSpPr>
        <p:spPr>
          <a:xfrm>
            <a:off x="5659148" y="5614322"/>
            <a:ext cx="138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Layer </a:t>
            </a:r>
            <a:r>
              <a:rPr lang="en-IN" sz="1200" dirty="0">
                <a:latin typeface="Arial Narrow" panose="020B0606020202030204" pitchFamily="34" charset="0"/>
              </a:rPr>
              <a:t> 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710EBB-E740-41EA-8868-E1C37A40BB5D}"/>
              </a:ext>
            </a:extLst>
          </p:cNvPr>
          <p:cNvCxnSpPr>
            <a:stCxn id="34" idx="3"/>
          </p:cNvCxnSpPr>
          <p:nvPr/>
        </p:nvCxnSpPr>
        <p:spPr>
          <a:xfrm flipV="1">
            <a:off x="6365746" y="5324836"/>
            <a:ext cx="480225" cy="1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AA4FAC6-693F-43B9-8F24-562778AEC90C}"/>
              </a:ext>
            </a:extLst>
          </p:cNvPr>
          <p:cNvSpPr/>
          <p:nvPr/>
        </p:nvSpPr>
        <p:spPr>
          <a:xfrm>
            <a:off x="6542164" y="484709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endParaRPr lang="en-IN" dirty="0"/>
          </a:p>
        </p:txBody>
      </p:sp>
      <p:cxnSp>
        <p:nvCxnSpPr>
          <p:cNvPr id="107" name="Straight Arrow Connector 106"/>
          <p:cNvCxnSpPr/>
          <p:nvPr/>
        </p:nvCxnSpPr>
        <p:spPr>
          <a:xfrm flipV="1">
            <a:off x="978723" y="3106757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rot="16200000" flipV="1">
            <a:off x="216723" y="2354282"/>
            <a:ext cx="1524000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916511" y="1305758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11" y="1305758"/>
                <a:ext cx="299184" cy="276999"/>
              </a:xfrm>
              <a:prstGeom prst="rect">
                <a:avLst/>
              </a:prstGeom>
              <a:blipFill>
                <a:blip r:embed="rId10"/>
                <a:stretch>
                  <a:fillRect l="-16327" r="-1020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2574138" y="2926007"/>
                <a:ext cx="2930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138" y="2926007"/>
                <a:ext cx="293093" cy="276999"/>
              </a:xfrm>
              <a:prstGeom prst="rect">
                <a:avLst/>
              </a:prstGeom>
              <a:blipFill>
                <a:blip r:embed="rId11"/>
                <a:stretch>
                  <a:fillRect l="-18750" r="-833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Quad Arrow 110"/>
          <p:cNvSpPr/>
          <p:nvPr/>
        </p:nvSpPr>
        <p:spPr>
          <a:xfrm>
            <a:off x="911714" y="3013491"/>
            <a:ext cx="137160" cy="149588"/>
          </a:xfrm>
          <a:prstGeom prst="quad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Quad Arrow 111"/>
          <p:cNvSpPr/>
          <p:nvPr/>
        </p:nvSpPr>
        <p:spPr>
          <a:xfrm>
            <a:off x="1977763" y="2054747"/>
            <a:ext cx="137160" cy="149588"/>
          </a:xfrm>
          <a:prstGeom prst="quadArrow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Quad Arrow 112"/>
          <p:cNvSpPr/>
          <p:nvPr/>
        </p:nvSpPr>
        <p:spPr>
          <a:xfrm>
            <a:off x="1977763" y="3019954"/>
            <a:ext cx="137160" cy="149588"/>
          </a:xfrm>
          <a:prstGeom prst="quad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Quad Arrow 113"/>
          <p:cNvSpPr/>
          <p:nvPr/>
        </p:nvSpPr>
        <p:spPr>
          <a:xfrm>
            <a:off x="904549" y="2056265"/>
            <a:ext cx="137160" cy="149588"/>
          </a:xfrm>
          <a:prstGeom prst="quad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TextBox 114"/>
          <p:cNvSpPr txBox="1"/>
          <p:nvPr/>
        </p:nvSpPr>
        <p:spPr>
          <a:xfrm>
            <a:off x="524842" y="3219914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XOR representation </a:t>
            </a:r>
          </a:p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(Linear non-separable task)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459778" y="1290779"/>
            <a:ext cx="2670705" cy="267472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C36DA42-167E-4CCD-B755-DAF0B92FCFD3}"/>
              </a:ext>
            </a:extLst>
          </p:cNvPr>
          <p:cNvSpPr txBox="1"/>
          <p:nvPr/>
        </p:nvSpPr>
        <p:spPr>
          <a:xfrm>
            <a:off x="664635" y="6389437"/>
            <a:ext cx="1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XOR(</a:t>
            </a:r>
            <a:r>
              <a:rPr lang="en-IN" sz="2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x,y</a:t>
            </a:r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)=</a:t>
            </a:r>
            <a:r>
              <a:rPr lang="en-IN" sz="2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x’y+xy</a:t>
            </a:r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’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4F7D07-7E6C-443B-9545-57CAF3BD1832}"/>
              </a:ext>
            </a:extLst>
          </p:cNvPr>
          <p:cNvSpPr txBox="1"/>
          <p:nvPr/>
        </p:nvSpPr>
        <p:spPr>
          <a:xfrm>
            <a:off x="3606640" y="1619327"/>
            <a:ext cx="33588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= (x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</a:t>
            </a:r>
            <a:r>
              <a:rPr lang="en-US" b="1" dirty="0">
                <a:latin typeface="Arial Narrow" panose="020B0606020202030204" pitchFamily="34" charset="0"/>
                <a:ea typeface="Cambria Math" panose="02040503050406030204" pitchFamily="18" charset="0"/>
              </a:rPr>
              <a:t>AND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(</a:t>
            </a:r>
            <a:r>
              <a:rPr lang="en-US" b="1" dirty="0">
                <a:latin typeface="Arial Narrow" panose="020B0606020202030204" pitchFamily="34" charset="0"/>
                <a:ea typeface="Cambria Math" panose="02040503050406030204" pitchFamily="18" charset="0"/>
              </a:rPr>
              <a:t>NOT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))</a:t>
            </a:r>
          </a:p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= (x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</a:t>
            </a:r>
            <a:r>
              <a:rPr lang="en-US" b="1" dirty="0">
                <a:latin typeface="Arial Narrow" panose="020B0606020202030204" pitchFamily="34" charset="0"/>
                <a:ea typeface="Cambria Math" panose="02040503050406030204" pitchFamily="18" charset="0"/>
              </a:rPr>
              <a:t>AND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(</a:t>
            </a:r>
            <a:r>
              <a:rPr lang="en-US" b="1" dirty="0">
                <a:latin typeface="Arial Narrow" panose="020B0606020202030204" pitchFamily="34" charset="0"/>
                <a:ea typeface="Cambria Math" panose="02040503050406030204" pitchFamily="18" charset="0"/>
              </a:rPr>
              <a:t>NOT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))</a:t>
            </a:r>
          </a:p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y   = (h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</a:t>
            </a:r>
            <a:r>
              <a:rPr lang="en-US" b="1" dirty="0">
                <a:latin typeface="Arial Narrow" panose="020B0606020202030204" pitchFamily="34" charset="0"/>
                <a:ea typeface="Cambria Math" panose="02040503050406030204" pitchFamily="18" charset="0"/>
              </a:rPr>
              <a:t>OR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 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) </a:t>
            </a:r>
          </a:p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NOT (x) = 1-x</a:t>
            </a:r>
          </a:p>
          <a:p>
            <a:endParaRPr lang="en-US" dirty="0">
              <a:latin typeface="Arial Narrow" panose="020B0606020202030204" pitchFamily="34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Sigmoidal nonlinearity is used as activation function.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6E5AAF6-0677-4168-A777-0FCACD6ACAAA}"/>
              </a:ext>
            </a:extLst>
          </p:cNvPr>
          <p:cNvSpPr/>
          <p:nvPr/>
        </p:nvSpPr>
        <p:spPr>
          <a:xfrm>
            <a:off x="7191351" y="1570587"/>
            <a:ext cx="46186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= σ((1-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) +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) = σ((-1)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+ 1)</a:t>
            </a:r>
          </a:p>
          <a:p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= σ(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(1-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)) = σ(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(-1)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 x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+ 1)</a:t>
            </a:r>
          </a:p>
          <a:p>
            <a:endParaRPr lang="en-US" dirty="0">
              <a:solidFill>
                <a:srgbClr val="000000"/>
              </a:solidFill>
              <a:latin typeface="Arial Narrow" panose="020B0606020202030204" pitchFamily="34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y = σ(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) = σ(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</a:t>
            </a:r>
            <a:r>
              <a:rPr lang="en-US" dirty="0">
                <a:latin typeface="Arial Narrow" panose="020B0606020202030204" pitchFamily="34" charset="0"/>
                <a:ea typeface="Cambria Math" panose="02040503050406030204" pitchFamily="18" charset="0"/>
              </a:rPr>
              <a:t>h</a:t>
            </a:r>
            <a:r>
              <a:rPr lang="en-US" baseline="-25000" dirty="0">
                <a:latin typeface="Arial Narrow" panose="020B0606020202030204" pitchFamily="34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 + 0)</a:t>
            </a:r>
          </a:p>
          <a:p>
            <a:endParaRPr lang="en-US" dirty="0">
              <a:solidFill>
                <a:srgbClr val="000000"/>
              </a:solidFill>
              <a:latin typeface="Arial Narrow" panose="020B0606020202030204" pitchFamily="34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A multi layered perceptron (MLP) with the proper weights can predict the output of a XOR logical operator.</a:t>
            </a:r>
            <a:endParaRPr lang="en-IN" dirty="0">
              <a:solidFill>
                <a:srgbClr val="00B0F0"/>
              </a:solidFill>
              <a:latin typeface="Arial Narrow" panose="020B0606020202030204" pitchFamily="34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0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362" y="142893"/>
            <a:ext cx="10515600" cy="9459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IN" sz="3600" dirty="0">
                <a:latin typeface="Century" panose="02040604050505020304" pitchFamily="18" charset="0"/>
              </a:rPr>
              <a:t>Multi-Layer Perceptron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61362" y="1182848"/>
            <a:ext cx="11468451" cy="271886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MLP</a:t>
            </a:r>
            <a:r>
              <a:rPr lang="en-US" sz="1800" b="1" dirty="0">
                <a:latin typeface="Arial Narrow" panose="020B0606020202030204" pitchFamily="34" charset="0"/>
              </a:rPr>
              <a:t> (</a:t>
            </a:r>
            <a:r>
              <a:rPr lang="en-US" sz="1800" dirty="0">
                <a:latin typeface="Arial Narrow" panose="020B0606020202030204" pitchFamily="34" charset="0"/>
              </a:rPr>
              <a:t>with one or more hidden layers</a:t>
            </a:r>
            <a:r>
              <a:rPr lang="en-US" sz="1800" b="1" dirty="0">
                <a:latin typeface="Arial Narrow" panose="020B0606020202030204" pitchFamily="34" charset="0"/>
              </a:rPr>
              <a:t>):</a:t>
            </a:r>
            <a:r>
              <a:rPr lang="en-US" sz="1800" dirty="0">
                <a:latin typeface="Arial Narrow" panose="020B0606020202030204" pitchFamily="34" charset="0"/>
              </a:rPr>
              <a:t> The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strength of a Multi-Layer Perceptron (MLP) lies in its hidden layers</a:t>
            </a:r>
            <a:r>
              <a:rPr lang="en-US" sz="1800" dirty="0"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sz="1800" dirty="0">
                <a:latin typeface="Arial Narrow" panose="020B0606020202030204" pitchFamily="34" charset="0"/>
              </a:rPr>
              <a:t>Neurons in the first hidden layer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create multiple hyperplanes that partition the input space into several half-spaces</a:t>
            </a:r>
            <a:r>
              <a:rPr lang="en-US" sz="18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1800" dirty="0">
                <a:latin typeface="Arial Narrow" panose="020B0606020202030204" pitchFamily="34" charset="0"/>
              </a:rPr>
              <a:t>Neurons in the following hidden layers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combine these half-spaces to form more complex regions</a:t>
            </a:r>
            <a:r>
              <a:rPr lang="en-US" sz="18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1800" dirty="0">
                <a:latin typeface="Arial Narrow" panose="020B0606020202030204" pitchFamily="34" charset="0"/>
              </a:rPr>
              <a:t>The intersections of these half-spaces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produce convex regions, such as polygons </a:t>
            </a:r>
            <a:r>
              <a:rPr lang="en-US" sz="1800" dirty="0">
                <a:latin typeface="Arial Narrow" panose="020B0606020202030204" pitchFamily="34" charset="0"/>
              </a:rPr>
              <a:t>in two dimensions or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polytopes in higher dimensions</a:t>
            </a:r>
            <a:r>
              <a:rPr lang="en-US" sz="18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1800" dirty="0">
                <a:latin typeface="Arial Narrow" panose="020B0606020202030204" pitchFamily="34" charset="0"/>
              </a:rPr>
              <a:t>The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output layer combines these convex regions through unions, enabling the formation of complex decision boundaries that may be non-convex or even disconnected</a:t>
            </a:r>
            <a:r>
              <a:rPr lang="en-US" sz="18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This capability to construct intricate piecewise-linear decision boundaries makes MLPs universal approximators</a:t>
            </a:r>
            <a:r>
              <a:rPr lang="en-US" sz="1800" dirty="0">
                <a:latin typeface="Arial Narrow" panose="020B0606020202030204" pitchFamily="34" charset="0"/>
              </a:rPr>
              <a:t>, allowing them to approximate any continuous function when provided with enough hidden neurons and suitable activation functions.</a:t>
            </a:r>
            <a:endParaRPr lang="en-IN" sz="1800" dirty="0">
              <a:latin typeface="Arial Narrow" panose="020B0606020202030204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 rot="16200000">
            <a:off x="3222188" y="4959261"/>
            <a:ext cx="1887190" cy="456487"/>
          </a:xfrm>
          <a:prstGeom prst="ellipse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/>
          <p:cNvSpPr/>
          <p:nvPr/>
        </p:nvSpPr>
        <p:spPr>
          <a:xfrm rot="16200000">
            <a:off x="2419113" y="4927082"/>
            <a:ext cx="1878730" cy="549475"/>
          </a:xfrm>
          <a:prstGeom prst="ellipse">
            <a:avLst/>
          </a:prstGeom>
          <a:solidFill>
            <a:schemeClr val="accent2">
              <a:lumMod val="60000"/>
              <a:lumOff val="40000"/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 rot="16200000">
            <a:off x="3231532" y="5714084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 rot="16200000">
            <a:off x="3231532" y="5299410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 rot="16200000">
            <a:off x="3231532" y="4884736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ounded Rectangle 39"/>
          <p:cNvSpPr/>
          <p:nvPr/>
        </p:nvSpPr>
        <p:spPr>
          <a:xfrm rot="16200000">
            <a:off x="3231532" y="4470062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ounded Rectangle 41"/>
          <p:cNvSpPr/>
          <p:nvPr/>
        </p:nvSpPr>
        <p:spPr>
          <a:xfrm rot="16200000">
            <a:off x="4034609" y="5712313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ounded Rectangle 42"/>
          <p:cNvSpPr/>
          <p:nvPr/>
        </p:nvSpPr>
        <p:spPr>
          <a:xfrm rot="16200000">
            <a:off x="4034609" y="5297639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ounded Rectangle 43"/>
          <p:cNvSpPr/>
          <p:nvPr/>
        </p:nvSpPr>
        <p:spPr>
          <a:xfrm rot="16200000">
            <a:off x="4038835" y="4882965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45" name="Rounded Rectangle 44"/>
          <p:cNvSpPr/>
          <p:nvPr/>
        </p:nvSpPr>
        <p:spPr>
          <a:xfrm rot="16200000">
            <a:off x="4034609" y="4468291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Down Arrow 45"/>
          <p:cNvSpPr/>
          <p:nvPr/>
        </p:nvSpPr>
        <p:spPr>
          <a:xfrm rot="16200000">
            <a:off x="3658434" y="5048037"/>
            <a:ext cx="253882" cy="30432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ounded Rectangle 58"/>
          <p:cNvSpPr/>
          <p:nvPr/>
        </p:nvSpPr>
        <p:spPr>
          <a:xfrm rot="16200000">
            <a:off x="4730806" y="5086072"/>
            <a:ext cx="262345" cy="219790"/>
          </a:xfrm>
          <a:prstGeom prst="roundRect">
            <a:avLst/>
          </a:prstGeom>
          <a:solidFill>
            <a:srgbClr val="C0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Down Arrow 59"/>
          <p:cNvSpPr/>
          <p:nvPr/>
        </p:nvSpPr>
        <p:spPr>
          <a:xfrm rot="16200000">
            <a:off x="4464512" y="5048037"/>
            <a:ext cx="253882" cy="30432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Left Bracket 97"/>
          <p:cNvSpPr/>
          <p:nvPr/>
        </p:nvSpPr>
        <p:spPr>
          <a:xfrm rot="16200000">
            <a:off x="4146636" y="6038049"/>
            <a:ext cx="45719" cy="346587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TextBox 99"/>
          <p:cNvSpPr txBox="1"/>
          <p:nvPr/>
        </p:nvSpPr>
        <p:spPr>
          <a:xfrm>
            <a:off x="3415138" y="6298228"/>
            <a:ext cx="1501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Hidden Layer</a:t>
            </a:r>
          </a:p>
        </p:txBody>
      </p:sp>
      <p:sp>
        <p:nvSpPr>
          <p:cNvPr id="101" name="Left Bracket 100"/>
          <p:cNvSpPr/>
          <p:nvPr/>
        </p:nvSpPr>
        <p:spPr>
          <a:xfrm>
            <a:off x="2982776" y="4049266"/>
            <a:ext cx="76914" cy="2198360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1832275" y="4999682"/>
            <a:ext cx="1777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Input Layer</a:t>
            </a:r>
          </a:p>
        </p:txBody>
      </p:sp>
      <p:sp>
        <p:nvSpPr>
          <p:cNvPr id="105" name="Left Bracket 104"/>
          <p:cNvSpPr/>
          <p:nvPr/>
        </p:nvSpPr>
        <p:spPr>
          <a:xfrm flipH="1">
            <a:off x="5033528" y="5053263"/>
            <a:ext cx="45719" cy="285408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4580589" y="5005266"/>
            <a:ext cx="1439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Output Layer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E535FB9-5C28-440B-92EB-ACA0AA1ACB5F}"/>
              </a:ext>
            </a:extLst>
          </p:cNvPr>
          <p:cNvSpPr/>
          <p:nvPr/>
        </p:nvSpPr>
        <p:spPr>
          <a:xfrm>
            <a:off x="6253761" y="5222868"/>
            <a:ext cx="2595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MLP with single hidden layer</a:t>
            </a:r>
            <a:endParaRPr lang="en-IN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4" name="Right Brace 113"/>
          <p:cNvSpPr/>
          <p:nvPr/>
        </p:nvSpPr>
        <p:spPr>
          <a:xfrm>
            <a:off x="5852936" y="4152550"/>
            <a:ext cx="353413" cy="2550254"/>
          </a:xfrm>
          <a:prstGeom prst="rightBrace">
            <a:avLst>
              <a:gd name="adj1" fmla="val 8333"/>
              <a:gd name="adj2" fmla="val 503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 114"/>
          <p:cNvSpPr/>
          <p:nvPr/>
        </p:nvSpPr>
        <p:spPr>
          <a:xfrm>
            <a:off x="2372430" y="3978111"/>
            <a:ext cx="3283652" cy="2724693"/>
          </a:xfrm>
          <a:prstGeom prst="rect">
            <a:avLst/>
          </a:prstGeom>
          <a:solidFill>
            <a:srgbClr val="00B05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0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CE39E89-354B-4824-B618-B0D6D5A45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93" y="1412727"/>
            <a:ext cx="4172532" cy="32675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3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IN" sz="3600" dirty="0">
                <a:latin typeface="Century" panose="02040604050505020304" pitchFamily="18" charset="0"/>
              </a:rPr>
              <a:t>Multi-Layer Perceptron (MLP)</a:t>
            </a:r>
          </a:p>
        </p:txBody>
      </p:sp>
      <p:sp>
        <p:nvSpPr>
          <p:cNvPr id="4" name="Oval 3"/>
          <p:cNvSpPr/>
          <p:nvPr/>
        </p:nvSpPr>
        <p:spPr>
          <a:xfrm rot="16200000">
            <a:off x="1836448" y="2932498"/>
            <a:ext cx="1887190" cy="456487"/>
          </a:xfrm>
          <a:prstGeom prst="ellipse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 rot="16200000">
            <a:off x="1033373" y="2900319"/>
            <a:ext cx="1878730" cy="549475"/>
          </a:xfrm>
          <a:prstGeom prst="ellipse">
            <a:avLst/>
          </a:prstGeom>
          <a:solidFill>
            <a:schemeClr val="accent2">
              <a:lumMod val="60000"/>
              <a:lumOff val="40000"/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 rot="16200000">
            <a:off x="1845792" y="3687321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 rot="16200000">
            <a:off x="1845792" y="3272647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 rot="16200000">
            <a:off x="1845792" y="2857973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 rot="16200000">
            <a:off x="1845792" y="2443299"/>
            <a:ext cx="262345" cy="219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 rot="16200000">
            <a:off x="2648869" y="3685550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 rot="16200000">
            <a:off x="2648869" y="3270876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 rot="16200000">
            <a:off x="2653095" y="2856202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3" name="Rounded Rectangle 12"/>
          <p:cNvSpPr/>
          <p:nvPr/>
        </p:nvSpPr>
        <p:spPr>
          <a:xfrm rot="16200000">
            <a:off x="2648869" y="2441528"/>
            <a:ext cx="262345" cy="219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 rot="16200000">
            <a:off x="2272694" y="3021274"/>
            <a:ext cx="253882" cy="30432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 rot="16200000">
            <a:off x="3345066" y="3059309"/>
            <a:ext cx="262345" cy="219790"/>
          </a:xfrm>
          <a:prstGeom prst="roundRect">
            <a:avLst/>
          </a:prstGeom>
          <a:solidFill>
            <a:srgbClr val="C0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own Arrow 15"/>
          <p:cNvSpPr/>
          <p:nvPr/>
        </p:nvSpPr>
        <p:spPr>
          <a:xfrm rot="16200000">
            <a:off x="3078772" y="3021274"/>
            <a:ext cx="253882" cy="30432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Left Bracket 16"/>
          <p:cNvSpPr/>
          <p:nvPr/>
        </p:nvSpPr>
        <p:spPr>
          <a:xfrm rot="16200000">
            <a:off x="2760896" y="4011286"/>
            <a:ext cx="45719" cy="346587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2029398" y="4271465"/>
            <a:ext cx="1501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Hidden Layer</a:t>
            </a:r>
          </a:p>
        </p:txBody>
      </p:sp>
      <p:sp>
        <p:nvSpPr>
          <p:cNvPr id="19" name="Left Bracket 18"/>
          <p:cNvSpPr/>
          <p:nvPr/>
        </p:nvSpPr>
        <p:spPr>
          <a:xfrm>
            <a:off x="1597036" y="2022503"/>
            <a:ext cx="76914" cy="2198360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446535" y="2972919"/>
            <a:ext cx="1777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Input Layer</a:t>
            </a:r>
          </a:p>
        </p:txBody>
      </p:sp>
      <p:sp>
        <p:nvSpPr>
          <p:cNvPr id="21" name="Left Bracket 20"/>
          <p:cNvSpPr/>
          <p:nvPr/>
        </p:nvSpPr>
        <p:spPr>
          <a:xfrm flipH="1">
            <a:off x="3647788" y="3026500"/>
            <a:ext cx="45719" cy="285408"/>
          </a:xfrm>
          <a:prstGeom prst="leftBracke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 rot="16200000">
            <a:off x="3194849" y="2978503"/>
            <a:ext cx="1439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Output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535FB9-5C28-440B-92EB-ACA0AA1ACB5F}"/>
              </a:ext>
            </a:extLst>
          </p:cNvPr>
          <p:cNvSpPr/>
          <p:nvPr/>
        </p:nvSpPr>
        <p:spPr>
          <a:xfrm>
            <a:off x="4848549" y="3057605"/>
            <a:ext cx="15229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MLP with single hidden layer</a:t>
            </a:r>
            <a:endParaRPr lang="en-IN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Right Brace 23"/>
          <p:cNvSpPr/>
          <p:nvPr/>
        </p:nvSpPr>
        <p:spPr>
          <a:xfrm>
            <a:off x="4467196" y="2125787"/>
            <a:ext cx="353413" cy="2550254"/>
          </a:xfrm>
          <a:prstGeom prst="rightBrace">
            <a:avLst>
              <a:gd name="adj1" fmla="val 8333"/>
              <a:gd name="adj2" fmla="val 503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986690" y="1951348"/>
            <a:ext cx="3283652" cy="2724693"/>
          </a:xfrm>
          <a:prstGeom prst="rect">
            <a:avLst/>
          </a:prstGeom>
          <a:solidFill>
            <a:srgbClr val="00B05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6E6D6C-7EBB-4510-820C-FEFC73306E7A}"/>
              </a:ext>
            </a:extLst>
          </p:cNvPr>
          <p:cNvSpPr/>
          <p:nvPr/>
        </p:nvSpPr>
        <p:spPr>
          <a:xfrm>
            <a:off x="7463541" y="4873658"/>
            <a:ext cx="4477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11111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Figure</a:t>
            </a:r>
            <a:r>
              <a:rPr lang="en-US" sz="1600" baseline="30000" dirty="0">
                <a:solidFill>
                  <a:srgbClr val="11111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11111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Partitioning of the input space by linear threshold-nodes in a MLP with hidden layer, one output node, an examples of separable decision regions.</a:t>
            </a:r>
            <a:endParaRPr lang="en-US" sz="1600" b="0" dirty="0">
              <a:solidFill>
                <a:srgbClr val="111111"/>
              </a:solidFill>
              <a:effectLst/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D10D0A-7785-4399-90EC-C6CBA4F2831A}"/>
              </a:ext>
            </a:extLst>
          </p:cNvPr>
          <p:cNvSpPr/>
          <p:nvPr/>
        </p:nvSpPr>
        <p:spPr>
          <a:xfrm>
            <a:off x="331694" y="6133707"/>
            <a:ext cx="116092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[1] Crone, Sven &amp; </a:t>
            </a:r>
            <a:r>
              <a:rPr lang="en-IN" sz="1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Soopramanien</a:t>
            </a:r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, Didier. (2005). Predicting Customer Online Shopping Adoption - an Evaluation of Data Mining and Market Modelling Approaches.. Proceedings of the 2005 International Conference on Data Mining, DMIN'05. 215-221.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1188" y="1690688"/>
            <a:ext cx="4694548" cy="318297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8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2483308" y="4126181"/>
            <a:ext cx="2956091" cy="621120"/>
          </a:xfrm>
          <a:prstGeom prst="rect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7371" y="1483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IN" sz="3200" dirty="0">
                <a:latin typeface="Century" panose="02040604050505020304" pitchFamily="18" charset="0"/>
              </a:rPr>
              <a:t>Introduction to Multi Layer Perceptron(MLP)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968" y="181937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05391" y="181937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74636" y="181937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39399" y="181937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425984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664802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903620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766162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04980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43798" y="202204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16491" y="3022994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37732" y="301828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58973" y="3018284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323827" y="319203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562645" y="319203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328865" y="319203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67683" y="319203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803400" y="1714259"/>
            <a:ext cx="4229100" cy="6211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483308" y="2910400"/>
            <a:ext cx="2956091" cy="621120"/>
          </a:xfrm>
          <a:prstGeom prst="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16491" y="423877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737732" y="4234066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758973" y="423406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323827" y="440781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562645" y="440781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328865" y="440781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567683" y="440781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3" name="Down Arrow 42"/>
          <p:cNvSpPr/>
          <p:nvPr/>
        </p:nvSpPr>
        <p:spPr>
          <a:xfrm>
            <a:off x="3833702" y="2336934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231169" y="5303057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09072" y="5307780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984499" y="5195173"/>
            <a:ext cx="2020481" cy="621120"/>
          </a:xfrm>
          <a:prstGeom prst="rect">
            <a:avLst/>
          </a:prstGeom>
          <a:solidFill>
            <a:schemeClr val="tx2">
              <a:lumMod val="60000"/>
              <a:lumOff val="40000"/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49" name="Straight Arrow Connector 48"/>
          <p:cNvCxnSpPr>
            <a:stCxn id="51" idx="1"/>
            <a:endCxn id="32" idx="3"/>
          </p:cNvCxnSpPr>
          <p:nvPr/>
        </p:nvCxnSpPr>
        <p:spPr>
          <a:xfrm flipH="1" flipV="1">
            <a:off x="6032500" y="2024819"/>
            <a:ext cx="890285" cy="144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22785" y="1841598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Input Layer</a:t>
            </a:r>
          </a:p>
        </p:txBody>
      </p:sp>
      <p:cxnSp>
        <p:nvCxnSpPr>
          <p:cNvPr id="52" name="Straight Arrow Connector 51"/>
          <p:cNvCxnSpPr>
            <a:stCxn id="55" idx="1"/>
            <a:endCxn id="47" idx="3"/>
          </p:cNvCxnSpPr>
          <p:nvPr/>
        </p:nvCxnSpPr>
        <p:spPr>
          <a:xfrm flipH="1">
            <a:off x="5004980" y="5498748"/>
            <a:ext cx="1625138" cy="698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630118" y="5314082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Output Layer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3259542" y="4744293"/>
            <a:ext cx="279400" cy="4423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57" name="Straight Arrow Connector 56"/>
          <p:cNvCxnSpPr>
            <a:stCxn id="60" idx="1"/>
            <a:endCxn id="33" idx="3"/>
          </p:cNvCxnSpPr>
          <p:nvPr/>
        </p:nvCxnSpPr>
        <p:spPr>
          <a:xfrm flipH="1" flipV="1">
            <a:off x="5439399" y="3220960"/>
            <a:ext cx="1571142" cy="254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010541" y="3038834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Hidden Layer with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i="1" dirty="0">
                <a:latin typeface="Arial Narrow" panose="020B0606020202030204" pitchFamily="34" charset="0"/>
              </a:rPr>
              <a:t> </a:t>
            </a:r>
            <a:r>
              <a:rPr lang="en-IN" dirty="0">
                <a:latin typeface="Arial Narrow" panose="020B0606020202030204" pitchFamily="34" charset="0"/>
              </a:rPr>
              <a:t>No. of neurons</a:t>
            </a:r>
          </a:p>
        </p:txBody>
      </p:sp>
      <p:cxnSp>
        <p:nvCxnSpPr>
          <p:cNvPr id="61" name="Straight Arrow Connector 60"/>
          <p:cNvCxnSpPr>
            <a:stCxn id="64" idx="1"/>
            <a:endCxn id="42" idx="3"/>
          </p:cNvCxnSpPr>
          <p:nvPr/>
        </p:nvCxnSpPr>
        <p:spPr>
          <a:xfrm flipH="1" flipV="1">
            <a:off x="5439399" y="4436741"/>
            <a:ext cx="1634642" cy="280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74041" y="4254880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Hidden Layer with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IN" i="1" dirty="0">
                <a:latin typeface="Arial Narrow" panose="020B0606020202030204" pitchFamily="34" charset="0"/>
              </a:rPr>
              <a:t> </a:t>
            </a:r>
            <a:r>
              <a:rPr lang="en-IN" dirty="0">
                <a:latin typeface="Arial Narrow" panose="020B0606020202030204" pitchFamily="34" charset="0"/>
              </a:rPr>
              <a:t>No. of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2014593" y="1803313"/>
                <a:ext cx="444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593" y="1803313"/>
                <a:ext cx="444802" cy="400110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2794482" y="1801393"/>
                <a:ext cx="4388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82" y="1801393"/>
                <a:ext cx="438838" cy="400110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182200" y="1786794"/>
                <a:ext cx="4079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200" y="1786794"/>
                <a:ext cx="407932" cy="400110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5439837" y="1791587"/>
                <a:ext cx="5137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37" y="1791587"/>
                <a:ext cx="51373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2690527" y="2982942"/>
                <a:ext cx="6077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527" y="2982942"/>
                <a:ext cx="607730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4675585" y="2978752"/>
                <a:ext cx="623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585" y="2978752"/>
                <a:ext cx="623761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3679626" y="2963654"/>
                <a:ext cx="6053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626" y="2963654"/>
                <a:ext cx="605358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/>
              <p:cNvSpPr/>
              <p:nvPr/>
            </p:nvSpPr>
            <p:spPr>
              <a:xfrm>
                <a:off x="4725065" y="4178177"/>
                <a:ext cx="6148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𝑘𝑟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2" name="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065" y="4178177"/>
                <a:ext cx="614848" cy="400110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2694222" y="4186002"/>
                <a:ext cx="6185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222" y="4186002"/>
                <a:ext cx="618503" cy="400110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/>
              <p:cNvSpPr/>
              <p:nvPr/>
            </p:nvSpPr>
            <p:spPr>
              <a:xfrm>
                <a:off x="3702509" y="4189190"/>
                <a:ext cx="5816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4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509" y="4189190"/>
                <a:ext cx="581634" cy="400110"/>
              </a:xfrm>
              <a:prstGeom prst="rect">
                <a:avLst/>
              </a:prstGeom>
              <a:blipFill>
                <a:blip r:embed="rId11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3187831" y="5268064"/>
                <a:ext cx="4678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831" y="5268064"/>
                <a:ext cx="467884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174636" y="5267708"/>
                <a:ext cx="4738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636" y="5267708"/>
                <a:ext cx="473848" cy="400110"/>
              </a:xfrm>
              <a:prstGeom prst="rect">
                <a:avLst/>
              </a:prstGeom>
              <a:blipFill>
                <a:blip r:embed="rId1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Down Arrow 97"/>
          <p:cNvSpPr/>
          <p:nvPr/>
        </p:nvSpPr>
        <p:spPr>
          <a:xfrm>
            <a:off x="4975951" y="2336934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9" name="Down Arrow 98"/>
          <p:cNvSpPr/>
          <p:nvPr/>
        </p:nvSpPr>
        <p:spPr>
          <a:xfrm>
            <a:off x="2705047" y="2344982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Down Arrow 102"/>
          <p:cNvSpPr/>
          <p:nvPr/>
        </p:nvSpPr>
        <p:spPr>
          <a:xfrm>
            <a:off x="3817129" y="3533190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4" name="Down Arrow 103"/>
          <p:cNvSpPr/>
          <p:nvPr/>
        </p:nvSpPr>
        <p:spPr>
          <a:xfrm>
            <a:off x="4936518" y="3533190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5" name="Down Arrow 104"/>
          <p:cNvSpPr/>
          <p:nvPr/>
        </p:nvSpPr>
        <p:spPr>
          <a:xfrm>
            <a:off x="2673234" y="3541238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7" name="Down Arrow 106"/>
          <p:cNvSpPr/>
          <p:nvPr/>
        </p:nvSpPr>
        <p:spPr>
          <a:xfrm>
            <a:off x="4474045" y="4752865"/>
            <a:ext cx="279400" cy="4423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281832" y="3614860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 Narrow" panose="020B0606020202030204" pitchFamily="34" charset="0"/>
              </a:rPr>
              <a:t>k</a:t>
            </a:r>
            <a:r>
              <a:rPr lang="en-IN" dirty="0">
                <a:latin typeface="Arial Narrow" panose="020B0606020202030204" pitchFamily="34" charset="0"/>
              </a:rPr>
              <a:t> no. of 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108"/>
              <p:cNvSpPr/>
              <p:nvPr/>
            </p:nvSpPr>
            <p:spPr>
              <a:xfrm>
                <a:off x="3254592" y="3632300"/>
                <a:ext cx="6067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𝑒𝑖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9" name="Rectangle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592" y="3632300"/>
                <a:ext cx="606768" cy="400110"/>
              </a:xfrm>
              <a:prstGeom prst="rect">
                <a:avLst/>
              </a:prstGeom>
              <a:blipFill>
                <a:blip r:embed="rId1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59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473872"/>
            <a:ext cx="10896600" cy="496502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Input Layer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Acts as the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entry point of the network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Simply receives the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input features and forwards them to the next layer without performing any computation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pPr marL="31140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Hidden Layer(s)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Process the input data and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learn underlying patterns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Allow the network to solve problems that cannot be separated by a single linear boundary. </a:t>
            </a: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Even a single hidden layer can represent complex relationships, while additional hidden layers increase the network's ability to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approximate highly complex functions with greater accuracy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marL="540000"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Output Layer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540000" algn="just"/>
            <a:r>
              <a:rPr lang="en-US" sz="2400" dirty="0">
                <a:latin typeface="Arial Narrow" panose="020B0606020202030204" pitchFamily="34" charset="0"/>
              </a:rPr>
              <a:t>The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final processing layer </a:t>
            </a:r>
            <a:r>
              <a:rPr lang="en-US" sz="2400" dirty="0">
                <a:latin typeface="Arial Narrow" panose="020B0606020202030204" pitchFamily="34" charset="0"/>
              </a:rPr>
              <a:t>of the network. </a:t>
            </a:r>
          </a:p>
          <a:p>
            <a:pPr marL="540000" algn="just"/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Combines the learned information from the hidden layers and generates the predicted output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687371" y="721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3600" dirty="0">
                <a:latin typeface="Century" panose="02040604050505020304" pitchFamily="18" charset="0"/>
              </a:rPr>
              <a:t>Introduction to Multi Layer Perceptron(MLP)</a:t>
            </a:r>
          </a:p>
        </p:txBody>
      </p:sp>
    </p:spTree>
    <p:extLst>
      <p:ext uri="{BB962C8B-B14F-4D97-AF65-F5344CB8AC3E}">
        <p14:creationId xmlns:p14="http://schemas.microsoft.com/office/powerpoint/2010/main" val="278020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089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3358" y="1222309"/>
                <a:ext cx="7665377" cy="31394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Arial Narrow" panose="020B0606020202030204" pitchFamily="34" charset="0"/>
                  </a:rPr>
                  <a:t>An activation function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introduces non-linearity into a neuron</a:t>
                </a:r>
                <a:r>
                  <a:rPr lang="en-US" sz="2000" dirty="0">
                    <a:latin typeface="Arial Narrow" panose="020B0606020202030204" pitchFamily="34" charset="0"/>
                  </a:rPr>
                  <a:t>, enabling the network to learn complex patterns.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>
                    <a:latin typeface="Arial Narrow" panose="020B0606020202030204" pitchFamily="34" charset="0"/>
                  </a:rPr>
                  <a:t>Example: Sigmoid activation function.</a:t>
                </a:r>
              </a:p>
              <a:p>
                <a:pPr>
                  <a:lnSpc>
                    <a:spcPct val="100000"/>
                  </a:lnSpc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sz="2000" dirty="0">
                    <a:latin typeface="Arial Narrow" panose="020B0606020202030204" pitchFamily="34" charset="0"/>
                  </a:rPr>
                  <a:t>If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all hidden layers use a linear activation function 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entire network behaves like a single linear model</a:t>
                </a:r>
                <a:r>
                  <a:rPr lang="en-US" sz="2000" dirty="0">
                    <a:latin typeface="Arial Narrow" panose="020B0606020202030204" pitchFamily="34" charset="0"/>
                  </a:rPr>
                  <a:t>, regardless of the number of hidden layers. This is because multiple linear transformations combine into one linear transformation.</a:t>
                </a:r>
              </a:p>
              <a:p>
                <a:pPr>
                  <a:lnSpc>
                    <a:spcPct val="100000"/>
                  </a:lnSpc>
                </a:pPr>
                <a:endParaRPr lang="en-US" sz="2000" b="1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358" y="1222309"/>
                <a:ext cx="7665377" cy="3139479"/>
              </a:xfrm>
              <a:blipFill>
                <a:blip r:embed="rId2"/>
                <a:stretch>
                  <a:fillRect l="-716" t="-1165" r="-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188036" y="4509399"/>
            <a:ext cx="4732086" cy="1992766"/>
            <a:chOff x="4437282" y="3931076"/>
            <a:chExt cx="3799084" cy="15992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12"/>
                <p:cNvSpPr txBox="1"/>
                <p:nvPr/>
              </p:nvSpPr>
              <p:spPr>
                <a:xfrm>
                  <a:off x="6409977" y="4195991"/>
                  <a:ext cx="1826389" cy="5590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11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9977" y="4195991"/>
                  <a:ext cx="1826389" cy="55906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13"/>
            <p:cNvSpPr txBox="1"/>
            <p:nvPr/>
          </p:nvSpPr>
          <p:spPr>
            <a:xfrm>
              <a:off x="5729780" y="5222558"/>
              <a:ext cx="15933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latin typeface="Helvetica Neue"/>
                </a:rPr>
                <a:t>Sigmoid Function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1939" y="3931076"/>
              <a:ext cx="1983652" cy="1180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9"/>
                <p:cNvSpPr txBox="1"/>
                <p:nvPr/>
              </p:nvSpPr>
              <p:spPr>
                <a:xfrm>
                  <a:off x="6320671" y="4973032"/>
                  <a:ext cx="5258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Helvetica Neue"/>
                    </a:rPr>
                    <a:t>+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Helvetica Neue"/>
                  </a:endParaRPr>
                </a:p>
              </p:txBody>
            </p:sp>
          </mc:Choice>
          <mc:Fallback xmlns="">
            <p:sp>
              <p:nvSpPr>
                <p:cNvPr id="14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671" y="4973032"/>
                  <a:ext cx="525840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30"/>
                <p:cNvSpPr txBox="1"/>
                <p:nvPr/>
              </p:nvSpPr>
              <p:spPr>
                <a:xfrm>
                  <a:off x="4437282" y="4903782"/>
                  <a:ext cx="5258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Helvetica Neue"/>
                    </a:rPr>
                    <a:t>-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Helvetica Neue"/>
                  </a:endParaRPr>
                </a:p>
              </p:txBody>
            </p:sp>
          </mc:Choice>
          <mc:Fallback xmlns="">
            <p:sp>
              <p:nvSpPr>
                <p:cNvPr id="15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282" y="4903782"/>
                  <a:ext cx="525840" cy="27699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31"/>
            <p:cNvSpPr txBox="1"/>
            <p:nvPr/>
          </p:nvSpPr>
          <p:spPr>
            <a:xfrm>
              <a:off x="5198187" y="4410742"/>
              <a:ext cx="525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Helvetica Neue"/>
                </a:rPr>
                <a:t>0.5</a:t>
              </a:r>
            </a:p>
          </p:txBody>
        </p:sp>
        <p:sp>
          <p:nvSpPr>
            <p:cNvPr id="27" name="TextBox 32"/>
            <p:cNvSpPr txBox="1"/>
            <p:nvPr/>
          </p:nvSpPr>
          <p:spPr>
            <a:xfrm>
              <a:off x="5303387" y="3993642"/>
              <a:ext cx="315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Helvetica Neue"/>
                </a:rPr>
                <a:t>1</a:t>
              </a:r>
            </a:p>
          </p:txBody>
        </p:sp>
        <p:sp>
          <p:nvSpPr>
            <p:cNvPr id="28" name="TextBox 33"/>
            <p:cNvSpPr txBox="1"/>
            <p:nvPr/>
          </p:nvSpPr>
          <p:spPr>
            <a:xfrm>
              <a:off x="5376045" y="4903782"/>
              <a:ext cx="315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Helvetica Neue"/>
                </a:rPr>
                <a:t>0</a:t>
              </a:r>
            </a:p>
          </p:txBody>
        </p:sp>
        <p:sp>
          <p:nvSpPr>
            <p:cNvPr id="29" name="TextBox 34"/>
            <p:cNvSpPr txBox="1"/>
            <p:nvPr/>
          </p:nvSpPr>
          <p:spPr>
            <a:xfrm>
              <a:off x="6409977" y="4809757"/>
              <a:ext cx="525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Helvetica Neue"/>
                </a:rPr>
                <a:t>Z</a:t>
              </a:r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 flipV="1">
            <a:off x="9159083" y="2569885"/>
            <a:ext cx="1906" cy="1045844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152733" y="3615729"/>
            <a:ext cx="124206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9155908" y="2668309"/>
            <a:ext cx="1098868" cy="9505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702866" y="2355492"/>
                <a:ext cx="4498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866" y="2355492"/>
                <a:ext cx="449867" cy="246221"/>
              </a:xfrm>
              <a:prstGeom prst="rect">
                <a:avLst/>
              </a:prstGeom>
              <a:blipFill>
                <a:blip r:embed="rId7"/>
                <a:stretch>
                  <a:fillRect l="-16438" r="-16438" b="-31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0373142" y="3477229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142" y="3477229"/>
                <a:ext cx="183320" cy="276999"/>
              </a:xfrm>
              <a:prstGeom prst="rect">
                <a:avLst/>
              </a:prstGeom>
              <a:blipFill>
                <a:blip r:embed="rId8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162239" y="3025914"/>
                <a:ext cx="9408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239" y="3025914"/>
                <a:ext cx="940835" cy="276999"/>
              </a:xfrm>
              <a:prstGeom prst="rect">
                <a:avLst/>
              </a:prstGeom>
              <a:blipFill>
                <a:blip r:embed="rId9"/>
                <a:stretch>
                  <a:fillRect l="-3247" t="-2174" r="-9091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6243972" y="4773721"/>
            <a:ext cx="5433678" cy="1708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Arial Narrow" panose="020B0606020202030204" pitchFamily="34" charset="0"/>
              </a:defRPr>
            </a:lvl1pPr>
            <a:lvl2pPr marL="685800" lvl="1" indent="-2286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600"/>
              </a:spcBef>
            </a:pPr>
            <a:r>
              <a:rPr lang="en-US" b="1" dirty="0"/>
              <a:t>Sigmoid Activation Function</a:t>
            </a:r>
          </a:p>
          <a:p>
            <a:pPr marL="540000">
              <a:spcBef>
                <a:spcPts val="600"/>
              </a:spcBef>
            </a:pPr>
            <a:r>
              <a:rPr lang="en-US" dirty="0">
                <a:solidFill>
                  <a:srgbClr val="00B0F0"/>
                </a:solidFill>
              </a:rPr>
              <a:t>Logistic function </a:t>
            </a:r>
            <a:r>
              <a:rPr lang="en-US" dirty="0"/>
              <a:t>with output between 0 and 1. </a:t>
            </a:r>
          </a:p>
          <a:p>
            <a:pPr marL="540000">
              <a:spcBef>
                <a:spcPts val="600"/>
              </a:spcBef>
            </a:pPr>
            <a:r>
              <a:rPr lang="en-US" dirty="0"/>
              <a:t>Commonly used for binary classification. </a:t>
            </a:r>
          </a:p>
          <a:p>
            <a:pPr marL="540000">
              <a:spcBef>
                <a:spcPts val="600"/>
              </a:spcBef>
            </a:pPr>
            <a:r>
              <a:rPr lang="en-US" dirty="0">
                <a:solidFill>
                  <a:srgbClr val="00B0F0"/>
                </a:solidFill>
              </a:rPr>
              <a:t>Differentiable but prone to the vanishing gradient problem</a:t>
            </a:r>
            <a:r>
              <a:rPr lang="en-US" dirty="0"/>
              <a:t>.</a:t>
            </a:r>
          </a:p>
        </p:txBody>
      </p:sp>
      <p:sp>
        <p:nvSpPr>
          <p:cNvPr id="37" name="Oval 36"/>
          <p:cNvSpPr/>
          <p:nvPr/>
        </p:nvSpPr>
        <p:spPr>
          <a:xfrm>
            <a:off x="8415086" y="1692641"/>
            <a:ext cx="2905125" cy="2618385"/>
          </a:xfrm>
          <a:prstGeom prst="ellipse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9201538" y="3785040"/>
            <a:ext cx="1338828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Narrow" panose="020B0606020202030204" pitchFamily="34" charset="0"/>
              </a:rPr>
              <a:t>Linear Function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8199" y="4311026"/>
            <a:ext cx="5000625" cy="2356474"/>
          </a:xfrm>
          <a:prstGeom prst="roundRect">
            <a:avLst/>
          </a:prstGeom>
          <a:solidFill>
            <a:schemeClr val="bg2">
              <a:lumMod val="10000"/>
              <a:alpha val="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03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151"/>
            <a:ext cx="10515600" cy="10801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4" y="1635124"/>
            <a:ext cx="3495675" cy="2498725"/>
          </a:xfrm>
        </p:spPr>
        <p:txBody>
          <a:bodyPr>
            <a:noAutofit/>
          </a:bodyPr>
          <a:lstStyle/>
          <a:p>
            <a:pPr algn="just"/>
            <a:r>
              <a:rPr lang="en-IN" sz="2000" b="1" dirty="0">
                <a:latin typeface="Arial Narrow" panose="020B0606020202030204" pitchFamily="34" charset="0"/>
              </a:rPr>
              <a:t>Hyperbolic Tangent (</a:t>
            </a:r>
            <a:r>
              <a:rPr lang="en-IN" sz="2000" b="1" dirty="0" err="1">
                <a:latin typeface="Arial Narrow" panose="020B0606020202030204" pitchFamily="34" charset="0"/>
              </a:rPr>
              <a:t>tanh</a:t>
            </a:r>
            <a:r>
              <a:rPr lang="en-IN" sz="2000" b="1" dirty="0">
                <a:latin typeface="Arial Narrow" panose="020B0606020202030204" pitchFamily="34" charset="0"/>
              </a:rPr>
              <a:t>)</a:t>
            </a:r>
          </a:p>
          <a:p>
            <a:pPr algn="just"/>
            <a:r>
              <a:rPr lang="en-IN" sz="2000" dirty="0">
                <a:latin typeface="Arial Narrow" panose="020B0606020202030204" pitchFamily="34" charset="0"/>
              </a:rPr>
              <a:t>Shifted version of the sigmoid function. </a:t>
            </a:r>
          </a:p>
          <a:p>
            <a:pPr algn="just"/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Differentiable</a:t>
            </a:r>
            <a:r>
              <a:rPr lang="en-IN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IN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Suffers from the vanishing gradient problem</a:t>
            </a:r>
            <a:r>
              <a:rPr lang="en-IN" sz="2000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8649" y="1646187"/>
            <a:ext cx="3609976" cy="266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000" b="1" dirty="0" err="1">
                <a:latin typeface="Arial Narrow" panose="020B0606020202030204" pitchFamily="34" charset="0"/>
              </a:rPr>
              <a:t>ReLU</a:t>
            </a:r>
            <a:r>
              <a:rPr lang="en-IN" sz="2000" b="1" dirty="0">
                <a:latin typeface="Arial Narrow" panose="020B0606020202030204" pitchFamily="34" charset="0"/>
              </a:rPr>
              <a:t> (Rectified Linear Unit)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Faster and computationally efficient.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Reduces vanishing gradient for positive inputs</a:t>
            </a:r>
            <a:r>
              <a:rPr lang="en-IN" sz="2000" dirty="0">
                <a:latin typeface="Arial Narrow" panose="020B0606020202030204" pitchFamily="34" charset="0"/>
              </a:rPr>
              <a:t>.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Can suffer from the "dying </a:t>
            </a:r>
            <a:r>
              <a:rPr lang="en-IN" sz="20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ReLU</a:t>
            </a:r>
            <a:r>
              <a:rPr lang="en-IN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" problem for negative inputs</a:t>
            </a:r>
            <a:r>
              <a:rPr lang="en-IN" sz="2000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5" name="Rectangle 4"/>
          <p:cNvSpPr/>
          <p:nvPr/>
        </p:nvSpPr>
        <p:spPr>
          <a:xfrm>
            <a:off x="8372476" y="1635124"/>
            <a:ext cx="3076574" cy="2306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000" b="1" dirty="0">
                <a:latin typeface="Arial Narrow" panose="020B0606020202030204" pitchFamily="34" charset="0"/>
              </a:rPr>
              <a:t>Leaky </a:t>
            </a:r>
            <a:r>
              <a:rPr lang="en-IN" sz="2000" b="1" dirty="0" err="1">
                <a:latin typeface="Arial Narrow" panose="020B0606020202030204" pitchFamily="34" charset="0"/>
              </a:rPr>
              <a:t>ReLU</a:t>
            </a:r>
            <a:endParaRPr lang="en-IN" sz="2000" b="1" dirty="0">
              <a:latin typeface="Arial Narrow" panose="020B0606020202030204" pitchFamily="34" charset="0"/>
            </a:endParaRP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Variant of </a:t>
            </a:r>
            <a:r>
              <a:rPr lang="en-IN" sz="2000" dirty="0" err="1">
                <a:latin typeface="Arial Narrow" panose="020B0606020202030204" pitchFamily="34" charset="0"/>
              </a:rPr>
              <a:t>ReLU</a:t>
            </a:r>
            <a:r>
              <a:rPr lang="en-IN" sz="2000" dirty="0">
                <a:latin typeface="Arial Narrow" panose="020B0606020202030204" pitchFamily="34" charset="0"/>
              </a:rPr>
              <a:t>.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Allows a small gradient for negative inputs.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Helps overcome the dying </a:t>
            </a:r>
            <a:r>
              <a:rPr lang="en-IN" sz="20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ReLU</a:t>
            </a:r>
            <a:r>
              <a:rPr lang="en-IN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 problem</a:t>
            </a:r>
            <a:r>
              <a:rPr lang="en-IN" sz="2000" dirty="0">
                <a:latin typeface="Arial Narrow" panose="020B0606020202030204" pitchFamily="34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71524" y="4133849"/>
            <a:ext cx="3150001" cy="1880987"/>
            <a:chOff x="6913922" y="1806595"/>
            <a:chExt cx="3455868" cy="1929336"/>
          </a:xfrm>
        </p:grpSpPr>
        <p:sp>
          <p:nvSpPr>
            <p:cNvPr id="7" name="TextBox 3"/>
            <p:cNvSpPr txBox="1"/>
            <p:nvPr/>
          </p:nvSpPr>
          <p:spPr>
            <a:xfrm>
              <a:off x="7683876" y="3388675"/>
              <a:ext cx="1473952" cy="34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 err="1">
                  <a:latin typeface="Arial Narrow" panose="020B0606020202030204" pitchFamily="34" charset="0"/>
                </a:rPr>
                <a:t>tanh</a:t>
              </a:r>
              <a:r>
                <a:rPr lang="en-IN" sz="1600" dirty="0">
                  <a:latin typeface="Arial Narrow" panose="020B0606020202030204" pitchFamily="34" charset="0"/>
                </a:rPr>
                <a:t> Function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2628" y="1806595"/>
              <a:ext cx="2247822" cy="14285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5"/>
                <p:cNvSpPr txBox="1"/>
                <p:nvPr/>
              </p:nvSpPr>
              <p:spPr>
                <a:xfrm>
                  <a:off x="9456133" y="2382355"/>
                  <a:ext cx="913657" cy="284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6133" y="2382355"/>
                  <a:ext cx="913657" cy="284119"/>
                </a:xfrm>
                <a:prstGeom prst="rect">
                  <a:avLst/>
                </a:prstGeom>
                <a:blipFill>
                  <a:blip r:embed="rId3"/>
                  <a:stretch>
                    <a:fillRect l="-6618" r="-10294" b="-369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6"/>
                <p:cNvSpPr txBox="1"/>
                <p:nvPr/>
              </p:nvSpPr>
              <p:spPr>
                <a:xfrm>
                  <a:off x="9085927" y="2585597"/>
                  <a:ext cx="525840" cy="284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Arial Narrow" panose="020B0606020202030204" pitchFamily="34" charset="0"/>
                    </a:rPr>
                    <a:t>+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5927" y="2585597"/>
                  <a:ext cx="525840" cy="284119"/>
                </a:xfrm>
                <a:prstGeom prst="rect">
                  <a:avLst/>
                </a:prstGeom>
                <a:blipFill>
                  <a:blip r:embed="rId4"/>
                  <a:stretch>
                    <a:fillRect t="-4444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7"/>
                <p:cNvSpPr txBox="1"/>
                <p:nvPr/>
              </p:nvSpPr>
              <p:spPr>
                <a:xfrm>
                  <a:off x="6913922" y="2508047"/>
                  <a:ext cx="525840" cy="284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IN" sz="1200" dirty="0">
                      <a:latin typeface="Arial Narrow" panose="020B0606020202030204" pitchFamily="34" charset="0"/>
                    </a:rPr>
                    <a:t>-</a:t>
                  </a:r>
                  <a14:m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3922" y="2508047"/>
                  <a:ext cx="525840" cy="284119"/>
                </a:xfrm>
                <a:prstGeom prst="rect">
                  <a:avLst/>
                </a:prstGeom>
                <a:blipFill>
                  <a:blip r:embed="rId5"/>
                  <a:stretch>
                    <a:fillRect l="-1282" t="-2174" b="-130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8"/>
            <p:cNvSpPr txBox="1"/>
            <p:nvPr/>
          </p:nvSpPr>
          <p:spPr>
            <a:xfrm>
              <a:off x="7903295" y="1853208"/>
              <a:ext cx="370276" cy="28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+1</a:t>
              </a: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7966267" y="3112450"/>
              <a:ext cx="370276" cy="28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-1</a:t>
              </a:r>
            </a:p>
          </p:txBody>
        </p:sp>
        <p:sp>
          <p:nvSpPr>
            <p:cNvPr id="14" name="TextBox 10"/>
            <p:cNvSpPr txBox="1"/>
            <p:nvPr/>
          </p:nvSpPr>
          <p:spPr>
            <a:xfrm>
              <a:off x="7982186" y="2532318"/>
              <a:ext cx="291387" cy="28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9163702" y="2332550"/>
              <a:ext cx="370276" cy="28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Z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31048" y="4431477"/>
            <a:ext cx="3348023" cy="1733093"/>
            <a:chOff x="7039492" y="4014125"/>
            <a:chExt cx="3827435" cy="18373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9702311" y="4510200"/>
                  <a:ext cx="1164616" cy="2936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⁡(0,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2311" y="4510200"/>
                  <a:ext cx="1164616" cy="293658"/>
                </a:xfrm>
                <a:prstGeom prst="rect">
                  <a:avLst/>
                </a:prstGeom>
                <a:blipFill>
                  <a:blip r:embed="rId6"/>
                  <a:stretch>
                    <a:fillRect l="-2994" r="-7784" b="-4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39492" y="4014125"/>
              <a:ext cx="2598645" cy="1478408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901265" y="5492533"/>
              <a:ext cx="1581238" cy="358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 err="1">
                  <a:latin typeface="Arial Narrow" panose="020B0606020202030204" pitchFamily="34" charset="0"/>
                </a:rPr>
                <a:t>ReLU</a:t>
              </a:r>
              <a:r>
                <a:rPr lang="en-IN" sz="1600" dirty="0">
                  <a:latin typeface="Arial Narrow" panose="020B0606020202030204" pitchFamily="34" charset="0"/>
                </a:rPr>
                <a:t> Function</a:t>
              </a:r>
            </a:p>
          </p:txBody>
        </p:sp>
        <p:sp>
          <p:nvSpPr>
            <p:cNvPr id="22" name="TextBox 24"/>
            <p:cNvSpPr txBox="1"/>
            <p:nvPr/>
          </p:nvSpPr>
          <p:spPr>
            <a:xfrm>
              <a:off x="9452999" y="5046257"/>
              <a:ext cx="370275" cy="29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Z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518405" y="4237219"/>
            <a:ext cx="3209606" cy="1814242"/>
            <a:chOff x="2769577" y="3389455"/>
            <a:chExt cx="3554907" cy="21398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0420" y="3389455"/>
              <a:ext cx="1607959" cy="1516511"/>
            </a:xfrm>
            <a:prstGeom prst="rect">
              <a:avLst/>
            </a:prstGeom>
          </p:spPr>
        </p:pic>
        <p:cxnSp>
          <p:nvCxnSpPr>
            <p:cNvPr id="25" name="Straight Connector 24"/>
            <p:cNvCxnSpPr/>
            <p:nvPr/>
          </p:nvCxnSpPr>
          <p:spPr>
            <a:xfrm>
              <a:off x="2769577" y="4796724"/>
              <a:ext cx="12397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2769577" y="4787199"/>
              <a:ext cx="1239715" cy="1187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2"/>
            <p:cNvSpPr txBox="1"/>
            <p:nvPr/>
          </p:nvSpPr>
          <p:spPr>
            <a:xfrm>
              <a:off x="3217396" y="5129999"/>
              <a:ext cx="2366685" cy="399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>
                  <a:latin typeface="Arial Narrow" panose="020B0606020202030204" pitchFamily="34" charset="0"/>
                </a:rPr>
                <a:t>Leaky </a:t>
              </a:r>
              <a:r>
                <a:rPr lang="en-IN" sz="1600" dirty="0" err="1">
                  <a:latin typeface="Arial Narrow" panose="020B0606020202030204" pitchFamily="34" charset="0"/>
                </a:rPr>
                <a:t>ReLU</a:t>
              </a:r>
              <a:r>
                <a:rPr lang="en-IN" sz="1600" dirty="0">
                  <a:latin typeface="Arial Narrow" panose="020B0606020202030204" pitchFamily="34" charset="0"/>
                </a:rPr>
                <a:t>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3"/>
                <p:cNvSpPr txBox="1"/>
                <p:nvPr/>
              </p:nvSpPr>
              <p:spPr>
                <a:xfrm>
                  <a:off x="4843679" y="4009210"/>
                  <a:ext cx="1480805" cy="3267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⁡(0.1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79" y="4009210"/>
                  <a:ext cx="1480805" cy="326715"/>
                </a:xfrm>
                <a:prstGeom prst="rect">
                  <a:avLst/>
                </a:prstGeom>
                <a:blipFill>
                  <a:blip r:embed="rId9"/>
                  <a:stretch>
                    <a:fillRect l="-2283" r="-5936" b="-369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5"/>
            <p:cNvSpPr txBox="1"/>
            <p:nvPr/>
          </p:nvSpPr>
          <p:spPr>
            <a:xfrm>
              <a:off x="5484238" y="4569582"/>
              <a:ext cx="370275" cy="326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200" dirty="0">
                  <a:latin typeface="Arial Narrow" panose="020B0606020202030204" pitchFamily="34" charset="0"/>
                </a:rPr>
                <a:t>Z</a:t>
              </a:r>
            </a:p>
          </p:txBody>
        </p:sp>
      </p:grpSp>
      <p:cxnSp>
        <p:nvCxnSpPr>
          <p:cNvPr id="31" name="Straight Connector 30"/>
          <p:cNvCxnSpPr/>
          <p:nvPr/>
        </p:nvCxnSpPr>
        <p:spPr>
          <a:xfrm flipH="1">
            <a:off x="4353130" y="1457324"/>
            <a:ext cx="9524" cy="468803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8191091" y="1457325"/>
            <a:ext cx="9524" cy="468803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22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7389984" y="3028094"/>
            <a:ext cx="2377440" cy="293617"/>
          </a:xfrm>
          <a:prstGeom prst="rect">
            <a:avLst/>
          </a:prstGeom>
          <a:solidFill>
            <a:schemeClr val="accent6">
              <a:lumMod val="75000"/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0" name="Rectangle 9"/>
          <p:cNvSpPr/>
          <p:nvPr/>
        </p:nvSpPr>
        <p:spPr>
          <a:xfrm>
            <a:off x="7648425" y="1325200"/>
            <a:ext cx="1885966" cy="293617"/>
          </a:xfrm>
          <a:prstGeom prst="rect">
            <a:avLst/>
          </a:prstGeom>
          <a:solidFill>
            <a:schemeClr val="accent6">
              <a:lumMod val="75000"/>
              <a:alpha val="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31" y="432238"/>
            <a:ext cx="10515600" cy="759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Softmax</a:t>
            </a:r>
            <a:r>
              <a:rPr lang="en-IN" sz="3600" dirty="0">
                <a:latin typeface="Century" panose="02040604050505020304" pitchFamily="18" charset="0"/>
              </a:rPr>
              <a:t> 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030" y="1389396"/>
            <a:ext cx="6265157" cy="472617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 err="1">
                <a:latin typeface="Arial Narrow" panose="020B0606020202030204" pitchFamily="34" charset="0"/>
              </a:rPr>
              <a:t>Softmax</a:t>
            </a:r>
            <a:r>
              <a:rPr lang="en-US" sz="2000" dirty="0">
                <a:latin typeface="Arial Narrow" panose="020B0606020202030204" pitchFamily="34" charset="0"/>
              </a:rPr>
              <a:t> function is commonly used in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output layer of neural networks for classification tasks</a:t>
            </a:r>
            <a:r>
              <a:rPr lang="en-US" sz="2000" dirty="0">
                <a:latin typeface="Arial Narrow" panose="020B0606020202030204" pitchFamily="34" charset="0"/>
              </a:rPr>
              <a:t>. It transforms raw output scores (logits) into probability values by normalizing them, ensuring that all outputs lie between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0 and 1 </a:t>
            </a:r>
            <a:r>
              <a:rPr lang="en-US" sz="2000" dirty="0">
                <a:latin typeface="Arial Narrow" panose="020B0606020202030204" pitchFamily="34" charset="0"/>
              </a:rPr>
              <a:t>and their sum equals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Converts logits into probabilities.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Output values range from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0 to 1 </a:t>
            </a:r>
            <a:r>
              <a:rPr lang="en-US" sz="2000" dirty="0">
                <a:latin typeface="Arial Narrow" panose="020B0606020202030204" pitchFamily="34" charset="0"/>
              </a:rPr>
              <a:t>and sum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Used in the final layer of classification networks.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Suitable for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multi-class classification, where exactly one class is chosen as the prediction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IN" sz="2300" dirty="0">
              <a:latin typeface="Arial Narrow" panose="020B0606020202030204" pitchFamily="34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7759817" y="1344056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5" name="Isosceles Triangle 4"/>
          <p:cNvSpPr/>
          <p:nvPr/>
        </p:nvSpPr>
        <p:spPr>
          <a:xfrm>
            <a:off x="8046441" y="1344056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6" name="Isosceles Triangle 5"/>
          <p:cNvSpPr/>
          <p:nvPr/>
        </p:nvSpPr>
        <p:spPr>
          <a:xfrm>
            <a:off x="8333065" y="1344055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7" name="Isosceles Triangle 6"/>
          <p:cNvSpPr/>
          <p:nvPr/>
        </p:nvSpPr>
        <p:spPr>
          <a:xfrm>
            <a:off x="8619689" y="1344054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8" name="Isosceles Triangle 7"/>
          <p:cNvSpPr/>
          <p:nvPr/>
        </p:nvSpPr>
        <p:spPr>
          <a:xfrm>
            <a:off x="8906313" y="1344054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9" name="Isosceles Triangle 8"/>
          <p:cNvSpPr/>
          <p:nvPr/>
        </p:nvSpPr>
        <p:spPr>
          <a:xfrm>
            <a:off x="9192937" y="1344054"/>
            <a:ext cx="184557" cy="2265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1" name="Oval 10"/>
          <p:cNvSpPr/>
          <p:nvPr/>
        </p:nvSpPr>
        <p:spPr>
          <a:xfrm>
            <a:off x="7766979" y="2203961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2" name="Oval 11"/>
          <p:cNvSpPr/>
          <p:nvPr/>
        </p:nvSpPr>
        <p:spPr>
          <a:xfrm>
            <a:off x="8047779" y="2203961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3" name="Oval 12"/>
          <p:cNvSpPr/>
          <p:nvPr/>
        </p:nvSpPr>
        <p:spPr>
          <a:xfrm>
            <a:off x="8331017" y="2205827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4" name="Oval 13"/>
          <p:cNvSpPr/>
          <p:nvPr/>
        </p:nvSpPr>
        <p:spPr>
          <a:xfrm>
            <a:off x="8611817" y="2201111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5" name="Oval 14"/>
          <p:cNvSpPr/>
          <p:nvPr/>
        </p:nvSpPr>
        <p:spPr>
          <a:xfrm>
            <a:off x="8892617" y="2201111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6" name="Oval 15"/>
          <p:cNvSpPr/>
          <p:nvPr/>
        </p:nvSpPr>
        <p:spPr>
          <a:xfrm>
            <a:off x="9158667" y="2201111"/>
            <a:ext cx="194347" cy="1791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17" name="Rectangle 16"/>
          <p:cNvSpPr/>
          <p:nvPr/>
        </p:nvSpPr>
        <p:spPr>
          <a:xfrm>
            <a:off x="7642429" y="2143856"/>
            <a:ext cx="1885966" cy="293617"/>
          </a:xfrm>
          <a:prstGeom prst="rect">
            <a:avLst/>
          </a:prstGeom>
          <a:solidFill>
            <a:schemeClr val="accent6">
              <a:lumMod val="75000"/>
              <a:alpha val="28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cxnSp>
        <p:nvCxnSpPr>
          <p:cNvPr id="19" name="Straight Arrow Connector 18"/>
          <p:cNvCxnSpPr>
            <a:stCxn id="10" idx="2"/>
            <a:endCxn id="17" idx="0"/>
          </p:cNvCxnSpPr>
          <p:nvPr/>
        </p:nvCxnSpPr>
        <p:spPr>
          <a:xfrm flipH="1">
            <a:off x="8585412" y="1618817"/>
            <a:ext cx="5996" cy="525039"/>
          </a:xfrm>
          <a:prstGeom prst="straightConnector1">
            <a:avLst/>
          </a:prstGeom>
          <a:ln w="3492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96084" y="3021015"/>
            <a:ext cx="2386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(1.3) (5.2) (2.1) (0.7) (1.1) (1.2)</a:t>
            </a:r>
          </a:p>
        </p:txBody>
      </p:sp>
      <p:cxnSp>
        <p:nvCxnSpPr>
          <p:cNvPr id="22" name="Straight Arrow Connector 21"/>
          <p:cNvCxnSpPr>
            <a:stCxn id="17" idx="2"/>
            <a:endCxn id="33" idx="0"/>
          </p:cNvCxnSpPr>
          <p:nvPr/>
        </p:nvCxnSpPr>
        <p:spPr>
          <a:xfrm flipH="1">
            <a:off x="8578704" y="2437473"/>
            <a:ext cx="6708" cy="590621"/>
          </a:xfrm>
          <a:prstGeom prst="straightConnector1">
            <a:avLst/>
          </a:prstGeom>
          <a:ln w="3492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1" idx="2"/>
            <a:endCxn id="40" idx="0"/>
          </p:cNvCxnSpPr>
          <p:nvPr/>
        </p:nvCxnSpPr>
        <p:spPr>
          <a:xfrm flipH="1">
            <a:off x="8581589" y="3328792"/>
            <a:ext cx="7785" cy="554619"/>
          </a:xfrm>
          <a:prstGeom prst="straightConnector1">
            <a:avLst/>
          </a:prstGeom>
          <a:ln w="3492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FC8B496-BD57-716B-A097-2080226878B8}"/>
                  </a:ext>
                </a:extLst>
              </p:cNvPr>
              <p:cNvSpPr txBox="1"/>
              <p:nvPr/>
            </p:nvSpPr>
            <p:spPr>
              <a:xfrm>
                <a:off x="7836890" y="3883411"/>
                <a:ext cx="1489398" cy="1093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800" b="0" i="1" baseline="-2500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FC8B496-BD57-716B-A097-208022687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890" y="3883411"/>
                <a:ext cx="1489398" cy="1093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/>
          <p:cNvSpPr/>
          <p:nvPr/>
        </p:nvSpPr>
        <p:spPr>
          <a:xfrm>
            <a:off x="7029255" y="5653184"/>
            <a:ext cx="2985875" cy="293617"/>
          </a:xfrm>
          <a:prstGeom prst="rect">
            <a:avLst/>
          </a:prstGeom>
          <a:solidFill>
            <a:schemeClr val="accent6">
              <a:lumMod val="75000"/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/>
          </a:p>
        </p:txBody>
      </p:sp>
      <p:sp>
        <p:nvSpPr>
          <p:cNvPr id="45" name="TextBox 44"/>
          <p:cNvSpPr txBox="1"/>
          <p:nvPr/>
        </p:nvSpPr>
        <p:spPr>
          <a:xfrm>
            <a:off x="7076391" y="5639024"/>
            <a:ext cx="293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(0.02) (0.90) (0.04) (0.01) (0.01) (0.02)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5130" y="127837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Input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410" y="206191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Hidden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1639" y="2955793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Output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5874" y="4118586"/>
            <a:ext cx="1774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</a:rPr>
              <a:t>Softmax</a:t>
            </a:r>
            <a:r>
              <a:rPr lang="en-IN" dirty="0">
                <a:latin typeface="Arial Narrow" panose="020B0606020202030204" pitchFamily="34" charset="0"/>
              </a:rPr>
              <a:t> Activation Function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30119" y="3904430"/>
            <a:ext cx="1710585" cy="1156210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8555960" y="5052154"/>
            <a:ext cx="7785" cy="554619"/>
          </a:xfrm>
          <a:prstGeom prst="straightConnector1">
            <a:avLst/>
          </a:prstGeom>
          <a:ln w="3492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899072" y="5393744"/>
            <a:ext cx="1774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Output Probabilities</a:t>
            </a:r>
          </a:p>
        </p:txBody>
      </p:sp>
    </p:spTree>
    <p:extLst>
      <p:ext uri="{BB962C8B-B14F-4D97-AF65-F5344CB8AC3E}">
        <p14:creationId xmlns:p14="http://schemas.microsoft.com/office/powerpoint/2010/main" val="254827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640" y="1695209"/>
            <a:ext cx="4229100" cy="6211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2034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MLP with Multiple Hidden Layers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82548" y="4107131"/>
            <a:ext cx="2956091" cy="621120"/>
          </a:xfrm>
          <a:prstGeom prst="rect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11208" y="180032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04631" y="180032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73876" y="180032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38639" y="1800323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6125224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364042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602860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465402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04220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943038" y="2002999"/>
            <a:ext cx="75415" cy="8484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15731" y="3003944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36972" y="299923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58213" y="2999234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23067" y="317298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261885" y="317298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028105" y="317298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266923" y="3172987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82548" y="2891350"/>
            <a:ext cx="2956091" cy="621120"/>
          </a:xfrm>
          <a:prstGeom prst="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15731" y="421972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36972" y="4215016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58213" y="4215015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023067" y="438876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261885" y="438876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028105" y="438876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66923" y="4388768"/>
            <a:ext cx="75415" cy="84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6532942" y="2317884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30409" y="5284007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908312" y="5288730"/>
            <a:ext cx="471340" cy="4053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83739" y="5176123"/>
            <a:ext cx="2020481" cy="621120"/>
          </a:xfrm>
          <a:prstGeom prst="rect">
            <a:avLst/>
          </a:prstGeom>
          <a:solidFill>
            <a:schemeClr val="tx2">
              <a:lumMod val="60000"/>
              <a:lumOff val="40000"/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35" name="Straight Arrow Connector 34"/>
          <p:cNvCxnSpPr>
            <a:stCxn id="36" idx="1"/>
            <a:endCxn id="22" idx="3"/>
          </p:cNvCxnSpPr>
          <p:nvPr/>
        </p:nvCxnSpPr>
        <p:spPr>
          <a:xfrm flipH="1" flipV="1">
            <a:off x="8731740" y="2005769"/>
            <a:ext cx="890285" cy="144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22025" y="1822548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Input Layer</a:t>
            </a:r>
          </a:p>
        </p:txBody>
      </p:sp>
      <p:cxnSp>
        <p:nvCxnSpPr>
          <p:cNvPr id="37" name="Straight Arrow Connector 36"/>
          <p:cNvCxnSpPr>
            <a:stCxn id="38" idx="1"/>
            <a:endCxn id="34" idx="3"/>
          </p:cNvCxnSpPr>
          <p:nvPr/>
        </p:nvCxnSpPr>
        <p:spPr>
          <a:xfrm flipH="1">
            <a:off x="7704220" y="5479698"/>
            <a:ext cx="1625138" cy="698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29358" y="5295032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Output Layer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958782" y="4725243"/>
            <a:ext cx="279400" cy="4423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40" name="Straight Arrow Connector 39"/>
          <p:cNvCxnSpPr>
            <a:stCxn id="41" idx="1"/>
            <a:endCxn id="23" idx="3"/>
          </p:cNvCxnSpPr>
          <p:nvPr/>
        </p:nvCxnSpPr>
        <p:spPr>
          <a:xfrm flipH="1">
            <a:off x="8138639" y="3201910"/>
            <a:ext cx="742006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80645" y="3017244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Hidden Layer with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i="1" dirty="0">
                <a:latin typeface="Arial Narrow" panose="020B0606020202030204" pitchFamily="34" charset="0"/>
              </a:rPr>
              <a:t> </a:t>
            </a:r>
            <a:r>
              <a:rPr lang="en-IN" dirty="0">
                <a:latin typeface="Arial Narrow" panose="020B0606020202030204" pitchFamily="34" charset="0"/>
              </a:rPr>
              <a:t>No. of neurons</a:t>
            </a:r>
          </a:p>
        </p:txBody>
      </p:sp>
      <p:cxnSp>
        <p:nvCxnSpPr>
          <p:cNvPr id="42" name="Straight Arrow Connector 41"/>
          <p:cNvCxnSpPr>
            <a:stCxn id="43" idx="1"/>
            <a:endCxn id="4" idx="3"/>
          </p:cNvCxnSpPr>
          <p:nvPr/>
        </p:nvCxnSpPr>
        <p:spPr>
          <a:xfrm flipH="1">
            <a:off x="8138639" y="4411714"/>
            <a:ext cx="893522" cy="597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32161" y="4227048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Hidden Layer with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IN" i="1" dirty="0">
                <a:latin typeface="Arial Narrow" panose="020B0606020202030204" pitchFamily="34" charset="0"/>
              </a:rPr>
              <a:t> </a:t>
            </a:r>
            <a:r>
              <a:rPr lang="en-IN" dirty="0">
                <a:latin typeface="Arial Narrow" panose="020B0606020202030204" pitchFamily="34" charset="0"/>
              </a:rPr>
              <a:t>No. of neurons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13833" y="1812838"/>
            <a:ext cx="506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b=1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5493722" y="1782343"/>
                <a:ext cx="4388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722" y="1782343"/>
                <a:ext cx="438838" cy="400110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881440" y="1767744"/>
                <a:ext cx="4079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440" y="1767744"/>
                <a:ext cx="407932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139077" y="1772537"/>
                <a:ext cx="5137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077" y="1772537"/>
                <a:ext cx="5137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5389767" y="2963892"/>
                <a:ext cx="6077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767" y="2963892"/>
                <a:ext cx="607730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7374825" y="2959702"/>
                <a:ext cx="623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825" y="2959702"/>
                <a:ext cx="623761" cy="400110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6378866" y="2944604"/>
                <a:ext cx="6053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866" y="2944604"/>
                <a:ext cx="605358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7424305" y="4159127"/>
                <a:ext cx="6148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𝑘𝑟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05" y="4159127"/>
                <a:ext cx="614848" cy="400110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5393462" y="4166952"/>
                <a:ext cx="6185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462" y="4166952"/>
                <a:ext cx="618503" cy="400110"/>
              </a:xfrm>
              <a:prstGeom prst="rect">
                <a:avLst/>
              </a:prstGeom>
              <a:blipFill>
                <a:blip r:embed="rId9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401749" y="4170140"/>
                <a:ext cx="5816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749" y="4170140"/>
                <a:ext cx="581634" cy="400110"/>
              </a:xfrm>
              <a:prstGeom prst="rect">
                <a:avLst/>
              </a:prstGeom>
              <a:blipFill>
                <a:blip r:embed="rId10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887071" y="5249014"/>
                <a:ext cx="4678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071" y="5249014"/>
                <a:ext cx="467884" cy="40011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873876" y="5248658"/>
                <a:ext cx="4738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6" y="5248658"/>
                <a:ext cx="473848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Down Arrow 55"/>
          <p:cNvSpPr/>
          <p:nvPr/>
        </p:nvSpPr>
        <p:spPr>
          <a:xfrm>
            <a:off x="7675191" y="2317884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7" name="Down Arrow 56"/>
          <p:cNvSpPr/>
          <p:nvPr/>
        </p:nvSpPr>
        <p:spPr>
          <a:xfrm>
            <a:off x="5404287" y="2325932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8" name="Down Arrow 57"/>
          <p:cNvSpPr/>
          <p:nvPr/>
        </p:nvSpPr>
        <p:spPr>
          <a:xfrm>
            <a:off x="6516369" y="3514140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9" name="Down Arrow 58"/>
          <p:cNvSpPr/>
          <p:nvPr/>
        </p:nvSpPr>
        <p:spPr>
          <a:xfrm>
            <a:off x="7635758" y="3514140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0" name="Down Arrow 59"/>
          <p:cNvSpPr/>
          <p:nvPr/>
        </p:nvSpPr>
        <p:spPr>
          <a:xfrm>
            <a:off x="5372474" y="3522188"/>
            <a:ext cx="279400" cy="56718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1" name="Down Arrow 60"/>
          <p:cNvSpPr/>
          <p:nvPr/>
        </p:nvSpPr>
        <p:spPr>
          <a:xfrm>
            <a:off x="7173285" y="4733815"/>
            <a:ext cx="279400" cy="4423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81072" y="3595810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 Narrow" panose="020B0606020202030204" pitchFamily="34" charset="0"/>
              </a:rPr>
              <a:t>k</a:t>
            </a:r>
            <a:r>
              <a:rPr lang="en-IN" dirty="0">
                <a:latin typeface="Arial Narrow" panose="020B0606020202030204" pitchFamily="34" charset="0"/>
              </a:rPr>
              <a:t> no. of 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5953832" y="3613250"/>
                <a:ext cx="6067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𝑒𝑖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32" y="3613250"/>
                <a:ext cx="606768" cy="400110"/>
              </a:xfrm>
              <a:prstGeom prst="rect">
                <a:avLst/>
              </a:prstGeom>
              <a:blipFill>
                <a:blip r:embed="rId1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FAC70FF-7E76-4AC9-A28B-C7F4A444D017}"/>
                  </a:ext>
                </a:extLst>
              </p:cNvPr>
              <p:cNvSpPr txBox="1"/>
              <p:nvPr/>
            </p:nvSpPr>
            <p:spPr>
              <a:xfrm>
                <a:off x="2207050" y="2340991"/>
                <a:ext cx="1294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FAC70FF-7E76-4AC9-A28B-C7F4A444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050" y="2340991"/>
                <a:ext cx="1294265" cy="307777"/>
              </a:xfrm>
              <a:prstGeom prst="rect">
                <a:avLst/>
              </a:prstGeom>
              <a:blipFill>
                <a:blip r:embed="rId14"/>
                <a:stretch>
                  <a:fillRect l="-6604" t="-1961" r="-6604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3729E0D5-6ACC-4300-9192-227B1080E973}"/>
              </a:ext>
            </a:extLst>
          </p:cNvPr>
          <p:cNvSpPr txBox="1"/>
          <p:nvPr/>
        </p:nvSpPr>
        <p:spPr>
          <a:xfrm>
            <a:off x="256325" y="1695209"/>
            <a:ext cx="3764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  <a:ea typeface="Cambria Math" panose="02040503050406030204" pitchFamily="18" charset="0"/>
              </a:rPr>
              <a:t>Let the MLP has </a:t>
            </a:r>
            <a:r>
              <a:rPr lang="en-IN" sz="2000" b="1" dirty="0">
                <a:solidFill>
                  <a:srgbClr val="FF0000"/>
                </a:solidFill>
                <a:latin typeface="Arial Narrow" panose="020B0606020202030204" pitchFamily="34" charset="0"/>
                <a:ea typeface="Cambria Math" panose="02040503050406030204" pitchFamily="18" charset="0"/>
              </a:rPr>
              <a:t>k</a:t>
            </a:r>
            <a:r>
              <a:rPr lang="en-IN" sz="2000" dirty="0">
                <a:latin typeface="Arial Narrow" panose="020B0606020202030204" pitchFamily="34" charset="0"/>
                <a:ea typeface="Cambria Math" panose="02040503050406030204" pitchFamily="18" charset="0"/>
              </a:rPr>
              <a:t> no. of hidden layers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IN" sz="2000" dirty="0">
                <a:latin typeface="Arial Narrow" panose="020B0606020202030204" pitchFamily="34" charset="0"/>
                <a:ea typeface="Cambria Math" panose="02040503050406030204" pitchFamily="18" charset="0"/>
              </a:rPr>
              <a:t> is the layer index. For input layer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p=0</a:t>
            </a:r>
            <a:r>
              <a:rPr lang="en-IN" sz="2000" dirty="0">
                <a:latin typeface="Arial Narrow" panose="020B0606020202030204" pitchFamily="34" charset="0"/>
                <a:ea typeface="Cambria Math" panose="02040503050406030204" pitchFamily="18" charset="0"/>
              </a:rPr>
              <a:t>: 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52080" y="2815197"/>
            <a:ext cx="3918035" cy="740447"/>
            <a:chOff x="135129" y="2845133"/>
            <a:chExt cx="3918035" cy="74044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536346D-B712-44A8-BD02-76929CFB99FA}"/>
                </a:ext>
              </a:extLst>
            </p:cNvPr>
            <p:cNvSpPr txBox="1"/>
            <p:nvPr/>
          </p:nvSpPr>
          <p:spPr>
            <a:xfrm>
              <a:off x="135129" y="2845133"/>
              <a:ext cx="3282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IN" sz="2000" dirty="0">
                  <a:latin typeface="Arial Narrow" panose="020B0606020202030204" pitchFamily="34" charset="0"/>
                  <a:ea typeface="Cambria Math" panose="02040503050406030204" pitchFamily="18" charset="0"/>
                </a:rPr>
                <a:t>Layer pre-activation for </a:t>
              </a:r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k&gt;0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D4AD164-0360-499E-9A1D-C4DF7FBD523E}"/>
                    </a:ext>
                  </a:extLst>
                </p:cNvPr>
                <p:cNvSpPr txBox="1"/>
                <p:nvPr/>
              </p:nvSpPr>
              <p:spPr>
                <a:xfrm>
                  <a:off x="573045" y="3264979"/>
                  <a:ext cx="3480119" cy="3206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D4AD164-0360-499E-9A1D-C4DF7FBD5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45" y="3264979"/>
                  <a:ext cx="3480119" cy="320601"/>
                </a:xfrm>
                <a:prstGeom prst="rect">
                  <a:avLst/>
                </a:prstGeom>
                <a:blipFill>
                  <a:blip r:embed="rId15"/>
                  <a:stretch>
                    <a:fillRect l="-525" t="-7692" r="-2102" b="-346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214702" y="3969439"/>
            <a:ext cx="4302243" cy="795135"/>
            <a:chOff x="135128" y="3959511"/>
            <a:chExt cx="3944507" cy="79513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9EFC318-34E4-48E1-AF12-E40964B2195F}"/>
                </a:ext>
              </a:extLst>
            </p:cNvPr>
            <p:cNvSpPr txBox="1"/>
            <p:nvPr/>
          </p:nvSpPr>
          <p:spPr>
            <a:xfrm>
              <a:off x="135128" y="3959511"/>
              <a:ext cx="3944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IN" sz="2000" dirty="0">
                  <a:latin typeface="Arial Narrow" panose="020B0606020202030204" pitchFamily="34" charset="0"/>
                  <a:ea typeface="Cambria Math" panose="02040503050406030204" pitchFamily="18" charset="0"/>
                </a:rPr>
                <a:t>Hidden layer activation </a:t>
              </a:r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p=1 </a:t>
              </a:r>
              <a:r>
                <a:rPr lang="en-IN" sz="2000" dirty="0">
                  <a:latin typeface="Arial Narrow" panose="020B0606020202030204" pitchFamily="34" charset="0"/>
                  <a:ea typeface="Cambria Math" panose="02040503050406030204" pitchFamily="18" charset="0"/>
                </a:rPr>
                <a:t>to</a:t>
              </a:r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k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16C1C62-D12F-4DAA-A1E7-9D0B4BACB7BC}"/>
                    </a:ext>
                  </a:extLst>
                </p:cNvPr>
                <p:cNvSpPr txBox="1"/>
                <p:nvPr/>
              </p:nvSpPr>
              <p:spPr>
                <a:xfrm>
                  <a:off x="523315" y="4446869"/>
                  <a:ext cx="196233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16C1C62-D12F-4DAA-A1E7-9D0B4BACB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5" y="4446869"/>
                  <a:ext cx="1962332" cy="307777"/>
                </a:xfrm>
                <a:prstGeom prst="rect">
                  <a:avLst/>
                </a:prstGeom>
                <a:blipFill>
                  <a:blip r:embed="rId16"/>
                  <a:stretch>
                    <a:fillRect t="-1961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214702" y="5073839"/>
            <a:ext cx="4087302" cy="860749"/>
            <a:chOff x="108722" y="5094659"/>
            <a:chExt cx="4087302" cy="860749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E636930-21AC-4993-8003-D00093978FE4}"/>
                </a:ext>
              </a:extLst>
            </p:cNvPr>
            <p:cNvSpPr txBox="1"/>
            <p:nvPr/>
          </p:nvSpPr>
          <p:spPr>
            <a:xfrm>
              <a:off x="108722" y="5094659"/>
              <a:ext cx="3944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IN" sz="2000" dirty="0">
                  <a:latin typeface="Arial Narrow" panose="020B0606020202030204" pitchFamily="34" charset="0"/>
                  <a:ea typeface="Cambria Math" panose="02040503050406030204" pitchFamily="18" charset="0"/>
                </a:rPr>
                <a:t>Output layer activation </a:t>
              </a:r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 k+1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E9A238D-0A81-4D14-8D47-9535CBC742C8}"/>
                    </a:ext>
                  </a:extLst>
                </p:cNvPr>
                <p:cNvSpPr txBox="1"/>
                <p:nvPr/>
              </p:nvSpPr>
              <p:spPr>
                <a:xfrm>
                  <a:off x="573045" y="5494769"/>
                  <a:ext cx="3622979" cy="460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E9A238D-0A81-4D14-8D47-9535CBC74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45" y="5494769"/>
                  <a:ext cx="3622979" cy="46063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Rounded Rectangle 85"/>
          <p:cNvSpPr/>
          <p:nvPr/>
        </p:nvSpPr>
        <p:spPr>
          <a:xfrm>
            <a:off x="4379201" y="3554158"/>
            <a:ext cx="471340" cy="405353"/>
          </a:xfrm>
          <a:prstGeom prst="roundRect">
            <a:avLst/>
          </a:prstGeom>
          <a:solidFill>
            <a:schemeClr val="accent1">
              <a:alpha val="4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381826" y="3566673"/>
            <a:ext cx="506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b=1</a:t>
            </a:r>
          </a:p>
        </p:txBody>
      </p:sp>
      <p:cxnSp>
        <p:nvCxnSpPr>
          <p:cNvPr id="89" name="Straight Arrow Connector 88"/>
          <p:cNvCxnSpPr>
            <a:stCxn id="86" idx="2"/>
            <a:endCxn id="4" idx="1"/>
          </p:cNvCxnSpPr>
          <p:nvPr/>
        </p:nvCxnSpPr>
        <p:spPr>
          <a:xfrm>
            <a:off x="4614871" y="3959511"/>
            <a:ext cx="567677" cy="45818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21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Multi-Layer Perceptron</a:t>
            </a:r>
          </a:p>
          <a:p>
            <a:pPr marL="457200" indent="-457200">
              <a:lnSpc>
                <a:spcPct val="150000"/>
              </a:lnSpc>
            </a:pP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Activation Function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Softmax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080182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Neural Network Fundamentals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3: </a:t>
            </a:r>
            <a:r>
              <a:rPr lang="en-IN" sz="2800">
                <a:latin typeface="Arial Narrow" panose="020B0606020202030204" pitchFamily="34" charset="0"/>
              </a:rPr>
              <a:t>Part 3</a:t>
            </a:r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1156</Words>
  <Application>Microsoft Office PowerPoint</Application>
  <PresentationFormat>Widescreen</PresentationFormat>
  <Paragraphs>213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Narrow</vt:lpstr>
      <vt:lpstr>Book Antiqua</vt:lpstr>
      <vt:lpstr>Calibri</vt:lpstr>
      <vt:lpstr>Calibri Light</vt:lpstr>
      <vt:lpstr>Cambria</vt:lpstr>
      <vt:lpstr>Cambria Math</vt:lpstr>
      <vt:lpstr>Century</vt:lpstr>
      <vt:lpstr>Helvetica Neue</vt:lpstr>
      <vt:lpstr>Times New Roman</vt:lpstr>
      <vt:lpstr>Office Theme</vt:lpstr>
      <vt:lpstr>Neural Network Fundamentals Multi-Layer Perceptron </vt:lpstr>
      <vt:lpstr>Content</vt:lpstr>
      <vt:lpstr>XOR Problem: Solution by Multi-Layer Perceptron</vt:lpstr>
      <vt:lpstr>Multi-Layer Perceptron</vt:lpstr>
      <vt:lpstr>Multi-Layer Perceptron (MLP)</vt:lpstr>
      <vt:lpstr>Introduction to Multi Layer Perceptron(MLP)</vt:lpstr>
      <vt:lpstr>PowerPoint Presentation</vt:lpstr>
      <vt:lpstr>Activation Function</vt:lpstr>
      <vt:lpstr>Activation Function</vt:lpstr>
      <vt:lpstr>Softmax Activation Functions</vt:lpstr>
      <vt:lpstr>MLP with Multiple Hidden Layers</vt:lpstr>
      <vt:lpstr>Summery</vt:lpstr>
      <vt:lpstr>Neural Network Fundamentals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Fundamentals Multi-Layer Perceptron </dc:title>
  <dc:creator>IITG</dc:creator>
  <cp:lastModifiedBy>HP</cp:lastModifiedBy>
  <cp:revision>11</cp:revision>
  <dcterms:created xsi:type="dcterms:W3CDTF">2026-07-07T08:44:19Z</dcterms:created>
  <dcterms:modified xsi:type="dcterms:W3CDTF">2026-07-09T17:35:26Z</dcterms:modified>
</cp:coreProperties>
</file>