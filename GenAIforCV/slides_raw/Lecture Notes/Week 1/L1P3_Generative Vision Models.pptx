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56" r:id="rId3"/>
    <p:sldId id="257" r:id="rId4"/>
    <p:sldId id="269" r:id="rId5"/>
    <p:sldId id="272" r:id="rId6"/>
    <p:sldId id="374" r:id="rId7"/>
    <p:sldId id="375" r:id="rId8"/>
    <p:sldId id="376" r:id="rId9"/>
    <p:sldId id="377" r:id="rId10"/>
    <p:sldId id="379" r:id="rId11"/>
    <p:sldId id="378" r:id="rId12"/>
    <p:sldId id="381" r:id="rId13"/>
    <p:sldId id="382" r:id="rId14"/>
    <p:sldId id="357" r:id="rId15"/>
    <p:sldId id="380" r:id="rId16"/>
    <p:sldId id="383" r:id="rId17"/>
    <p:sldId id="384" r:id="rId18"/>
    <p:sldId id="385" r:id="rId19"/>
    <p:sldId id="365" r:id="rId20"/>
    <p:sldId id="386" r:id="rId21"/>
    <p:sldId id="270" r:id="rId22"/>
    <p:sldId id="271" r:id="rId23"/>
    <p:sldId id="387" r:id="rId24"/>
    <p:sldId id="26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BFB93-8012-4141-A384-D60CBED1E8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452D9DB-6673-48D4-B92B-75DEA61190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14CFA5-9065-4BDA-8E30-DDBF18D8010D}"/>
              </a:ext>
            </a:extLst>
          </p:cNvPr>
          <p:cNvSpPr>
            <a:spLocks noGrp="1"/>
          </p:cNvSpPr>
          <p:nvPr>
            <p:ph type="dt" sz="half" idx="10"/>
          </p:nvPr>
        </p:nvSpPr>
        <p:spPr/>
        <p:txBody>
          <a:bodyPr/>
          <a:lstStyle/>
          <a:p>
            <a:fld id="{7DDD2A69-ACB2-40DE-BD57-656C2A67EE4F}" type="datetimeFigureOut">
              <a:rPr lang="en-IN" smtClean="0"/>
              <a:t>07-07-2026</a:t>
            </a:fld>
            <a:endParaRPr lang="en-IN"/>
          </a:p>
        </p:txBody>
      </p:sp>
      <p:sp>
        <p:nvSpPr>
          <p:cNvPr id="5" name="Footer Placeholder 4">
            <a:extLst>
              <a:ext uri="{FF2B5EF4-FFF2-40B4-BE49-F238E27FC236}">
                <a16:creationId xmlns:a16="http://schemas.microsoft.com/office/drawing/2014/main" id="{1D020C9C-FA4F-4975-A10C-487A82077F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82E8CE-DBC7-499A-B481-E23E4EEAB50C}"/>
              </a:ext>
            </a:extLst>
          </p:cNvPr>
          <p:cNvSpPr>
            <a:spLocks noGrp="1"/>
          </p:cNvSpPr>
          <p:nvPr>
            <p:ph type="sldNum" sz="quarter" idx="12"/>
          </p:nvPr>
        </p:nvSpPr>
        <p:spPr/>
        <p:txBody>
          <a:bodyPr/>
          <a:lstStyle/>
          <a:p>
            <a:fld id="{71F49FDE-B5DB-4D41-99D3-1CAB9518166F}" type="slidenum">
              <a:rPr lang="en-IN" smtClean="0"/>
              <a:t>‹#›</a:t>
            </a:fld>
            <a:endParaRPr lang="en-IN"/>
          </a:p>
        </p:txBody>
      </p:sp>
    </p:spTree>
    <p:extLst>
      <p:ext uri="{BB962C8B-B14F-4D97-AF65-F5344CB8AC3E}">
        <p14:creationId xmlns:p14="http://schemas.microsoft.com/office/powerpoint/2010/main" val="2874566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6620A-79F9-47C9-A296-22364BB176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C11C90-F511-46CE-83BB-DD058413DDA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347A02-4442-4092-953A-E200BA34A143}"/>
              </a:ext>
            </a:extLst>
          </p:cNvPr>
          <p:cNvSpPr>
            <a:spLocks noGrp="1"/>
          </p:cNvSpPr>
          <p:nvPr>
            <p:ph type="dt" sz="half" idx="10"/>
          </p:nvPr>
        </p:nvSpPr>
        <p:spPr/>
        <p:txBody>
          <a:bodyPr/>
          <a:lstStyle/>
          <a:p>
            <a:fld id="{7DDD2A69-ACB2-40DE-BD57-656C2A67EE4F}" type="datetimeFigureOut">
              <a:rPr lang="en-IN" smtClean="0"/>
              <a:t>07-07-2026</a:t>
            </a:fld>
            <a:endParaRPr lang="en-IN"/>
          </a:p>
        </p:txBody>
      </p:sp>
      <p:sp>
        <p:nvSpPr>
          <p:cNvPr id="5" name="Footer Placeholder 4">
            <a:extLst>
              <a:ext uri="{FF2B5EF4-FFF2-40B4-BE49-F238E27FC236}">
                <a16:creationId xmlns:a16="http://schemas.microsoft.com/office/drawing/2014/main" id="{D6265686-87D3-4CF0-AC1D-E3F8EEB619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BA1888-8FFA-41C1-AAB5-0D2EF6540CC4}"/>
              </a:ext>
            </a:extLst>
          </p:cNvPr>
          <p:cNvSpPr>
            <a:spLocks noGrp="1"/>
          </p:cNvSpPr>
          <p:nvPr>
            <p:ph type="sldNum" sz="quarter" idx="12"/>
          </p:nvPr>
        </p:nvSpPr>
        <p:spPr/>
        <p:txBody>
          <a:bodyPr/>
          <a:lstStyle/>
          <a:p>
            <a:fld id="{71F49FDE-B5DB-4D41-99D3-1CAB9518166F}" type="slidenum">
              <a:rPr lang="en-IN" smtClean="0"/>
              <a:t>‹#›</a:t>
            </a:fld>
            <a:endParaRPr lang="en-IN"/>
          </a:p>
        </p:txBody>
      </p:sp>
    </p:spTree>
    <p:extLst>
      <p:ext uri="{BB962C8B-B14F-4D97-AF65-F5344CB8AC3E}">
        <p14:creationId xmlns:p14="http://schemas.microsoft.com/office/powerpoint/2010/main" val="3421999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78EBA-A5B2-49C9-808D-317F524FBE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9D49A2E-52E3-4DCB-944A-8343DFFB64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CB44B77-DEA6-4851-83F7-9DB216004331}"/>
              </a:ext>
            </a:extLst>
          </p:cNvPr>
          <p:cNvSpPr>
            <a:spLocks noGrp="1"/>
          </p:cNvSpPr>
          <p:nvPr>
            <p:ph type="dt" sz="half" idx="10"/>
          </p:nvPr>
        </p:nvSpPr>
        <p:spPr/>
        <p:txBody>
          <a:bodyPr/>
          <a:lstStyle/>
          <a:p>
            <a:fld id="{7DDD2A69-ACB2-40DE-BD57-656C2A67EE4F}" type="datetimeFigureOut">
              <a:rPr lang="en-IN" smtClean="0"/>
              <a:t>07-07-2026</a:t>
            </a:fld>
            <a:endParaRPr lang="en-IN"/>
          </a:p>
        </p:txBody>
      </p:sp>
      <p:sp>
        <p:nvSpPr>
          <p:cNvPr id="5" name="Footer Placeholder 4">
            <a:extLst>
              <a:ext uri="{FF2B5EF4-FFF2-40B4-BE49-F238E27FC236}">
                <a16:creationId xmlns:a16="http://schemas.microsoft.com/office/drawing/2014/main" id="{EDC7D1C3-B07C-43B8-95D3-173760FABF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06262F-BC5A-4E78-A638-1228EE52EF39}"/>
              </a:ext>
            </a:extLst>
          </p:cNvPr>
          <p:cNvSpPr>
            <a:spLocks noGrp="1"/>
          </p:cNvSpPr>
          <p:nvPr>
            <p:ph type="sldNum" sz="quarter" idx="12"/>
          </p:nvPr>
        </p:nvSpPr>
        <p:spPr/>
        <p:txBody>
          <a:bodyPr/>
          <a:lstStyle/>
          <a:p>
            <a:fld id="{71F49FDE-B5DB-4D41-99D3-1CAB9518166F}" type="slidenum">
              <a:rPr lang="en-IN" smtClean="0"/>
              <a:t>‹#›</a:t>
            </a:fld>
            <a:endParaRPr lang="en-IN"/>
          </a:p>
        </p:txBody>
      </p:sp>
    </p:spTree>
    <p:extLst>
      <p:ext uri="{BB962C8B-B14F-4D97-AF65-F5344CB8AC3E}">
        <p14:creationId xmlns:p14="http://schemas.microsoft.com/office/powerpoint/2010/main" val="4015917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41D2-7F17-479E-97CA-E5955B9C6A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8394FA-03E2-47D1-BF88-67E19F5E36A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1397D9-33AD-4CEF-9E1D-5B85B6ECE0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CE3F91-A654-49A3-B3D1-343A233F19FF}"/>
              </a:ext>
            </a:extLst>
          </p:cNvPr>
          <p:cNvSpPr>
            <a:spLocks noGrp="1"/>
          </p:cNvSpPr>
          <p:nvPr>
            <p:ph type="dt" sz="half" idx="10"/>
          </p:nvPr>
        </p:nvSpPr>
        <p:spPr/>
        <p:txBody>
          <a:bodyPr/>
          <a:lstStyle/>
          <a:p>
            <a:fld id="{7DDD2A69-ACB2-40DE-BD57-656C2A67EE4F}" type="datetimeFigureOut">
              <a:rPr lang="en-IN" smtClean="0"/>
              <a:t>07-07-2026</a:t>
            </a:fld>
            <a:endParaRPr lang="en-IN"/>
          </a:p>
        </p:txBody>
      </p:sp>
      <p:sp>
        <p:nvSpPr>
          <p:cNvPr id="6" name="Footer Placeholder 5">
            <a:extLst>
              <a:ext uri="{FF2B5EF4-FFF2-40B4-BE49-F238E27FC236}">
                <a16:creationId xmlns:a16="http://schemas.microsoft.com/office/drawing/2014/main" id="{01BA1D8E-0CB7-4B07-AE7B-224C4CF613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6DAEEA-BC52-493F-8380-78C9E8880EB6}"/>
              </a:ext>
            </a:extLst>
          </p:cNvPr>
          <p:cNvSpPr>
            <a:spLocks noGrp="1"/>
          </p:cNvSpPr>
          <p:nvPr>
            <p:ph type="sldNum" sz="quarter" idx="12"/>
          </p:nvPr>
        </p:nvSpPr>
        <p:spPr/>
        <p:txBody>
          <a:bodyPr/>
          <a:lstStyle/>
          <a:p>
            <a:fld id="{71F49FDE-B5DB-4D41-99D3-1CAB9518166F}" type="slidenum">
              <a:rPr lang="en-IN" smtClean="0"/>
              <a:t>‹#›</a:t>
            </a:fld>
            <a:endParaRPr lang="en-IN"/>
          </a:p>
        </p:txBody>
      </p:sp>
    </p:spTree>
    <p:extLst>
      <p:ext uri="{BB962C8B-B14F-4D97-AF65-F5344CB8AC3E}">
        <p14:creationId xmlns:p14="http://schemas.microsoft.com/office/powerpoint/2010/main" val="4260050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BF563-2A13-4F16-8056-C12E6AAEF1F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3C5967-8B38-44E1-A0BE-0F9358C512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599EE01-3055-403A-A731-0CC74E53344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C3FAE3B-8396-4F51-AA21-1ADDEA64B6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7B0C7F4-E38B-4922-BEC7-AB742CCD1F2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26961F3-38EA-46A2-848A-53D4406FECCD}"/>
              </a:ext>
            </a:extLst>
          </p:cNvPr>
          <p:cNvSpPr>
            <a:spLocks noGrp="1"/>
          </p:cNvSpPr>
          <p:nvPr>
            <p:ph type="dt" sz="half" idx="10"/>
          </p:nvPr>
        </p:nvSpPr>
        <p:spPr/>
        <p:txBody>
          <a:bodyPr/>
          <a:lstStyle/>
          <a:p>
            <a:fld id="{7DDD2A69-ACB2-40DE-BD57-656C2A67EE4F}" type="datetimeFigureOut">
              <a:rPr lang="en-IN" smtClean="0"/>
              <a:t>07-07-2026</a:t>
            </a:fld>
            <a:endParaRPr lang="en-IN"/>
          </a:p>
        </p:txBody>
      </p:sp>
      <p:sp>
        <p:nvSpPr>
          <p:cNvPr id="8" name="Footer Placeholder 7">
            <a:extLst>
              <a:ext uri="{FF2B5EF4-FFF2-40B4-BE49-F238E27FC236}">
                <a16:creationId xmlns:a16="http://schemas.microsoft.com/office/drawing/2014/main" id="{81B225B6-929C-4660-992A-51F9D273314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0596D7-E57D-4D2E-AD54-08CB88F67EA9}"/>
              </a:ext>
            </a:extLst>
          </p:cNvPr>
          <p:cNvSpPr>
            <a:spLocks noGrp="1"/>
          </p:cNvSpPr>
          <p:nvPr>
            <p:ph type="sldNum" sz="quarter" idx="12"/>
          </p:nvPr>
        </p:nvSpPr>
        <p:spPr/>
        <p:txBody>
          <a:bodyPr/>
          <a:lstStyle/>
          <a:p>
            <a:fld id="{71F49FDE-B5DB-4D41-99D3-1CAB9518166F}" type="slidenum">
              <a:rPr lang="en-IN" smtClean="0"/>
              <a:t>‹#›</a:t>
            </a:fld>
            <a:endParaRPr lang="en-IN"/>
          </a:p>
        </p:txBody>
      </p:sp>
    </p:spTree>
    <p:extLst>
      <p:ext uri="{BB962C8B-B14F-4D97-AF65-F5344CB8AC3E}">
        <p14:creationId xmlns:p14="http://schemas.microsoft.com/office/powerpoint/2010/main" val="4119117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B57A9-56A9-40AA-AD76-C7192341858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B1B09BB-2F52-4AC6-9333-9ADF4BFA9779}"/>
              </a:ext>
            </a:extLst>
          </p:cNvPr>
          <p:cNvSpPr>
            <a:spLocks noGrp="1"/>
          </p:cNvSpPr>
          <p:nvPr>
            <p:ph type="dt" sz="half" idx="10"/>
          </p:nvPr>
        </p:nvSpPr>
        <p:spPr/>
        <p:txBody>
          <a:bodyPr/>
          <a:lstStyle/>
          <a:p>
            <a:fld id="{7DDD2A69-ACB2-40DE-BD57-656C2A67EE4F}" type="datetimeFigureOut">
              <a:rPr lang="en-IN" smtClean="0"/>
              <a:t>07-07-2026</a:t>
            </a:fld>
            <a:endParaRPr lang="en-IN"/>
          </a:p>
        </p:txBody>
      </p:sp>
      <p:sp>
        <p:nvSpPr>
          <p:cNvPr id="4" name="Footer Placeholder 3">
            <a:extLst>
              <a:ext uri="{FF2B5EF4-FFF2-40B4-BE49-F238E27FC236}">
                <a16:creationId xmlns:a16="http://schemas.microsoft.com/office/drawing/2014/main" id="{89DBEA79-4EE6-49A8-85B8-F8544A6461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E00EF96-F194-44D8-AB03-9134BE576028}"/>
              </a:ext>
            </a:extLst>
          </p:cNvPr>
          <p:cNvSpPr>
            <a:spLocks noGrp="1"/>
          </p:cNvSpPr>
          <p:nvPr>
            <p:ph type="sldNum" sz="quarter" idx="12"/>
          </p:nvPr>
        </p:nvSpPr>
        <p:spPr/>
        <p:txBody>
          <a:bodyPr/>
          <a:lstStyle/>
          <a:p>
            <a:fld id="{71F49FDE-B5DB-4D41-99D3-1CAB9518166F}" type="slidenum">
              <a:rPr lang="en-IN" smtClean="0"/>
              <a:t>‹#›</a:t>
            </a:fld>
            <a:endParaRPr lang="en-IN"/>
          </a:p>
        </p:txBody>
      </p:sp>
    </p:spTree>
    <p:extLst>
      <p:ext uri="{BB962C8B-B14F-4D97-AF65-F5344CB8AC3E}">
        <p14:creationId xmlns:p14="http://schemas.microsoft.com/office/powerpoint/2010/main" val="1682864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2574E5-ECAA-4754-A408-CF4C525DACEF}"/>
              </a:ext>
            </a:extLst>
          </p:cNvPr>
          <p:cNvSpPr>
            <a:spLocks noGrp="1"/>
          </p:cNvSpPr>
          <p:nvPr>
            <p:ph type="dt" sz="half" idx="10"/>
          </p:nvPr>
        </p:nvSpPr>
        <p:spPr/>
        <p:txBody>
          <a:bodyPr/>
          <a:lstStyle/>
          <a:p>
            <a:fld id="{7DDD2A69-ACB2-40DE-BD57-656C2A67EE4F}" type="datetimeFigureOut">
              <a:rPr lang="en-IN" smtClean="0"/>
              <a:t>07-07-2026</a:t>
            </a:fld>
            <a:endParaRPr lang="en-IN"/>
          </a:p>
        </p:txBody>
      </p:sp>
      <p:sp>
        <p:nvSpPr>
          <p:cNvPr id="3" name="Footer Placeholder 2">
            <a:extLst>
              <a:ext uri="{FF2B5EF4-FFF2-40B4-BE49-F238E27FC236}">
                <a16:creationId xmlns:a16="http://schemas.microsoft.com/office/drawing/2014/main" id="{1D2DD103-7C08-4E28-A8A8-7FD8CC5D3B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F3AE55-4228-4C46-B290-45A8D49CCF41}"/>
              </a:ext>
            </a:extLst>
          </p:cNvPr>
          <p:cNvSpPr>
            <a:spLocks noGrp="1"/>
          </p:cNvSpPr>
          <p:nvPr>
            <p:ph type="sldNum" sz="quarter" idx="12"/>
          </p:nvPr>
        </p:nvSpPr>
        <p:spPr/>
        <p:txBody>
          <a:bodyPr/>
          <a:lstStyle/>
          <a:p>
            <a:fld id="{71F49FDE-B5DB-4D41-99D3-1CAB9518166F}" type="slidenum">
              <a:rPr lang="en-IN" smtClean="0"/>
              <a:t>‹#›</a:t>
            </a:fld>
            <a:endParaRPr lang="en-IN"/>
          </a:p>
        </p:txBody>
      </p:sp>
    </p:spTree>
    <p:extLst>
      <p:ext uri="{BB962C8B-B14F-4D97-AF65-F5344CB8AC3E}">
        <p14:creationId xmlns:p14="http://schemas.microsoft.com/office/powerpoint/2010/main" val="4186859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5D63E-3EC0-4DD7-878C-B18C15EDC5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4AFB12E-F6F4-469B-BE1C-6BE786E4CD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9FE130-E48B-4D9E-9D07-EFB04D7FF9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C622BC-A255-42BA-889F-F3BA6AD57D08}"/>
              </a:ext>
            </a:extLst>
          </p:cNvPr>
          <p:cNvSpPr>
            <a:spLocks noGrp="1"/>
          </p:cNvSpPr>
          <p:nvPr>
            <p:ph type="dt" sz="half" idx="10"/>
          </p:nvPr>
        </p:nvSpPr>
        <p:spPr/>
        <p:txBody>
          <a:bodyPr/>
          <a:lstStyle/>
          <a:p>
            <a:fld id="{7DDD2A69-ACB2-40DE-BD57-656C2A67EE4F}" type="datetimeFigureOut">
              <a:rPr lang="en-IN" smtClean="0"/>
              <a:t>07-07-2026</a:t>
            </a:fld>
            <a:endParaRPr lang="en-IN"/>
          </a:p>
        </p:txBody>
      </p:sp>
      <p:sp>
        <p:nvSpPr>
          <p:cNvPr id="6" name="Footer Placeholder 5">
            <a:extLst>
              <a:ext uri="{FF2B5EF4-FFF2-40B4-BE49-F238E27FC236}">
                <a16:creationId xmlns:a16="http://schemas.microsoft.com/office/drawing/2014/main" id="{FB58F8CE-BF48-4E7B-9491-1AA4FA9E7D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41D219-4468-43BE-9052-10C94E622BC9}"/>
              </a:ext>
            </a:extLst>
          </p:cNvPr>
          <p:cNvSpPr>
            <a:spLocks noGrp="1"/>
          </p:cNvSpPr>
          <p:nvPr>
            <p:ph type="sldNum" sz="quarter" idx="12"/>
          </p:nvPr>
        </p:nvSpPr>
        <p:spPr/>
        <p:txBody>
          <a:bodyPr/>
          <a:lstStyle/>
          <a:p>
            <a:fld id="{71F49FDE-B5DB-4D41-99D3-1CAB9518166F}" type="slidenum">
              <a:rPr lang="en-IN" smtClean="0"/>
              <a:t>‹#›</a:t>
            </a:fld>
            <a:endParaRPr lang="en-IN"/>
          </a:p>
        </p:txBody>
      </p:sp>
    </p:spTree>
    <p:extLst>
      <p:ext uri="{BB962C8B-B14F-4D97-AF65-F5344CB8AC3E}">
        <p14:creationId xmlns:p14="http://schemas.microsoft.com/office/powerpoint/2010/main" val="594325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CF314-C990-4776-A634-2EEA476060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B926882-44FE-49E4-A8B4-0F6A76C7A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63298A3-DE14-450C-B72B-3EA3AE7BA4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075939D-AE63-4280-94ED-E1E1190782A3}"/>
              </a:ext>
            </a:extLst>
          </p:cNvPr>
          <p:cNvSpPr>
            <a:spLocks noGrp="1"/>
          </p:cNvSpPr>
          <p:nvPr>
            <p:ph type="dt" sz="half" idx="10"/>
          </p:nvPr>
        </p:nvSpPr>
        <p:spPr/>
        <p:txBody>
          <a:bodyPr/>
          <a:lstStyle/>
          <a:p>
            <a:fld id="{7DDD2A69-ACB2-40DE-BD57-656C2A67EE4F}" type="datetimeFigureOut">
              <a:rPr lang="en-IN" smtClean="0"/>
              <a:t>07-07-2026</a:t>
            </a:fld>
            <a:endParaRPr lang="en-IN"/>
          </a:p>
        </p:txBody>
      </p:sp>
      <p:sp>
        <p:nvSpPr>
          <p:cNvPr id="6" name="Footer Placeholder 5">
            <a:extLst>
              <a:ext uri="{FF2B5EF4-FFF2-40B4-BE49-F238E27FC236}">
                <a16:creationId xmlns:a16="http://schemas.microsoft.com/office/drawing/2014/main" id="{8F4760BB-A332-40DB-AD47-91E0D25195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74AC1A-40EB-4556-B21F-0BE766E2036A}"/>
              </a:ext>
            </a:extLst>
          </p:cNvPr>
          <p:cNvSpPr>
            <a:spLocks noGrp="1"/>
          </p:cNvSpPr>
          <p:nvPr>
            <p:ph type="sldNum" sz="quarter" idx="12"/>
          </p:nvPr>
        </p:nvSpPr>
        <p:spPr/>
        <p:txBody>
          <a:bodyPr/>
          <a:lstStyle/>
          <a:p>
            <a:fld id="{71F49FDE-B5DB-4D41-99D3-1CAB9518166F}" type="slidenum">
              <a:rPr lang="en-IN" smtClean="0"/>
              <a:t>‹#›</a:t>
            </a:fld>
            <a:endParaRPr lang="en-IN"/>
          </a:p>
        </p:txBody>
      </p:sp>
    </p:spTree>
    <p:extLst>
      <p:ext uri="{BB962C8B-B14F-4D97-AF65-F5344CB8AC3E}">
        <p14:creationId xmlns:p14="http://schemas.microsoft.com/office/powerpoint/2010/main" val="3878439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475D0-2752-42C8-9615-13C4876651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ACEE4E-6A24-4FE1-973B-FC1F902030B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2C76D9-1F80-41DD-99A1-9B4500979D8D}"/>
              </a:ext>
            </a:extLst>
          </p:cNvPr>
          <p:cNvSpPr>
            <a:spLocks noGrp="1"/>
          </p:cNvSpPr>
          <p:nvPr>
            <p:ph type="dt" sz="half" idx="10"/>
          </p:nvPr>
        </p:nvSpPr>
        <p:spPr/>
        <p:txBody>
          <a:bodyPr/>
          <a:lstStyle/>
          <a:p>
            <a:fld id="{7DDD2A69-ACB2-40DE-BD57-656C2A67EE4F}" type="datetimeFigureOut">
              <a:rPr lang="en-IN" smtClean="0"/>
              <a:t>07-07-2026</a:t>
            </a:fld>
            <a:endParaRPr lang="en-IN"/>
          </a:p>
        </p:txBody>
      </p:sp>
      <p:sp>
        <p:nvSpPr>
          <p:cNvPr id="5" name="Footer Placeholder 4">
            <a:extLst>
              <a:ext uri="{FF2B5EF4-FFF2-40B4-BE49-F238E27FC236}">
                <a16:creationId xmlns:a16="http://schemas.microsoft.com/office/drawing/2014/main" id="{641005D7-498C-4738-B5D7-DE3C9F0AA7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7C5A00-E543-4905-BE04-05C562E2DF0C}"/>
              </a:ext>
            </a:extLst>
          </p:cNvPr>
          <p:cNvSpPr>
            <a:spLocks noGrp="1"/>
          </p:cNvSpPr>
          <p:nvPr>
            <p:ph type="sldNum" sz="quarter" idx="12"/>
          </p:nvPr>
        </p:nvSpPr>
        <p:spPr/>
        <p:txBody>
          <a:bodyPr/>
          <a:lstStyle/>
          <a:p>
            <a:fld id="{71F49FDE-B5DB-4D41-99D3-1CAB9518166F}" type="slidenum">
              <a:rPr lang="en-IN" smtClean="0"/>
              <a:t>‹#›</a:t>
            </a:fld>
            <a:endParaRPr lang="en-IN"/>
          </a:p>
        </p:txBody>
      </p:sp>
    </p:spTree>
    <p:extLst>
      <p:ext uri="{BB962C8B-B14F-4D97-AF65-F5344CB8AC3E}">
        <p14:creationId xmlns:p14="http://schemas.microsoft.com/office/powerpoint/2010/main" val="2927371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4A77C5-2F69-402E-A561-28CB1E7F02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33573C-4D6A-41C1-9211-93325E24290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B81189-EEF0-41C8-A4DD-6FDE1D47B28D}"/>
              </a:ext>
            </a:extLst>
          </p:cNvPr>
          <p:cNvSpPr>
            <a:spLocks noGrp="1"/>
          </p:cNvSpPr>
          <p:nvPr>
            <p:ph type="dt" sz="half" idx="10"/>
          </p:nvPr>
        </p:nvSpPr>
        <p:spPr/>
        <p:txBody>
          <a:bodyPr/>
          <a:lstStyle/>
          <a:p>
            <a:fld id="{7DDD2A69-ACB2-40DE-BD57-656C2A67EE4F}" type="datetimeFigureOut">
              <a:rPr lang="en-IN" smtClean="0"/>
              <a:t>07-07-2026</a:t>
            </a:fld>
            <a:endParaRPr lang="en-IN"/>
          </a:p>
        </p:txBody>
      </p:sp>
      <p:sp>
        <p:nvSpPr>
          <p:cNvPr id="5" name="Footer Placeholder 4">
            <a:extLst>
              <a:ext uri="{FF2B5EF4-FFF2-40B4-BE49-F238E27FC236}">
                <a16:creationId xmlns:a16="http://schemas.microsoft.com/office/drawing/2014/main" id="{C39AD215-4B2D-4A52-9653-5ECE085E4D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DD6C6A-61FE-4654-BC5E-E233FDB60EB3}"/>
              </a:ext>
            </a:extLst>
          </p:cNvPr>
          <p:cNvSpPr>
            <a:spLocks noGrp="1"/>
          </p:cNvSpPr>
          <p:nvPr>
            <p:ph type="sldNum" sz="quarter" idx="12"/>
          </p:nvPr>
        </p:nvSpPr>
        <p:spPr/>
        <p:txBody>
          <a:bodyPr/>
          <a:lstStyle/>
          <a:p>
            <a:fld id="{71F49FDE-B5DB-4D41-99D3-1CAB9518166F}" type="slidenum">
              <a:rPr lang="en-IN" smtClean="0"/>
              <a:t>‹#›</a:t>
            </a:fld>
            <a:endParaRPr lang="en-IN"/>
          </a:p>
        </p:txBody>
      </p:sp>
    </p:spTree>
    <p:extLst>
      <p:ext uri="{BB962C8B-B14F-4D97-AF65-F5344CB8AC3E}">
        <p14:creationId xmlns:p14="http://schemas.microsoft.com/office/powerpoint/2010/main" val="1303595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9938B0-A629-43A0-B3B9-E811422D1D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4E067E-5C6E-40C3-9DE0-00425AB3AF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F22569-7EBD-43D7-BEB0-EAA096155D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DD2A69-ACB2-40DE-BD57-656C2A67EE4F}" type="datetimeFigureOut">
              <a:rPr lang="en-IN" smtClean="0"/>
              <a:t>07-07-2026</a:t>
            </a:fld>
            <a:endParaRPr lang="en-IN"/>
          </a:p>
        </p:txBody>
      </p:sp>
      <p:sp>
        <p:nvSpPr>
          <p:cNvPr id="5" name="Footer Placeholder 4">
            <a:extLst>
              <a:ext uri="{FF2B5EF4-FFF2-40B4-BE49-F238E27FC236}">
                <a16:creationId xmlns:a16="http://schemas.microsoft.com/office/drawing/2014/main" id="{54AE1240-48F5-492F-A15D-3A376DC81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D18CB0A-23AB-49DE-9515-A3873984C4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F49FDE-B5DB-4D41-99D3-1CAB9518166F}" type="slidenum">
              <a:rPr lang="en-IN" smtClean="0"/>
              <a:t>‹#›</a:t>
            </a:fld>
            <a:endParaRPr lang="en-IN"/>
          </a:p>
        </p:txBody>
      </p:sp>
    </p:spTree>
    <p:extLst>
      <p:ext uri="{BB962C8B-B14F-4D97-AF65-F5344CB8AC3E}">
        <p14:creationId xmlns:p14="http://schemas.microsoft.com/office/powerpoint/2010/main" val="244163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543688"/>
            <a:ext cx="9144000" cy="2387600"/>
          </a:xfrm>
        </p:spPr>
        <p:txBody>
          <a:bodyPr>
            <a:normAutofit/>
          </a:bodyPr>
          <a:lstStyle/>
          <a:p>
            <a:r>
              <a:rPr lang="en-IN" sz="4000" dirty="0">
                <a:solidFill>
                  <a:srgbClr val="002060"/>
                </a:solidFill>
                <a:latin typeface="Arial Narrow" panose="020B0606020202030204" pitchFamily="34" charset="0"/>
              </a:rPr>
              <a:t>Generative Vision Models</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Lecture 1</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Part 3</a:t>
            </a:r>
          </a:p>
        </p:txBody>
      </p:sp>
    </p:spTree>
    <p:extLst>
      <p:ext uri="{BB962C8B-B14F-4D97-AF65-F5344CB8AC3E}">
        <p14:creationId xmlns:p14="http://schemas.microsoft.com/office/powerpoint/2010/main" val="250492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68306AA-B2BB-41BA-BE19-008C487039E8}"/>
              </a:ext>
            </a:extLst>
          </p:cNvPr>
          <p:cNvSpPr>
            <a:spLocks noGrp="1"/>
          </p:cNvSpPr>
          <p:nvPr>
            <p:ph idx="1"/>
          </p:nvPr>
        </p:nvSpPr>
        <p:spPr/>
        <p:txBody>
          <a:bodyPr/>
          <a:lstStyle/>
          <a:p>
            <a:r>
              <a:rPr lang="en-US" dirty="0">
                <a:latin typeface="Arial Narrow" panose="020B0606020202030204" pitchFamily="34" charset="0"/>
              </a:rPr>
              <a:t>Generative Modelling for Computer Vision</a:t>
            </a:r>
          </a:p>
          <a:p>
            <a:endParaRPr lang="en-US" dirty="0">
              <a:latin typeface="Arial Narrow" panose="020B0606020202030204" pitchFamily="34" charset="0"/>
            </a:endParaRPr>
          </a:p>
          <a:p>
            <a:r>
              <a:rPr lang="en-IN" dirty="0">
                <a:latin typeface="Arial Narrow" panose="020B0606020202030204" pitchFamily="34" charset="0"/>
              </a:rPr>
              <a:t>Generative Vision Models</a:t>
            </a:r>
          </a:p>
          <a:p>
            <a:endParaRPr lang="en-IN" dirty="0">
              <a:latin typeface="Arial Narrow" panose="020B0606020202030204" pitchFamily="34" charset="0"/>
            </a:endParaRPr>
          </a:p>
          <a:p>
            <a:r>
              <a:rPr lang="en-IN" dirty="0">
                <a:latin typeface="Arial Narrow" panose="020B0606020202030204" pitchFamily="34" charset="0"/>
              </a:rPr>
              <a:t>Applications in Computer Vision</a:t>
            </a:r>
          </a:p>
        </p:txBody>
      </p:sp>
      <p:sp>
        <p:nvSpPr>
          <p:cNvPr id="6" name="Title 1">
            <a:extLst>
              <a:ext uri="{FF2B5EF4-FFF2-40B4-BE49-F238E27FC236}">
                <a16:creationId xmlns:a16="http://schemas.microsoft.com/office/drawing/2014/main" id="{A06DE4A8-FAD7-4827-930A-37A50F6CE2F2}"/>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ea typeface="Calibri Light"/>
                <a:cs typeface="Calibri Light"/>
              </a:rPr>
              <a:t>Content</a:t>
            </a:r>
          </a:p>
        </p:txBody>
      </p:sp>
    </p:spTree>
    <p:extLst>
      <p:ext uri="{BB962C8B-B14F-4D97-AF65-F5344CB8AC3E}">
        <p14:creationId xmlns:p14="http://schemas.microsoft.com/office/powerpoint/2010/main" val="2886684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3201C-C959-4F7B-BB17-6DD0521297AA}"/>
              </a:ext>
            </a:extLst>
          </p:cNvPr>
          <p:cNvSpPr>
            <a:spLocks noGrp="1"/>
          </p:cNvSpPr>
          <p:nvPr>
            <p:ph type="title"/>
          </p:nvPr>
        </p:nvSpPr>
        <p:spPr>
          <a:xfrm>
            <a:off x="838200" y="573141"/>
            <a:ext cx="10515600" cy="1325563"/>
          </a:xfrm>
        </p:spPr>
        <p:txBody>
          <a:bodyPr>
            <a:normAutofit/>
          </a:bodyPr>
          <a:lstStyle/>
          <a:p>
            <a:r>
              <a:rPr lang="en-US" sz="3200" dirty="0">
                <a:latin typeface="Century" panose="02040604050505020304" pitchFamily="18" charset="0"/>
              </a:rPr>
              <a:t>Generative Modelling for Computer Vision</a:t>
            </a:r>
            <a:endParaRPr lang="en-IN" sz="3200" dirty="0">
              <a:latin typeface="Century" panose="020406040505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663304C-C1C1-469B-A5C7-AA977566DE2A}"/>
                  </a:ext>
                </a:extLst>
              </p:cNvPr>
              <p:cNvSpPr>
                <a:spLocks noGrp="1"/>
              </p:cNvSpPr>
              <p:nvPr>
                <p:ph idx="1"/>
              </p:nvPr>
            </p:nvSpPr>
            <p:spPr>
              <a:xfrm>
                <a:off x="838200" y="1898704"/>
                <a:ext cx="10515600" cy="4701234"/>
              </a:xfrm>
            </p:spPr>
            <p:txBody>
              <a:bodyPr>
                <a:normAutofit fontScale="92500" lnSpcReduction="20000"/>
              </a:bodyPr>
              <a:lstStyle/>
              <a:p>
                <a:pPr algn="just"/>
                <a:r>
                  <a:rPr lang="en-US" sz="2000" dirty="0">
                    <a:solidFill>
                      <a:srgbClr val="00B0F0"/>
                    </a:solidFill>
                    <a:latin typeface="Arial Narrow" panose="020B0606020202030204" pitchFamily="34" charset="0"/>
                  </a:rPr>
                  <a:t>Generative Modelling for Computer Vision </a:t>
                </a:r>
                <a:r>
                  <a:rPr lang="en-US" sz="2000" dirty="0">
                    <a:latin typeface="Arial Narrow" panose="020B0606020202030204" pitchFamily="34" charset="0"/>
                  </a:rPr>
                  <a:t>is a branch of machine learning that focuses on learning the underlying distribution of visual data (images, videos, 3D scenes, etc.) so that new, realistic samples can be generated.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Instead of only </a:t>
                </a:r>
                <a:r>
                  <a:rPr lang="en-US" sz="2000" dirty="0">
                    <a:solidFill>
                      <a:srgbClr val="00B0F0"/>
                    </a:solidFill>
                    <a:latin typeface="Arial Narrow" panose="020B0606020202030204" pitchFamily="34" charset="0"/>
                  </a:rPr>
                  <a:t>recognizing or classifying image</a:t>
                </a:r>
                <a:r>
                  <a:rPr lang="en-US" sz="2000" dirty="0">
                    <a:latin typeface="Arial Narrow" panose="020B0606020202030204" pitchFamily="34" charset="0"/>
                  </a:rPr>
                  <a:t>s, generative models learn </a:t>
                </a:r>
                <a:r>
                  <a:rPr lang="en-US" sz="2000" dirty="0">
                    <a:solidFill>
                      <a:srgbClr val="00B0F0"/>
                    </a:solidFill>
                    <a:latin typeface="Arial Narrow" panose="020B0606020202030204" pitchFamily="34" charset="0"/>
                  </a:rPr>
                  <a:t>how images are formed and can create, reconstruct, or modify visual content.</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A generative model learns the probability distribution </a:t>
                </a:r>
                <a14:m>
                  <m:oMath xmlns:m="http://schemas.openxmlformats.org/officeDocument/2006/math">
                    <m:r>
                      <a:rPr lang="en-US" sz="2000" i="1" dirty="0" smtClean="0">
                        <a:latin typeface="Cambria Math" panose="02040503050406030204" pitchFamily="18" charset="0"/>
                      </a:rPr>
                      <m:t>𝑃</m:t>
                    </m:r>
                    <m:r>
                      <a:rPr lang="en-US" sz="2000" i="1" dirty="0" smtClean="0">
                        <a:latin typeface="Cambria Math" panose="02040503050406030204" pitchFamily="18" charset="0"/>
                      </a:rPr>
                      <m:t>(</m:t>
                    </m:r>
                    <m:r>
                      <a:rPr lang="en-US" sz="2000" i="1" dirty="0" smtClean="0">
                        <a:latin typeface="Cambria Math" panose="02040503050406030204" pitchFamily="18" charset="0"/>
                      </a:rPr>
                      <m:t>𝑋</m:t>
                    </m:r>
                    <m:r>
                      <a:rPr lang="en-US" sz="2000" i="1" dirty="0" smtClean="0">
                        <a:latin typeface="Cambria Math" panose="02040503050406030204" pitchFamily="18" charset="0"/>
                      </a:rPr>
                      <m:t>)</m:t>
                    </m:r>
                  </m:oMath>
                </a14:m>
                <a:r>
                  <a:rPr lang="en-US" sz="2000" dirty="0">
                    <a:latin typeface="Arial Narrow" panose="020B0606020202030204" pitchFamily="34" charset="0"/>
                  </a:rPr>
                  <a:t> of data, where </a:t>
                </a:r>
                <a14:m>
                  <m:oMath xmlns:m="http://schemas.openxmlformats.org/officeDocument/2006/math">
                    <m:r>
                      <a:rPr lang="en-US" sz="2000" i="1" dirty="0" smtClean="0">
                        <a:latin typeface="Cambria Math" panose="02040503050406030204" pitchFamily="18" charset="0"/>
                      </a:rPr>
                      <m:t>𝑋</m:t>
                    </m:r>
                  </m:oMath>
                </a14:m>
                <a:r>
                  <a:rPr lang="en-US" sz="2000" dirty="0">
                    <a:latin typeface="Arial Narrow" panose="020B0606020202030204" pitchFamily="34" charset="0"/>
                  </a:rPr>
                  <a:t> represents images or other visual inputs.</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Once trained, it can:</a:t>
                </a:r>
              </a:p>
              <a:p>
                <a:pPr lvl="1" algn="just"/>
                <a:r>
                  <a:rPr lang="en-US" sz="1900" dirty="0">
                    <a:latin typeface="Arial Narrow" panose="020B0606020202030204" pitchFamily="34" charset="0"/>
                  </a:rPr>
                  <a:t>Generate new images</a:t>
                </a:r>
              </a:p>
              <a:p>
                <a:pPr lvl="1" algn="just"/>
                <a:r>
                  <a:rPr lang="en-US" sz="1900" dirty="0">
                    <a:latin typeface="Arial Narrow" panose="020B0606020202030204" pitchFamily="34" charset="0"/>
                  </a:rPr>
                  <a:t>Fill in missing image regions </a:t>
                </a:r>
                <a:r>
                  <a:rPr lang="en-US" sz="1900" dirty="0">
                    <a:solidFill>
                      <a:srgbClr val="00B0F0"/>
                    </a:solidFill>
                    <a:latin typeface="Arial Narrow" panose="020B0606020202030204" pitchFamily="34" charset="0"/>
                  </a:rPr>
                  <a:t>(inpainting</a:t>
                </a:r>
                <a:r>
                  <a:rPr lang="en-US" sz="1900" dirty="0">
                    <a:latin typeface="Arial Narrow" panose="020B0606020202030204" pitchFamily="34" charset="0"/>
                  </a:rPr>
                  <a:t>)</a:t>
                </a:r>
              </a:p>
              <a:p>
                <a:pPr lvl="1" algn="just"/>
                <a:r>
                  <a:rPr lang="en-US" sz="1900" dirty="0">
                    <a:latin typeface="Arial Narrow" panose="020B0606020202030204" pitchFamily="34" charset="0"/>
                  </a:rPr>
                  <a:t>Enhance image resolution (</a:t>
                </a:r>
                <a:r>
                  <a:rPr lang="en-US" sz="1900" dirty="0">
                    <a:solidFill>
                      <a:srgbClr val="00B0F0"/>
                    </a:solidFill>
                    <a:latin typeface="Arial Narrow" panose="020B0606020202030204" pitchFamily="34" charset="0"/>
                  </a:rPr>
                  <a:t>super-resolution</a:t>
                </a:r>
                <a:r>
                  <a:rPr lang="en-US" sz="1900" dirty="0">
                    <a:latin typeface="Arial Narrow" panose="020B0606020202030204" pitchFamily="34" charset="0"/>
                  </a:rPr>
                  <a:t>)</a:t>
                </a:r>
              </a:p>
              <a:p>
                <a:pPr lvl="1" algn="just"/>
                <a:r>
                  <a:rPr lang="en-US" sz="1900" dirty="0">
                    <a:latin typeface="Arial Narrow" panose="020B0606020202030204" pitchFamily="34" charset="0"/>
                  </a:rPr>
                  <a:t>Convert images from one style to another (</a:t>
                </a:r>
                <a:r>
                  <a:rPr lang="en-US" sz="1900" dirty="0">
                    <a:solidFill>
                      <a:srgbClr val="00B0F0"/>
                    </a:solidFill>
                    <a:latin typeface="Arial Narrow" panose="020B0606020202030204" pitchFamily="34" charset="0"/>
                  </a:rPr>
                  <a:t>style transfer</a:t>
                </a:r>
                <a:r>
                  <a:rPr lang="en-US" sz="1900" dirty="0">
                    <a:latin typeface="Arial Narrow" panose="020B0606020202030204" pitchFamily="34" charset="0"/>
                  </a:rPr>
                  <a:t>)</a:t>
                </a:r>
              </a:p>
              <a:p>
                <a:pPr lvl="1" algn="just"/>
                <a:r>
                  <a:rPr lang="en-US" sz="1900" dirty="0">
                    <a:latin typeface="Arial Narrow" panose="020B0606020202030204" pitchFamily="34" charset="0"/>
                  </a:rPr>
                  <a:t>Create synthetic training data</a:t>
                </a:r>
              </a:p>
              <a:p>
                <a:pPr lvl="1" algn="just"/>
                <a:r>
                  <a:rPr lang="en-US" sz="1900" dirty="0">
                    <a:latin typeface="Arial Narrow" panose="020B0606020202030204" pitchFamily="34" charset="0"/>
                  </a:rPr>
                  <a:t>Generate videos and 3D objects</a:t>
                </a:r>
                <a:endParaRPr lang="en-IN" sz="1900" dirty="0">
                  <a:latin typeface="Arial Narrow" panose="020B0606020202030204" pitchFamily="34" charset="0"/>
                </a:endParaRPr>
              </a:p>
            </p:txBody>
          </p:sp>
        </mc:Choice>
        <mc:Fallback>
          <p:sp>
            <p:nvSpPr>
              <p:cNvPr id="3" name="Content Placeholder 2">
                <a:extLst>
                  <a:ext uri="{FF2B5EF4-FFF2-40B4-BE49-F238E27FC236}">
                    <a16:creationId xmlns:a16="http://schemas.microsoft.com/office/drawing/2014/main" id="{A663304C-C1C1-469B-A5C7-AA977566DE2A}"/>
                  </a:ext>
                </a:extLst>
              </p:cNvPr>
              <p:cNvSpPr>
                <a:spLocks noGrp="1" noRot="1" noChangeAspect="1" noMove="1" noResize="1" noEditPoints="1" noAdjustHandles="1" noChangeArrowheads="1" noChangeShapeType="1" noTextEdit="1"/>
              </p:cNvSpPr>
              <p:nvPr>
                <p:ph idx="1"/>
              </p:nvPr>
            </p:nvSpPr>
            <p:spPr>
              <a:xfrm>
                <a:off x="838200" y="1898704"/>
                <a:ext cx="10515600" cy="4701234"/>
              </a:xfrm>
              <a:blipFill>
                <a:blip r:embed="rId2"/>
                <a:stretch>
                  <a:fillRect l="-464" t="-2461" r="-522"/>
                </a:stretch>
              </a:blipFill>
            </p:spPr>
            <p:txBody>
              <a:bodyPr/>
              <a:lstStyle/>
              <a:p>
                <a:r>
                  <a:rPr lang="en-GB">
                    <a:noFill/>
                  </a:rPr>
                  <a:t> </a:t>
                </a:r>
              </a:p>
            </p:txBody>
          </p:sp>
        </mc:Fallback>
      </mc:AlternateContent>
    </p:spTree>
    <p:extLst>
      <p:ext uri="{BB962C8B-B14F-4D97-AF65-F5344CB8AC3E}">
        <p14:creationId xmlns:p14="http://schemas.microsoft.com/office/powerpoint/2010/main" val="3849001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4496-8AD4-4C53-B36A-7CB5C46734BF}"/>
              </a:ext>
            </a:extLst>
          </p:cNvPr>
          <p:cNvSpPr>
            <a:spLocks noGrp="1"/>
          </p:cNvSpPr>
          <p:nvPr>
            <p:ph type="title"/>
          </p:nvPr>
        </p:nvSpPr>
        <p:spPr/>
        <p:txBody>
          <a:bodyPr>
            <a:normAutofit/>
          </a:bodyPr>
          <a:lstStyle/>
          <a:p>
            <a:r>
              <a:rPr lang="en-IN" sz="3600" dirty="0">
                <a:latin typeface="Century" panose="02040604050505020304" pitchFamily="18" charset="0"/>
              </a:rPr>
              <a:t>Generative Vision Models</a:t>
            </a:r>
          </a:p>
        </p:txBody>
      </p:sp>
      <p:sp>
        <p:nvSpPr>
          <p:cNvPr id="3" name="Content Placeholder 2">
            <a:extLst>
              <a:ext uri="{FF2B5EF4-FFF2-40B4-BE49-F238E27FC236}">
                <a16:creationId xmlns:a16="http://schemas.microsoft.com/office/drawing/2014/main" id="{3D25BE54-C64F-4A3F-B308-22EE0BDF334B}"/>
              </a:ext>
            </a:extLst>
          </p:cNvPr>
          <p:cNvSpPr>
            <a:spLocks noGrp="1"/>
          </p:cNvSpPr>
          <p:nvPr>
            <p:ph idx="1"/>
          </p:nvPr>
        </p:nvSpPr>
        <p:spPr/>
        <p:txBody>
          <a:bodyPr/>
          <a:lstStyle/>
          <a:p>
            <a:r>
              <a:rPr lang="en-IN" dirty="0">
                <a:latin typeface="Arial Narrow" panose="020B0606020202030204" pitchFamily="34" charset="0"/>
              </a:rPr>
              <a:t>Variational Autoencoders (VAEs)</a:t>
            </a:r>
          </a:p>
          <a:p>
            <a:r>
              <a:rPr lang="en-IN" dirty="0">
                <a:latin typeface="Arial Narrow" panose="020B0606020202030204" pitchFamily="34" charset="0"/>
              </a:rPr>
              <a:t>Generative Adversarial Networks (GANs)</a:t>
            </a:r>
          </a:p>
          <a:p>
            <a:r>
              <a:rPr lang="en-IN" dirty="0">
                <a:latin typeface="Arial Narrow" panose="020B0606020202030204" pitchFamily="34" charset="0"/>
              </a:rPr>
              <a:t>Autoregressive Models</a:t>
            </a:r>
          </a:p>
          <a:p>
            <a:r>
              <a:rPr lang="en-IN" dirty="0">
                <a:latin typeface="Arial Narrow" panose="020B0606020202030204" pitchFamily="34" charset="0"/>
              </a:rPr>
              <a:t>Diffusion Models</a:t>
            </a:r>
          </a:p>
          <a:p>
            <a:r>
              <a:rPr lang="en-IN" dirty="0">
                <a:latin typeface="Arial Narrow" panose="020B0606020202030204" pitchFamily="34" charset="0"/>
              </a:rPr>
              <a:t>Normalizing Flows</a:t>
            </a:r>
          </a:p>
          <a:p>
            <a:pPr marL="0" indent="0">
              <a:buNone/>
            </a:pPr>
            <a:endParaRPr lang="en-IN" dirty="0">
              <a:latin typeface="Arial Narrow" panose="020B0606020202030204" pitchFamily="34" charset="0"/>
            </a:endParaRPr>
          </a:p>
        </p:txBody>
      </p:sp>
    </p:spTree>
    <p:extLst>
      <p:ext uri="{BB962C8B-B14F-4D97-AF65-F5344CB8AC3E}">
        <p14:creationId xmlns:p14="http://schemas.microsoft.com/office/powerpoint/2010/main" val="4192882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70F04-AB45-49F4-9FF8-3A2C3659D09A}"/>
              </a:ext>
            </a:extLst>
          </p:cNvPr>
          <p:cNvSpPr>
            <a:spLocks noGrp="1"/>
          </p:cNvSpPr>
          <p:nvPr>
            <p:ph type="title"/>
          </p:nvPr>
        </p:nvSpPr>
        <p:spPr/>
        <p:txBody>
          <a:bodyPr>
            <a:normAutofit/>
          </a:bodyPr>
          <a:lstStyle/>
          <a:p>
            <a:r>
              <a:rPr lang="en-US" sz="3600" dirty="0">
                <a:latin typeface="Century" panose="02040604050505020304" pitchFamily="18" charset="0"/>
              </a:rPr>
              <a:t>Variational Autoencoder (VAE)</a:t>
            </a:r>
            <a:endParaRPr lang="en-IN" sz="3600" dirty="0">
              <a:latin typeface="Century" panose="02040604050505020304" pitchFamily="18" charset="0"/>
            </a:endParaRPr>
          </a:p>
        </p:txBody>
      </p:sp>
      <p:sp>
        <p:nvSpPr>
          <p:cNvPr id="3" name="Content Placeholder 2">
            <a:extLst>
              <a:ext uri="{FF2B5EF4-FFF2-40B4-BE49-F238E27FC236}">
                <a16:creationId xmlns:a16="http://schemas.microsoft.com/office/drawing/2014/main" id="{A3BE6196-F0E2-4182-BEB5-9C6FE0B42C47}"/>
              </a:ext>
            </a:extLst>
          </p:cNvPr>
          <p:cNvSpPr>
            <a:spLocks noGrp="1"/>
          </p:cNvSpPr>
          <p:nvPr>
            <p:ph idx="1"/>
          </p:nvPr>
        </p:nvSpPr>
        <p:spPr/>
        <p:txBody>
          <a:bodyPr>
            <a:normAutofit/>
          </a:bodyPr>
          <a:lstStyle/>
          <a:p>
            <a:pPr algn="just"/>
            <a:r>
              <a:rPr lang="en-US" sz="2000" dirty="0">
                <a:latin typeface="Arial Narrow" panose="020B0606020202030204" pitchFamily="34" charset="0"/>
              </a:rPr>
              <a:t>A </a:t>
            </a:r>
            <a:r>
              <a:rPr lang="en-US" sz="2000" dirty="0">
                <a:solidFill>
                  <a:srgbClr val="00B0F0"/>
                </a:solidFill>
                <a:latin typeface="Arial Narrow" panose="020B0606020202030204" pitchFamily="34" charset="0"/>
              </a:rPr>
              <a:t>Variational Autoencoder (VAE) </a:t>
            </a:r>
            <a:r>
              <a:rPr lang="en-US" sz="2000" dirty="0">
                <a:latin typeface="Arial Narrow" panose="020B0606020202030204" pitchFamily="34" charset="0"/>
              </a:rPr>
              <a:t>is a type of generative neural network that learns a compressed, continuous representation of data and can generate new samples similar to the training data.</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Unlike a standard autoencoder, which maps an input to a single point in latent space, a VAE maps an input to a </a:t>
            </a:r>
            <a:r>
              <a:rPr lang="en-US" sz="2000" dirty="0">
                <a:solidFill>
                  <a:srgbClr val="00B0F0"/>
                </a:solidFill>
                <a:latin typeface="Arial Narrow" panose="020B0606020202030204" pitchFamily="34" charset="0"/>
              </a:rPr>
              <a:t>probability distribution </a:t>
            </a:r>
            <a:r>
              <a:rPr lang="en-US" sz="2000" dirty="0">
                <a:latin typeface="Arial Narrow" panose="020B0606020202030204" pitchFamily="34" charset="0"/>
              </a:rPr>
              <a:t>(typically a Gaussian).</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VAEs use encoder-decoder architecture with </a:t>
            </a:r>
            <a:r>
              <a:rPr lang="en-US" sz="2000" dirty="0">
                <a:solidFill>
                  <a:srgbClr val="00B0F0"/>
                </a:solidFill>
                <a:latin typeface="Arial Narrow" panose="020B0606020202030204" pitchFamily="34" charset="0"/>
              </a:rPr>
              <a:t>variational inference to model data distributions</a:t>
            </a:r>
            <a:r>
              <a:rPr lang="en-US" sz="2000" dirty="0">
                <a:latin typeface="Arial Narrow" panose="020B0606020202030204" pitchFamily="34" charset="0"/>
              </a:rPr>
              <a:t>, allowing for tasks like image synthesis, denoising, and anomaly detection.</a:t>
            </a:r>
            <a:endParaRPr lang="en-IN" sz="2000" dirty="0">
              <a:latin typeface="Arial Narrow" panose="020B0606020202030204" pitchFamily="34" charset="0"/>
            </a:endParaRPr>
          </a:p>
        </p:txBody>
      </p:sp>
    </p:spTree>
    <p:extLst>
      <p:ext uri="{BB962C8B-B14F-4D97-AF65-F5344CB8AC3E}">
        <p14:creationId xmlns:p14="http://schemas.microsoft.com/office/powerpoint/2010/main" val="1746833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rapezoid 2">
            <a:extLst>
              <a:ext uri="{FF2B5EF4-FFF2-40B4-BE49-F238E27FC236}">
                <a16:creationId xmlns:a16="http://schemas.microsoft.com/office/drawing/2014/main" id="{BBA0502B-8069-417A-86E4-F78AD078D05D}"/>
              </a:ext>
            </a:extLst>
          </p:cNvPr>
          <p:cNvSpPr/>
          <p:nvPr/>
        </p:nvSpPr>
        <p:spPr>
          <a:xfrm rot="5400000">
            <a:off x="1400130" y="2110236"/>
            <a:ext cx="1105085" cy="790217"/>
          </a:xfrm>
          <a:prstGeom prst="trapezoid">
            <a:avLst>
              <a:gd name="adj" fmla="val 41522"/>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4" name="Trapezoid 3">
            <a:extLst>
              <a:ext uri="{FF2B5EF4-FFF2-40B4-BE49-F238E27FC236}">
                <a16:creationId xmlns:a16="http://schemas.microsoft.com/office/drawing/2014/main" id="{3917583C-8E4B-4597-8A5D-6C6088C3389A}"/>
              </a:ext>
            </a:extLst>
          </p:cNvPr>
          <p:cNvSpPr/>
          <p:nvPr/>
        </p:nvSpPr>
        <p:spPr>
          <a:xfrm rot="16200000">
            <a:off x="3304648" y="2110236"/>
            <a:ext cx="1105085" cy="790217"/>
          </a:xfrm>
          <a:prstGeom prst="trapezoid">
            <a:avLst>
              <a:gd name="adj" fmla="val 41522"/>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F27681B0-DEDC-4DCA-832F-6180935830E1}"/>
              </a:ext>
            </a:extLst>
          </p:cNvPr>
          <p:cNvSpPr txBox="1"/>
          <p:nvPr/>
        </p:nvSpPr>
        <p:spPr>
          <a:xfrm>
            <a:off x="2032918" y="1594319"/>
            <a:ext cx="1738371" cy="33855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L (Latent space)</a:t>
            </a:r>
          </a:p>
        </p:txBody>
      </p:sp>
      <p:sp>
        <p:nvSpPr>
          <p:cNvPr id="8" name="TextBox 7">
            <a:extLst>
              <a:ext uri="{FF2B5EF4-FFF2-40B4-BE49-F238E27FC236}">
                <a16:creationId xmlns:a16="http://schemas.microsoft.com/office/drawing/2014/main" id="{EB0D4A39-E3A3-49DA-AB06-6D243CEC0D84}"/>
              </a:ext>
            </a:extLst>
          </p:cNvPr>
          <p:cNvSpPr txBox="1"/>
          <p:nvPr/>
        </p:nvSpPr>
        <p:spPr>
          <a:xfrm>
            <a:off x="1453725" y="3147960"/>
            <a:ext cx="997899" cy="33855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Encoder</a:t>
            </a:r>
          </a:p>
        </p:txBody>
      </p:sp>
      <p:sp>
        <p:nvSpPr>
          <p:cNvPr id="9" name="TextBox 8">
            <a:extLst>
              <a:ext uri="{FF2B5EF4-FFF2-40B4-BE49-F238E27FC236}">
                <a16:creationId xmlns:a16="http://schemas.microsoft.com/office/drawing/2014/main" id="{8104C419-891B-4ECC-8E12-DB4B84FBCEF5}"/>
              </a:ext>
            </a:extLst>
          </p:cNvPr>
          <p:cNvSpPr txBox="1"/>
          <p:nvPr/>
        </p:nvSpPr>
        <p:spPr>
          <a:xfrm>
            <a:off x="3462081" y="3147960"/>
            <a:ext cx="1071088" cy="33855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Decoder</a:t>
            </a:r>
          </a:p>
        </p:txBody>
      </p:sp>
      <p:sp>
        <p:nvSpPr>
          <p:cNvPr id="10" name="Right Brace 9">
            <a:extLst>
              <a:ext uri="{FF2B5EF4-FFF2-40B4-BE49-F238E27FC236}">
                <a16:creationId xmlns:a16="http://schemas.microsoft.com/office/drawing/2014/main" id="{AAC4A584-67D5-4D7B-B0BA-5B7EADC2E6FA}"/>
              </a:ext>
            </a:extLst>
          </p:cNvPr>
          <p:cNvSpPr/>
          <p:nvPr/>
        </p:nvSpPr>
        <p:spPr>
          <a:xfrm rot="5400000">
            <a:off x="3805304" y="2768399"/>
            <a:ext cx="311452" cy="150193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2EFF323D-6040-4C2B-B8D6-035D3284D6BA}"/>
              </a:ext>
            </a:extLst>
          </p:cNvPr>
          <p:cNvSpPr txBox="1"/>
          <p:nvPr/>
        </p:nvSpPr>
        <p:spPr>
          <a:xfrm>
            <a:off x="3486095" y="3652960"/>
            <a:ext cx="1225903" cy="33855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Generator</a:t>
            </a:r>
          </a:p>
        </p:txBody>
      </p:sp>
      <p:sp>
        <p:nvSpPr>
          <p:cNvPr id="12" name="Rectangle 11">
            <a:extLst>
              <a:ext uri="{FF2B5EF4-FFF2-40B4-BE49-F238E27FC236}">
                <a16:creationId xmlns:a16="http://schemas.microsoft.com/office/drawing/2014/main" id="{F15DCA4F-58B1-4681-89F4-66B0537E217A}"/>
              </a:ext>
            </a:extLst>
          </p:cNvPr>
          <p:cNvSpPr/>
          <p:nvPr/>
        </p:nvSpPr>
        <p:spPr>
          <a:xfrm>
            <a:off x="2772493" y="2008687"/>
            <a:ext cx="236280" cy="269357"/>
          </a:xfrm>
          <a:prstGeom prst="rect">
            <a:avLst/>
          </a:prstGeom>
          <a:solidFill>
            <a:schemeClr val="accent1">
              <a:alpha val="0"/>
            </a:schemeClr>
          </a:solidFill>
          <a:ln w="127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6059A3FF-B195-4D6D-8A2A-B9CC3727250D}"/>
              </a:ext>
            </a:extLst>
          </p:cNvPr>
          <p:cNvSpPr/>
          <p:nvPr/>
        </p:nvSpPr>
        <p:spPr>
          <a:xfrm>
            <a:off x="2772493" y="2280278"/>
            <a:ext cx="236280" cy="269357"/>
          </a:xfrm>
          <a:prstGeom prst="rect">
            <a:avLst/>
          </a:prstGeom>
          <a:solidFill>
            <a:schemeClr val="accent1">
              <a:alpha val="0"/>
            </a:schemeClr>
          </a:solidFill>
          <a:ln w="127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14" name="Rectangle 13">
            <a:extLst>
              <a:ext uri="{FF2B5EF4-FFF2-40B4-BE49-F238E27FC236}">
                <a16:creationId xmlns:a16="http://schemas.microsoft.com/office/drawing/2014/main" id="{20F54726-3C62-4A25-A9C2-3884E7AD023E}"/>
              </a:ext>
            </a:extLst>
          </p:cNvPr>
          <p:cNvSpPr/>
          <p:nvPr/>
        </p:nvSpPr>
        <p:spPr>
          <a:xfrm>
            <a:off x="2772493" y="2553335"/>
            <a:ext cx="236280" cy="269357"/>
          </a:xfrm>
          <a:prstGeom prst="rect">
            <a:avLst/>
          </a:prstGeom>
          <a:solidFill>
            <a:schemeClr val="accent1">
              <a:alpha val="0"/>
            </a:schemeClr>
          </a:solidFill>
          <a:ln w="127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1FDB0829-E210-4480-A0EC-8C92E5495E16}"/>
              </a:ext>
            </a:extLst>
          </p:cNvPr>
          <p:cNvSpPr/>
          <p:nvPr/>
        </p:nvSpPr>
        <p:spPr>
          <a:xfrm>
            <a:off x="2772493" y="2824926"/>
            <a:ext cx="236280" cy="269357"/>
          </a:xfrm>
          <a:prstGeom prst="rect">
            <a:avLst/>
          </a:prstGeom>
          <a:solidFill>
            <a:schemeClr val="accent1">
              <a:alpha val="0"/>
            </a:schemeClr>
          </a:solidFill>
          <a:ln w="127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16" name="Rectangle 15">
            <a:extLst>
              <a:ext uri="{FF2B5EF4-FFF2-40B4-BE49-F238E27FC236}">
                <a16:creationId xmlns:a16="http://schemas.microsoft.com/office/drawing/2014/main" id="{9F8DD9E3-A826-4650-98FB-9DD1508FE2F4}"/>
              </a:ext>
            </a:extLst>
          </p:cNvPr>
          <p:cNvSpPr/>
          <p:nvPr/>
        </p:nvSpPr>
        <p:spPr>
          <a:xfrm>
            <a:off x="2772493" y="3094283"/>
            <a:ext cx="236280" cy="269357"/>
          </a:xfrm>
          <a:prstGeom prst="rect">
            <a:avLst/>
          </a:prstGeom>
          <a:solidFill>
            <a:schemeClr val="accent1">
              <a:alpha val="0"/>
            </a:schemeClr>
          </a:solidFill>
          <a:ln w="127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17" name="Rectangle 16">
            <a:extLst>
              <a:ext uri="{FF2B5EF4-FFF2-40B4-BE49-F238E27FC236}">
                <a16:creationId xmlns:a16="http://schemas.microsoft.com/office/drawing/2014/main" id="{D0F78813-B448-499C-90EB-CE523AB1F2B9}"/>
              </a:ext>
            </a:extLst>
          </p:cNvPr>
          <p:cNvSpPr/>
          <p:nvPr/>
        </p:nvSpPr>
        <p:spPr>
          <a:xfrm>
            <a:off x="2772493" y="3365874"/>
            <a:ext cx="236280" cy="269357"/>
          </a:xfrm>
          <a:prstGeom prst="rect">
            <a:avLst/>
          </a:prstGeom>
          <a:solidFill>
            <a:schemeClr val="accent1">
              <a:alpha val="0"/>
            </a:schemeClr>
          </a:solidFill>
          <a:ln w="127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755903BF-1A67-4D21-AC6A-02C472E319AF}"/>
              </a:ext>
            </a:extLst>
          </p:cNvPr>
          <p:cNvSpPr txBox="1"/>
          <p:nvPr/>
        </p:nvSpPr>
        <p:spPr>
          <a:xfrm>
            <a:off x="2723906" y="2022606"/>
            <a:ext cx="502851" cy="256545"/>
          </a:xfrm>
          <a:prstGeom prst="rect">
            <a:avLst/>
          </a:prstGeom>
          <a:noFill/>
        </p:spPr>
        <p:txBody>
          <a:bodyPr wrap="square" rtlCol="0">
            <a:spAutoFit/>
          </a:bodyPr>
          <a:lstStyle/>
          <a:p>
            <a:r>
              <a:rPr lang="en-IN" sz="1067" dirty="0">
                <a:latin typeface="Arial Narrow" panose="020B0606020202030204" pitchFamily="34" charset="0"/>
                <a:cs typeface="Times New Roman" panose="02020603050405020304" pitchFamily="18" charset="0"/>
              </a:rPr>
              <a:t>0.9</a:t>
            </a:r>
          </a:p>
        </p:txBody>
      </p:sp>
      <p:sp>
        <p:nvSpPr>
          <p:cNvPr id="19" name="TextBox 18">
            <a:extLst>
              <a:ext uri="{FF2B5EF4-FFF2-40B4-BE49-F238E27FC236}">
                <a16:creationId xmlns:a16="http://schemas.microsoft.com/office/drawing/2014/main" id="{3562E6D9-1E45-4A3D-AC27-73EC09333A1D}"/>
              </a:ext>
            </a:extLst>
          </p:cNvPr>
          <p:cNvSpPr txBox="1"/>
          <p:nvPr/>
        </p:nvSpPr>
        <p:spPr>
          <a:xfrm>
            <a:off x="2723916" y="2259359"/>
            <a:ext cx="502851" cy="256545"/>
          </a:xfrm>
          <a:prstGeom prst="rect">
            <a:avLst/>
          </a:prstGeom>
          <a:noFill/>
        </p:spPr>
        <p:txBody>
          <a:bodyPr wrap="square" rtlCol="0">
            <a:spAutoFit/>
          </a:bodyPr>
          <a:lstStyle/>
          <a:p>
            <a:r>
              <a:rPr lang="en-IN" sz="1067" dirty="0">
                <a:latin typeface="Arial Narrow" panose="020B0606020202030204" pitchFamily="34" charset="0"/>
                <a:cs typeface="Times New Roman" panose="02020603050405020304" pitchFamily="18" charset="0"/>
              </a:rPr>
              <a:t>0.3</a:t>
            </a:r>
          </a:p>
        </p:txBody>
      </p:sp>
      <p:sp>
        <p:nvSpPr>
          <p:cNvPr id="20" name="TextBox 19">
            <a:extLst>
              <a:ext uri="{FF2B5EF4-FFF2-40B4-BE49-F238E27FC236}">
                <a16:creationId xmlns:a16="http://schemas.microsoft.com/office/drawing/2014/main" id="{9A74BF33-04AF-4EE6-9FB7-23379554F640}"/>
              </a:ext>
            </a:extLst>
          </p:cNvPr>
          <p:cNvSpPr txBox="1"/>
          <p:nvPr/>
        </p:nvSpPr>
        <p:spPr>
          <a:xfrm>
            <a:off x="2720284" y="2541302"/>
            <a:ext cx="502851" cy="256545"/>
          </a:xfrm>
          <a:prstGeom prst="rect">
            <a:avLst/>
          </a:prstGeom>
          <a:noFill/>
        </p:spPr>
        <p:txBody>
          <a:bodyPr wrap="square" rtlCol="0">
            <a:spAutoFit/>
          </a:bodyPr>
          <a:lstStyle/>
          <a:p>
            <a:r>
              <a:rPr lang="en-IN" sz="1067" dirty="0">
                <a:latin typeface="Arial Narrow" panose="020B0606020202030204" pitchFamily="34" charset="0"/>
                <a:cs typeface="Times New Roman" panose="02020603050405020304" pitchFamily="18" charset="0"/>
              </a:rPr>
              <a:t>0.1</a:t>
            </a:r>
          </a:p>
        </p:txBody>
      </p:sp>
      <p:sp>
        <p:nvSpPr>
          <p:cNvPr id="21" name="TextBox 20">
            <a:extLst>
              <a:ext uri="{FF2B5EF4-FFF2-40B4-BE49-F238E27FC236}">
                <a16:creationId xmlns:a16="http://schemas.microsoft.com/office/drawing/2014/main" id="{2706DE0F-8AEC-4769-A9A8-0ED523060E47}"/>
              </a:ext>
            </a:extLst>
          </p:cNvPr>
          <p:cNvSpPr txBox="1"/>
          <p:nvPr/>
        </p:nvSpPr>
        <p:spPr>
          <a:xfrm>
            <a:off x="2713795" y="2809343"/>
            <a:ext cx="502851" cy="256545"/>
          </a:xfrm>
          <a:prstGeom prst="rect">
            <a:avLst/>
          </a:prstGeom>
          <a:noFill/>
        </p:spPr>
        <p:txBody>
          <a:bodyPr wrap="square" rtlCol="0">
            <a:spAutoFit/>
          </a:bodyPr>
          <a:lstStyle/>
          <a:p>
            <a:r>
              <a:rPr lang="en-IN" sz="1067" dirty="0">
                <a:latin typeface="Arial Narrow" panose="020B0606020202030204" pitchFamily="34" charset="0"/>
                <a:cs typeface="Times New Roman" panose="02020603050405020304" pitchFamily="18" charset="0"/>
              </a:rPr>
              <a:t>0.2</a:t>
            </a:r>
          </a:p>
        </p:txBody>
      </p:sp>
      <p:sp>
        <p:nvSpPr>
          <p:cNvPr id="22" name="TextBox 21">
            <a:extLst>
              <a:ext uri="{FF2B5EF4-FFF2-40B4-BE49-F238E27FC236}">
                <a16:creationId xmlns:a16="http://schemas.microsoft.com/office/drawing/2014/main" id="{558842CF-F2EB-44F8-8BD8-54C38EC30379}"/>
              </a:ext>
            </a:extLst>
          </p:cNvPr>
          <p:cNvSpPr txBox="1"/>
          <p:nvPr/>
        </p:nvSpPr>
        <p:spPr>
          <a:xfrm>
            <a:off x="2713795" y="3091559"/>
            <a:ext cx="502851" cy="256545"/>
          </a:xfrm>
          <a:prstGeom prst="rect">
            <a:avLst/>
          </a:prstGeom>
          <a:noFill/>
        </p:spPr>
        <p:txBody>
          <a:bodyPr wrap="square" rtlCol="0">
            <a:spAutoFit/>
          </a:bodyPr>
          <a:lstStyle/>
          <a:p>
            <a:r>
              <a:rPr lang="en-IN" sz="1067" dirty="0">
                <a:latin typeface="Arial Narrow" panose="020B0606020202030204" pitchFamily="34" charset="0"/>
                <a:cs typeface="Times New Roman" panose="02020603050405020304" pitchFamily="18" charset="0"/>
              </a:rPr>
              <a:t>0.7</a:t>
            </a:r>
          </a:p>
        </p:txBody>
      </p:sp>
      <p:sp>
        <p:nvSpPr>
          <p:cNvPr id="23" name="TextBox 22">
            <a:extLst>
              <a:ext uri="{FF2B5EF4-FFF2-40B4-BE49-F238E27FC236}">
                <a16:creationId xmlns:a16="http://schemas.microsoft.com/office/drawing/2014/main" id="{CF5A3089-5562-4A71-A155-135049506288}"/>
              </a:ext>
            </a:extLst>
          </p:cNvPr>
          <p:cNvSpPr txBox="1"/>
          <p:nvPr/>
        </p:nvSpPr>
        <p:spPr>
          <a:xfrm>
            <a:off x="2713795" y="3332058"/>
            <a:ext cx="502851" cy="256545"/>
          </a:xfrm>
          <a:prstGeom prst="rect">
            <a:avLst/>
          </a:prstGeom>
          <a:noFill/>
        </p:spPr>
        <p:txBody>
          <a:bodyPr wrap="square" rtlCol="0">
            <a:spAutoFit/>
          </a:bodyPr>
          <a:lstStyle/>
          <a:p>
            <a:r>
              <a:rPr lang="en-IN" sz="1067" dirty="0">
                <a:latin typeface="Arial Narrow" panose="020B0606020202030204" pitchFamily="34" charset="0"/>
                <a:cs typeface="Times New Roman" panose="02020603050405020304" pitchFamily="18" charset="0"/>
              </a:rPr>
              <a:t>0.5</a:t>
            </a:r>
          </a:p>
        </p:txBody>
      </p:sp>
      <p:sp>
        <p:nvSpPr>
          <p:cNvPr id="24" name="TextBox 23">
            <a:extLst>
              <a:ext uri="{FF2B5EF4-FFF2-40B4-BE49-F238E27FC236}">
                <a16:creationId xmlns:a16="http://schemas.microsoft.com/office/drawing/2014/main" id="{490BD6E5-FEDD-491D-91B2-64AB3735E4E5}"/>
              </a:ext>
            </a:extLst>
          </p:cNvPr>
          <p:cNvSpPr txBox="1"/>
          <p:nvPr/>
        </p:nvSpPr>
        <p:spPr>
          <a:xfrm>
            <a:off x="2456625" y="3635231"/>
            <a:ext cx="901701" cy="33855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Values</a:t>
            </a:r>
          </a:p>
        </p:txBody>
      </p:sp>
      <p:sp>
        <p:nvSpPr>
          <p:cNvPr id="25" name="Trapezoid 24">
            <a:extLst>
              <a:ext uri="{FF2B5EF4-FFF2-40B4-BE49-F238E27FC236}">
                <a16:creationId xmlns:a16="http://schemas.microsoft.com/office/drawing/2014/main" id="{79798970-8918-4AF4-9091-61F52A2F8AED}"/>
              </a:ext>
            </a:extLst>
          </p:cNvPr>
          <p:cNvSpPr/>
          <p:nvPr/>
        </p:nvSpPr>
        <p:spPr>
          <a:xfrm rot="5400000">
            <a:off x="1400130" y="2110238"/>
            <a:ext cx="1105085" cy="790217"/>
          </a:xfrm>
          <a:prstGeom prst="trapezoid">
            <a:avLst>
              <a:gd name="adj" fmla="val 41522"/>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27" name="Trapezoid 26">
            <a:extLst>
              <a:ext uri="{FF2B5EF4-FFF2-40B4-BE49-F238E27FC236}">
                <a16:creationId xmlns:a16="http://schemas.microsoft.com/office/drawing/2014/main" id="{D1F0BCEE-3152-4E03-9C25-0C7FD489E9AE}"/>
              </a:ext>
            </a:extLst>
          </p:cNvPr>
          <p:cNvSpPr/>
          <p:nvPr/>
        </p:nvSpPr>
        <p:spPr>
          <a:xfrm rot="16200000">
            <a:off x="3304649" y="2110236"/>
            <a:ext cx="1105085" cy="790217"/>
          </a:xfrm>
          <a:prstGeom prst="trapezoid">
            <a:avLst>
              <a:gd name="adj" fmla="val 41522"/>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28" name="TextBox 27">
            <a:extLst>
              <a:ext uri="{FF2B5EF4-FFF2-40B4-BE49-F238E27FC236}">
                <a16:creationId xmlns:a16="http://schemas.microsoft.com/office/drawing/2014/main" id="{4DEBA0B2-DDF5-49F3-B7EE-70A8F6D0E3FE}"/>
              </a:ext>
            </a:extLst>
          </p:cNvPr>
          <p:cNvSpPr txBox="1"/>
          <p:nvPr/>
        </p:nvSpPr>
        <p:spPr>
          <a:xfrm>
            <a:off x="2032920" y="1594319"/>
            <a:ext cx="1738371" cy="33855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L (Latent space)</a:t>
            </a:r>
          </a:p>
        </p:txBody>
      </p:sp>
      <p:sp>
        <p:nvSpPr>
          <p:cNvPr id="29" name="TextBox 28">
            <a:extLst>
              <a:ext uri="{FF2B5EF4-FFF2-40B4-BE49-F238E27FC236}">
                <a16:creationId xmlns:a16="http://schemas.microsoft.com/office/drawing/2014/main" id="{3341F37C-D6A4-429F-8FCB-D44427945F10}"/>
              </a:ext>
            </a:extLst>
          </p:cNvPr>
          <p:cNvSpPr txBox="1"/>
          <p:nvPr/>
        </p:nvSpPr>
        <p:spPr>
          <a:xfrm>
            <a:off x="1453726" y="3147960"/>
            <a:ext cx="997899" cy="338555"/>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Encoder</a:t>
            </a:r>
          </a:p>
        </p:txBody>
      </p:sp>
      <p:sp>
        <p:nvSpPr>
          <p:cNvPr id="30" name="Trapezoid 29">
            <a:extLst>
              <a:ext uri="{FF2B5EF4-FFF2-40B4-BE49-F238E27FC236}">
                <a16:creationId xmlns:a16="http://schemas.microsoft.com/office/drawing/2014/main" id="{CF5872D1-AA59-4732-97D6-1B5D581C7061}"/>
              </a:ext>
            </a:extLst>
          </p:cNvPr>
          <p:cNvSpPr/>
          <p:nvPr/>
        </p:nvSpPr>
        <p:spPr>
          <a:xfrm rot="5400000">
            <a:off x="1400132" y="2110238"/>
            <a:ext cx="1105085" cy="790217"/>
          </a:xfrm>
          <a:prstGeom prst="trapezoid">
            <a:avLst>
              <a:gd name="adj" fmla="val 41522"/>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pic>
        <p:nvPicPr>
          <p:cNvPr id="32" name="Picture 31">
            <a:extLst>
              <a:ext uri="{FF2B5EF4-FFF2-40B4-BE49-F238E27FC236}">
                <a16:creationId xmlns:a16="http://schemas.microsoft.com/office/drawing/2014/main" id="{7FEC6D42-BA3C-445A-8ABF-71F8F0B5B0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917727" y="1917088"/>
            <a:ext cx="369093" cy="284105"/>
          </a:xfrm>
          <a:prstGeom prst="rect">
            <a:avLst/>
          </a:prstGeom>
        </p:spPr>
      </p:pic>
      <p:pic>
        <p:nvPicPr>
          <p:cNvPr id="33" name="Picture 32">
            <a:extLst>
              <a:ext uri="{FF2B5EF4-FFF2-40B4-BE49-F238E27FC236}">
                <a16:creationId xmlns:a16="http://schemas.microsoft.com/office/drawing/2014/main" id="{8FB211A5-581C-4360-B58C-E7AFD7DB8A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917727" y="2201193"/>
            <a:ext cx="369093" cy="284105"/>
          </a:xfrm>
          <a:prstGeom prst="rect">
            <a:avLst/>
          </a:prstGeom>
        </p:spPr>
      </p:pic>
      <p:pic>
        <p:nvPicPr>
          <p:cNvPr id="34" name="Picture 33">
            <a:extLst>
              <a:ext uri="{FF2B5EF4-FFF2-40B4-BE49-F238E27FC236}">
                <a16:creationId xmlns:a16="http://schemas.microsoft.com/office/drawing/2014/main" id="{CA03F87C-7363-4E13-AFFC-FC0B26BD3D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905520" y="2485298"/>
            <a:ext cx="369093" cy="284105"/>
          </a:xfrm>
          <a:prstGeom prst="rect">
            <a:avLst/>
          </a:prstGeom>
        </p:spPr>
      </p:pic>
      <p:pic>
        <p:nvPicPr>
          <p:cNvPr id="35" name="Picture 34">
            <a:extLst>
              <a:ext uri="{FF2B5EF4-FFF2-40B4-BE49-F238E27FC236}">
                <a16:creationId xmlns:a16="http://schemas.microsoft.com/office/drawing/2014/main" id="{0055D120-9724-4A77-8408-B3B87DC98A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910086" y="2754009"/>
            <a:ext cx="369093" cy="284105"/>
          </a:xfrm>
          <a:prstGeom prst="rect">
            <a:avLst/>
          </a:prstGeom>
        </p:spPr>
      </p:pic>
      <p:pic>
        <p:nvPicPr>
          <p:cNvPr id="36" name="Picture 35">
            <a:extLst>
              <a:ext uri="{FF2B5EF4-FFF2-40B4-BE49-F238E27FC236}">
                <a16:creationId xmlns:a16="http://schemas.microsoft.com/office/drawing/2014/main" id="{882AB675-DC1A-43F1-8263-9990F67901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896615" y="3038114"/>
            <a:ext cx="369093" cy="284105"/>
          </a:xfrm>
          <a:prstGeom prst="rect">
            <a:avLst/>
          </a:prstGeom>
        </p:spPr>
      </p:pic>
      <p:pic>
        <p:nvPicPr>
          <p:cNvPr id="37" name="Picture 36">
            <a:extLst>
              <a:ext uri="{FF2B5EF4-FFF2-40B4-BE49-F238E27FC236}">
                <a16:creationId xmlns:a16="http://schemas.microsoft.com/office/drawing/2014/main" id="{F313F202-89C3-4513-B9D5-3C27427CC6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900955" y="3304498"/>
            <a:ext cx="369093" cy="284105"/>
          </a:xfrm>
          <a:prstGeom prst="rect">
            <a:avLst/>
          </a:prstGeom>
        </p:spPr>
      </p:pic>
      <p:sp>
        <p:nvSpPr>
          <p:cNvPr id="38" name="TextBox 37">
            <a:extLst>
              <a:ext uri="{FF2B5EF4-FFF2-40B4-BE49-F238E27FC236}">
                <a16:creationId xmlns:a16="http://schemas.microsoft.com/office/drawing/2014/main" id="{A41C8872-EA50-4A54-A5F4-4268C88D3015}"/>
              </a:ext>
            </a:extLst>
          </p:cNvPr>
          <p:cNvSpPr txBox="1"/>
          <p:nvPr/>
        </p:nvSpPr>
        <p:spPr>
          <a:xfrm>
            <a:off x="9673721" y="3197686"/>
            <a:ext cx="1071088"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Decoder</a:t>
            </a:r>
          </a:p>
        </p:txBody>
      </p:sp>
      <p:sp>
        <p:nvSpPr>
          <p:cNvPr id="39" name="TextBox 38">
            <a:extLst>
              <a:ext uri="{FF2B5EF4-FFF2-40B4-BE49-F238E27FC236}">
                <a16:creationId xmlns:a16="http://schemas.microsoft.com/office/drawing/2014/main" id="{40077E06-B3BA-4CDA-8D3C-5C463C501990}"/>
              </a:ext>
            </a:extLst>
          </p:cNvPr>
          <p:cNvSpPr txBox="1"/>
          <p:nvPr/>
        </p:nvSpPr>
        <p:spPr>
          <a:xfrm>
            <a:off x="9697735" y="3702686"/>
            <a:ext cx="1225903"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Generator</a:t>
            </a:r>
          </a:p>
        </p:txBody>
      </p:sp>
      <p:sp>
        <p:nvSpPr>
          <p:cNvPr id="40" name="TextBox 39">
            <a:extLst>
              <a:ext uri="{FF2B5EF4-FFF2-40B4-BE49-F238E27FC236}">
                <a16:creationId xmlns:a16="http://schemas.microsoft.com/office/drawing/2014/main" id="{2A386D15-E905-4CAE-B798-8A865C72AB8B}"/>
              </a:ext>
            </a:extLst>
          </p:cNvPr>
          <p:cNvSpPr txBox="1"/>
          <p:nvPr/>
        </p:nvSpPr>
        <p:spPr>
          <a:xfrm>
            <a:off x="8513839" y="3666298"/>
            <a:ext cx="1199811" cy="297454"/>
          </a:xfrm>
          <a:prstGeom prst="rect">
            <a:avLst/>
          </a:prstGeom>
          <a:noFill/>
        </p:spPr>
        <p:txBody>
          <a:bodyPr wrap="square" rtlCol="0">
            <a:spAutoFit/>
          </a:bodyPr>
          <a:lstStyle/>
          <a:p>
            <a:r>
              <a:rPr lang="en-IN" sz="1333" dirty="0">
                <a:latin typeface="Arial Narrow" panose="020B0606020202030204" pitchFamily="34" charset="0"/>
                <a:cs typeface="Times New Roman" panose="02020603050405020304" pitchFamily="18" charset="0"/>
              </a:rPr>
              <a:t>Distributions</a:t>
            </a:r>
          </a:p>
        </p:txBody>
      </p:sp>
      <p:sp>
        <p:nvSpPr>
          <p:cNvPr id="41" name="Trapezoid 40">
            <a:extLst>
              <a:ext uri="{FF2B5EF4-FFF2-40B4-BE49-F238E27FC236}">
                <a16:creationId xmlns:a16="http://schemas.microsoft.com/office/drawing/2014/main" id="{A21B6F24-CD6E-427D-9F6D-5A6141384706}"/>
              </a:ext>
            </a:extLst>
          </p:cNvPr>
          <p:cNvSpPr/>
          <p:nvPr/>
        </p:nvSpPr>
        <p:spPr>
          <a:xfrm rot="16200000">
            <a:off x="9516290" y="2159962"/>
            <a:ext cx="1105085" cy="790217"/>
          </a:xfrm>
          <a:prstGeom prst="trapezoid">
            <a:avLst>
              <a:gd name="adj" fmla="val 41522"/>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42" name="TextBox 41">
            <a:extLst>
              <a:ext uri="{FF2B5EF4-FFF2-40B4-BE49-F238E27FC236}">
                <a16:creationId xmlns:a16="http://schemas.microsoft.com/office/drawing/2014/main" id="{727C1FE9-0208-4970-829F-4FC15C10368C}"/>
              </a:ext>
            </a:extLst>
          </p:cNvPr>
          <p:cNvSpPr txBox="1"/>
          <p:nvPr/>
        </p:nvSpPr>
        <p:spPr>
          <a:xfrm>
            <a:off x="8244560" y="1573367"/>
            <a:ext cx="1738371"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L (Latent space)</a:t>
            </a:r>
          </a:p>
        </p:txBody>
      </p:sp>
      <p:sp>
        <p:nvSpPr>
          <p:cNvPr id="43" name="TextBox 42">
            <a:extLst>
              <a:ext uri="{FF2B5EF4-FFF2-40B4-BE49-F238E27FC236}">
                <a16:creationId xmlns:a16="http://schemas.microsoft.com/office/drawing/2014/main" id="{FF35A7B0-3582-45A1-9942-50D6E75E14AF}"/>
              </a:ext>
            </a:extLst>
          </p:cNvPr>
          <p:cNvSpPr txBox="1"/>
          <p:nvPr/>
        </p:nvSpPr>
        <p:spPr>
          <a:xfrm>
            <a:off x="7665367" y="3197686"/>
            <a:ext cx="997899" cy="338554"/>
          </a:xfrm>
          <a:prstGeom prst="rect">
            <a:avLst/>
          </a:prstGeom>
          <a:noFill/>
        </p:spPr>
        <p:txBody>
          <a:bodyPr wrap="square" rtlCol="0">
            <a:spAutoFit/>
          </a:bodyPr>
          <a:lstStyle/>
          <a:p>
            <a:r>
              <a:rPr lang="en-IN" sz="1600" dirty="0">
                <a:latin typeface="Arial Narrow" panose="020B0606020202030204" pitchFamily="34" charset="0"/>
                <a:cs typeface="Times New Roman" panose="02020603050405020304" pitchFamily="18" charset="0"/>
              </a:rPr>
              <a:t>Encoder</a:t>
            </a:r>
          </a:p>
        </p:txBody>
      </p:sp>
      <p:sp>
        <p:nvSpPr>
          <p:cNvPr id="44" name="Trapezoid 43">
            <a:extLst>
              <a:ext uri="{FF2B5EF4-FFF2-40B4-BE49-F238E27FC236}">
                <a16:creationId xmlns:a16="http://schemas.microsoft.com/office/drawing/2014/main" id="{5E449EA6-AA34-4160-AE8C-A5F036972B8B}"/>
              </a:ext>
            </a:extLst>
          </p:cNvPr>
          <p:cNvSpPr/>
          <p:nvPr/>
        </p:nvSpPr>
        <p:spPr>
          <a:xfrm rot="5400000">
            <a:off x="7611772" y="2159964"/>
            <a:ext cx="1105085" cy="790217"/>
          </a:xfrm>
          <a:prstGeom prst="trapezoid">
            <a:avLst>
              <a:gd name="adj" fmla="val 41522"/>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Arial Narrow" panose="020B0606020202030204" pitchFamily="34" charset="0"/>
              <a:cs typeface="Times New Roman" panose="02020603050405020304" pitchFamily="18" charset="0"/>
            </a:endParaRPr>
          </a:p>
        </p:txBody>
      </p:sp>
      <p:sp>
        <p:nvSpPr>
          <p:cNvPr id="47" name="TextBox 46">
            <a:extLst>
              <a:ext uri="{FF2B5EF4-FFF2-40B4-BE49-F238E27FC236}">
                <a16:creationId xmlns:a16="http://schemas.microsoft.com/office/drawing/2014/main" id="{1BE47314-68EF-4C8B-BC4F-E08FB135841E}"/>
              </a:ext>
            </a:extLst>
          </p:cNvPr>
          <p:cNvSpPr txBox="1"/>
          <p:nvPr/>
        </p:nvSpPr>
        <p:spPr>
          <a:xfrm>
            <a:off x="2179405" y="4421103"/>
            <a:ext cx="2008443" cy="400110"/>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Auto-Encoder</a:t>
            </a:r>
          </a:p>
        </p:txBody>
      </p:sp>
      <p:sp>
        <p:nvSpPr>
          <p:cNvPr id="48" name="TextBox 47">
            <a:extLst>
              <a:ext uri="{FF2B5EF4-FFF2-40B4-BE49-F238E27FC236}">
                <a16:creationId xmlns:a16="http://schemas.microsoft.com/office/drawing/2014/main" id="{0E237C94-7ACC-462A-8A49-C5468EF9F3C2}"/>
              </a:ext>
            </a:extLst>
          </p:cNvPr>
          <p:cNvSpPr txBox="1"/>
          <p:nvPr/>
        </p:nvSpPr>
        <p:spPr>
          <a:xfrm>
            <a:off x="7769206" y="4406869"/>
            <a:ext cx="3353785" cy="400110"/>
          </a:xfrm>
          <a:prstGeom prst="rect">
            <a:avLst/>
          </a:prstGeom>
          <a:noFill/>
        </p:spPr>
        <p:txBody>
          <a:bodyPr wrap="square" rtlCol="0">
            <a:spAutoFit/>
          </a:bodyPr>
          <a:lstStyle/>
          <a:p>
            <a:r>
              <a:rPr lang="en-IN" sz="2000" dirty="0">
                <a:latin typeface="Arial Narrow" panose="020B0606020202030204" pitchFamily="34" charset="0"/>
                <a:cs typeface="Times New Roman" panose="02020603050405020304" pitchFamily="18" charset="0"/>
              </a:rPr>
              <a:t>Variational Auto-Encoder</a:t>
            </a:r>
          </a:p>
        </p:txBody>
      </p:sp>
      <p:sp>
        <p:nvSpPr>
          <p:cNvPr id="50" name="Title 3">
            <a:extLst>
              <a:ext uri="{FF2B5EF4-FFF2-40B4-BE49-F238E27FC236}">
                <a16:creationId xmlns:a16="http://schemas.microsoft.com/office/drawing/2014/main" id="{BD780F7E-F421-4592-B64B-67CD0935107C}"/>
              </a:ext>
            </a:extLst>
          </p:cNvPr>
          <p:cNvSpPr>
            <a:spLocks noGrp="1"/>
          </p:cNvSpPr>
          <p:nvPr>
            <p:ph type="title"/>
          </p:nvPr>
        </p:nvSpPr>
        <p:spPr>
          <a:xfrm>
            <a:off x="306643" y="417847"/>
            <a:ext cx="10515600" cy="1000743"/>
          </a:xfrm>
        </p:spPr>
        <p:txBody>
          <a:bodyPr>
            <a:normAutofit/>
          </a:bodyPr>
          <a:lstStyle/>
          <a:p>
            <a:r>
              <a:rPr lang="en-IN" sz="3200" dirty="0">
                <a:latin typeface="Century" panose="02040604050505020304" pitchFamily="18" charset="0"/>
              </a:rPr>
              <a:t>Normal Auto-Encoder vs Variational Auto-encoder</a:t>
            </a:r>
          </a:p>
        </p:txBody>
      </p:sp>
      <p:pic>
        <p:nvPicPr>
          <p:cNvPr id="51" name="Picture 50">
            <a:extLst>
              <a:ext uri="{FF2B5EF4-FFF2-40B4-BE49-F238E27FC236}">
                <a16:creationId xmlns:a16="http://schemas.microsoft.com/office/drawing/2014/main" id="{5538075B-F596-40DE-AED3-33CDBC997B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22243" y="2028947"/>
            <a:ext cx="964673" cy="1033544"/>
          </a:xfrm>
          <a:prstGeom prst="rect">
            <a:avLst/>
          </a:prstGeom>
        </p:spPr>
      </p:pic>
      <p:sp>
        <p:nvSpPr>
          <p:cNvPr id="2" name="Rectangle 1">
            <a:extLst>
              <a:ext uri="{FF2B5EF4-FFF2-40B4-BE49-F238E27FC236}">
                <a16:creationId xmlns:a16="http://schemas.microsoft.com/office/drawing/2014/main" id="{7296F485-B234-4282-8887-CD115EF5F62C}"/>
              </a:ext>
            </a:extLst>
          </p:cNvPr>
          <p:cNvSpPr/>
          <p:nvPr/>
        </p:nvSpPr>
        <p:spPr>
          <a:xfrm>
            <a:off x="527157" y="6243192"/>
            <a:ext cx="11137685" cy="307777"/>
          </a:xfrm>
          <a:prstGeom prst="rect">
            <a:avLst/>
          </a:prstGeom>
        </p:spPr>
        <p:txBody>
          <a:bodyPr wrap="square">
            <a:spAutoFit/>
          </a:bodyPr>
          <a:lstStyle/>
          <a:p>
            <a:r>
              <a:rPr lang="en-IN" sz="1400" dirty="0">
                <a:latin typeface="Arial Narrow" panose="020B0606020202030204" pitchFamily="34" charset="0"/>
              </a:rPr>
              <a:t>Image Source: </a:t>
            </a:r>
            <a:r>
              <a:rPr lang="en-IN" sz="1400" dirty="0" err="1">
                <a:latin typeface="Arial Narrow" panose="020B0606020202030204" pitchFamily="34" charset="0"/>
              </a:rPr>
              <a:t>Bultheel</a:t>
            </a:r>
            <a:r>
              <a:rPr lang="en-IN" sz="1400" dirty="0">
                <a:latin typeface="Arial Narrow" panose="020B0606020202030204" pitchFamily="34" charset="0"/>
              </a:rPr>
              <a:t>, </a:t>
            </a:r>
            <a:r>
              <a:rPr lang="en-IN" sz="1400" dirty="0" err="1">
                <a:latin typeface="Arial Narrow" panose="020B0606020202030204" pitchFamily="34" charset="0"/>
              </a:rPr>
              <a:t>Adhemar</a:t>
            </a:r>
            <a:r>
              <a:rPr lang="en-IN" sz="1400" dirty="0">
                <a:latin typeface="Arial Narrow" panose="020B0606020202030204" pitchFamily="34" charset="0"/>
              </a:rPr>
              <a:t> &amp; Jansen, Maarten &amp; </a:t>
            </a:r>
            <a:r>
              <a:rPr lang="en-IN" sz="1400" dirty="0" err="1">
                <a:latin typeface="Arial Narrow" panose="020B0606020202030204" pitchFamily="34" charset="0"/>
              </a:rPr>
              <a:t>Maes</a:t>
            </a:r>
            <a:r>
              <a:rPr lang="en-IN" sz="1400" dirty="0">
                <a:latin typeface="Arial Narrow" panose="020B0606020202030204" pitchFamily="34" charset="0"/>
              </a:rPr>
              <a:t>, Jan &amp; </a:t>
            </a:r>
            <a:r>
              <a:rPr lang="en-IN" sz="1400" dirty="0" err="1">
                <a:latin typeface="Arial Narrow" panose="020B0606020202030204" pitchFamily="34" charset="0"/>
              </a:rPr>
              <a:t>Aerschot</a:t>
            </a:r>
            <a:r>
              <a:rPr lang="en-IN" sz="1400" dirty="0">
                <a:latin typeface="Arial Narrow" panose="020B0606020202030204" pitchFamily="34" charset="0"/>
              </a:rPr>
              <a:t>, Ward &amp; </a:t>
            </a:r>
            <a:r>
              <a:rPr lang="en-IN" sz="1400" dirty="0" err="1">
                <a:latin typeface="Arial Narrow" panose="020B0606020202030204" pitchFamily="34" charset="0"/>
              </a:rPr>
              <a:t>Vanraes</a:t>
            </a:r>
            <a:r>
              <a:rPr lang="en-IN" sz="1400" dirty="0">
                <a:latin typeface="Arial Narrow" panose="020B0606020202030204" pitchFamily="34" charset="0"/>
              </a:rPr>
              <a:t>, Evelyne. (2006). Subdivide and conquer resolution. 12-14. </a:t>
            </a:r>
          </a:p>
        </p:txBody>
      </p:sp>
      <p:pic>
        <p:nvPicPr>
          <p:cNvPr id="6" name="Picture 5">
            <a:extLst>
              <a:ext uri="{FF2B5EF4-FFF2-40B4-BE49-F238E27FC236}">
                <a16:creationId xmlns:a16="http://schemas.microsoft.com/office/drawing/2014/main" id="{869E352B-983B-48FB-84F7-7674105553D3}"/>
              </a:ext>
            </a:extLst>
          </p:cNvPr>
          <p:cNvPicPr>
            <a:picLocks noChangeAspect="1"/>
          </p:cNvPicPr>
          <p:nvPr/>
        </p:nvPicPr>
        <p:blipFill>
          <a:blip r:embed="rId4"/>
          <a:stretch>
            <a:fillRect/>
          </a:stretch>
        </p:blipFill>
        <p:spPr>
          <a:xfrm>
            <a:off x="265538" y="1957967"/>
            <a:ext cx="1094753" cy="1094753"/>
          </a:xfrm>
          <a:prstGeom prst="rect">
            <a:avLst/>
          </a:prstGeom>
        </p:spPr>
      </p:pic>
      <p:pic>
        <p:nvPicPr>
          <p:cNvPr id="52" name="Picture 51">
            <a:extLst>
              <a:ext uri="{FF2B5EF4-FFF2-40B4-BE49-F238E27FC236}">
                <a16:creationId xmlns:a16="http://schemas.microsoft.com/office/drawing/2014/main" id="{D5CA8AF3-305E-437D-9A9D-ABB3F3FA9986}"/>
              </a:ext>
            </a:extLst>
          </p:cNvPr>
          <p:cNvPicPr>
            <a:picLocks noChangeAspect="1"/>
          </p:cNvPicPr>
          <p:nvPr/>
        </p:nvPicPr>
        <p:blipFill>
          <a:blip r:embed="rId5"/>
          <a:stretch>
            <a:fillRect/>
          </a:stretch>
        </p:blipFill>
        <p:spPr>
          <a:xfrm>
            <a:off x="4534637" y="1953088"/>
            <a:ext cx="1164827" cy="1186200"/>
          </a:xfrm>
          <a:prstGeom prst="rect">
            <a:avLst/>
          </a:prstGeom>
        </p:spPr>
      </p:pic>
      <p:pic>
        <p:nvPicPr>
          <p:cNvPr id="54" name="Picture 53">
            <a:extLst>
              <a:ext uri="{FF2B5EF4-FFF2-40B4-BE49-F238E27FC236}">
                <a16:creationId xmlns:a16="http://schemas.microsoft.com/office/drawing/2014/main" id="{E8CD594D-AF51-4EFC-BFC7-C672208AB489}"/>
              </a:ext>
            </a:extLst>
          </p:cNvPr>
          <p:cNvPicPr>
            <a:picLocks noChangeAspect="1"/>
          </p:cNvPicPr>
          <p:nvPr/>
        </p:nvPicPr>
        <p:blipFill>
          <a:blip r:embed="rId4"/>
          <a:stretch>
            <a:fillRect/>
          </a:stretch>
        </p:blipFill>
        <p:spPr>
          <a:xfrm>
            <a:off x="6266302" y="1952802"/>
            <a:ext cx="1181416" cy="1181416"/>
          </a:xfrm>
          <a:prstGeom prst="rect">
            <a:avLst/>
          </a:prstGeom>
        </p:spPr>
      </p:pic>
    </p:spTree>
    <p:extLst>
      <p:ext uri="{BB962C8B-B14F-4D97-AF65-F5344CB8AC3E}">
        <p14:creationId xmlns:p14="http://schemas.microsoft.com/office/powerpoint/2010/main" val="1850129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C10B62-337E-48A0-A3B6-2495986927EF}"/>
              </a:ext>
            </a:extLst>
          </p:cNvPr>
          <p:cNvSpPr>
            <a:spLocks noGrp="1"/>
          </p:cNvSpPr>
          <p:nvPr>
            <p:ph type="title"/>
          </p:nvPr>
        </p:nvSpPr>
        <p:spPr/>
        <p:txBody>
          <a:bodyPr>
            <a:normAutofit/>
          </a:bodyPr>
          <a:lstStyle/>
          <a:p>
            <a:r>
              <a:rPr lang="en-IN" sz="3600" dirty="0">
                <a:latin typeface="Century" panose="02040604050505020304" pitchFamily="18" charset="0"/>
              </a:rPr>
              <a:t>Vision Tasks using VAE</a:t>
            </a:r>
          </a:p>
        </p:txBody>
      </p:sp>
      <p:sp>
        <p:nvSpPr>
          <p:cNvPr id="4" name="Content Placeholder 3">
            <a:extLst>
              <a:ext uri="{FF2B5EF4-FFF2-40B4-BE49-F238E27FC236}">
                <a16:creationId xmlns:a16="http://schemas.microsoft.com/office/drawing/2014/main" id="{5EA8A24B-3867-47DE-A166-677E87C7AD02}"/>
              </a:ext>
            </a:extLst>
          </p:cNvPr>
          <p:cNvSpPr>
            <a:spLocks noGrp="1"/>
          </p:cNvSpPr>
          <p:nvPr>
            <p:ph idx="1"/>
          </p:nvPr>
        </p:nvSpPr>
        <p:spPr/>
        <p:txBody>
          <a:bodyPr/>
          <a:lstStyle/>
          <a:p>
            <a:r>
              <a:rPr lang="en-IN" dirty="0">
                <a:latin typeface="Arial Narrow" panose="020B0606020202030204" pitchFamily="34" charset="0"/>
              </a:rPr>
              <a:t>Generate new images, video frames etc.</a:t>
            </a:r>
          </a:p>
          <a:p>
            <a:endParaRPr lang="en-IN" dirty="0">
              <a:latin typeface="Arial Narrow" panose="020B0606020202030204" pitchFamily="34" charset="0"/>
            </a:endParaRPr>
          </a:p>
          <a:p>
            <a:r>
              <a:rPr lang="en-IN" dirty="0">
                <a:latin typeface="Arial Narrow" panose="020B0606020202030204" pitchFamily="34" charset="0"/>
              </a:rPr>
              <a:t>Learn meaningful latent representations.</a:t>
            </a:r>
          </a:p>
          <a:p>
            <a:endParaRPr lang="en-IN" dirty="0">
              <a:latin typeface="Arial Narrow" panose="020B0606020202030204" pitchFamily="34" charset="0"/>
            </a:endParaRPr>
          </a:p>
          <a:p>
            <a:r>
              <a:rPr lang="en-IN" dirty="0">
                <a:latin typeface="Arial Narrow" panose="020B0606020202030204" pitchFamily="34" charset="0"/>
              </a:rPr>
              <a:t>Perform interpolation between image samples.</a:t>
            </a:r>
          </a:p>
          <a:p>
            <a:endParaRPr lang="en-IN" dirty="0">
              <a:latin typeface="Arial Narrow" panose="020B0606020202030204" pitchFamily="34" charset="0"/>
            </a:endParaRPr>
          </a:p>
          <a:p>
            <a:r>
              <a:rPr lang="en-IN" dirty="0">
                <a:latin typeface="Arial Narrow" panose="020B0606020202030204" pitchFamily="34" charset="0"/>
              </a:rPr>
              <a:t>Image compression and anomaly detection.</a:t>
            </a:r>
          </a:p>
        </p:txBody>
      </p:sp>
    </p:spTree>
    <p:extLst>
      <p:ext uri="{BB962C8B-B14F-4D97-AF65-F5344CB8AC3E}">
        <p14:creationId xmlns:p14="http://schemas.microsoft.com/office/powerpoint/2010/main" val="3005476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035B4-E256-4012-9235-660A28C043BC}"/>
              </a:ext>
            </a:extLst>
          </p:cNvPr>
          <p:cNvSpPr>
            <a:spLocks noGrp="1"/>
          </p:cNvSpPr>
          <p:nvPr>
            <p:ph type="title"/>
          </p:nvPr>
        </p:nvSpPr>
        <p:spPr/>
        <p:txBody>
          <a:bodyPr>
            <a:noAutofit/>
          </a:bodyPr>
          <a:lstStyle/>
          <a:p>
            <a:br>
              <a:rPr lang="en-IN" sz="3600" dirty="0">
                <a:latin typeface="Century" panose="02040604050505020304" pitchFamily="18" charset="0"/>
              </a:rPr>
            </a:br>
            <a:r>
              <a:rPr lang="en-IN" sz="3600" dirty="0">
                <a:latin typeface="Century" panose="02040604050505020304" pitchFamily="18" charset="0"/>
              </a:rPr>
              <a:t>Generative Adversarial Networks (GANs)</a:t>
            </a:r>
            <a:br>
              <a:rPr lang="en-IN" sz="3600" dirty="0">
                <a:latin typeface="Century" panose="02040604050505020304" pitchFamily="18" charset="0"/>
              </a:rPr>
            </a:br>
            <a:endParaRPr lang="en-IN" sz="3600" dirty="0">
              <a:latin typeface="Century" panose="02040604050505020304" pitchFamily="18" charset="0"/>
            </a:endParaRPr>
          </a:p>
        </p:txBody>
      </p:sp>
      <p:sp>
        <p:nvSpPr>
          <p:cNvPr id="3" name="Content Placeholder 2">
            <a:extLst>
              <a:ext uri="{FF2B5EF4-FFF2-40B4-BE49-F238E27FC236}">
                <a16:creationId xmlns:a16="http://schemas.microsoft.com/office/drawing/2014/main" id="{E90A3DB9-3682-4334-BFFC-3FF56771CC7F}"/>
              </a:ext>
            </a:extLst>
          </p:cNvPr>
          <p:cNvSpPr>
            <a:spLocks noGrp="1"/>
          </p:cNvSpPr>
          <p:nvPr>
            <p:ph idx="1"/>
          </p:nvPr>
        </p:nvSpPr>
        <p:spPr/>
        <p:txBody>
          <a:bodyPr>
            <a:normAutofit/>
          </a:bodyPr>
          <a:lstStyle/>
          <a:p>
            <a:pPr algn="just"/>
            <a:r>
              <a:rPr lang="en-US" sz="2200" dirty="0">
                <a:latin typeface="Arial Narrow" panose="020B0606020202030204" pitchFamily="34" charset="0"/>
              </a:rPr>
              <a:t>A </a:t>
            </a:r>
            <a:r>
              <a:rPr lang="en-US" sz="2200" dirty="0">
                <a:solidFill>
                  <a:srgbClr val="00B0F0"/>
                </a:solidFill>
                <a:latin typeface="Arial Narrow" panose="020B0606020202030204" pitchFamily="34" charset="0"/>
              </a:rPr>
              <a:t>Generative Adversarial Network (GAN) </a:t>
            </a:r>
            <a:r>
              <a:rPr lang="en-US" sz="2200" dirty="0">
                <a:latin typeface="Arial Narrow" panose="020B0606020202030204" pitchFamily="34" charset="0"/>
              </a:rPr>
              <a:t>is a generative deep learning model that learns to create realistic synthetic data—such as images, audio, or text—by training two neural networks in competition with each other.</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GAN consists of two deep neural networks which compete with each other. </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A GAN consists of:</a:t>
            </a:r>
          </a:p>
          <a:p>
            <a:pPr lvl="1"/>
            <a:r>
              <a:rPr lang="en-US" sz="2000" dirty="0">
                <a:latin typeface="Arial Narrow" panose="020B0606020202030204" pitchFamily="34" charset="0"/>
              </a:rPr>
              <a:t>Generator (G): Creates fake data from random noise. Tries to produce outputs that look real.</a:t>
            </a:r>
          </a:p>
          <a:p>
            <a:pPr lvl="1"/>
            <a:r>
              <a:rPr lang="en-US" sz="2000" dirty="0">
                <a:latin typeface="Arial Narrow" panose="020B0606020202030204" pitchFamily="34" charset="0"/>
              </a:rPr>
              <a:t>Discriminator (D): Receives both real and generated data. Tries to distinguish between them.</a:t>
            </a:r>
            <a:endParaRPr lang="en-IN" sz="2000" dirty="0">
              <a:latin typeface="Arial Narrow" panose="020B0606020202030204" pitchFamily="34" charset="0"/>
            </a:endParaRPr>
          </a:p>
        </p:txBody>
      </p:sp>
    </p:spTree>
    <p:extLst>
      <p:ext uri="{BB962C8B-B14F-4D97-AF65-F5344CB8AC3E}">
        <p14:creationId xmlns:p14="http://schemas.microsoft.com/office/powerpoint/2010/main" val="130441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A8812-8A56-4C12-AD3D-EE78FFF176E5}"/>
              </a:ext>
            </a:extLst>
          </p:cNvPr>
          <p:cNvSpPr>
            <a:spLocks noGrp="1"/>
          </p:cNvSpPr>
          <p:nvPr>
            <p:ph type="title"/>
          </p:nvPr>
        </p:nvSpPr>
        <p:spPr/>
        <p:txBody>
          <a:bodyPr>
            <a:normAutofit/>
          </a:bodyPr>
          <a:lstStyle/>
          <a:p>
            <a:r>
              <a:rPr lang="en-IN" sz="3600" dirty="0">
                <a:latin typeface="Century" panose="02040604050505020304" pitchFamily="18" charset="0"/>
              </a:rPr>
              <a:t>Generator</a:t>
            </a:r>
          </a:p>
        </p:txBody>
      </p:sp>
      <p:sp>
        <p:nvSpPr>
          <p:cNvPr id="3" name="Content Placeholder 2">
            <a:extLst>
              <a:ext uri="{FF2B5EF4-FFF2-40B4-BE49-F238E27FC236}">
                <a16:creationId xmlns:a16="http://schemas.microsoft.com/office/drawing/2014/main" id="{0C568425-9470-4754-A82D-B4CF2EEB95DC}"/>
              </a:ext>
            </a:extLst>
          </p:cNvPr>
          <p:cNvSpPr>
            <a:spLocks noGrp="1"/>
          </p:cNvSpPr>
          <p:nvPr>
            <p:ph idx="1"/>
          </p:nvPr>
        </p:nvSpPr>
        <p:spPr/>
        <p:txBody>
          <a:bodyPr>
            <a:normAutofit/>
          </a:bodyPr>
          <a:lstStyle/>
          <a:p>
            <a:pPr algn="just"/>
            <a:r>
              <a:rPr lang="en-US" sz="2000" dirty="0">
                <a:latin typeface="Arial Narrow" panose="020B0606020202030204" pitchFamily="34" charset="0"/>
              </a:rPr>
              <a:t>The </a:t>
            </a:r>
            <a:r>
              <a:rPr lang="en-US" sz="2000" dirty="0">
                <a:solidFill>
                  <a:srgbClr val="00B0F0"/>
                </a:solidFill>
                <a:latin typeface="Arial Narrow" panose="020B0606020202030204" pitchFamily="34" charset="0"/>
              </a:rPr>
              <a:t>Generator</a:t>
            </a:r>
            <a:r>
              <a:rPr lang="en-US" sz="2000" dirty="0">
                <a:latin typeface="Arial Narrow" panose="020B0606020202030204" pitchFamily="34" charset="0"/>
              </a:rPr>
              <a:t> can be thought of as a skilled forger whose objective is to create synthetic data that is indistinguishable from real data. </a:t>
            </a:r>
          </a:p>
          <a:p>
            <a:pPr algn="just"/>
            <a:r>
              <a:rPr lang="en-US" sz="2000" dirty="0">
                <a:latin typeface="Arial Narrow" panose="020B0606020202030204" pitchFamily="34" charset="0"/>
              </a:rPr>
              <a:t>It begins with a random input vector, denoted as </a:t>
            </a:r>
            <a:r>
              <a:rPr lang="en-US" sz="2000" dirty="0">
                <a:solidFill>
                  <a:srgbClr val="00B0F0"/>
                </a:solidFill>
                <a:latin typeface="Arial Narrow" panose="020B0606020202030204" pitchFamily="34" charset="0"/>
              </a:rPr>
              <a:t>Z</a:t>
            </a:r>
            <a:r>
              <a:rPr lang="en-US" sz="2000" dirty="0">
                <a:latin typeface="Arial Narrow" panose="020B0606020202030204" pitchFamily="34" charset="0"/>
              </a:rPr>
              <a:t>, which is typically sampled from a simple probability distribution such as a Gaussian or Uniform distribution. </a:t>
            </a:r>
          </a:p>
          <a:p>
            <a:pPr algn="just"/>
            <a:r>
              <a:rPr lang="en-US" sz="2000" dirty="0">
                <a:latin typeface="Arial Narrow" panose="020B0606020202030204" pitchFamily="34" charset="0"/>
              </a:rPr>
              <a:t>This vector serves as a </a:t>
            </a:r>
            <a:r>
              <a:rPr lang="en-US" sz="2000" dirty="0">
                <a:solidFill>
                  <a:srgbClr val="00B0F0"/>
                </a:solidFill>
                <a:latin typeface="Arial Narrow" panose="020B0606020202030204" pitchFamily="34" charset="0"/>
              </a:rPr>
              <a:t>latent representation</a:t>
            </a:r>
            <a:r>
              <a:rPr lang="en-US" sz="2000" dirty="0">
                <a:latin typeface="Arial Narrow" panose="020B0606020202030204" pitchFamily="34" charset="0"/>
              </a:rPr>
              <a:t>, encoding abstract features that guide the generation process. The Generator then transforms this noise vector into a synthetic sample, </a:t>
            </a:r>
            <a:r>
              <a:rPr lang="en-US" sz="2000" dirty="0">
                <a:solidFill>
                  <a:srgbClr val="00B0F0"/>
                </a:solidFill>
                <a:latin typeface="Arial Narrow" panose="020B0606020202030204" pitchFamily="34" charset="0"/>
              </a:rPr>
              <a:t>G(Z)</a:t>
            </a:r>
            <a:r>
              <a:rPr lang="en-US" sz="2000" dirty="0">
                <a:latin typeface="Arial Narrow" panose="020B0606020202030204" pitchFamily="34" charset="0"/>
              </a:rPr>
              <a:t>, such as an image. </a:t>
            </a:r>
          </a:p>
          <a:p>
            <a:pPr algn="just"/>
            <a:r>
              <a:rPr lang="en-US" sz="2000" dirty="0">
                <a:latin typeface="Arial Narrow" panose="020B0606020202030204" pitchFamily="34" charset="0"/>
              </a:rPr>
              <a:t>An intuitive analogy is that of an artist starting with random scribbles and gradually refining them into a convincing masterpiece. </a:t>
            </a:r>
          </a:p>
          <a:p>
            <a:pPr algn="just"/>
            <a:r>
              <a:rPr lang="en-US" sz="2000" dirty="0">
                <a:latin typeface="Arial Narrow" panose="020B0606020202030204" pitchFamily="34" charset="0"/>
              </a:rPr>
              <a:t>Through training, the Generator learns to map points in the latent space to realistic data samples, with the ultimate goal of producing outputs that are realistic enough to fool the Discriminator into classifying them as genuine.</a:t>
            </a:r>
            <a:endParaRPr lang="en-IN" sz="2000" dirty="0">
              <a:latin typeface="Arial Narrow" panose="020B0606020202030204" pitchFamily="34" charset="0"/>
            </a:endParaRPr>
          </a:p>
        </p:txBody>
      </p:sp>
    </p:spTree>
    <p:extLst>
      <p:ext uri="{BB962C8B-B14F-4D97-AF65-F5344CB8AC3E}">
        <p14:creationId xmlns:p14="http://schemas.microsoft.com/office/powerpoint/2010/main" val="2160187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770C35-47B6-4A85-9D37-4F47A0967A0D}"/>
              </a:ext>
            </a:extLst>
          </p:cNvPr>
          <p:cNvSpPr>
            <a:spLocks noGrp="1"/>
          </p:cNvSpPr>
          <p:nvPr>
            <p:ph idx="1"/>
          </p:nvPr>
        </p:nvSpPr>
        <p:spPr/>
        <p:txBody>
          <a:bodyPr>
            <a:normAutofit/>
          </a:bodyPr>
          <a:lstStyle/>
          <a:p>
            <a:pPr algn="just"/>
            <a:r>
              <a:rPr lang="en-US" sz="2000" dirty="0">
                <a:latin typeface="Arial Narrow" panose="020B0606020202030204" pitchFamily="34" charset="0"/>
              </a:rPr>
              <a:t>The </a:t>
            </a:r>
            <a:r>
              <a:rPr lang="en-US" sz="2000" dirty="0">
                <a:solidFill>
                  <a:srgbClr val="00B0F0"/>
                </a:solidFill>
                <a:latin typeface="Arial Narrow" panose="020B0606020202030204" pitchFamily="34" charset="0"/>
              </a:rPr>
              <a:t>Discriminator (D)</a:t>
            </a:r>
            <a:r>
              <a:rPr lang="en-US" sz="2000" dirty="0">
                <a:latin typeface="Arial Narrow" panose="020B0606020202030204" pitchFamily="34" charset="0"/>
              </a:rPr>
              <a:t> can be viewed as a skilled detective whose role is to distinguish between authentic data and synthetic data produced by the Generator. </a:t>
            </a:r>
          </a:p>
          <a:p>
            <a:pPr algn="just"/>
            <a:r>
              <a:rPr lang="en-US" sz="2000" dirty="0">
                <a:latin typeface="Arial Narrow" panose="020B0606020202030204" pitchFamily="34" charset="0"/>
              </a:rPr>
              <a:t>It receives a data sample as input—either a real example from the training dataset or a fake sample generated by the Generator—and outputs a probability score, </a:t>
            </a:r>
            <a:r>
              <a:rPr lang="en-US" sz="2000" dirty="0">
                <a:solidFill>
                  <a:srgbClr val="00B0F0"/>
                </a:solidFill>
                <a:latin typeface="Arial Narrow" panose="020B0606020202030204" pitchFamily="34" charset="0"/>
              </a:rPr>
              <a:t>D(X)</a:t>
            </a:r>
            <a:r>
              <a:rPr lang="en-US" sz="2000" dirty="0">
                <a:latin typeface="Arial Narrow" panose="020B0606020202030204" pitchFamily="34" charset="0"/>
              </a:rPr>
              <a:t>, representing the likelihood that the sample is genuine. </a:t>
            </a:r>
          </a:p>
          <a:p>
            <a:pPr algn="just"/>
            <a:r>
              <a:rPr lang="en-US" sz="2000" dirty="0">
                <a:latin typeface="Arial Narrow" panose="020B0606020202030204" pitchFamily="34" charset="0"/>
              </a:rPr>
              <a:t>A value close to </a:t>
            </a:r>
            <a:r>
              <a:rPr lang="en-US" sz="2000" dirty="0">
                <a:solidFill>
                  <a:srgbClr val="00B0F0"/>
                </a:solidFill>
                <a:latin typeface="Arial Narrow" panose="020B0606020202030204" pitchFamily="34" charset="0"/>
              </a:rPr>
              <a:t>1</a:t>
            </a:r>
            <a:r>
              <a:rPr lang="en-US" sz="2000" dirty="0">
                <a:latin typeface="Arial Narrow" panose="020B0606020202030204" pitchFamily="34" charset="0"/>
              </a:rPr>
              <a:t> indicates that the Discriminator believes the sample is real, while a value close to </a:t>
            </a:r>
            <a:r>
              <a:rPr lang="en-US" sz="2000" dirty="0">
                <a:solidFill>
                  <a:srgbClr val="00B0F0"/>
                </a:solidFill>
                <a:latin typeface="Arial Narrow" panose="020B0606020202030204" pitchFamily="34" charset="0"/>
              </a:rPr>
              <a:t>0</a:t>
            </a:r>
            <a:r>
              <a:rPr lang="en-US" sz="2000" dirty="0">
                <a:latin typeface="Arial Narrow" panose="020B0606020202030204" pitchFamily="34" charset="0"/>
              </a:rPr>
              <a:t> suggests that it is likely fake. </a:t>
            </a:r>
          </a:p>
          <a:p>
            <a:pPr algn="just"/>
            <a:r>
              <a:rPr lang="en-US" sz="2000" dirty="0">
                <a:latin typeface="Arial Narrow" panose="020B0606020202030204" pitchFamily="34" charset="0"/>
              </a:rPr>
              <a:t>An intuitive analogy is that of an art expert examining a painting and determining whether it is an original masterpiece or a carefully crafted forgery. </a:t>
            </a:r>
          </a:p>
          <a:p>
            <a:pPr algn="just"/>
            <a:r>
              <a:rPr lang="en-US" sz="2000" dirty="0">
                <a:latin typeface="Arial Narrow" panose="020B0606020202030204" pitchFamily="34" charset="0"/>
              </a:rPr>
              <a:t>Throughout the training process, the Discriminator continuously improves its ability to detect subtle differences between real and generated data, providing feedback that helps the Generator produce increasingly realistic samples.</a:t>
            </a:r>
            <a:endParaRPr lang="en-IN" sz="2000" dirty="0">
              <a:latin typeface="Arial Narrow" panose="020B0606020202030204" pitchFamily="34" charset="0"/>
            </a:endParaRPr>
          </a:p>
        </p:txBody>
      </p:sp>
      <p:sp>
        <p:nvSpPr>
          <p:cNvPr id="4" name="Title 1">
            <a:extLst>
              <a:ext uri="{FF2B5EF4-FFF2-40B4-BE49-F238E27FC236}">
                <a16:creationId xmlns:a16="http://schemas.microsoft.com/office/drawing/2014/main" id="{E7D1002E-154D-496E-BEAA-0EEEDAB304D5}"/>
              </a:ext>
            </a:extLst>
          </p:cNvPr>
          <p:cNvSpPr>
            <a:spLocks noGrp="1"/>
          </p:cNvSpPr>
          <p:nvPr>
            <p:ph type="title"/>
          </p:nvPr>
        </p:nvSpPr>
        <p:spPr>
          <a:xfrm>
            <a:off x="838200" y="365125"/>
            <a:ext cx="10515600" cy="1325563"/>
          </a:xfrm>
        </p:spPr>
        <p:txBody>
          <a:bodyPr>
            <a:normAutofit/>
          </a:bodyPr>
          <a:lstStyle/>
          <a:p>
            <a:r>
              <a:rPr lang="en-IN" sz="3600" dirty="0">
                <a:latin typeface="Century" panose="02040604050505020304" pitchFamily="18" charset="0"/>
              </a:rPr>
              <a:t>Discriminator</a:t>
            </a:r>
          </a:p>
        </p:txBody>
      </p:sp>
    </p:spTree>
    <p:extLst>
      <p:ext uri="{BB962C8B-B14F-4D97-AF65-F5344CB8AC3E}">
        <p14:creationId xmlns:p14="http://schemas.microsoft.com/office/powerpoint/2010/main" val="1293940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0F597F-E11F-4732-8463-6C90AF279DD1}"/>
              </a:ext>
            </a:extLst>
          </p:cNvPr>
          <p:cNvPicPr>
            <a:picLocks noChangeAspect="1"/>
          </p:cNvPicPr>
          <p:nvPr/>
        </p:nvPicPr>
        <p:blipFill>
          <a:blip r:embed="rId2"/>
          <a:stretch>
            <a:fillRect/>
          </a:stretch>
        </p:blipFill>
        <p:spPr>
          <a:xfrm>
            <a:off x="894655" y="1838350"/>
            <a:ext cx="6620799" cy="4086795"/>
          </a:xfrm>
          <a:prstGeom prst="rect">
            <a:avLst/>
          </a:prstGeom>
        </p:spPr>
      </p:pic>
      <p:pic>
        <p:nvPicPr>
          <p:cNvPr id="6" name="Picture 5">
            <a:extLst>
              <a:ext uri="{FF2B5EF4-FFF2-40B4-BE49-F238E27FC236}">
                <a16:creationId xmlns:a16="http://schemas.microsoft.com/office/drawing/2014/main" id="{AEC47E50-0C75-42C6-8DF7-C38D903C70E2}"/>
              </a:ext>
            </a:extLst>
          </p:cNvPr>
          <p:cNvPicPr>
            <a:picLocks noChangeAspect="1"/>
          </p:cNvPicPr>
          <p:nvPr/>
        </p:nvPicPr>
        <p:blipFill>
          <a:blip r:embed="rId3"/>
          <a:stretch>
            <a:fillRect/>
          </a:stretch>
        </p:blipFill>
        <p:spPr>
          <a:xfrm>
            <a:off x="2457603" y="2661654"/>
            <a:ext cx="1543265" cy="590632"/>
          </a:xfrm>
          <a:prstGeom prst="rect">
            <a:avLst/>
          </a:prstGeom>
        </p:spPr>
      </p:pic>
      <p:cxnSp>
        <p:nvCxnSpPr>
          <p:cNvPr id="9" name="Straight Arrow Connector 8">
            <a:extLst>
              <a:ext uri="{FF2B5EF4-FFF2-40B4-BE49-F238E27FC236}">
                <a16:creationId xmlns:a16="http://schemas.microsoft.com/office/drawing/2014/main" id="{B97DBD5A-3E97-48CA-96E9-F1AA1AEF5BAD}"/>
              </a:ext>
            </a:extLst>
          </p:cNvPr>
          <p:cNvCxnSpPr>
            <a:cxnSpLocks/>
          </p:cNvCxnSpPr>
          <p:nvPr/>
        </p:nvCxnSpPr>
        <p:spPr>
          <a:xfrm flipV="1">
            <a:off x="7395098" y="2539002"/>
            <a:ext cx="737864" cy="41796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1E33397-8081-475A-BCD6-FA586243C7CE}"/>
              </a:ext>
            </a:extLst>
          </p:cNvPr>
          <p:cNvCxnSpPr>
            <a:cxnSpLocks/>
          </p:cNvCxnSpPr>
          <p:nvPr/>
        </p:nvCxnSpPr>
        <p:spPr>
          <a:xfrm>
            <a:off x="7391168" y="2956970"/>
            <a:ext cx="741794" cy="32260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F6AE34D-35E7-4F4A-B29E-5C4CA60C769D}"/>
              </a:ext>
            </a:extLst>
          </p:cNvPr>
          <p:cNvSpPr txBox="1"/>
          <p:nvPr/>
        </p:nvSpPr>
        <p:spPr>
          <a:xfrm>
            <a:off x="8132962" y="2349706"/>
            <a:ext cx="1154097" cy="369332"/>
          </a:xfrm>
          <a:prstGeom prst="rect">
            <a:avLst/>
          </a:prstGeom>
          <a:noFill/>
        </p:spPr>
        <p:txBody>
          <a:bodyPr wrap="square" rtlCol="0">
            <a:spAutoFit/>
          </a:bodyPr>
          <a:lstStyle/>
          <a:p>
            <a:r>
              <a:rPr lang="en-IN" dirty="0">
                <a:latin typeface="Arial Narrow" panose="020B0606020202030204" pitchFamily="34" charset="0"/>
              </a:rPr>
              <a:t>Real Data</a:t>
            </a:r>
          </a:p>
        </p:txBody>
      </p:sp>
      <p:sp>
        <p:nvSpPr>
          <p:cNvPr id="14" name="TextBox 13">
            <a:extLst>
              <a:ext uri="{FF2B5EF4-FFF2-40B4-BE49-F238E27FC236}">
                <a16:creationId xmlns:a16="http://schemas.microsoft.com/office/drawing/2014/main" id="{FEAAABFB-8607-4DD7-BCA0-AFFB05F8501E}"/>
              </a:ext>
            </a:extLst>
          </p:cNvPr>
          <p:cNvSpPr txBox="1"/>
          <p:nvPr/>
        </p:nvSpPr>
        <p:spPr>
          <a:xfrm>
            <a:off x="8132962" y="3067620"/>
            <a:ext cx="1154097" cy="369332"/>
          </a:xfrm>
          <a:prstGeom prst="rect">
            <a:avLst/>
          </a:prstGeom>
          <a:noFill/>
        </p:spPr>
        <p:txBody>
          <a:bodyPr wrap="square" rtlCol="0">
            <a:spAutoFit/>
          </a:bodyPr>
          <a:lstStyle/>
          <a:p>
            <a:r>
              <a:rPr lang="en-IN" dirty="0">
                <a:latin typeface="Arial Narrow" panose="020B0606020202030204" pitchFamily="34" charset="0"/>
              </a:rPr>
              <a:t>Fake Data</a:t>
            </a:r>
          </a:p>
        </p:txBody>
      </p:sp>
      <p:sp>
        <p:nvSpPr>
          <p:cNvPr id="16" name="TextBox 15">
            <a:extLst>
              <a:ext uri="{FF2B5EF4-FFF2-40B4-BE49-F238E27FC236}">
                <a16:creationId xmlns:a16="http://schemas.microsoft.com/office/drawing/2014/main" id="{723FC99B-E494-44FE-B7B1-4A8C3E3CB41A}"/>
              </a:ext>
            </a:extLst>
          </p:cNvPr>
          <p:cNvSpPr txBox="1"/>
          <p:nvPr/>
        </p:nvSpPr>
        <p:spPr>
          <a:xfrm>
            <a:off x="1125953" y="5653679"/>
            <a:ext cx="1543265" cy="646331"/>
          </a:xfrm>
          <a:prstGeom prst="rect">
            <a:avLst/>
          </a:prstGeom>
          <a:noFill/>
        </p:spPr>
        <p:txBody>
          <a:bodyPr wrap="square" rtlCol="0">
            <a:spAutoFit/>
          </a:bodyPr>
          <a:lstStyle/>
          <a:p>
            <a:r>
              <a:rPr lang="en-IN" dirty="0">
                <a:latin typeface="Arial Narrow" panose="020B0606020202030204" pitchFamily="34" charset="0"/>
              </a:rPr>
              <a:t>Latent Variables</a:t>
            </a:r>
          </a:p>
          <a:p>
            <a:r>
              <a:rPr lang="en-IN" dirty="0">
                <a:latin typeface="Arial Narrow" panose="020B0606020202030204" pitchFamily="34" charset="0"/>
              </a:rPr>
              <a:t>Gaussian Noise</a:t>
            </a:r>
          </a:p>
        </p:txBody>
      </p:sp>
      <p:sp>
        <p:nvSpPr>
          <p:cNvPr id="17" name="TextBox 16">
            <a:extLst>
              <a:ext uri="{FF2B5EF4-FFF2-40B4-BE49-F238E27FC236}">
                <a16:creationId xmlns:a16="http://schemas.microsoft.com/office/drawing/2014/main" id="{DE750188-9CE3-45A7-8085-38C79BFD9B20}"/>
              </a:ext>
            </a:extLst>
          </p:cNvPr>
          <p:cNvSpPr txBox="1"/>
          <p:nvPr/>
        </p:nvSpPr>
        <p:spPr>
          <a:xfrm>
            <a:off x="4678501" y="5535814"/>
            <a:ext cx="1543265" cy="646331"/>
          </a:xfrm>
          <a:prstGeom prst="rect">
            <a:avLst/>
          </a:prstGeom>
          <a:noFill/>
        </p:spPr>
        <p:txBody>
          <a:bodyPr wrap="square" rtlCol="0">
            <a:spAutoFit/>
          </a:bodyPr>
          <a:lstStyle/>
          <a:p>
            <a:pPr algn="ctr"/>
            <a:r>
              <a:rPr lang="en-IN" dirty="0">
                <a:latin typeface="Arial Narrow" panose="020B0606020202030204" pitchFamily="34" charset="0"/>
              </a:rPr>
              <a:t>Generated Fake Data</a:t>
            </a:r>
          </a:p>
        </p:txBody>
      </p:sp>
      <p:sp>
        <p:nvSpPr>
          <p:cNvPr id="18" name="Right Brace 17">
            <a:extLst>
              <a:ext uri="{FF2B5EF4-FFF2-40B4-BE49-F238E27FC236}">
                <a16:creationId xmlns:a16="http://schemas.microsoft.com/office/drawing/2014/main" id="{C9B16CE6-ECBF-47CD-AE93-2BBCD7FAE16D}"/>
              </a:ext>
            </a:extLst>
          </p:cNvPr>
          <p:cNvSpPr/>
          <p:nvPr/>
        </p:nvSpPr>
        <p:spPr>
          <a:xfrm>
            <a:off x="9161754" y="2432470"/>
            <a:ext cx="301841" cy="100448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TextBox 18">
            <a:extLst>
              <a:ext uri="{FF2B5EF4-FFF2-40B4-BE49-F238E27FC236}">
                <a16:creationId xmlns:a16="http://schemas.microsoft.com/office/drawing/2014/main" id="{69C5AD91-579E-492E-AE36-608D18B8A40B}"/>
              </a:ext>
            </a:extLst>
          </p:cNvPr>
          <p:cNvSpPr txBox="1"/>
          <p:nvPr/>
        </p:nvSpPr>
        <p:spPr>
          <a:xfrm>
            <a:off x="9462086" y="2605955"/>
            <a:ext cx="1154098" cy="646331"/>
          </a:xfrm>
          <a:prstGeom prst="rect">
            <a:avLst/>
          </a:prstGeom>
          <a:noFill/>
        </p:spPr>
        <p:txBody>
          <a:bodyPr wrap="square" rtlCol="0">
            <a:spAutoFit/>
          </a:bodyPr>
          <a:lstStyle/>
          <a:p>
            <a:pPr algn="ctr"/>
            <a:r>
              <a:rPr lang="en-IN" dirty="0">
                <a:latin typeface="Arial Narrow" panose="020B0606020202030204" pitchFamily="34" charset="0"/>
              </a:rPr>
              <a:t>Adversarial</a:t>
            </a:r>
          </a:p>
          <a:p>
            <a:pPr algn="ctr"/>
            <a:r>
              <a:rPr lang="en-IN" dirty="0">
                <a:latin typeface="Arial Narrow" panose="020B0606020202030204" pitchFamily="34" charset="0"/>
              </a:rPr>
              <a:t>Loss</a:t>
            </a:r>
          </a:p>
        </p:txBody>
      </p:sp>
      <p:cxnSp>
        <p:nvCxnSpPr>
          <p:cNvPr id="21" name="Straight Connector 20">
            <a:extLst>
              <a:ext uri="{FF2B5EF4-FFF2-40B4-BE49-F238E27FC236}">
                <a16:creationId xmlns:a16="http://schemas.microsoft.com/office/drawing/2014/main" id="{4FCD2B29-7073-4CE0-86A4-AFCDCA5F2B52}"/>
              </a:ext>
            </a:extLst>
          </p:cNvPr>
          <p:cNvCxnSpPr>
            <a:stCxn id="19" idx="2"/>
          </p:cNvCxnSpPr>
          <p:nvPr/>
        </p:nvCxnSpPr>
        <p:spPr>
          <a:xfrm>
            <a:off x="10039135" y="3252286"/>
            <a:ext cx="19265" cy="30477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2490B27-58F4-47A1-A4D8-F7C9938D18CB}"/>
              </a:ext>
            </a:extLst>
          </p:cNvPr>
          <p:cNvCxnSpPr/>
          <p:nvPr/>
        </p:nvCxnSpPr>
        <p:spPr>
          <a:xfrm flipH="1">
            <a:off x="3742400" y="6291132"/>
            <a:ext cx="6307602" cy="241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FFC12F1-0329-48F8-9B9F-ADDC60973386}"/>
              </a:ext>
            </a:extLst>
          </p:cNvPr>
          <p:cNvCxnSpPr/>
          <p:nvPr/>
        </p:nvCxnSpPr>
        <p:spPr>
          <a:xfrm flipV="1">
            <a:off x="3742400" y="5653679"/>
            <a:ext cx="0" cy="6616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26C48B3-4092-430C-99B3-5023D647D50F}"/>
              </a:ext>
            </a:extLst>
          </p:cNvPr>
          <p:cNvCxnSpPr/>
          <p:nvPr/>
        </p:nvCxnSpPr>
        <p:spPr>
          <a:xfrm flipV="1">
            <a:off x="6676008" y="3622083"/>
            <a:ext cx="0" cy="26779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itle 1">
            <a:extLst>
              <a:ext uri="{FF2B5EF4-FFF2-40B4-BE49-F238E27FC236}">
                <a16:creationId xmlns:a16="http://schemas.microsoft.com/office/drawing/2014/main" id="{2BEE4C2E-8827-4545-8B5C-E24DD2CF5C9E}"/>
              </a:ext>
            </a:extLst>
          </p:cNvPr>
          <p:cNvSpPr>
            <a:spLocks noGrp="1"/>
          </p:cNvSpPr>
          <p:nvPr>
            <p:ph type="title"/>
          </p:nvPr>
        </p:nvSpPr>
        <p:spPr>
          <a:xfrm>
            <a:off x="838200" y="365125"/>
            <a:ext cx="10515600" cy="1325563"/>
          </a:xfrm>
        </p:spPr>
        <p:txBody>
          <a:bodyPr>
            <a:noAutofit/>
          </a:bodyPr>
          <a:lstStyle/>
          <a:p>
            <a:br>
              <a:rPr lang="en-IN" sz="3600" dirty="0">
                <a:latin typeface="Century" panose="02040604050505020304" pitchFamily="18" charset="0"/>
              </a:rPr>
            </a:br>
            <a:r>
              <a:rPr lang="en-IN" sz="3600" dirty="0">
                <a:latin typeface="Century" panose="02040604050505020304" pitchFamily="18" charset="0"/>
              </a:rPr>
              <a:t>Generative Adversarial Networks (GANs)</a:t>
            </a:r>
            <a:br>
              <a:rPr lang="en-IN" sz="3600" dirty="0">
                <a:latin typeface="Century" panose="02040604050505020304" pitchFamily="18" charset="0"/>
              </a:rPr>
            </a:br>
            <a:endParaRPr lang="en-IN" sz="3600" dirty="0">
              <a:latin typeface="Century" panose="02040604050505020304" pitchFamily="18" charset="0"/>
            </a:endParaRPr>
          </a:p>
        </p:txBody>
      </p:sp>
    </p:spTree>
    <p:extLst>
      <p:ext uri="{BB962C8B-B14F-4D97-AF65-F5344CB8AC3E}">
        <p14:creationId xmlns:p14="http://schemas.microsoft.com/office/powerpoint/2010/main" val="1097290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4E1D3-FCA5-4D42-AA8C-4B3CB5B792C1}"/>
              </a:ext>
            </a:extLst>
          </p:cNvPr>
          <p:cNvSpPr>
            <a:spLocks noGrp="1"/>
          </p:cNvSpPr>
          <p:nvPr>
            <p:ph type="title"/>
          </p:nvPr>
        </p:nvSpPr>
        <p:spPr/>
        <p:txBody>
          <a:bodyPr>
            <a:normAutofit/>
          </a:bodyPr>
          <a:lstStyle/>
          <a:p>
            <a:r>
              <a:rPr lang="en-US" sz="3600" dirty="0">
                <a:latin typeface="Century" panose="02040604050505020304" pitchFamily="18" charset="0"/>
              </a:rPr>
              <a:t>Why GAN is good for image generation?</a:t>
            </a:r>
            <a:endParaRPr lang="en-IN" sz="3600" dirty="0">
              <a:latin typeface="Century" panose="02040604050505020304" pitchFamily="18" charset="0"/>
            </a:endParaRPr>
          </a:p>
        </p:txBody>
      </p:sp>
      <p:sp>
        <p:nvSpPr>
          <p:cNvPr id="3" name="Content Placeholder 2">
            <a:extLst>
              <a:ext uri="{FF2B5EF4-FFF2-40B4-BE49-F238E27FC236}">
                <a16:creationId xmlns:a16="http://schemas.microsoft.com/office/drawing/2014/main" id="{7E36088E-0EDB-4360-807C-D6C2257B0A44}"/>
              </a:ext>
            </a:extLst>
          </p:cNvPr>
          <p:cNvSpPr>
            <a:spLocks noGrp="1"/>
          </p:cNvSpPr>
          <p:nvPr>
            <p:ph idx="1"/>
          </p:nvPr>
        </p:nvSpPr>
        <p:spPr/>
        <p:txBody>
          <a:bodyPr>
            <a:normAutofit/>
          </a:bodyPr>
          <a:lstStyle/>
          <a:p>
            <a:pPr algn="just"/>
            <a:r>
              <a:rPr lang="en-US" sz="2000" dirty="0">
                <a:latin typeface="Arial Narrow" panose="020B0606020202030204" pitchFamily="34" charset="0"/>
              </a:rPr>
              <a:t>GANs are particularly effective for image generation because of the way they are trained. Instead of trying to reconstruct every pixel exactly, they learn to produce images that look realistic to a discriminator network.</a:t>
            </a:r>
          </a:p>
          <a:p>
            <a:r>
              <a:rPr lang="en-US" sz="2000" dirty="0">
                <a:solidFill>
                  <a:srgbClr val="00B0F0"/>
                </a:solidFill>
                <a:latin typeface="Arial Narrow" panose="020B0606020202030204" pitchFamily="34" charset="0"/>
              </a:rPr>
              <a:t>Adversarial Training Encourages Realism</a:t>
            </a:r>
          </a:p>
          <a:p>
            <a:pPr lvl="1" algn="just"/>
            <a:r>
              <a:rPr lang="en-US" sz="2000" dirty="0">
                <a:latin typeface="Arial Narrow" panose="020B0606020202030204" pitchFamily="34" charset="0"/>
              </a:rPr>
              <a:t>The generator's goal is to fool the discriminator into believing generated images are real.</a:t>
            </a:r>
          </a:p>
          <a:p>
            <a:pPr lvl="1" algn="just"/>
            <a:r>
              <a:rPr lang="en-US" sz="2000" dirty="0">
                <a:latin typeface="Arial Narrow" panose="020B0606020202030204" pitchFamily="34" charset="0"/>
              </a:rPr>
              <a:t>The discriminator learns features that distinguish real images from fake ones. </a:t>
            </a:r>
          </a:p>
          <a:p>
            <a:pPr lvl="1" algn="just"/>
            <a:r>
              <a:rPr lang="en-US" sz="2000" dirty="0">
                <a:latin typeface="Arial Narrow" panose="020B0606020202030204" pitchFamily="34" charset="0"/>
              </a:rPr>
              <a:t>The generator learns to match those features. This pushes the generator to create realistic textures, edges, lighting, and fine details.</a:t>
            </a:r>
          </a:p>
          <a:p>
            <a:r>
              <a:rPr lang="en-US" sz="2000" dirty="0">
                <a:solidFill>
                  <a:srgbClr val="00B0F0"/>
                </a:solidFill>
                <a:latin typeface="Arial Narrow" panose="020B0606020202030204" pitchFamily="34" charset="0"/>
              </a:rPr>
              <a:t>Produces Sharp Images</a:t>
            </a:r>
          </a:p>
          <a:p>
            <a:pPr lvl="1" algn="just"/>
            <a:r>
              <a:rPr lang="en-US" sz="2000" dirty="0">
                <a:latin typeface="Arial Narrow" panose="020B0606020202030204" pitchFamily="34" charset="0"/>
              </a:rPr>
              <a:t>Many traditional generative models (including early VAEs) optimize pixel-by-pixel reconstruction losses.</a:t>
            </a:r>
          </a:p>
          <a:p>
            <a:pPr lvl="1" algn="just"/>
            <a:r>
              <a:rPr lang="en-US" sz="2000" dirty="0">
                <a:latin typeface="Arial Narrow" panose="020B0606020202030204" pitchFamily="34" charset="0"/>
              </a:rPr>
              <a:t>For a reconstruction loss such as MSE the model often averages multiple plausible outputs, leading to blurry images.</a:t>
            </a:r>
          </a:p>
          <a:p>
            <a:pPr lvl="1" algn="just"/>
            <a:r>
              <a:rPr lang="en-US" sz="2000" dirty="0">
                <a:latin typeface="Arial Narrow" panose="020B0606020202030204" pitchFamily="34" charset="0"/>
              </a:rPr>
              <a:t>GANs avoid directly minimizing pixel errors and instead optimize perceptual realism, which typically results in sharper images.</a:t>
            </a:r>
          </a:p>
          <a:p>
            <a:endParaRPr lang="en-US" sz="2400" dirty="0">
              <a:latin typeface="Arial Narrow" panose="020B0606020202030204" pitchFamily="34" charset="0"/>
            </a:endParaRPr>
          </a:p>
          <a:p>
            <a:endParaRPr lang="en-IN" sz="2000" dirty="0">
              <a:latin typeface="Arial Narrow" panose="020B0606020202030204" pitchFamily="34" charset="0"/>
            </a:endParaRPr>
          </a:p>
        </p:txBody>
      </p:sp>
    </p:spTree>
    <p:extLst>
      <p:ext uri="{BB962C8B-B14F-4D97-AF65-F5344CB8AC3E}">
        <p14:creationId xmlns:p14="http://schemas.microsoft.com/office/powerpoint/2010/main" val="29946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4E1D3-FCA5-4D42-AA8C-4B3CB5B792C1}"/>
              </a:ext>
            </a:extLst>
          </p:cNvPr>
          <p:cNvSpPr>
            <a:spLocks noGrp="1"/>
          </p:cNvSpPr>
          <p:nvPr>
            <p:ph type="title"/>
          </p:nvPr>
        </p:nvSpPr>
        <p:spPr/>
        <p:txBody>
          <a:bodyPr>
            <a:normAutofit/>
          </a:bodyPr>
          <a:lstStyle/>
          <a:p>
            <a:r>
              <a:rPr lang="en-US" sz="3600" dirty="0">
                <a:latin typeface="Century" panose="02040604050505020304" pitchFamily="18" charset="0"/>
              </a:rPr>
              <a:t>Why GAN is good for image generation?</a:t>
            </a:r>
            <a:endParaRPr lang="en-IN" sz="3600" dirty="0">
              <a:latin typeface="Century" panose="02040604050505020304" pitchFamily="18" charset="0"/>
            </a:endParaRPr>
          </a:p>
        </p:txBody>
      </p:sp>
      <p:sp>
        <p:nvSpPr>
          <p:cNvPr id="3" name="Content Placeholder 2">
            <a:extLst>
              <a:ext uri="{FF2B5EF4-FFF2-40B4-BE49-F238E27FC236}">
                <a16:creationId xmlns:a16="http://schemas.microsoft.com/office/drawing/2014/main" id="{7E36088E-0EDB-4360-807C-D6C2257B0A44}"/>
              </a:ext>
            </a:extLst>
          </p:cNvPr>
          <p:cNvSpPr>
            <a:spLocks noGrp="1"/>
          </p:cNvSpPr>
          <p:nvPr>
            <p:ph idx="1"/>
          </p:nvPr>
        </p:nvSpPr>
        <p:spPr>
          <a:xfrm>
            <a:off x="838200" y="1690688"/>
            <a:ext cx="10515600" cy="4486275"/>
          </a:xfrm>
        </p:spPr>
        <p:txBody>
          <a:bodyPr>
            <a:normAutofit/>
          </a:bodyPr>
          <a:lstStyle/>
          <a:p>
            <a:r>
              <a:rPr lang="en-US" sz="2000" dirty="0">
                <a:solidFill>
                  <a:srgbClr val="00B0F0"/>
                </a:solidFill>
                <a:latin typeface="Arial Narrow" panose="020B0606020202030204" pitchFamily="34" charset="0"/>
              </a:rPr>
              <a:t>Learns Complex Data Distributions</a:t>
            </a:r>
          </a:p>
          <a:p>
            <a:pPr lvl="1" algn="just"/>
            <a:r>
              <a:rPr lang="en-US" sz="2000" dirty="0">
                <a:latin typeface="Arial Narrow" panose="020B0606020202030204" pitchFamily="34" charset="0"/>
              </a:rPr>
              <a:t>Images have highly complex distributions such as Objects, Shapes, Colors, Textures, Spatial relationships, etc. </a:t>
            </a:r>
          </a:p>
          <a:p>
            <a:pPr lvl="1" algn="just"/>
            <a:r>
              <a:rPr lang="en-US" sz="2000" dirty="0">
                <a:latin typeface="Arial Narrow" panose="020B0606020202030204" pitchFamily="34" charset="0"/>
              </a:rPr>
              <a:t>GANs can learn these patterns without explicitly modeling probabilities, allowing them to generate realistic samples from high-dimensional image spaces.</a:t>
            </a:r>
          </a:p>
          <a:p>
            <a:r>
              <a:rPr lang="en-US" sz="2000" dirty="0">
                <a:solidFill>
                  <a:srgbClr val="00B0F0"/>
                </a:solidFill>
                <a:latin typeface="Arial Narrow" panose="020B0606020202030204" pitchFamily="34" charset="0"/>
              </a:rPr>
              <a:t>Generates High-Frequency Details</a:t>
            </a:r>
            <a:r>
              <a:rPr lang="en-US" sz="2000" dirty="0">
                <a:latin typeface="Arial Narrow" panose="020B0606020202030204" pitchFamily="34" charset="0"/>
              </a:rPr>
              <a:t>:</a:t>
            </a:r>
          </a:p>
          <a:p>
            <a:pPr lvl="1" algn="just"/>
            <a:r>
              <a:rPr lang="en-US" sz="2000" dirty="0">
                <a:latin typeface="Arial Narrow" panose="020B0606020202030204" pitchFamily="34" charset="0"/>
              </a:rPr>
              <a:t>GANs excel at generating Hair strands, Skin textures, Fur, Grass, Fine edges, etc.</a:t>
            </a:r>
          </a:p>
          <a:p>
            <a:pPr lvl="1" algn="just"/>
            <a:r>
              <a:rPr lang="en-US" sz="2000" dirty="0">
                <a:latin typeface="Arial Narrow" panose="020B0606020202030204" pitchFamily="34" charset="0"/>
              </a:rPr>
              <a:t>These details are often difficult for reconstruction-based models to reproduce accurately.</a:t>
            </a:r>
          </a:p>
          <a:p>
            <a:r>
              <a:rPr lang="en-US" sz="2000" dirty="0">
                <a:solidFill>
                  <a:srgbClr val="00B0F0"/>
                </a:solidFill>
                <a:latin typeface="Arial Narrow" panose="020B0606020202030204" pitchFamily="34" charset="0"/>
              </a:rPr>
              <a:t>Continuous Latent Space</a:t>
            </a:r>
            <a:r>
              <a:rPr lang="en-US" sz="2000" dirty="0">
                <a:latin typeface="Arial Narrow" panose="020B0606020202030204" pitchFamily="34" charset="0"/>
              </a:rPr>
              <a:t>: </a:t>
            </a:r>
          </a:p>
          <a:p>
            <a:pPr lvl="1" algn="just"/>
            <a:r>
              <a:rPr lang="en-US" sz="2000" dirty="0">
                <a:latin typeface="Arial Narrow" panose="020B0606020202030204" pitchFamily="34" charset="0"/>
              </a:rPr>
              <a:t>GAN maps a latent vector z to an image. Nearby latent vectors tend to generate similar images, enabling, Image interpolation, Attribute manipulation, Style transfer.</a:t>
            </a:r>
          </a:p>
          <a:p>
            <a:pPr lvl="1" algn="just"/>
            <a:r>
              <a:rPr lang="en-US" sz="2000" dirty="0">
                <a:latin typeface="Arial Narrow" panose="020B0606020202030204" pitchFamily="34" charset="0"/>
              </a:rPr>
              <a:t>For example, smoothly moving through latent space can gradually change: Facial expression, Age, Hair, color, Pose, etc.</a:t>
            </a:r>
          </a:p>
          <a:p>
            <a:endParaRPr lang="en-US" sz="2400" dirty="0">
              <a:latin typeface="Arial Narrow" panose="020B0606020202030204" pitchFamily="34" charset="0"/>
            </a:endParaRPr>
          </a:p>
          <a:p>
            <a:endParaRPr lang="en-IN" sz="2000" dirty="0">
              <a:latin typeface="Arial Narrow" panose="020B0606020202030204" pitchFamily="34" charset="0"/>
            </a:endParaRPr>
          </a:p>
        </p:txBody>
      </p:sp>
    </p:spTree>
    <p:extLst>
      <p:ext uri="{BB962C8B-B14F-4D97-AF65-F5344CB8AC3E}">
        <p14:creationId xmlns:p14="http://schemas.microsoft.com/office/powerpoint/2010/main" val="2274587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BE35F-7118-4AC0-994F-D5DA7B33B43E}"/>
              </a:ext>
            </a:extLst>
          </p:cNvPr>
          <p:cNvSpPr>
            <a:spLocks noGrp="1"/>
          </p:cNvSpPr>
          <p:nvPr>
            <p:ph type="title"/>
          </p:nvPr>
        </p:nvSpPr>
        <p:spPr/>
        <p:txBody>
          <a:bodyPr>
            <a:normAutofit/>
          </a:bodyPr>
          <a:lstStyle/>
          <a:p>
            <a:r>
              <a:rPr lang="en-US" sz="3200" dirty="0">
                <a:latin typeface="Century" panose="02040604050505020304" pitchFamily="18" charset="0"/>
              </a:rPr>
              <a:t>Autoregressive Generative Model</a:t>
            </a:r>
            <a:endParaRPr lang="en-IN" sz="3200" dirty="0">
              <a:latin typeface="Century" panose="020406040505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A162D7D-448C-406E-BF48-FA336FB8BF05}"/>
                  </a:ext>
                </a:extLst>
              </p:cNvPr>
              <p:cNvSpPr>
                <a:spLocks noGrp="1"/>
              </p:cNvSpPr>
              <p:nvPr>
                <p:ph idx="1"/>
              </p:nvPr>
            </p:nvSpPr>
            <p:spPr>
              <a:xfrm>
                <a:off x="838200" y="1711869"/>
                <a:ext cx="10515600" cy="5146131"/>
              </a:xfrm>
            </p:spPr>
            <p:txBody>
              <a:bodyPr>
                <a:noAutofit/>
              </a:bodyPr>
              <a:lstStyle/>
              <a:p>
                <a:pPr algn="just"/>
                <a:r>
                  <a:rPr lang="en-US" sz="2000" dirty="0">
                    <a:latin typeface="Arial Narrow" panose="020B0606020202030204" pitchFamily="34" charset="0"/>
                    <a:cs typeface="Times New Roman" panose="02020603050405020304" pitchFamily="18" charset="0"/>
                  </a:rPr>
                  <a:t>An </a:t>
                </a:r>
                <a:r>
                  <a:rPr lang="en-US" sz="2000" dirty="0">
                    <a:solidFill>
                      <a:srgbClr val="00B0F0"/>
                    </a:solidFill>
                    <a:latin typeface="Arial Narrow" panose="020B0606020202030204" pitchFamily="34" charset="0"/>
                    <a:cs typeface="Times New Roman" panose="02020603050405020304" pitchFamily="18" charset="0"/>
                  </a:rPr>
                  <a:t>autoregressive</a:t>
                </a:r>
                <a:r>
                  <a:rPr lang="en-US" sz="2000" dirty="0">
                    <a:latin typeface="Arial Narrow" panose="020B0606020202030204" pitchFamily="34" charset="0"/>
                    <a:cs typeface="Times New Roman" panose="02020603050405020304" pitchFamily="18" charset="0"/>
                  </a:rPr>
                  <a:t> generative model is a type of machine learning model that creates data </a:t>
                </a:r>
                <a:r>
                  <a:rPr lang="en-US" sz="2000" dirty="0">
                    <a:solidFill>
                      <a:srgbClr val="00B0F0"/>
                    </a:solidFill>
                    <a:latin typeface="Arial Narrow" panose="020B0606020202030204" pitchFamily="34" charset="0"/>
                    <a:cs typeface="Times New Roman" panose="02020603050405020304" pitchFamily="18" charset="0"/>
                  </a:rPr>
                  <a:t>sequentially</a:t>
                </a:r>
                <a:r>
                  <a:rPr lang="en-US" sz="2000" dirty="0">
                    <a:latin typeface="Arial Narrow" panose="020B0606020202030204" pitchFamily="34" charset="0"/>
                    <a:cs typeface="Times New Roman" panose="02020603050405020304" pitchFamily="18" charset="0"/>
                  </a:rPr>
                  <a:t> by predicting </a:t>
                </a:r>
                <a:r>
                  <a:rPr lang="en-US" sz="2000" dirty="0">
                    <a:solidFill>
                      <a:srgbClr val="00B0F0"/>
                    </a:solidFill>
                    <a:latin typeface="Arial Narrow" panose="020B0606020202030204" pitchFamily="34" charset="0"/>
                    <a:cs typeface="Times New Roman" panose="02020603050405020304" pitchFamily="18" charset="0"/>
                  </a:rPr>
                  <a:t>each new element </a:t>
                </a:r>
                <a:r>
                  <a:rPr lang="en-US" sz="2000" dirty="0">
                    <a:latin typeface="Arial Narrow" panose="020B0606020202030204" pitchFamily="34" charset="0"/>
                    <a:cs typeface="Times New Roman" panose="02020603050405020304" pitchFamily="18" charset="0"/>
                  </a:rPr>
                  <a:t>based on the </a:t>
                </a:r>
                <a:r>
                  <a:rPr lang="en-US" sz="2000" dirty="0">
                    <a:solidFill>
                      <a:srgbClr val="00B0F0"/>
                    </a:solidFill>
                    <a:latin typeface="Arial Narrow" panose="020B0606020202030204" pitchFamily="34" charset="0"/>
                    <a:cs typeface="Times New Roman" panose="02020603050405020304" pitchFamily="18" charset="0"/>
                  </a:rPr>
                  <a:t>elements that came before it</a:t>
                </a:r>
                <a:r>
                  <a:rPr lang="en-US" sz="2000" dirty="0">
                    <a:latin typeface="Arial Narrow" panose="020B0606020202030204" pitchFamily="34" charset="0"/>
                    <a:cs typeface="Times New Roman" panose="02020603050405020304" pitchFamily="18" charset="0"/>
                  </a:rPr>
                  <a:t>. </a:t>
                </a:r>
              </a:p>
              <a:p>
                <a:pPr algn="just"/>
                <a:r>
                  <a:rPr lang="en-US" sz="2000" dirty="0">
                    <a:latin typeface="Arial Narrow" panose="020B0606020202030204" pitchFamily="34" charset="0"/>
                    <a:cs typeface="Times New Roman" panose="02020603050405020304" pitchFamily="18" charset="0"/>
                  </a:rPr>
                  <a:t>The term autoregressive refers to the model's ability to use its </a:t>
                </a:r>
                <a:r>
                  <a:rPr lang="en-US" sz="2000" dirty="0">
                    <a:solidFill>
                      <a:srgbClr val="00B0F0"/>
                    </a:solidFill>
                    <a:latin typeface="Arial Narrow" panose="020B0606020202030204" pitchFamily="34" charset="0"/>
                    <a:cs typeface="Times New Roman" panose="02020603050405020304" pitchFamily="18" charset="0"/>
                  </a:rPr>
                  <a:t>own previous outputs </a:t>
                </a:r>
                <a:r>
                  <a:rPr lang="en-US" sz="2000" dirty="0">
                    <a:latin typeface="Arial Narrow" panose="020B0606020202030204" pitchFamily="34" charset="0"/>
                    <a:cs typeface="Times New Roman" panose="02020603050405020304" pitchFamily="18" charset="0"/>
                  </a:rPr>
                  <a:t>as inputs for generating subsequent outputs. </a:t>
                </a:r>
              </a:p>
              <a:p>
                <a:pPr algn="just"/>
                <a:r>
                  <a:rPr lang="en-US" sz="2000" dirty="0">
                    <a:latin typeface="Arial Narrow" panose="020B0606020202030204" pitchFamily="34" charset="0"/>
                    <a:cs typeface="Times New Roman" panose="02020603050405020304" pitchFamily="18" charset="0"/>
                  </a:rPr>
                  <a:t>Rather than producing an entire sequence simultaneously, the model </a:t>
                </a:r>
                <a:r>
                  <a:rPr lang="en-US" sz="2000" dirty="0">
                    <a:solidFill>
                      <a:srgbClr val="00B0F0"/>
                    </a:solidFill>
                    <a:latin typeface="Arial Narrow" panose="020B0606020202030204" pitchFamily="34" charset="0"/>
                    <a:cs typeface="Times New Roman" panose="02020603050405020304" pitchFamily="18" charset="0"/>
                  </a:rPr>
                  <a:t>generates data one step at a time</a:t>
                </a:r>
                <a:r>
                  <a:rPr lang="en-US" sz="2000" dirty="0">
                    <a:latin typeface="Arial Narrow" panose="020B0606020202030204" pitchFamily="34" charset="0"/>
                    <a:cs typeface="Times New Roman" panose="02020603050405020304" pitchFamily="18" charset="0"/>
                  </a:rPr>
                  <a:t>, making each prediction dependent on the preceding context. </a:t>
                </a:r>
              </a:p>
              <a:p>
                <a:pPr algn="just"/>
                <a:r>
                  <a:rPr lang="en-US" sz="2000" dirty="0">
                    <a:latin typeface="Arial Narrow" panose="020B0606020202030204" pitchFamily="34" charset="0"/>
                    <a:cs typeface="Times New Roman" panose="02020603050405020304" pitchFamily="18" charset="0"/>
                  </a:rPr>
                  <a:t>This approach is widely used in applications such as natural language processing, image generation, audio synthesis, and time-series forecasting, where maintaining coherence and capturing sequential patterns are essential.</a:t>
                </a:r>
              </a:p>
              <a:p>
                <a:pPr algn="just"/>
                <a:r>
                  <a:rPr lang="en-US" sz="2000" dirty="0">
                    <a:latin typeface="Arial Narrow" panose="020B0606020202030204" pitchFamily="34" charset="0"/>
                    <a:cs typeface="Times New Roman" panose="02020603050405020304" pitchFamily="18" charset="0"/>
                  </a:rPr>
                  <a:t>Mathematically, for a sequence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1</m:t>
                        </m:r>
                      </m:sub>
                    </m:sSub>
                    <m:r>
                      <a:rPr lang="en-IN" sz="2000" b="0" i="1" smtClean="0">
                        <a:latin typeface="Cambria Math" panose="02040503050406030204" pitchFamily="18" charset="0"/>
                        <a:cs typeface="Times New Roman" panose="02020603050405020304" pitchFamily="18" charset="0"/>
                      </a:rPr>
                      <m:t>, </m:t>
                    </m:r>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2</m:t>
                        </m:r>
                      </m:sub>
                    </m:sSub>
                    <m:r>
                      <a:rPr lang="en-IN" sz="2000" b="0" i="1" smtClean="0">
                        <a:latin typeface="Cambria Math" panose="02040503050406030204" pitchFamily="18" charset="0"/>
                        <a:cs typeface="Times New Roman" panose="02020603050405020304" pitchFamily="18" charset="0"/>
                      </a:rPr>
                      <m:t>, </m:t>
                    </m:r>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3</m:t>
                        </m:r>
                      </m:sub>
                    </m:sSub>
                    <m:r>
                      <a:rPr lang="en-IN" sz="2000" b="0" i="1" smtClean="0">
                        <a:latin typeface="Cambria Math" panose="02040503050406030204" pitchFamily="18" charset="0"/>
                        <a:cs typeface="Times New Roman" panose="02020603050405020304" pitchFamily="18" charset="0"/>
                      </a:rPr>
                      <m:t>, …, </m:t>
                    </m:r>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𝑛</m:t>
                        </m:r>
                      </m:sub>
                    </m:sSub>
                    <m:r>
                      <a:rPr lang="en-IN" sz="2000" b="0" i="1" smtClean="0">
                        <a:latin typeface="Cambria Math" panose="02040503050406030204" pitchFamily="18" charset="0"/>
                        <a:cs typeface="Times New Roman" panose="02020603050405020304" pitchFamily="18" charset="0"/>
                      </a:rPr>
                      <m:t>:</m:t>
                    </m:r>
                  </m:oMath>
                </a14:m>
                <a:endParaRPr lang="en-IN" sz="2000" b="0" dirty="0">
                  <a:latin typeface="Arial Narrow" panose="020B0606020202030204" pitchFamily="34" charset="0"/>
                  <a:cs typeface="Times New Roman" panose="02020603050405020304" pitchFamily="18" charset="0"/>
                </a:endParaRPr>
              </a:p>
              <a:p>
                <a:pPr algn="just"/>
                <a:endParaRPr lang="en-IN" sz="2000" b="0" dirty="0">
                  <a:latin typeface="Arial Narrow" panose="020B0606020202030204" pitchFamily="34"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cs typeface="Times New Roman" panose="02020603050405020304" pitchFamily="18" charset="0"/>
                        </a:rPr>
                        <m:t>𝑝</m:t>
                      </m:r>
                      <m:d>
                        <m:dPr>
                          <m:ctrlPr>
                            <a:rPr lang="en-IN" sz="2000" b="0" i="1" smtClean="0">
                              <a:latin typeface="Cambria Math" panose="02040503050406030204" pitchFamily="18" charset="0"/>
                              <a:cs typeface="Times New Roman" panose="02020603050405020304" pitchFamily="18" charset="0"/>
                            </a:rPr>
                          </m:ctrlPr>
                        </m:dPr>
                        <m:e>
                          <m:sSub>
                            <m:sSubPr>
                              <m:ctrlPr>
                                <a:rPr lang="en-US"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1</m:t>
                              </m:r>
                            </m:sub>
                          </m:sSub>
                          <m:r>
                            <a:rPr lang="en-IN" sz="2000" b="0" i="1" smtClean="0">
                              <a:latin typeface="Cambria Math" panose="02040503050406030204" pitchFamily="18" charset="0"/>
                              <a:cs typeface="Times New Roman" panose="02020603050405020304" pitchFamily="18" charset="0"/>
                            </a:rPr>
                            <m:t>, </m:t>
                          </m:r>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2</m:t>
                              </m:r>
                            </m:sub>
                          </m:sSub>
                          <m:r>
                            <a:rPr lang="en-IN" sz="2000" b="0" i="1" smtClean="0">
                              <a:latin typeface="Cambria Math" panose="02040503050406030204" pitchFamily="18" charset="0"/>
                              <a:cs typeface="Times New Roman" panose="02020603050405020304" pitchFamily="18" charset="0"/>
                            </a:rPr>
                            <m:t>, </m:t>
                          </m:r>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3</m:t>
                              </m:r>
                            </m:sub>
                          </m:sSub>
                          <m:r>
                            <a:rPr lang="en-IN" sz="2000" b="0" i="1" smtClean="0">
                              <a:latin typeface="Cambria Math" panose="02040503050406030204" pitchFamily="18" charset="0"/>
                              <a:cs typeface="Times New Roman" panose="02020603050405020304" pitchFamily="18" charset="0"/>
                            </a:rPr>
                            <m:t>, …, </m:t>
                          </m:r>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𝑛</m:t>
                              </m:r>
                            </m:sub>
                          </m:sSub>
                        </m:e>
                      </m:d>
                      <m:r>
                        <a:rPr lang="en-IN" sz="2000" b="0" i="1" smtClean="0">
                          <a:latin typeface="Cambria Math" panose="02040503050406030204" pitchFamily="18" charset="0"/>
                          <a:cs typeface="Times New Roman" panose="02020603050405020304" pitchFamily="18" charset="0"/>
                        </a:rPr>
                        <m:t>=</m:t>
                      </m:r>
                      <m:r>
                        <a:rPr lang="en-IN" sz="2000" b="0" i="1" smtClean="0">
                          <a:latin typeface="Cambria Math" panose="02040503050406030204" pitchFamily="18" charset="0"/>
                          <a:cs typeface="Times New Roman" panose="02020603050405020304" pitchFamily="18" charset="0"/>
                        </a:rPr>
                        <m:t>𝑝</m:t>
                      </m:r>
                      <m:r>
                        <a:rPr lang="en-IN" sz="2000" b="0" i="1" smtClean="0">
                          <a:latin typeface="Cambria Math" panose="02040503050406030204" pitchFamily="18" charset="0"/>
                          <a:cs typeface="Times New Roman" panose="02020603050405020304" pitchFamily="18" charset="0"/>
                        </a:rPr>
                        <m:t>(</m:t>
                      </m:r>
                      <m:sSub>
                        <m:sSubPr>
                          <m:ctrlPr>
                            <a:rPr lang="en-US"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1</m:t>
                          </m:r>
                        </m:sub>
                      </m:sSub>
                      <m:r>
                        <a:rPr lang="en-IN" sz="2000" b="0" i="1" smtClean="0">
                          <a:latin typeface="Cambria Math" panose="02040503050406030204" pitchFamily="18" charset="0"/>
                          <a:cs typeface="Times New Roman" panose="02020603050405020304" pitchFamily="18" charset="0"/>
                        </a:rPr>
                        <m:t>)⨉</m:t>
                      </m:r>
                      <m:r>
                        <a:rPr lang="en-IN" sz="2000" b="0" i="1" smtClean="0">
                          <a:latin typeface="Cambria Math" panose="02040503050406030204" pitchFamily="18" charset="0"/>
                          <a:cs typeface="Times New Roman" panose="02020603050405020304" pitchFamily="18" charset="0"/>
                        </a:rPr>
                        <m:t>𝑝</m:t>
                      </m:r>
                      <m:r>
                        <a:rPr lang="en-IN" sz="2000" b="0" i="1" smtClean="0">
                          <a:latin typeface="Cambria Math" panose="02040503050406030204" pitchFamily="18" charset="0"/>
                          <a:cs typeface="Times New Roman" panose="02020603050405020304" pitchFamily="18" charset="0"/>
                        </a:rPr>
                        <m:t>(</m:t>
                      </m:r>
                      <m:sSub>
                        <m:sSubPr>
                          <m:ctrlPr>
                            <a:rPr lang="en-US"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2</m:t>
                          </m:r>
                        </m:sub>
                      </m:sSub>
                      <m:r>
                        <a:rPr lang="en-IN" sz="2000" b="0" i="1" smtClean="0">
                          <a:latin typeface="Cambria Math" panose="02040503050406030204" pitchFamily="18" charset="0"/>
                          <a:cs typeface="Times New Roman" panose="02020603050405020304" pitchFamily="18" charset="0"/>
                        </a:rPr>
                        <m:t>|</m:t>
                      </m:r>
                      <m:sSub>
                        <m:sSubPr>
                          <m:ctrlPr>
                            <a:rPr lang="en-US"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1</m:t>
                          </m:r>
                        </m:sub>
                      </m:sSub>
                      <m:r>
                        <a:rPr lang="en-IN" sz="2000" b="0" i="1" smtClean="0">
                          <a:latin typeface="Cambria Math" panose="02040503050406030204" pitchFamily="18" charset="0"/>
                          <a:cs typeface="Times New Roman" panose="02020603050405020304" pitchFamily="18" charset="0"/>
                        </a:rPr>
                        <m:t>)⨉</m:t>
                      </m:r>
                      <m:r>
                        <a:rPr lang="en-IN" sz="2000" b="0" i="1" smtClean="0">
                          <a:latin typeface="Cambria Math" panose="02040503050406030204" pitchFamily="18" charset="0"/>
                          <a:cs typeface="Times New Roman" panose="02020603050405020304" pitchFamily="18" charset="0"/>
                        </a:rPr>
                        <m:t>𝑝</m:t>
                      </m:r>
                      <m:r>
                        <a:rPr lang="en-IN" sz="2000" b="0" i="1" smtClean="0">
                          <a:latin typeface="Cambria Math" panose="02040503050406030204" pitchFamily="18" charset="0"/>
                          <a:cs typeface="Times New Roman" panose="02020603050405020304" pitchFamily="18" charset="0"/>
                        </a:rPr>
                        <m:t>(</m:t>
                      </m:r>
                      <m:sSub>
                        <m:sSubPr>
                          <m:ctrlPr>
                            <a:rPr lang="en-US"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3</m:t>
                          </m:r>
                        </m:sub>
                      </m:sSub>
                      <m:r>
                        <a:rPr lang="en-IN" sz="2000" b="0" i="1" smtClean="0">
                          <a:latin typeface="Cambria Math" panose="02040503050406030204" pitchFamily="18" charset="0"/>
                          <a:cs typeface="Times New Roman" panose="02020603050405020304" pitchFamily="18" charset="0"/>
                        </a:rPr>
                        <m:t>|</m:t>
                      </m:r>
                      <m:sSub>
                        <m:sSubPr>
                          <m:ctrlPr>
                            <a:rPr lang="en-US"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1</m:t>
                          </m:r>
                        </m:sub>
                      </m:sSub>
                      <m:r>
                        <a:rPr lang="en-IN" sz="2000" b="0" i="1" smtClean="0">
                          <a:latin typeface="Cambria Math" panose="02040503050406030204" pitchFamily="18" charset="0"/>
                          <a:cs typeface="Times New Roman" panose="02020603050405020304" pitchFamily="18" charset="0"/>
                        </a:rPr>
                        <m:t>,</m:t>
                      </m:r>
                      <m:sSub>
                        <m:sSubPr>
                          <m:ctrlPr>
                            <a:rPr lang="en-US"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2</m:t>
                          </m:r>
                        </m:sub>
                      </m:sSub>
                      <m:r>
                        <a:rPr lang="en-IN" sz="2000" b="0" i="1" smtClean="0">
                          <a:latin typeface="Cambria Math" panose="02040503050406030204" pitchFamily="18" charset="0"/>
                          <a:cs typeface="Times New Roman" panose="02020603050405020304" pitchFamily="18" charset="0"/>
                        </a:rPr>
                        <m:t>)⨉…⨉</m:t>
                      </m:r>
                      <m:r>
                        <a:rPr lang="en-IN" sz="2000" b="0" i="1" smtClean="0">
                          <a:latin typeface="Cambria Math" panose="02040503050406030204" pitchFamily="18" charset="0"/>
                          <a:cs typeface="Times New Roman" panose="02020603050405020304" pitchFamily="18" charset="0"/>
                        </a:rPr>
                        <m:t>𝑝</m:t>
                      </m:r>
                      <m:r>
                        <a:rPr lang="en-IN" sz="2000" b="0" i="1" smtClean="0">
                          <a:latin typeface="Cambria Math" panose="02040503050406030204" pitchFamily="18" charset="0"/>
                          <a:cs typeface="Times New Roman" panose="02020603050405020304" pitchFamily="18" charset="0"/>
                        </a:rPr>
                        <m:t>(</m:t>
                      </m:r>
                      <m:sSub>
                        <m:sSubPr>
                          <m:ctrlPr>
                            <a:rPr lang="en-US"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3</m:t>
                          </m:r>
                        </m:sub>
                      </m:sSub>
                      <m:r>
                        <a:rPr lang="en-IN" sz="2000" b="0" i="1" smtClean="0">
                          <a:latin typeface="Cambria Math" panose="02040503050406030204" pitchFamily="18" charset="0"/>
                          <a:cs typeface="Times New Roman" panose="02020603050405020304" pitchFamily="18" charset="0"/>
                        </a:rPr>
                        <m:t>|</m:t>
                      </m:r>
                      <m:sSub>
                        <m:sSubPr>
                          <m:ctrlPr>
                            <a:rPr lang="en-US"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1</m:t>
                          </m:r>
                        </m:sub>
                      </m:sSub>
                      <m:r>
                        <a:rPr lang="en-IN" sz="2000" b="0" i="1" smtClean="0">
                          <a:latin typeface="Cambria Math" panose="02040503050406030204" pitchFamily="18" charset="0"/>
                          <a:cs typeface="Times New Roman" panose="02020603050405020304" pitchFamily="18" charset="0"/>
                        </a:rPr>
                        <m:t>,</m:t>
                      </m:r>
                      <m:sSub>
                        <m:sSubPr>
                          <m:ctrlPr>
                            <a:rPr lang="en-US"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2</m:t>
                          </m:r>
                        </m:sub>
                      </m:sSub>
                      <m:r>
                        <a:rPr lang="en-IN" sz="2000" b="0" i="1" smtClean="0">
                          <a:latin typeface="Cambria Math" panose="02040503050406030204" pitchFamily="18" charset="0"/>
                          <a:cs typeface="Times New Roman" panose="02020603050405020304" pitchFamily="18" charset="0"/>
                        </a:rPr>
                        <m:t>,…,</m:t>
                      </m:r>
                      <m:sSub>
                        <m:sSubPr>
                          <m:ctrlPr>
                            <a:rPr lang="en-US"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𝑥</m:t>
                          </m:r>
                        </m:e>
                        <m:sub>
                          <m:r>
                            <a:rPr lang="en-IN" sz="2000" b="0" i="1" smtClean="0">
                              <a:latin typeface="Cambria Math" panose="02040503050406030204" pitchFamily="18" charset="0"/>
                              <a:cs typeface="Times New Roman" panose="02020603050405020304" pitchFamily="18" charset="0"/>
                            </a:rPr>
                            <m:t>𝑛</m:t>
                          </m:r>
                        </m:sub>
                      </m:sSub>
                      <m:r>
                        <a:rPr lang="en-IN" sz="2000" b="0" i="1" smtClean="0">
                          <a:latin typeface="Cambria Math" panose="02040503050406030204" pitchFamily="18" charset="0"/>
                          <a:cs typeface="Times New Roman" panose="02020603050405020304" pitchFamily="18" charset="0"/>
                        </a:rPr>
                        <m:t>)</m:t>
                      </m:r>
                    </m:oMath>
                  </m:oMathPara>
                </a14:m>
                <a:endParaRPr lang="en-IN" sz="2000" dirty="0">
                  <a:latin typeface="Arial Narrow" panose="020B0606020202030204" pitchFamily="34" charset="0"/>
                  <a:cs typeface="Times New Roman" panose="02020603050405020304" pitchFamily="18" charset="0"/>
                </a:endParaRPr>
              </a:p>
              <a:p>
                <a:pPr marL="0" indent="0" algn="just">
                  <a:buNone/>
                </a:pPr>
                <a:endParaRPr lang="en-IN" sz="2000" dirty="0">
                  <a:latin typeface="Arial Narrow" panose="020B0606020202030204" pitchFamily="34" charset="0"/>
                  <a:cs typeface="Times New Roman" panose="02020603050405020304" pitchFamily="18" charset="0"/>
                </a:endParaRPr>
              </a:p>
              <a:p>
                <a:pPr algn="just"/>
                <a:r>
                  <a:rPr lang="en-US" sz="2000" dirty="0">
                    <a:latin typeface="Arial Narrow" panose="020B0606020202030204" pitchFamily="34" charset="0"/>
                    <a:cs typeface="Times New Roman" panose="02020603050405020304" pitchFamily="18" charset="0"/>
                  </a:rPr>
                  <a:t>So the model learns conditional probabilities of each step.</a:t>
                </a:r>
                <a:endParaRPr lang="en-IN" sz="2000" dirty="0">
                  <a:latin typeface="Arial Narrow" panose="020B0606020202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1A162D7D-448C-406E-BF48-FA336FB8BF05}"/>
                  </a:ext>
                </a:extLst>
              </p:cNvPr>
              <p:cNvSpPr>
                <a:spLocks noGrp="1" noRot="1" noChangeAspect="1" noMove="1" noResize="1" noEditPoints="1" noAdjustHandles="1" noChangeArrowheads="1" noChangeShapeType="1" noTextEdit="1"/>
              </p:cNvSpPr>
              <p:nvPr>
                <p:ph idx="1"/>
              </p:nvPr>
            </p:nvSpPr>
            <p:spPr>
              <a:xfrm>
                <a:off x="838200" y="1711869"/>
                <a:ext cx="10515600" cy="5146131"/>
              </a:xfrm>
              <a:blipFill>
                <a:blip r:embed="rId2"/>
                <a:stretch>
                  <a:fillRect l="-522" t="-1303" r="-580"/>
                </a:stretch>
              </a:blipFill>
            </p:spPr>
            <p:txBody>
              <a:bodyPr/>
              <a:lstStyle/>
              <a:p>
                <a:r>
                  <a:rPr lang="en-GB">
                    <a:noFill/>
                  </a:rPr>
                  <a:t> </a:t>
                </a:r>
              </a:p>
            </p:txBody>
          </p:sp>
        </mc:Fallback>
      </mc:AlternateContent>
    </p:spTree>
    <p:extLst>
      <p:ext uri="{BB962C8B-B14F-4D97-AF65-F5344CB8AC3E}">
        <p14:creationId xmlns:p14="http://schemas.microsoft.com/office/powerpoint/2010/main" val="241048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4ACFC-144D-46B8-B2A5-1493CE172540}"/>
              </a:ext>
            </a:extLst>
          </p:cNvPr>
          <p:cNvSpPr>
            <a:spLocks noGrp="1"/>
          </p:cNvSpPr>
          <p:nvPr>
            <p:ph type="title"/>
          </p:nvPr>
        </p:nvSpPr>
        <p:spPr/>
        <p:txBody>
          <a:bodyPr>
            <a:normAutofit fontScale="90000"/>
          </a:bodyPr>
          <a:lstStyle/>
          <a:p>
            <a:br>
              <a:rPr lang="en-IN" dirty="0">
                <a:latin typeface="Arial Narrow" panose="020B0606020202030204" pitchFamily="34" charset="0"/>
              </a:rPr>
            </a:br>
            <a:r>
              <a:rPr lang="en-IN" sz="4000" dirty="0">
                <a:latin typeface="Century" panose="02040604050505020304" pitchFamily="18" charset="0"/>
              </a:rPr>
              <a:t>Autoregressive Models</a:t>
            </a:r>
            <a:br>
              <a:rPr lang="en-IN" dirty="0">
                <a:latin typeface="Arial Narrow" panose="020B0606020202030204" pitchFamily="34" charset="0"/>
              </a:rPr>
            </a:br>
            <a:endParaRPr lang="en-IN" dirty="0"/>
          </a:p>
        </p:txBody>
      </p:sp>
      <p:sp>
        <p:nvSpPr>
          <p:cNvPr id="3" name="Content Placeholder 2">
            <a:extLst>
              <a:ext uri="{FF2B5EF4-FFF2-40B4-BE49-F238E27FC236}">
                <a16:creationId xmlns:a16="http://schemas.microsoft.com/office/drawing/2014/main" id="{257E4A68-4A24-4A41-835F-F5A2D7046FC7}"/>
              </a:ext>
            </a:extLst>
          </p:cNvPr>
          <p:cNvSpPr>
            <a:spLocks noGrp="1"/>
          </p:cNvSpPr>
          <p:nvPr>
            <p:ph idx="1"/>
          </p:nvPr>
        </p:nvSpPr>
        <p:spPr>
          <a:xfrm>
            <a:off x="838200" y="1690688"/>
            <a:ext cx="11013141" cy="4681706"/>
          </a:xfrm>
        </p:spPr>
        <p:txBody>
          <a:bodyPr>
            <a:normAutofit fontScale="55000" lnSpcReduction="20000"/>
          </a:bodyPr>
          <a:lstStyle/>
          <a:p>
            <a:pPr algn="just"/>
            <a:r>
              <a:rPr lang="en-US" sz="3600" dirty="0" err="1">
                <a:solidFill>
                  <a:srgbClr val="00B0F0"/>
                </a:solidFill>
                <a:latin typeface="Arial Narrow" panose="020B0606020202030204" pitchFamily="34" charset="0"/>
              </a:rPr>
              <a:t>PixelRNN</a:t>
            </a:r>
            <a:r>
              <a:rPr lang="en-US" sz="3600" dirty="0">
                <a:solidFill>
                  <a:srgbClr val="00B0F0"/>
                </a:solidFill>
                <a:latin typeface="Arial Narrow" panose="020B0606020202030204" pitchFamily="34" charset="0"/>
              </a:rPr>
              <a:t> </a:t>
            </a:r>
            <a:r>
              <a:rPr lang="en-US" sz="3600" dirty="0">
                <a:latin typeface="Arial Narrow" panose="020B0606020202030204" pitchFamily="34" charset="0"/>
              </a:rPr>
              <a:t>– One of the earliest autoregressive image generation models, </a:t>
            </a:r>
            <a:r>
              <a:rPr lang="en-US" sz="3600" dirty="0" err="1">
                <a:latin typeface="Arial Narrow" panose="020B0606020202030204" pitchFamily="34" charset="0"/>
              </a:rPr>
              <a:t>PixelRNN</a:t>
            </a:r>
            <a:r>
              <a:rPr lang="en-US" sz="3600" dirty="0">
                <a:latin typeface="Arial Narrow" panose="020B0606020202030204" pitchFamily="34" charset="0"/>
              </a:rPr>
              <a:t> generates images pixel by pixel using recurrent neural networks (RNNs). </a:t>
            </a:r>
          </a:p>
          <a:p>
            <a:pPr algn="just"/>
            <a:endParaRPr lang="en-US" sz="3600" dirty="0">
              <a:latin typeface="Arial Narrow" panose="020B0606020202030204" pitchFamily="34" charset="0"/>
            </a:endParaRPr>
          </a:p>
          <a:p>
            <a:pPr algn="just"/>
            <a:r>
              <a:rPr lang="en-US" sz="3600" dirty="0">
                <a:latin typeface="Arial Narrow" panose="020B0606020202030204" pitchFamily="34" charset="0"/>
              </a:rPr>
              <a:t>It captures complex spatial dependencies but is computationally expensive due to its sequential nature.</a:t>
            </a:r>
          </a:p>
          <a:p>
            <a:pPr algn="just"/>
            <a:endParaRPr lang="en-US" sz="3600" dirty="0">
              <a:latin typeface="Arial Narrow" panose="020B0606020202030204" pitchFamily="34" charset="0"/>
            </a:endParaRPr>
          </a:p>
          <a:p>
            <a:pPr algn="just"/>
            <a:r>
              <a:rPr lang="en-US" sz="3600" dirty="0" err="1">
                <a:solidFill>
                  <a:srgbClr val="00B0F0"/>
                </a:solidFill>
                <a:latin typeface="Arial Narrow" panose="020B0606020202030204" pitchFamily="34" charset="0"/>
              </a:rPr>
              <a:t>PixelCNN</a:t>
            </a:r>
            <a:r>
              <a:rPr lang="en-US" sz="3600" dirty="0">
                <a:latin typeface="Arial Narrow" panose="020B0606020202030204" pitchFamily="34" charset="0"/>
              </a:rPr>
              <a:t> – </a:t>
            </a:r>
            <a:r>
              <a:rPr lang="en-US" sz="3600" dirty="0" err="1">
                <a:latin typeface="Arial Narrow" panose="020B0606020202030204" pitchFamily="34" charset="0"/>
              </a:rPr>
              <a:t>PixelCNN</a:t>
            </a:r>
            <a:r>
              <a:rPr lang="en-US" sz="3600" dirty="0">
                <a:latin typeface="Arial Narrow" panose="020B0606020202030204" pitchFamily="34" charset="0"/>
              </a:rPr>
              <a:t> replaces recurrent networks with masked convolutional layers, enabling faster training while still generating images one pixel at a time. </a:t>
            </a:r>
          </a:p>
          <a:p>
            <a:pPr algn="just"/>
            <a:endParaRPr lang="en-US" sz="3600" dirty="0">
              <a:latin typeface="Arial Narrow" panose="020B0606020202030204" pitchFamily="34" charset="0"/>
            </a:endParaRPr>
          </a:p>
          <a:p>
            <a:pPr algn="just"/>
            <a:r>
              <a:rPr lang="en-US" sz="3600" dirty="0">
                <a:latin typeface="Arial Narrow" panose="020B0606020202030204" pitchFamily="34" charset="0"/>
              </a:rPr>
              <a:t>Variants such as </a:t>
            </a:r>
            <a:r>
              <a:rPr lang="en-US" sz="3600" dirty="0" err="1">
                <a:latin typeface="Arial Narrow" panose="020B0606020202030204" pitchFamily="34" charset="0"/>
              </a:rPr>
              <a:t>PixelCNN</a:t>
            </a:r>
            <a:r>
              <a:rPr lang="en-US" sz="3600" dirty="0">
                <a:latin typeface="Arial Narrow" panose="020B0606020202030204" pitchFamily="34" charset="0"/>
              </a:rPr>
              <a:t>++ further improve image quality and training stability.</a:t>
            </a:r>
          </a:p>
          <a:p>
            <a:pPr algn="just"/>
            <a:endParaRPr lang="en-US" sz="3600" dirty="0">
              <a:latin typeface="Arial Narrow" panose="020B0606020202030204" pitchFamily="34" charset="0"/>
            </a:endParaRPr>
          </a:p>
          <a:p>
            <a:pPr algn="just"/>
            <a:r>
              <a:rPr lang="en-US" sz="3600" dirty="0">
                <a:solidFill>
                  <a:srgbClr val="00B0F0"/>
                </a:solidFill>
                <a:latin typeface="Arial Narrow" panose="020B0606020202030204" pitchFamily="34" charset="0"/>
              </a:rPr>
              <a:t>Vision Transformer </a:t>
            </a:r>
            <a:r>
              <a:rPr lang="en-US" sz="3600" dirty="0">
                <a:latin typeface="Arial Narrow" panose="020B0606020202030204" pitchFamily="34" charset="0"/>
              </a:rPr>
              <a:t>– This model applies the Transformer architecture to image generation by treating images as sequences of pixels or image patches. </a:t>
            </a:r>
          </a:p>
          <a:p>
            <a:pPr algn="just"/>
            <a:endParaRPr lang="en-US" sz="3600" dirty="0">
              <a:latin typeface="Arial Narrow" panose="020B0606020202030204" pitchFamily="34" charset="0"/>
            </a:endParaRPr>
          </a:p>
          <a:p>
            <a:pPr algn="just"/>
            <a:r>
              <a:rPr lang="en-US" sz="3600" dirty="0">
                <a:latin typeface="Arial Narrow" panose="020B0606020202030204" pitchFamily="34" charset="0"/>
              </a:rPr>
              <a:t>Self-attention mechanisms allow it to model long-range dependencies more effectively than CNN-based approaches.</a:t>
            </a:r>
          </a:p>
          <a:p>
            <a:endParaRPr lang="en-IN" dirty="0"/>
          </a:p>
        </p:txBody>
      </p:sp>
    </p:spTree>
    <p:extLst>
      <p:ext uri="{BB962C8B-B14F-4D97-AF65-F5344CB8AC3E}">
        <p14:creationId xmlns:p14="http://schemas.microsoft.com/office/powerpoint/2010/main" val="2069487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34D424-DDE9-4A5F-9DBC-61BCD3551D76}"/>
              </a:ext>
            </a:extLst>
          </p:cNvPr>
          <p:cNvSpPr>
            <a:spLocks noGrp="1"/>
          </p:cNvSpPr>
          <p:nvPr>
            <p:ph idx="1"/>
          </p:nvPr>
        </p:nvSpPr>
        <p:spPr>
          <a:xfrm>
            <a:off x="838200" y="1795291"/>
            <a:ext cx="10860741" cy="4903772"/>
          </a:xfrm>
        </p:spPr>
        <p:txBody>
          <a:bodyPr>
            <a:normAutofit fontScale="77500" lnSpcReduction="20000"/>
          </a:bodyPr>
          <a:lstStyle/>
          <a:p>
            <a:pPr algn="just"/>
            <a:r>
              <a:rPr lang="en-US" sz="2600" dirty="0">
                <a:solidFill>
                  <a:srgbClr val="00B0F0"/>
                </a:solidFill>
                <a:latin typeface="Arial Narrow" panose="020B0606020202030204" pitchFamily="34" charset="0"/>
              </a:rPr>
              <a:t>VQ-VAE + Transformer – </a:t>
            </a:r>
            <a:r>
              <a:rPr lang="en-US" sz="2600" dirty="0">
                <a:latin typeface="Arial Narrow" panose="020B0606020202030204" pitchFamily="34" charset="0"/>
              </a:rPr>
              <a:t>Vector Quantized Variational Autoencoders (VQ-VAE) compress images into discrete latent codes. </a:t>
            </a:r>
          </a:p>
          <a:p>
            <a:pPr algn="just"/>
            <a:endParaRPr lang="en-US" sz="2600" dirty="0">
              <a:latin typeface="Arial Narrow" panose="020B0606020202030204" pitchFamily="34" charset="0"/>
            </a:endParaRPr>
          </a:p>
          <a:p>
            <a:pPr algn="just"/>
            <a:r>
              <a:rPr lang="en-US" sz="2600" dirty="0">
                <a:latin typeface="Arial Narrow" panose="020B0606020202030204" pitchFamily="34" charset="0"/>
              </a:rPr>
              <a:t>An autoregressive Transformer then models and generates these codes, producing high-quality images with reduced computational cost.</a:t>
            </a:r>
          </a:p>
          <a:p>
            <a:pPr algn="just"/>
            <a:endParaRPr lang="en-US" sz="2600" dirty="0">
              <a:latin typeface="Arial Narrow" panose="020B0606020202030204" pitchFamily="34" charset="0"/>
            </a:endParaRPr>
          </a:p>
          <a:p>
            <a:pPr algn="just"/>
            <a:r>
              <a:rPr lang="en-US" sz="2600" dirty="0">
                <a:solidFill>
                  <a:srgbClr val="00B0F0"/>
                </a:solidFill>
                <a:latin typeface="Arial Narrow" panose="020B0606020202030204" pitchFamily="34" charset="0"/>
              </a:rPr>
              <a:t>DALL·E (Original Version) – </a:t>
            </a:r>
            <a:r>
              <a:rPr lang="en-US" sz="2600" dirty="0">
                <a:latin typeface="Arial Narrow" panose="020B0606020202030204" pitchFamily="34" charset="0"/>
              </a:rPr>
              <a:t>DALL·E uses a Transformer-based autoregressive architecture to generate images from text descriptions. </a:t>
            </a:r>
          </a:p>
          <a:p>
            <a:pPr algn="just"/>
            <a:endParaRPr lang="en-US" sz="2600" dirty="0">
              <a:latin typeface="Arial Narrow" panose="020B0606020202030204" pitchFamily="34" charset="0"/>
            </a:endParaRPr>
          </a:p>
          <a:p>
            <a:pPr algn="just"/>
            <a:r>
              <a:rPr lang="en-US" sz="2600" dirty="0">
                <a:latin typeface="Arial Narrow" panose="020B0606020202030204" pitchFamily="34" charset="0"/>
              </a:rPr>
              <a:t>It models images as sequences of discrete visual tokens and predicts them sequentially based on the input text and previously generated tokens.</a:t>
            </a:r>
          </a:p>
          <a:p>
            <a:pPr algn="just"/>
            <a:endParaRPr lang="en-US" sz="2600" dirty="0">
              <a:latin typeface="Arial Narrow" panose="020B0606020202030204" pitchFamily="34" charset="0"/>
            </a:endParaRPr>
          </a:p>
          <a:p>
            <a:pPr algn="just"/>
            <a:r>
              <a:rPr lang="en-US" sz="2600" dirty="0" err="1">
                <a:solidFill>
                  <a:srgbClr val="00B0F0"/>
                </a:solidFill>
                <a:latin typeface="Arial Narrow" panose="020B0606020202030204" pitchFamily="34" charset="0"/>
              </a:rPr>
              <a:t>Parti</a:t>
            </a:r>
            <a:r>
              <a:rPr lang="en-US" sz="2600" dirty="0">
                <a:solidFill>
                  <a:srgbClr val="00B0F0"/>
                </a:solidFill>
                <a:latin typeface="Arial Narrow" panose="020B0606020202030204" pitchFamily="34" charset="0"/>
              </a:rPr>
              <a:t> – </a:t>
            </a:r>
            <a:r>
              <a:rPr lang="en-US" sz="2600" dirty="0" err="1">
                <a:latin typeface="Arial Narrow" panose="020B0606020202030204" pitchFamily="34" charset="0"/>
              </a:rPr>
              <a:t>Parti</a:t>
            </a:r>
            <a:r>
              <a:rPr lang="en-US" sz="2600" dirty="0">
                <a:latin typeface="Arial Narrow" panose="020B0606020202030204" pitchFamily="34" charset="0"/>
              </a:rPr>
              <a:t> is a large-scale autoregressive Transformer developed for text-to-image synthesis. </a:t>
            </a:r>
          </a:p>
          <a:p>
            <a:pPr algn="just"/>
            <a:endParaRPr lang="en-US" sz="2600" dirty="0">
              <a:latin typeface="Arial Narrow" panose="020B0606020202030204" pitchFamily="34" charset="0"/>
            </a:endParaRPr>
          </a:p>
          <a:p>
            <a:pPr algn="just"/>
            <a:r>
              <a:rPr lang="en-US" sz="2600" dirty="0">
                <a:latin typeface="Arial Narrow" panose="020B0606020202030204" pitchFamily="34" charset="0"/>
              </a:rPr>
              <a:t>It generates image tokens sequentially and demonstrates strong capabilities in producing detailed and coherent images from complex text prompts.</a:t>
            </a:r>
          </a:p>
          <a:p>
            <a:endParaRPr lang="en-IN" dirty="0"/>
          </a:p>
        </p:txBody>
      </p:sp>
      <p:sp>
        <p:nvSpPr>
          <p:cNvPr id="4" name="Title 1">
            <a:extLst>
              <a:ext uri="{FF2B5EF4-FFF2-40B4-BE49-F238E27FC236}">
                <a16:creationId xmlns:a16="http://schemas.microsoft.com/office/drawing/2014/main" id="{327EB390-F733-4417-853D-B214AC895891}"/>
              </a:ext>
            </a:extLst>
          </p:cNvPr>
          <p:cNvSpPr>
            <a:spLocks noGrp="1"/>
          </p:cNvSpPr>
          <p:nvPr>
            <p:ph type="title"/>
          </p:nvPr>
        </p:nvSpPr>
        <p:spPr>
          <a:xfrm>
            <a:off x="838200" y="365125"/>
            <a:ext cx="10515600" cy="1325563"/>
          </a:xfrm>
        </p:spPr>
        <p:txBody>
          <a:bodyPr>
            <a:normAutofit fontScale="90000"/>
          </a:bodyPr>
          <a:lstStyle/>
          <a:p>
            <a:br>
              <a:rPr lang="en-IN" dirty="0">
                <a:latin typeface="Arial Narrow" panose="020B0606020202030204" pitchFamily="34" charset="0"/>
              </a:rPr>
            </a:br>
            <a:r>
              <a:rPr lang="en-IN" sz="4000" dirty="0">
                <a:latin typeface="Arial Narrow" panose="020B0606020202030204" pitchFamily="34" charset="0"/>
              </a:rPr>
              <a:t>Recent Autoregressive Models</a:t>
            </a:r>
            <a:br>
              <a:rPr lang="en-IN" sz="4000" dirty="0">
                <a:latin typeface="Arial Narrow" panose="020B0606020202030204" pitchFamily="34" charset="0"/>
              </a:rPr>
            </a:br>
            <a:endParaRPr lang="en-IN" sz="4000" dirty="0"/>
          </a:p>
        </p:txBody>
      </p:sp>
    </p:spTree>
    <p:extLst>
      <p:ext uri="{BB962C8B-B14F-4D97-AF65-F5344CB8AC3E}">
        <p14:creationId xmlns:p14="http://schemas.microsoft.com/office/powerpoint/2010/main" val="434073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7A58F4-FD05-401E-954F-D61F9AFEFF8A}"/>
              </a:ext>
            </a:extLst>
          </p:cNvPr>
          <p:cNvSpPr>
            <a:spLocks noGrp="1"/>
          </p:cNvSpPr>
          <p:nvPr>
            <p:ph type="title"/>
          </p:nvPr>
        </p:nvSpPr>
        <p:spPr>
          <a:xfrm>
            <a:off x="562992" y="570276"/>
            <a:ext cx="4577179" cy="1325563"/>
          </a:xfrm>
        </p:spPr>
        <p:txBody>
          <a:bodyPr>
            <a:normAutofit/>
          </a:bodyPr>
          <a:lstStyle/>
          <a:p>
            <a:r>
              <a:rPr lang="en-IN" sz="3600" dirty="0">
                <a:latin typeface="Arial Narrow" panose="020B0606020202030204" pitchFamily="34" charset="0"/>
              </a:rPr>
              <a:t>Autoregressive Models</a:t>
            </a:r>
            <a:br>
              <a:rPr lang="en-IN" sz="3600" dirty="0">
                <a:latin typeface="Arial Narrow" panose="020B0606020202030204" pitchFamily="34" charset="0"/>
              </a:rPr>
            </a:br>
            <a:r>
              <a:rPr lang="en-IN" sz="2400" dirty="0">
                <a:latin typeface="Arial Narrow" panose="020B0606020202030204" pitchFamily="34" charset="0"/>
              </a:rPr>
              <a:t>Example: Transformer</a:t>
            </a:r>
            <a:endParaRPr lang="en-IN" sz="3600" dirty="0"/>
          </a:p>
        </p:txBody>
      </p:sp>
      <p:sp>
        <p:nvSpPr>
          <p:cNvPr id="5" name="TextBox 4">
            <a:extLst>
              <a:ext uri="{FF2B5EF4-FFF2-40B4-BE49-F238E27FC236}">
                <a16:creationId xmlns:a16="http://schemas.microsoft.com/office/drawing/2014/main" id="{89628F8E-8601-4B15-A595-08CB3D63BAC0}"/>
              </a:ext>
            </a:extLst>
          </p:cNvPr>
          <p:cNvSpPr txBox="1"/>
          <p:nvPr/>
        </p:nvSpPr>
        <p:spPr>
          <a:xfrm>
            <a:off x="3958483" y="6430775"/>
            <a:ext cx="5753100"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Figure Source: Ashish Vaswani et. al. Attention is All You Need, NIPS 2017</a:t>
            </a:r>
          </a:p>
        </p:txBody>
      </p:sp>
      <p:pic>
        <p:nvPicPr>
          <p:cNvPr id="6" name="Picture 5">
            <a:extLst>
              <a:ext uri="{FF2B5EF4-FFF2-40B4-BE49-F238E27FC236}">
                <a16:creationId xmlns:a16="http://schemas.microsoft.com/office/drawing/2014/main" id="{BF83BB57-0FF8-4D7B-9E59-F9613CDF0A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3347" y="774430"/>
            <a:ext cx="3803448" cy="5513294"/>
          </a:xfrm>
          <a:prstGeom prst="rect">
            <a:avLst/>
          </a:prstGeom>
        </p:spPr>
      </p:pic>
    </p:spTree>
    <p:extLst>
      <p:ext uri="{BB962C8B-B14F-4D97-AF65-F5344CB8AC3E}">
        <p14:creationId xmlns:p14="http://schemas.microsoft.com/office/powerpoint/2010/main" val="589457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1308A-F97A-430A-8642-DC4335B66B70}"/>
              </a:ext>
            </a:extLst>
          </p:cNvPr>
          <p:cNvSpPr>
            <a:spLocks noGrp="1"/>
          </p:cNvSpPr>
          <p:nvPr>
            <p:ph type="title"/>
          </p:nvPr>
        </p:nvSpPr>
        <p:spPr/>
        <p:txBody>
          <a:bodyPr>
            <a:normAutofit fontScale="90000"/>
          </a:bodyPr>
          <a:lstStyle/>
          <a:p>
            <a:br>
              <a:rPr lang="en-IN" sz="4000" dirty="0">
                <a:latin typeface="Arial Narrow" panose="020B0606020202030204" pitchFamily="34" charset="0"/>
              </a:rPr>
            </a:br>
            <a:r>
              <a:rPr lang="en-IN" sz="4000" dirty="0">
                <a:latin typeface="Arial Narrow" panose="020B0606020202030204" pitchFamily="34" charset="0"/>
              </a:rPr>
              <a:t>Diffusion Models</a:t>
            </a:r>
            <a:br>
              <a:rPr lang="en-IN" dirty="0">
                <a:latin typeface="Arial Narrow" panose="020B0606020202030204" pitchFamily="34" charset="0"/>
              </a:rPr>
            </a:br>
            <a:endParaRPr lang="en-IN" dirty="0"/>
          </a:p>
        </p:txBody>
      </p:sp>
      <p:sp>
        <p:nvSpPr>
          <p:cNvPr id="3" name="Content Placeholder 2">
            <a:extLst>
              <a:ext uri="{FF2B5EF4-FFF2-40B4-BE49-F238E27FC236}">
                <a16:creationId xmlns:a16="http://schemas.microsoft.com/office/drawing/2014/main" id="{61D1C561-BD3E-4330-906F-504037C222BB}"/>
              </a:ext>
            </a:extLst>
          </p:cNvPr>
          <p:cNvSpPr>
            <a:spLocks noGrp="1"/>
          </p:cNvSpPr>
          <p:nvPr>
            <p:ph idx="1"/>
          </p:nvPr>
        </p:nvSpPr>
        <p:spPr>
          <a:xfrm>
            <a:off x="838200" y="1577049"/>
            <a:ext cx="10515600" cy="4915825"/>
          </a:xfrm>
        </p:spPr>
        <p:txBody>
          <a:bodyPr>
            <a:normAutofit/>
          </a:bodyPr>
          <a:lstStyle/>
          <a:p>
            <a:pPr algn="just"/>
            <a:r>
              <a:rPr lang="en-US" sz="2000" dirty="0">
                <a:latin typeface="Arial Narrow" panose="020B0606020202030204" pitchFamily="34" charset="0"/>
              </a:rPr>
              <a:t>Diffusion models are a class of generative machine learning models that create new data, such as images, audio, or video, by </a:t>
            </a:r>
            <a:r>
              <a:rPr lang="en-US" sz="2000" dirty="0">
                <a:solidFill>
                  <a:srgbClr val="00B0F0"/>
                </a:solidFill>
                <a:latin typeface="Arial Narrow" panose="020B0606020202030204" pitchFamily="34" charset="0"/>
              </a:rPr>
              <a:t>learning to reverse a gradual noise-adding process</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During training, </a:t>
            </a:r>
            <a:r>
              <a:rPr lang="en-US" sz="2000" dirty="0">
                <a:solidFill>
                  <a:srgbClr val="00B0F0"/>
                </a:solidFill>
                <a:latin typeface="Arial Narrow" panose="020B0606020202030204" pitchFamily="34" charset="0"/>
              </a:rPr>
              <a:t>random noise is progressively added </a:t>
            </a:r>
            <a:r>
              <a:rPr lang="en-US" sz="2000" dirty="0">
                <a:latin typeface="Arial Narrow" panose="020B0606020202030204" pitchFamily="34" charset="0"/>
              </a:rPr>
              <a:t>to real data until it becomes nearly pure noise.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 model then learns </a:t>
            </a:r>
            <a:r>
              <a:rPr lang="en-US" sz="2000" dirty="0">
                <a:solidFill>
                  <a:srgbClr val="00B0F0"/>
                </a:solidFill>
                <a:latin typeface="Arial Narrow" panose="020B0606020202030204" pitchFamily="34" charset="0"/>
              </a:rPr>
              <a:t>how to remove this noise step by step</a:t>
            </a:r>
            <a:r>
              <a:rPr lang="en-US" sz="2000" dirty="0">
                <a:latin typeface="Arial Narrow" panose="020B0606020202030204" pitchFamily="34" charset="0"/>
              </a:rPr>
              <a:t>, reconstructing the original data.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When generating new content, the process </a:t>
            </a:r>
            <a:r>
              <a:rPr lang="en-US" sz="2000" dirty="0">
                <a:solidFill>
                  <a:srgbClr val="00B0F0"/>
                </a:solidFill>
                <a:latin typeface="Arial Narrow" panose="020B0606020202030204" pitchFamily="34" charset="0"/>
              </a:rPr>
              <a:t>starts with random noise and iteratively denoises it to produce a realistic output. </a:t>
            </a:r>
          </a:p>
          <a:p>
            <a:pPr marL="0" indent="0" algn="just">
              <a:buNone/>
            </a:pPr>
            <a:endParaRPr lang="en-US" sz="2000" dirty="0">
              <a:latin typeface="Arial Narrow" panose="020B0606020202030204" pitchFamily="34" charset="0"/>
            </a:endParaRPr>
          </a:p>
          <a:p>
            <a:pPr algn="just"/>
            <a:r>
              <a:rPr lang="en-US" sz="2000" dirty="0">
                <a:latin typeface="Arial Narrow" panose="020B0606020202030204" pitchFamily="34" charset="0"/>
              </a:rPr>
              <a:t>Diffusion models have become highly influential in artificial intelligence because they can generate </a:t>
            </a:r>
            <a:r>
              <a:rPr lang="en-US" sz="2000" dirty="0">
                <a:solidFill>
                  <a:srgbClr val="00B0F0"/>
                </a:solidFill>
                <a:latin typeface="Arial Narrow" panose="020B0606020202030204" pitchFamily="34" charset="0"/>
              </a:rPr>
              <a:t>high-quality, diverse results</a:t>
            </a:r>
            <a:r>
              <a:rPr lang="en-US" sz="2000" dirty="0">
                <a:latin typeface="Arial Narrow" panose="020B0606020202030204" pitchFamily="34" charset="0"/>
              </a:rPr>
              <a:t> and power systems such as image-generation tools, making them a key technology in modern generative AI.</a:t>
            </a:r>
            <a:endParaRPr lang="en-IN" sz="2000" dirty="0">
              <a:latin typeface="Arial Narrow" panose="020B0606020202030204" pitchFamily="34" charset="0"/>
            </a:endParaRPr>
          </a:p>
        </p:txBody>
      </p:sp>
    </p:spTree>
    <p:extLst>
      <p:ext uri="{BB962C8B-B14F-4D97-AF65-F5344CB8AC3E}">
        <p14:creationId xmlns:p14="http://schemas.microsoft.com/office/powerpoint/2010/main" val="3513129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9F1EAE8-FF32-46B0-9ABC-5BD20008A1C5}"/>
              </a:ext>
            </a:extLst>
          </p:cNvPr>
          <p:cNvSpPr txBox="1"/>
          <p:nvPr/>
        </p:nvSpPr>
        <p:spPr>
          <a:xfrm>
            <a:off x="761997" y="1506022"/>
            <a:ext cx="10954871" cy="369332"/>
          </a:xfrm>
          <a:prstGeom prst="rect">
            <a:avLst/>
          </a:prstGeom>
          <a:noFill/>
        </p:spPr>
        <p:txBody>
          <a:bodyPr wrap="square" rtlCol="0">
            <a:spAutoFit/>
          </a:bodyPr>
          <a:lstStyle/>
          <a:p>
            <a:r>
              <a:rPr lang="en-IN" dirty="0">
                <a:solidFill>
                  <a:srgbClr val="00B0F0"/>
                </a:solidFill>
                <a:latin typeface="Arial Narrow" panose="020B0606020202030204" pitchFamily="34" charset="0"/>
                <a:cs typeface="Times New Roman" panose="02020603050405020304" pitchFamily="18" charset="0"/>
              </a:rPr>
              <a:t>Forward Process</a:t>
            </a:r>
            <a:r>
              <a:rPr lang="en-IN" dirty="0">
                <a:latin typeface="Arial Narrow" panose="020B0606020202030204" pitchFamily="34" charset="0"/>
                <a:cs typeface="Times New Roman" panose="02020603050405020304" pitchFamily="18" charset="0"/>
              </a:rPr>
              <a:t>:</a:t>
            </a:r>
            <a:r>
              <a:rPr lang="en-US" dirty="0">
                <a:latin typeface="Arial Narrow" panose="020B0606020202030204" pitchFamily="34" charset="0"/>
                <a:cs typeface="Times New Roman" panose="02020603050405020304" pitchFamily="18" charset="0"/>
              </a:rPr>
              <a:t> </a:t>
            </a:r>
            <a:r>
              <a:rPr lang="en-US" dirty="0">
                <a:solidFill>
                  <a:srgbClr val="00B0F0"/>
                </a:solidFill>
                <a:latin typeface="Arial Narrow" panose="020B0606020202030204" pitchFamily="34" charset="0"/>
                <a:cs typeface="Times New Roman" panose="02020603050405020304" pitchFamily="18" charset="0"/>
              </a:rPr>
              <a:t>Gradually add Gaussian noise to data </a:t>
            </a:r>
            <a:r>
              <a:rPr lang="en-US" dirty="0">
                <a:latin typeface="Arial Narrow" panose="020B0606020202030204" pitchFamily="34" charset="0"/>
                <a:cs typeface="Times New Roman" panose="02020603050405020304" pitchFamily="18" charset="0"/>
              </a:rPr>
              <a:t>over many time steps until it becomes pure noise.</a:t>
            </a:r>
            <a:endParaRPr lang="en-IN" dirty="0">
              <a:latin typeface="Arial Narrow" panose="020B0606020202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25DE15A7-CF46-430A-ABD3-EAB0985AE647}"/>
              </a:ext>
            </a:extLst>
          </p:cNvPr>
          <p:cNvSpPr/>
          <p:nvPr/>
        </p:nvSpPr>
        <p:spPr>
          <a:xfrm>
            <a:off x="761997" y="2009837"/>
            <a:ext cx="10515600" cy="646331"/>
          </a:xfrm>
          <a:prstGeom prst="rect">
            <a:avLst/>
          </a:prstGeom>
        </p:spPr>
        <p:txBody>
          <a:bodyPr wrap="square">
            <a:spAutoFit/>
          </a:bodyPr>
          <a:lstStyle/>
          <a:p>
            <a:r>
              <a:rPr lang="en-IN" dirty="0">
                <a:solidFill>
                  <a:srgbClr val="00B0F0"/>
                </a:solidFill>
                <a:latin typeface="Arial Narrow" panose="020B0606020202030204" pitchFamily="34" charset="0"/>
                <a:cs typeface="Times New Roman" panose="02020603050405020304" pitchFamily="18" charset="0"/>
              </a:rPr>
              <a:t>Backward Process</a:t>
            </a:r>
            <a:r>
              <a:rPr lang="en-IN" dirty="0">
                <a:latin typeface="Arial Narrow" panose="020B0606020202030204" pitchFamily="34" charset="0"/>
                <a:cs typeface="Times New Roman" panose="02020603050405020304" pitchFamily="18" charset="0"/>
              </a:rPr>
              <a:t>: In backward process, the </a:t>
            </a:r>
            <a:r>
              <a:rPr lang="en-IN" dirty="0">
                <a:solidFill>
                  <a:srgbClr val="00B0F0"/>
                </a:solidFill>
                <a:latin typeface="Arial Narrow" panose="020B0606020202030204" pitchFamily="34" charset="0"/>
                <a:cs typeface="Times New Roman" panose="02020603050405020304" pitchFamily="18" charset="0"/>
              </a:rPr>
              <a:t>noise is gradually removed </a:t>
            </a:r>
            <a:r>
              <a:rPr lang="en-IN" dirty="0">
                <a:latin typeface="Arial Narrow" panose="020B0606020202030204" pitchFamily="34" charset="0"/>
                <a:cs typeface="Times New Roman" panose="02020603050405020304" pitchFamily="18" charset="0"/>
              </a:rPr>
              <a:t>by </a:t>
            </a:r>
            <a:r>
              <a:rPr lang="en-US" dirty="0">
                <a:latin typeface="Arial Narrow" panose="020B0606020202030204" pitchFamily="34" charset="0"/>
                <a:cs typeface="Times New Roman" panose="02020603050405020304" pitchFamily="18" charset="0"/>
              </a:rPr>
              <a:t>sampling using annealed Langevin dynamics, so that </a:t>
            </a:r>
            <a:r>
              <a:rPr lang="en-US" dirty="0">
                <a:solidFill>
                  <a:srgbClr val="00B0F0"/>
                </a:solidFill>
                <a:latin typeface="Arial Narrow" panose="020B0606020202030204" pitchFamily="34" charset="0"/>
                <a:cs typeface="Times New Roman" panose="02020603050405020304" pitchFamily="18" charset="0"/>
              </a:rPr>
              <a:t>the image gradually appears out from the Gaussian Noise</a:t>
            </a:r>
            <a:r>
              <a:rPr lang="en-US" dirty="0">
                <a:latin typeface="Arial Narrow" panose="020B0606020202030204" pitchFamily="34" charset="0"/>
                <a:cs typeface="Times New Roman" panose="02020603050405020304" pitchFamily="18" charset="0"/>
              </a:rPr>
              <a:t>.</a:t>
            </a:r>
            <a:endParaRPr lang="en-IN" dirty="0">
              <a:latin typeface="Arial Narrow" panose="020B0606020202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15E7D498-8415-4CE2-B9BD-7C048F69515C}"/>
              </a:ext>
            </a:extLst>
          </p:cNvPr>
          <p:cNvSpPr/>
          <p:nvPr/>
        </p:nvSpPr>
        <p:spPr>
          <a:xfrm>
            <a:off x="761998" y="5868073"/>
            <a:ext cx="10954871" cy="369332"/>
          </a:xfrm>
          <a:prstGeom prst="rect">
            <a:avLst/>
          </a:prstGeom>
        </p:spPr>
        <p:txBody>
          <a:bodyPr wrap="square">
            <a:spAutoFit/>
          </a:bodyPr>
          <a:lstStyle/>
          <a:p>
            <a:r>
              <a:rPr lang="en-US" dirty="0">
                <a:latin typeface="Arial Narrow" panose="020B0606020202030204" pitchFamily="34" charset="0"/>
                <a:cs typeface="Times New Roman" panose="02020603050405020304" pitchFamily="18" charset="0"/>
              </a:rPr>
              <a:t>Diffusion models explicitly encode this process using the concepts of </a:t>
            </a:r>
            <a:r>
              <a:rPr lang="en-IN" dirty="0">
                <a:latin typeface="Arial Narrow" panose="020B0606020202030204" pitchFamily="34" charset="0"/>
                <a:cs typeface="Times New Roman" panose="02020603050405020304" pitchFamily="18" charset="0"/>
              </a:rPr>
              <a:t>forward and backward diffusion.</a:t>
            </a:r>
          </a:p>
        </p:txBody>
      </p:sp>
      <p:sp>
        <p:nvSpPr>
          <p:cNvPr id="9" name="Title 1">
            <a:extLst>
              <a:ext uri="{FF2B5EF4-FFF2-40B4-BE49-F238E27FC236}">
                <a16:creationId xmlns:a16="http://schemas.microsoft.com/office/drawing/2014/main" id="{FC77EECC-943F-41B3-A7FF-C22D65A58D1C}"/>
              </a:ext>
            </a:extLst>
          </p:cNvPr>
          <p:cNvSpPr>
            <a:spLocks noGrp="1"/>
          </p:cNvSpPr>
          <p:nvPr>
            <p:ph type="title"/>
          </p:nvPr>
        </p:nvSpPr>
        <p:spPr>
          <a:xfrm>
            <a:off x="838200" y="365125"/>
            <a:ext cx="10515600" cy="1325563"/>
          </a:xfrm>
        </p:spPr>
        <p:txBody>
          <a:bodyPr>
            <a:normAutofit/>
          </a:bodyPr>
          <a:lstStyle/>
          <a:p>
            <a:r>
              <a:rPr lang="en-IN" sz="3200" dirty="0">
                <a:latin typeface="Century" panose="02040604050505020304" pitchFamily="18" charset="0"/>
              </a:rPr>
              <a:t>Diffusion Models</a:t>
            </a:r>
          </a:p>
        </p:txBody>
      </p:sp>
      <p:sp>
        <p:nvSpPr>
          <p:cNvPr id="10" name="Rectangle 9">
            <a:extLst>
              <a:ext uri="{FF2B5EF4-FFF2-40B4-BE49-F238E27FC236}">
                <a16:creationId xmlns:a16="http://schemas.microsoft.com/office/drawing/2014/main" id="{B43A7FC8-8DFB-4E92-A610-594055DA3223}"/>
              </a:ext>
            </a:extLst>
          </p:cNvPr>
          <p:cNvSpPr/>
          <p:nvPr/>
        </p:nvSpPr>
        <p:spPr>
          <a:xfrm>
            <a:off x="5944477" y="6469540"/>
            <a:ext cx="5872890" cy="307777"/>
          </a:xfrm>
          <a:prstGeom prst="rect">
            <a:avLst/>
          </a:prstGeom>
        </p:spPr>
        <p:txBody>
          <a:bodyPr wrap="none">
            <a:spAutoFit/>
          </a:bodyPr>
          <a:lstStyle/>
          <a:p>
            <a:r>
              <a:rPr lang="en-IN" sz="1400" dirty="0">
                <a:latin typeface="Arial Narrow" panose="020B0606020202030204" pitchFamily="34" charset="0"/>
                <a:cs typeface="Times New Roman" panose="02020603050405020304" pitchFamily="18" charset="0"/>
              </a:rPr>
              <a:t>Image Source: CVPR 2022 Tutorial: https://cvpr2022-tutorial-diffusion-models.github.io/</a:t>
            </a:r>
          </a:p>
        </p:txBody>
      </p:sp>
      <p:pic>
        <p:nvPicPr>
          <p:cNvPr id="2" name="Picture 1">
            <a:extLst>
              <a:ext uri="{FF2B5EF4-FFF2-40B4-BE49-F238E27FC236}">
                <a16:creationId xmlns:a16="http://schemas.microsoft.com/office/drawing/2014/main" id="{BB81FC14-57FF-4353-BDD3-5CE241E86FE4}"/>
              </a:ext>
            </a:extLst>
          </p:cNvPr>
          <p:cNvPicPr>
            <a:picLocks noChangeAspect="1"/>
          </p:cNvPicPr>
          <p:nvPr/>
        </p:nvPicPr>
        <p:blipFill>
          <a:blip r:embed="rId2"/>
          <a:stretch>
            <a:fillRect/>
          </a:stretch>
        </p:blipFill>
        <p:spPr>
          <a:xfrm>
            <a:off x="761997" y="2731007"/>
            <a:ext cx="10879068" cy="2648320"/>
          </a:xfrm>
          <a:prstGeom prst="rect">
            <a:avLst/>
          </a:prstGeom>
        </p:spPr>
      </p:pic>
    </p:spTree>
    <p:extLst>
      <p:ext uri="{BB962C8B-B14F-4D97-AF65-F5344CB8AC3E}">
        <p14:creationId xmlns:p14="http://schemas.microsoft.com/office/powerpoint/2010/main" val="568663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F7778-75F1-4CDC-92C5-11B4E8E4AB3C}"/>
              </a:ext>
            </a:extLst>
          </p:cNvPr>
          <p:cNvSpPr>
            <a:spLocks noGrp="1"/>
          </p:cNvSpPr>
          <p:nvPr>
            <p:ph type="title"/>
          </p:nvPr>
        </p:nvSpPr>
        <p:spPr>
          <a:xfrm>
            <a:off x="398929" y="297007"/>
            <a:ext cx="10515600" cy="1325563"/>
          </a:xfrm>
        </p:spPr>
        <p:txBody>
          <a:bodyPr>
            <a:normAutofit fontScale="90000"/>
          </a:bodyPr>
          <a:lstStyle/>
          <a:p>
            <a:br>
              <a:rPr lang="en-IN" dirty="0">
                <a:latin typeface="Arial Narrow" panose="020B0606020202030204" pitchFamily="34" charset="0"/>
              </a:rPr>
            </a:br>
            <a:r>
              <a:rPr lang="en-IN" sz="4000" dirty="0">
                <a:latin typeface="Century" panose="02040604050505020304" pitchFamily="18" charset="0"/>
              </a:rPr>
              <a:t>Normalizing Flows</a:t>
            </a:r>
            <a:br>
              <a:rPr lang="en-IN" dirty="0">
                <a:latin typeface="Arial Narrow" panose="020B0606020202030204" pitchFamily="34" charset="0"/>
              </a:rPr>
            </a:br>
            <a:endParaRPr lang="en-IN" dirty="0"/>
          </a:p>
        </p:txBody>
      </p:sp>
      <p:sp>
        <p:nvSpPr>
          <p:cNvPr id="3" name="Content Placeholder 2">
            <a:extLst>
              <a:ext uri="{FF2B5EF4-FFF2-40B4-BE49-F238E27FC236}">
                <a16:creationId xmlns:a16="http://schemas.microsoft.com/office/drawing/2014/main" id="{FF25FF16-6CE1-41BE-AD4D-A49CA83E0F6F}"/>
              </a:ext>
            </a:extLst>
          </p:cNvPr>
          <p:cNvSpPr>
            <a:spLocks noGrp="1"/>
          </p:cNvSpPr>
          <p:nvPr>
            <p:ph idx="1"/>
          </p:nvPr>
        </p:nvSpPr>
        <p:spPr>
          <a:xfrm>
            <a:off x="398929" y="1622570"/>
            <a:ext cx="10515600" cy="3408016"/>
          </a:xfrm>
        </p:spPr>
        <p:txBody>
          <a:bodyPr>
            <a:normAutofit fontScale="92500" lnSpcReduction="10000"/>
          </a:bodyPr>
          <a:lstStyle/>
          <a:p>
            <a:pPr algn="just"/>
            <a:r>
              <a:rPr lang="en-US" sz="1800" dirty="0">
                <a:latin typeface="Arial Narrow" panose="020B0606020202030204" pitchFamily="34" charset="0"/>
              </a:rPr>
              <a:t>Normalizing Flows are a family of generative models that </a:t>
            </a:r>
            <a:r>
              <a:rPr lang="en-US" sz="1800" dirty="0">
                <a:solidFill>
                  <a:srgbClr val="00B0F0"/>
                </a:solidFill>
                <a:latin typeface="Arial Narrow" panose="020B0606020202030204" pitchFamily="34" charset="0"/>
              </a:rPr>
              <a:t>learn complex data distributions by applying a sequence of invertible and differentiable transformations to a simple probability distribution</a:t>
            </a:r>
            <a:r>
              <a:rPr lang="en-US" sz="1800" dirty="0">
                <a:latin typeface="Arial Narrow" panose="020B0606020202030204" pitchFamily="34" charset="0"/>
              </a:rPr>
              <a:t>, such as a Gaussian distribution. </a:t>
            </a:r>
          </a:p>
          <a:p>
            <a:pPr algn="just"/>
            <a:endParaRPr lang="en-US" sz="1800" dirty="0">
              <a:latin typeface="Arial Narrow" panose="020B0606020202030204" pitchFamily="34" charset="0"/>
            </a:endParaRPr>
          </a:p>
          <a:p>
            <a:pPr algn="just"/>
            <a:r>
              <a:rPr lang="en-US" sz="1800" dirty="0">
                <a:latin typeface="Arial Narrow" panose="020B0606020202030204" pitchFamily="34" charset="0"/>
              </a:rPr>
              <a:t>Each transformation gradually maps the simple latent variables into data samples that resemble the training data while preserving the ability to compute exact probability densities through the change-of-variables formula. </a:t>
            </a:r>
          </a:p>
          <a:p>
            <a:pPr algn="just"/>
            <a:endParaRPr lang="en-US" sz="1800" dirty="0">
              <a:latin typeface="Arial Narrow" panose="020B0606020202030204" pitchFamily="34" charset="0"/>
            </a:endParaRPr>
          </a:p>
          <a:p>
            <a:pPr algn="just"/>
            <a:r>
              <a:rPr lang="en-US" sz="1800" dirty="0">
                <a:solidFill>
                  <a:srgbClr val="00B0F0"/>
                </a:solidFill>
                <a:latin typeface="Arial Narrow" panose="020B0606020202030204" pitchFamily="34" charset="0"/>
              </a:rPr>
              <a:t>Because every transformation is reversible, normalizing flows allow both efficient data generation and exact likelihood estimation</a:t>
            </a:r>
            <a:r>
              <a:rPr lang="en-US" sz="1800" dirty="0">
                <a:latin typeface="Arial Narrow" panose="020B0606020202030204" pitchFamily="34" charset="0"/>
              </a:rPr>
              <a:t>, making them attractive for tasks such as image generation, density estimation, anomaly detection, and representation learning. </a:t>
            </a:r>
          </a:p>
          <a:p>
            <a:pPr algn="just"/>
            <a:endParaRPr lang="en-US" sz="1800" dirty="0">
              <a:latin typeface="Arial Narrow" panose="020B0606020202030204" pitchFamily="34" charset="0"/>
            </a:endParaRPr>
          </a:p>
          <a:p>
            <a:pPr algn="just"/>
            <a:r>
              <a:rPr lang="en-US" sz="1800" dirty="0">
                <a:latin typeface="Arial Narrow" panose="020B0606020202030204" pitchFamily="34" charset="0"/>
              </a:rPr>
              <a:t>Their </a:t>
            </a:r>
            <a:r>
              <a:rPr lang="en-US" sz="1800" dirty="0">
                <a:solidFill>
                  <a:srgbClr val="00B0F0"/>
                </a:solidFill>
                <a:latin typeface="Arial Narrow" panose="020B0606020202030204" pitchFamily="34" charset="0"/>
              </a:rPr>
              <a:t>key advantage lies in combining tractable probabilistic modeling with flexible neural network-based transformations, enabling the modeling of highly complex data distributions</a:t>
            </a:r>
            <a:r>
              <a:rPr lang="en-US" sz="1800" dirty="0">
                <a:latin typeface="Arial Narrow" panose="020B0606020202030204" pitchFamily="34" charset="0"/>
              </a:rPr>
              <a:t>.</a:t>
            </a:r>
            <a:endParaRPr lang="en-IN" sz="1800" dirty="0">
              <a:latin typeface="Arial Narrow" panose="020B0606020202030204" pitchFamily="34" charset="0"/>
            </a:endParaRPr>
          </a:p>
        </p:txBody>
      </p:sp>
      <p:sp>
        <p:nvSpPr>
          <p:cNvPr id="5" name="Rectangle 4">
            <a:extLst>
              <a:ext uri="{FF2B5EF4-FFF2-40B4-BE49-F238E27FC236}">
                <a16:creationId xmlns:a16="http://schemas.microsoft.com/office/drawing/2014/main" id="{BEAAC575-3164-46BB-BE87-9EED89F19DA3}"/>
              </a:ext>
            </a:extLst>
          </p:cNvPr>
          <p:cNvSpPr/>
          <p:nvPr/>
        </p:nvSpPr>
        <p:spPr>
          <a:xfrm>
            <a:off x="1688150" y="6472839"/>
            <a:ext cx="10651812" cy="307777"/>
          </a:xfrm>
          <a:prstGeom prst="rect">
            <a:avLst/>
          </a:prstGeom>
        </p:spPr>
        <p:txBody>
          <a:bodyPr wrap="square">
            <a:spAutoFit/>
          </a:bodyPr>
          <a:lstStyle/>
          <a:p>
            <a:r>
              <a:rPr lang="en-IN" sz="1400" b="0" i="0" dirty="0">
                <a:solidFill>
                  <a:srgbClr val="1F1F1F"/>
                </a:solidFill>
                <a:effectLst/>
                <a:latin typeface="Times New Roman" panose="02020603050405020304" pitchFamily="18" charset="0"/>
                <a:cs typeface="Times New Roman" panose="02020603050405020304" pitchFamily="18" charset="0"/>
              </a:rPr>
              <a:t>Image Source: Weng, Lilian. (Jul 2021). What are diffusion models? </a:t>
            </a:r>
            <a:r>
              <a:rPr lang="en-IN" sz="1400" b="0" i="0" dirty="0" err="1">
                <a:solidFill>
                  <a:srgbClr val="1F1F1F"/>
                </a:solidFill>
                <a:effectLst/>
                <a:latin typeface="Times New Roman" panose="02020603050405020304" pitchFamily="18" charset="0"/>
                <a:cs typeface="Times New Roman" panose="02020603050405020304" pitchFamily="18" charset="0"/>
              </a:rPr>
              <a:t>Lil’Log</a:t>
            </a:r>
            <a:r>
              <a:rPr lang="en-IN" sz="1400" b="0" i="0" dirty="0">
                <a:solidFill>
                  <a:srgbClr val="1F1F1F"/>
                </a:solidFill>
                <a:effectLst/>
                <a:latin typeface="Times New Roman" panose="02020603050405020304" pitchFamily="18" charset="0"/>
                <a:cs typeface="Times New Roman" panose="02020603050405020304" pitchFamily="18" charset="0"/>
              </a:rPr>
              <a:t>. https://lilianweng.github.io/posts/2021-07-11-diffusion-models/.</a:t>
            </a:r>
            <a:endParaRPr lang="en-IN"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6DB4296-0876-491B-8E46-5DC6C3B59703}"/>
              </a:ext>
            </a:extLst>
          </p:cNvPr>
          <p:cNvSpPr txBox="1"/>
          <p:nvPr/>
        </p:nvSpPr>
        <p:spPr>
          <a:xfrm>
            <a:off x="3283999" y="6046057"/>
            <a:ext cx="8069801" cy="369332"/>
          </a:xfrm>
          <a:prstGeom prst="rect">
            <a:avLst/>
          </a:prstGeom>
          <a:noFill/>
        </p:spPr>
        <p:txBody>
          <a:bodyPr wrap="square" rtlCol="0">
            <a:spAutoFit/>
          </a:bodyPr>
          <a:lstStyle/>
          <a:p>
            <a:r>
              <a:rPr lang="en-IN" dirty="0">
                <a:latin typeface="Arial Narrow" panose="020B0606020202030204" pitchFamily="34" charset="0"/>
              </a:rPr>
              <a:t>Flow-based generative models: minimize the negative log-likelihood</a:t>
            </a:r>
          </a:p>
        </p:txBody>
      </p:sp>
      <p:pic>
        <p:nvPicPr>
          <p:cNvPr id="7" name="Picture 6">
            <a:extLst>
              <a:ext uri="{FF2B5EF4-FFF2-40B4-BE49-F238E27FC236}">
                <a16:creationId xmlns:a16="http://schemas.microsoft.com/office/drawing/2014/main" id="{4F1D6A30-819A-4F99-916F-7ED99C1A8B4D}"/>
              </a:ext>
            </a:extLst>
          </p:cNvPr>
          <p:cNvPicPr>
            <a:picLocks noChangeAspect="1"/>
          </p:cNvPicPr>
          <p:nvPr/>
        </p:nvPicPr>
        <p:blipFill>
          <a:blip r:embed="rId2"/>
          <a:stretch>
            <a:fillRect/>
          </a:stretch>
        </p:blipFill>
        <p:spPr>
          <a:xfrm>
            <a:off x="3203443" y="4673974"/>
            <a:ext cx="5430008" cy="1314633"/>
          </a:xfrm>
          <a:prstGeom prst="rect">
            <a:avLst/>
          </a:prstGeom>
        </p:spPr>
      </p:pic>
    </p:spTree>
    <p:extLst>
      <p:ext uri="{BB962C8B-B14F-4D97-AF65-F5344CB8AC3E}">
        <p14:creationId xmlns:p14="http://schemas.microsoft.com/office/powerpoint/2010/main" val="3780899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FEA02-7CFE-4442-A4E3-4A1467A995B8}"/>
              </a:ext>
            </a:extLst>
          </p:cNvPr>
          <p:cNvSpPr>
            <a:spLocks noGrp="1"/>
          </p:cNvSpPr>
          <p:nvPr>
            <p:ph type="title"/>
          </p:nvPr>
        </p:nvSpPr>
        <p:spPr/>
        <p:txBody>
          <a:bodyPr>
            <a:normAutofit/>
          </a:bodyPr>
          <a:lstStyle/>
          <a:p>
            <a:r>
              <a:rPr lang="en-IN" sz="3600" dirty="0">
                <a:latin typeface="Century" panose="02040604050505020304" pitchFamily="18" charset="0"/>
              </a:rPr>
              <a:t>Applications in Computer Vision</a:t>
            </a:r>
          </a:p>
        </p:txBody>
      </p:sp>
      <p:sp>
        <p:nvSpPr>
          <p:cNvPr id="3" name="Content Placeholder 2">
            <a:extLst>
              <a:ext uri="{FF2B5EF4-FFF2-40B4-BE49-F238E27FC236}">
                <a16:creationId xmlns:a16="http://schemas.microsoft.com/office/drawing/2014/main" id="{36AE4E4F-3118-4512-A135-EB2184961589}"/>
              </a:ext>
            </a:extLst>
          </p:cNvPr>
          <p:cNvSpPr>
            <a:spLocks noGrp="1"/>
          </p:cNvSpPr>
          <p:nvPr>
            <p:ph idx="1"/>
          </p:nvPr>
        </p:nvSpPr>
        <p:spPr/>
        <p:txBody>
          <a:bodyPr>
            <a:normAutofit fontScale="85000" lnSpcReduction="20000"/>
          </a:bodyPr>
          <a:lstStyle/>
          <a:p>
            <a:r>
              <a:rPr lang="en-IN" dirty="0">
                <a:solidFill>
                  <a:srgbClr val="00B0F0"/>
                </a:solidFill>
                <a:latin typeface="Arial Narrow" panose="020B0606020202030204" pitchFamily="34" charset="0"/>
              </a:rPr>
              <a:t>Image Synthesis</a:t>
            </a:r>
          </a:p>
          <a:p>
            <a:pPr lvl="1"/>
            <a:r>
              <a:rPr lang="en-IN" dirty="0">
                <a:latin typeface="Arial Narrow" panose="020B0606020202030204" pitchFamily="34" charset="0"/>
              </a:rPr>
              <a:t>Generate realistic human faces, landscapes, artwork, and objects.</a:t>
            </a:r>
          </a:p>
          <a:p>
            <a:endParaRPr lang="en-IN" dirty="0">
              <a:latin typeface="Arial Narrow" panose="020B0606020202030204" pitchFamily="34" charset="0"/>
            </a:endParaRPr>
          </a:p>
          <a:p>
            <a:r>
              <a:rPr lang="en-IN" dirty="0">
                <a:solidFill>
                  <a:srgbClr val="00B0F0"/>
                </a:solidFill>
                <a:latin typeface="Arial Narrow" panose="020B0606020202030204" pitchFamily="34" charset="0"/>
              </a:rPr>
              <a:t>Image-to-Image Translation</a:t>
            </a:r>
          </a:p>
          <a:p>
            <a:pPr lvl="1"/>
            <a:r>
              <a:rPr lang="en-IN" dirty="0">
                <a:latin typeface="Arial Narrow" panose="020B0606020202030204" pitchFamily="34" charset="0"/>
              </a:rPr>
              <a:t>Convert:</a:t>
            </a:r>
          </a:p>
          <a:p>
            <a:pPr lvl="1"/>
            <a:r>
              <a:rPr lang="en-IN" dirty="0">
                <a:latin typeface="Arial Narrow" panose="020B0606020202030204" pitchFamily="34" charset="0"/>
              </a:rPr>
              <a:t>Sketch → Photo </a:t>
            </a:r>
          </a:p>
          <a:p>
            <a:pPr lvl="1"/>
            <a:r>
              <a:rPr lang="en-IN" dirty="0">
                <a:latin typeface="Arial Narrow" panose="020B0606020202030204" pitchFamily="34" charset="0"/>
              </a:rPr>
              <a:t>Day → Night </a:t>
            </a:r>
          </a:p>
          <a:p>
            <a:pPr lvl="1"/>
            <a:r>
              <a:rPr lang="en-IN" dirty="0">
                <a:latin typeface="Arial Narrow" panose="020B0606020202030204" pitchFamily="34" charset="0"/>
              </a:rPr>
              <a:t>Summer → Winter </a:t>
            </a:r>
          </a:p>
          <a:p>
            <a:pPr lvl="1"/>
            <a:endParaRPr lang="en-IN" dirty="0">
              <a:latin typeface="Arial Narrow" panose="020B0606020202030204" pitchFamily="34" charset="0"/>
            </a:endParaRPr>
          </a:p>
          <a:p>
            <a:r>
              <a:rPr lang="en-IN" dirty="0">
                <a:solidFill>
                  <a:srgbClr val="00B0F0"/>
                </a:solidFill>
                <a:latin typeface="Arial Narrow" panose="020B0606020202030204" pitchFamily="34" charset="0"/>
              </a:rPr>
              <a:t>Super-Resolution</a:t>
            </a:r>
          </a:p>
          <a:p>
            <a:pPr lvl="1"/>
            <a:r>
              <a:rPr lang="en-IN" dirty="0">
                <a:latin typeface="Arial Narrow" panose="020B0606020202030204" pitchFamily="34" charset="0"/>
              </a:rPr>
              <a:t>Increase image quality and resolution.</a:t>
            </a:r>
          </a:p>
          <a:p>
            <a:pPr lvl="1"/>
            <a:r>
              <a:rPr lang="en-IN" dirty="0">
                <a:latin typeface="Arial Narrow" panose="020B0606020202030204" pitchFamily="34" charset="0"/>
              </a:rPr>
              <a:t>Examples include:</a:t>
            </a:r>
          </a:p>
          <a:p>
            <a:pPr lvl="1"/>
            <a:r>
              <a:rPr lang="en-IN" dirty="0">
                <a:latin typeface="Arial Narrow" panose="020B0606020202030204" pitchFamily="34" charset="0"/>
              </a:rPr>
              <a:t>Medical imaging </a:t>
            </a:r>
          </a:p>
          <a:p>
            <a:pPr lvl="1"/>
            <a:r>
              <a:rPr lang="en-IN" dirty="0">
                <a:latin typeface="Arial Narrow" panose="020B0606020202030204" pitchFamily="34" charset="0"/>
              </a:rPr>
              <a:t>Satellite imagery</a:t>
            </a:r>
          </a:p>
          <a:p>
            <a:endParaRPr lang="en-IN" dirty="0"/>
          </a:p>
        </p:txBody>
      </p:sp>
    </p:spTree>
    <p:extLst>
      <p:ext uri="{BB962C8B-B14F-4D97-AF65-F5344CB8AC3E}">
        <p14:creationId xmlns:p14="http://schemas.microsoft.com/office/powerpoint/2010/main" val="607779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FEA02-7CFE-4442-A4E3-4A1467A995B8}"/>
              </a:ext>
            </a:extLst>
          </p:cNvPr>
          <p:cNvSpPr>
            <a:spLocks noGrp="1"/>
          </p:cNvSpPr>
          <p:nvPr>
            <p:ph type="title"/>
          </p:nvPr>
        </p:nvSpPr>
        <p:spPr/>
        <p:txBody>
          <a:bodyPr>
            <a:normAutofit/>
          </a:bodyPr>
          <a:lstStyle/>
          <a:p>
            <a:r>
              <a:rPr lang="en-IN" sz="3600" dirty="0">
                <a:latin typeface="Century" panose="02040604050505020304" pitchFamily="18" charset="0"/>
              </a:rPr>
              <a:t>Applications in Computer Vision</a:t>
            </a:r>
          </a:p>
        </p:txBody>
      </p:sp>
      <p:sp>
        <p:nvSpPr>
          <p:cNvPr id="3" name="Content Placeholder 2">
            <a:extLst>
              <a:ext uri="{FF2B5EF4-FFF2-40B4-BE49-F238E27FC236}">
                <a16:creationId xmlns:a16="http://schemas.microsoft.com/office/drawing/2014/main" id="{36AE4E4F-3118-4512-A135-EB2184961589}"/>
              </a:ext>
            </a:extLst>
          </p:cNvPr>
          <p:cNvSpPr>
            <a:spLocks noGrp="1"/>
          </p:cNvSpPr>
          <p:nvPr>
            <p:ph idx="1"/>
          </p:nvPr>
        </p:nvSpPr>
        <p:spPr/>
        <p:txBody>
          <a:bodyPr>
            <a:normAutofit/>
          </a:bodyPr>
          <a:lstStyle/>
          <a:p>
            <a:r>
              <a:rPr lang="en-IN" sz="2200" dirty="0">
                <a:solidFill>
                  <a:srgbClr val="00B0F0"/>
                </a:solidFill>
                <a:latin typeface="Arial Narrow" panose="020B0606020202030204" pitchFamily="34" charset="0"/>
              </a:rPr>
              <a:t>Image Inpainting</a:t>
            </a:r>
          </a:p>
          <a:p>
            <a:pPr lvl="1"/>
            <a:r>
              <a:rPr lang="en-IN" sz="2200" dirty="0">
                <a:latin typeface="Arial Narrow" panose="020B0606020202030204" pitchFamily="34" charset="0"/>
              </a:rPr>
              <a:t>Fill missing regions in damaged images.</a:t>
            </a:r>
          </a:p>
          <a:p>
            <a:r>
              <a:rPr lang="en-IN" sz="2200" dirty="0">
                <a:solidFill>
                  <a:srgbClr val="00B0F0"/>
                </a:solidFill>
                <a:latin typeface="Arial Narrow" panose="020B0606020202030204" pitchFamily="34" charset="0"/>
              </a:rPr>
              <a:t>Data Augmentation</a:t>
            </a:r>
          </a:p>
          <a:p>
            <a:pPr lvl="1"/>
            <a:r>
              <a:rPr lang="en-IN" sz="2200" dirty="0">
                <a:latin typeface="Arial Narrow" panose="020B0606020202030204" pitchFamily="34" charset="0"/>
              </a:rPr>
              <a:t>Generate synthetic training samples for limited datasets.</a:t>
            </a:r>
          </a:p>
          <a:p>
            <a:r>
              <a:rPr lang="en-IN" sz="2200" dirty="0">
                <a:solidFill>
                  <a:srgbClr val="00B0F0"/>
                </a:solidFill>
                <a:latin typeface="Arial Narrow" panose="020B0606020202030204" pitchFamily="34" charset="0"/>
              </a:rPr>
              <a:t>Video Generation</a:t>
            </a:r>
          </a:p>
          <a:p>
            <a:pPr lvl="1"/>
            <a:r>
              <a:rPr lang="en-IN" sz="2200" dirty="0">
                <a:latin typeface="Arial Narrow" panose="020B0606020202030204" pitchFamily="34" charset="0"/>
              </a:rPr>
              <a:t>Create realistic videos from text prompts or images.</a:t>
            </a:r>
          </a:p>
          <a:p>
            <a:r>
              <a:rPr lang="en-IN" sz="2200" dirty="0">
                <a:solidFill>
                  <a:srgbClr val="00B0F0"/>
                </a:solidFill>
                <a:latin typeface="Arial Narrow" panose="020B0606020202030204" pitchFamily="34" charset="0"/>
              </a:rPr>
              <a:t>3D Generation</a:t>
            </a:r>
          </a:p>
          <a:p>
            <a:pPr lvl="1"/>
            <a:r>
              <a:rPr lang="en-IN" sz="2200" dirty="0">
                <a:latin typeface="Arial Narrow" panose="020B0606020202030204" pitchFamily="34" charset="0"/>
              </a:rPr>
              <a:t>Generate:</a:t>
            </a:r>
          </a:p>
          <a:p>
            <a:pPr lvl="1"/>
            <a:r>
              <a:rPr lang="en-IN" sz="2200" dirty="0">
                <a:latin typeface="Arial Narrow" panose="020B0606020202030204" pitchFamily="34" charset="0"/>
              </a:rPr>
              <a:t>3D objects </a:t>
            </a:r>
          </a:p>
          <a:p>
            <a:pPr lvl="1"/>
            <a:r>
              <a:rPr lang="en-IN" sz="2200" dirty="0">
                <a:latin typeface="Arial Narrow" panose="020B0606020202030204" pitchFamily="34" charset="0"/>
              </a:rPr>
              <a:t>Neural radiance fields </a:t>
            </a:r>
          </a:p>
          <a:p>
            <a:pPr lvl="1"/>
            <a:r>
              <a:rPr lang="en-IN" sz="2200" dirty="0">
                <a:latin typeface="Arial Narrow" panose="020B0606020202030204" pitchFamily="34" charset="0"/>
              </a:rPr>
              <a:t>Virtual environments</a:t>
            </a:r>
          </a:p>
          <a:p>
            <a:endParaRPr lang="en-IN" dirty="0"/>
          </a:p>
        </p:txBody>
      </p:sp>
    </p:spTree>
    <p:extLst>
      <p:ext uri="{BB962C8B-B14F-4D97-AF65-F5344CB8AC3E}">
        <p14:creationId xmlns:p14="http://schemas.microsoft.com/office/powerpoint/2010/main" val="4033185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68306AA-B2BB-41BA-BE19-008C487039E8}"/>
              </a:ext>
            </a:extLst>
          </p:cNvPr>
          <p:cNvSpPr>
            <a:spLocks noGrp="1"/>
          </p:cNvSpPr>
          <p:nvPr>
            <p:ph idx="1"/>
          </p:nvPr>
        </p:nvSpPr>
        <p:spPr/>
        <p:txBody>
          <a:bodyPr/>
          <a:lstStyle/>
          <a:p>
            <a:r>
              <a:rPr lang="en-US" dirty="0">
                <a:latin typeface="Arial Narrow" panose="020B0606020202030204" pitchFamily="34" charset="0"/>
              </a:rPr>
              <a:t>Generative Modelling for Computer Vision</a:t>
            </a:r>
          </a:p>
          <a:p>
            <a:endParaRPr lang="en-US" dirty="0">
              <a:latin typeface="Arial Narrow" panose="020B0606020202030204" pitchFamily="34" charset="0"/>
            </a:endParaRPr>
          </a:p>
          <a:p>
            <a:r>
              <a:rPr lang="en-IN" dirty="0">
                <a:latin typeface="Arial Narrow" panose="020B0606020202030204" pitchFamily="34" charset="0"/>
              </a:rPr>
              <a:t>Generative Vision Models</a:t>
            </a:r>
          </a:p>
          <a:p>
            <a:endParaRPr lang="en-IN" dirty="0">
              <a:latin typeface="Arial Narrow" panose="020B0606020202030204" pitchFamily="34" charset="0"/>
            </a:endParaRPr>
          </a:p>
          <a:p>
            <a:r>
              <a:rPr lang="en-IN" dirty="0">
                <a:latin typeface="Arial Narrow" panose="020B0606020202030204" pitchFamily="34" charset="0"/>
              </a:rPr>
              <a:t>Applications in Computer Vision</a:t>
            </a:r>
          </a:p>
        </p:txBody>
      </p:sp>
      <p:sp>
        <p:nvSpPr>
          <p:cNvPr id="6" name="Title 1">
            <a:extLst>
              <a:ext uri="{FF2B5EF4-FFF2-40B4-BE49-F238E27FC236}">
                <a16:creationId xmlns:a16="http://schemas.microsoft.com/office/drawing/2014/main" id="{A06DE4A8-FAD7-4827-930A-37A50F6CE2F2}"/>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ea typeface="Calibri Light"/>
                <a:cs typeface="Calibri Light"/>
              </a:rPr>
              <a:t>Summary</a:t>
            </a:r>
          </a:p>
        </p:txBody>
      </p:sp>
    </p:spTree>
    <p:extLst>
      <p:ext uri="{BB962C8B-B14F-4D97-AF65-F5344CB8AC3E}">
        <p14:creationId xmlns:p14="http://schemas.microsoft.com/office/powerpoint/2010/main" val="772870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543688"/>
            <a:ext cx="9144000" cy="2387600"/>
          </a:xfrm>
        </p:spPr>
        <p:txBody>
          <a:bodyPr>
            <a:normAutofit/>
          </a:bodyPr>
          <a:lstStyle/>
          <a:p>
            <a:r>
              <a:rPr lang="en-IN" sz="4000" dirty="0">
                <a:solidFill>
                  <a:srgbClr val="002060"/>
                </a:solidFill>
                <a:latin typeface="Arial Narrow" panose="020B0606020202030204" pitchFamily="34" charset="0"/>
              </a:rPr>
              <a:t>Mathematical Preliminaries</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Next</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Lecture 2:Part 1</a:t>
            </a:r>
          </a:p>
        </p:txBody>
      </p:sp>
    </p:spTree>
    <p:extLst>
      <p:ext uri="{BB962C8B-B14F-4D97-AF65-F5344CB8AC3E}">
        <p14:creationId xmlns:p14="http://schemas.microsoft.com/office/powerpoint/2010/main" val="757281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6961</TotalTime>
  <Words>2046</Words>
  <Application>Microsoft Office PowerPoint</Application>
  <PresentationFormat>Widescreen</PresentationFormat>
  <Paragraphs>214</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Narrow</vt:lpstr>
      <vt:lpstr>Book Antiqua</vt:lpstr>
      <vt:lpstr>Calibri</vt:lpstr>
      <vt:lpstr>Calibri Light</vt:lpstr>
      <vt:lpstr>Cambria Math</vt:lpstr>
      <vt:lpstr>Century</vt:lpstr>
      <vt:lpstr>Times New Roman</vt:lpstr>
      <vt:lpstr>Office Theme</vt:lpstr>
      <vt:lpstr>Generative Vision Models </vt:lpstr>
      <vt:lpstr>Content</vt:lpstr>
      <vt:lpstr>Generative Modelling for Computer Vision</vt:lpstr>
      <vt:lpstr>Generative Vision Models</vt:lpstr>
      <vt:lpstr>Variational Autoencoder (VAE)</vt:lpstr>
      <vt:lpstr>Normal Auto-Encoder vs Variational Auto-encoder</vt:lpstr>
      <vt:lpstr>Vision Tasks using VAE</vt:lpstr>
      <vt:lpstr> Generative Adversarial Networks (GANs) </vt:lpstr>
      <vt:lpstr>Generator</vt:lpstr>
      <vt:lpstr>Discriminator</vt:lpstr>
      <vt:lpstr> Generative Adversarial Networks (GANs) </vt:lpstr>
      <vt:lpstr>Why GAN is good for image generation?</vt:lpstr>
      <vt:lpstr>Why GAN is good for image generation?</vt:lpstr>
      <vt:lpstr>Autoregressive Generative Model</vt:lpstr>
      <vt:lpstr> Autoregressive Models </vt:lpstr>
      <vt:lpstr> Recent Autoregressive Models </vt:lpstr>
      <vt:lpstr>Autoregressive Models Example: Transformer</vt:lpstr>
      <vt:lpstr> Diffusion Models </vt:lpstr>
      <vt:lpstr>Diffusion Models</vt:lpstr>
      <vt:lpstr> Normalizing Flows </vt:lpstr>
      <vt:lpstr>Applications in Computer Vision</vt:lpstr>
      <vt:lpstr>Applications in Computer Vision</vt:lpstr>
      <vt:lpstr>Summary</vt:lpstr>
      <vt:lpstr>Mathematical Preliminaries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IITG</dc:creator>
  <cp:lastModifiedBy>HP</cp:lastModifiedBy>
  <cp:revision>54</cp:revision>
  <dcterms:created xsi:type="dcterms:W3CDTF">2026-06-14T19:01:33Z</dcterms:created>
  <dcterms:modified xsi:type="dcterms:W3CDTF">2026-07-07T13:40:38Z</dcterms:modified>
</cp:coreProperties>
</file>