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87" r:id="rId2"/>
    <p:sldId id="257" r:id="rId3"/>
    <p:sldId id="397" r:id="rId4"/>
    <p:sldId id="393" r:id="rId5"/>
    <p:sldId id="398" r:id="rId6"/>
    <p:sldId id="259" r:id="rId7"/>
    <p:sldId id="269" r:id="rId8"/>
    <p:sldId id="270" r:id="rId9"/>
    <p:sldId id="399" r:id="rId10"/>
    <p:sldId id="400" r:id="rId11"/>
    <p:sldId id="402" r:id="rId12"/>
    <p:sldId id="403" r:id="rId13"/>
    <p:sldId id="401" r:id="rId14"/>
    <p:sldId id="404" r:id="rId15"/>
    <p:sldId id="405" r:id="rId16"/>
    <p:sldId id="406" r:id="rId17"/>
    <p:sldId id="407" r:id="rId18"/>
    <p:sldId id="408" r:id="rId19"/>
    <p:sldId id="409" r:id="rId20"/>
    <p:sldId id="410" r:id="rId21"/>
    <p:sldId id="387" r:id="rId22"/>
    <p:sldId id="386" r:id="rId23"/>
    <p:sldId id="411" r:id="rId24"/>
    <p:sldId id="267" r:id="rId25"/>
  </p:sldIdLst>
  <p:sldSz cx="12192000" cy="6858000"/>
  <p:notesSz cx="6858000" cy="9144000"/>
  <p:embeddedFontLst>
    <p:embeddedFont>
      <p:font typeface="Arial Narrow" panose="020B0606020202030204" pitchFamily="34" charset="0"/>
      <p:regular r:id="rId27"/>
      <p:bold r:id="rId28"/>
      <p:italic r:id="rId29"/>
      <p:boldItalic r:id="rId30"/>
    </p:embeddedFont>
    <p:embeddedFont>
      <p:font typeface="Book Antiqua" panose="02040602050305030304" pitchFamily="18" charset="0"/>
      <p:regular r:id="rId31"/>
      <p:bold r:id="rId32"/>
      <p:italic r:id="rId33"/>
      <p:boldItalic r:id="rId34"/>
    </p:embeddedFont>
    <p:embeddedFont>
      <p:font typeface="Calibri" panose="020F0502020204030204" pitchFamily="34" charset="0"/>
      <p:regular r:id="rId35"/>
      <p:bold r:id="rId36"/>
      <p:italic r:id="rId37"/>
      <p:boldItalic r:id="rId38"/>
    </p:embeddedFont>
    <p:embeddedFont>
      <p:font typeface="Cambria Math" panose="02040503050406030204" pitchFamily="18" charset="0"/>
      <p:regular r:id="rId39"/>
    </p:embeddedFont>
    <p:embeddedFont>
      <p:font typeface="Century" panose="02040604050505020304" pitchFamily="18" charset="0"/>
      <p:regular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1" roundtripDataSignature="AMtx7mifREFgFzm3yHOPinLlbZc0T2mp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954827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2307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6"/>
          <p:cNvSpPr>
            <a:spLocks noGrp="1"/>
          </p:cNvSpPr>
          <p:nvPr>
            <p:ph type="pic" idx="2"/>
          </p:nvPr>
        </p:nvSpPr>
        <p:spPr>
          <a:xfrm>
            <a:off x="5183188" y="987425"/>
            <a:ext cx="6172200" cy="4873625"/>
          </a:xfrm>
          <a:prstGeom prst="rect">
            <a:avLst/>
          </a:prstGeom>
          <a:noFill/>
          <a:ln>
            <a:noFill/>
          </a:ln>
        </p:spPr>
      </p:sp>
      <p:sp>
        <p:nvSpPr>
          <p:cNvPr id="64" name="Google Shape;64;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7"/>
        <p:cNvGrpSpPr/>
        <p:nvPr/>
      </p:nvGrpSpPr>
      <p:grpSpPr>
        <a:xfrm>
          <a:off x="0" y="0"/>
          <a:ext cx="0" cy="0"/>
          <a:chOff x="0" y="0"/>
          <a:chExt cx="0" cy="0"/>
        </a:xfrm>
      </p:grpSpPr>
      <p:sp>
        <p:nvSpPr>
          <p:cNvPr id="18" name="Google Shape;18;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171849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A234E-92DC-4DDF-AF35-59B59453106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42A7D84-F8F9-4FBA-B076-45625EF6B702}"/>
              </a:ext>
            </a:extLst>
          </p:cNvPr>
          <p:cNvSpPr>
            <a:spLocks noGrp="1"/>
          </p:cNvSpPr>
          <p:nvPr>
            <p:ph type="dt" sz="half" idx="10"/>
          </p:nvPr>
        </p:nvSpPr>
        <p:spPr/>
        <p:txBody>
          <a:bodyPr/>
          <a:lstStyle/>
          <a:p>
            <a:fld id="{2B9A004D-D045-47B5-8550-B29FCD5ADDA0}" type="datetimeFigureOut">
              <a:rPr lang="en-IN" smtClean="0"/>
              <a:t>09-09-2026</a:t>
            </a:fld>
            <a:endParaRPr lang="en-IN"/>
          </a:p>
        </p:txBody>
      </p:sp>
      <p:sp>
        <p:nvSpPr>
          <p:cNvPr id="4" name="Footer Placeholder 3">
            <a:extLst>
              <a:ext uri="{FF2B5EF4-FFF2-40B4-BE49-F238E27FC236}">
                <a16:creationId xmlns:a16="http://schemas.microsoft.com/office/drawing/2014/main" id="{7A1379FA-6336-47E3-B89D-F1F0AF2D459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8E02F62-1583-448A-8058-375FF68544A7}"/>
              </a:ext>
            </a:extLst>
          </p:cNvPr>
          <p:cNvSpPr>
            <a:spLocks noGrp="1"/>
          </p:cNvSpPr>
          <p:nvPr>
            <p:ph type="sldNum" sz="quarter" idx="12"/>
          </p:nvPr>
        </p:nvSpPr>
        <p:spPr/>
        <p:txBody>
          <a:bodyPr/>
          <a:lstStyle/>
          <a:p>
            <a:fld id="{5D89F40A-2E8A-488A-9170-8FA9A149D163}" type="slidenum">
              <a:rPr lang="en-IN" smtClean="0"/>
              <a:t>‹#›</a:t>
            </a:fld>
            <a:endParaRPr lang="en-IN"/>
          </a:p>
        </p:txBody>
      </p:sp>
    </p:spTree>
    <p:extLst>
      <p:ext uri="{BB962C8B-B14F-4D97-AF65-F5344CB8AC3E}">
        <p14:creationId xmlns:p14="http://schemas.microsoft.com/office/powerpoint/2010/main" val="2113407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25.png"/><Relationship Id="rId3" Type="http://schemas.openxmlformats.org/officeDocument/2006/relationships/image" Target="../media/image4.png"/><Relationship Id="rId21" Type="http://schemas.openxmlformats.org/officeDocument/2006/relationships/image" Target="../media/image28.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24.png"/><Relationship Id="rId2" Type="http://schemas.openxmlformats.org/officeDocument/2006/relationships/notesSlide" Target="../notesSlides/notesSlide2.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10.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22.png"/><Relationship Id="rId10" Type="http://schemas.openxmlformats.org/officeDocument/2006/relationships/image" Target="../media/image11.png"/><Relationship Id="rId19" Type="http://schemas.openxmlformats.org/officeDocument/2006/relationships/image" Target="../media/image26.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31.png"/><Relationship Id="rId5" Type="http://schemas.openxmlformats.org/officeDocument/2006/relationships/image" Target="../media/image30.png"/><Relationship Id="rId4" Type="http://schemas.microsoft.com/office/2007/relationships/hdphoto" Target="../media/hdphoto1.wdp"/><Relationship Id="rId9" Type="http://schemas.openxmlformats.org/officeDocument/2006/relationships/image" Target="../media/image34.png"/></Relationships>
</file>

<file path=ppt/slides/_rels/slide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9.png"/><Relationship Id="rId7"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36.png"/><Relationship Id="rId5" Type="http://schemas.openxmlformats.org/officeDocument/2006/relationships/image" Target="../media/image35.png"/><Relationship Id="rId4" Type="http://schemas.microsoft.com/office/2007/relationships/hdphoto" Target="../media/hdphoto1.wdp"/><Relationship Id="rId9" Type="http://schemas.openxmlformats.org/officeDocument/2006/relationships/image" Target="../media/image39.png"/></Relationships>
</file>

<file path=ppt/slides/_rels/slide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2856321"/>
            <a:ext cx="9144000" cy="942001"/>
          </a:xfrm>
        </p:spPr>
        <p:txBody>
          <a:bodyPr>
            <a:normAutofit fontScale="90000"/>
          </a:bodyPr>
          <a:lstStyle/>
          <a:p>
            <a:br>
              <a:rPr lang="en-IN" sz="4000" dirty="0">
                <a:solidFill>
                  <a:srgbClr val="002060"/>
                </a:solidFill>
                <a:latin typeface="Arial Narrow" panose="020B0606020202030204" pitchFamily="34" charset="0"/>
              </a:rPr>
            </a:br>
            <a:br>
              <a:rPr lang="en-IN" sz="4000" dirty="0">
                <a:solidFill>
                  <a:srgbClr val="002060"/>
                </a:solidFill>
                <a:latin typeface="Arial Narrow" panose="020B0606020202030204" pitchFamily="34" charset="0"/>
              </a:rPr>
            </a:br>
            <a:r>
              <a:rPr lang="en-US" sz="4000" dirty="0">
                <a:solidFill>
                  <a:srgbClr val="002060"/>
                </a:solidFill>
                <a:latin typeface="Arial Narrow" panose="020B0606020202030204" pitchFamily="34" charset="0"/>
              </a:rPr>
              <a:t>Variational Auto-Encoder - II</a:t>
            </a: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582425"/>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Lecture 9</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Part 2</a:t>
            </a:r>
          </a:p>
        </p:txBody>
      </p:sp>
    </p:spTree>
    <p:extLst>
      <p:ext uri="{BB962C8B-B14F-4D97-AF65-F5344CB8AC3E}">
        <p14:creationId xmlns:p14="http://schemas.microsoft.com/office/powerpoint/2010/main" val="2504929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200"/>
              <a:buFont typeface="Book Antiqua"/>
              <a:buNone/>
            </a:pPr>
            <a:r>
              <a:rPr lang="en-IN" sz="3600" dirty="0">
                <a:solidFill>
                  <a:schemeClr val="tx1"/>
                </a:solidFill>
                <a:latin typeface="Century" panose="02040604050505020304" pitchFamily="18" charset="0"/>
                <a:ea typeface="Book Antiqua"/>
                <a:cs typeface="Book Antiqua"/>
                <a:sym typeface="Book Antiqua"/>
              </a:rPr>
              <a:t>Content</a:t>
            </a:r>
            <a:endParaRPr sz="3600" dirty="0">
              <a:solidFill>
                <a:schemeClr val="tx1"/>
              </a:solidFill>
              <a:latin typeface="Century" panose="02040604050505020304" pitchFamily="18" charset="0"/>
            </a:endParaRPr>
          </a:p>
        </p:txBody>
      </p:sp>
      <p:sp>
        <p:nvSpPr>
          <p:cNvPr id="93" name="Google Shape;93;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IN" sz="2400" dirty="0">
                <a:latin typeface="Arial Narrow" panose="020B0606020202030204" pitchFamily="34" charset="0"/>
                <a:ea typeface="Times New Roman"/>
                <a:cs typeface="Times New Roman"/>
                <a:sym typeface="Times New Roman"/>
              </a:rPr>
              <a:t>Variational Inference </a:t>
            </a:r>
          </a:p>
          <a:p>
            <a:pPr marL="0" lvl="0" indent="0" algn="l" rtl="0">
              <a:lnSpc>
                <a:spcPct val="90000"/>
              </a:lnSpc>
              <a:spcBef>
                <a:spcPts val="0"/>
              </a:spcBef>
              <a:spcAft>
                <a:spcPts val="0"/>
              </a:spcAft>
              <a:buClr>
                <a:schemeClr val="dk1"/>
              </a:buClr>
              <a:buSzPts val="2800"/>
              <a:buNone/>
            </a:pPr>
            <a:endParaRPr lang="en-IN" sz="2400" dirty="0">
              <a:latin typeface="Arial Narrow" panose="020B0606020202030204" pitchFamily="34" charset="0"/>
              <a:ea typeface="Times New Roman"/>
              <a:cs typeface="Times New Roman"/>
              <a:sym typeface="Times New Roman"/>
            </a:endParaRPr>
          </a:p>
          <a:p>
            <a:pPr marL="228600" lvl="0" indent="-228600">
              <a:spcBef>
                <a:spcPts val="0"/>
              </a:spcBef>
              <a:buSzPts val="2800"/>
            </a:pPr>
            <a:r>
              <a:rPr lang="en-IN" sz="2400" dirty="0">
                <a:latin typeface="Arial Narrow" panose="020B0606020202030204" pitchFamily="34" charset="0"/>
                <a:ea typeface="Times New Roman"/>
                <a:cs typeface="Times New Roman"/>
                <a:sym typeface="Times New Roman"/>
              </a:rPr>
              <a:t>Evidence Lower Bound (ELBO)</a:t>
            </a:r>
          </a:p>
          <a:p>
            <a:pPr marL="228600" lvl="0" indent="-228600">
              <a:spcBef>
                <a:spcPts val="0"/>
              </a:spcBef>
              <a:buSzPts val="2800"/>
            </a:pPr>
            <a:endParaRPr lang="en-IN" sz="2400" dirty="0">
              <a:latin typeface="Arial Narrow" panose="020B0606020202030204" pitchFamily="34" charset="0"/>
              <a:ea typeface="Times New Roman"/>
              <a:cs typeface="Times New Roman"/>
              <a:sym typeface="Times New Roman"/>
            </a:endParaRPr>
          </a:p>
          <a:p>
            <a:pPr marL="228600" lvl="0" indent="-228600">
              <a:spcBef>
                <a:spcPts val="0"/>
              </a:spcBef>
              <a:buSzPts val="2800"/>
            </a:pPr>
            <a:r>
              <a:rPr lang="en-IN" sz="2400" dirty="0">
                <a:latin typeface="Arial Narrow" panose="020B0606020202030204" pitchFamily="34" charset="0"/>
                <a:ea typeface="Times New Roman"/>
                <a:cs typeface="Times New Roman"/>
                <a:sym typeface="Times New Roman"/>
              </a:rPr>
              <a:t>VAE objective Function</a:t>
            </a:r>
          </a:p>
          <a:p>
            <a:pPr marL="228600" lvl="0" indent="-228600">
              <a:spcBef>
                <a:spcPts val="0"/>
              </a:spcBef>
              <a:buSzPts val="2800"/>
            </a:pPr>
            <a:endParaRPr lang="en-IN" sz="2400" dirty="0">
              <a:latin typeface="Arial Narrow" panose="020B0606020202030204" pitchFamily="34" charset="0"/>
              <a:ea typeface="Times New Roman"/>
              <a:cs typeface="Times New Roman"/>
              <a:sym typeface="Times New Roman"/>
            </a:endParaRPr>
          </a:p>
          <a:p>
            <a:pPr marL="228600" lvl="0" indent="-228600">
              <a:spcBef>
                <a:spcPts val="0"/>
              </a:spcBef>
              <a:buSzPts val="2800"/>
            </a:pPr>
            <a:r>
              <a:rPr lang="en-IN" sz="2400" dirty="0">
                <a:latin typeface="Arial Narrow" panose="020B0606020202030204" pitchFamily="34" charset="0"/>
                <a:ea typeface="Times New Roman"/>
                <a:cs typeface="Times New Roman"/>
                <a:sym typeface="Times New Roman"/>
              </a:rPr>
              <a:t>VAE Loss Function</a:t>
            </a:r>
          </a:p>
          <a:p>
            <a:pPr marL="228600" lvl="0" indent="-228600">
              <a:spcBef>
                <a:spcPts val="0"/>
              </a:spcBef>
              <a:buSzPts val="2800"/>
            </a:pPr>
            <a:endParaRPr lang="en-IN" sz="2400" dirty="0">
              <a:latin typeface="Arial Narrow" panose="020B0606020202030204" pitchFamily="34" charset="0"/>
              <a:ea typeface="Times New Roman"/>
              <a:cs typeface="Times New Roman"/>
              <a:sym typeface="Times New Roman"/>
            </a:endParaRPr>
          </a:p>
          <a:p>
            <a:pPr marL="228600" lvl="0" indent="-228600">
              <a:spcBef>
                <a:spcPts val="0"/>
              </a:spcBef>
              <a:buSzPts val="2800"/>
            </a:pPr>
            <a:r>
              <a:rPr lang="en-IN" sz="2400" dirty="0">
                <a:latin typeface="Arial Narrow" panose="020B0606020202030204" pitchFamily="34" charset="0"/>
                <a:ea typeface="Times New Roman"/>
                <a:cs typeface="Times New Roman"/>
                <a:sym typeface="Times New Roman"/>
              </a:rPr>
              <a:t>ELBO and posterior approximation</a:t>
            </a:r>
          </a:p>
          <a:p>
            <a:pPr marL="228600" lvl="0" indent="-228600">
              <a:spcBef>
                <a:spcPts val="0"/>
              </a:spcBef>
              <a:buSzPts val="2800"/>
            </a:pPr>
            <a:endParaRPr lang="en-IN" sz="2400" dirty="0">
              <a:latin typeface="Arial Narrow" panose="020B0606020202030204" pitchFamily="34" charset="0"/>
              <a:ea typeface="Times New Roman"/>
              <a:cs typeface="Times New Roman"/>
              <a:sym typeface="Times New Roman"/>
            </a:endParaRPr>
          </a:p>
          <a:p>
            <a:pPr marL="228600" lvl="0" indent="-228600">
              <a:spcBef>
                <a:spcPts val="0"/>
              </a:spcBef>
              <a:buSzPts val="2800"/>
            </a:pPr>
            <a:r>
              <a:rPr lang="en-IN" sz="2400" dirty="0">
                <a:latin typeface="Arial Narrow" panose="020B0606020202030204" pitchFamily="34" charset="0"/>
                <a:ea typeface="Times New Roman"/>
                <a:cs typeface="Times New Roman"/>
                <a:sym typeface="Times New Roman"/>
              </a:rPr>
              <a:t>The Reparameterization Trick</a:t>
            </a:r>
          </a:p>
          <a:p>
            <a:pPr marL="228600" lvl="0" indent="-228600">
              <a:spcBef>
                <a:spcPts val="0"/>
              </a:spcBef>
              <a:buSzPts val="2800"/>
            </a:pPr>
            <a:endParaRPr lang="en-IN" sz="2400" dirty="0">
              <a:latin typeface="Arial Narrow" panose="020B0606020202030204" pitchFamily="34" charset="0"/>
              <a:ea typeface="Times New Roman"/>
              <a:cs typeface="Times New Roman"/>
              <a:sym typeface="Times New Roman"/>
            </a:endParaRPr>
          </a:p>
          <a:p>
            <a:pPr marL="228600" lvl="0" indent="-228600">
              <a:spcBef>
                <a:spcPts val="0"/>
              </a:spcBef>
              <a:buSzPts val="2800"/>
            </a:pPr>
            <a:r>
              <a:rPr lang="en-IN" sz="2400" dirty="0">
                <a:latin typeface="Arial Narrow" panose="020B0606020202030204" pitchFamily="34" charset="0"/>
                <a:ea typeface="Times New Roman"/>
                <a:cs typeface="Times New Roman"/>
                <a:sym typeface="Times New Roman"/>
              </a:rPr>
              <a:t>Vision Applications</a:t>
            </a:r>
          </a:p>
          <a:p>
            <a:pPr marL="228600" lvl="0" indent="-228600">
              <a:spcBef>
                <a:spcPts val="0"/>
              </a:spcBef>
              <a:buSzPts val="2800"/>
            </a:pPr>
            <a:endParaRPr lang="en-IN" sz="2400" dirty="0">
              <a:latin typeface="Arial Narrow" panose="020B0606020202030204" pitchFamily="34" charset="0"/>
              <a:ea typeface="Times New Roman"/>
              <a:cs typeface="Times New Roman"/>
              <a:sym typeface="Times New Roman"/>
            </a:endParaRPr>
          </a:p>
          <a:p>
            <a:pPr marL="228600" lvl="0" indent="-228600">
              <a:spcBef>
                <a:spcPts val="0"/>
              </a:spcBef>
              <a:buSzPts val="2800"/>
            </a:pPr>
            <a:endParaRPr lang="en-IN" sz="2400" dirty="0">
              <a:latin typeface="Arial Narrow" panose="020B0606020202030204" pitchFamily="34" charset="0"/>
              <a:ea typeface="Times New Roman"/>
              <a:cs typeface="Times New Roman"/>
              <a:sym typeface="Times New Roman"/>
            </a:endParaRPr>
          </a:p>
          <a:p>
            <a:pPr marL="228600" lvl="0" indent="-228600" algn="l" rtl="0">
              <a:lnSpc>
                <a:spcPct val="90000"/>
              </a:lnSpc>
              <a:spcBef>
                <a:spcPts val="0"/>
              </a:spcBef>
              <a:spcAft>
                <a:spcPts val="0"/>
              </a:spcAft>
              <a:buClr>
                <a:schemeClr val="dk1"/>
              </a:buClr>
              <a:buSzPts val="2800"/>
              <a:buChar char="•"/>
            </a:pPr>
            <a:endParaRPr sz="2400" dirty="0">
              <a:latin typeface="Arial Narrow" panose="020B0606020202030204" pitchFamily="34" charset="0"/>
            </a:endParaRPr>
          </a:p>
          <a:p>
            <a:pPr marL="228600" lvl="0" indent="-50800" algn="l" rtl="0">
              <a:lnSpc>
                <a:spcPct val="90000"/>
              </a:lnSpc>
              <a:spcBef>
                <a:spcPts val="1000"/>
              </a:spcBef>
              <a:spcAft>
                <a:spcPts val="0"/>
              </a:spcAft>
              <a:buClr>
                <a:schemeClr val="dk1"/>
              </a:buClr>
              <a:buSzPts val="2800"/>
              <a:buNone/>
            </a:pPr>
            <a:endParaRPr dirty="0">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2AE81479-32B2-41C9-B05A-46DC240EA10F}"/>
                  </a:ext>
                </a:extLst>
              </p:cNvPr>
              <p:cNvSpPr>
                <a:spLocks noGrp="1"/>
              </p:cNvSpPr>
              <p:nvPr>
                <p:ph type="body" idx="1"/>
              </p:nvPr>
            </p:nvSpPr>
            <p:spPr/>
            <p:txBody>
              <a:bodyPr/>
              <a:lstStyle/>
              <a:p>
                <a:r>
                  <a:rPr lang="en-IN" dirty="0">
                    <a:latin typeface="Arial Narrow" panose="020B0606020202030204" pitchFamily="34" charset="0"/>
                  </a:rPr>
                  <a:t>We have:</a:t>
                </a:r>
              </a:p>
              <a:p>
                <a:pPr lvl="1"/>
                <a:r>
                  <a:rPr lang="en-IN" dirty="0">
                    <a:latin typeface="Arial Narrow" panose="020B0606020202030204" pitchFamily="34" charset="0"/>
                  </a:rPr>
                  <a:t>Latent variable </a:t>
                </a:r>
                <a14:m>
                  <m:oMath xmlns:m="http://schemas.openxmlformats.org/officeDocument/2006/math">
                    <m:r>
                      <a:rPr lang="en-IN" b="0" i="1" smtClean="0">
                        <a:solidFill>
                          <a:srgbClr val="7030A0"/>
                        </a:solidFill>
                        <a:latin typeface="Cambria Math" panose="02040503050406030204" pitchFamily="18" charset="0"/>
                      </a:rPr>
                      <m:t>𝑧</m:t>
                    </m:r>
                  </m:oMath>
                </a14:m>
                <a:endParaRPr lang="en-IN" dirty="0">
                  <a:latin typeface="Arial Narrow" panose="020B0606020202030204" pitchFamily="34" charset="0"/>
                </a:endParaRPr>
              </a:p>
              <a:p>
                <a:pPr lvl="1"/>
                <a:r>
                  <a:rPr lang="en-IN" dirty="0">
                    <a:latin typeface="Arial Narrow" panose="020B0606020202030204" pitchFamily="34" charset="0"/>
                  </a:rPr>
                  <a:t>Observed data </a:t>
                </a:r>
                <a14:m>
                  <m:oMath xmlns:m="http://schemas.openxmlformats.org/officeDocument/2006/math">
                    <m:r>
                      <a:rPr lang="en-IN" i="1" smtClean="0">
                        <a:solidFill>
                          <a:srgbClr val="7030A0"/>
                        </a:solidFill>
                        <a:latin typeface="Cambria Math" panose="02040503050406030204" pitchFamily="18" charset="0"/>
                      </a:rPr>
                      <m:t>𝑥</m:t>
                    </m:r>
                  </m:oMath>
                </a14:m>
                <a:endParaRPr lang="en-IN" dirty="0">
                  <a:solidFill>
                    <a:srgbClr val="7030A0"/>
                  </a:solidFill>
                  <a:latin typeface="Arial Narrow" panose="020B0606020202030204" pitchFamily="34" charset="0"/>
                </a:endParaRPr>
              </a:p>
              <a:p>
                <a:pPr lvl="1"/>
                <a:r>
                  <a:rPr lang="en-IN" dirty="0">
                    <a:latin typeface="Arial Narrow" panose="020B0606020202030204" pitchFamily="34" charset="0"/>
                  </a:rPr>
                  <a:t>Generative Model: </a:t>
                </a:r>
                <a14:m>
                  <m:oMath xmlns:m="http://schemas.openxmlformats.org/officeDocument/2006/math">
                    <m:sSub>
                      <m:sSubPr>
                        <m:ctrlPr>
                          <a:rPr lang="en-IN" i="1" smtClean="0">
                            <a:solidFill>
                              <a:srgbClr val="7030A0"/>
                            </a:solidFill>
                            <a:latin typeface="Cambria Math" panose="02040503050406030204" pitchFamily="18" charset="0"/>
                          </a:rPr>
                        </m:ctrlPr>
                      </m:sSubPr>
                      <m:e>
                        <m:r>
                          <a:rPr lang="en-IN" b="0" i="1" smtClean="0">
                            <a:solidFill>
                              <a:srgbClr val="7030A0"/>
                            </a:solidFill>
                            <a:latin typeface="Cambria Math" panose="02040503050406030204" pitchFamily="18" charset="0"/>
                          </a:rPr>
                          <m:t>𝑝</m:t>
                        </m:r>
                      </m:e>
                      <m:sub>
                        <m:r>
                          <a:rPr lang="en-IN" i="1" smtClean="0">
                            <a:solidFill>
                              <a:srgbClr val="7030A0"/>
                            </a:solidFill>
                            <a:latin typeface="Cambria Math" panose="02040503050406030204" pitchFamily="18" charset="0"/>
                            <a:ea typeface="Cambria Math" panose="02040503050406030204" pitchFamily="18" charset="0"/>
                          </a:rPr>
                          <m:t>𝜃</m:t>
                        </m:r>
                      </m:sub>
                    </m:sSub>
                    <m:d>
                      <m:dPr>
                        <m:ctrlPr>
                          <a:rPr lang="en-IN" b="0" i="1" smtClean="0">
                            <a:solidFill>
                              <a:srgbClr val="7030A0"/>
                            </a:solidFill>
                            <a:latin typeface="Cambria Math" panose="02040503050406030204" pitchFamily="18" charset="0"/>
                          </a:rPr>
                        </m:ctrlPr>
                      </m:dPr>
                      <m:e>
                        <m:r>
                          <a:rPr lang="en-IN" b="0" i="1" smtClean="0">
                            <a:solidFill>
                              <a:srgbClr val="7030A0"/>
                            </a:solidFill>
                            <a:latin typeface="Cambria Math" panose="02040503050406030204" pitchFamily="18" charset="0"/>
                          </a:rPr>
                          <m:t>𝑥</m:t>
                        </m:r>
                        <m:r>
                          <a:rPr lang="en-IN" b="0" i="1" smtClean="0">
                            <a:solidFill>
                              <a:srgbClr val="7030A0"/>
                            </a:solidFill>
                            <a:latin typeface="Cambria Math" panose="02040503050406030204" pitchFamily="18" charset="0"/>
                          </a:rPr>
                          <m:t>,</m:t>
                        </m:r>
                        <m:r>
                          <a:rPr lang="en-IN" b="0" i="1" smtClean="0">
                            <a:solidFill>
                              <a:srgbClr val="7030A0"/>
                            </a:solidFill>
                            <a:latin typeface="Cambria Math" panose="02040503050406030204" pitchFamily="18" charset="0"/>
                          </a:rPr>
                          <m:t>𝑧</m:t>
                        </m:r>
                      </m:e>
                    </m:d>
                    <m:r>
                      <a:rPr lang="en-IN" b="0" i="1" smtClean="0">
                        <a:solidFill>
                          <a:srgbClr val="7030A0"/>
                        </a:solidFill>
                        <a:latin typeface="Cambria Math" panose="02040503050406030204" pitchFamily="18" charset="0"/>
                      </a:rPr>
                      <m:t>=</m:t>
                    </m:r>
                    <m:sSub>
                      <m:sSubPr>
                        <m:ctrlPr>
                          <a:rPr lang="en-IN" b="0" i="1" smtClean="0">
                            <a:solidFill>
                              <a:srgbClr val="7030A0"/>
                            </a:solidFill>
                            <a:latin typeface="Cambria Math" panose="02040503050406030204" pitchFamily="18" charset="0"/>
                          </a:rPr>
                        </m:ctrlPr>
                      </m:sSubPr>
                      <m:e>
                        <m:r>
                          <a:rPr lang="en-IN" b="0" i="1" smtClean="0">
                            <a:solidFill>
                              <a:srgbClr val="7030A0"/>
                            </a:solidFill>
                            <a:latin typeface="Cambria Math" panose="02040503050406030204" pitchFamily="18" charset="0"/>
                          </a:rPr>
                          <m:t>𝑝</m:t>
                        </m:r>
                      </m:e>
                      <m:sub>
                        <m:r>
                          <a:rPr lang="en-IN" b="0" i="1" smtClean="0">
                            <a:solidFill>
                              <a:srgbClr val="7030A0"/>
                            </a:solidFill>
                            <a:latin typeface="Cambria Math" panose="02040503050406030204" pitchFamily="18" charset="0"/>
                            <a:ea typeface="Cambria Math" panose="02040503050406030204" pitchFamily="18" charset="0"/>
                          </a:rPr>
                          <m:t>𝜃</m:t>
                        </m:r>
                      </m:sub>
                    </m:sSub>
                    <m:d>
                      <m:dPr>
                        <m:ctrlPr>
                          <a:rPr lang="en-IN" b="0" i="1" smtClean="0">
                            <a:solidFill>
                              <a:srgbClr val="7030A0"/>
                            </a:solidFill>
                            <a:latin typeface="Cambria Math" panose="02040503050406030204" pitchFamily="18" charset="0"/>
                          </a:rPr>
                        </m:ctrlPr>
                      </m:dPr>
                      <m:e>
                        <m:r>
                          <a:rPr lang="en-IN" b="0" i="1" smtClean="0">
                            <a:solidFill>
                              <a:srgbClr val="7030A0"/>
                            </a:solidFill>
                            <a:latin typeface="Cambria Math" panose="02040503050406030204" pitchFamily="18" charset="0"/>
                          </a:rPr>
                          <m:t>𝑥</m:t>
                        </m:r>
                      </m:e>
                      <m:e>
                        <m:r>
                          <a:rPr lang="en-IN" b="0" i="1" smtClean="0">
                            <a:solidFill>
                              <a:srgbClr val="7030A0"/>
                            </a:solidFill>
                            <a:latin typeface="Cambria Math" panose="02040503050406030204" pitchFamily="18" charset="0"/>
                          </a:rPr>
                          <m:t>𝑧</m:t>
                        </m:r>
                      </m:e>
                    </m:d>
                    <m:r>
                      <a:rPr lang="en-IN" b="0" i="1" smtClean="0">
                        <a:solidFill>
                          <a:srgbClr val="7030A0"/>
                        </a:solidFill>
                        <a:latin typeface="Cambria Math" panose="02040503050406030204" pitchFamily="18" charset="0"/>
                      </a:rPr>
                      <m:t>𝑝</m:t>
                    </m:r>
                    <m:r>
                      <a:rPr lang="en-IN" b="0" i="1" smtClean="0">
                        <a:solidFill>
                          <a:srgbClr val="7030A0"/>
                        </a:solidFill>
                        <a:latin typeface="Cambria Math" panose="02040503050406030204" pitchFamily="18" charset="0"/>
                      </a:rPr>
                      <m:t>(</m:t>
                    </m:r>
                    <m:r>
                      <a:rPr lang="en-IN" b="0" i="1" smtClean="0">
                        <a:solidFill>
                          <a:srgbClr val="7030A0"/>
                        </a:solidFill>
                        <a:latin typeface="Cambria Math" panose="02040503050406030204" pitchFamily="18" charset="0"/>
                      </a:rPr>
                      <m:t>𝑧</m:t>
                    </m:r>
                    <m:r>
                      <a:rPr lang="en-IN" b="0" i="1" smtClean="0">
                        <a:solidFill>
                          <a:srgbClr val="7030A0"/>
                        </a:solidFill>
                        <a:latin typeface="Cambria Math" panose="02040503050406030204" pitchFamily="18" charset="0"/>
                      </a:rPr>
                      <m:t>)</m:t>
                    </m:r>
                  </m:oMath>
                </a14:m>
                <a:endParaRPr lang="en-IN" dirty="0">
                  <a:solidFill>
                    <a:srgbClr val="7030A0"/>
                  </a:solidFill>
                  <a:latin typeface="Arial Narrow" panose="020B0606020202030204" pitchFamily="34" charset="0"/>
                </a:endParaRPr>
              </a:p>
              <a:p>
                <a:pPr lvl="1"/>
                <a:endParaRPr lang="en-IN" dirty="0">
                  <a:solidFill>
                    <a:srgbClr val="7030A0"/>
                  </a:solidFill>
                  <a:latin typeface="Arial Narrow" panose="020B0606020202030204" pitchFamily="34" charset="0"/>
                </a:endParaRPr>
              </a:p>
              <a:p>
                <a:r>
                  <a:rPr lang="en-IN" dirty="0">
                    <a:latin typeface="Arial Narrow" panose="020B0606020202030204" pitchFamily="34" charset="0"/>
                  </a:rPr>
                  <a:t>We want to maximize: </a:t>
                </a:r>
                <a14:m>
                  <m:oMath xmlns:m="http://schemas.openxmlformats.org/officeDocument/2006/math">
                    <m:sSub>
                      <m:sSubPr>
                        <m:ctrlPr>
                          <a:rPr lang="en-IN" i="1" smtClean="0">
                            <a:solidFill>
                              <a:srgbClr val="7030A0"/>
                            </a:solidFill>
                            <a:latin typeface="Cambria Math" panose="02040503050406030204" pitchFamily="18" charset="0"/>
                          </a:rPr>
                        </m:ctrlPr>
                      </m:sSubPr>
                      <m:e>
                        <m:r>
                          <a:rPr lang="en-IN" i="1">
                            <a:solidFill>
                              <a:srgbClr val="7030A0"/>
                            </a:solidFill>
                            <a:latin typeface="Cambria Math" panose="02040503050406030204" pitchFamily="18" charset="0"/>
                          </a:rPr>
                          <m:t>𝑝</m:t>
                        </m:r>
                      </m:e>
                      <m:sub>
                        <m:r>
                          <a:rPr lang="en-IN" i="1">
                            <a:solidFill>
                              <a:srgbClr val="7030A0"/>
                            </a:solidFill>
                            <a:latin typeface="Cambria Math" panose="02040503050406030204" pitchFamily="18" charset="0"/>
                            <a:ea typeface="Cambria Math" panose="02040503050406030204" pitchFamily="18" charset="0"/>
                          </a:rPr>
                          <m:t>𝜃</m:t>
                        </m:r>
                      </m:sub>
                    </m:sSub>
                    <m:d>
                      <m:dPr>
                        <m:ctrlPr>
                          <a:rPr lang="en-IN" i="1">
                            <a:solidFill>
                              <a:srgbClr val="7030A0"/>
                            </a:solidFill>
                            <a:latin typeface="Cambria Math" panose="02040503050406030204" pitchFamily="18" charset="0"/>
                          </a:rPr>
                        </m:ctrlPr>
                      </m:dPr>
                      <m:e>
                        <m:r>
                          <a:rPr lang="en-IN" i="1">
                            <a:solidFill>
                              <a:srgbClr val="7030A0"/>
                            </a:solidFill>
                            <a:latin typeface="Cambria Math" panose="02040503050406030204" pitchFamily="18" charset="0"/>
                          </a:rPr>
                          <m:t>𝑥</m:t>
                        </m:r>
                      </m:e>
                    </m:d>
                  </m:oMath>
                </a14:m>
                <a:endParaRPr lang="en-IN" dirty="0">
                  <a:latin typeface="Arial Narrow" panose="020B0606020202030204" pitchFamily="34" charset="0"/>
                </a:endParaRPr>
              </a:p>
              <a:p>
                <a:endParaRPr lang="en-IN" dirty="0">
                  <a:latin typeface="Arial Narrow" panose="020B0606020202030204" pitchFamily="34" charset="0"/>
                </a:endParaRPr>
              </a:p>
              <a:p>
                <a:pPr marL="114300" indent="0">
                  <a:buNone/>
                </a:pPr>
                <a:endParaRPr lang="en-IN" dirty="0">
                  <a:latin typeface="Arial Narrow" panose="020B0606020202030204" pitchFamily="34" charset="0"/>
                </a:endParaRPr>
              </a:p>
            </p:txBody>
          </p:sp>
        </mc:Choice>
        <mc:Fallback>
          <p:sp>
            <p:nvSpPr>
              <p:cNvPr id="3" name="Text Placeholder 2">
                <a:extLst>
                  <a:ext uri="{FF2B5EF4-FFF2-40B4-BE49-F238E27FC236}">
                    <a16:creationId xmlns:a16="http://schemas.microsoft.com/office/drawing/2014/main" id="{2AE81479-32B2-41C9-B05A-46DC240EA10F}"/>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GB">
                    <a:noFill/>
                  </a:rPr>
                  <a:t> </a:t>
                </a:r>
              </a:p>
            </p:txBody>
          </p:sp>
        </mc:Fallback>
      </mc:AlternateContent>
      <p:sp>
        <p:nvSpPr>
          <p:cNvPr id="4" name="Title 2">
            <a:extLst>
              <a:ext uri="{FF2B5EF4-FFF2-40B4-BE49-F238E27FC236}">
                <a16:creationId xmlns:a16="http://schemas.microsoft.com/office/drawing/2014/main" id="{975DC59E-F7A9-4807-B997-2159AAF818C4}"/>
              </a:ext>
            </a:extLst>
          </p:cNvPr>
          <p:cNvSpPr>
            <a:spLocks noGrp="1"/>
          </p:cNvSpPr>
          <p:nvPr>
            <p:ph type="title"/>
          </p:nvPr>
        </p:nvSpPr>
        <p:spPr>
          <a:xfrm>
            <a:off x="838200" y="365125"/>
            <a:ext cx="10515600" cy="1325563"/>
          </a:xfrm>
        </p:spPr>
        <p:txBody>
          <a:bodyPr>
            <a:normAutofit/>
          </a:bodyPr>
          <a:lstStyle/>
          <a:p>
            <a:r>
              <a:rPr lang="en-IN" sz="3600" dirty="0">
                <a:solidFill>
                  <a:schemeClr val="tx1"/>
                </a:solidFill>
                <a:latin typeface="Century" panose="02040604050505020304" pitchFamily="18" charset="0"/>
                <a:ea typeface="Book Antiqua"/>
                <a:cs typeface="Book Antiqua"/>
                <a:sym typeface="Book Antiqua"/>
              </a:rPr>
              <a:t>Variational Auto-encoder</a:t>
            </a:r>
            <a:br>
              <a:rPr lang="en-IN" sz="3600" dirty="0">
                <a:solidFill>
                  <a:schemeClr val="tx1"/>
                </a:solidFill>
                <a:latin typeface="Century" panose="02040604050505020304" pitchFamily="18" charset="0"/>
                <a:ea typeface="Book Antiqua"/>
                <a:cs typeface="Book Antiqua"/>
                <a:sym typeface="Book Antiqua"/>
              </a:rPr>
            </a:br>
            <a:r>
              <a:rPr lang="en-IN" sz="2400" dirty="0">
                <a:solidFill>
                  <a:schemeClr val="tx1"/>
                </a:solidFill>
                <a:latin typeface="Arial Narrow" panose="020B0606020202030204" pitchFamily="34" charset="0"/>
                <a:ea typeface="Book Antiqua"/>
                <a:cs typeface="Book Antiqua"/>
                <a:sym typeface="Book Antiqua"/>
              </a:rPr>
              <a:t>Problem Formulation</a:t>
            </a:r>
            <a:endParaRPr lang="en-IN" sz="2400" dirty="0">
              <a:solidFill>
                <a:schemeClr val="tx1"/>
              </a:solidFill>
              <a:latin typeface="Century" panose="02040604050505020304" pitchFamily="18" charset="0"/>
            </a:endParaRPr>
          </a:p>
        </p:txBody>
      </p:sp>
    </p:spTree>
    <p:extLst>
      <p:ext uri="{BB962C8B-B14F-4D97-AF65-F5344CB8AC3E}">
        <p14:creationId xmlns:p14="http://schemas.microsoft.com/office/powerpoint/2010/main" val="2741517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6D9A5-E51C-400B-99B3-3556541D86DD}"/>
              </a:ext>
            </a:extLst>
          </p:cNvPr>
          <p:cNvSpPr>
            <a:spLocks noGrp="1"/>
          </p:cNvSpPr>
          <p:nvPr>
            <p:ph type="title"/>
          </p:nvPr>
        </p:nvSpPr>
        <p:spPr/>
        <p:txBody>
          <a:bodyPr>
            <a:normAutofit/>
          </a:bodyPr>
          <a:lstStyle/>
          <a:p>
            <a:r>
              <a:rPr lang="en-IN" sz="3600" dirty="0">
                <a:latin typeface="Century" panose="02040604050505020304" pitchFamily="18" charset="0"/>
              </a:rPr>
              <a:t>Variational Inference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750335-46C9-461E-9740-A35060CFDBDA}"/>
                  </a:ext>
                </a:extLst>
              </p:cNvPr>
              <p:cNvSpPr>
                <a:spLocks noGrp="1"/>
              </p:cNvSpPr>
              <p:nvPr>
                <p:ph idx="1"/>
              </p:nvPr>
            </p:nvSpPr>
            <p:spPr>
              <a:xfrm>
                <a:off x="838200" y="1480008"/>
                <a:ext cx="10813330" cy="4751110"/>
              </a:xfrm>
            </p:spPr>
            <p:txBody>
              <a:bodyPr>
                <a:normAutofit lnSpcReduction="10000"/>
              </a:bodyPr>
              <a:lstStyle/>
              <a:p>
                <a:r>
                  <a:rPr lang="en-IN" sz="2000" dirty="0">
                    <a:latin typeface="Arial Narrow" panose="020B0606020202030204" pitchFamily="34" charset="0"/>
                  </a:rPr>
                  <a:t>Objective of VAE:</a:t>
                </a:r>
              </a:p>
              <a:p>
                <a:endParaRPr lang="en-IN" sz="2000" dirty="0">
                  <a:latin typeface="Arial Narrow" panose="020B0606020202030204" pitchFamily="34" charset="0"/>
                </a:endParaRPr>
              </a:p>
              <a:p>
                <a:pPr lvl="1"/>
                <a:r>
                  <a:rPr lang="en-US" sz="2000" dirty="0">
                    <a:latin typeface="Arial Narrow" panose="020B0606020202030204" pitchFamily="34" charset="0"/>
                  </a:rPr>
                  <a:t>Ideally, we would train the model by maximizing the log-likelihood:</a:t>
                </a:r>
              </a:p>
              <a:p>
                <a:pPr lvl="1"/>
                <a:endParaRPr lang="en-US" sz="2000" dirty="0">
                  <a:latin typeface="Arial Narrow" panose="020B0606020202030204" pitchFamily="34" charset="0"/>
                </a:endParaRPr>
              </a:p>
              <a:p>
                <a:pPr marL="571500" lvl="1" indent="0">
                  <a:buNone/>
                </a:pPr>
                <a14:m>
                  <m:oMathPara xmlns:m="http://schemas.openxmlformats.org/officeDocument/2006/math">
                    <m:oMathParaPr>
                      <m:jc m:val="centerGroup"/>
                    </m:oMathParaPr>
                    <m:oMath xmlns:m="http://schemas.openxmlformats.org/officeDocument/2006/math">
                      <m:func>
                        <m:funcPr>
                          <m:ctrlPr>
                            <a:rPr lang="en-IN" sz="2000" b="0" i="1" smtClean="0">
                              <a:latin typeface="Cambria Math" panose="02040503050406030204" pitchFamily="18" charset="0"/>
                            </a:rPr>
                          </m:ctrlPr>
                        </m:funcPr>
                        <m:fName>
                          <m:r>
                            <m:rPr>
                              <m:sty m:val="p"/>
                            </m:rPr>
                            <a:rPr lang="en-IN" sz="2000" b="0" i="0" smtClean="0">
                              <a:latin typeface="Cambria Math" panose="02040503050406030204" pitchFamily="18" charset="0"/>
                            </a:rPr>
                            <m:t>log</m:t>
                          </m:r>
                        </m:fName>
                        <m:e>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𝑝</m:t>
                              </m:r>
                            </m:e>
                            <m:sub>
                              <m:r>
                                <a:rPr lang="en-IN" sz="2000" b="0" i="1" smtClean="0">
                                  <a:latin typeface="Cambria Math" panose="02040503050406030204" pitchFamily="18" charset="0"/>
                                  <a:ea typeface="Cambria Math" panose="02040503050406030204" pitchFamily="18" charset="0"/>
                                </a:rPr>
                                <m:t>𝜃</m:t>
                              </m:r>
                            </m:sub>
                          </m:sSub>
                          <m:r>
                            <a:rPr lang="en-IN" sz="2000" b="0" i="1" smtClean="0">
                              <a:latin typeface="Cambria Math" panose="02040503050406030204" pitchFamily="18" charset="0"/>
                            </a:rPr>
                            <m:t>(</m:t>
                          </m:r>
                          <m:r>
                            <a:rPr lang="en-IN" sz="2000" b="0" i="1" smtClean="0">
                              <a:latin typeface="Cambria Math" panose="02040503050406030204" pitchFamily="18" charset="0"/>
                            </a:rPr>
                            <m:t>𝑥</m:t>
                          </m:r>
                          <m:r>
                            <a:rPr lang="en-IN" sz="2000" b="0" i="1" smtClean="0">
                              <a:latin typeface="Cambria Math" panose="02040503050406030204" pitchFamily="18" charset="0"/>
                            </a:rPr>
                            <m:t>)</m:t>
                          </m:r>
                        </m:e>
                      </m:func>
                    </m:oMath>
                  </m:oMathPara>
                </a14:m>
                <a:endParaRPr lang="en-IN" sz="2000" dirty="0">
                  <a:latin typeface="Arial Narrow" panose="020B0606020202030204" pitchFamily="34" charset="0"/>
                </a:endParaRPr>
              </a:p>
              <a:p>
                <a:pPr marL="571500" lvl="1" indent="0">
                  <a:buNone/>
                </a:pPr>
                <a:endParaRPr lang="en-IN" sz="2000" dirty="0">
                  <a:latin typeface="Arial Narrow" panose="020B0606020202030204" pitchFamily="34" charset="0"/>
                </a:endParaRPr>
              </a:p>
              <a:p>
                <a:pPr marL="571500" lvl="1" indent="0">
                  <a:buNone/>
                </a:pPr>
                <a:r>
                  <a:rPr lang="en-IN" sz="2000" dirty="0">
                    <a:latin typeface="Arial Narrow" panose="020B0606020202030204" pitchFamily="34" charset="0"/>
                  </a:rPr>
                  <a:t>because this means, </a:t>
                </a:r>
                <a:r>
                  <a:rPr lang="en-US" sz="2000" dirty="0">
                    <a:solidFill>
                      <a:srgbClr val="7030A0"/>
                    </a:solidFill>
                    <a:latin typeface="Arial Narrow" panose="020B0606020202030204" pitchFamily="34" charset="0"/>
                  </a:rPr>
                  <a:t>make the observed training data </a:t>
                </a:r>
                <a14:m>
                  <m:oMath xmlns:m="http://schemas.openxmlformats.org/officeDocument/2006/math">
                    <m:r>
                      <a:rPr lang="en-IN" sz="2000" i="1">
                        <a:solidFill>
                          <a:srgbClr val="7030A0"/>
                        </a:solidFill>
                        <a:latin typeface="Cambria Math" panose="02040503050406030204" pitchFamily="18" charset="0"/>
                      </a:rPr>
                      <m:t>𝑥</m:t>
                    </m:r>
                  </m:oMath>
                </a14:m>
                <a:r>
                  <a:rPr lang="en-US" sz="2000" dirty="0">
                    <a:solidFill>
                      <a:srgbClr val="7030A0"/>
                    </a:solidFill>
                    <a:latin typeface="Arial Narrow" panose="020B0606020202030204" pitchFamily="34" charset="0"/>
                  </a:rPr>
                  <a:t> as probable as possible under the generative model</a:t>
                </a:r>
                <a:r>
                  <a:rPr lang="en-US" sz="2000" dirty="0">
                    <a:latin typeface="Arial Narrow" panose="020B0606020202030204" pitchFamily="34" charset="0"/>
                  </a:rPr>
                  <a:t>.</a:t>
                </a:r>
              </a:p>
              <a:p>
                <a:r>
                  <a:rPr lang="en-IN" sz="2000" dirty="0">
                    <a:latin typeface="Arial Narrow" panose="020B0606020202030204" pitchFamily="34" charset="0"/>
                  </a:rPr>
                  <a:t>However,</a:t>
                </a:r>
              </a:p>
              <a:p>
                <a:pPr marL="114300" indent="0">
                  <a:buNone/>
                </a:pPr>
                <a14:m>
                  <m:oMathPara xmlns:m="http://schemas.openxmlformats.org/officeDocument/2006/math">
                    <m:oMathParaPr>
                      <m:jc m:val="centerGroup"/>
                    </m:oMathParaPr>
                    <m:oMath xmlns:m="http://schemas.openxmlformats.org/officeDocument/2006/math">
                      <m:func>
                        <m:funcPr>
                          <m:ctrlPr>
                            <a:rPr lang="en-IN" sz="2000" i="1">
                              <a:latin typeface="Cambria Math" panose="02040503050406030204" pitchFamily="18" charset="0"/>
                            </a:rPr>
                          </m:ctrlPr>
                        </m:funcPr>
                        <m:fName>
                          <m:r>
                            <m:rPr>
                              <m:sty m:val="p"/>
                            </m:rPr>
                            <a:rPr lang="en-IN" sz="2000">
                              <a:latin typeface="Cambria Math" panose="02040503050406030204" pitchFamily="18" charset="0"/>
                            </a:rPr>
                            <m:t>log</m:t>
                          </m:r>
                        </m:fName>
                        <m:e>
                          <m:sSub>
                            <m:sSubPr>
                              <m:ctrlPr>
                                <a:rPr lang="en-IN" sz="2000" i="1">
                                  <a:latin typeface="Cambria Math" panose="02040503050406030204" pitchFamily="18" charset="0"/>
                                </a:rPr>
                              </m:ctrlPr>
                            </m:sSubPr>
                            <m:e>
                              <m:r>
                                <a:rPr lang="en-IN" sz="2000" i="1">
                                  <a:latin typeface="Cambria Math" panose="02040503050406030204" pitchFamily="18" charset="0"/>
                                </a:rPr>
                                <m:t>𝑝</m:t>
                              </m:r>
                            </m:e>
                            <m:sub>
                              <m:r>
                                <a:rPr lang="en-IN" sz="2000" i="1">
                                  <a:latin typeface="Cambria Math" panose="02040503050406030204" pitchFamily="18" charset="0"/>
                                  <a:ea typeface="Cambria Math" panose="02040503050406030204" pitchFamily="18" charset="0"/>
                                </a:rPr>
                                <m:t>𝜃</m:t>
                              </m:r>
                            </m:sub>
                          </m:sSub>
                          <m:r>
                            <a:rPr lang="en-IN" sz="2000" i="1">
                              <a:latin typeface="Cambria Math" panose="02040503050406030204" pitchFamily="18" charset="0"/>
                            </a:rPr>
                            <m:t>(</m:t>
                          </m:r>
                          <m:r>
                            <a:rPr lang="en-IN" sz="2000" i="1">
                              <a:latin typeface="Cambria Math" panose="02040503050406030204" pitchFamily="18" charset="0"/>
                            </a:rPr>
                            <m:t>𝑥</m:t>
                          </m:r>
                          <m:r>
                            <a:rPr lang="en-IN" sz="2000" i="1">
                              <a:latin typeface="Cambria Math" panose="02040503050406030204" pitchFamily="18" charset="0"/>
                            </a:rPr>
                            <m:t>)</m:t>
                          </m:r>
                        </m:e>
                      </m:func>
                      <m:r>
                        <a:rPr lang="en-IN" sz="2000" b="0" i="1" smtClean="0">
                          <a:latin typeface="Cambria Math" panose="02040503050406030204" pitchFamily="18" charset="0"/>
                        </a:rPr>
                        <m:t>=</m:t>
                      </m:r>
                      <m:func>
                        <m:funcPr>
                          <m:ctrlPr>
                            <a:rPr lang="en-IN" sz="2000" b="0" i="1" smtClean="0">
                              <a:latin typeface="Cambria Math" panose="02040503050406030204" pitchFamily="18" charset="0"/>
                            </a:rPr>
                          </m:ctrlPr>
                        </m:funcPr>
                        <m:fName>
                          <m:r>
                            <m:rPr>
                              <m:sty m:val="p"/>
                            </m:rPr>
                            <a:rPr lang="en-IN" sz="2000" b="0" i="0" smtClean="0">
                              <a:latin typeface="Cambria Math" panose="02040503050406030204" pitchFamily="18" charset="0"/>
                            </a:rPr>
                            <m:t>log</m:t>
                          </m:r>
                        </m:fName>
                        <m:e>
                          <m:nary>
                            <m:naryPr>
                              <m:limLoc m:val="undOvr"/>
                              <m:subHide m:val="on"/>
                              <m:supHide m:val="on"/>
                              <m:ctrlPr>
                                <a:rPr lang="en-IN" sz="2000" i="1">
                                  <a:solidFill>
                                    <a:srgbClr val="7030A0"/>
                                  </a:solidFill>
                                  <a:latin typeface="Cambria Math" panose="02040503050406030204" pitchFamily="18" charset="0"/>
                                </a:rPr>
                              </m:ctrlPr>
                            </m:naryPr>
                            <m:sub/>
                            <m:sup/>
                            <m:e>
                              <m:sSub>
                                <m:sSubPr>
                                  <m:ctrlPr>
                                    <a:rPr lang="en-IN" sz="2000" i="1">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rPr>
                                    <m:t>𝑝</m:t>
                                  </m:r>
                                </m:e>
                                <m:sub>
                                  <m:r>
                                    <a:rPr lang="en-IN" sz="2000" i="1">
                                      <a:solidFill>
                                        <a:srgbClr val="7030A0"/>
                                      </a:solidFill>
                                      <a:latin typeface="Cambria Math" panose="02040503050406030204" pitchFamily="18" charset="0"/>
                                      <a:ea typeface="Cambria Math" panose="02040503050406030204" pitchFamily="18" charset="0"/>
                                    </a:rPr>
                                    <m:t>𝜃</m:t>
                                  </m:r>
                                </m:sub>
                              </m:sSub>
                              <m:d>
                                <m:dPr>
                                  <m:ctrlPr>
                                    <a:rPr lang="en-IN" sz="2000" i="1">
                                      <a:solidFill>
                                        <a:srgbClr val="7030A0"/>
                                      </a:solidFill>
                                      <a:latin typeface="Cambria Math" panose="02040503050406030204" pitchFamily="18" charset="0"/>
                                    </a:rPr>
                                  </m:ctrlPr>
                                </m:dPr>
                                <m:e>
                                  <m:r>
                                    <a:rPr lang="en-IN" sz="2000" i="1">
                                      <a:solidFill>
                                        <a:srgbClr val="7030A0"/>
                                      </a:solidFill>
                                      <a:latin typeface="Cambria Math" panose="02040503050406030204" pitchFamily="18" charset="0"/>
                                    </a:rPr>
                                    <m:t>𝑥</m:t>
                                  </m:r>
                                </m:e>
                                <m:e>
                                  <m:r>
                                    <a:rPr lang="en-IN" sz="2000" i="1">
                                      <a:solidFill>
                                        <a:srgbClr val="7030A0"/>
                                      </a:solidFill>
                                      <a:latin typeface="Cambria Math" panose="02040503050406030204" pitchFamily="18" charset="0"/>
                                    </a:rPr>
                                    <m:t>𝑧</m:t>
                                  </m:r>
                                </m:e>
                              </m:d>
                              <m:r>
                                <a:rPr lang="en-IN" sz="2000" i="1">
                                  <a:solidFill>
                                    <a:srgbClr val="7030A0"/>
                                  </a:solidFill>
                                  <a:latin typeface="Cambria Math" panose="02040503050406030204" pitchFamily="18" charset="0"/>
                                </a:rPr>
                                <m:t>𝑝</m:t>
                              </m:r>
                              <m:r>
                                <a:rPr lang="en-IN" sz="2000" i="1">
                                  <a:solidFill>
                                    <a:srgbClr val="7030A0"/>
                                  </a:solidFill>
                                  <a:latin typeface="Cambria Math" panose="02040503050406030204" pitchFamily="18" charset="0"/>
                                </a:rPr>
                                <m:t>(</m:t>
                              </m:r>
                              <m:r>
                                <a:rPr lang="en-IN" sz="2000" i="1" smtClean="0">
                                  <a:solidFill>
                                    <a:srgbClr val="7030A0"/>
                                  </a:solidFill>
                                  <a:latin typeface="Cambria Math" panose="02040503050406030204" pitchFamily="18" charset="0"/>
                                </a:rPr>
                                <m:t>𝑧</m:t>
                              </m:r>
                              <m:r>
                                <a:rPr lang="en-IN" sz="2000" i="1">
                                  <a:solidFill>
                                    <a:srgbClr val="7030A0"/>
                                  </a:solidFill>
                                  <a:latin typeface="Cambria Math" panose="02040503050406030204" pitchFamily="18" charset="0"/>
                                </a:rPr>
                                <m:t>)</m:t>
                              </m:r>
                              <m:r>
                                <m:rPr>
                                  <m:nor/>
                                </m:rPr>
                                <a:rPr lang="en-IN" sz="2000" dirty="0">
                                  <a:solidFill>
                                    <a:srgbClr val="7030A0"/>
                                  </a:solidFill>
                                  <a:latin typeface="Arial Narrow" panose="020B0606020202030204" pitchFamily="34" charset="0"/>
                                </a:rPr>
                                <m:t> </m:t>
                              </m:r>
                            </m:e>
                          </m:nary>
                        </m:e>
                      </m:func>
                    </m:oMath>
                  </m:oMathPara>
                </a14:m>
                <a:endParaRPr lang="en-IN" sz="2000" dirty="0">
                  <a:latin typeface="Arial Narrow" panose="020B0606020202030204" pitchFamily="34" charset="0"/>
                </a:endParaRPr>
              </a:p>
              <a:p>
                <a:pPr marL="114300" indent="0">
                  <a:buNone/>
                </a:pPr>
                <a:r>
                  <a:rPr lang="en-US" sz="2000" dirty="0">
                    <a:latin typeface="Arial Narrow" panose="020B0606020202030204" pitchFamily="34" charset="0"/>
                  </a:rPr>
                  <a:t>                                is </a:t>
                </a:r>
                <a:r>
                  <a:rPr lang="en-US" sz="2000" dirty="0">
                    <a:solidFill>
                      <a:srgbClr val="FF0000"/>
                    </a:solidFill>
                    <a:latin typeface="Arial Narrow" panose="020B0606020202030204" pitchFamily="34" charset="0"/>
                  </a:rPr>
                  <a:t>intractable</a:t>
                </a:r>
                <a:r>
                  <a:rPr lang="en-US" sz="2000" dirty="0">
                    <a:latin typeface="Arial Narrow" panose="020B0606020202030204" pitchFamily="34" charset="0"/>
                  </a:rPr>
                  <a:t> because we would need to integrate over all possible values of </a:t>
                </a:r>
                <a14:m>
                  <m:oMath xmlns:m="http://schemas.openxmlformats.org/officeDocument/2006/math">
                    <m:r>
                      <a:rPr lang="en-IN" sz="2000" i="1">
                        <a:solidFill>
                          <a:srgbClr val="7030A0"/>
                        </a:solidFill>
                        <a:latin typeface="Cambria Math" panose="02040503050406030204" pitchFamily="18" charset="0"/>
                      </a:rPr>
                      <m:t>𝑧</m:t>
                    </m:r>
                    <m:r>
                      <a:rPr lang="en-IN" sz="2000" b="0" i="0" smtClean="0">
                        <a:solidFill>
                          <a:srgbClr val="7030A0"/>
                        </a:solidFill>
                        <a:latin typeface="Cambria Math" panose="02040503050406030204" pitchFamily="18" charset="0"/>
                      </a:rPr>
                      <m:t>.</m:t>
                    </m:r>
                  </m:oMath>
                </a14:m>
                <a:endParaRPr lang="en-IN" sz="2000" b="0" dirty="0">
                  <a:solidFill>
                    <a:srgbClr val="7030A0"/>
                  </a:solidFill>
                  <a:latin typeface="Arial Narrow" panose="020B0606020202030204" pitchFamily="34" charset="0"/>
                </a:endParaRPr>
              </a:p>
              <a:p>
                <a:pPr marL="114300" indent="0">
                  <a:buNone/>
                </a:pPr>
                <a:endParaRPr lang="en-IN" sz="2000" b="0" dirty="0">
                  <a:solidFill>
                    <a:srgbClr val="7030A0"/>
                  </a:solidFill>
                  <a:latin typeface="Arial Narrow" panose="020B0606020202030204" pitchFamily="34" charset="0"/>
                </a:endParaRPr>
              </a:p>
              <a:p>
                <a:r>
                  <a:rPr lang="en-IN" sz="2000" dirty="0">
                    <a:latin typeface="Arial Narrow" panose="020B0606020202030204" pitchFamily="34" charset="0"/>
                  </a:rPr>
                  <a:t>The posterior </a:t>
                </a:r>
                <a14:m>
                  <m:oMath xmlns:m="http://schemas.openxmlformats.org/officeDocument/2006/math">
                    <m:sSub>
                      <m:sSubPr>
                        <m:ctrlPr>
                          <a:rPr lang="en-IN" sz="2000" i="1">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rPr>
                          <m:t>𝑝</m:t>
                        </m:r>
                      </m:e>
                      <m:sub>
                        <m:r>
                          <a:rPr lang="en-IN" sz="2000" i="1">
                            <a:solidFill>
                              <a:srgbClr val="7030A0"/>
                            </a:solidFill>
                            <a:latin typeface="Cambria Math" panose="02040503050406030204" pitchFamily="18" charset="0"/>
                            <a:ea typeface="Cambria Math" panose="02040503050406030204" pitchFamily="18" charset="0"/>
                          </a:rPr>
                          <m:t>𝜃</m:t>
                        </m:r>
                      </m:sub>
                    </m:sSub>
                    <m:d>
                      <m:dPr>
                        <m:ctrlPr>
                          <a:rPr lang="en-IN" sz="2000" i="1">
                            <a:solidFill>
                              <a:srgbClr val="7030A0"/>
                            </a:solidFill>
                            <a:latin typeface="Cambria Math" panose="02040503050406030204" pitchFamily="18" charset="0"/>
                          </a:rPr>
                        </m:ctrlPr>
                      </m:dPr>
                      <m:e>
                        <m:r>
                          <a:rPr lang="en-IN" sz="2000" b="0" i="1" smtClean="0">
                            <a:solidFill>
                              <a:srgbClr val="7030A0"/>
                            </a:solidFill>
                            <a:latin typeface="Cambria Math" panose="02040503050406030204" pitchFamily="18" charset="0"/>
                          </a:rPr>
                          <m:t>𝑧</m:t>
                        </m:r>
                      </m:e>
                      <m:e>
                        <m:r>
                          <a:rPr lang="en-IN" sz="2000" b="0" i="1" smtClean="0">
                            <a:solidFill>
                              <a:srgbClr val="7030A0"/>
                            </a:solidFill>
                            <a:latin typeface="Cambria Math" panose="02040503050406030204" pitchFamily="18" charset="0"/>
                          </a:rPr>
                          <m:t>𝑥</m:t>
                        </m:r>
                      </m:e>
                    </m:d>
                  </m:oMath>
                </a14:m>
                <a:r>
                  <a:rPr lang="en-IN" sz="2000" dirty="0">
                    <a:latin typeface="Arial Narrow" panose="020B0606020202030204" pitchFamily="34" charset="0"/>
                  </a:rPr>
                  <a:t> is also </a:t>
                </a:r>
                <a:r>
                  <a:rPr lang="en-IN" sz="2000" dirty="0">
                    <a:solidFill>
                      <a:srgbClr val="FF0000"/>
                    </a:solidFill>
                    <a:latin typeface="Arial Narrow" panose="020B0606020202030204" pitchFamily="34" charset="0"/>
                  </a:rPr>
                  <a:t>intractable</a:t>
                </a:r>
                <a:r>
                  <a:rPr lang="en-IN" sz="2000" dirty="0">
                    <a:solidFill>
                      <a:schemeClr val="tx1"/>
                    </a:solidFill>
                    <a:latin typeface="Arial Narrow" panose="020B0606020202030204" pitchFamily="34" charset="0"/>
                  </a:rPr>
                  <a:t>.</a:t>
                </a:r>
                <a:endParaRPr lang="en-IN" sz="2000" dirty="0">
                  <a:solidFill>
                    <a:srgbClr val="FF0000"/>
                  </a:solidFill>
                  <a:latin typeface="Arial Narrow" panose="020B0606020202030204" pitchFamily="34" charset="0"/>
                </a:endParaRPr>
              </a:p>
              <a:p>
                <a:endParaRPr lang="en-IN" sz="2000" dirty="0">
                  <a:latin typeface="Arial Narrow" panose="020B0606020202030204" pitchFamily="34" charset="0"/>
                </a:endParaRPr>
              </a:p>
            </p:txBody>
          </p:sp>
        </mc:Choice>
        <mc:Fallback xmlns="">
          <p:sp>
            <p:nvSpPr>
              <p:cNvPr id="3" name="Content Placeholder 2">
                <a:extLst>
                  <a:ext uri="{FF2B5EF4-FFF2-40B4-BE49-F238E27FC236}">
                    <a16:creationId xmlns:a16="http://schemas.microsoft.com/office/drawing/2014/main" id="{5D750335-46C9-461E-9740-A35060CFDBDA}"/>
                  </a:ext>
                </a:extLst>
              </p:cNvPr>
              <p:cNvSpPr>
                <a:spLocks noGrp="1" noRot="1" noChangeAspect="1" noMove="1" noResize="1" noEditPoints="1" noAdjustHandles="1" noChangeArrowheads="1" noChangeShapeType="1" noTextEdit="1"/>
              </p:cNvSpPr>
              <p:nvPr>
                <p:ph idx="1"/>
              </p:nvPr>
            </p:nvSpPr>
            <p:spPr>
              <a:xfrm>
                <a:off x="838200" y="1480008"/>
                <a:ext cx="10813330" cy="4751110"/>
              </a:xfrm>
              <a:blipFill>
                <a:blip r:embed="rId2"/>
                <a:stretch>
                  <a:fillRect r="-451"/>
                </a:stretch>
              </a:blipFill>
            </p:spPr>
            <p:txBody>
              <a:bodyPr/>
              <a:lstStyle/>
              <a:p>
                <a:r>
                  <a:rPr lang="en-IN">
                    <a:noFill/>
                  </a:rPr>
                  <a:t> </a:t>
                </a:r>
              </a:p>
            </p:txBody>
          </p:sp>
        </mc:Fallback>
      </mc:AlternateContent>
    </p:spTree>
    <p:extLst>
      <p:ext uri="{BB962C8B-B14F-4D97-AF65-F5344CB8AC3E}">
        <p14:creationId xmlns:p14="http://schemas.microsoft.com/office/powerpoint/2010/main" val="175566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6D9A5-E51C-400B-99B3-3556541D86DD}"/>
              </a:ext>
            </a:extLst>
          </p:cNvPr>
          <p:cNvSpPr>
            <a:spLocks noGrp="1"/>
          </p:cNvSpPr>
          <p:nvPr>
            <p:ph type="title"/>
          </p:nvPr>
        </p:nvSpPr>
        <p:spPr/>
        <p:txBody>
          <a:bodyPr>
            <a:normAutofit/>
          </a:bodyPr>
          <a:lstStyle/>
          <a:p>
            <a:r>
              <a:rPr lang="en-IN" sz="3600" dirty="0">
                <a:latin typeface="Century" panose="02040604050505020304" pitchFamily="18" charset="0"/>
              </a:rPr>
              <a:t>Variational Inference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750335-46C9-461E-9740-A35060CFDBDA}"/>
                  </a:ext>
                </a:extLst>
              </p:cNvPr>
              <p:cNvSpPr>
                <a:spLocks noGrp="1"/>
              </p:cNvSpPr>
              <p:nvPr>
                <p:ph idx="1"/>
              </p:nvPr>
            </p:nvSpPr>
            <p:spPr>
              <a:xfrm>
                <a:off x="838200" y="1480008"/>
                <a:ext cx="6605746" cy="4751110"/>
              </a:xfrm>
            </p:spPr>
            <p:txBody>
              <a:bodyPr>
                <a:normAutofit/>
              </a:bodyPr>
              <a:lstStyle/>
              <a:p>
                <a:r>
                  <a:rPr lang="en-US" sz="2000" dirty="0">
                    <a:latin typeface="Arial Narrow" panose="020B0606020202030204" pitchFamily="34" charset="0"/>
                  </a:rPr>
                  <a:t>This is where the encoder distribution</a:t>
                </a:r>
              </a:p>
              <a:p>
                <a:endParaRPr lang="en-US" sz="2000" dirty="0">
                  <a:latin typeface="Arial Narrow" panose="020B0606020202030204" pitchFamily="34" charset="0"/>
                </a:endParaRPr>
              </a:p>
              <a:p>
                <a:pPr marL="114300" indent="0">
                  <a:buNone/>
                </a:pPr>
                <a14:m>
                  <m:oMathPara xmlns:m="http://schemas.openxmlformats.org/officeDocument/2006/math">
                    <m:oMathParaPr>
                      <m:jc m:val="centerGroup"/>
                    </m:oMathParaPr>
                    <m:oMath xmlns:m="http://schemas.openxmlformats.org/officeDocument/2006/math">
                      <m:sSub>
                        <m:sSubPr>
                          <m:ctrlPr>
                            <a:rPr lang="en-IN" sz="2000" i="1" smtClean="0">
                              <a:solidFill>
                                <a:srgbClr val="7030A0"/>
                              </a:solidFill>
                              <a:latin typeface="Cambria Math" panose="02040503050406030204" pitchFamily="18" charset="0"/>
                              <a:cs typeface="Times New Roman" panose="02020603050405020304" pitchFamily="18" charset="0"/>
                            </a:rPr>
                          </m:ctrlPr>
                        </m:sSubPr>
                        <m:e>
                          <m:r>
                            <a:rPr lang="en-IN" sz="2000" i="1">
                              <a:solidFill>
                                <a:srgbClr val="7030A0"/>
                              </a:solidFill>
                              <a:latin typeface="Cambria Math" panose="02040503050406030204" pitchFamily="18" charset="0"/>
                              <a:cs typeface="Times New Roman" panose="02020603050405020304" pitchFamily="18" charset="0"/>
                            </a:rPr>
                            <m:t>𝑞</m:t>
                          </m:r>
                        </m:e>
                        <m:sub>
                          <m:r>
                            <a:rPr lang="en-IN" sz="20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d>
                        <m:dPr>
                          <m:ctrlPr>
                            <a:rPr lang="en-IN" sz="2000" i="1">
                              <a:solidFill>
                                <a:srgbClr val="7030A0"/>
                              </a:solidFill>
                              <a:latin typeface="Cambria Math" panose="02040503050406030204" pitchFamily="18" charset="0"/>
                              <a:cs typeface="Times New Roman" panose="02020603050405020304" pitchFamily="18" charset="0"/>
                            </a:rPr>
                          </m:ctrlPr>
                        </m:dPr>
                        <m:e>
                          <m:r>
                            <a:rPr lang="en-IN" sz="2000" i="1">
                              <a:solidFill>
                                <a:srgbClr val="7030A0"/>
                              </a:solidFill>
                              <a:latin typeface="Cambria Math" panose="02040503050406030204" pitchFamily="18" charset="0"/>
                              <a:cs typeface="Times New Roman" panose="02020603050405020304" pitchFamily="18" charset="0"/>
                            </a:rPr>
                            <m:t>𝑧</m:t>
                          </m:r>
                        </m:e>
                        <m:e>
                          <m:r>
                            <a:rPr lang="en-IN" sz="2000" i="1">
                              <a:solidFill>
                                <a:srgbClr val="7030A0"/>
                              </a:solidFill>
                              <a:latin typeface="Cambria Math" panose="02040503050406030204" pitchFamily="18" charset="0"/>
                              <a:cs typeface="Times New Roman" panose="02020603050405020304" pitchFamily="18" charset="0"/>
                            </a:rPr>
                            <m:t>𝑥</m:t>
                          </m:r>
                        </m:e>
                      </m:d>
                    </m:oMath>
                  </m:oMathPara>
                </a14:m>
                <a:endParaRPr lang="en-IN" sz="2000" dirty="0">
                  <a:latin typeface="Arial Narrow" panose="020B0606020202030204" pitchFamily="34" charset="0"/>
                </a:endParaRPr>
              </a:p>
              <a:p>
                <a:pPr marL="114300" indent="0">
                  <a:buNone/>
                </a:pPr>
                <a:r>
                  <a:rPr lang="en-IN" sz="2000" dirty="0">
                    <a:latin typeface="Arial Narrow" panose="020B0606020202030204" pitchFamily="34" charset="0"/>
                  </a:rPr>
                  <a:t>                                    </a:t>
                </a:r>
                <a:r>
                  <a:rPr lang="en-IN" sz="2000" dirty="0">
                    <a:solidFill>
                      <a:srgbClr val="7030A0"/>
                    </a:solidFill>
                    <a:latin typeface="Arial Narrow" panose="020B0606020202030204" pitchFamily="34" charset="0"/>
                  </a:rPr>
                  <a:t>comes in</a:t>
                </a:r>
                <a:r>
                  <a:rPr lang="en-IN" sz="2000" dirty="0">
                    <a:latin typeface="Arial Narrow" panose="020B0606020202030204" pitchFamily="34" charset="0"/>
                  </a:rPr>
                  <a:t>, </a:t>
                </a:r>
                <a:r>
                  <a:rPr lang="en-IN" sz="2000" dirty="0">
                    <a:latin typeface="Arial Narrow" panose="020B0606020202030204" pitchFamily="34" charset="0"/>
                    <a:cs typeface="Times New Roman" panose="02020603050405020304" pitchFamily="18" charset="0"/>
                  </a:rPr>
                  <a:t>where </a:t>
                </a:r>
                <a14:m>
                  <m:oMath xmlns:m="http://schemas.openxmlformats.org/officeDocument/2006/math">
                    <m:r>
                      <a:rPr lang="en-IN" sz="2000" i="1" smtClean="0">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oMath>
                </a14:m>
                <a:r>
                  <a:rPr lang="en-IN" sz="2000" dirty="0">
                    <a:latin typeface="Arial Narrow" panose="020B0606020202030204" pitchFamily="34" charset="0"/>
                    <a:cs typeface="Times New Roman" panose="02020603050405020304" pitchFamily="18" charset="0"/>
                  </a:rPr>
                  <a:t> is encoder parameters. </a:t>
                </a:r>
              </a:p>
              <a:p>
                <a:pPr marL="114300" indent="0">
                  <a:buNone/>
                </a:pPr>
                <a:endParaRPr lang="en-IN" sz="2000" dirty="0">
                  <a:latin typeface="Arial Narrow" panose="020B0606020202030204" pitchFamily="34" charset="0"/>
                  <a:cs typeface="Times New Roman" panose="02020603050405020304" pitchFamily="18" charset="0"/>
                </a:endParaRPr>
              </a:p>
              <a:p>
                <a:r>
                  <a:rPr lang="en-IN" sz="2000" dirty="0">
                    <a:latin typeface="Arial Narrow" panose="020B0606020202030204" pitchFamily="34" charset="0"/>
                    <a:cs typeface="Times New Roman" panose="02020603050405020304" pitchFamily="18" charset="0"/>
                  </a:rPr>
                  <a:t>Usually Gaussian with mean and variance predicted by a </a:t>
                </a:r>
                <a:r>
                  <a:rPr lang="en-IN" sz="2000" dirty="0">
                    <a:solidFill>
                      <a:srgbClr val="7030A0"/>
                    </a:solidFill>
                    <a:latin typeface="Arial Narrow" panose="020B0606020202030204" pitchFamily="34" charset="0"/>
                    <a:cs typeface="Times New Roman" panose="02020603050405020304" pitchFamily="18" charset="0"/>
                  </a:rPr>
                  <a:t>neural network</a:t>
                </a:r>
                <a:r>
                  <a:rPr lang="en-IN" sz="2000" dirty="0">
                    <a:latin typeface="Arial Narrow" panose="020B0606020202030204" pitchFamily="34" charset="0"/>
                    <a:cs typeface="Times New Roman" panose="02020603050405020304" pitchFamily="18" charset="0"/>
                  </a:rPr>
                  <a:t>. </a:t>
                </a:r>
                <a:r>
                  <a:rPr lang="en-US" sz="2000" dirty="0">
                    <a:latin typeface="Arial Narrow" panose="020B0606020202030204" pitchFamily="34" charset="0"/>
                    <a:cs typeface="Times New Roman" panose="02020603050405020304" pitchFamily="18" charset="0"/>
                  </a:rPr>
                  <a:t>This is the </a:t>
                </a:r>
                <a:r>
                  <a:rPr lang="en-US" sz="2000" dirty="0">
                    <a:solidFill>
                      <a:srgbClr val="7030A0"/>
                    </a:solidFill>
                    <a:latin typeface="Arial Narrow" panose="020B0606020202030204" pitchFamily="34" charset="0"/>
                    <a:cs typeface="Times New Roman" panose="02020603050405020304" pitchFamily="18" charset="0"/>
                  </a:rPr>
                  <a:t>ENCODER in the VAE</a:t>
                </a:r>
                <a:r>
                  <a:rPr lang="en-US" sz="2000" dirty="0">
                    <a:latin typeface="Arial Narrow" panose="020B0606020202030204" pitchFamily="34" charset="0"/>
                    <a:cs typeface="Times New Roman" panose="02020603050405020304" pitchFamily="18" charset="0"/>
                  </a:rPr>
                  <a:t>.</a:t>
                </a:r>
              </a:p>
              <a:p>
                <a:endParaRPr lang="en-US" sz="2000" dirty="0">
                  <a:latin typeface="Arial Narrow" panose="020B0606020202030204" pitchFamily="34" charset="0"/>
                  <a:cs typeface="Times New Roman" panose="02020603050405020304" pitchFamily="18" charset="0"/>
                </a:endParaRPr>
              </a:p>
              <a:p>
                <a:r>
                  <a:rPr lang="en-US" sz="2000" dirty="0">
                    <a:latin typeface="Arial Narrow" panose="020B0606020202030204" pitchFamily="34" charset="0"/>
                    <a:cs typeface="Times New Roman" panose="02020603050405020304" pitchFamily="18" charset="0"/>
                  </a:rPr>
                  <a:t>It approximates the true posterior:</a:t>
                </a:r>
              </a:p>
              <a:p>
                <a:endParaRPr lang="en-US" sz="2000" dirty="0">
                  <a:latin typeface="Arial Narrow" panose="020B0606020202030204" pitchFamily="34" charset="0"/>
                  <a:cs typeface="Times New Roman" panose="02020603050405020304" pitchFamily="18" charset="0"/>
                </a:endParaRPr>
              </a:p>
              <a:p>
                <a:pPr marL="114300" indent="0">
                  <a:buNone/>
                </a:pPr>
                <a14:m>
                  <m:oMathPara xmlns:m="http://schemas.openxmlformats.org/officeDocument/2006/math">
                    <m:oMathParaPr>
                      <m:jc m:val="centerGroup"/>
                    </m:oMathParaPr>
                    <m:oMath xmlns:m="http://schemas.openxmlformats.org/officeDocument/2006/math">
                      <m:sSub>
                        <m:sSubPr>
                          <m:ctrlPr>
                            <a:rPr lang="en-IN" sz="2000" i="1" smtClean="0">
                              <a:solidFill>
                                <a:srgbClr val="7030A0"/>
                              </a:solidFill>
                              <a:latin typeface="Cambria Math" panose="02040503050406030204" pitchFamily="18" charset="0"/>
                              <a:cs typeface="Times New Roman" panose="02020603050405020304" pitchFamily="18" charset="0"/>
                            </a:rPr>
                          </m:ctrlPr>
                        </m:sSubPr>
                        <m:e>
                          <m:r>
                            <a:rPr lang="en-IN" sz="2000" i="1">
                              <a:solidFill>
                                <a:srgbClr val="7030A0"/>
                              </a:solidFill>
                              <a:latin typeface="Cambria Math" panose="02040503050406030204" pitchFamily="18" charset="0"/>
                              <a:cs typeface="Times New Roman" panose="02020603050405020304" pitchFamily="18" charset="0"/>
                            </a:rPr>
                            <m:t>𝑞</m:t>
                          </m:r>
                        </m:e>
                        <m:sub>
                          <m:r>
                            <a:rPr lang="en-IN" sz="20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d>
                        <m:dPr>
                          <m:ctrlPr>
                            <a:rPr lang="en-IN" sz="2000" i="1">
                              <a:solidFill>
                                <a:srgbClr val="7030A0"/>
                              </a:solidFill>
                              <a:latin typeface="Cambria Math" panose="02040503050406030204" pitchFamily="18" charset="0"/>
                              <a:cs typeface="Times New Roman" panose="02020603050405020304" pitchFamily="18" charset="0"/>
                            </a:rPr>
                          </m:ctrlPr>
                        </m:dPr>
                        <m:e>
                          <m:r>
                            <a:rPr lang="en-IN" sz="2000" i="1">
                              <a:solidFill>
                                <a:srgbClr val="7030A0"/>
                              </a:solidFill>
                              <a:latin typeface="Cambria Math" panose="02040503050406030204" pitchFamily="18" charset="0"/>
                              <a:cs typeface="Times New Roman" panose="02020603050405020304" pitchFamily="18" charset="0"/>
                            </a:rPr>
                            <m:t>𝑧</m:t>
                          </m:r>
                        </m:e>
                        <m:e>
                          <m:r>
                            <a:rPr lang="en-IN" sz="2000" i="1">
                              <a:solidFill>
                                <a:srgbClr val="7030A0"/>
                              </a:solidFill>
                              <a:latin typeface="Cambria Math" panose="02040503050406030204" pitchFamily="18" charset="0"/>
                              <a:cs typeface="Times New Roman" panose="02020603050405020304" pitchFamily="18" charset="0"/>
                            </a:rPr>
                            <m:t>𝑥</m:t>
                          </m:r>
                        </m:e>
                      </m:d>
                      <m:r>
                        <a:rPr lang="en-IN" sz="2000" i="1" smtClean="0">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2000" i="1">
                              <a:solidFill>
                                <a:srgbClr val="7030A0"/>
                              </a:solidFill>
                              <a:latin typeface="Cambria Math" panose="02040503050406030204" pitchFamily="18" charset="0"/>
                              <a:cs typeface="Times New Roman" panose="02020603050405020304" pitchFamily="18" charset="0"/>
                            </a:rPr>
                          </m:ctrlPr>
                        </m:sSubPr>
                        <m:e>
                          <m:r>
                            <a:rPr lang="en-IN" sz="2000" b="0" i="1" smtClean="0">
                              <a:solidFill>
                                <a:srgbClr val="7030A0"/>
                              </a:solidFill>
                              <a:latin typeface="Cambria Math" panose="02040503050406030204" pitchFamily="18" charset="0"/>
                              <a:cs typeface="Times New Roman" panose="02020603050405020304" pitchFamily="18" charset="0"/>
                            </a:rPr>
                            <m:t>𝑝</m:t>
                          </m:r>
                        </m:e>
                        <m:sub>
                          <m:r>
                            <a:rPr lang="en-IN" sz="2000" i="1">
                              <a:solidFill>
                                <a:srgbClr val="7030A0"/>
                              </a:solidFill>
                              <a:latin typeface="Cambria Math" panose="02040503050406030204" pitchFamily="18" charset="0"/>
                              <a:ea typeface="Cambria Math" panose="02040503050406030204" pitchFamily="18" charset="0"/>
                            </a:rPr>
                            <m:t>𝜃</m:t>
                          </m:r>
                        </m:sub>
                      </m:sSub>
                      <m:d>
                        <m:dPr>
                          <m:ctrlPr>
                            <a:rPr lang="en-IN" sz="2000" i="1">
                              <a:solidFill>
                                <a:srgbClr val="7030A0"/>
                              </a:solidFill>
                              <a:latin typeface="Cambria Math" panose="02040503050406030204" pitchFamily="18" charset="0"/>
                              <a:cs typeface="Times New Roman" panose="02020603050405020304" pitchFamily="18" charset="0"/>
                            </a:rPr>
                          </m:ctrlPr>
                        </m:dPr>
                        <m:e>
                          <m:r>
                            <a:rPr lang="en-IN" sz="2000" i="1">
                              <a:solidFill>
                                <a:srgbClr val="7030A0"/>
                              </a:solidFill>
                              <a:latin typeface="Cambria Math" panose="02040503050406030204" pitchFamily="18" charset="0"/>
                              <a:cs typeface="Times New Roman" panose="02020603050405020304" pitchFamily="18" charset="0"/>
                            </a:rPr>
                            <m:t>𝑧</m:t>
                          </m:r>
                        </m:e>
                        <m:e>
                          <m:r>
                            <a:rPr lang="en-IN" sz="2000" i="1">
                              <a:solidFill>
                                <a:srgbClr val="7030A0"/>
                              </a:solidFill>
                              <a:latin typeface="Cambria Math" panose="02040503050406030204" pitchFamily="18" charset="0"/>
                              <a:cs typeface="Times New Roman" panose="02020603050405020304" pitchFamily="18" charset="0"/>
                            </a:rPr>
                            <m:t>𝑥</m:t>
                          </m:r>
                        </m:e>
                      </m:d>
                    </m:oMath>
                  </m:oMathPara>
                </a14:m>
                <a:endParaRPr lang="en-IN" sz="2000" dirty="0">
                  <a:solidFill>
                    <a:srgbClr val="7030A0"/>
                  </a:solidFill>
                  <a:latin typeface="Arial Narrow" panose="020B0606020202030204" pitchFamily="34"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Arial Narrow" panose="020B0606020202030204" pitchFamily="34" charset="0"/>
                </a:endParaRPr>
              </a:p>
            </p:txBody>
          </p:sp>
        </mc:Choice>
        <mc:Fallback xmlns="">
          <p:sp>
            <p:nvSpPr>
              <p:cNvPr id="3" name="Content Placeholder 2">
                <a:extLst>
                  <a:ext uri="{FF2B5EF4-FFF2-40B4-BE49-F238E27FC236}">
                    <a16:creationId xmlns:a16="http://schemas.microsoft.com/office/drawing/2014/main" id="{5D750335-46C9-461E-9740-A35060CFDBDA}"/>
                  </a:ext>
                </a:extLst>
              </p:cNvPr>
              <p:cNvSpPr>
                <a:spLocks noGrp="1" noRot="1" noChangeAspect="1" noMove="1" noResize="1" noEditPoints="1" noAdjustHandles="1" noChangeArrowheads="1" noChangeShapeType="1" noTextEdit="1"/>
              </p:cNvSpPr>
              <p:nvPr>
                <p:ph idx="1"/>
              </p:nvPr>
            </p:nvSpPr>
            <p:spPr>
              <a:xfrm>
                <a:off x="838200" y="1480008"/>
                <a:ext cx="6605746" cy="4751110"/>
              </a:xfrm>
              <a:blipFill>
                <a:blip r:embed="rId2"/>
                <a:stretch>
                  <a:fillRect r="-554"/>
                </a:stretch>
              </a:blipFill>
            </p:spPr>
            <p:txBody>
              <a:bodyPr/>
              <a:lstStyle/>
              <a:p>
                <a:r>
                  <a:rPr lang="en-IN">
                    <a:noFill/>
                  </a:rPr>
                  <a:t> </a:t>
                </a:r>
              </a:p>
            </p:txBody>
          </p:sp>
        </mc:Fallback>
      </mc:AlternateContent>
      <p:grpSp>
        <p:nvGrpSpPr>
          <p:cNvPr id="4" name="Group 3">
            <a:extLst>
              <a:ext uri="{FF2B5EF4-FFF2-40B4-BE49-F238E27FC236}">
                <a16:creationId xmlns:a16="http://schemas.microsoft.com/office/drawing/2014/main" id="{73E02160-BB6E-4F75-9CFA-E150B4A40259}"/>
              </a:ext>
            </a:extLst>
          </p:cNvPr>
          <p:cNvGrpSpPr/>
          <p:nvPr/>
        </p:nvGrpSpPr>
        <p:grpSpPr>
          <a:xfrm>
            <a:off x="7774415" y="1343430"/>
            <a:ext cx="3863538" cy="4665743"/>
            <a:chOff x="7979259" y="1380292"/>
            <a:chExt cx="3863538" cy="4665743"/>
          </a:xfrm>
        </p:grpSpPr>
        <p:sp>
          <p:nvSpPr>
            <p:cNvPr id="5" name="Google Shape;138;p5">
              <a:extLst>
                <a:ext uri="{FF2B5EF4-FFF2-40B4-BE49-F238E27FC236}">
                  <a16:creationId xmlns:a16="http://schemas.microsoft.com/office/drawing/2014/main" id="{AFA23DAE-139D-4B20-A537-83F69CDAE41E}"/>
                </a:ext>
              </a:extLst>
            </p:cNvPr>
            <p:cNvSpPr/>
            <p:nvPr/>
          </p:nvSpPr>
          <p:spPr>
            <a:xfrm>
              <a:off x="9336316" y="4412467"/>
              <a:ext cx="1423580" cy="824195"/>
            </a:xfrm>
            <a:prstGeom prst="trapezoid">
              <a:avLst>
                <a:gd name="adj" fmla="val 58567"/>
              </a:avLst>
            </a:prstGeom>
            <a:solidFill>
              <a:schemeClr val="accent4">
                <a:lumMod val="40000"/>
                <a:lumOff val="60000"/>
              </a:schemeClr>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Times New Roman"/>
                <a:ea typeface="Times New Roman"/>
                <a:cs typeface="Times New Roman"/>
                <a:sym typeface="Times New Roman"/>
              </a:endParaRPr>
            </a:p>
          </p:txBody>
        </p:sp>
        <p:sp>
          <p:nvSpPr>
            <p:cNvPr id="6" name="Google Shape;146;p5">
              <a:extLst>
                <a:ext uri="{FF2B5EF4-FFF2-40B4-BE49-F238E27FC236}">
                  <a16:creationId xmlns:a16="http://schemas.microsoft.com/office/drawing/2014/main" id="{96317735-0EB6-40A5-8CFA-800C7615B3EF}"/>
                </a:ext>
              </a:extLst>
            </p:cNvPr>
            <p:cNvSpPr txBox="1"/>
            <p:nvPr/>
          </p:nvSpPr>
          <p:spPr>
            <a:xfrm>
              <a:off x="8913548" y="3418105"/>
              <a:ext cx="1040077"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dirty="0">
                  <a:solidFill>
                    <a:srgbClr val="7030A0"/>
                  </a:solidFill>
                  <a:latin typeface="Times New Roman"/>
                  <a:ea typeface="Times New Roman"/>
                  <a:cs typeface="Times New Roman"/>
                  <a:sym typeface="Times New Roman"/>
                </a:rPr>
                <a:t>Sampled</a:t>
              </a:r>
              <a:endParaRPr sz="1600" dirty="0">
                <a:solidFill>
                  <a:srgbClr val="7030A0"/>
                </a:solidFill>
              </a:endParaRPr>
            </a:p>
          </p:txBody>
        </p:sp>
        <p:sp>
          <p:nvSpPr>
            <p:cNvPr id="7" name="Google Shape;138;p5">
              <a:extLst>
                <a:ext uri="{FF2B5EF4-FFF2-40B4-BE49-F238E27FC236}">
                  <a16:creationId xmlns:a16="http://schemas.microsoft.com/office/drawing/2014/main" id="{917AA23A-7F1B-4311-8F78-9CAE7285E8CF}"/>
                </a:ext>
              </a:extLst>
            </p:cNvPr>
            <p:cNvSpPr/>
            <p:nvPr/>
          </p:nvSpPr>
          <p:spPr>
            <a:xfrm rot="10800000">
              <a:off x="9336316" y="2107401"/>
              <a:ext cx="1423579" cy="824195"/>
            </a:xfrm>
            <a:prstGeom prst="trapezoid">
              <a:avLst>
                <a:gd name="adj" fmla="val 56777"/>
              </a:avLst>
            </a:prstGeom>
            <a:solidFill>
              <a:schemeClr val="accent4">
                <a:lumMod val="40000"/>
                <a:lumOff val="60000"/>
              </a:schemeClr>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Times New Roman"/>
                <a:ea typeface="Times New Roman"/>
                <a:cs typeface="Times New Roman"/>
                <a:sym typeface="Times New Roman"/>
              </a:endParaRPr>
            </a:p>
          </p:txBody>
        </p:sp>
        <p:sp>
          <p:nvSpPr>
            <p:cNvPr id="8" name="Google Shape;143;p5">
              <a:extLst>
                <a:ext uri="{FF2B5EF4-FFF2-40B4-BE49-F238E27FC236}">
                  <a16:creationId xmlns:a16="http://schemas.microsoft.com/office/drawing/2014/main" id="{DA1B7C96-AC43-419E-B54F-C37FCF625C2B}"/>
                </a:ext>
              </a:extLst>
            </p:cNvPr>
            <p:cNvSpPr/>
            <p:nvPr/>
          </p:nvSpPr>
          <p:spPr>
            <a:xfrm>
              <a:off x="9198686" y="1694036"/>
              <a:ext cx="275206" cy="323576"/>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 name="Google Shape;143;p5">
              <a:extLst>
                <a:ext uri="{FF2B5EF4-FFF2-40B4-BE49-F238E27FC236}">
                  <a16:creationId xmlns:a16="http://schemas.microsoft.com/office/drawing/2014/main" id="{919F2CEE-AA96-4C93-B219-551B7B98DBFB}"/>
                </a:ext>
              </a:extLst>
            </p:cNvPr>
            <p:cNvSpPr/>
            <p:nvPr/>
          </p:nvSpPr>
          <p:spPr>
            <a:xfrm>
              <a:off x="9473892" y="1694036"/>
              <a:ext cx="275206" cy="323576"/>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 name="Google Shape;143;p5">
              <a:extLst>
                <a:ext uri="{FF2B5EF4-FFF2-40B4-BE49-F238E27FC236}">
                  <a16:creationId xmlns:a16="http://schemas.microsoft.com/office/drawing/2014/main" id="{9EA93BAB-6F6A-4B88-AF40-8122C1A39E59}"/>
                </a:ext>
              </a:extLst>
            </p:cNvPr>
            <p:cNvSpPr/>
            <p:nvPr/>
          </p:nvSpPr>
          <p:spPr>
            <a:xfrm>
              <a:off x="9749098" y="1694036"/>
              <a:ext cx="275206" cy="323576"/>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B6F39B1-8735-4ECF-9AAD-248030332635}"/>
                    </a:ext>
                  </a:extLst>
                </p:cNvPr>
                <p:cNvSpPr txBox="1"/>
                <p:nvPr/>
              </p:nvSpPr>
              <p:spPr>
                <a:xfrm>
                  <a:off x="9574535" y="2140338"/>
                  <a:ext cx="913070" cy="3350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solidFill>
                                  <a:srgbClr val="FF0000"/>
                                </a:solidFill>
                                <a:latin typeface="Cambria Math" panose="02040503050406030204" pitchFamily="18" charset="0"/>
                              </a:rPr>
                            </m:ctrlPr>
                          </m:sSubPr>
                          <m:e>
                            <m:r>
                              <a:rPr lang="en-IN" sz="2000" b="0" i="1" smtClean="0">
                                <a:solidFill>
                                  <a:srgbClr val="FF0000"/>
                                </a:solidFill>
                                <a:latin typeface="Cambria Math" panose="02040503050406030204" pitchFamily="18" charset="0"/>
                              </a:rPr>
                              <m:t>𝑞</m:t>
                            </m:r>
                          </m:e>
                          <m:sub>
                            <m:r>
                              <m:rPr>
                                <m:sty m:val="p"/>
                              </m:rPr>
                              <a:rPr lang="en-IN" sz="2000" i="0" smtClean="0">
                                <a:solidFill>
                                  <a:srgbClr val="FF0000"/>
                                </a:solidFill>
                                <a:latin typeface="Cambria Math" panose="02040503050406030204" pitchFamily="18" charset="0"/>
                                <a:ea typeface="Cambria Math" panose="02040503050406030204" pitchFamily="18" charset="0"/>
                              </a:rPr>
                              <m:t>ϕ</m:t>
                            </m:r>
                          </m:sub>
                        </m:sSub>
                        <m:r>
                          <a:rPr lang="en-IN" sz="2000" b="0" i="1" smtClean="0">
                            <a:solidFill>
                              <a:srgbClr val="FF0000"/>
                            </a:solidFill>
                            <a:latin typeface="Cambria Math" panose="02040503050406030204" pitchFamily="18" charset="0"/>
                          </a:rPr>
                          <m:t>(</m:t>
                        </m:r>
                        <m:r>
                          <a:rPr lang="en-IN" sz="2000" b="0" i="1" smtClean="0">
                            <a:solidFill>
                              <a:srgbClr val="FF0000"/>
                            </a:solidFill>
                            <a:latin typeface="Cambria Math" panose="02040503050406030204" pitchFamily="18" charset="0"/>
                          </a:rPr>
                          <m:t>𝑧</m:t>
                        </m:r>
                        <m:r>
                          <a:rPr lang="en-IN" sz="2000" b="0" i="1" smtClean="0">
                            <a:solidFill>
                              <a:srgbClr val="FF0000"/>
                            </a:solidFill>
                            <a:latin typeface="Cambria Math" panose="02040503050406030204" pitchFamily="18" charset="0"/>
                          </a:rPr>
                          <m:t>|</m:t>
                        </m:r>
                        <m:r>
                          <a:rPr lang="en-IN" sz="2000" b="0" i="1" smtClean="0">
                            <a:solidFill>
                              <a:srgbClr val="FF0000"/>
                            </a:solidFill>
                            <a:latin typeface="Cambria Math" panose="02040503050406030204" pitchFamily="18" charset="0"/>
                          </a:rPr>
                          <m:t>𝑥</m:t>
                        </m:r>
                        <m:r>
                          <a:rPr lang="en-IN" sz="2000" b="0" i="1" smtClean="0">
                            <a:solidFill>
                              <a:srgbClr val="FF0000"/>
                            </a:solidFill>
                            <a:latin typeface="Cambria Math" panose="02040503050406030204" pitchFamily="18" charset="0"/>
                          </a:rPr>
                          <m:t>)</m:t>
                        </m:r>
                      </m:oMath>
                    </m:oMathPara>
                  </a14:m>
                  <a:endParaRPr lang="en-IN" sz="2000" dirty="0"/>
                </a:p>
              </p:txBody>
            </p:sp>
          </mc:Choice>
          <mc:Fallback xmlns="">
            <p:sp>
              <p:nvSpPr>
                <p:cNvPr id="11" name="TextBox 10">
                  <a:extLst>
                    <a:ext uri="{FF2B5EF4-FFF2-40B4-BE49-F238E27FC236}">
                      <a16:creationId xmlns:a16="http://schemas.microsoft.com/office/drawing/2014/main" id="{FB6F39B1-8735-4ECF-9AAD-248030332635}"/>
                    </a:ext>
                  </a:extLst>
                </p:cNvPr>
                <p:cNvSpPr txBox="1">
                  <a:spLocks noRot="1" noChangeAspect="1" noMove="1" noResize="1" noEditPoints="1" noAdjustHandles="1" noChangeArrowheads="1" noChangeShapeType="1" noTextEdit="1"/>
                </p:cNvSpPr>
                <p:nvPr/>
              </p:nvSpPr>
              <p:spPr>
                <a:xfrm>
                  <a:off x="9574535" y="2140338"/>
                  <a:ext cx="913070" cy="335092"/>
                </a:xfrm>
                <a:prstGeom prst="rect">
                  <a:avLst/>
                </a:prstGeom>
                <a:blipFill>
                  <a:blip r:embed="rId3"/>
                  <a:stretch>
                    <a:fillRect l="-6000" r="-9333" b="-2545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DC0DD7D-BF65-46DA-AC63-C69D759E3C46}"/>
                    </a:ext>
                  </a:extLst>
                </p:cNvPr>
                <p:cNvSpPr txBox="1"/>
                <p:nvPr/>
              </p:nvSpPr>
              <p:spPr>
                <a:xfrm>
                  <a:off x="9624092" y="4824564"/>
                  <a:ext cx="89216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𝑝</m:t>
                            </m:r>
                          </m:e>
                          <m:sub>
                            <m:r>
                              <a:rPr lang="en-IN" sz="2000" i="1" smtClean="0">
                                <a:latin typeface="Cambria Math" panose="02040503050406030204" pitchFamily="18" charset="0"/>
                                <a:ea typeface="Cambria Math" panose="02040503050406030204" pitchFamily="18" charset="0"/>
                              </a:rPr>
                              <m:t>𝜃</m:t>
                            </m:r>
                          </m:sub>
                        </m:sSub>
                        <m:r>
                          <a:rPr lang="en-IN" sz="2000" b="0" i="1" smtClean="0">
                            <a:latin typeface="Cambria Math" panose="02040503050406030204" pitchFamily="18" charset="0"/>
                          </a:rPr>
                          <m:t>(</m:t>
                        </m:r>
                        <m:r>
                          <a:rPr lang="en-IN" sz="2000" b="0" i="1" smtClean="0">
                            <a:latin typeface="Cambria Math" panose="02040503050406030204" pitchFamily="18" charset="0"/>
                          </a:rPr>
                          <m:t>𝑥</m:t>
                        </m:r>
                        <m:r>
                          <a:rPr lang="en-IN" sz="2000" b="0" i="1" smtClean="0">
                            <a:latin typeface="Cambria Math" panose="02040503050406030204" pitchFamily="18" charset="0"/>
                          </a:rPr>
                          <m:t>|</m:t>
                        </m:r>
                        <m:r>
                          <a:rPr lang="en-IN" sz="2000" b="0" i="1" smtClean="0">
                            <a:latin typeface="Cambria Math" panose="02040503050406030204" pitchFamily="18" charset="0"/>
                          </a:rPr>
                          <m:t>𝑧</m:t>
                        </m:r>
                        <m:r>
                          <a:rPr lang="en-IN" sz="2000" b="0" i="1" smtClean="0">
                            <a:latin typeface="Cambria Math" panose="02040503050406030204" pitchFamily="18" charset="0"/>
                          </a:rPr>
                          <m:t>)</m:t>
                        </m:r>
                      </m:oMath>
                    </m:oMathPara>
                  </a14:m>
                  <a:endParaRPr lang="en-IN" sz="2000" dirty="0"/>
                </a:p>
              </p:txBody>
            </p:sp>
          </mc:Choice>
          <mc:Fallback xmlns="">
            <p:sp>
              <p:nvSpPr>
                <p:cNvPr id="56" name="TextBox 55"/>
                <p:cNvSpPr txBox="1">
                  <a:spLocks noRot="1" noChangeAspect="1" noMove="1" noResize="1" noEditPoints="1" noAdjustHandles="1" noChangeArrowheads="1" noChangeShapeType="1" noTextEdit="1"/>
                </p:cNvSpPr>
                <p:nvPr/>
              </p:nvSpPr>
              <p:spPr>
                <a:xfrm>
                  <a:off x="9624092" y="4824564"/>
                  <a:ext cx="892167" cy="307777"/>
                </a:xfrm>
                <a:prstGeom prst="rect">
                  <a:avLst/>
                </a:prstGeom>
                <a:blipFill>
                  <a:blip r:embed="rId5"/>
                  <a:stretch>
                    <a:fillRect l="-6849" t="-1961" r="-10274" b="-33333"/>
                  </a:stretch>
                </a:blipFill>
              </p:spPr>
              <p:txBody>
                <a:bodyPr/>
                <a:lstStyle/>
                <a:p>
                  <a:r>
                    <a:rPr lang="en-IN">
                      <a:noFill/>
                    </a:rPr>
                    <a:t> </a:t>
                  </a:r>
                </a:p>
              </p:txBody>
            </p:sp>
          </mc:Fallback>
        </mc:AlternateContent>
        <p:sp>
          <p:nvSpPr>
            <p:cNvPr id="13" name="Google Shape;143;p5">
              <a:extLst>
                <a:ext uri="{FF2B5EF4-FFF2-40B4-BE49-F238E27FC236}">
                  <a16:creationId xmlns:a16="http://schemas.microsoft.com/office/drawing/2014/main" id="{425DE2D6-7D88-4146-BFBD-AD1D8EE6BE01}"/>
                </a:ext>
              </a:extLst>
            </p:cNvPr>
            <p:cNvSpPr/>
            <p:nvPr/>
          </p:nvSpPr>
          <p:spPr>
            <a:xfrm>
              <a:off x="10024304" y="1694036"/>
              <a:ext cx="275206" cy="323576"/>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 name="Google Shape;143;p5">
              <a:extLst>
                <a:ext uri="{FF2B5EF4-FFF2-40B4-BE49-F238E27FC236}">
                  <a16:creationId xmlns:a16="http://schemas.microsoft.com/office/drawing/2014/main" id="{1CF8B335-1331-4663-8DFB-8248ACF29543}"/>
                </a:ext>
              </a:extLst>
            </p:cNvPr>
            <p:cNvSpPr/>
            <p:nvPr/>
          </p:nvSpPr>
          <p:spPr>
            <a:xfrm>
              <a:off x="10299510" y="1694036"/>
              <a:ext cx="275206" cy="323576"/>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 name="Google Shape;143;p5">
              <a:extLst>
                <a:ext uri="{FF2B5EF4-FFF2-40B4-BE49-F238E27FC236}">
                  <a16:creationId xmlns:a16="http://schemas.microsoft.com/office/drawing/2014/main" id="{8C948DCA-1D7C-4B0C-ABC7-09115A2BDC13}"/>
                </a:ext>
              </a:extLst>
            </p:cNvPr>
            <p:cNvSpPr/>
            <p:nvPr/>
          </p:nvSpPr>
          <p:spPr>
            <a:xfrm>
              <a:off x="10574716" y="1694036"/>
              <a:ext cx="275206" cy="323576"/>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6" name="Group 15">
              <a:extLst>
                <a:ext uri="{FF2B5EF4-FFF2-40B4-BE49-F238E27FC236}">
                  <a16:creationId xmlns:a16="http://schemas.microsoft.com/office/drawing/2014/main" id="{B3F2CA07-0FB3-408A-B5EA-173C58ABDA72}"/>
                </a:ext>
              </a:extLst>
            </p:cNvPr>
            <p:cNvGrpSpPr/>
            <p:nvPr/>
          </p:nvGrpSpPr>
          <p:grpSpPr>
            <a:xfrm>
              <a:off x="9611495" y="3990458"/>
              <a:ext cx="825618" cy="323576"/>
              <a:chOff x="10173470" y="3194683"/>
              <a:chExt cx="825618" cy="323576"/>
            </a:xfrm>
          </p:grpSpPr>
          <p:sp>
            <p:nvSpPr>
              <p:cNvPr id="33" name="Google Shape;143;p5">
                <a:extLst>
                  <a:ext uri="{FF2B5EF4-FFF2-40B4-BE49-F238E27FC236}">
                    <a16:creationId xmlns:a16="http://schemas.microsoft.com/office/drawing/2014/main" id="{4C5C2F6A-2B1A-4890-A249-D065FB7FA24B}"/>
                  </a:ext>
                </a:extLst>
              </p:cNvPr>
              <p:cNvSpPr/>
              <p:nvPr/>
            </p:nvSpPr>
            <p:spPr>
              <a:xfrm>
                <a:off x="10173470" y="3194683"/>
                <a:ext cx="275206" cy="323576"/>
              </a:xfrm>
              <a:prstGeom prst="rect">
                <a:avLst/>
              </a:prstGeom>
              <a:no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 name="Google Shape;143;p5">
                <a:extLst>
                  <a:ext uri="{FF2B5EF4-FFF2-40B4-BE49-F238E27FC236}">
                    <a16:creationId xmlns:a16="http://schemas.microsoft.com/office/drawing/2014/main" id="{FCE9E080-1459-478C-8959-C2D59D39585E}"/>
                  </a:ext>
                </a:extLst>
              </p:cNvPr>
              <p:cNvSpPr/>
              <p:nvPr/>
            </p:nvSpPr>
            <p:spPr>
              <a:xfrm>
                <a:off x="10448676" y="3194683"/>
                <a:ext cx="275206" cy="323576"/>
              </a:xfrm>
              <a:prstGeom prst="rect">
                <a:avLst/>
              </a:prstGeom>
              <a:no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 name="Google Shape;143;p5">
                <a:extLst>
                  <a:ext uri="{FF2B5EF4-FFF2-40B4-BE49-F238E27FC236}">
                    <a16:creationId xmlns:a16="http://schemas.microsoft.com/office/drawing/2014/main" id="{518A5A45-12B7-489A-BBD1-A45FE972CBF1}"/>
                  </a:ext>
                </a:extLst>
              </p:cNvPr>
              <p:cNvSpPr/>
              <p:nvPr/>
            </p:nvSpPr>
            <p:spPr>
              <a:xfrm>
                <a:off x="10723882" y="3194683"/>
                <a:ext cx="275206" cy="323576"/>
              </a:xfrm>
              <a:prstGeom prst="rect">
                <a:avLst/>
              </a:prstGeom>
              <a:no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 name="Google Shape;143;p5">
              <a:extLst>
                <a:ext uri="{FF2B5EF4-FFF2-40B4-BE49-F238E27FC236}">
                  <a16:creationId xmlns:a16="http://schemas.microsoft.com/office/drawing/2014/main" id="{F33C2A68-2147-45BD-B145-B7E9B2DE5CD8}"/>
                </a:ext>
              </a:extLst>
            </p:cNvPr>
            <p:cNvSpPr/>
            <p:nvPr/>
          </p:nvSpPr>
          <p:spPr>
            <a:xfrm>
              <a:off x="9198686" y="5342803"/>
              <a:ext cx="275206" cy="323576"/>
            </a:xfrm>
            <a:prstGeom prst="rect">
              <a:avLst/>
            </a:prstGeom>
            <a:no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 name="Google Shape;143;p5">
              <a:extLst>
                <a:ext uri="{FF2B5EF4-FFF2-40B4-BE49-F238E27FC236}">
                  <a16:creationId xmlns:a16="http://schemas.microsoft.com/office/drawing/2014/main" id="{93DA2EDD-7883-4D08-8E68-2B9F16C2495F}"/>
                </a:ext>
              </a:extLst>
            </p:cNvPr>
            <p:cNvSpPr/>
            <p:nvPr/>
          </p:nvSpPr>
          <p:spPr>
            <a:xfrm>
              <a:off x="9473892" y="5342803"/>
              <a:ext cx="275206" cy="323576"/>
            </a:xfrm>
            <a:prstGeom prst="rect">
              <a:avLst/>
            </a:prstGeom>
            <a:no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 name="Google Shape;143;p5">
              <a:extLst>
                <a:ext uri="{FF2B5EF4-FFF2-40B4-BE49-F238E27FC236}">
                  <a16:creationId xmlns:a16="http://schemas.microsoft.com/office/drawing/2014/main" id="{2CCF0026-35C1-4268-B733-C6F3BBFA3049}"/>
                </a:ext>
              </a:extLst>
            </p:cNvPr>
            <p:cNvSpPr/>
            <p:nvPr/>
          </p:nvSpPr>
          <p:spPr>
            <a:xfrm>
              <a:off x="9749098" y="5342803"/>
              <a:ext cx="275206" cy="323576"/>
            </a:xfrm>
            <a:prstGeom prst="rect">
              <a:avLst/>
            </a:prstGeom>
            <a:no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 name="Google Shape;143;p5">
              <a:extLst>
                <a:ext uri="{FF2B5EF4-FFF2-40B4-BE49-F238E27FC236}">
                  <a16:creationId xmlns:a16="http://schemas.microsoft.com/office/drawing/2014/main" id="{2455FECF-9C6A-4159-9EB0-D8D73423350E}"/>
                </a:ext>
              </a:extLst>
            </p:cNvPr>
            <p:cNvSpPr/>
            <p:nvPr/>
          </p:nvSpPr>
          <p:spPr>
            <a:xfrm>
              <a:off x="10024304" y="5342803"/>
              <a:ext cx="275206" cy="323576"/>
            </a:xfrm>
            <a:prstGeom prst="rect">
              <a:avLst/>
            </a:prstGeom>
            <a:no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 name="Google Shape;143;p5">
              <a:extLst>
                <a:ext uri="{FF2B5EF4-FFF2-40B4-BE49-F238E27FC236}">
                  <a16:creationId xmlns:a16="http://schemas.microsoft.com/office/drawing/2014/main" id="{A43FED71-7886-4724-BE29-844BCB8C70B8}"/>
                </a:ext>
              </a:extLst>
            </p:cNvPr>
            <p:cNvSpPr/>
            <p:nvPr/>
          </p:nvSpPr>
          <p:spPr>
            <a:xfrm>
              <a:off x="10299510" y="5342803"/>
              <a:ext cx="275206" cy="323576"/>
            </a:xfrm>
            <a:prstGeom prst="rect">
              <a:avLst/>
            </a:prstGeom>
            <a:no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 name="Google Shape;143;p5">
              <a:extLst>
                <a:ext uri="{FF2B5EF4-FFF2-40B4-BE49-F238E27FC236}">
                  <a16:creationId xmlns:a16="http://schemas.microsoft.com/office/drawing/2014/main" id="{5AB6BE85-D62E-40E4-8671-F2527DB71C11}"/>
                </a:ext>
              </a:extLst>
            </p:cNvPr>
            <p:cNvSpPr/>
            <p:nvPr/>
          </p:nvSpPr>
          <p:spPr>
            <a:xfrm>
              <a:off x="10574716" y="5342803"/>
              <a:ext cx="275206" cy="323576"/>
            </a:xfrm>
            <a:prstGeom prst="rect">
              <a:avLst/>
            </a:prstGeom>
            <a:no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877B57F-A845-4E5C-9527-2CB315937D16}"/>
                    </a:ext>
                  </a:extLst>
                </p:cNvPr>
                <p:cNvSpPr txBox="1"/>
                <p:nvPr/>
              </p:nvSpPr>
              <p:spPr>
                <a:xfrm>
                  <a:off x="9728133" y="2963536"/>
                  <a:ext cx="592342" cy="416922"/>
                </a:xfrm>
                <a:prstGeom prst="ellipse">
                  <a:avLst/>
                </a:prstGeom>
                <a:noFill/>
                <a:ln>
                  <a:solidFill>
                    <a:schemeClr val="accent2">
                      <a:lumMod val="75000"/>
                    </a:schemeClr>
                  </a:solidFill>
                </a:ln>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smtClean="0">
                                <a:latin typeface="Cambria Math" panose="02040503050406030204" pitchFamily="18" charset="0"/>
                                <a:ea typeface="Cambria Math" panose="02040503050406030204" pitchFamily="18" charset="0"/>
                              </a:rPr>
                              <m:t>𝜇</m:t>
                            </m:r>
                          </m:e>
                          <m:sub>
                            <m:r>
                              <a:rPr lang="en-IN" b="0" i="1" smtClean="0">
                                <a:latin typeface="Cambria Math" panose="02040503050406030204" pitchFamily="18" charset="0"/>
                              </a:rPr>
                              <m:t>𝑥</m:t>
                            </m:r>
                          </m:sub>
                        </m:sSub>
                        <m:sSub>
                          <m:sSubPr>
                            <m:ctrlPr>
                              <a:rPr lang="en-IN" i="1">
                                <a:latin typeface="Cambria Math" panose="02040503050406030204" pitchFamily="18" charset="0"/>
                              </a:rPr>
                            </m:ctrlPr>
                          </m:sSubPr>
                          <m:e>
                            <m:r>
                              <a:rPr lang="en-IN" i="1" smtClean="0">
                                <a:latin typeface="Cambria Math" panose="02040503050406030204" pitchFamily="18" charset="0"/>
                                <a:ea typeface="Cambria Math" panose="02040503050406030204" pitchFamily="18" charset="0"/>
                              </a:rPr>
                              <m:t>𝜎</m:t>
                            </m:r>
                          </m:e>
                          <m:sub>
                            <m:r>
                              <a:rPr lang="en-IN" i="1">
                                <a:latin typeface="Cambria Math" panose="02040503050406030204" pitchFamily="18" charset="0"/>
                              </a:rPr>
                              <m:t>𝑥</m:t>
                            </m:r>
                          </m:sub>
                        </m:sSub>
                      </m:oMath>
                    </m:oMathPara>
                  </a14:m>
                  <a:endParaRPr lang="en-IN" dirty="0"/>
                </a:p>
              </p:txBody>
            </p:sp>
          </mc:Choice>
          <mc:Fallback xmlns="">
            <p:sp>
              <p:nvSpPr>
                <p:cNvPr id="71" name="TextBox 70"/>
                <p:cNvSpPr txBox="1">
                  <a:spLocks noRot="1" noChangeAspect="1" noMove="1" noResize="1" noEditPoints="1" noAdjustHandles="1" noChangeArrowheads="1" noChangeShapeType="1" noTextEdit="1"/>
                </p:cNvSpPr>
                <p:nvPr/>
              </p:nvSpPr>
              <p:spPr>
                <a:xfrm>
                  <a:off x="9728133" y="2963536"/>
                  <a:ext cx="592342" cy="416922"/>
                </a:xfrm>
                <a:prstGeom prst="ellipse">
                  <a:avLst/>
                </a:prstGeom>
                <a:blipFill>
                  <a:blip r:embed="rId6"/>
                  <a:stretch>
                    <a:fillRect/>
                  </a:stretch>
                </a:blipFill>
                <a:ln>
                  <a:solidFill>
                    <a:schemeClr val="accent2">
                      <a:lumMod val="75000"/>
                    </a:schemeClr>
                  </a:solidFill>
                </a:ln>
              </p:spPr>
              <p:txBody>
                <a:bodyPr/>
                <a:lstStyle/>
                <a:p>
                  <a:r>
                    <a:rPr lang="en-IN">
                      <a:noFill/>
                    </a:rPr>
                    <a:t> </a:t>
                  </a:r>
                </a:p>
              </p:txBody>
            </p:sp>
          </mc:Fallback>
        </mc:AlternateContent>
        <p:cxnSp>
          <p:nvCxnSpPr>
            <p:cNvPr id="24" name="Straight Arrow Connector 23">
              <a:extLst>
                <a:ext uri="{FF2B5EF4-FFF2-40B4-BE49-F238E27FC236}">
                  <a16:creationId xmlns:a16="http://schemas.microsoft.com/office/drawing/2014/main" id="{36C1FFBD-DAAC-4C8D-906D-9861CA531085}"/>
                </a:ext>
              </a:extLst>
            </p:cNvPr>
            <p:cNvCxnSpPr/>
            <p:nvPr/>
          </p:nvCxnSpPr>
          <p:spPr>
            <a:xfrm>
              <a:off x="10031070" y="3422096"/>
              <a:ext cx="0" cy="490796"/>
            </a:xfrm>
            <a:prstGeom prst="straightConnector1">
              <a:avLst/>
            </a:prstGeom>
            <a:ln w="15875">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Google Shape;254;p10">
              <a:extLst>
                <a:ext uri="{FF2B5EF4-FFF2-40B4-BE49-F238E27FC236}">
                  <a16:creationId xmlns:a16="http://schemas.microsoft.com/office/drawing/2014/main" id="{197CA346-62D1-460D-AE79-228EE9051292}"/>
                </a:ext>
              </a:extLst>
            </p:cNvPr>
            <p:cNvSpPr txBox="1"/>
            <p:nvPr/>
          </p:nvSpPr>
          <p:spPr>
            <a:xfrm>
              <a:off x="10428815" y="2949391"/>
              <a:ext cx="72602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600" dirty="0">
                  <a:solidFill>
                    <a:srgbClr val="7030A0"/>
                  </a:solidFill>
                  <a:latin typeface="Cambria Math"/>
                  <a:ea typeface="Cambria Math"/>
                  <a:cs typeface="Cambria Math"/>
                  <a:sym typeface="Cambria Math"/>
                </a:rPr>
                <a:t>p(</a:t>
              </a:r>
              <a:r>
                <a:rPr lang="en-IN" sz="1600" dirty="0" err="1">
                  <a:solidFill>
                    <a:srgbClr val="7030A0"/>
                  </a:solidFill>
                  <a:latin typeface="Cambria Math"/>
                  <a:ea typeface="Cambria Math"/>
                  <a:cs typeface="Cambria Math"/>
                  <a:sym typeface="Cambria Math"/>
                </a:rPr>
                <a:t>z|x</a:t>
              </a:r>
              <a:r>
                <a:rPr lang="en-IN" sz="1600" dirty="0">
                  <a:solidFill>
                    <a:srgbClr val="7030A0"/>
                  </a:solidFill>
                  <a:latin typeface="Cambria Math"/>
                  <a:ea typeface="Cambria Math"/>
                  <a:cs typeface="Cambria Math"/>
                  <a:sym typeface="Cambria Math"/>
                </a:rPr>
                <a:t>)</a:t>
              </a:r>
              <a:endParaRPr dirty="0">
                <a:solidFill>
                  <a:srgbClr val="7030A0"/>
                </a:solidFill>
              </a:endParaRPr>
            </a:p>
          </p:txBody>
        </p:sp>
        <p:sp>
          <p:nvSpPr>
            <p:cNvPr id="26" name="Google Shape;255;p10">
              <a:extLst>
                <a:ext uri="{FF2B5EF4-FFF2-40B4-BE49-F238E27FC236}">
                  <a16:creationId xmlns:a16="http://schemas.microsoft.com/office/drawing/2014/main" id="{522348F9-F4DE-4F1B-8556-9D8CF3D4AF2B}"/>
                </a:ext>
              </a:extLst>
            </p:cNvPr>
            <p:cNvSpPr txBox="1"/>
            <p:nvPr/>
          </p:nvSpPr>
          <p:spPr>
            <a:xfrm>
              <a:off x="10411079" y="3998068"/>
              <a:ext cx="110233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600" dirty="0">
                  <a:solidFill>
                    <a:srgbClr val="7030A0"/>
                  </a:solidFill>
                  <a:latin typeface="Cambria Math"/>
                  <a:ea typeface="Cambria Math"/>
                  <a:cs typeface="Cambria Math"/>
                  <a:sym typeface="Cambria Math"/>
                </a:rPr>
                <a:t>z ~ p(</a:t>
              </a:r>
              <a:r>
                <a:rPr lang="en-IN" sz="1600" dirty="0" err="1">
                  <a:solidFill>
                    <a:srgbClr val="7030A0"/>
                  </a:solidFill>
                  <a:latin typeface="Cambria Math"/>
                  <a:ea typeface="Cambria Math"/>
                  <a:cs typeface="Cambria Math"/>
                  <a:sym typeface="Cambria Math"/>
                </a:rPr>
                <a:t>z|x</a:t>
              </a:r>
              <a:r>
                <a:rPr lang="en-IN" sz="1600" dirty="0">
                  <a:solidFill>
                    <a:srgbClr val="7030A0"/>
                  </a:solidFill>
                  <a:latin typeface="Cambria Math"/>
                  <a:ea typeface="Cambria Math"/>
                  <a:cs typeface="Cambria Math"/>
                  <a:sym typeface="Cambria Math"/>
                </a:rPr>
                <a:t>)</a:t>
              </a:r>
              <a:endParaRPr dirty="0">
                <a:solidFill>
                  <a:srgbClr val="7030A0"/>
                </a:solidFill>
              </a:endParaRPr>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42EAF81B-8BD0-4062-A5F5-315839FE77A7}"/>
                    </a:ext>
                  </a:extLst>
                </p:cNvPr>
                <p:cNvSpPr/>
                <p:nvPr/>
              </p:nvSpPr>
              <p:spPr>
                <a:xfrm>
                  <a:off x="9453025" y="5669265"/>
                  <a:ext cx="1142557" cy="3767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ar-AE" i="1" smtClean="0">
                                <a:solidFill>
                                  <a:srgbClr val="7030A0"/>
                                </a:solidFill>
                                <a:latin typeface="Cambria Math" panose="02040503050406030204" pitchFamily="18" charset="0"/>
                                <a:sym typeface="Times New Roman"/>
                              </a:rPr>
                            </m:ctrlPr>
                          </m:accPr>
                          <m:e>
                            <m:r>
                              <a:rPr lang="en-IN" b="0" i="1" smtClean="0">
                                <a:solidFill>
                                  <a:srgbClr val="7030A0"/>
                                </a:solidFill>
                                <a:latin typeface="Cambria Math" panose="02040503050406030204" pitchFamily="18" charset="0"/>
                                <a:sym typeface="Times New Roman"/>
                              </a:rPr>
                              <m:t>𝑋</m:t>
                            </m:r>
                          </m:e>
                        </m:acc>
                        <m:r>
                          <a:rPr lang="en-IN" b="0" i="1" smtClean="0">
                            <a:solidFill>
                              <a:srgbClr val="7030A0"/>
                            </a:solidFill>
                            <a:latin typeface="Cambria Math" panose="02040503050406030204" pitchFamily="18" charset="0"/>
                            <a:sym typeface="Times New Roman"/>
                          </a:rPr>
                          <m:t>=</m:t>
                        </m:r>
                        <m:r>
                          <a:rPr lang="en-IN" b="0" i="1" smtClean="0">
                            <a:solidFill>
                              <a:srgbClr val="7030A0"/>
                            </a:solidFill>
                            <a:latin typeface="Cambria Math" panose="02040503050406030204" pitchFamily="18" charset="0"/>
                            <a:sym typeface="Times New Roman"/>
                          </a:rPr>
                          <m:t>𝑑</m:t>
                        </m:r>
                        <m:r>
                          <a:rPr lang="en-IN" b="0" i="1" smtClean="0">
                            <a:solidFill>
                              <a:srgbClr val="7030A0"/>
                            </a:solidFill>
                            <a:latin typeface="Cambria Math" panose="02040503050406030204" pitchFamily="18" charset="0"/>
                            <a:sym typeface="Times New Roman"/>
                          </a:rPr>
                          <m:t>(</m:t>
                        </m:r>
                        <m:r>
                          <a:rPr lang="en-IN" b="0" i="1" smtClean="0">
                            <a:solidFill>
                              <a:srgbClr val="7030A0"/>
                            </a:solidFill>
                            <a:latin typeface="Cambria Math" panose="02040503050406030204" pitchFamily="18" charset="0"/>
                            <a:sym typeface="Times New Roman"/>
                          </a:rPr>
                          <m:t>𝑧</m:t>
                        </m:r>
                        <m:r>
                          <a:rPr lang="en-IN" b="0" i="1" smtClean="0">
                            <a:solidFill>
                              <a:srgbClr val="7030A0"/>
                            </a:solidFill>
                            <a:latin typeface="Cambria Math" panose="02040503050406030204" pitchFamily="18" charset="0"/>
                            <a:sym typeface="Times New Roman"/>
                          </a:rPr>
                          <m:t>)</m:t>
                        </m:r>
                      </m:oMath>
                    </m:oMathPara>
                  </a14:m>
                  <a:endParaRPr lang="en-IN" dirty="0"/>
                </a:p>
              </p:txBody>
            </p:sp>
          </mc:Choice>
          <mc:Fallback xmlns="">
            <p:sp>
              <p:nvSpPr>
                <p:cNvPr id="7" name="Rectangle 6"/>
                <p:cNvSpPr>
                  <a:spLocks noRot="1" noChangeAspect="1" noMove="1" noResize="1" noEditPoints="1" noAdjustHandles="1" noChangeArrowheads="1" noChangeShapeType="1" noTextEdit="1"/>
                </p:cNvSpPr>
                <p:nvPr/>
              </p:nvSpPr>
              <p:spPr>
                <a:xfrm>
                  <a:off x="9453025" y="5669265"/>
                  <a:ext cx="1142557" cy="376770"/>
                </a:xfrm>
                <a:prstGeom prst="rect">
                  <a:avLst/>
                </a:prstGeom>
                <a:blipFill>
                  <a:blip r:embed="rId7"/>
                  <a:stretch>
                    <a:fillRect t="-1613" b="-1290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E021B4AE-E40C-4E52-8AC1-3043A8041792}"/>
                    </a:ext>
                  </a:extLst>
                </p:cNvPr>
                <p:cNvSpPr/>
                <p:nvPr/>
              </p:nvSpPr>
              <p:spPr>
                <a:xfrm>
                  <a:off x="9851961" y="1380292"/>
                  <a:ext cx="39228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b="0" i="1" smtClean="0">
                            <a:solidFill>
                              <a:srgbClr val="7030A0"/>
                            </a:solidFill>
                            <a:latin typeface="Cambria Math" panose="02040503050406030204" pitchFamily="18" charset="0"/>
                          </a:rPr>
                          <m:t>𝑋</m:t>
                        </m:r>
                      </m:oMath>
                    </m:oMathPara>
                  </a14:m>
                  <a:endParaRPr lang="en-IN" dirty="0">
                    <a:solidFill>
                      <a:srgbClr val="7030A0"/>
                    </a:solidFill>
                  </a:endParaRPr>
                </a:p>
              </p:txBody>
            </p:sp>
          </mc:Choice>
          <mc:Fallback xmlns="">
            <p:sp>
              <p:nvSpPr>
                <p:cNvPr id="87" name="Rectangle 86"/>
                <p:cNvSpPr>
                  <a:spLocks noRot="1" noChangeAspect="1" noMove="1" noResize="1" noEditPoints="1" noAdjustHandles="1" noChangeArrowheads="1" noChangeShapeType="1" noTextEdit="1"/>
                </p:cNvSpPr>
                <p:nvPr/>
              </p:nvSpPr>
              <p:spPr>
                <a:xfrm>
                  <a:off x="9851961" y="1380292"/>
                  <a:ext cx="392287" cy="369332"/>
                </a:xfrm>
                <a:prstGeom prst="rect">
                  <a:avLst/>
                </a:prstGeom>
                <a:blipFill>
                  <a:blip r:embed="rId8"/>
                  <a:stretch>
                    <a:fillRect/>
                  </a:stretch>
                </a:blipFill>
              </p:spPr>
              <p:txBody>
                <a:bodyPr/>
                <a:lstStyle/>
                <a:p>
                  <a:r>
                    <a:rPr lang="en-IN">
                      <a:noFill/>
                    </a:rPr>
                    <a:t> </a:t>
                  </a:r>
                </a:p>
              </p:txBody>
            </p:sp>
          </mc:Fallback>
        </mc:AlternateContent>
        <p:sp>
          <p:nvSpPr>
            <p:cNvPr id="29" name="Google Shape;252;p10">
              <a:extLst>
                <a:ext uri="{FF2B5EF4-FFF2-40B4-BE49-F238E27FC236}">
                  <a16:creationId xmlns:a16="http://schemas.microsoft.com/office/drawing/2014/main" id="{0C4CD3CE-D8AD-45C4-9E20-9EB64F270CF8}"/>
                </a:ext>
              </a:extLst>
            </p:cNvPr>
            <p:cNvSpPr txBox="1"/>
            <p:nvPr/>
          </p:nvSpPr>
          <p:spPr>
            <a:xfrm>
              <a:off x="10595582" y="2294015"/>
              <a:ext cx="124721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600" dirty="0">
                  <a:solidFill>
                    <a:srgbClr val="7030A0"/>
                  </a:solidFill>
                  <a:latin typeface="Times New Roman"/>
                  <a:ea typeface="Times New Roman"/>
                  <a:cs typeface="Times New Roman"/>
                  <a:sym typeface="Times New Roman"/>
                </a:rPr>
                <a:t>Probabilistic Encoder </a:t>
              </a:r>
              <a:endParaRPr dirty="0">
                <a:solidFill>
                  <a:srgbClr val="7030A0"/>
                </a:solidFill>
              </a:endParaRPr>
            </a:p>
          </p:txBody>
        </p:sp>
        <p:sp>
          <p:nvSpPr>
            <p:cNvPr id="30" name="Google Shape;253;p10">
              <a:extLst>
                <a:ext uri="{FF2B5EF4-FFF2-40B4-BE49-F238E27FC236}">
                  <a16:creationId xmlns:a16="http://schemas.microsoft.com/office/drawing/2014/main" id="{1EE9B6C4-A5AD-4C8C-8BC1-A82FBC4461CB}"/>
                </a:ext>
              </a:extLst>
            </p:cNvPr>
            <p:cNvSpPr txBox="1"/>
            <p:nvPr/>
          </p:nvSpPr>
          <p:spPr>
            <a:xfrm>
              <a:off x="10595581" y="4597571"/>
              <a:ext cx="124721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600" dirty="0">
                  <a:solidFill>
                    <a:srgbClr val="7030A0"/>
                  </a:solidFill>
                  <a:latin typeface="Times New Roman"/>
                  <a:ea typeface="Times New Roman"/>
                  <a:cs typeface="Times New Roman"/>
                  <a:sym typeface="Times New Roman"/>
                </a:rPr>
                <a:t>Probabilistic</a:t>
              </a:r>
              <a:endParaRPr dirty="0">
                <a:solidFill>
                  <a:srgbClr val="7030A0"/>
                </a:solidFill>
              </a:endParaRPr>
            </a:p>
            <a:p>
              <a:pPr marL="0" marR="0" lvl="0" indent="0" algn="ctr" rtl="0">
                <a:spcBef>
                  <a:spcPts val="0"/>
                </a:spcBef>
                <a:spcAft>
                  <a:spcPts val="0"/>
                </a:spcAft>
                <a:buNone/>
              </a:pPr>
              <a:r>
                <a:rPr lang="en-IN" sz="1600" dirty="0">
                  <a:solidFill>
                    <a:srgbClr val="7030A0"/>
                  </a:solidFill>
                  <a:latin typeface="Times New Roman"/>
                  <a:ea typeface="Times New Roman"/>
                  <a:cs typeface="Times New Roman"/>
                  <a:sym typeface="Times New Roman"/>
                </a:rPr>
                <a:t>Decoder </a:t>
              </a:r>
              <a:endParaRPr dirty="0">
                <a:solidFill>
                  <a:srgbClr val="7030A0"/>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EC6E4B9-C2C6-4E64-93DC-7F01C982D82E}"/>
                    </a:ext>
                  </a:extLst>
                </p:cNvPr>
                <p:cNvSpPr txBox="1"/>
                <p:nvPr/>
              </p:nvSpPr>
              <p:spPr>
                <a:xfrm>
                  <a:off x="8111280" y="2733020"/>
                  <a:ext cx="108555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000" i="1" smtClean="0">
                            <a:solidFill>
                              <a:srgbClr val="7030A0"/>
                            </a:solidFill>
                            <a:latin typeface="Cambria Math" panose="02040503050406030204" pitchFamily="18" charset="0"/>
                          </a:rPr>
                          <m:t>𝑁</m:t>
                        </m:r>
                        <m:r>
                          <a:rPr lang="en-IN" sz="2000" b="0" i="1" smtClean="0">
                            <a:solidFill>
                              <a:srgbClr val="7030A0"/>
                            </a:solidFill>
                            <a:latin typeface="Cambria Math" panose="02040503050406030204" pitchFamily="18" charset="0"/>
                          </a:rPr>
                          <m:t>(</m:t>
                        </m:r>
                        <m:sSub>
                          <m:sSubPr>
                            <m:ctrlPr>
                              <a:rPr lang="en-IN" sz="2000" i="1">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ea typeface="Cambria Math" panose="02040503050406030204" pitchFamily="18" charset="0"/>
                              </a:rPr>
                              <m:t>𝜇</m:t>
                            </m:r>
                          </m:e>
                          <m:sub>
                            <m:r>
                              <a:rPr lang="en-IN" sz="2000" i="1">
                                <a:solidFill>
                                  <a:srgbClr val="7030A0"/>
                                </a:solidFill>
                                <a:latin typeface="Cambria Math" panose="02040503050406030204" pitchFamily="18" charset="0"/>
                              </a:rPr>
                              <m:t>𝑥</m:t>
                            </m:r>
                          </m:sub>
                        </m:sSub>
                        <m:r>
                          <a:rPr lang="en-IN" sz="2000" b="0" i="1" smtClean="0">
                            <a:solidFill>
                              <a:srgbClr val="7030A0"/>
                            </a:solidFill>
                            <a:latin typeface="Cambria Math" panose="02040503050406030204" pitchFamily="18" charset="0"/>
                          </a:rPr>
                          <m:t>,</m:t>
                        </m:r>
                        <m:sSub>
                          <m:sSubPr>
                            <m:ctrlPr>
                              <a:rPr lang="en-IN" sz="2000" i="1">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ea typeface="Cambria Math" panose="02040503050406030204" pitchFamily="18" charset="0"/>
                              </a:rPr>
                              <m:t>𝜎</m:t>
                            </m:r>
                          </m:e>
                          <m:sub>
                            <m:r>
                              <a:rPr lang="en-IN" sz="2000" i="1">
                                <a:solidFill>
                                  <a:srgbClr val="7030A0"/>
                                </a:solidFill>
                                <a:latin typeface="Cambria Math" panose="02040503050406030204" pitchFamily="18" charset="0"/>
                              </a:rPr>
                              <m:t>𝑥</m:t>
                            </m:r>
                          </m:sub>
                        </m:sSub>
                        <m:r>
                          <a:rPr lang="en-IN" sz="2000" b="0" i="1" smtClean="0">
                            <a:solidFill>
                              <a:srgbClr val="7030A0"/>
                            </a:solidFill>
                            <a:latin typeface="Cambria Math" panose="02040503050406030204" pitchFamily="18" charset="0"/>
                          </a:rPr>
                          <m:t>)</m:t>
                        </m:r>
                      </m:oMath>
                    </m:oMathPara>
                  </a14:m>
                  <a:endParaRPr lang="en-IN" sz="2000" dirty="0">
                    <a:solidFill>
                      <a:srgbClr val="7030A0"/>
                    </a:solidFill>
                  </a:endParaRPr>
                </a:p>
              </p:txBody>
            </p:sp>
          </mc:Choice>
          <mc:Fallback xmlns="">
            <p:sp>
              <p:nvSpPr>
                <p:cNvPr id="91" name="TextBox 90"/>
                <p:cNvSpPr txBox="1">
                  <a:spLocks noRot="1" noChangeAspect="1" noMove="1" noResize="1" noEditPoints="1" noAdjustHandles="1" noChangeArrowheads="1" noChangeShapeType="1" noTextEdit="1"/>
                </p:cNvSpPr>
                <p:nvPr/>
              </p:nvSpPr>
              <p:spPr>
                <a:xfrm>
                  <a:off x="8111280" y="2733020"/>
                  <a:ext cx="1085554" cy="307777"/>
                </a:xfrm>
                <a:prstGeom prst="rect">
                  <a:avLst/>
                </a:prstGeom>
                <a:blipFill>
                  <a:blip r:embed="rId9"/>
                  <a:stretch>
                    <a:fillRect l="-5618" t="-1961" r="-8427" b="-3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AC58CD0-974F-4CEC-B496-B6C16AB0D9AE}"/>
                    </a:ext>
                  </a:extLst>
                </p:cNvPr>
                <p:cNvSpPr txBox="1"/>
                <p:nvPr/>
              </p:nvSpPr>
              <p:spPr>
                <a:xfrm>
                  <a:off x="7979259" y="4347918"/>
                  <a:ext cx="142686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000" b="0" i="1" smtClean="0">
                            <a:solidFill>
                              <a:srgbClr val="7030A0"/>
                            </a:solidFill>
                            <a:latin typeface="Cambria Math" panose="02040503050406030204" pitchFamily="18" charset="0"/>
                          </a:rPr>
                          <m:t>𝑍</m:t>
                        </m:r>
                        <m:r>
                          <a:rPr lang="en-IN" sz="2000" b="0" i="1" smtClean="0">
                            <a:solidFill>
                              <a:srgbClr val="7030A0"/>
                            </a:solidFill>
                            <a:latin typeface="Cambria Math" panose="02040503050406030204" pitchFamily="18" charset="0"/>
                            <a:ea typeface="Cambria Math" panose="02040503050406030204" pitchFamily="18" charset="0"/>
                          </a:rPr>
                          <m:t>~</m:t>
                        </m:r>
                        <m:r>
                          <a:rPr lang="en-IN" sz="2000" i="1" smtClean="0">
                            <a:solidFill>
                              <a:srgbClr val="7030A0"/>
                            </a:solidFill>
                            <a:latin typeface="Cambria Math" panose="02040503050406030204" pitchFamily="18" charset="0"/>
                          </a:rPr>
                          <m:t>𝑁</m:t>
                        </m:r>
                        <m:r>
                          <a:rPr lang="en-IN" sz="2000" b="0" i="1" smtClean="0">
                            <a:solidFill>
                              <a:srgbClr val="7030A0"/>
                            </a:solidFill>
                            <a:latin typeface="Cambria Math" panose="02040503050406030204" pitchFamily="18" charset="0"/>
                          </a:rPr>
                          <m:t>(</m:t>
                        </m:r>
                        <m:sSub>
                          <m:sSubPr>
                            <m:ctrlPr>
                              <a:rPr lang="en-IN" sz="2000" i="1">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ea typeface="Cambria Math" panose="02040503050406030204" pitchFamily="18" charset="0"/>
                              </a:rPr>
                              <m:t>𝜇</m:t>
                            </m:r>
                          </m:e>
                          <m:sub>
                            <m:r>
                              <a:rPr lang="en-IN" sz="2000" i="1">
                                <a:solidFill>
                                  <a:srgbClr val="7030A0"/>
                                </a:solidFill>
                                <a:latin typeface="Cambria Math" panose="02040503050406030204" pitchFamily="18" charset="0"/>
                              </a:rPr>
                              <m:t>𝑥</m:t>
                            </m:r>
                          </m:sub>
                        </m:sSub>
                        <m:r>
                          <a:rPr lang="en-IN" sz="2000" b="0" i="1" smtClean="0">
                            <a:solidFill>
                              <a:srgbClr val="7030A0"/>
                            </a:solidFill>
                            <a:latin typeface="Cambria Math" panose="02040503050406030204" pitchFamily="18" charset="0"/>
                          </a:rPr>
                          <m:t>,</m:t>
                        </m:r>
                        <m:sSub>
                          <m:sSubPr>
                            <m:ctrlPr>
                              <a:rPr lang="en-IN" sz="2000" i="1">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ea typeface="Cambria Math" panose="02040503050406030204" pitchFamily="18" charset="0"/>
                              </a:rPr>
                              <m:t>𝜎</m:t>
                            </m:r>
                          </m:e>
                          <m:sub>
                            <m:r>
                              <a:rPr lang="en-IN" sz="2000" i="1">
                                <a:solidFill>
                                  <a:srgbClr val="7030A0"/>
                                </a:solidFill>
                                <a:latin typeface="Cambria Math" panose="02040503050406030204" pitchFamily="18" charset="0"/>
                              </a:rPr>
                              <m:t>𝑥</m:t>
                            </m:r>
                          </m:sub>
                        </m:sSub>
                        <m:r>
                          <a:rPr lang="en-IN" sz="2000" b="0" i="1" smtClean="0">
                            <a:solidFill>
                              <a:srgbClr val="7030A0"/>
                            </a:solidFill>
                            <a:latin typeface="Cambria Math" panose="02040503050406030204" pitchFamily="18" charset="0"/>
                          </a:rPr>
                          <m:t>)</m:t>
                        </m:r>
                      </m:oMath>
                    </m:oMathPara>
                  </a14:m>
                  <a:endParaRPr lang="en-IN" sz="2000" dirty="0">
                    <a:solidFill>
                      <a:srgbClr val="7030A0"/>
                    </a:solidFill>
                  </a:endParaRPr>
                </a:p>
              </p:txBody>
            </p:sp>
          </mc:Choice>
          <mc:Fallback xmlns="">
            <p:sp>
              <p:nvSpPr>
                <p:cNvPr id="92" name="TextBox 91"/>
                <p:cNvSpPr txBox="1">
                  <a:spLocks noRot="1" noChangeAspect="1" noMove="1" noResize="1" noEditPoints="1" noAdjustHandles="1" noChangeArrowheads="1" noChangeShapeType="1" noTextEdit="1"/>
                </p:cNvSpPr>
                <p:nvPr/>
              </p:nvSpPr>
              <p:spPr>
                <a:xfrm>
                  <a:off x="7979259" y="4347918"/>
                  <a:ext cx="1426865" cy="307777"/>
                </a:xfrm>
                <a:prstGeom prst="rect">
                  <a:avLst/>
                </a:prstGeom>
                <a:blipFill>
                  <a:blip r:embed="rId10"/>
                  <a:stretch>
                    <a:fillRect l="-3846" t="-1961" r="-6410" b="-33333"/>
                  </a:stretch>
                </a:blipFill>
              </p:spPr>
              <p:txBody>
                <a:bodyPr/>
                <a:lstStyle/>
                <a:p>
                  <a:r>
                    <a:rPr lang="en-IN">
                      <a:noFill/>
                    </a:rPr>
                    <a:t> </a:t>
                  </a:r>
                </a:p>
              </p:txBody>
            </p:sp>
          </mc:Fallback>
        </mc:AlternateContent>
      </p:grpSp>
    </p:spTree>
    <p:extLst>
      <p:ext uri="{BB962C8B-B14F-4D97-AF65-F5344CB8AC3E}">
        <p14:creationId xmlns:p14="http://schemas.microsoft.com/office/powerpoint/2010/main" val="1512588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4" name="TextBox 83"/>
              <p:cNvSpPr txBox="1"/>
              <p:nvPr/>
            </p:nvSpPr>
            <p:spPr>
              <a:xfrm>
                <a:off x="9450158" y="1283244"/>
                <a:ext cx="821690" cy="735747"/>
              </a:xfrm>
              <a:prstGeom prst="ellipse">
                <a:avLst/>
              </a:prstGeom>
              <a:solidFill>
                <a:srgbClr val="FF0000">
                  <a:alpha val="22000"/>
                </a:srgbClr>
              </a:solidFill>
              <a:ln>
                <a:solidFill>
                  <a:schemeClr val="accent5">
                    <a:lumMod val="75000"/>
                  </a:schemeClr>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IN" sz="2800" b="0" i="1" smtClean="0">
                          <a:solidFill>
                            <a:srgbClr val="7030A0"/>
                          </a:solidFill>
                          <a:latin typeface="Cambria Math" panose="02040503050406030204" pitchFamily="18" charset="0"/>
                          <a:cs typeface="Times New Roman" panose="02020603050405020304" pitchFamily="18" charset="0"/>
                        </a:rPr>
                        <m:t>  </m:t>
                      </m:r>
                      <m:r>
                        <a:rPr lang="en-IN" sz="2800" i="1">
                          <a:solidFill>
                            <a:srgbClr val="7030A0"/>
                          </a:solidFill>
                          <a:latin typeface="Cambria Math" panose="02040503050406030204" pitchFamily="18" charset="0"/>
                          <a:cs typeface="Times New Roman" panose="02020603050405020304" pitchFamily="18" charset="0"/>
                        </a:rPr>
                        <m:t>𝑥</m:t>
                      </m:r>
                    </m:oMath>
                  </m:oMathPara>
                </a14:m>
                <a:endParaRPr lang="en-IN" sz="2800" i="1" dirty="0">
                  <a:latin typeface="Arial Narrow" panose="020B0606020202030204" pitchFamily="34" charset="0"/>
                  <a:cs typeface="Times New Roman" panose="02020603050405020304" pitchFamily="18" charset="0"/>
                </a:endParaRPr>
              </a:p>
            </p:txBody>
          </p:sp>
        </mc:Choice>
        <mc:Fallback>
          <p:sp>
            <p:nvSpPr>
              <p:cNvPr id="84" name="TextBox 83"/>
              <p:cNvSpPr txBox="1">
                <a:spLocks noRot="1" noChangeAspect="1" noMove="1" noResize="1" noEditPoints="1" noAdjustHandles="1" noChangeArrowheads="1" noChangeShapeType="1" noTextEdit="1"/>
              </p:cNvSpPr>
              <p:nvPr/>
            </p:nvSpPr>
            <p:spPr>
              <a:xfrm>
                <a:off x="9450158" y="1283244"/>
                <a:ext cx="821690" cy="735747"/>
              </a:xfrm>
              <a:prstGeom prst="ellipse">
                <a:avLst/>
              </a:prstGeom>
              <a:blipFill>
                <a:blip r:embed="rId3"/>
                <a:stretch>
                  <a:fillRect/>
                </a:stretch>
              </a:blipFill>
              <a:ln>
                <a:solidFill>
                  <a:schemeClr val="accent5">
                    <a:lumMod val="75000"/>
                  </a:schemeClr>
                </a:solidFill>
              </a:ln>
            </p:spPr>
            <p:txBody>
              <a:bodyPr/>
              <a:lstStyle/>
              <a:p>
                <a:r>
                  <a:rPr lang="en-GB">
                    <a:noFill/>
                  </a:rPr>
                  <a:t> </a:t>
                </a:r>
              </a:p>
            </p:txBody>
          </p:sp>
        </mc:Fallback>
      </mc:AlternateContent>
      <p:sp>
        <p:nvSpPr>
          <p:cNvPr id="125" name="Google Shape;125;p4"/>
          <p:cNvSpPr txBox="1"/>
          <p:nvPr/>
        </p:nvSpPr>
        <p:spPr>
          <a:xfrm>
            <a:off x="1210025" y="5582627"/>
            <a:ext cx="1520291" cy="58473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600" dirty="0">
                <a:solidFill>
                  <a:srgbClr val="7030A0"/>
                </a:solidFill>
                <a:latin typeface="Arial Narrow" panose="020B0606020202030204" pitchFamily="34" charset="0"/>
                <a:ea typeface="Times New Roman"/>
                <a:cs typeface="Times New Roman"/>
                <a:sym typeface="Times New Roman"/>
              </a:rPr>
              <a:t>Probabilistic Encoder</a:t>
            </a:r>
            <a:endParaRPr dirty="0">
              <a:solidFill>
                <a:srgbClr val="7030A0"/>
              </a:solidFill>
              <a:latin typeface="Arial Narrow" panose="020B0606020202030204" pitchFamily="34" charset="0"/>
            </a:endParaRPr>
          </a:p>
        </p:txBody>
      </p:sp>
      <p:sp>
        <p:nvSpPr>
          <p:cNvPr id="151" name="Google Shape;151;p4"/>
          <p:cNvSpPr txBox="1">
            <a:spLocks noGrp="1"/>
          </p:cNvSpPr>
          <p:nvPr>
            <p:ph type="title"/>
          </p:nvPr>
        </p:nvSpPr>
        <p:spPr>
          <a:xfrm>
            <a:off x="838200" y="365125"/>
            <a:ext cx="10515600" cy="100074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200"/>
              <a:buFont typeface="Book Antiqua"/>
              <a:buNone/>
            </a:pPr>
            <a:r>
              <a:rPr lang="en-IN" sz="3600" dirty="0">
                <a:solidFill>
                  <a:schemeClr val="tx1"/>
                </a:solidFill>
                <a:latin typeface="Century" panose="02040604050505020304" pitchFamily="18" charset="0"/>
                <a:ea typeface="Book Antiqua"/>
                <a:cs typeface="Book Antiqua"/>
                <a:sym typeface="Book Antiqua"/>
              </a:rPr>
              <a:t>Variational Auto-Encoder</a:t>
            </a:r>
            <a:endParaRPr sz="3600" dirty="0">
              <a:solidFill>
                <a:schemeClr val="tx1"/>
              </a:solidFill>
              <a:latin typeface="Century" panose="02040604050505020304" pitchFamily="18" charset="0"/>
            </a:endParaRPr>
          </a:p>
        </p:txBody>
      </p:sp>
      <p:sp>
        <p:nvSpPr>
          <p:cNvPr id="152" name="Google Shape;152;p4"/>
          <p:cNvSpPr/>
          <p:nvPr/>
        </p:nvSpPr>
        <p:spPr>
          <a:xfrm>
            <a:off x="3981789" y="6576204"/>
            <a:ext cx="926054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400" b="0" i="0" dirty="0">
                <a:solidFill>
                  <a:srgbClr val="1F1F1F"/>
                </a:solidFill>
                <a:latin typeface="Arial Narrow" panose="020B0606020202030204" pitchFamily="34" charset="0"/>
                <a:ea typeface="Times New Roman"/>
                <a:cs typeface="Times New Roman"/>
                <a:sym typeface="Times New Roman"/>
              </a:rPr>
              <a:t>Weng, Lilian. (2018). </a:t>
            </a:r>
            <a:r>
              <a:rPr lang="en-IN" sz="1400" dirty="0">
                <a:solidFill>
                  <a:srgbClr val="1F1F1F"/>
                </a:solidFill>
                <a:latin typeface="Arial Narrow" panose="020B0606020202030204" pitchFamily="34" charset="0"/>
                <a:ea typeface="Times New Roman"/>
                <a:cs typeface="Times New Roman"/>
                <a:sym typeface="Times New Roman"/>
              </a:rPr>
              <a:t>From Autoencoder to Beta-VAE,</a:t>
            </a:r>
            <a:r>
              <a:rPr lang="en-IN" sz="1400" b="0" i="0" dirty="0">
                <a:solidFill>
                  <a:srgbClr val="1F1F1F"/>
                </a:solidFill>
                <a:latin typeface="Arial Narrow" panose="020B0606020202030204" pitchFamily="34" charset="0"/>
                <a:ea typeface="Times New Roman"/>
                <a:cs typeface="Times New Roman"/>
                <a:sym typeface="Times New Roman"/>
              </a:rPr>
              <a:t> </a:t>
            </a:r>
            <a:r>
              <a:rPr lang="en-IN" sz="1400" b="0" i="0" dirty="0" err="1">
                <a:solidFill>
                  <a:srgbClr val="1F1F1F"/>
                </a:solidFill>
                <a:latin typeface="Arial Narrow" panose="020B0606020202030204" pitchFamily="34" charset="0"/>
                <a:ea typeface="Times New Roman"/>
                <a:cs typeface="Times New Roman"/>
                <a:sym typeface="Times New Roman"/>
              </a:rPr>
              <a:t>Lil’Log</a:t>
            </a:r>
            <a:r>
              <a:rPr lang="en-IN" sz="1400" b="0" i="0" dirty="0">
                <a:solidFill>
                  <a:srgbClr val="1F1F1F"/>
                </a:solidFill>
                <a:latin typeface="Arial Narrow" panose="020B0606020202030204" pitchFamily="34" charset="0"/>
                <a:ea typeface="Times New Roman"/>
                <a:cs typeface="Times New Roman"/>
                <a:sym typeface="Times New Roman"/>
              </a:rPr>
              <a:t>. </a:t>
            </a:r>
            <a:r>
              <a:rPr lang="en-IN" sz="1400" dirty="0">
                <a:solidFill>
                  <a:srgbClr val="1F1F1F"/>
                </a:solidFill>
                <a:latin typeface="Arial Narrow" panose="020B0606020202030204" pitchFamily="34" charset="0"/>
                <a:ea typeface="Times New Roman"/>
                <a:cs typeface="Times New Roman"/>
                <a:sym typeface="Times New Roman"/>
              </a:rPr>
              <a:t>"https://lilianweng.github.io/posts/2018-08-12-vae/"</a:t>
            </a:r>
            <a:endParaRPr sz="1400" dirty="0">
              <a:solidFill>
                <a:schemeClr val="dk1"/>
              </a:solidFill>
              <a:latin typeface="Arial Narrow" panose="020B0606020202030204" pitchFamily="34" charset="0"/>
              <a:ea typeface="Times New Roman"/>
              <a:cs typeface="Times New Roman"/>
              <a:sym typeface="Times New Roman"/>
            </a:endParaRPr>
          </a:p>
        </p:txBody>
      </p:sp>
      <p:sp>
        <p:nvSpPr>
          <p:cNvPr id="153" name="Google Shape;153;p4"/>
          <p:cNvSpPr/>
          <p:nvPr/>
        </p:nvSpPr>
        <p:spPr>
          <a:xfrm>
            <a:off x="6096000" y="6319440"/>
            <a:ext cx="598407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400">
                <a:solidFill>
                  <a:schemeClr val="dk1"/>
                </a:solidFill>
                <a:latin typeface="Arial Narrow" panose="020B0606020202030204" pitchFamily="34" charset="0"/>
                <a:ea typeface="Times New Roman"/>
                <a:cs typeface="Times New Roman"/>
                <a:sym typeface="Times New Roman"/>
              </a:rPr>
              <a:t>Concept: Fei-Fei Li, Ehsan Adeli, Generative Modelling, Stanford Lecture, 2024</a:t>
            </a:r>
            <a:endParaRPr>
              <a:latin typeface="Arial Narrow" panose="020B0606020202030204" pitchFamily="34" charset="0"/>
            </a:endParaRPr>
          </a:p>
        </p:txBody>
      </p:sp>
      <p:cxnSp>
        <p:nvCxnSpPr>
          <p:cNvPr id="44" name="Google Shape;103;p3"/>
          <p:cNvCxnSpPr>
            <a:stCxn id="46" idx="6"/>
            <a:endCxn id="47" idx="2"/>
          </p:cNvCxnSpPr>
          <p:nvPr/>
        </p:nvCxnSpPr>
        <p:spPr>
          <a:xfrm>
            <a:off x="3360124" y="5531102"/>
            <a:ext cx="1318550" cy="1"/>
          </a:xfrm>
          <a:prstGeom prst="straightConnector1">
            <a:avLst/>
          </a:prstGeom>
          <a:noFill/>
          <a:ln w="15875" cap="flat" cmpd="sng">
            <a:solidFill>
              <a:schemeClr val="accent1"/>
            </a:solidFill>
            <a:prstDash val="solid"/>
            <a:miter lim="800000"/>
            <a:headEnd type="none" w="sm" len="sm"/>
            <a:tailEnd type="triangle" w="med" len="med"/>
          </a:ln>
        </p:spPr>
      </p:cxnSp>
      <mc:AlternateContent xmlns:mc="http://schemas.openxmlformats.org/markup-compatibility/2006" xmlns:a14="http://schemas.microsoft.com/office/drawing/2010/main">
        <mc:Choice Requires="a14">
          <p:sp>
            <p:nvSpPr>
              <p:cNvPr id="46" name="TextBox 45"/>
              <p:cNvSpPr txBox="1"/>
              <p:nvPr/>
            </p:nvSpPr>
            <p:spPr>
              <a:xfrm>
                <a:off x="2538434" y="5163228"/>
                <a:ext cx="821690" cy="735747"/>
              </a:xfrm>
              <a:prstGeom prst="ellipse">
                <a:avLst/>
              </a:prstGeom>
              <a:solidFill>
                <a:srgbClr val="FF0000">
                  <a:alpha val="22000"/>
                </a:srgbClr>
              </a:solidFill>
              <a:ln>
                <a:solidFill>
                  <a:schemeClr val="accent5">
                    <a:lumMod val="75000"/>
                  </a:schemeClr>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IN" sz="2800" i="1">
                          <a:latin typeface="Cambria Math" panose="02040503050406030204" pitchFamily="18" charset="0"/>
                          <a:cs typeface="Times New Roman" panose="02020603050405020304" pitchFamily="18" charset="0"/>
                        </a:rPr>
                        <m:t>𝑧</m:t>
                      </m:r>
                    </m:oMath>
                  </m:oMathPara>
                </a14:m>
                <a:endParaRPr lang="en-IN" sz="2800" i="1" dirty="0">
                  <a:latin typeface="Arial Narrow" panose="020B0606020202030204" pitchFamily="34" charset="0"/>
                  <a:cs typeface="Times New Roman" panose="02020603050405020304" pitchFamily="18" charset="0"/>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2538434" y="5163228"/>
                <a:ext cx="821690" cy="735747"/>
              </a:xfrm>
              <a:prstGeom prst="ellipse">
                <a:avLst/>
              </a:prstGeom>
              <a:blipFill>
                <a:blip r:embed="rId4"/>
                <a:stretch>
                  <a:fillRect/>
                </a:stretch>
              </a:blipFill>
              <a:ln>
                <a:solidFill>
                  <a:schemeClr val="accent5">
                    <a:lumMod val="7500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4678674" y="5163229"/>
                <a:ext cx="821690" cy="735747"/>
              </a:xfrm>
              <a:prstGeom prst="ellipse">
                <a:avLst/>
              </a:prstGeom>
              <a:solidFill>
                <a:srgbClr val="FF0000">
                  <a:alpha val="22000"/>
                </a:srgbClr>
              </a:solidFill>
              <a:ln>
                <a:solidFill>
                  <a:schemeClr val="accent5">
                    <a:lumMod val="75000"/>
                  </a:schemeClr>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IN" sz="2800" b="0" i="1" smtClean="0">
                          <a:solidFill>
                            <a:srgbClr val="7030A0"/>
                          </a:solidFill>
                          <a:latin typeface="Cambria Math" panose="02040503050406030204" pitchFamily="18" charset="0"/>
                          <a:cs typeface="Times New Roman" panose="02020603050405020304" pitchFamily="18" charset="0"/>
                        </a:rPr>
                        <m:t> </m:t>
                      </m:r>
                      <m:r>
                        <a:rPr lang="en-IN" sz="2800" i="1">
                          <a:solidFill>
                            <a:srgbClr val="7030A0"/>
                          </a:solidFill>
                          <a:latin typeface="Cambria Math" panose="02040503050406030204" pitchFamily="18" charset="0"/>
                          <a:cs typeface="Times New Roman" panose="02020603050405020304" pitchFamily="18" charset="0"/>
                        </a:rPr>
                        <m:t>𝑥</m:t>
                      </m:r>
                    </m:oMath>
                  </m:oMathPara>
                </a14:m>
                <a:endParaRPr lang="en-IN" sz="2800" i="1" dirty="0">
                  <a:latin typeface="Arial Narrow" panose="020B0606020202030204" pitchFamily="34" charset="0"/>
                  <a:cs typeface="Times New Roman" panose="02020603050405020304" pitchFamily="18" charset="0"/>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4678674" y="5163229"/>
                <a:ext cx="821690" cy="735747"/>
              </a:xfrm>
              <a:prstGeom prst="ellipse">
                <a:avLst/>
              </a:prstGeom>
              <a:blipFill>
                <a:blip r:embed="rId5"/>
                <a:stretch>
                  <a:fillRect/>
                </a:stretch>
              </a:blipFill>
              <a:ln>
                <a:solidFill>
                  <a:schemeClr val="accent5">
                    <a:lumMod val="75000"/>
                  </a:schemeClr>
                </a:solidFill>
              </a:ln>
            </p:spPr>
            <p:txBody>
              <a:bodyPr/>
              <a:lstStyle/>
              <a:p>
                <a:r>
                  <a:rPr lang="en-IN">
                    <a:noFill/>
                  </a:rPr>
                  <a:t> </a:t>
                </a:r>
              </a:p>
            </p:txBody>
          </p:sp>
        </mc:Fallback>
      </mc:AlternateContent>
      <p:grpSp>
        <p:nvGrpSpPr>
          <p:cNvPr id="48" name="Group 47"/>
          <p:cNvGrpSpPr/>
          <p:nvPr/>
        </p:nvGrpSpPr>
        <p:grpSpPr>
          <a:xfrm>
            <a:off x="2571886" y="6406311"/>
            <a:ext cx="738187" cy="307496"/>
            <a:chOff x="5274467" y="5655326"/>
            <a:chExt cx="738187" cy="307496"/>
          </a:xfrm>
          <a:solidFill>
            <a:schemeClr val="accent4">
              <a:lumMod val="40000"/>
              <a:lumOff val="60000"/>
              <a:alpha val="9000"/>
            </a:schemeClr>
          </a:solidFill>
        </p:grpSpPr>
        <p:sp>
          <p:nvSpPr>
            <p:cNvPr id="49" name="Freeform 48"/>
            <p:cNvSpPr/>
            <p:nvPr/>
          </p:nvSpPr>
          <p:spPr>
            <a:xfrm>
              <a:off x="5274467" y="5655326"/>
              <a:ext cx="738187" cy="307496"/>
            </a:xfrm>
            <a:custGeom>
              <a:avLst/>
              <a:gdLst>
                <a:gd name="connsiteX0" fmla="*/ 0 w 759242"/>
                <a:gd name="connsiteY0" fmla="*/ 295418 h 316144"/>
                <a:gd name="connsiteX1" fmla="*/ 192881 w 759242"/>
                <a:gd name="connsiteY1" fmla="*/ 212074 h 316144"/>
                <a:gd name="connsiteX2" fmla="*/ 350044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9242"/>
                <a:gd name="connsiteY0" fmla="*/ 295418 h 316144"/>
                <a:gd name="connsiteX1" fmla="*/ 192881 w 759242"/>
                <a:gd name="connsiteY1" fmla="*/ 212074 h 316144"/>
                <a:gd name="connsiteX2" fmla="*/ 381000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3035"/>
                <a:gd name="connsiteY0" fmla="*/ 295418 h 316966"/>
                <a:gd name="connsiteX1" fmla="*/ 192881 w 753035"/>
                <a:gd name="connsiteY1" fmla="*/ 212074 h 316966"/>
                <a:gd name="connsiteX2" fmla="*/ 381000 w 753035"/>
                <a:gd name="connsiteY2" fmla="*/ 143 h 316966"/>
                <a:gd name="connsiteX3" fmla="*/ 545306 w 753035"/>
                <a:gd name="connsiteY3" fmla="*/ 181118 h 316966"/>
                <a:gd name="connsiteX4" fmla="*/ 738187 w 753035"/>
                <a:gd name="connsiteY4" fmla="*/ 307324 h 316966"/>
                <a:gd name="connsiteX5" fmla="*/ 731043 w 753035"/>
                <a:gd name="connsiteY5" fmla="*/ 297800 h 316966"/>
                <a:gd name="connsiteX0" fmla="*/ 0 w 750706"/>
                <a:gd name="connsiteY0" fmla="*/ 295418 h 316966"/>
                <a:gd name="connsiteX1" fmla="*/ 192881 w 750706"/>
                <a:gd name="connsiteY1" fmla="*/ 212074 h 316966"/>
                <a:gd name="connsiteX2" fmla="*/ 381000 w 750706"/>
                <a:gd name="connsiteY2" fmla="*/ 143 h 316966"/>
                <a:gd name="connsiteX3" fmla="*/ 545306 w 750706"/>
                <a:gd name="connsiteY3" fmla="*/ 181118 h 316966"/>
                <a:gd name="connsiteX4" fmla="*/ 738187 w 750706"/>
                <a:gd name="connsiteY4" fmla="*/ 307324 h 316966"/>
                <a:gd name="connsiteX5" fmla="*/ 723899 w 750706"/>
                <a:gd name="connsiteY5" fmla="*/ 297800 h 316966"/>
                <a:gd name="connsiteX0" fmla="*/ 0 w 738187"/>
                <a:gd name="connsiteY0" fmla="*/ 295418 h 307324"/>
                <a:gd name="connsiteX1" fmla="*/ 192881 w 738187"/>
                <a:gd name="connsiteY1" fmla="*/ 212074 h 307324"/>
                <a:gd name="connsiteX2" fmla="*/ 381000 w 738187"/>
                <a:gd name="connsiteY2" fmla="*/ 143 h 307324"/>
                <a:gd name="connsiteX3" fmla="*/ 545306 w 738187"/>
                <a:gd name="connsiteY3" fmla="*/ 181118 h 307324"/>
                <a:gd name="connsiteX4" fmla="*/ 738187 w 738187"/>
                <a:gd name="connsiteY4" fmla="*/ 307324 h 307324"/>
                <a:gd name="connsiteX0" fmla="*/ 0 w 738187"/>
                <a:gd name="connsiteY0" fmla="*/ 295418 h 307496"/>
                <a:gd name="connsiteX1" fmla="*/ 192881 w 738187"/>
                <a:gd name="connsiteY1" fmla="*/ 212074 h 307496"/>
                <a:gd name="connsiteX2" fmla="*/ 381000 w 738187"/>
                <a:gd name="connsiteY2" fmla="*/ 143 h 307496"/>
                <a:gd name="connsiteX3" fmla="*/ 545306 w 738187"/>
                <a:gd name="connsiteY3" fmla="*/ 181118 h 307496"/>
                <a:gd name="connsiteX4" fmla="*/ 738187 w 738187"/>
                <a:gd name="connsiteY4" fmla="*/ 307324 h 30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187" h="307496">
                  <a:moveTo>
                    <a:pt x="0" y="295418"/>
                  </a:moveTo>
                  <a:cubicBezTo>
                    <a:pt x="67270" y="278352"/>
                    <a:pt x="129381" y="261286"/>
                    <a:pt x="192881" y="212074"/>
                  </a:cubicBezTo>
                  <a:cubicBezTo>
                    <a:pt x="256381" y="162862"/>
                    <a:pt x="322263" y="5302"/>
                    <a:pt x="381000" y="143"/>
                  </a:cubicBezTo>
                  <a:cubicBezTo>
                    <a:pt x="439738" y="-5016"/>
                    <a:pt x="485775" y="129921"/>
                    <a:pt x="545306" y="181118"/>
                  </a:cubicBezTo>
                  <a:cubicBezTo>
                    <a:pt x="604837" y="232315"/>
                    <a:pt x="701278" y="311689"/>
                    <a:pt x="738187" y="307324"/>
                  </a:cubicBezTo>
                </a:path>
              </a:pathLst>
            </a:custGeom>
            <a:grp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cxnSp>
          <p:nvCxnSpPr>
            <p:cNvPr id="50" name="Straight Connector 49"/>
            <p:cNvCxnSpPr>
              <a:stCxn id="49" idx="0"/>
              <a:endCxn id="49" idx="4"/>
            </p:cNvCxnSpPr>
            <p:nvPr/>
          </p:nvCxnSpPr>
          <p:spPr>
            <a:xfrm>
              <a:off x="5274467" y="5950744"/>
              <a:ext cx="738187" cy="11906"/>
            </a:xfrm>
            <a:prstGeom prst="line">
              <a:avLst/>
            </a:prstGeom>
            <a:grpFill/>
            <a:ln w="12700">
              <a:solidFill>
                <a:srgbClr val="00B05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1" name="TextBox 50"/>
              <p:cNvSpPr txBox="1"/>
              <p:nvPr/>
            </p:nvSpPr>
            <p:spPr>
              <a:xfrm>
                <a:off x="541315" y="5167448"/>
                <a:ext cx="821690" cy="735747"/>
              </a:xfrm>
              <a:prstGeom prst="ellipse">
                <a:avLst/>
              </a:prstGeom>
              <a:solidFill>
                <a:srgbClr val="FF0000">
                  <a:alpha val="22000"/>
                </a:srgbClr>
              </a:solidFill>
              <a:ln>
                <a:solidFill>
                  <a:schemeClr val="accent5">
                    <a:lumMod val="75000"/>
                  </a:schemeClr>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IN" sz="2800" i="1">
                          <a:solidFill>
                            <a:srgbClr val="7030A0"/>
                          </a:solidFill>
                          <a:latin typeface="Cambria Math" panose="02040503050406030204" pitchFamily="18" charset="0"/>
                          <a:cs typeface="Times New Roman" panose="02020603050405020304" pitchFamily="18" charset="0"/>
                        </a:rPr>
                        <m:t>𝑥</m:t>
                      </m:r>
                    </m:oMath>
                  </m:oMathPara>
                </a14:m>
                <a:endParaRPr lang="en-IN" sz="2800" i="1" dirty="0">
                  <a:latin typeface="Arial Narrow" panose="020B0606020202030204" pitchFamily="34" charset="0"/>
                  <a:cs typeface="Times New Roman" panose="02020603050405020304" pitchFamily="18" charset="0"/>
                </a:endParaRPr>
              </a:p>
            </p:txBody>
          </p:sp>
        </mc:Choice>
        <mc:Fallback xmlns="">
          <p:sp>
            <p:nvSpPr>
              <p:cNvPr id="51" name="TextBox 50"/>
              <p:cNvSpPr txBox="1">
                <a:spLocks noRot="1" noChangeAspect="1" noMove="1" noResize="1" noEditPoints="1" noAdjustHandles="1" noChangeArrowheads="1" noChangeShapeType="1" noTextEdit="1"/>
              </p:cNvSpPr>
              <p:nvPr/>
            </p:nvSpPr>
            <p:spPr>
              <a:xfrm>
                <a:off x="541315" y="5167448"/>
                <a:ext cx="821690" cy="735747"/>
              </a:xfrm>
              <a:prstGeom prst="ellipse">
                <a:avLst/>
              </a:prstGeom>
              <a:blipFill>
                <a:blip r:embed="rId6"/>
                <a:stretch>
                  <a:fillRect/>
                </a:stretch>
              </a:blipFill>
              <a:ln>
                <a:solidFill>
                  <a:schemeClr val="accent5">
                    <a:lumMod val="75000"/>
                  </a:schemeClr>
                </a:solidFill>
              </a:ln>
            </p:spPr>
            <p:txBody>
              <a:bodyPr/>
              <a:lstStyle/>
              <a:p>
                <a:r>
                  <a:rPr lang="en-IN">
                    <a:noFill/>
                  </a:rPr>
                  <a:t> </a:t>
                </a:r>
              </a:p>
            </p:txBody>
          </p:sp>
        </mc:Fallback>
      </mc:AlternateContent>
      <p:cxnSp>
        <p:nvCxnSpPr>
          <p:cNvPr id="54" name="Google Shape;103;p3"/>
          <p:cNvCxnSpPr>
            <a:stCxn id="51" idx="6"/>
            <a:endCxn id="46" idx="2"/>
          </p:cNvCxnSpPr>
          <p:nvPr/>
        </p:nvCxnSpPr>
        <p:spPr>
          <a:xfrm flipV="1">
            <a:off x="1363005" y="5531102"/>
            <a:ext cx="1175429" cy="4220"/>
          </a:xfrm>
          <a:prstGeom prst="straightConnector1">
            <a:avLst/>
          </a:prstGeom>
          <a:noFill/>
          <a:ln w="15875" cap="flat" cmpd="sng">
            <a:solidFill>
              <a:schemeClr val="accent1"/>
            </a:solidFill>
            <a:prstDash val="solid"/>
            <a:miter lim="800000"/>
            <a:headEnd type="none" w="sm" len="sm"/>
            <a:tailEnd type="triangle" w="med" len="med"/>
          </a:ln>
        </p:spPr>
      </p:cxnSp>
      <p:sp>
        <p:nvSpPr>
          <p:cNvPr id="59" name="Google Shape;120;p4"/>
          <p:cNvSpPr txBox="1"/>
          <p:nvPr/>
        </p:nvSpPr>
        <p:spPr>
          <a:xfrm>
            <a:off x="3307661" y="5566354"/>
            <a:ext cx="1445113" cy="58473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600" dirty="0">
                <a:solidFill>
                  <a:srgbClr val="7030A0"/>
                </a:solidFill>
                <a:latin typeface="Arial Narrow" panose="020B0606020202030204" pitchFamily="34" charset="0"/>
                <a:ea typeface="Times New Roman"/>
                <a:cs typeface="Times New Roman"/>
                <a:sym typeface="Times New Roman"/>
              </a:rPr>
              <a:t>Probabilistic Decoder</a:t>
            </a:r>
            <a:endParaRPr dirty="0">
              <a:solidFill>
                <a:srgbClr val="7030A0"/>
              </a:solidFill>
              <a:latin typeface="Arial Narrow" panose="020B0606020202030204" pitchFamily="34" charset="0"/>
            </a:endParaRPr>
          </a:p>
        </p:txBody>
      </p:sp>
      <mc:AlternateContent xmlns:mc="http://schemas.openxmlformats.org/markup-compatibility/2006" xmlns:a14="http://schemas.microsoft.com/office/drawing/2010/main">
        <mc:Choice Requires="a14">
          <p:sp>
            <p:nvSpPr>
              <p:cNvPr id="11" name="TextBox 10"/>
              <p:cNvSpPr txBox="1"/>
              <p:nvPr/>
            </p:nvSpPr>
            <p:spPr>
              <a:xfrm>
                <a:off x="3465091" y="5043077"/>
                <a:ext cx="1083245" cy="400110"/>
              </a:xfrm>
              <a:prstGeom prst="rect">
                <a:avLst/>
              </a:prstGeom>
              <a:noFill/>
            </p:spPr>
            <p:txBody>
              <a:bodyPr wrap="none" rtlCol="0">
                <a:spAutoFit/>
              </a:bodyPr>
              <a:lstStyle/>
              <a:p>
                <a:pPr marL="0" lvl="1"/>
                <a14:m>
                  <m:oMathPara xmlns:m="http://schemas.openxmlformats.org/officeDocument/2006/math">
                    <m:oMathParaPr>
                      <m:jc m:val="centerGroup"/>
                    </m:oMathParaPr>
                    <m:oMath xmlns:m="http://schemas.openxmlformats.org/officeDocument/2006/math">
                      <m:sSub>
                        <m:sSubPr>
                          <m:ctrlPr>
                            <a:rPr lang="en-IN" sz="2000" i="1" smtClean="0">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rPr>
                            <m:t>𝑝</m:t>
                          </m:r>
                        </m:e>
                        <m:sub>
                          <m:r>
                            <a:rPr lang="en-IN" sz="2000" i="1">
                              <a:solidFill>
                                <a:srgbClr val="7030A0"/>
                              </a:solidFill>
                              <a:latin typeface="Cambria Math" panose="02040503050406030204" pitchFamily="18" charset="0"/>
                              <a:ea typeface="Cambria Math" panose="02040503050406030204" pitchFamily="18" charset="0"/>
                            </a:rPr>
                            <m:t>𝜃</m:t>
                          </m:r>
                        </m:sub>
                      </m:sSub>
                      <m:r>
                        <a:rPr lang="en-IN" sz="2000" i="1">
                          <a:solidFill>
                            <a:srgbClr val="7030A0"/>
                          </a:solidFill>
                          <a:latin typeface="Cambria Math" panose="02040503050406030204" pitchFamily="18" charset="0"/>
                        </a:rPr>
                        <m:t>(</m:t>
                      </m:r>
                      <m:r>
                        <a:rPr lang="en-IN" sz="2000" i="1">
                          <a:solidFill>
                            <a:srgbClr val="7030A0"/>
                          </a:solidFill>
                          <a:latin typeface="Cambria Math" panose="02040503050406030204" pitchFamily="18" charset="0"/>
                        </a:rPr>
                        <m:t>𝑥</m:t>
                      </m:r>
                      <m:r>
                        <a:rPr lang="en-IN" sz="2000">
                          <a:solidFill>
                            <a:srgbClr val="7030A0"/>
                          </a:solidFill>
                          <a:latin typeface="Cambria Math" panose="02040503050406030204" pitchFamily="18" charset="0"/>
                        </a:rPr>
                        <m:t>|</m:t>
                      </m:r>
                      <m:r>
                        <a:rPr lang="en-IN" sz="2000" b="0" i="1" smtClean="0">
                          <a:solidFill>
                            <a:srgbClr val="7030A0"/>
                          </a:solidFill>
                          <a:latin typeface="Cambria Math" panose="02040503050406030204" pitchFamily="18" charset="0"/>
                        </a:rPr>
                        <m:t>𝑧</m:t>
                      </m:r>
                      <m:r>
                        <a:rPr lang="en-IN" sz="2000" i="1">
                          <a:solidFill>
                            <a:srgbClr val="7030A0"/>
                          </a:solidFill>
                          <a:latin typeface="Cambria Math" panose="02040503050406030204" pitchFamily="18" charset="0"/>
                        </a:rPr>
                        <m:t>)</m:t>
                      </m:r>
                    </m:oMath>
                  </m:oMathPara>
                </a14:m>
                <a:endParaRPr lang="en-IN" sz="2000" dirty="0">
                  <a:solidFill>
                    <a:srgbClr val="7030A0"/>
                  </a:solidFill>
                  <a:latin typeface="Arial Narrow" panose="020B0606020202030204" pitchFamily="34" charset="0"/>
                  <a:cs typeface="Times New Roman" panose="02020603050405020304" pitchFamily="18" charset="0"/>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3465091" y="5043077"/>
                <a:ext cx="1083245" cy="400110"/>
              </a:xfrm>
              <a:prstGeom prst="rect">
                <a:avLst/>
              </a:prstGeom>
              <a:blipFill>
                <a:blip r:embed="rId7"/>
                <a:stretch>
                  <a:fillRect b="-1818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1418061" y="5076237"/>
                <a:ext cx="1102546" cy="427425"/>
              </a:xfrm>
              <a:prstGeom prst="rect">
                <a:avLst/>
              </a:prstGeom>
            </p:spPr>
            <p:txBody>
              <a:bodyPr wrap="none">
                <a:spAutoFit/>
              </a:bodyPr>
              <a:lstStyle/>
              <a:p>
                <a14:m>
                  <m:oMath xmlns:m="http://schemas.openxmlformats.org/officeDocument/2006/math">
                    <m:sSub>
                      <m:sSubPr>
                        <m:ctrlPr>
                          <a:rPr lang="en-IN" sz="2000" i="1" smtClean="0">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rPr>
                          <m:t>𝑞</m:t>
                        </m:r>
                      </m:e>
                      <m:sub>
                        <m:r>
                          <a:rPr lang="en-IN" sz="2000" i="1">
                            <a:solidFill>
                              <a:srgbClr val="7030A0"/>
                            </a:solidFill>
                            <a:latin typeface="Cambria Math" panose="02040503050406030204" pitchFamily="18" charset="0"/>
                            <a:ea typeface="Cambria Math" panose="02040503050406030204" pitchFamily="18" charset="0"/>
                          </a:rPr>
                          <m:t>𝜑</m:t>
                        </m:r>
                      </m:sub>
                    </m:sSub>
                    <m:r>
                      <a:rPr lang="en-IN" sz="2000" i="1">
                        <a:solidFill>
                          <a:srgbClr val="7030A0"/>
                        </a:solidFill>
                        <a:latin typeface="Cambria Math" panose="02040503050406030204" pitchFamily="18" charset="0"/>
                      </a:rPr>
                      <m:t>(</m:t>
                    </m:r>
                    <m:r>
                      <a:rPr lang="en-IN" sz="2000" i="1">
                        <a:solidFill>
                          <a:srgbClr val="7030A0"/>
                        </a:solidFill>
                        <a:latin typeface="Cambria Math" panose="02040503050406030204" pitchFamily="18" charset="0"/>
                      </a:rPr>
                      <m:t>𝑧</m:t>
                    </m:r>
                    <m:r>
                      <a:rPr lang="en-IN" sz="2000" i="1">
                        <a:solidFill>
                          <a:srgbClr val="7030A0"/>
                        </a:solidFill>
                        <a:latin typeface="Cambria Math" panose="02040503050406030204" pitchFamily="18" charset="0"/>
                      </a:rPr>
                      <m:t>|</m:t>
                    </m:r>
                    <m:r>
                      <a:rPr lang="en-IN" sz="2000" i="1">
                        <a:solidFill>
                          <a:srgbClr val="7030A0"/>
                        </a:solidFill>
                        <a:latin typeface="Cambria Math" panose="02040503050406030204" pitchFamily="18" charset="0"/>
                      </a:rPr>
                      <m:t>𝑥</m:t>
                    </m:r>
                    <m:r>
                      <a:rPr lang="en-IN" sz="2000" i="1">
                        <a:solidFill>
                          <a:srgbClr val="7030A0"/>
                        </a:solidFill>
                        <a:latin typeface="Cambria Math" panose="02040503050406030204" pitchFamily="18" charset="0"/>
                      </a:rPr>
                      <m:t>)</m:t>
                    </m:r>
                  </m:oMath>
                </a14:m>
                <a:r>
                  <a:rPr lang="en-IN" sz="2000" dirty="0">
                    <a:solidFill>
                      <a:srgbClr val="7030A0"/>
                    </a:solidFill>
                    <a:latin typeface="Arial Narrow" panose="020B0606020202030204" pitchFamily="34" charset="0"/>
                    <a:cs typeface="Times New Roman" panose="02020603050405020304" pitchFamily="18" charset="0"/>
                  </a:rPr>
                  <a:t> </a:t>
                </a:r>
                <a:endParaRPr lang="en-IN" sz="2000" dirty="0">
                  <a:solidFill>
                    <a:srgbClr val="7030A0"/>
                  </a:solidFill>
                  <a:latin typeface="Arial Narrow" panose="020B0606020202030204" pitchFamily="34" charset="0"/>
                </a:endParaRPr>
              </a:p>
            </p:txBody>
          </p:sp>
        </mc:Choice>
        <mc:Fallback xmlns="">
          <p:sp>
            <p:nvSpPr>
              <p:cNvPr id="12" name="Rectangle 11"/>
              <p:cNvSpPr>
                <a:spLocks noRot="1" noChangeAspect="1" noMove="1" noResize="1" noEditPoints="1" noAdjustHandles="1" noChangeArrowheads="1" noChangeShapeType="1" noTextEdit="1"/>
              </p:cNvSpPr>
              <p:nvPr/>
            </p:nvSpPr>
            <p:spPr>
              <a:xfrm>
                <a:off x="1418061" y="5076237"/>
                <a:ext cx="1102546" cy="427425"/>
              </a:xfrm>
              <a:prstGeom prst="rect">
                <a:avLst/>
              </a:prstGeom>
              <a:blipFill>
                <a:blip r:embed="rId8"/>
                <a:stretch>
                  <a:fillRect b="-8571"/>
                </a:stretch>
              </a:blipFill>
            </p:spPr>
            <p:txBody>
              <a:bodyPr/>
              <a:lstStyle/>
              <a:p>
                <a:r>
                  <a:rPr lang="en-IN">
                    <a:noFill/>
                  </a:rPr>
                  <a:t> </a:t>
                </a:r>
              </a:p>
            </p:txBody>
          </p:sp>
        </mc:Fallback>
      </mc:AlternateContent>
      <p:cxnSp>
        <p:nvCxnSpPr>
          <p:cNvPr id="14" name="Elbow Connector 13"/>
          <p:cNvCxnSpPr>
            <a:stCxn id="51" idx="4"/>
            <a:endCxn id="64" idx="1"/>
          </p:cNvCxnSpPr>
          <p:nvPr/>
        </p:nvCxnSpPr>
        <p:spPr>
          <a:xfrm rot="16200000" flipH="1">
            <a:off x="1282322" y="5573032"/>
            <a:ext cx="663991" cy="1324315"/>
          </a:xfrm>
          <a:prstGeom prst="bentConnector2">
            <a:avLst/>
          </a:prstGeom>
          <a:ln w="15875">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TextBox 70"/>
              <p:cNvSpPr txBox="1"/>
              <p:nvPr/>
            </p:nvSpPr>
            <p:spPr>
              <a:xfrm>
                <a:off x="2881818" y="5908512"/>
                <a:ext cx="857479" cy="400110"/>
              </a:xfrm>
              <a:prstGeom prst="rect">
                <a:avLst/>
              </a:prstGeom>
              <a:noFill/>
            </p:spPr>
            <p:txBody>
              <a:bodyPr wrap="none" rtlCol="0">
                <a:spAutoFit/>
              </a:bodyPr>
              <a:lstStyle/>
              <a:p>
                <a:pPr marL="0" lvl="1"/>
                <a14:m>
                  <m:oMathPara xmlns:m="http://schemas.openxmlformats.org/officeDocument/2006/math">
                    <m:oMathParaPr>
                      <m:jc m:val="centerGroup"/>
                    </m:oMathParaPr>
                    <m:oMath xmlns:m="http://schemas.openxmlformats.org/officeDocument/2006/math">
                      <m:sSub>
                        <m:sSubPr>
                          <m:ctrlPr>
                            <a:rPr lang="en-IN" sz="2000" i="1" smtClean="0">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rPr>
                            <m:t>𝑝</m:t>
                          </m:r>
                        </m:e>
                        <m:sub>
                          <m:r>
                            <a:rPr lang="en-IN" sz="2000" i="1">
                              <a:solidFill>
                                <a:srgbClr val="7030A0"/>
                              </a:solidFill>
                              <a:latin typeface="Cambria Math" panose="02040503050406030204" pitchFamily="18" charset="0"/>
                              <a:ea typeface="Cambria Math" panose="02040503050406030204" pitchFamily="18" charset="0"/>
                            </a:rPr>
                            <m:t>𝜃</m:t>
                          </m:r>
                        </m:sub>
                      </m:sSub>
                      <m:r>
                        <a:rPr lang="en-IN" sz="2000" b="0" i="1" smtClean="0">
                          <a:solidFill>
                            <a:srgbClr val="7030A0"/>
                          </a:solidFill>
                          <a:latin typeface="Cambria Math" panose="02040503050406030204" pitchFamily="18" charset="0"/>
                          <a:ea typeface="Cambria Math" panose="02040503050406030204" pitchFamily="18" charset="0"/>
                        </a:rPr>
                        <m:t>(</m:t>
                      </m:r>
                      <m:r>
                        <a:rPr lang="en-IN" sz="2000" b="0" i="1" smtClean="0">
                          <a:solidFill>
                            <a:srgbClr val="7030A0"/>
                          </a:solidFill>
                          <a:latin typeface="Cambria Math" panose="02040503050406030204" pitchFamily="18" charset="0"/>
                        </a:rPr>
                        <m:t>𝑧</m:t>
                      </m:r>
                      <m:r>
                        <a:rPr lang="en-IN" sz="2000" i="1">
                          <a:solidFill>
                            <a:srgbClr val="7030A0"/>
                          </a:solidFill>
                          <a:latin typeface="Cambria Math" panose="02040503050406030204" pitchFamily="18" charset="0"/>
                        </a:rPr>
                        <m:t>)</m:t>
                      </m:r>
                    </m:oMath>
                  </m:oMathPara>
                </a14:m>
                <a:endParaRPr lang="en-IN" sz="2000" dirty="0">
                  <a:solidFill>
                    <a:srgbClr val="7030A0"/>
                  </a:solidFill>
                  <a:latin typeface="Arial Narrow" panose="020B0606020202030204" pitchFamily="34" charset="0"/>
                  <a:cs typeface="Times New Roman" panose="02020603050405020304" pitchFamily="18" charset="0"/>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2881818" y="5908512"/>
                <a:ext cx="857479" cy="400110"/>
              </a:xfrm>
              <a:prstGeom prst="rect">
                <a:avLst/>
              </a:prstGeom>
              <a:blipFill>
                <a:blip r:embed="rId9"/>
                <a:stretch>
                  <a:fillRect b="-1818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p:cNvSpPr txBox="1"/>
              <p:nvPr/>
            </p:nvSpPr>
            <p:spPr>
              <a:xfrm>
                <a:off x="5441991" y="5236326"/>
                <a:ext cx="3613122" cy="669286"/>
              </a:xfrm>
              <a:prstGeom prst="rect">
                <a:avLst/>
              </a:prstGeom>
              <a:noFill/>
            </p:spPr>
            <p:txBody>
              <a:bodyPr wrap="square" rtlCol="0">
                <a:spAutoFit/>
              </a:bodyPr>
              <a:lstStyle/>
              <a:p>
                <a:r>
                  <a:rPr lang="en-IN" sz="1800" dirty="0">
                    <a:latin typeface="Arial Narrow" panose="020B0606020202030204" pitchFamily="34" charset="0"/>
                    <a:cs typeface="Times New Roman" panose="02020603050405020304" pitchFamily="18" charset="0"/>
                  </a:rPr>
                  <a:t>Then a value </a:t>
                </a:r>
                <a14:m>
                  <m:oMath xmlns:m="http://schemas.openxmlformats.org/officeDocument/2006/math">
                    <m:sSup>
                      <m:sSupPr>
                        <m:ctrlPr>
                          <a:rPr lang="en-IN" sz="1800" i="1" smtClean="0">
                            <a:solidFill>
                              <a:srgbClr val="00B0F0"/>
                            </a:solidFill>
                            <a:latin typeface="Cambria Math" panose="02040503050406030204" pitchFamily="18" charset="0"/>
                          </a:rPr>
                        </m:ctrlPr>
                      </m:sSupPr>
                      <m:e>
                        <m:r>
                          <a:rPr lang="en-IN" sz="1800" b="0" i="1" smtClean="0">
                            <a:solidFill>
                              <a:srgbClr val="00B0F0"/>
                            </a:solidFill>
                            <a:latin typeface="Cambria Math" panose="02040503050406030204" pitchFamily="18" charset="0"/>
                          </a:rPr>
                          <m:t>𝑥</m:t>
                        </m:r>
                      </m:e>
                      <m:sup>
                        <m:r>
                          <a:rPr lang="en-IN" sz="1800" b="0" i="1" smtClean="0">
                            <a:solidFill>
                              <a:srgbClr val="00B0F0"/>
                            </a:solidFill>
                            <a:latin typeface="Cambria Math" panose="02040503050406030204" pitchFamily="18" charset="0"/>
                          </a:rPr>
                          <m:t>(</m:t>
                        </m:r>
                        <m:r>
                          <a:rPr lang="en-IN" sz="1800" b="0" i="1" smtClean="0">
                            <a:solidFill>
                              <a:srgbClr val="00B0F0"/>
                            </a:solidFill>
                            <a:latin typeface="Cambria Math" panose="02040503050406030204" pitchFamily="18" charset="0"/>
                          </a:rPr>
                          <m:t>𝑖</m:t>
                        </m:r>
                        <m:r>
                          <a:rPr lang="en-IN" sz="1800" b="0" i="1" smtClean="0">
                            <a:solidFill>
                              <a:srgbClr val="00B0F0"/>
                            </a:solidFill>
                            <a:latin typeface="Cambria Math" panose="02040503050406030204" pitchFamily="18" charset="0"/>
                          </a:rPr>
                          <m:t>)</m:t>
                        </m:r>
                      </m:sup>
                    </m:sSup>
                  </m:oMath>
                </a14:m>
                <a:r>
                  <a:rPr lang="en-IN" sz="1800" dirty="0">
                    <a:latin typeface="Arial Narrow" panose="020B0606020202030204" pitchFamily="34" charset="0"/>
                    <a:cs typeface="Times New Roman" panose="02020603050405020304" pitchFamily="18" charset="0"/>
                  </a:rPr>
                  <a:t> is generated from a Conditional distribution </a:t>
                </a:r>
                <a14:m>
                  <m:oMath xmlns:m="http://schemas.openxmlformats.org/officeDocument/2006/math">
                    <m:sSub>
                      <m:sSubPr>
                        <m:ctrlPr>
                          <a:rPr lang="en-US" sz="1800" i="1">
                            <a:solidFill>
                              <a:srgbClr val="00B0F0"/>
                            </a:solidFill>
                            <a:latin typeface="Cambria Math" panose="02040503050406030204" pitchFamily="18" charset="0"/>
                          </a:rPr>
                        </m:ctrlPr>
                      </m:sSubPr>
                      <m:e>
                        <m:r>
                          <a:rPr lang="en-IN" sz="1800" i="1">
                            <a:solidFill>
                              <a:srgbClr val="00B0F0"/>
                            </a:solidFill>
                            <a:latin typeface="Cambria Math" panose="02040503050406030204" pitchFamily="18" charset="0"/>
                          </a:rPr>
                          <m:t>𝑝</m:t>
                        </m:r>
                      </m:e>
                      <m:sub>
                        <m:sSup>
                          <m:sSupPr>
                            <m:ctrlPr>
                              <a:rPr lang="en-US" sz="1800" i="1">
                                <a:solidFill>
                                  <a:srgbClr val="00B0F0"/>
                                </a:solidFill>
                                <a:latin typeface="Cambria Math" panose="02040503050406030204" pitchFamily="18" charset="0"/>
                              </a:rPr>
                            </m:ctrlPr>
                          </m:sSupPr>
                          <m:e>
                            <m:r>
                              <a:rPr lang="en-US" sz="1800" i="1">
                                <a:solidFill>
                                  <a:srgbClr val="00B0F0"/>
                                </a:solidFill>
                                <a:latin typeface="Cambria Math" panose="02040503050406030204" pitchFamily="18" charset="0"/>
                                <a:ea typeface="Cambria Math" panose="02040503050406030204" pitchFamily="18" charset="0"/>
                              </a:rPr>
                              <m:t>𝜃</m:t>
                            </m:r>
                          </m:e>
                          <m:sup>
                            <m:r>
                              <a:rPr lang="en-IN" sz="1800" i="1">
                                <a:solidFill>
                                  <a:srgbClr val="00B0F0"/>
                                </a:solidFill>
                                <a:latin typeface="Cambria Math" panose="02040503050406030204" pitchFamily="18" charset="0"/>
                              </a:rPr>
                              <m:t>∗</m:t>
                            </m:r>
                          </m:sup>
                        </m:sSup>
                      </m:sub>
                    </m:sSub>
                    <m:r>
                      <a:rPr lang="en-IN" sz="1800" i="1">
                        <a:solidFill>
                          <a:srgbClr val="00B0F0"/>
                        </a:solidFill>
                        <a:latin typeface="Cambria Math" panose="02040503050406030204" pitchFamily="18" charset="0"/>
                      </a:rPr>
                      <m:t>(</m:t>
                    </m:r>
                    <m:r>
                      <a:rPr lang="en-IN" sz="1800" i="1">
                        <a:solidFill>
                          <a:srgbClr val="00B0F0"/>
                        </a:solidFill>
                        <a:latin typeface="Cambria Math" panose="02040503050406030204" pitchFamily="18" charset="0"/>
                      </a:rPr>
                      <m:t>𝑥</m:t>
                    </m:r>
                    <m:r>
                      <a:rPr lang="en-IN" sz="1800" i="1" dirty="0">
                        <a:solidFill>
                          <a:srgbClr val="00B0F0"/>
                        </a:solidFill>
                        <a:latin typeface="Cambria Math" panose="02040503050406030204" pitchFamily="18" charset="0"/>
                      </a:rPr>
                      <m:t>|</m:t>
                    </m:r>
                    <m:r>
                      <a:rPr lang="en-IN" sz="1800" i="1" dirty="0">
                        <a:solidFill>
                          <a:srgbClr val="00B0F0"/>
                        </a:solidFill>
                        <a:latin typeface="Cambria Math" panose="02040503050406030204" pitchFamily="18" charset="0"/>
                      </a:rPr>
                      <m:t>𝑧</m:t>
                    </m:r>
                    <m:r>
                      <a:rPr lang="en-IN" sz="1800" i="1" dirty="0">
                        <a:solidFill>
                          <a:srgbClr val="00B0F0"/>
                        </a:solidFill>
                        <a:latin typeface="Cambria Math" panose="02040503050406030204" pitchFamily="18" charset="0"/>
                      </a:rPr>
                      <m:t>=</m:t>
                    </m:r>
                    <m:sSup>
                      <m:sSupPr>
                        <m:ctrlPr>
                          <a:rPr lang="en-IN" sz="1800" i="1" dirty="0">
                            <a:solidFill>
                              <a:srgbClr val="00B0F0"/>
                            </a:solidFill>
                            <a:latin typeface="Cambria Math" panose="02040503050406030204" pitchFamily="18" charset="0"/>
                          </a:rPr>
                        </m:ctrlPr>
                      </m:sSupPr>
                      <m:e>
                        <m:r>
                          <a:rPr lang="en-IN" sz="1800" i="1" dirty="0">
                            <a:solidFill>
                              <a:srgbClr val="00B0F0"/>
                            </a:solidFill>
                            <a:latin typeface="Cambria Math" panose="02040503050406030204" pitchFamily="18" charset="0"/>
                          </a:rPr>
                          <m:t>𝑧</m:t>
                        </m:r>
                      </m:e>
                      <m:sup>
                        <m:r>
                          <a:rPr lang="en-IN" sz="1800" i="1" dirty="0">
                            <a:solidFill>
                              <a:srgbClr val="00B0F0"/>
                            </a:solidFill>
                            <a:latin typeface="Cambria Math" panose="02040503050406030204" pitchFamily="18" charset="0"/>
                          </a:rPr>
                          <m:t>(</m:t>
                        </m:r>
                        <m:r>
                          <a:rPr lang="en-IN" sz="1800" i="1" dirty="0">
                            <a:solidFill>
                              <a:srgbClr val="00B0F0"/>
                            </a:solidFill>
                            <a:latin typeface="Cambria Math" panose="02040503050406030204" pitchFamily="18" charset="0"/>
                          </a:rPr>
                          <m:t>𝑖</m:t>
                        </m:r>
                        <m:r>
                          <a:rPr lang="en-IN" sz="1800" i="1" dirty="0">
                            <a:solidFill>
                              <a:srgbClr val="00B0F0"/>
                            </a:solidFill>
                            <a:latin typeface="Cambria Math" panose="02040503050406030204" pitchFamily="18" charset="0"/>
                          </a:rPr>
                          <m:t>)</m:t>
                        </m:r>
                      </m:sup>
                    </m:sSup>
                    <m:r>
                      <a:rPr lang="en-IN" sz="1800" i="1" dirty="0">
                        <a:solidFill>
                          <a:srgbClr val="00B0F0"/>
                        </a:solidFill>
                        <a:latin typeface="Cambria Math" panose="02040503050406030204" pitchFamily="18" charset="0"/>
                      </a:rPr>
                      <m:t>)</m:t>
                    </m:r>
                  </m:oMath>
                </a14:m>
                <a:endParaRPr lang="en-IN" sz="1800" dirty="0">
                  <a:latin typeface="Arial Narrow" panose="020B0606020202030204" pitchFamily="34" charset="0"/>
                  <a:cs typeface="Times New Roman" panose="02020603050405020304" pitchFamily="18" charset="0"/>
                </a:endParaRPr>
              </a:p>
            </p:txBody>
          </p:sp>
        </mc:Choice>
        <mc:Fallback xmlns="">
          <p:sp>
            <p:nvSpPr>
              <p:cNvPr id="73" name="TextBox 72"/>
              <p:cNvSpPr txBox="1">
                <a:spLocks noRot="1" noChangeAspect="1" noMove="1" noResize="1" noEditPoints="1" noAdjustHandles="1" noChangeArrowheads="1" noChangeShapeType="1" noTextEdit="1"/>
              </p:cNvSpPr>
              <p:nvPr/>
            </p:nvSpPr>
            <p:spPr>
              <a:xfrm>
                <a:off x="5441991" y="5236326"/>
                <a:ext cx="3613122" cy="669286"/>
              </a:xfrm>
              <a:prstGeom prst="rect">
                <a:avLst/>
              </a:prstGeom>
              <a:blipFill>
                <a:blip r:embed="rId10"/>
                <a:stretch>
                  <a:fillRect l="-1520" t="-2727" r="-338" b="-1363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2206321" y="6427838"/>
                <a:ext cx="33259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i="1" smtClean="0">
                          <a:solidFill>
                            <a:srgbClr val="7030A0"/>
                          </a:solidFill>
                          <a:latin typeface="Cambria Math" panose="02040503050406030204" pitchFamily="18" charset="0"/>
                          <a:ea typeface="Cambria Math" panose="02040503050406030204" pitchFamily="18" charset="0"/>
                        </a:rPr>
                        <m:t>𝜃</m:t>
                      </m:r>
                    </m:oMath>
                  </m:oMathPara>
                </a14:m>
                <a:endParaRPr lang="en-IN" dirty="0">
                  <a:solidFill>
                    <a:srgbClr val="7030A0"/>
                  </a:solidFill>
                  <a:latin typeface="Arial Narrow" panose="020B0606020202030204" pitchFamily="34" charset="0"/>
                </a:endParaRPr>
              </a:p>
            </p:txBody>
          </p:sp>
        </mc:Choice>
        <mc:Fallback xmlns="">
          <p:sp>
            <p:nvSpPr>
              <p:cNvPr id="22" name="Rectangle 21"/>
              <p:cNvSpPr>
                <a:spLocks noRot="1" noChangeAspect="1" noMove="1" noResize="1" noEditPoints="1" noAdjustHandles="1" noChangeArrowheads="1" noChangeShapeType="1" noTextEdit="1"/>
              </p:cNvSpPr>
              <p:nvPr/>
            </p:nvSpPr>
            <p:spPr>
              <a:xfrm>
                <a:off x="2206321" y="6427838"/>
                <a:ext cx="332591" cy="307777"/>
              </a:xfrm>
              <a:prstGeom prst="rect">
                <a:avLst/>
              </a:prstGeom>
              <a:blipFill>
                <a:blip r:embed="rId11"/>
                <a:stretch>
                  <a:fillRect/>
                </a:stretch>
              </a:blipFill>
            </p:spPr>
            <p:txBody>
              <a:bodyPr/>
              <a:lstStyle/>
              <a:p>
                <a:r>
                  <a:rPr lang="en-IN">
                    <a:noFill/>
                  </a:rPr>
                  <a:t> </a:t>
                </a:r>
              </a:p>
            </p:txBody>
          </p:sp>
        </mc:Fallback>
      </mc:AlternateContent>
      <p:cxnSp>
        <p:nvCxnSpPr>
          <p:cNvPr id="103" name="Google Shape;103;p3"/>
          <p:cNvCxnSpPr>
            <a:cxnSpLocks/>
          </p:cNvCxnSpPr>
          <p:nvPr/>
        </p:nvCxnSpPr>
        <p:spPr>
          <a:xfrm>
            <a:off x="9745648" y="2050538"/>
            <a:ext cx="0" cy="1258992"/>
          </a:xfrm>
          <a:prstGeom prst="straightConnector1">
            <a:avLst/>
          </a:prstGeom>
          <a:noFill/>
          <a:ln w="15875" cap="flat" cmpd="sng">
            <a:solidFill>
              <a:srgbClr val="00B050"/>
            </a:solidFill>
            <a:prstDash val="solid"/>
            <a:miter lim="800000"/>
            <a:headEnd type="none" w="sm" len="sm"/>
            <a:tailEnd type="triangle" w="med" len="med"/>
          </a:ln>
        </p:spPr>
      </p:cxnSp>
      <p:cxnSp>
        <p:nvCxnSpPr>
          <p:cNvPr id="82" name="Google Shape;103;p3"/>
          <p:cNvCxnSpPr>
            <a:cxnSpLocks/>
          </p:cNvCxnSpPr>
          <p:nvPr/>
        </p:nvCxnSpPr>
        <p:spPr>
          <a:xfrm flipH="1" flipV="1">
            <a:off x="9955830" y="2012243"/>
            <a:ext cx="6781" cy="1291139"/>
          </a:xfrm>
          <a:prstGeom prst="straightConnector1">
            <a:avLst/>
          </a:prstGeom>
          <a:noFill/>
          <a:ln w="15875" cap="flat" cmpd="sng">
            <a:solidFill>
              <a:schemeClr val="accent1"/>
            </a:solidFill>
            <a:prstDash val="solid"/>
            <a:miter lim="800000"/>
            <a:headEnd type="none" w="sm" len="sm"/>
            <a:tailEnd type="triangle" w="med" len="med"/>
          </a:ln>
        </p:spPr>
      </p:cxnSp>
      <mc:AlternateContent xmlns:mc="http://schemas.openxmlformats.org/markup-compatibility/2006">
        <mc:Choice xmlns:a14="http://schemas.microsoft.com/office/drawing/2010/main" Requires="a14">
          <p:sp>
            <p:nvSpPr>
              <p:cNvPr id="83" name="TextBox 82"/>
              <p:cNvSpPr txBox="1"/>
              <p:nvPr/>
            </p:nvSpPr>
            <p:spPr>
              <a:xfrm>
                <a:off x="9441799" y="3303382"/>
                <a:ext cx="821690" cy="735747"/>
              </a:xfrm>
              <a:prstGeom prst="ellipse">
                <a:avLst/>
              </a:prstGeom>
              <a:solidFill>
                <a:srgbClr val="FF0000">
                  <a:alpha val="22000"/>
                </a:srgbClr>
              </a:solidFill>
              <a:ln>
                <a:solidFill>
                  <a:schemeClr val="accent5">
                    <a:lumMod val="75000"/>
                  </a:schemeClr>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IN" sz="2800" b="0" i="1" smtClean="0">
                          <a:latin typeface="Cambria Math" panose="02040503050406030204" pitchFamily="18" charset="0"/>
                          <a:cs typeface="Times New Roman" panose="02020603050405020304" pitchFamily="18" charset="0"/>
                        </a:rPr>
                        <m:t> </m:t>
                      </m:r>
                      <m:r>
                        <a:rPr lang="en-IN" sz="2800" i="1">
                          <a:latin typeface="Cambria Math" panose="02040503050406030204" pitchFamily="18" charset="0"/>
                          <a:cs typeface="Times New Roman" panose="02020603050405020304" pitchFamily="18" charset="0"/>
                        </a:rPr>
                        <m:t>𝑧</m:t>
                      </m:r>
                    </m:oMath>
                  </m:oMathPara>
                </a14:m>
                <a:endParaRPr lang="en-IN" sz="2800" i="1" dirty="0">
                  <a:latin typeface="Arial Narrow" panose="020B0606020202030204" pitchFamily="34" charset="0"/>
                  <a:cs typeface="Times New Roman" panose="02020603050405020304" pitchFamily="18" charset="0"/>
                </a:endParaRPr>
              </a:p>
            </p:txBody>
          </p:sp>
        </mc:Choice>
        <mc:Fallback>
          <p:sp>
            <p:nvSpPr>
              <p:cNvPr id="83" name="TextBox 82"/>
              <p:cNvSpPr txBox="1">
                <a:spLocks noRot="1" noChangeAspect="1" noMove="1" noResize="1" noEditPoints="1" noAdjustHandles="1" noChangeArrowheads="1" noChangeShapeType="1" noTextEdit="1"/>
              </p:cNvSpPr>
              <p:nvPr/>
            </p:nvSpPr>
            <p:spPr>
              <a:xfrm>
                <a:off x="9441799" y="3303382"/>
                <a:ext cx="821690" cy="735747"/>
              </a:xfrm>
              <a:prstGeom prst="ellipse">
                <a:avLst/>
              </a:prstGeom>
              <a:blipFill>
                <a:blip r:embed="rId12"/>
                <a:stretch>
                  <a:fillRect/>
                </a:stretch>
              </a:blipFill>
              <a:ln>
                <a:solidFill>
                  <a:schemeClr val="accent5">
                    <a:lumMod val="75000"/>
                  </a:schemeClr>
                </a:solidFill>
              </a:ln>
            </p:spPr>
            <p:txBody>
              <a:bodyPr/>
              <a:lstStyle/>
              <a:p>
                <a:r>
                  <a:rPr lang="en-GB">
                    <a:noFill/>
                  </a:rPr>
                  <a:t> </a:t>
                </a:r>
              </a:p>
            </p:txBody>
          </p:sp>
        </mc:Fallback>
      </mc:AlternateContent>
      <p:grpSp>
        <p:nvGrpSpPr>
          <p:cNvPr id="34" name="Group 33"/>
          <p:cNvGrpSpPr/>
          <p:nvPr/>
        </p:nvGrpSpPr>
        <p:grpSpPr>
          <a:xfrm>
            <a:off x="8664899" y="2050538"/>
            <a:ext cx="981075" cy="553364"/>
            <a:chOff x="4205009" y="2613374"/>
            <a:chExt cx="981075" cy="553364"/>
          </a:xfrm>
        </p:grpSpPr>
        <p:grpSp>
          <p:nvGrpSpPr>
            <p:cNvPr id="91" name="Group 90"/>
            <p:cNvGrpSpPr/>
            <p:nvPr/>
          </p:nvGrpSpPr>
          <p:grpSpPr>
            <a:xfrm>
              <a:off x="4326454" y="2652964"/>
              <a:ext cx="738187" cy="307496"/>
              <a:chOff x="5274467" y="5655326"/>
              <a:chExt cx="738187" cy="307496"/>
            </a:xfrm>
            <a:solidFill>
              <a:schemeClr val="accent4">
                <a:lumMod val="40000"/>
                <a:lumOff val="60000"/>
                <a:alpha val="9000"/>
              </a:schemeClr>
            </a:solidFill>
          </p:grpSpPr>
          <p:sp>
            <p:nvSpPr>
              <p:cNvPr id="92" name="Freeform 91"/>
              <p:cNvSpPr/>
              <p:nvPr/>
            </p:nvSpPr>
            <p:spPr>
              <a:xfrm>
                <a:off x="5274467" y="5655326"/>
                <a:ext cx="738187" cy="307496"/>
              </a:xfrm>
              <a:custGeom>
                <a:avLst/>
                <a:gdLst>
                  <a:gd name="connsiteX0" fmla="*/ 0 w 759242"/>
                  <a:gd name="connsiteY0" fmla="*/ 295418 h 316144"/>
                  <a:gd name="connsiteX1" fmla="*/ 192881 w 759242"/>
                  <a:gd name="connsiteY1" fmla="*/ 212074 h 316144"/>
                  <a:gd name="connsiteX2" fmla="*/ 350044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9242"/>
                  <a:gd name="connsiteY0" fmla="*/ 295418 h 316144"/>
                  <a:gd name="connsiteX1" fmla="*/ 192881 w 759242"/>
                  <a:gd name="connsiteY1" fmla="*/ 212074 h 316144"/>
                  <a:gd name="connsiteX2" fmla="*/ 381000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3035"/>
                  <a:gd name="connsiteY0" fmla="*/ 295418 h 316966"/>
                  <a:gd name="connsiteX1" fmla="*/ 192881 w 753035"/>
                  <a:gd name="connsiteY1" fmla="*/ 212074 h 316966"/>
                  <a:gd name="connsiteX2" fmla="*/ 381000 w 753035"/>
                  <a:gd name="connsiteY2" fmla="*/ 143 h 316966"/>
                  <a:gd name="connsiteX3" fmla="*/ 545306 w 753035"/>
                  <a:gd name="connsiteY3" fmla="*/ 181118 h 316966"/>
                  <a:gd name="connsiteX4" fmla="*/ 738187 w 753035"/>
                  <a:gd name="connsiteY4" fmla="*/ 307324 h 316966"/>
                  <a:gd name="connsiteX5" fmla="*/ 731043 w 753035"/>
                  <a:gd name="connsiteY5" fmla="*/ 297800 h 316966"/>
                  <a:gd name="connsiteX0" fmla="*/ 0 w 750706"/>
                  <a:gd name="connsiteY0" fmla="*/ 295418 h 316966"/>
                  <a:gd name="connsiteX1" fmla="*/ 192881 w 750706"/>
                  <a:gd name="connsiteY1" fmla="*/ 212074 h 316966"/>
                  <a:gd name="connsiteX2" fmla="*/ 381000 w 750706"/>
                  <a:gd name="connsiteY2" fmla="*/ 143 h 316966"/>
                  <a:gd name="connsiteX3" fmla="*/ 545306 w 750706"/>
                  <a:gd name="connsiteY3" fmla="*/ 181118 h 316966"/>
                  <a:gd name="connsiteX4" fmla="*/ 738187 w 750706"/>
                  <a:gd name="connsiteY4" fmla="*/ 307324 h 316966"/>
                  <a:gd name="connsiteX5" fmla="*/ 723899 w 750706"/>
                  <a:gd name="connsiteY5" fmla="*/ 297800 h 316966"/>
                  <a:gd name="connsiteX0" fmla="*/ 0 w 738187"/>
                  <a:gd name="connsiteY0" fmla="*/ 295418 h 307324"/>
                  <a:gd name="connsiteX1" fmla="*/ 192881 w 738187"/>
                  <a:gd name="connsiteY1" fmla="*/ 212074 h 307324"/>
                  <a:gd name="connsiteX2" fmla="*/ 381000 w 738187"/>
                  <a:gd name="connsiteY2" fmla="*/ 143 h 307324"/>
                  <a:gd name="connsiteX3" fmla="*/ 545306 w 738187"/>
                  <a:gd name="connsiteY3" fmla="*/ 181118 h 307324"/>
                  <a:gd name="connsiteX4" fmla="*/ 738187 w 738187"/>
                  <a:gd name="connsiteY4" fmla="*/ 307324 h 307324"/>
                  <a:gd name="connsiteX0" fmla="*/ 0 w 738187"/>
                  <a:gd name="connsiteY0" fmla="*/ 295418 h 307496"/>
                  <a:gd name="connsiteX1" fmla="*/ 192881 w 738187"/>
                  <a:gd name="connsiteY1" fmla="*/ 212074 h 307496"/>
                  <a:gd name="connsiteX2" fmla="*/ 381000 w 738187"/>
                  <a:gd name="connsiteY2" fmla="*/ 143 h 307496"/>
                  <a:gd name="connsiteX3" fmla="*/ 545306 w 738187"/>
                  <a:gd name="connsiteY3" fmla="*/ 181118 h 307496"/>
                  <a:gd name="connsiteX4" fmla="*/ 738187 w 738187"/>
                  <a:gd name="connsiteY4" fmla="*/ 307324 h 30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187" h="307496">
                    <a:moveTo>
                      <a:pt x="0" y="295418"/>
                    </a:moveTo>
                    <a:cubicBezTo>
                      <a:pt x="67270" y="278352"/>
                      <a:pt x="129381" y="261286"/>
                      <a:pt x="192881" y="212074"/>
                    </a:cubicBezTo>
                    <a:cubicBezTo>
                      <a:pt x="256381" y="162862"/>
                      <a:pt x="322263" y="5302"/>
                      <a:pt x="381000" y="143"/>
                    </a:cubicBezTo>
                    <a:cubicBezTo>
                      <a:pt x="439738" y="-5016"/>
                      <a:pt x="485775" y="129921"/>
                      <a:pt x="545306" y="181118"/>
                    </a:cubicBezTo>
                    <a:cubicBezTo>
                      <a:pt x="604837" y="232315"/>
                      <a:pt x="701278" y="311689"/>
                      <a:pt x="738187" y="307324"/>
                    </a:cubicBezTo>
                  </a:path>
                </a:pathLst>
              </a:custGeom>
              <a:grp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cxnSp>
            <p:nvCxnSpPr>
              <p:cNvPr id="93" name="Straight Connector 92"/>
              <p:cNvCxnSpPr>
                <a:stCxn id="92" idx="0"/>
                <a:endCxn id="92" idx="4"/>
              </p:cNvCxnSpPr>
              <p:nvPr/>
            </p:nvCxnSpPr>
            <p:spPr>
              <a:xfrm>
                <a:off x="5274467" y="5950744"/>
                <a:ext cx="738187" cy="11906"/>
              </a:xfrm>
              <a:prstGeom prst="line">
                <a:avLst/>
              </a:prstGeom>
              <a:grpFill/>
              <a:ln w="1270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31" name="Rectangle 30"/>
            <p:cNvSpPr/>
            <p:nvPr/>
          </p:nvSpPr>
          <p:spPr>
            <a:xfrm>
              <a:off x="4205009" y="2613374"/>
              <a:ext cx="981075" cy="553364"/>
            </a:xfrm>
            <a:prstGeom prst="rect">
              <a:avLst/>
            </a:prstGeom>
            <a:solidFill>
              <a:schemeClr val="accent4">
                <a:lumMod val="40000"/>
                <a:lumOff val="60000"/>
                <a:alpha val="25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mc:AlternateContent xmlns:mc="http://schemas.openxmlformats.org/markup-compatibility/2006" xmlns:a14="http://schemas.microsoft.com/office/drawing/2010/main">
          <mc:Choice Requires="a14">
            <p:sp>
              <p:nvSpPr>
                <p:cNvPr id="33" name="TextBox 32"/>
                <p:cNvSpPr txBox="1"/>
                <p:nvPr/>
              </p:nvSpPr>
              <p:spPr>
                <a:xfrm>
                  <a:off x="4588080" y="2884975"/>
                  <a:ext cx="16735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solidFill>
                              <a:srgbClr val="7030A0"/>
                            </a:solidFill>
                            <a:latin typeface="Cambria Math" panose="02040503050406030204" pitchFamily="18" charset="0"/>
                            <a:ea typeface="Cambria Math" panose="02040503050406030204" pitchFamily="18" charset="0"/>
                          </a:rPr>
                          <m:t>𝜑</m:t>
                        </m:r>
                      </m:oMath>
                    </m:oMathPara>
                  </a14:m>
                  <a:endParaRPr lang="en-IN" dirty="0">
                    <a:solidFill>
                      <a:srgbClr val="7030A0"/>
                    </a:solidFill>
                    <a:latin typeface="Arial Narrow" panose="020B0606020202030204" pitchFamily="34" charset="0"/>
                  </a:endParaRPr>
                </a:p>
              </p:txBody>
            </p:sp>
          </mc:Choice>
          <mc:Fallback xmlns="">
            <p:sp>
              <p:nvSpPr>
                <p:cNvPr id="33" name="TextBox 32"/>
                <p:cNvSpPr txBox="1">
                  <a:spLocks noRot="1" noChangeAspect="1" noMove="1" noResize="1" noEditPoints="1" noAdjustHandles="1" noChangeArrowheads="1" noChangeShapeType="1" noTextEdit="1"/>
                </p:cNvSpPr>
                <p:nvPr/>
              </p:nvSpPr>
              <p:spPr>
                <a:xfrm>
                  <a:off x="4588080" y="2884975"/>
                  <a:ext cx="167354" cy="215444"/>
                </a:xfrm>
                <a:prstGeom prst="rect">
                  <a:avLst/>
                </a:prstGeom>
                <a:blipFill>
                  <a:blip r:embed="rId13"/>
                  <a:stretch>
                    <a:fillRect l="-25926" r="-25926" b="-28571"/>
                  </a:stretch>
                </a:blipFill>
              </p:spPr>
              <p:txBody>
                <a:bodyPr/>
                <a:lstStyle/>
                <a:p>
                  <a:r>
                    <a:rPr lang="en-IN">
                      <a:noFill/>
                    </a:rPr>
                    <a:t> </a:t>
                  </a:r>
                </a:p>
              </p:txBody>
            </p:sp>
          </mc:Fallback>
        </mc:AlternateContent>
      </p:grpSp>
      <p:grpSp>
        <p:nvGrpSpPr>
          <p:cNvPr id="61" name="Group 60"/>
          <p:cNvGrpSpPr/>
          <p:nvPr/>
        </p:nvGrpSpPr>
        <p:grpSpPr>
          <a:xfrm>
            <a:off x="9372266" y="5580277"/>
            <a:ext cx="981075" cy="537386"/>
            <a:chOff x="8126777" y="5374007"/>
            <a:chExt cx="981075" cy="537386"/>
          </a:xfrm>
        </p:grpSpPr>
        <p:grpSp>
          <p:nvGrpSpPr>
            <p:cNvPr id="107" name="Group 106"/>
            <p:cNvGrpSpPr/>
            <p:nvPr/>
          </p:nvGrpSpPr>
          <p:grpSpPr>
            <a:xfrm>
              <a:off x="8248222" y="5412454"/>
              <a:ext cx="738187" cy="298617"/>
              <a:chOff x="5274467" y="5655326"/>
              <a:chExt cx="738187" cy="307496"/>
            </a:xfrm>
            <a:solidFill>
              <a:schemeClr val="accent4">
                <a:lumMod val="40000"/>
                <a:lumOff val="60000"/>
                <a:alpha val="9000"/>
              </a:schemeClr>
            </a:solidFill>
          </p:grpSpPr>
          <p:sp>
            <p:nvSpPr>
              <p:cNvPr id="110" name="Freeform 109"/>
              <p:cNvSpPr/>
              <p:nvPr/>
            </p:nvSpPr>
            <p:spPr>
              <a:xfrm>
                <a:off x="5274467" y="5655326"/>
                <a:ext cx="738187" cy="307496"/>
              </a:xfrm>
              <a:custGeom>
                <a:avLst/>
                <a:gdLst>
                  <a:gd name="connsiteX0" fmla="*/ 0 w 759242"/>
                  <a:gd name="connsiteY0" fmla="*/ 295418 h 316144"/>
                  <a:gd name="connsiteX1" fmla="*/ 192881 w 759242"/>
                  <a:gd name="connsiteY1" fmla="*/ 212074 h 316144"/>
                  <a:gd name="connsiteX2" fmla="*/ 350044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9242"/>
                  <a:gd name="connsiteY0" fmla="*/ 295418 h 316144"/>
                  <a:gd name="connsiteX1" fmla="*/ 192881 w 759242"/>
                  <a:gd name="connsiteY1" fmla="*/ 212074 h 316144"/>
                  <a:gd name="connsiteX2" fmla="*/ 381000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3035"/>
                  <a:gd name="connsiteY0" fmla="*/ 295418 h 316966"/>
                  <a:gd name="connsiteX1" fmla="*/ 192881 w 753035"/>
                  <a:gd name="connsiteY1" fmla="*/ 212074 h 316966"/>
                  <a:gd name="connsiteX2" fmla="*/ 381000 w 753035"/>
                  <a:gd name="connsiteY2" fmla="*/ 143 h 316966"/>
                  <a:gd name="connsiteX3" fmla="*/ 545306 w 753035"/>
                  <a:gd name="connsiteY3" fmla="*/ 181118 h 316966"/>
                  <a:gd name="connsiteX4" fmla="*/ 738187 w 753035"/>
                  <a:gd name="connsiteY4" fmla="*/ 307324 h 316966"/>
                  <a:gd name="connsiteX5" fmla="*/ 731043 w 753035"/>
                  <a:gd name="connsiteY5" fmla="*/ 297800 h 316966"/>
                  <a:gd name="connsiteX0" fmla="*/ 0 w 750706"/>
                  <a:gd name="connsiteY0" fmla="*/ 295418 h 316966"/>
                  <a:gd name="connsiteX1" fmla="*/ 192881 w 750706"/>
                  <a:gd name="connsiteY1" fmla="*/ 212074 h 316966"/>
                  <a:gd name="connsiteX2" fmla="*/ 381000 w 750706"/>
                  <a:gd name="connsiteY2" fmla="*/ 143 h 316966"/>
                  <a:gd name="connsiteX3" fmla="*/ 545306 w 750706"/>
                  <a:gd name="connsiteY3" fmla="*/ 181118 h 316966"/>
                  <a:gd name="connsiteX4" fmla="*/ 738187 w 750706"/>
                  <a:gd name="connsiteY4" fmla="*/ 307324 h 316966"/>
                  <a:gd name="connsiteX5" fmla="*/ 723899 w 750706"/>
                  <a:gd name="connsiteY5" fmla="*/ 297800 h 316966"/>
                  <a:gd name="connsiteX0" fmla="*/ 0 w 738187"/>
                  <a:gd name="connsiteY0" fmla="*/ 295418 h 307324"/>
                  <a:gd name="connsiteX1" fmla="*/ 192881 w 738187"/>
                  <a:gd name="connsiteY1" fmla="*/ 212074 h 307324"/>
                  <a:gd name="connsiteX2" fmla="*/ 381000 w 738187"/>
                  <a:gd name="connsiteY2" fmla="*/ 143 h 307324"/>
                  <a:gd name="connsiteX3" fmla="*/ 545306 w 738187"/>
                  <a:gd name="connsiteY3" fmla="*/ 181118 h 307324"/>
                  <a:gd name="connsiteX4" fmla="*/ 738187 w 738187"/>
                  <a:gd name="connsiteY4" fmla="*/ 307324 h 307324"/>
                  <a:gd name="connsiteX0" fmla="*/ 0 w 738187"/>
                  <a:gd name="connsiteY0" fmla="*/ 295418 h 307496"/>
                  <a:gd name="connsiteX1" fmla="*/ 192881 w 738187"/>
                  <a:gd name="connsiteY1" fmla="*/ 212074 h 307496"/>
                  <a:gd name="connsiteX2" fmla="*/ 381000 w 738187"/>
                  <a:gd name="connsiteY2" fmla="*/ 143 h 307496"/>
                  <a:gd name="connsiteX3" fmla="*/ 545306 w 738187"/>
                  <a:gd name="connsiteY3" fmla="*/ 181118 h 307496"/>
                  <a:gd name="connsiteX4" fmla="*/ 738187 w 738187"/>
                  <a:gd name="connsiteY4" fmla="*/ 307324 h 30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187" h="307496">
                    <a:moveTo>
                      <a:pt x="0" y="295418"/>
                    </a:moveTo>
                    <a:cubicBezTo>
                      <a:pt x="67270" y="278352"/>
                      <a:pt x="129381" y="261286"/>
                      <a:pt x="192881" y="212074"/>
                    </a:cubicBezTo>
                    <a:cubicBezTo>
                      <a:pt x="256381" y="162862"/>
                      <a:pt x="322263" y="5302"/>
                      <a:pt x="381000" y="143"/>
                    </a:cubicBezTo>
                    <a:cubicBezTo>
                      <a:pt x="439738" y="-5016"/>
                      <a:pt x="485775" y="129921"/>
                      <a:pt x="545306" y="181118"/>
                    </a:cubicBezTo>
                    <a:cubicBezTo>
                      <a:pt x="604837" y="232315"/>
                      <a:pt x="701278" y="311689"/>
                      <a:pt x="738187" y="307324"/>
                    </a:cubicBezTo>
                  </a:path>
                </a:pathLst>
              </a:custGeom>
              <a:grp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cxnSp>
            <p:nvCxnSpPr>
              <p:cNvPr id="111" name="Straight Connector 110"/>
              <p:cNvCxnSpPr>
                <a:stCxn id="110" idx="0"/>
                <a:endCxn id="110" idx="4"/>
              </p:cNvCxnSpPr>
              <p:nvPr/>
            </p:nvCxnSpPr>
            <p:spPr>
              <a:xfrm>
                <a:off x="5274467" y="5950744"/>
                <a:ext cx="738187" cy="11906"/>
              </a:xfrm>
              <a:prstGeom prst="line">
                <a:avLst/>
              </a:prstGeom>
              <a:grpFill/>
              <a:ln w="1270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108" name="Rectangle 107"/>
            <p:cNvSpPr/>
            <p:nvPr/>
          </p:nvSpPr>
          <p:spPr>
            <a:xfrm>
              <a:off x="8126777" y="5374007"/>
              <a:ext cx="981075" cy="537386"/>
            </a:xfrm>
            <a:prstGeom prst="rect">
              <a:avLst/>
            </a:prstGeom>
            <a:solidFill>
              <a:schemeClr val="tx2">
                <a:lumMod val="40000"/>
                <a:lumOff val="60000"/>
                <a:alpha val="25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mc:AlternateContent xmlns:mc="http://schemas.openxmlformats.org/markup-compatibility/2006" xmlns:a14="http://schemas.microsoft.com/office/drawing/2010/main">
          <mc:Choice Requires="a14">
            <p:sp>
              <p:nvSpPr>
                <p:cNvPr id="109" name="TextBox 108"/>
                <p:cNvSpPr txBox="1"/>
                <p:nvPr/>
              </p:nvSpPr>
              <p:spPr>
                <a:xfrm>
                  <a:off x="8519374" y="5684020"/>
                  <a:ext cx="14792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solidFill>
                              <a:srgbClr val="7030A0"/>
                            </a:solidFill>
                            <a:latin typeface="Cambria Math" panose="02040503050406030204" pitchFamily="18" charset="0"/>
                            <a:ea typeface="Cambria Math" panose="02040503050406030204" pitchFamily="18" charset="0"/>
                          </a:rPr>
                          <m:t>𝜃</m:t>
                        </m:r>
                      </m:oMath>
                    </m:oMathPara>
                  </a14:m>
                  <a:endParaRPr lang="en-IN" dirty="0">
                    <a:solidFill>
                      <a:srgbClr val="7030A0"/>
                    </a:solidFill>
                    <a:latin typeface="Arial Narrow" panose="020B0606020202030204" pitchFamily="34" charset="0"/>
                  </a:endParaRPr>
                </a:p>
              </p:txBody>
            </p:sp>
          </mc:Choice>
          <mc:Fallback xmlns="">
            <p:sp>
              <p:nvSpPr>
                <p:cNvPr id="109" name="TextBox 108"/>
                <p:cNvSpPr txBox="1">
                  <a:spLocks noRot="1" noChangeAspect="1" noMove="1" noResize="1" noEditPoints="1" noAdjustHandles="1" noChangeArrowheads="1" noChangeShapeType="1" noTextEdit="1"/>
                </p:cNvSpPr>
                <p:nvPr/>
              </p:nvSpPr>
              <p:spPr>
                <a:xfrm>
                  <a:off x="8519374" y="5684020"/>
                  <a:ext cx="147925" cy="215444"/>
                </a:xfrm>
                <a:prstGeom prst="rect">
                  <a:avLst/>
                </a:prstGeom>
                <a:blipFill>
                  <a:blip r:embed="rId14"/>
                  <a:stretch>
                    <a:fillRect l="-33333" r="-20833" b="-11111"/>
                  </a:stretch>
                </a:blipFill>
              </p:spPr>
              <p:txBody>
                <a:bodyPr/>
                <a:lstStyle/>
                <a:p>
                  <a:r>
                    <a:rPr lang="en-IN">
                      <a:noFill/>
                    </a:rPr>
                    <a:t> </a:t>
                  </a:r>
                </a:p>
              </p:txBody>
            </p:sp>
          </mc:Fallback>
        </mc:AlternateContent>
      </p:grpSp>
      <p:cxnSp>
        <p:nvCxnSpPr>
          <p:cNvPr id="43" name="Elbow Connector 42"/>
          <p:cNvCxnSpPr>
            <a:cxnSpLocks/>
            <a:stCxn id="108" idx="3"/>
            <a:endCxn id="84" idx="6"/>
          </p:cNvCxnSpPr>
          <p:nvPr/>
        </p:nvCxnSpPr>
        <p:spPr>
          <a:xfrm flipH="1" flipV="1">
            <a:off x="10271848" y="1651118"/>
            <a:ext cx="81493" cy="4197852"/>
          </a:xfrm>
          <a:prstGeom prst="bentConnector3">
            <a:avLst>
              <a:gd name="adj1" fmla="val -865418"/>
            </a:avLst>
          </a:prstGeom>
          <a:noFill/>
          <a:ln w="15875" cap="flat" cmpd="sng">
            <a:solidFill>
              <a:schemeClr val="accent1"/>
            </a:solidFill>
            <a:prstDash val="solid"/>
            <a:miter lim="800000"/>
            <a:headEnd type="none" w="sm" len="sm"/>
            <a:tailEnd type="triangle" w="med" len="med"/>
          </a:ln>
        </p:spPr>
      </p:cxnSp>
      <p:cxnSp>
        <p:nvCxnSpPr>
          <p:cNvPr id="53" name="Straight Arrow Connector 52"/>
          <p:cNvCxnSpPr>
            <a:stCxn id="108" idx="0"/>
            <a:endCxn id="83" idx="4"/>
          </p:cNvCxnSpPr>
          <p:nvPr/>
        </p:nvCxnSpPr>
        <p:spPr>
          <a:xfrm flipH="1" flipV="1">
            <a:off x="9852644" y="4039129"/>
            <a:ext cx="10160" cy="1541148"/>
          </a:xfrm>
          <a:prstGeom prst="straightConnector1">
            <a:avLst/>
          </a:prstGeom>
          <a:noFill/>
          <a:ln w="15875" cap="flat" cmpd="sng">
            <a:solidFill>
              <a:schemeClr val="accent1"/>
            </a:solidFill>
            <a:prstDash val="solid"/>
            <a:miter lim="800000"/>
            <a:headEnd type="none" w="sm" len="sm"/>
            <a:tailEnd type="triangle" w="med" len="med"/>
          </a:ln>
        </p:spPr>
      </p:cxnSp>
      <mc:AlternateContent xmlns:mc="http://schemas.openxmlformats.org/markup-compatibility/2006">
        <mc:Choice xmlns:a14="http://schemas.microsoft.com/office/drawing/2010/main" Requires="a14">
          <p:sp>
            <p:nvSpPr>
              <p:cNvPr id="55" name="TextBox 54"/>
              <p:cNvSpPr txBox="1"/>
              <p:nvPr/>
            </p:nvSpPr>
            <p:spPr>
              <a:xfrm>
                <a:off x="8772074" y="2703685"/>
                <a:ext cx="911468" cy="3350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solidFill>
                                <a:srgbClr val="7030A0"/>
                              </a:solidFill>
                              <a:latin typeface="Cambria Math" panose="02040503050406030204" pitchFamily="18" charset="0"/>
                            </a:rPr>
                          </m:ctrlPr>
                        </m:sSubPr>
                        <m:e>
                          <m:r>
                            <a:rPr lang="en-IN" sz="2000" b="0" i="1" smtClean="0">
                              <a:solidFill>
                                <a:srgbClr val="7030A0"/>
                              </a:solidFill>
                              <a:latin typeface="Cambria Math" panose="02040503050406030204" pitchFamily="18" charset="0"/>
                            </a:rPr>
                            <m:t>𝑞</m:t>
                          </m:r>
                        </m:e>
                        <m:sub>
                          <m:r>
                            <a:rPr lang="en-IN" sz="2000" i="1" smtClean="0">
                              <a:solidFill>
                                <a:srgbClr val="7030A0"/>
                              </a:solidFill>
                              <a:latin typeface="Cambria Math" panose="02040503050406030204" pitchFamily="18" charset="0"/>
                              <a:ea typeface="Cambria Math" panose="02040503050406030204" pitchFamily="18" charset="0"/>
                            </a:rPr>
                            <m:t>𝜑</m:t>
                          </m:r>
                        </m:sub>
                      </m:sSub>
                      <m:r>
                        <a:rPr lang="en-IN" sz="2000" b="0" i="1" smtClean="0">
                          <a:solidFill>
                            <a:srgbClr val="7030A0"/>
                          </a:solidFill>
                          <a:latin typeface="Cambria Math" panose="02040503050406030204" pitchFamily="18" charset="0"/>
                        </a:rPr>
                        <m:t>(</m:t>
                      </m:r>
                      <m:r>
                        <a:rPr lang="en-IN" sz="2000" b="0" i="1" smtClean="0">
                          <a:solidFill>
                            <a:srgbClr val="7030A0"/>
                          </a:solidFill>
                          <a:latin typeface="Cambria Math" panose="02040503050406030204" pitchFamily="18" charset="0"/>
                        </a:rPr>
                        <m:t>𝑧</m:t>
                      </m:r>
                      <m:r>
                        <a:rPr lang="en-IN" sz="2000" b="0" i="1" smtClean="0">
                          <a:solidFill>
                            <a:srgbClr val="7030A0"/>
                          </a:solidFill>
                          <a:latin typeface="Cambria Math" panose="02040503050406030204" pitchFamily="18" charset="0"/>
                        </a:rPr>
                        <m:t>|</m:t>
                      </m:r>
                      <m:r>
                        <a:rPr lang="en-IN" sz="2000" b="0" i="1" smtClean="0">
                          <a:solidFill>
                            <a:srgbClr val="7030A0"/>
                          </a:solidFill>
                          <a:latin typeface="Cambria Math" panose="02040503050406030204" pitchFamily="18" charset="0"/>
                        </a:rPr>
                        <m:t>𝑥</m:t>
                      </m:r>
                      <m:r>
                        <a:rPr lang="en-IN" sz="2000" b="0" i="1" smtClean="0">
                          <a:solidFill>
                            <a:srgbClr val="7030A0"/>
                          </a:solidFill>
                          <a:latin typeface="Cambria Math" panose="02040503050406030204" pitchFamily="18" charset="0"/>
                        </a:rPr>
                        <m:t>)</m:t>
                      </m:r>
                    </m:oMath>
                  </m:oMathPara>
                </a14:m>
                <a:endParaRPr lang="en-IN" sz="2000" dirty="0">
                  <a:solidFill>
                    <a:srgbClr val="7030A0"/>
                  </a:solidFill>
                  <a:latin typeface="Arial Narrow" panose="020B0606020202030204" pitchFamily="34" charset="0"/>
                </a:endParaRPr>
              </a:p>
            </p:txBody>
          </p:sp>
        </mc:Choice>
        <mc:Fallback>
          <p:sp>
            <p:nvSpPr>
              <p:cNvPr id="55" name="TextBox 54"/>
              <p:cNvSpPr txBox="1">
                <a:spLocks noRot="1" noChangeAspect="1" noMove="1" noResize="1" noEditPoints="1" noAdjustHandles="1" noChangeArrowheads="1" noChangeShapeType="1" noTextEdit="1"/>
              </p:cNvSpPr>
              <p:nvPr/>
            </p:nvSpPr>
            <p:spPr>
              <a:xfrm>
                <a:off x="8772074" y="2703685"/>
                <a:ext cx="911468" cy="335092"/>
              </a:xfrm>
              <a:prstGeom prst="rect">
                <a:avLst/>
              </a:prstGeom>
              <a:blipFill>
                <a:blip r:embed="rId15"/>
                <a:stretch>
                  <a:fillRect l="-6667" t="-1852" r="-9333" b="-27778"/>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56" name="TextBox 55"/>
              <p:cNvSpPr txBox="1"/>
              <p:nvPr/>
            </p:nvSpPr>
            <p:spPr>
              <a:xfrm>
                <a:off x="9962611" y="2421934"/>
                <a:ext cx="89216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solidFill>
                                <a:srgbClr val="7030A0"/>
                              </a:solidFill>
                              <a:latin typeface="Cambria Math" panose="02040503050406030204" pitchFamily="18" charset="0"/>
                            </a:rPr>
                          </m:ctrlPr>
                        </m:sSubPr>
                        <m:e>
                          <m:r>
                            <a:rPr lang="en-IN" sz="2000" b="0" i="1" smtClean="0">
                              <a:solidFill>
                                <a:srgbClr val="7030A0"/>
                              </a:solidFill>
                              <a:latin typeface="Cambria Math" panose="02040503050406030204" pitchFamily="18" charset="0"/>
                            </a:rPr>
                            <m:t>𝑝</m:t>
                          </m:r>
                        </m:e>
                        <m:sub>
                          <m:r>
                            <a:rPr lang="en-IN" sz="2000" i="1" smtClean="0">
                              <a:solidFill>
                                <a:srgbClr val="7030A0"/>
                              </a:solidFill>
                              <a:latin typeface="Cambria Math" panose="02040503050406030204" pitchFamily="18" charset="0"/>
                              <a:ea typeface="Cambria Math" panose="02040503050406030204" pitchFamily="18" charset="0"/>
                            </a:rPr>
                            <m:t>𝜃</m:t>
                          </m:r>
                        </m:sub>
                      </m:sSub>
                      <m:r>
                        <a:rPr lang="en-IN" sz="2000" b="0" i="1" smtClean="0">
                          <a:solidFill>
                            <a:srgbClr val="7030A0"/>
                          </a:solidFill>
                          <a:latin typeface="Cambria Math" panose="02040503050406030204" pitchFamily="18" charset="0"/>
                        </a:rPr>
                        <m:t>(</m:t>
                      </m:r>
                      <m:r>
                        <a:rPr lang="en-IN" sz="2000" b="0" i="1" smtClean="0">
                          <a:solidFill>
                            <a:srgbClr val="7030A0"/>
                          </a:solidFill>
                          <a:latin typeface="Cambria Math" panose="02040503050406030204" pitchFamily="18" charset="0"/>
                        </a:rPr>
                        <m:t>𝑥</m:t>
                      </m:r>
                      <m:r>
                        <a:rPr lang="en-IN" sz="2000" b="0" i="1" smtClean="0">
                          <a:solidFill>
                            <a:srgbClr val="7030A0"/>
                          </a:solidFill>
                          <a:latin typeface="Cambria Math" panose="02040503050406030204" pitchFamily="18" charset="0"/>
                        </a:rPr>
                        <m:t>|</m:t>
                      </m:r>
                      <m:r>
                        <a:rPr lang="en-IN" sz="2000" b="0" i="1" smtClean="0">
                          <a:solidFill>
                            <a:srgbClr val="7030A0"/>
                          </a:solidFill>
                          <a:latin typeface="Cambria Math" panose="02040503050406030204" pitchFamily="18" charset="0"/>
                        </a:rPr>
                        <m:t>𝑧</m:t>
                      </m:r>
                      <m:r>
                        <a:rPr lang="en-IN" sz="2000" b="0" i="1" smtClean="0">
                          <a:solidFill>
                            <a:srgbClr val="7030A0"/>
                          </a:solidFill>
                          <a:latin typeface="Cambria Math" panose="02040503050406030204" pitchFamily="18" charset="0"/>
                        </a:rPr>
                        <m:t>)</m:t>
                      </m:r>
                    </m:oMath>
                  </m:oMathPara>
                </a14:m>
                <a:endParaRPr lang="en-IN" sz="2000" dirty="0">
                  <a:solidFill>
                    <a:srgbClr val="7030A0"/>
                  </a:solidFill>
                  <a:latin typeface="Arial Narrow" panose="020B0606020202030204" pitchFamily="34" charset="0"/>
                </a:endParaRPr>
              </a:p>
            </p:txBody>
          </p:sp>
        </mc:Choice>
        <mc:Fallback>
          <p:sp>
            <p:nvSpPr>
              <p:cNvPr id="56" name="TextBox 55"/>
              <p:cNvSpPr txBox="1">
                <a:spLocks noRot="1" noChangeAspect="1" noMove="1" noResize="1" noEditPoints="1" noAdjustHandles="1" noChangeArrowheads="1" noChangeShapeType="1" noTextEdit="1"/>
              </p:cNvSpPr>
              <p:nvPr/>
            </p:nvSpPr>
            <p:spPr>
              <a:xfrm>
                <a:off x="9962611" y="2421934"/>
                <a:ext cx="892167" cy="307777"/>
              </a:xfrm>
              <a:prstGeom prst="rect">
                <a:avLst/>
              </a:prstGeom>
              <a:blipFill>
                <a:blip r:embed="rId16"/>
                <a:stretch>
                  <a:fillRect l="-6803" r="-9524" b="-37255"/>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55" name="TextBox 154"/>
              <p:cNvSpPr txBox="1"/>
              <p:nvPr/>
            </p:nvSpPr>
            <p:spPr>
              <a:xfrm>
                <a:off x="10365528" y="3920706"/>
                <a:ext cx="68262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solidFill>
                                <a:srgbClr val="7030A0"/>
                              </a:solidFill>
                              <a:latin typeface="Cambria Math" panose="02040503050406030204" pitchFamily="18" charset="0"/>
                            </a:rPr>
                          </m:ctrlPr>
                        </m:sSubPr>
                        <m:e>
                          <m:r>
                            <a:rPr lang="en-IN" sz="2000" b="0" i="1" smtClean="0">
                              <a:solidFill>
                                <a:srgbClr val="7030A0"/>
                              </a:solidFill>
                              <a:latin typeface="Cambria Math" panose="02040503050406030204" pitchFamily="18" charset="0"/>
                            </a:rPr>
                            <m:t>𝑝</m:t>
                          </m:r>
                        </m:e>
                        <m:sub>
                          <m:r>
                            <a:rPr lang="en-IN" sz="2000" i="1" smtClean="0">
                              <a:solidFill>
                                <a:srgbClr val="7030A0"/>
                              </a:solidFill>
                              <a:latin typeface="Cambria Math" panose="02040503050406030204" pitchFamily="18" charset="0"/>
                              <a:ea typeface="Cambria Math" panose="02040503050406030204" pitchFamily="18" charset="0"/>
                            </a:rPr>
                            <m:t>𝜃</m:t>
                          </m:r>
                        </m:sub>
                      </m:sSub>
                      <m:r>
                        <a:rPr lang="en-IN" sz="2000" b="0" i="1" smtClean="0">
                          <a:solidFill>
                            <a:srgbClr val="7030A0"/>
                          </a:solidFill>
                          <a:latin typeface="Cambria Math" panose="02040503050406030204" pitchFamily="18" charset="0"/>
                        </a:rPr>
                        <m:t>(</m:t>
                      </m:r>
                      <m:r>
                        <a:rPr lang="en-IN" sz="2000" b="0" i="1" smtClean="0">
                          <a:solidFill>
                            <a:srgbClr val="7030A0"/>
                          </a:solidFill>
                          <a:latin typeface="Cambria Math" panose="02040503050406030204" pitchFamily="18" charset="0"/>
                        </a:rPr>
                        <m:t>𝑥</m:t>
                      </m:r>
                      <m:r>
                        <a:rPr lang="en-IN" sz="2000" b="0" i="1" smtClean="0">
                          <a:solidFill>
                            <a:srgbClr val="7030A0"/>
                          </a:solidFill>
                          <a:latin typeface="Cambria Math" panose="02040503050406030204" pitchFamily="18" charset="0"/>
                        </a:rPr>
                        <m:t>)</m:t>
                      </m:r>
                    </m:oMath>
                  </m:oMathPara>
                </a14:m>
                <a:endParaRPr lang="en-IN" sz="2000" dirty="0">
                  <a:solidFill>
                    <a:srgbClr val="7030A0"/>
                  </a:solidFill>
                  <a:latin typeface="Arial Narrow" panose="020B0606020202030204" pitchFamily="34" charset="0"/>
                </a:endParaRPr>
              </a:p>
            </p:txBody>
          </p:sp>
        </mc:Choice>
        <mc:Fallback>
          <p:sp>
            <p:nvSpPr>
              <p:cNvPr id="155" name="TextBox 154"/>
              <p:cNvSpPr txBox="1">
                <a:spLocks noRot="1" noChangeAspect="1" noMove="1" noResize="1" noEditPoints="1" noAdjustHandles="1" noChangeArrowheads="1" noChangeShapeType="1" noTextEdit="1"/>
              </p:cNvSpPr>
              <p:nvPr/>
            </p:nvSpPr>
            <p:spPr>
              <a:xfrm>
                <a:off x="10365528" y="3920706"/>
                <a:ext cx="682623" cy="307777"/>
              </a:xfrm>
              <a:prstGeom prst="rect">
                <a:avLst/>
              </a:prstGeom>
              <a:blipFill>
                <a:blip r:embed="rId17"/>
                <a:stretch>
                  <a:fillRect l="-8929" r="-12500" b="-37255"/>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58" name="TextBox 57"/>
              <p:cNvSpPr txBox="1"/>
              <p:nvPr/>
            </p:nvSpPr>
            <p:spPr>
              <a:xfrm>
                <a:off x="9860454" y="4674958"/>
                <a:ext cx="10629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1800" b="0" i="1" smtClean="0">
                          <a:solidFill>
                            <a:srgbClr val="7030A0"/>
                          </a:solidFill>
                          <a:latin typeface="Cambria Math" panose="02040503050406030204" pitchFamily="18" charset="0"/>
                        </a:rPr>
                        <m:t>𝑧</m:t>
                      </m:r>
                      <m:r>
                        <a:rPr lang="en-IN" sz="1800" b="0" i="1" smtClean="0">
                          <a:solidFill>
                            <a:srgbClr val="7030A0"/>
                          </a:solidFill>
                          <a:latin typeface="Cambria Math" panose="02040503050406030204" pitchFamily="18" charset="0"/>
                          <a:ea typeface="Cambria Math" panose="02040503050406030204" pitchFamily="18" charset="0"/>
                        </a:rPr>
                        <m:t>~</m:t>
                      </m:r>
                      <m:r>
                        <a:rPr lang="en-IN" sz="1800" b="0" i="1" smtClean="0">
                          <a:solidFill>
                            <a:srgbClr val="7030A0"/>
                          </a:solidFill>
                          <a:latin typeface="Cambria Math" panose="02040503050406030204" pitchFamily="18" charset="0"/>
                          <a:ea typeface="Cambria Math" panose="02040503050406030204" pitchFamily="18" charset="0"/>
                        </a:rPr>
                        <m:t>𝒩</m:t>
                      </m:r>
                      <m:r>
                        <a:rPr lang="en-IN" sz="1800" b="0" i="1" smtClean="0">
                          <a:solidFill>
                            <a:srgbClr val="7030A0"/>
                          </a:solidFill>
                          <a:latin typeface="Cambria Math" panose="02040503050406030204" pitchFamily="18" charset="0"/>
                          <a:ea typeface="Cambria Math" panose="02040503050406030204" pitchFamily="18" charset="0"/>
                        </a:rPr>
                        <m:t>(</m:t>
                      </m:r>
                      <m:r>
                        <a:rPr lang="en-IN" sz="1800" b="0" i="1" smtClean="0">
                          <a:solidFill>
                            <a:srgbClr val="7030A0"/>
                          </a:solidFill>
                          <a:latin typeface="Cambria Math" panose="02040503050406030204" pitchFamily="18" charset="0"/>
                          <a:ea typeface="Cambria Math" panose="02040503050406030204" pitchFamily="18" charset="0"/>
                        </a:rPr>
                        <m:t>0</m:t>
                      </m:r>
                      <m:r>
                        <a:rPr lang="en-IN" sz="1800" b="0" i="1" smtClean="0">
                          <a:solidFill>
                            <a:srgbClr val="7030A0"/>
                          </a:solidFill>
                          <a:latin typeface="Cambria Math" panose="02040503050406030204" pitchFamily="18" charset="0"/>
                          <a:ea typeface="Cambria Math" panose="02040503050406030204" pitchFamily="18" charset="0"/>
                        </a:rPr>
                        <m:t>,</m:t>
                      </m:r>
                      <m:r>
                        <a:rPr lang="en-IN" sz="1800" b="0" i="1" smtClean="0">
                          <a:solidFill>
                            <a:srgbClr val="7030A0"/>
                          </a:solidFill>
                          <a:latin typeface="Cambria Math" panose="02040503050406030204" pitchFamily="18" charset="0"/>
                          <a:ea typeface="Cambria Math" panose="02040503050406030204" pitchFamily="18" charset="0"/>
                        </a:rPr>
                        <m:t>1</m:t>
                      </m:r>
                      <m:r>
                        <a:rPr lang="en-IN" sz="1800" b="0" i="1" smtClean="0">
                          <a:solidFill>
                            <a:srgbClr val="7030A0"/>
                          </a:solidFill>
                          <a:latin typeface="Cambria Math" panose="02040503050406030204" pitchFamily="18" charset="0"/>
                          <a:ea typeface="Cambria Math" panose="02040503050406030204" pitchFamily="18" charset="0"/>
                        </a:rPr>
                        <m:t>)</m:t>
                      </m:r>
                    </m:oMath>
                  </m:oMathPara>
                </a14:m>
                <a:endParaRPr lang="en-IN" sz="1800" dirty="0">
                  <a:solidFill>
                    <a:srgbClr val="7030A0"/>
                  </a:solidFill>
                  <a:latin typeface="Arial Narrow" panose="020B0606020202030204" pitchFamily="34" charset="0"/>
                </a:endParaRPr>
              </a:p>
            </p:txBody>
          </p:sp>
        </mc:Choice>
        <mc:Fallback>
          <p:sp>
            <p:nvSpPr>
              <p:cNvPr id="58" name="TextBox 57"/>
              <p:cNvSpPr txBox="1">
                <a:spLocks noRot="1" noChangeAspect="1" noMove="1" noResize="1" noEditPoints="1" noAdjustHandles="1" noChangeArrowheads="1" noChangeShapeType="1" noTextEdit="1"/>
              </p:cNvSpPr>
              <p:nvPr/>
            </p:nvSpPr>
            <p:spPr>
              <a:xfrm>
                <a:off x="9860454" y="4674958"/>
                <a:ext cx="1062983" cy="276999"/>
              </a:xfrm>
              <a:prstGeom prst="rect">
                <a:avLst/>
              </a:prstGeom>
              <a:blipFill>
                <a:blip r:embed="rId18"/>
                <a:stretch>
                  <a:fillRect l="-2874" r="-8046" b="-40000"/>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56" name="TextBox 155"/>
              <p:cNvSpPr txBox="1"/>
              <p:nvPr/>
            </p:nvSpPr>
            <p:spPr>
              <a:xfrm>
                <a:off x="9100488" y="4624829"/>
                <a:ext cx="68262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solidFill>
                                <a:srgbClr val="7030A0"/>
                              </a:solidFill>
                              <a:latin typeface="Cambria Math" panose="02040503050406030204" pitchFamily="18" charset="0"/>
                            </a:rPr>
                          </m:ctrlPr>
                        </m:sSubPr>
                        <m:e>
                          <m:r>
                            <a:rPr lang="en-IN" sz="2000" b="0" i="1" smtClean="0">
                              <a:solidFill>
                                <a:srgbClr val="7030A0"/>
                              </a:solidFill>
                              <a:latin typeface="Cambria Math" panose="02040503050406030204" pitchFamily="18" charset="0"/>
                            </a:rPr>
                            <m:t>𝑝</m:t>
                          </m:r>
                        </m:e>
                        <m:sub>
                          <m:r>
                            <a:rPr lang="en-IN" sz="2000" i="1" smtClean="0">
                              <a:solidFill>
                                <a:srgbClr val="7030A0"/>
                              </a:solidFill>
                              <a:latin typeface="Cambria Math" panose="02040503050406030204" pitchFamily="18" charset="0"/>
                              <a:ea typeface="Cambria Math" panose="02040503050406030204" pitchFamily="18" charset="0"/>
                            </a:rPr>
                            <m:t>𝜃</m:t>
                          </m:r>
                        </m:sub>
                      </m:sSub>
                      <m:r>
                        <a:rPr lang="en-IN" sz="2000" b="0" i="1" smtClean="0">
                          <a:solidFill>
                            <a:srgbClr val="7030A0"/>
                          </a:solidFill>
                          <a:latin typeface="Cambria Math" panose="02040503050406030204" pitchFamily="18" charset="0"/>
                        </a:rPr>
                        <m:t>(</m:t>
                      </m:r>
                      <m:r>
                        <a:rPr lang="en-IN" sz="2000" b="0" i="1" smtClean="0">
                          <a:solidFill>
                            <a:srgbClr val="7030A0"/>
                          </a:solidFill>
                          <a:latin typeface="Cambria Math" panose="02040503050406030204" pitchFamily="18" charset="0"/>
                        </a:rPr>
                        <m:t>𝑧</m:t>
                      </m:r>
                      <m:r>
                        <a:rPr lang="en-IN" sz="2000" b="0" i="1" smtClean="0">
                          <a:solidFill>
                            <a:srgbClr val="7030A0"/>
                          </a:solidFill>
                          <a:latin typeface="Cambria Math" panose="02040503050406030204" pitchFamily="18" charset="0"/>
                        </a:rPr>
                        <m:t>)</m:t>
                      </m:r>
                    </m:oMath>
                  </m:oMathPara>
                </a14:m>
                <a:endParaRPr lang="en-IN" sz="2000" dirty="0">
                  <a:solidFill>
                    <a:srgbClr val="7030A0"/>
                  </a:solidFill>
                  <a:latin typeface="Arial Narrow" panose="020B0606020202030204" pitchFamily="34" charset="0"/>
                </a:endParaRPr>
              </a:p>
            </p:txBody>
          </p:sp>
        </mc:Choice>
        <mc:Fallback>
          <p:sp>
            <p:nvSpPr>
              <p:cNvPr id="156" name="TextBox 155"/>
              <p:cNvSpPr txBox="1">
                <a:spLocks noRot="1" noChangeAspect="1" noMove="1" noResize="1" noEditPoints="1" noAdjustHandles="1" noChangeArrowheads="1" noChangeShapeType="1" noTextEdit="1"/>
              </p:cNvSpPr>
              <p:nvPr/>
            </p:nvSpPr>
            <p:spPr>
              <a:xfrm>
                <a:off x="9100488" y="4624829"/>
                <a:ext cx="682623" cy="307777"/>
              </a:xfrm>
              <a:prstGeom prst="rect">
                <a:avLst/>
              </a:prstGeom>
              <a:blipFill>
                <a:blip r:embed="rId19"/>
                <a:stretch>
                  <a:fillRect l="-8036" r="-11607" b="-40000"/>
                </a:stretch>
              </a:blipFill>
            </p:spPr>
            <p:txBody>
              <a:bodyPr/>
              <a:lstStyle/>
              <a:p>
                <a:r>
                  <a:rPr lang="en-GB">
                    <a:noFill/>
                  </a:rPr>
                  <a:t> </a:t>
                </a:r>
              </a:p>
            </p:txBody>
          </p:sp>
        </mc:Fallback>
      </mc:AlternateContent>
      <p:sp>
        <p:nvSpPr>
          <p:cNvPr id="64" name="Rectangle 63"/>
          <p:cNvSpPr/>
          <p:nvPr/>
        </p:nvSpPr>
        <p:spPr>
          <a:xfrm>
            <a:off x="2276475" y="6337201"/>
            <a:ext cx="1188616" cy="459970"/>
          </a:xfrm>
          <a:prstGeom prst="rect">
            <a:avLst/>
          </a:prstGeom>
          <a:solidFill>
            <a:srgbClr val="FFFF00">
              <a:alpha val="15000"/>
            </a:srgb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cxnSp>
        <p:nvCxnSpPr>
          <p:cNvPr id="16" name="Straight Arrow Connector 15"/>
          <p:cNvCxnSpPr>
            <a:endCxn id="46" idx="4"/>
          </p:cNvCxnSpPr>
          <p:nvPr/>
        </p:nvCxnSpPr>
        <p:spPr>
          <a:xfrm flipV="1">
            <a:off x="2947316" y="5898975"/>
            <a:ext cx="1963" cy="427491"/>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7" name="Content Placeholder 1"/>
              <p:cNvSpPr txBox="1">
                <a:spLocks/>
              </p:cNvSpPr>
              <p:nvPr/>
            </p:nvSpPr>
            <p:spPr>
              <a:xfrm>
                <a:off x="605577" y="1380754"/>
                <a:ext cx="7881198" cy="33301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indent="-360000" algn="just">
                  <a:lnSpc>
                    <a:spcPct val="100000"/>
                  </a:lnSpc>
                  <a:spcBef>
                    <a:spcPts val="1200"/>
                  </a:spcBef>
                  <a:spcAft>
                    <a:spcPts val="200"/>
                  </a:spcAft>
                </a:pPr>
                <a:r>
                  <a:rPr lang="en-IN" sz="2000" dirty="0">
                    <a:latin typeface="Arial Narrow" panose="020B0606020202030204" pitchFamily="34" charset="0"/>
                    <a:cs typeface="Times New Roman" panose="02020603050405020304" pitchFamily="18" charset="0"/>
                  </a:rPr>
                  <a:t>So, given an </a:t>
                </a:r>
                <a:r>
                  <a:rPr lang="en-IN" sz="2000" dirty="0">
                    <a:solidFill>
                      <a:srgbClr val="7030A0"/>
                    </a:solidFill>
                    <a:latin typeface="Arial Narrow" panose="020B0606020202030204" pitchFamily="34" charset="0"/>
                    <a:cs typeface="Times New Roman" panose="02020603050405020304" pitchFamily="18" charset="0"/>
                  </a:rPr>
                  <a:t>input </a:t>
                </a:r>
                <a14:m>
                  <m:oMath xmlns:m="http://schemas.openxmlformats.org/officeDocument/2006/math">
                    <m:r>
                      <a:rPr lang="en-IN" sz="2000" i="1">
                        <a:solidFill>
                          <a:srgbClr val="7030A0"/>
                        </a:solidFill>
                        <a:latin typeface="Cambria Math" panose="02040503050406030204" pitchFamily="18" charset="0"/>
                        <a:cs typeface="Times New Roman" panose="02020603050405020304" pitchFamily="18" charset="0"/>
                      </a:rPr>
                      <m:t>𝑥</m:t>
                    </m:r>
                    <m:r>
                      <a:rPr lang="en-IN" sz="2000" i="1">
                        <a:solidFill>
                          <a:srgbClr val="7030A0"/>
                        </a:solidFill>
                        <a:latin typeface="Cambria Math" panose="02040503050406030204" pitchFamily="18" charset="0"/>
                        <a:cs typeface="Times New Roman" panose="02020603050405020304" pitchFamily="18" charset="0"/>
                      </a:rPr>
                      <m:t>,</m:t>
                    </m:r>
                    <m:sSub>
                      <m:sSubPr>
                        <m:ctrlPr>
                          <a:rPr lang="en-IN" sz="2000" i="1">
                            <a:solidFill>
                              <a:srgbClr val="7030A0"/>
                            </a:solidFill>
                            <a:latin typeface="Cambria Math" panose="02040503050406030204" pitchFamily="18" charset="0"/>
                            <a:cs typeface="Times New Roman" panose="02020603050405020304" pitchFamily="18" charset="0"/>
                          </a:rPr>
                        </m:ctrlPr>
                      </m:sSubPr>
                      <m:e>
                        <m:r>
                          <a:rPr lang="en-IN" sz="2000" i="1">
                            <a:solidFill>
                              <a:srgbClr val="7030A0"/>
                            </a:solidFill>
                            <a:latin typeface="Cambria Math" panose="02040503050406030204" pitchFamily="18" charset="0"/>
                            <a:cs typeface="Times New Roman" panose="02020603050405020304" pitchFamily="18" charset="0"/>
                          </a:rPr>
                          <m:t>𝑞</m:t>
                        </m:r>
                      </m:e>
                      <m:sub>
                        <m:r>
                          <a:rPr lang="en-IN" sz="20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000" i="1">
                        <a:solidFill>
                          <a:srgbClr val="7030A0"/>
                        </a:solidFill>
                        <a:latin typeface="Cambria Math" panose="02040503050406030204" pitchFamily="18" charset="0"/>
                        <a:cs typeface="Times New Roman" panose="02020603050405020304" pitchFamily="18" charset="0"/>
                      </a:rPr>
                      <m:t>(</m:t>
                    </m:r>
                    <m:r>
                      <a:rPr lang="en-IN" sz="2000" i="1">
                        <a:solidFill>
                          <a:srgbClr val="7030A0"/>
                        </a:solidFill>
                        <a:latin typeface="Cambria Math" panose="02040503050406030204" pitchFamily="18" charset="0"/>
                        <a:cs typeface="Times New Roman" panose="02020603050405020304" pitchFamily="18" charset="0"/>
                      </a:rPr>
                      <m:t>𝑧</m:t>
                    </m:r>
                    <m:r>
                      <a:rPr lang="en-IN" sz="2000" i="1">
                        <a:solidFill>
                          <a:srgbClr val="7030A0"/>
                        </a:solidFill>
                        <a:latin typeface="Cambria Math" panose="02040503050406030204" pitchFamily="18" charset="0"/>
                        <a:cs typeface="Times New Roman" panose="02020603050405020304" pitchFamily="18" charset="0"/>
                      </a:rPr>
                      <m:t>|</m:t>
                    </m:r>
                    <m:r>
                      <a:rPr lang="en-IN" sz="2000" i="1">
                        <a:solidFill>
                          <a:srgbClr val="7030A0"/>
                        </a:solidFill>
                        <a:latin typeface="Cambria Math" panose="02040503050406030204" pitchFamily="18" charset="0"/>
                        <a:cs typeface="Times New Roman" panose="02020603050405020304" pitchFamily="18" charset="0"/>
                      </a:rPr>
                      <m:t>𝑥</m:t>
                    </m:r>
                    <m:r>
                      <a:rPr lang="en-IN" sz="2000" i="1">
                        <a:solidFill>
                          <a:srgbClr val="7030A0"/>
                        </a:solidFill>
                        <a:latin typeface="Cambria Math" panose="02040503050406030204" pitchFamily="18" charset="0"/>
                        <a:cs typeface="Times New Roman" panose="02020603050405020304" pitchFamily="18" charset="0"/>
                      </a:rPr>
                      <m:t>)</m:t>
                    </m:r>
                  </m:oMath>
                </a14:m>
                <a:r>
                  <a:rPr lang="en-IN" sz="2000" dirty="0">
                    <a:solidFill>
                      <a:srgbClr val="7030A0"/>
                    </a:solidFill>
                    <a:latin typeface="Arial Narrow" panose="020B0606020202030204" pitchFamily="34" charset="0"/>
                    <a:cs typeface="Times New Roman" panose="02020603050405020304" pitchFamily="18" charset="0"/>
                  </a:rPr>
                  <a:t>, parameterized by </a:t>
                </a:r>
                <a14:m>
                  <m:oMath xmlns:m="http://schemas.openxmlformats.org/officeDocument/2006/math">
                    <m:r>
                      <a:rPr lang="en-IN" sz="20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oMath>
                </a14:m>
                <a:r>
                  <a:rPr lang="en-IN" sz="2000" dirty="0">
                    <a:solidFill>
                      <a:srgbClr val="7030A0"/>
                    </a:solidFill>
                    <a:latin typeface="Arial Narrow" panose="020B0606020202030204" pitchFamily="34" charset="0"/>
                    <a:cs typeface="Times New Roman" panose="02020603050405020304" pitchFamily="18" charset="0"/>
                  </a:rPr>
                  <a:t> </a:t>
                </a:r>
                <a:r>
                  <a:rPr lang="en-IN" sz="2000" dirty="0">
                    <a:latin typeface="Arial Narrow" panose="020B0606020202030204" pitchFamily="34" charset="0"/>
                    <a:cs typeface="Times New Roman" panose="02020603050405020304" pitchFamily="18" charset="0"/>
                  </a:rPr>
                  <a:t>is introduced which </a:t>
                </a:r>
                <a:r>
                  <a:rPr lang="en-IN" sz="2000" dirty="0">
                    <a:solidFill>
                      <a:srgbClr val="7030A0"/>
                    </a:solidFill>
                    <a:latin typeface="Arial Narrow" panose="020B0606020202030204" pitchFamily="34" charset="0"/>
                    <a:cs typeface="Times New Roman" panose="02020603050405020304" pitchFamily="18" charset="0"/>
                  </a:rPr>
                  <a:t>approximates</a:t>
                </a:r>
                <a:r>
                  <a:rPr lang="en-IN" sz="2000" dirty="0">
                    <a:latin typeface="Arial Narrow" panose="020B0606020202030204" pitchFamily="34" charset="0"/>
                    <a:cs typeface="Times New Roman" panose="02020603050405020304" pitchFamily="18" charset="0"/>
                  </a:rPr>
                  <a:t> the </a:t>
                </a:r>
                <a:r>
                  <a:rPr lang="en-IN" sz="2000" dirty="0">
                    <a:solidFill>
                      <a:srgbClr val="7030A0"/>
                    </a:solidFill>
                    <a:latin typeface="Arial Narrow" panose="020B0606020202030204" pitchFamily="34" charset="0"/>
                    <a:cs typeface="Times New Roman" panose="02020603050405020304" pitchFamily="18" charset="0"/>
                  </a:rPr>
                  <a:t>true posterior </a:t>
                </a:r>
                <a14:m>
                  <m:oMath xmlns:m="http://schemas.openxmlformats.org/officeDocument/2006/math">
                    <m:sSub>
                      <m:sSubPr>
                        <m:ctrlPr>
                          <a:rPr lang="en-IN" sz="2000" i="1">
                            <a:solidFill>
                              <a:srgbClr val="7030A0"/>
                            </a:solidFill>
                            <a:latin typeface="Cambria Math" panose="02040503050406030204" pitchFamily="18" charset="0"/>
                            <a:cs typeface="Times New Roman" panose="02020603050405020304" pitchFamily="18" charset="0"/>
                          </a:rPr>
                        </m:ctrlPr>
                      </m:sSubPr>
                      <m:e>
                        <m:r>
                          <a:rPr lang="en-IN" sz="2000" i="1">
                            <a:solidFill>
                              <a:srgbClr val="7030A0"/>
                            </a:solidFill>
                            <a:latin typeface="Cambria Math" panose="02040503050406030204" pitchFamily="18" charset="0"/>
                            <a:cs typeface="Times New Roman" panose="02020603050405020304" pitchFamily="18" charset="0"/>
                          </a:rPr>
                          <m:t>𝑝</m:t>
                        </m:r>
                      </m:e>
                      <m:sub>
                        <m:r>
                          <a:rPr lang="en-IN" sz="20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𝜃</m:t>
                        </m:r>
                      </m:sub>
                    </m:sSub>
                    <m:r>
                      <a:rPr lang="en-IN" sz="2000" i="1">
                        <a:solidFill>
                          <a:srgbClr val="7030A0"/>
                        </a:solidFill>
                        <a:latin typeface="Cambria Math" panose="02040503050406030204" pitchFamily="18" charset="0"/>
                        <a:cs typeface="Times New Roman" panose="02020603050405020304" pitchFamily="18" charset="0"/>
                      </a:rPr>
                      <m:t>(</m:t>
                    </m:r>
                    <m:r>
                      <a:rPr lang="en-IN" sz="2000" b="0" i="1" smtClean="0">
                        <a:solidFill>
                          <a:srgbClr val="7030A0"/>
                        </a:solidFill>
                        <a:latin typeface="Cambria Math" panose="02040503050406030204" pitchFamily="18" charset="0"/>
                        <a:cs typeface="Times New Roman" panose="02020603050405020304" pitchFamily="18" charset="0"/>
                      </a:rPr>
                      <m:t>𝑧</m:t>
                    </m:r>
                    <m:r>
                      <a:rPr lang="en-IN" sz="2000" i="1">
                        <a:solidFill>
                          <a:srgbClr val="7030A0"/>
                        </a:solidFill>
                        <a:latin typeface="Cambria Math" panose="02040503050406030204" pitchFamily="18" charset="0"/>
                        <a:cs typeface="Times New Roman" panose="02020603050405020304" pitchFamily="18" charset="0"/>
                      </a:rPr>
                      <m:t>|</m:t>
                    </m:r>
                    <m:r>
                      <a:rPr lang="en-IN" sz="2000" b="0" i="1" smtClean="0">
                        <a:solidFill>
                          <a:srgbClr val="7030A0"/>
                        </a:solidFill>
                        <a:latin typeface="Cambria Math" panose="02040503050406030204" pitchFamily="18" charset="0"/>
                        <a:cs typeface="Times New Roman" panose="02020603050405020304" pitchFamily="18" charset="0"/>
                      </a:rPr>
                      <m:t>𝑥</m:t>
                    </m:r>
                    <m:r>
                      <a:rPr lang="en-IN" sz="2000" i="1">
                        <a:solidFill>
                          <a:srgbClr val="7030A0"/>
                        </a:solidFill>
                        <a:latin typeface="Cambria Math" panose="02040503050406030204" pitchFamily="18" charset="0"/>
                        <a:cs typeface="Times New Roman" panose="02020603050405020304" pitchFamily="18" charset="0"/>
                      </a:rPr>
                      <m:t>)</m:t>
                    </m:r>
                  </m:oMath>
                </a14:m>
                <a:r>
                  <a:rPr lang="en-IN" sz="2000" dirty="0">
                    <a:latin typeface="Arial Narrow" panose="020B0606020202030204" pitchFamily="34" charset="0"/>
                    <a:cs typeface="Times New Roman" panose="02020603050405020304" pitchFamily="18" charset="0"/>
                  </a:rPr>
                  <a:t>.</a:t>
                </a:r>
              </a:p>
              <a:p>
                <a:pPr marL="360000" indent="-360000" algn="just">
                  <a:lnSpc>
                    <a:spcPct val="100000"/>
                  </a:lnSpc>
                  <a:spcBef>
                    <a:spcPts val="1200"/>
                  </a:spcBef>
                  <a:spcAft>
                    <a:spcPts val="200"/>
                  </a:spcAft>
                </a:pPr>
                <a:endParaRPr lang="en-IN" sz="2000" dirty="0">
                  <a:latin typeface="Arial Narrow" panose="020B0606020202030204" pitchFamily="34" charset="0"/>
                  <a:cs typeface="Times New Roman" panose="02020603050405020304" pitchFamily="18" charset="0"/>
                </a:endParaRPr>
              </a:p>
              <a:p>
                <a:pPr marL="360000" indent="-360000" algn="just">
                  <a:lnSpc>
                    <a:spcPct val="100000"/>
                  </a:lnSpc>
                  <a:spcBef>
                    <a:spcPts val="1200"/>
                  </a:spcBef>
                  <a:spcAft>
                    <a:spcPts val="200"/>
                  </a:spcAft>
                </a:pPr>
                <a:r>
                  <a:rPr lang="en-IN" sz="2000" dirty="0">
                    <a:latin typeface="Arial Narrow" panose="020B0606020202030204" pitchFamily="34" charset="0"/>
                    <a:cs typeface="Times New Roman" panose="02020603050405020304" pitchFamily="18" charset="0"/>
                  </a:rPr>
                  <a:t>The conditional probability </a:t>
                </a:r>
                <a14:m>
                  <m:oMath xmlns:m="http://schemas.openxmlformats.org/officeDocument/2006/math">
                    <m:sSub>
                      <m:sSubPr>
                        <m:ctrlPr>
                          <a:rPr lang="en-IN"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𝑝</m:t>
                        </m:r>
                      </m:e>
                      <m:sub>
                        <m:r>
                          <a:rPr lang="en-IN" sz="2000" i="1" smtClean="0">
                            <a:latin typeface="Cambria Math" panose="02040503050406030204" pitchFamily="18" charset="0"/>
                            <a:ea typeface="Cambria Math" panose="02040503050406030204" pitchFamily="18" charset="0"/>
                            <a:cs typeface="Times New Roman" panose="02020603050405020304" pitchFamily="18" charset="0"/>
                          </a:rPr>
                          <m:t>𝜃</m:t>
                        </m:r>
                      </m:sub>
                    </m:sSub>
                    <m:r>
                      <a:rPr lang="en-IN" sz="2000" b="0" i="1" smtClean="0">
                        <a:latin typeface="Cambria Math" panose="02040503050406030204" pitchFamily="18" charset="0"/>
                        <a:cs typeface="Times New Roman" panose="02020603050405020304" pitchFamily="18" charset="0"/>
                      </a:rPr>
                      <m:t>(</m:t>
                    </m:r>
                    <m:r>
                      <a:rPr lang="en-IN" sz="2000" b="0" i="1" smtClean="0">
                        <a:latin typeface="Cambria Math" panose="02040503050406030204" pitchFamily="18" charset="0"/>
                        <a:cs typeface="Times New Roman" panose="02020603050405020304" pitchFamily="18" charset="0"/>
                      </a:rPr>
                      <m:t>𝑥</m:t>
                    </m:r>
                    <m:r>
                      <a:rPr lang="en-IN" sz="2000" b="0" i="1" smtClean="0">
                        <a:latin typeface="Cambria Math" panose="02040503050406030204" pitchFamily="18" charset="0"/>
                        <a:cs typeface="Times New Roman" panose="02020603050405020304" pitchFamily="18" charset="0"/>
                      </a:rPr>
                      <m:t>|</m:t>
                    </m:r>
                    <m:r>
                      <a:rPr lang="en-IN" sz="2000" b="0" i="1" smtClean="0">
                        <a:latin typeface="Cambria Math" panose="02040503050406030204" pitchFamily="18" charset="0"/>
                        <a:cs typeface="Times New Roman" panose="02020603050405020304" pitchFamily="18" charset="0"/>
                      </a:rPr>
                      <m:t>𝑧</m:t>
                    </m:r>
                    <m:r>
                      <a:rPr lang="en-IN" sz="2000" b="0" i="1" smtClean="0">
                        <a:latin typeface="Cambria Math" panose="02040503050406030204" pitchFamily="18" charset="0"/>
                        <a:cs typeface="Times New Roman" panose="02020603050405020304" pitchFamily="18" charset="0"/>
                      </a:rPr>
                      <m:t>)</m:t>
                    </m:r>
                  </m:oMath>
                </a14:m>
                <a:r>
                  <a:rPr lang="en-IN" sz="2000" dirty="0">
                    <a:latin typeface="Arial Narrow" panose="020B0606020202030204" pitchFamily="34" charset="0"/>
                    <a:cs typeface="Times New Roman" panose="02020603050405020304" pitchFamily="18" charset="0"/>
                  </a:rPr>
                  <a:t> defines a generative model. </a:t>
                </a:r>
                <a14:m>
                  <m:oMath xmlns:m="http://schemas.openxmlformats.org/officeDocument/2006/math">
                    <m:sSub>
                      <m:sSubPr>
                        <m:ctrlPr>
                          <a:rPr lang="en-IN" sz="2000" i="1" smtClean="0">
                            <a:solidFill>
                              <a:srgbClr val="7030A0"/>
                            </a:solidFill>
                            <a:latin typeface="Cambria Math" panose="02040503050406030204" pitchFamily="18" charset="0"/>
                            <a:cs typeface="Times New Roman" panose="02020603050405020304" pitchFamily="18" charset="0"/>
                          </a:rPr>
                        </m:ctrlPr>
                      </m:sSubPr>
                      <m:e>
                        <m:r>
                          <a:rPr lang="en-IN" sz="2000" i="1">
                            <a:solidFill>
                              <a:srgbClr val="7030A0"/>
                            </a:solidFill>
                            <a:latin typeface="Cambria Math" panose="02040503050406030204" pitchFamily="18" charset="0"/>
                            <a:cs typeface="Times New Roman" panose="02020603050405020304" pitchFamily="18" charset="0"/>
                          </a:rPr>
                          <m:t>𝑝</m:t>
                        </m:r>
                      </m:e>
                      <m:sub>
                        <m:r>
                          <a:rPr lang="en-IN" sz="20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𝜃</m:t>
                        </m:r>
                      </m:sub>
                    </m:sSub>
                    <m:d>
                      <m:dPr>
                        <m:ctrlPr>
                          <a:rPr lang="en-IN" sz="20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solidFill>
                              <a:srgbClr val="7030A0"/>
                            </a:solidFill>
                            <a:latin typeface="Cambria Math" panose="02040503050406030204" pitchFamily="18" charset="0"/>
                            <a:cs typeface="Times New Roman" panose="02020603050405020304" pitchFamily="18" charset="0"/>
                          </a:rPr>
                          <m:t>𝑥</m:t>
                        </m:r>
                      </m:e>
                      <m:e>
                        <m:r>
                          <a:rPr lang="en-IN" sz="2000" i="1">
                            <a:solidFill>
                              <a:srgbClr val="7030A0"/>
                            </a:solidFill>
                            <a:latin typeface="Cambria Math" panose="02040503050406030204" pitchFamily="18" charset="0"/>
                            <a:cs typeface="Times New Roman" panose="02020603050405020304" pitchFamily="18" charset="0"/>
                          </a:rPr>
                          <m:t>𝑧</m:t>
                        </m:r>
                      </m:e>
                    </m:d>
                  </m:oMath>
                </a14:m>
                <a:r>
                  <a:rPr lang="en-IN" sz="2000" dirty="0">
                    <a:solidFill>
                      <a:srgbClr val="7030A0"/>
                    </a:solidFill>
                    <a:latin typeface="Arial Narrow" panose="020B0606020202030204" pitchFamily="34" charset="0"/>
                    <a:cs typeface="Times New Roman" panose="02020603050405020304" pitchFamily="18" charset="0"/>
                  </a:rPr>
                  <a:t> </a:t>
                </a:r>
                <a:r>
                  <a:rPr lang="en-IN" sz="2000" dirty="0">
                    <a:latin typeface="Arial Narrow" panose="020B0606020202030204" pitchFamily="34" charset="0"/>
                    <a:cs typeface="Times New Roman" panose="02020603050405020304" pitchFamily="18" charset="0"/>
                  </a:rPr>
                  <a:t>is also known as </a:t>
                </a:r>
                <a:r>
                  <a:rPr lang="en-IN" sz="2000" dirty="0">
                    <a:solidFill>
                      <a:srgbClr val="7030A0"/>
                    </a:solidFill>
                    <a:latin typeface="Arial Narrow" panose="020B0606020202030204" pitchFamily="34" charset="0"/>
                    <a:cs typeface="Times New Roman" panose="02020603050405020304" pitchFamily="18" charset="0"/>
                  </a:rPr>
                  <a:t>probabilistic decoder</a:t>
                </a:r>
                <a:r>
                  <a:rPr lang="en-IN" sz="2000" dirty="0">
                    <a:latin typeface="Arial Narrow" panose="020B0606020202030204" pitchFamily="34" charset="0"/>
                    <a:cs typeface="Times New Roman" panose="02020603050405020304" pitchFamily="18" charset="0"/>
                  </a:rPr>
                  <a:t>.</a:t>
                </a:r>
              </a:p>
              <a:p>
                <a:pPr marL="360000" indent="-360000" algn="just">
                  <a:lnSpc>
                    <a:spcPct val="100000"/>
                  </a:lnSpc>
                  <a:spcBef>
                    <a:spcPts val="1200"/>
                  </a:spcBef>
                  <a:spcAft>
                    <a:spcPts val="200"/>
                  </a:spcAft>
                </a:pPr>
                <a:endParaRPr lang="en-IN" sz="2000" dirty="0">
                  <a:latin typeface="Arial Narrow" panose="020B0606020202030204" pitchFamily="34" charset="0"/>
                  <a:cs typeface="Times New Roman" panose="02020603050405020304" pitchFamily="18" charset="0"/>
                </a:endParaRPr>
              </a:p>
              <a:p>
                <a:pPr marL="360000" indent="-360000" algn="just">
                  <a:lnSpc>
                    <a:spcPct val="100000"/>
                  </a:lnSpc>
                  <a:spcBef>
                    <a:spcPts val="1200"/>
                  </a:spcBef>
                  <a:spcAft>
                    <a:spcPts val="200"/>
                  </a:spcAft>
                </a:pPr>
                <a:r>
                  <a:rPr lang="en-IN" sz="2000" dirty="0">
                    <a:latin typeface="Arial Narrow" panose="020B0606020202030204" pitchFamily="34" charset="0"/>
                    <a:cs typeface="Times New Roman" panose="02020603050405020304" pitchFamily="18" charset="0"/>
                  </a:rPr>
                  <a:t>The approximation function </a:t>
                </a:r>
                <a14:m>
                  <m:oMath xmlns:m="http://schemas.openxmlformats.org/officeDocument/2006/math">
                    <m:sSub>
                      <m:sSubPr>
                        <m:ctrlPr>
                          <a:rPr lang="en-IN" sz="2000" i="1" smtClean="0">
                            <a:solidFill>
                              <a:srgbClr val="7030A0"/>
                            </a:solidFill>
                            <a:latin typeface="Cambria Math" panose="02040503050406030204" pitchFamily="18" charset="0"/>
                            <a:cs typeface="Times New Roman" panose="02020603050405020304" pitchFamily="18" charset="0"/>
                          </a:rPr>
                        </m:ctrlPr>
                      </m:sSubPr>
                      <m:e>
                        <m:r>
                          <a:rPr lang="en-IN" sz="2000" b="0" i="1" smtClean="0">
                            <a:solidFill>
                              <a:srgbClr val="7030A0"/>
                            </a:solidFill>
                            <a:latin typeface="Cambria Math" panose="02040503050406030204" pitchFamily="18" charset="0"/>
                            <a:cs typeface="Times New Roman" panose="02020603050405020304" pitchFamily="18" charset="0"/>
                          </a:rPr>
                          <m:t>𝑞</m:t>
                        </m:r>
                      </m:e>
                      <m:sub>
                        <m:r>
                          <a:rPr lang="en-IN" sz="2000" i="1" smtClean="0">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000" b="0" i="1" smtClean="0">
                        <a:solidFill>
                          <a:srgbClr val="7030A0"/>
                        </a:solidFill>
                        <a:latin typeface="Cambria Math" panose="02040503050406030204" pitchFamily="18" charset="0"/>
                        <a:cs typeface="Times New Roman" panose="02020603050405020304" pitchFamily="18" charset="0"/>
                      </a:rPr>
                      <m:t>(</m:t>
                    </m:r>
                    <m:r>
                      <a:rPr lang="en-IN" sz="2000" b="0" i="1" smtClean="0">
                        <a:solidFill>
                          <a:srgbClr val="7030A0"/>
                        </a:solidFill>
                        <a:latin typeface="Cambria Math" panose="02040503050406030204" pitchFamily="18" charset="0"/>
                        <a:cs typeface="Times New Roman" panose="02020603050405020304" pitchFamily="18" charset="0"/>
                      </a:rPr>
                      <m:t>𝑧</m:t>
                    </m:r>
                    <m:r>
                      <a:rPr lang="en-IN" sz="2000" b="0" i="1" smtClean="0">
                        <a:solidFill>
                          <a:srgbClr val="7030A0"/>
                        </a:solidFill>
                        <a:latin typeface="Cambria Math" panose="02040503050406030204" pitchFamily="18" charset="0"/>
                        <a:cs typeface="Times New Roman" panose="02020603050405020304" pitchFamily="18" charset="0"/>
                      </a:rPr>
                      <m:t>|</m:t>
                    </m:r>
                    <m:r>
                      <a:rPr lang="en-IN" sz="2000" b="0" i="1" smtClean="0">
                        <a:solidFill>
                          <a:srgbClr val="7030A0"/>
                        </a:solidFill>
                        <a:latin typeface="Cambria Math" panose="02040503050406030204" pitchFamily="18" charset="0"/>
                        <a:cs typeface="Times New Roman" panose="02020603050405020304" pitchFamily="18" charset="0"/>
                      </a:rPr>
                      <m:t>𝑥</m:t>
                    </m:r>
                    <m:r>
                      <a:rPr lang="en-IN" sz="2000" b="0" i="1" smtClean="0">
                        <a:solidFill>
                          <a:srgbClr val="7030A0"/>
                        </a:solidFill>
                        <a:latin typeface="Cambria Math" panose="02040503050406030204" pitchFamily="18" charset="0"/>
                        <a:cs typeface="Times New Roman" panose="02020603050405020304" pitchFamily="18" charset="0"/>
                      </a:rPr>
                      <m:t>)</m:t>
                    </m:r>
                  </m:oMath>
                </a14:m>
                <a:r>
                  <a:rPr lang="en-IN" sz="2000" dirty="0">
                    <a:solidFill>
                      <a:srgbClr val="7030A0"/>
                    </a:solidFill>
                    <a:latin typeface="Arial Narrow" panose="020B0606020202030204" pitchFamily="34" charset="0"/>
                    <a:cs typeface="Times New Roman" panose="02020603050405020304" pitchFamily="18" charset="0"/>
                  </a:rPr>
                  <a:t> is the probabilistic encoder</a:t>
                </a:r>
                <a:r>
                  <a:rPr lang="en-IN" sz="2000" dirty="0">
                    <a:latin typeface="Arial Narrow" panose="020B0606020202030204" pitchFamily="34" charset="0"/>
                    <a:cs typeface="Times New Roman" panose="02020603050405020304" pitchFamily="18" charset="0"/>
                  </a:rPr>
                  <a:t>.</a:t>
                </a:r>
              </a:p>
            </p:txBody>
          </p:sp>
        </mc:Choice>
        <mc:Fallback xmlns="">
          <p:sp>
            <p:nvSpPr>
              <p:cNvPr id="157" name="Content Placeholder 1"/>
              <p:cNvSpPr txBox="1">
                <a:spLocks noRot="1" noChangeAspect="1" noMove="1" noResize="1" noEditPoints="1" noAdjustHandles="1" noChangeArrowheads="1" noChangeShapeType="1" noTextEdit="1"/>
              </p:cNvSpPr>
              <p:nvPr/>
            </p:nvSpPr>
            <p:spPr>
              <a:xfrm>
                <a:off x="605577" y="1380754"/>
                <a:ext cx="7881198" cy="3330128"/>
              </a:xfrm>
              <a:prstGeom prst="rect">
                <a:avLst/>
              </a:prstGeom>
              <a:blipFill>
                <a:blip r:embed="rId20"/>
                <a:stretch>
                  <a:fillRect l="-696" t="-1282" r="-85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783DD58-B974-4D04-89C8-89B90522180E}"/>
                  </a:ext>
                </a:extLst>
              </p:cNvPr>
              <p:cNvSpPr txBox="1"/>
              <p:nvPr/>
            </p:nvSpPr>
            <p:spPr>
              <a:xfrm>
                <a:off x="1240342" y="6159042"/>
                <a:ext cx="867289" cy="400110"/>
              </a:xfrm>
              <a:prstGeom prst="rect">
                <a:avLst/>
              </a:prstGeom>
              <a:noFill/>
            </p:spPr>
            <p:txBody>
              <a:bodyPr wrap="none" rtlCol="0">
                <a:spAutoFit/>
              </a:bodyPr>
              <a:lstStyle/>
              <a:p>
                <a:pPr marL="0" lvl="1"/>
                <a14:m>
                  <m:oMathPara xmlns:m="http://schemas.openxmlformats.org/officeDocument/2006/math">
                    <m:oMathParaPr>
                      <m:jc m:val="centerGroup"/>
                    </m:oMathParaPr>
                    <m:oMath xmlns:m="http://schemas.openxmlformats.org/officeDocument/2006/math">
                      <m:sSub>
                        <m:sSubPr>
                          <m:ctrlPr>
                            <a:rPr lang="en-IN" sz="2000" i="1" smtClean="0">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rPr>
                            <m:t>𝑝</m:t>
                          </m:r>
                        </m:e>
                        <m:sub>
                          <m:r>
                            <a:rPr lang="en-IN" sz="2000" i="1">
                              <a:solidFill>
                                <a:srgbClr val="7030A0"/>
                              </a:solidFill>
                              <a:latin typeface="Cambria Math" panose="02040503050406030204" pitchFamily="18" charset="0"/>
                              <a:ea typeface="Cambria Math" panose="02040503050406030204" pitchFamily="18" charset="0"/>
                            </a:rPr>
                            <m:t>𝜃</m:t>
                          </m:r>
                        </m:sub>
                      </m:sSub>
                      <m:r>
                        <a:rPr lang="en-IN" sz="2000" b="0" i="1" smtClean="0">
                          <a:solidFill>
                            <a:srgbClr val="7030A0"/>
                          </a:solidFill>
                          <a:latin typeface="Cambria Math" panose="02040503050406030204" pitchFamily="18" charset="0"/>
                          <a:ea typeface="Cambria Math" panose="02040503050406030204" pitchFamily="18" charset="0"/>
                        </a:rPr>
                        <m:t>(</m:t>
                      </m:r>
                      <m:r>
                        <a:rPr lang="en-IN" sz="2000" b="0" i="1" smtClean="0">
                          <a:solidFill>
                            <a:srgbClr val="7030A0"/>
                          </a:solidFill>
                          <a:latin typeface="Cambria Math" panose="02040503050406030204" pitchFamily="18" charset="0"/>
                        </a:rPr>
                        <m:t>𝑥</m:t>
                      </m:r>
                      <m:r>
                        <a:rPr lang="en-IN" sz="2000" i="1">
                          <a:solidFill>
                            <a:srgbClr val="7030A0"/>
                          </a:solidFill>
                          <a:latin typeface="Cambria Math" panose="02040503050406030204" pitchFamily="18" charset="0"/>
                        </a:rPr>
                        <m:t>)</m:t>
                      </m:r>
                    </m:oMath>
                  </m:oMathPara>
                </a14:m>
                <a:endParaRPr lang="en-IN" sz="2000" dirty="0">
                  <a:solidFill>
                    <a:srgbClr val="7030A0"/>
                  </a:solidFill>
                  <a:latin typeface="Arial Narrow" panose="020B0606020202030204" pitchFamily="34" charset="0"/>
                  <a:cs typeface="Times New Roman" panose="02020603050405020304" pitchFamily="18" charset="0"/>
                </a:endParaRPr>
              </a:p>
            </p:txBody>
          </p:sp>
        </mc:Choice>
        <mc:Fallback xmlns="">
          <p:sp>
            <p:nvSpPr>
              <p:cNvPr id="57" name="TextBox 56">
                <a:extLst>
                  <a:ext uri="{FF2B5EF4-FFF2-40B4-BE49-F238E27FC236}">
                    <a16:creationId xmlns:a16="http://schemas.microsoft.com/office/drawing/2014/main" id="{A783DD58-B974-4D04-89C8-89B90522180E}"/>
                  </a:ext>
                </a:extLst>
              </p:cNvPr>
              <p:cNvSpPr txBox="1">
                <a:spLocks noRot="1" noChangeAspect="1" noMove="1" noResize="1" noEditPoints="1" noAdjustHandles="1" noChangeArrowheads="1" noChangeShapeType="1" noTextEdit="1"/>
              </p:cNvSpPr>
              <p:nvPr/>
            </p:nvSpPr>
            <p:spPr>
              <a:xfrm>
                <a:off x="1240342" y="6159042"/>
                <a:ext cx="867289" cy="400110"/>
              </a:xfrm>
              <a:prstGeom prst="rect">
                <a:avLst/>
              </a:prstGeom>
              <a:blipFill>
                <a:blip r:embed="rId21"/>
                <a:stretch>
                  <a:fillRect b="-18182"/>
                </a:stretch>
              </a:blipFill>
            </p:spPr>
            <p:txBody>
              <a:bodyPr/>
              <a:lstStyle/>
              <a:p>
                <a:r>
                  <a:rPr lang="en-IN">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6" name="Google Shape;206;p6"/>
          <p:cNvSpPr/>
          <p:nvPr/>
        </p:nvSpPr>
        <p:spPr>
          <a:xfrm>
            <a:off x="111926" y="6446661"/>
            <a:ext cx="11839575"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200">
                <a:solidFill>
                  <a:schemeClr val="dk1"/>
                </a:solidFill>
                <a:latin typeface="Arial Narrow" panose="020B0606020202030204" pitchFamily="34" charset="0"/>
                <a:ea typeface="Times New Roman"/>
                <a:cs typeface="Times New Roman"/>
                <a:sym typeface="Times New Roman"/>
              </a:rPr>
              <a:t>Figure Source: Song, Chunlin &amp; Sudirman, Sud &amp; Merabti, Madjid. (2010). A Spatial and Frequency Domain Analysis of the Effect of Removal Attacks on Digital Image Watermarks. </a:t>
            </a:r>
            <a:endParaRPr sz="1200">
              <a:latin typeface="Arial Narrow" panose="020B0606020202030204" pitchFamily="34" charset="0"/>
            </a:endParaRPr>
          </a:p>
        </p:txBody>
      </p:sp>
      <p:sp>
        <p:nvSpPr>
          <p:cNvPr id="207" name="Google Shape;207;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200"/>
              <a:buFont typeface="Book Antiqua"/>
              <a:buNone/>
            </a:pPr>
            <a:r>
              <a:rPr lang="en-IN" sz="3600" dirty="0">
                <a:solidFill>
                  <a:schemeClr val="tx1"/>
                </a:solidFill>
                <a:latin typeface="Century" panose="02040604050505020304" pitchFamily="18" charset="0"/>
                <a:ea typeface="Book Antiqua"/>
                <a:cs typeface="Book Antiqua"/>
                <a:sym typeface="Book Antiqua"/>
              </a:rPr>
              <a:t>Example: Auto-Encoder</a:t>
            </a:r>
            <a:endParaRPr sz="3600" dirty="0">
              <a:solidFill>
                <a:schemeClr val="tx1"/>
              </a:solidFill>
              <a:latin typeface="Century" panose="02040604050505020304" pitchFamily="18" charset="0"/>
              <a:ea typeface="Book Antiqua"/>
              <a:cs typeface="Book Antiqua"/>
              <a:sym typeface="Book Antiqua"/>
            </a:endParaRPr>
          </a:p>
        </p:txBody>
      </p:sp>
      <p:sp>
        <p:nvSpPr>
          <p:cNvPr id="208" name="Google Shape;208;p6"/>
          <p:cNvSpPr/>
          <p:nvPr/>
        </p:nvSpPr>
        <p:spPr>
          <a:xfrm>
            <a:off x="111926" y="6208543"/>
            <a:ext cx="5984074"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200">
                <a:solidFill>
                  <a:schemeClr val="dk1"/>
                </a:solidFill>
                <a:latin typeface="Arial Narrow" panose="020B0606020202030204" pitchFamily="34" charset="0"/>
                <a:ea typeface="Times New Roman"/>
                <a:cs typeface="Times New Roman"/>
                <a:sym typeface="Times New Roman"/>
              </a:rPr>
              <a:t>Concept: Fei-Fei Li, Ehsan Adeli, Generative Modelling, Stanford Lecture, 2024</a:t>
            </a:r>
            <a:endParaRPr sz="1200">
              <a:latin typeface="Arial Narrow" panose="020B0606020202030204" pitchFamily="34" charset="0"/>
            </a:endParaRPr>
          </a:p>
        </p:txBody>
      </p:sp>
      <p:sp>
        <p:nvSpPr>
          <p:cNvPr id="221" name="Google Shape;221;p6"/>
          <p:cNvSpPr txBox="1"/>
          <p:nvPr/>
        </p:nvSpPr>
        <p:spPr>
          <a:xfrm>
            <a:off x="711363" y="1646790"/>
            <a:ext cx="6366532" cy="1631175"/>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Font typeface="Arial" panose="020B0604020202020204" pitchFamily="34" charset="0"/>
              <a:buChar char="•"/>
            </a:pPr>
            <a:r>
              <a:rPr lang="en-IN" sz="2000" dirty="0">
                <a:solidFill>
                  <a:schemeClr val="dk1"/>
                </a:solidFill>
                <a:latin typeface="Arial Narrow" panose="020B0606020202030204" pitchFamily="34" charset="0"/>
                <a:ea typeface="Times New Roman"/>
                <a:cs typeface="Times New Roman"/>
                <a:sym typeface="Times New Roman"/>
              </a:rPr>
              <a:t>An </a:t>
            </a:r>
            <a:r>
              <a:rPr lang="en-IN" sz="2000" dirty="0">
                <a:solidFill>
                  <a:srgbClr val="7030A0"/>
                </a:solidFill>
                <a:latin typeface="Arial Narrow" panose="020B0606020202030204" pitchFamily="34" charset="0"/>
                <a:ea typeface="Times New Roman"/>
                <a:cs typeface="Times New Roman"/>
                <a:sym typeface="Times New Roman"/>
              </a:rPr>
              <a:t>ideal auto-encoder will learn the descriptive attributes of image like smile, hat, hair, eye etc</a:t>
            </a:r>
            <a:r>
              <a:rPr lang="en-IN" sz="2000" dirty="0">
                <a:solidFill>
                  <a:schemeClr val="dk1"/>
                </a:solidFill>
                <a:latin typeface="Arial Narrow" panose="020B0606020202030204" pitchFamily="34" charset="0"/>
                <a:ea typeface="Times New Roman"/>
                <a:cs typeface="Times New Roman"/>
                <a:sym typeface="Times New Roman"/>
              </a:rPr>
              <a:t>. </a:t>
            </a:r>
          </a:p>
          <a:p>
            <a:pPr marL="342900" marR="0" lvl="0" indent="-342900" algn="just" rtl="0">
              <a:spcBef>
                <a:spcPts val="0"/>
              </a:spcBef>
              <a:spcAft>
                <a:spcPts val="0"/>
              </a:spcAft>
              <a:buFont typeface="Arial" panose="020B0604020202020204" pitchFamily="34" charset="0"/>
              <a:buChar char="•"/>
            </a:pPr>
            <a:endParaRPr lang="en-IN" sz="2000" dirty="0">
              <a:solidFill>
                <a:schemeClr val="dk1"/>
              </a:solidFill>
              <a:latin typeface="Arial Narrow" panose="020B0606020202030204" pitchFamily="34" charset="0"/>
              <a:ea typeface="Times New Roman"/>
              <a:cs typeface="Times New Roman"/>
              <a:sym typeface="Times New Roman"/>
            </a:endParaRPr>
          </a:p>
          <a:p>
            <a:pPr marL="342900" marR="0" lvl="0" indent="-342900" algn="just" rtl="0">
              <a:spcBef>
                <a:spcPts val="0"/>
              </a:spcBef>
              <a:spcAft>
                <a:spcPts val="0"/>
              </a:spcAft>
              <a:buFont typeface="Arial" panose="020B0604020202020204" pitchFamily="34" charset="0"/>
              <a:buChar char="•"/>
            </a:pPr>
            <a:r>
              <a:rPr lang="en-IN" sz="2000" dirty="0">
                <a:solidFill>
                  <a:schemeClr val="dk1"/>
                </a:solidFill>
                <a:latin typeface="Arial Narrow" panose="020B0606020202030204" pitchFamily="34" charset="0"/>
                <a:ea typeface="Times New Roman"/>
                <a:cs typeface="Times New Roman"/>
                <a:sym typeface="Times New Roman"/>
              </a:rPr>
              <a:t>In the above example, </a:t>
            </a:r>
            <a:r>
              <a:rPr lang="en-IN" sz="2000" dirty="0">
                <a:solidFill>
                  <a:srgbClr val="7030A0"/>
                </a:solidFill>
                <a:latin typeface="Arial Narrow" panose="020B0606020202030204" pitchFamily="34" charset="0"/>
                <a:ea typeface="Times New Roman"/>
                <a:cs typeface="Times New Roman"/>
                <a:sym typeface="Times New Roman"/>
              </a:rPr>
              <a:t>these attributes are described with a single value</a:t>
            </a:r>
            <a:r>
              <a:rPr lang="en-IN" sz="2000" dirty="0">
                <a:solidFill>
                  <a:schemeClr val="dk1"/>
                </a:solidFill>
                <a:latin typeface="Arial Narrow" panose="020B0606020202030204" pitchFamily="34" charset="0"/>
                <a:ea typeface="Times New Roman"/>
                <a:cs typeface="Times New Roman"/>
                <a:sym typeface="Times New Roman"/>
              </a:rPr>
              <a:t>.</a:t>
            </a:r>
            <a:endParaRPr sz="2000" dirty="0">
              <a:latin typeface="Arial Narrow" panose="020B0606020202030204" pitchFamily="34" charset="0"/>
            </a:endParaRPr>
          </a:p>
        </p:txBody>
      </p:sp>
      <p:sp>
        <p:nvSpPr>
          <p:cNvPr id="29" name="Google Shape;138;p5"/>
          <p:cNvSpPr/>
          <p:nvPr/>
        </p:nvSpPr>
        <p:spPr>
          <a:xfrm>
            <a:off x="9211496" y="3893756"/>
            <a:ext cx="1436279" cy="824195"/>
          </a:xfrm>
          <a:prstGeom prst="trapezoid">
            <a:avLst>
              <a:gd name="adj" fmla="val 57796"/>
            </a:avLst>
          </a:prstGeom>
          <a:solidFill>
            <a:schemeClr val="accent4">
              <a:lumMod val="40000"/>
              <a:lumOff val="60000"/>
            </a:schemeClr>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Narrow" panose="020B0606020202030204" pitchFamily="34" charset="0"/>
              <a:ea typeface="Times New Roman"/>
              <a:cs typeface="Times New Roman"/>
              <a:sym typeface="Times New Roman"/>
            </a:endParaRPr>
          </a:p>
        </p:txBody>
      </p:sp>
      <p:sp>
        <p:nvSpPr>
          <p:cNvPr id="30" name="Google Shape;138;p5"/>
          <p:cNvSpPr/>
          <p:nvPr/>
        </p:nvSpPr>
        <p:spPr>
          <a:xfrm rot="10800000">
            <a:off x="9211496" y="2146915"/>
            <a:ext cx="1423579" cy="824195"/>
          </a:xfrm>
          <a:prstGeom prst="trapezoid">
            <a:avLst>
              <a:gd name="adj" fmla="val 56777"/>
            </a:avLst>
          </a:prstGeom>
          <a:solidFill>
            <a:schemeClr val="accent4">
              <a:lumMod val="40000"/>
              <a:lumOff val="60000"/>
            </a:schemeClr>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Narrow" panose="020B0606020202030204" pitchFamily="34" charset="0"/>
              <a:ea typeface="Times New Roman"/>
              <a:cs typeface="Times New Roman"/>
              <a:sym typeface="Times New Roman"/>
            </a:endParaRPr>
          </a:p>
        </p:txBody>
      </p:sp>
      <p:pic>
        <p:nvPicPr>
          <p:cNvPr id="38" name="Picture 37"/>
          <p:cNvPicPr>
            <a:picLocks noChangeAspect="1"/>
          </p:cNvPicPr>
          <p:nvPr/>
        </p:nvPicPr>
        <p:blipFill>
          <a:blip r:embed="rId3">
            <a:extLst>
              <a:ext uri="{BEBA8EAE-BF5A-486C-A8C5-ECC9F3942E4B}">
                <a14:imgProps xmlns:a14="http://schemas.microsoft.com/office/drawing/2010/main">
                  <a14:imgLayer r:embed="rId4">
                    <a14:imgEffect>
                      <a14:colorTemperature colorTemp="11500"/>
                    </a14:imgEffect>
                  </a14:imgLayer>
                </a14:imgProps>
              </a:ext>
            </a:extLst>
          </a:blip>
          <a:stretch>
            <a:fillRect/>
          </a:stretch>
        </p:blipFill>
        <p:spPr>
          <a:xfrm>
            <a:off x="9389865" y="1072007"/>
            <a:ext cx="1240005" cy="985778"/>
          </a:xfrm>
          <a:prstGeom prst="rect">
            <a:avLst/>
          </a:prstGeom>
        </p:spPr>
      </p:pic>
      <p:sp>
        <p:nvSpPr>
          <p:cNvPr id="42" name="Google Shape;293;p11"/>
          <p:cNvSpPr txBox="1"/>
          <p:nvPr/>
        </p:nvSpPr>
        <p:spPr>
          <a:xfrm>
            <a:off x="7427326" y="3772115"/>
            <a:ext cx="2008657"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dirty="0">
                <a:solidFill>
                  <a:srgbClr val="7030A0"/>
                </a:solidFill>
                <a:latin typeface="Arial Narrow" panose="020B0606020202030204" pitchFamily="34" charset="0"/>
                <a:ea typeface="Times New Roman"/>
                <a:cs typeface="Times New Roman"/>
                <a:sym typeface="Times New Roman"/>
              </a:rPr>
              <a:t>Latent Attributes (z)</a:t>
            </a:r>
            <a:endParaRPr sz="2000" dirty="0">
              <a:solidFill>
                <a:srgbClr val="7030A0"/>
              </a:solidFill>
              <a:latin typeface="Arial Narrow" panose="020B0606020202030204" pitchFamily="34" charset="0"/>
            </a:endParaRPr>
          </a:p>
        </p:txBody>
      </p:sp>
      <p:pic>
        <p:nvPicPr>
          <p:cNvPr id="45" name="Picture 44"/>
          <p:cNvPicPr>
            <a:picLocks noChangeAspect="1"/>
          </p:cNvPicPr>
          <p:nvPr/>
        </p:nvPicPr>
        <p:blipFill>
          <a:blip r:embed="rId5"/>
          <a:stretch>
            <a:fillRect/>
          </a:stretch>
        </p:blipFill>
        <p:spPr>
          <a:xfrm>
            <a:off x="9389865" y="4745720"/>
            <a:ext cx="1008589" cy="1076715"/>
          </a:xfrm>
          <a:prstGeom prst="rect">
            <a:avLst/>
          </a:prstGeom>
        </p:spPr>
      </p:pic>
      <mc:AlternateContent xmlns:mc="http://schemas.openxmlformats.org/markup-compatibility/2006" xmlns:a14="http://schemas.microsoft.com/office/drawing/2010/main">
        <mc:Choice Requires="a14">
          <p:sp>
            <p:nvSpPr>
              <p:cNvPr id="47" name="Google Shape;293;p11"/>
              <p:cNvSpPr txBox="1"/>
              <p:nvPr/>
            </p:nvSpPr>
            <p:spPr>
              <a:xfrm>
                <a:off x="8443609" y="1168953"/>
                <a:ext cx="992374" cy="400069"/>
              </a:xfrm>
              <a:prstGeom prst="rect">
                <a:avLst/>
              </a:prstGeom>
              <a:noFill/>
              <a:ln>
                <a:noFill/>
              </a:ln>
            </p:spPr>
            <p:txBody>
              <a:bodyPr spcFirstLastPara="1" wrap="square" lIns="91425" tIns="45700" rIns="91425" bIns="45700" anchor="t" anchorCtr="0">
                <a:spAutoFit/>
              </a:bodyPr>
              <a:lstStyle/>
              <a:p>
                <a:pPr lvl="0"/>
                <a:r>
                  <a:rPr lang="en-IN" sz="2000" dirty="0">
                    <a:solidFill>
                      <a:srgbClr val="7030A0"/>
                    </a:solidFill>
                    <a:latin typeface="Arial Narrow" panose="020B0606020202030204" pitchFamily="34" charset="0"/>
                    <a:ea typeface="Times New Roman"/>
                    <a:cs typeface="Times New Roman"/>
                    <a:sym typeface="Times New Roman"/>
                  </a:rPr>
                  <a:t>Input (</a:t>
                </a:r>
                <a14:m>
                  <m:oMath xmlns:m="http://schemas.openxmlformats.org/officeDocument/2006/math">
                    <m:r>
                      <a:rPr lang="en-IN" sz="2000" i="1">
                        <a:solidFill>
                          <a:srgbClr val="7030A0"/>
                        </a:solidFill>
                        <a:latin typeface="Cambria Math" panose="02040503050406030204" pitchFamily="18" charset="0"/>
                      </a:rPr>
                      <m:t>𝑥</m:t>
                    </m:r>
                  </m:oMath>
                </a14:m>
                <a:r>
                  <a:rPr lang="en-IN" sz="2000" dirty="0">
                    <a:solidFill>
                      <a:srgbClr val="7030A0"/>
                    </a:solidFill>
                    <a:latin typeface="Arial Narrow" panose="020B0606020202030204" pitchFamily="34" charset="0"/>
                    <a:ea typeface="Times New Roman"/>
                    <a:cs typeface="Times New Roman"/>
                    <a:sym typeface="Times New Roman"/>
                  </a:rPr>
                  <a:t>)</a:t>
                </a:r>
                <a:endParaRPr sz="2000" dirty="0">
                  <a:solidFill>
                    <a:srgbClr val="7030A0"/>
                  </a:solidFill>
                  <a:latin typeface="Arial Narrow" panose="020B0606020202030204" pitchFamily="34" charset="0"/>
                </a:endParaRPr>
              </a:p>
            </p:txBody>
          </p:sp>
        </mc:Choice>
        <mc:Fallback xmlns="">
          <p:sp>
            <p:nvSpPr>
              <p:cNvPr id="47" name="Google Shape;293;p11"/>
              <p:cNvSpPr txBox="1">
                <a:spLocks noRot="1" noChangeAspect="1" noMove="1" noResize="1" noEditPoints="1" noAdjustHandles="1" noChangeArrowheads="1" noChangeShapeType="1" noTextEdit="1"/>
              </p:cNvSpPr>
              <p:nvPr/>
            </p:nvSpPr>
            <p:spPr>
              <a:xfrm>
                <a:off x="8443609" y="1168953"/>
                <a:ext cx="992374" cy="400069"/>
              </a:xfrm>
              <a:prstGeom prst="rect">
                <a:avLst/>
              </a:prstGeom>
              <a:blipFill>
                <a:blip r:embed="rId6"/>
                <a:stretch>
                  <a:fillRect l="-6135" t="-9231" r="-4908" b="-27692"/>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Google Shape;293;p11"/>
              <p:cNvSpPr txBox="1"/>
              <p:nvPr/>
            </p:nvSpPr>
            <p:spPr>
              <a:xfrm>
                <a:off x="6780179" y="5242539"/>
                <a:ext cx="2431317"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dirty="0">
                    <a:solidFill>
                      <a:srgbClr val="7030A0"/>
                    </a:solidFill>
                    <a:latin typeface="Arial Narrow" panose="020B0606020202030204" pitchFamily="34" charset="0"/>
                    <a:ea typeface="Times New Roman"/>
                    <a:cs typeface="Times New Roman"/>
                    <a:sym typeface="Times New Roman"/>
                  </a:rPr>
                  <a:t>Reconstructed Input (</a:t>
                </a:r>
                <a14:m>
                  <m:oMath xmlns:m="http://schemas.openxmlformats.org/officeDocument/2006/math">
                    <m:acc>
                      <m:accPr>
                        <m:chr m:val="̂"/>
                        <m:ctrlPr>
                          <a:rPr lang="en-IN" sz="2000" i="1" dirty="0" smtClean="0">
                            <a:solidFill>
                              <a:srgbClr val="7030A0"/>
                            </a:solidFill>
                            <a:latin typeface="Cambria Math" panose="02040503050406030204" pitchFamily="18" charset="0"/>
                            <a:cs typeface="Times New Roman"/>
                            <a:sym typeface="Times New Roman"/>
                          </a:rPr>
                        </m:ctrlPr>
                      </m:accPr>
                      <m:e>
                        <m:r>
                          <a:rPr lang="en-IN" sz="2000" b="0" i="1" dirty="0" smtClean="0">
                            <a:solidFill>
                              <a:srgbClr val="7030A0"/>
                            </a:solidFill>
                            <a:latin typeface="Cambria Math" panose="02040503050406030204" pitchFamily="18" charset="0"/>
                            <a:cs typeface="Times New Roman"/>
                            <a:sym typeface="Times New Roman"/>
                          </a:rPr>
                          <m:t>𝑥</m:t>
                        </m:r>
                      </m:e>
                    </m:acc>
                  </m:oMath>
                </a14:m>
                <a:r>
                  <a:rPr lang="en-IN" sz="2000" dirty="0">
                    <a:solidFill>
                      <a:srgbClr val="7030A0"/>
                    </a:solidFill>
                    <a:latin typeface="Arial Narrow" panose="020B0606020202030204" pitchFamily="34" charset="0"/>
                    <a:ea typeface="Times New Roman"/>
                    <a:cs typeface="Times New Roman"/>
                    <a:sym typeface="Times New Roman"/>
                  </a:rPr>
                  <a:t>)</a:t>
                </a:r>
                <a:endParaRPr sz="2000" dirty="0">
                  <a:solidFill>
                    <a:srgbClr val="7030A0"/>
                  </a:solidFill>
                  <a:latin typeface="Arial Narrow" panose="020B0606020202030204" pitchFamily="34" charset="0"/>
                </a:endParaRPr>
              </a:p>
            </p:txBody>
          </p:sp>
        </mc:Choice>
        <mc:Fallback xmlns="">
          <p:sp>
            <p:nvSpPr>
              <p:cNvPr id="48" name="Google Shape;293;p11"/>
              <p:cNvSpPr txBox="1">
                <a:spLocks noRot="1" noChangeAspect="1" noMove="1" noResize="1" noEditPoints="1" noAdjustHandles="1" noChangeArrowheads="1" noChangeShapeType="1" noTextEdit="1"/>
              </p:cNvSpPr>
              <p:nvPr/>
            </p:nvSpPr>
            <p:spPr>
              <a:xfrm>
                <a:off x="6780179" y="5242539"/>
                <a:ext cx="2431317" cy="400069"/>
              </a:xfrm>
              <a:prstGeom prst="rect">
                <a:avLst/>
              </a:prstGeom>
              <a:blipFill>
                <a:blip r:embed="rId7"/>
                <a:stretch>
                  <a:fillRect l="-2506" t="-9091" r="-8271" b="-25758"/>
                </a:stretch>
              </a:blipFill>
              <a:ln>
                <a:noFill/>
              </a:ln>
            </p:spPr>
            <p:txBody>
              <a:bodyPr/>
              <a:lstStyle/>
              <a:p>
                <a:r>
                  <a:rPr lang="en-IN">
                    <a:noFill/>
                  </a:rPr>
                  <a:t> </a:t>
                </a:r>
              </a:p>
            </p:txBody>
          </p:sp>
        </mc:Fallback>
      </mc:AlternateContent>
      <p:sp>
        <p:nvSpPr>
          <p:cNvPr id="49" name="Google Shape;209;p6"/>
          <p:cNvSpPr txBox="1"/>
          <p:nvPr/>
        </p:nvSpPr>
        <p:spPr>
          <a:xfrm>
            <a:off x="8328120" y="3044008"/>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a:solidFill>
                  <a:srgbClr val="7030A0"/>
                </a:solidFill>
                <a:latin typeface="Arial Narrow" panose="020B0606020202030204" pitchFamily="34" charset="0"/>
                <a:ea typeface="Times New Roman"/>
                <a:cs typeface="Times New Roman"/>
                <a:sym typeface="Times New Roman"/>
              </a:rPr>
              <a:t>eye</a:t>
            </a:r>
            <a:endParaRPr>
              <a:solidFill>
                <a:srgbClr val="7030A0"/>
              </a:solidFill>
              <a:latin typeface="Arial Narrow" panose="020B0606020202030204" pitchFamily="34" charset="0"/>
            </a:endParaRPr>
          </a:p>
        </p:txBody>
      </p:sp>
      <p:sp>
        <p:nvSpPr>
          <p:cNvPr id="50" name="Google Shape;210;p6"/>
          <p:cNvSpPr txBox="1"/>
          <p:nvPr/>
        </p:nvSpPr>
        <p:spPr>
          <a:xfrm>
            <a:off x="8328120" y="3404590"/>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a:solidFill>
                  <a:srgbClr val="7030A0"/>
                </a:solidFill>
                <a:latin typeface="Arial Narrow" panose="020B0606020202030204" pitchFamily="34" charset="0"/>
                <a:ea typeface="Times New Roman"/>
                <a:cs typeface="Times New Roman"/>
                <a:sym typeface="Times New Roman"/>
              </a:rPr>
              <a:t>0.2</a:t>
            </a:r>
            <a:endParaRPr>
              <a:solidFill>
                <a:srgbClr val="7030A0"/>
              </a:solidFill>
              <a:latin typeface="Arial Narrow" panose="020B0606020202030204" pitchFamily="34" charset="0"/>
            </a:endParaRPr>
          </a:p>
        </p:txBody>
      </p:sp>
      <p:sp>
        <p:nvSpPr>
          <p:cNvPr id="51" name="Google Shape;211;p6"/>
          <p:cNvSpPr txBox="1"/>
          <p:nvPr/>
        </p:nvSpPr>
        <p:spPr>
          <a:xfrm>
            <a:off x="9018233" y="3044008"/>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a:solidFill>
                  <a:srgbClr val="7030A0"/>
                </a:solidFill>
                <a:latin typeface="Arial Narrow" panose="020B0606020202030204" pitchFamily="34" charset="0"/>
                <a:ea typeface="Times New Roman"/>
                <a:cs typeface="Times New Roman"/>
                <a:sym typeface="Times New Roman"/>
              </a:rPr>
              <a:t>ear</a:t>
            </a:r>
            <a:endParaRPr>
              <a:solidFill>
                <a:srgbClr val="7030A0"/>
              </a:solidFill>
              <a:latin typeface="Arial Narrow" panose="020B0606020202030204" pitchFamily="34" charset="0"/>
            </a:endParaRPr>
          </a:p>
        </p:txBody>
      </p:sp>
      <p:sp>
        <p:nvSpPr>
          <p:cNvPr id="52" name="Google Shape;212;p6"/>
          <p:cNvSpPr txBox="1"/>
          <p:nvPr/>
        </p:nvSpPr>
        <p:spPr>
          <a:xfrm>
            <a:off x="9018232" y="3408831"/>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dirty="0">
                <a:solidFill>
                  <a:srgbClr val="7030A0"/>
                </a:solidFill>
                <a:latin typeface="Arial Narrow" panose="020B0606020202030204" pitchFamily="34" charset="0"/>
                <a:ea typeface="Times New Roman"/>
                <a:cs typeface="Times New Roman"/>
                <a:sym typeface="Times New Roman"/>
              </a:rPr>
              <a:t>0.8</a:t>
            </a:r>
            <a:endParaRPr dirty="0">
              <a:solidFill>
                <a:srgbClr val="7030A0"/>
              </a:solidFill>
              <a:latin typeface="Arial Narrow" panose="020B0606020202030204" pitchFamily="34" charset="0"/>
            </a:endParaRPr>
          </a:p>
        </p:txBody>
      </p:sp>
      <p:sp>
        <p:nvSpPr>
          <p:cNvPr id="55" name="Google Shape;215;p6"/>
          <p:cNvSpPr txBox="1"/>
          <p:nvPr/>
        </p:nvSpPr>
        <p:spPr>
          <a:xfrm>
            <a:off x="9708345" y="3044095"/>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a:solidFill>
                  <a:srgbClr val="7030A0"/>
                </a:solidFill>
                <a:latin typeface="Arial Narrow" panose="020B0606020202030204" pitchFamily="34" charset="0"/>
                <a:ea typeface="Times New Roman"/>
                <a:cs typeface="Times New Roman"/>
                <a:sym typeface="Times New Roman"/>
              </a:rPr>
              <a:t>nose</a:t>
            </a:r>
            <a:endParaRPr>
              <a:solidFill>
                <a:srgbClr val="7030A0"/>
              </a:solidFill>
              <a:latin typeface="Arial Narrow" panose="020B0606020202030204" pitchFamily="34" charset="0"/>
            </a:endParaRPr>
          </a:p>
        </p:txBody>
      </p:sp>
      <p:sp>
        <p:nvSpPr>
          <p:cNvPr id="56" name="Google Shape;216;p6"/>
          <p:cNvSpPr txBox="1"/>
          <p:nvPr/>
        </p:nvSpPr>
        <p:spPr>
          <a:xfrm>
            <a:off x="9708345" y="3405515"/>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dirty="0">
                <a:solidFill>
                  <a:srgbClr val="7030A0"/>
                </a:solidFill>
                <a:latin typeface="Arial Narrow" panose="020B0606020202030204" pitchFamily="34" charset="0"/>
                <a:ea typeface="Times New Roman"/>
                <a:cs typeface="Times New Roman"/>
                <a:sym typeface="Times New Roman"/>
              </a:rPr>
              <a:t>0.3</a:t>
            </a:r>
            <a:endParaRPr dirty="0">
              <a:solidFill>
                <a:srgbClr val="7030A0"/>
              </a:solidFill>
              <a:latin typeface="Arial Narrow" panose="020B0606020202030204" pitchFamily="34" charset="0"/>
            </a:endParaRPr>
          </a:p>
        </p:txBody>
      </p:sp>
      <p:sp>
        <p:nvSpPr>
          <p:cNvPr id="57" name="Google Shape;217;p6"/>
          <p:cNvSpPr txBox="1"/>
          <p:nvPr/>
        </p:nvSpPr>
        <p:spPr>
          <a:xfrm>
            <a:off x="11088568" y="3044008"/>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a:solidFill>
                  <a:srgbClr val="7030A0"/>
                </a:solidFill>
                <a:latin typeface="Arial Narrow" panose="020B0606020202030204" pitchFamily="34" charset="0"/>
                <a:ea typeface="Times New Roman"/>
                <a:cs typeface="Times New Roman"/>
                <a:sym typeface="Times New Roman"/>
              </a:rPr>
              <a:t>color</a:t>
            </a:r>
            <a:endParaRPr sz="1800">
              <a:solidFill>
                <a:srgbClr val="7030A0"/>
              </a:solidFill>
              <a:latin typeface="Arial Narrow" panose="020B0606020202030204" pitchFamily="34" charset="0"/>
              <a:ea typeface="Times New Roman"/>
              <a:cs typeface="Times New Roman"/>
              <a:sym typeface="Times New Roman"/>
            </a:endParaRPr>
          </a:p>
        </p:txBody>
      </p:sp>
      <p:sp>
        <p:nvSpPr>
          <p:cNvPr id="58" name="Google Shape;218;p6"/>
          <p:cNvSpPr txBox="1"/>
          <p:nvPr/>
        </p:nvSpPr>
        <p:spPr>
          <a:xfrm>
            <a:off x="11088166" y="3402783"/>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a:solidFill>
                  <a:srgbClr val="7030A0"/>
                </a:solidFill>
                <a:latin typeface="Arial Narrow" panose="020B0606020202030204" pitchFamily="34" charset="0"/>
                <a:ea typeface="Times New Roman"/>
                <a:cs typeface="Times New Roman"/>
                <a:sym typeface="Times New Roman"/>
              </a:rPr>
              <a:t>0.7</a:t>
            </a:r>
            <a:endParaRPr>
              <a:solidFill>
                <a:srgbClr val="7030A0"/>
              </a:solidFill>
              <a:latin typeface="Arial Narrow" panose="020B0606020202030204" pitchFamily="34" charset="0"/>
            </a:endParaRPr>
          </a:p>
        </p:txBody>
      </p:sp>
      <p:sp>
        <p:nvSpPr>
          <p:cNvPr id="59" name="Google Shape;215;p6"/>
          <p:cNvSpPr txBox="1"/>
          <p:nvPr/>
        </p:nvSpPr>
        <p:spPr>
          <a:xfrm>
            <a:off x="10398457" y="3039579"/>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dirty="0">
                <a:solidFill>
                  <a:srgbClr val="7030A0"/>
                </a:solidFill>
                <a:latin typeface="Arial Narrow" panose="020B0606020202030204" pitchFamily="34" charset="0"/>
                <a:ea typeface="Times New Roman"/>
                <a:cs typeface="Times New Roman"/>
                <a:sym typeface="Times New Roman"/>
              </a:rPr>
              <a:t>…</a:t>
            </a:r>
            <a:endParaRPr dirty="0">
              <a:solidFill>
                <a:srgbClr val="7030A0"/>
              </a:solidFill>
              <a:latin typeface="Arial Narrow" panose="020B0606020202030204" pitchFamily="34" charset="0"/>
            </a:endParaRPr>
          </a:p>
        </p:txBody>
      </p:sp>
      <p:sp>
        <p:nvSpPr>
          <p:cNvPr id="2" name="TextBox 1"/>
          <p:cNvSpPr txBox="1"/>
          <p:nvPr/>
        </p:nvSpPr>
        <p:spPr>
          <a:xfrm>
            <a:off x="9452741" y="2119146"/>
            <a:ext cx="970137" cy="400110"/>
          </a:xfrm>
          <a:prstGeom prst="rect">
            <a:avLst/>
          </a:prstGeom>
          <a:noFill/>
        </p:spPr>
        <p:txBody>
          <a:bodyPr wrap="none" rtlCol="0">
            <a:spAutoFit/>
          </a:bodyPr>
          <a:lstStyle/>
          <a:p>
            <a:r>
              <a:rPr lang="en-IN" sz="2000" dirty="0">
                <a:solidFill>
                  <a:srgbClr val="7030A0"/>
                </a:solidFill>
                <a:latin typeface="Arial Narrow" panose="020B0606020202030204" pitchFamily="34" charset="0"/>
                <a:cs typeface="Times New Roman" panose="02020603050405020304" pitchFamily="18" charset="0"/>
              </a:rPr>
              <a:t>Encoder</a:t>
            </a:r>
          </a:p>
        </p:txBody>
      </p:sp>
      <p:sp>
        <p:nvSpPr>
          <p:cNvPr id="63" name="TextBox 62"/>
          <p:cNvSpPr txBox="1"/>
          <p:nvPr/>
        </p:nvSpPr>
        <p:spPr>
          <a:xfrm>
            <a:off x="9481140" y="4368921"/>
            <a:ext cx="981359" cy="400110"/>
          </a:xfrm>
          <a:prstGeom prst="rect">
            <a:avLst/>
          </a:prstGeom>
          <a:noFill/>
        </p:spPr>
        <p:txBody>
          <a:bodyPr wrap="none" rtlCol="0">
            <a:spAutoFit/>
          </a:bodyPr>
          <a:lstStyle/>
          <a:p>
            <a:r>
              <a:rPr lang="en-IN" sz="2000" dirty="0">
                <a:solidFill>
                  <a:srgbClr val="7030A0"/>
                </a:solidFill>
                <a:latin typeface="Arial Narrow" panose="020B0606020202030204" pitchFamily="34" charset="0"/>
                <a:cs typeface="Times New Roman" panose="02020603050405020304" pitchFamily="18" charset="0"/>
              </a:rPr>
              <a:t>Decoder</a:t>
            </a:r>
          </a:p>
        </p:txBody>
      </p:sp>
      <mc:AlternateContent xmlns:mc="http://schemas.openxmlformats.org/markup-compatibility/2006" xmlns:a14="http://schemas.microsoft.com/office/drawing/2010/main">
        <mc:Choice Requires="a14">
          <p:sp>
            <p:nvSpPr>
              <p:cNvPr id="3" name="TextBox 2"/>
              <p:cNvSpPr txBox="1"/>
              <p:nvPr/>
            </p:nvSpPr>
            <p:spPr>
              <a:xfrm>
                <a:off x="9558443" y="4056587"/>
                <a:ext cx="71391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1800" b="0" i="1" smtClean="0">
                          <a:solidFill>
                            <a:srgbClr val="7030A0"/>
                          </a:solidFill>
                          <a:latin typeface="Cambria Math" panose="02040503050406030204" pitchFamily="18" charset="0"/>
                        </a:rPr>
                        <m:t>𝑃</m:t>
                      </m:r>
                      <m:r>
                        <a:rPr lang="en-IN" sz="1800" b="0" i="1" smtClean="0">
                          <a:solidFill>
                            <a:srgbClr val="7030A0"/>
                          </a:solidFill>
                          <a:latin typeface="Cambria Math" panose="02040503050406030204" pitchFamily="18" charset="0"/>
                        </a:rPr>
                        <m:t>(</m:t>
                      </m:r>
                      <m:acc>
                        <m:accPr>
                          <m:chr m:val="̂"/>
                          <m:ctrlPr>
                            <a:rPr lang="en-IN" sz="1800" i="1" dirty="0">
                              <a:solidFill>
                                <a:srgbClr val="7030A0"/>
                              </a:solidFill>
                              <a:latin typeface="Cambria Math" panose="02040503050406030204" pitchFamily="18" charset="0"/>
                              <a:cs typeface="Times New Roman"/>
                              <a:sym typeface="Times New Roman"/>
                            </a:rPr>
                          </m:ctrlPr>
                        </m:accPr>
                        <m:e>
                          <m:r>
                            <a:rPr lang="en-IN" sz="1800" i="1" dirty="0">
                              <a:solidFill>
                                <a:srgbClr val="7030A0"/>
                              </a:solidFill>
                              <a:latin typeface="Cambria Math" panose="02040503050406030204" pitchFamily="18" charset="0"/>
                              <a:cs typeface="Times New Roman"/>
                              <a:sym typeface="Times New Roman"/>
                            </a:rPr>
                            <m:t>𝑥</m:t>
                          </m:r>
                        </m:e>
                      </m:acc>
                      <m:r>
                        <a:rPr lang="en-IN" sz="1800" b="0" i="1" smtClean="0">
                          <a:solidFill>
                            <a:srgbClr val="7030A0"/>
                          </a:solidFill>
                          <a:latin typeface="Cambria Math" panose="02040503050406030204" pitchFamily="18" charset="0"/>
                        </a:rPr>
                        <m:t>|</m:t>
                      </m:r>
                      <m:r>
                        <a:rPr lang="en-IN" sz="1800" b="0" i="1" smtClean="0">
                          <a:solidFill>
                            <a:srgbClr val="7030A0"/>
                          </a:solidFill>
                          <a:latin typeface="Cambria Math" panose="02040503050406030204" pitchFamily="18" charset="0"/>
                        </a:rPr>
                        <m:t>𝑧</m:t>
                      </m:r>
                      <m:r>
                        <a:rPr lang="en-IN" sz="1800" b="0" i="1" smtClean="0">
                          <a:solidFill>
                            <a:srgbClr val="7030A0"/>
                          </a:solidFill>
                          <a:latin typeface="Cambria Math" panose="02040503050406030204" pitchFamily="18" charset="0"/>
                        </a:rPr>
                        <m:t>)</m:t>
                      </m:r>
                    </m:oMath>
                  </m:oMathPara>
                </a14:m>
                <a:endParaRPr lang="en-IN" sz="1800" dirty="0">
                  <a:solidFill>
                    <a:srgbClr val="7030A0"/>
                  </a:solidFill>
                  <a:latin typeface="Arial Narrow" panose="020B0606020202030204" pitchFamily="34"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9558443" y="4056587"/>
                <a:ext cx="713913" cy="276999"/>
              </a:xfrm>
              <a:prstGeom prst="rect">
                <a:avLst/>
              </a:prstGeom>
              <a:blipFill>
                <a:blip r:embed="rId8"/>
                <a:stretch>
                  <a:fillRect l="-7692" t="-19565" r="-11966" b="-3695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p:cNvSpPr txBox="1"/>
              <p:nvPr/>
            </p:nvSpPr>
            <p:spPr>
              <a:xfrm>
                <a:off x="9572678" y="2508099"/>
                <a:ext cx="71391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1800" b="0" i="1" smtClean="0">
                          <a:solidFill>
                            <a:srgbClr val="7030A0"/>
                          </a:solidFill>
                          <a:latin typeface="Cambria Math" panose="02040503050406030204" pitchFamily="18" charset="0"/>
                        </a:rPr>
                        <m:t>𝑃</m:t>
                      </m:r>
                      <m:r>
                        <a:rPr lang="en-IN" sz="1800" b="0" i="1" smtClean="0">
                          <a:solidFill>
                            <a:srgbClr val="7030A0"/>
                          </a:solidFill>
                          <a:latin typeface="Cambria Math" panose="02040503050406030204" pitchFamily="18" charset="0"/>
                        </a:rPr>
                        <m:t>(</m:t>
                      </m:r>
                      <m:r>
                        <a:rPr lang="en-IN" sz="1800" b="0" i="1" smtClean="0">
                          <a:solidFill>
                            <a:srgbClr val="7030A0"/>
                          </a:solidFill>
                          <a:latin typeface="Cambria Math" panose="02040503050406030204" pitchFamily="18" charset="0"/>
                        </a:rPr>
                        <m:t>𝑧</m:t>
                      </m:r>
                      <m:r>
                        <a:rPr lang="en-IN" sz="1800" b="0" i="1" smtClean="0">
                          <a:solidFill>
                            <a:srgbClr val="7030A0"/>
                          </a:solidFill>
                          <a:latin typeface="Cambria Math" panose="02040503050406030204" pitchFamily="18" charset="0"/>
                        </a:rPr>
                        <m:t>|</m:t>
                      </m:r>
                      <m:r>
                        <a:rPr lang="en-IN" sz="1800" b="0" i="1" smtClean="0">
                          <a:solidFill>
                            <a:srgbClr val="7030A0"/>
                          </a:solidFill>
                          <a:latin typeface="Cambria Math" panose="02040503050406030204" pitchFamily="18" charset="0"/>
                        </a:rPr>
                        <m:t>𝑥</m:t>
                      </m:r>
                      <m:r>
                        <a:rPr lang="en-IN" sz="1800" b="0" i="1" smtClean="0">
                          <a:solidFill>
                            <a:srgbClr val="7030A0"/>
                          </a:solidFill>
                          <a:latin typeface="Cambria Math" panose="02040503050406030204" pitchFamily="18" charset="0"/>
                        </a:rPr>
                        <m:t>)</m:t>
                      </m:r>
                    </m:oMath>
                  </m:oMathPara>
                </a14:m>
                <a:endParaRPr lang="en-IN" sz="1800" dirty="0">
                  <a:solidFill>
                    <a:srgbClr val="7030A0"/>
                  </a:solidFill>
                  <a:latin typeface="Arial Narrow" panose="020B0606020202030204" pitchFamily="34" charset="0"/>
                </a:endParaRPr>
              </a:p>
            </p:txBody>
          </p:sp>
        </mc:Choice>
        <mc:Fallback xmlns="">
          <p:sp>
            <p:nvSpPr>
              <p:cNvPr id="65" name="TextBox 64"/>
              <p:cNvSpPr txBox="1">
                <a:spLocks noRot="1" noChangeAspect="1" noMove="1" noResize="1" noEditPoints="1" noAdjustHandles="1" noChangeArrowheads="1" noChangeShapeType="1" noTextEdit="1"/>
              </p:cNvSpPr>
              <p:nvPr/>
            </p:nvSpPr>
            <p:spPr>
              <a:xfrm>
                <a:off x="9572678" y="2508099"/>
                <a:ext cx="713913" cy="276999"/>
              </a:xfrm>
              <a:prstGeom prst="rect">
                <a:avLst/>
              </a:prstGeom>
              <a:blipFill>
                <a:blip r:embed="rId9"/>
                <a:stretch>
                  <a:fillRect l="-6838" r="-11966" b="-36957"/>
                </a:stretch>
              </a:blipFill>
            </p:spPr>
            <p:txBody>
              <a:bodyPr/>
              <a:lstStyle/>
              <a:p>
                <a:r>
                  <a:rPr lang="en-IN">
                    <a:noFill/>
                  </a:rPr>
                  <a:t> </a:t>
                </a:r>
              </a:p>
            </p:txBody>
          </p:sp>
        </mc:Fallback>
      </mc:AlternateContent>
      <p:sp>
        <p:nvSpPr>
          <p:cNvPr id="31" name="Google Shape;215;p6">
            <a:extLst>
              <a:ext uri="{FF2B5EF4-FFF2-40B4-BE49-F238E27FC236}">
                <a16:creationId xmlns:a16="http://schemas.microsoft.com/office/drawing/2014/main" id="{EC823374-08D5-4B70-8D05-58AE8BF4395D}"/>
              </a:ext>
            </a:extLst>
          </p:cNvPr>
          <p:cNvSpPr txBox="1"/>
          <p:nvPr/>
        </p:nvSpPr>
        <p:spPr>
          <a:xfrm>
            <a:off x="10398254" y="3405847"/>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dirty="0">
                <a:solidFill>
                  <a:srgbClr val="7030A0"/>
                </a:solidFill>
                <a:latin typeface="Arial Narrow" panose="020B0606020202030204" pitchFamily="34" charset="0"/>
                <a:ea typeface="Times New Roman"/>
                <a:cs typeface="Times New Roman"/>
                <a:sym typeface="Times New Roman"/>
              </a:rPr>
              <a:t>…</a:t>
            </a:r>
            <a:endParaRPr dirty="0">
              <a:solidFill>
                <a:srgbClr val="7030A0"/>
              </a:solidFill>
              <a:latin typeface="Arial Narrow" panose="020B0606020202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36" name="Google Shape;236;p7"/>
          <p:cNvSpPr/>
          <p:nvPr/>
        </p:nvSpPr>
        <p:spPr>
          <a:xfrm>
            <a:off x="111926" y="6544585"/>
            <a:ext cx="11839575"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200" dirty="0">
                <a:solidFill>
                  <a:schemeClr val="dk1"/>
                </a:solidFill>
                <a:latin typeface="Arial Narrow" panose="020B0606020202030204" pitchFamily="34" charset="0"/>
                <a:ea typeface="Times New Roman"/>
                <a:cs typeface="Times New Roman"/>
                <a:sym typeface="Times New Roman"/>
              </a:rPr>
              <a:t>Figure Source: Song, </a:t>
            </a:r>
            <a:r>
              <a:rPr lang="en-IN" sz="1200" dirty="0" err="1">
                <a:solidFill>
                  <a:schemeClr val="dk1"/>
                </a:solidFill>
                <a:latin typeface="Arial Narrow" panose="020B0606020202030204" pitchFamily="34" charset="0"/>
                <a:ea typeface="Times New Roman"/>
                <a:cs typeface="Times New Roman"/>
                <a:sym typeface="Times New Roman"/>
              </a:rPr>
              <a:t>Chunlin</a:t>
            </a:r>
            <a:r>
              <a:rPr lang="en-IN" sz="1200" dirty="0">
                <a:solidFill>
                  <a:schemeClr val="dk1"/>
                </a:solidFill>
                <a:latin typeface="Arial Narrow" panose="020B0606020202030204" pitchFamily="34" charset="0"/>
                <a:ea typeface="Times New Roman"/>
                <a:cs typeface="Times New Roman"/>
                <a:sym typeface="Times New Roman"/>
              </a:rPr>
              <a:t> &amp; </a:t>
            </a:r>
            <a:r>
              <a:rPr lang="en-IN" sz="1200" dirty="0" err="1">
                <a:solidFill>
                  <a:schemeClr val="dk1"/>
                </a:solidFill>
                <a:latin typeface="Arial Narrow" panose="020B0606020202030204" pitchFamily="34" charset="0"/>
                <a:ea typeface="Times New Roman"/>
                <a:cs typeface="Times New Roman"/>
                <a:sym typeface="Times New Roman"/>
              </a:rPr>
              <a:t>Sudirman</a:t>
            </a:r>
            <a:r>
              <a:rPr lang="en-IN" sz="1200" dirty="0">
                <a:solidFill>
                  <a:schemeClr val="dk1"/>
                </a:solidFill>
                <a:latin typeface="Arial Narrow" panose="020B0606020202030204" pitchFamily="34" charset="0"/>
                <a:ea typeface="Times New Roman"/>
                <a:cs typeface="Times New Roman"/>
                <a:sym typeface="Times New Roman"/>
              </a:rPr>
              <a:t>, </a:t>
            </a:r>
            <a:r>
              <a:rPr lang="en-IN" sz="1200" dirty="0" err="1">
                <a:solidFill>
                  <a:schemeClr val="dk1"/>
                </a:solidFill>
                <a:latin typeface="Arial Narrow" panose="020B0606020202030204" pitchFamily="34" charset="0"/>
                <a:ea typeface="Times New Roman"/>
                <a:cs typeface="Times New Roman"/>
                <a:sym typeface="Times New Roman"/>
              </a:rPr>
              <a:t>Sud</a:t>
            </a:r>
            <a:r>
              <a:rPr lang="en-IN" sz="1200" dirty="0">
                <a:solidFill>
                  <a:schemeClr val="dk1"/>
                </a:solidFill>
                <a:latin typeface="Arial Narrow" panose="020B0606020202030204" pitchFamily="34" charset="0"/>
                <a:ea typeface="Times New Roman"/>
                <a:cs typeface="Times New Roman"/>
                <a:sym typeface="Times New Roman"/>
              </a:rPr>
              <a:t> &amp; </a:t>
            </a:r>
            <a:r>
              <a:rPr lang="en-IN" sz="1200" dirty="0" err="1">
                <a:solidFill>
                  <a:schemeClr val="dk1"/>
                </a:solidFill>
                <a:latin typeface="Arial Narrow" panose="020B0606020202030204" pitchFamily="34" charset="0"/>
                <a:ea typeface="Times New Roman"/>
                <a:cs typeface="Times New Roman"/>
                <a:sym typeface="Times New Roman"/>
              </a:rPr>
              <a:t>Merabti</a:t>
            </a:r>
            <a:r>
              <a:rPr lang="en-IN" sz="1200" dirty="0">
                <a:solidFill>
                  <a:schemeClr val="dk1"/>
                </a:solidFill>
                <a:latin typeface="Arial Narrow" panose="020B0606020202030204" pitchFamily="34" charset="0"/>
                <a:ea typeface="Times New Roman"/>
                <a:cs typeface="Times New Roman"/>
                <a:sym typeface="Times New Roman"/>
              </a:rPr>
              <a:t>, </a:t>
            </a:r>
            <a:r>
              <a:rPr lang="en-IN" sz="1200" dirty="0" err="1">
                <a:solidFill>
                  <a:schemeClr val="dk1"/>
                </a:solidFill>
                <a:latin typeface="Arial Narrow" panose="020B0606020202030204" pitchFamily="34" charset="0"/>
                <a:ea typeface="Times New Roman"/>
                <a:cs typeface="Times New Roman"/>
                <a:sym typeface="Times New Roman"/>
              </a:rPr>
              <a:t>Madjid</a:t>
            </a:r>
            <a:r>
              <a:rPr lang="en-IN" sz="1200" dirty="0">
                <a:solidFill>
                  <a:schemeClr val="dk1"/>
                </a:solidFill>
                <a:latin typeface="Arial Narrow" panose="020B0606020202030204" pitchFamily="34" charset="0"/>
                <a:ea typeface="Times New Roman"/>
                <a:cs typeface="Times New Roman"/>
                <a:sym typeface="Times New Roman"/>
              </a:rPr>
              <a:t>. (2010). A Spatial and Frequency Domain Analysis of the Effect of Removal Attacks on Digital Image Watermarks. </a:t>
            </a:r>
            <a:endParaRPr sz="1200" dirty="0">
              <a:latin typeface="Arial Narrow" panose="020B0606020202030204" pitchFamily="34" charset="0"/>
            </a:endParaRPr>
          </a:p>
        </p:txBody>
      </p:sp>
      <p:sp>
        <p:nvSpPr>
          <p:cNvPr id="237" name="Google Shape;237;p7"/>
          <p:cNvSpPr txBox="1">
            <a:spLocks noGrp="1"/>
          </p:cNvSpPr>
          <p:nvPr>
            <p:ph type="title"/>
          </p:nvPr>
        </p:nvSpPr>
        <p:spPr>
          <a:xfrm>
            <a:off x="321793" y="24204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200"/>
              <a:buFont typeface="Book Antiqua"/>
              <a:buNone/>
            </a:pPr>
            <a:r>
              <a:rPr lang="en-IN" sz="3600" dirty="0">
                <a:solidFill>
                  <a:schemeClr val="tx1"/>
                </a:solidFill>
                <a:latin typeface="Century" panose="02040604050505020304" pitchFamily="18" charset="0"/>
                <a:ea typeface="Book Antiqua"/>
                <a:cs typeface="Book Antiqua"/>
                <a:sym typeface="Book Antiqua"/>
              </a:rPr>
              <a:t>Example: Variational Auto-Encoder</a:t>
            </a:r>
            <a:endParaRPr sz="3600" dirty="0">
              <a:solidFill>
                <a:schemeClr val="tx1"/>
              </a:solidFill>
              <a:latin typeface="Century" panose="02040604050505020304" pitchFamily="18" charset="0"/>
              <a:ea typeface="Book Antiqua"/>
              <a:cs typeface="Book Antiqua"/>
              <a:sym typeface="Book Antiqua"/>
            </a:endParaRPr>
          </a:p>
        </p:txBody>
      </p:sp>
      <p:sp>
        <p:nvSpPr>
          <p:cNvPr id="238" name="Google Shape;238;p7"/>
          <p:cNvSpPr/>
          <p:nvPr/>
        </p:nvSpPr>
        <p:spPr>
          <a:xfrm>
            <a:off x="111926" y="6276036"/>
            <a:ext cx="5984074"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200">
                <a:solidFill>
                  <a:schemeClr val="dk1"/>
                </a:solidFill>
                <a:latin typeface="Arial Narrow" panose="020B0606020202030204" pitchFamily="34" charset="0"/>
                <a:ea typeface="Times New Roman"/>
                <a:cs typeface="Times New Roman"/>
                <a:sym typeface="Times New Roman"/>
              </a:rPr>
              <a:t>Concept: Fei-Fei Li, Ehsan Adeli, Generative Modelling, Stanford Lecture, 2024</a:t>
            </a:r>
            <a:endParaRPr sz="1200">
              <a:latin typeface="Arial Narrow" panose="020B0606020202030204" pitchFamily="34" charset="0"/>
            </a:endParaRPr>
          </a:p>
        </p:txBody>
      </p:sp>
      <p:sp>
        <p:nvSpPr>
          <p:cNvPr id="255" name="Google Shape;255;p7"/>
          <p:cNvSpPr txBox="1"/>
          <p:nvPr/>
        </p:nvSpPr>
        <p:spPr>
          <a:xfrm>
            <a:off x="331356" y="1483418"/>
            <a:ext cx="7122817" cy="4552301"/>
          </a:xfrm>
          <a:prstGeom prst="rect">
            <a:avLst/>
          </a:prstGeom>
          <a:noFill/>
          <a:ln>
            <a:noFill/>
          </a:ln>
        </p:spPr>
        <p:txBody>
          <a:bodyPr spcFirstLastPara="1" wrap="square" lIns="91425" tIns="45700" rIns="91425" bIns="45700" anchor="t" anchorCtr="0">
            <a:normAutofit lnSpcReduction="10000"/>
          </a:bodyPr>
          <a:lstStyle/>
          <a:p>
            <a:pPr marL="342900" lvl="0" indent="-342900" algn="just">
              <a:buFont typeface="Arial" panose="020B0604020202020204" pitchFamily="34" charset="0"/>
              <a:buChar char="•"/>
            </a:pPr>
            <a:r>
              <a:rPr lang="en-US" sz="2000" dirty="0">
                <a:latin typeface="Arial Narrow" panose="020B0606020202030204" pitchFamily="34" charset="0"/>
              </a:rPr>
              <a:t>In a </a:t>
            </a:r>
            <a:r>
              <a:rPr lang="en-US" sz="2000" dirty="0">
                <a:solidFill>
                  <a:srgbClr val="7030A0"/>
                </a:solidFill>
                <a:latin typeface="Arial Narrow" panose="020B0606020202030204" pitchFamily="34" charset="0"/>
              </a:rPr>
              <a:t>Variational Autoencoder (VAE)</a:t>
            </a:r>
            <a:r>
              <a:rPr lang="en-US" sz="2000" dirty="0">
                <a:latin typeface="Arial Narrow" panose="020B0606020202030204" pitchFamily="34" charset="0"/>
              </a:rPr>
              <a:t>, each latent attribute is represented </a:t>
            </a:r>
            <a:r>
              <a:rPr lang="en-US" sz="2000" dirty="0">
                <a:solidFill>
                  <a:srgbClr val="7030A0"/>
                </a:solidFill>
                <a:latin typeface="Arial Narrow" panose="020B0606020202030204" pitchFamily="34" charset="0"/>
              </a:rPr>
              <a:t>not as a fixed value </a:t>
            </a:r>
            <a:r>
              <a:rPr lang="en-US" sz="2000" dirty="0">
                <a:latin typeface="Arial Narrow" panose="020B0606020202030204" pitchFamily="34" charset="0"/>
              </a:rPr>
              <a:t>but as </a:t>
            </a:r>
            <a:r>
              <a:rPr lang="en-US" sz="2000" dirty="0">
                <a:solidFill>
                  <a:srgbClr val="7030A0"/>
                </a:solidFill>
                <a:latin typeface="Arial Narrow" panose="020B0606020202030204" pitchFamily="34" charset="0"/>
              </a:rPr>
              <a:t>a probability distribution</a:t>
            </a:r>
            <a:r>
              <a:rPr lang="en-US" sz="2000" dirty="0">
                <a:latin typeface="Arial Narrow" panose="020B0606020202030204" pitchFamily="34" charset="0"/>
              </a:rPr>
              <a:t>. </a:t>
            </a:r>
          </a:p>
          <a:p>
            <a:pPr marL="342900" lvl="0" indent="-342900" algn="just">
              <a:buFont typeface="Arial" panose="020B0604020202020204" pitchFamily="34" charset="0"/>
              <a:buChar char="•"/>
            </a:pPr>
            <a:endParaRPr lang="en-US" sz="2000" dirty="0">
              <a:latin typeface="Arial Narrow" panose="020B0606020202030204" pitchFamily="34" charset="0"/>
            </a:endParaRPr>
          </a:p>
          <a:p>
            <a:pPr marL="342900" lvl="0" indent="-342900" algn="just">
              <a:buFont typeface="Arial" panose="020B0604020202020204" pitchFamily="34" charset="0"/>
              <a:buChar char="•"/>
            </a:pPr>
            <a:r>
              <a:rPr lang="en-US" sz="2000" dirty="0">
                <a:solidFill>
                  <a:srgbClr val="7030A0"/>
                </a:solidFill>
                <a:latin typeface="Arial Narrow" panose="020B0606020202030204" pitchFamily="34" charset="0"/>
              </a:rPr>
              <a:t>This probabilistic representation allows the model to sample different values from the latent distributions and pass them through the decoder to generate images that exhibit similar characteristics to those in the training data</a:t>
            </a:r>
            <a:r>
              <a:rPr lang="en-US" sz="2000" dirty="0">
                <a:latin typeface="Arial Narrow" panose="020B0606020202030204" pitchFamily="34" charset="0"/>
              </a:rPr>
              <a:t>. </a:t>
            </a:r>
          </a:p>
          <a:p>
            <a:pPr marL="342900" lvl="0" indent="-342900" algn="just">
              <a:buFont typeface="Arial" panose="020B0604020202020204" pitchFamily="34" charset="0"/>
              <a:buChar char="•"/>
            </a:pPr>
            <a:endParaRPr lang="en-US" sz="2000" dirty="0">
              <a:latin typeface="Arial Narrow" panose="020B0606020202030204" pitchFamily="34" charset="0"/>
            </a:endParaRPr>
          </a:p>
          <a:p>
            <a:pPr marL="342900" lvl="0" indent="-342900" algn="just">
              <a:buFont typeface="Arial" panose="020B0604020202020204" pitchFamily="34" charset="0"/>
              <a:buChar char="•"/>
            </a:pPr>
            <a:r>
              <a:rPr lang="en-US" sz="2000" dirty="0">
                <a:latin typeface="Arial Narrow" panose="020B0606020202030204" pitchFamily="34" charset="0"/>
              </a:rPr>
              <a:t>Unlike a traditional autoencoder, where the primary objective is to </a:t>
            </a:r>
            <a:r>
              <a:rPr lang="en-US" sz="2000" dirty="0">
                <a:solidFill>
                  <a:srgbClr val="7030A0"/>
                </a:solidFill>
                <a:latin typeface="Arial Narrow" panose="020B0606020202030204" pitchFamily="34" charset="0"/>
              </a:rPr>
              <a:t>reconstruct the input image</a:t>
            </a:r>
            <a:r>
              <a:rPr lang="en-US" sz="2000" dirty="0">
                <a:latin typeface="Arial Narrow" panose="020B0606020202030204" pitchFamily="34" charset="0"/>
              </a:rPr>
              <a:t>, a </a:t>
            </a:r>
            <a:r>
              <a:rPr lang="en-US" sz="2000" dirty="0">
                <a:solidFill>
                  <a:srgbClr val="7030A0"/>
                </a:solidFill>
                <a:latin typeface="Arial Narrow" panose="020B0606020202030204" pitchFamily="34" charset="0"/>
              </a:rPr>
              <a:t>VAE can generate entirely new images that may not have existed in the training dataset</a:t>
            </a:r>
            <a:r>
              <a:rPr lang="en-US" sz="2000" dirty="0">
                <a:latin typeface="Arial Narrow" panose="020B0606020202030204" pitchFamily="34" charset="0"/>
              </a:rPr>
              <a:t>. </a:t>
            </a:r>
          </a:p>
          <a:p>
            <a:pPr marL="342900" lvl="0" indent="-342900" algn="just">
              <a:buFont typeface="Arial" panose="020B0604020202020204" pitchFamily="34" charset="0"/>
              <a:buChar char="•"/>
            </a:pPr>
            <a:endParaRPr lang="en-US" sz="2000" dirty="0">
              <a:latin typeface="Arial Narrow" panose="020B0606020202030204" pitchFamily="34" charset="0"/>
            </a:endParaRPr>
          </a:p>
          <a:p>
            <a:pPr marL="342900" lvl="0" indent="-342900" algn="just">
              <a:buFont typeface="Arial" panose="020B0604020202020204" pitchFamily="34" charset="0"/>
              <a:buChar char="•"/>
            </a:pPr>
            <a:r>
              <a:rPr lang="en-US" sz="2000" dirty="0">
                <a:latin typeface="Arial Narrow" panose="020B0606020202030204" pitchFamily="34" charset="0"/>
              </a:rPr>
              <a:t>Thus, </a:t>
            </a:r>
            <a:r>
              <a:rPr lang="en-US" sz="2000" dirty="0">
                <a:solidFill>
                  <a:srgbClr val="7030A0"/>
                </a:solidFill>
                <a:latin typeface="Arial Narrow" panose="020B0606020202030204" pitchFamily="34" charset="0"/>
              </a:rPr>
              <a:t>the VAE is not limited to reconstruction</a:t>
            </a:r>
            <a:r>
              <a:rPr lang="en-US" sz="2000" dirty="0">
                <a:latin typeface="Arial Narrow" panose="020B0606020202030204" pitchFamily="34" charset="0"/>
              </a:rPr>
              <a:t>; it learns a continuous and structured latent space from which </a:t>
            </a:r>
            <a:r>
              <a:rPr lang="en-US" sz="2000" dirty="0">
                <a:solidFill>
                  <a:srgbClr val="7030A0"/>
                </a:solidFill>
                <a:latin typeface="Arial Narrow" panose="020B0606020202030204" pitchFamily="34" charset="0"/>
              </a:rPr>
              <a:t>new, plausible samples can be generated, giving it its inherently generative nature</a:t>
            </a:r>
            <a:r>
              <a:rPr lang="en-US" sz="2000" dirty="0">
                <a:latin typeface="Arial Narrow" panose="020B0606020202030204" pitchFamily="34" charset="0"/>
              </a:rPr>
              <a:t>.</a:t>
            </a:r>
            <a:endParaRPr sz="2000" dirty="0">
              <a:latin typeface="Arial Narrow" panose="020B0606020202030204" pitchFamily="34" charset="0"/>
            </a:endParaRPr>
          </a:p>
        </p:txBody>
      </p:sp>
      <p:grpSp>
        <p:nvGrpSpPr>
          <p:cNvPr id="2" name="Group 1"/>
          <p:cNvGrpSpPr/>
          <p:nvPr/>
        </p:nvGrpSpPr>
        <p:grpSpPr>
          <a:xfrm>
            <a:off x="7376539" y="1183794"/>
            <a:ext cx="4409061" cy="4851926"/>
            <a:chOff x="7376539" y="1183794"/>
            <a:chExt cx="4409061" cy="4851926"/>
          </a:xfrm>
        </p:grpSpPr>
        <p:pic>
          <p:nvPicPr>
            <p:cNvPr id="36" name="Picture 35"/>
            <p:cNvPicPr>
              <a:picLocks noChangeAspect="1"/>
            </p:cNvPicPr>
            <p:nvPr/>
          </p:nvPicPr>
          <p:blipFill>
            <a:blip r:embed="rId3">
              <a:extLst>
                <a:ext uri="{BEBA8EAE-BF5A-486C-A8C5-ECC9F3942E4B}">
                  <a14:imgProps xmlns:a14="http://schemas.microsoft.com/office/drawing/2010/main">
                    <a14:imgLayer r:embed="rId4">
                      <a14:imgEffect>
                        <a14:colorTemperature colorTemp="11500"/>
                      </a14:imgEffect>
                    </a14:imgLayer>
                  </a14:imgProps>
                </a:ext>
              </a:extLst>
            </a:blip>
            <a:stretch>
              <a:fillRect/>
            </a:stretch>
          </p:blipFill>
          <p:spPr>
            <a:xfrm>
              <a:off x="9279865" y="1183794"/>
              <a:ext cx="1240005" cy="985778"/>
            </a:xfrm>
            <a:prstGeom prst="rect">
              <a:avLst/>
            </a:prstGeom>
          </p:spPr>
        </p:pic>
        <p:pic>
          <p:nvPicPr>
            <p:cNvPr id="42" name="Picture 41"/>
            <p:cNvPicPr>
              <a:picLocks noChangeAspect="1"/>
            </p:cNvPicPr>
            <p:nvPr/>
          </p:nvPicPr>
          <p:blipFill>
            <a:blip r:embed="rId5"/>
            <a:stretch>
              <a:fillRect/>
            </a:stretch>
          </p:blipFill>
          <p:spPr>
            <a:xfrm>
              <a:off x="9320014" y="4858667"/>
              <a:ext cx="1154308" cy="1177053"/>
            </a:xfrm>
            <a:prstGeom prst="rect">
              <a:avLst/>
            </a:prstGeom>
          </p:spPr>
        </p:pic>
        <p:sp>
          <p:nvSpPr>
            <p:cNvPr id="66" name="Google Shape;138;p5"/>
            <p:cNvSpPr/>
            <p:nvPr/>
          </p:nvSpPr>
          <p:spPr>
            <a:xfrm>
              <a:off x="9218415" y="3981190"/>
              <a:ext cx="1436279" cy="824195"/>
            </a:xfrm>
            <a:prstGeom prst="trapezoid">
              <a:avLst>
                <a:gd name="adj" fmla="val 57796"/>
              </a:avLst>
            </a:prstGeom>
            <a:solidFill>
              <a:schemeClr val="accent4">
                <a:lumMod val="40000"/>
                <a:lumOff val="60000"/>
              </a:schemeClr>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67" name="Google Shape;138;p5"/>
            <p:cNvSpPr/>
            <p:nvPr/>
          </p:nvSpPr>
          <p:spPr>
            <a:xfrm rot="10800000">
              <a:off x="9218415" y="2234349"/>
              <a:ext cx="1423579" cy="824195"/>
            </a:xfrm>
            <a:prstGeom prst="trapezoid">
              <a:avLst>
                <a:gd name="adj" fmla="val 56777"/>
              </a:avLst>
            </a:prstGeom>
            <a:solidFill>
              <a:schemeClr val="accent4">
                <a:lumMod val="40000"/>
                <a:lumOff val="60000"/>
              </a:schemeClr>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69" name="Google Shape;293;p11"/>
            <p:cNvSpPr txBox="1"/>
            <p:nvPr/>
          </p:nvSpPr>
          <p:spPr>
            <a:xfrm>
              <a:off x="7490201" y="3846747"/>
              <a:ext cx="2064595"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dirty="0">
                  <a:solidFill>
                    <a:srgbClr val="7030A0"/>
                  </a:solidFill>
                  <a:latin typeface="Times New Roman"/>
                  <a:ea typeface="Times New Roman"/>
                  <a:cs typeface="Times New Roman"/>
                  <a:sym typeface="Times New Roman"/>
                </a:rPr>
                <a:t>Latent Attributes (z)</a:t>
              </a:r>
              <a:endParaRPr sz="1800" dirty="0">
                <a:solidFill>
                  <a:srgbClr val="7030A0"/>
                </a:solidFill>
              </a:endParaRPr>
            </a:p>
          </p:txBody>
        </p:sp>
        <mc:AlternateContent xmlns:mc="http://schemas.openxmlformats.org/markup-compatibility/2006" xmlns:a14="http://schemas.microsoft.com/office/drawing/2010/main">
          <mc:Choice Requires="a14">
            <p:sp>
              <p:nvSpPr>
                <p:cNvPr id="71" name="Google Shape;293;p11"/>
                <p:cNvSpPr txBox="1"/>
                <p:nvPr/>
              </p:nvSpPr>
              <p:spPr>
                <a:xfrm>
                  <a:off x="8522499" y="1256387"/>
                  <a:ext cx="1057097" cy="369291"/>
                </a:xfrm>
                <a:prstGeom prst="rect">
                  <a:avLst/>
                </a:prstGeom>
                <a:noFill/>
                <a:ln>
                  <a:noFill/>
                </a:ln>
              </p:spPr>
              <p:txBody>
                <a:bodyPr spcFirstLastPara="1" wrap="square" lIns="91425" tIns="45700" rIns="91425" bIns="45700" anchor="t" anchorCtr="0">
                  <a:spAutoFit/>
                </a:bodyPr>
                <a:lstStyle/>
                <a:p>
                  <a:pPr lvl="0"/>
                  <a:r>
                    <a:rPr lang="en-IN" sz="1800" dirty="0">
                      <a:solidFill>
                        <a:srgbClr val="7030A0"/>
                      </a:solidFill>
                      <a:latin typeface="Times New Roman"/>
                      <a:ea typeface="Times New Roman"/>
                      <a:cs typeface="Times New Roman"/>
                      <a:sym typeface="Times New Roman"/>
                    </a:rPr>
                    <a:t>Input (</a:t>
                  </a:r>
                  <a14:m>
                    <m:oMath xmlns:m="http://schemas.openxmlformats.org/officeDocument/2006/math">
                      <m:r>
                        <a:rPr lang="en-IN" sz="1800" i="1">
                          <a:solidFill>
                            <a:srgbClr val="7030A0"/>
                          </a:solidFill>
                          <a:latin typeface="Cambria Math" panose="02040503050406030204" pitchFamily="18" charset="0"/>
                        </a:rPr>
                        <m:t>𝑥</m:t>
                      </m:r>
                    </m:oMath>
                  </a14:m>
                  <a:r>
                    <a:rPr lang="en-IN" sz="1800" dirty="0">
                      <a:solidFill>
                        <a:srgbClr val="7030A0"/>
                      </a:solidFill>
                      <a:latin typeface="Times New Roman"/>
                      <a:ea typeface="Times New Roman"/>
                      <a:cs typeface="Times New Roman"/>
                      <a:sym typeface="Times New Roman"/>
                    </a:rPr>
                    <a:t>)</a:t>
                  </a:r>
                  <a:endParaRPr sz="1800" dirty="0">
                    <a:solidFill>
                      <a:srgbClr val="7030A0"/>
                    </a:solidFill>
                  </a:endParaRPr>
                </a:p>
              </p:txBody>
            </p:sp>
          </mc:Choice>
          <mc:Fallback xmlns="">
            <p:sp>
              <p:nvSpPr>
                <p:cNvPr id="71" name="Google Shape;293;p11"/>
                <p:cNvSpPr txBox="1">
                  <a:spLocks noRot="1" noChangeAspect="1" noMove="1" noResize="1" noEditPoints="1" noAdjustHandles="1" noChangeArrowheads="1" noChangeShapeType="1" noTextEdit="1"/>
                </p:cNvSpPr>
                <p:nvPr/>
              </p:nvSpPr>
              <p:spPr>
                <a:xfrm>
                  <a:off x="8522499" y="1256387"/>
                  <a:ext cx="1057097" cy="369291"/>
                </a:xfrm>
                <a:prstGeom prst="rect">
                  <a:avLst/>
                </a:prstGeom>
                <a:blipFill>
                  <a:blip r:embed="rId6"/>
                  <a:stretch>
                    <a:fillRect l="-4624" t="-8197" r="-1156" b="-2459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Google Shape;293;p11"/>
                <p:cNvSpPr txBox="1"/>
                <p:nvPr/>
              </p:nvSpPr>
              <p:spPr>
                <a:xfrm>
                  <a:off x="7376539" y="5389286"/>
                  <a:ext cx="2064595"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dirty="0">
                      <a:solidFill>
                        <a:srgbClr val="7030A0"/>
                      </a:solidFill>
                      <a:latin typeface="Times New Roman"/>
                      <a:ea typeface="Times New Roman"/>
                      <a:cs typeface="Times New Roman"/>
                      <a:sym typeface="Times New Roman"/>
                    </a:rPr>
                    <a:t>Generated Input (</a:t>
                  </a:r>
                  <a14:m>
                    <m:oMath xmlns:m="http://schemas.openxmlformats.org/officeDocument/2006/math">
                      <m:acc>
                        <m:accPr>
                          <m:chr m:val="̂"/>
                          <m:ctrlPr>
                            <a:rPr lang="en-IN" sz="1800" i="1" dirty="0" smtClean="0">
                              <a:solidFill>
                                <a:srgbClr val="7030A0"/>
                              </a:solidFill>
                              <a:latin typeface="Cambria Math" panose="02040503050406030204" pitchFamily="18" charset="0"/>
                              <a:cs typeface="Times New Roman"/>
                              <a:sym typeface="Times New Roman"/>
                            </a:rPr>
                          </m:ctrlPr>
                        </m:accPr>
                        <m:e>
                          <m:r>
                            <a:rPr lang="en-IN" sz="1800" b="0" i="1" dirty="0" smtClean="0">
                              <a:solidFill>
                                <a:srgbClr val="7030A0"/>
                              </a:solidFill>
                              <a:latin typeface="Cambria Math" panose="02040503050406030204" pitchFamily="18" charset="0"/>
                              <a:cs typeface="Times New Roman"/>
                              <a:sym typeface="Times New Roman"/>
                            </a:rPr>
                            <m:t>𝑥</m:t>
                          </m:r>
                        </m:e>
                      </m:acc>
                    </m:oMath>
                  </a14:m>
                  <a:r>
                    <a:rPr lang="en-IN" sz="1800" dirty="0">
                      <a:solidFill>
                        <a:srgbClr val="7030A0"/>
                      </a:solidFill>
                      <a:latin typeface="Times New Roman"/>
                      <a:ea typeface="Times New Roman"/>
                      <a:cs typeface="Times New Roman"/>
                      <a:sym typeface="Times New Roman"/>
                    </a:rPr>
                    <a:t>)</a:t>
                  </a:r>
                  <a:endParaRPr sz="1800" dirty="0">
                    <a:solidFill>
                      <a:srgbClr val="7030A0"/>
                    </a:solidFill>
                  </a:endParaRPr>
                </a:p>
              </p:txBody>
            </p:sp>
          </mc:Choice>
          <mc:Fallback xmlns="">
            <p:sp>
              <p:nvSpPr>
                <p:cNvPr id="72" name="Google Shape;293;p11"/>
                <p:cNvSpPr txBox="1">
                  <a:spLocks noRot="1" noChangeAspect="1" noMove="1" noResize="1" noEditPoints="1" noAdjustHandles="1" noChangeArrowheads="1" noChangeShapeType="1" noTextEdit="1"/>
                </p:cNvSpPr>
                <p:nvPr/>
              </p:nvSpPr>
              <p:spPr>
                <a:xfrm>
                  <a:off x="7376539" y="5389286"/>
                  <a:ext cx="2064595" cy="369291"/>
                </a:xfrm>
                <a:prstGeom prst="rect">
                  <a:avLst/>
                </a:prstGeom>
                <a:blipFill>
                  <a:blip r:embed="rId7"/>
                  <a:stretch>
                    <a:fillRect l="-2360" t="-8197" r="-7375" b="-24590"/>
                  </a:stretch>
                </a:blipFill>
                <a:ln>
                  <a:noFill/>
                </a:ln>
              </p:spPr>
              <p:txBody>
                <a:bodyPr/>
                <a:lstStyle/>
                <a:p>
                  <a:r>
                    <a:rPr lang="en-IN">
                      <a:noFill/>
                    </a:rPr>
                    <a:t> </a:t>
                  </a:r>
                </a:p>
              </p:txBody>
            </p:sp>
          </mc:Fallback>
        </mc:AlternateContent>
        <p:sp>
          <p:nvSpPr>
            <p:cNvPr id="73" name="Google Shape;209;p6"/>
            <p:cNvSpPr txBox="1"/>
            <p:nvPr/>
          </p:nvSpPr>
          <p:spPr>
            <a:xfrm>
              <a:off x="8335039" y="3131442"/>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a:solidFill>
                    <a:srgbClr val="7030A0"/>
                  </a:solidFill>
                  <a:latin typeface="Times New Roman"/>
                  <a:ea typeface="Times New Roman"/>
                  <a:cs typeface="Times New Roman"/>
                  <a:sym typeface="Times New Roman"/>
                </a:rPr>
                <a:t>eye</a:t>
              </a:r>
              <a:endParaRPr sz="1800">
                <a:solidFill>
                  <a:srgbClr val="7030A0"/>
                </a:solidFill>
              </a:endParaRPr>
            </a:p>
          </p:txBody>
        </p:sp>
        <p:sp>
          <p:nvSpPr>
            <p:cNvPr id="74" name="Google Shape;210;p6"/>
            <p:cNvSpPr txBox="1"/>
            <p:nvPr/>
          </p:nvSpPr>
          <p:spPr>
            <a:xfrm>
              <a:off x="8335039" y="3492024"/>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endParaRPr sz="1800" dirty="0">
                <a:solidFill>
                  <a:srgbClr val="7030A0"/>
                </a:solidFill>
              </a:endParaRPr>
            </a:p>
          </p:txBody>
        </p:sp>
        <p:sp>
          <p:nvSpPr>
            <p:cNvPr id="75" name="Google Shape;211;p6"/>
            <p:cNvSpPr txBox="1"/>
            <p:nvPr/>
          </p:nvSpPr>
          <p:spPr>
            <a:xfrm>
              <a:off x="9025152" y="3131442"/>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a:solidFill>
                    <a:srgbClr val="7030A0"/>
                  </a:solidFill>
                  <a:latin typeface="Times New Roman"/>
                  <a:ea typeface="Times New Roman"/>
                  <a:cs typeface="Times New Roman"/>
                  <a:sym typeface="Times New Roman"/>
                </a:rPr>
                <a:t>ear</a:t>
              </a:r>
              <a:endParaRPr sz="1800">
                <a:solidFill>
                  <a:srgbClr val="7030A0"/>
                </a:solidFill>
              </a:endParaRPr>
            </a:p>
          </p:txBody>
        </p:sp>
        <p:sp>
          <p:nvSpPr>
            <p:cNvPr id="76" name="Google Shape;212;p6"/>
            <p:cNvSpPr txBox="1"/>
            <p:nvPr/>
          </p:nvSpPr>
          <p:spPr>
            <a:xfrm>
              <a:off x="9025151" y="3496265"/>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endParaRPr sz="1800" dirty="0">
                <a:solidFill>
                  <a:srgbClr val="7030A0"/>
                </a:solidFill>
              </a:endParaRPr>
            </a:p>
          </p:txBody>
        </p:sp>
        <p:sp>
          <p:nvSpPr>
            <p:cNvPr id="77" name="Google Shape;215;p6"/>
            <p:cNvSpPr txBox="1"/>
            <p:nvPr/>
          </p:nvSpPr>
          <p:spPr>
            <a:xfrm>
              <a:off x="9715264" y="3131529"/>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a:solidFill>
                    <a:srgbClr val="7030A0"/>
                  </a:solidFill>
                  <a:latin typeface="Times New Roman"/>
                  <a:ea typeface="Times New Roman"/>
                  <a:cs typeface="Times New Roman"/>
                  <a:sym typeface="Times New Roman"/>
                </a:rPr>
                <a:t>nose</a:t>
              </a:r>
              <a:endParaRPr sz="1800">
                <a:solidFill>
                  <a:srgbClr val="7030A0"/>
                </a:solidFill>
              </a:endParaRPr>
            </a:p>
          </p:txBody>
        </p:sp>
        <p:sp>
          <p:nvSpPr>
            <p:cNvPr id="78" name="Google Shape;216;p6"/>
            <p:cNvSpPr txBox="1"/>
            <p:nvPr/>
          </p:nvSpPr>
          <p:spPr>
            <a:xfrm>
              <a:off x="9715264" y="3492949"/>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endParaRPr sz="1800" dirty="0">
                <a:solidFill>
                  <a:srgbClr val="7030A0"/>
                </a:solidFill>
              </a:endParaRPr>
            </a:p>
          </p:txBody>
        </p:sp>
        <p:sp>
          <p:nvSpPr>
            <p:cNvPr id="79" name="Google Shape;217;p6"/>
            <p:cNvSpPr txBox="1"/>
            <p:nvPr/>
          </p:nvSpPr>
          <p:spPr>
            <a:xfrm>
              <a:off x="11095487" y="3131442"/>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a:solidFill>
                    <a:srgbClr val="7030A0"/>
                  </a:solidFill>
                  <a:latin typeface="Times New Roman"/>
                  <a:ea typeface="Times New Roman"/>
                  <a:cs typeface="Times New Roman"/>
                  <a:sym typeface="Times New Roman"/>
                </a:rPr>
                <a:t>color</a:t>
              </a:r>
              <a:endParaRPr sz="1800">
                <a:solidFill>
                  <a:srgbClr val="7030A0"/>
                </a:solidFill>
                <a:latin typeface="Times New Roman"/>
                <a:ea typeface="Times New Roman"/>
                <a:cs typeface="Times New Roman"/>
                <a:sym typeface="Times New Roman"/>
              </a:endParaRPr>
            </a:p>
          </p:txBody>
        </p:sp>
        <p:sp>
          <p:nvSpPr>
            <p:cNvPr id="80" name="Google Shape;218;p6"/>
            <p:cNvSpPr txBox="1"/>
            <p:nvPr/>
          </p:nvSpPr>
          <p:spPr>
            <a:xfrm>
              <a:off x="11095085" y="3490217"/>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endParaRPr sz="1800" dirty="0">
                <a:solidFill>
                  <a:srgbClr val="7030A0"/>
                </a:solidFill>
              </a:endParaRPr>
            </a:p>
          </p:txBody>
        </p:sp>
        <p:sp>
          <p:nvSpPr>
            <p:cNvPr id="81" name="Google Shape;215;p6"/>
            <p:cNvSpPr txBox="1"/>
            <p:nvPr/>
          </p:nvSpPr>
          <p:spPr>
            <a:xfrm>
              <a:off x="10405376" y="3127013"/>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dirty="0">
                  <a:solidFill>
                    <a:srgbClr val="7030A0"/>
                  </a:solidFill>
                  <a:latin typeface="Times New Roman"/>
                  <a:ea typeface="Times New Roman"/>
                  <a:cs typeface="Times New Roman"/>
                  <a:sym typeface="Times New Roman"/>
                </a:rPr>
                <a:t>…</a:t>
              </a:r>
              <a:endParaRPr sz="1800" dirty="0">
                <a:solidFill>
                  <a:srgbClr val="7030A0"/>
                </a:solidFill>
              </a:endParaRPr>
            </a:p>
          </p:txBody>
        </p:sp>
        <p:sp>
          <p:nvSpPr>
            <p:cNvPr id="82" name="Google Shape;215;p6"/>
            <p:cNvSpPr txBox="1"/>
            <p:nvPr/>
          </p:nvSpPr>
          <p:spPr>
            <a:xfrm>
              <a:off x="10405373" y="3493853"/>
              <a:ext cx="690113" cy="369332"/>
            </a:xfrm>
            <a:prstGeom prst="rect">
              <a:avLst/>
            </a:prstGeom>
            <a:noFill/>
            <a:ln w="158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lvl="0" algn="ctr"/>
              <a:endParaRPr lang="en-IN" sz="1800" dirty="0">
                <a:solidFill>
                  <a:srgbClr val="7030A0"/>
                </a:solidFill>
              </a:endParaRPr>
            </a:p>
          </p:txBody>
        </p:sp>
        <p:sp>
          <p:nvSpPr>
            <p:cNvPr id="83" name="TextBox 82"/>
            <p:cNvSpPr txBox="1"/>
            <p:nvPr/>
          </p:nvSpPr>
          <p:spPr>
            <a:xfrm>
              <a:off x="9459660" y="2206580"/>
              <a:ext cx="953787" cy="369332"/>
            </a:xfrm>
            <a:prstGeom prst="rect">
              <a:avLst/>
            </a:prstGeom>
            <a:noFill/>
          </p:spPr>
          <p:txBody>
            <a:bodyPr wrap="none" rtlCol="0">
              <a:spAutoFit/>
            </a:bodyPr>
            <a:lstStyle/>
            <a:p>
              <a:r>
                <a:rPr lang="en-IN" sz="1800" dirty="0">
                  <a:solidFill>
                    <a:srgbClr val="7030A0"/>
                  </a:solidFill>
                  <a:latin typeface="Times New Roman" panose="02020603050405020304" pitchFamily="18" charset="0"/>
                  <a:cs typeface="Times New Roman" panose="02020603050405020304" pitchFamily="18" charset="0"/>
                </a:rPr>
                <a:t>Encoder</a:t>
              </a:r>
            </a:p>
          </p:txBody>
        </p:sp>
        <p:sp>
          <p:nvSpPr>
            <p:cNvPr id="84" name="TextBox 83"/>
            <p:cNvSpPr txBox="1"/>
            <p:nvPr/>
          </p:nvSpPr>
          <p:spPr>
            <a:xfrm>
              <a:off x="9488059" y="4456355"/>
              <a:ext cx="966931" cy="369332"/>
            </a:xfrm>
            <a:prstGeom prst="rect">
              <a:avLst/>
            </a:prstGeom>
            <a:noFill/>
          </p:spPr>
          <p:txBody>
            <a:bodyPr wrap="none" rtlCol="0">
              <a:spAutoFit/>
            </a:bodyPr>
            <a:lstStyle/>
            <a:p>
              <a:r>
                <a:rPr lang="en-IN" sz="1800" dirty="0">
                  <a:solidFill>
                    <a:srgbClr val="7030A0"/>
                  </a:solidFill>
                  <a:latin typeface="Times New Roman" panose="02020603050405020304" pitchFamily="18" charset="0"/>
                  <a:cs typeface="Times New Roman" panose="02020603050405020304" pitchFamily="18" charset="0"/>
                </a:rPr>
                <a:t>Decoder</a:t>
              </a:r>
            </a:p>
          </p:txBody>
        </p:sp>
        <mc:AlternateContent xmlns:mc="http://schemas.openxmlformats.org/markup-compatibility/2006" xmlns:a14="http://schemas.microsoft.com/office/drawing/2010/main">
          <mc:Choice Requires="a14">
            <p:sp>
              <p:nvSpPr>
                <p:cNvPr id="85" name="TextBox 84"/>
                <p:cNvSpPr txBox="1"/>
                <p:nvPr/>
              </p:nvSpPr>
              <p:spPr>
                <a:xfrm>
                  <a:off x="9565362" y="4144021"/>
                  <a:ext cx="72814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1800" b="0" i="1" smtClean="0">
                            <a:solidFill>
                              <a:srgbClr val="7030A0"/>
                            </a:solidFill>
                            <a:latin typeface="Cambria Math" panose="02040503050406030204" pitchFamily="18" charset="0"/>
                          </a:rPr>
                          <m:t>𝑃</m:t>
                        </m:r>
                        <m:r>
                          <a:rPr lang="en-IN" sz="1800" b="0" i="1" smtClean="0">
                            <a:solidFill>
                              <a:srgbClr val="7030A0"/>
                            </a:solidFill>
                            <a:latin typeface="Cambria Math" panose="02040503050406030204" pitchFamily="18" charset="0"/>
                          </a:rPr>
                          <m:t>(</m:t>
                        </m:r>
                        <m:acc>
                          <m:accPr>
                            <m:chr m:val="̂"/>
                            <m:ctrlPr>
                              <a:rPr lang="en-IN" sz="1800" i="1" dirty="0">
                                <a:solidFill>
                                  <a:srgbClr val="7030A0"/>
                                </a:solidFill>
                                <a:latin typeface="Cambria Math" panose="02040503050406030204" pitchFamily="18" charset="0"/>
                                <a:cs typeface="Times New Roman"/>
                                <a:sym typeface="Times New Roman"/>
                              </a:rPr>
                            </m:ctrlPr>
                          </m:accPr>
                          <m:e>
                            <m:r>
                              <a:rPr lang="en-IN" sz="1800" i="1" dirty="0">
                                <a:solidFill>
                                  <a:srgbClr val="7030A0"/>
                                </a:solidFill>
                                <a:latin typeface="Cambria Math" panose="02040503050406030204" pitchFamily="18" charset="0"/>
                                <a:cs typeface="Times New Roman"/>
                                <a:sym typeface="Times New Roman"/>
                              </a:rPr>
                              <m:t>𝑥</m:t>
                            </m:r>
                          </m:e>
                        </m:acc>
                        <m:r>
                          <a:rPr lang="en-IN" sz="1800" b="0" i="1" smtClean="0">
                            <a:solidFill>
                              <a:srgbClr val="7030A0"/>
                            </a:solidFill>
                            <a:latin typeface="Cambria Math" panose="02040503050406030204" pitchFamily="18" charset="0"/>
                          </a:rPr>
                          <m:t>|</m:t>
                        </m:r>
                        <m:r>
                          <a:rPr lang="en-IN" sz="1800" b="0" i="1" smtClean="0">
                            <a:solidFill>
                              <a:srgbClr val="7030A0"/>
                            </a:solidFill>
                            <a:latin typeface="Cambria Math" panose="02040503050406030204" pitchFamily="18" charset="0"/>
                          </a:rPr>
                          <m:t>𝑧</m:t>
                        </m:r>
                        <m:r>
                          <a:rPr lang="en-IN" sz="1800" b="0" i="1" smtClean="0">
                            <a:solidFill>
                              <a:srgbClr val="7030A0"/>
                            </a:solidFill>
                            <a:latin typeface="Cambria Math" panose="02040503050406030204" pitchFamily="18" charset="0"/>
                          </a:rPr>
                          <m:t>)</m:t>
                        </m:r>
                      </m:oMath>
                    </m:oMathPara>
                  </a14:m>
                  <a:endParaRPr lang="en-IN" sz="1800" dirty="0">
                    <a:solidFill>
                      <a:srgbClr val="7030A0"/>
                    </a:solidFill>
                  </a:endParaRPr>
                </a:p>
              </p:txBody>
            </p:sp>
          </mc:Choice>
          <mc:Fallback xmlns="">
            <p:sp>
              <p:nvSpPr>
                <p:cNvPr id="85" name="TextBox 84"/>
                <p:cNvSpPr txBox="1">
                  <a:spLocks noRot="1" noChangeAspect="1" noMove="1" noResize="1" noEditPoints="1" noAdjustHandles="1" noChangeArrowheads="1" noChangeShapeType="1" noTextEdit="1"/>
                </p:cNvSpPr>
                <p:nvPr/>
              </p:nvSpPr>
              <p:spPr>
                <a:xfrm>
                  <a:off x="9565362" y="4144021"/>
                  <a:ext cx="728148" cy="276999"/>
                </a:xfrm>
                <a:prstGeom prst="rect">
                  <a:avLst/>
                </a:prstGeom>
                <a:blipFill>
                  <a:blip r:embed="rId8"/>
                  <a:stretch>
                    <a:fillRect l="-5833" t="-24444" r="-10000" b="-3777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TextBox 85"/>
                <p:cNvSpPr txBox="1"/>
                <p:nvPr/>
              </p:nvSpPr>
              <p:spPr>
                <a:xfrm>
                  <a:off x="9579597" y="2595533"/>
                  <a:ext cx="72513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1800" b="0" i="1" smtClean="0">
                            <a:solidFill>
                              <a:srgbClr val="7030A0"/>
                            </a:solidFill>
                            <a:latin typeface="Cambria Math" panose="02040503050406030204" pitchFamily="18" charset="0"/>
                          </a:rPr>
                          <m:t>𝑃</m:t>
                        </m:r>
                        <m:r>
                          <a:rPr lang="en-IN" sz="1800" b="0" i="1" smtClean="0">
                            <a:solidFill>
                              <a:srgbClr val="7030A0"/>
                            </a:solidFill>
                            <a:latin typeface="Cambria Math" panose="02040503050406030204" pitchFamily="18" charset="0"/>
                          </a:rPr>
                          <m:t>(</m:t>
                        </m:r>
                        <m:r>
                          <a:rPr lang="en-IN" sz="1800" b="0" i="1" smtClean="0">
                            <a:solidFill>
                              <a:srgbClr val="7030A0"/>
                            </a:solidFill>
                            <a:latin typeface="Cambria Math" panose="02040503050406030204" pitchFamily="18" charset="0"/>
                          </a:rPr>
                          <m:t>𝑧</m:t>
                        </m:r>
                        <m:r>
                          <a:rPr lang="en-IN" sz="1800" b="0" i="1" smtClean="0">
                            <a:solidFill>
                              <a:srgbClr val="7030A0"/>
                            </a:solidFill>
                            <a:latin typeface="Cambria Math" panose="02040503050406030204" pitchFamily="18" charset="0"/>
                          </a:rPr>
                          <m:t>|</m:t>
                        </m:r>
                        <m:r>
                          <a:rPr lang="en-IN" sz="1800" b="0" i="1" smtClean="0">
                            <a:solidFill>
                              <a:srgbClr val="7030A0"/>
                            </a:solidFill>
                            <a:latin typeface="Cambria Math" panose="02040503050406030204" pitchFamily="18" charset="0"/>
                          </a:rPr>
                          <m:t>𝑥</m:t>
                        </m:r>
                        <m:r>
                          <a:rPr lang="en-IN" sz="1800" b="0" i="1" smtClean="0">
                            <a:solidFill>
                              <a:srgbClr val="7030A0"/>
                            </a:solidFill>
                            <a:latin typeface="Cambria Math" panose="02040503050406030204" pitchFamily="18" charset="0"/>
                          </a:rPr>
                          <m:t>)</m:t>
                        </m:r>
                      </m:oMath>
                    </m:oMathPara>
                  </a14:m>
                  <a:endParaRPr lang="en-IN" sz="1800" dirty="0">
                    <a:solidFill>
                      <a:srgbClr val="7030A0"/>
                    </a:solidFill>
                  </a:endParaRPr>
                </a:p>
              </p:txBody>
            </p:sp>
          </mc:Choice>
          <mc:Fallback xmlns="">
            <p:sp>
              <p:nvSpPr>
                <p:cNvPr id="86" name="TextBox 85"/>
                <p:cNvSpPr txBox="1">
                  <a:spLocks noRot="1" noChangeAspect="1" noMove="1" noResize="1" noEditPoints="1" noAdjustHandles="1" noChangeArrowheads="1" noChangeShapeType="1" noTextEdit="1"/>
                </p:cNvSpPr>
                <p:nvPr/>
              </p:nvSpPr>
              <p:spPr>
                <a:xfrm>
                  <a:off x="9579597" y="2595533"/>
                  <a:ext cx="725135" cy="276999"/>
                </a:xfrm>
                <a:prstGeom prst="rect">
                  <a:avLst/>
                </a:prstGeom>
                <a:blipFill>
                  <a:blip r:embed="rId9"/>
                  <a:stretch>
                    <a:fillRect l="-5882" r="-10084" b="-37778"/>
                  </a:stretch>
                </a:blipFill>
              </p:spPr>
              <p:txBody>
                <a:bodyPr/>
                <a:lstStyle/>
                <a:p>
                  <a:r>
                    <a:rPr lang="en-IN">
                      <a:noFill/>
                    </a:rPr>
                    <a:t> </a:t>
                  </a:r>
                </a:p>
              </p:txBody>
            </p:sp>
          </mc:Fallback>
        </mc:AlternateContent>
        <p:grpSp>
          <p:nvGrpSpPr>
            <p:cNvPr id="97" name="Group 96"/>
            <p:cNvGrpSpPr/>
            <p:nvPr/>
          </p:nvGrpSpPr>
          <p:grpSpPr>
            <a:xfrm>
              <a:off x="8370864" y="3546294"/>
              <a:ext cx="618462" cy="257178"/>
              <a:chOff x="5274467" y="5655326"/>
              <a:chExt cx="738187" cy="307496"/>
            </a:xfrm>
            <a:solidFill>
              <a:schemeClr val="accent4">
                <a:lumMod val="40000"/>
                <a:lumOff val="60000"/>
                <a:alpha val="9000"/>
              </a:schemeClr>
            </a:solidFill>
          </p:grpSpPr>
          <p:sp>
            <p:nvSpPr>
              <p:cNvPr id="98" name="Freeform 97"/>
              <p:cNvSpPr/>
              <p:nvPr/>
            </p:nvSpPr>
            <p:spPr>
              <a:xfrm>
                <a:off x="5274467" y="5655326"/>
                <a:ext cx="738187" cy="307496"/>
              </a:xfrm>
              <a:custGeom>
                <a:avLst/>
                <a:gdLst>
                  <a:gd name="connsiteX0" fmla="*/ 0 w 759242"/>
                  <a:gd name="connsiteY0" fmla="*/ 295418 h 316144"/>
                  <a:gd name="connsiteX1" fmla="*/ 192881 w 759242"/>
                  <a:gd name="connsiteY1" fmla="*/ 212074 h 316144"/>
                  <a:gd name="connsiteX2" fmla="*/ 350044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9242"/>
                  <a:gd name="connsiteY0" fmla="*/ 295418 h 316144"/>
                  <a:gd name="connsiteX1" fmla="*/ 192881 w 759242"/>
                  <a:gd name="connsiteY1" fmla="*/ 212074 h 316144"/>
                  <a:gd name="connsiteX2" fmla="*/ 381000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3035"/>
                  <a:gd name="connsiteY0" fmla="*/ 295418 h 316966"/>
                  <a:gd name="connsiteX1" fmla="*/ 192881 w 753035"/>
                  <a:gd name="connsiteY1" fmla="*/ 212074 h 316966"/>
                  <a:gd name="connsiteX2" fmla="*/ 381000 w 753035"/>
                  <a:gd name="connsiteY2" fmla="*/ 143 h 316966"/>
                  <a:gd name="connsiteX3" fmla="*/ 545306 w 753035"/>
                  <a:gd name="connsiteY3" fmla="*/ 181118 h 316966"/>
                  <a:gd name="connsiteX4" fmla="*/ 738187 w 753035"/>
                  <a:gd name="connsiteY4" fmla="*/ 307324 h 316966"/>
                  <a:gd name="connsiteX5" fmla="*/ 731043 w 753035"/>
                  <a:gd name="connsiteY5" fmla="*/ 297800 h 316966"/>
                  <a:gd name="connsiteX0" fmla="*/ 0 w 750706"/>
                  <a:gd name="connsiteY0" fmla="*/ 295418 h 316966"/>
                  <a:gd name="connsiteX1" fmla="*/ 192881 w 750706"/>
                  <a:gd name="connsiteY1" fmla="*/ 212074 h 316966"/>
                  <a:gd name="connsiteX2" fmla="*/ 381000 w 750706"/>
                  <a:gd name="connsiteY2" fmla="*/ 143 h 316966"/>
                  <a:gd name="connsiteX3" fmla="*/ 545306 w 750706"/>
                  <a:gd name="connsiteY3" fmla="*/ 181118 h 316966"/>
                  <a:gd name="connsiteX4" fmla="*/ 738187 w 750706"/>
                  <a:gd name="connsiteY4" fmla="*/ 307324 h 316966"/>
                  <a:gd name="connsiteX5" fmla="*/ 723899 w 750706"/>
                  <a:gd name="connsiteY5" fmla="*/ 297800 h 316966"/>
                  <a:gd name="connsiteX0" fmla="*/ 0 w 738187"/>
                  <a:gd name="connsiteY0" fmla="*/ 295418 h 307324"/>
                  <a:gd name="connsiteX1" fmla="*/ 192881 w 738187"/>
                  <a:gd name="connsiteY1" fmla="*/ 212074 h 307324"/>
                  <a:gd name="connsiteX2" fmla="*/ 381000 w 738187"/>
                  <a:gd name="connsiteY2" fmla="*/ 143 h 307324"/>
                  <a:gd name="connsiteX3" fmla="*/ 545306 w 738187"/>
                  <a:gd name="connsiteY3" fmla="*/ 181118 h 307324"/>
                  <a:gd name="connsiteX4" fmla="*/ 738187 w 738187"/>
                  <a:gd name="connsiteY4" fmla="*/ 307324 h 307324"/>
                  <a:gd name="connsiteX0" fmla="*/ 0 w 738187"/>
                  <a:gd name="connsiteY0" fmla="*/ 295418 h 307496"/>
                  <a:gd name="connsiteX1" fmla="*/ 192881 w 738187"/>
                  <a:gd name="connsiteY1" fmla="*/ 212074 h 307496"/>
                  <a:gd name="connsiteX2" fmla="*/ 381000 w 738187"/>
                  <a:gd name="connsiteY2" fmla="*/ 143 h 307496"/>
                  <a:gd name="connsiteX3" fmla="*/ 545306 w 738187"/>
                  <a:gd name="connsiteY3" fmla="*/ 181118 h 307496"/>
                  <a:gd name="connsiteX4" fmla="*/ 738187 w 738187"/>
                  <a:gd name="connsiteY4" fmla="*/ 307324 h 30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187" h="307496">
                    <a:moveTo>
                      <a:pt x="0" y="295418"/>
                    </a:moveTo>
                    <a:cubicBezTo>
                      <a:pt x="67270" y="278352"/>
                      <a:pt x="129381" y="261286"/>
                      <a:pt x="192881" y="212074"/>
                    </a:cubicBezTo>
                    <a:cubicBezTo>
                      <a:pt x="256381" y="162862"/>
                      <a:pt x="322263" y="5302"/>
                      <a:pt x="381000" y="143"/>
                    </a:cubicBezTo>
                    <a:cubicBezTo>
                      <a:pt x="439738" y="-5016"/>
                      <a:pt x="485775" y="129921"/>
                      <a:pt x="545306" y="181118"/>
                    </a:cubicBezTo>
                    <a:cubicBezTo>
                      <a:pt x="604837" y="232315"/>
                      <a:pt x="701278" y="311689"/>
                      <a:pt x="738187" y="307324"/>
                    </a:cubicBezTo>
                  </a:path>
                </a:pathLst>
              </a:custGeom>
              <a:grp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cxnSp>
            <p:nvCxnSpPr>
              <p:cNvPr id="99" name="Straight Connector 98"/>
              <p:cNvCxnSpPr>
                <a:stCxn id="98" idx="0"/>
                <a:endCxn id="98" idx="4"/>
              </p:cNvCxnSpPr>
              <p:nvPr/>
            </p:nvCxnSpPr>
            <p:spPr>
              <a:xfrm>
                <a:off x="5274467" y="5950744"/>
                <a:ext cx="738187" cy="11906"/>
              </a:xfrm>
              <a:prstGeom prst="line">
                <a:avLst/>
              </a:prstGeom>
              <a:grpFill/>
              <a:ln w="127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00" name="Group 99"/>
            <p:cNvGrpSpPr/>
            <p:nvPr/>
          </p:nvGrpSpPr>
          <p:grpSpPr>
            <a:xfrm>
              <a:off x="9060775" y="3541242"/>
              <a:ext cx="618462" cy="257178"/>
              <a:chOff x="5274467" y="5655326"/>
              <a:chExt cx="738187" cy="307496"/>
            </a:xfrm>
            <a:solidFill>
              <a:schemeClr val="accent4">
                <a:lumMod val="40000"/>
                <a:lumOff val="60000"/>
                <a:alpha val="9000"/>
              </a:schemeClr>
            </a:solidFill>
          </p:grpSpPr>
          <p:sp>
            <p:nvSpPr>
              <p:cNvPr id="101" name="Freeform 100"/>
              <p:cNvSpPr/>
              <p:nvPr/>
            </p:nvSpPr>
            <p:spPr>
              <a:xfrm>
                <a:off x="5274467" y="5655326"/>
                <a:ext cx="738187" cy="307496"/>
              </a:xfrm>
              <a:custGeom>
                <a:avLst/>
                <a:gdLst>
                  <a:gd name="connsiteX0" fmla="*/ 0 w 759242"/>
                  <a:gd name="connsiteY0" fmla="*/ 295418 h 316144"/>
                  <a:gd name="connsiteX1" fmla="*/ 192881 w 759242"/>
                  <a:gd name="connsiteY1" fmla="*/ 212074 h 316144"/>
                  <a:gd name="connsiteX2" fmla="*/ 350044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9242"/>
                  <a:gd name="connsiteY0" fmla="*/ 295418 h 316144"/>
                  <a:gd name="connsiteX1" fmla="*/ 192881 w 759242"/>
                  <a:gd name="connsiteY1" fmla="*/ 212074 h 316144"/>
                  <a:gd name="connsiteX2" fmla="*/ 381000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3035"/>
                  <a:gd name="connsiteY0" fmla="*/ 295418 h 316966"/>
                  <a:gd name="connsiteX1" fmla="*/ 192881 w 753035"/>
                  <a:gd name="connsiteY1" fmla="*/ 212074 h 316966"/>
                  <a:gd name="connsiteX2" fmla="*/ 381000 w 753035"/>
                  <a:gd name="connsiteY2" fmla="*/ 143 h 316966"/>
                  <a:gd name="connsiteX3" fmla="*/ 545306 w 753035"/>
                  <a:gd name="connsiteY3" fmla="*/ 181118 h 316966"/>
                  <a:gd name="connsiteX4" fmla="*/ 738187 w 753035"/>
                  <a:gd name="connsiteY4" fmla="*/ 307324 h 316966"/>
                  <a:gd name="connsiteX5" fmla="*/ 731043 w 753035"/>
                  <a:gd name="connsiteY5" fmla="*/ 297800 h 316966"/>
                  <a:gd name="connsiteX0" fmla="*/ 0 w 750706"/>
                  <a:gd name="connsiteY0" fmla="*/ 295418 h 316966"/>
                  <a:gd name="connsiteX1" fmla="*/ 192881 w 750706"/>
                  <a:gd name="connsiteY1" fmla="*/ 212074 h 316966"/>
                  <a:gd name="connsiteX2" fmla="*/ 381000 w 750706"/>
                  <a:gd name="connsiteY2" fmla="*/ 143 h 316966"/>
                  <a:gd name="connsiteX3" fmla="*/ 545306 w 750706"/>
                  <a:gd name="connsiteY3" fmla="*/ 181118 h 316966"/>
                  <a:gd name="connsiteX4" fmla="*/ 738187 w 750706"/>
                  <a:gd name="connsiteY4" fmla="*/ 307324 h 316966"/>
                  <a:gd name="connsiteX5" fmla="*/ 723899 w 750706"/>
                  <a:gd name="connsiteY5" fmla="*/ 297800 h 316966"/>
                  <a:gd name="connsiteX0" fmla="*/ 0 w 738187"/>
                  <a:gd name="connsiteY0" fmla="*/ 295418 h 307324"/>
                  <a:gd name="connsiteX1" fmla="*/ 192881 w 738187"/>
                  <a:gd name="connsiteY1" fmla="*/ 212074 h 307324"/>
                  <a:gd name="connsiteX2" fmla="*/ 381000 w 738187"/>
                  <a:gd name="connsiteY2" fmla="*/ 143 h 307324"/>
                  <a:gd name="connsiteX3" fmla="*/ 545306 w 738187"/>
                  <a:gd name="connsiteY3" fmla="*/ 181118 h 307324"/>
                  <a:gd name="connsiteX4" fmla="*/ 738187 w 738187"/>
                  <a:gd name="connsiteY4" fmla="*/ 307324 h 307324"/>
                  <a:gd name="connsiteX0" fmla="*/ 0 w 738187"/>
                  <a:gd name="connsiteY0" fmla="*/ 295418 h 307496"/>
                  <a:gd name="connsiteX1" fmla="*/ 192881 w 738187"/>
                  <a:gd name="connsiteY1" fmla="*/ 212074 h 307496"/>
                  <a:gd name="connsiteX2" fmla="*/ 381000 w 738187"/>
                  <a:gd name="connsiteY2" fmla="*/ 143 h 307496"/>
                  <a:gd name="connsiteX3" fmla="*/ 545306 w 738187"/>
                  <a:gd name="connsiteY3" fmla="*/ 181118 h 307496"/>
                  <a:gd name="connsiteX4" fmla="*/ 738187 w 738187"/>
                  <a:gd name="connsiteY4" fmla="*/ 307324 h 30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187" h="307496">
                    <a:moveTo>
                      <a:pt x="0" y="295418"/>
                    </a:moveTo>
                    <a:cubicBezTo>
                      <a:pt x="67270" y="278352"/>
                      <a:pt x="129381" y="261286"/>
                      <a:pt x="192881" y="212074"/>
                    </a:cubicBezTo>
                    <a:cubicBezTo>
                      <a:pt x="256381" y="162862"/>
                      <a:pt x="322263" y="5302"/>
                      <a:pt x="381000" y="143"/>
                    </a:cubicBezTo>
                    <a:cubicBezTo>
                      <a:pt x="439738" y="-5016"/>
                      <a:pt x="485775" y="129921"/>
                      <a:pt x="545306" y="181118"/>
                    </a:cubicBezTo>
                    <a:cubicBezTo>
                      <a:pt x="604837" y="232315"/>
                      <a:pt x="701278" y="311689"/>
                      <a:pt x="738187" y="307324"/>
                    </a:cubicBezTo>
                  </a:path>
                </a:pathLst>
              </a:custGeom>
              <a:grp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cxnSp>
            <p:nvCxnSpPr>
              <p:cNvPr id="102" name="Straight Connector 101"/>
              <p:cNvCxnSpPr>
                <a:stCxn id="101" idx="0"/>
                <a:endCxn id="101" idx="4"/>
              </p:cNvCxnSpPr>
              <p:nvPr/>
            </p:nvCxnSpPr>
            <p:spPr>
              <a:xfrm>
                <a:off x="5274467" y="5950744"/>
                <a:ext cx="738187" cy="11906"/>
              </a:xfrm>
              <a:prstGeom prst="line">
                <a:avLst/>
              </a:prstGeom>
              <a:grpFill/>
              <a:ln w="127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03" name="Group 102"/>
            <p:cNvGrpSpPr/>
            <p:nvPr/>
          </p:nvGrpSpPr>
          <p:grpSpPr>
            <a:xfrm>
              <a:off x="9751089" y="3537627"/>
              <a:ext cx="618462" cy="257178"/>
              <a:chOff x="5274467" y="5655326"/>
              <a:chExt cx="738187" cy="307496"/>
            </a:xfrm>
            <a:solidFill>
              <a:schemeClr val="accent4">
                <a:lumMod val="40000"/>
                <a:lumOff val="60000"/>
                <a:alpha val="9000"/>
              </a:schemeClr>
            </a:solidFill>
          </p:grpSpPr>
          <p:sp>
            <p:nvSpPr>
              <p:cNvPr id="104" name="Freeform 103"/>
              <p:cNvSpPr/>
              <p:nvPr/>
            </p:nvSpPr>
            <p:spPr>
              <a:xfrm>
                <a:off x="5274467" y="5655326"/>
                <a:ext cx="738187" cy="307496"/>
              </a:xfrm>
              <a:custGeom>
                <a:avLst/>
                <a:gdLst>
                  <a:gd name="connsiteX0" fmla="*/ 0 w 759242"/>
                  <a:gd name="connsiteY0" fmla="*/ 295418 h 316144"/>
                  <a:gd name="connsiteX1" fmla="*/ 192881 w 759242"/>
                  <a:gd name="connsiteY1" fmla="*/ 212074 h 316144"/>
                  <a:gd name="connsiteX2" fmla="*/ 350044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9242"/>
                  <a:gd name="connsiteY0" fmla="*/ 295418 h 316144"/>
                  <a:gd name="connsiteX1" fmla="*/ 192881 w 759242"/>
                  <a:gd name="connsiteY1" fmla="*/ 212074 h 316144"/>
                  <a:gd name="connsiteX2" fmla="*/ 381000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3035"/>
                  <a:gd name="connsiteY0" fmla="*/ 295418 h 316966"/>
                  <a:gd name="connsiteX1" fmla="*/ 192881 w 753035"/>
                  <a:gd name="connsiteY1" fmla="*/ 212074 h 316966"/>
                  <a:gd name="connsiteX2" fmla="*/ 381000 w 753035"/>
                  <a:gd name="connsiteY2" fmla="*/ 143 h 316966"/>
                  <a:gd name="connsiteX3" fmla="*/ 545306 w 753035"/>
                  <a:gd name="connsiteY3" fmla="*/ 181118 h 316966"/>
                  <a:gd name="connsiteX4" fmla="*/ 738187 w 753035"/>
                  <a:gd name="connsiteY4" fmla="*/ 307324 h 316966"/>
                  <a:gd name="connsiteX5" fmla="*/ 731043 w 753035"/>
                  <a:gd name="connsiteY5" fmla="*/ 297800 h 316966"/>
                  <a:gd name="connsiteX0" fmla="*/ 0 w 750706"/>
                  <a:gd name="connsiteY0" fmla="*/ 295418 h 316966"/>
                  <a:gd name="connsiteX1" fmla="*/ 192881 w 750706"/>
                  <a:gd name="connsiteY1" fmla="*/ 212074 h 316966"/>
                  <a:gd name="connsiteX2" fmla="*/ 381000 w 750706"/>
                  <a:gd name="connsiteY2" fmla="*/ 143 h 316966"/>
                  <a:gd name="connsiteX3" fmla="*/ 545306 w 750706"/>
                  <a:gd name="connsiteY3" fmla="*/ 181118 h 316966"/>
                  <a:gd name="connsiteX4" fmla="*/ 738187 w 750706"/>
                  <a:gd name="connsiteY4" fmla="*/ 307324 h 316966"/>
                  <a:gd name="connsiteX5" fmla="*/ 723899 w 750706"/>
                  <a:gd name="connsiteY5" fmla="*/ 297800 h 316966"/>
                  <a:gd name="connsiteX0" fmla="*/ 0 w 738187"/>
                  <a:gd name="connsiteY0" fmla="*/ 295418 h 307324"/>
                  <a:gd name="connsiteX1" fmla="*/ 192881 w 738187"/>
                  <a:gd name="connsiteY1" fmla="*/ 212074 h 307324"/>
                  <a:gd name="connsiteX2" fmla="*/ 381000 w 738187"/>
                  <a:gd name="connsiteY2" fmla="*/ 143 h 307324"/>
                  <a:gd name="connsiteX3" fmla="*/ 545306 w 738187"/>
                  <a:gd name="connsiteY3" fmla="*/ 181118 h 307324"/>
                  <a:gd name="connsiteX4" fmla="*/ 738187 w 738187"/>
                  <a:gd name="connsiteY4" fmla="*/ 307324 h 307324"/>
                  <a:gd name="connsiteX0" fmla="*/ 0 w 738187"/>
                  <a:gd name="connsiteY0" fmla="*/ 295418 h 307496"/>
                  <a:gd name="connsiteX1" fmla="*/ 192881 w 738187"/>
                  <a:gd name="connsiteY1" fmla="*/ 212074 h 307496"/>
                  <a:gd name="connsiteX2" fmla="*/ 381000 w 738187"/>
                  <a:gd name="connsiteY2" fmla="*/ 143 h 307496"/>
                  <a:gd name="connsiteX3" fmla="*/ 545306 w 738187"/>
                  <a:gd name="connsiteY3" fmla="*/ 181118 h 307496"/>
                  <a:gd name="connsiteX4" fmla="*/ 738187 w 738187"/>
                  <a:gd name="connsiteY4" fmla="*/ 307324 h 30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187" h="307496">
                    <a:moveTo>
                      <a:pt x="0" y="295418"/>
                    </a:moveTo>
                    <a:cubicBezTo>
                      <a:pt x="67270" y="278352"/>
                      <a:pt x="129381" y="261286"/>
                      <a:pt x="192881" y="212074"/>
                    </a:cubicBezTo>
                    <a:cubicBezTo>
                      <a:pt x="256381" y="162862"/>
                      <a:pt x="322263" y="5302"/>
                      <a:pt x="381000" y="143"/>
                    </a:cubicBezTo>
                    <a:cubicBezTo>
                      <a:pt x="439738" y="-5016"/>
                      <a:pt x="485775" y="129921"/>
                      <a:pt x="545306" y="181118"/>
                    </a:cubicBezTo>
                    <a:cubicBezTo>
                      <a:pt x="604837" y="232315"/>
                      <a:pt x="701278" y="311689"/>
                      <a:pt x="738187" y="307324"/>
                    </a:cubicBezTo>
                  </a:path>
                </a:pathLst>
              </a:custGeom>
              <a:grp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cxnSp>
            <p:nvCxnSpPr>
              <p:cNvPr id="105" name="Straight Connector 104"/>
              <p:cNvCxnSpPr>
                <a:stCxn id="104" idx="0"/>
                <a:endCxn id="104" idx="4"/>
              </p:cNvCxnSpPr>
              <p:nvPr/>
            </p:nvCxnSpPr>
            <p:spPr>
              <a:xfrm>
                <a:off x="5274467" y="5950744"/>
                <a:ext cx="738187" cy="11906"/>
              </a:xfrm>
              <a:prstGeom prst="line">
                <a:avLst/>
              </a:prstGeom>
              <a:grpFill/>
              <a:ln w="127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06" name="Group 105"/>
            <p:cNvGrpSpPr/>
            <p:nvPr/>
          </p:nvGrpSpPr>
          <p:grpSpPr>
            <a:xfrm>
              <a:off x="11130910" y="3527525"/>
              <a:ext cx="618462" cy="257178"/>
              <a:chOff x="5274467" y="5655326"/>
              <a:chExt cx="738187" cy="307496"/>
            </a:xfrm>
            <a:solidFill>
              <a:schemeClr val="accent4">
                <a:lumMod val="40000"/>
                <a:lumOff val="60000"/>
                <a:alpha val="9000"/>
              </a:schemeClr>
            </a:solidFill>
          </p:grpSpPr>
          <p:sp>
            <p:nvSpPr>
              <p:cNvPr id="107" name="Freeform 106"/>
              <p:cNvSpPr/>
              <p:nvPr/>
            </p:nvSpPr>
            <p:spPr>
              <a:xfrm>
                <a:off x="5274467" y="5655326"/>
                <a:ext cx="738187" cy="307496"/>
              </a:xfrm>
              <a:custGeom>
                <a:avLst/>
                <a:gdLst>
                  <a:gd name="connsiteX0" fmla="*/ 0 w 759242"/>
                  <a:gd name="connsiteY0" fmla="*/ 295418 h 316144"/>
                  <a:gd name="connsiteX1" fmla="*/ 192881 w 759242"/>
                  <a:gd name="connsiteY1" fmla="*/ 212074 h 316144"/>
                  <a:gd name="connsiteX2" fmla="*/ 350044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9242"/>
                  <a:gd name="connsiteY0" fmla="*/ 295418 h 316144"/>
                  <a:gd name="connsiteX1" fmla="*/ 192881 w 759242"/>
                  <a:gd name="connsiteY1" fmla="*/ 212074 h 316144"/>
                  <a:gd name="connsiteX2" fmla="*/ 381000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3035"/>
                  <a:gd name="connsiteY0" fmla="*/ 295418 h 316966"/>
                  <a:gd name="connsiteX1" fmla="*/ 192881 w 753035"/>
                  <a:gd name="connsiteY1" fmla="*/ 212074 h 316966"/>
                  <a:gd name="connsiteX2" fmla="*/ 381000 w 753035"/>
                  <a:gd name="connsiteY2" fmla="*/ 143 h 316966"/>
                  <a:gd name="connsiteX3" fmla="*/ 545306 w 753035"/>
                  <a:gd name="connsiteY3" fmla="*/ 181118 h 316966"/>
                  <a:gd name="connsiteX4" fmla="*/ 738187 w 753035"/>
                  <a:gd name="connsiteY4" fmla="*/ 307324 h 316966"/>
                  <a:gd name="connsiteX5" fmla="*/ 731043 w 753035"/>
                  <a:gd name="connsiteY5" fmla="*/ 297800 h 316966"/>
                  <a:gd name="connsiteX0" fmla="*/ 0 w 750706"/>
                  <a:gd name="connsiteY0" fmla="*/ 295418 h 316966"/>
                  <a:gd name="connsiteX1" fmla="*/ 192881 w 750706"/>
                  <a:gd name="connsiteY1" fmla="*/ 212074 h 316966"/>
                  <a:gd name="connsiteX2" fmla="*/ 381000 w 750706"/>
                  <a:gd name="connsiteY2" fmla="*/ 143 h 316966"/>
                  <a:gd name="connsiteX3" fmla="*/ 545306 w 750706"/>
                  <a:gd name="connsiteY3" fmla="*/ 181118 h 316966"/>
                  <a:gd name="connsiteX4" fmla="*/ 738187 w 750706"/>
                  <a:gd name="connsiteY4" fmla="*/ 307324 h 316966"/>
                  <a:gd name="connsiteX5" fmla="*/ 723899 w 750706"/>
                  <a:gd name="connsiteY5" fmla="*/ 297800 h 316966"/>
                  <a:gd name="connsiteX0" fmla="*/ 0 w 738187"/>
                  <a:gd name="connsiteY0" fmla="*/ 295418 h 307324"/>
                  <a:gd name="connsiteX1" fmla="*/ 192881 w 738187"/>
                  <a:gd name="connsiteY1" fmla="*/ 212074 h 307324"/>
                  <a:gd name="connsiteX2" fmla="*/ 381000 w 738187"/>
                  <a:gd name="connsiteY2" fmla="*/ 143 h 307324"/>
                  <a:gd name="connsiteX3" fmla="*/ 545306 w 738187"/>
                  <a:gd name="connsiteY3" fmla="*/ 181118 h 307324"/>
                  <a:gd name="connsiteX4" fmla="*/ 738187 w 738187"/>
                  <a:gd name="connsiteY4" fmla="*/ 307324 h 307324"/>
                  <a:gd name="connsiteX0" fmla="*/ 0 w 738187"/>
                  <a:gd name="connsiteY0" fmla="*/ 295418 h 307496"/>
                  <a:gd name="connsiteX1" fmla="*/ 192881 w 738187"/>
                  <a:gd name="connsiteY1" fmla="*/ 212074 h 307496"/>
                  <a:gd name="connsiteX2" fmla="*/ 381000 w 738187"/>
                  <a:gd name="connsiteY2" fmla="*/ 143 h 307496"/>
                  <a:gd name="connsiteX3" fmla="*/ 545306 w 738187"/>
                  <a:gd name="connsiteY3" fmla="*/ 181118 h 307496"/>
                  <a:gd name="connsiteX4" fmla="*/ 738187 w 738187"/>
                  <a:gd name="connsiteY4" fmla="*/ 307324 h 30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187" h="307496">
                    <a:moveTo>
                      <a:pt x="0" y="295418"/>
                    </a:moveTo>
                    <a:cubicBezTo>
                      <a:pt x="67270" y="278352"/>
                      <a:pt x="129381" y="261286"/>
                      <a:pt x="192881" y="212074"/>
                    </a:cubicBezTo>
                    <a:cubicBezTo>
                      <a:pt x="256381" y="162862"/>
                      <a:pt x="322263" y="5302"/>
                      <a:pt x="381000" y="143"/>
                    </a:cubicBezTo>
                    <a:cubicBezTo>
                      <a:pt x="439738" y="-5016"/>
                      <a:pt x="485775" y="129921"/>
                      <a:pt x="545306" y="181118"/>
                    </a:cubicBezTo>
                    <a:cubicBezTo>
                      <a:pt x="604837" y="232315"/>
                      <a:pt x="701278" y="311689"/>
                      <a:pt x="738187" y="307324"/>
                    </a:cubicBezTo>
                  </a:path>
                </a:pathLst>
              </a:custGeom>
              <a:grp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cxnSp>
            <p:nvCxnSpPr>
              <p:cNvPr id="108" name="Straight Connector 107"/>
              <p:cNvCxnSpPr>
                <a:stCxn id="107" idx="0"/>
                <a:endCxn id="107" idx="4"/>
              </p:cNvCxnSpPr>
              <p:nvPr/>
            </p:nvCxnSpPr>
            <p:spPr>
              <a:xfrm>
                <a:off x="5274467" y="5950744"/>
                <a:ext cx="738187" cy="11906"/>
              </a:xfrm>
              <a:prstGeom prst="line">
                <a:avLst/>
              </a:prstGeom>
              <a:grpFill/>
              <a:ln w="127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09" name="Group 108"/>
            <p:cNvGrpSpPr/>
            <p:nvPr/>
          </p:nvGrpSpPr>
          <p:grpSpPr>
            <a:xfrm>
              <a:off x="10441198" y="3543407"/>
              <a:ext cx="618462" cy="257178"/>
              <a:chOff x="5274467" y="5655326"/>
              <a:chExt cx="738187" cy="307496"/>
            </a:xfrm>
            <a:solidFill>
              <a:schemeClr val="accent4">
                <a:lumMod val="40000"/>
                <a:lumOff val="60000"/>
                <a:alpha val="9000"/>
              </a:schemeClr>
            </a:solidFill>
          </p:grpSpPr>
          <p:sp>
            <p:nvSpPr>
              <p:cNvPr id="110" name="Freeform 109"/>
              <p:cNvSpPr/>
              <p:nvPr/>
            </p:nvSpPr>
            <p:spPr>
              <a:xfrm>
                <a:off x="5274467" y="5655326"/>
                <a:ext cx="738187" cy="307496"/>
              </a:xfrm>
              <a:custGeom>
                <a:avLst/>
                <a:gdLst>
                  <a:gd name="connsiteX0" fmla="*/ 0 w 759242"/>
                  <a:gd name="connsiteY0" fmla="*/ 295418 h 316144"/>
                  <a:gd name="connsiteX1" fmla="*/ 192881 w 759242"/>
                  <a:gd name="connsiteY1" fmla="*/ 212074 h 316144"/>
                  <a:gd name="connsiteX2" fmla="*/ 350044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9242"/>
                  <a:gd name="connsiteY0" fmla="*/ 295418 h 316144"/>
                  <a:gd name="connsiteX1" fmla="*/ 192881 w 759242"/>
                  <a:gd name="connsiteY1" fmla="*/ 212074 h 316144"/>
                  <a:gd name="connsiteX2" fmla="*/ 381000 w 759242"/>
                  <a:gd name="connsiteY2" fmla="*/ 143 h 316144"/>
                  <a:gd name="connsiteX3" fmla="*/ 545306 w 759242"/>
                  <a:gd name="connsiteY3" fmla="*/ 181118 h 316144"/>
                  <a:gd name="connsiteX4" fmla="*/ 738187 w 759242"/>
                  <a:gd name="connsiteY4" fmla="*/ 307324 h 316144"/>
                  <a:gd name="connsiteX5" fmla="*/ 745331 w 759242"/>
                  <a:gd name="connsiteY5" fmla="*/ 295418 h 316144"/>
                  <a:gd name="connsiteX0" fmla="*/ 0 w 753035"/>
                  <a:gd name="connsiteY0" fmla="*/ 295418 h 316966"/>
                  <a:gd name="connsiteX1" fmla="*/ 192881 w 753035"/>
                  <a:gd name="connsiteY1" fmla="*/ 212074 h 316966"/>
                  <a:gd name="connsiteX2" fmla="*/ 381000 w 753035"/>
                  <a:gd name="connsiteY2" fmla="*/ 143 h 316966"/>
                  <a:gd name="connsiteX3" fmla="*/ 545306 w 753035"/>
                  <a:gd name="connsiteY3" fmla="*/ 181118 h 316966"/>
                  <a:gd name="connsiteX4" fmla="*/ 738187 w 753035"/>
                  <a:gd name="connsiteY4" fmla="*/ 307324 h 316966"/>
                  <a:gd name="connsiteX5" fmla="*/ 731043 w 753035"/>
                  <a:gd name="connsiteY5" fmla="*/ 297800 h 316966"/>
                  <a:gd name="connsiteX0" fmla="*/ 0 w 750706"/>
                  <a:gd name="connsiteY0" fmla="*/ 295418 h 316966"/>
                  <a:gd name="connsiteX1" fmla="*/ 192881 w 750706"/>
                  <a:gd name="connsiteY1" fmla="*/ 212074 h 316966"/>
                  <a:gd name="connsiteX2" fmla="*/ 381000 w 750706"/>
                  <a:gd name="connsiteY2" fmla="*/ 143 h 316966"/>
                  <a:gd name="connsiteX3" fmla="*/ 545306 w 750706"/>
                  <a:gd name="connsiteY3" fmla="*/ 181118 h 316966"/>
                  <a:gd name="connsiteX4" fmla="*/ 738187 w 750706"/>
                  <a:gd name="connsiteY4" fmla="*/ 307324 h 316966"/>
                  <a:gd name="connsiteX5" fmla="*/ 723899 w 750706"/>
                  <a:gd name="connsiteY5" fmla="*/ 297800 h 316966"/>
                  <a:gd name="connsiteX0" fmla="*/ 0 w 738187"/>
                  <a:gd name="connsiteY0" fmla="*/ 295418 h 307324"/>
                  <a:gd name="connsiteX1" fmla="*/ 192881 w 738187"/>
                  <a:gd name="connsiteY1" fmla="*/ 212074 h 307324"/>
                  <a:gd name="connsiteX2" fmla="*/ 381000 w 738187"/>
                  <a:gd name="connsiteY2" fmla="*/ 143 h 307324"/>
                  <a:gd name="connsiteX3" fmla="*/ 545306 w 738187"/>
                  <a:gd name="connsiteY3" fmla="*/ 181118 h 307324"/>
                  <a:gd name="connsiteX4" fmla="*/ 738187 w 738187"/>
                  <a:gd name="connsiteY4" fmla="*/ 307324 h 307324"/>
                  <a:gd name="connsiteX0" fmla="*/ 0 w 738187"/>
                  <a:gd name="connsiteY0" fmla="*/ 295418 h 307496"/>
                  <a:gd name="connsiteX1" fmla="*/ 192881 w 738187"/>
                  <a:gd name="connsiteY1" fmla="*/ 212074 h 307496"/>
                  <a:gd name="connsiteX2" fmla="*/ 381000 w 738187"/>
                  <a:gd name="connsiteY2" fmla="*/ 143 h 307496"/>
                  <a:gd name="connsiteX3" fmla="*/ 545306 w 738187"/>
                  <a:gd name="connsiteY3" fmla="*/ 181118 h 307496"/>
                  <a:gd name="connsiteX4" fmla="*/ 738187 w 738187"/>
                  <a:gd name="connsiteY4" fmla="*/ 307324 h 30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187" h="307496">
                    <a:moveTo>
                      <a:pt x="0" y="295418"/>
                    </a:moveTo>
                    <a:cubicBezTo>
                      <a:pt x="67270" y="278352"/>
                      <a:pt x="129381" y="261286"/>
                      <a:pt x="192881" y="212074"/>
                    </a:cubicBezTo>
                    <a:cubicBezTo>
                      <a:pt x="256381" y="162862"/>
                      <a:pt x="322263" y="5302"/>
                      <a:pt x="381000" y="143"/>
                    </a:cubicBezTo>
                    <a:cubicBezTo>
                      <a:pt x="439738" y="-5016"/>
                      <a:pt x="485775" y="129921"/>
                      <a:pt x="545306" y="181118"/>
                    </a:cubicBezTo>
                    <a:cubicBezTo>
                      <a:pt x="604837" y="232315"/>
                      <a:pt x="701278" y="311689"/>
                      <a:pt x="738187" y="307324"/>
                    </a:cubicBezTo>
                  </a:path>
                </a:pathLst>
              </a:custGeom>
              <a:grp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cxnSp>
            <p:nvCxnSpPr>
              <p:cNvPr id="111" name="Straight Connector 110"/>
              <p:cNvCxnSpPr>
                <a:stCxn id="110" idx="0"/>
                <a:endCxn id="110" idx="4"/>
              </p:cNvCxnSpPr>
              <p:nvPr/>
            </p:nvCxnSpPr>
            <p:spPr>
              <a:xfrm>
                <a:off x="5274467" y="5950744"/>
                <a:ext cx="738187" cy="11906"/>
              </a:xfrm>
              <a:prstGeom prst="line">
                <a:avLst/>
              </a:prstGeom>
              <a:grpFill/>
              <a:ln w="12700">
                <a:solidFill>
                  <a:srgbClr val="00B050"/>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D54E6-AB23-4D02-BF33-D00498F160FD}"/>
              </a:ext>
            </a:extLst>
          </p:cNvPr>
          <p:cNvSpPr>
            <a:spLocks noGrp="1"/>
          </p:cNvSpPr>
          <p:nvPr>
            <p:ph type="title"/>
          </p:nvPr>
        </p:nvSpPr>
        <p:spPr/>
        <p:txBody>
          <a:bodyPr>
            <a:normAutofit/>
          </a:bodyPr>
          <a:lstStyle/>
          <a:p>
            <a:r>
              <a:rPr lang="en-US" sz="3600" dirty="0">
                <a:solidFill>
                  <a:schemeClr val="tx1"/>
                </a:solidFill>
                <a:latin typeface="Century" panose="02040604050505020304" pitchFamily="18" charset="0"/>
              </a:rPr>
              <a:t>Evidence Lower Bound (ELBO)</a:t>
            </a:r>
            <a:endParaRPr lang="en-IN" sz="3600" dirty="0">
              <a:latin typeface="Century" panose="02040604050505020304" pitchFamily="18" charset="0"/>
            </a:endParaRP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3D3536AF-E069-4795-9AFA-7214854B4316}"/>
                  </a:ext>
                </a:extLst>
              </p:cNvPr>
              <p:cNvSpPr>
                <a:spLocks noGrp="1"/>
              </p:cNvSpPr>
              <p:nvPr>
                <p:ph type="body" idx="1"/>
              </p:nvPr>
            </p:nvSpPr>
            <p:spPr>
              <a:xfrm>
                <a:off x="838200" y="1439126"/>
                <a:ext cx="10515600" cy="5310466"/>
              </a:xfrm>
            </p:spPr>
            <p:txBody>
              <a:bodyPr>
                <a:normAutofit lnSpcReduction="10000"/>
              </a:bodyPr>
              <a:lstStyle/>
              <a:p>
                <a:r>
                  <a:rPr lang="en-US" sz="2400" dirty="0">
                    <a:latin typeface="Arial Narrow" panose="020B0606020202030204" pitchFamily="34" charset="0"/>
                  </a:rPr>
                  <a:t>Ideally, we would train the model by maximizing the log-likelihood:</a:t>
                </a:r>
              </a:p>
              <a:p>
                <a:endParaRPr lang="en-US" sz="2400" dirty="0">
                  <a:latin typeface="Arial Narrow" panose="020B0606020202030204" pitchFamily="34" charset="0"/>
                </a:endParaRPr>
              </a:p>
              <a:p>
                <a:pPr marL="114300" indent="0">
                  <a:buNone/>
                </a:pPr>
                <a14:m>
                  <m:oMathPara xmlns:m="http://schemas.openxmlformats.org/officeDocument/2006/math">
                    <m:oMathParaPr>
                      <m:jc m:val="centerGroup"/>
                    </m:oMathParaPr>
                    <m:oMath xmlns:m="http://schemas.openxmlformats.org/officeDocument/2006/math">
                      <m:func>
                        <m:funcPr>
                          <m:ctrlPr>
                            <a:rPr lang="en-IN" sz="2400" i="1" smtClean="0">
                              <a:solidFill>
                                <a:srgbClr val="7030A0"/>
                              </a:solidFill>
                              <a:latin typeface="Cambria Math" panose="02040503050406030204" pitchFamily="18" charset="0"/>
                            </a:rPr>
                          </m:ctrlPr>
                        </m:funcPr>
                        <m:fName>
                          <m:r>
                            <m:rPr>
                              <m:sty m:val="p"/>
                            </m:rPr>
                            <a:rPr lang="en-IN" sz="2400">
                              <a:solidFill>
                                <a:srgbClr val="7030A0"/>
                              </a:solidFill>
                              <a:latin typeface="Cambria Math" panose="02040503050406030204" pitchFamily="18" charset="0"/>
                            </a:rPr>
                            <m:t>log</m:t>
                          </m:r>
                        </m:fName>
                        <m:e>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r>
                            <a:rPr lang="en-IN" sz="2400" i="1">
                              <a:solidFill>
                                <a:srgbClr val="7030A0"/>
                              </a:solidFill>
                              <a:latin typeface="Cambria Math" panose="02040503050406030204" pitchFamily="18" charset="0"/>
                            </a:rPr>
                            <m:t>(</m:t>
                          </m:r>
                          <m:r>
                            <a:rPr lang="en-IN" sz="2400" i="1">
                              <a:solidFill>
                                <a:srgbClr val="7030A0"/>
                              </a:solidFill>
                              <a:latin typeface="Cambria Math" panose="02040503050406030204" pitchFamily="18" charset="0"/>
                            </a:rPr>
                            <m:t>𝑥</m:t>
                          </m:r>
                          <m:r>
                            <a:rPr lang="en-IN" sz="2400" i="1">
                              <a:solidFill>
                                <a:srgbClr val="7030A0"/>
                              </a:solidFill>
                              <a:latin typeface="Cambria Math" panose="02040503050406030204" pitchFamily="18" charset="0"/>
                            </a:rPr>
                            <m:t>)</m:t>
                          </m:r>
                        </m:e>
                      </m:func>
                    </m:oMath>
                  </m:oMathPara>
                </a14:m>
                <a:endParaRPr lang="en-IN" sz="2400" dirty="0">
                  <a:latin typeface="Arial Narrow" panose="020B0606020202030204" pitchFamily="34" charset="0"/>
                </a:endParaRPr>
              </a:p>
              <a:p>
                <a:pPr marL="114300" indent="0">
                  <a:buNone/>
                </a:pPr>
                <a:endParaRPr lang="en-IN" sz="2400" dirty="0">
                  <a:latin typeface="Arial Narrow" panose="020B0606020202030204" pitchFamily="34" charset="0"/>
                </a:endParaRPr>
              </a:p>
              <a:p>
                <a:r>
                  <a:rPr lang="en-IN" sz="2400" dirty="0">
                    <a:latin typeface="Arial Narrow" panose="020B0606020202030204" pitchFamily="34" charset="0"/>
                  </a:rPr>
                  <a:t>Now,                               </a:t>
                </a:r>
                <a14:m>
                  <m:oMath xmlns:m="http://schemas.openxmlformats.org/officeDocument/2006/math">
                    <m:func>
                      <m:funcPr>
                        <m:ctrlPr>
                          <a:rPr lang="en-IN" sz="2400" i="1" smtClean="0">
                            <a:solidFill>
                              <a:srgbClr val="7030A0"/>
                            </a:solidFill>
                            <a:latin typeface="Cambria Math" panose="02040503050406030204" pitchFamily="18" charset="0"/>
                          </a:rPr>
                        </m:ctrlPr>
                      </m:funcPr>
                      <m:fName>
                        <m:r>
                          <m:rPr>
                            <m:sty m:val="p"/>
                          </m:rPr>
                          <a:rPr lang="en-IN" sz="2400">
                            <a:solidFill>
                              <a:srgbClr val="7030A0"/>
                            </a:solidFill>
                            <a:latin typeface="Cambria Math" panose="02040503050406030204" pitchFamily="18" charset="0"/>
                          </a:rPr>
                          <m:t>log</m:t>
                        </m:r>
                      </m:fName>
                      <m:e>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r>
                          <a:rPr lang="en-IN" sz="2400" i="1">
                            <a:solidFill>
                              <a:srgbClr val="7030A0"/>
                            </a:solidFill>
                            <a:latin typeface="Cambria Math" panose="02040503050406030204" pitchFamily="18" charset="0"/>
                          </a:rPr>
                          <m:t>(</m:t>
                        </m:r>
                        <m:r>
                          <a:rPr lang="en-IN" sz="2400" i="1">
                            <a:solidFill>
                              <a:srgbClr val="7030A0"/>
                            </a:solidFill>
                            <a:latin typeface="Cambria Math" panose="02040503050406030204" pitchFamily="18" charset="0"/>
                          </a:rPr>
                          <m:t>𝑥</m:t>
                        </m:r>
                        <m:r>
                          <a:rPr lang="en-IN" sz="2400" i="1">
                            <a:solidFill>
                              <a:srgbClr val="7030A0"/>
                            </a:solidFill>
                            <a:latin typeface="Cambria Math" panose="02040503050406030204" pitchFamily="18" charset="0"/>
                          </a:rPr>
                          <m:t>)</m:t>
                        </m:r>
                      </m:e>
                    </m:func>
                    <m:r>
                      <a:rPr lang="en-IN" sz="2400" i="1">
                        <a:solidFill>
                          <a:srgbClr val="7030A0"/>
                        </a:solidFill>
                        <a:latin typeface="Cambria Math" panose="02040503050406030204" pitchFamily="18" charset="0"/>
                      </a:rPr>
                      <m:t>=</m:t>
                    </m:r>
                    <m:func>
                      <m:funcPr>
                        <m:ctrlPr>
                          <a:rPr lang="en-IN" sz="2400" i="1">
                            <a:solidFill>
                              <a:srgbClr val="7030A0"/>
                            </a:solidFill>
                            <a:latin typeface="Cambria Math" panose="02040503050406030204" pitchFamily="18" charset="0"/>
                          </a:rPr>
                        </m:ctrlPr>
                      </m:funcPr>
                      <m:fName>
                        <m:r>
                          <m:rPr>
                            <m:sty m:val="p"/>
                          </m:rPr>
                          <a:rPr lang="en-IN" sz="2400">
                            <a:solidFill>
                              <a:srgbClr val="7030A0"/>
                            </a:solidFill>
                            <a:latin typeface="Cambria Math" panose="02040503050406030204" pitchFamily="18" charset="0"/>
                          </a:rPr>
                          <m:t>log</m:t>
                        </m:r>
                      </m:fName>
                      <m:e>
                        <m:nary>
                          <m:naryPr>
                            <m:limLoc m:val="undOvr"/>
                            <m:subHide m:val="on"/>
                            <m:supHide m:val="on"/>
                            <m:ctrlPr>
                              <a:rPr lang="en-IN" sz="2400" i="1">
                                <a:solidFill>
                                  <a:srgbClr val="7030A0"/>
                                </a:solidFill>
                                <a:latin typeface="Cambria Math" panose="02040503050406030204" pitchFamily="18" charset="0"/>
                              </a:rPr>
                            </m:ctrlPr>
                          </m:naryPr>
                          <m:sub/>
                          <m:sup/>
                          <m:e>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GB" sz="2400" b="0" i="1" smtClean="0">
                                    <a:solidFill>
                                      <a:srgbClr val="7030A0"/>
                                    </a:solidFill>
                                    <a:latin typeface="Cambria Math" panose="02040503050406030204" pitchFamily="18" charset="0"/>
                                    <a:ea typeface="Cambria Math" panose="02040503050406030204" pitchFamily="18" charset="0"/>
                                  </a:rPr>
                                </m:ctrlPr>
                              </m:dPr>
                              <m:e>
                                <m:r>
                                  <a:rPr lang="en-GB" sz="2400" b="0" i="1" smtClean="0">
                                    <a:solidFill>
                                      <a:srgbClr val="7030A0"/>
                                    </a:solidFill>
                                    <a:latin typeface="Cambria Math" panose="02040503050406030204" pitchFamily="18" charset="0"/>
                                  </a:rPr>
                                  <m:t>𝑥</m:t>
                                </m:r>
                                <m:r>
                                  <a:rPr lang="en-GB" sz="2400" b="0" i="1" smtClean="0">
                                    <a:solidFill>
                                      <a:srgbClr val="7030A0"/>
                                    </a:solidFill>
                                    <a:latin typeface="Cambria Math" panose="02040503050406030204" pitchFamily="18" charset="0"/>
                                  </a:rPr>
                                  <m:t>,</m:t>
                                </m:r>
                                <m:r>
                                  <a:rPr lang="en-GB" sz="2400" b="0" i="1" smtClean="0">
                                    <a:solidFill>
                                      <a:srgbClr val="7030A0"/>
                                    </a:solidFill>
                                    <a:latin typeface="Cambria Math" panose="02040503050406030204" pitchFamily="18" charset="0"/>
                                  </a:rPr>
                                  <m:t>𝑧</m:t>
                                </m:r>
                              </m:e>
                            </m:d>
                            <m:r>
                              <a:rPr lang="en-GB" sz="2400" b="0" i="1" smtClean="0">
                                <a:solidFill>
                                  <a:srgbClr val="7030A0"/>
                                </a:solidFill>
                                <a:latin typeface="Cambria Math" panose="02040503050406030204" pitchFamily="18" charset="0"/>
                              </a:rPr>
                              <m:t> </m:t>
                            </m:r>
                            <m:r>
                              <a:rPr lang="en-GB" sz="2400" b="0" i="1" smtClean="0">
                                <a:solidFill>
                                  <a:srgbClr val="7030A0"/>
                                </a:solidFill>
                                <a:latin typeface="Cambria Math" panose="02040503050406030204" pitchFamily="18" charset="0"/>
                              </a:rPr>
                              <m:t>𝑑𝑧</m:t>
                            </m:r>
                            <m:r>
                              <m:rPr>
                                <m:nor/>
                              </m:rPr>
                              <a:rPr lang="en-IN" sz="2400" dirty="0">
                                <a:solidFill>
                                  <a:srgbClr val="7030A0"/>
                                </a:solidFill>
                                <a:latin typeface="Arial Narrow" panose="020B0606020202030204" pitchFamily="34" charset="0"/>
                              </a:rPr>
                              <m:t> </m:t>
                            </m:r>
                          </m:e>
                        </m:nary>
                      </m:e>
                    </m:func>
                  </m:oMath>
                </a14:m>
                <a:r>
                  <a:rPr lang="en-IN" sz="2400" dirty="0">
                    <a:latin typeface="Arial Narrow" panose="020B0606020202030204" pitchFamily="34" charset="0"/>
                  </a:rPr>
                  <a:t>                     -- (1)</a:t>
                </a:r>
              </a:p>
              <a:p>
                <a:endParaRPr lang="en-IN" sz="2400" dirty="0">
                  <a:latin typeface="Arial Narrow" panose="020B0606020202030204" pitchFamily="34" charset="0"/>
                </a:endParaRPr>
              </a:p>
              <a:p>
                <a:r>
                  <a:rPr lang="en-IN" sz="2400" dirty="0">
                    <a:latin typeface="Arial Narrow" panose="020B0606020202030204" pitchFamily="34" charset="0"/>
                  </a:rPr>
                  <a:t>Since, </a:t>
                </a:r>
                <a14:m>
                  <m:oMath xmlns:m="http://schemas.openxmlformats.org/officeDocument/2006/math">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𝑞</m:t>
                        </m:r>
                      </m:e>
                      <m:sub>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𝑧</m:t>
                    </m:r>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𝑥</m:t>
                    </m:r>
                    <m:r>
                      <a:rPr lang="en-IN" sz="2400" i="1">
                        <a:solidFill>
                          <a:srgbClr val="7030A0"/>
                        </a:solidFill>
                        <a:latin typeface="Cambria Math" panose="02040503050406030204" pitchFamily="18" charset="0"/>
                        <a:cs typeface="Times New Roman" panose="02020603050405020304" pitchFamily="18" charset="0"/>
                      </a:rPr>
                      <m:t>)</m:t>
                    </m:r>
                  </m:oMath>
                </a14:m>
                <a:r>
                  <a:rPr lang="en-IN" sz="2400" dirty="0">
                    <a:latin typeface="Arial Narrow" panose="020B0606020202030204" pitchFamily="34" charset="0"/>
                  </a:rPr>
                  <a:t> is a probability distribution Eq. (1) can be written as</a:t>
                </a:r>
              </a:p>
              <a:p>
                <a:pPr marL="114300" indent="0">
                  <a:buNone/>
                </a:pPr>
                <a:r>
                  <a:rPr lang="en-IN" sz="2400" dirty="0"/>
                  <a:t>                                                      </a:t>
                </a:r>
                <a14:m>
                  <m:oMath xmlns:m="http://schemas.openxmlformats.org/officeDocument/2006/math">
                    <m:func>
                      <m:funcPr>
                        <m:ctrlPr>
                          <a:rPr lang="en-IN" sz="2400" i="1" smtClean="0">
                            <a:solidFill>
                              <a:srgbClr val="7030A0"/>
                            </a:solidFill>
                            <a:latin typeface="Cambria Math" panose="02040503050406030204" pitchFamily="18" charset="0"/>
                          </a:rPr>
                        </m:ctrlPr>
                      </m:funcPr>
                      <m:fName>
                        <m:r>
                          <m:rPr>
                            <m:sty m:val="p"/>
                          </m:rPr>
                          <a:rPr lang="en-IN" sz="2400">
                            <a:solidFill>
                              <a:srgbClr val="7030A0"/>
                            </a:solidFill>
                            <a:latin typeface="Cambria Math" panose="02040503050406030204" pitchFamily="18" charset="0"/>
                          </a:rPr>
                          <m:t>log</m:t>
                        </m:r>
                      </m:fName>
                      <m:e>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r>
                          <a:rPr lang="en-IN" sz="2400" i="1">
                            <a:solidFill>
                              <a:srgbClr val="7030A0"/>
                            </a:solidFill>
                            <a:latin typeface="Cambria Math" panose="02040503050406030204" pitchFamily="18" charset="0"/>
                          </a:rPr>
                          <m:t>(</m:t>
                        </m:r>
                        <m:r>
                          <a:rPr lang="en-IN" sz="2400" i="1">
                            <a:solidFill>
                              <a:srgbClr val="7030A0"/>
                            </a:solidFill>
                            <a:latin typeface="Cambria Math" panose="02040503050406030204" pitchFamily="18" charset="0"/>
                          </a:rPr>
                          <m:t>𝑥</m:t>
                        </m:r>
                        <m:r>
                          <a:rPr lang="en-IN" sz="2400" i="1">
                            <a:solidFill>
                              <a:srgbClr val="7030A0"/>
                            </a:solidFill>
                            <a:latin typeface="Cambria Math" panose="02040503050406030204" pitchFamily="18" charset="0"/>
                          </a:rPr>
                          <m:t>)</m:t>
                        </m:r>
                      </m:e>
                    </m:func>
                    <m:r>
                      <a:rPr lang="en-IN" sz="2400" i="1">
                        <a:solidFill>
                          <a:srgbClr val="7030A0"/>
                        </a:solidFill>
                        <a:latin typeface="Cambria Math" panose="02040503050406030204" pitchFamily="18" charset="0"/>
                      </a:rPr>
                      <m:t>=</m:t>
                    </m:r>
                    <m:func>
                      <m:funcPr>
                        <m:ctrlPr>
                          <a:rPr lang="en-GB" sz="2400" b="0" i="1" smtClean="0">
                            <a:solidFill>
                              <a:srgbClr val="7030A0"/>
                            </a:solidFill>
                            <a:latin typeface="Cambria Math" panose="02040503050406030204" pitchFamily="18" charset="0"/>
                          </a:rPr>
                        </m:ctrlPr>
                      </m:funcPr>
                      <m:fName>
                        <m:r>
                          <m:rPr>
                            <m:sty m:val="p"/>
                          </m:rPr>
                          <a:rPr lang="en-GB" sz="2400" b="0" i="0" smtClean="0">
                            <a:solidFill>
                              <a:srgbClr val="7030A0"/>
                            </a:solidFill>
                            <a:latin typeface="Cambria Math" panose="02040503050406030204" pitchFamily="18" charset="0"/>
                          </a:rPr>
                          <m:t>log</m:t>
                        </m:r>
                      </m:fName>
                      <m:e>
                        <m:nary>
                          <m:naryPr>
                            <m:limLoc m:val="undOvr"/>
                            <m:subHide m:val="on"/>
                            <m:supHide m:val="on"/>
                            <m:ctrlPr>
                              <a:rPr lang="en-GB" sz="2400" b="0" i="1" smtClean="0">
                                <a:solidFill>
                                  <a:srgbClr val="7030A0"/>
                                </a:solidFill>
                                <a:latin typeface="Cambria Math" panose="02040503050406030204" pitchFamily="18" charset="0"/>
                              </a:rPr>
                            </m:ctrlPr>
                          </m:naryPr>
                          <m:sub/>
                          <m:sup/>
                          <m:e>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𝑞</m:t>
                                </m:r>
                              </m:e>
                              <m:sub>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𝑧</m:t>
                            </m:r>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𝑥</m:t>
                            </m:r>
                            <m:r>
                              <a:rPr lang="en-IN" sz="2400" i="1">
                                <a:solidFill>
                                  <a:srgbClr val="7030A0"/>
                                </a:solidFill>
                                <a:latin typeface="Cambria Math" panose="02040503050406030204" pitchFamily="18" charset="0"/>
                                <a:cs typeface="Times New Roman" panose="02020603050405020304" pitchFamily="18" charset="0"/>
                              </a:rPr>
                              <m:t>)</m:t>
                            </m:r>
                            <m:f>
                              <m:fPr>
                                <m:ctrlPr>
                                  <a:rPr lang="en-IN" sz="2400" i="1">
                                    <a:solidFill>
                                      <a:srgbClr val="7030A0"/>
                                    </a:solidFill>
                                    <a:latin typeface="Cambria Math" panose="02040503050406030204" pitchFamily="18" charset="0"/>
                                    <a:cs typeface="Times New Roman" panose="02020603050405020304" pitchFamily="18" charset="0"/>
                                  </a:rPr>
                                </m:ctrlPr>
                              </m:fPr>
                              <m:num>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r>
                                  <a:rPr lang="en-IN" sz="2400" i="1">
                                    <a:solidFill>
                                      <a:srgbClr val="7030A0"/>
                                    </a:solidFill>
                                    <a:latin typeface="Cambria Math" panose="02040503050406030204" pitchFamily="18" charset="0"/>
                                    <a:ea typeface="Cambria Math" panose="02040503050406030204" pitchFamily="18" charset="0"/>
                                  </a:rPr>
                                  <m:t>(</m:t>
                                </m:r>
                                <m:r>
                                  <a:rPr lang="en-IN" sz="2400" i="1">
                                    <a:solidFill>
                                      <a:srgbClr val="7030A0"/>
                                    </a:solidFill>
                                    <a:latin typeface="Cambria Math" panose="02040503050406030204" pitchFamily="18" charset="0"/>
                                    <a:ea typeface="Cambria Math" panose="02040503050406030204" pitchFamily="18" charset="0"/>
                                  </a:rPr>
                                  <m:t>𝑥</m:t>
                                </m:r>
                                <m:r>
                                  <a:rPr lang="en-IN" sz="2400" i="1">
                                    <a:solidFill>
                                      <a:srgbClr val="7030A0"/>
                                    </a:solidFill>
                                    <a:latin typeface="Cambria Math" panose="02040503050406030204" pitchFamily="18" charset="0"/>
                                    <a:ea typeface="Cambria Math" panose="02040503050406030204" pitchFamily="18" charset="0"/>
                                  </a:rPr>
                                  <m:t>,</m:t>
                                </m:r>
                                <m:r>
                                  <a:rPr lang="en-IN" sz="2400" i="1">
                                    <a:solidFill>
                                      <a:srgbClr val="7030A0"/>
                                    </a:solidFill>
                                    <a:latin typeface="Cambria Math" panose="02040503050406030204" pitchFamily="18" charset="0"/>
                                    <a:ea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num>
                              <m:den>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𝑞</m:t>
                                    </m:r>
                                  </m:e>
                                  <m:sub>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𝑧</m:t>
                                </m:r>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𝑥</m:t>
                                </m:r>
                                <m:r>
                                  <a:rPr lang="en-IN" sz="2400" i="1">
                                    <a:solidFill>
                                      <a:srgbClr val="7030A0"/>
                                    </a:solidFill>
                                    <a:latin typeface="Cambria Math" panose="02040503050406030204" pitchFamily="18" charset="0"/>
                                    <a:cs typeface="Times New Roman" panose="02020603050405020304" pitchFamily="18" charset="0"/>
                                  </a:rPr>
                                  <m:t>)</m:t>
                                </m:r>
                              </m:den>
                            </m:f>
                          </m:e>
                        </m:nary>
                      </m:e>
                    </m:func>
                    <m:r>
                      <a:rPr lang="en-IN" sz="2400" b="0" i="1" dirty="0" smtClean="0">
                        <a:solidFill>
                          <a:srgbClr val="7030A0"/>
                        </a:solidFill>
                        <a:latin typeface="Cambria Math" panose="02040503050406030204" pitchFamily="18" charset="0"/>
                      </a:rPr>
                      <m:t>𝑑𝑧</m:t>
                    </m:r>
                  </m:oMath>
                </a14:m>
                <a:r>
                  <a:rPr lang="en-IN" sz="2400" dirty="0">
                    <a:latin typeface="Arial Narrow" panose="020B0606020202030204" pitchFamily="34" charset="0"/>
                  </a:rPr>
                  <a:t>        -- (2)</a:t>
                </a:r>
              </a:p>
              <a:p>
                <a:r>
                  <a:rPr lang="en-US" sz="2400" dirty="0">
                    <a:latin typeface="Arial Narrow" panose="020B0606020202030204" pitchFamily="34" charset="0"/>
                  </a:rPr>
                  <a:t>This can be written as an expectation:</a:t>
                </a:r>
              </a:p>
              <a:p>
                <a:endParaRPr lang="en-US" sz="2400" dirty="0">
                  <a:latin typeface="Arial Narrow" panose="020B0606020202030204" pitchFamily="34" charset="0"/>
                </a:endParaRPr>
              </a:p>
              <a:p>
                <a:pPr marL="114300" indent="0">
                  <a:buNone/>
                </a:pPr>
                <a:r>
                  <a:rPr lang="en-IN" sz="2400" dirty="0"/>
                  <a:t>                                                      </a:t>
                </a:r>
                <a14:m>
                  <m:oMath xmlns:m="http://schemas.openxmlformats.org/officeDocument/2006/math">
                    <m:func>
                      <m:funcPr>
                        <m:ctrlPr>
                          <a:rPr lang="en-IN" sz="2400" i="1" smtClean="0">
                            <a:solidFill>
                              <a:srgbClr val="7030A0"/>
                            </a:solidFill>
                            <a:latin typeface="Cambria Math" panose="02040503050406030204" pitchFamily="18" charset="0"/>
                          </a:rPr>
                        </m:ctrlPr>
                      </m:funcPr>
                      <m:fName>
                        <m:r>
                          <m:rPr>
                            <m:sty m:val="p"/>
                          </m:rPr>
                          <a:rPr lang="en-IN" sz="2400">
                            <a:solidFill>
                              <a:srgbClr val="7030A0"/>
                            </a:solidFill>
                            <a:latin typeface="Cambria Math" panose="02040503050406030204" pitchFamily="18" charset="0"/>
                          </a:rPr>
                          <m:t>log</m:t>
                        </m:r>
                      </m:fName>
                      <m:e>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r>
                          <a:rPr lang="en-IN" sz="2400" i="1">
                            <a:solidFill>
                              <a:srgbClr val="7030A0"/>
                            </a:solidFill>
                            <a:latin typeface="Cambria Math" panose="02040503050406030204" pitchFamily="18" charset="0"/>
                          </a:rPr>
                          <m:t>(</m:t>
                        </m:r>
                        <m:r>
                          <a:rPr lang="en-IN" sz="2400" i="1">
                            <a:solidFill>
                              <a:srgbClr val="7030A0"/>
                            </a:solidFill>
                            <a:latin typeface="Cambria Math" panose="02040503050406030204" pitchFamily="18" charset="0"/>
                          </a:rPr>
                          <m:t>𝑥</m:t>
                        </m:r>
                        <m:r>
                          <a:rPr lang="en-IN" sz="2400" i="1">
                            <a:solidFill>
                              <a:srgbClr val="7030A0"/>
                            </a:solidFill>
                            <a:latin typeface="Cambria Math" panose="02040503050406030204" pitchFamily="18" charset="0"/>
                          </a:rPr>
                          <m:t>)</m:t>
                        </m:r>
                      </m:e>
                    </m:func>
                    <m:r>
                      <a:rPr lang="en-IN" sz="2400" i="1">
                        <a:solidFill>
                          <a:srgbClr val="7030A0"/>
                        </a:solidFill>
                        <a:latin typeface="Cambria Math" panose="02040503050406030204" pitchFamily="18" charset="0"/>
                      </a:rPr>
                      <m:t>=</m:t>
                    </m:r>
                    <m:func>
                      <m:funcPr>
                        <m:ctrlPr>
                          <a:rPr lang="en-GB" sz="2400" b="0" i="1" smtClean="0">
                            <a:solidFill>
                              <a:srgbClr val="7030A0"/>
                            </a:solidFill>
                            <a:latin typeface="Cambria Math" panose="02040503050406030204" pitchFamily="18" charset="0"/>
                          </a:rPr>
                        </m:ctrlPr>
                      </m:funcPr>
                      <m:fName>
                        <m:r>
                          <m:rPr>
                            <m:sty m:val="p"/>
                          </m:rPr>
                          <a:rPr lang="en-GB" sz="2400" b="0" i="0" smtClean="0">
                            <a:solidFill>
                              <a:srgbClr val="7030A0"/>
                            </a:solidFill>
                            <a:latin typeface="Cambria Math" panose="02040503050406030204" pitchFamily="18" charset="0"/>
                          </a:rPr>
                          <m:t>log</m:t>
                        </m:r>
                      </m:fName>
                      <m:e>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r>
                          <a:rPr lang="en-IN" sz="2400" i="1">
                            <a:solidFill>
                              <a:srgbClr val="7030A0"/>
                            </a:solidFill>
                            <a:latin typeface="Cambria Math" panose="02040503050406030204" pitchFamily="18" charset="0"/>
                          </a:rPr>
                          <m:t>[</m:t>
                        </m:r>
                        <m:f>
                          <m:fPr>
                            <m:ctrlPr>
                              <a:rPr lang="en-IN" sz="2400" i="1">
                                <a:solidFill>
                                  <a:srgbClr val="7030A0"/>
                                </a:solidFill>
                                <a:latin typeface="Cambria Math" panose="02040503050406030204" pitchFamily="18" charset="0"/>
                                <a:cs typeface="Times New Roman" panose="02020603050405020304" pitchFamily="18" charset="0"/>
                              </a:rPr>
                            </m:ctrlPr>
                          </m:fPr>
                          <m:num>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r>
                              <a:rPr lang="en-IN" sz="2400" i="1">
                                <a:solidFill>
                                  <a:srgbClr val="7030A0"/>
                                </a:solidFill>
                                <a:latin typeface="Cambria Math" panose="02040503050406030204" pitchFamily="18" charset="0"/>
                                <a:ea typeface="Cambria Math" panose="02040503050406030204" pitchFamily="18" charset="0"/>
                              </a:rPr>
                              <m:t>(</m:t>
                            </m:r>
                            <m:r>
                              <a:rPr lang="en-IN" sz="2400" i="1">
                                <a:solidFill>
                                  <a:srgbClr val="7030A0"/>
                                </a:solidFill>
                                <a:latin typeface="Cambria Math" panose="02040503050406030204" pitchFamily="18" charset="0"/>
                                <a:ea typeface="Cambria Math" panose="02040503050406030204" pitchFamily="18" charset="0"/>
                              </a:rPr>
                              <m:t>𝑥</m:t>
                            </m:r>
                            <m:r>
                              <a:rPr lang="en-IN" sz="2400" i="1">
                                <a:solidFill>
                                  <a:srgbClr val="7030A0"/>
                                </a:solidFill>
                                <a:latin typeface="Cambria Math" panose="02040503050406030204" pitchFamily="18" charset="0"/>
                                <a:ea typeface="Cambria Math" panose="02040503050406030204" pitchFamily="18" charset="0"/>
                              </a:rPr>
                              <m:t>,</m:t>
                            </m:r>
                            <m:r>
                              <a:rPr lang="en-IN" sz="2400" i="1">
                                <a:solidFill>
                                  <a:srgbClr val="7030A0"/>
                                </a:solidFill>
                                <a:latin typeface="Cambria Math" panose="02040503050406030204" pitchFamily="18" charset="0"/>
                                <a:ea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num>
                          <m:den>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𝑞</m:t>
                                </m:r>
                              </m:e>
                              <m:sub>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𝑧</m:t>
                            </m:r>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𝑥</m:t>
                            </m:r>
                            <m:r>
                              <a:rPr lang="en-IN" sz="2400" i="1">
                                <a:solidFill>
                                  <a:srgbClr val="7030A0"/>
                                </a:solidFill>
                                <a:latin typeface="Cambria Math" panose="02040503050406030204" pitchFamily="18" charset="0"/>
                                <a:cs typeface="Times New Roman" panose="02020603050405020304" pitchFamily="18" charset="0"/>
                              </a:rPr>
                              <m:t>)</m:t>
                            </m:r>
                          </m:den>
                        </m:f>
                        <m:r>
                          <m:rPr>
                            <m:nor/>
                          </m:rPr>
                          <a:rPr lang="en-IN" sz="2400" dirty="0">
                            <a:solidFill>
                              <a:srgbClr val="7030A0"/>
                            </a:solidFill>
                            <a:latin typeface="Arial Narrow" panose="020B0606020202030204" pitchFamily="34" charset="0"/>
                          </a:rPr>
                          <m:t>]</m:t>
                        </m:r>
                      </m:e>
                    </m:func>
                  </m:oMath>
                </a14:m>
                <a:r>
                  <a:rPr lang="en-IN" sz="2400" dirty="0">
                    <a:solidFill>
                      <a:srgbClr val="7030A0"/>
                    </a:solidFill>
                    <a:latin typeface="Arial Narrow" panose="020B0606020202030204" pitchFamily="34" charset="0"/>
                  </a:rPr>
                  <a:t>     </a:t>
                </a:r>
                <a:r>
                  <a:rPr lang="en-IN" sz="2400" dirty="0">
                    <a:latin typeface="Arial Narrow" panose="020B0606020202030204" pitchFamily="34" charset="0"/>
                  </a:rPr>
                  <a:t>-- (3)</a:t>
                </a:r>
              </a:p>
              <a:p>
                <a:endParaRPr lang="en-IN" sz="2000" dirty="0">
                  <a:latin typeface="Arial Narrow" panose="020B0606020202030204" pitchFamily="34" charset="0"/>
                </a:endParaRPr>
              </a:p>
            </p:txBody>
          </p:sp>
        </mc:Choice>
        <mc:Fallback>
          <p:sp>
            <p:nvSpPr>
              <p:cNvPr id="3" name="Text Placeholder 2">
                <a:extLst>
                  <a:ext uri="{FF2B5EF4-FFF2-40B4-BE49-F238E27FC236}">
                    <a16:creationId xmlns:a16="http://schemas.microsoft.com/office/drawing/2014/main" id="{3D3536AF-E069-4795-9AFA-7214854B4316}"/>
                  </a:ext>
                </a:extLst>
              </p:cNvPr>
              <p:cNvSpPr>
                <a:spLocks noGrp="1" noRot="1" noChangeAspect="1" noMove="1" noResize="1" noEditPoints="1" noAdjustHandles="1" noChangeArrowheads="1" noChangeShapeType="1" noTextEdit="1"/>
              </p:cNvSpPr>
              <p:nvPr>
                <p:ph type="body" idx="1"/>
              </p:nvPr>
            </p:nvSpPr>
            <p:spPr>
              <a:xfrm>
                <a:off x="838200" y="1439126"/>
                <a:ext cx="10515600" cy="5310466"/>
              </a:xfr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488425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11721-6401-4408-84C4-6CB2C78137E4}"/>
              </a:ext>
            </a:extLst>
          </p:cNvPr>
          <p:cNvSpPr>
            <a:spLocks noGrp="1"/>
          </p:cNvSpPr>
          <p:nvPr>
            <p:ph type="title"/>
          </p:nvPr>
        </p:nvSpPr>
        <p:spPr/>
        <p:txBody>
          <a:bodyPr>
            <a:normAutofit/>
          </a:bodyPr>
          <a:lstStyle/>
          <a:p>
            <a:r>
              <a:rPr lang="en-US" sz="3600" dirty="0">
                <a:solidFill>
                  <a:schemeClr val="tx1"/>
                </a:solidFill>
                <a:latin typeface="Century" panose="02040604050505020304" pitchFamily="18" charset="0"/>
              </a:rPr>
              <a:t>Evidence Lower Bound (ELBO)</a:t>
            </a:r>
            <a:endParaRPr lang="en-IN" sz="3600" dirty="0">
              <a:solidFill>
                <a:schemeClr val="tx1"/>
              </a:solidFill>
              <a:latin typeface="Century" panose="02040604050505020304" pitchFamily="18" charset="0"/>
            </a:endParaRP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9A255E88-FB79-487B-A5E6-8454A0BD784F}"/>
                  </a:ext>
                </a:extLst>
              </p:cNvPr>
              <p:cNvSpPr>
                <a:spLocks noGrp="1"/>
              </p:cNvSpPr>
              <p:nvPr>
                <p:ph type="body" idx="1"/>
              </p:nvPr>
            </p:nvSpPr>
            <p:spPr/>
            <p:txBody>
              <a:bodyPr/>
              <a:lstStyle/>
              <a:p>
                <a:r>
                  <a:rPr lang="en-IN" dirty="0">
                    <a:latin typeface="Arial Narrow" panose="020B0606020202030204" pitchFamily="34" charset="0"/>
                  </a:rPr>
                  <a:t>Using Jensen's inequality: </a:t>
                </a:r>
                <a14:m>
                  <m:oMath xmlns:m="http://schemas.openxmlformats.org/officeDocument/2006/math">
                    <m:func>
                      <m:funcPr>
                        <m:ctrlPr>
                          <a:rPr lang="en-IN" i="1" smtClean="0">
                            <a:solidFill>
                              <a:srgbClr val="7030A0"/>
                            </a:solidFill>
                            <a:latin typeface="Cambria Math" panose="02040503050406030204" pitchFamily="18" charset="0"/>
                          </a:rPr>
                        </m:ctrlPr>
                      </m:funcPr>
                      <m:fName>
                        <m:r>
                          <m:rPr>
                            <m:sty m:val="p"/>
                          </m:rPr>
                          <a:rPr lang="en-IN">
                            <a:solidFill>
                              <a:srgbClr val="7030A0"/>
                            </a:solidFill>
                            <a:latin typeface="Cambria Math" panose="02040503050406030204" pitchFamily="18" charset="0"/>
                          </a:rPr>
                          <m:t>log</m:t>
                        </m:r>
                      </m:fName>
                      <m:e>
                        <m:r>
                          <a:rPr lang="en-IN" i="1">
                            <a:solidFill>
                              <a:srgbClr val="7030A0"/>
                            </a:solidFill>
                            <a:latin typeface="Cambria Math" panose="02040503050406030204" pitchFamily="18" charset="0"/>
                          </a:rPr>
                          <m:t>𝔼</m:t>
                        </m:r>
                        <m:r>
                          <a:rPr lang="en-IN" i="1">
                            <a:solidFill>
                              <a:srgbClr val="7030A0"/>
                            </a:solidFill>
                            <a:latin typeface="Cambria Math" panose="02040503050406030204" pitchFamily="18" charset="0"/>
                          </a:rPr>
                          <m:t>[</m:t>
                        </m:r>
                        <m:r>
                          <a:rPr lang="en-IN" i="1">
                            <a:solidFill>
                              <a:srgbClr val="7030A0"/>
                            </a:solidFill>
                            <a:latin typeface="Cambria Math" panose="02040503050406030204" pitchFamily="18" charset="0"/>
                          </a:rPr>
                          <m:t>𝑌</m:t>
                        </m:r>
                        <m:r>
                          <a:rPr lang="en-IN" i="1">
                            <a:solidFill>
                              <a:srgbClr val="7030A0"/>
                            </a:solidFill>
                            <a:latin typeface="Cambria Math" panose="02040503050406030204" pitchFamily="18" charset="0"/>
                          </a:rPr>
                          <m:t>]≥</m:t>
                        </m:r>
                        <m:r>
                          <a:rPr lang="en-IN" i="1">
                            <a:solidFill>
                              <a:srgbClr val="7030A0"/>
                            </a:solidFill>
                            <a:latin typeface="Cambria Math" panose="02040503050406030204" pitchFamily="18" charset="0"/>
                          </a:rPr>
                          <m:t>𝔼</m:t>
                        </m:r>
                        <m:r>
                          <a:rPr lang="en-IN" i="1">
                            <a:solidFill>
                              <a:srgbClr val="7030A0"/>
                            </a:solidFill>
                            <a:latin typeface="Cambria Math" panose="02040503050406030204" pitchFamily="18" charset="0"/>
                          </a:rPr>
                          <m:t>[</m:t>
                        </m:r>
                        <m:func>
                          <m:funcPr>
                            <m:ctrlPr>
                              <a:rPr lang="en-IN" i="1">
                                <a:solidFill>
                                  <a:srgbClr val="7030A0"/>
                                </a:solidFill>
                                <a:latin typeface="Cambria Math" panose="02040503050406030204" pitchFamily="18" charset="0"/>
                              </a:rPr>
                            </m:ctrlPr>
                          </m:funcPr>
                          <m:fName>
                            <m:r>
                              <m:rPr>
                                <m:sty m:val="p"/>
                              </m:rPr>
                              <a:rPr lang="en-IN">
                                <a:solidFill>
                                  <a:srgbClr val="7030A0"/>
                                </a:solidFill>
                                <a:latin typeface="Cambria Math" panose="02040503050406030204" pitchFamily="18" charset="0"/>
                              </a:rPr>
                              <m:t>log</m:t>
                            </m:r>
                          </m:fName>
                          <m:e>
                            <m:r>
                              <a:rPr lang="en-IN" i="1">
                                <a:solidFill>
                                  <a:srgbClr val="7030A0"/>
                                </a:solidFill>
                                <a:latin typeface="Cambria Math" panose="02040503050406030204" pitchFamily="18" charset="0"/>
                              </a:rPr>
                              <m:t>𝑌</m:t>
                            </m:r>
                          </m:e>
                        </m:func>
                        <m:r>
                          <a:rPr lang="en-IN" i="1">
                            <a:solidFill>
                              <a:srgbClr val="7030A0"/>
                            </a:solidFill>
                            <a:latin typeface="Cambria Math" panose="02040503050406030204" pitchFamily="18" charset="0"/>
                          </a:rPr>
                          <m:t>]</m:t>
                        </m:r>
                      </m:e>
                    </m:func>
                  </m:oMath>
                </a14:m>
                <a:r>
                  <a:rPr lang="en-IN" dirty="0">
                    <a:latin typeface="Arial Narrow" panose="020B0606020202030204" pitchFamily="34" charset="0"/>
                  </a:rPr>
                  <a:t>, it can be shown that,</a:t>
                </a:r>
              </a:p>
              <a:p>
                <a:endParaRPr lang="en-IN" dirty="0">
                  <a:latin typeface="Arial Narrow" panose="020B0606020202030204" pitchFamily="34" charset="0"/>
                </a:endParaRPr>
              </a:p>
              <a:p>
                <a:pPr marL="114300" indent="0">
                  <a:buNone/>
                </a:pPr>
                <a:r>
                  <a:rPr lang="en-IN" dirty="0">
                    <a:solidFill>
                      <a:srgbClr val="7030A0"/>
                    </a:solidFill>
                  </a:rPr>
                  <a:t>                                     </a:t>
                </a:r>
                <a14:m>
                  <m:oMath xmlns:m="http://schemas.openxmlformats.org/officeDocument/2006/math">
                    <m:func>
                      <m:funcPr>
                        <m:ctrlPr>
                          <a:rPr lang="en-IN" i="1">
                            <a:solidFill>
                              <a:srgbClr val="7030A0"/>
                            </a:solidFill>
                            <a:latin typeface="Cambria Math" panose="02040503050406030204" pitchFamily="18" charset="0"/>
                          </a:rPr>
                        </m:ctrlPr>
                      </m:funcPr>
                      <m:fName>
                        <m:r>
                          <m:rPr>
                            <m:sty m:val="p"/>
                          </m:rPr>
                          <a:rPr lang="en-IN">
                            <a:solidFill>
                              <a:srgbClr val="7030A0"/>
                            </a:solidFill>
                            <a:latin typeface="Cambria Math" panose="02040503050406030204" pitchFamily="18" charset="0"/>
                          </a:rPr>
                          <m:t>log</m:t>
                        </m:r>
                      </m:fName>
                      <m:e>
                        <m:sSub>
                          <m:sSubPr>
                            <m:ctrlPr>
                              <a:rPr lang="en-IN" i="1">
                                <a:solidFill>
                                  <a:srgbClr val="7030A0"/>
                                </a:solidFill>
                                <a:latin typeface="Cambria Math" panose="02040503050406030204" pitchFamily="18" charset="0"/>
                              </a:rPr>
                            </m:ctrlPr>
                          </m:sSubPr>
                          <m:e>
                            <m:r>
                              <a:rPr lang="en-IN" i="1">
                                <a:solidFill>
                                  <a:srgbClr val="7030A0"/>
                                </a:solidFill>
                                <a:latin typeface="Cambria Math" panose="02040503050406030204" pitchFamily="18" charset="0"/>
                              </a:rPr>
                              <m:t>𝑝</m:t>
                            </m:r>
                          </m:e>
                          <m:sub>
                            <m:r>
                              <a:rPr lang="en-IN" i="1">
                                <a:solidFill>
                                  <a:srgbClr val="7030A0"/>
                                </a:solidFill>
                                <a:latin typeface="Cambria Math" panose="02040503050406030204" pitchFamily="18" charset="0"/>
                                <a:ea typeface="Cambria Math" panose="02040503050406030204" pitchFamily="18" charset="0"/>
                              </a:rPr>
                              <m:t>𝜃</m:t>
                            </m:r>
                          </m:sub>
                        </m:sSub>
                        <m:r>
                          <a:rPr lang="en-IN" i="1">
                            <a:solidFill>
                              <a:srgbClr val="7030A0"/>
                            </a:solidFill>
                            <a:latin typeface="Cambria Math" panose="02040503050406030204" pitchFamily="18" charset="0"/>
                          </a:rPr>
                          <m:t>(</m:t>
                        </m:r>
                        <m:r>
                          <a:rPr lang="en-IN" i="1">
                            <a:solidFill>
                              <a:srgbClr val="7030A0"/>
                            </a:solidFill>
                            <a:latin typeface="Cambria Math" panose="02040503050406030204" pitchFamily="18" charset="0"/>
                          </a:rPr>
                          <m:t>𝑥</m:t>
                        </m:r>
                        <m:r>
                          <a:rPr lang="en-IN" i="1">
                            <a:solidFill>
                              <a:srgbClr val="7030A0"/>
                            </a:solidFill>
                            <a:latin typeface="Cambria Math" panose="02040503050406030204" pitchFamily="18" charset="0"/>
                          </a:rPr>
                          <m:t>)</m:t>
                        </m:r>
                      </m:e>
                    </m:func>
                    <m:r>
                      <a:rPr lang="en-IN" i="1">
                        <a:solidFill>
                          <a:srgbClr val="7030A0"/>
                        </a:solidFill>
                        <a:latin typeface="Cambria Math" panose="02040503050406030204" pitchFamily="18" charset="0"/>
                        <a:ea typeface="Cambria Math" panose="02040503050406030204" pitchFamily="18" charset="0"/>
                      </a:rPr>
                      <m:t>≥</m:t>
                    </m:r>
                    <m:sSub>
                      <m:sSubPr>
                        <m:ctrlPr>
                          <a:rPr lang="en-IN" i="1">
                            <a:solidFill>
                              <a:srgbClr val="7030A0"/>
                            </a:solidFill>
                            <a:latin typeface="Cambria Math" panose="02040503050406030204" pitchFamily="18" charset="0"/>
                          </a:rPr>
                        </m:ctrlPr>
                      </m:sSubPr>
                      <m:e>
                        <m:r>
                          <a:rPr lang="en-IN" i="1">
                            <a:solidFill>
                              <a:srgbClr val="7030A0"/>
                            </a:solidFill>
                            <a:latin typeface="Cambria Math" panose="02040503050406030204" pitchFamily="18" charset="0"/>
                          </a:rPr>
                          <m:t>𝔼</m:t>
                        </m:r>
                      </m:e>
                      <m:sub>
                        <m:r>
                          <a:rPr lang="en-IN" i="1">
                            <a:solidFill>
                              <a:srgbClr val="7030A0"/>
                            </a:solidFill>
                            <a:latin typeface="Cambria Math" panose="02040503050406030204" pitchFamily="18" charset="0"/>
                          </a:rPr>
                          <m:t>𝑧</m:t>
                        </m:r>
                        <m:r>
                          <a:rPr lang="en-IN" i="1">
                            <a:solidFill>
                              <a:srgbClr val="7030A0"/>
                            </a:solidFill>
                            <a:latin typeface="Cambria Math" panose="02040503050406030204" pitchFamily="18" charset="0"/>
                            <a:ea typeface="Cambria Math" panose="02040503050406030204" pitchFamily="18" charset="0"/>
                          </a:rPr>
                          <m:t>~</m:t>
                        </m:r>
                        <m:sSub>
                          <m:sSubPr>
                            <m:ctrlPr>
                              <a:rPr lang="en-IN" i="1">
                                <a:solidFill>
                                  <a:srgbClr val="7030A0"/>
                                </a:solidFill>
                                <a:latin typeface="Cambria Math" panose="02040503050406030204" pitchFamily="18" charset="0"/>
                              </a:rPr>
                            </m:ctrlPr>
                          </m:sSubPr>
                          <m:e>
                            <m:r>
                              <a:rPr lang="en-IN" i="1">
                                <a:solidFill>
                                  <a:srgbClr val="7030A0"/>
                                </a:solidFill>
                                <a:latin typeface="Cambria Math" panose="02040503050406030204" pitchFamily="18" charset="0"/>
                              </a:rPr>
                              <m:t>𝑞</m:t>
                            </m:r>
                          </m:e>
                          <m:sub>
                            <m:r>
                              <a:rPr lang="en-IN" i="1">
                                <a:solidFill>
                                  <a:srgbClr val="7030A0"/>
                                </a:solidFill>
                                <a:latin typeface="Cambria Math" panose="02040503050406030204" pitchFamily="18" charset="0"/>
                                <a:ea typeface="Cambria Math" panose="02040503050406030204" pitchFamily="18" charset="0"/>
                              </a:rPr>
                              <m:t>𝜑</m:t>
                            </m:r>
                          </m:sub>
                        </m:sSub>
                        <m:d>
                          <m:dPr>
                            <m:ctrlPr>
                              <a:rPr lang="en-IN" i="1">
                                <a:solidFill>
                                  <a:srgbClr val="7030A0"/>
                                </a:solidFill>
                                <a:latin typeface="Cambria Math" panose="02040503050406030204" pitchFamily="18" charset="0"/>
                                <a:ea typeface="Cambria Math" panose="02040503050406030204" pitchFamily="18" charset="0"/>
                              </a:rPr>
                            </m:ctrlPr>
                          </m:dPr>
                          <m:e>
                            <m:r>
                              <a:rPr lang="en-IN" i="1">
                                <a:solidFill>
                                  <a:srgbClr val="7030A0"/>
                                </a:solidFill>
                                <a:latin typeface="Cambria Math" panose="02040503050406030204" pitchFamily="18" charset="0"/>
                              </a:rPr>
                              <m:t>𝑧</m:t>
                            </m:r>
                          </m:e>
                          <m:e>
                            <m:r>
                              <a:rPr lang="en-IN" i="1">
                                <a:solidFill>
                                  <a:srgbClr val="7030A0"/>
                                </a:solidFill>
                                <a:latin typeface="Cambria Math" panose="02040503050406030204" pitchFamily="18" charset="0"/>
                              </a:rPr>
                              <m:t>𝑥</m:t>
                            </m:r>
                          </m:e>
                        </m:d>
                      </m:sub>
                    </m:sSub>
                    <m:r>
                      <a:rPr lang="en-GB" b="0" i="1" smtClean="0">
                        <a:solidFill>
                          <a:srgbClr val="7030A0"/>
                        </a:solidFill>
                        <a:latin typeface="Cambria Math" panose="02040503050406030204" pitchFamily="18" charset="0"/>
                      </a:rPr>
                      <m:t>[</m:t>
                    </m:r>
                    <m:func>
                      <m:funcPr>
                        <m:ctrlPr>
                          <a:rPr lang="en-IN" b="0" i="1" smtClean="0">
                            <a:solidFill>
                              <a:srgbClr val="7030A0"/>
                            </a:solidFill>
                            <a:latin typeface="Cambria Math" panose="02040503050406030204" pitchFamily="18" charset="0"/>
                          </a:rPr>
                        </m:ctrlPr>
                      </m:funcPr>
                      <m:fName>
                        <m:r>
                          <m:rPr>
                            <m:sty m:val="p"/>
                          </m:rPr>
                          <a:rPr lang="en-IN" b="0" i="0" smtClean="0">
                            <a:solidFill>
                              <a:srgbClr val="7030A0"/>
                            </a:solidFill>
                            <a:latin typeface="Cambria Math" panose="02040503050406030204" pitchFamily="18" charset="0"/>
                          </a:rPr>
                          <m:t>log</m:t>
                        </m:r>
                      </m:fName>
                      <m:e>
                        <m:f>
                          <m:fPr>
                            <m:ctrlPr>
                              <a:rPr lang="en-IN" i="1">
                                <a:solidFill>
                                  <a:srgbClr val="7030A0"/>
                                </a:solidFill>
                                <a:latin typeface="Cambria Math" panose="02040503050406030204" pitchFamily="18" charset="0"/>
                                <a:cs typeface="Times New Roman" panose="02020603050405020304" pitchFamily="18" charset="0"/>
                              </a:rPr>
                            </m:ctrlPr>
                          </m:fPr>
                          <m:num>
                            <m:sSub>
                              <m:sSubPr>
                                <m:ctrlPr>
                                  <a:rPr lang="en-IN" i="1">
                                    <a:solidFill>
                                      <a:srgbClr val="7030A0"/>
                                    </a:solidFill>
                                    <a:latin typeface="Cambria Math" panose="02040503050406030204" pitchFamily="18" charset="0"/>
                                  </a:rPr>
                                </m:ctrlPr>
                              </m:sSubPr>
                              <m:e>
                                <m:r>
                                  <a:rPr lang="en-IN" i="1">
                                    <a:solidFill>
                                      <a:srgbClr val="7030A0"/>
                                    </a:solidFill>
                                    <a:latin typeface="Cambria Math" panose="02040503050406030204" pitchFamily="18" charset="0"/>
                                  </a:rPr>
                                  <m:t>𝑝</m:t>
                                </m:r>
                              </m:e>
                              <m:sub>
                                <m:r>
                                  <a:rPr lang="en-IN" i="1">
                                    <a:solidFill>
                                      <a:srgbClr val="7030A0"/>
                                    </a:solidFill>
                                    <a:latin typeface="Cambria Math" panose="02040503050406030204" pitchFamily="18" charset="0"/>
                                    <a:ea typeface="Cambria Math" panose="02040503050406030204" pitchFamily="18" charset="0"/>
                                  </a:rPr>
                                  <m:t>𝜃</m:t>
                                </m:r>
                              </m:sub>
                            </m:sSub>
                            <m:r>
                              <a:rPr lang="en-IN" i="1">
                                <a:solidFill>
                                  <a:srgbClr val="7030A0"/>
                                </a:solidFill>
                                <a:latin typeface="Cambria Math" panose="02040503050406030204" pitchFamily="18" charset="0"/>
                                <a:ea typeface="Cambria Math" panose="02040503050406030204" pitchFamily="18" charset="0"/>
                              </a:rPr>
                              <m:t>(</m:t>
                            </m:r>
                            <m:r>
                              <a:rPr lang="en-IN" i="1">
                                <a:solidFill>
                                  <a:srgbClr val="7030A0"/>
                                </a:solidFill>
                                <a:latin typeface="Cambria Math" panose="02040503050406030204" pitchFamily="18" charset="0"/>
                                <a:ea typeface="Cambria Math" panose="02040503050406030204" pitchFamily="18" charset="0"/>
                              </a:rPr>
                              <m:t>𝑥</m:t>
                            </m:r>
                            <m:r>
                              <a:rPr lang="en-IN" i="1">
                                <a:solidFill>
                                  <a:srgbClr val="7030A0"/>
                                </a:solidFill>
                                <a:latin typeface="Cambria Math" panose="02040503050406030204" pitchFamily="18" charset="0"/>
                                <a:ea typeface="Cambria Math" panose="02040503050406030204" pitchFamily="18" charset="0"/>
                              </a:rPr>
                              <m:t>,</m:t>
                            </m:r>
                            <m:r>
                              <a:rPr lang="en-IN" i="1">
                                <a:solidFill>
                                  <a:srgbClr val="7030A0"/>
                                </a:solidFill>
                                <a:latin typeface="Cambria Math" panose="02040503050406030204" pitchFamily="18" charset="0"/>
                                <a:ea typeface="Cambria Math" panose="02040503050406030204" pitchFamily="18" charset="0"/>
                              </a:rPr>
                              <m:t>𝑧</m:t>
                            </m:r>
                            <m:r>
                              <a:rPr lang="en-IN" i="1">
                                <a:solidFill>
                                  <a:srgbClr val="7030A0"/>
                                </a:solidFill>
                                <a:latin typeface="Cambria Math" panose="02040503050406030204" pitchFamily="18" charset="0"/>
                                <a:ea typeface="Cambria Math" panose="02040503050406030204" pitchFamily="18" charset="0"/>
                              </a:rPr>
                              <m:t>)</m:t>
                            </m:r>
                          </m:num>
                          <m:den>
                            <m:sSub>
                              <m:sSubPr>
                                <m:ctrlPr>
                                  <a:rPr lang="en-IN" i="1">
                                    <a:solidFill>
                                      <a:srgbClr val="7030A0"/>
                                    </a:solidFill>
                                    <a:latin typeface="Cambria Math" panose="02040503050406030204" pitchFamily="18" charset="0"/>
                                    <a:cs typeface="Times New Roman" panose="02020603050405020304" pitchFamily="18" charset="0"/>
                                  </a:rPr>
                                </m:ctrlPr>
                              </m:sSubPr>
                              <m:e>
                                <m:r>
                                  <a:rPr lang="en-IN" i="1">
                                    <a:solidFill>
                                      <a:srgbClr val="7030A0"/>
                                    </a:solidFill>
                                    <a:latin typeface="Cambria Math" panose="02040503050406030204" pitchFamily="18" charset="0"/>
                                    <a:cs typeface="Times New Roman" panose="02020603050405020304" pitchFamily="18" charset="0"/>
                                  </a:rPr>
                                  <m:t>𝑞</m:t>
                                </m:r>
                              </m:e>
                              <m:sub>
                                <m:r>
                                  <a:rPr lang="en-IN"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i="1">
                                <a:solidFill>
                                  <a:srgbClr val="7030A0"/>
                                </a:solidFill>
                                <a:latin typeface="Cambria Math" panose="02040503050406030204" pitchFamily="18" charset="0"/>
                                <a:cs typeface="Times New Roman" panose="02020603050405020304" pitchFamily="18" charset="0"/>
                              </a:rPr>
                              <m:t>(</m:t>
                            </m:r>
                            <m:r>
                              <a:rPr lang="en-IN" i="1">
                                <a:solidFill>
                                  <a:srgbClr val="7030A0"/>
                                </a:solidFill>
                                <a:latin typeface="Cambria Math" panose="02040503050406030204" pitchFamily="18" charset="0"/>
                                <a:cs typeface="Times New Roman" panose="02020603050405020304" pitchFamily="18" charset="0"/>
                              </a:rPr>
                              <m:t>𝑧</m:t>
                            </m:r>
                            <m:r>
                              <a:rPr lang="en-IN" i="1">
                                <a:solidFill>
                                  <a:srgbClr val="7030A0"/>
                                </a:solidFill>
                                <a:latin typeface="Cambria Math" panose="02040503050406030204" pitchFamily="18" charset="0"/>
                                <a:cs typeface="Times New Roman" panose="02020603050405020304" pitchFamily="18" charset="0"/>
                              </a:rPr>
                              <m:t>|</m:t>
                            </m:r>
                            <m:r>
                              <a:rPr lang="en-IN" i="1">
                                <a:solidFill>
                                  <a:srgbClr val="7030A0"/>
                                </a:solidFill>
                                <a:latin typeface="Cambria Math" panose="02040503050406030204" pitchFamily="18" charset="0"/>
                                <a:cs typeface="Times New Roman" panose="02020603050405020304" pitchFamily="18" charset="0"/>
                              </a:rPr>
                              <m:t>𝑥</m:t>
                            </m:r>
                            <m:r>
                              <a:rPr lang="en-IN" i="1">
                                <a:solidFill>
                                  <a:srgbClr val="7030A0"/>
                                </a:solidFill>
                                <a:latin typeface="Cambria Math" panose="02040503050406030204" pitchFamily="18" charset="0"/>
                                <a:cs typeface="Times New Roman" panose="02020603050405020304" pitchFamily="18" charset="0"/>
                              </a:rPr>
                              <m:t>)</m:t>
                            </m:r>
                          </m:den>
                        </m:f>
                        <m:r>
                          <m:rPr>
                            <m:nor/>
                          </m:rPr>
                          <a:rPr lang="en-IN" dirty="0">
                            <a:solidFill>
                              <a:srgbClr val="7030A0"/>
                            </a:solidFill>
                            <a:latin typeface="Arial Narrow" panose="020B0606020202030204" pitchFamily="34" charset="0"/>
                          </a:rPr>
                          <m:t>]</m:t>
                        </m:r>
                      </m:e>
                    </m:func>
                  </m:oMath>
                </a14:m>
                <a:r>
                  <a:rPr lang="en-IN" dirty="0">
                    <a:solidFill>
                      <a:srgbClr val="7030A0"/>
                    </a:solidFill>
                    <a:latin typeface="Arial Narrow" panose="020B0606020202030204" pitchFamily="34" charset="0"/>
                  </a:rPr>
                  <a:t>             </a:t>
                </a:r>
                <a:r>
                  <a:rPr lang="en-IN" dirty="0">
                    <a:latin typeface="Arial Narrow" panose="020B0606020202030204" pitchFamily="34" charset="0"/>
                  </a:rPr>
                  <a:t>-- (4)</a:t>
                </a:r>
              </a:p>
              <a:p>
                <a:pPr marL="114300" indent="0">
                  <a:buNone/>
                </a:pPr>
                <a:endParaRPr lang="en-IN" dirty="0">
                  <a:latin typeface="Arial Narrow" panose="020B0606020202030204" pitchFamily="34" charset="0"/>
                </a:endParaRPr>
              </a:p>
              <a:p>
                <a:r>
                  <a:rPr lang="en-US" dirty="0">
                    <a:latin typeface="Arial Narrow" panose="020B0606020202030204" pitchFamily="34" charset="0"/>
                  </a:rPr>
                  <a:t>This lower bound is called the </a:t>
                </a:r>
                <a:r>
                  <a:rPr lang="en-US" dirty="0">
                    <a:solidFill>
                      <a:srgbClr val="7030A0"/>
                    </a:solidFill>
                    <a:latin typeface="Arial Narrow" panose="020B0606020202030204" pitchFamily="34" charset="0"/>
                  </a:rPr>
                  <a:t>Evidence Lower Bound</a:t>
                </a:r>
                <a:r>
                  <a:rPr lang="en-US" dirty="0">
                    <a:latin typeface="Arial Narrow" panose="020B0606020202030204" pitchFamily="34" charset="0"/>
                  </a:rPr>
                  <a:t>, or </a:t>
                </a:r>
                <a:r>
                  <a:rPr lang="en-US" dirty="0">
                    <a:solidFill>
                      <a:srgbClr val="7030A0"/>
                    </a:solidFill>
                    <a:latin typeface="Arial Narrow" panose="020B0606020202030204" pitchFamily="34" charset="0"/>
                  </a:rPr>
                  <a:t>ELBO</a:t>
                </a:r>
                <a:r>
                  <a:rPr lang="en-US" dirty="0">
                    <a:latin typeface="Arial Narrow" panose="020B0606020202030204" pitchFamily="34" charset="0"/>
                  </a:rPr>
                  <a:t>:</a:t>
                </a:r>
              </a:p>
              <a:p>
                <a:endParaRPr lang="en-US" dirty="0">
                  <a:latin typeface="Arial Narrow" panose="020B0606020202030204" pitchFamily="34" charset="0"/>
                </a:endParaRPr>
              </a:p>
              <a:p>
                <a:pPr marL="114300" indent="0">
                  <a:buNone/>
                </a:pPr>
                <a:r>
                  <a:rPr lang="en-US" dirty="0"/>
                  <a:t>                                     </a:t>
                </a:r>
                <a14:m>
                  <m:oMath xmlns:m="http://schemas.openxmlformats.org/officeDocument/2006/math">
                    <m:sSub>
                      <m:sSubPr>
                        <m:ctrlPr>
                          <a:rPr lang="en-US" i="1" smtClean="0">
                            <a:solidFill>
                              <a:srgbClr val="7030A0"/>
                            </a:solidFill>
                            <a:latin typeface="Cambria Math" panose="02040503050406030204" pitchFamily="18" charset="0"/>
                          </a:rPr>
                        </m:ctrlPr>
                      </m:sSubPr>
                      <m:e>
                        <m:r>
                          <a:rPr lang="en-IN" i="1">
                            <a:solidFill>
                              <a:srgbClr val="7030A0"/>
                            </a:solidFill>
                            <a:latin typeface="Cambria Math" panose="02040503050406030204" pitchFamily="18" charset="0"/>
                          </a:rPr>
                          <m:t>𝐿</m:t>
                        </m:r>
                      </m:e>
                      <m:sub>
                        <m:r>
                          <a:rPr lang="en-IN" i="1">
                            <a:solidFill>
                              <a:srgbClr val="7030A0"/>
                            </a:solidFill>
                            <a:latin typeface="Cambria Math" panose="02040503050406030204" pitchFamily="18" charset="0"/>
                          </a:rPr>
                          <m:t>𝐸𝐿𝐵𝑂</m:t>
                        </m:r>
                      </m:sub>
                    </m:sSub>
                    <m:r>
                      <a:rPr lang="en-IN" i="1">
                        <a:solidFill>
                          <a:srgbClr val="7030A0"/>
                        </a:solidFill>
                        <a:latin typeface="Cambria Math" panose="02040503050406030204" pitchFamily="18" charset="0"/>
                      </a:rPr>
                      <m:t>=</m:t>
                    </m:r>
                    <m:sSub>
                      <m:sSubPr>
                        <m:ctrlPr>
                          <a:rPr lang="en-IN" i="1">
                            <a:solidFill>
                              <a:srgbClr val="7030A0"/>
                            </a:solidFill>
                            <a:latin typeface="Cambria Math" panose="02040503050406030204" pitchFamily="18" charset="0"/>
                          </a:rPr>
                        </m:ctrlPr>
                      </m:sSubPr>
                      <m:e>
                        <m:r>
                          <a:rPr lang="en-IN" i="1">
                            <a:solidFill>
                              <a:srgbClr val="7030A0"/>
                            </a:solidFill>
                            <a:latin typeface="Cambria Math" panose="02040503050406030204" pitchFamily="18" charset="0"/>
                          </a:rPr>
                          <m:t>𝔼</m:t>
                        </m:r>
                      </m:e>
                      <m:sub>
                        <m:r>
                          <a:rPr lang="en-IN" i="1">
                            <a:solidFill>
                              <a:srgbClr val="7030A0"/>
                            </a:solidFill>
                            <a:latin typeface="Cambria Math" panose="02040503050406030204" pitchFamily="18" charset="0"/>
                          </a:rPr>
                          <m:t>𝑧</m:t>
                        </m:r>
                        <m:r>
                          <a:rPr lang="en-IN" i="1">
                            <a:solidFill>
                              <a:srgbClr val="7030A0"/>
                            </a:solidFill>
                            <a:latin typeface="Cambria Math" panose="02040503050406030204" pitchFamily="18" charset="0"/>
                            <a:ea typeface="Cambria Math" panose="02040503050406030204" pitchFamily="18" charset="0"/>
                          </a:rPr>
                          <m:t>~</m:t>
                        </m:r>
                        <m:sSub>
                          <m:sSubPr>
                            <m:ctrlPr>
                              <a:rPr lang="en-IN" i="1">
                                <a:solidFill>
                                  <a:srgbClr val="7030A0"/>
                                </a:solidFill>
                                <a:latin typeface="Cambria Math" panose="02040503050406030204" pitchFamily="18" charset="0"/>
                              </a:rPr>
                            </m:ctrlPr>
                          </m:sSubPr>
                          <m:e>
                            <m:r>
                              <a:rPr lang="en-IN" i="1">
                                <a:solidFill>
                                  <a:srgbClr val="7030A0"/>
                                </a:solidFill>
                                <a:latin typeface="Cambria Math" panose="02040503050406030204" pitchFamily="18" charset="0"/>
                              </a:rPr>
                              <m:t>𝑞</m:t>
                            </m:r>
                          </m:e>
                          <m:sub>
                            <m:r>
                              <a:rPr lang="en-IN" i="1">
                                <a:solidFill>
                                  <a:srgbClr val="7030A0"/>
                                </a:solidFill>
                                <a:latin typeface="Cambria Math" panose="02040503050406030204" pitchFamily="18" charset="0"/>
                                <a:ea typeface="Cambria Math" panose="02040503050406030204" pitchFamily="18" charset="0"/>
                              </a:rPr>
                              <m:t>𝜑</m:t>
                            </m:r>
                          </m:sub>
                        </m:sSub>
                        <m:d>
                          <m:dPr>
                            <m:ctrlPr>
                              <a:rPr lang="en-IN" i="1">
                                <a:solidFill>
                                  <a:srgbClr val="7030A0"/>
                                </a:solidFill>
                                <a:latin typeface="Cambria Math" panose="02040503050406030204" pitchFamily="18" charset="0"/>
                                <a:ea typeface="Cambria Math" panose="02040503050406030204" pitchFamily="18" charset="0"/>
                              </a:rPr>
                            </m:ctrlPr>
                          </m:dPr>
                          <m:e>
                            <m:r>
                              <a:rPr lang="en-IN" i="1">
                                <a:solidFill>
                                  <a:srgbClr val="7030A0"/>
                                </a:solidFill>
                                <a:latin typeface="Cambria Math" panose="02040503050406030204" pitchFamily="18" charset="0"/>
                              </a:rPr>
                              <m:t>𝑧</m:t>
                            </m:r>
                          </m:e>
                          <m:e>
                            <m:r>
                              <a:rPr lang="en-IN" i="1">
                                <a:solidFill>
                                  <a:srgbClr val="7030A0"/>
                                </a:solidFill>
                                <a:latin typeface="Cambria Math" panose="02040503050406030204" pitchFamily="18" charset="0"/>
                              </a:rPr>
                              <m:t>𝑥</m:t>
                            </m:r>
                          </m:e>
                        </m:d>
                      </m:sub>
                    </m:sSub>
                    <m:func>
                      <m:funcPr>
                        <m:ctrlPr>
                          <a:rPr lang="en-IN" i="1">
                            <a:solidFill>
                              <a:srgbClr val="7030A0"/>
                            </a:solidFill>
                            <a:latin typeface="Cambria Math" panose="02040503050406030204" pitchFamily="18" charset="0"/>
                          </a:rPr>
                        </m:ctrlPr>
                      </m:funcPr>
                      <m:fName>
                        <m:r>
                          <a:rPr lang="en-GB" b="0" i="0" smtClean="0">
                            <a:solidFill>
                              <a:srgbClr val="7030A0"/>
                            </a:solidFill>
                            <a:latin typeface="Cambria Math" panose="02040503050406030204" pitchFamily="18" charset="0"/>
                          </a:rPr>
                          <m:t>[</m:t>
                        </m:r>
                        <m:r>
                          <m:rPr>
                            <m:sty m:val="p"/>
                          </m:rPr>
                          <a:rPr lang="en-IN">
                            <a:solidFill>
                              <a:srgbClr val="7030A0"/>
                            </a:solidFill>
                            <a:latin typeface="Cambria Math" panose="02040503050406030204" pitchFamily="18" charset="0"/>
                          </a:rPr>
                          <m:t>log</m:t>
                        </m:r>
                      </m:fName>
                      <m:e>
                        <m:f>
                          <m:fPr>
                            <m:ctrlPr>
                              <a:rPr lang="en-IN" i="1">
                                <a:solidFill>
                                  <a:srgbClr val="7030A0"/>
                                </a:solidFill>
                                <a:latin typeface="Cambria Math" panose="02040503050406030204" pitchFamily="18" charset="0"/>
                                <a:cs typeface="Times New Roman" panose="02020603050405020304" pitchFamily="18" charset="0"/>
                              </a:rPr>
                            </m:ctrlPr>
                          </m:fPr>
                          <m:num>
                            <m:sSub>
                              <m:sSubPr>
                                <m:ctrlPr>
                                  <a:rPr lang="en-IN" i="1">
                                    <a:solidFill>
                                      <a:srgbClr val="7030A0"/>
                                    </a:solidFill>
                                    <a:latin typeface="Cambria Math" panose="02040503050406030204" pitchFamily="18" charset="0"/>
                                  </a:rPr>
                                </m:ctrlPr>
                              </m:sSubPr>
                              <m:e>
                                <m:r>
                                  <a:rPr lang="en-IN" i="1">
                                    <a:solidFill>
                                      <a:srgbClr val="7030A0"/>
                                    </a:solidFill>
                                    <a:latin typeface="Cambria Math" panose="02040503050406030204" pitchFamily="18" charset="0"/>
                                  </a:rPr>
                                  <m:t>𝑝</m:t>
                                </m:r>
                              </m:e>
                              <m:sub>
                                <m:r>
                                  <a:rPr lang="en-IN" i="1">
                                    <a:solidFill>
                                      <a:srgbClr val="7030A0"/>
                                    </a:solidFill>
                                    <a:latin typeface="Cambria Math" panose="02040503050406030204" pitchFamily="18" charset="0"/>
                                    <a:ea typeface="Cambria Math" panose="02040503050406030204" pitchFamily="18" charset="0"/>
                                  </a:rPr>
                                  <m:t>𝜃</m:t>
                                </m:r>
                              </m:sub>
                            </m:sSub>
                            <m:r>
                              <a:rPr lang="en-IN" i="1">
                                <a:solidFill>
                                  <a:srgbClr val="7030A0"/>
                                </a:solidFill>
                                <a:latin typeface="Cambria Math" panose="02040503050406030204" pitchFamily="18" charset="0"/>
                                <a:ea typeface="Cambria Math" panose="02040503050406030204" pitchFamily="18" charset="0"/>
                              </a:rPr>
                              <m:t>(</m:t>
                            </m:r>
                            <m:r>
                              <a:rPr lang="en-IN" i="1">
                                <a:solidFill>
                                  <a:srgbClr val="7030A0"/>
                                </a:solidFill>
                                <a:latin typeface="Cambria Math" panose="02040503050406030204" pitchFamily="18" charset="0"/>
                                <a:ea typeface="Cambria Math" panose="02040503050406030204" pitchFamily="18" charset="0"/>
                              </a:rPr>
                              <m:t>𝑥</m:t>
                            </m:r>
                            <m:r>
                              <a:rPr lang="en-IN" i="1">
                                <a:solidFill>
                                  <a:srgbClr val="7030A0"/>
                                </a:solidFill>
                                <a:latin typeface="Cambria Math" panose="02040503050406030204" pitchFamily="18" charset="0"/>
                                <a:ea typeface="Cambria Math" panose="02040503050406030204" pitchFamily="18" charset="0"/>
                              </a:rPr>
                              <m:t>,</m:t>
                            </m:r>
                            <m:r>
                              <a:rPr lang="en-IN" i="1">
                                <a:solidFill>
                                  <a:srgbClr val="7030A0"/>
                                </a:solidFill>
                                <a:latin typeface="Cambria Math" panose="02040503050406030204" pitchFamily="18" charset="0"/>
                                <a:ea typeface="Cambria Math" panose="02040503050406030204" pitchFamily="18" charset="0"/>
                              </a:rPr>
                              <m:t>𝑧</m:t>
                            </m:r>
                            <m:r>
                              <a:rPr lang="en-IN" i="1">
                                <a:solidFill>
                                  <a:srgbClr val="7030A0"/>
                                </a:solidFill>
                                <a:latin typeface="Cambria Math" panose="02040503050406030204" pitchFamily="18" charset="0"/>
                                <a:ea typeface="Cambria Math" panose="02040503050406030204" pitchFamily="18" charset="0"/>
                              </a:rPr>
                              <m:t>)</m:t>
                            </m:r>
                          </m:num>
                          <m:den>
                            <m:sSub>
                              <m:sSubPr>
                                <m:ctrlPr>
                                  <a:rPr lang="en-IN" i="1">
                                    <a:solidFill>
                                      <a:srgbClr val="7030A0"/>
                                    </a:solidFill>
                                    <a:latin typeface="Cambria Math" panose="02040503050406030204" pitchFamily="18" charset="0"/>
                                    <a:cs typeface="Times New Roman" panose="02020603050405020304" pitchFamily="18" charset="0"/>
                                  </a:rPr>
                                </m:ctrlPr>
                              </m:sSubPr>
                              <m:e>
                                <m:r>
                                  <a:rPr lang="en-IN" i="1">
                                    <a:solidFill>
                                      <a:srgbClr val="7030A0"/>
                                    </a:solidFill>
                                    <a:latin typeface="Cambria Math" panose="02040503050406030204" pitchFamily="18" charset="0"/>
                                    <a:cs typeface="Times New Roman" panose="02020603050405020304" pitchFamily="18" charset="0"/>
                                  </a:rPr>
                                  <m:t>𝑞</m:t>
                                </m:r>
                              </m:e>
                              <m:sub>
                                <m:r>
                                  <a:rPr lang="en-IN"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i="1">
                                <a:solidFill>
                                  <a:srgbClr val="7030A0"/>
                                </a:solidFill>
                                <a:latin typeface="Cambria Math" panose="02040503050406030204" pitchFamily="18" charset="0"/>
                                <a:cs typeface="Times New Roman" panose="02020603050405020304" pitchFamily="18" charset="0"/>
                              </a:rPr>
                              <m:t>(</m:t>
                            </m:r>
                            <m:r>
                              <a:rPr lang="en-IN" i="1">
                                <a:solidFill>
                                  <a:srgbClr val="7030A0"/>
                                </a:solidFill>
                                <a:latin typeface="Cambria Math" panose="02040503050406030204" pitchFamily="18" charset="0"/>
                                <a:cs typeface="Times New Roman" panose="02020603050405020304" pitchFamily="18" charset="0"/>
                              </a:rPr>
                              <m:t>𝑧</m:t>
                            </m:r>
                            <m:r>
                              <a:rPr lang="en-IN" i="1">
                                <a:solidFill>
                                  <a:srgbClr val="7030A0"/>
                                </a:solidFill>
                                <a:latin typeface="Cambria Math" panose="02040503050406030204" pitchFamily="18" charset="0"/>
                                <a:cs typeface="Times New Roman" panose="02020603050405020304" pitchFamily="18" charset="0"/>
                              </a:rPr>
                              <m:t>|</m:t>
                            </m:r>
                            <m:r>
                              <a:rPr lang="en-IN" i="1">
                                <a:solidFill>
                                  <a:srgbClr val="7030A0"/>
                                </a:solidFill>
                                <a:latin typeface="Cambria Math" panose="02040503050406030204" pitchFamily="18" charset="0"/>
                                <a:cs typeface="Times New Roman" panose="02020603050405020304" pitchFamily="18" charset="0"/>
                              </a:rPr>
                              <m:t>𝑥</m:t>
                            </m:r>
                            <m:r>
                              <a:rPr lang="en-IN" i="1">
                                <a:solidFill>
                                  <a:srgbClr val="7030A0"/>
                                </a:solidFill>
                                <a:latin typeface="Cambria Math" panose="02040503050406030204" pitchFamily="18" charset="0"/>
                                <a:cs typeface="Times New Roman" panose="02020603050405020304" pitchFamily="18" charset="0"/>
                              </a:rPr>
                              <m:t>)</m:t>
                            </m:r>
                          </m:den>
                        </m:f>
                        <m:r>
                          <m:rPr>
                            <m:nor/>
                          </m:rPr>
                          <a:rPr lang="en-IN" dirty="0">
                            <a:solidFill>
                              <a:srgbClr val="7030A0"/>
                            </a:solidFill>
                            <a:latin typeface="Arial Narrow" panose="020B0606020202030204" pitchFamily="34" charset="0"/>
                          </a:rPr>
                          <m:t>]</m:t>
                        </m:r>
                      </m:e>
                    </m:func>
                  </m:oMath>
                </a14:m>
                <a:r>
                  <a:rPr lang="en-IN" dirty="0">
                    <a:latin typeface="Arial Narrow" panose="020B0606020202030204" pitchFamily="34" charset="0"/>
                  </a:rPr>
                  <a:t>                  -- (5)</a:t>
                </a:r>
              </a:p>
              <a:p>
                <a:endParaRPr lang="en-US" dirty="0">
                  <a:latin typeface="Arial Narrow" panose="020B0606020202030204" pitchFamily="34" charset="0"/>
                </a:endParaRPr>
              </a:p>
              <a:p>
                <a:endParaRPr lang="en-IN" dirty="0">
                  <a:latin typeface="Arial Narrow" panose="020B0606020202030204" pitchFamily="34" charset="0"/>
                </a:endParaRPr>
              </a:p>
              <a:p>
                <a:endParaRPr lang="en-IN" dirty="0">
                  <a:latin typeface="Arial Narrow" panose="020B0606020202030204" pitchFamily="34" charset="0"/>
                </a:endParaRPr>
              </a:p>
              <a:p>
                <a:endParaRPr lang="en-IN" dirty="0"/>
              </a:p>
            </p:txBody>
          </p:sp>
        </mc:Choice>
        <mc:Fallback>
          <p:sp>
            <p:nvSpPr>
              <p:cNvPr id="3" name="Text Placeholder 2">
                <a:extLst>
                  <a:ext uri="{FF2B5EF4-FFF2-40B4-BE49-F238E27FC236}">
                    <a16:creationId xmlns:a16="http://schemas.microsoft.com/office/drawing/2014/main" id="{9A255E88-FB79-487B-A5E6-8454A0BD784F}"/>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825403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63ACE-6551-4E6D-BE1A-C5659DA8EAD0}"/>
              </a:ext>
            </a:extLst>
          </p:cNvPr>
          <p:cNvSpPr>
            <a:spLocks noGrp="1"/>
          </p:cNvSpPr>
          <p:nvPr>
            <p:ph type="title"/>
          </p:nvPr>
        </p:nvSpPr>
        <p:spPr/>
        <p:txBody>
          <a:bodyPr>
            <a:normAutofit/>
          </a:bodyPr>
          <a:lstStyle/>
          <a:p>
            <a:r>
              <a:rPr lang="en-IN" sz="3600" dirty="0">
                <a:solidFill>
                  <a:schemeClr val="tx1"/>
                </a:solidFill>
                <a:latin typeface="Century" panose="02040604050505020304" pitchFamily="18" charset="0"/>
              </a:rPr>
              <a:t>Expanding the ELBO</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AD79384E-C612-4908-A981-53ED689952F6}"/>
                  </a:ext>
                </a:extLst>
              </p:cNvPr>
              <p:cNvSpPr>
                <a:spLocks noGrp="1"/>
              </p:cNvSpPr>
              <p:nvPr>
                <p:ph type="body" idx="1"/>
              </p:nvPr>
            </p:nvSpPr>
            <p:spPr/>
            <p:txBody>
              <a:bodyPr>
                <a:normAutofit/>
              </a:bodyPr>
              <a:lstStyle/>
              <a:p>
                <a14:m>
                  <m:oMath xmlns:m="http://schemas.openxmlformats.org/officeDocument/2006/math">
                    <m:sSub>
                      <m:sSubPr>
                        <m:ctrlPr>
                          <a:rPr lang="en-US" sz="2400" i="1" smtClean="0">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𝐿</m:t>
                        </m:r>
                      </m:e>
                      <m:sub>
                        <m:r>
                          <a:rPr lang="en-IN" sz="2400" i="1">
                            <a:solidFill>
                              <a:srgbClr val="7030A0"/>
                            </a:solidFill>
                            <a:latin typeface="Cambria Math" panose="02040503050406030204" pitchFamily="18" charset="0"/>
                          </a:rPr>
                          <m:t>𝐸𝐿𝐵𝑂</m:t>
                        </m:r>
                      </m:sub>
                    </m:sSub>
                    <m:r>
                      <a:rPr lang="en-IN" sz="2400" i="1">
                        <a:solidFill>
                          <a:srgbClr val="7030A0"/>
                        </a:solidFill>
                        <a:latin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r>
                      <a:rPr lang="en-GB" sz="2400" b="0" i="1" smtClean="0">
                        <a:solidFill>
                          <a:srgbClr val="7030A0"/>
                        </a:solidFill>
                        <a:latin typeface="Cambria Math" panose="02040503050406030204" pitchFamily="18" charset="0"/>
                      </a:rPr>
                      <m:t>[</m:t>
                    </m:r>
                    <m:func>
                      <m:funcPr>
                        <m:ctrlPr>
                          <a:rPr lang="en-IN" sz="2400" i="1">
                            <a:solidFill>
                              <a:srgbClr val="7030A0"/>
                            </a:solidFill>
                            <a:latin typeface="Cambria Math" panose="02040503050406030204" pitchFamily="18" charset="0"/>
                          </a:rPr>
                        </m:ctrlPr>
                      </m:funcPr>
                      <m:fName>
                        <m:r>
                          <m:rPr>
                            <m:sty m:val="p"/>
                          </m:rPr>
                          <a:rPr lang="en-IN" sz="2400">
                            <a:solidFill>
                              <a:srgbClr val="7030A0"/>
                            </a:solidFill>
                            <a:latin typeface="Cambria Math" panose="02040503050406030204" pitchFamily="18" charset="0"/>
                          </a:rPr>
                          <m:t>log</m:t>
                        </m:r>
                      </m:fName>
                      <m:e>
                        <m:f>
                          <m:fPr>
                            <m:ctrlPr>
                              <a:rPr lang="en-IN" sz="2400" i="1">
                                <a:solidFill>
                                  <a:srgbClr val="7030A0"/>
                                </a:solidFill>
                                <a:latin typeface="Cambria Math" panose="02040503050406030204" pitchFamily="18" charset="0"/>
                                <a:cs typeface="Times New Roman" panose="02020603050405020304" pitchFamily="18" charset="0"/>
                              </a:rPr>
                            </m:ctrlPr>
                          </m:fPr>
                          <m:num>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r>
                              <a:rPr lang="en-IN" sz="2400" i="1">
                                <a:solidFill>
                                  <a:srgbClr val="7030A0"/>
                                </a:solidFill>
                                <a:latin typeface="Cambria Math" panose="02040503050406030204" pitchFamily="18" charset="0"/>
                                <a:ea typeface="Cambria Math" panose="02040503050406030204" pitchFamily="18" charset="0"/>
                              </a:rPr>
                              <m:t>(</m:t>
                            </m:r>
                            <m:r>
                              <a:rPr lang="en-IN" sz="2400" i="1">
                                <a:solidFill>
                                  <a:srgbClr val="7030A0"/>
                                </a:solidFill>
                                <a:latin typeface="Cambria Math" panose="02040503050406030204" pitchFamily="18" charset="0"/>
                                <a:ea typeface="Cambria Math" panose="02040503050406030204" pitchFamily="18" charset="0"/>
                              </a:rPr>
                              <m:t>𝑥</m:t>
                            </m:r>
                            <m:r>
                              <a:rPr lang="en-IN" sz="2400" i="1">
                                <a:solidFill>
                                  <a:srgbClr val="7030A0"/>
                                </a:solidFill>
                                <a:latin typeface="Cambria Math" panose="02040503050406030204" pitchFamily="18" charset="0"/>
                                <a:ea typeface="Cambria Math" panose="02040503050406030204" pitchFamily="18" charset="0"/>
                              </a:rPr>
                              <m:t>,</m:t>
                            </m:r>
                            <m:r>
                              <a:rPr lang="en-IN" sz="2400" i="1">
                                <a:solidFill>
                                  <a:srgbClr val="7030A0"/>
                                </a:solidFill>
                                <a:latin typeface="Cambria Math" panose="02040503050406030204" pitchFamily="18" charset="0"/>
                                <a:ea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num>
                          <m:den>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𝑞</m:t>
                                </m:r>
                              </m:e>
                              <m:sub>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𝑧</m:t>
                            </m:r>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𝑥</m:t>
                            </m:r>
                            <m:r>
                              <a:rPr lang="en-IN" sz="2400" i="1">
                                <a:solidFill>
                                  <a:srgbClr val="7030A0"/>
                                </a:solidFill>
                                <a:latin typeface="Cambria Math" panose="02040503050406030204" pitchFamily="18" charset="0"/>
                                <a:cs typeface="Times New Roman" panose="02020603050405020304" pitchFamily="18" charset="0"/>
                              </a:rPr>
                              <m:t>)</m:t>
                            </m:r>
                          </m:den>
                        </m:f>
                        <m:r>
                          <m:rPr>
                            <m:nor/>
                          </m:rPr>
                          <a:rPr lang="en-IN" sz="2400" dirty="0">
                            <a:solidFill>
                              <a:srgbClr val="7030A0"/>
                            </a:solidFill>
                            <a:latin typeface="Arial Narrow" panose="020B0606020202030204" pitchFamily="34" charset="0"/>
                          </a:rPr>
                          <m:t>]</m:t>
                        </m:r>
                      </m:e>
                    </m:func>
                  </m:oMath>
                </a14:m>
                <a:r>
                  <a:rPr lang="en-IN" sz="2400" i="1" dirty="0">
                    <a:solidFill>
                      <a:srgbClr val="7030A0"/>
                    </a:solidFill>
                    <a:latin typeface="Cambria Math" panose="02040503050406030204" pitchFamily="18" charset="0"/>
                  </a:rPr>
                  <a:t>     </a:t>
                </a:r>
                <a:r>
                  <a:rPr lang="en-IN" sz="2400" dirty="0">
                    <a:solidFill>
                      <a:schemeClr val="tx1"/>
                    </a:solidFill>
                    <a:latin typeface="Arial Narrow" panose="020B0606020202030204" pitchFamily="34" charset="0"/>
                  </a:rPr>
                  <a:t>since </a:t>
                </a:r>
                <a14:m>
                  <m:oMath xmlns:m="http://schemas.openxmlformats.org/officeDocument/2006/math">
                    <m:r>
                      <a:rPr lang="en-IN" sz="2400" i="1">
                        <a:latin typeface="Cambria Math" panose="02040503050406030204" pitchFamily="18" charset="0"/>
                        <a:cs typeface="Times New Roman" panose="02020603050405020304" pitchFamily="18" charset="0"/>
                      </a:rPr>
                      <m:t>𝑝</m:t>
                    </m:r>
                    <m:d>
                      <m:dPr>
                        <m:ctrlPr>
                          <a:rPr lang="en-IN" sz="2400" i="1">
                            <a:latin typeface="Cambria Math" panose="02040503050406030204" pitchFamily="18" charset="0"/>
                            <a:cs typeface="Times New Roman" panose="02020603050405020304" pitchFamily="18" charset="0"/>
                          </a:rPr>
                        </m:ctrlPr>
                      </m:dPr>
                      <m:e>
                        <m:r>
                          <a:rPr lang="en-IN" sz="2400" i="1">
                            <a:latin typeface="Cambria Math" panose="02040503050406030204" pitchFamily="18" charset="0"/>
                            <a:cs typeface="Times New Roman" panose="02020603050405020304" pitchFamily="18" charset="0"/>
                          </a:rPr>
                          <m:t>𝑧</m:t>
                        </m:r>
                        <m:r>
                          <a:rPr lang="en-IN" sz="2400" i="1">
                            <a:latin typeface="Cambria Math" panose="02040503050406030204" pitchFamily="18" charset="0"/>
                            <a:cs typeface="Times New Roman" panose="02020603050405020304" pitchFamily="18" charset="0"/>
                          </a:rPr>
                          <m:t>,</m:t>
                        </m:r>
                        <m:r>
                          <a:rPr lang="en-IN" sz="2400" i="1">
                            <a:latin typeface="Cambria Math" panose="02040503050406030204" pitchFamily="18" charset="0"/>
                            <a:cs typeface="Times New Roman" panose="02020603050405020304" pitchFamily="18" charset="0"/>
                          </a:rPr>
                          <m:t>𝑥</m:t>
                        </m:r>
                      </m:e>
                    </m:d>
                    <m:r>
                      <a:rPr lang="en-IN" sz="2400" i="1">
                        <a:latin typeface="Cambria Math" panose="02040503050406030204" pitchFamily="18" charset="0"/>
                        <a:cs typeface="Times New Roman" panose="02020603050405020304" pitchFamily="18" charset="0"/>
                      </a:rPr>
                      <m:t>=</m:t>
                    </m:r>
                    <m:r>
                      <a:rPr lang="en-IN" sz="2400" i="1">
                        <a:latin typeface="Cambria Math" panose="02040503050406030204" pitchFamily="18" charset="0"/>
                        <a:cs typeface="Times New Roman" panose="02020603050405020304" pitchFamily="18" charset="0"/>
                      </a:rPr>
                      <m:t>𝑝</m:t>
                    </m:r>
                    <m:d>
                      <m:dPr>
                        <m:ctrlPr>
                          <a:rPr lang="en-IN" sz="2400" i="1">
                            <a:latin typeface="Cambria Math" panose="02040503050406030204" pitchFamily="18" charset="0"/>
                            <a:cs typeface="Times New Roman" panose="02020603050405020304" pitchFamily="18" charset="0"/>
                          </a:rPr>
                        </m:ctrlPr>
                      </m:dPr>
                      <m:e>
                        <m:r>
                          <a:rPr lang="en-IN" sz="2400" i="1">
                            <a:latin typeface="Cambria Math" panose="02040503050406030204" pitchFamily="18" charset="0"/>
                            <a:cs typeface="Times New Roman" panose="02020603050405020304" pitchFamily="18" charset="0"/>
                          </a:rPr>
                          <m:t>𝑥</m:t>
                        </m:r>
                      </m:e>
                      <m:e>
                        <m:r>
                          <a:rPr lang="en-IN" sz="2400" i="1">
                            <a:latin typeface="Cambria Math" panose="02040503050406030204" pitchFamily="18" charset="0"/>
                            <a:cs typeface="Times New Roman" panose="02020603050405020304" pitchFamily="18" charset="0"/>
                          </a:rPr>
                          <m:t>𝑧</m:t>
                        </m:r>
                      </m:e>
                    </m:d>
                    <m:r>
                      <a:rPr lang="en-IN" sz="2400" i="1">
                        <a:latin typeface="Cambria Math" panose="02040503050406030204" pitchFamily="18" charset="0"/>
                        <a:cs typeface="Times New Roman" panose="02020603050405020304" pitchFamily="18" charset="0"/>
                      </a:rPr>
                      <m:t>𝑝</m:t>
                    </m:r>
                    <m:r>
                      <a:rPr lang="en-IN" sz="2400" i="1">
                        <a:latin typeface="Cambria Math" panose="02040503050406030204" pitchFamily="18" charset="0"/>
                        <a:cs typeface="Times New Roman" panose="02020603050405020304" pitchFamily="18" charset="0"/>
                      </a:rPr>
                      <m:t>(</m:t>
                    </m:r>
                    <m:r>
                      <a:rPr lang="en-IN" sz="2400" i="1">
                        <a:latin typeface="Cambria Math" panose="02040503050406030204" pitchFamily="18" charset="0"/>
                        <a:cs typeface="Times New Roman" panose="02020603050405020304" pitchFamily="18" charset="0"/>
                      </a:rPr>
                      <m:t>𝑧</m:t>
                    </m:r>
                    <m:r>
                      <a:rPr lang="en-IN" sz="2400" i="1">
                        <a:latin typeface="Cambria Math" panose="02040503050406030204" pitchFamily="18" charset="0"/>
                        <a:cs typeface="Times New Roman" panose="02020603050405020304" pitchFamily="18" charset="0"/>
                      </a:rPr>
                      <m:t>)</m:t>
                    </m:r>
                  </m:oMath>
                </a14:m>
                <a:endParaRPr lang="en-IN" sz="2400" dirty="0"/>
              </a:p>
              <a:p>
                <a:endParaRPr lang="en-IN" sz="2400" dirty="0"/>
              </a:p>
              <a:p>
                <a:r>
                  <a:rPr lang="en-IN" sz="2400" b="0" dirty="0">
                    <a:solidFill>
                      <a:srgbClr val="7030A0"/>
                    </a:solidFill>
                  </a:rPr>
                  <a:t>              </a:t>
                </a:r>
                <a14:m>
                  <m:oMath xmlns:m="http://schemas.openxmlformats.org/officeDocument/2006/math">
                    <m:r>
                      <m:rPr>
                        <m:nor/>
                      </m:rPr>
                      <a:rPr lang="en-IN" sz="2400" b="0" i="0" dirty="0" smtClean="0">
                        <a:solidFill>
                          <a:srgbClr val="7030A0"/>
                        </a:solidFill>
                        <a:latin typeface="Arial Narrow" panose="020B0606020202030204" pitchFamily="34" charset="0"/>
                      </a:rPr>
                      <m:t>=</m:t>
                    </m:r>
                    <m:sSub>
                      <m:sSubPr>
                        <m:ctrlPr>
                          <a:rPr lang="en-IN" sz="2400" i="1">
                            <a:solidFill>
                              <a:srgbClr val="7030A0"/>
                            </a:solidFill>
                            <a:latin typeface="Cambria Math" panose="02040503050406030204" pitchFamily="18" charset="0"/>
                          </a:rPr>
                        </m:ctrlPr>
                      </m:sSubPr>
                      <m:e>
                        <m:r>
                          <a:rPr lang="en-IN" sz="2400" b="0" i="1" smtClean="0">
                            <a:solidFill>
                              <a:srgbClr val="7030A0"/>
                            </a:solidFill>
                            <a:latin typeface="Cambria Math" panose="02040503050406030204" pitchFamily="18" charset="0"/>
                          </a:rPr>
                          <m:t> </m:t>
                        </m:r>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func>
                      <m:funcPr>
                        <m:ctrlPr>
                          <a:rPr lang="en-IN" sz="2400" i="1">
                            <a:solidFill>
                              <a:srgbClr val="7030A0"/>
                            </a:solidFill>
                            <a:latin typeface="Cambria Math" panose="02040503050406030204" pitchFamily="18" charset="0"/>
                          </a:rPr>
                        </m:ctrlPr>
                      </m:funcPr>
                      <m:fName>
                        <m:r>
                          <a:rPr lang="en-GB" sz="2400" b="0" i="1" smtClean="0">
                            <a:solidFill>
                              <a:srgbClr val="7030A0"/>
                            </a:solidFill>
                            <a:latin typeface="Cambria Math" panose="02040503050406030204" pitchFamily="18" charset="0"/>
                          </a:rPr>
                          <m:t>[</m:t>
                        </m:r>
                        <m:r>
                          <m:rPr>
                            <m:sty m:val="p"/>
                          </m:rPr>
                          <a:rPr lang="en-IN" sz="2400">
                            <a:solidFill>
                              <a:srgbClr val="7030A0"/>
                            </a:solidFill>
                            <a:latin typeface="Cambria Math" panose="02040503050406030204" pitchFamily="18" charset="0"/>
                          </a:rPr>
                          <m:t>log</m:t>
                        </m:r>
                      </m:fName>
                      <m:e>
                        <m:f>
                          <m:fPr>
                            <m:ctrlPr>
                              <a:rPr lang="en-IN" sz="2400" i="1">
                                <a:solidFill>
                                  <a:srgbClr val="7030A0"/>
                                </a:solidFill>
                                <a:latin typeface="Cambria Math" panose="02040503050406030204" pitchFamily="18" charset="0"/>
                                <a:cs typeface="Times New Roman" panose="02020603050405020304" pitchFamily="18" charset="0"/>
                              </a:rPr>
                            </m:ctrlPr>
                          </m:fPr>
                          <m:num>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ea typeface="Cambria Math" panose="02040503050406030204" pitchFamily="18" charset="0"/>
                                  </a:rPr>
                                  <m:t>𝑥</m:t>
                                </m:r>
                              </m:e>
                              <m:e>
                                <m:r>
                                  <a:rPr lang="en-IN" sz="2400" i="1">
                                    <a:solidFill>
                                      <a:srgbClr val="7030A0"/>
                                    </a:solidFill>
                                    <a:latin typeface="Cambria Math" panose="02040503050406030204" pitchFamily="18" charset="0"/>
                                    <a:ea typeface="Cambria Math" panose="02040503050406030204" pitchFamily="18" charset="0"/>
                                  </a:rPr>
                                  <m:t>𝑧</m:t>
                                </m:r>
                              </m:e>
                            </m:d>
                            <m:r>
                              <a:rPr lang="en-IN" sz="2400" b="0" i="1" smtClean="0">
                                <a:solidFill>
                                  <a:srgbClr val="7030A0"/>
                                </a:solidFill>
                                <a:latin typeface="Cambria Math" panose="02040503050406030204" pitchFamily="18" charset="0"/>
                                <a:ea typeface="Cambria Math" panose="02040503050406030204" pitchFamily="18" charset="0"/>
                              </a:rPr>
                              <m:t>𝑝</m:t>
                            </m:r>
                            <m:r>
                              <a:rPr lang="en-IN" sz="2400" b="0" i="1" smtClean="0">
                                <a:solidFill>
                                  <a:srgbClr val="7030A0"/>
                                </a:solidFill>
                                <a:latin typeface="Cambria Math" panose="02040503050406030204" pitchFamily="18" charset="0"/>
                                <a:ea typeface="Cambria Math" panose="02040503050406030204" pitchFamily="18" charset="0"/>
                              </a:rPr>
                              <m:t>(</m:t>
                            </m:r>
                            <m:r>
                              <a:rPr lang="en-IN" sz="2400" b="0" i="1" smtClean="0">
                                <a:solidFill>
                                  <a:srgbClr val="7030A0"/>
                                </a:solidFill>
                                <a:latin typeface="Cambria Math" panose="02040503050406030204" pitchFamily="18" charset="0"/>
                                <a:ea typeface="Cambria Math" panose="02040503050406030204" pitchFamily="18" charset="0"/>
                              </a:rPr>
                              <m:t>𝑧</m:t>
                            </m:r>
                            <m:r>
                              <a:rPr lang="en-IN" sz="2400" b="0" i="1" smtClean="0">
                                <a:solidFill>
                                  <a:srgbClr val="7030A0"/>
                                </a:solidFill>
                                <a:latin typeface="Cambria Math" panose="02040503050406030204" pitchFamily="18" charset="0"/>
                                <a:ea typeface="Cambria Math" panose="02040503050406030204" pitchFamily="18" charset="0"/>
                              </a:rPr>
                              <m:t>)</m:t>
                            </m:r>
                          </m:num>
                          <m:den>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𝑞</m:t>
                                </m:r>
                              </m:e>
                              <m:sub>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𝑧</m:t>
                            </m:r>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𝑥</m:t>
                            </m:r>
                            <m:r>
                              <a:rPr lang="en-IN" sz="2400" i="1">
                                <a:solidFill>
                                  <a:srgbClr val="7030A0"/>
                                </a:solidFill>
                                <a:latin typeface="Cambria Math" panose="02040503050406030204" pitchFamily="18" charset="0"/>
                                <a:cs typeface="Times New Roman" panose="02020603050405020304" pitchFamily="18" charset="0"/>
                              </a:rPr>
                              <m:t>)</m:t>
                            </m:r>
                          </m:den>
                        </m:f>
                        <m:r>
                          <m:rPr>
                            <m:nor/>
                          </m:rPr>
                          <a:rPr lang="en-IN" sz="2400" dirty="0">
                            <a:solidFill>
                              <a:srgbClr val="7030A0"/>
                            </a:solidFill>
                            <a:latin typeface="Arial Narrow" panose="020B0606020202030204" pitchFamily="34" charset="0"/>
                          </a:rPr>
                          <m:t>]</m:t>
                        </m:r>
                      </m:e>
                    </m:func>
                    <m:r>
                      <a:rPr lang="en-IN" sz="2400" i="1" smtClean="0">
                        <a:solidFill>
                          <a:srgbClr val="7030A0"/>
                        </a:solidFill>
                        <a:latin typeface="Cambria Math" panose="02040503050406030204" pitchFamily="18" charset="0"/>
                      </a:rPr>
                      <m:t> </m:t>
                    </m:r>
                  </m:oMath>
                </a14:m>
                <a:endParaRPr lang="en-IN" sz="2400" dirty="0"/>
              </a:p>
              <a:p>
                <a:endParaRPr lang="en-IN" sz="2400" dirty="0"/>
              </a:p>
              <a:p>
                <a:r>
                  <a:rPr lang="en-IN" sz="2400" dirty="0">
                    <a:solidFill>
                      <a:srgbClr val="7030A0"/>
                    </a:solidFill>
                  </a:rPr>
                  <a:t>              </a:t>
                </a:r>
                <a14:m>
                  <m:oMath xmlns:m="http://schemas.openxmlformats.org/officeDocument/2006/math">
                    <m:r>
                      <m:rPr>
                        <m:nor/>
                      </m:rPr>
                      <a:rPr lang="en-IN" sz="2400" dirty="0">
                        <a:solidFill>
                          <a:srgbClr val="7030A0"/>
                        </a:solidFill>
                        <a:latin typeface="Arial Narrow" panose="020B0606020202030204" pitchFamily="34" charset="0"/>
                      </a:rPr>
                      <m:t>=</m:t>
                    </m:r>
                    <m:r>
                      <m:rPr>
                        <m:nor/>
                      </m:rPr>
                      <a:rPr lang="en-IN" sz="2400" b="0" i="0" dirty="0" smtClean="0">
                        <a:solidFill>
                          <a:srgbClr val="7030A0"/>
                        </a:solidFill>
                        <a:latin typeface="Arial Narrow" panose="020B0606020202030204" pitchFamily="34" charset="0"/>
                      </a:rPr>
                      <m:t> </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r>
                      <a:rPr lang="en-IN" sz="2400" b="0" i="0" smtClean="0">
                        <a:solidFill>
                          <a:srgbClr val="7030A0"/>
                        </a:solidFill>
                        <a:latin typeface="Cambria Math" panose="02040503050406030204" pitchFamily="18" charset="0"/>
                      </a:rPr>
                      <m:t>[</m:t>
                    </m:r>
                    <m:r>
                      <m:rPr>
                        <m:sty m:val="p"/>
                      </m:rPr>
                      <a:rPr lang="en-IN" sz="2400" b="0" i="0" smtClean="0">
                        <a:solidFill>
                          <a:srgbClr val="7030A0"/>
                        </a:solidFill>
                        <a:latin typeface="Cambria Math" panose="02040503050406030204" pitchFamily="18" charset="0"/>
                      </a:rPr>
                      <m:t>log</m:t>
                    </m:r>
                    <m:sSub>
                      <m:sSubPr>
                        <m:ctrlPr>
                          <a:rPr lang="en-IN" sz="2400" i="1">
                            <a:solidFill>
                              <a:srgbClr val="7030A0"/>
                            </a:solidFill>
                            <a:latin typeface="Cambria Math" panose="02040503050406030204" pitchFamily="18" charset="0"/>
                          </a:rPr>
                        </m:ctrlPr>
                      </m:sSubPr>
                      <m:e>
                        <m:r>
                          <a:rPr lang="en-IN" sz="2400" b="0" i="1" smtClean="0">
                            <a:solidFill>
                              <a:srgbClr val="7030A0"/>
                            </a:solidFill>
                            <a:latin typeface="Cambria Math" panose="02040503050406030204" pitchFamily="18" charset="0"/>
                          </a:rPr>
                          <m:t> </m:t>
                        </m:r>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ea typeface="Cambria Math" panose="02040503050406030204" pitchFamily="18" charset="0"/>
                          </a:rPr>
                          <m:t>𝑥</m:t>
                        </m:r>
                      </m:e>
                      <m:e>
                        <m:r>
                          <a:rPr lang="en-IN" sz="2400" i="1">
                            <a:solidFill>
                              <a:srgbClr val="7030A0"/>
                            </a:solidFill>
                            <a:latin typeface="Cambria Math" panose="02040503050406030204" pitchFamily="18" charset="0"/>
                            <a:ea typeface="Cambria Math" panose="02040503050406030204" pitchFamily="18" charset="0"/>
                          </a:rPr>
                          <m:t>𝑧</m:t>
                        </m:r>
                      </m:e>
                    </m:d>
                    <m:r>
                      <a:rPr lang="en-IN" sz="2400" b="0" i="0" smtClean="0">
                        <a:solidFill>
                          <a:srgbClr val="7030A0"/>
                        </a:solidFill>
                        <a:latin typeface="Cambria Math" panose="02040503050406030204" pitchFamily="18" charset="0"/>
                        <a:ea typeface="Cambria Math" panose="02040503050406030204" pitchFamily="18" charset="0"/>
                      </a:rPr>
                      <m:t>+</m:t>
                    </m:r>
                    <m:r>
                      <m:rPr>
                        <m:sty m:val="p"/>
                      </m:rPr>
                      <a:rPr lang="en-IN" sz="2400" b="0" i="0" smtClean="0">
                        <a:solidFill>
                          <a:srgbClr val="7030A0"/>
                        </a:solidFill>
                        <a:latin typeface="Cambria Math" panose="02040503050406030204" pitchFamily="18" charset="0"/>
                        <a:ea typeface="Cambria Math" panose="02040503050406030204" pitchFamily="18" charset="0"/>
                      </a:rPr>
                      <m:t>log</m:t>
                    </m:r>
                    <m:r>
                      <a:rPr lang="en-IN" sz="2400" b="0" i="1" smtClean="0">
                        <a:solidFill>
                          <a:srgbClr val="7030A0"/>
                        </a:solidFill>
                        <a:latin typeface="Cambria Math" panose="02040503050406030204" pitchFamily="18" charset="0"/>
                        <a:ea typeface="Cambria Math" panose="02040503050406030204" pitchFamily="18" charset="0"/>
                      </a:rPr>
                      <m:t> </m:t>
                    </m:r>
                    <m:r>
                      <a:rPr lang="en-IN" sz="2400" i="1">
                        <a:solidFill>
                          <a:srgbClr val="7030A0"/>
                        </a:solidFill>
                        <a:latin typeface="Cambria Math" panose="02040503050406030204" pitchFamily="18" charset="0"/>
                        <a:ea typeface="Cambria Math" panose="02040503050406030204" pitchFamily="18" charset="0"/>
                      </a:rPr>
                      <m:t>𝑝</m:t>
                    </m:r>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ea typeface="Cambria Math" panose="02040503050406030204" pitchFamily="18" charset="0"/>
                          </a:rPr>
                          <m:t>𝑧</m:t>
                        </m:r>
                      </m:e>
                    </m:d>
                    <m:r>
                      <a:rPr lang="en-IN" sz="2400" b="0" i="1" smtClean="0">
                        <a:solidFill>
                          <a:srgbClr val="7030A0"/>
                        </a:solidFill>
                        <a:latin typeface="Cambria Math" panose="02040503050406030204" pitchFamily="18" charset="0"/>
                        <a:ea typeface="Cambria Math" panose="02040503050406030204" pitchFamily="18" charset="0"/>
                      </a:rPr>
                      <m:t>−</m:t>
                    </m:r>
                    <m:func>
                      <m:funcPr>
                        <m:ctrlPr>
                          <a:rPr lang="en-IN" sz="2400" b="0" i="1" smtClean="0">
                            <a:solidFill>
                              <a:srgbClr val="7030A0"/>
                            </a:solidFill>
                            <a:latin typeface="Cambria Math" panose="02040503050406030204" pitchFamily="18" charset="0"/>
                            <a:ea typeface="Cambria Math" panose="02040503050406030204" pitchFamily="18" charset="0"/>
                          </a:rPr>
                        </m:ctrlPr>
                      </m:funcPr>
                      <m:fName>
                        <m:r>
                          <m:rPr>
                            <m:sty m:val="p"/>
                          </m:rPr>
                          <a:rPr lang="en-IN" sz="2400" b="0" i="0" smtClean="0">
                            <a:solidFill>
                              <a:srgbClr val="7030A0"/>
                            </a:solidFill>
                            <a:latin typeface="Cambria Math" panose="02040503050406030204" pitchFamily="18" charset="0"/>
                            <a:ea typeface="Cambria Math" panose="02040503050406030204" pitchFamily="18" charset="0"/>
                          </a:rPr>
                          <m:t>log</m:t>
                        </m:r>
                      </m:fName>
                      <m:e>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𝑞</m:t>
                            </m:r>
                          </m:e>
                          <m:sub>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400" i="1">
                                <a:solidFill>
                                  <a:srgbClr val="7030A0"/>
                                </a:solidFill>
                                <a:latin typeface="Cambria Math" panose="02040503050406030204" pitchFamily="18" charset="0"/>
                                <a:cs typeface="Times New Roman" panose="02020603050405020304" pitchFamily="18" charset="0"/>
                              </a:rPr>
                              <m:t>𝑧</m:t>
                            </m:r>
                          </m:e>
                          <m:e>
                            <m:r>
                              <a:rPr lang="en-IN" sz="2400" i="1">
                                <a:solidFill>
                                  <a:srgbClr val="7030A0"/>
                                </a:solidFill>
                                <a:latin typeface="Cambria Math" panose="02040503050406030204" pitchFamily="18" charset="0"/>
                                <a:cs typeface="Times New Roman" panose="02020603050405020304" pitchFamily="18" charset="0"/>
                              </a:rPr>
                              <m:t>𝑥</m:t>
                            </m:r>
                          </m:e>
                        </m:d>
                      </m:e>
                    </m:func>
                    <m:r>
                      <a:rPr lang="en-IN" sz="2400" b="0" i="1" smtClean="0">
                        <a:solidFill>
                          <a:srgbClr val="7030A0"/>
                        </a:solidFill>
                        <a:latin typeface="Cambria Math" panose="02040503050406030204" pitchFamily="18" charset="0"/>
                        <a:ea typeface="Cambria Math" panose="02040503050406030204" pitchFamily="18" charset="0"/>
                      </a:rPr>
                      <m:t>]</m:t>
                    </m:r>
                  </m:oMath>
                </a14:m>
                <a:r>
                  <a:rPr lang="en-IN" sz="2400" dirty="0"/>
                  <a:t> </a:t>
                </a:r>
                <a:r>
                  <a:rPr lang="en-IN" sz="2400" dirty="0">
                    <a:latin typeface="Arial Narrow" panose="020B0606020202030204" pitchFamily="34" charset="0"/>
                  </a:rPr>
                  <a:t>Separating the terms</a:t>
                </a:r>
              </a:p>
              <a:p>
                <a:pPr marL="114300" indent="0">
                  <a:buNone/>
                </a:pPr>
                <a:endParaRPr lang="en-IN" sz="2400" dirty="0">
                  <a:latin typeface="Arial Narrow" panose="020B0606020202030204" pitchFamily="34" charset="0"/>
                </a:endParaRPr>
              </a:p>
              <a:p>
                <a:r>
                  <a:rPr lang="en-IN" sz="2400" dirty="0">
                    <a:latin typeface="Arial Narrow" panose="020B0606020202030204" pitchFamily="34" charset="0"/>
                  </a:rPr>
                  <a:t>              </a:t>
                </a:r>
                <a14:m>
                  <m:oMath xmlns:m="http://schemas.openxmlformats.org/officeDocument/2006/math">
                    <m:r>
                      <m:rPr>
                        <m:nor/>
                      </m:rPr>
                      <a:rPr lang="en-IN" sz="2400" dirty="0">
                        <a:solidFill>
                          <a:srgbClr val="7030A0"/>
                        </a:solidFill>
                        <a:latin typeface="Arial Narrow" panose="020B0606020202030204" pitchFamily="34" charset="0"/>
                      </a:rPr>
                      <m:t>= </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oMath>
                </a14:m>
                <a:r>
                  <a:rPr lang="en-IN" sz="2400" dirty="0">
                    <a:solidFill>
                      <a:srgbClr val="7030A0"/>
                    </a:solidFill>
                  </a:rPr>
                  <a:t> </a:t>
                </a:r>
                <a14:m>
                  <m:oMath xmlns:m="http://schemas.openxmlformats.org/officeDocument/2006/math">
                    <m:d>
                      <m:dPr>
                        <m:begChr m:val="["/>
                        <m:endChr m:val="]"/>
                        <m:ctrlPr>
                          <a:rPr lang="en-IN" sz="2400" i="1">
                            <a:solidFill>
                              <a:srgbClr val="7030A0"/>
                            </a:solidFill>
                            <a:latin typeface="Cambria Math" panose="02040503050406030204" pitchFamily="18" charset="0"/>
                          </a:rPr>
                        </m:ctrlPr>
                      </m:dPr>
                      <m:e>
                        <m:r>
                          <m:rPr>
                            <m:sty m:val="p"/>
                          </m:rPr>
                          <a:rPr lang="en-IN" sz="2400">
                            <a:solidFill>
                              <a:srgbClr val="7030A0"/>
                            </a:solidFill>
                            <a:latin typeface="Cambria Math" panose="02040503050406030204" pitchFamily="18" charset="0"/>
                          </a:rPr>
                          <m:t>log</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 </m:t>
                            </m:r>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ea typeface="Cambria Math" panose="02040503050406030204" pitchFamily="18" charset="0"/>
                              </a:rPr>
                              <m:t>𝑥</m:t>
                            </m:r>
                          </m:e>
                          <m:e>
                            <m:r>
                              <a:rPr lang="en-IN" sz="2400" i="1">
                                <a:solidFill>
                                  <a:srgbClr val="7030A0"/>
                                </a:solidFill>
                                <a:latin typeface="Cambria Math" panose="02040503050406030204" pitchFamily="18" charset="0"/>
                                <a:ea typeface="Cambria Math" panose="02040503050406030204" pitchFamily="18" charset="0"/>
                              </a:rPr>
                              <m:t>𝑧</m:t>
                            </m:r>
                          </m:e>
                        </m:d>
                      </m:e>
                    </m:d>
                    <m:r>
                      <a:rPr lang="en-IN" sz="2400" b="0" i="0" smtClean="0">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r>
                      <a:rPr lang="en-IN" sz="2400" b="0" i="1" smtClean="0">
                        <a:solidFill>
                          <a:srgbClr val="7030A0"/>
                        </a:solidFill>
                        <a:latin typeface="Cambria Math" panose="02040503050406030204" pitchFamily="18" charset="0"/>
                      </a:rPr>
                      <m:t>[</m:t>
                    </m:r>
                    <m:func>
                      <m:funcPr>
                        <m:ctrlPr>
                          <a:rPr lang="en-IN" sz="2400" b="0" i="1" smtClean="0">
                            <a:solidFill>
                              <a:srgbClr val="7030A0"/>
                            </a:solidFill>
                            <a:latin typeface="Cambria Math" panose="02040503050406030204" pitchFamily="18" charset="0"/>
                          </a:rPr>
                        </m:ctrlPr>
                      </m:funcPr>
                      <m:fName>
                        <m:r>
                          <m:rPr>
                            <m:sty m:val="p"/>
                          </m:rPr>
                          <a:rPr lang="en-IN" sz="2400" b="0" i="0" smtClean="0">
                            <a:solidFill>
                              <a:srgbClr val="7030A0"/>
                            </a:solidFill>
                            <a:latin typeface="Cambria Math" panose="02040503050406030204" pitchFamily="18" charset="0"/>
                          </a:rPr>
                          <m:t>log</m:t>
                        </m:r>
                      </m:fName>
                      <m:e>
                        <m:r>
                          <a:rPr lang="en-IN" sz="2400" b="0" i="1" smtClean="0">
                            <a:solidFill>
                              <a:srgbClr val="7030A0"/>
                            </a:solidFill>
                            <a:latin typeface="Cambria Math" panose="02040503050406030204" pitchFamily="18" charset="0"/>
                          </a:rPr>
                          <m:t>𝑝</m:t>
                        </m:r>
                        <m:d>
                          <m:dPr>
                            <m:ctrlPr>
                              <a:rPr lang="en-IN" sz="2400" b="0" i="1" smtClean="0">
                                <a:solidFill>
                                  <a:srgbClr val="7030A0"/>
                                </a:solidFill>
                                <a:latin typeface="Cambria Math" panose="02040503050406030204" pitchFamily="18" charset="0"/>
                              </a:rPr>
                            </m:ctrlPr>
                          </m:dPr>
                          <m:e>
                            <m:r>
                              <a:rPr lang="en-IN" sz="2400" b="0" i="1" smtClean="0">
                                <a:solidFill>
                                  <a:srgbClr val="7030A0"/>
                                </a:solidFill>
                                <a:latin typeface="Cambria Math" panose="02040503050406030204" pitchFamily="18" charset="0"/>
                              </a:rPr>
                              <m:t>𝑧</m:t>
                            </m:r>
                          </m:e>
                        </m:d>
                        <m:r>
                          <a:rPr lang="en-IN" sz="2400" b="0" i="1" smtClean="0">
                            <a:solidFill>
                              <a:srgbClr val="7030A0"/>
                            </a:solidFill>
                            <a:latin typeface="Cambria Math" panose="02040503050406030204" pitchFamily="18" charset="0"/>
                          </a:rPr>
                          <m:t>−</m:t>
                        </m:r>
                        <m:func>
                          <m:funcPr>
                            <m:ctrlPr>
                              <a:rPr lang="en-IN" sz="2400" b="0" i="1" smtClean="0">
                                <a:solidFill>
                                  <a:srgbClr val="7030A0"/>
                                </a:solidFill>
                                <a:latin typeface="Cambria Math" panose="02040503050406030204" pitchFamily="18" charset="0"/>
                              </a:rPr>
                            </m:ctrlPr>
                          </m:funcPr>
                          <m:fName>
                            <m:r>
                              <m:rPr>
                                <m:sty m:val="p"/>
                              </m:rPr>
                              <a:rPr lang="en-IN" sz="2400" b="0" i="0" smtClean="0">
                                <a:solidFill>
                                  <a:srgbClr val="7030A0"/>
                                </a:solidFill>
                                <a:latin typeface="Cambria Math" panose="02040503050406030204" pitchFamily="18" charset="0"/>
                              </a:rPr>
                              <m:t>log</m:t>
                            </m:r>
                          </m:fName>
                          <m:e>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𝑞</m:t>
                                </m:r>
                              </m:e>
                              <m:sub>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400" i="1">
                                    <a:solidFill>
                                      <a:srgbClr val="7030A0"/>
                                    </a:solidFill>
                                    <a:latin typeface="Cambria Math" panose="02040503050406030204" pitchFamily="18" charset="0"/>
                                    <a:cs typeface="Times New Roman" panose="02020603050405020304" pitchFamily="18" charset="0"/>
                                  </a:rPr>
                                  <m:t>𝑧</m:t>
                                </m:r>
                              </m:e>
                              <m:e>
                                <m:r>
                                  <a:rPr lang="en-IN" sz="2400" i="1">
                                    <a:solidFill>
                                      <a:srgbClr val="7030A0"/>
                                    </a:solidFill>
                                    <a:latin typeface="Cambria Math" panose="02040503050406030204" pitchFamily="18" charset="0"/>
                                    <a:cs typeface="Times New Roman" panose="02020603050405020304" pitchFamily="18" charset="0"/>
                                  </a:rPr>
                                  <m:t>𝑥</m:t>
                                </m:r>
                              </m:e>
                            </m:d>
                            <m:r>
                              <a:rPr lang="en-IN" sz="2400" b="0" i="1" smtClean="0">
                                <a:solidFill>
                                  <a:srgbClr val="7030A0"/>
                                </a:solidFill>
                                <a:latin typeface="Cambria Math" panose="02040503050406030204" pitchFamily="18" charset="0"/>
                                <a:cs typeface="Times New Roman" panose="02020603050405020304" pitchFamily="18" charset="0"/>
                              </a:rPr>
                              <m:t>]</m:t>
                            </m:r>
                          </m:e>
                        </m:func>
                      </m:e>
                    </m:func>
                  </m:oMath>
                </a14:m>
                <a:endParaRPr lang="en-IN" sz="2400" dirty="0">
                  <a:latin typeface="Arial Narrow" panose="020B0606020202030204" pitchFamily="34" charset="0"/>
                </a:endParaRPr>
              </a:p>
            </p:txBody>
          </p:sp>
        </mc:Choice>
        <mc:Fallback>
          <p:sp>
            <p:nvSpPr>
              <p:cNvPr id="3" name="Text Placeholder 2">
                <a:extLst>
                  <a:ext uri="{FF2B5EF4-FFF2-40B4-BE49-F238E27FC236}">
                    <a16:creationId xmlns:a16="http://schemas.microsoft.com/office/drawing/2014/main" id="{AD79384E-C612-4908-A981-53ED689952F6}"/>
                  </a:ext>
                </a:extLst>
              </p:cNvPr>
              <p:cNvSpPr>
                <a:spLocks noGrp="1" noRot="1" noChangeAspect="1" noMove="1" noResize="1" noEditPoints="1" noAdjustHandles="1" noChangeArrowheads="1" noChangeShapeType="1" noTextEdit="1"/>
              </p:cNvSpPr>
              <p:nvPr>
                <p:ph type="body" idx="1"/>
              </p:nvPr>
            </p:nvSpPr>
            <p:spPr>
              <a:blipFill>
                <a:blip r:embed="rId2"/>
                <a:stretch>
                  <a:fillRect r="-348"/>
                </a:stretch>
              </a:blipFill>
            </p:spPr>
            <p:txBody>
              <a:bodyPr/>
              <a:lstStyle/>
              <a:p>
                <a:r>
                  <a:rPr lang="en-GB">
                    <a:noFill/>
                  </a:rPr>
                  <a:t> </a:t>
                </a:r>
              </a:p>
            </p:txBody>
          </p:sp>
        </mc:Fallback>
      </mc:AlternateContent>
    </p:spTree>
    <p:extLst>
      <p:ext uri="{BB962C8B-B14F-4D97-AF65-F5344CB8AC3E}">
        <p14:creationId xmlns:p14="http://schemas.microsoft.com/office/powerpoint/2010/main" val="349806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42641DE-A6B5-4EC0-8414-A7F9308FEDB7}"/>
                  </a:ext>
                </a:extLst>
              </p:cNvPr>
              <p:cNvSpPr>
                <a:spLocks noGrp="1"/>
              </p:cNvSpPr>
              <p:nvPr>
                <p:ph type="body" idx="1"/>
              </p:nvPr>
            </p:nvSpPr>
            <p:spPr>
              <a:xfrm>
                <a:off x="838200" y="1825625"/>
                <a:ext cx="10515600" cy="4351338"/>
              </a:xfrm>
            </p:spPr>
            <p:txBody>
              <a:bodyPr>
                <a:normAutofit fontScale="92500" lnSpcReduction="10000"/>
              </a:bodyPr>
              <a:lstStyle/>
              <a:p>
                <a14:m>
                  <m:oMath xmlns:m="http://schemas.openxmlformats.org/officeDocument/2006/math">
                    <m:sSub>
                      <m:sSubPr>
                        <m:ctrlPr>
                          <a:rPr lang="en-IN" sz="2400" i="1" smtClean="0">
                            <a:solidFill>
                              <a:srgbClr val="7030A0"/>
                            </a:solidFill>
                            <a:latin typeface="Cambria Math" panose="02040503050406030204" pitchFamily="18" charset="0"/>
                          </a:rPr>
                        </m:ctrlPr>
                      </m:sSubPr>
                      <m:e>
                        <m:sSub>
                          <m:sSubPr>
                            <m:ctrlPr>
                              <a:rPr lang="en-US"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𝐿</m:t>
                            </m:r>
                          </m:e>
                          <m:sub>
                            <m:r>
                              <a:rPr lang="en-IN" sz="2400" i="1">
                                <a:solidFill>
                                  <a:srgbClr val="7030A0"/>
                                </a:solidFill>
                                <a:latin typeface="Cambria Math" panose="02040503050406030204" pitchFamily="18" charset="0"/>
                              </a:rPr>
                              <m:t>𝐸𝐿𝐵𝑂</m:t>
                            </m:r>
                          </m:sub>
                        </m:sSub>
                        <m:r>
                          <a:rPr lang="en-IN" sz="2400" i="1">
                            <a:solidFill>
                              <a:srgbClr val="7030A0"/>
                            </a:solidFill>
                            <a:latin typeface="Cambria Math" panose="02040503050406030204" pitchFamily="18" charset="0"/>
                          </a:rPr>
                          <m:t>=</m:t>
                        </m:r>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oMath>
                </a14:m>
                <a:r>
                  <a:rPr lang="en-IN" sz="2400" dirty="0">
                    <a:solidFill>
                      <a:srgbClr val="7030A0"/>
                    </a:solidFill>
                  </a:rPr>
                  <a:t> </a:t>
                </a:r>
                <a14:m>
                  <m:oMath xmlns:m="http://schemas.openxmlformats.org/officeDocument/2006/math">
                    <m:d>
                      <m:dPr>
                        <m:begChr m:val="["/>
                        <m:endChr m:val="]"/>
                        <m:ctrlPr>
                          <a:rPr lang="en-IN" sz="2400" i="1">
                            <a:solidFill>
                              <a:srgbClr val="7030A0"/>
                            </a:solidFill>
                            <a:latin typeface="Cambria Math" panose="02040503050406030204" pitchFamily="18" charset="0"/>
                          </a:rPr>
                        </m:ctrlPr>
                      </m:dPr>
                      <m:e>
                        <m:r>
                          <m:rPr>
                            <m:sty m:val="p"/>
                          </m:rPr>
                          <a:rPr lang="en-IN" sz="2400">
                            <a:solidFill>
                              <a:srgbClr val="7030A0"/>
                            </a:solidFill>
                            <a:latin typeface="Cambria Math" panose="02040503050406030204" pitchFamily="18" charset="0"/>
                          </a:rPr>
                          <m:t>log</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 </m:t>
                            </m:r>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ea typeface="Cambria Math" panose="02040503050406030204" pitchFamily="18" charset="0"/>
                              </a:rPr>
                              <m:t>𝑥</m:t>
                            </m:r>
                          </m:e>
                          <m:e>
                            <m:r>
                              <a:rPr lang="en-IN" sz="2400" i="1">
                                <a:solidFill>
                                  <a:srgbClr val="7030A0"/>
                                </a:solidFill>
                                <a:latin typeface="Cambria Math" panose="02040503050406030204" pitchFamily="18" charset="0"/>
                                <a:ea typeface="Cambria Math" panose="02040503050406030204" pitchFamily="18" charset="0"/>
                              </a:rPr>
                              <m:t>𝑧</m:t>
                            </m:r>
                          </m:e>
                        </m:d>
                      </m:e>
                    </m:d>
                    <m:r>
                      <a:rPr lang="en-IN" sz="2400">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r>
                      <a:rPr lang="en-IN" sz="2400" i="1">
                        <a:solidFill>
                          <a:srgbClr val="7030A0"/>
                        </a:solidFill>
                        <a:latin typeface="Cambria Math" panose="02040503050406030204" pitchFamily="18" charset="0"/>
                      </a:rPr>
                      <m:t>[</m:t>
                    </m:r>
                    <m:func>
                      <m:funcPr>
                        <m:ctrlPr>
                          <a:rPr lang="en-IN" sz="2400" i="1">
                            <a:solidFill>
                              <a:srgbClr val="7030A0"/>
                            </a:solidFill>
                            <a:latin typeface="Cambria Math" panose="02040503050406030204" pitchFamily="18" charset="0"/>
                          </a:rPr>
                        </m:ctrlPr>
                      </m:funcPr>
                      <m:fName>
                        <m:r>
                          <m:rPr>
                            <m:sty m:val="p"/>
                          </m:rPr>
                          <a:rPr lang="en-IN" sz="2400">
                            <a:solidFill>
                              <a:srgbClr val="7030A0"/>
                            </a:solidFill>
                            <a:latin typeface="Cambria Math" panose="02040503050406030204" pitchFamily="18" charset="0"/>
                          </a:rPr>
                          <m:t>log</m:t>
                        </m:r>
                      </m:fName>
                      <m:e>
                        <m:r>
                          <a:rPr lang="en-IN" sz="2400" i="1">
                            <a:solidFill>
                              <a:srgbClr val="7030A0"/>
                            </a:solidFill>
                            <a:latin typeface="Cambria Math" panose="02040503050406030204" pitchFamily="18" charset="0"/>
                          </a:rPr>
                          <m:t>𝑝</m:t>
                        </m:r>
                        <m:d>
                          <m:dPr>
                            <m:ctrlPr>
                              <a:rPr lang="en-IN" sz="2400" i="1">
                                <a:solidFill>
                                  <a:srgbClr val="7030A0"/>
                                </a:solidFill>
                                <a:latin typeface="Cambria Math" panose="02040503050406030204" pitchFamily="18" charset="0"/>
                              </a:rPr>
                            </m:ctrlPr>
                          </m:dPr>
                          <m:e>
                            <m:r>
                              <a:rPr lang="en-IN" sz="2400" i="1">
                                <a:solidFill>
                                  <a:srgbClr val="7030A0"/>
                                </a:solidFill>
                                <a:latin typeface="Cambria Math" panose="02040503050406030204" pitchFamily="18" charset="0"/>
                              </a:rPr>
                              <m:t>𝑧</m:t>
                            </m:r>
                          </m:e>
                        </m:d>
                        <m:r>
                          <a:rPr lang="en-IN" sz="2400" i="1">
                            <a:solidFill>
                              <a:srgbClr val="7030A0"/>
                            </a:solidFill>
                            <a:latin typeface="Cambria Math" panose="02040503050406030204" pitchFamily="18" charset="0"/>
                          </a:rPr>
                          <m:t>−</m:t>
                        </m:r>
                        <m:func>
                          <m:funcPr>
                            <m:ctrlPr>
                              <a:rPr lang="en-IN" sz="2400" i="1">
                                <a:solidFill>
                                  <a:srgbClr val="7030A0"/>
                                </a:solidFill>
                                <a:latin typeface="Cambria Math" panose="02040503050406030204" pitchFamily="18" charset="0"/>
                              </a:rPr>
                            </m:ctrlPr>
                          </m:funcPr>
                          <m:fName>
                            <m:r>
                              <m:rPr>
                                <m:sty m:val="p"/>
                              </m:rPr>
                              <a:rPr lang="en-IN" sz="2400">
                                <a:solidFill>
                                  <a:srgbClr val="7030A0"/>
                                </a:solidFill>
                                <a:latin typeface="Cambria Math" panose="02040503050406030204" pitchFamily="18" charset="0"/>
                              </a:rPr>
                              <m:t>log</m:t>
                            </m:r>
                          </m:fName>
                          <m:e>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𝑞</m:t>
                                </m:r>
                              </m:e>
                              <m:sub>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400" i="1">
                                    <a:solidFill>
                                      <a:srgbClr val="7030A0"/>
                                    </a:solidFill>
                                    <a:latin typeface="Cambria Math" panose="02040503050406030204" pitchFamily="18" charset="0"/>
                                    <a:cs typeface="Times New Roman" panose="02020603050405020304" pitchFamily="18" charset="0"/>
                                  </a:rPr>
                                  <m:t>𝑧</m:t>
                                </m:r>
                              </m:e>
                              <m:e>
                                <m:r>
                                  <a:rPr lang="en-IN" sz="2400" i="1">
                                    <a:solidFill>
                                      <a:srgbClr val="7030A0"/>
                                    </a:solidFill>
                                    <a:latin typeface="Cambria Math" panose="02040503050406030204" pitchFamily="18" charset="0"/>
                                    <a:cs typeface="Times New Roman" panose="02020603050405020304" pitchFamily="18" charset="0"/>
                                  </a:rPr>
                                  <m:t>𝑥</m:t>
                                </m:r>
                              </m:e>
                            </m:d>
                            <m:r>
                              <a:rPr lang="en-IN" sz="2400" i="1">
                                <a:solidFill>
                                  <a:srgbClr val="7030A0"/>
                                </a:solidFill>
                                <a:latin typeface="Cambria Math" panose="02040503050406030204" pitchFamily="18" charset="0"/>
                                <a:cs typeface="Times New Roman" panose="02020603050405020304" pitchFamily="18" charset="0"/>
                              </a:rPr>
                              <m:t>]</m:t>
                            </m:r>
                          </m:e>
                        </m:func>
                      </m:e>
                    </m:func>
                  </m:oMath>
                </a14:m>
                <a:endParaRPr lang="en-US" sz="2400" dirty="0">
                  <a:latin typeface="Arial Narrow" panose="020B0606020202030204" pitchFamily="34" charset="0"/>
                </a:endParaRPr>
              </a:p>
              <a:p>
                <a14:m>
                  <m:oMath xmlns:m="http://schemas.openxmlformats.org/officeDocument/2006/math">
                    <m:sSub>
                      <m:sSubPr>
                        <m:ctrlPr>
                          <a:rPr lang="en-IN" sz="2400" i="1">
                            <a:solidFill>
                              <a:srgbClr val="7030A0"/>
                            </a:solidFill>
                            <a:latin typeface="Cambria Math" panose="02040503050406030204" pitchFamily="18" charset="0"/>
                          </a:rPr>
                        </m:ctrlPr>
                      </m:sSubPr>
                      <m:e>
                        <m:sSub>
                          <m:sSubPr>
                            <m:ctrlPr>
                              <a:rPr lang="en-US"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𝐿</m:t>
                            </m:r>
                          </m:e>
                          <m:sub>
                            <m:r>
                              <a:rPr lang="en-IN" sz="2400" i="1">
                                <a:solidFill>
                                  <a:srgbClr val="7030A0"/>
                                </a:solidFill>
                                <a:latin typeface="Cambria Math" panose="02040503050406030204" pitchFamily="18" charset="0"/>
                              </a:rPr>
                              <m:t>𝐸𝐿𝐵𝑂</m:t>
                            </m:r>
                          </m:sub>
                        </m:sSub>
                        <m:r>
                          <a:rPr lang="en-IN" sz="2400" i="1">
                            <a:solidFill>
                              <a:srgbClr val="7030A0"/>
                            </a:solidFill>
                            <a:latin typeface="Cambria Math" panose="02040503050406030204" pitchFamily="18" charset="0"/>
                          </a:rPr>
                          <m:t>=</m:t>
                        </m:r>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oMath>
                </a14:m>
                <a:r>
                  <a:rPr lang="en-IN" sz="2400" dirty="0">
                    <a:solidFill>
                      <a:srgbClr val="7030A0"/>
                    </a:solidFill>
                  </a:rPr>
                  <a:t> </a:t>
                </a:r>
                <a14:m>
                  <m:oMath xmlns:m="http://schemas.openxmlformats.org/officeDocument/2006/math">
                    <m:d>
                      <m:dPr>
                        <m:begChr m:val="["/>
                        <m:endChr m:val="]"/>
                        <m:ctrlPr>
                          <a:rPr lang="en-IN" sz="2400" i="1">
                            <a:solidFill>
                              <a:srgbClr val="7030A0"/>
                            </a:solidFill>
                            <a:latin typeface="Cambria Math" panose="02040503050406030204" pitchFamily="18" charset="0"/>
                          </a:rPr>
                        </m:ctrlPr>
                      </m:dPr>
                      <m:e>
                        <m:r>
                          <m:rPr>
                            <m:sty m:val="p"/>
                          </m:rPr>
                          <a:rPr lang="en-IN" sz="2400">
                            <a:solidFill>
                              <a:srgbClr val="7030A0"/>
                            </a:solidFill>
                            <a:latin typeface="Cambria Math" panose="02040503050406030204" pitchFamily="18" charset="0"/>
                          </a:rPr>
                          <m:t>log</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 </m:t>
                            </m:r>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ea typeface="Cambria Math" panose="02040503050406030204" pitchFamily="18" charset="0"/>
                              </a:rPr>
                              <m:t>𝑥</m:t>
                            </m:r>
                          </m:e>
                          <m:e>
                            <m:r>
                              <a:rPr lang="en-IN" sz="2400" i="1">
                                <a:solidFill>
                                  <a:srgbClr val="7030A0"/>
                                </a:solidFill>
                                <a:latin typeface="Cambria Math" panose="02040503050406030204" pitchFamily="18" charset="0"/>
                                <a:ea typeface="Cambria Math" panose="02040503050406030204" pitchFamily="18" charset="0"/>
                              </a:rPr>
                              <m:t>𝑧</m:t>
                            </m:r>
                          </m:e>
                        </m:d>
                      </m:e>
                    </m:d>
                    <m:r>
                      <a:rPr lang="en-IN" sz="2400" b="0" i="1" smtClean="0">
                        <a:solidFill>
                          <a:srgbClr val="7030A0"/>
                        </a:solidFill>
                        <a:latin typeface="Cambria Math" panose="02040503050406030204" pitchFamily="18" charset="0"/>
                        <a:ea typeface="Cambria Math" panose="02040503050406030204" pitchFamily="18" charset="0"/>
                      </a:rPr>
                      <m:t>−</m:t>
                    </m:r>
                  </m:oMath>
                </a14:m>
                <a:r>
                  <a:rPr lang="en-IN" sz="2400" dirty="0">
                    <a:solidFill>
                      <a:srgbClr val="7030A0"/>
                    </a:solidFill>
                  </a:rPr>
                  <a:t> </a:t>
                </a:r>
                <a14:m>
                  <m:oMath xmlns:m="http://schemas.openxmlformats.org/officeDocument/2006/math">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r>
                      <a:rPr lang="en-IN" sz="2400" b="0" i="1" smtClean="0">
                        <a:solidFill>
                          <a:srgbClr val="7030A0"/>
                        </a:solidFill>
                        <a:latin typeface="Cambria Math" panose="02040503050406030204" pitchFamily="18" charset="0"/>
                      </a:rPr>
                      <m:t>[</m:t>
                    </m:r>
                    <m:func>
                      <m:funcPr>
                        <m:ctrlPr>
                          <a:rPr lang="en-IN" sz="2400" i="1">
                            <a:solidFill>
                              <a:srgbClr val="7030A0"/>
                            </a:solidFill>
                            <a:latin typeface="Cambria Math" panose="02040503050406030204" pitchFamily="18" charset="0"/>
                          </a:rPr>
                        </m:ctrlPr>
                      </m:funcPr>
                      <m:fName>
                        <m:r>
                          <m:rPr>
                            <m:sty m:val="p"/>
                          </m:rPr>
                          <a:rPr lang="en-IN" sz="2400">
                            <a:solidFill>
                              <a:srgbClr val="7030A0"/>
                            </a:solidFill>
                            <a:latin typeface="Cambria Math" panose="02040503050406030204" pitchFamily="18" charset="0"/>
                          </a:rPr>
                          <m:t>log</m:t>
                        </m:r>
                      </m:fName>
                      <m:e>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𝑞</m:t>
                            </m:r>
                          </m:e>
                          <m:sub>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400" i="1">
                                <a:solidFill>
                                  <a:srgbClr val="7030A0"/>
                                </a:solidFill>
                                <a:latin typeface="Cambria Math" panose="02040503050406030204" pitchFamily="18" charset="0"/>
                                <a:cs typeface="Times New Roman" panose="02020603050405020304" pitchFamily="18" charset="0"/>
                              </a:rPr>
                              <m:t>𝑧</m:t>
                            </m:r>
                          </m:e>
                          <m:e>
                            <m:r>
                              <a:rPr lang="en-IN" sz="2400" i="1">
                                <a:solidFill>
                                  <a:srgbClr val="7030A0"/>
                                </a:solidFill>
                                <a:latin typeface="Cambria Math" panose="02040503050406030204" pitchFamily="18" charset="0"/>
                                <a:cs typeface="Times New Roman" panose="02020603050405020304" pitchFamily="18" charset="0"/>
                              </a:rPr>
                              <m:t>𝑥</m:t>
                            </m:r>
                          </m:e>
                        </m:d>
                        <m:r>
                          <a:rPr lang="en-IN" sz="2400" b="0" i="1" smtClean="0">
                            <a:solidFill>
                              <a:srgbClr val="7030A0"/>
                            </a:solidFill>
                            <a:latin typeface="Cambria Math" panose="02040503050406030204" pitchFamily="18" charset="0"/>
                            <a:cs typeface="Times New Roman" panose="02020603050405020304" pitchFamily="18" charset="0"/>
                          </a:rPr>
                          <m:t>−</m:t>
                        </m:r>
                        <m:func>
                          <m:funcPr>
                            <m:ctrlPr>
                              <a:rPr lang="en-IN" sz="2400" b="0" i="1" smtClean="0">
                                <a:solidFill>
                                  <a:srgbClr val="7030A0"/>
                                </a:solidFill>
                                <a:latin typeface="Cambria Math" panose="02040503050406030204" pitchFamily="18" charset="0"/>
                                <a:cs typeface="Times New Roman" panose="02020603050405020304" pitchFamily="18" charset="0"/>
                              </a:rPr>
                            </m:ctrlPr>
                          </m:funcPr>
                          <m:fName>
                            <m:r>
                              <m:rPr>
                                <m:sty m:val="p"/>
                              </m:rPr>
                              <a:rPr lang="en-IN" sz="2400" b="0" i="0" smtClean="0">
                                <a:solidFill>
                                  <a:srgbClr val="7030A0"/>
                                </a:solidFill>
                                <a:latin typeface="Cambria Math" panose="02040503050406030204" pitchFamily="18" charset="0"/>
                                <a:cs typeface="Times New Roman" panose="02020603050405020304" pitchFamily="18" charset="0"/>
                              </a:rPr>
                              <m:t>log</m:t>
                            </m:r>
                          </m:fName>
                          <m:e>
                            <m:r>
                              <a:rPr lang="en-IN" sz="2400" b="0" i="1" smtClean="0">
                                <a:solidFill>
                                  <a:srgbClr val="7030A0"/>
                                </a:solidFill>
                                <a:latin typeface="Cambria Math" panose="02040503050406030204" pitchFamily="18" charset="0"/>
                                <a:cs typeface="Times New Roman" panose="02020603050405020304" pitchFamily="18" charset="0"/>
                              </a:rPr>
                              <m:t>𝑝</m:t>
                            </m:r>
                            <m:r>
                              <a:rPr lang="en-IN" sz="2400" b="0" i="1" smtClean="0">
                                <a:solidFill>
                                  <a:srgbClr val="7030A0"/>
                                </a:solidFill>
                                <a:latin typeface="Cambria Math" panose="02040503050406030204" pitchFamily="18" charset="0"/>
                                <a:cs typeface="Times New Roman" panose="02020603050405020304" pitchFamily="18" charset="0"/>
                              </a:rPr>
                              <m:t>(</m:t>
                            </m:r>
                            <m:r>
                              <a:rPr lang="en-IN" sz="2400" b="0" i="1" smtClean="0">
                                <a:solidFill>
                                  <a:srgbClr val="7030A0"/>
                                </a:solidFill>
                                <a:latin typeface="Cambria Math" panose="02040503050406030204" pitchFamily="18" charset="0"/>
                                <a:cs typeface="Times New Roman" panose="02020603050405020304" pitchFamily="18" charset="0"/>
                              </a:rPr>
                              <m:t>𝑧</m:t>
                            </m:r>
                            <m:r>
                              <a:rPr lang="en-IN" sz="2400" b="0" i="1" smtClean="0">
                                <a:solidFill>
                                  <a:srgbClr val="7030A0"/>
                                </a:solidFill>
                                <a:latin typeface="Cambria Math" panose="02040503050406030204" pitchFamily="18" charset="0"/>
                                <a:cs typeface="Times New Roman" panose="02020603050405020304" pitchFamily="18" charset="0"/>
                              </a:rPr>
                              <m:t>)</m:t>
                            </m:r>
                          </m:e>
                        </m:func>
                        <m:r>
                          <a:rPr lang="en-IN" sz="2400" i="1">
                            <a:solidFill>
                              <a:srgbClr val="7030A0"/>
                            </a:solidFill>
                            <a:latin typeface="Cambria Math" panose="02040503050406030204" pitchFamily="18" charset="0"/>
                            <a:cs typeface="Times New Roman" panose="02020603050405020304" pitchFamily="18" charset="0"/>
                          </a:rPr>
                          <m:t>]</m:t>
                        </m:r>
                      </m:e>
                    </m:func>
                  </m:oMath>
                </a14:m>
                <a:endParaRPr lang="en-US" sz="2400" dirty="0">
                  <a:latin typeface="Arial Narrow" panose="020B0606020202030204" pitchFamily="34" charset="0"/>
                </a:endParaRPr>
              </a:p>
              <a:p>
                <a14:m>
                  <m:oMath xmlns:m="http://schemas.openxmlformats.org/officeDocument/2006/math">
                    <m:sSub>
                      <m:sSubPr>
                        <m:ctrlPr>
                          <a:rPr lang="en-IN" sz="2400" i="1">
                            <a:solidFill>
                              <a:srgbClr val="7030A0"/>
                            </a:solidFill>
                            <a:latin typeface="Cambria Math" panose="02040503050406030204" pitchFamily="18" charset="0"/>
                          </a:rPr>
                        </m:ctrlPr>
                      </m:sSubPr>
                      <m:e>
                        <m:sSub>
                          <m:sSubPr>
                            <m:ctrlPr>
                              <a:rPr lang="en-US"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𝐿</m:t>
                            </m:r>
                          </m:e>
                          <m:sub>
                            <m:r>
                              <a:rPr lang="en-IN" sz="2400" i="1">
                                <a:solidFill>
                                  <a:srgbClr val="7030A0"/>
                                </a:solidFill>
                                <a:latin typeface="Cambria Math" panose="02040503050406030204" pitchFamily="18" charset="0"/>
                              </a:rPr>
                              <m:t>𝐸𝐿𝐵𝑂</m:t>
                            </m:r>
                          </m:sub>
                        </m:sSub>
                        <m:r>
                          <a:rPr lang="en-IN" sz="2400" i="1">
                            <a:solidFill>
                              <a:srgbClr val="7030A0"/>
                            </a:solidFill>
                            <a:latin typeface="Cambria Math" panose="02040503050406030204" pitchFamily="18" charset="0"/>
                          </a:rPr>
                          <m:t>=</m:t>
                        </m:r>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oMath>
                </a14:m>
                <a:r>
                  <a:rPr lang="en-IN" sz="2400" dirty="0">
                    <a:solidFill>
                      <a:srgbClr val="7030A0"/>
                    </a:solidFill>
                  </a:rPr>
                  <a:t> </a:t>
                </a:r>
                <a14:m>
                  <m:oMath xmlns:m="http://schemas.openxmlformats.org/officeDocument/2006/math">
                    <m:d>
                      <m:dPr>
                        <m:begChr m:val="["/>
                        <m:endChr m:val="]"/>
                        <m:ctrlPr>
                          <a:rPr lang="en-IN" sz="2400" i="1">
                            <a:solidFill>
                              <a:srgbClr val="7030A0"/>
                            </a:solidFill>
                            <a:latin typeface="Cambria Math" panose="02040503050406030204" pitchFamily="18" charset="0"/>
                          </a:rPr>
                        </m:ctrlPr>
                      </m:dPr>
                      <m:e>
                        <m:r>
                          <m:rPr>
                            <m:sty m:val="p"/>
                          </m:rPr>
                          <a:rPr lang="en-IN" sz="2400">
                            <a:solidFill>
                              <a:srgbClr val="7030A0"/>
                            </a:solidFill>
                            <a:latin typeface="Cambria Math" panose="02040503050406030204" pitchFamily="18" charset="0"/>
                          </a:rPr>
                          <m:t>log</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 </m:t>
                            </m:r>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ea typeface="Cambria Math" panose="02040503050406030204" pitchFamily="18" charset="0"/>
                              </a:rPr>
                              <m:t>𝑥</m:t>
                            </m:r>
                          </m:e>
                          <m:e>
                            <m:r>
                              <a:rPr lang="en-IN" sz="2400" i="1">
                                <a:solidFill>
                                  <a:srgbClr val="7030A0"/>
                                </a:solidFill>
                                <a:latin typeface="Cambria Math" panose="02040503050406030204" pitchFamily="18" charset="0"/>
                                <a:ea typeface="Cambria Math" panose="02040503050406030204" pitchFamily="18" charset="0"/>
                              </a:rPr>
                              <m:t>𝑧</m:t>
                            </m:r>
                          </m:e>
                        </m:d>
                      </m:e>
                    </m:d>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r>
                      <a:rPr lang="en-IN" sz="2400">
                        <a:solidFill>
                          <a:srgbClr val="7030A0"/>
                        </a:solidFill>
                        <a:latin typeface="Cambria Math" panose="02040503050406030204" pitchFamily="18" charset="0"/>
                      </a:rPr>
                      <m:t>[</m:t>
                    </m:r>
                    <m:r>
                      <m:rPr>
                        <m:sty m:val="p"/>
                      </m:rPr>
                      <a:rPr lang="en-IN" sz="2400">
                        <a:solidFill>
                          <a:srgbClr val="7030A0"/>
                        </a:solidFill>
                        <a:latin typeface="Cambria Math" panose="02040503050406030204" pitchFamily="18" charset="0"/>
                      </a:rPr>
                      <m:t>log</m:t>
                    </m:r>
                    <m:r>
                      <a:rPr lang="en-IN" sz="2400">
                        <a:solidFill>
                          <a:srgbClr val="7030A0"/>
                        </a:solidFill>
                        <a:latin typeface="Cambria Math" panose="02040503050406030204" pitchFamily="18" charset="0"/>
                      </a:rPr>
                      <m:t> </m:t>
                    </m:r>
                    <m:f>
                      <m:fPr>
                        <m:ctrlPr>
                          <a:rPr lang="en-IN" sz="2400" i="1">
                            <a:solidFill>
                              <a:srgbClr val="7030A0"/>
                            </a:solidFill>
                            <a:latin typeface="Cambria Math" panose="02040503050406030204" pitchFamily="18" charset="0"/>
                          </a:rPr>
                        </m:ctrlPr>
                      </m:fPr>
                      <m:num>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𝑞</m:t>
                            </m:r>
                          </m:e>
                          <m:sub>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400" i="1">
                                <a:solidFill>
                                  <a:srgbClr val="7030A0"/>
                                </a:solidFill>
                                <a:latin typeface="Cambria Math" panose="02040503050406030204" pitchFamily="18" charset="0"/>
                                <a:cs typeface="Times New Roman" panose="02020603050405020304" pitchFamily="18" charset="0"/>
                              </a:rPr>
                              <m:t>𝑧</m:t>
                            </m:r>
                          </m:e>
                          <m:e>
                            <m:r>
                              <a:rPr lang="en-IN" sz="2400" i="1">
                                <a:solidFill>
                                  <a:srgbClr val="7030A0"/>
                                </a:solidFill>
                                <a:latin typeface="Cambria Math" panose="02040503050406030204" pitchFamily="18" charset="0"/>
                                <a:cs typeface="Times New Roman" panose="02020603050405020304" pitchFamily="18" charset="0"/>
                              </a:rPr>
                              <m:t>𝑥</m:t>
                            </m:r>
                          </m:e>
                        </m:d>
                      </m:num>
                      <m:den>
                        <m:r>
                          <a:rPr lang="en-IN" sz="2400" i="1">
                            <a:solidFill>
                              <a:srgbClr val="7030A0"/>
                            </a:solidFill>
                            <a:latin typeface="Cambria Math" panose="02040503050406030204" pitchFamily="18" charset="0"/>
                          </a:rPr>
                          <m:t>𝑝</m:t>
                        </m:r>
                        <m:d>
                          <m:dPr>
                            <m:ctrlPr>
                              <a:rPr lang="en-IN" sz="2400" i="1">
                                <a:solidFill>
                                  <a:srgbClr val="7030A0"/>
                                </a:solidFill>
                                <a:latin typeface="Cambria Math" panose="02040503050406030204" pitchFamily="18" charset="0"/>
                              </a:rPr>
                            </m:ctrlPr>
                          </m:dPr>
                          <m:e>
                            <m:r>
                              <a:rPr lang="en-IN" sz="2400" i="1">
                                <a:solidFill>
                                  <a:srgbClr val="7030A0"/>
                                </a:solidFill>
                                <a:latin typeface="Cambria Math" panose="02040503050406030204" pitchFamily="18" charset="0"/>
                              </a:rPr>
                              <m:t>𝑧</m:t>
                            </m:r>
                          </m:e>
                        </m:d>
                      </m:den>
                    </m:f>
                    <m:r>
                      <a:rPr lang="en-IN" sz="2400" i="1">
                        <a:solidFill>
                          <a:srgbClr val="7030A0"/>
                        </a:solidFill>
                        <a:latin typeface="Cambria Math" panose="02040503050406030204" pitchFamily="18" charset="0"/>
                      </a:rPr>
                      <m:t>]</m:t>
                    </m:r>
                  </m:oMath>
                </a14:m>
                <a:endParaRPr lang="en-IN" sz="2400" dirty="0">
                  <a:latin typeface="Arial Narrow" panose="020B0606020202030204" pitchFamily="34" charset="0"/>
                </a:endParaRPr>
              </a:p>
              <a:p>
                <a:endParaRPr lang="en-US" sz="2400" dirty="0">
                  <a:latin typeface="Arial Narrow" panose="020B0606020202030204" pitchFamily="34" charset="0"/>
                </a:endParaRPr>
              </a:p>
              <a:p>
                <a:r>
                  <a:rPr lang="en-US" sz="2400" dirty="0">
                    <a:latin typeface="Arial Narrow" panose="020B0606020202030204" pitchFamily="34" charset="0"/>
                  </a:rPr>
                  <a:t>The second term can be written as a KL divergence:</a:t>
                </a:r>
              </a:p>
              <a:p>
                <a:pPr marL="114300" indent="0">
                  <a:buNone/>
                </a:pPr>
                <a14:m>
                  <m:oMathPara xmlns:m="http://schemas.openxmlformats.org/officeDocument/2006/math">
                    <m:oMathParaPr>
                      <m:jc m:val="centerGroup"/>
                    </m:oMathParaPr>
                    <m:oMath xmlns:m="http://schemas.openxmlformats.org/officeDocument/2006/math">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𝐷</m:t>
                          </m:r>
                        </m:e>
                        <m:sub>
                          <m:r>
                            <a:rPr lang="en-IN" sz="2400" i="1">
                              <a:solidFill>
                                <a:srgbClr val="7030A0"/>
                              </a:solidFill>
                              <a:latin typeface="Cambria Math" panose="02040503050406030204" pitchFamily="18" charset="0"/>
                              <a:cs typeface="Times New Roman" panose="02020603050405020304" pitchFamily="18" charset="0"/>
                            </a:rPr>
                            <m:t>𝐾𝐿</m:t>
                          </m:r>
                        </m:sub>
                      </m:sSub>
                      <m:r>
                        <a:rPr lang="en-IN" sz="2400" i="1">
                          <a:solidFill>
                            <a:srgbClr val="7030A0"/>
                          </a:solidFill>
                          <a:latin typeface="Cambria Math" panose="02040503050406030204" pitchFamily="18" charset="0"/>
                          <a:cs typeface="Times New Roman" panose="020206030504050203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US"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𝑧</m:t>
                      </m:r>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𝑥</m:t>
                      </m:r>
                      <m:r>
                        <a:rPr lang="en-IN" sz="2400" i="1">
                          <a:solidFill>
                            <a:srgbClr val="7030A0"/>
                          </a:solidFill>
                          <a:latin typeface="Cambria Math" panose="02040503050406030204" pitchFamily="18" charset="0"/>
                          <a:cs typeface="Times New Roman" panose="02020603050405020304" pitchFamily="18" charset="0"/>
                        </a:rPr>
                        <m:t>)||</m:t>
                      </m:r>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cs typeface="Times New Roman" panose="02020603050405020304" pitchFamily="18" charset="0"/>
                            </a:rPr>
                          </m:ctrlPr>
                        </m:dPr>
                        <m:e>
                          <m:r>
                            <a:rPr lang="en-IN" sz="2400" i="1">
                              <a:solidFill>
                                <a:srgbClr val="7030A0"/>
                              </a:solidFill>
                              <a:latin typeface="Cambria Math" panose="02040503050406030204" pitchFamily="18" charset="0"/>
                              <a:cs typeface="Times New Roman" panose="02020603050405020304" pitchFamily="18" charset="0"/>
                            </a:rPr>
                            <m:t>𝑧</m:t>
                          </m:r>
                        </m:e>
                      </m:d>
                      <m:r>
                        <a:rPr lang="en-IN" sz="2400" i="1">
                          <a:solidFill>
                            <a:srgbClr val="7030A0"/>
                          </a:solidFill>
                          <a:latin typeface="Cambria Math" panose="02040503050406030204" pitchFamily="18" charset="0"/>
                          <a:cs typeface="Times New Roman" panose="02020603050405020304" pitchFamily="18" charset="0"/>
                        </a:rPr>
                        <m:t>) =</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r>
                        <a:rPr lang="en-IN" sz="2400">
                          <a:solidFill>
                            <a:srgbClr val="7030A0"/>
                          </a:solidFill>
                          <a:latin typeface="Cambria Math" panose="02040503050406030204" pitchFamily="18" charset="0"/>
                        </a:rPr>
                        <m:t>[</m:t>
                      </m:r>
                      <m:r>
                        <m:rPr>
                          <m:sty m:val="p"/>
                        </m:rPr>
                        <a:rPr lang="en-IN" sz="2400">
                          <a:solidFill>
                            <a:srgbClr val="7030A0"/>
                          </a:solidFill>
                          <a:latin typeface="Cambria Math" panose="02040503050406030204" pitchFamily="18" charset="0"/>
                        </a:rPr>
                        <m:t>log</m:t>
                      </m:r>
                      <m:r>
                        <a:rPr lang="en-IN" sz="2400">
                          <a:solidFill>
                            <a:srgbClr val="7030A0"/>
                          </a:solidFill>
                          <a:latin typeface="Cambria Math" panose="02040503050406030204" pitchFamily="18" charset="0"/>
                        </a:rPr>
                        <m:t> </m:t>
                      </m:r>
                      <m:f>
                        <m:fPr>
                          <m:ctrlPr>
                            <a:rPr lang="en-IN" sz="2400" i="1">
                              <a:solidFill>
                                <a:srgbClr val="7030A0"/>
                              </a:solidFill>
                              <a:latin typeface="Cambria Math" panose="02040503050406030204" pitchFamily="18" charset="0"/>
                            </a:rPr>
                          </m:ctrlPr>
                        </m:fPr>
                        <m:num>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𝑞</m:t>
                              </m:r>
                            </m:e>
                            <m:sub>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400" i="1">
                                  <a:solidFill>
                                    <a:srgbClr val="7030A0"/>
                                  </a:solidFill>
                                  <a:latin typeface="Cambria Math" panose="02040503050406030204" pitchFamily="18" charset="0"/>
                                  <a:cs typeface="Times New Roman" panose="02020603050405020304" pitchFamily="18" charset="0"/>
                                </a:rPr>
                                <m:t>𝑧</m:t>
                              </m:r>
                            </m:e>
                            <m:e>
                              <m:r>
                                <a:rPr lang="en-IN" sz="2400" i="1">
                                  <a:solidFill>
                                    <a:srgbClr val="7030A0"/>
                                  </a:solidFill>
                                  <a:latin typeface="Cambria Math" panose="02040503050406030204" pitchFamily="18" charset="0"/>
                                  <a:cs typeface="Times New Roman" panose="02020603050405020304" pitchFamily="18" charset="0"/>
                                </a:rPr>
                                <m:t>𝑥</m:t>
                              </m:r>
                            </m:e>
                          </m:d>
                        </m:num>
                        <m:den>
                          <m:r>
                            <a:rPr lang="en-IN" sz="2400" i="1">
                              <a:solidFill>
                                <a:srgbClr val="7030A0"/>
                              </a:solidFill>
                              <a:latin typeface="Cambria Math" panose="02040503050406030204" pitchFamily="18" charset="0"/>
                            </a:rPr>
                            <m:t>𝑝</m:t>
                          </m:r>
                          <m:d>
                            <m:dPr>
                              <m:ctrlPr>
                                <a:rPr lang="en-IN" sz="2400" i="1">
                                  <a:solidFill>
                                    <a:srgbClr val="7030A0"/>
                                  </a:solidFill>
                                  <a:latin typeface="Cambria Math" panose="02040503050406030204" pitchFamily="18" charset="0"/>
                                </a:rPr>
                              </m:ctrlPr>
                            </m:dPr>
                            <m:e>
                              <m:r>
                                <a:rPr lang="en-IN" sz="2400" i="1">
                                  <a:solidFill>
                                    <a:srgbClr val="7030A0"/>
                                  </a:solidFill>
                                  <a:latin typeface="Cambria Math" panose="02040503050406030204" pitchFamily="18" charset="0"/>
                                </a:rPr>
                                <m:t>𝑧</m:t>
                              </m:r>
                            </m:e>
                          </m:d>
                        </m:den>
                      </m:f>
                      <m:r>
                        <a:rPr lang="en-IN" sz="2400" i="1">
                          <a:solidFill>
                            <a:srgbClr val="7030A0"/>
                          </a:solidFill>
                          <a:latin typeface="Cambria Math" panose="02040503050406030204" pitchFamily="18" charset="0"/>
                        </a:rPr>
                        <m:t>]</m:t>
                      </m:r>
                    </m:oMath>
                  </m:oMathPara>
                </a14:m>
                <a:endParaRPr lang="en-IN" sz="2400" dirty="0">
                  <a:latin typeface="Arial Narrow" panose="020B0606020202030204" pitchFamily="34" charset="0"/>
                </a:endParaRPr>
              </a:p>
              <a:p>
                <a:r>
                  <a:rPr lang="en-IN" sz="2400" dirty="0">
                    <a:latin typeface="Arial Narrow" panose="020B0606020202030204" pitchFamily="34" charset="0"/>
                  </a:rPr>
                  <a:t>So, </a:t>
                </a:r>
              </a:p>
              <a:p>
                <a:pPr marL="114300" indent="0">
                  <a:buNone/>
                </a:pPr>
                <a14:m>
                  <m:oMathPara xmlns:m="http://schemas.openxmlformats.org/officeDocument/2006/math">
                    <m:oMathParaPr>
                      <m:jc m:val="centerGroup"/>
                    </m:oMathParaPr>
                    <m:oMath xmlns:m="http://schemas.openxmlformats.org/officeDocument/2006/math">
                      <m:sSub>
                        <m:sSubPr>
                          <m:ctrlPr>
                            <a:rPr lang="en-US"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𝐿</m:t>
                          </m:r>
                        </m:e>
                        <m:sub>
                          <m:r>
                            <a:rPr lang="en-IN" sz="2400" i="1">
                              <a:solidFill>
                                <a:srgbClr val="7030A0"/>
                              </a:solidFill>
                              <a:latin typeface="Cambria Math" panose="02040503050406030204" pitchFamily="18" charset="0"/>
                            </a:rPr>
                            <m:t>𝐸𝐿𝐵𝑂</m:t>
                          </m:r>
                        </m:sub>
                      </m:sSub>
                      <m:r>
                        <a:rPr lang="en-IN" sz="2400" i="1">
                          <a:solidFill>
                            <a:srgbClr val="7030A0"/>
                          </a:solidFill>
                          <a:latin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r>
                        <m:rPr>
                          <m:nor/>
                        </m:rPr>
                        <a:rPr lang="en-IN" sz="2400" dirty="0">
                          <a:solidFill>
                            <a:srgbClr val="7030A0"/>
                          </a:solidFill>
                        </a:rPr>
                        <m:t> </m:t>
                      </m:r>
                      <m:d>
                        <m:dPr>
                          <m:begChr m:val="["/>
                          <m:endChr m:val="]"/>
                          <m:ctrlPr>
                            <a:rPr lang="en-IN" sz="2400" i="1">
                              <a:solidFill>
                                <a:srgbClr val="7030A0"/>
                              </a:solidFill>
                              <a:latin typeface="Cambria Math" panose="02040503050406030204" pitchFamily="18" charset="0"/>
                            </a:rPr>
                          </m:ctrlPr>
                        </m:dPr>
                        <m:e>
                          <m:r>
                            <m:rPr>
                              <m:sty m:val="p"/>
                            </m:rPr>
                            <a:rPr lang="en-IN" sz="2400">
                              <a:solidFill>
                                <a:srgbClr val="7030A0"/>
                              </a:solidFill>
                              <a:latin typeface="Cambria Math" panose="02040503050406030204" pitchFamily="18" charset="0"/>
                            </a:rPr>
                            <m:t>log</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 </m:t>
                              </m:r>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ea typeface="Cambria Math" panose="02040503050406030204" pitchFamily="18" charset="0"/>
                                </a:rPr>
                                <m:t>𝑥</m:t>
                              </m:r>
                            </m:e>
                            <m:e>
                              <m:r>
                                <a:rPr lang="en-IN" sz="2400" i="1">
                                  <a:solidFill>
                                    <a:srgbClr val="7030A0"/>
                                  </a:solidFill>
                                  <a:latin typeface="Cambria Math" panose="02040503050406030204" pitchFamily="18" charset="0"/>
                                  <a:ea typeface="Cambria Math" panose="02040503050406030204" pitchFamily="18" charset="0"/>
                                </a:rPr>
                                <m:t>𝑧</m:t>
                              </m:r>
                            </m:e>
                          </m:d>
                        </m:e>
                      </m:d>
                      <m:r>
                        <a:rPr lang="en-IN" sz="2400">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𝐷</m:t>
                          </m:r>
                        </m:e>
                        <m:sub>
                          <m:r>
                            <a:rPr lang="en-IN" sz="2400" i="1">
                              <a:solidFill>
                                <a:srgbClr val="7030A0"/>
                              </a:solidFill>
                              <a:latin typeface="Cambria Math" panose="02040503050406030204" pitchFamily="18" charset="0"/>
                              <a:cs typeface="Times New Roman" panose="02020603050405020304" pitchFamily="18" charset="0"/>
                            </a:rPr>
                            <m:t>𝐾𝐿</m:t>
                          </m:r>
                        </m:sub>
                      </m:sSub>
                      <m:r>
                        <a:rPr lang="en-IN" sz="2400" i="1">
                          <a:solidFill>
                            <a:srgbClr val="7030A0"/>
                          </a:solidFill>
                          <a:latin typeface="Cambria Math" panose="02040503050406030204" pitchFamily="18" charset="0"/>
                          <a:cs typeface="Times New Roman" panose="020206030504050203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US"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𝑧</m:t>
                      </m:r>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𝑥</m:t>
                      </m:r>
                      <m:r>
                        <a:rPr lang="en-IN" sz="2400" i="1">
                          <a:solidFill>
                            <a:srgbClr val="7030A0"/>
                          </a:solidFill>
                          <a:latin typeface="Cambria Math" panose="02040503050406030204" pitchFamily="18" charset="0"/>
                          <a:cs typeface="Times New Roman" panose="02020603050405020304" pitchFamily="18" charset="0"/>
                        </a:rPr>
                        <m:t>)||</m:t>
                      </m:r>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cs typeface="Times New Roman" panose="02020603050405020304" pitchFamily="18" charset="0"/>
                            </a:rPr>
                          </m:ctrlPr>
                        </m:dPr>
                        <m:e>
                          <m:r>
                            <a:rPr lang="en-IN" sz="2400" i="1">
                              <a:solidFill>
                                <a:srgbClr val="7030A0"/>
                              </a:solidFill>
                              <a:latin typeface="Cambria Math" panose="02040503050406030204" pitchFamily="18" charset="0"/>
                              <a:cs typeface="Times New Roman" panose="02020603050405020304" pitchFamily="18" charset="0"/>
                            </a:rPr>
                            <m:t>𝑧</m:t>
                          </m:r>
                        </m:e>
                      </m:d>
                      <m:r>
                        <a:rPr lang="en-IN" sz="2400" i="1">
                          <a:solidFill>
                            <a:srgbClr val="7030A0"/>
                          </a:solidFill>
                          <a:latin typeface="Cambria Math" panose="02040503050406030204" pitchFamily="18" charset="0"/>
                          <a:cs typeface="Times New Roman" panose="02020603050405020304" pitchFamily="18" charset="0"/>
                        </a:rPr>
                        <m:t>)</m:t>
                      </m:r>
                    </m:oMath>
                  </m:oMathPara>
                </a14:m>
                <a:endParaRPr lang="en-IN" sz="2400" dirty="0">
                  <a:latin typeface="Arial Narrow" panose="020B0606020202030204" pitchFamily="34" charset="0"/>
                </a:endParaRPr>
              </a:p>
              <a:p>
                <a:pPr marL="114300" indent="0">
                  <a:buNone/>
                </a:pPr>
                <a:r>
                  <a:rPr lang="en-IN" sz="2400" dirty="0">
                    <a:latin typeface="Arial Narrow" panose="020B0606020202030204" pitchFamily="34" charset="0"/>
                  </a:rPr>
                  <a:t>                                                                           This is the objective function of the VAE.</a:t>
                </a:r>
              </a:p>
              <a:p>
                <a:endParaRPr lang="en-IN" dirty="0"/>
              </a:p>
            </p:txBody>
          </p:sp>
        </mc:Choice>
        <mc:Fallback xmlns="">
          <p:sp>
            <p:nvSpPr>
              <p:cNvPr id="3" name="Text Placeholder 2">
                <a:extLst>
                  <a:ext uri="{FF2B5EF4-FFF2-40B4-BE49-F238E27FC236}">
                    <a16:creationId xmlns:a16="http://schemas.microsoft.com/office/drawing/2014/main" id="{842641DE-A6B5-4EC0-8414-A7F9308FEDB7}"/>
                  </a:ext>
                </a:extLst>
              </p:cNvPr>
              <p:cNvSpPr>
                <a:spLocks noGrp="1" noRot="1" noChangeAspect="1" noMove="1" noResize="1" noEditPoints="1" noAdjustHandles="1" noChangeArrowheads="1" noChangeShapeType="1" noTextEdit="1"/>
              </p:cNvSpPr>
              <p:nvPr>
                <p:ph type="body" idx="1"/>
              </p:nvPr>
            </p:nvSpPr>
            <p:spPr>
              <a:xfrm>
                <a:off x="838200" y="1825625"/>
                <a:ext cx="10515600" cy="4351338"/>
              </a:xfrm>
              <a:blipFill>
                <a:blip r:embed="rId2"/>
                <a:stretch>
                  <a:fillRect/>
                </a:stretch>
              </a:blipFill>
            </p:spPr>
            <p:txBody>
              <a:bodyPr/>
              <a:lstStyle/>
              <a:p>
                <a:r>
                  <a:rPr lang="en-IN">
                    <a:noFill/>
                  </a:rPr>
                  <a:t> </a:t>
                </a:r>
              </a:p>
            </p:txBody>
          </p:sp>
        </mc:Fallback>
      </mc:AlternateContent>
      <p:sp>
        <p:nvSpPr>
          <p:cNvPr id="4" name="Title 1">
            <a:extLst>
              <a:ext uri="{FF2B5EF4-FFF2-40B4-BE49-F238E27FC236}">
                <a16:creationId xmlns:a16="http://schemas.microsoft.com/office/drawing/2014/main" id="{AD59AC59-491A-4116-944D-151200C54A6D}"/>
              </a:ext>
            </a:extLst>
          </p:cNvPr>
          <p:cNvSpPr>
            <a:spLocks noGrp="1"/>
          </p:cNvSpPr>
          <p:nvPr>
            <p:ph type="title"/>
          </p:nvPr>
        </p:nvSpPr>
        <p:spPr>
          <a:xfrm>
            <a:off x="838200" y="365125"/>
            <a:ext cx="10515600" cy="1325563"/>
          </a:xfrm>
        </p:spPr>
        <p:txBody>
          <a:bodyPr>
            <a:normAutofit/>
          </a:bodyPr>
          <a:lstStyle/>
          <a:p>
            <a:r>
              <a:rPr lang="en-IN" sz="3600" dirty="0">
                <a:solidFill>
                  <a:schemeClr val="tx1"/>
                </a:solidFill>
                <a:latin typeface="Century" panose="02040604050505020304" pitchFamily="18" charset="0"/>
              </a:rPr>
              <a:t>Expanding the ELBO</a:t>
            </a:r>
          </a:p>
        </p:txBody>
      </p:sp>
    </p:spTree>
    <p:extLst>
      <p:ext uri="{BB962C8B-B14F-4D97-AF65-F5344CB8AC3E}">
        <p14:creationId xmlns:p14="http://schemas.microsoft.com/office/powerpoint/2010/main" val="3799075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0B205-86E9-4AB1-8946-7A5B1360A119}"/>
              </a:ext>
            </a:extLst>
          </p:cNvPr>
          <p:cNvSpPr>
            <a:spLocks noGrp="1"/>
          </p:cNvSpPr>
          <p:nvPr>
            <p:ph type="title"/>
          </p:nvPr>
        </p:nvSpPr>
        <p:spPr/>
        <p:txBody>
          <a:bodyPr>
            <a:normAutofit/>
          </a:bodyPr>
          <a:lstStyle/>
          <a:p>
            <a:r>
              <a:rPr lang="en-US" sz="3600" dirty="0">
                <a:latin typeface="Century" panose="02040604050505020304" pitchFamily="18" charset="0"/>
              </a:rPr>
              <a:t>The two components of the VAE objective</a:t>
            </a:r>
            <a:endParaRPr lang="en-IN" sz="3600" dirty="0">
              <a:latin typeface="Century" panose="02040604050505020304" pitchFamily="18"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966DF92-5585-4D9A-A2B2-5ED5DB0CBB19}"/>
                  </a:ext>
                </a:extLst>
              </p:cNvPr>
              <p:cNvSpPr>
                <a:spLocks noGrp="1"/>
              </p:cNvSpPr>
              <p:nvPr>
                <p:ph type="body" idx="1"/>
              </p:nvPr>
            </p:nvSpPr>
            <p:spPr>
              <a:xfrm>
                <a:off x="838200" y="1825625"/>
                <a:ext cx="10719062" cy="4351338"/>
              </a:xfrm>
            </p:spPr>
            <p:txBody>
              <a:bodyPr>
                <a:normAutofit lnSpcReduction="10000"/>
              </a:bodyPr>
              <a:lstStyle/>
              <a:p>
                <a:r>
                  <a:rPr lang="en-US" sz="2400" dirty="0">
                    <a:latin typeface="Arial Narrow" panose="020B0606020202030204" pitchFamily="34" charset="0"/>
                  </a:rPr>
                  <a:t>The ELBO contains two major terms:</a:t>
                </a:r>
              </a:p>
              <a:p>
                <a:endParaRPr lang="en-US" sz="2400" dirty="0">
                  <a:latin typeface="Arial Narrow" panose="020B0606020202030204" pitchFamily="34" charset="0"/>
                </a:endParaRPr>
              </a:p>
              <a:p>
                <a14:m>
                  <m:oMath xmlns:m="http://schemas.openxmlformats.org/officeDocument/2006/math">
                    <m:sSub>
                      <m:sSubPr>
                        <m:ctrlPr>
                          <a:rPr lang="en-US"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𝐿</m:t>
                        </m:r>
                      </m:e>
                      <m:sub>
                        <m:r>
                          <a:rPr lang="en-IN" sz="2400" i="1">
                            <a:solidFill>
                              <a:srgbClr val="7030A0"/>
                            </a:solidFill>
                            <a:latin typeface="Cambria Math" panose="02040503050406030204" pitchFamily="18" charset="0"/>
                          </a:rPr>
                          <m:t>𝐸𝐿𝐵𝑂</m:t>
                        </m:r>
                      </m:sub>
                    </m:sSub>
                    <m:r>
                      <a:rPr lang="en-IN" sz="2400" i="1">
                        <a:solidFill>
                          <a:srgbClr val="7030A0"/>
                        </a:solidFill>
                        <a:latin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r>
                      <m:rPr>
                        <m:nor/>
                      </m:rPr>
                      <a:rPr lang="en-IN" sz="2400" dirty="0">
                        <a:solidFill>
                          <a:srgbClr val="7030A0"/>
                        </a:solidFill>
                      </a:rPr>
                      <m:t> </m:t>
                    </m:r>
                    <m:d>
                      <m:dPr>
                        <m:begChr m:val="["/>
                        <m:endChr m:val="]"/>
                        <m:ctrlPr>
                          <a:rPr lang="en-IN" sz="2400" i="1">
                            <a:solidFill>
                              <a:srgbClr val="7030A0"/>
                            </a:solidFill>
                            <a:latin typeface="Cambria Math" panose="02040503050406030204" pitchFamily="18" charset="0"/>
                          </a:rPr>
                        </m:ctrlPr>
                      </m:dPr>
                      <m:e>
                        <m:r>
                          <m:rPr>
                            <m:sty m:val="p"/>
                          </m:rPr>
                          <a:rPr lang="en-IN" sz="2400">
                            <a:solidFill>
                              <a:srgbClr val="7030A0"/>
                            </a:solidFill>
                            <a:latin typeface="Cambria Math" panose="02040503050406030204" pitchFamily="18" charset="0"/>
                          </a:rPr>
                          <m:t>log</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 </m:t>
                            </m:r>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ea typeface="Cambria Math" panose="02040503050406030204" pitchFamily="18" charset="0"/>
                              </a:rPr>
                              <m:t>𝑥</m:t>
                            </m:r>
                          </m:e>
                          <m:e>
                            <m:r>
                              <a:rPr lang="en-IN" sz="2400" i="1">
                                <a:solidFill>
                                  <a:srgbClr val="7030A0"/>
                                </a:solidFill>
                                <a:latin typeface="Cambria Math" panose="02040503050406030204" pitchFamily="18" charset="0"/>
                                <a:ea typeface="Cambria Math" panose="02040503050406030204" pitchFamily="18" charset="0"/>
                              </a:rPr>
                              <m:t>𝑧</m:t>
                            </m:r>
                          </m:e>
                        </m:d>
                      </m:e>
                    </m:d>
                    <m:r>
                      <a:rPr lang="en-IN" sz="2400">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𝐷</m:t>
                        </m:r>
                      </m:e>
                      <m:sub>
                        <m:r>
                          <a:rPr lang="en-IN" sz="2400" i="1">
                            <a:solidFill>
                              <a:srgbClr val="7030A0"/>
                            </a:solidFill>
                            <a:latin typeface="Cambria Math" panose="02040503050406030204" pitchFamily="18" charset="0"/>
                            <a:cs typeface="Times New Roman" panose="02020603050405020304" pitchFamily="18" charset="0"/>
                          </a:rPr>
                          <m:t>𝐾𝐿</m:t>
                        </m:r>
                      </m:sub>
                    </m:sSub>
                    <m:r>
                      <a:rPr lang="en-IN" sz="2400" i="1">
                        <a:solidFill>
                          <a:srgbClr val="7030A0"/>
                        </a:solidFill>
                        <a:latin typeface="Cambria Math" panose="02040503050406030204" pitchFamily="18" charset="0"/>
                        <a:cs typeface="Times New Roman" panose="020206030504050203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US"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𝑧</m:t>
                    </m:r>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𝑥</m:t>
                    </m:r>
                    <m:r>
                      <a:rPr lang="en-IN" sz="2400" i="1">
                        <a:solidFill>
                          <a:srgbClr val="7030A0"/>
                        </a:solidFill>
                        <a:latin typeface="Cambria Math" panose="02040503050406030204" pitchFamily="18" charset="0"/>
                        <a:cs typeface="Times New Roman" panose="02020603050405020304" pitchFamily="18" charset="0"/>
                      </a:rPr>
                      <m:t>)||</m:t>
                    </m:r>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cs typeface="Times New Roman" panose="02020603050405020304" pitchFamily="18" charset="0"/>
                          </a:rPr>
                        </m:ctrlPr>
                      </m:dPr>
                      <m:e>
                        <m:r>
                          <a:rPr lang="en-IN" sz="2400" i="1">
                            <a:solidFill>
                              <a:srgbClr val="7030A0"/>
                            </a:solidFill>
                            <a:latin typeface="Cambria Math" panose="02040503050406030204" pitchFamily="18" charset="0"/>
                            <a:cs typeface="Times New Roman" panose="02020603050405020304" pitchFamily="18" charset="0"/>
                          </a:rPr>
                          <m:t>𝑧</m:t>
                        </m:r>
                      </m:e>
                    </m:d>
                    <m:r>
                      <a:rPr lang="en-IN" sz="2400" i="1">
                        <a:solidFill>
                          <a:srgbClr val="7030A0"/>
                        </a:solidFill>
                        <a:latin typeface="Cambria Math" panose="02040503050406030204" pitchFamily="18" charset="0"/>
                        <a:cs typeface="Times New Roman" panose="02020603050405020304" pitchFamily="18" charset="0"/>
                      </a:rPr>
                      <m:t>)</m:t>
                    </m:r>
                  </m:oMath>
                </a14:m>
                <a:endParaRPr lang="en-US" sz="2400" dirty="0">
                  <a:latin typeface="Arial Narrow" panose="020B0606020202030204" pitchFamily="34" charset="0"/>
                </a:endParaRPr>
              </a:p>
              <a:p>
                <a:endParaRPr lang="en-IN" dirty="0"/>
              </a:p>
              <a:p>
                <a:r>
                  <a:rPr lang="en-IN" sz="2400" dirty="0">
                    <a:solidFill>
                      <a:srgbClr val="7030A0"/>
                    </a:solidFill>
                    <a:latin typeface="Arial Narrow" panose="020B0606020202030204" pitchFamily="34" charset="0"/>
                  </a:rPr>
                  <a:t>Reconstruction term</a:t>
                </a:r>
                <a:r>
                  <a:rPr lang="en-IN" sz="2400" dirty="0">
                    <a:latin typeface="Arial Narrow" panose="020B0606020202030204" pitchFamily="34" charset="0"/>
                  </a:rPr>
                  <a:t>: </a:t>
                </a:r>
                <a14:m>
                  <m:oMath xmlns:m="http://schemas.openxmlformats.org/officeDocument/2006/math">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r>
                      <m:rPr>
                        <m:nor/>
                      </m:rPr>
                      <a:rPr lang="en-IN" sz="2400" dirty="0">
                        <a:solidFill>
                          <a:srgbClr val="7030A0"/>
                        </a:solidFill>
                      </a:rPr>
                      <m:t> </m:t>
                    </m:r>
                    <m:d>
                      <m:dPr>
                        <m:begChr m:val="["/>
                        <m:endChr m:val="]"/>
                        <m:ctrlPr>
                          <a:rPr lang="en-IN" sz="2400" i="1">
                            <a:solidFill>
                              <a:srgbClr val="7030A0"/>
                            </a:solidFill>
                            <a:latin typeface="Cambria Math" panose="02040503050406030204" pitchFamily="18" charset="0"/>
                          </a:rPr>
                        </m:ctrlPr>
                      </m:dPr>
                      <m:e>
                        <m:r>
                          <m:rPr>
                            <m:sty m:val="p"/>
                          </m:rPr>
                          <a:rPr lang="en-IN" sz="2400">
                            <a:solidFill>
                              <a:srgbClr val="7030A0"/>
                            </a:solidFill>
                            <a:latin typeface="Cambria Math" panose="02040503050406030204" pitchFamily="18" charset="0"/>
                          </a:rPr>
                          <m:t>log</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 </m:t>
                            </m:r>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ea typeface="Cambria Math" panose="02040503050406030204" pitchFamily="18" charset="0"/>
                              </a:rPr>
                              <m:t>𝑥</m:t>
                            </m:r>
                          </m:e>
                          <m:e>
                            <m:r>
                              <a:rPr lang="en-IN" sz="2400" i="1">
                                <a:solidFill>
                                  <a:srgbClr val="7030A0"/>
                                </a:solidFill>
                                <a:latin typeface="Cambria Math" panose="02040503050406030204" pitchFamily="18" charset="0"/>
                                <a:ea typeface="Cambria Math" panose="02040503050406030204" pitchFamily="18" charset="0"/>
                              </a:rPr>
                              <m:t>𝑧</m:t>
                            </m:r>
                          </m:e>
                        </m:d>
                      </m:e>
                    </m:d>
                  </m:oMath>
                </a14:m>
                <a:endParaRPr lang="en-IN" sz="2400" dirty="0">
                  <a:latin typeface="Arial Narrow" panose="020B0606020202030204" pitchFamily="34" charset="0"/>
                </a:endParaRPr>
              </a:p>
              <a:p>
                <a:endParaRPr lang="en-IN" sz="2400" dirty="0">
                  <a:latin typeface="Arial Narrow" panose="020B0606020202030204" pitchFamily="34" charset="0"/>
                </a:endParaRPr>
              </a:p>
              <a:p>
                <a:r>
                  <a:rPr lang="en-US" sz="2400" dirty="0">
                    <a:latin typeface="Arial Narrow" panose="020B0606020202030204" pitchFamily="34" charset="0"/>
                  </a:rPr>
                  <a:t>This tell that given the latent representation </a:t>
                </a:r>
                <a14:m>
                  <m:oMath xmlns:m="http://schemas.openxmlformats.org/officeDocument/2006/math">
                    <m:r>
                      <a:rPr lang="en-IN" sz="2400" i="1">
                        <a:solidFill>
                          <a:srgbClr val="7030A0"/>
                        </a:solidFill>
                        <a:latin typeface="Cambria Math" panose="02040503050406030204" pitchFamily="18" charset="0"/>
                        <a:ea typeface="Cambria Math" panose="02040503050406030204" pitchFamily="18" charset="0"/>
                      </a:rPr>
                      <m:t>𝑧</m:t>
                    </m:r>
                  </m:oMath>
                </a14:m>
                <a:r>
                  <a:rPr lang="en-US" sz="2400" dirty="0">
                    <a:latin typeface="Arial Narrow" panose="020B0606020202030204" pitchFamily="34" charset="0"/>
                  </a:rPr>
                  <a:t>, how the decoder reconstruct the original</a:t>
                </a:r>
                <a:r>
                  <a:rPr lang="en-IN" sz="2400" dirty="0">
                    <a:solidFill>
                      <a:srgbClr val="7030A0"/>
                    </a:solidFill>
                    <a:ea typeface="Cambria Math" panose="02040503050406030204" pitchFamily="18" charset="0"/>
                  </a:rPr>
                  <a:t> </a:t>
                </a:r>
                <a14:m>
                  <m:oMath xmlns:m="http://schemas.openxmlformats.org/officeDocument/2006/math">
                    <m:r>
                      <a:rPr lang="en-IN" sz="2400" i="1">
                        <a:solidFill>
                          <a:srgbClr val="7030A0"/>
                        </a:solidFill>
                        <a:latin typeface="Cambria Math" panose="02040503050406030204" pitchFamily="18" charset="0"/>
                        <a:ea typeface="Cambria Math" panose="02040503050406030204" pitchFamily="18" charset="0"/>
                      </a:rPr>
                      <m:t>𝑥</m:t>
                    </m:r>
                  </m:oMath>
                </a14:m>
                <a:r>
                  <a:rPr lang="en-IN" sz="2400" dirty="0">
                    <a:latin typeface="Arial Narrow" panose="020B0606020202030204" pitchFamily="34" charset="0"/>
                  </a:rPr>
                  <a:t>?</a:t>
                </a:r>
              </a:p>
              <a:p>
                <a:endParaRPr lang="en-IN" sz="2400" dirty="0">
                  <a:latin typeface="Arial Narrow" panose="020B0606020202030204" pitchFamily="34" charset="0"/>
                </a:endParaRPr>
              </a:p>
              <a:p>
                <a:r>
                  <a:rPr lang="en-US" sz="2400" dirty="0">
                    <a:latin typeface="Arial Narrow" panose="020B0606020202030204" pitchFamily="34" charset="0"/>
                  </a:rPr>
                  <a:t>A high value means the decoder assigns high probability to the observed input.</a:t>
                </a:r>
                <a:endParaRPr lang="en-IN" sz="2400" dirty="0">
                  <a:latin typeface="Arial Narrow" panose="020B0606020202030204" pitchFamily="34" charset="0"/>
                </a:endParaRPr>
              </a:p>
            </p:txBody>
          </p:sp>
        </mc:Choice>
        <mc:Fallback xmlns="">
          <p:sp>
            <p:nvSpPr>
              <p:cNvPr id="3" name="Text Placeholder 2">
                <a:extLst>
                  <a:ext uri="{FF2B5EF4-FFF2-40B4-BE49-F238E27FC236}">
                    <a16:creationId xmlns:a16="http://schemas.microsoft.com/office/drawing/2014/main" id="{2966DF92-5585-4D9A-A2B2-5ED5DB0CBB19}"/>
                  </a:ext>
                </a:extLst>
              </p:cNvPr>
              <p:cNvSpPr>
                <a:spLocks noGrp="1" noRot="1" noChangeAspect="1" noMove="1" noResize="1" noEditPoints="1" noAdjustHandles="1" noChangeArrowheads="1" noChangeShapeType="1" noTextEdit="1"/>
              </p:cNvSpPr>
              <p:nvPr>
                <p:ph type="body" idx="1"/>
              </p:nvPr>
            </p:nvSpPr>
            <p:spPr>
              <a:xfrm>
                <a:off x="838200" y="1825625"/>
                <a:ext cx="10719062" cy="4351338"/>
              </a:xfrm>
              <a:blipFill>
                <a:blip r:embed="rId2"/>
                <a:stretch>
                  <a:fillRect r="-171"/>
                </a:stretch>
              </a:blipFill>
            </p:spPr>
            <p:txBody>
              <a:bodyPr/>
              <a:lstStyle/>
              <a:p>
                <a:r>
                  <a:rPr lang="en-IN">
                    <a:noFill/>
                  </a:rPr>
                  <a:t> </a:t>
                </a:r>
              </a:p>
            </p:txBody>
          </p:sp>
        </mc:Fallback>
      </mc:AlternateContent>
      <p:sp>
        <p:nvSpPr>
          <p:cNvPr id="4" name="Left Brace 3">
            <a:extLst>
              <a:ext uri="{FF2B5EF4-FFF2-40B4-BE49-F238E27FC236}">
                <a16:creationId xmlns:a16="http://schemas.microsoft.com/office/drawing/2014/main" id="{E9BEC504-E846-4BA3-A028-D235C47C59E0}"/>
              </a:ext>
            </a:extLst>
          </p:cNvPr>
          <p:cNvSpPr/>
          <p:nvPr/>
        </p:nvSpPr>
        <p:spPr>
          <a:xfrm rot="16200000">
            <a:off x="3934899" y="1908137"/>
            <a:ext cx="265537" cy="278090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TextBox 4">
            <a:extLst>
              <a:ext uri="{FF2B5EF4-FFF2-40B4-BE49-F238E27FC236}">
                <a16:creationId xmlns:a16="http://schemas.microsoft.com/office/drawing/2014/main" id="{19F7F317-57D6-4942-9AC8-5356CAAB29FA}"/>
              </a:ext>
            </a:extLst>
          </p:cNvPr>
          <p:cNvSpPr txBox="1"/>
          <p:nvPr/>
        </p:nvSpPr>
        <p:spPr>
          <a:xfrm>
            <a:off x="2747913" y="3422883"/>
            <a:ext cx="2639508" cy="307777"/>
          </a:xfrm>
          <a:prstGeom prst="rect">
            <a:avLst/>
          </a:prstGeom>
          <a:noFill/>
        </p:spPr>
        <p:txBody>
          <a:bodyPr wrap="square" rtlCol="0">
            <a:spAutoFit/>
          </a:bodyPr>
          <a:lstStyle/>
          <a:p>
            <a:pPr algn="ctr"/>
            <a:r>
              <a:rPr lang="en-IN" dirty="0">
                <a:latin typeface="Arial Narrow" panose="020B0606020202030204" pitchFamily="34" charset="0"/>
              </a:rPr>
              <a:t>Reconstruction / Likelihood term</a:t>
            </a:r>
          </a:p>
        </p:txBody>
      </p:sp>
      <p:sp>
        <p:nvSpPr>
          <p:cNvPr id="6" name="Left Brace 5">
            <a:extLst>
              <a:ext uri="{FF2B5EF4-FFF2-40B4-BE49-F238E27FC236}">
                <a16:creationId xmlns:a16="http://schemas.microsoft.com/office/drawing/2014/main" id="{3F492933-1522-4C49-A59E-7AED169BE987}"/>
              </a:ext>
            </a:extLst>
          </p:cNvPr>
          <p:cNvSpPr/>
          <p:nvPr/>
        </p:nvSpPr>
        <p:spPr>
          <a:xfrm rot="16200000">
            <a:off x="7056742" y="1917564"/>
            <a:ext cx="265537" cy="278090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 name="TextBox 6">
            <a:extLst>
              <a:ext uri="{FF2B5EF4-FFF2-40B4-BE49-F238E27FC236}">
                <a16:creationId xmlns:a16="http://schemas.microsoft.com/office/drawing/2014/main" id="{A2CE8045-2B79-483E-8769-8F5527D65357}"/>
              </a:ext>
            </a:extLst>
          </p:cNvPr>
          <p:cNvSpPr txBox="1"/>
          <p:nvPr/>
        </p:nvSpPr>
        <p:spPr>
          <a:xfrm>
            <a:off x="5869756" y="3422883"/>
            <a:ext cx="2639508" cy="307777"/>
          </a:xfrm>
          <a:prstGeom prst="rect">
            <a:avLst/>
          </a:prstGeom>
          <a:noFill/>
        </p:spPr>
        <p:txBody>
          <a:bodyPr wrap="square" rtlCol="0">
            <a:spAutoFit/>
          </a:bodyPr>
          <a:lstStyle/>
          <a:p>
            <a:pPr algn="ctr"/>
            <a:r>
              <a:rPr lang="en-IN" dirty="0">
                <a:latin typeface="Arial Narrow" panose="020B0606020202030204" pitchFamily="34" charset="0"/>
              </a:rPr>
              <a:t>KL Regularization</a:t>
            </a:r>
          </a:p>
        </p:txBody>
      </p:sp>
    </p:spTree>
    <p:extLst>
      <p:ext uri="{BB962C8B-B14F-4D97-AF65-F5344CB8AC3E}">
        <p14:creationId xmlns:p14="http://schemas.microsoft.com/office/powerpoint/2010/main" val="2257201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EDE2A-846D-4EC8-8C7C-35A39937AEB3}"/>
              </a:ext>
            </a:extLst>
          </p:cNvPr>
          <p:cNvSpPr>
            <a:spLocks noGrp="1"/>
          </p:cNvSpPr>
          <p:nvPr>
            <p:ph type="title"/>
          </p:nvPr>
        </p:nvSpPr>
        <p:spPr/>
        <p:txBody>
          <a:bodyPr>
            <a:normAutofit/>
          </a:bodyPr>
          <a:lstStyle/>
          <a:p>
            <a:r>
              <a:rPr lang="en-US" sz="3600" dirty="0">
                <a:latin typeface="Century" panose="02040604050505020304" pitchFamily="18" charset="0"/>
              </a:rPr>
              <a:t>The two components of the VAE objective</a:t>
            </a:r>
            <a:endParaRPr lang="en-IN" sz="360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E336627-8CC9-48AC-BB83-D8652CA1E86F}"/>
                  </a:ext>
                </a:extLst>
              </p:cNvPr>
              <p:cNvSpPr>
                <a:spLocks noGrp="1"/>
              </p:cNvSpPr>
              <p:nvPr>
                <p:ph type="body" idx="1"/>
              </p:nvPr>
            </p:nvSpPr>
            <p:spPr/>
            <p:txBody>
              <a:bodyPr>
                <a:normAutofit lnSpcReduction="10000"/>
              </a:bodyPr>
              <a:lstStyle/>
              <a:p>
                <a:r>
                  <a:rPr lang="en-IN" dirty="0">
                    <a:solidFill>
                      <a:srgbClr val="7030A0"/>
                    </a:solidFill>
                    <a:latin typeface="Arial Narrow" panose="020B0606020202030204" pitchFamily="34" charset="0"/>
                  </a:rPr>
                  <a:t>KL divergence</a:t>
                </a:r>
                <a:r>
                  <a:rPr lang="en-IN" dirty="0">
                    <a:latin typeface="Arial Narrow" panose="020B0606020202030204" pitchFamily="34" charset="0"/>
                  </a:rPr>
                  <a:t>:</a:t>
                </a:r>
              </a:p>
              <a:p>
                <a:pPr marL="571500" lvl="1" indent="0">
                  <a:buNone/>
                </a:pPr>
                <a14:m>
                  <m:oMathPara xmlns:m="http://schemas.openxmlformats.org/officeDocument/2006/math">
                    <m:oMathParaPr>
                      <m:jc m:val="centerGroup"/>
                    </m:oMathParaPr>
                    <m:oMath xmlns:m="http://schemas.openxmlformats.org/officeDocument/2006/math">
                      <m:sSub>
                        <m:sSubPr>
                          <m:ctrlPr>
                            <a:rPr lang="en-IN" i="1">
                              <a:solidFill>
                                <a:srgbClr val="7030A0"/>
                              </a:solidFill>
                              <a:latin typeface="Cambria Math" panose="02040503050406030204" pitchFamily="18" charset="0"/>
                              <a:cs typeface="Times New Roman" panose="02020603050405020304" pitchFamily="18" charset="0"/>
                            </a:rPr>
                          </m:ctrlPr>
                        </m:sSubPr>
                        <m:e>
                          <m:r>
                            <a:rPr lang="en-IN" i="1">
                              <a:solidFill>
                                <a:srgbClr val="7030A0"/>
                              </a:solidFill>
                              <a:latin typeface="Cambria Math" panose="02040503050406030204" pitchFamily="18" charset="0"/>
                              <a:cs typeface="Times New Roman" panose="02020603050405020304" pitchFamily="18" charset="0"/>
                            </a:rPr>
                            <m:t>𝐷</m:t>
                          </m:r>
                        </m:e>
                        <m:sub>
                          <m:r>
                            <a:rPr lang="en-IN" i="1">
                              <a:solidFill>
                                <a:srgbClr val="7030A0"/>
                              </a:solidFill>
                              <a:latin typeface="Cambria Math" panose="02040503050406030204" pitchFamily="18" charset="0"/>
                              <a:cs typeface="Times New Roman" panose="02020603050405020304" pitchFamily="18" charset="0"/>
                            </a:rPr>
                            <m:t>𝐾𝐿</m:t>
                          </m:r>
                        </m:sub>
                      </m:sSub>
                      <m:r>
                        <a:rPr lang="en-IN" i="1">
                          <a:solidFill>
                            <a:srgbClr val="7030A0"/>
                          </a:solidFill>
                          <a:latin typeface="Cambria Math" panose="02040503050406030204" pitchFamily="18" charset="0"/>
                          <a:cs typeface="Times New Roman" panose="02020603050405020304" pitchFamily="18" charset="0"/>
                        </a:rPr>
                        <m:t>(</m:t>
                      </m:r>
                      <m:sSub>
                        <m:sSubPr>
                          <m:ctrlPr>
                            <a:rPr lang="en-IN" i="1">
                              <a:solidFill>
                                <a:srgbClr val="7030A0"/>
                              </a:solidFill>
                              <a:latin typeface="Cambria Math" panose="02040503050406030204" pitchFamily="18" charset="0"/>
                            </a:rPr>
                          </m:ctrlPr>
                        </m:sSubPr>
                        <m:e>
                          <m:r>
                            <a:rPr lang="en-IN" i="1">
                              <a:solidFill>
                                <a:srgbClr val="7030A0"/>
                              </a:solidFill>
                              <a:latin typeface="Cambria Math" panose="02040503050406030204" pitchFamily="18" charset="0"/>
                            </a:rPr>
                            <m:t>𝑞</m:t>
                          </m:r>
                        </m:e>
                        <m:sub>
                          <m:r>
                            <a:rPr lang="en-US"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i="1">
                          <a:solidFill>
                            <a:srgbClr val="7030A0"/>
                          </a:solidFill>
                          <a:latin typeface="Cambria Math" panose="02040503050406030204" pitchFamily="18" charset="0"/>
                          <a:cs typeface="Times New Roman" panose="02020603050405020304" pitchFamily="18" charset="0"/>
                        </a:rPr>
                        <m:t>(</m:t>
                      </m:r>
                      <m:r>
                        <a:rPr lang="en-IN" i="1">
                          <a:solidFill>
                            <a:srgbClr val="7030A0"/>
                          </a:solidFill>
                          <a:latin typeface="Cambria Math" panose="02040503050406030204" pitchFamily="18" charset="0"/>
                          <a:cs typeface="Times New Roman" panose="02020603050405020304" pitchFamily="18" charset="0"/>
                        </a:rPr>
                        <m:t>𝑧</m:t>
                      </m:r>
                      <m:r>
                        <a:rPr lang="en-IN" i="1">
                          <a:solidFill>
                            <a:srgbClr val="7030A0"/>
                          </a:solidFill>
                          <a:latin typeface="Cambria Math" panose="02040503050406030204" pitchFamily="18" charset="0"/>
                          <a:cs typeface="Times New Roman" panose="02020603050405020304" pitchFamily="18" charset="0"/>
                        </a:rPr>
                        <m:t>|</m:t>
                      </m:r>
                      <m:r>
                        <a:rPr lang="en-IN" i="1">
                          <a:solidFill>
                            <a:srgbClr val="7030A0"/>
                          </a:solidFill>
                          <a:latin typeface="Cambria Math" panose="02040503050406030204" pitchFamily="18" charset="0"/>
                          <a:cs typeface="Times New Roman" panose="02020603050405020304" pitchFamily="18" charset="0"/>
                        </a:rPr>
                        <m:t>𝑥</m:t>
                      </m:r>
                      <m:r>
                        <a:rPr lang="en-IN" i="1">
                          <a:solidFill>
                            <a:srgbClr val="7030A0"/>
                          </a:solidFill>
                          <a:latin typeface="Cambria Math" panose="02040503050406030204" pitchFamily="18" charset="0"/>
                          <a:cs typeface="Times New Roman" panose="02020603050405020304" pitchFamily="18" charset="0"/>
                        </a:rPr>
                        <m:t>)||</m:t>
                      </m:r>
                      <m:sSub>
                        <m:sSubPr>
                          <m:ctrlPr>
                            <a:rPr lang="en-IN" i="1">
                              <a:solidFill>
                                <a:srgbClr val="7030A0"/>
                              </a:solidFill>
                              <a:latin typeface="Cambria Math" panose="02040503050406030204" pitchFamily="18" charset="0"/>
                              <a:cs typeface="Times New Roman" panose="02020603050405020304" pitchFamily="18" charset="0"/>
                            </a:rPr>
                          </m:ctrlPr>
                        </m:sSubPr>
                        <m:e>
                          <m:r>
                            <a:rPr lang="en-IN" i="1">
                              <a:solidFill>
                                <a:srgbClr val="7030A0"/>
                              </a:solidFill>
                              <a:latin typeface="Cambria Math" panose="02040503050406030204" pitchFamily="18" charset="0"/>
                              <a:cs typeface="Times New Roman" panose="02020603050405020304" pitchFamily="18" charset="0"/>
                            </a:rPr>
                            <m:t>𝑝</m:t>
                          </m:r>
                        </m:e>
                        <m:sub>
                          <m:r>
                            <a:rPr lang="en-IN" i="1">
                              <a:solidFill>
                                <a:srgbClr val="7030A0"/>
                              </a:solidFill>
                              <a:latin typeface="Cambria Math" panose="02040503050406030204" pitchFamily="18" charset="0"/>
                              <a:ea typeface="Cambria Math" panose="02040503050406030204" pitchFamily="18" charset="0"/>
                            </a:rPr>
                            <m:t>𝜃</m:t>
                          </m:r>
                        </m:sub>
                      </m:sSub>
                      <m:d>
                        <m:dPr>
                          <m:ctrlPr>
                            <a:rPr lang="en-IN" i="1">
                              <a:solidFill>
                                <a:srgbClr val="7030A0"/>
                              </a:solidFill>
                              <a:latin typeface="Cambria Math" panose="02040503050406030204" pitchFamily="18" charset="0"/>
                              <a:cs typeface="Times New Roman" panose="02020603050405020304" pitchFamily="18" charset="0"/>
                            </a:rPr>
                          </m:ctrlPr>
                        </m:dPr>
                        <m:e>
                          <m:r>
                            <a:rPr lang="en-IN" i="1">
                              <a:solidFill>
                                <a:srgbClr val="7030A0"/>
                              </a:solidFill>
                              <a:latin typeface="Cambria Math" panose="02040503050406030204" pitchFamily="18" charset="0"/>
                              <a:cs typeface="Times New Roman" panose="02020603050405020304" pitchFamily="18" charset="0"/>
                            </a:rPr>
                            <m:t>𝑧</m:t>
                          </m:r>
                        </m:e>
                      </m:d>
                      <m:r>
                        <a:rPr lang="en-IN" i="1">
                          <a:solidFill>
                            <a:srgbClr val="7030A0"/>
                          </a:solidFill>
                          <a:latin typeface="Cambria Math" panose="02040503050406030204" pitchFamily="18" charset="0"/>
                          <a:cs typeface="Times New Roman" panose="02020603050405020304" pitchFamily="18" charset="0"/>
                        </a:rPr>
                        <m:t>)</m:t>
                      </m:r>
                    </m:oMath>
                  </m:oMathPara>
                </a14:m>
                <a:endParaRPr lang="en-IN" dirty="0">
                  <a:latin typeface="Arial Narrow" panose="020B0606020202030204" pitchFamily="34" charset="0"/>
                </a:endParaRPr>
              </a:p>
              <a:p>
                <a:pPr marL="571500" lvl="1" indent="0">
                  <a:buNone/>
                </a:pPr>
                <a:endParaRPr lang="en-IN" dirty="0">
                  <a:latin typeface="Arial Narrow" panose="020B0606020202030204" pitchFamily="34" charset="0"/>
                </a:endParaRPr>
              </a:p>
              <a:p>
                <a:pPr lvl="1"/>
                <a:r>
                  <a:rPr lang="en-IN" dirty="0">
                    <a:latin typeface="Arial Narrow" panose="020B0606020202030204" pitchFamily="34" charset="0"/>
                  </a:rPr>
                  <a:t>This says, </a:t>
                </a:r>
                <a:r>
                  <a:rPr lang="en-US" dirty="0">
                    <a:latin typeface="Arial Narrow" panose="020B0606020202030204" pitchFamily="34" charset="0"/>
                  </a:rPr>
                  <a:t>how different is the encoder's latent distribution from the chosen prior?</a:t>
                </a:r>
              </a:p>
              <a:p>
                <a:pPr lvl="1"/>
                <a:endParaRPr lang="en-US" dirty="0">
                  <a:latin typeface="Arial Narrow" panose="020B0606020202030204" pitchFamily="34" charset="0"/>
                </a:endParaRPr>
              </a:p>
              <a:p>
                <a:pPr lvl="1"/>
                <a:r>
                  <a:rPr lang="en-IN" dirty="0">
                    <a:latin typeface="Arial Narrow" panose="020B0606020202030204" pitchFamily="34" charset="0"/>
                  </a:rPr>
                  <a:t>Usually we choose, </a:t>
                </a:r>
                <a14:m>
                  <m:oMath xmlns:m="http://schemas.openxmlformats.org/officeDocument/2006/math">
                    <m:sSub>
                      <m:sSubPr>
                        <m:ctrlPr>
                          <a:rPr lang="en-IN" i="1">
                            <a:solidFill>
                              <a:srgbClr val="7030A0"/>
                            </a:solidFill>
                            <a:latin typeface="Cambria Math" panose="02040503050406030204" pitchFamily="18" charset="0"/>
                            <a:cs typeface="Times New Roman" panose="02020603050405020304" pitchFamily="18" charset="0"/>
                          </a:rPr>
                        </m:ctrlPr>
                      </m:sSubPr>
                      <m:e>
                        <m:r>
                          <a:rPr lang="en-IN" i="1">
                            <a:solidFill>
                              <a:srgbClr val="7030A0"/>
                            </a:solidFill>
                            <a:latin typeface="Cambria Math" panose="02040503050406030204" pitchFamily="18" charset="0"/>
                            <a:cs typeface="Times New Roman" panose="02020603050405020304" pitchFamily="18" charset="0"/>
                          </a:rPr>
                          <m:t>𝑝</m:t>
                        </m:r>
                      </m:e>
                      <m:sub>
                        <m:r>
                          <a:rPr lang="en-IN" i="1">
                            <a:solidFill>
                              <a:srgbClr val="7030A0"/>
                            </a:solidFill>
                            <a:latin typeface="Cambria Math" panose="02040503050406030204" pitchFamily="18" charset="0"/>
                            <a:ea typeface="Cambria Math" panose="02040503050406030204" pitchFamily="18" charset="0"/>
                          </a:rPr>
                          <m:t>𝜃</m:t>
                        </m:r>
                      </m:sub>
                    </m:sSub>
                    <m:d>
                      <m:dPr>
                        <m:ctrlPr>
                          <a:rPr lang="en-IN" i="1">
                            <a:solidFill>
                              <a:srgbClr val="7030A0"/>
                            </a:solidFill>
                            <a:latin typeface="Cambria Math" panose="02040503050406030204" pitchFamily="18" charset="0"/>
                            <a:cs typeface="Times New Roman" panose="02020603050405020304" pitchFamily="18" charset="0"/>
                          </a:rPr>
                        </m:ctrlPr>
                      </m:dPr>
                      <m:e>
                        <m:r>
                          <a:rPr lang="en-IN" i="1">
                            <a:solidFill>
                              <a:srgbClr val="7030A0"/>
                            </a:solidFill>
                            <a:latin typeface="Cambria Math" panose="02040503050406030204" pitchFamily="18" charset="0"/>
                            <a:cs typeface="Times New Roman" panose="02020603050405020304" pitchFamily="18" charset="0"/>
                          </a:rPr>
                          <m:t>𝑧</m:t>
                        </m:r>
                      </m:e>
                    </m:d>
                    <m:r>
                      <a:rPr lang="en-IN" b="0" i="1" smtClean="0">
                        <a:solidFill>
                          <a:srgbClr val="7030A0"/>
                        </a:solidFill>
                        <a:latin typeface="Cambria Math" panose="02040503050406030204" pitchFamily="18" charset="0"/>
                        <a:cs typeface="Times New Roman" panose="02020603050405020304" pitchFamily="18" charset="0"/>
                      </a:rPr>
                      <m:t>=</m:t>
                    </m:r>
                    <m:r>
                      <a:rPr lang="en-IN" i="1">
                        <a:solidFill>
                          <a:srgbClr val="7030A0"/>
                        </a:solidFill>
                        <a:latin typeface="Cambria Math" panose="02040503050406030204" pitchFamily="18" charset="0"/>
                        <a:ea typeface="Cambria Math" panose="02040503050406030204" pitchFamily="18" charset="0"/>
                      </a:rPr>
                      <m:t>𝒩</m:t>
                    </m:r>
                    <m:r>
                      <a:rPr lang="en-IN" i="1">
                        <a:solidFill>
                          <a:srgbClr val="7030A0"/>
                        </a:solidFill>
                        <a:latin typeface="Cambria Math" panose="02040503050406030204" pitchFamily="18" charset="0"/>
                        <a:ea typeface="Cambria Math" panose="02040503050406030204" pitchFamily="18" charset="0"/>
                      </a:rPr>
                      <m:t>(0,1)</m:t>
                    </m:r>
                  </m:oMath>
                </a14:m>
                <a:endParaRPr lang="en-IN" dirty="0">
                  <a:latin typeface="Arial Narrow" panose="020B0606020202030204" pitchFamily="34" charset="0"/>
                </a:endParaRPr>
              </a:p>
              <a:p>
                <a:pPr lvl="1"/>
                <a:endParaRPr lang="en-IN" dirty="0">
                  <a:latin typeface="Arial Narrow" panose="020B0606020202030204" pitchFamily="34" charset="0"/>
                </a:endParaRPr>
              </a:p>
              <a:p>
                <a:pPr lvl="1"/>
                <a:r>
                  <a:rPr lang="en-US" dirty="0">
                    <a:latin typeface="Arial Narrow" panose="020B0606020202030204" pitchFamily="34" charset="0"/>
                  </a:rPr>
                  <a:t>So the encoder is encouraged to </a:t>
                </a:r>
                <a:r>
                  <a:rPr lang="en-US" dirty="0">
                    <a:solidFill>
                      <a:srgbClr val="7030A0"/>
                    </a:solidFill>
                    <a:latin typeface="Arial Narrow" panose="020B0606020202030204" pitchFamily="34" charset="0"/>
                  </a:rPr>
                  <a:t>produce latent distributions that remain close to a standard normal distribution</a:t>
                </a:r>
                <a:r>
                  <a:rPr lang="en-US" dirty="0">
                    <a:latin typeface="Arial Narrow" panose="020B0606020202030204" pitchFamily="34" charset="0"/>
                  </a:rPr>
                  <a:t>.</a:t>
                </a:r>
              </a:p>
              <a:p>
                <a:pPr lvl="1"/>
                <a:endParaRPr lang="en-US" dirty="0">
                  <a:latin typeface="Arial Narrow" panose="020B0606020202030204" pitchFamily="34" charset="0"/>
                </a:endParaRPr>
              </a:p>
              <a:p>
                <a:pPr lvl="1"/>
                <a:r>
                  <a:rPr lang="en-US" dirty="0">
                    <a:latin typeface="Arial Narrow" panose="020B0606020202030204" pitchFamily="34" charset="0"/>
                  </a:rPr>
                  <a:t>This creates a structured and continuous latent space.</a:t>
                </a:r>
                <a:endParaRPr lang="en-IN" dirty="0">
                  <a:latin typeface="Arial Narrow" panose="020B0606020202030204" pitchFamily="34" charset="0"/>
                </a:endParaRPr>
              </a:p>
              <a:p>
                <a:endParaRPr lang="en-IN" dirty="0">
                  <a:latin typeface="Arial Narrow" panose="020B0606020202030204" pitchFamily="34" charset="0"/>
                </a:endParaRPr>
              </a:p>
            </p:txBody>
          </p:sp>
        </mc:Choice>
        <mc:Fallback xmlns="">
          <p:sp>
            <p:nvSpPr>
              <p:cNvPr id="3" name="Text Placeholder 2">
                <a:extLst>
                  <a:ext uri="{FF2B5EF4-FFF2-40B4-BE49-F238E27FC236}">
                    <a16:creationId xmlns:a16="http://schemas.microsoft.com/office/drawing/2014/main" id="{0E336627-8CC9-48AC-BB83-D8652CA1E86F}"/>
                  </a:ext>
                </a:extLst>
              </p:cNvPr>
              <p:cNvSpPr>
                <a:spLocks noGrp="1" noRot="1" noChangeAspect="1" noMove="1" noResize="1" noEditPoints="1" noAdjustHandles="1" noChangeArrowheads="1" noChangeShapeType="1" noTextEdit="1"/>
              </p:cNvSpPr>
              <p:nvPr>
                <p:ph type="body" idx="1"/>
              </p:nvPr>
            </p:nvSpPr>
            <p:spPr>
              <a:blipFill>
                <a:blip r:embed="rId2"/>
                <a:stretch>
                  <a:fillRect t="-420"/>
                </a:stretch>
              </a:blipFill>
            </p:spPr>
            <p:txBody>
              <a:bodyPr/>
              <a:lstStyle/>
              <a:p>
                <a:r>
                  <a:rPr lang="en-IN">
                    <a:noFill/>
                  </a:rPr>
                  <a:t> </a:t>
                </a:r>
              </a:p>
            </p:txBody>
          </p:sp>
        </mc:Fallback>
      </mc:AlternateContent>
    </p:spTree>
    <p:extLst>
      <p:ext uri="{BB962C8B-B14F-4D97-AF65-F5344CB8AC3E}">
        <p14:creationId xmlns:p14="http://schemas.microsoft.com/office/powerpoint/2010/main" val="2959549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E28FB-C7E9-4BE2-B8E4-559906795AAF}"/>
              </a:ext>
            </a:extLst>
          </p:cNvPr>
          <p:cNvSpPr>
            <a:spLocks noGrp="1"/>
          </p:cNvSpPr>
          <p:nvPr>
            <p:ph type="title"/>
          </p:nvPr>
        </p:nvSpPr>
        <p:spPr/>
        <p:txBody>
          <a:bodyPr>
            <a:normAutofit/>
          </a:bodyPr>
          <a:lstStyle/>
          <a:p>
            <a:r>
              <a:rPr lang="en-IN" sz="3600" dirty="0">
                <a:latin typeface="Century" panose="02040604050505020304" pitchFamily="18" charset="0"/>
              </a:rPr>
              <a:t>VAE Loss</a:t>
            </a:r>
            <a:endParaRPr lang="en-IN" sz="360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9E1F770-C639-400B-9B3B-67D5F7BC7134}"/>
                  </a:ext>
                </a:extLst>
              </p:cNvPr>
              <p:cNvSpPr>
                <a:spLocks noGrp="1"/>
              </p:cNvSpPr>
              <p:nvPr>
                <p:ph type="body" idx="1"/>
              </p:nvPr>
            </p:nvSpPr>
            <p:spPr>
              <a:xfrm>
                <a:off x="838200" y="1514540"/>
                <a:ext cx="10515600" cy="4735431"/>
              </a:xfrm>
            </p:spPr>
            <p:txBody>
              <a:bodyPr>
                <a:normAutofit lnSpcReduction="10000"/>
              </a:bodyPr>
              <a:lstStyle/>
              <a:p>
                <a:r>
                  <a:rPr lang="en-IN" sz="2400" dirty="0">
                    <a:latin typeface="Arial Narrow" panose="020B0606020202030204" pitchFamily="34" charset="0"/>
                  </a:rPr>
                  <a:t>The objective of VAE:</a:t>
                </a:r>
              </a:p>
              <a:p>
                <a:endParaRPr lang="en-IN" sz="2400" dirty="0">
                  <a:latin typeface="Arial Narrow" panose="020B0606020202030204" pitchFamily="34" charset="0"/>
                </a:endParaRPr>
              </a:p>
              <a:p>
                <a:pPr marL="114300" indent="0">
                  <a:buNone/>
                </a:pPr>
                <a14:m>
                  <m:oMathPara xmlns:m="http://schemas.openxmlformats.org/officeDocument/2006/math">
                    <m:oMathParaPr>
                      <m:jc m:val="centerGroup"/>
                    </m:oMathParaPr>
                    <m:oMath xmlns:m="http://schemas.openxmlformats.org/officeDocument/2006/math">
                      <m:sSub>
                        <m:sSubPr>
                          <m:ctrlPr>
                            <a:rPr lang="en-US"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𝐿</m:t>
                          </m:r>
                        </m:e>
                        <m:sub>
                          <m:r>
                            <a:rPr lang="en-IN" sz="2400" i="1">
                              <a:solidFill>
                                <a:srgbClr val="7030A0"/>
                              </a:solidFill>
                              <a:latin typeface="Cambria Math" panose="02040503050406030204" pitchFamily="18" charset="0"/>
                            </a:rPr>
                            <m:t>𝐸𝐿𝐵𝑂</m:t>
                          </m:r>
                        </m:sub>
                      </m:sSub>
                      <m:r>
                        <a:rPr lang="en-IN" sz="2400" i="1">
                          <a:solidFill>
                            <a:srgbClr val="7030A0"/>
                          </a:solidFill>
                          <a:latin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r>
                        <m:rPr>
                          <m:nor/>
                        </m:rPr>
                        <a:rPr lang="en-IN" sz="2400" dirty="0">
                          <a:solidFill>
                            <a:srgbClr val="7030A0"/>
                          </a:solidFill>
                          <a:latin typeface="Arial Narrow" panose="020B0606020202030204" pitchFamily="34" charset="0"/>
                        </a:rPr>
                        <m:t> </m:t>
                      </m:r>
                      <m:d>
                        <m:dPr>
                          <m:begChr m:val="["/>
                          <m:endChr m:val="]"/>
                          <m:ctrlPr>
                            <a:rPr lang="en-IN" sz="2400" i="1">
                              <a:solidFill>
                                <a:srgbClr val="7030A0"/>
                              </a:solidFill>
                              <a:latin typeface="Cambria Math" panose="02040503050406030204" pitchFamily="18" charset="0"/>
                            </a:rPr>
                          </m:ctrlPr>
                        </m:dPr>
                        <m:e>
                          <m:r>
                            <m:rPr>
                              <m:sty m:val="p"/>
                            </m:rPr>
                            <a:rPr lang="en-IN" sz="2400">
                              <a:solidFill>
                                <a:srgbClr val="7030A0"/>
                              </a:solidFill>
                              <a:latin typeface="Cambria Math" panose="02040503050406030204" pitchFamily="18" charset="0"/>
                            </a:rPr>
                            <m:t>log</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 </m:t>
                              </m:r>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ea typeface="Cambria Math" panose="02040503050406030204" pitchFamily="18" charset="0"/>
                                </a:rPr>
                                <m:t>𝑥</m:t>
                              </m:r>
                            </m:e>
                            <m:e>
                              <m:r>
                                <a:rPr lang="en-IN" sz="2400" i="1">
                                  <a:solidFill>
                                    <a:srgbClr val="7030A0"/>
                                  </a:solidFill>
                                  <a:latin typeface="Cambria Math" panose="02040503050406030204" pitchFamily="18" charset="0"/>
                                  <a:ea typeface="Cambria Math" panose="02040503050406030204" pitchFamily="18" charset="0"/>
                                </a:rPr>
                                <m:t>𝑧</m:t>
                              </m:r>
                            </m:e>
                          </m:d>
                        </m:e>
                      </m:d>
                      <m:r>
                        <a:rPr lang="en-IN" sz="2400">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𝐷</m:t>
                          </m:r>
                        </m:e>
                        <m:sub>
                          <m:r>
                            <a:rPr lang="en-IN" sz="2400" i="1">
                              <a:solidFill>
                                <a:srgbClr val="7030A0"/>
                              </a:solidFill>
                              <a:latin typeface="Cambria Math" panose="02040503050406030204" pitchFamily="18" charset="0"/>
                              <a:cs typeface="Times New Roman" panose="02020603050405020304" pitchFamily="18" charset="0"/>
                            </a:rPr>
                            <m:t>𝐾𝐿</m:t>
                          </m:r>
                        </m:sub>
                      </m:sSub>
                      <m:r>
                        <a:rPr lang="en-IN" sz="2400" i="1">
                          <a:solidFill>
                            <a:srgbClr val="7030A0"/>
                          </a:solidFill>
                          <a:latin typeface="Cambria Math" panose="02040503050406030204" pitchFamily="18" charset="0"/>
                          <a:cs typeface="Times New Roman" panose="020206030504050203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US"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𝑧</m:t>
                      </m:r>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𝑥</m:t>
                      </m:r>
                      <m:r>
                        <a:rPr lang="en-IN" sz="2400" i="1">
                          <a:solidFill>
                            <a:srgbClr val="7030A0"/>
                          </a:solidFill>
                          <a:latin typeface="Cambria Math" panose="02040503050406030204" pitchFamily="18" charset="0"/>
                          <a:cs typeface="Times New Roman" panose="02020603050405020304" pitchFamily="18" charset="0"/>
                        </a:rPr>
                        <m:t>)||</m:t>
                      </m:r>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cs typeface="Times New Roman" panose="02020603050405020304" pitchFamily="18" charset="0"/>
                            </a:rPr>
                          </m:ctrlPr>
                        </m:dPr>
                        <m:e>
                          <m:r>
                            <a:rPr lang="en-IN" sz="2400" i="1">
                              <a:solidFill>
                                <a:srgbClr val="7030A0"/>
                              </a:solidFill>
                              <a:latin typeface="Cambria Math" panose="02040503050406030204" pitchFamily="18" charset="0"/>
                              <a:cs typeface="Times New Roman" panose="02020603050405020304" pitchFamily="18" charset="0"/>
                            </a:rPr>
                            <m:t>𝑧</m:t>
                          </m:r>
                        </m:e>
                      </m:d>
                      <m:r>
                        <a:rPr lang="en-IN" sz="2400" i="1">
                          <a:solidFill>
                            <a:srgbClr val="7030A0"/>
                          </a:solidFill>
                          <a:latin typeface="Cambria Math" panose="02040503050406030204" pitchFamily="18" charset="0"/>
                          <a:cs typeface="Times New Roman" panose="02020603050405020304" pitchFamily="18" charset="0"/>
                        </a:rPr>
                        <m:t>)</m:t>
                      </m:r>
                    </m:oMath>
                  </m:oMathPara>
                </a14:m>
                <a:endParaRPr lang="en-IN" sz="2400" dirty="0">
                  <a:latin typeface="Arial Narrow" panose="020B0606020202030204" pitchFamily="34" charset="0"/>
                </a:endParaRPr>
              </a:p>
              <a:p>
                <a:pPr marL="114300" indent="0">
                  <a:buNone/>
                </a:pPr>
                <a:endParaRPr lang="en-IN" sz="2400" dirty="0">
                  <a:latin typeface="Arial Narrow" panose="020B0606020202030204" pitchFamily="34" charset="0"/>
                </a:endParaRPr>
              </a:p>
              <a:p>
                <a:r>
                  <a:rPr lang="en-IN" sz="2400" dirty="0">
                    <a:latin typeface="Arial Narrow" panose="020B0606020202030204" pitchFamily="34" charset="0"/>
                  </a:rPr>
                  <a:t>So, we want to maximize the </a:t>
                </a:r>
                <a14:m>
                  <m:oMath xmlns:m="http://schemas.openxmlformats.org/officeDocument/2006/math">
                    <m:sSub>
                      <m:sSubPr>
                        <m:ctrlPr>
                          <a:rPr lang="en-US"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𝐿</m:t>
                        </m:r>
                      </m:e>
                      <m:sub>
                        <m:r>
                          <a:rPr lang="en-IN" sz="2400" i="1">
                            <a:solidFill>
                              <a:srgbClr val="7030A0"/>
                            </a:solidFill>
                            <a:latin typeface="Cambria Math" panose="02040503050406030204" pitchFamily="18" charset="0"/>
                          </a:rPr>
                          <m:t>𝐸𝐿𝐵𝑂</m:t>
                        </m:r>
                      </m:sub>
                    </m:sSub>
                  </m:oMath>
                </a14:m>
                <a:endParaRPr lang="en-IN" sz="2400" dirty="0">
                  <a:latin typeface="Arial Narrow" panose="020B0606020202030204" pitchFamily="34" charset="0"/>
                </a:endParaRPr>
              </a:p>
              <a:p>
                <a:endParaRPr lang="en-IN" sz="2400" dirty="0">
                  <a:latin typeface="Arial Narrow" panose="020B0606020202030204" pitchFamily="34" charset="0"/>
                </a:endParaRPr>
              </a:p>
              <a:p>
                <a:r>
                  <a:rPr lang="en-IN" sz="2400" dirty="0">
                    <a:latin typeface="Arial Narrow" panose="020B0606020202030204" pitchFamily="34" charset="0"/>
                  </a:rPr>
                  <a:t>It essentially </a:t>
                </a:r>
                <a:r>
                  <a:rPr lang="en-IN" sz="2400" dirty="0">
                    <a:solidFill>
                      <a:srgbClr val="7030A0"/>
                    </a:solidFill>
                    <a:latin typeface="Arial Narrow" panose="020B0606020202030204" pitchFamily="34" charset="0"/>
                  </a:rPr>
                  <a:t>maximize that </a:t>
                </a:r>
                <a:r>
                  <a:rPr lang="en-US" sz="2400" dirty="0">
                    <a:solidFill>
                      <a:srgbClr val="7030A0"/>
                    </a:solidFill>
                    <a:latin typeface="Arial Narrow" panose="020B0606020202030204" pitchFamily="34" charset="0"/>
                  </a:rPr>
                  <a:t>how well the decoder reconstruct the original</a:t>
                </a:r>
                <a:r>
                  <a:rPr lang="en-IN" sz="2400" dirty="0">
                    <a:solidFill>
                      <a:srgbClr val="7030A0"/>
                    </a:solidFill>
                    <a:ea typeface="Cambria Math" panose="02040503050406030204" pitchFamily="18" charset="0"/>
                  </a:rPr>
                  <a:t> </a:t>
                </a:r>
                <a14:m>
                  <m:oMath xmlns:m="http://schemas.openxmlformats.org/officeDocument/2006/math">
                    <m:r>
                      <a:rPr lang="en-IN" sz="2400" i="1">
                        <a:solidFill>
                          <a:srgbClr val="7030A0"/>
                        </a:solidFill>
                        <a:latin typeface="Cambria Math" panose="02040503050406030204" pitchFamily="18" charset="0"/>
                        <a:ea typeface="Cambria Math" panose="02040503050406030204" pitchFamily="18" charset="0"/>
                      </a:rPr>
                      <m:t>𝑥</m:t>
                    </m:r>
                  </m:oMath>
                </a14:m>
                <a:r>
                  <a:rPr lang="en-IN" sz="2400" dirty="0">
                    <a:solidFill>
                      <a:srgbClr val="7030A0"/>
                    </a:solidFill>
                    <a:latin typeface="Arial Narrow" panose="020B0606020202030204" pitchFamily="34" charset="0"/>
                  </a:rPr>
                  <a:t>, given </a:t>
                </a:r>
                <a:r>
                  <a:rPr lang="en-US" sz="2400" dirty="0">
                    <a:solidFill>
                      <a:srgbClr val="7030A0"/>
                    </a:solidFill>
                    <a:latin typeface="Arial Narrow" panose="020B0606020202030204" pitchFamily="34" charset="0"/>
                  </a:rPr>
                  <a:t>the latent representation </a:t>
                </a:r>
                <a14:m>
                  <m:oMath xmlns:m="http://schemas.openxmlformats.org/officeDocument/2006/math">
                    <m:r>
                      <a:rPr lang="en-IN" sz="2400" i="1">
                        <a:solidFill>
                          <a:srgbClr val="7030A0"/>
                        </a:solidFill>
                        <a:latin typeface="Cambria Math" panose="02040503050406030204" pitchFamily="18" charset="0"/>
                        <a:ea typeface="Cambria Math" panose="02040503050406030204" pitchFamily="18" charset="0"/>
                      </a:rPr>
                      <m:t>𝑧</m:t>
                    </m:r>
                  </m:oMath>
                </a14:m>
                <a:r>
                  <a:rPr lang="en-IN" sz="2400" dirty="0">
                    <a:solidFill>
                      <a:srgbClr val="7030A0"/>
                    </a:solidFill>
                    <a:latin typeface="Arial Narrow" panose="020B0606020202030204" pitchFamily="34" charset="0"/>
                  </a:rPr>
                  <a:t> </a:t>
                </a:r>
                <a:r>
                  <a:rPr lang="en-IN" sz="2400" dirty="0">
                    <a:latin typeface="Arial Narrow" panose="020B0606020202030204" pitchFamily="34" charset="0"/>
                  </a:rPr>
                  <a:t>and </a:t>
                </a:r>
              </a:p>
              <a:p>
                <a:endParaRPr lang="en-IN" sz="2400" dirty="0">
                  <a:latin typeface="Arial Narrow" panose="020B0606020202030204" pitchFamily="34" charset="0"/>
                </a:endParaRPr>
              </a:p>
              <a:p>
                <a:r>
                  <a:rPr lang="en-IN" sz="2400" dirty="0">
                    <a:solidFill>
                      <a:srgbClr val="7030A0"/>
                    </a:solidFill>
                    <a:latin typeface="Arial Narrow" panose="020B0606020202030204" pitchFamily="34" charset="0"/>
                  </a:rPr>
                  <a:t>Minimize the KL divergence between </a:t>
                </a:r>
                <a:r>
                  <a:rPr lang="en-US" sz="2400" dirty="0">
                    <a:solidFill>
                      <a:srgbClr val="7030A0"/>
                    </a:solidFill>
                    <a:latin typeface="Arial Narrow" panose="020B0606020202030204" pitchFamily="34" charset="0"/>
                  </a:rPr>
                  <a:t>encoder's latent distribution (</a:t>
                </a:r>
                <a14:m>
                  <m:oMath xmlns:m="http://schemas.openxmlformats.org/officeDocument/2006/math">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US"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𝑧</m:t>
                    </m:r>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𝑥</m:t>
                    </m:r>
                    <m:r>
                      <a:rPr lang="en-IN" sz="2400" i="1">
                        <a:solidFill>
                          <a:srgbClr val="7030A0"/>
                        </a:solidFill>
                        <a:latin typeface="Cambria Math" panose="02040503050406030204" pitchFamily="18" charset="0"/>
                        <a:cs typeface="Times New Roman" panose="02020603050405020304" pitchFamily="18" charset="0"/>
                      </a:rPr>
                      <m:t>)</m:t>
                    </m:r>
                  </m:oMath>
                </a14:m>
                <a:r>
                  <a:rPr lang="en-US" sz="2400" dirty="0">
                    <a:solidFill>
                      <a:srgbClr val="7030A0"/>
                    </a:solidFill>
                    <a:latin typeface="Arial Narrow" panose="020B0606020202030204" pitchFamily="34" charset="0"/>
                  </a:rPr>
                  <a:t>) and the chosen prior</a:t>
                </a:r>
                <a:r>
                  <a:rPr lang="en-IN" sz="2400" dirty="0">
                    <a:solidFill>
                      <a:srgbClr val="7030A0"/>
                    </a:solidFill>
                    <a:latin typeface="Arial Narrow" panose="020B0606020202030204" pitchFamily="34" charset="0"/>
                  </a:rPr>
                  <a:t> (</a:t>
                </a:r>
                <a14:m>
                  <m:oMath xmlns:m="http://schemas.openxmlformats.org/officeDocument/2006/math">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cs typeface="Times New Roman" panose="02020603050405020304" pitchFamily="18" charset="0"/>
                          </a:rPr>
                        </m:ctrlPr>
                      </m:dPr>
                      <m:e>
                        <m:r>
                          <a:rPr lang="en-IN" sz="2400" i="1">
                            <a:solidFill>
                              <a:srgbClr val="7030A0"/>
                            </a:solidFill>
                            <a:latin typeface="Cambria Math" panose="02040503050406030204" pitchFamily="18" charset="0"/>
                            <a:cs typeface="Times New Roman" panose="02020603050405020304" pitchFamily="18" charset="0"/>
                          </a:rPr>
                          <m:t>𝑧</m:t>
                        </m:r>
                      </m:e>
                    </m:d>
                  </m:oMath>
                </a14:m>
                <a:r>
                  <a:rPr lang="en-IN" sz="2400" dirty="0">
                    <a:solidFill>
                      <a:srgbClr val="7030A0"/>
                    </a:solidFill>
                    <a:latin typeface="Arial Narrow" panose="020B0606020202030204" pitchFamily="34" charset="0"/>
                  </a:rPr>
                  <a:t>)</a:t>
                </a:r>
                <a:r>
                  <a:rPr lang="en-IN" sz="2400" dirty="0">
                    <a:latin typeface="Arial Narrow" panose="020B0606020202030204" pitchFamily="34" charset="0"/>
                  </a:rPr>
                  <a:t>.</a:t>
                </a:r>
              </a:p>
              <a:p>
                <a:endParaRPr lang="en-IN" sz="2000" dirty="0">
                  <a:latin typeface="Arial Narrow" panose="020B0606020202030204" pitchFamily="34" charset="0"/>
                </a:endParaRPr>
              </a:p>
            </p:txBody>
          </p:sp>
        </mc:Choice>
        <mc:Fallback xmlns="">
          <p:sp>
            <p:nvSpPr>
              <p:cNvPr id="3" name="Text Placeholder 2">
                <a:extLst>
                  <a:ext uri="{FF2B5EF4-FFF2-40B4-BE49-F238E27FC236}">
                    <a16:creationId xmlns:a16="http://schemas.microsoft.com/office/drawing/2014/main" id="{89E1F770-C639-400B-9B3B-67D5F7BC7134}"/>
                  </a:ext>
                </a:extLst>
              </p:cNvPr>
              <p:cNvSpPr>
                <a:spLocks noGrp="1" noRot="1" noChangeAspect="1" noMove="1" noResize="1" noEditPoints="1" noAdjustHandles="1" noChangeArrowheads="1" noChangeShapeType="1" noTextEdit="1"/>
              </p:cNvSpPr>
              <p:nvPr>
                <p:ph type="body" idx="1"/>
              </p:nvPr>
            </p:nvSpPr>
            <p:spPr>
              <a:xfrm>
                <a:off x="838200" y="1514540"/>
                <a:ext cx="10515600" cy="4735431"/>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819923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C2EBFE9-D4A6-47FA-9362-FAF140E715FD}"/>
                  </a:ext>
                </a:extLst>
              </p:cNvPr>
              <p:cNvSpPr>
                <a:spLocks noGrp="1"/>
              </p:cNvSpPr>
              <p:nvPr>
                <p:ph type="body" idx="1"/>
              </p:nvPr>
            </p:nvSpPr>
            <p:spPr>
              <a:xfrm>
                <a:off x="838200" y="1571101"/>
                <a:ext cx="10515600" cy="4667250"/>
              </a:xfrm>
            </p:spPr>
            <p:txBody>
              <a:bodyPr>
                <a:normAutofit lnSpcReduction="10000"/>
              </a:bodyPr>
              <a:lstStyle/>
              <a:p>
                <a:pPr algn="just"/>
                <a14:m>
                  <m:oMath xmlns:m="http://schemas.openxmlformats.org/officeDocument/2006/math">
                    <m:sSub>
                      <m:sSubPr>
                        <m:ctrlPr>
                          <a:rPr lang="en-US"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𝐿</m:t>
                        </m:r>
                      </m:e>
                      <m:sub>
                        <m:r>
                          <a:rPr lang="en-IN" sz="2400" i="1">
                            <a:solidFill>
                              <a:srgbClr val="7030A0"/>
                            </a:solidFill>
                            <a:latin typeface="Cambria Math" panose="02040503050406030204" pitchFamily="18" charset="0"/>
                          </a:rPr>
                          <m:t>𝐸𝐿𝐵𝑂</m:t>
                        </m:r>
                      </m:sub>
                    </m:sSub>
                    <m:r>
                      <a:rPr lang="en-IN" sz="2400" i="1">
                        <a:solidFill>
                          <a:srgbClr val="7030A0"/>
                        </a:solidFill>
                        <a:latin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r>
                      <m:rPr>
                        <m:nor/>
                      </m:rPr>
                      <a:rPr lang="en-IN" sz="2400" dirty="0">
                        <a:solidFill>
                          <a:srgbClr val="7030A0"/>
                        </a:solidFill>
                        <a:latin typeface="Arial Narrow" panose="020B0606020202030204" pitchFamily="34" charset="0"/>
                      </a:rPr>
                      <m:t> </m:t>
                    </m:r>
                    <m:d>
                      <m:dPr>
                        <m:begChr m:val="["/>
                        <m:endChr m:val="]"/>
                        <m:ctrlPr>
                          <a:rPr lang="en-IN" sz="2400" i="1">
                            <a:solidFill>
                              <a:srgbClr val="7030A0"/>
                            </a:solidFill>
                            <a:latin typeface="Cambria Math" panose="02040503050406030204" pitchFamily="18" charset="0"/>
                          </a:rPr>
                        </m:ctrlPr>
                      </m:dPr>
                      <m:e>
                        <m:r>
                          <m:rPr>
                            <m:sty m:val="p"/>
                          </m:rPr>
                          <a:rPr lang="en-IN" sz="2400">
                            <a:solidFill>
                              <a:srgbClr val="7030A0"/>
                            </a:solidFill>
                            <a:latin typeface="Cambria Math" panose="02040503050406030204" pitchFamily="18" charset="0"/>
                          </a:rPr>
                          <m:t>log</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 </m:t>
                            </m:r>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ea typeface="Cambria Math" panose="02040503050406030204" pitchFamily="18" charset="0"/>
                              </a:rPr>
                              <m:t>𝑥</m:t>
                            </m:r>
                          </m:e>
                          <m:e>
                            <m:r>
                              <a:rPr lang="en-IN" sz="2400" i="1">
                                <a:solidFill>
                                  <a:srgbClr val="7030A0"/>
                                </a:solidFill>
                                <a:latin typeface="Cambria Math" panose="02040503050406030204" pitchFamily="18" charset="0"/>
                                <a:ea typeface="Cambria Math" panose="02040503050406030204" pitchFamily="18" charset="0"/>
                              </a:rPr>
                              <m:t>𝑧</m:t>
                            </m:r>
                          </m:e>
                        </m:d>
                      </m:e>
                    </m:d>
                    <m:r>
                      <a:rPr lang="en-IN" sz="2400">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𝐷</m:t>
                        </m:r>
                      </m:e>
                      <m:sub>
                        <m:r>
                          <a:rPr lang="en-IN" sz="2400" i="1">
                            <a:solidFill>
                              <a:srgbClr val="7030A0"/>
                            </a:solidFill>
                            <a:latin typeface="Cambria Math" panose="02040503050406030204" pitchFamily="18" charset="0"/>
                            <a:cs typeface="Times New Roman" panose="02020603050405020304" pitchFamily="18" charset="0"/>
                          </a:rPr>
                          <m:t>𝐾𝐿</m:t>
                        </m:r>
                      </m:sub>
                    </m:sSub>
                    <m:r>
                      <a:rPr lang="en-IN" sz="2400" i="1">
                        <a:solidFill>
                          <a:srgbClr val="7030A0"/>
                        </a:solidFill>
                        <a:latin typeface="Cambria Math" panose="02040503050406030204" pitchFamily="18" charset="0"/>
                        <a:cs typeface="Times New Roman" panose="020206030504050203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US"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𝑧</m:t>
                    </m:r>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𝑥</m:t>
                    </m:r>
                    <m:r>
                      <a:rPr lang="en-IN" sz="2400" i="1">
                        <a:solidFill>
                          <a:srgbClr val="7030A0"/>
                        </a:solidFill>
                        <a:latin typeface="Cambria Math" panose="02040503050406030204" pitchFamily="18" charset="0"/>
                        <a:cs typeface="Times New Roman" panose="02020603050405020304" pitchFamily="18" charset="0"/>
                      </a:rPr>
                      <m:t>)||</m:t>
                    </m:r>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cs typeface="Times New Roman" panose="02020603050405020304" pitchFamily="18" charset="0"/>
                          </a:rPr>
                        </m:ctrlPr>
                      </m:dPr>
                      <m:e>
                        <m:r>
                          <a:rPr lang="en-IN" sz="2400" i="1">
                            <a:solidFill>
                              <a:srgbClr val="7030A0"/>
                            </a:solidFill>
                            <a:latin typeface="Cambria Math" panose="02040503050406030204" pitchFamily="18" charset="0"/>
                            <a:cs typeface="Times New Roman" panose="02020603050405020304" pitchFamily="18" charset="0"/>
                          </a:rPr>
                          <m:t>𝑧</m:t>
                        </m:r>
                      </m:e>
                    </m:d>
                    <m:r>
                      <a:rPr lang="en-IN" sz="2400" i="1">
                        <a:solidFill>
                          <a:srgbClr val="7030A0"/>
                        </a:solidFill>
                        <a:latin typeface="Cambria Math" panose="02040503050406030204" pitchFamily="18" charset="0"/>
                        <a:cs typeface="Times New Roman" panose="02020603050405020304" pitchFamily="18" charset="0"/>
                      </a:rPr>
                      <m:t>)</m:t>
                    </m:r>
                  </m:oMath>
                </a14:m>
                <a:endParaRPr lang="en-IN" sz="2400" dirty="0">
                  <a:latin typeface="Arial Narrow" panose="020B0606020202030204" pitchFamily="34" charset="0"/>
                </a:endParaRPr>
              </a:p>
              <a:p>
                <a:pPr algn="just"/>
                <a:endParaRPr lang="en-IN" sz="2400" dirty="0">
                  <a:latin typeface="Arial Narrow" panose="020B0606020202030204" pitchFamily="34" charset="0"/>
                </a:endParaRPr>
              </a:p>
              <a:p>
                <a:pPr algn="just"/>
                <a:r>
                  <a:rPr lang="en-IN" sz="2400" dirty="0">
                    <a:latin typeface="Arial Narrow" panose="020B0606020202030204" pitchFamily="34" charset="0"/>
                  </a:rPr>
                  <a:t>Now, </a:t>
                </a:r>
                <a:r>
                  <a:rPr lang="en-US" sz="2400" dirty="0">
                    <a:latin typeface="Arial Narrow" panose="020B0606020202030204" pitchFamily="34" charset="0"/>
                    <a:cs typeface="Times New Roman" panose="02020603050405020304" pitchFamily="18" charset="0"/>
                  </a:rPr>
                  <a:t>The </a:t>
                </a:r>
                <a:r>
                  <a:rPr lang="en-US" sz="2400" dirty="0">
                    <a:solidFill>
                      <a:srgbClr val="7030A0"/>
                    </a:solidFill>
                    <a:latin typeface="Arial Narrow" panose="020B0606020202030204" pitchFamily="34" charset="0"/>
                    <a:cs typeface="Times New Roman" panose="02020603050405020304" pitchFamily="18" charset="0"/>
                  </a:rPr>
                  <a:t>negation</a:t>
                </a:r>
                <a:r>
                  <a:rPr lang="en-US" sz="2400" dirty="0">
                    <a:latin typeface="Arial Narrow" panose="020B0606020202030204" pitchFamily="34" charset="0"/>
                    <a:cs typeface="Times New Roman" panose="02020603050405020304" pitchFamily="18" charset="0"/>
                  </a:rPr>
                  <a:t> of the above defines </a:t>
                </a:r>
                <a:r>
                  <a:rPr lang="en-US" sz="2400" dirty="0">
                    <a:solidFill>
                      <a:srgbClr val="7030A0"/>
                    </a:solidFill>
                    <a:latin typeface="Arial Narrow" panose="020B0606020202030204" pitchFamily="34" charset="0"/>
                    <a:cs typeface="Times New Roman" panose="02020603050405020304" pitchFamily="18" charset="0"/>
                  </a:rPr>
                  <a:t>loss function for VAE</a:t>
                </a:r>
                <a:r>
                  <a:rPr lang="en-US" sz="2400" dirty="0">
                    <a:latin typeface="Arial Narrow" panose="020B0606020202030204" pitchFamily="34" charset="0"/>
                    <a:cs typeface="Times New Roman" panose="02020603050405020304" pitchFamily="18" charset="0"/>
                  </a:rPr>
                  <a:t>:</a:t>
                </a:r>
              </a:p>
              <a:p>
                <a:pPr marL="0" indent="0" algn="just">
                  <a:buNone/>
                </a:pPr>
                <a:endParaRPr lang="en-US" sz="2400" i="1" dirty="0">
                  <a:latin typeface="Arial Narrow" panose="020B0606020202030204" pitchFamily="34"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sSub>
                        <m:sSubPr>
                          <m:ctrlPr>
                            <a:rPr lang="en-US" sz="2400" i="1" smtClean="0">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𝐿</m:t>
                          </m:r>
                        </m:e>
                        <m:sub>
                          <m:r>
                            <a:rPr lang="en-IN" sz="2400" i="1">
                              <a:solidFill>
                                <a:srgbClr val="7030A0"/>
                              </a:solidFill>
                              <a:latin typeface="Cambria Math" panose="02040503050406030204" pitchFamily="18" charset="0"/>
                              <a:cs typeface="Times New Roman" panose="02020603050405020304" pitchFamily="18" charset="0"/>
                            </a:rPr>
                            <m:t>𝑉𝐴𝐸</m:t>
                          </m:r>
                        </m:sub>
                      </m:sSub>
                      <m:d>
                        <m:dPr>
                          <m:ctrlPr>
                            <a:rPr lang="en-IN" sz="2400" i="1">
                              <a:solidFill>
                                <a:srgbClr val="7030A0"/>
                              </a:solidFill>
                              <a:latin typeface="Cambria Math" panose="02040503050406030204" pitchFamily="18" charset="0"/>
                              <a:cs typeface="Times New Roman" panose="02020603050405020304" pitchFamily="18" charset="0"/>
                            </a:rPr>
                          </m:ctrlPr>
                        </m:dPr>
                        <m:e>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𝜃</m:t>
                          </m:r>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e>
                      </m:d>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𝔼</m:t>
                          </m:r>
                        </m:e>
                        <m:sub>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ea typeface="Cambria Math" panose="020405030504060302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IN" sz="2400" i="1">
                                  <a:solidFill>
                                    <a:srgbClr val="7030A0"/>
                                  </a:solidFill>
                                  <a:latin typeface="Cambria Math" panose="02040503050406030204" pitchFamily="18" charset="0"/>
                                  <a:ea typeface="Cambria Math" panose="02040503050406030204" pitchFamily="18" charset="0"/>
                                </a:rPr>
                                <m:t>𝜑</m:t>
                              </m:r>
                            </m:sub>
                          </m:sSub>
                          <m:d>
                            <m:dPr>
                              <m:ctrlPr>
                                <a:rPr lang="en-IN" sz="2400" i="1">
                                  <a:solidFill>
                                    <a:srgbClr val="7030A0"/>
                                  </a:solidFill>
                                  <a:latin typeface="Cambria Math" panose="02040503050406030204" pitchFamily="18" charset="0"/>
                                  <a:ea typeface="Cambria Math" panose="02040503050406030204" pitchFamily="18" charset="0"/>
                                </a:rPr>
                              </m:ctrlPr>
                            </m:dPr>
                            <m:e>
                              <m:r>
                                <a:rPr lang="en-IN" sz="2400" i="1">
                                  <a:solidFill>
                                    <a:srgbClr val="7030A0"/>
                                  </a:solidFill>
                                  <a:latin typeface="Cambria Math" panose="02040503050406030204" pitchFamily="18" charset="0"/>
                                </a:rPr>
                                <m:t>𝑧</m:t>
                              </m:r>
                            </m:e>
                            <m:e>
                              <m:r>
                                <a:rPr lang="en-IN" sz="2400" i="1">
                                  <a:solidFill>
                                    <a:srgbClr val="7030A0"/>
                                  </a:solidFill>
                                  <a:latin typeface="Cambria Math" panose="02040503050406030204" pitchFamily="18" charset="0"/>
                                </a:rPr>
                                <m:t>𝑥</m:t>
                              </m:r>
                            </m:e>
                          </m:d>
                        </m:sub>
                      </m:sSub>
                      <m:r>
                        <a:rPr lang="en-IN" sz="2400" i="1">
                          <a:solidFill>
                            <a:srgbClr val="7030A0"/>
                          </a:solidFill>
                          <a:latin typeface="Cambria Math" panose="02040503050406030204" pitchFamily="18" charset="0"/>
                        </a:rPr>
                        <m:t>[</m:t>
                      </m:r>
                      <m:func>
                        <m:funcPr>
                          <m:ctrlPr>
                            <a:rPr lang="en-IN" sz="2400" i="1">
                              <a:solidFill>
                                <a:srgbClr val="7030A0"/>
                              </a:solidFill>
                              <a:latin typeface="Cambria Math" panose="02040503050406030204" pitchFamily="18" charset="0"/>
                            </a:rPr>
                          </m:ctrlPr>
                        </m:funcPr>
                        <m:fName>
                          <m:r>
                            <m:rPr>
                              <m:sty m:val="p"/>
                            </m:rPr>
                            <a:rPr lang="en-IN" sz="2400">
                              <a:solidFill>
                                <a:srgbClr val="7030A0"/>
                              </a:solidFill>
                              <a:latin typeface="Cambria Math" panose="02040503050406030204" pitchFamily="18" charset="0"/>
                            </a:rPr>
                            <m:t>log</m:t>
                          </m:r>
                        </m:fName>
                        <m:e>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r>
                            <a:rPr lang="en-IN" sz="2400" i="1">
                              <a:solidFill>
                                <a:srgbClr val="7030A0"/>
                              </a:solidFill>
                              <a:latin typeface="Cambria Math" panose="02040503050406030204" pitchFamily="18" charset="0"/>
                            </a:rPr>
                            <m:t>(</m:t>
                          </m:r>
                          <m:r>
                            <a:rPr lang="en-IN" sz="2400" i="1">
                              <a:solidFill>
                                <a:srgbClr val="7030A0"/>
                              </a:solidFill>
                              <a:latin typeface="Cambria Math" panose="02040503050406030204" pitchFamily="18" charset="0"/>
                            </a:rPr>
                            <m:t>𝑥</m:t>
                          </m:r>
                          <m:r>
                            <a:rPr lang="en-IN" sz="2400" i="1">
                              <a:solidFill>
                                <a:srgbClr val="7030A0"/>
                              </a:solidFill>
                              <a:latin typeface="Cambria Math" panose="02040503050406030204" pitchFamily="18" charset="0"/>
                            </a:rPr>
                            <m:t>|</m:t>
                          </m:r>
                          <m:r>
                            <a:rPr lang="en-IN" sz="2400" i="1">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rPr>
                            <m:t>)]</m:t>
                          </m:r>
                        </m:e>
                      </m:func>
                      <m:r>
                        <a:rPr lang="en-IN" sz="2400" i="1">
                          <a:solidFill>
                            <a:srgbClr val="7030A0"/>
                          </a:solidFill>
                          <a:latin typeface="Cambria Math" panose="02040503050406030204" pitchFamily="18" charset="0"/>
                        </a:rPr>
                        <m:t>+</m:t>
                      </m:r>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𝐷</m:t>
                          </m:r>
                        </m:e>
                        <m:sub>
                          <m:r>
                            <a:rPr lang="en-IN" sz="2400" i="1">
                              <a:solidFill>
                                <a:srgbClr val="7030A0"/>
                              </a:solidFill>
                              <a:latin typeface="Cambria Math" panose="02040503050406030204" pitchFamily="18" charset="0"/>
                              <a:cs typeface="Times New Roman" panose="02020603050405020304" pitchFamily="18" charset="0"/>
                            </a:rPr>
                            <m:t>𝐾𝐿</m:t>
                          </m:r>
                        </m:sub>
                      </m:sSub>
                      <m:r>
                        <a:rPr lang="en-IN" sz="2400" i="1">
                          <a:solidFill>
                            <a:srgbClr val="7030A0"/>
                          </a:solidFill>
                          <a:latin typeface="Cambria Math" panose="02040503050406030204" pitchFamily="18" charset="0"/>
                          <a:cs typeface="Times New Roman" panose="020206030504050203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𝑞</m:t>
                          </m:r>
                        </m:e>
                        <m:sub>
                          <m:r>
                            <a:rPr lang="en-US"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𝑧</m:t>
                      </m:r>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𝑥</m:t>
                      </m:r>
                      <m:r>
                        <a:rPr lang="en-IN" sz="2400" i="1">
                          <a:solidFill>
                            <a:srgbClr val="7030A0"/>
                          </a:solidFill>
                          <a:latin typeface="Cambria Math" panose="02040503050406030204" pitchFamily="18" charset="0"/>
                          <a:cs typeface="Times New Roman" panose="02020603050405020304" pitchFamily="18" charset="0"/>
                        </a:rPr>
                        <m:t>)||</m:t>
                      </m:r>
                      <m:sSub>
                        <m:sSubPr>
                          <m:ctrlPr>
                            <a:rPr lang="en-IN" sz="2400" i="1">
                              <a:solidFill>
                                <a:srgbClr val="7030A0"/>
                              </a:solidFill>
                              <a:latin typeface="Cambria Math" panose="02040503050406030204" pitchFamily="18" charset="0"/>
                            </a:rPr>
                          </m:ctrlPr>
                        </m:sSubPr>
                        <m:e>
                          <m:r>
                            <a:rPr lang="en-IN" sz="2400" i="1">
                              <a:solidFill>
                                <a:srgbClr val="7030A0"/>
                              </a:solidFill>
                              <a:latin typeface="Cambria Math" panose="02040503050406030204" pitchFamily="18" charset="0"/>
                            </a:rPr>
                            <m:t>𝑝</m:t>
                          </m:r>
                        </m:e>
                        <m:sub>
                          <m:r>
                            <a:rPr lang="en-IN" sz="2400" i="1">
                              <a:solidFill>
                                <a:srgbClr val="7030A0"/>
                              </a:solidFill>
                              <a:latin typeface="Cambria Math" panose="02040503050406030204" pitchFamily="18" charset="0"/>
                              <a:ea typeface="Cambria Math" panose="02040503050406030204" pitchFamily="18" charset="0"/>
                            </a:rPr>
                            <m:t>𝜃</m:t>
                          </m:r>
                        </m:sub>
                      </m:sSub>
                      <m:d>
                        <m:dPr>
                          <m:ctrlPr>
                            <a:rPr lang="en-IN" sz="2400" i="1">
                              <a:solidFill>
                                <a:srgbClr val="7030A0"/>
                              </a:solidFill>
                              <a:latin typeface="Cambria Math" panose="02040503050406030204" pitchFamily="18" charset="0"/>
                              <a:cs typeface="Times New Roman" panose="02020603050405020304" pitchFamily="18" charset="0"/>
                            </a:rPr>
                          </m:ctrlPr>
                        </m:dPr>
                        <m:e>
                          <m:r>
                            <a:rPr lang="en-IN" sz="2400" i="1">
                              <a:solidFill>
                                <a:srgbClr val="7030A0"/>
                              </a:solidFill>
                              <a:latin typeface="Cambria Math" panose="02040503050406030204" pitchFamily="18" charset="0"/>
                              <a:cs typeface="Times New Roman" panose="02020603050405020304" pitchFamily="18" charset="0"/>
                            </a:rPr>
                            <m:t>𝑧</m:t>
                          </m:r>
                        </m:e>
                      </m:d>
                      <m:r>
                        <a:rPr lang="en-IN" sz="2400" i="1">
                          <a:solidFill>
                            <a:srgbClr val="7030A0"/>
                          </a:solidFill>
                          <a:latin typeface="Cambria Math" panose="02040503050406030204" pitchFamily="18" charset="0"/>
                          <a:cs typeface="Times New Roman" panose="02020603050405020304" pitchFamily="18" charset="0"/>
                        </a:rPr>
                        <m:t>)</m:t>
                      </m:r>
                    </m:oMath>
                  </m:oMathPara>
                </a14:m>
                <a:endParaRPr lang="en-US" sz="2400" dirty="0">
                  <a:solidFill>
                    <a:srgbClr val="7030A0"/>
                  </a:solidFill>
                  <a:latin typeface="Arial Narrow" panose="020B0606020202030204" pitchFamily="34" charset="0"/>
                  <a:cs typeface="Times New Roman" panose="02020603050405020304" pitchFamily="18" charset="0"/>
                </a:endParaRPr>
              </a:p>
              <a:p>
                <a:pPr marL="0" indent="0" algn="just">
                  <a:buNone/>
                </a:pPr>
                <a:r>
                  <a:rPr lang="en-IN" sz="2400" i="1" dirty="0">
                    <a:solidFill>
                      <a:srgbClr val="7030A0"/>
                    </a:solidFill>
                    <a:latin typeface="Arial Narrow" panose="020B0606020202030204" pitchFamily="34" charset="0"/>
                    <a:ea typeface="Cambria Math" panose="02040503050406030204" pitchFamily="18" charset="0"/>
                    <a:cs typeface="Times New Roman" panose="02020603050405020304" pitchFamily="18" charset="0"/>
                  </a:rPr>
                  <a:t> </a:t>
                </a:r>
              </a:p>
              <a:p>
                <a:pPr marL="0" indent="0" algn="just">
                  <a:buNone/>
                </a:pPr>
                <a:r>
                  <a:rPr lang="en-IN" sz="2400" dirty="0">
                    <a:solidFill>
                      <a:srgbClr val="7030A0"/>
                    </a:solidFill>
                    <a:latin typeface="Arial Narrow" panose="020B0606020202030204" pitchFamily="34" charset="0"/>
                    <a:ea typeface="Cambria Math" panose="02040503050406030204" pitchFamily="18" charset="0"/>
                    <a:cs typeface="Times New Roman" panose="02020603050405020304" pitchFamily="18" charset="0"/>
                  </a:rPr>
                  <a:t>                                             </a:t>
                </a:r>
                <a14:m>
                  <m:oMath xmlns:m="http://schemas.openxmlformats.org/officeDocument/2006/math">
                    <m:sSup>
                      <m:sSupPr>
                        <m:ctrlPr>
                          <a:rPr lang="en-US" sz="2400" i="1">
                            <a:solidFill>
                              <a:srgbClr val="7030A0"/>
                            </a:solidFill>
                            <a:latin typeface="Cambria Math" panose="02040503050406030204" pitchFamily="18" charset="0"/>
                            <a:cs typeface="Times New Roman" panose="02020603050405020304" pitchFamily="18" charset="0"/>
                          </a:rPr>
                        </m:ctrlPr>
                      </m:sSupPr>
                      <m:e>
                        <m:r>
                          <a:rPr lang="en-US"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𝜃</m:t>
                        </m:r>
                      </m:e>
                      <m:sup>
                        <m:r>
                          <a:rPr lang="en-IN" sz="2400" i="1">
                            <a:solidFill>
                              <a:srgbClr val="7030A0"/>
                            </a:solidFill>
                            <a:latin typeface="Cambria Math" panose="02040503050406030204" pitchFamily="18" charset="0"/>
                            <a:cs typeface="Times New Roman" panose="02020603050405020304" pitchFamily="18" charset="0"/>
                          </a:rPr>
                          <m:t>∗</m:t>
                        </m:r>
                      </m:sup>
                    </m:sSup>
                    <m:r>
                      <a:rPr lang="en-IN" sz="2400" i="1">
                        <a:solidFill>
                          <a:srgbClr val="7030A0"/>
                        </a:solidFill>
                        <a:latin typeface="Cambria Math" panose="02040503050406030204" pitchFamily="18" charset="0"/>
                        <a:cs typeface="Times New Roman" panose="02020603050405020304" pitchFamily="18" charset="0"/>
                      </a:rPr>
                      <m:t>,</m:t>
                    </m:r>
                    <m:sSup>
                      <m:sSupPr>
                        <m:ctrlPr>
                          <a:rPr lang="en-IN" sz="2400" i="1">
                            <a:solidFill>
                              <a:srgbClr val="7030A0"/>
                            </a:solidFill>
                            <a:latin typeface="Cambria Math" panose="02040503050406030204" pitchFamily="18" charset="0"/>
                            <a:cs typeface="Times New Roman" panose="02020603050405020304" pitchFamily="18" charset="0"/>
                          </a:rPr>
                        </m:ctrlPr>
                      </m:sSupPr>
                      <m:e>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e>
                      <m:sup>
                        <m:r>
                          <a:rPr lang="en-IN" sz="2400" i="1">
                            <a:solidFill>
                              <a:srgbClr val="7030A0"/>
                            </a:solidFill>
                            <a:latin typeface="Cambria Math" panose="02040503050406030204" pitchFamily="18" charset="0"/>
                            <a:cs typeface="Times New Roman" panose="02020603050405020304" pitchFamily="18" charset="0"/>
                          </a:rPr>
                          <m:t>∗</m:t>
                        </m:r>
                      </m:sup>
                    </m:sSup>
                    <m:r>
                      <a:rPr lang="en-IN" sz="2400" i="1">
                        <a:solidFill>
                          <a:srgbClr val="7030A0"/>
                        </a:solidFill>
                        <a:latin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cs typeface="Times New Roman" panose="02020603050405020304" pitchFamily="18" charset="0"/>
                      </a:rPr>
                      <m:t>𝑎𝑟𝑔</m:t>
                    </m:r>
                    <m:m>
                      <m:mPr>
                        <m:mcs>
                          <m:mc>
                            <m:mcPr>
                              <m:count m:val="1"/>
                              <m:mcJc m:val="center"/>
                            </m:mcPr>
                          </m:mc>
                        </m:mcs>
                        <m:ctrlPr>
                          <a:rPr lang="en-IN" sz="2400" i="1">
                            <a:solidFill>
                              <a:srgbClr val="7030A0"/>
                            </a:solidFill>
                            <a:latin typeface="Cambria Math" panose="02040503050406030204" pitchFamily="18" charset="0"/>
                            <a:cs typeface="Times New Roman" panose="02020603050405020304" pitchFamily="18" charset="0"/>
                          </a:rPr>
                        </m:ctrlPr>
                      </m:mPr>
                      <m:mr>
                        <m:e>
                          <m:r>
                            <m:rPr>
                              <m:brk m:alnAt="7"/>
                            </m:rPr>
                            <a:rPr lang="en-IN" sz="2400" i="1">
                              <a:solidFill>
                                <a:srgbClr val="7030A0"/>
                              </a:solidFill>
                              <a:latin typeface="Cambria Math" panose="02040503050406030204" pitchFamily="18" charset="0"/>
                              <a:cs typeface="Times New Roman" panose="02020603050405020304" pitchFamily="18" charset="0"/>
                            </a:rPr>
                            <m:t>𝑚</m:t>
                          </m:r>
                          <m:r>
                            <a:rPr lang="en-IN" sz="2400" i="1">
                              <a:solidFill>
                                <a:srgbClr val="7030A0"/>
                              </a:solidFill>
                              <a:latin typeface="Cambria Math" panose="02040503050406030204" pitchFamily="18" charset="0"/>
                              <a:cs typeface="Times New Roman" panose="02020603050405020304" pitchFamily="18" charset="0"/>
                            </a:rPr>
                            <m:t>𝑖𝑛</m:t>
                          </m:r>
                        </m:e>
                      </m:mr>
                      <m:mr>
                        <m:e>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𝜃</m:t>
                          </m:r>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m:t>
                          </m:r>
                          <m:r>
                            <a:rPr lang="en-IN" sz="24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e>
                      </m:mr>
                    </m:m>
                    <m:sSub>
                      <m:sSubPr>
                        <m:ctrlPr>
                          <a:rPr lang="en-IN" sz="2400" i="1">
                            <a:solidFill>
                              <a:srgbClr val="7030A0"/>
                            </a:solidFill>
                            <a:latin typeface="Cambria Math" panose="02040503050406030204" pitchFamily="18" charset="0"/>
                            <a:cs typeface="Times New Roman" panose="02020603050405020304" pitchFamily="18" charset="0"/>
                          </a:rPr>
                        </m:ctrlPr>
                      </m:sSubPr>
                      <m:e>
                        <m:r>
                          <a:rPr lang="en-IN" sz="2400" i="1">
                            <a:solidFill>
                              <a:srgbClr val="7030A0"/>
                            </a:solidFill>
                            <a:latin typeface="Cambria Math" panose="02040503050406030204" pitchFamily="18" charset="0"/>
                            <a:cs typeface="Times New Roman" panose="02020603050405020304" pitchFamily="18" charset="0"/>
                          </a:rPr>
                          <m:t>𝐿</m:t>
                        </m:r>
                      </m:e>
                      <m:sub>
                        <m:r>
                          <a:rPr lang="en-IN" sz="2400" i="1">
                            <a:solidFill>
                              <a:srgbClr val="7030A0"/>
                            </a:solidFill>
                            <a:latin typeface="Cambria Math" panose="02040503050406030204" pitchFamily="18" charset="0"/>
                            <a:cs typeface="Times New Roman" panose="02020603050405020304" pitchFamily="18" charset="0"/>
                          </a:rPr>
                          <m:t>𝑉𝐴𝐸</m:t>
                        </m:r>
                      </m:sub>
                    </m:sSub>
                  </m:oMath>
                </a14:m>
                <a:endParaRPr lang="en-US" sz="2400" dirty="0">
                  <a:latin typeface="Arial Narrow" panose="020B0606020202030204" pitchFamily="34" charset="0"/>
                  <a:cs typeface="Times New Roman" panose="02020603050405020304" pitchFamily="18" charset="0"/>
                </a:endParaRPr>
              </a:p>
              <a:p>
                <a:pPr marL="0" indent="0" algn="just">
                  <a:buNone/>
                </a:pPr>
                <a:endParaRPr lang="en-US" sz="2400" dirty="0">
                  <a:latin typeface="Arial Narrow" panose="020B0606020202030204" pitchFamily="34" charset="0"/>
                  <a:cs typeface="Times New Roman" panose="02020603050405020304" pitchFamily="18" charset="0"/>
                </a:endParaRPr>
              </a:p>
              <a:p>
                <a:r>
                  <a:rPr lang="en-US" sz="2400" dirty="0">
                    <a:latin typeface="Arial Narrow" panose="020B0606020202030204" pitchFamily="34" charset="0"/>
                  </a:rPr>
                  <a:t>Therefore by </a:t>
                </a:r>
                <a:r>
                  <a:rPr lang="en-US" sz="2400" dirty="0">
                    <a:solidFill>
                      <a:srgbClr val="7030A0"/>
                    </a:solidFill>
                    <a:latin typeface="Arial Narrow" panose="020B0606020202030204" pitchFamily="34" charset="0"/>
                  </a:rPr>
                  <a:t>minimizing the loss</a:t>
                </a:r>
                <a:r>
                  <a:rPr lang="en-US" sz="2400" dirty="0">
                    <a:latin typeface="Arial Narrow" panose="020B0606020202030204" pitchFamily="34" charset="0"/>
                  </a:rPr>
                  <a:t>, we are </a:t>
                </a:r>
                <a:r>
                  <a:rPr lang="en-US" sz="2400" dirty="0">
                    <a:solidFill>
                      <a:srgbClr val="7030A0"/>
                    </a:solidFill>
                    <a:latin typeface="Arial Narrow" panose="020B0606020202030204" pitchFamily="34" charset="0"/>
                  </a:rPr>
                  <a:t>maximizing the lower bound of the probability of generating real data samples</a:t>
                </a:r>
                <a:r>
                  <a:rPr lang="en-US" sz="2400" dirty="0">
                    <a:latin typeface="Arial Narrow" panose="020B0606020202030204" pitchFamily="34" charset="0"/>
                  </a:rPr>
                  <a:t>.</a:t>
                </a:r>
              </a:p>
              <a:p>
                <a:endParaRPr lang="en-IN" dirty="0"/>
              </a:p>
            </p:txBody>
          </p:sp>
        </mc:Choice>
        <mc:Fallback xmlns="">
          <p:sp>
            <p:nvSpPr>
              <p:cNvPr id="3" name="Text Placeholder 2">
                <a:extLst>
                  <a:ext uri="{FF2B5EF4-FFF2-40B4-BE49-F238E27FC236}">
                    <a16:creationId xmlns:a16="http://schemas.microsoft.com/office/drawing/2014/main" id="{AC2EBFE9-D4A6-47FA-9362-FAF140E715FD}"/>
                  </a:ext>
                </a:extLst>
              </p:cNvPr>
              <p:cNvSpPr>
                <a:spLocks noGrp="1" noRot="1" noChangeAspect="1" noMove="1" noResize="1" noEditPoints="1" noAdjustHandles="1" noChangeArrowheads="1" noChangeShapeType="1" noTextEdit="1"/>
              </p:cNvSpPr>
              <p:nvPr>
                <p:ph type="body" idx="1"/>
              </p:nvPr>
            </p:nvSpPr>
            <p:spPr>
              <a:xfrm>
                <a:off x="838200" y="1571101"/>
                <a:ext cx="10515600" cy="4667250"/>
              </a:xfrm>
              <a:blipFill>
                <a:blip r:embed="rId2"/>
                <a:stretch>
                  <a:fillRect r="-1449"/>
                </a:stretch>
              </a:blipFill>
            </p:spPr>
            <p:txBody>
              <a:bodyPr/>
              <a:lstStyle/>
              <a:p>
                <a:r>
                  <a:rPr lang="en-IN">
                    <a:noFill/>
                  </a:rPr>
                  <a:t> </a:t>
                </a:r>
              </a:p>
            </p:txBody>
          </p:sp>
        </mc:Fallback>
      </mc:AlternateContent>
      <p:sp>
        <p:nvSpPr>
          <p:cNvPr id="4" name="Title 1">
            <a:extLst>
              <a:ext uri="{FF2B5EF4-FFF2-40B4-BE49-F238E27FC236}">
                <a16:creationId xmlns:a16="http://schemas.microsoft.com/office/drawing/2014/main" id="{9E301287-68F3-4F42-905A-7206CDB063CB}"/>
              </a:ext>
            </a:extLst>
          </p:cNvPr>
          <p:cNvSpPr>
            <a:spLocks noGrp="1"/>
          </p:cNvSpPr>
          <p:nvPr>
            <p:ph type="title"/>
          </p:nvPr>
        </p:nvSpPr>
        <p:spPr>
          <a:xfrm>
            <a:off x="838200" y="365125"/>
            <a:ext cx="10515600" cy="1325563"/>
          </a:xfrm>
        </p:spPr>
        <p:txBody>
          <a:bodyPr>
            <a:normAutofit/>
          </a:bodyPr>
          <a:lstStyle/>
          <a:p>
            <a:r>
              <a:rPr lang="en-IN" sz="3600" dirty="0">
                <a:latin typeface="Century" panose="02040604050505020304" pitchFamily="18" charset="0"/>
              </a:rPr>
              <a:t>VAE Loss</a:t>
            </a:r>
            <a:endParaRPr lang="en-IN" sz="3600" dirty="0"/>
          </a:p>
        </p:txBody>
      </p:sp>
      <p:sp>
        <p:nvSpPr>
          <p:cNvPr id="5" name="Rectangle 4">
            <a:extLst>
              <a:ext uri="{FF2B5EF4-FFF2-40B4-BE49-F238E27FC236}">
                <a16:creationId xmlns:a16="http://schemas.microsoft.com/office/drawing/2014/main" id="{8484FFDD-30E2-4413-A156-59859BE5AB0E}"/>
              </a:ext>
            </a:extLst>
          </p:cNvPr>
          <p:cNvSpPr/>
          <p:nvPr/>
        </p:nvSpPr>
        <p:spPr>
          <a:xfrm>
            <a:off x="161365" y="6484189"/>
            <a:ext cx="9260542" cy="307777"/>
          </a:xfrm>
          <a:prstGeom prst="rect">
            <a:avLst/>
          </a:prstGeom>
        </p:spPr>
        <p:txBody>
          <a:bodyPr wrap="square">
            <a:spAutoFit/>
          </a:bodyPr>
          <a:lstStyle/>
          <a:p>
            <a:r>
              <a:rPr lang="en-IN" sz="1400" b="0" i="0" dirty="0">
                <a:solidFill>
                  <a:srgbClr val="1F1F1F"/>
                </a:solidFill>
                <a:effectLst/>
                <a:latin typeface="Times New Roman" panose="02020603050405020304" pitchFamily="18" charset="0"/>
                <a:cs typeface="Times New Roman" panose="02020603050405020304" pitchFamily="18" charset="0"/>
              </a:rPr>
              <a:t>Weng, Lilian. (2018). </a:t>
            </a:r>
            <a:r>
              <a:rPr lang="en-IN" sz="1400" dirty="0">
                <a:solidFill>
                  <a:srgbClr val="1F1F1F"/>
                </a:solidFill>
                <a:latin typeface="Times New Roman" panose="02020603050405020304" pitchFamily="18" charset="0"/>
                <a:cs typeface="Times New Roman" panose="02020603050405020304" pitchFamily="18" charset="0"/>
              </a:rPr>
              <a:t>From Autoencoder to Beta-VAE,</a:t>
            </a:r>
            <a:r>
              <a:rPr lang="en-IN" sz="1400" b="0" i="0" dirty="0">
                <a:solidFill>
                  <a:srgbClr val="1F1F1F"/>
                </a:solidFill>
                <a:effectLst/>
                <a:latin typeface="Times New Roman" panose="02020603050405020304" pitchFamily="18" charset="0"/>
                <a:cs typeface="Times New Roman" panose="02020603050405020304" pitchFamily="18" charset="0"/>
              </a:rPr>
              <a:t> </a:t>
            </a:r>
            <a:r>
              <a:rPr lang="en-IN" sz="1400" b="0" i="0" dirty="0" err="1">
                <a:solidFill>
                  <a:srgbClr val="1F1F1F"/>
                </a:solidFill>
                <a:effectLst/>
                <a:latin typeface="Times New Roman" panose="02020603050405020304" pitchFamily="18" charset="0"/>
                <a:cs typeface="Times New Roman" panose="02020603050405020304" pitchFamily="18" charset="0"/>
              </a:rPr>
              <a:t>Lil’Log</a:t>
            </a:r>
            <a:r>
              <a:rPr lang="en-IN" sz="1400" b="0" i="0" dirty="0">
                <a:solidFill>
                  <a:srgbClr val="1F1F1F"/>
                </a:solidFill>
                <a:effectLst/>
                <a:latin typeface="Times New Roman" panose="02020603050405020304" pitchFamily="18" charset="0"/>
                <a:cs typeface="Times New Roman" panose="02020603050405020304" pitchFamily="18" charset="0"/>
              </a:rPr>
              <a:t>. </a:t>
            </a:r>
            <a:r>
              <a:rPr lang="en-IN" sz="1400" dirty="0">
                <a:solidFill>
                  <a:srgbClr val="1F1F1F"/>
                </a:solidFill>
                <a:latin typeface="Times New Roman" panose="02020603050405020304" pitchFamily="18" charset="0"/>
                <a:cs typeface="Times New Roman" panose="02020603050405020304" pitchFamily="18" charset="0"/>
              </a:rPr>
              <a:t>"https://lilianweng.github.io/posts/2018-08-12-vae/"</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2176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1C21B-804C-4EDE-8C75-E3A49E2E9512}"/>
              </a:ext>
            </a:extLst>
          </p:cNvPr>
          <p:cNvSpPr>
            <a:spLocks noGrp="1"/>
          </p:cNvSpPr>
          <p:nvPr>
            <p:ph type="title"/>
          </p:nvPr>
        </p:nvSpPr>
        <p:spPr/>
        <p:txBody>
          <a:bodyPr>
            <a:normAutofit/>
          </a:bodyPr>
          <a:lstStyle/>
          <a:p>
            <a:r>
              <a:rPr lang="en-IN" sz="3600" dirty="0">
                <a:latin typeface="Century" panose="02040604050505020304" pitchFamily="18" charset="0"/>
              </a:rPr>
              <a:t>ELBO and Posterior Approximation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A22823C-0A8B-4CA6-98A3-2A589D74362D}"/>
                  </a:ext>
                </a:extLst>
              </p:cNvPr>
              <p:cNvSpPr>
                <a:spLocks noGrp="1"/>
              </p:cNvSpPr>
              <p:nvPr>
                <p:ph type="body" idx="1"/>
              </p:nvPr>
            </p:nvSpPr>
            <p:spPr>
              <a:xfrm>
                <a:off x="838200" y="1599382"/>
                <a:ext cx="10515600" cy="4820272"/>
              </a:xfrm>
            </p:spPr>
            <p:txBody>
              <a:bodyPr>
                <a:normAutofit/>
              </a:bodyPr>
              <a:lstStyle/>
              <a:p>
                <a:r>
                  <a:rPr lang="en-IN" sz="2000" dirty="0">
                    <a:latin typeface="Arial Narrow" panose="020B0606020202030204" pitchFamily="34" charset="0"/>
                  </a:rPr>
                  <a:t>We have approximated </a:t>
                </a:r>
                <a14:m>
                  <m:oMath xmlns:m="http://schemas.openxmlformats.org/officeDocument/2006/math">
                    <m:sSub>
                      <m:sSubPr>
                        <m:ctrlPr>
                          <a:rPr lang="en-IN" sz="2000" i="1">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rPr>
                          <m:t> </m:t>
                        </m:r>
                        <m:r>
                          <a:rPr lang="en-IN" sz="2000" i="1">
                            <a:solidFill>
                              <a:srgbClr val="7030A0"/>
                            </a:solidFill>
                            <a:latin typeface="Cambria Math" panose="02040503050406030204" pitchFamily="18" charset="0"/>
                          </a:rPr>
                          <m:t>𝑝</m:t>
                        </m:r>
                      </m:e>
                      <m:sub>
                        <m:r>
                          <a:rPr lang="en-IN" sz="2000" i="1">
                            <a:solidFill>
                              <a:srgbClr val="7030A0"/>
                            </a:solidFill>
                            <a:latin typeface="Cambria Math" panose="02040503050406030204" pitchFamily="18" charset="0"/>
                            <a:ea typeface="Cambria Math" panose="02040503050406030204" pitchFamily="18" charset="0"/>
                          </a:rPr>
                          <m:t>𝜃</m:t>
                        </m:r>
                      </m:sub>
                    </m:sSub>
                    <m:d>
                      <m:dPr>
                        <m:ctrlPr>
                          <a:rPr lang="en-IN" sz="2000" i="1">
                            <a:solidFill>
                              <a:srgbClr val="7030A0"/>
                            </a:solidFill>
                            <a:latin typeface="Cambria Math" panose="02040503050406030204" pitchFamily="18" charset="0"/>
                            <a:ea typeface="Cambria Math" panose="02040503050406030204" pitchFamily="18" charset="0"/>
                          </a:rPr>
                        </m:ctrlPr>
                      </m:dPr>
                      <m:e>
                        <m:r>
                          <a:rPr lang="en-IN" sz="2000" b="0" i="1" smtClean="0">
                            <a:solidFill>
                              <a:srgbClr val="7030A0"/>
                            </a:solidFill>
                            <a:latin typeface="Cambria Math" panose="02040503050406030204" pitchFamily="18" charset="0"/>
                            <a:ea typeface="Cambria Math" panose="02040503050406030204" pitchFamily="18" charset="0"/>
                          </a:rPr>
                          <m:t>𝑧</m:t>
                        </m:r>
                      </m:e>
                      <m:e>
                        <m:r>
                          <a:rPr lang="en-IN" sz="2000" b="0" i="1" smtClean="0">
                            <a:solidFill>
                              <a:srgbClr val="7030A0"/>
                            </a:solidFill>
                            <a:latin typeface="Cambria Math" panose="02040503050406030204" pitchFamily="18" charset="0"/>
                            <a:ea typeface="Cambria Math" panose="02040503050406030204" pitchFamily="18" charset="0"/>
                          </a:rPr>
                          <m:t>𝑥</m:t>
                        </m:r>
                      </m:e>
                    </m:d>
                  </m:oMath>
                </a14:m>
                <a:r>
                  <a:rPr lang="en-IN" sz="2000" dirty="0">
                    <a:latin typeface="Arial Narrow" panose="020B0606020202030204" pitchFamily="34" charset="0"/>
                  </a:rPr>
                  <a:t> with </a:t>
                </a:r>
                <a14:m>
                  <m:oMath xmlns:m="http://schemas.openxmlformats.org/officeDocument/2006/math">
                    <m:sSub>
                      <m:sSubPr>
                        <m:ctrlPr>
                          <a:rPr lang="en-IN" sz="2000" i="1">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rPr>
                          <m:t>𝑞</m:t>
                        </m:r>
                      </m:e>
                      <m:sub>
                        <m:r>
                          <a:rPr lang="en-US" sz="20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d>
                      <m:dPr>
                        <m:ctrlPr>
                          <a:rPr lang="en-IN" sz="20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solidFill>
                              <a:srgbClr val="7030A0"/>
                            </a:solidFill>
                            <a:latin typeface="Cambria Math" panose="02040503050406030204" pitchFamily="18" charset="0"/>
                            <a:cs typeface="Times New Roman" panose="02020603050405020304" pitchFamily="18" charset="0"/>
                          </a:rPr>
                          <m:t>𝑧</m:t>
                        </m:r>
                      </m:e>
                      <m:e>
                        <m:r>
                          <a:rPr lang="en-IN" sz="2000" i="1">
                            <a:solidFill>
                              <a:srgbClr val="7030A0"/>
                            </a:solidFill>
                            <a:latin typeface="Cambria Math" panose="02040503050406030204" pitchFamily="18" charset="0"/>
                            <a:cs typeface="Times New Roman" panose="02020603050405020304" pitchFamily="18" charset="0"/>
                          </a:rPr>
                          <m:t>𝑥</m:t>
                        </m:r>
                      </m:e>
                    </m:d>
                  </m:oMath>
                </a14:m>
                <a:r>
                  <a:rPr lang="en-IN" sz="2000" dirty="0">
                    <a:latin typeface="Arial Narrow" panose="020B0606020202030204" pitchFamily="34" charset="0"/>
                  </a:rPr>
                  <a:t>.</a:t>
                </a:r>
              </a:p>
              <a:p>
                <a:endParaRPr lang="en-IN" sz="2000" dirty="0">
                  <a:latin typeface="Arial Narrow" panose="020B0606020202030204" pitchFamily="34" charset="0"/>
                </a:endParaRPr>
              </a:p>
              <a:p>
                <a:r>
                  <a:rPr lang="en-US" sz="2000" dirty="0">
                    <a:latin typeface="Arial Narrow" panose="020B0606020202030204" pitchFamily="34" charset="0"/>
                  </a:rPr>
                  <a:t>The estimated posterior  </a:t>
                </a:r>
                <a14:m>
                  <m:oMath xmlns:m="http://schemas.openxmlformats.org/officeDocument/2006/math">
                    <m:sSub>
                      <m:sSubPr>
                        <m:ctrlPr>
                          <a:rPr lang="en-IN" sz="2000" i="1">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rPr>
                          <m:t>𝑞</m:t>
                        </m:r>
                      </m:e>
                      <m:sub>
                        <m:r>
                          <a:rPr lang="en-US" sz="20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d>
                      <m:dPr>
                        <m:ctrlPr>
                          <a:rPr lang="en-IN" sz="20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solidFill>
                              <a:srgbClr val="7030A0"/>
                            </a:solidFill>
                            <a:latin typeface="Cambria Math" panose="02040503050406030204" pitchFamily="18" charset="0"/>
                            <a:cs typeface="Times New Roman" panose="02020603050405020304" pitchFamily="18" charset="0"/>
                          </a:rPr>
                          <m:t>𝑧</m:t>
                        </m:r>
                      </m:e>
                      <m:e>
                        <m:r>
                          <a:rPr lang="en-IN" sz="2000" i="1">
                            <a:solidFill>
                              <a:srgbClr val="7030A0"/>
                            </a:solidFill>
                            <a:latin typeface="Cambria Math" panose="02040503050406030204" pitchFamily="18" charset="0"/>
                            <a:cs typeface="Times New Roman" panose="02020603050405020304" pitchFamily="18" charset="0"/>
                          </a:rPr>
                          <m:t>𝑥</m:t>
                        </m:r>
                      </m:e>
                    </m:d>
                    <m:r>
                      <a:rPr lang="en-IN" sz="2000" i="1">
                        <a:solidFill>
                          <a:srgbClr val="7030A0"/>
                        </a:solidFill>
                        <a:latin typeface="Cambria Math" panose="02040503050406030204" pitchFamily="18" charset="0"/>
                        <a:cs typeface="Times New Roman" panose="02020603050405020304" pitchFamily="18" charset="0"/>
                      </a:rPr>
                      <m:t> </m:t>
                    </m:r>
                  </m:oMath>
                </a14:m>
                <a:r>
                  <a:rPr lang="en-US" sz="2000" dirty="0">
                    <a:latin typeface="Arial Narrow" panose="020B0606020202030204" pitchFamily="34" charset="0"/>
                  </a:rPr>
                  <a:t> should be very close to the real one  </a:t>
                </a:r>
                <a14:m>
                  <m:oMath xmlns:m="http://schemas.openxmlformats.org/officeDocument/2006/math">
                    <m:sSub>
                      <m:sSubPr>
                        <m:ctrlPr>
                          <a:rPr lang="en-IN" sz="2000" i="1">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rPr>
                          <m:t> </m:t>
                        </m:r>
                        <m:r>
                          <a:rPr lang="en-IN" sz="2000" i="1">
                            <a:solidFill>
                              <a:srgbClr val="7030A0"/>
                            </a:solidFill>
                            <a:latin typeface="Cambria Math" panose="02040503050406030204" pitchFamily="18" charset="0"/>
                          </a:rPr>
                          <m:t>𝑝</m:t>
                        </m:r>
                      </m:e>
                      <m:sub>
                        <m:r>
                          <a:rPr lang="en-IN" sz="2000" i="1">
                            <a:solidFill>
                              <a:srgbClr val="7030A0"/>
                            </a:solidFill>
                            <a:latin typeface="Cambria Math" panose="02040503050406030204" pitchFamily="18" charset="0"/>
                            <a:ea typeface="Cambria Math" panose="02040503050406030204" pitchFamily="18" charset="0"/>
                          </a:rPr>
                          <m:t>𝜃</m:t>
                        </m:r>
                      </m:sub>
                    </m:sSub>
                    <m:d>
                      <m:dPr>
                        <m:ctrlPr>
                          <a:rPr lang="en-IN" sz="2000" i="1">
                            <a:solidFill>
                              <a:srgbClr val="7030A0"/>
                            </a:solidFill>
                            <a:latin typeface="Cambria Math" panose="02040503050406030204" pitchFamily="18" charset="0"/>
                            <a:ea typeface="Cambria Math" panose="02040503050406030204" pitchFamily="18" charset="0"/>
                          </a:rPr>
                        </m:ctrlPr>
                      </m:dPr>
                      <m:e>
                        <m:r>
                          <a:rPr lang="en-IN" sz="2000" i="1">
                            <a:solidFill>
                              <a:srgbClr val="7030A0"/>
                            </a:solidFill>
                            <a:latin typeface="Cambria Math" panose="02040503050406030204" pitchFamily="18" charset="0"/>
                            <a:ea typeface="Cambria Math" panose="02040503050406030204" pitchFamily="18" charset="0"/>
                          </a:rPr>
                          <m:t>𝑧</m:t>
                        </m:r>
                      </m:e>
                      <m:e>
                        <m:r>
                          <a:rPr lang="en-IN" sz="2000" i="1">
                            <a:solidFill>
                              <a:srgbClr val="7030A0"/>
                            </a:solidFill>
                            <a:latin typeface="Cambria Math" panose="02040503050406030204" pitchFamily="18" charset="0"/>
                            <a:ea typeface="Cambria Math" panose="02040503050406030204" pitchFamily="18" charset="0"/>
                          </a:rPr>
                          <m:t>𝑥</m:t>
                        </m:r>
                      </m:e>
                    </m:d>
                  </m:oMath>
                </a14:m>
                <a:r>
                  <a:rPr lang="en-US" sz="2000" dirty="0">
                    <a:latin typeface="Arial Narrow" panose="020B0606020202030204" pitchFamily="34" charset="0"/>
                  </a:rPr>
                  <a:t>. </a:t>
                </a:r>
              </a:p>
              <a:p>
                <a:endParaRPr lang="en-US" sz="2000" dirty="0">
                  <a:latin typeface="Arial Narrow" panose="020B0606020202030204" pitchFamily="34" charset="0"/>
                </a:endParaRPr>
              </a:p>
              <a:p>
                <a:r>
                  <a:rPr lang="en-US" sz="2000" dirty="0">
                    <a:latin typeface="Arial Narrow" panose="020B0606020202030204" pitchFamily="34" charset="0"/>
                  </a:rPr>
                  <a:t>We can use </a:t>
                </a:r>
                <a:r>
                  <a:rPr lang="en-US" sz="2000" dirty="0" err="1">
                    <a:latin typeface="Arial Narrow" panose="020B0606020202030204" pitchFamily="34" charset="0"/>
                  </a:rPr>
                  <a:t>Kullback-Leibler</a:t>
                </a:r>
                <a:r>
                  <a:rPr lang="en-US" sz="2000" dirty="0">
                    <a:latin typeface="Arial Narrow" panose="020B0606020202030204" pitchFamily="34" charset="0"/>
                  </a:rPr>
                  <a:t> divergence to quantify the distance between these two distributions. KL divergence  measures how much information is lost if the distribution Y is used to represent X.</a:t>
                </a:r>
              </a:p>
              <a:p>
                <a:endParaRPr lang="en-US" sz="2000" dirty="0">
                  <a:latin typeface="Arial Narrow" panose="020B0606020202030204" pitchFamily="34" charset="0"/>
                </a:endParaRPr>
              </a:p>
              <a:p>
                <a:r>
                  <a:rPr lang="en-US" sz="2000" dirty="0">
                    <a:latin typeface="Arial Narrow" panose="020B0606020202030204" pitchFamily="34" charset="0"/>
                  </a:rPr>
                  <a:t>In our case we want to minimize </a:t>
                </a:r>
                <a:r>
                  <a:rPr lang="en-IN" sz="2000" dirty="0">
                    <a:solidFill>
                      <a:srgbClr val="7030A0"/>
                    </a:solidFill>
                    <a:cs typeface="Times New Roman" panose="02020603050405020304" pitchFamily="18" charset="0"/>
                  </a:rPr>
                  <a:t> </a:t>
                </a:r>
                <a14:m>
                  <m:oMath xmlns:m="http://schemas.openxmlformats.org/officeDocument/2006/math">
                    <m:sSub>
                      <m:sSubPr>
                        <m:ctrlPr>
                          <a:rPr lang="en-IN" sz="2000" i="1">
                            <a:solidFill>
                              <a:srgbClr val="7030A0"/>
                            </a:solidFill>
                            <a:latin typeface="Cambria Math" panose="02040503050406030204" pitchFamily="18" charset="0"/>
                            <a:cs typeface="Times New Roman" panose="02020603050405020304" pitchFamily="18" charset="0"/>
                          </a:rPr>
                        </m:ctrlPr>
                      </m:sSubPr>
                      <m:e>
                        <m:r>
                          <a:rPr lang="en-IN" sz="2000" i="1">
                            <a:solidFill>
                              <a:srgbClr val="7030A0"/>
                            </a:solidFill>
                            <a:latin typeface="Cambria Math" panose="02040503050406030204" pitchFamily="18" charset="0"/>
                            <a:cs typeface="Times New Roman" panose="02020603050405020304" pitchFamily="18" charset="0"/>
                          </a:rPr>
                          <m:t>𝐷</m:t>
                        </m:r>
                      </m:e>
                      <m:sub>
                        <m:r>
                          <a:rPr lang="en-IN" sz="2000" i="1">
                            <a:solidFill>
                              <a:srgbClr val="7030A0"/>
                            </a:solidFill>
                            <a:latin typeface="Cambria Math" panose="02040503050406030204" pitchFamily="18" charset="0"/>
                            <a:cs typeface="Times New Roman" panose="02020603050405020304" pitchFamily="18" charset="0"/>
                          </a:rPr>
                          <m:t>𝐾𝐿</m:t>
                        </m:r>
                      </m:sub>
                    </m:sSub>
                    <m:r>
                      <a:rPr lang="en-IN" sz="2000" i="1">
                        <a:solidFill>
                          <a:srgbClr val="7030A0"/>
                        </a:solidFill>
                        <a:latin typeface="Cambria Math" panose="02040503050406030204" pitchFamily="18" charset="0"/>
                        <a:cs typeface="Times New Roman" panose="02020603050405020304" pitchFamily="18" charset="0"/>
                      </a:rPr>
                      <m:t>(</m:t>
                    </m:r>
                    <m:sSub>
                      <m:sSubPr>
                        <m:ctrlPr>
                          <a:rPr lang="en-IN" sz="2000" i="1">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rPr>
                          <m:t>𝑞</m:t>
                        </m:r>
                      </m:e>
                      <m:sub>
                        <m:r>
                          <a:rPr lang="en-US" sz="20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000" i="1">
                        <a:solidFill>
                          <a:srgbClr val="7030A0"/>
                        </a:solidFill>
                        <a:latin typeface="Cambria Math" panose="02040503050406030204" pitchFamily="18" charset="0"/>
                        <a:cs typeface="Times New Roman" panose="02020603050405020304" pitchFamily="18" charset="0"/>
                      </a:rPr>
                      <m:t>(</m:t>
                    </m:r>
                    <m:r>
                      <a:rPr lang="en-IN" sz="2000" i="1">
                        <a:solidFill>
                          <a:srgbClr val="7030A0"/>
                        </a:solidFill>
                        <a:latin typeface="Cambria Math" panose="02040503050406030204" pitchFamily="18" charset="0"/>
                        <a:cs typeface="Times New Roman" panose="02020603050405020304" pitchFamily="18" charset="0"/>
                      </a:rPr>
                      <m:t>𝑧</m:t>
                    </m:r>
                    <m:r>
                      <a:rPr lang="en-IN" sz="2000" i="1">
                        <a:solidFill>
                          <a:srgbClr val="7030A0"/>
                        </a:solidFill>
                        <a:latin typeface="Cambria Math" panose="02040503050406030204" pitchFamily="18" charset="0"/>
                        <a:cs typeface="Times New Roman" panose="02020603050405020304" pitchFamily="18" charset="0"/>
                      </a:rPr>
                      <m:t>|</m:t>
                    </m:r>
                    <m:r>
                      <a:rPr lang="en-IN" sz="2000" i="1">
                        <a:solidFill>
                          <a:srgbClr val="7030A0"/>
                        </a:solidFill>
                        <a:latin typeface="Cambria Math" panose="02040503050406030204" pitchFamily="18" charset="0"/>
                        <a:cs typeface="Times New Roman" panose="02020603050405020304" pitchFamily="18" charset="0"/>
                      </a:rPr>
                      <m:t>𝑥</m:t>
                    </m:r>
                    <m:r>
                      <a:rPr lang="en-IN" sz="2000" i="1">
                        <a:solidFill>
                          <a:srgbClr val="7030A0"/>
                        </a:solidFill>
                        <a:latin typeface="Cambria Math" panose="02040503050406030204" pitchFamily="18" charset="0"/>
                        <a:cs typeface="Times New Roman" panose="02020603050405020304" pitchFamily="18" charset="0"/>
                      </a:rPr>
                      <m:t>)||</m:t>
                    </m:r>
                    <m:sSub>
                      <m:sSubPr>
                        <m:ctrlPr>
                          <a:rPr lang="en-IN" sz="2000" i="1">
                            <a:solidFill>
                              <a:srgbClr val="7030A0"/>
                            </a:solidFill>
                            <a:latin typeface="Cambria Math" panose="02040503050406030204" pitchFamily="18" charset="0"/>
                            <a:cs typeface="Times New Roman" panose="02020603050405020304" pitchFamily="18" charset="0"/>
                          </a:rPr>
                        </m:ctrlPr>
                      </m:sSubPr>
                      <m:e>
                        <m:r>
                          <a:rPr lang="en-IN" sz="2000" i="1">
                            <a:solidFill>
                              <a:srgbClr val="7030A0"/>
                            </a:solidFill>
                            <a:latin typeface="Cambria Math" panose="02040503050406030204" pitchFamily="18" charset="0"/>
                            <a:cs typeface="Times New Roman" panose="02020603050405020304" pitchFamily="18" charset="0"/>
                          </a:rPr>
                          <m:t>𝑝</m:t>
                        </m:r>
                      </m:e>
                      <m:sub>
                        <m:r>
                          <a:rPr lang="en-IN" sz="2000" i="1">
                            <a:solidFill>
                              <a:srgbClr val="7030A0"/>
                            </a:solidFill>
                            <a:latin typeface="Cambria Math" panose="02040503050406030204" pitchFamily="18" charset="0"/>
                            <a:ea typeface="Cambria Math" panose="02040503050406030204" pitchFamily="18" charset="0"/>
                          </a:rPr>
                          <m:t>𝜃</m:t>
                        </m:r>
                      </m:sub>
                    </m:sSub>
                    <m:d>
                      <m:dPr>
                        <m:ctrlPr>
                          <a:rPr lang="en-IN" sz="2000" i="1">
                            <a:solidFill>
                              <a:srgbClr val="7030A0"/>
                            </a:solidFill>
                            <a:latin typeface="Cambria Math" panose="02040503050406030204" pitchFamily="18" charset="0"/>
                            <a:cs typeface="Times New Roman" panose="02020603050405020304" pitchFamily="18" charset="0"/>
                          </a:rPr>
                        </m:ctrlPr>
                      </m:dPr>
                      <m:e>
                        <m:r>
                          <a:rPr lang="en-IN" sz="2000" i="1">
                            <a:solidFill>
                              <a:srgbClr val="7030A0"/>
                            </a:solidFill>
                            <a:latin typeface="Cambria Math" panose="02040503050406030204" pitchFamily="18" charset="0"/>
                            <a:cs typeface="Times New Roman" panose="02020603050405020304" pitchFamily="18" charset="0"/>
                          </a:rPr>
                          <m:t>𝑧</m:t>
                        </m:r>
                        <m:r>
                          <a:rPr lang="en-IN" sz="2000" i="1">
                            <a:solidFill>
                              <a:srgbClr val="7030A0"/>
                            </a:solidFill>
                            <a:latin typeface="Cambria Math" panose="02040503050406030204" pitchFamily="18" charset="0"/>
                            <a:cs typeface="Times New Roman" panose="02020603050405020304" pitchFamily="18" charset="0"/>
                          </a:rPr>
                          <m:t>|</m:t>
                        </m:r>
                        <m:r>
                          <a:rPr lang="en-IN" sz="2000" i="1">
                            <a:solidFill>
                              <a:srgbClr val="7030A0"/>
                            </a:solidFill>
                            <a:latin typeface="Cambria Math" panose="02040503050406030204" pitchFamily="18" charset="0"/>
                            <a:cs typeface="Times New Roman" panose="02020603050405020304" pitchFamily="18" charset="0"/>
                          </a:rPr>
                          <m:t>𝑥</m:t>
                        </m:r>
                      </m:e>
                    </m:d>
                    <m:r>
                      <a:rPr lang="en-IN" sz="2000" i="1">
                        <a:solidFill>
                          <a:srgbClr val="7030A0"/>
                        </a:solidFill>
                        <a:latin typeface="Cambria Math" panose="02040503050406030204" pitchFamily="18" charset="0"/>
                        <a:cs typeface="Times New Roman" panose="02020603050405020304" pitchFamily="18" charset="0"/>
                      </a:rPr>
                      <m:t>) </m:t>
                    </m:r>
                  </m:oMath>
                </a14:m>
                <a:r>
                  <a:rPr lang="en-US" sz="2000" dirty="0">
                    <a:latin typeface="Arial Narrow" panose="020B0606020202030204" pitchFamily="34" charset="0"/>
                  </a:rPr>
                  <a:t>with respect to  𝜑.</a:t>
                </a:r>
              </a:p>
              <a:p>
                <a:pPr marL="114300" indent="0">
                  <a:buNone/>
                </a:pPr>
                <a:endParaRPr lang="en-IN" sz="2000" dirty="0">
                  <a:latin typeface="Arial Narrow" panose="020B0606020202030204" pitchFamily="34" charset="0"/>
                </a:endParaRPr>
              </a:p>
              <a:p>
                <a:r>
                  <a:rPr lang="en-IN" sz="2000" dirty="0">
                    <a:latin typeface="Arial Narrow" panose="020B0606020202030204" pitchFamily="34" charset="0"/>
                  </a:rPr>
                  <a:t>Expanding, </a:t>
                </a:r>
                <a14:m>
                  <m:oMath xmlns:m="http://schemas.openxmlformats.org/officeDocument/2006/math">
                    <m:sSub>
                      <m:sSubPr>
                        <m:ctrlPr>
                          <a:rPr lang="en-IN" sz="2000" i="1">
                            <a:solidFill>
                              <a:srgbClr val="7030A0"/>
                            </a:solidFill>
                            <a:latin typeface="Cambria Math" panose="02040503050406030204" pitchFamily="18" charset="0"/>
                            <a:cs typeface="Times New Roman" panose="02020603050405020304" pitchFamily="18" charset="0"/>
                          </a:rPr>
                        </m:ctrlPr>
                      </m:sSubPr>
                      <m:e>
                        <m:r>
                          <a:rPr lang="en-IN" sz="2000" i="1">
                            <a:solidFill>
                              <a:srgbClr val="7030A0"/>
                            </a:solidFill>
                            <a:latin typeface="Cambria Math" panose="02040503050406030204" pitchFamily="18" charset="0"/>
                            <a:cs typeface="Times New Roman" panose="02020603050405020304" pitchFamily="18" charset="0"/>
                          </a:rPr>
                          <m:t>𝐷</m:t>
                        </m:r>
                      </m:e>
                      <m:sub>
                        <m:r>
                          <a:rPr lang="en-IN" sz="2000" i="1">
                            <a:solidFill>
                              <a:srgbClr val="7030A0"/>
                            </a:solidFill>
                            <a:latin typeface="Cambria Math" panose="02040503050406030204" pitchFamily="18" charset="0"/>
                            <a:cs typeface="Times New Roman" panose="02020603050405020304" pitchFamily="18" charset="0"/>
                          </a:rPr>
                          <m:t>𝐾𝐿</m:t>
                        </m:r>
                      </m:sub>
                    </m:sSub>
                    <m:r>
                      <a:rPr lang="en-IN" sz="2000" i="1">
                        <a:solidFill>
                          <a:srgbClr val="7030A0"/>
                        </a:solidFill>
                        <a:latin typeface="Cambria Math" panose="02040503050406030204" pitchFamily="18" charset="0"/>
                        <a:cs typeface="Times New Roman" panose="02020603050405020304" pitchFamily="18" charset="0"/>
                      </a:rPr>
                      <m:t>(</m:t>
                    </m:r>
                    <m:sSub>
                      <m:sSubPr>
                        <m:ctrlPr>
                          <a:rPr lang="en-IN" sz="2000" i="1">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rPr>
                          <m:t>𝑞</m:t>
                        </m:r>
                      </m:e>
                      <m:sub>
                        <m:r>
                          <a:rPr lang="en-US" sz="20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000" i="1">
                        <a:solidFill>
                          <a:srgbClr val="7030A0"/>
                        </a:solidFill>
                        <a:latin typeface="Cambria Math" panose="02040503050406030204" pitchFamily="18" charset="0"/>
                        <a:cs typeface="Times New Roman" panose="02020603050405020304" pitchFamily="18" charset="0"/>
                      </a:rPr>
                      <m:t>(</m:t>
                    </m:r>
                    <m:r>
                      <a:rPr lang="en-IN" sz="2000" i="1">
                        <a:solidFill>
                          <a:srgbClr val="7030A0"/>
                        </a:solidFill>
                        <a:latin typeface="Cambria Math" panose="02040503050406030204" pitchFamily="18" charset="0"/>
                        <a:cs typeface="Times New Roman" panose="02020603050405020304" pitchFamily="18" charset="0"/>
                      </a:rPr>
                      <m:t>𝑧</m:t>
                    </m:r>
                    <m:r>
                      <a:rPr lang="en-IN" sz="2000" i="1">
                        <a:solidFill>
                          <a:srgbClr val="7030A0"/>
                        </a:solidFill>
                        <a:latin typeface="Cambria Math" panose="02040503050406030204" pitchFamily="18" charset="0"/>
                        <a:cs typeface="Times New Roman" panose="02020603050405020304" pitchFamily="18" charset="0"/>
                      </a:rPr>
                      <m:t>|</m:t>
                    </m:r>
                    <m:r>
                      <a:rPr lang="en-IN" sz="2000" i="1">
                        <a:solidFill>
                          <a:srgbClr val="7030A0"/>
                        </a:solidFill>
                        <a:latin typeface="Cambria Math" panose="02040503050406030204" pitchFamily="18" charset="0"/>
                        <a:cs typeface="Times New Roman" panose="02020603050405020304" pitchFamily="18" charset="0"/>
                      </a:rPr>
                      <m:t>𝑥</m:t>
                    </m:r>
                    <m:r>
                      <a:rPr lang="en-IN" sz="2000" i="1">
                        <a:solidFill>
                          <a:srgbClr val="7030A0"/>
                        </a:solidFill>
                        <a:latin typeface="Cambria Math" panose="02040503050406030204" pitchFamily="18" charset="0"/>
                        <a:cs typeface="Times New Roman" panose="02020603050405020304" pitchFamily="18" charset="0"/>
                      </a:rPr>
                      <m:t>)||</m:t>
                    </m:r>
                    <m:sSub>
                      <m:sSubPr>
                        <m:ctrlPr>
                          <a:rPr lang="en-IN" sz="2000" i="1">
                            <a:solidFill>
                              <a:srgbClr val="7030A0"/>
                            </a:solidFill>
                            <a:latin typeface="Cambria Math" panose="02040503050406030204" pitchFamily="18" charset="0"/>
                            <a:cs typeface="Times New Roman" panose="02020603050405020304" pitchFamily="18" charset="0"/>
                          </a:rPr>
                        </m:ctrlPr>
                      </m:sSubPr>
                      <m:e>
                        <m:r>
                          <a:rPr lang="en-IN" sz="2000" i="1">
                            <a:solidFill>
                              <a:srgbClr val="7030A0"/>
                            </a:solidFill>
                            <a:latin typeface="Cambria Math" panose="02040503050406030204" pitchFamily="18" charset="0"/>
                            <a:cs typeface="Times New Roman" panose="02020603050405020304" pitchFamily="18" charset="0"/>
                          </a:rPr>
                          <m:t>𝑝</m:t>
                        </m:r>
                      </m:e>
                      <m:sub>
                        <m:r>
                          <a:rPr lang="en-IN" sz="2000" i="1">
                            <a:solidFill>
                              <a:srgbClr val="7030A0"/>
                            </a:solidFill>
                            <a:latin typeface="Cambria Math" panose="02040503050406030204" pitchFamily="18" charset="0"/>
                            <a:ea typeface="Cambria Math" panose="02040503050406030204" pitchFamily="18" charset="0"/>
                          </a:rPr>
                          <m:t>𝜃</m:t>
                        </m:r>
                      </m:sub>
                    </m:sSub>
                    <m:d>
                      <m:dPr>
                        <m:ctrlPr>
                          <a:rPr lang="en-IN" sz="2000" i="1">
                            <a:solidFill>
                              <a:srgbClr val="7030A0"/>
                            </a:solidFill>
                            <a:latin typeface="Cambria Math" panose="02040503050406030204" pitchFamily="18" charset="0"/>
                            <a:cs typeface="Times New Roman" panose="02020603050405020304" pitchFamily="18" charset="0"/>
                          </a:rPr>
                        </m:ctrlPr>
                      </m:dPr>
                      <m:e>
                        <m:r>
                          <a:rPr lang="en-IN" sz="2000" i="1">
                            <a:solidFill>
                              <a:srgbClr val="7030A0"/>
                            </a:solidFill>
                            <a:latin typeface="Cambria Math" panose="02040503050406030204" pitchFamily="18" charset="0"/>
                            <a:cs typeface="Times New Roman" panose="02020603050405020304" pitchFamily="18" charset="0"/>
                          </a:rPr>
                          <m:t>𝑧</m:t>
                        </m:r>
                        <m:r>
                          <a:rPr lang="en-IN" sz="2000" i="1">
                            <a:solidFill>
                              <a:srgbClr val="7030A0"/>
                            </a:solidFill>
                            <a:latin typeface="Cambria Math" panose="02040503050406030204" pitchFamily="18" charset="0"/>
                            <a:cs typeface="Times New Roman" panose="02020603050405020304" pitchFamily="18" charset="0"/>
                          </a:rPr>
                          <m:t>|</m:t>
                        </m:r>
                        <m:r>
                          <a:rPr lang="en-IN" sz="2000" i="1">
                            <a:solidFill>
                              <a:srgbClr val="7030A0"/>
                            </a:solidFill>
                            <a:latin typeface="Cambria Math" panose="02040503050406030204" pitchFamily="18" charset="0"/>
                            <a:cs typeface="Times New Roman" panose="02020603050405020304" pitchFamily="18" charset="0"/>
                          </a:rPr>
                          <m:t>𝑥</m:t>
                        </m:r>
                      </m:e>
                    </m:d>
                    <m:r>
                      <a:rPr lang="en-IN" sz="2000" i="1">
                        <a:solidFill>
                          <a:srgbClr val="7030A0"/>
                        </a:solidFill>
                        <a:latin typeface="Cambria Math" panose="02040503050406030204" pitchFamily="18" charset="0"/>
                        <a:cs typeface="Times New Roman" panose="02020603050405020304" pitchFamily="18" charset="0"/>
                      </a:rPr>
                      <m:t>) </m:t>
                    </m:r>
                  </m:oMath>
                </a14:m>
                <a:r>
                  <a:rPr lang="en-IN" sz="2000" dirty="0">
                    <a:latin typeface="Arial Narrow" panose="020B0606020202030204" pitchFamily="34" charset="0"/>
                  </a:rPr>
                  <a:t>and after some algebraic manipulation, it is obtained </a:t>
                </a:r>
              </a:p>
              <a:p>
                <a:endParaRPr lang="en-IN" sz="2000" dirty="0">
                  <a:latin typeface="Arial Narrow" panose="020B0606020202030204" pitchFamily="34" charset="0"/>
                </a:endParaRPr>
              </a:p>
              <a:p>
                <a:pPr marL="114300" indent="0">
                  <a:buNone/>
                </a:pPr>
                <a14:m>
                  <m:oMathPara xmlns:m="http://schemas.openxmlformats.org/officeDocument/2006/math">
                    <m:oMathParaPr>
                      <m:jc m:val="centerGroup"/>
                    </m:oMathParaPr>
                    <m:oMath xmlns:m="http://schemas.openxmlformats.org/officeDocument/2006/math">
                      <m:func>
                        <m:funcPr>
                          <m:ctrlPr>
                            <a:rPr lang="en-IN" sz="2000" i="1" smtClean="0">
                              <a:solidFill>
                                <a:srgbClr val="7030A0"/>
                              </a:solidFill>
                              <a:latin typeface="Cambria Math" panose="02040503050406030204" pitchFamily="18" charset="0"/>
                              <a:cs typeface="Times New Roman" panose="02020603050405020304" pitchFamily="18" charset="0"/>
                            </a:rPr>
                          </m:ctrlPr>
                        </m:funcPr>
                        <m:fName>
                          <m:r>
                            <m:rPr>
                              <m:sty m:val="p"/>
                            </m:rPr>
                            <a:rPr lang="en-IN" sz="2000">
                              <a:solidFill>
                                <a:srgbClr val="7030A0"/>
                              </a:solidFill>
                              <a:latin typeface="Cambria Math" panose="02040503050406030204" pitchFamily="18" charset="0"/>
                              <a:cs typeface="Times New Roman" panose="02020603050405020304" pitchFamily="18" charset="0"/>
                            </a:rPr>
                            <m:t>log</m:t>
                          </m:r>
                        </m:fName>
                        <m:e>
                          <m:sSub>
                            <m:sSubPr>
                              <m:ctrlPr>
                                <a:rPr lang="en-IN" sz="2000" i="1">
                                  <a:solidFill>
                                    <a:srgbClr val="7030A0"/>
                                  </a:solidFill>
                                  <a:latin typeface="Cambria Math" panose="02040503050406030204" pitchFamily="18" charset="0"/>
                                  <a:cs typeface="Times New Roman" panose="02020603050405020304" pitchFamily="18" charset="0"/>
                                </a:rPr>
                              </m:ctrlPr>
                            </m:sSubPr>
                            <m:e>
                              <m:r>
                                <a:rPr lang="en-IN" sz="2000" i="1">
                                  <a:solidFill>
                                    <a:srgbClr val="7030A0"/>
                                  </a:solidFill>
                                  <a:latin typeface="Cambria Math" panose="02040503050406030204" pitchFamily="18" charset="0"/>
                                  <a:cs typeface="Times New Roman" panose="02020603050405020304" pitchFamily="18" charset="0"/>
                                </a:rPr>
                                <m:t>𝑝</m:t>
                              </m:r>
                            </m:e>
                            <m:sub>
                              <m:r>
                                <a:rPr lang="en-IN" sz="2000" i="1">
                                  <a:solidFill>
                                    <a:srgbClr val="7030A0"/>
                                  </a:solidFill>
                                  <a:latin typeface="Cambria Math" panose="02040503050406030204" pitchFamily="18" charset="0"/>
                                  <a:ea typeface="Cambria Math" panose="02040503050406030204" pitchFamily="18" charset="0"/>
                                </a:rPr>
                                <m:t>𝜃</m:t>
                              </m:r>
                            </m:sub>
                          </m:sSub>
                          <m:r>
                            <a:rPr lang="en-IN" sz="2000" i="1">
                              <a:solidFill>
                                <a:srgbClr val="7030A0"/>
                              </a:solidFill>
                              <a:latin typeface="Cambria Math" panose="02040503050406030204" pitchFamily="18" charset="0"/>
                              <a:cs typeface="Times New Roman" panose="02020603050405020304" pitchFamily="18" charset="0"/>
                            </a:rPr>
                            <m:t>(</m:t>
                          </m:r>
                          <m:r>
                            <a:rPr lang="en-IN" sz="2000" i="1">
                              <a:solidFill>
                                <a:srgbClr val="7030A0"/>
                              </a:solidFill>
                              <a:latin typeface="Cambria Math" panose="02040503050406030204" pitchFamily="18" charset="0"/>
                              <a:cs typeface="Times New Roman" panose="02020603050405020304" pitchFamily="18" charset="0"/>
                            </a:rPr>
                            <m:t>𝑥</m:t>
                          </m:r>
                          <m:r>
                            <a:rPr lang="en-IN" sz="2000" i="1">
                              <a:solidFill>
                                <a:srgbClr val="7030A0"/>
                              </a:solidFill>
                              <a:latin typeface="Cambria Math" panose="02040503050406030204" pitchFamily="18" charset="0"/>
                              <a:cs typeface="Times New Roman" panose="02020603050405020304" pitchFamily="18" charset="0"/>
                            </a:rPr>
                            <m:t>)</m:t>
                          </m:r>
                        </m:e>
                      </m:func>
                      <m:r>
                        <a:rPr lang="en-IN" sz="2000" b="0" i="1" smtClean="0">
                          <a:solidFill>
                            <a:srgbClr val="7030A0"/>
                          </a:solidFill>
                          <a:latin typeface="Cambria Math" panose="02040503050406030204" pitchFamily="18" charset="0"/>
                          <a:cs typeface="Times New Roman" panose="02020603050405020304" pitchFamily="18" charset="0"/>
                        </a:rPr>
                        <m:t>=</m:t>
                      </m:r>
                      <m:sSub>
                        <m:sSubPr>
                          <m:ctrlPr>
                            <a:rPr lang="en-US" sz="2000" i="1">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rPr>
                            <m:t>𝐿</m:t>
                          </m:r>
                        </m:e>
                        <m:sub>
                          <m:r>
                            <a:rPr lang="en-IN" sz="2000" i="1">
                              <a:solidFill>
                                <a:srgbClr val="7030A0"/>
                              </a:solidFill>
                              <a:latin typeface="Cambria Math" panose="02040503050406030204" pitchFamily="18" charset="0"/>
                            </a:rPr>
                            <m:t>𝐸𝐿𝐵𝑂</m:t>
                          </m:r>
                        </m:sub>
                      </m:sSub>
                      <m:r>
                        <a:rPr lang="en-IN" sz="2000" b="0" i="1" smtClean="0">
                          <a:solidFill>
                            <a:srgbClr val="7030A0"/>
                          </a:solidFill>
                          <a:latin typeface="Cambria Math" panose="02040503050406030204" pitchFamily="18" charset="0"/>
                        </a:rPr>
                        <m:t>+</m:t>
                      </m:r>
                      <m:sSub>
                        <m:sSubPr>
                          <m:ctrlPr>
                            <a:rPr lang="en-IN" sz="2000" i="1">
                              <a:solidFill>
                                <a:srgbClr val="7030A0"/>
                              </a:solidFill>
                              <a:latin typeface="Cambria Math" panose="02040503050406030204" pitchFamily="18" charset="0"/>
                              <a:cs typeface="Times New Roman" panose="02020603050405020304" pitchFamily="18" charset="0"/>
                            </a:rPr>
                          </m:ctrlPr>
                        </m:sSubPr>
                        <m:e>
                          <m:r>
                            <a:rPr lang="en-IN" sz="2000" i="1">
                              <a:solidFill>
                                <a:srgbClr val="7030A0"/>
                              </a:solidFill>
                              <a:latin typeface="Cambria Math" panose="02040503050406030204" pitchFamily="18" charset="0"/>
                              <a:cs typeface="Times New Roman" panose="02020603050405020304" pitchFamily="18" charset="0"/>
                            </a:rPr>
                            <m:t>𝐷</m:t>
                          </m:r>
                        </m:e>
                        <m:sub>
                          <m:r>
                            <a:rPr lang="en-IN" sz="2000" i="1">
                              <a:solidFill>
                                <a:srgbClr val="7030A0"/>
                              </a:solidFill>
                              <a:latin typeface="Cambria Math" panose="02040503050406030204" pitchFamily="18" charset="0"/>
                              <a:cs typeface="Times New Roman" panose="02020603050405020304" pitchFamily="18" charset="0"/>
                            </a:rPr>
                            <m:t>𝐾𝐿</m:t>
                          </m:r>
                        </m:sub>
                      </m:sSub>
                      <m:r>
                        <a:rPr lang="en-IN" sz="2000" i="1">
                          <a:solidFill>
                            <a:srgbClr val="7030A0"/>
                          </a:solidFill>
                          <a:latin typeface="Cambria Math" panose="02040503050406030204" pitchFamily="18" charset="0"/>
                          <a:cs typeface="Times New Roman" panose="02020603050405020304" pitchFamily="18" charset="0"/>
                        </a:rPr>
                        <m:t>(</m:t>
                      </m:r>
                      <m:sSub>
                        <m:sSubPr>
                          <m:ctrlPr>
                            <a:rPr lang="en-IN" sz="2000" i="1">
                              <a:solidFill>
                                <a:srgbClr val="7030A0"/>
                              </a:solidFill>
                              <a:latin typeface="Cambria Math" panose="02040503050406030204" pitchFamily="18" charset="0"/>
                            </a:rPr>
                          </m:ctrlPr>
                        </m:sSubPr>
                        <m:e>
                          <m:r>
                            <a:rPr lang="en-IN" sz="2000" i="1">
                              <a:solidFill>
                                <a:srgbClr val="7030A0"/>
                              </a:solidFill>
                              <a:latin typeface="Cambria Math" panose="02040503050406030204" pitchFamily="18" charset="0"/>
                            </a:rPr>
                            <m:t>𝑞</m:t>
                          </m:r>
                        </m:e>
                        <m:sub>
                          <m:r>
                            <a:rPr lang="en-US" sz="2000"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sz="2000" i="1">
                          <a:solidFill>
                            <a:srgbClr val="7030A0"/>
                          </a:solidFill>
                          <a:latin typeface="Cambria Math" panose="02040503050406030204" pitchFamily="18" charset="0"/>
                          <a:cs typeface="Times New Roman" panose="02020603050405020304" pitchFamily="18" charset="0"/>
                        </a:rPr>
                        <m:t>(</m:t>
                      </m:r>
                      <m:r>
                        <a:rPr lang="en-IN" sz="2000" i="1">
                          <a:solidFill>
                            <a:srgbClr val="7030A0"/>
                          </a:solidFill>
                          <a:latin typeface="Cambria Math" panose="02040503050406030204" pitchFamily="18" charset="0"/>
                          <a:cs typeface="Times New Roman" panose="02020603050405020304" pitchFamily="18" charset="0"/>
                        </a:rPr>
                        <m:t>𝑧</m:t>
                      </m:r>
                      <m:r>
                        <a:rPr lang="en-IN" sz="2000" i="1">
                          <a:solidFill>
                            <a:srgbClr val="7030A0"/>
                          </a:solidFill>
                          <a:latin typeface="Cambria Math" panose="02040503050406030204" pitchFamily="18" charset="0"/>
                          <a:cs typeface="Times New Roman" panose="02020603050405020304" pitchFamily="18" charset="0"/>
                        </a:rPr>
                        <m:t>|</m:t>
                      </m:r>
                      <m:r>
                        <a:rPr lang="en-IN" sz="2000" i="1">
                          <a:solidFill>
                            <a:srgbClr val="7030A0"/>
                          </a:solidFill>
                          <a:latin typeface="Cambria Math" panose="02040503050406030204" pitchFamily="18" charset="0"/>
                          <a:cs typeface="Times New Roman" panose="02020603050405020304" pitchFamily="18" charset="0"/>
                        </a:rPr>
                        <m:t>𝑥</m:t>
                      </m:r>
                      <m:r>
                        <a:rPr lang="en-IN" sz="2000" i="1">
                          <a:solidFill>
                            <a:srgbClr val="7030A0"/>
                          </a:solidFill>
                          <a:latin typeface="Cambria Math" panose="02040503050406030204" pitchFamily="18" charset="0"/>
                          <a:cs typeface="Times New Roman" panose="02020603050405020304" pitchFamily="18" charset="0"/>
                        </a:rPr>
                        <m:t>)||</m:t>
                      </m:r>
                      <m:sSub>
                        <m:sSubPr>
                          <m:ctrlPr>
                            <a:rPr lang="en-IN" sz="2000" i="1">
                              <a:solidFill>
                                <a:srgbClr val="7030A0"/>
                              </a:solidFill>
                              <a:latin typeface="Cambria Math" panose="02040503050406030204" pitchFamily="18" charset="0"/>
                              <a:cs typeface="Times New Roman" panose="02020603050405020304" pitchFamily="18" charset="0"/>
                            </a:rPr>
                          </m:ctrlPr>
                        </m:sSubPr>
                        <m:e>
                          <m:r>
                            <a:rPr lang="en-IN" sz="2000" i="1">
                              <a:solidFill>
                                <a:srgbClr val="7030A0"/>
                              </a:solidFill>
                              <a:latin typeface="Cambria Math" panose="02040503050406030204" pitchFamily="18" charset="0"/>
                              <a:cs typeface="Times New Roman" panose="02020603050405020304" pitchFamily="18" charset="0"/>
                            </a:rPr>
                            <m:t>𝑝</m:t>
                          </m:r>
                        </m:e>
                        <m:sub>
                          <m:r>
                            <a:rPr lang="en-IN" sz="2000" i="1">
                              <a:solidFill>
                                <a:srgbClr val="7030A0"/>
                              </a:solidFill>
                              <a:latin typeface="Cambria Math" panose="02040503050406030204" pitchFamily="18" charset="0"/>
                              <a:ea typeface="Cambria Math" panose="02040503050406030204" pitchFamily="18" charset="0"/>
                            </a:rPr>
                            <m:t>𝜃</m:t>
                          </m:r>
                        </m:sub>
                      </m:sSub>
                      <m:d>
                        <m:dPr>
                          <m:ctrlPr>
                            <a:rPr lang="en-IN" sz="2000" i="1">
                              <a:solidFill>
                                <a:srgbClr val="7030A0"/>
                              </a:solidFill>
                              <a:latin typeface="Cambria Math" panose="02040503050406030204" pitchFamily="18" charset="0"/>
                              <a:cs typeface="Times New Roman" panose="02020603050405020304" pitchFamily="18" charset="0"/>
                            </a:rPr>
                          </m:ctrlPr>
                        </m:dPr>
                        <m:e>
                          <m:r>
                            <a:rPr lang="en-IN" sz="2000" i="1">
                              <a:solidFill>
                                <a:srgbClr val="7030A0"/>
                              </a:solidFill>
                              <a:latin typeface="Cambria Math" panose="02040503050406030204" pitchFamily="18" charset="0"/>
                              <a:cs typeface="Times New Roman" panose="02020603050405020304" pitchFamily="18" charset="0"/>
                            </a:rPr>
                            <m:t>𝑧</m:t>
                          </m:r>
                          <m:r>
                            <a:rPr lang="en-IN" sz="2000" i="1">
                              <a:solidFill>
                                <a:srgbClr val="7030A0"/>
                              </a:solidFill>
                              <a:latin typeface="Cambria Math" panose="02040503050406030204" pitchFamily="18" charset="0"/>
                              <a:cs typeface="Times New Roman" panose="02020603050405020304" pitchFamily="18" charset="0"/>
                            </a:rPr>
                            <m:t>|</m:t>
                          </m:r>
                          <m:r>
                            <a:rPr lang="en-IN" sz="2000" i="1">
                              <a:solidFill>
                                <a:srgbClr val="7030A0"/>
                              </a:solidFill>
                              <a:latin typeface="Cambria Math" panose="02040503050406030204" pitchFamily="18" charset="0"/>
                              <a:cs typeface="Times New Roman" panose="02020603050405020304" pitchFamily="18" charset="0"/>
                            </a:rPr>
                            <m:t>𝑥</m:t>
                          </m:r>
                        </m:e>
                      </m:d>
                      <m:r>
                        <a:rPr lang="en-IN" sz="2000" i="1">
                          <a:solidFill>
                            <a:srgbClr val="7030A0"/>
                          </a:solidFill>
                          <a:latin typeface="Cambria Math" panose="02040503050406030204" pitchFamily="18" charset="0"/>
                          <a:cs typeface="Times New Roman" panose="02020603050405020304" pitchFamily="18" charset="0"/>
                        </a:rPr>
                        <m:t>)</m:t>
                      </m:r>
                    </m:oMath>
                  </m:oMathPara>
                </a14:m>
                <a:endParaRPr lang="en-IN" sz="2000" dirty="0">
                  <a:solidFill>
                    <a:srgbClr val="7030A0"/>
                  </a:solidFill>
                  <a:latin typeface="Arial Narrow" panose="020B0606020202030204" pitchFamily="34" charset="0"/>
                </a:endParaRPr>
              </a:p>
              <a:p>
                <a:pPr marL="114300" indent="0">
                  <a:buNone/>
                </a:pPr>
                <a:endParaRPr lang="en-IN" sz="2000" dirty="0"/>
              </a:p>
              <a:p>
                <a:pPr marL="114300" indent="0">
                  <a:buNone/>
                </a:pPr>
                <a:endParaRPr lang="en-IN" sz="2000" dirty="0">
                  <a:solidFill>
                    <a:srgbClr val="7030A0"/>
                  </a:solidFill>
                  <a:latin typeface="Arial Narrow" panose="020B0606020202030204" pitchFamily="34" charset="0"/>
                </a:endParaRPr>
              </a:p>
            </p:txBody>
          </p:sp>
        </mc:Choice>
        <mc:Fallback xmlns="">
          <p:sp>
            <p:nvSpPr>
              <p:cNvPr id="3" name="Text Placeholder 2">
                <a:extLst>
                  <a:ext uri="{FF2B5EF4-FFF2-40B4-BE49-F238E27FC236}">
                    <a16:creationId xmlns:a16="http://schemas.microsoft.com/office/drawing/2014/main" id="{DA22823C-0A8B-4CA6-98A3-2A589D74362D}"/>
                  </a:ext>
                </a:extLst>
              </p:cNvPr>
              <p:cNvSpPr>
                <a:spLocks noGrp="1" noRot="1" noChangeAspect="1" noMove="1" noResize="1" noEditPoints="1" noAdjustHandles="1" noChangeArrowheads="1" noChangeShapeType="1" noTextEdit="1"/>
              </p:cNvSpPr>
              <p:nvPr>
                <p:ph type="body" idx="1"/>
              </p:nvPr>
            </p:nvSpPr>
            <p:spPr>
              <a:xfrm>
                <a:off x="838200" y="1599382"/>
                <a:ext cx="10515600" cy="4820272"/>
              </a:xfrm>
              <a:blipFill>
                <a:blip r:embed="rId2"/>
                <a:stretch>
                  <a:fillRect b="-126"/>
                </a:stretch>
              </a:blipFill>
            </p:spPr>
            <p:txBody>
              <a:bodyPr/>
              <a:lstStyle/>
              <a:p>
                <a:r>
                  <a:rPr lang="en-IN">
                    <a:noFill/>
                  </a:rPr>
                  <a:t> </a:t>
                </a:r>
              </a:p>
            </p:txBody>
          </p:sp>
        </mc:Fallback>
      </mc:AlternateContent>
    </p:spTree>
    <p:extLst>
      <p:ext uri="{BB962C8B-B14F-4D97-AF65-F5344CB8AC3E}">
        <p14:creationId xmlns:p14="http://schemas.microsoft.com/office/powerpoint/2010/main" val="1710681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9301700-08E7-4A6C-97CD-67A0A3572362}"/>
                  </a:ext>
                </a:extLst>
              </p:cNvPr>
              <p:cNvSpPr>
                <a:spLocks noGrp="1"/>
              </p:cNvSpPr>
              <p:nvPr>
                <p:ph type="body" idx="1"/>
              </p:nvPr>
            </p:nvSpPr>
            <p:spPr/>
            <p:txBody>
              <a:bodyPr>
                <a:normAutofit fontScale="92500" lnSpcReduction="20000"/>
              </a:bodyPr>
              <a:lstStyle/>
              <a:p>
                <a:pPr marL="114300" indent="0">
                  <a:buNone/>
                </a:pPr>
                <a14:m>
                  <m:oMathPara xmlns:m="http://schemas.openxmlformats.org/officeDocument/2006/math">
                    <m:oMathParaPr>
                      <m:jc m:val="centerGroup"/>
                    </m:oMathParaPr>
                    <m:oMath xmlns:m="http://schemas.openxmlformats.org/officeDocument/2006/math">
                      <m:func>
                        <m:funcPr>
                          <m:ctrlPr>
                            <a:rPr lang="en-IN" i="1" smtClean="0">
                              <a:solidFill>
                                <a:srgbClr val="7030A0"/>
                              </a:solidFill>
                              <a:latin typeface="Cambria Math" panose="02040503050406030204" pitchFamily="18" charset="0"/>
                              <a:cs typeface="Times New Roman" panose="02020603050405020304" pitchFamily="18" charset="0"/>
                            </a:rPr>
                          </m:ctrlPr>
                        </m:funcPr>
                        <m:fName>
                          <m:r>
                            <m:rPr>
                              <m:sty m:val="p"/>
                            </m:rPr>
                            <a:rPr lang="en-IN">
                              <a:solidFill>
                                <a:srgbClr val="7030A0"/>
                              </a:solidFill>
                              <a:latin typeface="Cambria Math" panose="02040503050406030204" pitchFamily="18" charset="0"/>
                              <a:cs typeface="Times New Roman" panose="02020603050405020304" pitchFamily="18" charset="0"/>
                            </a:rPr>
                            <m:t>log</m:t>
                          </m:r>
                        </m:fName>
                        <m:e>
                          <m:sSub>
                            <m:sSubPr>
                              <m:ctrlPr>
                                <a:rPr lang="en-IN" i="1">
                                  <a:solidFill>
                                    <a:srgbClr val="7030A0"/>
                                  </a:solidFill>
                                  <a:latin typeface="Cambria Math" panose="02040503050406030204" pitchFamily="18" charset="0"/>
                                  <a:cs typeface="Times New Roman" panose="02020603050405020304" pitchFamily="18" charset="0"/>
                                </a:rPr>
                              </m:ctrlPr>
                            </m:sSubPr>
                            <m:e>
                              <m:r>
                                <a:rPr lang="en-IN" i="1">
                                  <a:solidFill>
                                    <a:srgbClr val="7030A0"/>
                                  </a:solidFill>
                                  <a:latin typeface="Cambria Math" panose="02040503050406030204" pitchFamily="18" charset="0"/>
                                  <a:cs typeface="Times New Roman" panose="02020603050405020304" pitchFamily="18" charset="0"/>
                                </a:rPr>
                                <m:t>𝑝</m:t>
                              </m:r>
                            </m:e>
                            <m:sub>
                              <m:r>
                                <a:rPr lang="en-IN" i="1">
                                  <a:solidFill>
                                    <a:srgbClr val="7030A0"/>
                                  </a:solidFill>
                                  <a:latin typeface="Cambria Math" panose="02040503050406030204" pitchFamily="18" charset="0"/>
                                  <a:ea typeface="Cambria Math" panose="02040503050406030204" pitchFamily="18" charset="0"/>
                                </a:rPr>
                                <m:t>𝜃</m:t>
                              </m:r>
                            </m:sub>
                          </m:sSub>
                          <m:r>
                            <a:rPr lang="en-IN" i="1">
                              <a:solidFill>
                                <a:srgbClr val="7030A0"/>
                              </a:solidFill>
                              <a:latin typeface="Cambria Math" panose="02040503050406030204" pitchFamily="18" charset="0"/>
                              <a:cs typeface="Times New Roman" panose="02020603050405020304" pitchFamily="18" charset="0"/>
                            </a:rPr>
                            <m:t>(</m:t>
                          </m:r>
                          <m:r>
                            <a:rPr lang="en-IN" i="1">
                              <a:solidFill>
                                <a:srgbClr val="7030A0"/>
                              </a:solidFill>
                              <a:latin typeface="Cambria Math" panose="02040503050406030204" pitchFamily="18" charset="0"/>
                              <a:cs typeface="Times New Roman" panose="02020603050405020304" pitchFamily="18" charset="0"/>
                            </a:rPr>
                            <m:t>𝑥</m:t>
                          </m:r>
                          <m:r>
                            <a:rPr lang="en-IN" i="1">
                              <a:solidFill>
                                <a:srgbClr val="7030A0"/>
                              </a:solidFill>
                              <a:latin typeface="Cambria Math" panose="02040503050406030204" pitchFamily="18" charset="0"/>
                              <a:cs typeface="Times New Roman" panose="02020603050405020304" pitchFamily="18" charset="0"/>
                            </a:rPr>
                            <m:t>)</m:t>
                          </m:r>
                        </m:e>
                      </m:func>
                      <m:r>
                        <a:rPr lang="en-IN" i="1">
                          <a:solidFill>
                            <a:srgbClr val="7030A0"/>
                          </a:solidFill>
                          <a:latin typeface="Cambria Math" panose="02040503050406030204" pitchFamily="18" charset="0"/>
                          <a:cs typeface="Times New Roman" panose="02020603050405020304" pitchFamily="18" charset="0"/>
                        </a:rPr>
                        <m:t>=</m:t>
                      </m:r>
                      <m:sSub>
                        <m:sSubPr>
                          <m:ctrlPr>
                            <a:rPr lang="en-US" i="1">
                              <a:solidFill>
                                <a:srgbClr val="7030A0"/>
                              </a:solidFill>
                              <a:latin typeface="Cambria Math" panose="02040503050406030204" pitchFamily="18" charset="0"/>
                            </a:rPr>
                          </m:ctrlPr>
                        </m:sSubPr>
                        <m:e>
                          <m:r>
                            <a:rPr lang="en-IN" i="1">
                              <a:solidFill>
                                <a:srgbClr val="7030A0"/>
                              </a:solidFill>
                              <a:latin typeface="Cambria Math" panose="02040503050406030204" pitchFamily="18" charset="0"/>
                            </a:rPr>
                            <m:t>𝐿</m:t>
                          </m:r>
                        </m:e>
                        <m:sub>
                          <m:r>
                            <a:rPr lang="en-IN" i="1">
                              <a:solidFill>
                                <a:srgbClr val="7030A0"/>
                              </a:solidFill>
                              <a:latin typeface="Cambria Math" panose="02040503050406030204" pitchFamily="18" charset="0"/>
                            </a:rPr>
                            <m:t>𝐸𝐿𝐵𝑂</m:t>
                          </m:r>
                        </m:sub>
                      </m:sSub>
                      <m:r>
                        <a:rPr lang="en-IN" i="1">
                          <a:solidFill>
                            <a:srgbClr val="7030A0"/>
                          </a:solidFill>
                          <a:latin typeface="Cambria Math" panose="02040503050406030204" pitchFamily="18" charset="0"/>
                        </a:rPr>
                        <m:t>+</m:t>
                      </m:r>
                      <m:sSub>
                        <m:sSubPr>
                          <m:ctrlPr>
                            <a:rPr lang="en-IN" i="1">
                              <a:solidFill>
                                <a:srgbClr val="7030A0"/>
                              </a:solidFill>
                              <a:latin typeface="Cambria Math" panose="02040503050406030204" pitchFamily="18" charset="0"/>
                              <a:cs typeface="Times New Roman" panose="02020603050405020304" pitchFamily="18" charset="0"/>
                            </a:rPr>
                          </m:ctrlPr>
                        </m:sSubPr>
                        <m:e>
                          <m:r>
                            <a:rPr lang="en-IN" i="1">
                              <a:solidFill>
                                <a:srgbClr val="7030A0"/>
                              </a:solidFill>
                              <a:latin typeface="Cambria Math" panose="02040503050406030204" pitchFamily="18" charset="0"/>
                              <a:cs typeface="Times New Roman" panose="02020603050405020304" pitchFamily="18" charset="0"/>
                            </a:rPr>
                            <m:t>𝐷</m:t>
                          </m:r>
                        </m:e>
                        <m:sub>
                          <m:r>
                            <a:rPr lang="en-IN" i="1">
                              <a:solidFill>
                                <a:srgbClr val="7030A0"/>
                              </a:solidFill>
                              <a:latin typeface="Cambria Math" panose="02040503050406030204" pitchFamily="18" charset="0"/>
                              <a:cs typeface="Times New Roman" panose="02020603050405020304" pitchFamily="18" charset="0"/>
                            </a:rPr>
                            <m:t>𝐾𝐿</m:t>
                          </m:r>
                        </m:sub>
                      </m:sSub>
                      <m:r>
                        <a:rPr lang="en-IN" i="1">
                          <a:solidFill>
                            <a:srgbClr val="7030A0"/>
                          </a:solidFill>
                          <a:latin typeface="Cambria Math" panose="02040503050406030204" pitchFamily="18" charset="0"/>
                          <a:cs typeface="Times New Roman" panose="02020603050405020304" pitchFamily="18" charset="0"/>
                        </a:rPr>
                        <m:t>(</m:t>
                      </m:r>
                      <m:sSub>
                        <m:sSubPr>
                          <m:ctrlPr>
                            <a:rPr lang="en-IN" i="1">
                              <a:solidFill>
                                <a:srgbClr val="7030A0"/>
                              </a:solidFill>
                              <a:latin typeface="Cambria Math" panose="02040503050406030204" pitchFamily="18" charset="0"/>
                            </a:rPr>
                          </m:ctrlPr>
                        </m:sSubPr>
                        <m:e>
                          <m:r>
                            <a:rPr lang="en-IN" i="1">
                              <a:solidFill>
                                <a:srgbClr val="7030A0"/>
                              </a:solidFill>
                              <a:latin typeface="Cambria Math" panose="02040503050406030204" pitchFamily="18" charset="0"/>
                            </a:rPr>
                            <m:t>𝑞</m:t>
                          </m:r>
                        </m:e>
                        <m:sub>
                          <m:r>
                            <a:rPr lang="en-US"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𝜑</m:t>
                          </m:r>
                        </m:sub>
                      </m:sSub>
                      <m:r>
                        <a:rPr lang="en-IN" i="1">
                          <a:solidFill>
                            <a:srgbClr val="7030A0"/>
                          </a:solidFill>
                          <a:latin typeface="Cambria Math" panose="02040503050406030204" pitchFamily="18" charset="0"/>
                          <a:cs typeface="Times New Roman" panose="02020603050405020304" pitchFamily="18" charset="0"/>
                        </a:rPr>
                        <m:t>(</m:t>
                      </m:r>
                      <m:r>
                        <a:rPr lang="en-IN" i="1">
                          <a:solidFill>
                            <a:srgbClr val="7030A0"/>
                          </a:solidFill>
                          <a:latin typeface="Cambria Math" panose="02040503050406030204" pitchFamily="18" charset="0"/>
                          <a:cs typeface="Times New Roman" panose="02020603050405020304" pitchFamily="18" charset="0"/>
                        </a:rPr>
                        <m:t>𝑧</m:t>
                      </m:r>
                      <m:r>
                        <a:rPr lang="en-IN" i="1">
                          <a:solidFill>
                            <a:srgbClr val="7030A0"/>
                          </a:solidFill>
                          <a:latin typeface="Cambria Math" panose="02040503050406030204" pitchFamily="18" charset="0"/>
                          <a:cs typeface="Times New Roman" panose="02020603050405020304" pitchFamily="18" charset="0"/>
                        </a:rPr>
                        <m:t>|</m:t>
                      </m:r>
                      <m:r>
                        <a:rPr lang="en-IN" i="1">
                          <a:solidFill>
                            <a:srgbClr val="7030A0"/>
                          </a:solidFill>
                          <a:latin typeface="Cambria Math" panose="02040503050406030204" pitchFamily="18" charset="0"/>
                          <a:cs typeface="Times New Roman" panose="02020603050405020304" pitchFamily="18" charset="0"/>
                        </a:rPr>
                        <m:t>𝑥</m:t>
                      </m:r>
                      <m:r>
                        <a:rPr lang="en-IN" i="1">
                          <a:solidFill>
                            <a:srgbClr val="7030A0"/>
                          </a:solidFill>
                          <a:latin typeface="Cambria Math" panose="02040503050406030204" pitchFamily="18" charset="0"/>
                          <a:cs typeface="Times New Roman" panose="02020603050405020304" pitchFamily="18" charset="0"/>
                        </a:rPr>
                        <m:t>)||</m:t>
                      </m:r>
                      <m:sSub>
                        <m:sSubPr>
                          <m:ctrlPr>
                            <a:rPr lang="en-IN" i="1">
                              <a:solidFill>
                                <a:srgbClr val="7030A0"/>
                              </a:solidFill>
                              <a:latin typeface="Cambria Math" panose="02040503050406030204" pitchFamily="18" charset="0"/>
                              <a:cs typeface="Times New Roman" panose="02020603050405020304" pitchFamily="18" charset="0"/>
                            </a:rPr>
                          </m:ctrlPr>
                        </m:sSubPr>
                        <m:e>
                          <m:r>
                            <a:rPr lang="en-IN" i="1">
                              <a:solidFill>
                                <a:srgbClr val="7030A0"/>
                              </a:solidFill>
                              <a:latin typeface="Cambria Math" panose="02040503050406030204" pitchFamily="18" charset="0"/>
                              <a:cs typeface="Times New Roman" panose="02020603050405020304" pitchFamily="18" charset="0"/>
                            </a:rPr>
                            <m:t>𝑝</m:t>
                          </m:r>
                        </m:e>
                        <m:sub>
                          <m:r>
                            <a:rPr lang="en-IN" i="1">
                              <a:solidFill>
                                <a:srgbClr val="7030A0"/>
                              </a:solidFill>
                              <a:latin typeface="Cambria Math" panose="02040503050406030204" pitchFamily="18" charset="0"/>
                              <a:ea typeface="Cambria Math" panose="02040503050406030204" pitchFamily="18" charset="0"/>
                            </a:rPr>
                            <m:t>𝜃</m:t>
                          </m:r>
                        </m:sub>
                      </m:sSub>
                      <m:d>
                        <m:dPr>
                          <m:ctrlPr>
                            <a:rPr lang="en-IN" i="1">
                              <a:solidFill>
                                <a:srgbClr val="7030A0"/>
                              </a:solidFill>
                              <a:latin typeface="Cambria Math" panose="02040503050406030204" pitchFamily="18" charset="0"/>
                              <a:cs typeface="Times New Roman" panose="02020603050405020304" pitchFamily="18" charset="0"/>
                            </a:rPr>
                          </m:ctrlPr>
                        </m:dPr>
                        <m:e>
                          <m:r>
                            <a:rPr lang="en-IN" i="1">
                              <a:solidFill>
                                <a:srgbClr val="7030A0"/>
                              </a:solidFill>
                              <a:latin typeface="Cambria Math" panose="02040503050406030204" pitchFamily="18" charset="0"/>
                              <a:cs typeface="Times New Roman" panose="02020603050405020304" pitchFamily="18" charset="0"/>
                            </a:rPr>
                            <m:t>𝑧</m:t>
                          </m:r>
                          <m:r>
                            <a:rPr lang="en-IN" i="1">
                              <a:solidFill>
                                <a:srgbClr val="7030A0"/>
                              </a:solidFill>
                              <a:latin typeface="Cambria Math" panose="02040503050406030204" pitchFamily="18" charset="0"/>
                              <a:cs typeface="Times New Roman" panose="02020603050405020304" pitchFamily="18" charset="0"/>
                            </a:rPr>
                            <m:t>|</m:t>
                          </m:r>
                          <m:r>
                            <a:rPr lang="en-IN" i="1">
                              <a:solidFill>
                                <a:srgbClr val="7030A0"/>
                              </a:solidFill>
                              <a:latin typeface="Cambria Math" panose="02040503050406030204" pitchFamily="18" charset="0"/>
                              <a:cs typeface="Times New Roman" panose="02020603050405020304" pitchFamily="18" charset="0"/>
                            </a:rPr>
                            <m:t>𝑥</m:t>
                          </m:r>
                        </m:e>
                      </m:d>
                      <m:r>
                        <a:rPr lang="en-IN" i="1">
                          <a:solidFill>
                            <a:srgbClr val="7030A0"/>
                          </a:solidFill>
                          <a:latin typeface="Cambria Math" panose="02040503050406030204" pitchFamily="18" charset="0"/>
                          <a:cs typeface="Times New Roman" panose="02020603050405020304" pitchFamily="18" charset="0"/>
                        </a:rPr>
                        <m:t>)</m:t>
                      </m:r>
                    </m:oMath>
                  </m:oMathPara>
                </a14:m>
                <a:endParaRPr lang="en-IN" dirty="0">
                  <a:solidFill>
                    <a:srgbClr val="7030A0"/>
                  </a:solidFill>
                  <a:latin typeface="Arial Narrow" panose="020B0606020202030204" pitchFamily="34" charset="0"/>
                </a:endParaRPr>
              </a:p>
              <a:p>
                <a:pPr marL="114300" indent="0">
                  <a:buNone/>
                </a:pPr>
                <a:endParaRPr lang="en-IN" dirty="0">
                  <a:solidFill>
                    <a:srgbClr val="7030A0"/>
                  </a:solidFill>
                  <a:latin typeface="Arial Narrow" panose="020B0606020202030204" pitchFamily="34" charset="0"/>
                </a:endParaRPr>
              </a:p>
              <a:p>
                <a:r>
                  <a:rPr lang="en-US" dirty="0">
                    <a:latin typeface="Arial Narrow" panose="020B0606020202030204" pitchFamily="34" charset="0"/>
                  </a:rPr>
                  <a:t>Since KL divergence is always non-negative: </a:t>
                </a:r>
                <a14:m>
                  <m:oMath xmlns:m="http://schemas.openxmlformats.org/officeDocument/2006/math">
                    <m:sSub>
                      <m:sSubPr>
                        <m:ctrlPr>
                          <a:rPr lang="en-IN" i="1">
                            <a:solidFill>
                              <a:srgbClr val="7030A0"/>
                            </a:solidFill>
                            <a:latin typeface="Cambria Math" panose="02040503050406030204" pitchFamily="18" charset="0"/>
                            <a:cs typeface="Times New Roman" panose="02020603050405020304" pitchFamily="18" charset="0"/>
                          </a:rPr>
                        </m:ctrlPr>
                      </m:sSubPr>
                      <m:e>
                        <m:r>
                          <a:rPr lang="en-IN" i="1">
                            <a:solidFill>
                              <a:srgbClr val="7030A0"/>
                            </a:solidFill>
                            <a:latin typeface="Cambria Math" panose="02040503050406030204" pitchFamily="18" charset="0"/>
                            <a:cs typeface="Times New Roman" panose="02020603050405020304" pitchFamily="18" charset="0"/>
                          </a:rPr>
                          <m:t>𝐷</m:t>
                        </m:r>
                      </m:e>
                      <m:sub>
                        <m:r>
                          <a:rPr lang="en-IN" i="1">
                            <a:solidFill>
                              <a:srgbClr val="7030A0"/>
                            </a:solidFill>
                            <a:latin typeface="Cambria Math" panose="02040503050406030204" pitchFamily="18" charset="0"/>
                            <a:cs typeface="Times New Roman" panose="02020603050405020304" pitchFamily="18" charset="0"/>
                          </a:rPr>
                          <m:t>𝐾𝐿</m:t>
                        </m:r>
                      </m:sub>
                    </m:sSub>
                    <m:r>
                      <a:rPr lang="en-IN"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m:t>
                    </m:r>
                    <m:r>
                      <a:rPr lang="en-IN" i="1">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0</m:t>
                    </m:r>
                  </m:oMath>
                </a14:m>
                <a:r>
                  <a:rPr lang="en-IN" dirty="0">
                    <a:latin typeface="Arial Narrow" panose="020B0606020202030204" pitchFamily="34" charset="0"/>
                  </a:rPr>
                  <a:t>,</a:t>
                </a:r>
              </a:p>
              <a:p>
                <a:endParaRPr lang="en-IN" dirty="0">
                  <a:latin typeface="Arial Narrow" panose="020B0606020202030204" pitchFamily="34" charset="0"/>
                </a:endParaRPr>
              </a:p>
              <a:p>
                <a:r>
                  <a:rPr lang="en-IN" dirty="0">
                    <a:latin typeface="Arial Narrow" panose="020B0606020202030204" pitchFamily="34" charset="0"/>
                  </a:rPr>
                  <a:t>We have, </a:t>
                </a:r>
              </a:p>
              <a:p>
                <a:pPr marL="114300" indent="0">
                  <a:buNone/>
                </a:pPr>
                <a:r>
                  <a:rPr lang="en-US" dirty="0">
                    <a:solidFill>
                      <a:srgbClr val="7030A0"/>
                    </a:solidFill>
                  </a:rPr>
                  <a:t>                                        </a:t>
                </a:r>
                <a14:m>
                  <m:oMath xmlns:m="http://schemas.openxmlformats.org/officeDocument/2006/math">
                    <m:sSub>
                      <m:sSubPr>
                        <m:ctrlPr>
                          <a:rPr lang="en-US" i="1">
                            <a:solidFill>
                              <a:srgbClr val="7030A0"/>
                            </a:solidFill>
                            <a:latin typeface="Cambria Math" panose="02040503050406030204" pitchFamily="18" charset="0"/>
                          </a:rPr>
                        </m:ctrlPr>
                      </m:sSubPr>
                      <m:e>
                        <m:r>
                          <a:rPr lang="en-IN" i="1">
                            <a:solidFill>
                              <a:srgbClr val="7030A0"/>
                            </a:solidFill>
                            <a:latin typeface="Cambria Math" panose="02040503050406030204" pitchFamily="18" charset="0"/>
                          </a:rPr>
                          <m:t>𝐿</m:t>
                        </m:r>
                      </m:e>
                      <m:sub>
                        <m:r>
                          <a:rPr lang="en-IN" i="1">
                            <a:solidFill>
                              <a:srgbClr val="7030A0"/>
                            </a:solidFill>
                            <a:latin typeface="Cambria Math" panose="02040503050406030204" pitchFamily="18" charset="0"/>
                          </a:rPr>
                          <m:t>𝐸𝐿𝐵𝑂</m:t>
                        </m:r>
                      </m:sub>
                    </m:sSub>
                    <m:r>
                      <a:rPr lang="en-IN" i="1">
                        <a:solidFill>
                          <a:srgbClr val="7030A0"/>
                        </a:solidFill>
                        <a:latin typeface="Cambria Math" panose="02040503050406030204" pitchFamily="18" charset="0"/>
                        <a:ea typeface="Cambria Math" panose="02040503050406030204" pitchFamily="18" charset="0"/>
                      </a:rPr>
                      <m:t>≤</m:t>
                    </m:r>
                    <m:func>
                      <m:funcPr>
                        <m:ctrlPr>
                          <a:rPr lang="en-IN" i="1">
                            <a:solidFill>
                              <a:srgbClr val="7030A0"/>
                            </a:solidFill>
                            <a:latin typeface="Cambria Math" panose="02040503050406030204" pitchFamily="18" charset="0"/>
                            <a:cs typeface="Times New Roman" panose="02020603050405020304" pitchFamily="18" charset="0"/>
                          </a:rPr>
                        </m:ctrlPr>
                      </m:funcPr>
                      <m:fName>
                        <m:r>
                          <m:rPr>
                            <m:sty m:val="p"/>
                          </m:rPr>
                          <a:rPr lang="en-IN">
                            <a:solidFill>
                              <a:srgbClr val="7030A0"/>
                            </a:solidFill>
                            <a:latin typeface="Cambria Math" panose="02040503050406030204" pitchFamily="18" charset="0"/>
                            <a:cs typeface="Times New Roman" panose="02020603050405020304" pitchFamily="18" charset="0"/>
                          </a:rPr>
                          <m:t>log</m:t>
                        </m:r>
                      </m:fName>
                      <m:e>
                        <m:sSub>
                          <m:sSubPr>
                            <m:ctrlPr>
                              <a:rPr lang="en-IN" i="1">
                                <a:solidFill>
                                  <a:srgbClr val="7030A0"/>
                                </a:solidFill>
                                <a:latin typeface="Cambria Math" panose="02040503050406030204" pitchFamily="18" charset="0"/>
                                <a:cs typeface="Times New Roman" panose="02020603050405020304" pitchFamily="18" charset="0"/>
                              </a:rPr>
                            </m:ctrlPr>
                          </m:sSubPr>
                          <m:e>
                            <m:r>
                              <a:rPr lang="en-IN" i="1">
                                <a:solidFill>
                                  <a:srgbClr val="7030A0"/>
                                </a:solidFill>
                                <a:latin typeface="Cambria Math" panose="02040503050406030204" pitchFamily="18" charset="0"/>
                                <a:cs typeface="Times New Roman" panose="02020603050405020304" pitchFamily="18" charset="0"/>
                              </a:rPr>
                              <m:t>𝑝</m:t>
                            </m:r>
                          </m:e>
                          <m:sub>
                            <m:r>
                              <a:rPr lang="en-IN" i="1">
                                <a:solidFill>
                                  <a:srgbClr val="7030A0"/>
                                </a:solidFill>
                                <a:latin typeface="Cambria Math" panose="02040503050406030204" pitchFamily="18" charset="0"/>
                                <a:ea typeface="Cambria Math" panose="02040503050406030204" pitchFamily="18" charset="0"/>
                              </a:rPr>
                              <m:t>𝜃</m:t>
                            </m:r>
                          </m:sub>
                        </m:sSub>
                        <m:r>
                          <a:rPr lang="en-IN" i="1">
                            <a:solidFill>
                              <a:srgbClr val="7030A0"/>
                            </a:solidFill>
                            <a:latin typeface="Cambria Math" panose="02040503050406030204" pitchFamily="18" charset="0"/>
                            <a:cs typeface="Times New Roman" panose="02020603050405020304" pitchFamily="18" charset="0"/>
                          </a:rPr>
                          <m:t>(</m:t>
                        </m:r>
                        <m:r>
                          <a:rPr lang="en-IN" i="1">
                            <a:solidFill>
                              <a:srgbClr val="7030A0"/>
                            </a:solidFill>
                            <a:latin typeface="Cambria Math" panose="02040503050406030204" pitchFamily="18" charset="0"/>
                            <a:cs typeface="Times New Roman" panose="02020603050405020304" pitchFamily="18" charset="0"/>
                          </a:rPr>
                          <m:t>𝑥</m:t>
                        </m:r>
                        <m:r>
                          <a:rPr lang="en-IN" i="1">
                            <a:solidFill>
                              <a:srgbClr val="7030A0"/>
                            </a:solidFill>
                            <a:latin typeface="Cambria Math" panose="02040503050406030204" pitchFamily="18" charset="0"/>
                            <a:cs typeface="Times New Roman" panose="02020603050405020304" pitchFamily="18" charset="0"/>
                          </a:rPr>
                          <m:t>)</m:t>
                        </m:r>
                      </m:e>
                    </m:func>
                  </m:oMath>
                </a14:m>
                <a:endParaRPr lang="en-IN" dirty="0">
                  <a:solidFill>
                    <a:srgbClr val="7030A0"/>
                  </a:solidFill>
                  <a:latin typeface="Arial Narrow" panose="020B0606020202030204" pitchFamily="34" charset="0"/>
                </a:endParaRPr>
              </a:p>
              <a:p>
                <a:pPr marL="114300" indent="0">
                  <a:buNone/>
                </a:pPr>
                <a:endParaRPr lang="en-IN" dirty="0">
                  <a:solidFill>
                    <a:srgbClr val="7030A0"/>
                  </a:solidFill>
                  <a:latin typeface="Arial Narrow" panose="020B0606020202030204" pitchFamily="34" charset="0"/>
                </a:endParaRPr>
              </a:p>
              <a:p>
                <a:pPr marL="114300" indent="0">
                  <a:buNone/>
                </a:pPr>
                <a:r>
                  <a:rPr lang="en-IN" dirty="0">
                    <a:latin typeface="Arial Narrow" panose="020B0606020202030204" pitchFamily="34" charset="0"/>
                  </a:rPr>
                  <a:t>                                                   hence the name, </a:t>
                </a:r>
                <a:r>
                  <a:rPr lang="en-US" dirty="0">
                    <a:solidFill>
                      <a:srgbClr val="7030A0"/>
                    </a:solidFill>
                    <a:latin typeface="Arial Narrow" panose="020B0606020202030204" pitchFamily="34" charset="0"/>
                  </a:rPr>
                  <a:t>Evidence Lower Bound</a:t>
                </a:r>
              </a:p>
              <a:p>
                <a:pPr marL="114300" indent="0">
                  <a:buNone/>
                </a:pPr>
                <a:endParaRPr lang="en-US" dirty="0">
                  <a:solidFill>
                    <a:srgbClr val="7030A0"/>
                  </a:solidFill>
                  <a:latin typeface="Arial Narrow" panose="020B0606020202030204" pitchFamily="34" charset="0"/>
                </a:endParaRPr>
              </a:p>
              <a:p>
                <a:r>
                  <a:rPr lang="en-US" dirty="0">
                    <a:latin typeface="Arial Narrow" panose="020B0606020202030204" pitchFamily="34" charset="0"/>
                  </a:rPr>
                  <a:t>Because the </a:t>
                </a:r>
                <a:r>
                  <a:rPr lang="en-US" dirty="0">
                    <a:solidFill>
                      <a:srgbClr val="7030A0"/>
                    </a:solidFill>
                    <a:latin typeface="Arial Narrow" panose="020B0606020202030204" pitchFamily="34" charset="0"/>
                  </a:rPr>
                  <a:t>ELBO is a lower bound on the log evidence </a:t>
                </a:r>
                <a14:m>
                  <m:oMath xmlns:m="http://schemas.openxmlformats.org/officeDocument/2006/math">
                    <m:func>
                      <m:funcPr>
                        <m:ctrlPr>
                          <a:rPr lang="en-IN" i="1">
                            <a:solidFill>
                              <a:srgbClr val="7030A0"/>
                            </a:solidFill>
                            <a:latin typeface="Cambria Math" panose="02040503050406030204" pitchFamily="18" charset="0"/>
                            <a:cs typeface="Times New Roman" panose="02020603050405020304" pitchFamily="18" charset="0"/>
                          </a:rPr>
                        </m:ctrlPr>
                      </m:funcPr>
                      <m:fName>
                        <m:r>
                          <m:rPr>
                            <m:sty m:val="p"/>
                          </m:rPr>
                          <a:rPr lang="en-IN">
                            <a:solidFill>
                              <a:srgbClr val="7030A0"/>
                            </a:solidFill>
                            <a:latin typeface="Cambria Math" panose="02040503050406030204" pitchFamily="18" charset="0"/>
                            <a:cs typeface="Times New Roman" panose="02020603050405020304" pitchFamily="18" charset="0"/>
                          </a:rPr>
                          <m:t>log</m:t>
                        </m:r>
                      </m:fName>
                      <m:e>
                        <m:sSub>
                          <m:sSubPr>
                            <m:ctrlPr>
                              <a:rPr lang="en-IN" i="1">
                                <a:solidFill>
                                  <a:srgbClr val="7030A0"/>
                                </a:solidFill>
                                <a:latin typeface="Cambria Math" panose="02040503050406030204" pitchFamily="18" charset="0"/>
                                <a:cs typeface="Times New Roman" panose="02020603050405020304" pitchFamily="18" charset="0"/>
                              </a:rPr>
                            </m:ctrlPr>
                          </m:sSubPr>
                          <m:e>
                            <m:r>
                              <a:rPr lang="en-IN" i="1">
                                <a:solidFill>
                                  <a:srgbClr val="7030A0"/>
                                </a:solidFill>
                                <a:latin typeface="Cambria Math" panose="02040503050406030204" pitchFamily="18" charset="0"/>
                                <a:cs typeface="Times New Roman" panose="02020603050405020304" pitchFamily="18" charset="0"/>
                              </a:rPr>
                              <m:t>𝑝</m:t>
                            </m:r>
                          </m:e>
                          <m:sub>
                            <m:r>
                              <a:rPr lang="en-IN" i="1">
                                <a:solidFill>
                                  <a:srgbClr val="7030A0"/>
                                </a:solidFill>
                                <a:latin typeface="Cambria Math" panose="02040503050406030204" pitchFamily="18" charset="0"/>
                                <a:ea typeface="Cambria Math" panose="02040503050406030204" pitchFamily="18" charset="0"/>
                              </a:rPr>
                              <m:t>𝜃</m:t>
                            </m:r>
                          </m:sub>
                        </m:sSub>
                        <m:r>
                          <a:rPr lang="en-IN" i="1">
                            <a:solidFill>
                              <a:srgbClr val="7030A0"/>
                            </a:solidFill>
                            <a:latin typeface="Cambria Math" panose="02040503050406030204" pitchFamily="18" charset="0"/>
                            <a:cs typeface="Times New Roman" panose="02020603050405020304" pitchFamily="18" charset="0"/>
                          </a:rPr>
                          <m:t>(</m:t>
                        </m:r>
                        <m:r>
                          <a:rPr lang="en-IN" i="1">
                            <a:solidFill>
                              <a:srgbClr val="7030A0"/>
                            </a:solidFill>
                            <a:latin typeface="Cambria Math" panose="02040503050406030204" pitchFamily="18" charset="0"/>
                            <a:cs typeface="Times New Roman" panose="02020603050405020304" pitchFamily="18" charset="0"/>
                          </a:rPr>
                          <m:t>𝑥</m:t>
                        </m:r>
                        <m:r>
                          <a:rPr lang="en-IN" i="1">
                            <a:solidFill>
                              <a:srgbClr val="7030A0"/>
                            </a:solidFill>
                            <a:latin typeface="Cambria Math" panose="02040503050406030204" pitchFamily="18" charset="0"/>
                            <a:cs typeface="Times New Roman" panose="02020603050405020304" pitchFamily="18" charset="0"/>
                          </a:rPr>
                          <m:t>)</m:t>
                        </m:r>
                      </m:e>
                    </m:func>
                  </m:oMath>
                </a14:m>
                <a:r>
                  <a:rPr lang="en-IN" dirty="0">
                    <a:latin typeface="Arial Narrow" panose="020B0606020202030204" pitchFamily="34" charset="0"/>
                  </a:rPr>
                  <a:t> </a:t>
                </a:r>
              </a:p>
              <a:p>
                <a:endParaRPr lang="en-IN" dirty="0"/>
              </a:p>
            </p:txBody>
          </p:sp>
        </mc:Choice>
        <mc:Fallback xmlns="">
          <p:sp>
            <p:nvSpPr>
              <p:cNvPr id="3" name="Text Placeholder 2">
                <a:extLst>
                  <a:ext uri="{FF2B5EF4-FFF2-40B4-BE49-F238E27FC236}">
                    <a16:creationId xmlns:a16="http://schemas.microsoft.com/office/drawing/2014/main" id="{89301700-08E7-4A6C-97CD-67A0A3572362}"/>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IN">
                    <a:noFill/>
                  </a:rPr>
                  <a:t> </a:t>
                </a:r>
              </a:p>
            </p:txBody>
          </p:sp>
        </mc:Fallback>
      </mc:AlternateContent>
      <p:sp>
        <p:nvSpPr>
          <p:cNvPr id="4" name="Title 1">
            <a:extLst>
              <a:ext uri="{FF2B5EF4-FFF2-40B4-BE49-F238E27FC236}">
                <a16:creationId xmlns:a16="http://schemas.microsoft.com/office/drawing/2014/main" id="{581C29D2-5E0B-4AFE-A23A-E5818F276DDE}"/>
              </a:ext>
            </a:extLst>
          </p:cNvPr>
          <p:cNvSpPr>
            <a:spLocks noGrp="1"/>
          </p:cNvSpPr>
          <p:nvPr>
            <p:ph type="title"/>
          </p:nvPr>
        </p:nvSpPr>
        <p:spPr>
          <a:xfrm>
            <a:off x="838200" y="365125"/>
            <a:ext cx="10515600" cy="1325563"/>
          </a:xfrm>
        </p:spPr>
        <p:txBody>
          <a:bodyPr>
            <a:normAutofit/>
          </a:bodyPr>
          <a:lstStyle/>
          <a:p>
            <a:r>
              <a:rPr lang="en-IN" sz="3600" dirty="0">
                <a:latin typeface="Century" panose="02040604050505020304" pitchFamily="18" charset="0"/>
              </a:rPr>
              <a:t>ELBO and Posterior Approximation</a:t>
            </a:r>
          </a:p>
        </p:txBody>
      </p:sp>
    </p:spTree>
    <p:extLst>
      <p:ext uri="{BB962C8B-B14F-4D97-AF65-F5344CB8AC3E}">
        <p14:creationId xmlns:p14="http://schemas.microsoft.com/office/powerpoint/2010/main" val="3648192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E841B-82EE-4ED2-AE91-BA48F0D2D544}"/>
              </a:ext>
            </a:extLst>
          </p:cNvPr>
          <p:cNvSpPr>
            <a:spLocks noGrp="1"/>
          </p:cNvSpPr>
          <p:nvPr>
            <p:ph type="title"/>
          </p:nvPr>
        </p:nvSpPr>
        <p:spPr/>
        <p:txBody>
          <a:bodyPr>
            <a:normAutofit/>
          </a:bodyPr>
          <a:lstStyle/>
          <a:p>
            <a:r>
              <a:rPr lang="en-IN" sz="3600" dirty="0">
                <a:solidFill>
                  <a:schemeClr val="tx1"/>
                </a:solidFill>
                <a:latin typeface="Century" panose="02040604050505020304" pitchFamily="18" charset="0"/>
              </a:rPr>
              <a:t>The Reparameterization Trick</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5FDEAD9-B6B4-4FB1-83A1-AE72B1DE0964}"/>
                  </a:ext>
                </a:extLst>
              </p:cNvPr>
              <p:cNvSpPr>
                <a:spLocks noGrp="1"/>
              </p:cNvSpPr>
              <p:nvPr>
                <p:ph type="body" idx="1"/>
              </p:nvPr>
            </p:nvSpPr>
            <p:spPr/>
            <p:txBody>
              <a:bodyPr>
                <a:normAutofit/>
              </a:bodyPr>
              <a:lstStyle/>
              <a:p>
                <a:r>
                  <a:rPr lang="en-IN" sz="2400" dirty="0">
                    <a:latin typeface="Arial Narrow" panose="020B0606020202030204" pitchFamily="34" charset="0"/>
                  </a:rPr>
                  <a:t>The encoder outputs: </a:t>
                </a:r>
                <a14:m>
                  <m:oMath xmlns:m="http://schemas.openxmlformats.org/officeDocument/2006/math">
                    <m:r>
                      <a:rPr lang="en-IN" sz="2400" i="1" smtClean="0">
                        <a:solidFill>
                          <a:srgbClr val="7030A0"/>
                        </a:solidFill>
                        <a:latin typeface="Cambria Math" panose="02040503050406030204" pitchFamily="18" charset="0"/>
                        <a:ea typeface="Cambria Math" panose="02040503050406030204" pitchFamily="18" charset="0"/>
                      </a:rPr>
                      <m:t>𝜇</m:t>
                    </m:r>
                    <m:d>
                      <m:dPr>
                        <m:ctrlPr>
                          <a:rPr lang="en-IN" sz="2400" b="0" i="1" smtClean="0">
                            <a:solidFill>
                              <a:srgbClr val="7030A0"/>
                            </a:solidFill>
                            <a:latin typeface="Cambria Math" panose="02040503050406030204" pitchFamily="18" charset="0"/>
                            <a:ea typeface="Cambria Math" panose="02040503050406030204" pitchFamily="18" charset="0"/>
                          </a:rPr>
                        </m:ctrlPr>
                      </m:dPr>
                      <m:e>
                        <m:r>
                          <a:rPr lang="en-IN" sz="2400" b="0" i="1" smtClean="0">
                            <a:solidFill>
                              <a:srgbClr val="7030A0"/>
                            </a:solidFill>
                            <a:latin typeface="Cambria Math" panose="02040503050406030204" pitchFamily="18" charset="0"/>
                            <a:ea typeface="Cambria Math" panose="02040503050406030204" pitchFamily="18" charset="0"/>
                          </a:rPr>
                          <m:t>𝑥</m:t>
                        </m:r>
                      </m:e>
                    </m:d>
                    <m:r>
                      <a:rPr lang="en-IN" sz="2400" b="0" i="1" smtClean="0">
                        <a:solidFill>
                          <a:srgbClr val="7030A0"/>
                        </a:solidFill>
                        <a:latin typeface="Cambria Math" panose="02040503050406030204" pitchFamily="18" charset="0"/>
                        <a:ea typeface="Cambria Math" panose="02040503050406030204" pitchFamily="18" charset="0"/>
                      </a:rPr>
                      <m:t>,</m:t>
                    </m:r>
                    <m:r>
                      <a:rPr lang="en-IN" sz="2400" b="0" i="1" smtClean="0">
                        <a:solidFill>
                          <a:srgbClr val="7030A0"/>
                        </a:solidFill>
                        <a:latin typeface="Cambria Math" panose="02040503050406030204" pitchFamily="18" charset="0"/>
                        <a:ea typeface="Cambria Math" panose="02040503050406030204" pitchFamily="18" charset="0"/>
                      </a:rPr>
                      <m:t>𝜎</m:t>
                    </m:r>
                    <m:r>
                      <a:rPr lang="en-IN" sz="2400" b="0" i="1" smtClean="0">
                        <a:solidFill>
                          <a:srgbClr val="7030A0"/>
                        </a:solidFill>
                        <a:latin typeface="Cambria Math" panose="02040503050406030204" pitchFamily="18" charset="0"/>
                        <a:ea typeface="Cambria Math" panose="02040503050406030204" pitchFamily="18" charset="0"/>
                      </a:rPr>
                      <m:t>(</m:t>
                    </m:r>
                    <m:r>
                      <a:rPr lang="en-IN" sz="2400" b="0" i="1" smtClean="0">
                        <a:solidFill>
                          <a:srgbClr val="7030A0"/>
                        </a:solidFill>
                        <a:latin typeface="Cambria Math" panose="02040503050406030204" pitchFamily="18" charset="0"/>
                        <a:ea typeface="Cambria Math" panose="02040503050406030204" pitchFamily="18" charset="0"/>
                      </a:rPr>
                      <m:t>𝑥</m:t>
                    </m:r>
                    <m:r>
                      <a:rPr lang="en-IN" sz="2400" b="0" i="1" smtClean="0">
                        <a:solidFill>
                          <a:srgbClr val="7030A0"/>
                        </a:solidFill>
                        <a:latin typeface="Cambria Math" panose="02040503050406030204" pitchFamily="18" charset="0"/>
                        <a:ea typeface="Cambria Math" panose="02040503050406030204" pitchFamily="18" charset="0"/>
                      </a:rPr>
                      <m:t>) </m:t>
                    </m:r>
                  </m:oMath>
                </a14:m>
                <a:r>
                  <a:rPr lang="en-IN" sz="2400" dirty="0">
                    <a:latin typeface="Arial Narrow" panose="020B0606020202030204" pitchFamily="34" charset="0"/>
                  </a:rPr>
                  <a:t>and we need to sample </a:t>
                </a:r>
              </a:p>
              <a:p>
                <a:endParaRPr lang="en-IN" sz="2400" dirty="0">
                  <a:latin typeface="Arial Narrow" panose="020B0606020202030204" pitchFamily="34" charset="0"/>
                </a:endParaRPr>
              </a:p>
              <a:p>
                <a:pPr marL="114300" indent="0">
                  <a:buNone/>
                </a:pPr>
                <a14:m>
                  <m:oMathPara xmlns:m="http://schemas.openxmlformats.org/officeDocument/2006/math">
                    <m:oMathParaPr>
                      <m:jc m:val="centerGroup"/>
                    </m:oMathParaPr>
                    <m:oMath xmlns:m="http://schemas.openxmlformats.org/officeDocument/2006/math">
                      <m:r>
                        <m:rPr>
                          <m:sty m:val="p"/>
                        </m:rPr>
                        <a:rPr lang="en-IN" sz="2400" b="0" i="0" smtClean="0">
                          <a:solidFill>
                            <a:srgbClr val="7030A0"/>
                          </a:solidFill>
                          <a:latin typeface="Cambria Math" panose="02040503050406030204" pitchFamily="18" charset="0"/>
                          <a:ea typeface="Cambria Math" panose="02040503050406030204" pitchFamily="18" charset="0"/>
                        </a:rPr>
                        <m:t>z</m:t>
                      </m:r>
                      <m:r>
                        <a:rPr lang="en-IN" sz="2400" b="0" i="0" smtClean="0">
                          <a:solidFill>
                            <a:srgbClr val="7030A0"/>
                          </a:solidFill>
                          <a:latin typeface="Cambria Math" panose="02040503050406030204" pitchFamily="18" charset="0"/>
                          <a:ea typeface="Cambria Math" panose="02040503050406030204" pitchFamily="18" charset="0"/>
                        </a:rPr>
                        <m:t>~</m:t>
                      </m:r>
                      <m:r>
                        <a:rPr lang="en-IN" sz="2400" i="1">
                          <a:solidFill>
                            <a:srgbClr val="7030A0"/>
                          </a:solidFill>
                          <a:latin typeface="Cambria Math" panose="02040503050406030204" pitchFamily="18" charset="0"/>
                          <a:ea typeface="Cambria Math" panose="02040503050406030204" pitchFamily="18" charset="0"/>
                        </a:rPr>
                        <m:t>𝒩</m:t>
                      </m:r>
                      <m:r>
                        <a:rPr lang="en-IN" sz="2400" i="1">
                          <a:solidFill>
                            <a:srgbClr val="7030A0"/>
                          </a:solidFill>
                          <a:latin typeface="Cambria Math" panose="02040503050406030204" pitchFamily="18" charset="0"/>
                          <a:ea typeface="Cambria Math" panose="02040503050406030204" pitchFamily="18" charset="0"/>
                        </a:rPr>
                        <m:t>(</m:t>
                      </m:r>
                      <m:r>
                        <a:rPr lang="en-IN" sz="2400" i="1" dirty="0" smtClean="0">
                          <a:solidFill>
                            <a:srgbClr val="7030A0"/>
                          </a:solidFill>
                          <a:latin typeface="Cambria Math" panose="02040503050406030204" pitchFamily="18" charset="0"/>
                          <a:ea typeface="Cambria Math" panose="02040503050406030204" pitchFamily="18" charset="0"/>
                        </a:rPr>
                        <m:t>𝜇</m:t>
                      </m:r>
                      <m:r>
                        <a:rPr lang="en-IN" sz="2400" i="1">
                          <a:solidFill>
                            <a:srgbClr val="7030A0"/>
                          </a:solidFill>
                          <a:latin typeface="Cambria Math" panose="02040503050406030204" pitchFamily="18" charset="0"/>
                          <a:ea typeface="Cambria Math" panose="02040503050406030204" pitchFamily="18" charset="0"/>
                        </a:rPr>
                        <m:t>,</m:t>
                      </m:r>
                      <m:sSup>
                        <m:sSupPr>
                          <m:ctrlPr>
                            <a:rPr lang="en-IN" sz="2400" i="1" smtClean="0">
                              <a:solidFill>
                                <a:srgbClr val="7030A0"/>
                              </a:solidFill>
                              <a:latin typeface="Cambria Math" panose="02040503050406030204" pitchFamily="18" charset="0"/>
                              <a:ea typeface="Cambria Math" panose="02040503050406030204" pitchFamily="18" charset="0"/>
                            </a:rPr>
                          </m:ctrlPr>
                        </m:sSupPr>
                        <m:e>
                          <m:r>
                            <a:rPr lang="en-IN" sz="2400" i="1" smtClean="0">
                              <a:solidFill>
                                <a:srgbClr val="7030A0"/>
                              </a:solidFill>
                              <a:latin typeface="Cambria Math" panose="02040503050406030204" pitchFamily="18" charset="0"/>
                              <a:ea typeface="Cambria Math" panose="02040503050406030204" pitchFamily="18" charset="0"/>
                            </a:rPr>
                            <m:t>𝜎</m:t>
                          </m:r>
                        </m:e>
                        <m:sup>
                          <m:r>
                            <a:rPr lang="en-IN" sz="2400" b="0" i="1" smtClean="0">
                              <a:solidFill>
                                <a:srgbClr val="7030A0"/>
                              </a:solidFill>
                              <a:latin typeface="Cambria Math" panose="02040503050406030204" pitchFamily="18" charset="0"/>
                              <a:ea typeface="Cambria Math" panose="02040503050406030204" pitchFamily="18" charset="0"/>
                            </a:rPr>
                            <m:t>2</m:t>
                          </m:r>
                        </m:sup>
                      </m:sSup>
                      <m:r>
                        <a:rPr lang="en-IN" sz="2400" i="1">
                          <a:solidFill>
                            <a:srgbClr val="7030A0"/>
                          </a:solidFill>
                          <a:latin typeface="Cambria Math" panose="02040503050406030204" pitchFamily="18" charset="0"/>
                          <a:ea typeface="Cambria Math" panose="02040503050406030204" pitchFamily="18" charset="0"/>
                        </a:rPr>
                        <m:t>)</m:t>
                      </m:r>
                    </m:oMath>
                  </m:oMathPara>
                </a14:m>
                <a:endParaRPr lang="en-IN" sz="2400" dirty="0">
                  <a:latin typeface="Arial Narrow" panose="020B0606020202030204" pitchFamily="34" charset="0"/>
                </a:endParaRPr>
              </a:p>
              <a:p>
                <a:pPr marL="114300" indent="0">
                  <a:buNone/>
                </a:pPr>
                <a:endParaRPr lang="en-IN" sz="2400" dirty="0">
                  <a:latin typeface="Arial Narrow" panose="020B0606020202030204" pitchFamily="34" charset="0"/>
                </a:endParaRPr>
              </a:p>
              <a:p>
                <a:r>
                  <a:rPr lang="en-US" sz="2400" dirty="0">
                    <a:solidFill>
                      <a:srgbClr val="7030A0"/>
                    </a:solidFill>
                    <a:latin typeface="Arial Narrow" panose="020B0606020202030204" pitchFamily="34" charset="0"/>
                  </a:rPr>
                  <a:t>Direct stochastic sampling </a:t>
                </a:r>
                <a:r>
                  <a:rPr lang="en-US" sz="2400" dirty="0">
                    <a:latin typeface="Arial Narrow" panose="020B0606020202030204" pitchFamily="34" charset="0"/>
                  </a:rPr>
                  <a:t>makes ordinary backpropagation </a:t>
                </a:r>
                <a:r>
                  <a:rPr lang="en-US" sz="2400" dirty="0">
                    <a:solidFill>
                      <a:srgbClr val="7030A0"/>
                    </a:solidFill>
                    <a:latin typeface="Arial Narrow" panose="020B0606020202030204" pitchFamily="34" charset="0"/>
                  </a:rPr>
                  <a:t>problematic</a:t>
                </a:r>
                <a:r>
                  <a:rPr lang="en-US" sz="2400" dirty="0">
                    <a:latin typeface="Arial Narrow" panose="020B0606020202030204" pitchFamily="34" charset="0"/>
                  </a:rPr>
                  <a:t>.</a:t>
                </a:r>
              </a:p>
              <a:p>
                <a:endParaRPr lang="en-US" sz="2400" dirty="0">
                  <a:latin typeface="Arial Narrow" panose="020B0606020202030204" pitchFamily="34" charset="0"/>
                </a:endParaRPr>
              </a:p>
              <a:p>
                <a:r>
                  <a:rPr lang="en-US" sz="2400" dirty="0">
                    <a:latin typeface="Arial Narrow" panose="020B0606020202030204" pitchFamily="34" charset="0"/>
                  </a:rPr>
                  <a:t>The VAE solves this using the reparameterization trick:</a:t>
                </a:r>
              </a:p>
              <a:p>
                <a:endParaRPr lang="en-US" sz="2400" dirty="0">
                  <a:latin typeface="Arial Narrow" panose="020B0606020202030204" pitchFamily="34" charset="0"/>
                </a:endParaRPr>
              </a:p>
              <a:p>
                <a:pPr marL="114300" indent="0">
                  <a:buNone/>
                </a:pPr>
                <a:r>
                  <a:rPr lang="en-IN" sz="2400" b="0" dirty="0">
                    <a:solidFill>
                      <a:srgbClr val="7030A0"/>
                    </a:solidFill>
                  </a:rPr>
                  <a:t>                                                 </a:t>
                </a:r>
                <a14:m>
                  <m:oMath xmlns:m="http://schemas.openxmlformats.org/officeDocument/2006/math">
                    <m:r>
                      <a:rPr lang="en-IN" sz="2400" b="0" i="1" smtClean="0">
                        <a:solidFill>
                          <a:srgbClr val="7030A0"/>
                        </a:solidFill>
                        <a:latin typeface="Cambria Math" panose="02040503050406030204" pitchFamily="18" charset="0"/>
                      </a:rPr>
                      <m:t>𝑧</m:t>
                    </m:r>
                    <m:r>
                      <a:rPr lang="en-IN" sz="2400" i="1">
                        <a:solidFill>
                          <a:srgbClr val="7030A0"/>
                        </a:solidFill>
                        <a:latin typeface="Cambria Math" panose="02040503050406030204" pitchFamily="18" charset="0"/>
                      </a:rPr>
                      <m:t>=</m:t>
                    </m:r>
                    <m:r>
                      <a:rPr lang="en-IN" sz="2400" i="1">
                        <a:solidFill>
                          <a:srgbClr val="7030A0"/>
                        </a:solidFill>
                        <a:latin typeface="Cambria Math" panose="02040503050406030204" pitchFamily="18" charset="0"/>
                        <a:ea typeface="Cambria Math" panose="02040503050406030204" pitchFamily="18" charset="0"/>
                      </a:rPr>
                      <m:t>𝜇</m:t>
                    </m:r>
                    <m:r>
                      <a:rPr lang="en-IN" sz="2400" i="1">
                        <a:solidFill>
                          <a:srgbClr val="7030A0"/>
                        </a:solidFill>
                        <a:latin typeface="Cambria Math" panose="02040503050406030204" pitchFamily="18" charset="0"/>
                        <a:ea typeface="Cambria Math" panose="02040503050406030204" pitchFamily="18" charset="0"/>
                      </a:rPr>
                      <m:t>+</m:t>
                    </m:r>
                    <m:r>
                      <a:rPr lang="en-IN" sz="2400" i="1">
                        <a:solidFill>
                          <a:srgbClr val="7030A0"/>
                        </a:solidFill>
                        <a:latin typeface="Cambria Math" panose="02040503050406030204" pitchFamily="18" charset="0"/>
                        <a:ea typeface="Cambria Math" panose="02040503050406030204" pitchFamily="18" charset="0"/>
                      </a:rPr>
                      <m:t>𝜎</m:t>
                    </m:r>
                    <m:r>
                      <m:rPr>
                        <m:nor/>
                      </m:rPr>
                      <a:rPr lang="en-IN" sz="2400">
                        <a:solidFill>
                          <a:srgbClr val="7030A0"/>
                        </a:solidFill>
                        <a:latin typeface="Arial Narrow" panose="020B0606020202030204" pitchFamily="34" charset="0"/>
                      </a:rPr>
                      <m:t>⊙</m:t>
                    </m:r>
                    <m:r>
                      <m:rPr>
                        <m:sty m:val="p"/>
                      </m:rPr>
                      <a:rPr lang="el-GR" sz="2400" i="1">
                        <a:solidFill>
                          <a:srgbClr val="7030A0"/>
                        </a:solidFill>
                        <a:latin typeface="Cambria Math" panose="02040503050406030204" pitchFamily="18" charset="0"/>
                        <a:ea typeface="Cambria Math" panose="02040503050406030204" pitchFamily="18" charset="0"/>
                      </a:rPr>
                      <m:t>ϵ</m:t>
                    </m:r>
                  </m:oMath>
                </a14:m>
                <a:r>
                  <a:rPr lang="en-US" sz="2400" dirty="0">
                    <a:solidFill>
                      <a:srgbClr val="7030A0"/>
                    </a:solidFill>
                    <a:latin typeface="Arial Narrow" panose="020B0606020202030204" pitchFamily="34" charset="0"/>
                  </a:rPr>
                  <a:t>, where </a:t>
                </a:r>
                <a14:m>
                  <m:oMath xmlns:m="http://schemas.openxmlformats.org/officeDocument/2006/math">
                    <m:r>
                      <m:rPr>
                        <m:sty m:val="p"/>
                      </m:rPr>
                      <a:rPr lang="el-GR" sz="2400" i="1">
                        <a:solidFill>
                          <a:srgbClr val="7030A0"/>
                        </a:solidFill>
                        <a:latin typeface="Cambria Math" panose="02040503050406030204" pitchFamily="18" charset="0"/>
                        <a:ea typeface="Cambria Math" panose="02040503050406030204" pitchFamily="18" charset="0"/>
                      </a:rPr>
                      <m:t>ϵ</m:t>
                    </m:r>
                    <m:r>
                      <a:rPr lang="en-IN" sz="2400" i="1">
                        <a:solidFill>
                          <a:srgbClr val="7030A0"/>
                        </a:solidFill>
                        <a:latin typeface="Cambria Math" panose="02040503050406030204" pitchFamily="18" charset="0"/>
                        <a:ea typeface="Cambria Math" panose="02040503050406030204" pitchFamily="18" charset="0"/>
                      </a:rPr>
                      <m:t>~</m:t>
                    </m:r>
                    <m:r>
                      <a:rPr lang="en-IN" sz="2400" i="1">
                        <a:solidFill>
                          <a:srgbClr val="7030A0"/>
                        </a:solidFill>
                        <a:latin typeface="Cambria Math" panose="02040503050406030204" pitchFamily="18" charset="0"/>
                        <a:ea typeface="Cambria Math" panose="02040503050406030204" pitchFamily="18" charset="0"/>
                      </a:rPr>
                      <m:t>𝑁</m:t>
                    </m:r>
                    <m:r>
                      <a:rPr lang="en-IN" sz="2400" i="1">
                        <a:solidFill>
                          <a:srgbClr val="7030A0"/>
                        </a:solidFill>
                        <a:latin typeface="Cambria Math" panose="02040503050406030204" pitchFamily="18" charset="0"/>
                        <a:ea typeface="Cambria Math" panose="02040503050406030204" pitchFamily="18" charset="0"/>
                      </a:rPr>
                      <m:t>(</m:t>
                    </m:r>
                    <m:r>
                      <a:rPr lang="en-IN" sz="2400" i="1">
                        <a:solidFill>
                          <a:srgbClr val="7030A0"/>
                        </a:solidFill>
                        <a:latin typeface="Cambria Math" panose="02040503050406030204" pitchFamily="18" charset="0"/>
                        <a:ea typeface="Cambria Math" panose="02040503050406030204" pitchFamily="18" charset="0"/>
                      </a:rPr>
                      <m:t>0</m:t>
                    </m:r>
                    <m:r>
                      <a:rPr lang="en-IN" sz="2400" i="1">
                        <a:solidFill>
                          <a:srgbClr val="7030A0"/>
                        </a:solidFill>
                        <a:latin typeface="Cambria Math" panose="02040503050406030204" pitchFamily="18" charset="0"/>
                        <a:ea typeface="Cambria Math" panose="02040503050406030204" pitchFamily="18" charset="0"/>
                      </a:rPr>
                      <m:t>,</m:t>
                    </m:r>
                    <m:r>
                      <a:rPr lang="en-IN" sz="2400" i="1">
                        <a:solidFill>
                          <a:srgbClr val="7030A0"/>
                        </a:solidFill>
                        <a:latin typeface="Cambria Math" panose="02040503050406030204" pitchFamily="18" charset="0"/>
                        <a:ea typeface="Cambria Math" panose="02040503050406030204" pitchFamily="18" charset="0"/>
                      </a:rPr>
                      <m:t>𝐼</m:t>
                    </m:r>
                    <m:r>
                      <a:rPr lang="en-IN" sz="2400" i="1">
                        <a:solidFill>
                          <a:srgbClr val="7030A0"/>
                        </a:solidFill>
                        <a:latin typeface="Cambria Math" panose="02040503050406030204" pitchFamily="18" charset="0"/>
                        <a:ea typeface="Cambria Math" panose="02040503050406030204" pitchFamily="18" charset="0"/>
                      </a:rPr>
                      <m:t>)</m:t>
                    </m:r>
                  </m:oMath>
                </a14:m>
                <a:endParaRPr lang="en-IN" sz="2400" dirty="0">
                  <a:solidFill>
                    <a:srgbClr val="7030A0"/>
                  </a:solidFill>
                  <a:latin typeface="Arial Narrow" panose="020B0606020202030204" pitchFamily="34" charset="0"/>
                </a:endParaRPr>
              </a:p>
            </p:txBody>
          </p:sp>
        </mc:Choice>
        <mc:Fallback xmlns="">
          <p:sp>
            <p:nvSpPr>
              <p:cNvPr id="3" name="Text Placeholder 2">
                <a:extLst>
                  <a:ext uri="{FF2B5EF4-FFF2-40B4-BE49-F238E27FC236}">
                    <a16:creationId xmlns:a16="http://schemas.microsoft.com/office/drawing/2014/main" id="{45FDEAD9-B6B4-4FB1-83A1-AE72B1DE0964}"/>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279137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2DE1113-1845-4A8F-B8E2-92782E2BC13D}"/>
                  </a:ext>
                </a:extLst>
              </p:cNvPr>
              <p:cNvSpPr>
                <a:spLocks noGrp="1"/>
              </p:cNvSpPr>
              <p:nvPr>
                <p:ph type="body" idx="1"/>
              </p:nvPr>
            </p:nvSpPr>
            <p:spPr/>
            <p:txBody>
              <a:bodyPr>
                <a:normAutofit fontScale="92500" lnSpcReduction="10000"/>
              </a:bodyPr>
              <a:lstStyle/>
              <a:p>
                <a:r>
                  <a:rPr lang="en-US" dirty="0">
                    <a:latin typeface="Arial Narrow" panose="020B0606020202030204" pitchFamily="34" charset="0"/>
                  </a:rPr>
                  <a:t>Now the randomness is isolated in </a:t>
                </a:r>
                <a14:m>
                  <m:oMath xmlns:m="http://schemas.openxmlformats.org/officeDocument/2006/math">
                    <m:r>
                      <m:rPr>
                        <m:sty m:val="p"/>
                      </m:rPr>
                      <a:rPr lang="el-GR" i="1" smtClean="0">
                        <a:solidFill>
                          <a:srgbClr val="7030A0"/>
                        </a:solidFill>
                        <a:latin typeface="Cambria Math" panose="02040503050406030204" pitchFamily="18" charset="0"/>
                        <a:ea typeface="Cambria Math" panose="02040503050406030204" pitchFamily="18" charset="0"/>
                      </a:rPr>
                      <m:t>ϵ</m:t>
                    </m:r>
                  </m:oMath>
                </a14:m>
                <a:r>
                  <a:rPr lang="en-US" dirty="0">
                    <a:latin typeface="Arial Narrow" panose="020B0606020202030204" pitchFamily="34" charset="0"/>
                  </a:rPr>
                  <a:t>, while </a:t>
                </a:r>
                <a14:m>
                  <m:oMath xmlns:m="http://schemas.openxmlformats.org/officeDocument/2006/math">
                    <m:r>
                      <a:rPr lang="en-IN" i="1" smtClean="0">
                        <a:solidFill>
                          <a:srgbClr val="7030A0"/>
                        </a:solidFill>
                        <a:latin typeface="Cambria Math" panose="02040503050406030204" pitchFamily="18" charset="0"/>
                      </a:rPr>
                      <m:t>𝑧</m:t>
                    </m:r>
                  </m:oMath>
                </a14:m>
                <a:r>
                  <a:rPr lang="en-US" dirty="0">
                    <a:latin typeface="Arial Narrow" panose="020B0606020202030204" pitchFamily="34" charset="0"/>
                  </a:rPr>
                  <a:t> remains differentiable with respect to </a:t>
                </a:r>
                <a14:m>
                  <m:oMath xmlns:m="http://schemas.openxmlformats.org/officeDocument/2006/math">
                    <m:r>
                      <a:rPr lang="en-IN" i="1" smtClean="0">
                        <a:solidFill>
                          <a:srgbClr val="7030A0"/>
                        </a:solidFill>
                        <a:latin typeface="Cambria Math" panose="02040503050406030204" pitchFamily="18" charset="0"/>
                        <a:ea typeface="Cambria Math" panose="02040503050406030204" pitchFamily="18" charset="0"/>
                      </a:rPr>
                      <m:t>𝜇</m:t>
                    </m:r>
                  </m:oMath>
                </a14:m>
                <a:r>
                  <a:rPr lang="en-US" dirty="0">
                    <a:latin typeface="Arial Narrow" panose="020B0606020202030204" pitchFamily="34" charset="0"/>
                  </a:rPr>
                  <a:t> and </a:t>
                </a:r>
                <a14:m>
                  <m:oMath xmlns:m="http://schemas.openxmlformats.org/officeDocument/2006/math">
                    <m:r>
                      <a:rPr lang="en-IN" i="1" smtClean="0">
                        <a:solidFill>
                          <a:srgbClr val="7030A0"/>
                        </a:solidFill>
                        <a:latin typeface="Cambria Math" panose="02040503050406030204" pitchFamily="18" charset="0"/>
                        <a:ea typeface="Cambria Math" panose="02040503050406030204" pitchFamily="18" charset="0"/>
                      </a:rPr>
                      <m:t>𝜎</m:t>
                    </m:r>
                  </m:oMath>
                </a14:m>
                <a:r>
                  <a:rPr lang="en-US" dirty="0">
                    <a:latin typeface="Arial Narrow" panose="020B0606020202030204" pitchFamily="34" charset="0"/>
                  </a:rPr>
                  <a:t>.</a:t>
                </a:r>
              </a:p>
              <a:p>
                <a:endParaRPr lang="en-US" dirty="0">
                  <a:latin typeface="Arial Narrow" panose="020B0606020202030204" pitchFamily="34" charset="0"/>
                </a:endParaRPr>
              </a:p>
              <a:p>
                <a:r>
                  <a:rPr lang="en-US" dirty="0">
                    <a:latin typeface="Arial Narrow" panose="020B0606020202030204" pitchFamily="34" charset="0"/>
                  </a:rPr>
                  <a:t>The computational graph becomes:</a:t>
                </a:r>
              </a:p>
              <a:p>
                <a:endParaRPr lang="en-US" dirty="0">
                  <a:latin typeface="Arial Narrow" panose="020B0606020202030204" pitchFamily="34" charset="0"/>
                </a:endParaRPr>
              </a:p>
              <a:p>
                <a:pPr marL="114300" indent="0">
                  <a:buNone/>
                </a:pPr>
                <a14:m>
                  <m:oMathPara xmlns:m="http://schemas.openxmlformats.org/officeDocument/2006/math">
                    <m:oMathParaPr>
                      <m:jc m:val="centerGroup"/>
                    </m:oMathParaPr>
                    <m:oMath xmlns:m="http://schemas.openxmlformats.org/officeDocument/2006/math">
                      <m:r>
                        <a:rPr lang="en-IN" i="1" smtClean="0">
                          <a:solidFill>
                            <a:srgbClr val="7030A0"/>
                          </a:solidFill>
                          <a:latin typeface="Cambria Math" panose="02040503050406030204" pitchFamily="18" charset="0"/>
                        </a:rPr>
                        <m:t>𝑥</m:t>
                      </m:r>
                      <m:r>
                        <a:rPr lang="en-IN" i="1">
                          <a:solidFill>
                            <a:srgbClr val="7030A0"/>
                          </a:solidFill>
                          <a:latin typeface="Cambria Math" panose="02040503050406030204" pitchFamily="18" charset="0"/>
                          <a:ea typeface="Cambria Math" panose="02040503050406030204" pitchFamily="18" charset="0"/>
                        </a:rPr>
                        <m:t>→(</m:t>
                      </m:r>
                      <m:r>
                        <a:rPr lang="en-IN" i="1">
                          <a:solidFill>
                            <a:srgbClr val="7030A0"/>
                          </a:solidFill>
                          <a:latin typeface="Cambria Math" panose="02040503050406030204" pitchFamily="18" charset="0"/>
                          <a:ea typeface="Cambria Math" panose="02040503050406030204" pitchFamily="18" charset="0"/>
                        </a:rPr>
                        <m:t>𝜇</m:t>
                      </m:r>
                      <m:r>
                        <m:rPr>
                          <m:nor/>
                        </m:rPr>
                        <a:rPr lang="en-IN">
                          <a:solidFill>
                            <a:srgbClr val="7030A0"/>
                          </a:solidFill>
                          <a:latin typeface="Arial Narrow" panose="020B0606020202030204" pitchFamily="34" charset="0"/>
                          <a:ea typeface="Cambria Math" panose="02040503050406030204" pitchFamily="18" charset="0"/>
                        </a:rPr>
                        <m:t>,</m:t>
                      </m:r>
                      <m:r>
                        <m:rPr>
                          <m:nor/>
                        </m:rPr>
                        <a:rPr lang="en-US" dirty="0">
                          <a:solidFill>
                            <a:srgbClr val="7030A0"/>
                          </a:solidFill>
                          <a:latin typeface="Arial Narrow" panose="020B0606020202030204" pitchFamily="34" charset="0"/>
                        </a:rPr>
                        <m:t> </m:t>
                      </m:r>
                      <m:r>
                        <a:rPr lang="en-IN" i="1">
                          <a:solidFill>
                            <a:srgbClr val="7030A0"/>
                          </a:solidFill>
                          <a:latin typeface="Cambria Math" panose="02040503050406030204" pitchFamily="18" charset="0"/>
                          <a:ea typeface="Cambria Math" panose="02040503050406030204" pitchFamily="18" charset="0"/>
                        </a:rPr>
                        <m:t>𝜎</m:t>
                      </m:r>
                      <m:r>
                        <a:rPr lang="en-IN" i="1">
                          <a:solidFill>
                            <a:srgbClr val="7030A0"/>
                          </a:solidFill>
                          <a:latin typeface="Cambria Math" panose="02040503050406030204" pitchFamily="18" charset="0"/>
                          <a:ea typeface="Cambria Math" panose="02040503050406030204" pitchFamily="18" charset="0"/>
                        </a:rPr>
                        <m:t>)→</m:t>
                      </m:r>
                      <m:r>
                        <a:rPr lang="en-IN" i="1">
                          <a:solidFill>
                            <a:srgbClr val="7030A0"/>
                          </a:solidFill>
                          <a:latin typeface="Cambria Math" panose="02040503050406030204" pitchFamily="18" charset="0"/>
                          <a:ea typeface="Cambria Math" panose="02040503050406030204" pitchFamily="18" charset="0"/>
                        </a:rPr>
                        <m:t>𝑧</m:t>
                      </m:r>
                      <m:r>
                        <a:rPr lang="en-IN" i="1">
                          <a:solidFill>
                            <a:srgbClr val="7030A0"/>
                          </a:solidFill>
                          <a:latin typeface="Cambria Math" panose="02040503050406030204" pitchFamily="18" charset="0"/>
                          <a:ea typeface="Cambria Math" panose="02040503050406030204" pitchFamily="18" charset="0"/>
                        </a:rPr>
                        <m:t>→</m:t>
                      </m:r>
                      <m:acc>
                        <m:accPr>
                          <m:chr m:val="̂"/>
                          <m:ctrlPr>
                            <a:rPr lang="en-IN" i="1">
                              <a:solidFill>
                                <a:srgbClr val="7030A0"/>
                              </a:solidFill>
                              <a:latin typeface="Cambria Math" panose="02040503050406030204" pitchFamily="18" charset="0"/>
                              <a:ea typeface="Cambria Math" panose="02040503050406030204" pitchFamily="18" charset="0"/>
                            </a:rPr>
                          </m:ctrlPr>
                        </m:accPr>
                        <m:e>
                          <m:r>
                            <a:rPr lang="en-IN" i="1">
                              <a:solidFill>
                                <a:srgbClr val="7030A0"/>
                              </a:solidFill>
                              <a:latin typeface="Cambria Math" panose="02040503050406030204" pitchFamily="18" charset="0"/>
                              <a:ea typeface="Cambria Math" panose="02040503050406030204" pitchFamily="18" charset="0"/>
                            </a:rPr>
                            <m:t>𝑥</m:t>
                          </m:r>
                        </m:e>
                      </m:acc>
                    </m:oMath>
                  </m:oMathPara>
                </a14:m>
                <a:endParaRPr lang="en-IN" dirty="0">
                  <a:solidFill>
                    <a:srgbClr val="7030A0"/>
                  </a:solidFill>
                  <a:latin typeface="Arial Narrow" panose="020B0606020202030204" pitchFamily="34" charset="0"/>
                </a:endParaRPr>
              </a:p>
              <a:p>
                <a:pPr marL="114300" indent="0">
                  <a:buNone/>
                </a:pPr>
                <a:endParaRPr lang="en-IN" dirty="0">
                  <a:latin typeface="Arial Narrow" panose="020B0606020202030204" pitchFamily="34" charset="0"/>
                </a:endParaRPr>
              </a:p>
              <a:p>
                <a:pPr marL="114300" indent="0">
                  <a:buNone/>
                </a:pPr>
                <a:r>
                  <a:rPr lang="en-IN" dirty="0">
                    <a:latin typeface="Arial Narrow" panose="020B0606020202030204" pitchFamily="34" charset="0"/>
                  </a:rPr>
                  <a:t>                                                                          with </a:t>
                </a:r>
                <a14:m>
                  <m:oMath xmlns:m="http://schemas.openxmlformats.org/officeDocument/2006/math">
                    <m:r>
                      <a:rPr lang="en-IN" i="1" smtClean="0">
                        <a:solidFill>
                          <a:srgbClr val="7030A0"/>
                        </a:solidFill>
                        <a:latin typeface="Cambria Math" panose="02040503050406030204" pitchFamily="18" charset="0"/>
                        <a:ea typeface="Cambria Math" panose="02040503050406030204" pitchFamily="18" charset="0"/>
                      </a:rPr>
                      <m:t>𝑧</m:t>
                    </m:r>
                    <m:r>
                      <a:rPr lang="en-IN" i="1">
                        <a:solidFill>
                          <a:srgbClr val="7030A0"/>
                        </a:solidFill>
                        <a:latin typeface="Cambria Math" panose="02040503050406030204" pitchFamily="18" charset="0"/>
                        <a:ea typeface="Cambria Math" panose="02040503050406030204" pitchFamily="18" charset="0"/>
                      </a:rPr>
                      <m:t>=</m:t>
                    </m:r>
                    <m:r>
                      <a:rPr lang="en-IN" i="1">
                        <a:solidFill>
                          <a:srgbClr val="7030A0"/>
                        </a:solidFill>
                        <a:latin typeface="Cambria Math" panose="02040503050406030204" pitchFamily="18" charset="0"/>
                        <a:ea typeface="Cambria Math" panose="02040503050406030204" pitchFamily="18" charset="0"/>
                      </a:rPr>
                      <m:t>𝜇</m:t>
                    </m:r>
                    <m:r>
                      <a:rPr lang="en-IN" i="1">
                        <a:solidFill>
                          <a:srgbClr val="7030A0"/>
                        </a:solidFill>
                        <a:latin typeface="Cambria Math" panose="02040503050406030204" pitchFamily="18" charset="0"/>
                        <a:ea typeface="Cambria Math" panose="02040503050406030204" pitchFamily="18" charset="0"/>
                      </a:rPr>
                      <m:t>+</m:t>
                    </m:r>
                    <m:r>
                      <a:rPr lang="en-IN" i="1">
                        <a:solidFill>
                          <a:srgbClr val="7030A0"/>
                        </a:solidFill>
                        <a:latin typeface="Cambria Math" panose="02040503050406030204" pitchFamily="18" charset="0"/>
                        <a:ea typeface="Cambria Math" panose="02040503050406030204" pitchFamily="18" charset="0"/>
                      </a:rPr>
                      <m:t>𝜎</m:t>
                    </m:r>
                    <m:r>
                      <m:rPr>
                        <m:sty m:val="p"/>
                      </m:rPr>
                      <a:rPr lang="el-GR" i="1">
                        <a:solidFill>
                          <a:srgbClr val="7030A0"/>
                        </a:solidFill>
                        <a:latin typeface="Cambria Math" panose="02040503050406030204" pitchFamily="18" charset="0"/>
                        <a:ea typeface="Cambria Math" panose="02040503050406030204" pitchFamily="18" charset="0"/>
                      </a:rPr>
                      <m:t>ϵ</m:t>
                    </m:r>
                  </m:oMath>
                </a14:m>
                <a:endParaRPr lang="en-IN" dirty="0">
                  <a:solidFill>
                    <a:srgbClr val="7030A0"/>
                  </a:solidFill>
                  <a:latin typeface="Arial Narrow" panose="020B0606020202030204" pitchFamily="34" charset="0"/>
                </a:endParaRPr>
              </a:p>
              <a:p>
                <a:pPr marL="114300" indent="0">
                  <a:buNone/>
                </a:pPr>
                <a:endParaRPr lang="en-IN" dirty="0">
                  <a:latin typeface="Arial Narrow" panose="020B0606020202030204" pitchFamily="34" charset="0"/>
                </a:endParaRPr>
              </a:p>
              <a:p>
                <a:r>
                  <a:rPr lang="en-US" dirty="0">
                    <a:solidFill>
                      <a:srgbClr val="7030A0"/>
                    </a:solidFill>
                    <a:latin typeface="Arial Narrow" panose="020B0606020202030204" pitchFamily="34" charset="0"/>
                  </a:rPr>
                  <a:t>This allows gradients to flow through the sampling operation</a:t>
                </a:r>
                <a:r>
                  <a:rPr lang="en-US" dirty="0">
                    <a:latin typeface="Arial Narrow" panose="020B0606020202030204" pitchFamily="34" charset="0"/>
                  </a:rPr>
                  <a:t>.</a:t>
                </a:r>
                <a:endParaRPr lang="en-IN" dirty="0">
                  <a:latin typeface="Arial Narrow" panose="020B0606020202030204" pitchFamily="34" charset="0"/>
                </a:endParaRPr>
              </a:p>
              <a:p>
                <a:endParaRPr lang="en-IN" dirty="0"/>
              </a:p>
            </p:txBody>
          </p:sp>
        </mc:Choice>
        <mc:Fallback xmlns="">
          <p:sp>
            <p:nvSpPr>
              <p:cNvPr id="3" name="Text Placeholder 2">
                <a:extLst>
                  <a:ext uri="{FF2B5EF4-FFF2-40B4-BE49-F238E27FC236}">
                    <a16:creationId xmlns:a16="http://schemas.microsoft.com/office/drawing/2014/main" id="{E2DE1113-1845-4A8F-B8E2-92782E2BC13D}"/>
                  </a:ext>
                </a:extLst>
              </p:cNvPr>
              <p:cNvSpPr>
                <a:spLocks noGrp="1" noRot="1" noChangeAspect="1" noMove="1" noResize="1" noEditPoints="1" noAdjustHandles="1" noChangeArrowheads="1" noChangeShapeType="1" noTextEdit="1"/>
              </p:cNvSpPr>
              <p:nvPr>
                <p:ph type="body" idx="1"/>
              </p:nvPr>
            </p:nvSpPr>
            <p:spPr>
              <a:blipFill>
                <a:blip r:embed="rId2"/>
                <a:stretch>
                  <a:fillRect t="-140" r="-1333" b="-2801"/>
                </a:stretch>
              </a:blipFill>
            </p:spPr>
            <p:txBody>
              <a:bodyPr/>
              <a:lstStyle/>
              <a:p>
                <a:r>
                  <a:rPr lang="en-IN">
                    <a:noFill/>
                  </a:rPr>
                  <a:t> </a:t>
                </a:r>
              </a:p>
            </p:txBody>
          </p:sp>
        </mc:Fallback>
      </mc:AlternateContent>
      <p:sp>
        <p:nvSpPr>
          <p:cNvPr id="4" name="Title 1">
            <a:extLst>
              <a:ext uri="{FF2B5EF4-FFF2-40B4-BE49-F238E27FC236}">
                <a16:creationId xmlns:a16="http://schemas.microsoft.com/office/drawing/2014/main" id="{BFB8DBE0-3CB9-442F-A709-D186682B6D14}"/>
              </a:ext>
            </a:extLst>
          </p:cNvPr>
          <p:cNvSpPr>
            <a:spLocks noGrp="1"/>
          </p:cNvSpPr>
          <p:nvPr>
            <p:ph type="title"/>
          </p:nvPr>
        </p:nvSpPr>
        <p:spPr>
          <a:xfrm>
            <a:off x="838200" y="365125"/>
            <a:ext cx="10515600" cy="1325563"/>
          </a:xfrm>
        </p:spPr>
        <p:txBody>
          <a:bodyPr>
            <a:normAutofit/>
          </a:bodyPr>
          <a:lstStyle/>
          <a:p>
            <a:r>
              <a:rPr lang="en-IN" sz="3600" dirty="0">
                <a:solidFill>
                  <a:schemeClr val="tx1"/>
                </a:solidFill>
                <a:latin typeface="Century" panose="02040604050505020304" pitchFamily="18" charset="0"/>
              </a:rPr>
              <a:t>The Reparameterization Trick</a:t>
            </a:r>
          </a:p>
        </p:txBody>
      </p:sp>
    </p:spTree>
    <p:extLst>
      <p:ext uri="{BB962C8B-B14F-4D97-AF65-F5344CB8AC3E}">
        <p14:creationId xmlns:p14="http://schemas.microsoft.com/office/powerpoint/2010/main" val="3978823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AF49A-7DD9-408B-AC39-9ADB33C62584}"/>
              </a:ext>
            </a:extLst>
          </p:cNvPr>
          <p:cNvSpPr>
            <a:spLocks noGrp="1"/>
          </p:cNvSpPr>
          <p:nvPr>
            <p:ph type="title"/>
          </p:nvPr>
        </p:nvSpPr>
        <p:spPr/>
        <p:txBody>
          <a:bodyPr>
            <a:normAutofit/>
          </a:bodyPr>
          <a:lstStyle/>
          <a:p>
            <a:r>
              <a:rPr lang="en-IN" sz="3200" dirty="0">
                <a:solidFill>
                  <a:schemeClr val="tx1"/>
                </a:solidFill>
                <a:latin typeface="Century" panose="02040604050505020304" pitchFamily="18" charset="0"/>
              </a:rPr>
              <a:t>Why KL Divergence is used in VAE Loss?</a:t>
            </a:r>
          </a:p>
        </p:txBody>
      </p:sp>
      <p:sp>
        <p:nvSpPr>
          <p:cNvPr id="3" name="Content Placeholder 2">
            <a:extLst>
              <a:ext uri="{FF2B5EF4-FFF2-40B4-BE49-F238E27FC236}">
                <a16:creationId xmlns:a16="http://schemas.microsoft.com/office/drawing/2014/main" id="{7775CBC8-59AF-487E-9FB5-140982E133CF}"/>
              </a:ext>
            </a:extLst>
          </p:cNvPr>
          <p:cNvSpPr>
            <a:spLocks noGrp="1"/>
          </p:cNvSpPr>
          <p:nvPr>
            <p:ph idx="1"/>
          </p:nvPr>
        </p:nvSpPr>
        <p:spPr/>
        <p:txBody>
          <a:bodyPr/>
          <a:lstStyle/>
          <a:p>
            <a:r>
              <a:rPr lang="en-US" dirty="0">
                <a:latin typeface="Arial Narrow" panose="020B0606020202030204" pitchFamily="34" charset="0"/>
                <a:cs typeface="Times New Roman" panose="02020603050405020304" pitchFamily="18" charset="0"/>
              </a:rPr>
              <a:t>Regularizes latent space</a:t>
            </a:r>
          </a:p>
          <a:p>
            <a:endParaRPr lang="en-US" dirty="0">
              <a:latin typeface="Arial Narrow" panose="020B0606020202030204" pitchFamily="34" charset="0"/>
              <a:cs typeface="Times New Roman" panose="02020603050405020304" pitchFamily="18" charset="0"/>
            </a:endParaRPr>
          </a:p>
          <a:p>
            <a:r>
              <a:rPr lang="en-US" dirty="0">
                <a:latin typeface="Arial Narrow" panose="020B0606020202030204" pitchFamily="34" charset="0"/>
                <a:cs typeface="Times New Roman" panose="02020603050405020304" pitchFamily="18" charset="0"/>
              </a:rPr>
              <a:t>Prevents overfitting</a:t>
            </a:r>
          </a:p>
          <a:p>
            <a:endParaRPr lang="en-US" dirty="0">
              <a:latin typeface="Arial Narrow" panose="020B0606020202030204" pitchFamily="34" charset="0"/>
              <a:cs typeface="Times New Roman" panose="02020603050405020304" pitchFamily="18" charset="0"/>
            </a:endParaRPr>
          </a:p>
          <a:p>
            <a:r>
              <a:rPr lang="en-US" dirty="0">
                <a:latin typeface="Arial Narrow" panose="020B0606020202030204" pitchFamily="34" charset="0"/>
                <a:cs typeface="Times New Roman" panose="02020603050405020304" pitchFamily="18" charset="0"/>
              </a:rPr>
              <a:t>Ensures smooth interpolation</a:t>
            </a:r>
          </a:p>
          <a:p>
            <a:endParaRPr lang="en-US" dirty="0">
              <a:latin typeface="Arial Narrow" panose="020B0606020202030204" pitchFamily="34" charset="0"/>
              <a:cs typeface="Times New Roman" panose="02020603050405020304" pitchFamily="18" charset="0"/>
            </a:endParaRPr>
          </a:p>
          <a:p>
            <a:r>
              <a:rPr lang="en-US" dirty="0">
                <a:latin typeface="Arial Narrow" panose="020B0606020202030204" pitchFamily="34" charset="0"/>
                <a:cs typeface="Times New Roman" panose="02020603050405020304" pitchFamily="18" charset="0"/>
              </a:rPr>
              <a:t>Makes sampling possible</a:t>
            </a:r>
            <a:endParaRPr lang="en-IN"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3754192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82CD5-CAAC-4CBD-9F9A-273A76C5A572}"/>
              </a:ext>
            </a:extLst>
          </p:cNvPr>
          <p:cNvSpPr>
            <a:spLocks noGrp="1"/>
          </p:cNvSpPr>
          <p:nvPr>
            <p:ph type="title"/>
          </p:nvPr>
        </p:nvSpPr>
        <p:spPr/>
        <p:txBody>
          <a:bodyPr>
            <a:normAutofit/>
          </a:bodyPr>
          <a:lstStyle/>
          <a:p>
            <a:r>
              <a:rPr lang="en-IN" sz="3200" dirty="0">
                <a:solidFill>
                  <a:schemeClr val="tx1"/>
                </a:solidFill>
                <a:latin typeface="Century" panose="02040604050505020304" pitchFamily="18" charset="0"/>
              </a:rPr>
              <a:t>Applications</a:t>
            </a:r>
          </a:p>
        </p:txBody>
      </p:sp>
      <p:sp>
        <p:nvSpPr>
          <p:cNvPr id="3" name="Content Placeholder 2">
            <a:extLst>
              <a:ext uri="{FF2B5EF4-FFF2-40B4-BE49-F238E27FC236}">
                <a16:creationId xmlns:a16="http://schemas.microsoft.com/office/drawing/2014/main" id="{75EDFAF8-7243-4AD0-9E47-7E6191241B13}"/>
              </a:ext>
            </a:extLst>
          </p:cNvPr>
          <p:cNvSpPr>
            <a:spLocks noGrp="1"/>
          </p:cNvSpPr>
          <p:nvPr>
            <p:ph idx="1"/>
          </p:nvPr>
        </p:nvSpPr>
        <p:spPr/>
        <p:txBody>
          <a:bodyPr>
            <a:normAutofit lnSpcReduction="10000"/>
          </a:bodyPr>
          <a:lstStyle/>
          <a:p>
            <a:r>
              <a:rPr lang="en-US" dirty="0">
                <a:latin typeface="Arial Narrow" panose="020B0606020202030204" pitchFamily="34" charset="0"/>
                <a:cs typeface="Times New Roman" panose="02020603050405020304" pitchFamily="18" charset="0"/>
              </a:rPr>
              <a:t>Image generation</a:t>
            </a:r>
          </a:p>
          <a:p>
            <a:endParaRPr lang="en-US" dirty="0">
              <a:latin typeface="Arial Narrow" panose="020B0606020202030204" pitchFamily="34" charset="0"/>
              <a:cs typeface="Times New Roman" panose="02020603050405020304" pitchFamily="18" charset="0"/>
            </a:endParaRPr>
          </a:p>
          <a:p>
            <a:r>
              <a:rPr lang="en-US" dirty="0">
                <a:latin typeface="Arial Narrow" panose="020B0606020202030204" pitchFamily="34" charset="0"/>
                <a:cs typeface="Times New Roman" panose="02020603050405020304" pitchFamily="18" charset="0"/>
              </a:rPr>
              <a:t>Anomaly detection</a:t>
            </a:r>
          </a:p>
          <a:p>
            <a:endParaRPr lang="en-US" dirty="0">
              <a:latin typeface="Arial Narrow" panose="020B0606020202030204" pitchFamily="34" charset="0"/>
              <a:cs typeface="Times New Roman" panose="02020603050405020304" pitchFamily="18" charset="0"/>
            </a:endParaRPr>
          </a:p>
          <a:p>
            <a:r>
              <a:rPr lang="en-US" dirty="0">
                <a:latin typeface="Arial Narrow" panose="020B0606020202030204" pitchFamily="34" charset="0"/>
                <a:cs typeface="Times New Roman" panose="02020603050405020304" pitchFamily="18" charset="0"/>
              </a:rPr>
              <a:t>Drug discovery</a:t>
            </a:r>
          </a:p>
          <a:p>
            <a:endParaRPr lang="en-US" dirty="0">
              <a:latin typeface="Arial Narrow" panose="020B0606020202030204" pitchFamily="34" charset="0"/>
              <a:cs typeface="Times New Roman" panose="02020603050405020304" pitchFamily="18" charset="0"/>
            </a:endParaRPr>
          </a:p>
          <a:p>
            <a:r>
              <a:rPr lang="en-US" dirty="0">
                <a:latin typeface="Arial Narrow" panose="020B0606020202030204" pitchFamily="34" charset="0"/>
                <a:cs typeface="Times New Roman" panose="02020603050405020304" pitchFamily="18" charset="0"/>
              </a:rPr>
              <a:t>Representation learning</a:t>
            </a:r>
          </a:p>
          <a:p>
            <a:endParaRPr lang="en-US" dirty="0">
              <a:latin typeface="Arial Narrow" panose="020B0606020202030204" pitchFamily="34" charset="0"/>
              <a:cs typeface="Times New Roman" panose="02020603050405020304" pitchFamily="18" charset="0"/>
            </a:endParaRPr>
          </a:p>
          <a:p>
            <a:r>
              <a:rPr lang="en-US" dirty="0">
                <a:latin typeface="Arial Narrow" panose="020B0606020202030204" pitchFamily="34" charset="0"/>
                <a:cs typeface="Times New Roman" panose="02020603050405020304" pitchFamily="18" charset="0"/>
              </a:rPr>
              <a:t>Semi-supervised learning</a:t>
            </a:r>
            <a:endParaRPr lang="en-IN"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46116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200"/>
              <a:buFont typeface="Book Antiqua"/>
              <a:buNone/>
            </a:pPr>
            <a:r>
              <a:rPr lang="en-IN" sz="3600" dirty="0">
                <a:solidFill>
                  <a:schemeClr val="tx1"/>
                </a:solidFill>
                <a:latin typeface="Century" panose="02040604050505020304" pitchFamily="18" charset="0"/>
                <a:ea typeface="Book Antiqua"/>
                <a:cs typeface="Book Antiqua"/>
                <a:sym typeface="Book Antiqua"/>
              </a:rPr>
              <a:t>Summary</a:t>
            </a:r>
            <a:endParaRPr sz="3600" dirty="0">
              <a:solidFill>
                <a:schemeClr val="tx1"/>
              </a:solidFill>
              <a:latin typeface="Century" panose="02040604050505020304" pitchFamily="18" charset="0"/>
            </a:endParaRPr>
          </a:p>
        </p:txBody>
      </p:sp>
      <p:sp>
        <p:nvSpPr>
          <p:cNvPr id="93" name="Google Shape;93;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IN" sz="2400" dirty="0">
                <a:latin typeface="Arial Narrow" panose="020B0606020202030204" pitchFamily="34" charset="0"/>
                <a:ea typeface="Times New Roman"/>
                <a:cs typeface="Times New Roman"/>
                <a:sym typeface="Times New Roman"/>
              </a:rPr>
              <a:t>Variational Inference </a:t>
            </a:r>
          </a:p>
          <a:p>
            <a:pPr marL="0" lvl="0" indent="0" algn="l" rtl="0">
              <a:lnSpc>
                <a:spcPct val="90000"/>
              </a:lnSpc>
              <a:spcBef>
                <a:spcPts val="0"/>
              </a:spcBef>
              <a:spcAft>
                <a:spcPts val="0"/>
              </a:spcAft>
              <a:buClr>
                <a:schemeClr val="dk1"/>
              </a:buClr>
              <a:buSzPts val="2800"/>
              <a:buNone/>
            </a:pPr>
            <a:endParaRPr lang="en-IN" sz="2400" dirty="0">
              <a:latin typeface="Arial Narrow" panose="020B0606020202030204" pitchFamily="34" charset="0"/>
              <a:ea typeface="Times New Roman"/>
              <a:cs typeface="Times New Roman"/>
              <a:sym typeface="Times New Roman"/>
            </a:endParaRPr>
          </a:p>
          <a:p>
            <a:pPr marL="228600" lvl="0" indent="-228600">
              <a:spcBef>
                <a:spcPts val="0"/>
              </a:spcBef>
              <a:buSzPts val="2800"/>
            </a:pPr>
            <a:r>
              <a:rPr lang="en-IN" sz="2400" dirty="0">
                <a:latin typeface="Arial Narrow" panose="020B0606020202030204" pitchFamily="34" charset="0"/>
                <a:ea typeface="Times New Roman"/>
                <a:cs typeface="Times New Roman"/>
                <a:sym typeface="Times New Roman"/>
              </a:rPr>
              <a:t>Evidence Lower Bound (ELBO)</a:t>
            </a:r>
          </a:p>
          <a:p>
            <a:pPr marL="228600" lvl="0" indent="-228600">
              <a:spcBef>
                <a:spcPts val="0"/>
              </a:spcBef>
              <a:buSzPts val="2800"/>
            </a:pPr>
            <a:endParaRPr lang="en-IN" sz="2400" dirty="0">
              <a:latin typeface="Arial Narrow" panose="020B0606020202030204" pitchFamily="34" charset="0"/>
              <a:ea typeface="Times New Roman"/>
              <a:cs typeface="Times New Roman"/>
              <a:sym typeface="Times New Roman"/>
            </a:endParaRPr>
          </a:p>
          <a:p>
            <a:pPr marL="228600" lvl="0" indent="-228600">
              <a:spcBef>
                <a:spcPts val="0"/>
              </a:spcBef>
              <a:buSzPts val="2800"/>
            </a:pPr>
            <a:r>
              <a:rPr lang="en-IN" sz="2400" dirty="0">
                <a:latin typeface="Arial Narrow" panose="020B0606020202030204" pitchFamily="34" charset="0"/>
                <a:ea typeface="Times New Roman"/>
                <a:cs typeface="Times New Roman"/>
                <a:sym typeface="Times New Roman"/>
              </a:rPr>
              <a:t>VAE objective Function</a:t>
            </a:r>
          </a:p>
          <a:p>
            <a:pPr marL="228600" lvl="0" indent="-228600">
              <a:spcBef>
                <a:spcPts val="0"/>
              </a:spcBef>
              <a:buSzPts val="2800"/>
            </a:pPr>
            <a:endParaRPr lang="en-IN" sz="2400" dirty="0">
              <a:latin typeface="Arial Narrow" panose="020B0606020202030204" pitchFamily="34" charset="0"/>
              <a:ea typeface="Times New Roman"/>
              <a:cs typeface="Times New Roman"/>
              <a:sym typeface="Times New Roman"/>
            </a:endParaRPr>
          </a:p>
          <a:p>
            <a:pPr marL="228600" lvl="0" indent="-228600">
              <a:spcBef>
                <a:spcPts val="0"/>
              </a:spcBef>
              <a:buSzPts val="2800"/>
            </a:pPr>
            <a:r>
              <a:rPr lang="en-IN" sz="2400" dirty="0">
                <a:latin typeface="Arial Narrow" panose="020B0606020202030204" pitchFamily="34" charset="0"/>
                <a:ea typeface="Times New Roman"/>
                <a:cs typeface="Times New Roman"/>
                <a:sym typeface="Times New Roman"/>
              </a:rPr>
              <a:t>VAE Loss Function</a:t>
            </a:r>
          </a:p>
          <a:p>
            <a:pPr marL="228600" lvl="0" indent="-228600">
              <a:spcBef>
                <a:spcPts val="0"/>
              </a:spcBef>
              <a:buSzPts val="2800"/>
            </a:pPr>
            <a:endParaRPr lang="en-IN" sz="2400" dirty="0">
              <a:latin typeface="Arial Narrow" panose="020B0606020202030204" pitchFamily="34" charset="0"/>
              <a:ea typeface="Times New Roman"/>
              <a:cs typeface="Times New Roman"/>
              <a:sym typeface="Times New Roman"/>
            </a:endParaRPr>
          </a:p>
          <a:p>
            <a:pPr marL="228600" lvl="0" indent="-228600">
              <a:spcBef>
                <a:spcPts val="0"/>
              </a:spcBef>
              <a:buSzPts val="2800"/>
            </a:pPr>
            <a:r>
              <a:rPr lang="en-IN" sz="2400" dirty="0">
                <a:latin typeface="Arial Narrow" panose="020B0606020202030204" pitchFamily="34" charset="0"/>
                <a:ea typeface="Times New Roman"/>
                <a:cs typeface="Times New Roman"/>
                <a:sym typeface="Times New Roman"/>
              </a:rPr>
              <a:t>ELBO and posterior approximation</a:t>
            </a:r>
          </a:p>
          <a:p>
            <a:pPr marL="228600" lvl="0" indent="-228600">
              <a:spcBef>
                <a:spcPts val="0"/>
              </a:spcBef>
              <a:buSzPts val="2800"/>
            </a:pPr>
            <a:endParaRPr lang="en-IN" sz="2400" dirty="0">
              <a:latin typeface="Arial Narrow" panose="020B0606020202030204" pitchFamily="34" charset="0"/>
              <a:ea typeface="Times New Roman"/>
              <a:cs typeface="Times New Roman"/>
              <a:sym typeface="Times New Roman"/>
            </a:endParaRPr>
          </a:p>
          <a:p>
            <a:pPr marL="228600" lvl="0" indent="-228600">
              <a:spcBef>
                <a:spcPts val="0"/>
              </a:spcBef>
              <a:buSzPts val="2800"/>
            </a:pPr>
            <a:r>
              <a:rPr lang="en-IN" sz="2400" dirty="0">
                <a:latin typeface="Arial Narrow" panose="020B0606020202030204" pitchFamily="34" charset="0"/>
                <a:ea typeface="Times New Roman"/>
                <a:cs typeface="Times New Roman"/>
                <a:sym typeface="Times New Roman"/>
              </a:rPr>
              <a:t>The Reparameterization Trick</a:t>
            </a:r>
          </a:p>
          <a:p>
            <a:pPr marL="228600" lvl="0" indent="-228600">
              <a:spcBef>
                <a:spcPts val="0"/>
              </a:spcBef>
              <a:buSzPts val="2800"/>
            </a:pPr>
            <a:endParaRPr lang="en-IN" sz="2400" dirty="0">
              <a:latin typeface="Arial Narrow" panose="020B0606020202030204" pitchFamily="34" charset="0"/>
              <a:ea typeface="Times New Roman"/>
              <a:cs typeface="Times New Roman"/>
              <a:sym typeface="Times New Roman"/>
            </a:endParaRPr>
          </a:p>
          <a:p>
            <a:pPr marL="228600" lvl="0" indent="-228600">
              <a:spcBef>
                <a:spcPts val="0"/>
              </a:spcBef>
              <a:buSzPts val="2800"/>
            </a:pPr>
            <a:r>
              <a:rPr lang="en-IN" sz="2400" dirty="0">
                <a:latin typeface="Arial Narrow" panose="020B0606020202030204" pitchFamily="34" charset="0"/>
                <a:ea typeface="Times New Roman"/>
                <a:cs typeface="Times New Roman"/>
                <a:sym typeface="Times New Roman"/>
              </a:rPr>
              <a:t>Vision Applications</a:t>
            </a:r>
          </a:p>
          <a:p>
            <a:pPr marL="228600" lvl="0" indent="-228600">
              <a:spcBef>
                <a:spcPts val="0"/>
              </a:spcBef>
              <a:buSzPts val="2800"/>
            </a:pPr>
            <a:endParaRPr lang="en-IN" sz="2400" dirty="0">
              <a:latin typeface="Arial Narrow" panose="020B0606020202030204" pitchFamily="34" charset="0"/>
              <a:ea typeface="Times New Roman"/>
              <a:cs typeface="Times New Roman"/>
              <a:sym typeface="Times New Roman"/>
            </a:endParaRPr>
          </a:p>
          <a:p>
            <a:pPr marL="228600" lvl="0" indent="-228600">
              <a:spcBef>
                <a:spcPts val="0"/>
              </a:spcBef>
              <a:buSzPts val="2800"/>
            </a:pPr>
            <a:endParaRPr lang="en-IN" sz="2400" dirty="0">
              <a:latin typeface="Arial Narrow" panose="020B0606020202030204" pitchFamily="34" charset="0"/>
              <a:ea typeface="Times New Roman"/>
              <a:cs typeface="Times New Roman"/>
              <a:sym typeface="Times New Roman"/>
            </a:endParaRPr>
          </a:p>
          <a:p>
            <a:pPr marL="228600" lvl="0" indent="-228600" algn="l" rtl="0">
              <a:lnSpc>
                <a:spcPct val="90000"/>
              </a:lnSpc>
              <a:spcBef>
                <a:spcPts val="0"/>
              </a:spcBef>
              <a:spcAft>
                <a:spcPts val="0"/>
              </a:spcAft>
              <a:buClr>
                <a:schemeClr val="dk1"/>
              </a:buClr>
              <a:buSzPts val="2800"/>
              <a:buChar char="•"/>
            </a:pPr>
            <a:endParaRPr sz="2400" dirty="0">
              <a:latin typeface="Arial Narrow" panose="020B0606020202030204" pitchFamily="34" charset="0"/>
            </a:endParaRPr>
          </a:p>
          <a:p>
            <a:pPr marL="228600" lvl="0" indent="-50800" algn="l" rtl="0">
              <a:lnSpc>
                <a:spcPct val="90000"/>
              </a:lnSpc>
              <a:spcBef>
                <a:spcPts val="1000"/>
              </a:spcBef>
              <a:spcAft>
                <a:spcPts val="0"/>
              </a:spcAft>
              <a:buClr>
                <a:schemeClr val="dk1"/>
              </a:buClr>
              <a:buSzPts val="2800"/>
              <a:buNone/>
            </a:pPr>
            <a:endParaRPr dirty="0">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dirty="0"/>
          </a:p>
        </p:txBody>
      </p:sp>
    </p:spTree>
    <p:extLst>
      <p:ext uri="{BB962C8B-B14F-4D97-AF65-F5344CB8AC3E}">
        <p14:creationId xmlns:p14="http://schemas.microsoft.com/office/powerpoint/2010/main" val="4159214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1742339"/>
            <a:ext cx="9144000" cy="2387600"/>
          </a:xfrm>
        </p:spPr>
        <p:txBody>
          <a:bodyPr>
            <a:normAutofit/>
          </a:bodyPr>
          <a:lstStyle/>
          <a:p>
            <a:r>
              <a:rPr lang="en-US" sz="4000" dirty="0">
                <a:solidFill>
                  <a:srgbClr val="002060"/>
                </a:solidFill>
                <a:latin typeface="Arial Narrow" panose="020B0606020202030204" pitchFamily="34" charset="0"/>
              </a:rPr>
              <a:t>Diffusion Models</a:t>
            </a:r>
            <a:br>
              <a:rPr lang="en-IN" sz="4000" dirty="0">
                <a:solidFill>
                  <a:srgbClr val="002060"/>
                </a:solidFill>
                <a:latin typeface="Arial Narrow" panose="020B0606020202030204" pitchFamily="34" charset="0"/>
              </a:rPr>
            </a:b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129939"/>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Next</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Lecture 10: Part 1</a:t>
            </a:r>
          </a:p>
        </p:txBody>
      </p:sp>
    </p:spTree>
    <p:extLst>
      <p:ext uri="{BB962C8B-B14F-4D97-AF65-F5344CB8AC3E}">
        <p14:creationId xmlns:p14="http://schemas.microsoft.com/office/powerpoint/2010/main" val="75728120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1890</TotalTime>
  <Words>1725</Words>
  <Application>Microsoft Office PowerPoint</Application>
  <PresentationFormat>Widescreen</PresentationFormat>
  <Paragraphs>306</Paragraphs>
  <Slides>24</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 Narrow</vt:lpstr>
      <vt:lpstr>Arial</vt:lpstr>
      <vt:lpstr>Book Antiqua</vt:lpstr>
      <vt:lpstr>Cambria Math</vt:lpstr>
      <vt:lpstr>Century</vt:lpstr>
      <vt:lpstr>Calibri</vt:lpstr>
      <vt:lpstr>Times New Roman</vt:lpstr>
      <vt:lpstr>Office Theme</vt:lpstr>
      <vt:lpstr>  Variational Auto-Encoder - II</vt:lpstr>
      <vt:lpstr>Content</vt:lpstr>
      <vt:lpstr>Variational Auto-encoder Problem Formulation</vt:lpstr>
      <vt:lpstr>Variational Inference</vt:lpstr>
      <vt:lpstr>Variational Inference</vt:lpstr>
      <vt:lpstr>Variational Auto-Encoder</vt:lpstr>
      <vt:lpstr>Example: Auto-Encoder</vt:lpstr>
      <vt:lpstr>Example: Variational Auto-Encoder</vt:lpstr>
      <vt:lpstr>Evidence Lower Bound (ELBO)</vt:lpstr>
      <vt:lpstr>Evidence Lower Bound (ELBO)</vt:lpstr>
      <vt:lpstr>Expanding the ELBO</vt:lpstr>
      <vt:lpstr>Expanding the ELBO</vt:lpstr>
      <vt:lpstr>The two components of the VAE objective</vt:lpstr>
      <vt:lpstr>The two components of the VAE objective</vt:lpstr>
      <vt:lpstr>VAE Loss</vt:lpstr>
      <vt:lpstr>VAE Loss</vt:lpstr>
      <vt:lpstr>ELBO and Posterior Approximation</vt:lpstr>
      <vt:lpstr>ELBO and Posterior Approximation</vt:lpstr>
      <vt:lpstr>The Reparameterization Trick</vt:lpstr>
      <vt:lpstr>The Reparameterization Trick</vt:lpstr>
      <vt:lpstr>Why KL Divergence is used in VAE Loss?</vt:lpstr>
      <vt:lpstr>Applications</vt:lpstr>
      <vt:lpstr>Summary</vt:lpstr>
      <vt:lpstr>Diffusion Models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Variational Auto-Encoder - II</dc:title>
  <dc:creator>HP</dc:creator>
  <cp:lastModifiedBy>HP</cp:lastModifiedBy>
  <cp:revision>48</cp:revision>
  <dcterms:created xsi:type="dcterms:W3CDTF">2026-03-04T18:10:11Z</dcterms:created>
  <dcterms:modified xsi:type="dcterms:W3CDTF">2026-09-09T13:22:14Z</dcterms:modified>
</cp:coreProperties>
</file>