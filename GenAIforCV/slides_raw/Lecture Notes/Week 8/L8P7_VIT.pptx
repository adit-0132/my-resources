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56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7" r:id="rId12"/>
    <p:sldId id="298" r:id="rId13"/>
    <p:sldId id="302" r:id="rId14"/>
    <p:sldId id="303" r:id="rId15"/>
    <p:sldId id="299" r:id="rId16"/>
    <p:sldId id="300" r:id="rId17"/>
    <p:sldId id="301" r:id="rId18"/>
    <p:sldId id="296" r:id="rId19"/>
    <p:sldId id="305" r:id="rId20"/>
    <p:sldId id="304" r:id="rId21"/>
    <p:sldId id="306" r:id="rId22"/>
    <p:sldId id="26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74C24-D8B1-49E2-A3B7-B343A216F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2CF455-60C8-4E7A-B75C-72B2275800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E2EFB-C16B-43D8-A615-9EF8464E4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ED7DC-DD3B-4E8A-BA91-3DFD0222B404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225D8-97AD-4109-8261-6B52CFAAC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B55A1-08EA-4C6B-8B08-AC864AA6E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EC55B-DC0E-44EA-85DB-0D9F149BD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710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BF4EC-13CF-4C67-9C43-3B0281BDA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B18B9-B759-4B78-BB16-5A55A81C1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D421E-4659-46C2-B65C-B907A4A05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ED7DC-DD3B-4E8A-BA91-3DFD0222B404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8BBC0-0E05-4220-97F6-B21F53FF4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3EDE3-84EA-4B9C-BEB0-6F7CDFAD5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EC55B-DC0E-44EA-85DB-0D9F149BD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726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3AE3B-3283-49BD-B4C6-8EA9B0EFC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1605B-0541-4336-AD17-FB9B85A9A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F06F3-7FA7-4C85-AEBB-31395F296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ED7DC-DD3B-4E8A-BA91-3DFD0222B404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EB7D5-F9EF-4307-828E-F58863057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246EF-4BB4-41D5-9557-DD664EF2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EC55B-DC0E-44EA-85DB-0D9F149BD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007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81EB6-B723-409F-A42B-FF2B377EB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62EFC-3F4E-4417-98FE-8D2C4CEF5A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7408A4-D646-4E7E-BAF0-ECFC92E96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83C63-26DE-4922-8643-194C58FFC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ED7DC-DD3B-4E8A-BA91-3DFD0222B404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F28EA3-E596-461C-A99C-B816220B8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D8D5E-5B1B-4591-A8CC-69EADEEE0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EC55B-DC0E-44EA-85DB-0D9F149BD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98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0FA4-F3CB-4358-89BE-CA09008BC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127A2-8CDF-4D49-8707-B07542792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474AC-05D5-48BC-8AF3-87192EB72E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A490AA-365D-4913-8105-D8134CFCA2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21BB30-AE0A-4A4C-B6E1-6C901142F8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A6FE41-34FB-403B-961D-E2CD24656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ED7DC-DD3B-4E8A-BA91-3DFD0222B404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7F9CE5-DC34-476E-B6ED-21946B53E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AA6628-B2B6-4BD8-9207-BED06CDD9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EC55B-DC0E-44EA-85DB-0D9F149BD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78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62277-6BA0-4C7A-99FA-D1E94A84B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24F528-E3B5-4946-A197-2042B3334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ED7DC-DD3B-4E8A-BA91-3DFD0222B404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F7B693-E6BB-43A0-9360-BB0F18BCB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7ED774-1DAA-47A0-8B53-DAC5AED83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EC55B-DC0E-44EA-85DB-0D9F149BD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846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44961E-60C5-4FF8-9055-AB7EA32FA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ED7DC-DD3B-4E8A-BA91-3DFD0222B404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8DC6EF-B430-4657-8D5B-3074715CF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45C9B-9325-4639-91EC-0113B5B90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EC55B-DC0E-44EA-85DB-0D9F149BD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456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689-FCBD-444A-8422-63ED0640F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67735-5BD1-48C8-AA71-FB43FC847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86077A-77BC-4599-A275-2F03D684AE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0CE16-78FF-4DC9-ACB1-618FA6D41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ED7DC-DD3B-4E8A-BA91-3DFD0222B404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E31377-F5FB-4671-A42C-0B6623FD7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002F3-AC13-45F5-BA58-70952449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EC55B-DC0E-44EA-85DB-0D9F149BD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925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90A3C-016B-415D-90F4-4D303F1ED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F02699-4D23-4BC0-9FAD-B0895A3573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44FA7-7F85-41E2-9F0E-FEFE7000C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982BDD-DC71-43FF-B9BD-B1A8CF792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ED7DC-DD3B-4E8A-BA91-3DFD0222B404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9ABC5-ED20-4EC6-8F10-FF12C27B6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9C440-A6B8-471F-B2E2-B743A0BD6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EC55B-DC0E-44EA-85DB-0D9F149BD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22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EC222-83BA-40F7-88FD-396603A08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E3F8A-ADCA-476C-AFB0-18703CBFB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89041-8FBB-4052-AC86-C1EDF949C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ED7DC-DD3B-4E8A-BA91-3DFD0222B404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DEF79-65B1-4C10-97A3-FD26F84C8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C140B-10C0-4B3E-A021-86C18975B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EC55B-DC0E-44EA-85DB-0D9F149BD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217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A6250B-A80A-400F-9CA2-966563BA77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73CFC1-DB33-417D-8C72-C54AA3D04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30BAA-72C3-4E7C-841C-312D53120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ED7DC-DD3B-4E8A-BA91-3DFD0222B404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4D28-3FA5-43D0-8199-52881F80D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9BF1F-B6A4-45D3-8CF5-B380285A6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EC55B-DC0E-44EA-85DB-0D9F149BD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28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6395DD-6A9D-4BCF-AE56-5457F80C9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939AD-3CA7-48B4-A849-6DC0A4979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E3786-94D6-45F6-B141-F5CA5E6B1E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ED7DC-DD3B-4E8A-BA91-3DFD0222B404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B7EE1-1593-4605-9CE8-E25812E0A1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98E8E-89F4-46BC-ABB5-AE42A91C0D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EC55B-DC0E-44EA-85DB-0D9F149BD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89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2856321"/>
            <a:ext cx="9144000" cy="942001"/>
          </a:xfrm>
        </p:spPr>
        <p:txBody>
          <a:bodyPr>
            <a:normAutofit fontScale="90000"/>
          </a:bodyPr>
          <a:lstStyle/>
          <a:p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Vision </a:t>
            </a:r>
            <a:r>
              <a:rPr lang="en-US" sz="4000" dirty="0">
                <a:solidFill>
                  <a:srgbClr val="00206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Transformers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82425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8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Part 7</a:t>
            </a:r>
          </a:p>
        </p:txBody>
      </p:sp>
    </p:spTree>
    <p:extLst>
      <p:ext uri="{BB962C8B-B14F-4D97-AF65-F5344CB8AC3E}">
        <p14:creationId xmlns:p14="http://schemas.microsoft.com/office/powerpoint/2010/main" val="250492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AD168C-BD49-4FE9-AFC1-346D79EE8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Content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6E2E88-EB25-4A70-A20C-048C790B9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Arial Narrow" panose="020B0606020202030204" pitchFamily="34" charset="0"/>
              </a:rPr>
              <a:t>Vision Transformer</a:t>
            </a:r>
          </a:p>
          <a:p>
            <a:r>
              <a:rPr lang="en-US" dirty="0" err="1">
                <a:latin typeface="Arial Narrow" panose="020B0606020202030204" pitchFamily="34" charset="0"/>
              </a:rPr>
              <a:t>DEtection</a:t>
            </a:r>
            <a:r>
              <a:rPr lang="en-US" dirty="0">
                <a:latin typeface="Arial Narrow" panose="020B0606020202030204" pitchFamily="34" charset="0"/>
              </a:rPr>
              <a:t> </a:t>
            </a:r>
            <a:r>
              <a:rPr lang="en-US" dirty="0" err="1">
                <a:latin typeface="Arial Narrow" panose="020B0606020202030204" pitchFamily="34" charset="0"/>
              </a:rPr>
              <a:t>TRansformer</a:t>
            </a:r>
            <a:r>
              <a:rPr lang="en-US" dirty="0">
                <a:latin typeface="Arial Narrow" panose="020B0606020202030204" pitchFamily="34" charset="0"/>
              </a:rPr>
              <a:t> (DETR)</a:t>
            </a:r>
          </a:p>
          <a:p>
            <a:r>
              <a:rPr lang="en-US" dirty="0">
                <a:latin typeface="Arial Narrow" panose="020B0606020202030204" pitchFamily="34" charset="0"/>
              </a:rPr>
              <a:t>SWIN Transformer</a:t>
            </a:r>
            <a:endParaRPr lang="en-IN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899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08D46-3E1B-422B-84D8-19BEC1C84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Vision Transformers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49593-EADF-4BB0-80B3-3E3EE6621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Vision Transformers (</a:t>
            </a:r>
            <a:r>
              <a:rPr lang="en-US" sz="20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ViTs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) </a:t>
            </a:r>
            <a:r>
              <a:rPr lang="en-US" sz="2000" dirty="0">
                <a:latin typeface="Arial Narrow" panose="020B0606020202030204" pitchFamily="34" charset="0"/>
              </a:rPr>
              <a:t>are a type of Transformer architecture designed specifically for computer vision tasks.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Unlike traditional CNNs, which process images using convolutional filters, a Vision Transformer divides an image into small, fixed-size 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patches</a:t>
            </a:r>
            <a:r>
              <a:rPr lang="en-US" sz="2000" dirty="0">
                <a:latin typeface="Arial Narrow" panose="020B0606020202030204" pitchFamily="34" charset="0"/>
              </a:rPr>
              <a:t> and treats these patches as a sequence of tokens, similar to words in a sentence.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Each image patch is converted into an embedding, and 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positional embeddings</a:t>
            </a:r>
            <a:r>
              <a:rPr lang="en-US" sz="2000" dirty="0">
                <a:latin typeface="Arial Narrow" panose="020B0606020202030204" pitchFamily="34" charset="0"/>
              </a:rPr>
              <a:t> are added to preserve information about the location of each patch.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These embeddings are then passed through Transformer encoder layers, where 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self-attention</a:t>
            </a:r>
            <a:r>
              <a:rPr lang="en-US" sz="2000" dirty="0">
                <a:latin typeface="Arial Narrow" panose="020B0606020202030204" pitchFamily="34" charset="0"/>
              </a:rPr>
              <a:t> allows the model to learn relationships between different parts of the image. </a:t>
            </a:r>
            <a:endParaRPr lang="en-IN" sz="20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887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F7301-2627-409A-9B3E-5401FDC85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Century" panose="02040604050505020304" pitchFamily="18" charset="0"/>
              </a:rPr>
              <a:t>Vision Transformers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85BAD-A6FF-4EBB-878F-FBFE09F4A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For example, when recognizing a dog, the model can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relate patches containing the dog's face, body, and legs even when they are far apart in the image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The final representation can be used for tasks such as 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image classification, object detection, and image segmentation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Vision Transformers have become an important alternative to CNNs because their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self-attention mechanism enables</a:t>
            </a:r>
            <a:r>
              <a:rPr lang="en-US" sz="2000" dirty="0">
                <a:latin typeface="Arial Narrow" panose="020B0606020202030204" pitchFamily="34" charset="0"/>
              </a:rPr>
              <a:t> them to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capture global relationships </a:t>
            </a:r>
            <a:r>
              <a:rPr lang="en-US" sz="2000" dirty="0">
                <a:latin typeface="Arial Narrow" panose="020B0606020202030204" pitchFamily="34" charset="0"/>
              </a:rPr>
              <a:t>within an image effectively.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03909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D98F1-EE9A-4A3A-82A1-5D2B97E6F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Patch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C28BB-B978-43F0-B770-64E166B2F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87416" cy="4351338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Vision Transformer </a:t>
            </a:r>
            <a:r>
              <a:rPr lang="en-US" sz="2000" dirty="0">
                <a:latin typeface="Arial Narrow" panose="020B0606020202030204" pitchFamily="34" charset="0"/>
              </a:rPr>
              <a:t>(</a:t>
            </a:r>
            <a:r>
              <a:rPr lang="en-US" sz="2000" dirty="0" err="1">
                <a:latin typeface="Arial Narrow" panose="020B0606020202030204" pitchFamily="34" charset="0"/>
              </a:rPr>
              <a:t>ViT</a:t>
            </a:r>
            <a:r>
              <a:rPr lang="en-US" sz="2000" dirty="0">
                <a:latin typeface="Arial Narrow" panose="020B0606020202030204" pitchFamily="34" charset="0"/>
              </a:rPr>
              <a:t>) is a Transformer-based architecture mainly used for image classification tasks. </a:t>
            </a:r>
          </a:p>
          <a:p>
            <a:pPr marL="0" indent="0" algn="just">
              <a:buNone/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 err="1">
                <a:latin typeface="Arial Narrow" panose="020B0606020202030204" pitchFamily="34" charset="0"/>
              </a:rPr>
              <a:t>ViT</a:t>
            </a:r>
            <a:r>
              <a:rPr lang="en-US" sz="2000" dirty="0">
                <a:latin typeface="Arial Narrow" panose="020B0606020202030204" pitchFamily="34" charset="0"/>
              </a:rPr>
              <a:t> uses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encoder part of the Transformer architecture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Instead of processing the entire image directly, </a:t>
            </a:r>
            <a:r>
              <a:rPr lang="en-US" sz="2000" dirty="0" err="1">
                <a:latin typeface="Arial Narrow" panose="020B0606020202030204" pitchFamily="34" charset="0"/>
              </a:rPr>
              <a:t>ViT</a:t>
            </a:r>
            <a:r>
              <a:rPr lang="en-US" sz="2000" dirty="0">
                <a:latin typeface="Arial Narrow" panose="020B0606020202030204" pitchFamily="34" charset="0"/>
              </a:rPr>
              <a:t> divides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image into several small, fixed-size patches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Each patch is converted into a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numerical representation called an embedding</a:t>
            </a:r>
            <a:r>
              <a:rPr lang="en-US" sz="2000" dirty="0">
                <a:latin typeface="Arial Narrow" panose="020B0606020202030204" pitchFamily="34" charset="0"/>
              </a:rPr>
              <a:t>, and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positional information is added to indicate the location of each patch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2EB963-F15C-4704-97EE-FC6FEF94F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616" y="1825625"/>
            <a:ext cx="5427431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824D3E-37FC-4A0E-9378-87E7AEF12D1B}"/>
              </a:ext>
            </a:extLst>
          </p:cNvPr>
          <p:cNvSpPr txBox="1"/>
          <p:nvPr/>
        </p:nvSpPr>
        <p:spPr>
          <a:xfrm>
            <a:off x="3594848" y="6492875"/>
            <a:ext cx="7964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Alexey </a:t>
            </a:r>
            <a:r>
              <a:rPr lang="en-US" sz="12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Dosovitskiy</a:t>
            </a:r>
            <a:r>
              <a:rPr lang="en-US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 et. al. AN IMAGE IS WORTH 16X16 WORDS: TRANSFORMERS FOR IMAGE RECOGNITION AT SCALE, ICLR 2021</a:t>
            </a:r>
            <a:endParaRPr lang="en-IN" sz="12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301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467AB-2338-424A-9108-556BBA92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77753" cy="4351338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Arial Narrow" panose="020B0606020202030204" pitchFamily="34" charset="0"/>
              </a:rPr>
              <a:t>These patch embeddings are then provided as a sequence of inputs to the Transformer encoder. </a:t>
            </a:r>
          </a:p>
          <a:p>
            <a:pPr algn="just"/>
            <a:endParaRPr lang="en-US" sz="2200" dirty="0">
              <a:latin typeface="Arial Narrow" panose="020B0606020202030204" pitchFamily="34" charset="0"/>
            </a:endParaRPr>
          </a:p>
          <a:p>
            <a:pPr algn="just"/>
            <a:r>
              <a:rPr lang="en-US" sz="2200" dirty="0">
                <a:latin typeface="Arial Narrow" panose="020B0606020202030204" pitchFamily="34" charset="0"/>
              </a:rPr>
              <a:t>The self-attention mechanism allows the model to learn relationships between different patches and understand the overall context of the image. </a:t>
            </a:r>
          </a:p>
          <a:p>
            <a:pPr algn="just"/>
            <a:endParaRPr lang="en-US" sz="2200" dirty="0">
              <a:latin typeface="Arial Narrow" panose="020B0606020202030204" pitchFamily="34" charset="0"/>
            </a:endParaRPr>
          </a:p>
          <a:p>
            <a:pPr algn="just"/>
            <a:r>
              <a:rPr lang="en-US" sz="2200" dirty="0">
                <a:latin typeface="Arial Narrow" panose="020B0606020202030204" pitchFamily="34" charset="0"/>
              </a:rPr>
              <a:t>Finally, the learned representation is used to classify the image into the appropriate category.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AB6A96-C2E7-4415-9A6F-E87472E96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5616" y="1825625"/>
            <a:ext cx="5427431" cy="435133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15E1300-6177-40CA-864D-30F77C0FB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Patch Embedding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B52189-89E8-4923-9655-606000AD9A9A}"/>
              </a:ext>
            </a:extLst>
          </p:cNvPr>
          <p:cNvSpPr txBox="1"/>
          <p:nvPr/>
        </p:nvSpPr>
        <p:spPr>
          <a:xfrm>
            <a:off x="3594848" y="6492875"/>
            <a:ext cx="7964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Alexey </a:t>
            </a:r>
            <a:r>
              <a:rPr lang="en-US" sz="12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Dosovitskiy</a:t>
            </a:r>
            <a:r>
              <a:rPr lang="en-US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 et. al. AN IMAGE IS WORTH 16X16 WORDS: TRANSFORMERS FOR IMAGE RECOGNITION AT SCALE, ICLR 2021</a:t>
            </a:r>
            <a:endParaRPr lang="en-IN" sz="12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1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6AF564-C7F0-44C3-BC9E-2CF48120F0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5718"/>
                <a:ext cx="10515600" cy="4897157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After dividing an image into patches, each patch is 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flattened into a one-dimensional vector</a:t>
                </a:r>
                <a:r>
                  <a:rPr lang="en-US" sz="2000" dirty="0">
                    <a:latin typeface="Arial Narrow" panose="020B0606020202030204" pitchFamily="34" charset="0"/>
                  </a:rPr>
                  <a:t> and then converted into a fixed-size 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D-dimensional embedding</a:t>
                </a:r>
                <a:r>
                  <a:rPr lang="en-US" sz="2000" dirty="0">
                    <a:latin typeface="Arial Narrow" panose="020B0606020202030204" pitchFamily="34" charset="0"/>
                  </a:rPr>
                  <a:t> using a learnable linear transformation.</a:t>
                </a:r>
              </a:p>
              <a:p>
                <a:pPr algn="just"/>
                <a:endParaRPr lang="en-US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For example, suppose each image patch is 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16 × 16 pixels with 3 color channels (RGB)</a:t>
                </a:r>
                <a:r>
                  <a:rPr lang="en-US" sz="2000" dirty="0">
                    <a:latin typeface="Arial Narrow" panose="020B0606020202030204" pitchFamily="34" charset="0"/>
                  </a:rPr>
                  <a:t>. The flattened patch has </a:t>
                </a:r>
                <a14:m>
                  <m:oMath xmlns:m="http://schemas.openxmlformats.org/officeDocument/2006/math"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×16×3=768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 values. </a:t>
                </a:r>
              </a:p>
              <a:p>
                <a:pPr algn="just"/>
                <a:endParaRPr lang="en-US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If the Transformer uses an embedding dimension of D=512, the 768-dimensional vector is projected into a 512-dimensional vector using a learnable weight matrix: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𝑥𝑊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0" indent="0" algn="just">
                  <a:buNone/>
                </a:pPr>
                <a:r>
                  <a:rPr lang="en-US" sz="2000" dirty="0">
                    <a:latin typeface="Arial Narrow" panose="020B0606020202030204" pitchFamily="34" charset="0"/>
                  </a:rPr>
                  <a:t>                        where x  is the flattened patch,  W is the learnable projection matrix, and  b  is a bias term. </a:t>
                </a:r>
              </a:p>
              <a:p>
                <a:pPr algn="just"/>
                <a:endParaRPr lang="en-US" sz="2000" dirty="0">
                  <a:latin typeface="Arial Narrow" panose="020B0606020202030204" pitchFamily="34" charset="0"/>
                </a:endParaRPr>
              </a:p>
              <a:p>
                <a:pPr algn="just"/>
                <a:r>
                  <a:rPr lang="en-US" sz="2000" dirty="0">
                    <a:latin typeface="Arial Narrow" panose="020B0606020202030204" pitchFamily="34" charset="0"/>
                  </a:rPr>
                  <a:t>During training, the model updates W and b through backpropagation so that the resulting patch embeddings contain useful information for the vision task.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6AF564-C7F0-44C3-BC9E-2CF48120F0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5718"/>
                <a:ext cx="10515600" cy="4897157"/>
              </a:xfrm>
              <a:blipFill>
                <a:blip r:embed="rId2"/>
                <a:stretch>
                  <a:fillRect l="-522" t="-1370" r="-5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1DF64C05-26C1-4861-8F44-88DBB8DF5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Patch Embedding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1E1BCC-A420-4B4A-AE1C-D99410C84A0D}"/>
              </a:ext>
            </a:extLst>
          </p:cNvPr>
          <p:cNvSpPr txBox="1"/>
          <p:nvPr/>
        </p:nvSpPr>
        <p:spPr>
          <a:xfrm>
            <a:off x="3594848" y="6492875"/>
            <a:ext cx="7964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Alexey </a:t>
            </a:r>
            <a:r>
              <a:rPr lang="en-US" sz="12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Dosovitskiy</a:t>
            </a:r>
            <a:r>
              <a:rPr lang="en-US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 et. al. AN IMAGE IS WORTH 16X16 WORDS: TRANSFORMERS FOR IMAGE RECOGNITION AT SCALE, ICLR 2021</a:t>
            </a:r>
            <a:endParaRPr lang="en-IN" sz="12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185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7193A0-1B5D-4F60-9F21-606A6FFB6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626" y="3039513"/>
            <a:ext cx="6434351" cy="177453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52BAF82-8613-42FF-BE37-0D68AE7377E7}"/>
              </a:ext>
            </a:extLst>
          </p:cNvPr>
          <p:cNvSpPr/>
          <p:nvPr/>
        </p:nvSpPr>
        <p:spPr>
          <a:xfrm>
            <a:off x="838200" y="1907721"/>
            <a:ext cx="4798426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sz="1200" dirty="0">
              <a:solidFill>
                <a:srgbClr val="000000"/>
              </a:solidFill>
              <a:latin typeface="Malgun Gothic" panose="020B0503020000020004" pitchFamily="34" charset="-127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 Narrow" panose="020B0606020202030204" pitchFamily="34" charset="0"/>
              </a:rPr>
              <a:t>Concatenate the class embedding, which is used to learn the representative characteristics of the entire image.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Arial Narrow" panose="020B0606020202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 Narrow" panose="020B0606020202030204" pitchFamily="34" charset="0"/>
              </a:rPr>
              <a:t>And then add the position embedding that provides positional information.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000" dirty="0">
              <a:latin typeface="Arial Narrow" panose="020B060602020203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Note that the class embedding and position embedding are also learnable.</a:t>
            </a:r>
          </a:p>
          <a:p>
            <a:endParaRPr lang="en-US" dirty="0">
              <a:solidFill>
                <a:srgbClr val="00000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1FB5763-3CA0-4BE5-A4F0-4F6081F4D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Patch Embedding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7D14E2-0789-4F4F-957F-6C5CAB9CFE45}"/>
              </a:ext>
            </a:extLst>
          </p:cNvPr>
          <p:cNvSpPr txBox="1"/>
          <p:nvPr/>
        </p:nvSpPr>
        <p:spPr>
          <a:xfrm>
            <a:off x="3594848" y="6492875"/>
            <a:ext cx="7964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Alexey </a:t>
            </a:r>
            <a:r>
              <a:rPr lang="en-US" sz="12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Dosovitskiy</a:t>
            </a:r>
            <a:r>
              <a:rPr lang="en-US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 et. al. AN IMAGE IS WORTH 16X16 WORDS: TRANSFORMERS FOR IMAGE RECOGNITION AT SCALE, ICLR 2021</a:t>
            </a:r>
            <a:endParaRPr lang="en-IN" sz="12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316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CE869D-61BC-4C89-B390-63F4BD51D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Vision Transformer</a:t>
            </a:r>
            <a:br>
              <a:rPr lang="en-IN" sz="3600" dirty="0">
                <a:latin typeface="Century" panose="02040604050505020304" pitchFamily="18" charset="0"/>
              </a:rPr>
            </a:br>
            <a:r>
              <a:rPr lang="en-IN" sz="2400" dirty="0">
                <a:latin typeface="Century" panose="02040604050505020304" pitchFamily="18" charset="0"/>
              </a:rPr>
              <a:t>Encoder Architecture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FF58B3-A32D-43E0-A315-C9DD8E85F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153401" cy="435133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The Vision Transformer (</a:t>
            </a:r>
            <a:r>
              <a:rPr lang="en-US" sz="2000" dirty="0" err="1">
                <a:latin typeface="Arial Narrow" panose="020B0606020202030204" pitchFamily="34" charset="0"/>
              </a:rPr>
              <a:t>ViT</a:t>
            </a:r>
            <a:r>
              <a:rPr lang="en-US" sz="2000" dirty="0">
                <a:latin typeface="Arial Narrow" panose="020B0606020202030204" pitchFamily="34" charset="0"/>
              </a:rPr>
              <a:t>) is an encoder-only architecture that applies the Transformer encoder mechanism to image representation learning.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Unlike encoder–decoder Transformer models, </a:t>
            </a:r>
            <a:r>
              <a:rPr lang="en-US" sz="2000" dirty="0" err="1">
                <a:latin typeface="Arial Narrow" panose="020B0606020202030204" pitchFamily="34" charset="0"/>
              </a:rPr>
              <a:t>ViT</a:t>
            </a:r>
            <a:r>
              <a:rPr lang="en-US" sz="2000" dirty="0">
                <a:latin typeface="Arial Narrow" panose="020B0606020202030204" pitchFamily="34" charset="0"/>
              </a:rPr>
              <a:t> consists exclusively of a stack of Transformer encoder layers and does not employ a separate decoder network.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The encoder in a Vision Transformer (</a:t>
            </a:r>
            <a:r>
              <a:rPr lang="en-US" sz="2000" dirty="0" err="1">
                <a:latin typeface="Arial Narrow" panose="020B0606020202030204" pitchFamily="34" charset="0"/>
              </a:rPr>
              <a:t>ViT</a:t>
            </a:r>
            <a:r>
              <a:rPr lang="en-US" sz="2000" dirty="0">
                <a:latin typeface="Arial Narrow" panose="020B0606020202030204" pitchFamily="34" charset="0"/>
              </a:rPr>
              <a:t>) is responsible for learning contextual representations from image patches through a sequence of Transformer encoder layers.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Initially, an input image is divided into fixed-size, non-overlapping patches, which are flattened and projected into a latent embedding space.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Positional embeddings are added to these patch embeddings to preserve spatial information that is otherwise absent from the self-attention mechanism. </a:t>
            </a:r>
            <a:endParaRPr lang="en-IN" sz="2000" dirty="0">
              <a:latin typeface="Arial Narrow" panose="020B0606020202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E24D7B-FF36-4C24-AE83-2581844FE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7310" y="1229353"/>
            <a:ext cx="2411099" cy="53442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95DB6D-3B96-427E-B301-49DA237F2B42}"/>
              </a:ext>
            </a:extLst>
          </p:cNvPr>
          <p:cNvSpPr txBox="1"/>
          <p:nvPr/>
        </p:nvSpPr>
        <p:spPr>
          <a:xfrm>
            <a:off x="3594848" y="6492875"/>
            <a:ext cx="7964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Alexey </a:t>
            </a:r>
            <a:r>
              <a:rPr lang="en-US" sz="12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Dosovitskiy</a:t>
            </a:r>
            <a:r>
              <a:rPr lang="en-US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 et. al. AN IMAGE IS WORTH 16X16 WORDS: TRANSFORMERS FOR IMAGE RECOGNITION AT SCALE, ICLR 2021</a:t>
            </a:r>
            <a:endParaRPr lang="en-IN" sz="12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9350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51EA9-B974-4574-A64C-AF183C7C4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60341" cy="435133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Each encoder layer consists primarily of a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Multi-Head Self-Attention (MHSA) </a:t>
            </a:r>
            <a:r>
              <a:rPr lang="en-US" sz="2000" dirty="0">
                <a:latin typeface="Arial Narrow" panose="020B0606020202030204" pitchFamily="34" charset="0"/>
              </a:rPr>
              <a:t>module followed by a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position-wise Multi-Layer Perceptron (MLP)</a:t>
            </a:r>
            <a:r>
              <a:rPr lang="en-US" sz="2000" dirty="0">
                <a:latin typeface="Arial Narrow" panose="020B0606020202030204" pitchFamily="34" charset="0"/>
              </a:rPr>
              <a:t>, with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residual connections and Layer Normalization</a:t>
            </a:r>
            <a:r>
              <a:rPr lang="en-US" sz="2000" dirty="0">
                <a:latin typeface="Arial Narrow" panose="020B0606020202030204" pitchFamily="34" charset="0"/>
              </a:rPr>
              <a:t> applied around these sublayers.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self-attention</a:t>
            </a:r>
            <a:r>
              <a:rPr lang="en-US" sz="2000" dirty="0">
                <a:latin typeface="Arial Narrow" panose="020B0606020202030204" pitchFamily="34" charset="0"/>
              </a:rPr>
              <a:t> mechanism computes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query, key, and value </a:t>
            </a:r>
            <a:r>
              <a:rPr lang="en-US" sz="2000" dirty="0">
                <a:latin typeface="Arial Narrow" panose="020B0606020202030204" pitchFamily="34" charset="0"/>
              </a:rPr>
              <a:t>representations to model relationships between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all image patches, enabling the network to capture both local and long-range dependencies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MLP further transforms the attended features using nonlinear projections, increasing the representational capacity of the model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By stacking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multiple encoder layers</a:t>
            </a:r>
            <a:r>
              <a:rPr lang="en-US" sz="2000" dirty="0">
                <a:latin typeface="Arial Narrow" panose="020B0606020202030204" pitchFamily="34" charset="0"/>
              </a:rPr>
              <a:t>, the Vision Transformer progressively learns hierarchical and globally contextualized visual representations, which can subsequently be used for image classification or other downstream computer vision tasks.</a:t>
            </a:r>
            <a:endParaRPr lang="en-IN" sz="2000" dirty="0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C33ACB2D-1686-430F-8119-02D74392A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Vision Transformer</a:t>
            </a:r>
            <a:br>
              <a:rPr lang="en-IN" sz="3600" dirty="0">
                <a:latin typeface="Century" panose="02040604050505020304" pitchFamily="18" charset="0"/>
              </a:rPr>
            </a:br>
            <a:r>
              <a:rPr lang="en-IN" sz="2400" dirty="0">
                <a:latin typeface="Century" panose="02040604050505020304" pitchFamily="18" charset="0"/>
              </a:rPr>
              <a:t>Encoder Architecture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3E8684-FDD6-4BAB-B5F9-1676F02AB3F6}"/>
              </a:ext>
            </a:extLst>
          </p:cNvPr>
          <p:cNvSpPr txBox="1"/>
          <p:nvPr/>
        </p:nvSpPr>
        <p:spPr>
          <a:xfrm>
            <a:off x="3594848" y="6492875"/>
            <a:ext cx="7964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Alexey </a:t>
            </a:r>
            <a:r>
              <a:rPr lang="en-US" sz="12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Dosovitskiy</a:t>
            </a:r>
            <a:r>
              <a:rPr lang="en-US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 et. al. AN IMAGE IS WORTH 16X16 WORDS: TRANSFORMERS FOR IMAGE RECOGNITION AT SCALE, ICLR 2021</a:t>
            </a:r>
            <a:endParaRPr lang="en-IN" sz="12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9711D35-3A6B-48F8-B821-673C934D2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8482" y="990714"/>
            <a:ext cx="2411099" cy="534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112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54339D4-EFD9-4F14-887A-FBE441FA56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3898" y="2069545"/>
            <a:ext cx="7004709" cy="9694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909934-B337-405F-99E9-C1C657E53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1" y="1435887"/>
            <a:ext cx="2281518" cy="50569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30A105D-CD15-4C4B-A332-65D24D6CD16D}"/>
              </a:ext>
            </a:extLst>
          </p:cNvPr>
          <p:cNvSpPr/>
          <p:nvPr/>
        </p:nvSpPr>
        <p:spPr>
          <a:xfrm>
            <a:off x="3783898" y="3617730"/>
            <a:ext cx="756990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Thus, as an encoder-only model, </a:t>
            </a:r>
            <a:r>
              <a:rPr lang="en-US" sz="2000" dirty="0" err="1">
                <a:latin typeface="Arial Narrow" panose="020B0606020202030204" pitchFamily="34" charset="0"/>
              </a:rPr>
              <a:t>ViT</a:t>
            </a:r>
            <a:r>
              <a:rPr lang="en-US" sz="2000" dirty="0">
                <a:latin typeface="Arial Narrow" panose="020B0606020202030204" pitchFamily="34" charset="0"/>
              </a:rPr>
              <a:t> transforms an input image into a contextualized feature representation without generating an output sequence, making it particularly suitable for image classification, feature extraction, and other vision tasks.</a:t>
            </a:r>
            <a:endParaRPr lang="en-IN" sz="2000" dirty="0">
              <a:latin typeface="Arial Narrow" panose="020B0606020202030204" pitchFamily="34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5E9E40E3-656E-4F42-98B0-EEA892073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Vision Transformer</a:t>
            </a:r>
            <a:br>
              <a:rPr lang="en-IN" sz="3600" dirty="0">
                <a:latin typeface="Century" panose="02040604050505020304" pitchFamily="18" charset="0"/>
              </a:rPr>
            </a:br>
            <a:r>
              <a:rPr lang="en-IN" sz="2400" dirty="0">
                <a:latin typeface="Century" panose="02040604050505020304" pitchFamily="18" charset="0"/>
              </a:rPr>
              <a:t>Encoder Architecture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43D4EC-1572-49BE-AF00-0F8FE86E2E21}"/>
              </a:ext>
            </a:extLst>
          </p:cNvPr>
          <p:cNvSpPr txBox="1"/>
          <p:nvPr/>
        </p:nvSpPr>
        <p:spPr>
          <a:xfrm>
            <a:off x="3594848" y="6492875"/>
            <a:ext cx="7964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Alexey </a:t>
            </a:r>
            <a:r>
              <a:rPr lang="en-US" sz="12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Dosovitskiy</a:t>
            </a:r>
            <a:r>
              <a:rPr lang="en-US" sz="1200" dirty="0">
                <a:latin typeface="Arial Narrow" panose="020B0606020202030204" pitchFamily="34" charset="0"/>
                <a:cs typeface="Times New Roman" panose="02020603050405020304" pitchFamily="18" charset="0"/>
              </a:rPr>
              <a:t> et. al. AN IMAGE IS WORTH 16X16 WORDS: TRANSFORMERS FOR IMAGE RECOGNITION AT SCALE, ICLR 2021</a:t>
            </a:r>
            <a:endParaRPr lang="en-IN" sz="12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707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E878E-2388-4F49-AE6F-0915C40A4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latin typeface="Century" panose="02040604050505020304" pitchFamily="18" charset="0"/>
              </a:rPr>
              <a:t>DEtection</a:t>
            </a:r>
            <a:r>
              <a:rPr lang="en-US" sz="3600" dirty="0">
                <a:latin typeface="Century" panose="02040604050505020304" pitchFamily="18" charset="0"/>
              </a:rPr>
              <a:t> </a:t>
            </a:r>
            <a:r>
              <a:rPr lang="en-US" sz="3600" dirty="0" err="1">
                <a:latin typeface="Century" panose="02040604050505020304" pitchFamily="18" charset="0"/>
              </a:rPr>
              <a:t>TRansformer</a:t>
            </a:r>
            <a:r>
              <a:rPr lang="en-US" sz="3600" dirty="0">
                <a:latin typeface="Century" panose="02040604050505020304" pitchFamily="18" charset="0"/>
              </a:rPr>
              <a:t> (</a:t>
            </a:r>
            <a:r>
              <a:rPr lang="en-US" sz="3600" dirty="0">
                <a:solidFill>
                  <a:srgbClr val="7030A0"/>
                </a:solidFill>
                <a:latin typeface="Century" panose="02040604050505020304" pitchFamily="18" charset="0"/>
              </a:rPr>
              <a:t>DETR</a:t>
            </a:r>
            <a:r>
              <a:rPr lang="en-US" sz="3600" dirty="0">
                <a:latin typeface="Century" panose="02040604050505020304" pitchFamily="18" charset="0"/>
              </a:rPr>
              <a:t>)</a:t>
            </a:r>
            <a:endParaRPr lang="en-IN" sz="3600" dirty="0">
              <a:latin typeface="Century" panose="020406040505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00372-D9D8-4D0F-B51A-A751976AA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755"/>
            <a:ext cx="10515600" cy="4799292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The main ingredients of the new framework, called </a:t>
            </a:r>
            <a:r>
              <a:rPr lang="en-US" sz="20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DE</a:t>
            </a:r>
            <a:r>
              <a:rPr lang="en-US" sz="2000" dirty="0" err="1">
                <a:latin typeface="Arial Narrow" panose="020B0606020202030204" pitchFamily="34" charset="0"/>
              </a:rPr>
              <a:t>tection</a:t>
            </a:r>
            <a:r>
              <a:rPr lang="en-US" sz="2000" dirty="0">
                <a:latin typeface="Arial Narrow" panose="020B0606020202030204" pitchFamily="34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TR</a:t>
            </a:r>
            <a:r>
              <a:rPr lang="en-US" sz="2000" dirty="0" err="1">
                <a:latin typeface="Arial Narrow" panose="020B0606020202030204" pitchFamily="34" charset="0"/>
              </a:rPr>
              <a:t>ansformer</a:t>
            </a:r>
            <a:r>
              <a:rPr lang="en-US" sz="2000" dirty="0">
                <a:latin typeface="Arial Narrow" panose="020B0606020202030204" pitchFamily="34" charset="0"/>
              </a:rPr>
              <a:t> or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DETR</a:t>
            </a:r>
            <a:r>
              <a:rPr lang="en-US" sz="2000" dirty="0">
                <a:latin typeface="Arial Narrow" panose="020B0606020202030204" pitchFamily="34" charset="0"/>
              </a:rPr>
              <a:t>, are a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set-based global loss </a:t>
            </a:r>
            <a:r>
              <a:rPr lang="en-US" sz="2000" dirty="0">
                <a:latin typeface="Arial Narrow" panose="020B0606020202030204" pitchFamily="34" charset="0"/>
              </a:rPr>
              <a:t>that forces unique predictions via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bipartite matching, and a transformer encoder-decoder architecture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Given a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fixed small set of learned object queries</a:t>
            </a:r>
            <a:r>
              <a:rPr lang="en-US" sz="2000" dirty="0">
                <a:latin typeface="Arial Narrow" panose="020B0606020202030204" pitchFamily="34" charset="0"/>
              </a:rPr>
              <a:t>, DETR reasons about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relations of the objects and the global image context</a:t>
            </a:r>
            <a:r>
              <a:rPr lang="en-US" sz="2000" dirty="0">
                <a:latin typeface="Arial Narrow" panose="020B0606020202030204" pitchFamily="34" charset="0"/>
              </a:rPr>
              <a:t> to directly output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final set of predictions in parallel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The new model is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conceptually simple </a:t>
            </a:r>
            <a:r>
              <a:rPr lang="en-US" sz="2000" dirty="0">
                <a:latin typeface="Arial Narrow" panose="020B0606020202030204" pitchFamily="34" charset="0"/>
              </a:rPr>
              <a:t>and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does not require a specialized library</a:t>
            </a:r>
            <a:r>
              <a:rPr lang="en-US" sz="2000" dirty="0">
                <a:latin typeface="Arial Narrow" panose="020B0606020202030204" pitchFamily="34" charset="0"/>
              </a:rPr>
              <a:t>, unlike many other modern detectors.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DETR demonstrates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accuracy and run-time performance </a:t>
            </a:r>
            <a:r>
              <a:rPr lang="en-US" sz="2000" dirty="0">
                <a:latin typeface="Arial Narrow" panose="020B0606020202030204" pitchFamily="34" charset="0"/>
              </a:rPr>
              <a:t>on par with the well-established and highly-optimized Faster RCNN baseline on the challenging COCO object detection dataset.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Moreover, DETR can be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easily generalized to produce panoptic segmentation </a:t>
            </a:r>
            <a:r>
              <a:rPr lang="en-US" sz="2000" dirty="0">
                <a:latin typeface="Arial Narrow" panose="020B0606020202030204" pitchFamily="34" charset="0"/>
              </a:rPr>
              <a:t>in a unified manner.</a:t>
            </a:r>
            <a:endParaRPr lang="en-IN" sz="2000" dirty="0">
              <a:latin typeface="Arial Narrow" panose="020B0606020202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A51C6-0C83-4600-A97D-9BFDC957EACA}"/>
              </a:ext>
            </a:extLst>
          </p:cNvPr>
          <p:cNvSpPr/>
          <p:nvPr/>
        </p:nvSpPr>
        <p:spPr>
          <a:xfrm>
            <a:off x="838200" y="6492875"/>
            <a:ext cx="10986247" cy="284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>
                <a:latin typeface="Arial Narrow" panose="020B0606020202030204" pitchFamily="34" charset="0"/>
              </a:rPr>
              <a:t>Nicolas </a:t>
            </a:r>
            <a:r>
              <a:rPr lang="en-IN" sz="1200" dirty="0" err="1">
                <a:latin typeface="Arial Narrow" panose="020B0606020202030204" pitchFamily="34" charset="0"/>
              </a:rPr>
              <a:t>Carion</a:t>
            </a:r>
            <a:r>
              <a:rPr lang="en-IN" sz="1200" dirty="0">
                <a:latin typeface="Arial Narrow" panose="020B0606020202030204" pitchFamily="34" charset="0"/>
              </a:rPr>
              <a:t> , Francisco Massa , Gabriel </a:t>
            </a:r>
            <a:r>
              <a:rPr lang="en-IN" sz="1200" dirty="0" err="1">
                <a:latin typeface="Arial Narrow" panose="020B0606020202030204" pitchFamily="34" charset="0"/>
              </a:rPr>
              <a:t>Synnaeve</a:t>
            </a:r>
            <a:r>
              <a:rPr lang="en-IN" sz="1200" dirty="0">
                <a:latin typeface="Arial Narrow" panose="020B0606020202030204" pitchFamily="34" charset="0"/>
              </a:rPr>
              <a:t>, Nicolas </a:t>
            </a:r>
            <a:r>
              <a:rPr lang="en-IN" sz="1200" dirty="0" err="1">
                <a:latin typeface="Arial Narrow" panose="020B0606020202030204" pitchFamily="34" charset="0"/>
              </a:rPr>
              <a:t>Usunier</a:t>
            </a:r>
            <a:r>
              <a:rPr lang="en-IN" sz="1200" dirty="0">
                <a:latin typeface="Arial Narrow" panose="020B0606020202030204" pitchFamily="34" charset="0"/>
              </a:rPr>
              <a:t>, Alexander Kirillov, and Sergey </a:t>
            </a:r>
            <a:r>
              <a:rPr lang="en-IN" sz="1200" dirty="0" err="1">
                <a:latin typeface="Arial Narrow" panose="020B0606020202030204" pitchFamily="34" charset="0"/>
              </a:rPr>
              <a:t>Zagoruyko</a:t>
            </a:r>
            <a:r>
              <a:rPr lang="en-IN" sz="1200" dirty="0">
                <a:latin typeface="Arial Narrow" panose="020B0606020202030204" pitchFamily="34" charset="0"/>
              </a:rPr>
              <a:t>, “</a:t>
            </a:r>
            <a:r>
              <a:rPr lang="en-US" sz="1200" dirty="0">
                <a:latin typeface="Arial Narrow" panose="020B0606020202030204" pitchFamily="34" charset="0"/>
              </a:rPr>
              <a:t>End-to-End Object Detection with Transformer”, arXiv:2005.12872 </a:t>
            </a:r>
            <a:endParaRPr lang="en-IN" sz="12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198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66AFE08-38B5-4C59-9963-FFE25FB049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85760"/>
            <a:ext cx="10310727" cy="18600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018BB06-19E3-49F6-9D3B-F702E67DBA1F}"/>
                  </a:ext>
                </a:extLst>
              </p:cNvPr>
              <p:cNvSpPr/>
              <p:nvPr/>
            </p:nvSpPr>
            <p:spPr>
              <a:xfrm>
                <a:off x="838200" y="4140931"/>
                <a:ext cx="10116671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 Narrow" panose="020B0606020202030204" pitchFamily="34" charset="0"/>
                  </a:rPr>
                  <a:t>DETR directly predicts (in parallel) the final set of detections by combining a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common CNN with a transformer architecture</a:t>
                </a:r>
                <a:r>
                  <a:rPr lang="en-US" sz="2000" dirty="0">
                    <a:latin typeface="Arial Narrow" panose="020B0606020202030204" pitchFamily="34" charset="0"/>
                  </a:rPr>
                  <a:t>. 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 Narrow" panose="020B0606020202030204" pitchFamily="34" charset="0"/>
                  </a:rPr>
                  <a:t>During training, </a:t>
                </a:r>
                <a:r>
                  <a:rPr lang="en-US" sz="2000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bipartite matching uniquely assigns predictions </a:t>
                </a:r>
                <a:r>
                  <a:rPr lang="en-US" sz="2000" dirty="0">
                    <a:latin typeface="Arial Narrow" panose="020B0606020202030204" pitchFamily="34" charset="0"/>
                  </a:rPr>
                  <a:t>with ground truth boxes. 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US" sz="2000" dirty="0">
                  <a:latin typeface="Arial Narrow" panose="020B0606020202030204" pitchFamily="34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rial Narrow" panose="020B0606020202030204" pitchFamily="34" charset="0"/>
                  </a:rPr>
                  <a:t>Prediction with no match should yield a “no object"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2000" dirty="0">
                    <a:latin typeface="Arial Narrow" panose="020B0606020202030204" pitchFamily="34" charset="0"/>
                  </a:rPr>
                  <a:t>) class prediction.</a:t>
                </a:r>
                <a:endParaRPr lang="en-IN" sz="2000" dirty="0">
                  <a:latin typeface="Arial Narrow" panose="020B0606020202030204" pitchFamily="34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2018BB06-19E3-49F6-9D3B-F702E67DBA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40931"/>
                <a:ext cx="10116671" cy="1938992"/>
              </a:xfrm>
              <a:prstGeom prst="rect">
                <a:avLst/>
              </a:prstGeom>
              <a:blipFill>
                <a:blip r:embed="rId3"/>
                <a:stretch>
                  <a:fillRect l="-542" t="-1572" r="-603" b="-47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90F3372C-4629-42C6-8501-F96F67CAE292}"/>
              </a:ext>
            </a:extLst>
          </p:cNvPr>
          <p:cNvSpPr/>
          <p:nvPr/>
        </p:nvSpPr>
        <p:spPr>
          <a:xfrm>
            <a:off x="838200" y="6492875"/>
            <a:ext cx="10986247" cy="284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>
                <a:latin typeface="Arial Narrow" panose="020B0606020202030204" pitchFamily="34" charset="0"/>
              </a:rPr>
              <a:t>Nicolas </a:t>
            </a:r>
            <a:r>
              <a:rPr lang="en-IN" sz="1200" dirty="0" err="1">
                <a:latin typeface="Arial Narrow" panose="020B0606020202030204" pitchFamily="34" charset="0"/>
              </a:rPr>
              <a:t>Carion</a:t>
            </a:r>
            <a:r>
              <a:rPr lang="en-IN" sz="1200" dirty="0">
                <a:latin typeface="Arial Narrow" panose="020B0606020202030204" pitchFamily="34" charset="0"/>
              </a:rPr>
              <a:t> , Francisco Massa , Gabriel </a:t>
            </a:r>
            <a:r>
              <a:rPr lang="en-IN" sz="1200" dirty="0" err="1">
                <a:latin typeface="Arial Narrow" panose="020B0606020202030204" pitchFamily="34" charset="0"/>
              </a:rPr>
              <a:t>Synnaeve</a:t>
            </a:r>
            <a:r>
              <a:rPr lang="en-IN" sz="1200" dirty="0">
                <a:latin typeface="Arial Narrow" panose="020B0606020202030204" pitchFamily="34" charset="0"/>
              </a:rPr>
              <a:t>, Nicolas </a:t>
            </a:r>
            <a:r>
              <a:rPr lang="en-IN" sz="1200" dirty="0" err="1">
                <a:latin typeface="Arial Narrow" panose="020B0606020202030204" pitchFamily="34" charset="0"/>
              </a:rPr>
              <a:t>Usunier</a:t>
            </a:r>
            <a:r>
              <a:rPr lang="en-IN" sz="1200" dirty="0">
                <a:latin typeface="Arial Narrow" panose="020B0606020202030204" pitchFamily="34" charset="0"/>
              </a:rPr>
              <a:t>, Alexander Kirillov, and Sergey </a:t>
            </a:r>
            <a:r>
              <a:rPr lang="en-IN" sz="1200" dirty="0" err="1">
                <a:latin typeface="Arial Narrow" panose="020B0606020202030204" pitchFamily="34" charset="0"/>
              </a:rPr>
              <a:t>Zagoruyko</a:t>
            </a:r>
            <a:r>
              <a:rPr lang="en-IN" sz="1200" dirty="0">
                <a:latin typeface="Arial Narrow" panose="020B0606020202030204" pitchFamily="34" charset="0"/>
              </a:rPr>
              <a:t>, “</a:t>
            </a:r>
            <a:r>
              <a:rPr lang="en-US" sz="1200" dirty="0">
                <a:latin typeface="Arial Narrow" panose="020B0606020202030204" pitchFamily="34" charset="0"/>
              </a:rPr>
              <a:t>End-to-End Object Detection with Transformer”, arXiv:2005.12872 </a:t>
            </a:r>
            <a:endParaRPr lang="en-IN" sz="1200" dirty="0">
              <a:latin typeface="Arial Narrow" panose="020B0606020202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BAA6D1-CE82-4061-AFED-253B03A51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Century" panose="02040604050505020304" pitchFamily="18" charset="0"/>
              </a:rPr>
              <a:t>DEtection</a:t>
            </a:r>
            <a:r>
              <a:rPr lang="en-US" sz="3600" dirty="0">
                <a:latin typeface="Century" panose="02040604050505020304" pitchFamily="18" charset="0"/>
              </a:rPr>
              <a:t> </a:t>
            </a:r>
            <a:r>
              <a:rPr lang="en-US" sz="3600" dirty="0" err="1">
                <a:latin typeface="Century" panose="02040604050505020304" pitchFamily="18" charset="0"/>
              </a:rPr>
              <a:t>TRansformer</a:t>
            </a:r>
            <a:r>
              <a:rPr lang="en-US" sz="3600" dirty="0">
                <a:latin typeface="Century" panose="02040604050505020304" pitchFamily="18" charset="0"/>
              </a:rPr>
              <a:t> (</a:t>
            </a:r>
            <a:r>
              <a:rPr lang="en-US" sz="3600" dirty="0">
                <a:solidFill>
                  <a:srgbClr val="7030A0"/>
                </a:solidFill>
                <a:latin typeface="Century" panose="02040604050505020304" pitchFamily="18" charset="0"/>
              </a:rPr>
              <a:t>DETR</a:t>
            </a:r>
            <a:r>
              <a:rPr lang="en-US" sz="3600" dirty="0">
                <a:latin typeface="Century" panose="02040604050505020304" pitchFamily="18" charset="0"/>
              </a:rPr>
              <a:t>)</a:t>
            </a:r>
            <a:endParaRPr lang="en-IN" sz="36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613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58FD35-BB5B-42E3-B6C8-DA0353D65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4757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Century" panose="02040604050505020304" pitchFamily="18" charset="0"/>
              </a:rPr>
              <a:t>DETR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C32C69-78D7-4158-9BB2-779804F4E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1335369"/>
            <a:ext cx="10515599" cy="24477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F27DA0D-DE1D-404F-83D5-C906F80B866D}"/>
                  </a:ext>
                </a:extLst>
              </p:cNvPr>
              <p:cNvSpPr/>
              <p:nvPr/>
            </p:nvSpPr>
            <p:spPr>
              <a:xfrm>
                <a:off x="838200" y="3818593"/>
                <a:ext cx="10851775" cy="25853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 Narrow" panose="020B0606020202030204" pitchFamily="34" charset="0"/>
                  </a:rPr>
                  <a:t>DETR uses a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conventional CNN backbone to learn a 2D representation </a:t>
                </a:r>
                <a:r>
                  <a:rPr lang="en-US" dirty="0">
                    <a:latin typeface="Arial Narrow" panose="020B0606020202030204" pitchFamily="34" charset="0"/>
                  </a:rPr>
                  <a:t>of an input image. </a:t>
                </a: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endParaRPr lang="en-US" dirty="0">
                  <a:latin typeface="Arial Narrow" panose="020B0606020202030204" pitchFamily="34" charset="0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The model attends it and supplements it with a positional encoding </a:t>
                </a:r>
                <a:r>
                  <a:rPr lang="en-US" dirty="0">
                    <a:latin typeface="Arial Narrow" panose="020B0606020202030204" pitchFamily="34" charset="0"/>
                  </a:rPr>
                  <a:t>before passing it into a transformer encoder.</a:t>
                </a:r>
              </a:p>
              <a:p>
                <a:pPr algn="just"/>
                <a:endParaRPr lang="en-US" dirty="0">
                  <a:latin typeface="Arial Narrow" panose="020B060602020203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 Narrow" panose="020B0606020202030204" pitchFamily="34" charset="0"/>
                  </a:rPr>
                  <a:t>A transformer decoder then takes as input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a small fixed number of learned positional embeddings</a:t>
                </a:r>
                <a:r>
                  <a:rPr lang="en-US" dirty="0">
                    <a:latin typeface="Arial Narrow" panose="020B0606020202030204" pitchFamily="34" charset="0"/>
                  </a:rPr>
                  <a:t>, which we call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object queries</a:t>
                </a:r>
                <a:r>
                  <a:rPr lang="en-US" dirty="0">
                    <a:latin typeface="Arial Narrow" panose="020B0606020202030204" pitchFamily="34" charset="0"/>
                  </a:rPr>
                  <a:t>, and additionally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attends to the encoder output</a:t>
                </a:r>
                <a:r>
                  <a:rPr lang="en-US" dirty="0">
                    <a:latin typeface="Arial Narrow" panose="020B0606020202030204" pitchFamily="34" charset="0"/>
                  </a:rPr>
                  <a:t>.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>
                  <a:latin typeface="Arial Narrow" panose="020B060602020203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rial Narrow" panose="020B0606020202030204" pitchFamily="34" charset="0"/>
                  </a:rPr>
                  <a:t>We pass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each output embedding of the decoder to a shared feed forward network (FFN) </a:t>
                </a:r>
                <a:r>
                  <a:rPr lang="en-US" dirty="0">
                    <a:latin typeface="Arial Narrow" panose="020B0606020202030204" pitchFamily="34" charset="0"/>
                  </a:rPr>
                  <a:t>that predicts </a:t>
                </a:r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either a detection (class and bounding box) or a “no object" (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  <a:latin typeface="Arial Narrow" panose="020B0606020202030204" pitchFamily="34" charset="0"/>
                  </a:rPr>
                  <a:t>) class</a:t>
                </a:r>
                <a:r>
                  <a:rPr lang="en-US" dirty="0">
                    <a:latin typeface="Arial Narrow" panose="020B060602020203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F27DA0D-DE1D-404F-83D5-C906F80B86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18593"/>
                <a:ext cx="10851775" cy="2585323"/>
              </a:xfrm>
              <a:prstGeom prst="rect">
                <a:avLst/>
              </a:prstGeom>
              <a:blipFill>
                <a:blip r:embed="rId3"/>
                <a:stretch>
                  <a:fillRect l="-393" t="-941" b="-28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B58DAA4D-30EC-4B59-895C-B8F13B76200D}"/>
              </a:ext>
            </a:extLst>
          </p:cNvPr>
          <p:cNvSpPr/>
          <p:nvPr/>
        </p:nvSpPr>
        <p:spPr>
          <a:xfrm>
            <a:off x="838200" y="6492875"/>
            <a:ext cx="10986247" cy="284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>
                <a:latin typeface="Arial Narrow" panose="020B0606020202030204" pitchFamily="34" charset="0"/>
              </a:rPr>
              <a:t>Nicolas </a:t>
            </a:r>
            <a:r>
              <a:rPr lang="en-IN" sz="1200" dirty="0" err="1">
                <a:latin typeface="Arial Narrow" panose="020B0606020202030204" pitchFamily="34" charset="0"/>
              </a:rPr>
              <a:t>Carion</a:t>
            </a:r>
            <a:r>
              <a:rPr lang="en-IN" sz="1200" dirty="0">
                <a:latin typeface="Arial Narrow" panose="020B0606020202030204" pitchFamily="34" charset="0"/>
              </a:rPr>
              <a:t> , Francisco Massa , Gabriel </a:t>
            </a:r>
            <a:r>
              <a:rPr lang="en-IN" sz="1200" dirty="0" err="1">
                <a:latin typeface="Arial Narrow" panose="020B0606020202030204" pitchFamily="34" charset="0"/>
              </a:rPr>
              <a:t>Synnaeve</a:t>
            </a:r>
            <a:r>
              <a:rPr lang="en-IN" sz="1200" dirty="0">
                <a:latin typeface="Arial Narrow" panose="020B0606020202030204" pitchFamily="34" charset="0"/>
              </a:rPr>
              <a:t>, Nicolas </a:t>
            </a:r>
            <a:r>
              <a:rPr lang="en-IN" sz="1200" dirty="0" err="1">
                <a:latin typeface="Arial Narrow" panose="020B0606020202030204" pitchFamily="34" charset="0"/>
              </a:rPr>
              <a:t>Usunier</a:t>
            </a:r>
            <a:r>
              <a:rPr lang="en-IN" sz="1200" dirty="0">
                <a:latin typeface="Arial Narrow" panose="020B0606020202030204" pitchFamily="34" charset="0"/>
              </a:rPr>
              <a:t>, Alexander Kirillov, and Sergey </a:t>
            </a:r>
            <a:r>
              <a:rPr lang="en-IN" sz="1200" dirty="0" err="1">
                <a:latin typeface="Arial Narrow" panose="020B0606020202030204" pitchFamily="34" charset="0"/>
              </a:rPr>
              <a:t>Zagoruyko</a:t>
            </a:r>
            <a:r>
              <a:rPr lang="en-IN" sz="1200" dirty="0">
                <a:latin typeface="Arial Narrow" panose="020B0606020202030204" pitchFamily="34" charset="0"/>
              </a:rPr>
              <a:t>, “</a:t>
            </a:r>
            <a:r>
              <a:rPr lang="en-US" sz="1200" dirty="0">
                <a:latin typeface="Arial Narrow" panose="020B0606020202030204" pitchFamily="34" charset="0"/>
              </a:rPr>
              <a:t>End-to-End Object Detection with Transformer”, arXiv:2005.12872 </a:t>
            </a:r>
            <a:endParaRPr lang="en-IN" sz="12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086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03469-3D64-4E13-BFA6-164A73A60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DETR (Detection Transformer) is a transformer-based object detection framework designed to perform end-to-end detection while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eliminating the need for traditional components such as anchor boxes and region proposal networks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Unlike conventional object detection methods that rely on multiple handcrafted stages for generating and refining candidate regions, DETR formulates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object detection as a direct set-prediction problem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It predicts a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fixed set of object representations</a:t>
            </a:r>
            <a:r>
              <a:rPr lang="en-US" sz="2000" dirty="0">
                <a:latin typeface="Arial Narrow" panose="020B0606020202030204" pitchFamily="34" charset="0"/>
              </a:rPr>
              <a:t>, including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class labels and bounding-box coordinates</a:t>
            </a:r>
            <a:r>
              <a:rPr lang="en-US" sz="2000" dirty="0">
                <a:latin typeface="Arial Narrow" panose="020B0606020202030204" pitchFamily="34" charset="0"/>
              </a:rPr>
              <a:t>, directly from the input image in a single, unified pipeline. </a:t>
            </a:r>
          </a:p>
          <a:p>
            <a:pPr marL="0" indent="0" algn="just">
              <a:buNone/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This end-to-end formulation simplifies the overall detection architecture </a:t>
            </a:r>
            <a:r>
              <a:rPr lang="en-US" sz="2000" dirty="0">
                <a:latin typeface="Arial Narrow" panose="020B0606020202030204" pitchFamily="34" charset="0"/>
              </a:rPr>
              <a:t>and enables the model to capture relationships between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objects and global image context more effectively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F7DA908-643A-4DA4-A866-2B325A08D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Century" panose="02040604050505020304" pitchFamily="18" charset="0"/>
              </a:rPr>
              <a:t>DEtection</a:t>
            </a:r>
            <a:r>
              <a:rPr lang="en-US" sz="3600" dirty="0">
                <a:latin typeface="Century" panose="02040604050505020304" pitchFamily="18" charset="0"/>
              </a:rPr>
              <a:t> </a:t>
            </a:r>
            <a:r>
              <a:rPr lang="en-US" sz="3600" dirty="0" err="1">
                <a:latin typeface="Century" panose="02040604050505020304" pitchFamily="18" charset="0"/>
              </a:rPr>
              <a:t>TRansformer</a:t>
            </a:r>
            <a:r>
              <a:rPr lang="en-US" sz="3600" dirty="0">
                <a:latin typeface="Century" panose="02040604050505020304" pitchFamily="18" charset="0"/>
              </a:rPr>
              <a:t> (</a:t>
            </a:r>
            <a:r>
              <a:rPr lang="en-US" sz="3600" dirty="0">
                <a:solidFill>
                  <a:srgbClr val="7030A0"/>
                </a:solidFill>
                <a:latin typeface="Century" panose="02040604050505020304" pitchFamily="18" charset="0"/>
              </a:rPr>
              <a:t>DETR</a:t>
            </a:r>
            <a:r>
              <a:rPr lang="en-US" sz="3600" dirty="0">
                <a:latin typeface="Century" panose="02040604050505020304" pitchFamily="18" charset="0"/>
              </a:rPr>
              <a:t>)</a:t>
            </a:r>
            <a:endParaRPr lang="en-IN" sz="36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7624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0AA4D-6BDD-47F4-82F1-28C90165D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The core architecture of DETR consists of a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convolutional backbone followed by a transformer encoder-decoder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en-US" sz="2000" dirty="0">
                <a:latin typeface="Arial Narrow" panose="020B0606020202030204" pitchFamily="34" charset="0"/>
              </a:rPr>
              <a:t> </a:t>
            </a: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backbone extracts visual features from the input image</a:t>
            </a:r>
            <a:r>
              <a:rPr lang="en-US" sz="2000" dirty="0">
                <a:latin typeface="Arial Narrow" panose="020B0606020202030204" pitchFamily="34" charset="0"/>
              </a:rPr>
              <a:t>, which are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subsequently processed by the transformer encoder to model long-range dependencies and global contextual relationships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</a:p>
          <a:p>
            <a:pPr marL="0" indent="0" algn="just">
              <a:buNone/>
            </a:pPr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The decoder then uses a fixed set of learned object queries to generate individual object representations and predict their corresponding class labels and bounding-box coordinates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en-US" sz="2000" dirty="0">
                <a:latin typeface="Arial Narrow" panose="020B0606020202030204" pitchFamily="34" charset="0"/>
              </a:rPr>
              <a:t> </a:t>
            </a: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By combining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visual features with self-attention and cross-attention mechanisms</a:t>
            </a:r>
            <a:r>
              <a:rPr lang="en-US" sz="2000" dirty="0">
                <a:latin typeface="Arial Narrow" panose="020B0606020202030204" pitchFamily="34" charset="0"/>
              </a:rPr>
              <a:t>, DETR can reason about the image globally and produce a set of object predictions without requiring manually designed detection components.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AAAEA17-4708-47F2-89FD-C1B26CE20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Century" panose="02040604050505020304" pitchFamily="18" charset="0"/>
              </a:rPr>
              <a:t>DEtection</a:t>
            </a:r>
            <a:r>
              <a:rPr lang="en-US" sz="3600" dirty="0">
                <a:latin typeface="Century" panose="02040604050505020304" pitchFamily="18" charset="0"/>
              </a:rPr>
              <a:t> </a:t>
            </a:r>
            <a:r>
              <a:rPr lang="en-US" sz="3600" dirty="0" err="1">
                <a:latin typeface="Century" panose="02040604050505020304" pitchFamily="18" charset="0"/>
              </a:rPr>
              <a:t>TRansformer</a:t>
            </a:r>
            <a:r>
              <a:rPr lang="en-US" sz="3600" dirty="0">
                <a:latin typeface="Century" panose="02040604050505020304" pitchFamily="18" charset="0"/>
              </a:rPr>
              <a:t> (</a:t>
            </a:r>
            <a:r>
              <a:rPr lang="en-US" sz="3600" dirty="0">
                <a:solidFill>
                  <a:srgbClr val="7030A0"/>
                </a:solidFill>
                <a:latin typeface="Century" panose="02040604050505020304" pitchFamily="18" charset="0"/>
              </a:rPr>
              <a:t>DETR</a:t>
            </a:r>
            <a:r>
              <a:rPr lang="en-US" sz="3600" dirty="0">
                <a:latin typeface="Century" panose="02040604050505020304" pitchFamily="18" charset="0"/>
              </a:rPr>
              <a:t>)</a:t>
            </a:r>
            <a:endParaRPr lang="en-IN" sz="36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134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E5263-72C0-4BE7-89A3-061A2289A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A key contribution of DETR is its use of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bipartite matching </a:t>
            </a:r>
            <a:r>
              <a:rPr lang="en-US" sz="2000" dirty="0">
                <a:latin typeface="Arial Narrow" panose="020B0606020202030204" pitchFamily="34" charset="0"/>
              </a:rPr>
              <a:t>to address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permutation-invariant nature of object detection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Since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predicted objects are not associated with predefined anchors or specific ground-truth positions</a:t>
            </a:r>
            <a:r>
              <a:rPr lang="en-US" sz="2000" dirty="0">
                <a:latin typeface="Arial Narrow" panose="020B0606020202030204" pitchFamily="34" charset="0"/>
              </a:rPr>
              <a:t>, DETR employs a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Hungarian matching algorithm </a:t>
            </a:r>
            <a:r>
              <a:rPr lang="en-US" sz="2000" dirty="0">
                <a:latin typeface="Arial Narrow" panose="020B0606020202030204" pitchFamily="34" charset="0"/>
              </a:rPr>
              <a:t>to establish an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optimal one-to-one correspondence between predicted objects and ground-truth objects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The resulting matching forms the basis of the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set-based loss </a:t>
            </a:r>
            <a:r>
              <a:rPr lang="en-US" sz="2000" dirty="0">
                <a:latin typeface="Arial Narrow" panose="020B0606020202030204" pitchFamily="34" charset="0"/>
              </a:rPr>
              <a:t>used to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jointly optimize classification and bounding-box regression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Consequently, DETR provides a conceptually simpler and more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unified approach to object detection</a:t>
            </a:r>
            <a:r>
              <a:rPr lang="en-US" sz="2000" dirty="0">
                <a:latin typeface="Arial Narrow" panose="020B0606020202030204" pitchFamily="34" charset="0"/>
              </a:rPr>
              <a:t>, demonstrating how transformer architectures can replace several conventional detection mechanisms while maintaining competitive detection performance.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981FA3-9A54-44C5-A09B-9A2DAC36C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Century" panose="02040604050505020304" pitchFamily="18" charset="0"/>
              </a:rPr>
              <a:t>DEtection</a:t>
            </a:r>
            <a:r>
              <a:rPr lang="en-US" sz="3600" dirty="0">
                <a:latin typeface="Century" panose="02040604050505020304" pitchFamily="18" charset="0"/>
              </a:rPr>
              <a:t> </a:t>
            </a:r>
            <a:r>
              <a:rPr lang="en-US" sz="3600" dirty="0" err="1">
                <a:latin typeface="Century" panose="02040604050505020304" pitchFamily="18" charset="0"/>
              </a:rPr>
              <a:t>TRansformer</a:t>
            </a:r>
            <a:r>
              <a:rPr lang="en-US" sz="3600" dirty="0">
                <a:latin typeface="Century" panose="02040604050505020304" pitchFamily="18" charset="0"/>
              </a:rPr>
              <a:t> (</a:t>
            </a:r>
            <a:r>
              <a:rPr lang="en-US" sz="3600" dirty="0">
                <a:solidFill>
                  <a:srgbClr val="7030A0"/>
                </a:solidFill>
                <a:latin typeface="Century" panose="02040604050505020304" pitchFamily="18" charset="0"/>
              </a:rPr>
              <a:t>DETR</a:t>
            </a:r>
            <a:r>
              <a:rPr lang="en-US" sz="3600" dirty="0">
                <a:latin typeface="Century" panose="02040604050505020304" pitchFamily="18" charset="0"/>
              </a:rPr>
              <a:t>)</a:t>
            </a:r>
            <a:endParaRPr lang="en-IN" sz="36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332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4E2AA-EC89-4A62-8AE9-00AEBBEA7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sz="4000" dirty="0" err="1">
                <a:latin typeface="Century" panose="02040604050505020304" pitchFamily="18" charset="0"/>
              </a:rPr>
              <a:t>Swin</a:t>
            </a:r>
            <a:r>
              <a:rPr lang="en-IN" sz="4000" dirty="0">
                <a:latin typeface="Century" panose="02040604050505020304" pitchFamily="18" charset="0"/>
              </a:rPr>
              <a:t> Transformer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08BB7-1118-4A83-8935-3CB281009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57769"/>
            <a:ext cx="10515600" cy="4778375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The </a:t>
            </a:r>
            <a:r>
              <a:rPr lang="en-US" sz="20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Swin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Transformer</a:t>
            </a:r>
            <a:r>
              <a:rPr lang="en-US" sz="2000" dirty="0">
                <a:latin typeface="Arial Narrow" panose="020B0606020202030204" pitchFamily="34" charset="0"/>
              </a:rPr>
              <a:t> introduces a hierarchical vision Transformer architecture that addresses the computational limitations of conventional Vision Transformers by restricting self-attention to local, non-overlapping windows.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Instead of computing global self-attention across all image patches, </a:t>
            </a:r>
            <a:r>
              <a:rPr lang="en-US" sz="2000" dirty="0" err="1">
                <a:latin typeface="Arial Narrow" panose="020B0606020202030204" pitchFamily="34" charset="0"/>
              </a:rPr>
              <a:t>Swin</a:t>
            </a:r>
            <a:r>
              <a:rPr lang="en-US" sz="2000" dirty="0">
                <a:latin typeface="Arial Narrow" panose="020B0606020202030204" pitchFamily="34" charset="0"/>
              </a:rPr>
              <a:t> Transformer partitions the feature map into fixed-size windows and performs self-attention independently within each window, substantially reducing computational complexity.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To establish communication between neighboring windows, the architecture alternates between regular window-based multi-head self-attention (W-MSA) and 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shifted window-based multi-head self-attention (SW-MSA)</a:t>
            </a:r>
            <a:r>
              <a:rPr lang="en-US" sz="2000" dirty="0">
                <a:latin typeface="Arial Narrow" panose="020B0606020202030204" pitchFamily="34" charset="0"/>
              </a:rPr>
              <a:t> in successive Transformer blocks.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This shifted-window mechanism enables efficient cross-window information exchange while preserving the computational benefits of localized attention. </a:t>
            </a:r>
            <a:endParaRPr lang="en-IN" sz="2000" dirty="0">
              <a:latin typeface="Arial Narrow" panose="020B0606020202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C0B212-50E8-4498-804B-15B62E99C245}"/>
              </a:ext>
            </a:extLst>
          </p:cNvPr>
          <p:cNvSpPr/>
          <p:nvPr/>
        </p:nvSpPr>
        <p:spPr>
          <a:xfrm>
            <a:off x="838200" y="6492875"/>
            <a:ext cx="1051559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333333"/>
                </a:solidFill>
                <a:latin typeface="Arial Narrow" panose="020B0606020202030204" pitchFamily="34" charset="0"/>
              </a:rPr>
              <a:t>Z. Liu et al., "</a:t>
            </a:r>
            <a:r>
              <a:rPr lang="en-IN" sz="1200" dirty="0" err="1">
                <a:solidFill>
                  <a:srgbClr val="333333"/>
                </a:solidFill>
                <a:latin typeface="Arial Narrow" panose="020B0606020202030204" pitchFamily="34" charset="0"/>
              </a:rPr>
              <a:t>Swin</a:t>
            </a:r>
            <a:r>
              <a:rPr lang="en-IN" sz="1200" dirty="0">
                <a:solidFill>
                  <a:srgbClr val="333333"/>
                </a:solidFill>
                <a:latin typeface="Arial Narrow" panose="020B0606020202030204" pitchFamily="34" charset="0"/>
              </a:rPr>
              <a:t> Transformer: Hierarchical Vision Transformer using Shifted Windows," in 2021 IEEE/CVF International Conference on Computer Vision (ICCV)</a:t>
            </a:r>
            <a:endParaRPr lang="en-IN" sz="12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510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CD415-0657-421B-8D77-8B7ABEE09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Furthermore, </a:t>
            </a:r>
            <a:r>
              <a:rPr lang="en-US" sz="2000" dirty="0" err="1">
                <a:latin typeface="Arial Narrow" panose="020B0606020202030204" pitchFamily="34" charset="0"/>
              </a:rPr>
              <a:t>Swin</a:t>
            </a:r>
            <a:r>
              <a:rPr lang="en-US" sz="2000" dirty="0">
                <a:latin typeface="Arial Narrow" panose="020B0606020202030204" pitchFamily="34" charset="0"/>
              </a:rPr>
              <a:t> Transformer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adopts a hierarchical representation-learning strategy through progressive patch merging</a:t>
            </a:r>
            <a:r>
              <a:rPr lang="en-US" sz="2000" dirty="0">
                <a:latin typeface="Arial Narrow" panose="020B0606020202030204" pitchFamily="34" charset="0"/>
              </a:rPr>
              <a:t>, which reduces spatial resolution while increasing feature dimensionality and consequently produces multi-scale feature representations.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As a result, its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computational complexity grows linearly with the number of image pixels</a:t>
            </a:r>
            <a:r>
              <a:rPr lang="en-US" sz="2000" dirty="0">
                <a:latin typeface="Arial Narrow" panose="020B0606020202030204" pitchFamily="34" charset="0"/>
              </a:rPr>
              <a:t>, making the architecture considerably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more scalable than global-attention-based Transformers for high-resolution inputs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These properties enable </a:t>
            </a:r>
            <a:r>
              <a:rPr lang="en-US" sz="2000" dirty="0" err="1">
                <a:latin typeface="Arial Narrow" panose="020B0606020202030204" pitchFamily="34" charset="0"/>
              </a:rPr>
              <a:t>Swin</a:t>
            </a:r>
            <a:r>
              <a:rPr lang="en-US" sz="2000" dirty="0">
                <a:latin typeface="Arial Narrow" panose="020B0606020202030204" pitchFamily="34" charset="0"/>
              </a:rPr>
              <a:t> Transformer to serve as a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versatile backbone for a wide range of computer vision applications, including image classification, object detection, semantic segmentation, and other dense prediction tasks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  <a:endParaRPr lang="en-IN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B38BAF5-88F8-490D-9A98-CA55D8E38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sz="4000" dirty="0" err="1">
                <a:latin typeface="Century" panose="02040604050505020304" pitchFamily="18" charset="0"/>
              </a:rPr>
              <a:t>Swin</a:t>
            </a:r>
            <a:r>
              <a:rPr lang="en-IN" sz="4000" dirty="0">
                <a:latin typeface="Century" panose="02040604050505020304" pitchFamily="18" charset="0"/>
              </a:rPr>
              <a:t> Transformer</a:t>
            </a:r>
            <a:br>
              <a:rPr lang="en-IN" b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2609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3FA0B-C81C-4F9A-8BC9-E7C0BD9C2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34125" cy="435133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200" dirty="0">
                <a:latin typeface="Arial Narrow" panose="020B0606020202030204" pitchFamily="34" charset="0"/>
              </a:rPr>
              <a:t>The </a:t>
            </a:r>
            <a:r>
              <a:rPr lang="en-US" sz="2200" dirty="0" err="1">
                <a:latin typeface="Arial Narrow" panose="020B0606020202030204" pitchFamily="34" charset="0"/>
              </a:rPr>
              <a:t>Swin</a:t>
            </a:r>
            <a:r>
              <a:rPr lang="en-US" sz="2200" dirty="0">
                <a:latin typeface="Arial Narrow" panose="020B0606020202030204" pitchFamily="34" charset="0"/>
              </a:rPr>
              <a:t> Transformer builds </a:t>
            </a:r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hierarchical feature maps by merging image patches (shown in gray) in deeper layers</a:t>
            </a:r>
            <a:r>
              <a:rPr lang="en-US" sz="2200" dirty="0">
                <a:latin typeface="Arial Narrow" panose="020B0606020202030204" pitchFamily="34" charset="0"/>
              </a:rPr>
              <a:t>.</a:t>
            </a:r>
          </a:p>
          <a:p>
            <a:pPr algn="just"/>
            <a:endParaRPr lang="en-US" sz="2200" dirty="0">
              <a:latin typeface="Arial Narrow" panose="020B0606020202030204" pitchFamily="34" charset="0"/>
            </a:endParaRPr>
          </a:p>
          <a:p>
            <a:pPr algn="just"/>
            <a:r>
              <a:rPr lang="en-US" sz="2200" dirty="0">
                <a:latin typeface="Arial Narrow" panose="020B0606020202030204" pitchFamily="34" charset="0"/>
              </a:rPr>
              <a:t>It has linear computation complexity to input image size due to </a:t>
            </a:r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computation of self-attention only within each local window </a:t>
            </a:r>
            <a:r>
              <a:rPr lang="en-US" sz="2200" dirty="0">
                <a:latin typeface="Arial Narrow" panose="020B0606020202030204" pitchFamily="34" charset="0"/>
              </a:rPr>
              <a:t>(shown in red). </a:t>
            </a:r>
          </a:p>
          <a:p>
            <a:pPr algn="just"/>
            <a:endParaRPr lang="en-US" sz="2200" dirty="0">
              <a:latin typeface="Arial Narrow" panose="020B0606020202030204" pitchFamily="34" charset="0"/>
            </a:endParaRPr>
          </a:p>
          <a:p>
            <a:pPr algn="just"/>
            <a:r>
              <a:rPr lang="en-US" sz="2200" dirty="0">
                <a:latin typeface="Arial Narrow" panose="020B0606020202030204" pitchFamily="34" charset="0"/>
              </a:rPr>
              <a:t>It can thus serve as a </a:t>
            </a:r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general-purpose backbone for both image classification and dense recognition tasks</a:t>
            </a:r>
            <a:r>
              <a:rPr lang="en-US" sz="22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200" dirty="0">
              <a:latin typeface="Arial Narrow" panose="020B0606020202030204" pitchFamily="34" charset="0"/>
            </a:endParaRPr>
          </a:p>
          <a:p>
            <a:pPr algn="just"/>
            <a:r>
              <a:rPr lang="en-US" sz="2200" dirty="0">
                <a:latin typeface="Arial Narrow" panose="020B0606020202030204" pitchFamily="34" charset="0"/>
              </a:rPr>
              <a:t>In contrast, previous vision Transformers produce feature maps of a single low resolution and having quadratic computation complexity to input image size due to </a:t>
            </a:r>
            <a:r>
              <a:rPr lang="en-US" sz="2200" dirty="0">
                <a:solidFill>
                  <a:srgbClr val="7030A0"/>
                </a:solidFill>
                <a:latin typeface="Arial Narrow" panose="020B0606020202030204" pitchFamily="34" charset="0"/>
              </a:rPr>
              <a:t>computation of self attention globally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2050" name="Picture 2" descr="https://miro.medium.com/v2/resize:fit:549/1*d_JRPnBHR7AWQMPhK5gQNQ.png">
            <a:extLst>
              <a:ext uri="{FF2B5EF4-FFF2-40B4-BE49-F238E27FC236}">
                <a16:creationId xmlns:a16="http://schemas.microsoft.com/office/drawing/2014/main" id="{99196460-AC43-451E-8FDC-0F626D0F9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9172" y="2579034"/>
            <a:ext cx="418147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747AF21-D3E9-41AB-8166-F33262491A08}"/>
              </a:ext>
            </a:extLst>
          </p:cNvPr>
          <p:cNvSpPr/>
          <p:nvPr/>
        </p:nvSpPr>
        <p:spPr>
          <a:xfrm>
            <a:off x="838200" y="6492875"/>
            <a:ext cx="1051559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333333"/>
                </a:solidFill>
                <a:latin typeface="Arial Narrow" panose="020B0606020202030204" pitchFamily="34" charset="0"/>
              </a:rPr>
              <a:t>Z. Liu et al., "</a:t>
            </a:r>
            <a:r>
              <a:rPr lang="en-IN" sz="1200" dirty="0" err="1">
                <a:solidFill>
                  <a:srgbClr val="333333"/>
                </a:solidFill>
                <a:latin typeface="Arial Narrow" panose="020B0606020202030204" pitchFamily="34" charset="0"/>
              </a:rPr>
              <a:t>Swin</a:t>
            </a:r>
            <a:r>
              <a:rPr lang="en-IN" sz="1200" dirty="0">
                <a:solidFill>
                  <a:srgbClr val="333333"/>
                </a:solidFill>
                <a:latin typeface="Arial Narrow" panose="020B0606020202030204" pitchFamily="34" charset="0"/>
              </a:rPr>
              <a:t> Transformer: Hierarchical Vision Transformer using Shifted Windows," in 2021 IEEE/CVF International Conference on Computer Vision (ICCV)</a:t>
            </a:r>
            <a:endParaRPr lang="en-IN" sz="1200" dirty="0">
              <a:latin typeface="Arial Narrow" panose="020B060602020203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F8C68E6-7131-4CD4-B7E5-1B5F98877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sz="4000" dirty="0" err="1">
                <a:latin typeface="Century" panose="02040604050505020304" pitchFamily="18" charset="0"/>
              </a:rPr>
              <a:t>Swin</a:t>
            </a:r>
            <a:r>
              <a:rPr lang="en-IN" sz="4000" dirty="0">
                <a:latin typeface="Century" panose="02040604050505020304" pitchFamily="18" charset="0"/>
              </a:rPr>
              <a:t> Transformer</a:t>
            </a:r>
            <a:br>
              <a:rPr lang="en-IN" b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91866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CD415-0657-421B-8D77-8B7ABEE09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Furthermore, </a:t>
            </a:r>
            <a:r>
              <a:rPr lang="en-US" sz="2000" dirty="0" err="1">
                <a:latin typeface="Arial Narrow" panose="020B0606020202030204" pitchFamily="34" charset="0"/>
              </a:rPr>
              <a:t>Swin</a:t>
            </a:r>
            <a:r>
              <a:rPr lang="en-US" sz="2000" dirty="0">
                <a:latin typeface="Arial Narrow" panose="020B0606020202030204" pitchFamily="34" charset="0"/>
              </a:rPr>
              <a:t> Transformer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adopts a hierarchical representation-learning strategy through progressive patch merging</a:t>
            </a:r>
            <a:r>
              <a:rPr lang="en-US" sz="2000" dirty="0">
                <a:latin typeface="Arial Narrow" panose="020B0606020202030204" pitchFamily="34" charset="0"/>
              </a:rPr>
              <a:t>, which reduces spatial resolution while increasing feature dimensionality and consequently produces multi-scale feature representations.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As a result, its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computational complexity grows linearly with the number of image pixels</a:t>
            </a:r>
            <a:r>
              <a:rPr lang="en-US" sz="2000" dirty="0">
                <a:latin typeface="Arial Narrow" panose="020B0606020202030204" pitchFamily="34" charset="0"/>
              </a:rPr>
              <a:t>, making the architecture considerably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more scalable than global-attention-based Transformers for high-resolution inputs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  <a:p>
            <a:pPr algn="just"/>
            <a:endParaRPr lang="en-US" sz="2000" dirty="0">
              <a:latin typeface="Arial Narrow" panose="020B0606020202030204" pitchFamily="34" charset="0"/>
            </a:endParaRPr>
          </a:p>
          <a:p>
            <a:pPr algn="just"/>
            <a:r>
              <a:rPr lang="en-US" sz="2000" dirty="0">
                <a:latin typeface="Arial Narrow" panose="020B0606020202030204" pitchFamily="34" charset="0"/>
              </a:rPr>
              <a:t>These properties enable </a:t>
            </a:r>
            <a:r>
              <a:rPr lang="en-US" sz="2000" dirty="0" err="1">
                <a:latin typeface="Arial Narrow" panose="020B0606020202030204" pitchFamily="34" charset="0"/>
              </a:rPr>
              <a:t>Swin</a:t>
            </a:r>
            <a:r>
              <a:rPr lang="en-US" sz="2000" dirty="0">
                <a:latin typeface="Arial Narrow" panose="020B0606020202030204" pitchFamily="34" charset="0"/>
              </a:rPr>
              <a:t> Transformer to serve as a </a:t>
            </a:r>
            <a:r>
              <a:rPr lang="en-US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versatile backbone for a wide range of computer vision applications, including image classification, object detection, semantic segmentation, and other dense prediction tasks</a:t>
            </a:r>
            <a:r>
              <a:rPr lang="en-US" sz="2000" dirty="0">
                <a:latin typeface="Arial Narrow" panose="020B0606020202030204" pitchFamily="34" charset="0"/>
              </a:rPr>
              <a:t>.</a:t>
            </a:r>
            <a:endParaRPr lang="en-IN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B38BAF5-88F8-490D-9A98-CA55D8E38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sz="4000" dirty="0" err="1">
                <a:latin typeface="Century" panose="02040604050505020304" pitchFamily="18" charset="0"/>
              </a:rPr>
              <a:t>Swin</a:t>
            </a:r>
            <a:r>
              <a:rPr lang="en-IN" sz="4000" dirty="0">
                <a:latin typeface="Century" panose="02040604050505020304" pitchFamily="18" charset="0"/>
              </a:rPr>
              <a:t> Transformer</a:t>
            </a:r>
            <a:br>
              <a:rPr lang="en-IN" b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6442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1312-3FC0-4078-A2B9-78735F9B2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661" y="1742339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2060"/>
                </a:solidFill>
                <a:latin typeface="Arial Narrow" panose="020B0606020202030204" pitchFamily="34" charset="0"/>
              </a:rPr>
              <a:t>Variational Auto-Encoder</a:t>
            </a:r>
            <a:br>
              <a:rPr lang="en-IN" sz="4000" dirty="0">
                <a:solidFill>
                  <a:srgbClr val="002060"/>
                </a:solidFill>
                <a:latin typeface="Arial Narrow" panose="020B0606020202030204" pitchFamily="34" charset="0"/>
              </a:rPr>
            </a:b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B6BD41-65D8-4E39-9EB8-873E6D591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29939"/>
            <a:ext cx="9144000" cy="165576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B050"/>
                </a:solidFill>
                <a:latin typeface="Book Antiqua" panose="02040602050305030304" pitchFamily="18" charset="0"/>
              </a:rPr>
              <a:t>Generative AI for Computer Vision</a:t>
            </a:r>
            <a:endParaRPr lang="en-IN" sz="3600" dirty="0">
              <a:solidFill>
                <a:srgbClr val="002060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279711-0489-4234-BC9E-AEC0ED47B657}"/>
              </a:ext>
            </a:extLst>
          </p:cNvPr>
          <p:cNvSpPr txBox="1"/>
          <p:nvPr/>
        </p:nvSpPr>
        <p:spPr>
          <a:xfrm>
            <a:off x="4035287" y="860753"/>
            <a:ext cx="37967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Arial Narrow" panose="020B0606020202030204" pitchFamily="34" charset="0"/>
              </a:rPr>
              <a:t>Next</a:t>
            </a:r>
          </a:p>
          <a:p>
            <a:pPr algn="ctr"/>
            <a:endParaRPr lang="en-IN" sz="2800" dirty="0">
              <a:latin typeface="Arial Narrow" panose="020B0606020202030204" pitchFamily="34" charset="0"/>
            </a:endParaRPr>
          </a:p>
          <a:p>
            <a:pPr algn="ctr"/>
            <a:r>
              <a:rPr lang="en-IN" sz="2800" dirty="0">
                <a:latin typeface="Arial Narrow" panose="020B0606020202030204" pitchFamily="34" charset="0"/>
              </a:rPr>
              <a:t>Lecture 9: Part 1</a:t>
            </a:r>
          </a:p>
        </p:txBody>
      </p:sp>
    </p:spTree>
    <p:extLst>
      <p:ext uri="{BB962C8B-B14F-4D97-AF65-F5344CB8AC3E}">
        <p14:creationId xmlns:p14="http://schemas.microsoft.com/office/powerpoint/2010/main" val="757281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5472</TotalTime>
  <Words>2166</Words>
  <Application>Microsoft Office PowerPoint</Application>
  <PresentationFormat>Widescreen</PresentationFormat>
  <Paragraphs>167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Malgun Gothic</vt:lpstr>
      <vt:lpstr>Arial</vt:lpstr>
      <vt:lpstr>Arial Narrow</vt:lpstr>
      <vt:lpstr>Book Antiqua</vt:lpstr>
      <vt:lpstr>Calibri</vt:lpstr>
      <vt:lpstr>Calibri Light</vt:lpstr>
      <vt:lpstr>Cambria Math</vt:lpstr>
      <vt:lpstr>Century</vt:lpstr>
      <vt:lpstr>Times New Roman</vt:lpstr>
      <vt:lpstr>Office Theme</vt:lpstr>
      <vt:lpstr>  Vision Transformers</vt:lpstr>
      <vt:lpstr>Content</vt:lpstr>
      <vt:lpstr>Vision Transformers</vt:lpstr>
      <vt:lpstr>Vision Transformers</vt:lpstr>
      <vt:lpstr>Patch Embedding</vt:lpstr>
      <vt:lpstr>Patch Embedding</vt:lpstr>
      <vt:lpstr>Patch Embedding</vt:lpstr>
      <vt:lpstr>Patch Embedding</vt:lpstr>
      <vt:lpstr>Vision Transformer Encoder Architecture</vt:lpstr>
      <vt:lpstr>Vision Transformer Encoder Architecture</vt:lpstr>
      <vt:lpstr>Vision Transformer Encoder Architecture</vt:lpstr>
      <vt:lpstr>DEtection TRansformer (DETR)</vt:lpstr>
      <vt:lpstr>DEtection TRansformer (DETR)</vt:lpstr>
      <vt:lpstr>DETR Architecture</vt:lpstr>
      <vt:lpstr>DEtection TRansformer (DETR)</vt:lpstr>
      <vt:lpstr>DEtection TRansformer (DETR)</vt:lpstr>
      <vt:lpstr>DEtection TRansformer (DETR)</vt:lpstr>
      <vt:lpstr> Swin Transformer </vt:lpstr>
      <vt:lpstr> Swin Transformer </vt:lpstr>
      <vt:lpstr> Swin Transformer </vt:lpstr>
      <vt:lpstr> Swin Transformer </vt:lpstr>
      <vt:lpstr>Variational Auto-Encoder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Vision Transformers</dc:title>
  <dc:creator>IITG</dc:creator>
  <cp:lastModifiedBy>IITG</cp:lastModifiedBy>
  <cp:revision>21</cp:revision>
  <dcterms:created xsi:type="dcterms:W3CDTF">2026-08-25T15:49:55Z</dcterms:created>
  <dcterms:modified xsi:type="dcterms:W3CDTF">2026-09-04T15:02:11Z</dcterms:modified>
</cp:coreProperties>
</file>