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7" r:id="rId2"/>
    <p:sldId id="258" r:id="rId3"/>
    <p:sldId id="306" r:id="rId4"/>
    <p:sldId id="290" r:id="rId5"/>
    <p:sldId id="307" r:id="rId6"/>
    <p:sldId id="288" r:id="rId7"/>
    <p:sldId id="308" r:id="rId8"/>
    <p:sldId id="294" r:id="rId9"/>
    <p:sldId id="295" r:id="rId10"/>
    <p:sldId id="296" r:id="rId11"/>
    <p:sldId id="309" r:id="rId12"/>
    <p:sldId id="297" r:id="rId13"/>
    <p:sldId id="298" r:id="rId14"/>
    <p:sldId id="299" r:id="rId15"/>
    <p:sldId id="301" r:id="rId16"/>
    <p:sldId id="302" r:id="rId17"/>
    <p:sldId id="303" r:id="rId18"/>
    <p:sldId id="300" r:id="rId19"/>
    <p:sldId id="304" r:id="rId20"/>
    <p:sldId id="305" r:id="rId21"/>
    <p:sldId id="286" r:id="rId22"/>
    <p:sldId id="267" r:id="rId23"/>
    <p:sldId id="289" r:id="rId24"/>
    <p:sldId id="291" r:id="rId25"/>
    <p:sldId id="292" r:id="rId26"/>
    <p:sldId id="29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B4333-F88E-4669-AC26-7CD914EB1B5A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64D8A-163C-454B-91B1-9A59A78815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68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64D8A-163C-454B-91B1-9A59A788155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0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E174-0E68-450E-9ACE-EE4728A81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C40E2-BD5C-4781-BD36-8FBA6555D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7764-556E-45EE-8C2B-749F7EA0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09CE7-18CD-46CE-BA31-09E086F6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A7645-7E24-4394-A259-6F24C9BE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56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A2E5-3D91-4AFD-B099-C4A7985A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1C14A-7813-4802-AD52-21A12CC7F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334AE-89A1-406B-8627-3B6A28AB3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1307A-C07D-4B8C-9DA2-A2486D46A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587E8-7989-4BC4-8B9D-02FF1A91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80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907B-EC95-497C-B44E-9F8D13AE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EB1E2-BAB6-45F8-9038-082ECF73B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92E79-4D91-464C-ABA2-F0EC9EB7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62AD8-EE91-4E54-91FB-90DE43D14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E8170-713D-4B04-95B2-F0FD072C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30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622C-6C2F-41F6-BB85-D240E102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7A07F-13B0-4802-8E6D-F669AC2FA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63BB-5E7D-4A49-9571-D368BEF8F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64BB-9F9F-4642-BFB7-62F86369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ECA07-8753-4C80-9959-3813F69E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8CB9B-4B21-41C6-A355-45B2D5A9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77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5B9C-CFBF-4B56-A19C-5B1763E9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1EBB7-DCF6-4A3C-AEAE-C3C203F06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0B149-68D1-4DB1-A737-9DD2360E5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B59B3-FAE8-4C63-998E-DF0F62136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FF666-9BA4-407C-A95A-9C80FA423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81E30-8B14-4D9A-948D-9E1F5C53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47F748-077B-4888-A7FA-F49C44E0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6E496E-7D47-49F5-A026-27640C6D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6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972C-A41B-4CE1-A978-1A101DC8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04BC5-E529-4E31-AE5B-AB93BE9D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A4794-3C7D-4DC6-95AB-ED012F66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2A12A-BBC5-4376-A823-BDC35D1D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82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7CBC6-F99E-43DD-80BC-91258A147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D6451-1A93-4F2E-94AF-4407C83F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92876-F912-47C3-ADD0-A77EAF44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81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153F-04DA-4CF6-B06D-51F252C1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A9804-2038-4FDA-90B9-14AA79A76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DC6EE-9A05-4FF3-A1DD-984A15FC8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F311C-39C3-45CD-8A86-FAF01F28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E8092-DB61-41F6-8398-2BE348AF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C16CF-55CB-4BDF-973F-63E8F557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9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1849-131D-4C0A-B5C2-44ED07156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9AA02A-DA2F-494D-8240-BD828C662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BA4F1-471C-41C5-BAE1-33E8CCFD5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7D5EA-C747-4E3F-B848-B0C97391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B81F3-5A30-48FD-819B-E09C6E4B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BFD8D-745B-4088-A732-B15DD430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969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6E6ED-A3B2-469E-A84D-BBA700DF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AD294-9F8B-4F79-90B3-27D44023A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AC071-524F-4247-BEFF-FBCF611FB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525CF-EF86-4819-9E3C-A1CDE613E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15636-3FDE-4C35-A046-3B9202FF4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163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5E0233-77B9-4DF9-9E6E-C7B35E84F0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84950-23AC-4BA0-B530-E87D80BBE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930D0-AFCA-4F60-8DFE-D9EC0B431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28AC-5990-44CE-B31A-2FA521D6E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E8DB8-82E7-4D23-BE53-80AE942F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4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854FE-76F2-4375-954F-AED968EC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67170-BCF1-4ADC-9E66-2F6B9F051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C8A2A-227E-4ED4-9E9D-EBF20128C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764F9-A712-4733-AF47-90C33408A71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9574D-3DF4-474D-9C14-8AB3EA312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6CF4-06FC-4710-9705-BC45D1D65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18C13-F993-4945-8AE6-D8780AF00E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95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34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32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36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Relationship Id="rId30" Type="http://schemas.openxmlformats.org/officeDocument/2006/relationships/image" Target="NULL"/><Relationship Id="rId35" Type="http://schemas.openxmlformats.org/officeDocument/2006/relationships/image" Target="NULL"/><Relationship Id="rId8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15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44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45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46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47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50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34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5" Type="http://schemas.openxmlformats.org/officeDocument/2006/relationships/image" Target="NULL"/><Relationship Id="rId33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24" Type="http://schemas.openxmlformats.org/officeDocument/2006/relationships/image" Target="NULL"/><Relationship Id="rId32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image" Target="NULL"/><Relationship Id="rId30" Type="http://schemas.openxmlformats.org/officeDocument/2006/relationships/image" Target="NULL"/><Relationship Id="rId35" Type="http://schemas.openxmlformats.org/officeDocument/2006/relationships/image" Target="NULL"/><Relationship Id="rId8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57022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LSTM</a:t>
            </a:r>
            <a:br>
              <a:rPr lang="en-IN" sz="4000" dirty="0"/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6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 of RNN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Vanishing Gradient Problem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Long-term Contextual Dependency Issue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Introduction to LSTM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LSTM Architecture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How LSTM solves Vanishing Gradient Problem?</a:t>
            </a:r>
          </a:p>
          <a:p>
            <a:pPr marL="457200" indent="-457200">
              <a:lnSpc>
                <a:spcPct val="150000"/>
              </a:lnSpc>
            </a:pPr>
            <a:endParaRPr lang="en-US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08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5A0D-E931-4E25-81F6-3290A0CF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4000" dirty="0">
                <a:latin typeface="Century" panose="02040604050505020304" pitchFamily="18" charset="0"/>
              </a:rPr>
              <a:t>Basic RNN Architecture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CCF2D4C-D2CA-4B07-AB4B-5831FD03F93E}"/>
                  </a:ext>
                </a:extLst>
              </p:cNvPr>
              <p:cNvSpPr txBox="1"/>
              <p:nvPr/>
            </p:nvSpPr>
            <p:spPr>
              <a:xfrm>
                <a:off x="2450464" y="1986098"/>
                <a:ext cx="2920872" cy="4308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42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CCF2D4C-D2CA-4B07-AB4B-5831FD03F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464" y="1986098"/>
                <a:ext cx="292087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0FD6E5E-5264-411B-8316-AE8FED2703F2}"/>
                  </a:ext>
                </a:extLst>
              </p:cNvPr>
              <p:cNvSpPr txBox="1"/>
              <p:nvPr/>
            </p:nvSpPr>
            <p:spPr>
              <a:xfrm>
                <a:off x="5975652" y="1990763"/>
                <a:ext cx="4319139" cy="43088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42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𝑡𝑎𝑛h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0FD6E5E-5264-411B-8316-AE8FED270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652" y="1990763"/>
                <a:ext cx="431913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FB30916-81CE-4EA3-9DD0-CC279841B10D}"/>
              </a:ext>
            </a:extLst>
          </p:cNvPr>
          <p:cNvCxnSpPr>
            <a:cxnSpLocks/>
            <a:stCxn id="69" idx="3"/>
            <a:endCxn id="70" idx="1"/>
          </p:cNvCxnSpPr>
          <p:nvPr/>
        </p:nvCxnSpPr>
        <p:spPr>
          <a:xfrm>
            <a:off x="5371336" y="2201542"/>
            <a:ext cx="604316" cy="4665"/>
          </a:xfrm>
          <a:prstGeom prst="straightConnector1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B99B6BE-5E1D-416B-BF60-EAD22FB0B051}"/>
                  </a:ext>
                </a:extLst>
              </p:cNvPr>
              <p:cNvSpPr txBox="1"/>
              <p:nvPr/>
            </p:nvSpPr>
            <p:spPr>
              <a:xfrm>
                <a:off x="3910900" y="2998113"/>
                <a:ext cx="4108537" cy="43088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7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B99B6BE-5E1D-416B-BF60-EAD22FB0B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900" y="2998113"/>
                <a:ext cx="410853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C0785279-0018-4315-8CE6-CEC4DC8D1EFC}"/>
              </a:ext>
            </a:extLst>
          </p:cNvPr>
          <p:cNvGrpSpPr/>
          <p:nvPr/>
        </p:nvGrpSpPr>
        <p:grpSpPr>
          <a:xfrm>
            <a:off x="1484788" y="4005463"/>
            <a:ext cx="9222423" cy="2340814"/>
            <a:chOff x="1489748" y="1995882"/>
            <a:chExt cx="9222423" cy="234081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07D3A10B-1453-471B-ADF3-9267D54D1C7F}"/>
                </a:ext>
              </a:extLst>
            </p:cNvPr>
            <p:cNvSpPr/>
            <p:nvPr/>
          </p:nvSpPr>
          <p:spPr>
            <a:xfrm>
              <a:off x="2124364" y="2863273"/>
              <a:ext cx="748145" cy="748146"/>
            </a:xfrm>
            <a:prstGeom prst="ellipse">
              <a:avLst/>
            </a:prstGeom>
            <a:solidFill>
              <a:schemeClr val="accent4">
                <a:lumMod val="40000"/>
                <a:lumOff val="60000"/>
                <a:alpha val="61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5" name="Elbow Connector 5">
              <a:extLst>
                <a:ext uri="{FF2B5EF4-FFF2-40B4-BE49-F238E27FC236}">
                  <a16:creationId xmlns:a16="http://schemas.microsoft.com/office/drawing/2014/main" id="{DE59AE14-DDF9-4241-A3ED-156F7E0C4171}"/>
                </a:ext>
              </a:extLst>
            </p:cNvPr>
            <p:cNvCxnSpPr>
              <a:stCxn id="74" idx="6"/>
              <a:endCxn id="76" idx="0"/>
            </p:cNvCxnSpPr>
            <p:nvPr/>
          </p:nvCxnSpPr>
          <p:spPr>
            <a:xfrm flipH="1" flipV="1">
              <a:off x="2589260" y="2638501"/>
              <a:ext cx="283249" cy="598845"/>
            </a:xfrm>
            <a:prstGeom prst="bentConnector4">
              <a:avLst>
                <a:gd name="adj1" fmla="val -80706"/>
                <a:gd name="adj2" fmla="val 100449"/>
              </a:avLst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AB1C41BA-C868-4A5A-B5DB-A07E4ACCBD4E}"/>
                </a:ext>
              </a:extLst>
            </p:cNvPr>
            <p:cNvSpPr/>
            <p:nvPr/>
          </p:nvSpPr>
          <p:spPr>
            <a:xfrm rot="7739477">
              <a:off x="2365412" y="2416742"/>
              <a:ext cx="236107" cy="272231"/>
            </a:xfrm>
            <a:prstGeom prst="arc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71482F8E-318B-476B-AD74-429002A3F8E4}"/>
                </a:ext>
              </a:extLst>
            </p:cNvPr>
            <p:cNvCxnSpPr>
              <a:cxnSpLocks/>
              <a:endCxn id="74" idx="4"/>
            </p:cNvCxnSpPr>
            <p:nvPr/>
          </p:nvCxnSpPr>
          <p:spPr>
            <a:xfrm flipH="1" flipV="1">
              <a:off x="2498437" y="3611419"/>
              <a:ext cx="3090" cy="423704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50AA387-B5FD-413B-A044-0712F77C58A4}"/>
                </a:ext>
              </a:extLst>
            </p:cNvPr>
            <p:cNvSpPr txBox="1"/>
            <p:nvPr/>
          </p:nvSpPr>
          <p:spPr>
            <a:xfrm>
              <a:off x="2342206" y="1995882"/>
              <a:ext cx="3546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O</a:t>
              </a:r>
              <a:endParaRPr lang="en-IN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03ED1E-8468-4A24-B8EA-1AA8CB38E929}"/>
                    </a:ext>
                  </a:extLst>
                </p:cNvPr>
                <p:cNvSpPr txBox="1"/>
                <p:nvPr/>
              </p:nvSpPr>
              <p:spPr>
                <a:xfrm>
                  <a:off x="2325273" y="3967364"/>
                  <a:ext cx="3382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403ED1E-8468-4A24-B8EA-1AA8CB38E9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273" y="3967364"/>
                  <a:ext cx="338267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48E2606-6AD5-418B-B564-E0CDE913B9CB}"/>
                </a:ext>
              </a:extLst>
            </p:cNvPr>
            <p:cNvCxnSpPr>
              <a:cxnSpLocks/>
            </p:cNvCxnSpPr>
            <p:nvPr/>
          </p:nvCxnSpPr>
          <p:spPr>
            <a:xfrm>
              <a:off x="3481202" y="3232902"/>
              <a:ext cx="444226" cy="7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698C1D1-6C33-4D77-B137-C81C4F9D4B0D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V="1">
              <a:off x="2498437" y="2375457"/>
              <a:ext cx="338" cy="487816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B0E42283-11CB-4DA3-9D3E-A965175B64EC}"/>
                    </a:ext>
                  </a:extLst>
                </p:cNvPr>
                <p:cNvSpPr txBox="1"/>
                <p:nvPr/>
              </p:nvSpPr>
              <p:spPr>
                <a:xfrm>
                  <a:off x="1489748" y="3052680"/>
                  <a:ext cx="3425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B0E42283-11CB-4DA3-9D3E-A965175B6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9748" y="3052680"/>
                  <a:ext cx="342584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30357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9E2BDA1E-650B-406D-B0E2-F4DD23A63717}"/>
                    </a:ext>
                  </a:extLst>
                </p:cNvPr>
                <p:cNvSpPr txBox="1"/>
                <p:nvPr/>
              </p:nvSpPr>
              <p:spPr>
                <a:xfrm>
                  <a:off x="1951358" y="230404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9E2BDA1E-650B-406D-B0E2-F4DD23A63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1358" y="2304042"/>
                  <a:ext cx="25518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Elbow Connector 28">
              <a:extLst>
                <a:ext uri="{FF2B5EF4-FFF2-40B4-BE49-F238E27FC236}">
                  <a16:creationId xmlns:a16="http://schemas.microsoft.com/office/drawing/2014/main" id="{B0659C9D-2FC6-4D3B-8DFE-F9F526D5C442}"/>
                </a:ext>
              </a:extLst>
            </p:cNvPr>
            <p:cNvCxnSpPr>
              <a:stCxn id="74" idx="2"/>
              <a:endCxn id="76" idx="2"/>
            </p:cNvCxnSpPr>
            <p:nvPr/>
          </p:nvCxnSpPr>
          <p:spPr>
            <a:xfrm rot="10800000" flipH="1">
              <a:off x="2124364" y="2644614"/>
              <a:ext cx="284822" cy="592733"/>
            </a:xfrm>
            <a:prstGeom prst="bentConnector3">
              <a:avLst>
                <a:gd name="adj1" fmla="val -80261"/>
              </a:avLst>
            </a:prstGeom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42C0909-4C55-480B-9C36-7620F356FCFE}"/>
                    </a:ext>
                  </a:extLst>
                </p:cNvPr>
                <p:cNvSpPr txBox="1"/>
                <p:nvPr/>
              </p:nvSpPr>
              <p:spPr>
                <a:xfrm>
                  <a:off x="1839832" y="345393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142C0909-4C55-480B-9C36-7620F356FC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832" y="3453939"/>
                  <a:ext cx="25518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4339DECD-17C6-4E49-87E5-41324C2BF2C1}"/>
                    </a:ext>
                  </a:extLst>
                </p:cNvPr>
                <p:cNvSpPr/>
                <p:nvPr/>
              </p:nvSpPr>
              <p:spPr>
                <a:xfrm>
                  <a:off x="2251382" y="2971292"/>
                  <a:ext cx="46416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IN" sz="2800" dirty="0">
                    <a:latin typeface="Arial Narrow" panose="020B0606020202030204" pitchFamily="34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4339DECD-17C6-4E49-87E5-41324C2BF2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1382" y="2971292"/>
                  <a:ext cx="464166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6145098-CA1B-4D5D-ABAB-6AC541DA7B82}"/>
                </a:ext>
              </a:extLst>
            </p:cNvPr>
            <p:cNvSpPr txBox="1"/>
            <p:nvPr/>
          </p:nvSpPr>
          <p:spPr>
            <a:xfrm>
              <a:off x="3277492" y="2673374"/>
              <a:ext cx="8516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Arial Narrow" panose="020B0606020202030204" pitchFamily="34" charset="0"/>
                  <a:cs typeface="Times New Roman" panose="02020603050405020304" pitchFamily="18" charset="0"/>
                </a:rPr>
                <a:t>Unfold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ECB95DD7-E84E-494A-B9B7-F7C062EED1A9}"/>
                </a:ext>
              </a:extLst>
            </p:cNvPr>
            <p:cNvSpPr/>
            <p:nvPr/>
          </p:nvSpPr>
          <p:spPr>
            <a:xfrm>
              <a:off x="4307660" y="2872853"/>
              <a:ext cx="748145" cy="7481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36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9D29F93-FC4E-4D02-84C7-CC782F926112}"/>
                </a:ext>
              </a:extLst>
            </p:cNvPr>
            <p:cNvCxnSpPr>
              <a:cxnSpLocks/>
              <a:stCxn id="88" idx="6"/>
              <a:endCxn id="90" idx="2"/>
            </p:cNvCxnSpPr>
            <p:nvPr/>
          </p:nvCxnSpPr>
          <p:spPr>
            <a:xfrm>
              <a:off x="5055805" y="3246926"/>
              <a:ext cx="387073" cy="0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9A7BD77-8953-4156-9AAC-009A9FEA21AB}"/>
                </a:ext>
              </a:extLst>
            </p:cNvPr>
            <p:cNvSpPr/>
            <p:nvPr/>
          </p:nvSpPr>
          <p:spPr>
            <a:xfrm>
              <a:off x="5442878" y="2872853"/>
              <a:ext cx="748145" cy="7481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36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099D6350-FE40-4284-A2F2-3261C7F2D213}"/>
                </a:ext>
              </a:extLst>
            </p:cNvPr>
            <p:cNvCxnSpPr>
              <a:cxnSpLocks/>
              <a:stCxn id="90" idx="6"/>
              <a:endCxn id="92" idx="2"/>
            </p:cNvCxnSpPr>
            <p:nvPr/>
          </p:nvCxnSpPr>
          <p:spPr>
            <a:xfrm>
              <a:off x="6191023" y="3246926"/>
              <a:ext cx="396599" cy="0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B245FDD-68B2-4369-8CB7-8F49704D75B1}"/>
                </a:ext>
              </a:extLst>
            </p:cNvPr>
            <p:cNvSpPr/>
            <p:nvPr/>
          </p:nvSpPr>
          <p:spPr>
            <a:xfrm>
              <a:off x="6587622" y="2872853"/>
              <a:ext cx="748145" cy="7481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36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DDA0EC2-FE6B-48B0-A2CE-458E1443D45C}"/>
                </a:ext>
              </a:extLst>
            </p:cNvPr>
            <p:cNvCxnSpPr>
              <a:cxnSpLocks/>
              <a:stCxn id="92" idx="6"/>
            </p:cNvCxnSpPr>
            <p:nvPr/>
          </p:nvCxnSpPr>
          <p:spPr>
            <a:xfrm>
              <a:off x="7335767" y="3246926"/>
              <a:ext cx="455683" cy="0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DAB82054-2290-48F4-A9C5-61B067FF7238}"/>
                </a:ext>
              </a:extLst>
            </p:cNvPr>
            <p:cNvSpPr/>
            <p:nvPr/>
          </p:nvSpPr>
          <p:spPr>
            <a:xfrm>
              <a:off x="7831455" y="3228257"/>
              <a:ext cx="68580" cy="4571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D800908-D2A5-494D-A80A-2A2832A4212B}"/>
                </a:ext>
              </a:extLst>
            </p:cNvPr>
            <p:cNvSpPr/>
            <p:nvPr/>
          </p:nvSpPr>
          <p:spPr>
            <a:xfrm>
              <a:off x="7979093" y="3224066"/>
              <a:ext cx="68580" cy="4571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E15FACB-C78B-4B1A-B3E2-C59BE5C9B1FB}"/>
                </a:ext>
              </a:extLst>
            </p:cNvPr>
            <p:cNvSpPr/>
            <p:nvPr/>
          </p:nvSpPr>
          <p:spPr>
            <a:xfrm>
              <a:off x="8126731" y="3224330"/>
              <a:ext cx="68580" cy="4571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9C3255AD-A04F-476C-9667-A5672B47AD18}"/>
                </a:ext>
              </a:extLst>
            </p:cNvPr>
            <p:cNvCxnSpPr>
              <a:cxnSpLocks/>
              <a:endCxn id="98" idx="2"/>
            </p:cNvCxnSpPr>
            <p:nvPr/>
          </p:nvCxnSpPr>
          <p:spPr>
            <a:xfrm>
              <a:off x="8232488" y="3251208"/>
              <a:ext cx="396599" cy="0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0CBD6784-746B-4294-B9FC-F04A2CFB62F3}"/>
                </a:ext>
              </a:extLst>
            </p:cNvPr>
            <p:cNvSpPr/>
            <p:nvPr/>
          </p:nvSpPr>
          <p:spPr>
            <a:xfrm>
              <a:off x="8629087" y="2877135"/>
              <a:ext cx="748145" cy="74814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6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D9A9801-C4C3-4702-B3BB-35012A558221}"/>
                </a:ext>
              </a:extLst>
            </p:cNvPr>
            <p:cNvCxnSpPr>
              <a:cxnSpLocks/>
              <a:stCxn id="98" idx="6"/>
              <a:endCxn id="100" idx="2"/>
            </p:cNvCxnSpPr>
            <p:nvPr/>
          </p:nvCxnSpPr>
          <p:spPr>
            <a:xfrm>
              <a:off x="9377232" y="3251208"/>
              <a:ext cx="586794" cy="0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778CF25-33DD-4435-839E-B79F949800E7}"/>
                </a:ext>
              </a:extLst>
            </p:cNvPr>
            <p:cNvSpPr/>
            <p:nvPr/>
          </p:nvSpPr>
          <p:spPr>
            <a:xfrm>
              <a:off x="9964026" y="2877135"/>
              <a:ext cx="748145" cy="74814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6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C0E0466-FA1A-4E61-B71C-AE4052866244}"/>
                </a:ext>
              </a:extLst>
            </p:cNvPr>
            <p:cNvCxnSpPr>
              <a:endCxn id="88" idx="4"/>
            </p:cNvCxnSpPr>
            <p:nvPr/>
          </p:nvCxnSpPr>
          <p:spPr>
            <a:xfrm flipV="1">
              <a:off x="4679950" y="3620999"/>
              <a:ext cx="1783" cy="344576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D7A3964-D5AF-43B8-87A5-37B1BF0ED16E}"/>
                </a:ext>
              </a:extLst>
            </p:cNvPr>
            <p:cNvCxnSpPr>
              <a:stCxn id="88" idx="0"/>
            </p:cNvCxnSpPr>
            <p:nvPr/>
          </p:nvCxnSpPr>
          <p:spPr>
            <a:xfrm flipH="1" flipV="1">
              <a:off x="4679950" y="2447925"/>
              <a:ext cx="1783" cy="424928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AF52A18D-BA39-4417-ADA5-BCFBD079E055}"/>
                </a:ext>
              </a:extLst>
            </p:cNvPr>
            <p:cNvCxnSpPr>
              <a:endCxn id="90" idx="4"/>
            </p:cNvCxnSpPr>
            <p:nvPr/>
          </p:nvCxnSpPr>
          <p:spPr>
            <a:xfrm flipV="1">
              <a:off x="5816951" y="3620999"/>
              <a:ext cx="0" cy="344576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C9C7823-9C79-43BA-97BC-72C4CFC480DA}"/>
                </a:ext>
              </a:extLst>
            </p:cNvPr>
            <p:cNvCxnSpPr>
              <a:stCxn id="90" idx="0"/>
            </p:cNvCxnSpPr>
            <p:nvPr/>
          </p:nvCxnSpPr>
          <p:spPr>
            <a:xfrm flipV="1">
              <a:off x="5816951" y="2447925"/>
              <a:ext cx="0" cy="424928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615DC3F3-BE44-4424-A0FD-F5DE173A2757}"/>
                </a:ext>
              </a:extLst>
            </p:cNvPr>
            <p:cNvCxnSpPr>
              <a:endCxn id="92" idx="4"/>
            </p:cNvCxnSpPr>
            <p:nvPr/>
          </p:nvCxnSpPr>
          <p:spPr>
            <a:xfrm flipV="1">
              <a:off x="6961695" y="3620999"/>
              <a:ext cx="0" cy="344576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6AA696E5-F269-4EDF-B363-E563BC294BB9}"/>
                </a:ext>
              </a:extLst>
            </p:cNvPr>
            <p:cNvCxnSpPr>
              <a:stCxn id="92" idx="0"/>
            </p:cNvCxnSpPr>
            <p:nvPr/>
          </p:nvCxnSpPr>
          <p:spPr>
            <a:xfrm flipV="1">
              <a:off x="6961695" y="2447925"/>
              <a:ext cx="0" cy="424928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2E2DA44-9760-49A2-A853-02E5FCD5FA1D}"/>
                </a:ext>
              </a:extLst>
            </p:cNvPr>
            <p:cNvCxnSpPr>
              <a:stCxn id="98" idx="0"/>
            </p:cNvCxnSpPr>
            <p:nvPr/>
          </p:nvCxnSpPr>
          <p:spPr>
            <a:xfrm flipV="1">
              <a:off x="9003160" y="2439899"/>
              <a:ext cx="7132" cy="437236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C99B33B3-C9F1-41B7-B115-7830D6F6D4B0}"/>
                </a:ext>
              </a:extLst>
            </p:cNvPr>
            <p:cNvCxnSpPr>
              <a:stCxn id="100" idx="0"/>
            </p:cNvCxnSpPr>
            <p:nvPr/>
          </p:nvCxnSpPr>
          <p:spPr>
            <a:xfrm flipV="1">
              <a:off x="10338099" y="2439899"/>
              <a:ext cx="7131" cy="437236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04AB9A8E-B385-44CC-9E9D-90607C8B8E19}"/>
                </a:ext>
              </a:extLst>
            </p:cNvPr>
            <p:cNvCxnSpPr>
              <a:endCxn id="98" idx="4"/>
            </p:cNvCxnSpPr>
            <p:nvPr/>
          </p:nvCxnSpPr>
          <p:spPr>
            <a:xfrm flipV="1">
              <a:off x="9003158" y="3625281"/>
              <a:ext cx="2" cy="340294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60DB12AA-2D27-4B8F-99EC-6848BF026AAD}"/>
                </a:ext>
              </a:extLst>
            </p:cNvPr>
            <p:cNvCxnSpPr>
              <a:endCxn id="100" idx="4"/>
            </p:cNvCxnSpPr>
            <p:nvPr/>
          </p:nvCxnSpPr>
          <p:spPr>
            <a:xfrm flipH="1" flipV="1">
              <a:off x="10338099" y="3625281"/>
              <a:ext cx="7131" cy="340294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7BF48EA-805D-4EAE-AF85-4D38A7A8CCCE}"/>
                    </a:ext>
                  </a:extLst>
                </p:cNvPr>
                <p:cNvSpPr txBox="1"/>
                <p:nvPr/>
              </p:nvSpPr>
              <p:spPr>
                <a:xfrm>
                  <a:off x="4467877" y="303900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7BF48EA-805D-4EAE-AF85-4D38A7A8C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7877" y="3039000"/>
                  <a:ext cx="25518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3571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8E2F16E6-3939-4608-83B3-2B910BE806A8}"/>
                    </a:ext>
                  </a:extLst>
                </p:cNvPr>
                <p:cNvSpPr txBox="1"/>
                <p:nvPr/>
              </p:nvSpPr>
              <p:spPr>
                <a:xfrm>
                  <a:off x="5614853" y="306202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8E2F16E6-3939-4608-83B3-2B910BE80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4853" y="3062029"/>
                  <a:ext cx="255187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380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360F4CA-3676-458E-8A46-87895A2EA12A}"/>
                    </a:ext>
                  </a:extLst>
                </p:cNvPr>
                <p:cNvSpPr txBox="1"/>
                <p:nvPr/>
              </p:nvSpPr>
              <p:spPr>
                <a:xfrm>
                  <a:off x="6754687" y="306202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2360F4CA-3676-458E-8A46-87895A2EA1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687" y="3062029"/>
                  <a:ext cx="255187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404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49F8465D-AD09-46C5-B964-C6C3802CB349}"/>
                    </a:ext>
                  </a:extLst>
                </p:cNvPr>
                <p:cNvSpPr txBox="1"/>
                <p:nvPr/>
              </p:nvSpPr>
              <p:spPr>
                <a:xfrm>
                  <a:off x="10136129" y="3062029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49F8465D-AD09-46C5-B964-C6C3802CB3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6129" y="3062029"/>
                  <a:ext cx="340316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9A598F4-7946-4F88-839C-0ED28A26E1AC}"/>
                    </a:ext>
                  </a:extLst>
                </p:cNvPr>
                <p:cNvSpPr txBox="1"/>
                <p:nvPr/>
              </p:nvSpPr>
              <p:spPr>
                <a:xfrm>
                  <a:off x="8729335" y="303900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9A598F4-7946-4F88-839C-0ED28A26E1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9335" y="3039000"/>
                  <a:ext cx="255187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11904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A1A2D3A-6F6E-41FF-9FC4-E9E0179731FD}"/>
                    </a:ext>
                  </a:extLst>
                </p:cNvPr>
                <p:cNvSpPr txBox="1"/>
                <p:nvPr/>
              </p:nvSpPr>
              <p:spPr>
                <a:xfrm>
                  <a:off x="4268444" y="252827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A1A2D3A-6F6E-41FF-9FC4-E9E017973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8444" y="2528277"/>
                  <a:ext cx="255187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DC4F249-C764-4025-9468-04327C036A22}"/>
                    </a:ext>
                  </a:extLst>
                </p:cNvPr>
                <p:cNvSpPr txBox="1"/>
                <p:nvPr/>
              </p:nvSpPr>
              <p:spPr>
                <a:xfrm>
                  <a:off x="5336693" y="255285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DC4F249-C764-4025-9468-04327C036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6693" y="2552857"/>
                  <a:ext cx="255187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609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E374D010-B0EC-456E-A285-27135D4D1079}"/>
                    </a:ext>
                  </a:extLst>
                </p:cNvPr>
                <p:cNvSpPr txBox="1"/>
                <p:nvPr/>
              </p:nvSpPr>
              <p:spPr>
                <a:xfrm>
                  <a:off x="9912617" y="2483343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E374D010-B0EC-456E-A285-27135D4D1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2617" y="2483343"/>
                  <a:ext cx="255187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4F7AF5F6-D467-4C77-ACC9-12B009C7C461}"/>
                    </a:ext>
                  </a:extLst>
                </p:cNvPr>
                <p:cNvSpPr txBox="1"/>
                <p:nvPr/>
              </p:nvSpPr>
              <p:spPr>
                <a:xfrm>
                  <a:off x="6508207" y="254402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4F7AF5F6-D467-4C77-ACC9-12B009C7C4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207" y="2544026"/>
                  <a:ext cx="255187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8EC5B424-3071-49BA-B49B-FDF53BCC448B}"/>
                    </a:ext>
                  </a:extLst>
                </p:cNvPr>
                <p:cNvSpPr txBox="1"/>
                <p:nvPr/>
              </p:nvSpPr>
              <p:spPr>
                <a:xfrm>
                  <a:off x="8501493" y="2568591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8EC5B424-3071-49BA-B49B-FDF53BCC44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1493" y="2568591"/>
                  <a:ext cx="255187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78EE967-17B0-4DA2-9453-C4BEBB6FE951}"/>
                    </a:ext>
                  </a:extLst>
                </p:cNvPr>
                <p:cNvSpPr txBox="1"/>
                <p:nvPr/>
              </p:nvSpPr>
              <p:spPr>
                <a:xfrm>
                  <a:off x="9892717" y="35644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C78EE967-17B0-4DA2-9453-C4BEBB6FE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2717" y="3564494"/>
                  <a:ext cx="255187" cy="369332"/>
                </a:xfrm>
                <a:prstGeom prst="rect">
                  <a:avLst/>
                </a:prstGeom>
                <a:blipFill>
                  <a:blip r:embed="rId21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53ABA35-138E-4525-8C04-F0F7F1368CC9}"/>
                    </a:ext>
                  </a:extLst>
                </p:cNvPr>
                <p:cNvSpPr txBox="1"/>
                <p:nvPr/>
              </p:nvSpPr>
              <p:spPr>
                <a:xfrm>
                  <a:off x="8507906" y="3577595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53ABA35-138E-4525-8C04-F0F7F1368C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7906" y="3577595"/>
                  <a:ext cx="255187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D521A94-70FB-48EC-BBC1-C28E4889E593}"/>
                    </a:ext>
                  </a:extLst>
                </p:cNvPr>
                <p:cNvSpPr txBox="1"/>
                <p:nvPr/>
              </p:nvSpPr>
              <p:spPr>
                <a:xfrm>
                  <a:off x="6478586" y="35644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D521A94-70FB-48EC-BBC1-C28E4889E5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8586" y="3564494"/>
                  <a:ext cx="255187" cy="369332"/>
                </a:xfrm>
                <a:prstGeom prst="rect">
                  <a:avLst/>
                </a:prstGeom>
                <a:blipFill>
                  <a:blip r:embed="rId23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B8B0A9D-AD91-49FE-8D5F-5A087C39662A}"/>
                    </a:ext>
                  </a:extLst>
                </p:cNvPr>
                <p:cNvSpPr txBox="1"/>
                <p:nvPr/>
              </p:nvSpPr>
              <p:spPr>
                <a:xfrm>
                  <a:off x="5334941" y="3554601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1B8B0A9D-AD91-49FE-8D5F-5A087C396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941" y="3554601"/>
                  <a:ext cx="255187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2B41061-0C41-4F86-BAA1-94F6A8D98044}"/>
                    </a:ext>
                  </a:extLst>
                </p:cNvPr>
                <p:cNvSpPr txBox="1"/>
                <p:nvPr/>
              </p:nvSpPr>
              <p:spPr>
                <a:xfrm>
                  <a:off x="4169215" y="3554601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2B41061-0C41-4F86-BAA1-94F6A8D98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9215" y="3554601"/>
                  <a:ext cx="255187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EDD87ED-9AED-4EAA-ACEF-AAF355260764}"/>
                    </a:ext>
                  </a:extLst>
                </p:cNvPr>
                <p:cNvSpPr txBox="1"/>
                <p:nvPr/>
              </p:nvSpPr>
              <p:spPr>
                <a:xfrm>
                  <a:off x="8856928" y="3982985"/>
                  <a:ext cx="4814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1EDD87ED-9AED-4EAA-ACEF-AAF3552607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6928" y="3982985"/>
                  <a:ext cx="481478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6329" r="-5063" b="-177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70BE464-8778-4A31-A161-6CA356450E75}"/>
                    </a:ext>
                  </a:extLst>
                </p:cNvPr>
                <p:cNvSpPr txBox="1"/>
                <p:nvPr/>
              </p:nvSpPr>
              <p:spPr>
                <a:xfrm>
                  <a:off x="10294365" y="3968434"/>
                  <a:ext cx="2618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70BE464-8778-4A31-A161-6CA356450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4365" y="3968434"/>
                  <a:ext cx="261867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13953" r="-4651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45F503D6-C9E8-48E4-9CE0-3E85D23749CA}"/>
                    </a:ext>
                  </a:extLst>
                </p:cNvPr>
                <p:cNvSpPr txBox="1"/>
                <p:nvPr/>
              </p:nvSpPr>
              <p:spPr>
                <a:xfrm>
                  <a:off x="4523537" y="3998023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45F503D6-C9E8-48E4-9CE0-3E85D23749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3537" y="3998023"/>
                  <a:ext cx="281424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13043" r="-8696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7A1A20BB-1C82-45EF-B7AB-E998E97E830F}"/>
                    </a:ext>
                  </a:extLst>
                </p:cNvPr>
                <p:cNvSpPr txBox="1"/>
                <p:nvPr/>
              </p:nvSpPr>
              <p:spPr>
                <a:xfrm>
                  <a:off x="5614304" y="3986527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7A1A20BB-1C82-45EF-B7AB-E998E97E8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4304" y="3986527"/>
                  <a:ext cx="276101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13333" r="-8889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BC3F0624-3B22-4EEC-B2A2-9165D26A8FB4}"/>
                    </a:ext>
                  </a:extLst>
                </p:cNvPr>
                <p:cNvSpPr txBox="1"/>
                <p:nvPr/>
              </p:nvSpPr>
              <p:spPr>
                <a:xfrm>
                  <a:off x="6869162" y="3980694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BC3F0624-3B22-4EEC-B2A2-9165D26A8F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9162" y="3980694"/>
                  <a:ext cx="281424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13043" r="-8696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5EEA6924-BAAF-41E4-858D-2C5BAFC6F373}"/>
                    </a:ext>
                  </a:extLst>
                </p:cNvPr>
                <p:cNvSpPr txBox="1"/>
                <p:nvPr/>
              </p:nvSpPr>
              <p:spPr>
                <a:xfrm>
                  <a:off x="4503234" y="206236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5EEA6924-BAAF-41E4-858D-2C5BAFC6F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234" y="2062369"/>
                  <a:ext cx="255187" cy="369332"/>
                </a:xfrm>
                <a:prstGeom prst="rect">
                  <a:avLst/>
                </a:prstGeom>
                <a:blipFill>
                  <a:blip r:embed="rId31"/>
                  <a:stretch>
                    <a:fillRect r="-33333" b="-65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8051C0CA-273D-4B9C-8EDA-0F5D44FF7BA2}"/>
                    </a:ext>
                  </a:extLst>
                </p:cNvPr>
                <p:cNvSpPr txBox="1"/>
                <p:nvPr/>
              </p:nvSpPr>
              <p:spPr>
                <a:xfrm>
                  <a:off x="5590128" y="20535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8051C0CA-273D-4B9C-8EDA-0F5D44FF7B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128" y="2053597"/>
                  <a:ext cx="255187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42857" b="-8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6E815B04-AFDE-48C5-B417-7E038B73CC76}"/>
                    </a:ext>
                  </a:extLst>
                </p:cNvPr>
                <p:cNvSpPr txBox="1"/>
                <p:nvPr/>
              </p:nvSpPr>
              <p:spPr>
                <a:xfrm>
                  <a:off x="6754687" y="2062348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6E815B04-AFDE-48C5-B417-7E038B73C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687" y="2062348"/>
                  <a:ext cx="395899" cy="369332"/>
                </a:xfrm>
                <a:prstGeom prst="rect">
                  <a:avLst/>
                </a:prstGeom>
                <a:blipFill>
                  <a:blip r:embed="rId3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FD95A942-220E-4947-BCB5-0AED77849F93}"/>
                    </a:ext>
                  </a:extLst>
                </p:cNvPr>
                <p:cNvSpPr txBox="1"/>
                <p:nvPr/>
              </p:nvSpPr>
              <p:spPr>
                <a:xfrm>
                  <a:off x="10006849" y="2053597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FD95A942-220E-4947-BCB5-0AED77849F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6849" y="2053597"/>
                  <a:ext cx="395899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E5C09CB3-210D-4A06-916A-0D962765E352}"/>
                    </a:ext>
                  </a:extLst>
                </p:cNvPr>
                <p:cNvSpPr txBox="1"/>
                <p:nvPr/>
              </p:nvSpPr>
              <p:spPr>
                <a:xfrm>
                  <a:off x="8764755" y="2061862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E5C09CB3-210D-4A06-916A-0D962765E3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4755" y="2061862"/>
                  <a:ext cx="395899" cy="369332"/>
                </a:xfrm>
                <a:prstGeom prst="rect">
                  <a:avLst/>
                </a:prstGeom>
                <a:blipFill>
                  <a:blip r:embed="rId35"/>
                  <a:stretch>
                    <a:fillRect r="-43077" b="-8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9F14997C-CB35-4A0B-9DE1-6BA404B8B2EF}"/>
                    </a:ext>
                  </a:extLst>
                </p:cNvPr>
                <p:cNvSpPr txBox="1"/>
                <p:nvPr/>
              </p:nvSpPr>
              <p:spPr>
                <a:xfrm>
                  <a:off x="5081902" y="2949385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9F14997C-CB35-4A0B-9DE1-6BA404B8B2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1902" y="2949385"/>
                  <a:ext cx="288477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21277" r="-6383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E84BD7B1-632E-4BE3-8EF5-3675CD66AE5D}"/>
                    </a:ext>
                  </a:extLst>
                </p:cNvPr>
                <p:cNvSpPr txBox="1"/>
                <p:nvPr/>
              </p:nvSpPr>
              <p:spPr>
                <a:xfrm>
                  <a:off x="6321345" y="294343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E84BD7B1-632E-4BE3-8EF5-3675CD66AE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1345" y="2943432"/>
                  <a:ext cx="288477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19149" r="-8511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99955EC6-C501-466D-B7CA-71B05A9F3988}"/>
                    </a:ext>
                  </a:extLst>
                </p:cNvPr>
                <p:cNvSpPr txBox="1"/>
                <p:nvPr/>
              </p:nvSpPr>
              <p:spPr>
                <a:xfrm>
                  <a:off x="5065378" y="325166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99955EC6-C501-466D-B7CA-71B05A9F3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5378" y="3251667"/>
                  <a:ext cx="255187" cy="369332"/>
                </a:xfrm>
                <a:prstGeom prst="rect">
                  <a:avLst/>
                </a:prstGeom>
                <a:blipFill>
                  <a:blip r:embed="rId38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F52CD95-4810-4264-9590-6FF984792C22}"/>
                    </a:ext>
                  </a:extLst>
                </p:cNvPr>
                <p:cNvSpPr txBox="1"/>
                <p:nvPr/>
              </p:nvSpPr>
              <p:spPr>
                <a:xfrm>
                  <a:off x="6210397" y="3244965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F52CD95-4810-4264-9590-6FF984792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397" y="3244965"/>
                  <a:ext cx="255187" cy="369332"/>
                </a:xfrm>
                <a:prstGeom prst="rect">
                  <a:avLst/>
                </a:prstGeom>
                <a:blipFill>
                  <a:blip r:embed="rId39"/>
                  <a:stretch>
                    <a:fillRect r="-7381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8734B021-1A14-46C0-B22B-8079D22883D9}"/>
                    </a:ext>
                  </a:extLst>
                </p:cNvPr>
                <p:cNvSpPr txBox="1"/>
                <p:nvPr/>
              </p:nvSpPr>
              <p:spPr>
                <a:xfrm>
                  <a:off x="8107267" y="2913049"/>
                  <a:ext cx="4885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8734B021-1A14-46C0-B22B-8079D22883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267" y="2913049"/>
                  <a:ext cx="488532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11250" r="-500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63756050-3A89-4C0F-B24E-63B5ABEDD6DD}"/>
                    </a:ext>
                  </a:extLst>
                </p:cNvPr>
                <p:cNvSpPr txBox="1"/>
                <p:nvPr/>
              </p:nvSpPr>
              <p:spPr>
                <a:xfrm>
                  <a:off x="9366704" y="2924833"/>
                  <a:ext cx="4885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63756050-3A89-4C0F-B24E-63B5ABEDD6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6704" y="2924833"/>
                  <a:ext cx="488531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11250" r="-3750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34D52BF4-0FD7-46E5-80B1-B6F6465981BD}"/>
                    </a:ext>
                  </a:extLst>
                </p:cNvPr>
                <p:cNvSpPr txBox="1"/>
                <p:nvPr/>
              </p:nvSpPr>
              <p:spPr>
                <a:xfrm>
                  <a:off x="8195200" y="322825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34D52BF4-0FD7-46E5-80B1-B6F646598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5200" y="3228257"/>
                  <a:ext cx="255187" cy="369332"/>
                </a:xfrm>
                <a:prstGeom prst="rect">
                  <a:avLst/>
                </a:prstGeom>
                <a:blipFill>
                  <a:blip r:embed="rId42"/>
                  <a:stretch>
                    <a:fillRect r="-78049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A67F6CA9-BCBD-4B2E-ACF0-62C94BB60E2A}"/>
                    </a:ext>
                  </a:extLst>
                </p:cNvPr>
                <p:cNvSpPr txBox="1"/>
                <p:nvPr/>
              </p:nvSpPr>
              <p:spPr>
                <a:xfrm>
                  <a:off x="9431750" y="322278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A67F6CA9-BCBD-4B2E-ACF0-62C94BB60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1750" y="3222786"/>
                  <a:ext cx="255187" cy="369332"/>
                </a:xfrm>
                <a:prstGeom prst="rect">
                  <a:avLst/>
                </a:prstGeom>
                <a:blipFill>
                  <a:blip r:embed="rId43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862F0D0-FB7B-44C0-AEFD-B2CB130007D9}"/>
              </a:ext>
            </a:extLst>
          </p:cNvPr>
          <p:cNvCxnSpPr>
            <a:cxnSpLocks/>
          </p:cNvCxnSpPr>
          <p:nvPr/>
        </p:nvCxnSpPr>
        <p:spPr>
          <a:xfrm>
            <a:off x="10701287" y="5226880"/>
            <a:ext cx="444226" cy="7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CEE47D3-DD8C-4F9E-A2B4-9E7BC7DA4DAC}"/>
                  </a:ext>
                </a:extLst>
              </p:cNvPr>
              <p:cNvSpPr txBox="1"/>
              <p:nvPr/>
            </p:nvSpPr>
            <p:spPr>
              <a:xfrm>
                <a:off x="10840061" y="4902388"/>
                <a:ext cx="2689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CEE47D3-DD8C-4F9E-A2B4-9E7BC7DA4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061" y="4902388"/>
                <a:ext cx="268920" cy="276999"/>
              </a:xfrm>
              <a:prstGeom prst="rect">
                <a:avLst/>
              </a:prstGeom>
              <a:blipFill>
                <a:blip r:embed="rId44"/>
                <a:stretch>
                  <a:fillRect l="-22727" r="-4545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00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61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Problems of Simple RNN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301" y="1559294"/>
            <a:ext cx="10515600" cy="5118343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A major limitation of Recurrent Neural Networks (RNNs) is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vanishing gradient problem</a:t>
            </a:r>
            <a:r>
              <a:rPr lang="en-US" sz="2000" dirty="0">
                <a:latin typeface="Arial Narrow" panose="020B0606020202030204" pitchFamily="34" charset="0"/>
              </a:rPr>
              <a:t> that occurs during Backpropagation Through Time (BPTT). </a:t>
            </a:r>
          </a:p>
          <a:p>
            <a:pPr algn="just">
              <a:lnSpc>
                <a:spcPct val="11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As gradients are propagated backward across multiple time steps, they are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repeatedly multiplied by recurrent weights and activation-function derivatives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10000"/>
              </a:lnSpc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When these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values are less than one</a:t>
            </a:r>
            <a:r>
              <a:rPr lang="en-US" sz="2000" dirty="0">
                <a:latin typeface="Arial Narrow" panose="020B0606020202030204" pitchFamily="34" charset="0"/>
              </a:rPr>
              <a:t>,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gradient magnitude decreases exponentially</a:t>
            </a:r>
            <a:r>
              <a:rPr lang="en-US" sz="2000" dirty="0">
                <a:latin typeface="Arial Narrow" panose="020B0606020202030204" pitchFamily="34" charset="0"/>
              </a:rPr>
              <a:t>, causing the gradients associated with earlier time steps to become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extremely small or approach zero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2000" dirty="0">
                <a:latin typeface="Arial Narrow" panose="020B0606020202030204" pitchFamily="34" charset="0"/>
              </a:rPr>
              <a:t>Consequently, the corresponding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weight updates become ineffective</a:t>
            </a:r>
            <a:r>
              <a:rPr lang="en-US" sz="2000" dirty="0">
                <a:latin typeface="Arial Narrow" panose="020B0606020202030204" pitchFamily="34" charset="0"/>
              </a:rPr>
              <a:t>, making it difficult for the network to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learn information from distant time steps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1509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C6214-95C9-495E-9D09-84EE6476D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This leads to another significant limitation: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difficulty in learning long-term dependencies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 simple RNN tends to give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greater importance to recent inputs while gradually losing information from earlier inputs</a:t>
            </a:r>
            <a:r>
              <a:rPr lang="en-US" sz="2400" dirty="0">
                <a:latin typeface="Arial Narrow" panose="020B0606020202030204" pitchFamily="34" charset="0"/>
              </a:rPr>
              <a:t>, thereby limiting its ability to capture relationships across long sequences.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Furthermore, RNNs suffer from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sequential computation</a:t>
            </a:r>
            <a:r>
              <a:rPr lang="en-US" sz="2400" dirty="0">
                <a:latin typeface="Arial Narrow" panose="020B0606020202030204" pitchFamily="34" charset="0"/>
              </a:rPr>
              <a:t>, since the hidden state at each time step depends on the hidden state from the preceding step.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As a result, the computations cannot be fully parallelized across time steps, leading to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slower training </a:t>
            </a:r>
            <a:r>
              <a:rPr lang="en-US" sz="2400" dirty="0">
                <a:latin typeface="Arial Narrow" panose="020B0606020202030204" pitchFamily="34" charset="0"/>
              </a:rPr>
              <a:t>and </a:t>
            </a:r>
            <a:r>
              <a:rPr lang="en-US" sz="2400" dirty="0">
                <a:solidFill>
                  <a:srgbClr val="00B0F0"/>
                </a:solidFill>
                <a:latin typeface="Arial Narrow" panose="020B0606020202030204" pitchFamily="34" charset="0"/>
              </a:rPr>
              <a:t>reduced GPU utilization</a:t>
            </a:r>
            <a:r>
              <a:rPr lang="en-US" sz="2400" dirty="0">
                <a:latin typeface="Arial Narrow" panose="020B0606020202030204" pitchFamily="34" charset="0"/>
              </a:rPr>
              <a:t>, particularly when processing long sequences.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424BF1-4C15-4484-AAA0-7417F9E46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61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Problems of Simple RNN</a:t>
            </a:r>
          </a:p>
        </p:txBody>
      </p:sp>
    </p:spTree>
    <p:extLst>
      <p:ext uri="{BB962C8B-B14F-4D97-AF65-F5344CB8AC3E}">
        <p14:creationId xmlns:p14="http://schemas.microsoft.com/office/powerpoint/2010/main" val="385171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99" y="298917"/>
            <a:ext cx="10515600" cy="92687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85807" y="1413490"/>
                <a:ext cx="4736977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Backpropagation through time (BPTT)</a:t>
                </a:r>
              </a:p>
              <a:p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With the following equation, we derive the error gradient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IN" sz="32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sz="32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 in,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this </a:t>
                </a:r>
                <a:r>
                  <a:rPr lang="en-IN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t may be far apart, let say, t=T and </a:t>
                </a:r>
                <a:r>
                  <a:rPr lang="en-IN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=1 (and T may be a large no. say 50)</a:t>
                </a:r>
              </a:p>
              <a:p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07" y="1413490"/>
                <a:ext cx="4736977" cy="4351338"/>
              </a:xfrm>
              <a:blipFill>
                <a:blip r:embed="rId2"/>
                <a:stretch>
                  <a:fillRect l="-1673" t="-2661" r="-12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21DC646-F7DF-4672-B369-C41229145844}"/>
                  </a:ext>
                </a:extLst>
              </p:cNvPr>
              <p:cNvSpPr/>
              <p:nvPr/>
            </p:nvSpPr>
            <p:spPr>
              <a:xfrm>
                <a:off x="1259499" y="3179375"/>
                <a:ext cx="3655296" cy="7819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  <a:alpha val="55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IN" dirty="0">
                    <a:solidFill>
                      <a:srgbClr val="00B0F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8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en-IN" sz="28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21DC646-F7DF-4672-B369-C412291458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99" y="3179375"/>
                <a:ext cx="3655296" cy="7819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/>
          <p:cNvGrpSpPr/>
          <p:nvPr/>
        </p:nvGrpSpPr>
        <p:grpSpPr>
          <a:xfrm>
            <a:off x="6467023" y="2586804"/>
            <a:ext cx="5295712" cy="3355139"/>
            <a:chOff x="6512743" y="2403924"/>
            <a:chExt cx="5295712" cy="3355139"/>
          </a:xfrm>
        </p:grpSpPr>
        <p:sp>
          <p:nvSpPr>
            <p:cNvPr id="70" name="Oval 69"/>
            <p:cNvSpPr/>
            <p:nvPr/>
          </p:nvSpPr>
          <p:spPr>
            <a:xfrm>
              <a:off x="7368825" y="3494463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1" name="Oval 70"/>
            <p:cNvSpPr/>
            <p:nvPr/>
          </p:nvSpPr>
          <p:spPr>
            <a:xfrm>
              <a:off x="6620680" y="4368390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1" idx="6"/>
              <a:endCxn id="73" idx="2"/>
            </p:cNvCxnSpPr>
            <p:nvPr/>
          </p:nvCxnSpPr>
          <p:spPr>
            <a:xfrm>
              <a:off x="7368825" y="4742463"/>
              <a:ext cx="396599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7765424" y="4368390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3" idx="6"/>
              <a:endCxn id="75" idx="2"/>
            </p:cNvCxnSpPr>
            <p:nvPr/>
          </p:nvCxnSpPr>
          <p:spPr>
            <a:xfrm>
              <a:off x="8513569" y="4742463"/>
              <a:ext cx="520960" cy="428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9034529" y="4372672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5" idx="6"/>
              <a:endCxn id="77" idx="2"/>
            </p:cNvCxnSpPr>
            <p:nvPr/>
          </p:nvCxnSpPr>
          <p:spPr>
            <a:xfrm>
              <a:off x="9782674" y="4746745"/>
              <a:ext cx="586794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>
            <a:xfrm>
              <a:off x="10369468" y="4372672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8" name="Straight Arrow Connector 77"/>
            <p:cNvCxnSpPr>
              <a:endCxn id="71" idx="4"/>
            </p:cNvCxnSpPr>
            <p:nvPr/>
          </p:nvCxnSpPr>
          <p:spPr>
            <a:xfrm flipV="1">
              <a:off x="6994753" y="5116536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1" idx="0"/>
            </p:cNvCxnSpPr>
            <p:nvPr/>
          </p:nvCxnSpPr>
          <p:spPr>
            <a:xfrm flipV="1">
              <a:off x="6994753" y="3943462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endCxn id="73" idx="4"/>
            </p:cNvCxnSpPr>
            <p:nvPr/>
          </p:nvCxnSpPr>
          <p:spPr>
            <a:xfrm flipV="1">
              <a:off x="8139497" y="5116536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3" idx="0"/>
            </p:cNvCxnSpPr>
            <p:nvPr/>
          </p:nvCxnSpPr>
          <p:spPr>
            <a:xfrm flipV="1">
              <a:off x="8139497" y="3943462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5" idx="0"/>
            </p:cNvCxnSpPr>
            <p:nvPr/>
          </p:nvCxnSpPr>
          <p:spPr>
            <a:xfrm flipV="1">
              <a:off x="9408602" y="3935436"/>
              <a:ext cx="7132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7" idx="0"/>
            </p:cNvCxnSpPr>
            <p:nvPr/>
          </p:nvCxnSpPr>
          <p:spPr>
            <a:xfrm flipV="1">
              <a:off x="10743541" y="3935436"/>
              <a:ext cx="7131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endCxn id="75" idx="4"/>
            </p:cNvCxnSpPr>
            <p:nvPr/>
          </p:nvCxnSpPr>
          <p:spPr>
            <a:xfrm flipV="1">
              <a:off x="9408600" y="5120818"/>
              <a:ext cx="2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endCxn id="77" idx="4"/>
            </p:cNvCxnSpPr>
            <p:nvPr/>
          </p:nvCxnSpPr>
          <p:spPr>
            <a:xfrm flipH="1" flipV="1">
              <a:off x="10743541" y="5120818"/>
              <a:ext cx="7131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792655" y="455756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655" y="4557566"/>
                  <a:ext cx="255187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5714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932489" y="455756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2489" y="4557566"/>
                  <a:ext cx="25518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38095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541571" y="4557566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1571" y="4557566"/>
                  <a:ext cx="34031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3571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199651" y="4555836"/>
                  <a:ext cx="438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651" y="4555836"/>
                  <a:ext cx="43804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514495" y="40483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4495" y="4048394"/>
                  <a:ext cx="25518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298159" y="404637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159" y="4046372"/>
                  <a:ext cx="25518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686009" y="4039563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6009" y="4039563"/>
                  <a:ext cx="255187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906935" y="406412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6935" y="4064128"/>
                  <a:ext cx="25518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609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10298159" y="5060031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159" y="5060031"/>
                  <a:ext cx="255187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8913348" y="50731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3348" y="5073132"/>
                  <a:ext cx="255187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7656388" y="5060031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6388" y="5060031"/>
                  <a:ext cx="255187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6512743" y="505013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2743" y="5050138"/>
                  <a:ext cx="255187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/>
                <p:nvPr/>
              </p:nvSpPr>
              <p:spPr>
                <a:xfrm>
                  <a:off x="9262370" y="5478522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2370" y="5478522"/>
                  <a:ext cx="281423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043" r="-6522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/>
                <p:nvPr/>
              </p:nvSpPr>
              <p:spPr>
                <a:xfrm>
                  <a:off x="10699807" y="5463971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9807" y="5463971"/>
                  <a:ext cx="281423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/>
                <p:nvPr/>
              </p:nvSpPr>
              <p:spPr>
                <a:xfrm>
                  <a:off x="6792106" y="5482064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106" y="5482064"/>
                  <a:ext cx="276101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3333" r="-6667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/>
                <p:nvPr/>
              </p:nvSpPr>
              <p:spPr>
                <a:xfrm>
                  <a:off x="8046964" y="5476231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964" y="5476231"/>
                  <a:ext cx="281424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767930" y="3549134"/>
                  <a:ext cx="3183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7930" y="3549134"/>
                  <a:ext cx="318364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211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932489" y="3557885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2489" y="3557885"/>
                  <a:ext cx="39589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412291" y="3549134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291" y="3549134"/>
                  <a:ext cx="395899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170197" y="3557399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0197" y="3557399"/>
                  <a:ext cx="395899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/>
                <p:nvPr/>
              </p:nvSpPr>
              <p:spPr>
                <a:xfrm>
                  <a:off x="7416851" y="4402393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851" y="4402393"/>
                  <a:ext cx="288477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9149" r="-8511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/>
                <p:nvPr/>
              </p:nvSpPr>
              <p:spPr>
                <a:xfrm>
                  <a:off x="7388199" y="474050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8199" y="4740502"/>
                  <a:ext cx="255187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/>
                <p:nvPr/>
              </p:nvSpPr>
              <p:spPr>
                <a:xfrm>
                  <a:off x="8583733" y="4408586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3733" y="4408586"/>
                  <a:ext cx="28847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277" r="-6383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9871137" y="4419066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1137" y="4419066"/>
                  <a:ext cx="288477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/>
                <p:nvPr/>
              </p:nvSpPr>
              <p:spPr>
                <a:xfrm>
                  <a:off x="8636154" y="47237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6154" y="4723794"/>
                  <a:ext cx="255187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9837192" y="4718323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7192" y="4718323"/>
                  <a:ext cx="255187" cy="369332"/>
                </a:xfrm>
                <a:prstGeom prst="rect">
                  <a:avLst/>
                </a:prstGeom>
                <a:blipFill>
                  <a:blip r:embed="rId29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1117613" y="4746745"/>
              <a:ext cx="690842" cy="5003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11221661" y="4407183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1661" y="4407183"/>
                  <a:ext cx="288477" cy="276999"/>
                </a:xfrm>
                <a:prstGeom prst="rect">
                  <a:avLst/>
                </a:prstGeom>
                <a:blipFill>
                  <a:blip r:embed="rId30"/>
                  <a:stretch>
                    <a:fillRect l="-20833" r="-625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11147726" y="4749246"/>
                  <a:ext cx="151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7726" y="4749246"/>
                  <a:ext cx="151139" cy="369332"/>
                </a:xfrm>
                <a:prstGeom prst="rect">
                  <a:avLst/>
                </a:prstGeom>
                <a:blipFill>
                  <a:blip r:embed="rId31"/>
                  <a:stretch>
                    <a:fillRect l="-4000" r="-18400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384784" y="354046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4784" y="3540466"/>
                  <a:ext cx="419366" cy="369332"/>
                </a:xfrm>
                <a:prstGeom prst="rect">
                  <a:avLst/>
                </a:prstGeom>
                <a:blipFill>
                  <a:blip r:embed="rId32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Straight Arrow Connector 115"/>
            <p:cNvCxnSpPr>
              <a:stCxn id="102" idx="3"/>
              <a:endCxn id="115" idx="1"/>
            </p:cNvCxnSpPr>
            <p:nvPr/>
          </p:nvCxnSpPr>
          <p:spPr>
            <a:xfrm flipV="1">
              <a:off x="7086294" y="3725132"/>
              <a:ext cx="298490" cy="866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/>
            <p:cNvSpPr/>
            <p:nvPr/>
          </p:nvSpPr>
          <p:spPr>
            <a:xfrm>
              <a:off x="8568842" y="3530500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568842" y="355793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842" y="3557932"/>
                  <a:ext cx="419366" cy="369332"/>
                </a:xfrm>
                <a:prstGeom prst="rect">
                  <a:avLst/>
                </a:prstGeom>
                <a:blipFill>
                  <a:blip r:embed="rId33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Straight Arrow Connector 118"/>
            <p:cNvCxnSpPr>
              <a:stCxn id="103" idx="3"/>
              <a:endCxn id="118" idx="1"/>
            </p:cNvCxnSpPr>
            <p:nvPr/>
          </p:nvCxnSpPr>
          <p:spPr>
            <a:xfrm>
              <a:off x="8328388" y="3742551"/>
              <a:ext cx="240454" cy="47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/>
            <p:cNvSpPr/>
            <p:nvPr/>
          </p:nvSpPr>
          <p:spPr>
            <a:xfrm>
              <a:off x="9786550" y="3532428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786550" y="3559860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6550" y="3559860"/>
                  <a:ext cx="419366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Straight Arrow Connector 121"/>
            <p:cNvCxnSpPr>
              <a:stCxn id="105" idx="3"/>
              <a:endCxn id="121" idx="1"/>
            </p:cNvCxnSpPr>
            <p:nvPr/>
          </p:nvCxnSpPr>
          <p:spPr>
            <a:xfrm>
              <a:off x="9566096" y="3742065"/>
              <a:ext cx="220454" cy="2461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Oval 122"/>
            <p:cNvSpPr/>
            <p:nvPr/>
          </p:nvSpPr>
          <p:spPr>
            <a:xfrm>
              <a:off x="11102373" y="3517774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1102373" y="354520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2373" y="3545206"/>
                  <a:ext cx="419366" cy="369332"/>
                </a:xfrm>
                <a:prstGeom prst="rect">
                  <a:avLst/>
                </a:prstGeom>
                <a:blipFill>
                  <a:blip r:embed="rId35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Straight Arrow Connector 124"/>
            <p:cNvCxnSpPr>
              <a:stCxn id="104" idx="3"/>
              <a:endCxn id="124" idx="1"/>
            </p:cNvCxnSpPr>
            <p:nvPr/>
          </p:nvCxnSpPr>
          <p:spPr>
            <a:xfrm flipV="1">
              <a:off x="10808190" y="3729872"/>
              <a:ext cx="294183" cy="392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105945" y="2403924"/>
                  <a:ext cx="2547681" cy="369332"/>
                </a:xfrm>
                <a:prstGeom prst="rect">
                  <a:avLst/>
                </a:prstGeom>
                <a:solidFill>
                  <a:srgbClr val="7030A0">
                    <a:alpha val="55000"/>
                  </a:srgbClr>
                </a:solid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945" y="2403924"/>
                  <a:ext cx="2547681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Elbow Connector 126"/>
            <p:cNvCxnSpPr>
              <a:stCxn id="126" idx="2"/>
              <a:endCxn id="70" idx="0"/>
            </p:cNvCxnSpPr>
            <p:nvPr/>
          </p:nvCxnSpPr>
          <p:spPr>
            <a:xfrm rot="5400000">
              <a:off x="8122534" y="2237210"/>
              <a:ext cx="721207" cy="1793298"/>
            </a:xfrm>
            <a:prstGeom prst="bentConnector3">
              <a:avLst>
                <a:gd name="adj1" fmla="val 51981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Elbow Connector 127"/>
            <p:cNvCxnSpPr>
              <a:stCxn id="126" idx="2"/>
              <a:endCxn id="123" idx="0"/>
            </p:cNvCxnSpPr>
            <p:nvPr/>
          </p:nvCxnSpPr>
          <p:spPr>
            <a:xfrm rot="16200000" flipH="1">
              <a:off x="9977652" y="2175390"/>
              <a:ext cx="744518" cy="1940250"/>
            </a:xfrm>
            <a:prstGeom prst="bentConnector3">
              <a:avLst>
                <a:gd name="adj1" fmla="val 5064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stCxn id="126" idx="2"/>
              <a:endCxn id="117" idx="0"/>
            </p:cNvCxnSpPr>
            <p:nvPr/>
          </p:nvCxnSpPr>
          <p:spPr>
            <a:xfrm rot="5400000">
              <a:off x="8704524" y="2855238"/>
              <a:ext cx="757244" cy="593281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stCxn id="126" idx="2"/>
              <a:endCxn id="120" idx="0"/>
            </p:cNvCxnSpPr>
            <p:nvPr/>
          </p:nvCxnSpPr>
          <p:spPr>
            <a:xfrm rot="16200000" flipH="1">
              <a:off x="9312413" y="2840628"/>
              <a:ext cx="759172" cy="624427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637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04A49-1711-4B73-9B96-2E3D85C5C9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0299" y="1373138"/>
                <a:ext cx="10515600" cy="510307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</a:t>
                </a:r>
                <a:r>
                  <a:rPr lang="en-US" dirty="0">
                    <a:latin typeface="Arial Narrow" panose="020B0606020202030204" pitchFamily="34" charset="0"/>
                  </a:rPr>
                  <a:t> using chain rule for BPTT, it is shown that </a:t>
                </a:r>
              </a:p>
              <a:p>
                <a:endParaRPr lang="en-US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nary>
                        <m:naryPr>
                          <m:chr m:val="∏"/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sSubSup>
                            <m:sSub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𝑑𝑖𝑎𝑔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𝑡𝑎𝑛</m:t>
                              </m:r>
                              <m:sSup>
                                <m:s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.</m:t>
                                  </m:r>
                                </m:e>
                              </m:d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pPr algn="just"/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So, the gradient becomes a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product of many matrices since 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as per our assumption </a:t>
                </a:r>
                <a:r>
                  <a:rPr lang="en-US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T are far apart (</a:t>
                </a:r>
                <a:r>
                  <a:rPr lang="en-US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=1 and T=50)</a:t>
                </a:r>
              </a:p>
              <a:p>
                <a:pPr algn="just"/>
                <a:r>
                  <a:rPr lang="en-US" dirty="0">
                    <a:latin typeface="Arial Narrow" panose="020B0606020202030204" pitchFamily="34" charset="0"/>
                  </a:rPr>
                  <a:t>If the eigenvalues of the product are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less than 1</a:t>
                </a:r>
                <a:r>
                  <a:rPr lang="en-US" dirty="0">
                    <a:latin typeface="Arial Narrow" panose="020B0606020202030204" pitchFamily="34" charset="0"/>
                  </a:rPr>
                  <a:t>,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the gradients shrink exponentially</a:t>
                </a:r>
                <a:r>
                  <a:rPr lang="en-US" dirty="0">
                    <a:latin typeface="Arial Narrow" panose="020B060602020203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For </a:t>
                </a:r>
                <a:r>
                  <a:rPr lang="en-US" dirty="0" err="1">
                    <a:latin typeface="Arial Narrow" panose="020B0606020202030204" pitchFamily="34" charset="0"/>
                  </a:rPr>
                  <a:t>tanh</a:t>
                </a:r>
                <a:r>
                  <a:rPr lang="en-US" dirty="0">
                    <a:latin typeface="Arial Narrow" panose="020B0606020202030204" pitchFamily="34" charset="0"/>
                  </a:rPr>
                  <a:t> and sigmoid activation functions: </a:t>
                </a:r>
                <a14:m>
                  <m:oMath xmlns:m="http://schemas.openxmlformats.org/officeDocument/2006/math"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𝑡𝑎𝑛</m:t>
                    </m:r>
                    <m:sSup>
                      <m:sSup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p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</m:t>
                    </m:r>
                  </m:oMath>
                </a14:m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Hence, each multiplication usually scales the gradient by a factor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less than 1</a:t>
                </a:r>
                <a:r>
                  <a:rPr lang="en-US" dirty="0">
                    <a:latin typeface="Arial Narrow" panose="020B060602020203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For example,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0.9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≈0.005</m:t>
                    </m:r>
                  </m:oMath>
                </a14:m>
                <a:endParaRPr lang="en-US" sz="2600" dirty="0">
                  <a:latin typeface="Arial Narrow" panose="020B0606020202030204" pitchFamily="34" charset="0"/>
                </a:endParaRPr>
              </a:p>
              <a:p>
                <a:pPr marL="457200" lvl="1" indent="0" algn="just">
                  <a:lnSpc>
                    <a:spcPct val="120000"/>
                  </a:lnSpc>
                  <a:buNone/>
                </a:pPr>
                <a:r>
                  <a:rPr lang="en-US" sz="23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After many time steps, the gradient becomes almost zero, so the weights at the initial time steps receive negligible updates.</a:t>
                </a:r>
                <a:endParaRPr lang="en-US" sz="22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This is known as the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vanishing gradient problem </a:t>
                </a:r>
                <a:r>
                  <a:rPr lang="en-US" dirty="0">
                    <a:latin typeface="Arial Narrow" panose="020B0606020202030204" pitchFamily="34" charset="0"/>
                  </a:rPr>
                  <a:t>in a simple RNN.</a:t>
                </a:r>
              </a:p>
              <a:p>
                <a:endParaRPr lang="en-US" dirty="0">
                  <a:latin typeface="Arial Narrow" panose="020B0606020202030204" pitchFamily="34" charset="0"/>
                </a:endParaRPr>
              </a:p>
              <a:p>
                <a:endParaRPr lang="en-US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04A49-1711-4B73-9B96-2E3D85C5C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299" y="1373138"/>
                <a:ext cx="10515600" cy="5103076"/>
              </a:xfrm>
              <a:blipFill>
                <a:blip r:embed="rId2"/>
                <a:stretch>
                  <a:fillRect l="-522" t="-2389" r="-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B75BFC9-CAEB-4546-A65E-055503492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99" y="298917"/>
            <a:ext cx="10515600" cy="92687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</a:p>
        </p:txBody>
      </p:sp>
    </p:spTree>
    <p:extLst>
      <p:ext uri="{BB962C8B-B14F-4D97-AF65-F5344CB8AC3E}">
        <p14:creationId xmlns:p14="http://schemas.microsoft.com/office/powerpoint/2010/main" val="373511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17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The naïve RNN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9968" y="3502152"/>
            <a:ext cx="2441448" cy="1819656"/>
          </a:xfrm>
          <a:prstGeom prst="rect">
            <a:avLst/>
          </a:prstGeom>
          <a:solidFill>
            <a:schemeClr val="accent2">
              <a:lumMod val="40000"/>
              <a:lumOff val="60000"/>
              <a:alpha val="59000"/>
            </a:schemeClr>
          </a:solidFill>
          <a:ln w="222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3054096" y="4501319"/>
            <a:ext cx="886968" cy="457200"/>
          </a:xfrm>
          <a:prstGeom prst="ellipse">
            <a:avLst/>
          </a:prstGeom>
          <a:solidFill>
            <a:schemeClr val="accent6">
              <a:lumMod val="40000"/>
              <a:lumOff val="60000"/>
              <a:alpha val="65000"/>
            </a:schemeClr>
          </a:solidFill>
          <a:ln w="22225">
            <a:solidFill>
              <a:schemeClr val="tx1">
                <a:lumMod val="85000"/>
                <a:lumOff val="15000"/>
                <a:alpha val="7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solidFill>
                  <a:schemeClr val="tx1"/>
                </a:solidFill>
              </a:rPr>
              <a:t>tanh</a:t>
            </a:r>
          </a:p>
        </p:txBody>
      </p:sp>
      <p:sp>
        <p:nvSpPr>
          <p:cNvPr id="6" name="Oval 5"/>
          <p:cNvSpPr/>
          <p:nvPr/>
        </p:nvSpPr>
        <p:spPr>
          <a:xfrm>
            <a:off x="3700272" y="2551176"/>
            <a:ext cx="1155192" cy="457200"/>
          </a:xfrm>
          <a:prstGeom prst="ellipse">
            <a:avLst/>
          </a:prstGeom>
          <a:solidFill>
            <a:schemeClr val="accent5">
              <a:lumMod val="40000"/>
              <a:lumOff val="60000"/>
              <a:alpha val="70000"/>
            </a:schemeClr>
          </a:solidFill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Arial Narrow" panose="020B0606020202030204" pitchFamily="34" charset="0"/>
              </a:rPr>
              <a:t>Softmax</a:t>
            </a:r>
          </a:p>
        </p:txBody>
      </p:sp>
      <p:cxnSp>
        <p:nvCxnSpPr>
          <p:cNvPr id="8" name="Straight Arrow Connector 7"/>
          <p:cNvCxnSpPr>
            <a:stCxn id="5" idx="6"/>
          </p:cNvCxnSpPr>
          <p:nvPr/>
        </p:nvCxnSpPr>
        <p:spPr>
          <a:xfrm>
            <a:off x="3941064" y="4729919"/>
            <a:ext cx="1554480" cy="0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6" idx="4"/>
          </p:cNvCxnSpPr>
          <p:nvPr/>
        </p:nvCxnSpPr>
        <p:spPr>
          <a:xfrm flipH="1" flipV="1">
            <a:off x="4277868" y="3008376"/>
            <a:ext cx="6858" cy="1721543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5" idx="4"/>
          </p:cNvCxnSpPr>
          <p:nvPr/>
        </p:nvCxnSpPr>
        <p:spPr>
          <a:xfrm flipV="1">
            <a:off x="3488436" y="4958519"/>
            <a:ext cx="9144" cy="1315212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3" idx="3"/>
          </p:cNvCxnSpPr>
          <p:nvPr/>
        </p:nvCxnSpPr>
        <p:spPr>
          <a:xfrm>
            <a:off x="1471237" y="5185029"/>
            <a:ext cx="2026343" cy="1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84309" y="5046529"/>
                <a:ext cx="486928" cy="2769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309" y="5046529"/>
                <a:ext cx="486928" cy="276999"/>
              </a:xfrm>
              <a:prstGeom prst="rect">
                <a:avLst/>
              </a:prstGeom>
              <a:blipFill>
                <a:blip r:embed="rId2"/>
                <a:stretch>
                  <a:fillRect l="-12500" r="-5000" b="-17778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599851" y="4838780"/>
                <a:ext cx="358303" cy="27699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851" y="4838780"/>
                <a:ext cx="358303" cy="276999"/>
              </a:xfrm>
              <a:prstGeom prst="rect">
                <a:avLst/>
              </a:prstGeom>
              <a:blipFill>
                <a:blip r:embed="rId3"/>
                <a:stretch>
                  <a:fillRect l="-15254" r="-5085" b="-200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015670" y="5477625"/>
                <a:ext cx="334771" cy="27699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670" y="5477625"/>
                <a:ext cx="334771" cy="276999"/>
              </a:xfrm>
              <a:prstGeom prst="rect">
                <a:avLst/>
              </a:prstGeom>
              <a:blipFill>
                <a:blip r:embed="rId4"/>
                <a:stretch>
                  <a:fillRect l="-18182" r="-1818" b="-13333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373973" y="6368982"/>
                <a:ext cx="260263" cy="27699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973" y="6368982"/>
                <a:ext cx="260263" cy="276999"/>
              </a:xfrm>
              <a:prstGeom prst="rect">
                <a:avLst/>
              </a:prstGeom>
              <a:blipFill>
                <a:blip r:embed="rId5"/>
                <a:stretch>
                  <a:fillRect l="-13953" r="-4651" b="-17778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601761" y="4614938"/>
                <a:ext cx="267317" cy="27699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61" y="4614938"/>
                <a:ext cx="267317" cy="276999"/>
              </a:xfrm>
              <a:prstGeom prst="rect">
                <a:avLst/>
              </a:prstGeom>
              <a:blipFill>
                <a:blip r:embed="rId6"/>
                <a:stretch>
                  <a:fillRect l="-22727" r="-4545" b="-17778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742019" y="3164654"/>
                <a:ext cx="334002" cy="27699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2019" y="3164654"/>
                <a:ext cx="334002" cy="276999"/>
              </a:xfrm>
              <a:prstGeom prst="rect">
                <a:avLst/>
              </a:prstGeom>
              <a:blipFill>
                <a:blip r:embed="rId7"/>
                <a:stretch>
                  <a:fillRect l="-18182" b="-13043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>
            <a:stCxn id="6" idx="0"/>
          </p:cNvCxnSpPr>
          <p:nvPr/>
        </p:nvCxnSpPr>
        <p:spPr>
          <a:xfrm flipV="1">
            <a:off x="4277868" y="2002536"/>
            <a:ext cx="6858" cy="548640"/>
          </a:xfrm>
          <a:prstGeom prst="straightConnector1">
            <a:avLst/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113113" y="1692472"/>
                <a:ext cx="240642" cy="27699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5875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113" y="1692472"/>
                <a:ext cx="240642" cy="276999"/>
              </a:xfrm>
              <a:prstGeom prst="rect">
                <a:avLst/>
              </a:prstGeom>
              <a:blipFill>
                <a:blip r:embed="rId8"/>
                <a:stretch>
                  <a:fillRect l="-25641" r="-7692" b="-17778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FAA069-911C-4EFE-B3FB-8FE390A2B6FE}"/>
                  </a:ext>
                </a:extLst>
              </p:cNvPr>
              <p:cNvSpPr txBox="1"/>
              <p:nvPr/>
            </p:nvSpPr>
            <p:spPr>
              <a:xfrm>
                <a:off x="6741684" y="2584969"/>
                <a:ext cx="4319139" cy="43088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  <a:alpha val="48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𝑡𝑎𝑛h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3FAA069-911C-4EFE-B3FB-8FE390A2B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684" y="2584969"/>
                <a:ext cx="431913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BE1862-4254-4A34-85AF-9BE5ACA6E84F}"/>
                  </a:ext>
                </a:extLst>
              </p:cNvPr>
              <p:cNvSpPr txBox="1"/>
              <p:nvPr/>
            </p:nvSpPr>
            <p:spPr>
              <a:xfrm>
                <a:off x="6532626" y="3441653"/>
                <a:ext cx="4108537" cy="430887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  <a:alpha val="48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BE1862-4254-4A34-85AF-9BE5ACA6E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626" y="3441653"/>
                <a:ext cx="4108537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226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/>
          <p:cNvSpPr txBox="1"/>
          <p:nvPr/>
        </p:nvSpPr>
        <p:spPr>
          <a:xfrm>
            <a:off x="1172307" y="1284740"/>
            <a:ext cx="6254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kid</a:t>
            </a:r>
            <a:r>
              <a:rPr lang="en-IN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  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playing football in the playground, </a:t>
            </a:r>
            <a:r>
              <a:rPr lang="en-IN" b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is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    very happy.</a:t>
            </a:r>
          </a:p>
          <a:p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kids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playing football in the playground, </a:t>
            </a:r>
            <a:r>
              <a:rPr lang="en-IN" b="1" dirty="0">
                <a:solidFill>
                  <a:srgbClr val="00B05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are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  very happy.</a:t>
            </a:r>
          </a:p>
          <a:p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9464"/>
          </a:xfrm>
        </p:spPr>
        <p:txBody>
          <a:bodyPr/>
          <a:lstStyle/>
          <a:p>
            <a:r>
              <a:rPr lang="en-IN" sz="3600" dirty="0">
                <a:latin typeface="Century" panose="02040604050505020304" pitchFamily="18" charset="0"/>
              </a:rPr>
              <a:t>RNN: Vanishing Gradient Problem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6662"/>
            <a:ext cx="6485524" cy="3875088"/>
          </a:xfrm>
          <a:solidFill>
            <a:schemeClr val="bg1"/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600" dirty="0">
                <a:latin typeface="Arial Narrow" panose="020B0606020202030204" pitchFamily="34" charset="0"/>
              </a:rPr>
              <a:t>During Backpropagation Through Time (BPTT):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Arial Narrow" panose="020B0606020202030204" pitchFamily="34" charset="0"/>
              </a:rPr>
              <a:t>Gradients are multiplied repeatedly across time steps. 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Arial Narrow" panose="020B0606020202030204" pitchFamily="34" charset="0"/>
              </a:rPr>
              <a:t>They shrink exponentially (vanishing gradients). </a:t>
            </a:r>
          </a:p>
          <a:p>
            <a:pPr lvl="1">
              <a:lnSpc>
                <a:spcPct val="120000"/>
              </a:lnSpc>
            </a:pPr>
            <a:r>
              <a:rPr lang="en-US" sz="2200" dirty="0">
                <a:latin typeface="Arial Narrow" panose="020B0606020202030204" pitchFamily="34" charset="0"/>
              </a:rPr>
              <a:t>As a result, earlier time steps receive negligible weight updates and stop learning. </a:t>
            </a:r>
          </a:p>
          <a:p>
            <a:pPr>
              <a:lnSpc>
                <a:spcPct val="120000"/>
              </a:lnSpc>
            </a:pPr>
            <a:r>
              <a:rPr lang="en-US" sz="2600" dirty="0">
                <a:latin typeface="Arial Narrow" panose="020B0606020202030204" pitchFamily="34" charset="0"/>
              </a:rPr>
              <a:t>A simple RNN is NOT suitable for learning or representing long-term contextual dependencies in long sequences, such as large sentences.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7426833" y="2564400"/>
            <a:ext cx="4415409" cy="3658191"/>
            <a:chOff x="6493383" y="2516775"/>
            <a:chExt cx="4415409" cy="3658191"/>
          </a:xfrm>
        </p:grpSpPr>
        <p:sp>
          <p:nvSpPr>
            <p:cNvPr id="5" name="Rectangle 4"/>
            <p:cNvSpPr/>
            <p:nvPr/>
          </p:nvSpPr>
          <p:spPr>
            <a:xfrm>
              <a:off x="6871339" y="5116959"/>
              <a:ext cx="2852102" cy="505695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1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909043" y="3189992"/>
              <a:ext cx="3999749" cy="505695"/>
            </a:xfrm>
            <a:prstGeom prst="rect">
              <a:avLst/>
            </a:prstGeom>
            <a:solidFill>
              <a:schemeClr val="bg1">
                <a:lumMod val="75000"/>
                <a:alpha val="2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Diamond 6"/>
                <p:cNvSpPr/>
                <p:nvPr/>
              </p:nvSpPr>
              <p:spPr>
                <a:xfrm>
                  <a:off x="6963823" y="4100376"/>
                  <a:ext cx="451546" cy="568075"/>
                </a:xfrm>
                <a:prstGeom prst="diamond">
                  <a:avLst/>
                </a:prstGeom>
                <a:solidFill>
                  <a:schemeClr val="accent2">
                    <a:lumMod val="75000"/>
                    <a:alpha val="64000"/>
                  </a:schemeClr>
                </a:solid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Diamond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3823" y="4100376"/>
                  <a:ext cx="451546" cy="568075"/>
                </a:xfrm>
                <a:prstGeom prst="diamond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/>
                <p:cNvSpPr/>
                <p:nvPr/>
              </p:nvSpPr>
              <p:spPr>
                <a:xfrm>
                  <a:off x="7018484" y="3234949"/>
                  <a:ext cx="342224" cy="402387"/>
                </a:xfrm>
                <a:prstGeom prst="ellipse">
                  <a:avLst/>
                </a:prstGeom>
                <a:solidFill>
                  <a:schemeClr val="accent6">
                    <a:lumMod val="75000"/>
                    <a:alpha val="68000"/>
                  </a:schemeClr>
                </a:solidFill>
                <a:ln w="22225">
                  <a:solidFill>
                    <a:srgbClr val="FF0000">
                      <a:alpha val="38000"/>
                    </a:srgb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8" name="Oval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484" y="3234949"/>
                  <a:ext cx="342224" cy="4023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2225">
                  <a:solidFill>
                    <a:srgbClr val="FF0000">
                      <a:alpha val="38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/>
                <p:cNvSpPr/>
                <p:nvPr/>
              </p:nvSpPr>
              <p:spPr>
                <a:xfrm>
                  <a:off x="7018484" y="5164038"/>
                  <a:ext cx="342224" cy="402387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  <a:alpha val="63000"/>
                  </a:schemeClr>
                </a:solid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9" name="Oval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484" y="5164038"/>
                  <a:ext cx="342224" cy="4023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/>
            <p:cNvCxnSpPr>
              <a:stCxn id="9" idx="0"/>
              <a:endCxn id="7" idx="2"/>
            </p:cNvCxnSpPr>
            <p:nvPr/>
          </p:nvCxnSpPr>
          <p:spPr>
            <a:xfrm flipV="1">
              <a:off x="7189596" y="4668452"/>
              <a:ext cx="0" cy="495587"/>
            </a:xfrm>
            <a:prstGeom prst="straightConnector1">
              <a:avLst/>
            </a:prstGeom>
            <a:ln w="190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7" idx="0"/>
              <a:endCxn id="8" idx="4"/>
            </p:cNvCxnSpPr>
            <p:nvPr/>
          </p:nvCxnSpPr>
          <p:spPr>
            <a:xfrm flipV="1">
              <a:off x="7189596" y="3637336"/>
              <a:ext cx="0" cy="463039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endCxn id="7" idx="1"/>
            </p:cNvCxnSpPr>
            <p:nvPr/>
          </p:nvCxnSpPr>
          <p:spPr>
            <a:xfrm>
              <a:off x="6493383" y="4384413"/>
              <a:ext cx="47044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7415369" y="4384413"/>
              <a:ext cx="47044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82C8440-1B3C-44B7-B591-8AF5F6E01BB7}"/>
                    </a:ext>
                  </a:extLst>
                </p:cNvPr>
                <p:cNvSpPr txBox="1"/>
                <p:nvPr/>
              </p:nvSpPr>
              <p:spPr>
                <a:xfrm>
                  <a:off x="6722887" y="4159074"/>
                  <a:ext cx="19236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82C8440-1B3C-44B7-B591-8AF5F6E01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2887" y="4159074"/>
                  <a:ext cx="192360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21875" r="-3125" b="-1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CFA6DBA-5FB3-45C9-AD1C-09471F6954AE}"/>
                    </a:ext>
                  </a:extLst>
                </p:cNvPr>
                <p:cNvSpPr txBox="1"/>
                <p:nvPr/>
              </p:nvSpPr>
              <p:spPr>
                <a:xfrm>
                  <a:off x="6836727" y="4783015"/>
                  <a:ext cx="2728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CFA6DBA-5FB3-45C9-AD1C-09471F695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6727" y="4783015"/>
                  <a:ext cx="272878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363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8AC603D-4D4F-4A83-BBEE-AA3EE02764B5}"/>
                    </a:ext>
                  </a:extLst>
                </p:cNvPr>
                <p:cNvSpPr txBox="1"/>
                <p:nvPr/>
              </p:nvSpPr>
              <p:spPr>
                <a:xfrm>
                  <a:off x="6680580" y="4374936"/>
                  <a:ext cx="1313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8AC603D-4D4F-4A83-BBEE-AA3EE0276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0580" y="4374936"/>
                  <a:ext cx="131321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12272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2DA4BE7-BE7B-474C-82A6-7A9DCE2B2489}"/>
                    </a:ext>
                  </a:extLst>
                </p:cNvPr>
                <p:cNvSpPr txBox="1"/>
                <p:nvPr/>
              </p:nvSpPr>
              <p:spPr>
                <a:xfrm>
                  <a:off x="6722887" y="3792347"/>
                  <a:ext cx="380999" cy="276999"/>
                </a:xfrm>
                <a:prstGeom prst="rect">
                  <a:avLst/>
                </a:prstGeom>
                <a:noFill/>
                <a:ln w="158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2DA4BE7-BE7B-474C-82A6-7A9DCE2B2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2887" y="3792347"/>
                  <a:ext cx="380999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58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166ED64-4FFC-4958-8BAC-FC1072A7A59A}"/>
                    </a:ext>
                  </a:extLst>
                </p:cNvPr>
                <p:cNvSpPr txBox="1"/>
                <p:nvPr/>
              </p:nvSpPr>
              <p:spPr>
                <a:xfrm>
                  <a:off x="7441512" y="4142803"/>
                  <a:ext cx="18877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166ED64-4FFC-4958-8BAC-FC1072A7A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512" y="4142803"/>
                  <a:ext cx="188770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22581" r="-3226" b="-1290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4EC885A-06E5-40CB-A3F0-E066260CBFB8}"/>
                    </a:ext>
                  </a:extLst>
                </p:cNvPr>
                <p:cNvSpPr txBox="1"/>
                <p:nvPr/>
              </p:nvSpPr>
              <p:spPr>
                <a:xfrm>
                  <a:off x="7425936" y="4376535"/>
                  <a:ext cx="1313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4EC885A-06E5-40CB-A3F0-E066260CB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5936" y="4376535"/>
                  <a:ext cx="131321" cy="276999"/>
                </a:xfrm>
                <a:prstGeom prst="rect">
                  <a:avLst/>
                </a:prstGeom>
                <a:blipFill>
                  <a:blip r:embed="rId10"/>
                  <a:stretch>
                    <a:fillRect r="-12727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Diamond 19"/>
                <p:cNvSpPr/>
                <p:nvPr/>
              </p:nvSpPr>
              <p:spPr>
                <a:xfrm>
                  <a:off x="7882640" y="4100376"/>
                  <a:ext cx="451546" cy="568075"/>
                </a:xfrm>
                <a:prstGeom prst="diamond">
                  <a:avLst/>
                </a:prstGeom>
                <a:solidFill>
                  <a:schemeClr val="accent2">
                    <a:lumMod val="75000"/>
                    <a:alpha val="64000"/>
                  </a:schemeClr>
                </a:solid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0" name="Diamond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2640" y="4100376"/>
                  <a:ext cx="451546" cy="568075"/>
                </a:xfrm>
                <a:prstGeom prst="diamond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Oval 20"/>
                <p:cNvSpPr/>
                <p:nvPr/>
              </p:nvSpPr>
              <p:spPr>
                <a:xfrm>
                  <a:off x="7937300" y="3234949"/>
                  <a:ext cx="342224" cy="402387"/>
                </a:xfrm>
                <a:prstGeom prst="ellipse">
                  <a:avLst/>
                </a:prstGeom>
                <a:solidFill>
                  <a:schemeClr val="accent6">
                    <a:lumMod val="75000"/>
                    <a:alpha val="68000"/>
                  </a:schemeClr>
                </a:solidFill>
                <a:ln w="22225">
                  <a:solidFill>
                    <a:srgbClr val="FF0000">
                      <a:alpha val="38000"/>
                    </a:srgb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1" name="Oval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7300" y="3234949"/>
                  <a:ext cx="342224" cy="402387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2225">
                  <a:solidFill>
                    <a:srgbClr val="FF0000">
                      <a:alpha val="38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/>
                <p:cNvSpPr/>
                <p:nvPr/>
              </p:nvSpPr>
              <p:spPr>
                <a:xfrm>
                  <a:off x="7937300" y="5164038"/>
                  <a:ext cx="342224" cy="402387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  <a:alpha val="63000"/>
                  </a:schemeClr>
                </a:solid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2" name="Oval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7300" y="5164038"/>
                  <a:ext cx="342224" cy="402387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/>
            <p:cNvCxnSpPr>
              <a:stCxn id="22" idx="0"/>
              <a:endCxn id="20" idx="2"/>
            </p:cNvCxnSpPr>
            <p:nvPr/>
          </p:nvCxnSpPr>
          <p:spPr>
            <a:xfrm flipV="1">
              <a:off x="8108412" y="4668452"/>
              <a:ext cx="0" cy="495587"/>
            </a:xfrm>
            <a:prstGeom prst="straightConnector1">
              <a:avLst/>
            </a:prstGeom>
            <a:ln w="190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0"/>
              <a:endCxn id="21" idx="4"/>
            </p:cNvCxnSpPr>
            <p:nvPr/>
          </p:nvCxnSpPr>
          <p:spPr>
            <a:xfrm flipV="1">
              <a:off x="8108412" y="3637336"/>
              <a:ext cx="0" cy="463039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8334185" y="4384413"/>
              <a:ext cx="47044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CFA6DBA-5FB3-45C9-AD1C-09471F6954AE}"/>
                    </a:ext>
                  </a:extLst>
                </p:cNvPr>
                <p:cNvSpPr txBox="1"/>
                <p:nvPr/>
              </p:nvSpPr>
              <p:spPr>
                <a:xfrm>
                  <a:off x="7755543" y="4783015"/>
                  <a:ext cx="2728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CFA6DBA-5FB3-45C9-AD1C-09471F695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5543" y="4783015"/>
                  <a:ext cx="272878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111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2DA4BE7-BE7B-474C-82A6-7A9DCE2B2489}"/>
                    </a:ext>
                  </a:extLst>
                </p:cNvPr>
                <p:cNvSpPr txBox="1"/>
                <p:nvPr/>
              </p:nvSpPr>
              <p:spPr>
                <a:xfrm>
                  <a:off x="7641703" y="3792347"/>
                  <a:ext cx="380999" cy="276999"/>
                </a:xfrm>
                <a:prstGeom prst="rect">
                  <a:avLst/>
                </a:prstGeom>
                <a:noFill/>
                <a:ln w="158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2DA4BE7-BE7B-474C-82A6-7A9DCE2B2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1703" y="3792347"/>
                  <a:ext cx="380999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58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166ED64-4FFC-4958-8BAC-FC1072A7A59A}"/>
                    </a:ext>
                  </a:extLst>
                </p:cNvPr>
                <p:cNvSpPr txBox="1"/>
                <p:nvPr/>
              </p:nvSpPr>
              <p:spPr>
                <a:xfrm>
                  <a:off x="8360329" y="4142803"/>
                  <a:ext cx="19236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166ED64-4FFC-4958-8BAC-FC1072A7A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0329" y="4142803"/>
                  <a:ext cx="192360" cy="184666"/>
                </a:xfrm>
                <a:prstGeom prst="rect">
                  <a:avLst/>
                </a:prstGeom>
                <a:blipFill>
                  <a:blip r:embed="rId14"/>
                  <a:stretch>
                    <a:fillRect l="-22581" r="-6452" b="-1290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4EC885A-06E5-40CB-A3F0-E066260CBFB8}"/>
                    </a:ext>
                  </a:extLst>
                </p:cNvPr>
                <p:cNvSpPr txBox="1"/>
                <p:nvPr/>
              </p:nvSpPr>
              <p:spPr>
                <a:xfrm>
                  <a:off x="8344752" y="4376535"/>
                  <a:ext cx="1313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4EC885A-06E5-40CB-A3F0-E066260CB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4752" y="4376535"/>
                  <a:ext cx="131321" cy="276999"/>
                </a:xfrm>
                <a:prstGeom prst="rect">
                  <a:avLst/>
                </a:prstGeom>
                <a:blipFill>
                  <a:blip r:embed="rId15"/>
                  <a:stretch>
                    <a:fillRect r="-12272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D47FCA-C992-4735-BA0E-92EFBCFD0DEC}"/>
                </a:ext>
              </a:extLst>
            </p:cNvPr>
            <p:cNvSpPr/>
            <p:nvPr/>
          </p:nvSpPr>
          <p:spPr>
            <a:xfrm>
              <a:off x="7937300" y="5897967"/>
              <a:ext cx="720530" cy="27699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FF0000">
                  <a:alpha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IN" sz="1200" dirty="0">
                  <a:solidFill>
                    <a:srgbClr val="7030A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rPr>
                <a:t>Inputs</a:t>
              </a:r>
              <a:endParaRPr lang="en-IN" sz="1200" dirty="0">
                <a:solidFill>
                  <a:srgbClr val="7030A0"/>
                </a:solidFill>
                <a:latin typeface="Arial Narrow" panose="020B0606020202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Diamond 30"/>
                <p:cNvSpPr/>
                <p:nvPr/>
              </p:nvSpPr>
              <p:spPr>
                <a:xfrm>
                  <a:off x="8801455" y="4100376"/>
                  <a:ext cx="451546" cy="568076"/>
                </a:xfrm>
                <a:prstGeom prst="diamond">
                  <a:avLst/>
                </a:prstGeom>
                <a:solidFill>
                  <a:schemeClr val="accent2">
                    <a:lumMod val="75000"/>
                    <a:alpha val="64000"/>
                  </a:schemeClr>
                </a:solid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31" name="Diamond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1455" y="4100376"/>
                  <a:ext cx="451546" cy="568076"/>
                </a:xfrm>
                <a:prstGeom prst="diamond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/>
                <p:cNvSpPr/>
                <p:nvPr/>
              </p:nvSpPr>
              <p:spPr>
                <a:xfrm>
                  <a:off x="8856116" y="3234949"/>
                  <a:ext cx="342224" cy="402387"/>
                </a:xfrm>
                <a:prstGeom prst="ellipse">
                  <a:avLst/>
                </a:prstGeom>
                <a:solidFill>
                  <a:schemeClr val="accent6">
                    <a:lumMod val="75000"/>
                    <a:alpha val="68000"/>
                  </a:schemeClr>
                </a:solidFill>
                <a:ln w="22225">
                  <a:solidFill>
                    <a:srgbClr val="FF0000">
                      <a:alpha val="38000"/>
                    </a:srgb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32" name="Oval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6116" y="3234949"/>
                  <a:ext cx="342224" cy="402387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2225">
                  <a:solidFill>
                    <a:srgbClr val="FF0000">
                      <a:alpha val="38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/>
                <p:cNvSpPr/>
                <p:nvPr/>
              </p:nvSpPr>
              <p:spPr>
                <a:xfrm>
                  <a:off x="8856116" y="5164038"/>
                  <a:ext cx="342224" cy="402387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  <a:alpha val="63000"/>
                  </a:schemeClr>
                </a:solid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33" name="Oval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6116" y="5164038"/>
                  <a:ext cx="342224" cy="402387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/>
            <p:cNvCxnSpPr>
              <a:stCxn id="33" idx="0"/>
              <a:endCxn id="31" idx="2"/>
            </p:cNvCxnSpPr>
            <p:nvPr/>
          </p:nvCxnSpPr>
          <p:spPr>
            <a:xfrm flipV="1">
              <a:off x="9027228" y="4668452"/>
              <a:ext cx="0" cy="495587"/>
            </a:xfrm>
            <a:prstGeom prst="straightConnector1">
              <a:avLst/>
            </a:prstGeom>
            <a:ln w="1905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31" idx="0"/>
              <a:endCxn id="32" idx="4"/>
            </p:cNvCxnSpPr>
            <p:nvPr/>
          </p:nvCxnSpPr>
          <p:spPr>
            <a:xfrm flipV="1">
              <a:off x="9027228" y="3637337"/>
              <a:ext cx="0" cy="463039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9253001" y="4384413"/>
              <a:ext cx="47044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CFA6DBA-5FB3-45C9-AD1C-09471F6954AE}"/>
                    </a:ext>
                  </a:extLst>
                </p:cNvPr>
                <p:cNvSpPr txBox="1"/>
                <p:nvPr/>
              </p:nvSpPr>
              <p:spPr>
                <a:xfrm>
                  <a:off x="8674359" y="4783015"/>
                  <a:ext cx="2728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CFA6DBA-5FB3-45C9-AD1C-09471F695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4359" y="4783015"/>
                  <a:ext cx="272878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1111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2DA4BE7-BE7B-474C-82A6-7A9DCE2B2489}"/>
                    </a:ext>
                  </a:extLst>
                </p:cNvPr>
                <p:cNvSpPr txBox="1"/>
                <p:nvPr/>
              </p:nvSpPr>
              <p:spPr>
                <a:xfrm>
                  <a:off x="8560519" y="3792347"/>
                  <a:ext cx="380999" cy="276999"/>
                </a:xfrm>
                <a:prstGeom prst="rect">
                  <a:avLst/>
                </a:prstGeom>
                <a:noFill/>
                <a:ln w="158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2DA4BE7-BE7B-474C-82A6-7A9DCE2B2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0519" y="3792347"/>
                  <a:ext cx="380999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58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166ED64-4FFC-4958-8BAC-FC1072A7A59A}"/>
                    </a:ext>
                  </a:extLst>
                </p:cNvPr>
                <p:cNvSpPr txBox="1"/>
                <p:nvPr/>
              </p:nvSpPr>
              <p:spPr>
                <a:xfrm>
                  <a:off x="9279145" y="4142803"/>
                  <a:ext cx="19236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166ED64-4FFC-4958-8BAC-FC1072A7A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9145" y="4142803"/>
                  <a:ext cx="192360" cy="184666"/>
                </a:xfrm>
                <a:prstGeom prst="rect">
                  <a:avLst/>
                </a:prstGeom>
                <a:blipFill>
                  <a:blip r:embed="rId20"/>
                  <a:stretch>
                    <a:fillRect l="-18750" r="-3125" b="-1290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4EC885A-06E5-40CB-A3F0-E066260CBFB8}"/>
                    </a:ext>
                  </a:extLst>
                </p:cNvPr>
                <p:cNvSpPr txBox="1"/>
                <p:nvPr/>
              </p:nvSpPr>
              <p:spPr>
                <a:xfrm>
                  <a:off x="9263568" y="4376535"/>
                  <a:ext cx="13132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4EC885A-06E5-40CB-A3F0-E066260CB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3568" y="4376535"/>
                  <a:ext cx="131321" cy="276999"/>
                </a:xfrm>
                <a:prstGeom prst="rect">
                  <a:avLst/>
                </a:prstGeom>
                <a:blipFill>
                  <a:blip r:embed="rId15"/>
                  <a:stretch>
                    <a:fillRect r="-133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 40"/>
            <p:cNvSpPr/>
            <p:nvPr/>
          </p:nvSpPr>
          <p:spPr>
            <a:xfrm>
              <a:off x="9424858" y="5337225"/>
              <a:ext cx="23528" cy="2929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488221" y="5337225"/>
              <a:ext cx="23528" cy="2929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551585" y="5337225"/>
              <a:ext cx="23528" cy="2929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749227" y="4374936"/>
              <a:ext cx="23528" cy="2929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812591" y="4374936"/>
              <a:ext cx="23528" cy="2929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9875954" y="4374936"/>
              <a:ext cx="23528" cy="29291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cxnSp>
          <p:nvCxnSpPr>
            <p:cNvPr id="47" name="Straight Arrow Connector 46"/>
            <p:cNvCxnSpPr/>
            <p:nvPr/>
          </p:nvCxnSpPr>
          <p:spPr>
            <a:xfrm>
              <a:off x="9952271" y="4384413"/>
              <a:ext cx="470440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166ED64-4FFC-4958-8BAC-FC1072A7A59A}"/>
                    </a:ext>
                  </a:extLst>
                </p:cNvPr>
                <p:cNvSpPr txBox="1"/>
                <p:nvPr/>
              </p:nvSpPr>
              <p:spPr>
                <a:xfrm>
                  <a:off x="9977346" y="4130926"/>
                  <a:ext cx="40081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A166ED64-4FFC-4958-8BAC-FC1072A7A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7346" y="4130926"/>
                  <a:ext cx="400815" cy="215444"/>
                </a:xfrm>
                <a:prstGeom prst="rect">
                  <a:avLst/>
                </a:prstGeom>
                <a:blipFill>
                  <a:blip r:embed="rId21"/>
                  <a:stretch>
                    <a:fillRect l="-10606" r="-3030" b="-1944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4EC885A-06E5-40CB-A3F0-E066260CBFB8}"/>
                    </a:ext>
                  </a:extLst>
                </p:cNvPr>
                <p:cNvSpPr txBox="1"/>
                <p:nvPr/>
              </p:nvSpPr>
              <p:spPr>
                <a:xfrm>
                  <a:off x="10030480" y="4390758"/>
                  <a:ext cx="22787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4EC885A-06E5-40CB-A3F0-E066260CB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0480" y="4390758"/>
                  <a:ext cx="227873" cy="276999"/>
                </a:xfrm>
                <a:prstGeom prst="rect">
                  <a:avLst/>
                </a:prstGeom>
                <a:blipFill>
                  <a:blip r:embed="rId22"/>
                  <a:stretch>
                    <a:fillRect r="-432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Diamond 49"/>
                <p:cNvSpPr/>
                <p:nvPr/>
              </p:nvSpPr>
              <p:spPr>
                <a:xfrm>
                  <a:off x="10419541" y="4100376"/>
                  <a:ext cx="451546" cy="568076"/>
                </a:xfrm>
                <a:prstGeom prst="diamond">
                  <a:avLst/>
                </a:prstGeom>
                <a:solidFill>
                  <a:schemeClr val="accent2">
                    <a:lumMod val="75000"/>
                    <a:alpha val="64000"/>
                  </a:schemeClr>
                </a:solid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50" name="Diamond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9541" y="4100376"/>
                  <a:ext cx="451546" cy="568076"/>
                </a:xfrm>
                <a:prstGeom prst="diamond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22225">
                  <a:solidFill>
                    <a:srgbClr val="FF0000">
                      <a:alpha val="36000"/>
                    </a:srgb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val 50"/>
                <p:cNvSpPr/>
                <p:nvPr/>
              </p:nvSpPr>
              <p:spPr>
                <a:xfrm>
                  <a:off x="10471137" y="3239929"/>
                  <a:ext cx="342224" cy="402387"/>
                </a:xfrm>
                <a:prstGeom prst="ellipse">
                  <a:avLst/>
                </a:prstGeom>
                <a:solidFill>
                  <a:schemeClr val="accent6">
                    <a:lumMod val="75000"/>
                    <a:alpha val="68000"/>
                  </a:schemeClr>
                </a:solidFill>
                <a:ln w="22225">
                  <a:solidFill>
                    <a:srgbClr val="FF0000">
                      <a:alpha val="38000"/>
                    </a:srgb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IN" sz="1400" dirty="0">
                    <a:solidFill>
                      <a:schemeClr val="tx1"/>
                    </a:solidFill>
                    <a:latin typeface="Arial Narrow" panose="020B0606020202030204" pitchFamily="34" charset="0"/>
                  </a:endParaRPr>
                </a:p>
              </p:txBody>
            </p:sp>
          </mc:Choice>
          <mc:Fallback xmlns="">
            <p:sp>
              <p:nvSpPr>
                <p:cNvPr id="51" name="Oval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1137" y="3239929"/>
                  <a:ext cx="342224" cy="402387"/>
                </a:xfrm>
                <a:prstGeom prst="ellipse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 w="22225">
                  <a:solidFill>
                    <a:srgbClr val="FF0000">
                      <a:alpha val="38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/>
            <p:cNvCxnSpPr>
              <a:stCxn id="50" idx="0"/>
              <a:endCxn id="51" idx="4"/>
            </p:cNvCxnSpPr>
            <p:nvPr/>
          </p:nvCxnSpPr>
          <p:spPr>
            <a:xfrm flipH="1" flipV="1">
              <a:off x="10642249" y="3642316"/>
              <a:ext cx="3065" cy="458060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</a:schemeClr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ED47FCA-C992-4735-BA0E-92EFBCFD0DEC}"/>
                </a:ext>
              </a:extLst>
            </p:cNvPr>
            <p:cNvSpPr/>
            <p:nvPr/>
          </p:nvSpPr>
          <p:spPr>
            <a:xfrm>
              <a:off x="8580693" y="2516775"/>
              <a:ext cx="679402" cy="2769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IN" sz="1200" dirty="0">
                  <a:solidFill>
                    <a:srgbClr val="7030A0"/>
                  </a:solidFill>
                  <a:latin typeface="Arial Narrow" panose="020B0606020202030204" pitchFamily="34" charset="0"/>
                </a:rPr>
                <a:t>Outputs</a:t>
              </a:r>
            </a:p>
          </p:txBody>
        </p:sp>
        <p:cxnSp>
          <p:nvCxnSpPr>
            <p:cNvPr id="54" name="Straight Arrow Connector 53"/>
            <p:cNvCxnSpPr>
              <a:stCxn id="53" idx="2"/>
              <a:endCxn id="6" idx="0"/>
            </p:cNvCxnSpPr>
            <p:nvPr/>
          </p:nvCxnSpPr>
          <p:spPr>
            <a:xfrm flipH="1">
              <a:off x="8908918" y="2793774"/>
              <a:ext cx="11476" cy="396218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30" idx="0"/>
              <a:endCxn id="5" idx="2"/>
            </p:cNvCxnSpPr>
            <p:nvPr/>
          </p:nvCxnSpPr>
          <p:spPr>
            <a:xfrm flipH="1" flipV="1">
              <a:off x="8297390" y="5622654"/>
              <a:ext cx="175" cy="275313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42DA4BE7-BE7B-474C-82A6-7A9DCE2B2489}"/>
                    </a:ext>
                  </a:extLst>
                </p:cNvPr>
                <p:cNvSpPr txBox="1"/>
                <p:nvPr/>
              </p:nvSpPr>
              <p:spPr>
                <a:xfrm>
                  <a:off x="10127358" y="3790297"/>
                  <a:ext cx="380999" cy="276999"/>
                </a:xfrm>
                <a:prstGeom prst="rect">
                  <a:avLst/>
                </a:prstGeom>
                <a:noFill/>
                <a:ln w="158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sz="12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42DA4BE7-BE7B-474C-82A6-7A9DCE2B2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27358" y="3790297"/>
                  <a:ext cx="380999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587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0" name="Straight Arrow Connector 59"/>
          <p:cNvCxnSpPr>
            <a:cxnSpLocks/>
          </p:cNvCxnSpPr>
          <p:nvPr/>
        </p:nvCxnSpPr>
        <p:spPr>
          <a:xfrm>
            <a:off x="2114550" y="2246531"/>
            <a:ext cx="266002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4879541" y="1284740"/>
            <a:ext cx="376483" cy="1118675"/>
          </a:xfrm>
          <a:prstGeom prst="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/>
          <p:cNvSpPr/>
          <p:nvPr/>
        </p:nvSpPr>
        <p:spPr>
          <a:xfrm>
            <a:off x="1600004" y="1234590"/>
            <a:ext cx="409575" cy="1156185"/>
          </a:xfrm>
          <a:prstGeom prst="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07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Long Short Term Memory (LSTM)</a:t>
            </a:r>
            <a:br>
              <a:rPr lang="en-IN" sz="32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Hochreiter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 et al., 1997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0374"/>
            <a:ext cx="10515600" cy="471805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Long Short-Term Memory (LSTM) </a:t>
            </a:r>
            <a:r>
              <a:rPr lang="en-US" dirty="0">
                <a:latin typeface="Arial Narrow" panose="020B0606020202030204" pitchFamily="34" charset="0"/>
              </a:rPr>
              <a:t>is an advanced type of Recurrent Neural Network (RNN) specifically designed to overcome the vanishing gradient problem and improve the learning of long-term dependencies. </a:t>
            </a:r>
          </a:p>
          <a:p>
            <a:pPr algn="just">
              <a:lnSpc>
                <a:spcPct val="12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Unlike a conventional RNN, an LSTM uses a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memory cell </a:t>
            </a:r>
            <a:r>
              <a:rPr lang="en-US" dirty="0">
                <a:latin typeface="Arial Narrow" panose="020B0606020202030204" pitchFamily="34" charset="0"/>
              </a:rPr>
              <a:t>and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three main gates</a:t>
            </a:r>
            <a:r>
              <a:rPr lang="en-US" dirty="0">
                <a:latin typeface="Arial Narrow" panose="020B0606020202030204" pitchFamily="34" charset="0"/>
              </a:rPr>
              <a:t>—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Forget gate,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Input gate, and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Output gate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latin typeface="Arial Narrow" panose="020B0606020202030204" pitchFamily="34" charset="0"/>
              </a:rPr>
              <a:t>     to regulate the flow of information through the network.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forget gate </a:t>
            </a:r>
            <a:r>
              <a:rPr lang="en-US" dirty="0">
                <a:latin typeface="Arial Narrow" panose="020B0606020202030204" pitchFamily="34" charset="0"/>
              </a:rPr>
              <a:t>determines which information should be discarded, the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input gate </a:t>
            </a:r>
            <a:r>
              <a:rPr lang="en-US" dirty="0">
                <a:latin typeface="Arial Narrow" panose="020B0606020202030204" pitchFamily="34" charset="0"/>
              </a:rPr>
              <a:t>controls which new information should be stored, and the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output gate</a:t>
            </a:r>
            <a:r>
              <a:rPr lang="en-US" dirty="0">
                <a:latin typeface="Arial Narrow" panose="020B0606020202030204" pitchFamily="34" charset="0"/>
              </a:rPr>
              <a:t> determines which information should be passed to the next hidden state. </a:t>
            </a:r>
          </a:p>
        </p:txBody>
      </p:sp>
    </p:spTree>
    <p:extLst>
      <p:ext uri="{BB962C8B-B14F-4D97-AF65-F5344CB8AC3E}">
        <p14:creationId xmlns:p14="http://schemas.microsoft.com/office/powerpoint/2010/main" val="2307859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44CB-C297-4A0A-8E89-05B50549A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62812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Most importantly,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LSTM cell state provides a relatively direct pathway for information and gradients to flow across multiple time steps</a:t>
            </a:r>
            <a:r>
              <a:rPr lang="en-US" sz="2000" dirty="0">
                <a:latin typeface="Arial Narrow" panose="020B0606020202030204" pitchFamily="34" charset="0"/>
              </a:rPr>
              <a:t>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reducing the exponential decay of gradients </a:t>
            </a:r>
            <a:r>
              <a:rPr lang="en-US" sz="2000" dirty="0">
                <a:latin typeface="Arial Narrow" panose="020B0606020202030204" pitchFamily="34" charset="0"/>
              </a:rPr>
              <a:t>during Backpropagation Through Time (BPTT).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enables LSTMs to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retain relevant information for longer periods </a:t>
            </a:r>
            <a:r>
              <a:rPr lang="en-US" sz="2000" dirty="0">
                <a:latin typeface="Arial Narrow" panose="020B0606020202030204" pitchFamily="34" charset="0"/>
              </a:rPr>
              <a:t>and effectively learn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long-term dependencies</a:t>
            </a:r>
            <a:r>
              <a:rPr lang="en-US" sz="2000" dirty="0">
                <a:latin typeface="Arial Narrow" panose="020B0606020202030204" pitchFamily="34" charset="0"/>
              </a:rPr>
              <a:t> in sequential data.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Therefore, LSTMs provide a more robust solution than simple RNNs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for tasks involving long sequences</a:t>
            </a:r>
            <a:r>
              <a:rPr lang="en-US" sz="2000" dirty="0">
                <a:latin typeface="Arial Narrow" panose="020B0606020202030204" pitchFamily="34" charset="0"/>
              </a:rPr>
              <a:t>, such as language modeling, speech recognition, machine translation, and time-series prediction.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F16665-FECB-4F71-AA3F-4F4056AF8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Long Short Term Memory (LSTM)</a:t>
            </a:r>
            <a:br>
              <a:rPr lang="en-IN" sz="32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Hochreiter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 et al., 1997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61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5838825" y="2334084"/>
            <a:ext cx="6039981" cy="3417570"/>
            <a:chOff x="5783211" y="2571750"/>
            <a:chExt cx="6039981" cy="3417570"/>
          </a:xfrm>
        </p:grpSpPr>
        <p:sp>
          <p:nvSpPr>
            <p:cNvPr id="63" name="Rectangle 62"/>
            <p:cNvSpPr/>
            <p:nvPr/>
          </p:nvSpPr>
          <p:spPr>
            <a:xfrm>
              <a:off x="6810375" y="2571750"/>
              <a:ext cx="4343400" cy="301942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6923315" y="2714172"/>
              <a:ext cx="861092" cy="27995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4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7929053" y="2730393"/>
              <a:ext cx="1721767" cy="2799540"/>
            </a:xfrm>
            <a:prstGeom prst="roundRect">
              <a:avLst/>
            </a:prstGeom>
            <a:solidFill>
              <a:srgbClr val="00B0F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9734414" y="2779455"/>
              <a:ext cx="1275399" cy="2799540"/>
            </a:xfrm>
            <a:prstGeom prst="round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7" name="Straight Arrow Connector 66"/>
            <p:cNvCxnSpPr>
              <a:stCxn id="72" idx="3"/>
            </p:cNvCxnSpPr>
            <p:nvPr/>
          </p:nvCxnSpPr>
          <p:spPr>
            <a:xfrm>
              <a:off x="9052560" y="3084925"/>
              <a:ext cx="2770632" cy="0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69" idx="3"/>
              <a:endCxn id="72" idx="1"/>
            </p:cNvCxnSpPr>
            <p:nvPr/>
          </p:nvCxnSpPr>
          <p:spPr>
            <a:xfrm>
              <a:off x="7477874" y="3084925"/>
              <a:ext cx="1285393" cy="0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7188581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0" name="Straight Connector 69"/>
            <p:cNvCxnSpPr>
              <a:endCxn id="69" idx="1"/>
            </p:cNvCxnSpPr>
            <p:nvPr/>
          </p:nvCxnSpPr>
          <p:spPr>
            <a:xfrm flipV="1">
              <a:off x="5783211" y="3084925"/>
              <a:ext cx="1405370" cy="10241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8630433" y="433186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8763267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8763267" y="3624357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4" name="Straight Arrow Connector 73"/>
            <p:cNvCxnSpPr>
              <a:stCxn id="73" idx="0"/>
              <a:endCxn id="72" idx="2"/>
            </p:cNvCxnSpPr>
            <p:nvPr/>
          </p:nvCxnSpPr>
          <p:spPr>
            <a:xfrm flipV="1">
              <a:off x="8907914" y="3236976"/>
              <a:ext cx="0" cy="38738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71" idx="0"/>
              <a:endCxn id="73" idx="2"/>
            </p:cNvCxnSpPr>
            <p:nvPr/>
          </p:nvCxnSpPr>
          <p:spPr>
            <a:xfrm flipV="1">
              <a:off x="8907913" y="3928460"/>
              <a:ext cx="1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/>
            <p:nvPr/>
          </p:nvCxnSpPr>
          <p:spPr>
            <a:xfrm flipV="1">
              <a:off x="5787885" y="4724408"/>
              <a:ext cx="4051078" cy="380196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/>
            <p:nvPr/>
          </p:nvCxnSpPr>
          <p:spPr>
            <a:xfrm rot="16200000" flipH="1">
              <a:off x="10196450" y="3471800"/>
              <a:ext cx="1991900" cy="1218150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 78"/>
            <p:cNvSpPr/>
            <p:nvPr/>
          </p:nvSpPr>
          <p:spPr>
            <a:xfrm>
              <a:off x="10439821" y="4063750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80" name="Elbow Connector 79"/>
            <p:cNvCxnSpPr>
              <a:stCxn id="78" idx="0"/>
              <a:endCxn id="79" idx="1"/>
            </p:cNvCxnSpPr>
            <p:nvPr/>
          </p:nvCxnSpPr>
          <p:spPr>
            <a:xfrm rot="5400000" flipH="1" flipV="1">
              <a:off x="10092615" y="4007870"/>
              <a:ext cx="139274" cy="555138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3636" r="-9091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Elbow Connector 82"/>
            <p:cNvCxnSpPr>
              <a:stCxn id="82" idx="0"/>
              <a:endCxn id="73" idx="1"/>
            </p:cNvCxnSpPr>
            <p:nvPr/>
          </p:nvCxnSpPr>
          <p:spPr>
            <a:xfrm rot="5400000" flipH="1" flipV="1">
              <a:off x="8158233" y="3718039"/>
              <a:ext cx="546664" cy="663404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V="1">
              <a:off x="7276759" y="4698755"/>
              <a:ext cx="1" cy="41219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 flipV="1">
              <a:off x="8035573" y="4711455"/>
              <a:ext cx="1149" cy="39314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8761863" y="4705961"/>
              <a:ext cx="0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H="1">
              <a:off x="7388773" y="4692405"/>
              <a:ext cx="1" cy="1296915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/>
            <p:cNvCxnSpPr/>
            <p:nvPr/>
          </p:nvCxnSpPr>
          <p:spPr>
            <a:xfrm flipV="1">
              <a:off x="7388773" y="4732029"/>
              <a:ext cx="2556870" cy="499807"/>
            </a:xfrm>
            <a:prstGeom prst="bentConnector3">
              <a:avLst>
                <a:gd name="adj1" fmla="val 100022"/>
              </a:avLst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8153400" y="4692405"/>
              <a:ext cx="3613" cy="53943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9013031" y="4704667"/>
              <a:ext cx="1338" cy="52716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0305845" y="358181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92" name="Straight Arrow Connector 91"/>
            <p:cNvCxnSpPr>
              <a:stCxn id="81" idx="0"/>
              <a:endCxn id="69" idx="2"/>
            </p:cNvCxnSpPr>
            <p:nvPr/>
          </p:nvCxnSpPr>
          <p:spPr>
            <a:xfrm flipH="1" flipV="1">
              <a:off x="7333228" y="3236976"/>
              <a:ext cx="682" cy="1086097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452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LSTM Architecture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494" y="1164335"/>
            <a:ext cx="5401013" cy="538566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An LSTM cell consists of a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cell state </a:t>
            </a:r>
            <a:r>
              <a:rPr lang="en-US" dirty="0">
                <a:latin typeface="Arial Narrow" panose="020B0606020202030204" pitchFamily="34" charset="0"/>
              </a:rPr>
              <a:t>and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three primary gates</a:t>
            </a:r>
            <a:r>
              <a:rPr lang="en-US" dirty="0">
                <a:latin typeface="Arial Narrow" panose="020B0606020202030204" pitchFamily="34" charset="0"/>
              </a:rPr>
              <a:t>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lvl="1" algn="just">
              <a:lnSpc>
                <a:spcPct val="110000"/>
              </a:lnSpc>
            </a:pPr>
            <a:r>
              <a:rPr lang="en-US" sz="2900" dirty="0">
                <a:solidFill>
                  <a:srgbClr val="00B0F0"/>
                </a:solidFill>
                <a:latin typeface="Arial Narrow" panose="020B0606020202030204" pitchFamily="34" charset="0"/>
              </a:rPr>
              <a:t>The forget gate </a:t>
            </a:r>
            <a:r>
              <a:rPr lang="en-US" sz="2900" dirty="0">
                <a:latin typeface="Arial Narrow" panose="020B0606020202030204" pitchFamily="34" charset="0"/>
              </a:rPr>
              <a:t>determines which information from the previous cell state should be discarded.</a:t>
            </a:r>
          </a:p>
          <a:p>
            <a:pPr lvl="1" algn="just">
              <a:lnSpc>
                <a:spcPct val="110000"/>
              </a:lnSpc>
            </a:pPr>
            <a:endParaRPr lang="en-US" sz="2900" dirty="0">
              <a:latin typeface="Arial Narrow" panose="020B0606020202030204" pitchFamily="34" charset="0"/>
            </a:endParaRPr>
          </a:p>
          <a:p>
            <a:pPr lvl="1" algn="just">
              <a:lnSpc>
                <a:spcPct val="110000"/>
              </a:lnSpc>
            </a:pPr>
            <a:r>
              <a:rPr lang="en-US" sz="2900" dirty="0">
                <a:solidFill>
                  <a:srgbClr val="00B0F0"/>
                </a:solidFill>
                <a:latin typeface="Arial Narrow" panose="020B0606020202030204" pitchFamily="34" charset="0"/>
              </a:rPr>
              <a:t>The input gate controls </a:t>
            </a:r>
            <a:r>
              <a:rPr lang="en-US" sz="2900" dirty="0">
                <a:latin typeface="Arial Narrow" panose="020B0606020202030204" pitchFamily="34" charset="0"/>
              </a:rPr>
              <a:t>the amount of new information that should be stored in the cell state. </a:t>
            </a:r>
          </a:p>
          <a:p>
            <a:pPr lvl="1" algn="just">
              <a:lnSpc>
                <a:spcPct val="110000"/>
              </a:lnSpc>
            </a:pPr>
            <a:endParaRPr lang="en-US" sz="2900" dirty="0">
              <a:latin typeface="Arial Narrow" panose="020B0606020202030204" pitchFamily="34" charset="0"/>
            </a:endParaRPr>
          </a:p>
          <a:p>
            <a:pPr lvl="1" algn="just">
              <a:lnSpc>
                <a:spcPct val="110000"/>
              </a:lnSpc>
            </a:pPr>
            <a:r>
              <a:rPr lang="en-US" sz="2900" dirty="0">
                <a:solidFill>
                  <a:srgbClr val="00B0F0"/>
                </a:solidFill>
                <a:latin typeface="Arial Narrow" panose="020B0606020202030204" pitchFamily="34" charset="0"/>
              </a:rPr>
              <a:t>The output gate </a:t>
            </a:r>
            <a:r>
              <a:rPr lang="en-US" sz="2900" dirty="0">
                <a:latin typeface="Arial Narrow" panose="020B0606020202030204" pitchFamily="34" charset="0"/>
              </a:rPr>
              <a:t>determines which portion of the updated cell state is exposed as the hidden state and passed to the next time step. </a:t>
            </a:r>
          </a:p>
          <a:p>
            <a:pPr algn="just">
              <a:lnSpc>
                <a:spcPct val="11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latin typeface="Arial Narrow" panose="020B0606020202030204" pitchFamily="34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cell state</a:t>
            </a:r>
            <a:r>
              <a:rPr lang="en-US" dirty="0">
                <a:latin typeface="Arial Narrow" panose="020B0606020202030204" pitchFamily="34" charset="0"/>
              </a:rPr>
              <a:t> acts as a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long-term memory pathway</a:t>
            </a:r>
            <a:r>
              <a:rPr lang="en-US" dirty="0">
                <a:latin typeface="Arial Narrow" panose="020B0606020202030204" pitchFamily="34" charset="0"/>
              </a:rPr>
              <a:t>, allowing relevant information to flow through multiple time steps with reduced gradient degradation.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/>
              <p:nvPr/>
            </p:nvSpPr>
            <p:spPr>
              <a:xfrm>
                <a:off x="7130062" y="570955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062" y="5709556"/>
                <a:ext cx="628650" cy="461665"/>
              </a:xfrm>
              <a:prstGeom prst="rect">
                <a:avLst/>
              </a:prstGeom>
              <a:blipFill>
                <a:blip r:embed="rId1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/>
              <p:nvPr/>
            </p:nvSpPr>
            <p:spPr>
              <a:xfrm>
                <a:off x="5879681" y="4359510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681" y="4359510"/>
                <a:ext cx="628650" cy="461665"/>
              </a:xfrm>
              <a:prstGeom prst="rect">
                <a:avLst/>
              </a:prstGeom>
              <a:blipFill>
                <a:blip r:embed="rId15"/>
                <a:stretch>
                  <a:fillRect l="-2913" r="-16505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/>
              <p:nvPr/>
            </p:nvSpPr>
            <p:spPr>
              <a:xfrm>
                <a:off x="11208931" y="4311885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8931" y="4311885"/>
                <a:ext cx="628650" cy="461665"/>
              </a:xfrm>
              <a:prstGeom prst="rect">
                <a:avLst/>
              </a:prstGeom>
              <a:blipFill>
                <a:blip r:embed="rId1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/>
              <p:nvPr/>
            </p:nvSpPr>
            <p:spPr>
              <a:xfrm>
                <a:off x="5998371" y="2365837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371" y="2365837"/>
                <a:ext cx="628650" cy="461665"/>
              </a:xfrm>
              <a:prstGeom prst="rect">
                <a:avLst/>
              </a:prstGeom>
              <a:blipFill>
                <a:blip r:embed="rId17"/>
                <a:stretch>
                  <a:fillRect l="-2913" r="-15534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/>
              <p:nvPr/>
            </p:nvSpPr>
            <p:spPr>
              <a:xfrm>
                <a:off x="11164521" y="2403488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4521" y="2403488"/>
                <a:ext cx="628650" cy="461665"/>
              </a:xfrm>
              <a:prstGeom prst="rect">
                <a:avLst/>
              </a:prstGeom>
              <a:blipFill>
                <a:blip r:embed="rId1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/>
              <p:nvPr/>
            </p:nvSpPr>
            <p:spPr>
              <a:xfrm>
                <a:off x="6947619" y="3533724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619" y="3533724"/>
                <a:ext cx="628650" cy="461665"/>
              </a:xfrm>
              <a:prstGeom prst="rect">
                <a:avLst/>
              </a:prstGeom>
              <a:blipFill>
                <a:blip r:embed="rId1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/>
              <p:nvPr/>
            </p:nvSpPr>
            <p:spPr>
              <a:xfrm>
                <a:off x="8002504" y="360301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2504" y="3603016"/>
                <a:ext cx="628650" cy="461665"/>
              </a:xfrm>
              <a:prstGeom prst="rect">
                <a:avLst/>
              </a:prstGeom>
              <a:blipFill>
                <a:blip r:embed="rId2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/>
              <p:nvPr/>
            </p:nvSpPr>
            <p:spPr>
              <a:xfrm>
                <a:off x="8801297" y="3680532"/>
                <a:ext cx="628650" cy="409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297" y="3680532"/>
                <a:ext cx="628650" cy="409856"/>
              </a:xfrm>
              <a:prstGeom prst="rect">
                <a:avLst/>
              </a:prstGeom>
              <a:blipFill>
                <a:blip r:embed="rId21"/>
                <a:stretch>
                  <a:fillRect t="-8955" r="-233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/>
              <p:nvPr/>
            </p:nvSpPr>
            <p:spPr>
              <a:xfrm>
                <a:off x="9898126" y="3536273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8126" y="3536273"/>
                <a:ext cx="628650" cy="461665"/>
              </a:xfrm>
              <a:prstGeom prst="rect">
                <a:avLst/>
              </a:prstGeom>
              <a:blipFill>
                <a:blip r:embed="rId2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D94F053-D387-438A-8FF6-04B72AF811BD}"/>
              </a:ext>
            </a:extLst>
          </p:cNvPr>
          <p:cNvSpPr txBox="1"/>
          <p:nvPr/>
        </p:nvSpPr>
        <p:spPr>
          <a:xfrm>
            <a:off x="6795877" y="1842731"/>
            <a:ext cx="133407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Forget Gate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0794AF-2DB2-4646-828B-D9E6786A0FAF}"/>
              </a:ext>
            </a:extLst>
          </p:cNvPr>
          <p:cNvSpPr txBox="1"/>
          <p:nvPr/>
        </p:nvSpPr>
        <p:spPr>
          <a:xfrm>
            <a:off x="8328111" y="1863142"/>
            <a:ext cx="133407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 Gate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717D72-4665-4D17-9EF1-61F6183F883B}"/>
              </a:ext>
            </a:extLst>
          </p:cNvPr>
          <p:cNvSpPr txBox="1"/>
          <p:nvPr/>
        </p:nvSpPr>
        <p:spPr>
          <a:xfrm>
            <a:off x="10001257" y="1882106"/>
            <a:ext cx="133407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 Gate</a:t>
            </a:r>
          </a:p>
        </p:txBody>
      </p:sp>
    </p:spTree>
    <p:extLst>
      <p:ext uri="{BB962C8B-B14F-4D97-AF65-F5344CB8AC3E}">
        <p14:creationId xmlns:p14="http://schemas.microsoft.com/office/powerpoint/2010/main" val="103362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5891299" y="2334084"/>
            <a:ext cx="6035307" cy="3417570"/>
            <a:chOff x="5787885" y="2571750"/>
            <a:chExt cx="6035307" cy="3417570"/>
          </a:xfrm>
        </p:grpSpPr>
        <p:sp>
          <p:nvSpPr>
            <p:cNvPr id="63" name="Rectangle 62"/>
            <p:cNvSpPr/>
            <p:nvPr/>
          </p:nvSpPr>
          <p:spPr>
            <a:xfrm>
              <a:off x="6810375" y="2571750"/>
              <a:ext cx="4343400" cy="301942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6923315" y="2714172"/>
              <a:ext cx="861092" cy="27995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46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7" name="Straight Arrow Connector 66"/>
            <p:cNvCxnSpPr>
              <a:stCxn id="72" idx="3"/>
            </p:cNvCxnSpPr>
            <p:nvPr/>
          </p:nvCxnSpPr>
          <p:spPr>
            <a:xfrm>
              <a:off x="9052560" y="3084925"/>
              <a:ext cx="2770632" cy="0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69" idx="3"/>
              <a:endCxn id="72" idx="1"/>
            </p:cNvCxnSpPr>
            <p:nvPr/>
          </p:nvCxnSpPr>
          <p:spPr>
            <a:xfrm>
              <a:off x="7477874" y="3084925"/>
              <a:ext cx="1285393" cy="0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7188581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0" name="Straight Connector 69"/>
            <p:cNvCxnSpPr>
              <a:endCxn id="69" idx="1"/>
            </p:cNvCxnSpPr>
            <p:nvPr/>
          </p:nvCxnSpPr>
          <p:spPr>
            <a:xfrm flipV="1">
              <a:off x="5849099" y="3084925"/>
              <a:ext cx="1339482" cy="6096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8630433" y="433186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8763267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8763267" y="3624357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4" name="Straight Arrow Connector 73"/>
            <p:cNvCxnSpPr>
              <a:stCxn id="73" idx="0"/>
              <a:endCxn id="72" idx="2"/>
            </p:cNvCxnSpPr>
            <p:nvPr/>
          </p:nvCxnSpPr>
          <p:spPr>
            <a:xfrm flipV="1">
              <a:off x="8907914" y="3236976"/>
              <a:ext cx="0" cy="38738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71" idx="0"/>
              <a:endCxn id="73" idx="2"/>
            </p:cNvCxnSpPr>
            <p:nvPr/>
          </p:nvCxnSpPr>
          <p:spPr>
            <a:xfrm flipV="1">
              <a:off x="8907913" y="3928460"/>
              <a:ext cx="1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/>
            <p:nvPr/>
          </p:nvCxnSpPr>
          <p:spPr>
            <a:xfrm flipV="1">
              <a:off x="5787885" y="4724408"/>
              <a:ext cx="4051078" cy="380196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/>
            <p:nvPr/>
          </p:nvCxnSpPr>
          <p:spPr>
            <a:xfrm rot="16200000" flipH="1">
              <a:off x="10196450" y="3471800"/>
              <a:ext cx="1991900" cy="1218150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 78"/>
            <p:cNvSpPr/>
            <p:nvPr/>
          </p:nvSpPr>
          <p:spPr>
            <a:xfrm>
              <a:off x="10439821" y="4063750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80" name="Elbow Connector 79"/>
            <p:cNvCxnSpPr>
              <a:stCxn id="78" idx="0"/>
              <a:endCxn id="79" idx="1"/>
            </p:cNvCxnSpPr>
            <p:nvPr/>
          </p:nvCxnSpPr>
          <p:spPr>
            <a:xfrm rot="5400000" flipH="1" flipV="1">
              <a:off x="10092615" y="4007870"/>
              <a:ext cx="139274" cy="555138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3636" r="-9091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Elbow Connector 82"/>
            <p:cNvCxnSpPr>
              <a:stCxn id="82" idx="0"/>
              <a:endCxn id="73" idx="1"/>
            </p:cNvCxnSpPr>
            <p:nvPr/>
          </p:nvCxnSpPr>
          <p:spPr>
            <a:xfrm rot="5400000" flipH="1" flipV="1">
              <a:off x="8158233" y="3718039"/>
              <a:ext cx="546664" cy="663404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V="1">
              <a:off x="7276759" y="4698755"/>
              <a:ext cx="1" cy="41219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 flipV="1">
              <a:off x="8035573" y="4711455"/>
              <a:ext cx="1149" cy="39314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8761863" y="4705961"/>
              <a:ext cx="0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H="1">
              <a:off x="7388773" y="4692405"/>
              <a:ext cx="1" cy="1296915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/>
            <p:cNvCxnSpPr/>
            <p:nvPr/>
          </p:nvCxnSpPr>
          <p:spPr>
            <a:xfrm flipV="1">
              <a:off x="7388773" y="4732029"/>
              <a:ext cx="2556870" cy="499807"/>
            </a:xfrm>
            <a:prstGeom prst="bentConnector3">
              <a:avLst>
                <a:gd name="adj1" fmla="val 100022"/>
              </a:avLst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8153400" y="4692405"/>
              <a:ext cx="3613" cy="53943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9013031" y="4704667"/>
              <a:ext cx="1338" cy="52716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0305845" y="358181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92" name="Straight Arrow Connector 91"/>
            <p:cNvCxnSpPr>
              <a:stCxn id="81" idx="0"/>
              <a:endCxn id="69" idx="2"/>
            </p:cNvCxnSpPr>
            <p:nvPr/>
          </p:nvCxnSpPr>
          <p:spPr>
            <a:xfrm flipH="1" flipV="1">
              <a:off x="7333228" y="3236976"/>
              <a:ext cx="682" cy="1086097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59" y="295954"/>
            <a:ext cx="10515600" cy="64452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Forget Gate (Controls Memory)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1959" y="1205133"/>
                <a:ext cx="5227898" cy="5241901"/>
              </a:xfrm>
            </p:spPr>
            <p:txBody>
              <a:bodyPr>
                <a:normAutofit fontScale="62500" lnSpcReduction="2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forget gate </a:t>
                </a:r>
                <a:r>
                  <a:rPr lang="en-US" dirty="0">
                    <a:latin typeface="Arial Narrow" panose="020B0606020202030204" pitchFamily="34" charset="0"/>
                  </a:rPr>
                  <a:t>decides how much information from the previous cell state should be kept or forgotten.</a:t>
                </a:r>
              </a:p>
              <a:p>
                <a:pPr algn="just">
                  <a:lnSpc>
                    <a:spcPct val="12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It helps the LSTM remove irrelevant or unnecessary information while keeping important information for future time steps.</a:t>
                </a:r>
              </a:p>
              <a:p>
                <a:pPr algn="just">
                  <a:lnSpc>
                    <a:spcPct val="12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forget gate is computed as: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3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IN" sz="3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IN" sz="3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IN" sz="3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3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3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3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IN" sz="3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3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3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3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IN" sz="3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>
                  <a:solidFill>
                    <a:srgbClr val="00B0F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:endParaRPr lang="en-US" dirty="0">
                  <a:solidFill>
                    <a:srgbClr val="00B0F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For a particular cell state,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 0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dirty="0">
                    <a:latin typeface="Arial Narrow" panose="020B0606020202030204" pitchFamily="34" charset="0"/>
                  </a:rPr>
                  <a:t>or near 0 , the corresponding information in the previous cell state </a:t>
                </a:r>
                <a:r>
                  <a:rPr lang="en-IN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>
                    <a:latin typeface="Arial Narrow" panose="020B0606020202030204" pitchFamily="34" charset="0"/>
                  </a:rPr>
                  <a:t>is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erased (forgotten). </a:t>
                </a:r>
                <a:r>
                  <a:rPr lang="en-US" dirty="0">
                    <a:latin typeface="Arial Narrow" panose="020B0606020202030204" pitchFamily="34" charset="0"/>
                  </a:rPr>
                  <a:t>Conversely,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rial Narrow" panose="020B060602020203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latin typeface="Arial Narrow" panose="020B0606020202030204" pitchFamily="34" charset="0"/>
                  </a:rPr>
                  <a:t>or near 1, the corresponding information in 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>
                    <a:latin typeface="Arial Narrow" panose="020B0606020202030204" pitchFamily="34" charset="0"/>
                  </a:rPr>
                  <a:t>is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retained</a:t>
                </a:r>
                <a:r>
                  <a:rPr lang="en-US" dirty="0">
                    <a:latin typeface="Arial Narrow" panose="020B0606020202030204" pitchFamily="34" charset="0"/>
                  </a:rPr>
                  <a:t> and passed unchanged to the next time step for future use.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959" y="1205133"/>
                <a:ext cx="5227898" cy="5241901"/>
              </a:xfrm>
              <a:blipFill>
                <a:blip r:embed="rId5"/>
                <a:stretch>
                  <a:fillRect l="-817" t="-581" r="-933" b="-15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/>
              <p:nvPr/>
            </p:nvSpPr>
            <p:spPr>
              <a:xfrm>
                <a:off x="7177862" y="570955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862" y="5709556"/>
                <a:ext cx="628650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/>
              <p:nvPr/>
            </p:nvSpPr>
            <p:spPr>
              <a:xfrm>
                <a:off x="5927481" y="4359510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481" y="4359510"/>
                <a:ext cx="628650" cy="461665"/>
              </a:xfrm>
              <a:prstGeom prst="rect">
                <a:avLst/>
              </a:prstGeom>
              <a:blipFill>
                <a:blip r:embed="rId7"/>
                <a:stretch>
                  <a:fillRect l="-2913" r="-16505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/>
              <p:nvPr/>
            </p:nvSpPr>
            <p:spPr>
              <a:xfrm>
                <a:off x="11256731" y="4311885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6731" y="4311885"/>
                <a:ext cx="628650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/>
              <p:nvPr/>
            </p:nvSpPr>
            <p:spPr>
              <a:xfrm>
                <a:off x="6046171" y="2365837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171" y="2365837"/>
                <a:ext cx="628650" cy="461665"/>
              </a:xfrm>
              <a:prstGeom prst="rect">
                <a:avLst/>
              </a:prstGeom>
              <a:blipFill>
                <a:blip r:embed="rId9"/>
                <a:stretch>
                  <a:fillRect l="-2913" r="-15534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/>
              <p:nvPr/>
            </p:nvSpPr>
            <p:spPr>
              <a:xfrm>
                <a:off x="11212321" y="2403488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2321" y="2403488"/>
                <a:ext cx="628650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/>
              <p:nvPr/>
            </p:nvSpPr>
            <p:spPr>
              <a:xfrm>
                <a:off x="6995419" y="3533724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419" y="3533724"/>
                <a:ext cx="628650" cy="461665"/>
              </a:xfrm>
              <a:prstGeom prst="rect">
                <a:avLst/>
              </a:prstGeom>
              <a:blipFill>
                <a:blip r:embed="rId1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/>
              <p:nvPr/>
            </p:nvSpPr>
            <p:spPr>
              <a:xfrm>
                <a:off x="8050304" y="360301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304" y="3603016"/>
                <a:ext cx="628650" cy="461665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/>
              <p:nvPr/>
            </p:nvSpPr>
            <p:spPr>
              <a:xfrm>
                <a:off x="8849097" y="3680532"/>
                <a:ext cx="628650" cy="409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097" y="3680532"/>
                <a:ext cx="628650" cy="409856"/>
              </a:xfrm>
              <a:prstGeom prst="rect">
                <a:avLst/>
              </a:prstGeom>
              <a:blipFill>
                <a:blip r:embed="rId13"/>
                <a:stretch>
                  <a:fillRect t="-8955" r="-233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/>
              <p:nvPr/>
            </p:nvSpPr>
            <p:spPr>
              <a:xfrm>
                <a:off x="9945926" y="3536273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926" y="3536273"/>
                <a:ext cx="628650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ED94F053-D387-438A-8FF6-04B72AF811BD}"/>
              </a:ext>
            </a:extLst>
          </p:cNvPr>
          <p:cNvSpPr txBox="1"/>
          <p:nvPr/>
        </p:nvSpPr>
        <p:spPr>
          <a:xfrm>
            <a:off x="6843677" y="1842731"/>
            <a:ext cx="133407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Forget Gate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97D35D-4706-4F7E-AC37-6426DE4F18E3}"/>
              </a:ext>
            </a:extLst>
          </p:cNvPr>
          <p:cNvSpPr txBox="1"/>
          <p:nvPr/>
        </p:nvSpPr>
        <p:spPr>
          <a:xfrm>
            <a:off x="6721395" y="6492464"/>
            <a:ext cx="5595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https://colah.github.io/posts/2015-08-Understanding-LSTMs/</a:t>
            </a:r>
          </a:p>
        </p:txBody>
      </p:sp>
    </p:spTree>
    <p:extLst>
      <p:ext uri="{BB962C8B-B14F-4D97-AF65-F5344CB8AC3E}">
        <p14:creationId xmlns:p14="http://schemas.microsoft.com/office/powerpoint/2010/main" val="274719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5899688" y="2334084"/>
            <a:ext cx="6035307" cy="3417570"/>
            <a:chOff x="5787885" y="2571750"/>
            <a:chExt cx="6035307" cy="3417570"/>
          </a:xfrm>
        </p:grpSpPr>
        <p:sp>
          <p:nvSpPr>
            <p:cNvPr id="63" name="Rectangle 62"/>
            <p:cNvSpPr/>
            <p:nvPr/>
          </p:nvSpPr>
          <p:spPr>
            <a:xfrm>
              <a:off x="6810375" y="2571750"/>
              <a:ext cx="4343400" cy="301942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7929053" y="2730393"/>
              <a:ext cx="1721767" cy="2799540"/>
            </a:xfrm>
            <a:prstGeom prst="roundRect">
              <a:avLst/>
            </a:prstGeom>
            <a:solidFill>
              <a:srgbClr val="00B0F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7" name="Straight Arrow Connector 66"/>
            <p:cNvCxnSpPr>
              <a:stCxn id="72" idx="3"/>
            </p:cNvCxnSpPr>
            <p:nvPr/>
          </p:nvCxnSpPr>
          <p:spPr>
            <a:xfrm>
              <a:off x="9052560" y="3084925"/>
              <a:ext cx="2770632" cy="0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69" idx="3"/>
              <a:endCxn id="72" idx="1"/>
            </p:cNvCxnSpPr>
            <p:nvPr/>
          </p:nvCxnSpPr>
          <p:spPr>
            <a:xfrm>
              <a:off x="7477874" y="3084925"/>
              <a:ext cx="1285393" cy="0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7188581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0" name="Straight Connector 69"/>
            <p:cNvCxnSpPr>
              <a:endCxn id="69" idx="1"/>
            </p:cNvCxnSpPr>
            <p:nvPr/>
          </p:nvCxnSpPr>
          <p:spPr>
            <a:xfrm flipV="1">
              <a:off x="5849099" y="3084925"/>
              <a:ext cx="1339482" cy="6096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8630433" y="433186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8763267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8763267" y="3624357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4" name="Straight Arrow Connector 73"/>
            <p:cNvCxnSpPr>
              <a:stCxn id="73" idx="0"/>
              <a:endCxn id="72" idx="2"/>
            </p:cNvCxnSpPr>
            <p:nvPr/>
          </p:nvCxnSpPr>
          <p:spPr>
            <a:xfrm flipV="1">
              <a:off x="8907914" y="3236976"/>
              <a:ext cx="0" cy="38738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71" idx="0"/>
              <a:endCxn id="73" idx="2"/>
            </p:cNvCxnSpPr>
            <p:nvPr/>
          </p:nvCxnSpPr>
          <p:spPr>
            <a:xfrm flipV="1">
              <a:off x="8907913" y="3928460"/>
              <a:ext cx="1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/>
            <p:nvPr/>
          </p:nvCxnSpPr>
          <p:spPr>
            <a:xfrm flipV="1">
              <a:off x="5787885" y="4724408"/>
              <a:ext cx="4051078" cy="380196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/>
            <p:nvPr/>
          </p:nvCxnSpPr>
          <p:spPr>
            <a:xfrm rot="16200000" flipH="1">
              <a:off x="10196450" y="3471800"/>
              <a:ext cx="1991900" cy="1218150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 78"/>
            <p:cNvSpPr/>
            <p:nvPr/>
          </p:nvSpPr>
          <p:spPr>
            <a:xfrm>
              <a:off x="10439821" y="4063750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80" name="Elbow Connector 79"/>
            <p:cNvCxnSpPr>
              <a:stCxn id="78" idx="0"/>
              <a:endCxn id="79" idx="1"/>
            </p:cNvCxnSpPr>
            <p:nvPr/>
          </p:nvCxnSpPr>
          <p:spPr>
            <a:xfrm rot="5400000" flipH="1" flipV="1">
              <a:off x="10092615" y="4007870"/>
              <a:ext cx="139274" cy="555138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3636" r="-9091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Elbow Connector 82"/>
            <p:cNvCxnSpPr>
              <a:stCxn id="82" idx="0"/>
              <a:endCxn id="73" idx="1"/>
            </p:cNvCxnSpPr>
            <p:nvPr/>
          </p:nvCxnSpPr>
          <p:spPr>
            <a:xfrm rot="5400000" flipH="1" flipV="1">
              <a:off x="8158233" y="3718039"/>
              <a:ext cx="546664" cy="663404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V="1">
              <a:off x="7276759" y="4698755"/>
              <a:ext cx="1" cy="41219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 flipV="1">
              <a:off x="8035573" y="4711455"/>
              <a:ext cx="1149" cy="39314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8761863" y="4705961"/>
              <a:ext cx="0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H="1">
              <a:off x="7388773" y="4692405"/>
              <a:ext cx="1" cy="1296915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/>
            <p:cNvCxnSpPr/>
            <p:nvPr/>
          </p:nvCxnSpPr>
          <p:spPr>
            <a:xfrm flipV="1">
              <a:off x="7388773" y="4732029"/>
              <a:ext cx="2556870" cy="499807"/>
            </a:xfrm>
            <a:prstGeom prst="bentConnector3">
              <a:avLst>
                <a:gd name="adj1" fmla="val 100022"/>
              </a:avLst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8153400" y="4692405"/>
              <a:ext cx="3613" cy="53943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9013031" y="4704667"/>
              <a:ext cx="1338" cy="52716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0305845" y="358181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92" name="Straight Arrow Connector 91"/>
            <p:cNvCxnSpPr>
              <a:stCxn id="81" idx="0"/>
              <a:endCxn id="69" idx="2"/>
            </p:cNvCxnSpPr>
            <p:nvPr/>
          </p:nvCxnSpPr>
          <p:spPr>
            <a:xfrm flipH="1" flipV="1">
              <a:off x="7333228" y="3236976"/>
              <a:ext cx="682" cy="1086097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317" y="166856"/>
            <a:ext cx="10515600" cy="97565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Input Gate (Selective Writing)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8448" y="987800"/>
                <a:ext cx="5642608" cy="5553512"/>
              </a:xfrm>
            </p:spPr>
            <p:txBody>
              <a:bodyPr>
                <a:normAutofit fontScale="62500" lnSpcReduction="20000"/>
              </a:bodyPr>
              <a:lstStyle/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input gate determines what new information and how much of it should be written into the cell state. </a:t>
                </a: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While the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forget gate </a:t>
                </a:r>
                <a:r>
                  <a:rPr lang="en-US" dirty="0">
                    <a:latin typeface="Arial Narrow" panose="020B0606020202030204" pitchFamily="34" charset="0"/>
                  </a:rPr>
                  <a:t>decides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what information to remove</a:t>
                </a:r>
                <a:r>
                  <a:rPr lang="en-US" dirty="0">
                    <a:latin typeface="Arial Narrow" panose="020B0606020202030204" pitchFamily="34" charset="0"/>
                  </a:rPr>
                  <a:t>, the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input gate </a:t>
                </a:r>
                <a:r>
                  <a:rPr lang="en-US" dirty="0">
                    <a:latin typeface="Arial Narrow" panose="020B0606020202030204" pitchFamily="34" charset="0"/>
                  </a:rPr>
                  <a:t>decides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what new information to add.</a:t>
                </a: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input gate is computed as:</a:t>
                </a:r>
              </a:p>
              <a:p>
                <a:pPr marL="457200" lvl="1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9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9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en-IN" sz="29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29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IN" sz="29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IN" sz="29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IN" sz="29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9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rgbClr val="7030A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A candidate cell state containing the new information is computed as:</a:t>
                </a:r>
                <a:endParaRPr lang="en-US" i="1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457200" lvl="1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9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9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IN" sz="29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9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𝑡𝑎𝑛h</m:t>
                          </m:r>
                        </m:fName>
                        <m:e>
                          <m:d>
                            <m:dPr>
                              <m:ctrlPr>
                                <a:rPr lang="en-IN" sz="29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IN" sz="29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p>
                              </m:sSubSup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IN" sz="29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IN" sz="29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p>
                              </m:sSubSup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IN" sz="29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9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900" b="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7030A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Updating Cell state: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decides what component is to be updated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provides change contents.</a:t>
                </a: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updated cell state is computed as:</a:t>
                </a:r>
                <a:endParaRPr lang="en-US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9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9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9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9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9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9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9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9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acc>
                        <m:accPr>
                          <m:chr m:val="̃"/>
                          <m:ctrlPr>
                            <a:rPr lang="en-IN" sz="29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29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900" b="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>
                  <a:solidFill>
                    <a:srgbClr val="00B0F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acc>
                      <m:accPr>
                        <m:chr m:val="̃"/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represents the new candidate values scaled by how much to update each state value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b="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decide how to remember previous state.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8448" y="987800"/>
                <a:ext cx="5642608" cy="5553512"/>
              </a:xfrm>
              <a:blipFill>
                <a:blip r:embed="rId5"/>
                <a:stretch>
                  <a:fillRect l="-648" t="-439" r="-972" b="-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/>
              <p:nvPr/>
            </p:nvSpPr>
            <p:spPr>
              <a:xfrm>
                <a:off x="7186251" y="570955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251" y="5709556"/>
                <a:ext cx="628650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/>
              <p:nvPr/>
            </p:nvSpPr>
            <p:spPr>
              <a:xfrm>
                <a:off x="5935870" y="4359510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870" y="4359510"/>
                <a:ext cx="628650" cy="461665"/>
              </a:xfrm>
              <a:prstGeom prst="rect">
                <a:avLst/>
              </a:prstGeom>
              <a:blipFill>
                <a:blip r:embed="rId7"/>
                <a:stretch>
                  <a:fillRect l="-2913" r="-16505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/>
              <p:nvPr/>
            </p:nvSpPr>
            <p:spPr>
              <a:xfrm>
                <a:off x="11265120" y="4311885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5120" y="4311885"/>
                <a:ext cx="628650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/>
              <p:nvPr/>
            </p:nvSpPr>
            <p:spPr>
              <a:xfrm>
                <a:off x="6054560" y="2365837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560" y="2365837"/>
                <a:ext cx="628650" cy="461665"/>
              </a:xfrm>
              <a:prstGeom prst="rect">
                <a:avLst/>
              </a:prstGeom>
              <a:blipFill>
                <a:blip r:embed="rId9"/>
                <a:stretch>
                  <a:fillRect l="-1942" r="-15534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/>
              <p:nvPr/>
            </p:nvSpPr>
            <p:spPr>
              <a:xfrm>
                <a:off x="11220710" y="2403488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0710" y="2403488"/>
                <a:ext cx="628650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/>
              <p:nvPr/>
            </p:nvSpPr>
            <p:spPr>
              <a:xfrm>
                <a:off x="7003808" y="3533724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808" y="3533724"/>
                <a:ext cx="628650" cy="461665"/>
              </a:xfrm>
              <a:prstGeom prst="rect">
                <a:avLst/>
              </a:prstGeom>
              <a:blipFill>
                <a:blip r:embed="rId1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/>
              <p:nvPr/>
            </p:nvSpPr>
            <p:spPr>
              <a:xfrm>
                <a:off x="8058693" y="360301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693" y="3603016"/>
                <a:ext cx="628650" cy="461665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/>
              <p:nvPr/>
            </p:nvSpPr>
            <p:spPr>
              <a:xfrm>
                <a:off x="8857486" y="3680532"/>
                <a:ext cx="628650" cy="409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486" y="3680532"/>
                <a:ext cx="628650" cy="409856"/>
              </a:xfrm>
              <a:prstGeom prst="rect">
                <a:avLst/>
              </a:prstGeom>
              <a:blipFill>
                <a:blip r:embed="rId13"/>
                <a:stretch>
                  <a:fillRect t="-8955" r="-233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/>
              <p:nvPr/>
            </p:nvSpPr>
            <p:spPr>
              <a:xfrm>
                <a:off x="9954315" y="3536273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315" y="3536273"/>
                <a:ext cx="628650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60794AF-2DB2-4646-828B-D9E6786A0FAF}"/>
              </a:ext>
            </a:extLst>
          </p:cNvPr>
          <p:cNvSpPr txBox="1"/>
          <p:nvPr/>
        </p:nvSpPr>
        <p:spPr>
          <a:xfrm>
            <a:off x="8384300" y="1863142"/>
            <a:ext cx="133407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Input Gate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97D35D-4706-4F7E-AC37-6426DE4F18E3}"/>
              </a:ext>
            </a:extLst>
          </p:cNvPr>
          <p:cNvSpPr txBox="1"/>
          <p:nvPr/>
        </p:nvSpPr>
        <p:spPr>
          <a:xfrm>
            <a:off x="6721395" y="6492464"/>
            <a:ext cx="5595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https://colah.github.io/posts/2015-08-Understanding-LSTMs/</a:t>
            </a:r>
          </a:p>
        </p:txBody>
      </p:sp>
    </p:spTree>
    <p:extLst>
      <p:ext uri="{BB962C8B-B14F-4D97-AF65-F5344CB8AC3E}">
        <p14:creationId xmlns:p14="http://schemas.microsoft.com/office/powerpoint/2010/main" val="3678692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5681574" y="2334084"/>
            <a:ext cx="6035307" cy="3417570"/>
            <a:chOff x="5787885" y="2571750"/>
            <a:chExt cx="6035307" cy="3417570"/>
          </a:xfrm>
        </p:grpSpPr>
        <p:sp>
          <p:nvSpPr>
            <p:cNvPr id="63" name="Rectangle 62"/>
            <p:cNvSpPr/>
            <p:nvPr/>
          </p:nvSpPr>
          <p:spPr>
            <a:xfrm>
              <a:off x="6810375" y="2571750"/>
              <a:ext cx="4343400" cy="301942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9734414" y="2722305"/>
              <a:ext cx="1275399" cy="2799540"/>
            </a:xfrm>
            <a:prstGeom prst="round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7" name="Straight Arrow Connector 66"/>
            <p:cNvCxnSpPr>
              <a:stCxn id="72" idx="3"/>
            </p:cNvCxnSpPr>
            <p:nvPr/>
          </p:nvCxnSpPr>
          <p:spPr>
            <a:xfrm>
              <a:off x="9052560" y="3084925"/>
              <a:ext cx="2770632" cy="0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69" idx="3"/>
              <a:endCxn id="72" idx="1"/>
            </p:cNvCxnSpPr>
            <p:nvPr/>
          </p:nvCxnSpPr>
          <p:spPr>
            <a:xfrm>
              <a:off x="7477874" y="3084925"/>
              <a:ext cx="1285393" cy="0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7188581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0" name="Straight Connector 69"/>
            <p:cNvCxnSpPr>
              <a:endCxn id="69" idx="1"/>
            </p:cNvCxnSpPr>
            <p:nvPr/>
          </p:nvCxnSpPr>
          <p:spPr>
            <a:xfrm flipV="1">
              <a:off x="5849099" y="3084925"/>
              <a:ext cx="1339482" cy="6096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8630433" y="433186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8763267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8763267" y="3624357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4" name="Straight Arrow Connector 73"/>
            <p:cNvCxnSpPr>
              <a:stCxn id="73" idx="0"/>
              <a:endCxn id="72" idx="2"/>
            </p:cNvCxnSpPr>
            <p:nvPr/>
          </p:nvCxnSpPr>
          <p:spPr>
            <a:xfrm flipV="1">
              <a:off x="8907914" y="3236976"/>
              <a:ext cx="0" cy="38738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71" idx="0"/>
              <a:endCxn id="73" idx="2"/>
            </p:cNvCxnSpPr>
            <p:nvPr/>
          </p:nvCxnSpPr>
          <p:spPr>
            <a:xfrm flipV="1">
              <a:off x="8907913" y="3928460"/>
              <a:ext cx="1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/>
            <p:nvPr/>
          </p:nvCxnSpPr>
          <p:spPr>
            <a:xfrm flipV="1">
              <a:off x="5787885" y="4724408"/>
              <a:ext cx="4051078" cy="380196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/>
            <p:nvPr/>
          </p:nvCxnSpPr>
          <p:spPr>
            <a:xfrm rot="16200000" flipH="1">
              <a:off x="10196450" y="3471800"/>
              <a:ext cx="1991900" cy="1218150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 78"/>
            <p:cNvSpPr/>
            <p:nvPr/>
          </p:nvSpPr>
          <p:spPr>
            <a:xfrm>
              <a:off x="10439821" y="4063750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80" name="Elbow Connector 79"/>
            <p:cNvCxnSpPr>
              <a:stCxn id="78" idx="0"/>
              <a:endCxn id="79" idx="1"/>
            </p:cNvCxnSpPr>
            <p:nvPr/>
          </p:nvCxnSpPr>
          <p:spPr>
            <a:xfrm rot="5400000" flipH="1" flipV="1">
              <a:off x="10092615" y="4007870"/>
              <a:ext cx="139274" cy="555138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3636" r="-9091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Elbow Connector 82"/>
            <p:cNvCxnSpPr>
              <a:stCxn id="82" idx="0"/>
              <a:endCxn id="73" idx="1"/>
            </p:cNvCxnSpPr>
            <p:nvPr/>
          </p:nvCxnSpPr>
          <p:spPr>
            <a:xfrm rot="5400000" flipH="1" flipV="1">
              <a:off x="8158233" y="3718039"/>
              <a:ext cx="546664" cy="663404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V="1">
              <a:off x="7276759" y="4698755"/>
              <a:ext cx="1" cy="41219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 flipV="1">
              <a:off x="8035573" y="4711455"/>
              <a:ext cx="1149" cy="39314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8761863" y="4705961"/>
              <a:ext cx="0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H="1">
              <a:off x="7388773" y="4692405"/>
              <a:ext cx="1" cy="1296915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/>
            <p:cNvCxnSpPr/>
            <p:nvPr/>
          </p:nvCxnSpPr>
          <p:spPr>
            <a:xfrm flipV="1">
              <a:off x="7388773" y="4732029"/>
              <a:ext cx="2556870" cy="499807"/>
            </a:xfrm>
            <a:prstGeom prst="bentConnector3">
              <a:avLst>
                <a:gd name="adj1" fmla="val 100022"/>
              </a:avLst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8153400" y="4692405"/>
              <a:ext cx="3613" cy="53943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9013031" y="4704667"/>
              <a:ext cx="1338" cy="52716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0305845" y="358181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92" name="Straight Arrow Connector 91"/>
            <p:cNvCxnSpPr>
              <a:stCxn id="81" idx="0"/>
              <a:endCxn id="69" idx="2"/>
            </p:cNvCxnSpPr>
            <p:nvPr/>
          </p:nvCxnSpPr>
          <p:spPr>
            <a:xfrm flipH="1" flipV="1">
              <a:off x="7333228" y="3236976"/>
              <a:ext cx="682" cy="1086097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646" y="185300"/>
            <a:ext cx="10515600" cy="86516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Output Gate (Controlled Exposure)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9025" y="1299111"/>
                <a:ext cx="5183888" cy="5358047"/>
              </a:xfrm>
            </p:spPr>
            <p:txBody>
              <a:bodyPr>
                <a:normAutofit fontScale="77500" lnSpcReduction="20000"/>
              </a:bodyPr>
              <a:lstStyle/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output gate determines </a:t>
                </a: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how much information from the cell state is exposed as the hidden state (output) </a:t>
                </a:r>
                <a:r>
                  <a:rPr lang="en-US" dirty="0">
                    <a:latin typeface="Arial Narrow" panose="020B0606020202030204" pitchFamily="34" charset="0"/>
                  </a:rPr>
                  <a:t>at the current time step.</a:t>
                </a:r>
              </a:p>
              <a:p>
                <a:pPr indent="-230400" algn="just">
                  <a:lnSpc>
                    <a:spcPct val="12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Although the cell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Arial Narrow" panose="020B0606020202030204" pitchFamily="34" charset="0"/>
                  </a:rPr>
                  <a:t>) stores long-term memory, not all of it is needed at every time step. The output gate selects the relevant information to pass as the LSTM output.</a:t>
                </a:r>
              </a:p>
              <a:p>
                <a:pPr indent="-230400" algn="just">
                  <a:lnSpc>
                    <a:spcPct val="12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output gate is computed as:</a:t>
                </a:r>
              </a:p>
              <a:p>
                <a:pPr marL="457200" lvl="1" indent="-230400" algn="just">
                  <a:lnSpc>
                    <a:spcPct val="120000"/>
                  </a:lnSpc>
                  <a:buNone/>
                </a:pPr>
                <a:endParaRPr lang="en-IN" i="1" dirty="0">
                  <a:solidFill>
                    <a:srgbClr val="7030A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lvl="1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IN" sz="2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IN" sz="2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IN" sz="2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2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2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IN" sz="2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IN" sz="2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6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26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sz="2600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600" dirty="0">
                  <a:solidFill>
                    <a:srgbClr val="7030A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025" y="1299111"/>
                <a:ext cx="5183888" cy="5358047"/>
              </a:xfrm>
              <a:blipFill>
                <a:blip r:embed="rId5"/>
                <a:stretch>
                  <a:fillRect l="-1412" t="-683" r="-15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/>
              <p:nvPr/>
            </p:nvSpPr>
            <p:spPr>
              <a:xfrm>
                <a:off x="6968137" y="570955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137" y="5709556"/>
                <a:ext cx="628650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/>
              <p:nvPr/>
            </p:nvSpPr>
            <p:spPr>
              <a:xfrm>
                <a:off x="5717756" y="4359510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756" y="4359510"/>
                <a:ext cx="628650" cy="461665"/>
              </a:xfrm>
              <a:prstGeom prst="rect">
                <a:avLst/>
              </a:prstGeom>
              <a:blipFill>
                <a:blip r:embed="rId7"/>
                <a:stretch>
                  <a:fillRect l="-2913" r="-16505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/>
              <p:nvPr/>
            </p:nvSpPr>
            <p:spPr>
              <a:xfrm>
                <a:off x="11047006" y="4311885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7006" y="4311885"/>
                <a:ext cx="628650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/>
              <p:nvPr/>
            </p:nvSpPr>
            <p:spPr>
              <a:xfrm>
                <a:off x="5836446" y="2365837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446" y="2365837"/>
                <a:ext cx="628650" cy="461665"/>
              </a:xfrm>
              <a:prstGeom prst="rect">
                <a:avLst/>
              </a:prstGeom>
              <a:blipFill>
                <a:blip r:embed="rId9"/>
                <a:stretch>
                  <a:fillRect l="-1923" r="-14423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/>
              <p:nvPr/>
            </p:nvSpPr>
            <p:spPr>
              <a:xfrm>
                <a:off x="11002596" y="2403488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2596" y="2403488"/>
                <a:ext cx="628650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/>
              <p:nvPr/>
            </p:nvSpPr>
            <p:spPr>
              <a:xfrm>
                <a:off x="6785694" y="3533724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694" y="3533724"/>
                <a:ext cx="628650" cy="461665"/>
              </a:xfrm>
              <a:prstGeom prst="rect">
                <a:avLst/>
              </a:prstGeom>
              <a:blipFill>
                <a:blip r:embed="rId1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/>
              <p:nvPr/>
            </p:nvSpPr>
            <p:spPr>
              <a:xfrm>
                <a:off x="7840579" y="360301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579" y="3603016"/>
                <a:ext cx="628650" cy="461665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/>
              <p:nvPr/>
            </p:nvSpPr>
            <p:spPr>
              <a:xfrm>
                <a:off x="8639372" y="3680532"/>
                <a:ext cx="628650" cy="409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372" y="3680532"/>
                <a:ext cx="628650" cy="409856"/>
              </a:xfrm>
              <a:prstGeom prst="rect">
                <a:avLst/>
              </a:prstGeom>
              <a:blipFill>
                <a:blip r:embed="rId13"/>
                <a:stretch>
                  <a:fillRect t="-8955" r="-242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/>
              <p:nvPr/>
            </p:nvSpPr>
            <p:spPr>
              <a:xfrm>
                <a:off x="9736201" y="3536273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201" y="3536273"/>
                <a:ext cx="628650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55717D72-4665-4D17-9EF1-61F6183F883B}"/>
              </a:ext>
            </a:extLst>
          </p:cNvPr>
          <p:cNvSpPr txBox="1"/>
          <p:nvPr/>
        </p:nvSpPr>
        <p:spPr>
          <a:xfrm>
            <a:off x="9839332" y="1882106"/>
            <a:ext cx="133407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 Gate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97D35D-4706-4F7E-AC37-6426DE4F18E3}"/>
              </a:ext>
            </a:extLst>
          </p:cNvPr>
          <p:cNvSpPr txBox="1"/>
          <p:nvPr/>
        </p:nvSpPr>
        <p:spPr>
          <a:xfrm>
            <a:off x="6721395" y="6492464"/>
            <a:ext cx="5595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https://colah.github.io/posts/2015-08-Understanding-LSTMs/</a:t>
            </a:r>
          </a:p>
        </p:txBody>
      </p:sp>
    </p:spTree>
    <p:extLst>
      <p:ext uri="{BB962C8B-B14F-4D97-AF65-F5344CB8AC3E}">
        <p14:creationId xmlns:p14="http://schemas.microsoft.com/office/powerpoint/2010/main" val="1943115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5681574" y="2334084"/>
            <a:ext cx="6035307" cy="3417570"/>
            <a:chOff x="5787885" y="2571750"/>
            <a:chExt cx="6035307" cy="3417570"/>
          </a:xfrm>
        </p:grpSpPr>
        <p:sp>
          <p:nvSpPr>
            <p:cNvPr id="63" name="Rectangle 62"/>
            <p:cNvSpPr/>
            <p:nvPr/>
          </p:nvSpPr>
          <p:spPr>
            <a:xfrm>
              <a:off x="6810375" y="2571750"/>
              <a:ext cx="4343400" cy="301942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9734414" y="2722305"/>
              <a:ext cx="1275399" cy="2799540"/>
            </a:xfrm>
            <a:prstGeom prst="roundRect">
              <a:avLst/>
            </a:prstGeom>
            <a:solidFill>
              <a:srgbClr val="FF0000">
                <a:alpha val="2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7" name="Straight Arrow Connector 66"/>
            <p:cNvCxnSpPr>
              <a:stCxn id="72" idx="3"/>
            </p:cNvCxnSpPr>
            <p:nvPr/>
          </p:nvCxnSpPr>
          <p:spPr>
            <a:xfrm>
              <a:off x="9052560" y="3084925"/>
              <a:ext cx="2770632" cy="0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69" idx="3"/>
              <a:endCxn id="72" idx="1"/>
            </p:cNvCxnSpPr>
            <p:nvPr/>
          </p:nvCxnSpPr>
          <p:spPr>
            <a:xfrm>
              <a:off x="7477874" y="3084925"/>
              <a:ext cx="1285393" cy="0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7188581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0" name="Straight Connector 69"/>
            <p:cNvCxnSpPr>
              <a:endCxn id="69" idx="1"/>
            </p:cNvCxnSpPr>
            <p:nvPr/>
          </p:nvCxnSpPr>
          <p:spPr>
            <a:xfrm flipV="1">
              <a:off x="5849099" y="3084925"/>
              <a:ext cx="1339482" cy="6096"/>
            </a:xfrm>
            <a:prstGeom prst="line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8630433" y="433186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8763267" y="2932873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200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8763267" y="3624357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4" name="Straight Arrow Connector 73"/>
            <p:cNvCxnSpPr>
              <a:stCxn id="73" idx="0"/>
              <a:endCxn id="72" idx="2"/>
            </p:cNvCxnSpPr>
            <p:nvPr/>
          </p:nvCxnSpPr>
          <p:spPr>
            <a:xfrm flipV="1">
              <a:off x="8907914" y="3236976"/>
              <a:ext cx="0" cy="38738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71" idx="0"/>
              <a:endCxn id="73" idx="2"/>
            </p:cNvCxnSpPr>
            <p:nvPr/>
          </p:nvCxnSpPr>
          <p:spPr>
            <a:xfrm flipV="1">
              <a:off x="8907913" y="3928460"/>
              <a:ext cx="1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/>
            <p:nvPr/>
          </p:nvCxnSpPr>
          <p:spPr>
            <a:xfrm flipV="1">
              <a:off x="5787885" y="4724408"/>
              <a:ext cx="4051078" cy="380196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/>
            <p:nvPr/>
          </p:nvCxnSpPr>
          <p:spPr>
            <a:xfrm rot="16200000" flipH="1">
              <a:off x="10196450" y="3471800"/>
              <a:ext cx="1991900" cy="1218150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500" y="4355076"/>
                  <a:ext cx="254365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 78"/>
            <p:cNvSpPr/>
            <p:nvPr/>
          </p:nvSpPr>
          <p:spPr>
            <a:xfrm>
              <a:off x="10439821" y="4063750"/>
              <a:ext cx="289293" cy="3041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80" name="Elbow Connector 79"/>
            <p:cNvCxnSpPr>
              <a:stCxn id="78" idx="0"/>
              <a:endCxn id="79" idx="1"/>
            </p:cNvCxnSpPr>
            <p:nvPr/>
          </p:nvCxnSpPr>
          <p:spPr>
            <a:xfrm rot="5400000" flipH="1" flipV="1">
              <a:off x="10092615" y="4007870"/>
              <a:ext cx="139274" cy="555138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6727" y="4323073"/>
                  <a:ext cx="25436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3636" r="-9091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2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2680" y="4323073"/>
                  <a:ext cx="254365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1111" r="-8889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Elbow Connector 82"/>
            <p:cNvCxnSpPr>
              <a:stCxn id="82" idx="0"/>
              <a:endCxn id="73" idx="1"/>
            </p:cNvCxnSpPr>
            <p:nvPr/>
          </p:nvCxnSpPr>
          <p:spPr>
            <a:xfrm rot="5400000" flipH="1" flipV="1">
              <a:off x="8158233" y="3718039"/>
              <a:ext cx="546664" cy="663404"/>
            </a:xfrm>
            <a:prstGeom prst="bentConnector2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V="1">
              <a:off x="7276759" y="4698755"/>
              <a:ext cx="1" cy="41219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 flipV="1">
              <a:off x="8035573" y="4711455"/>
              <a:ext cx="1149" cy="39314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8761863" y="4705961"/>
              <a:ext cx="0" cy="403406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H="1">
              <a:off x="7388773" y="4692405"/>
              <a:ext cx="1" cy="1296915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/>
            <p:cNvCxnSpPr/>
            <p:nvPr/>
          </p:nvCxnSpPr>
          <p:spPr>
            <a:xfrm flipV="1">
              <a:off x="7388773" y="4732029"/>
              <a:ext cx="2556870" cy="499807"/>
            </a:xfrm>
            <a:prstGeom prst="bentConnector3">
              <a:avLst>
                <a:gd name="adj1" fmla="val 100022"/>
              </a:avLst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8153400" y="4692405"/>
              <a:ext cx="3613" cy="539431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9013031" y="4704667"/>
              <a:ext cx="1338" cy="52716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0305845" y="3581816"/>
              <a:ext cx="554960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92" name="Straight Arrow Connector 91"/>
            <p:cNvCxnSpPr>
              <a:stCxn id="81" idx="0"/>
              <a:endCxn id="69" idx="2"/>
            </p:cNvCxnSpPr>
            <p:nvPr/>
          </p:nvCxnSpPr>
          <p:spPr>
            <a:xfrm flipH="1" flipV="1">
              <a:off x="7333228" y="3236976"/>
              <a:ext cx="682" cy="1086097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413" y="255042"/>
            <a:ext cx="10515600" cy="93401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Output Gate (Controlled Exposure)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67523" y="1606563"/>
                <a:ext cx="5279926" cy="3992905"/>
              </a:xfrm>
            </p:spPr>
            <p:txBody>
              <a:bodyPr>
                <a:normAutofit/>
              </a:bodyPr>
              <a:lstStyle/>
              <a:p>
                <a:pPr indent="-457200" algn="just">
                  <a:lnSpc>
                    <a:spcPct val="100000"/>
                  </a:lnSpc>
                </a:pPr>
                <a:r>
                  <a:rPr lang="en-US" sz="2400" dirty="0">
                    <a:latin typeface="Arial Narrow" panose="020B0606020202030204" pitchFamily="34" charset="0"/>
                  </a:rPr>
                  <a:t>The current cell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) is first passed through the </a:t>
                </a:r>
                <a:r>
                  <a:rPr lang="en-US" sz="2400" i="1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tanh</a:t>
                </a:r>
                <a:r>
                  <a:rPr lang="en-US" sz="2400" dirty="0">
                    <a:latin typeface="Arial Narrow" panose="020B0606020202030204" pitchFamily="34" charset="0"/>
                  </a:rPr>
                  <a:t> activation function to scale its values between </a:t>
                </a:r>
                <a:r>
                  <a:rPr lang="en-US" sz="24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−1 and +1.</a:t>
                </a:r>
              </a:p>
              <a:p>
                <a:pPr indent="-457200" algn="just">
                  <a:lnSpc>
                    <a:spcPct val="100000"/>
                  </a:lnSpc>
                </a:pPr>
                <a:endParaRPr lang="en-US" sz="2400" dirty="0">
                  <a:latin typeface="Arial Narrow" panose="020B0606020202030204" pitchFamily="34" charset="0"/>
                </a:endParaRPr>
              </a:p>
              <a:p>
                <a:pPr indent="-457200" algn="just">
                  <a:lnSpc>
                    <a:spcPct val="100000"/>
                  </a:lnSpc>
                </a:pPr>
                <a:r>
                  <a:rPr lang="en-US" sz="2400" dirty="0">
                    <a:latin typeface="Arial Narrow" panose="020B0606020202030204" pitchFamily="34" charset="0"/>
                  </a:rPr>
                  <a:t>The transformed cell state is then multiplied element-wise with the </a:t>
                </a:r>
                <a:r>
                  <a:rPr lang="en-US" sz="24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output gate </a:t>
                </a:r>
                <a:r>
                  <a:rPr lang="en-US" sz="2400" dirty="0">
                    <a:latin typeface="Arial Narrow" panose="020B060602020203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IN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​) to produce the </a:t>
                </a:r>
                <a:r>
                  <a:rPr lang="en-US" sz="2400" dirty="0">
                    <a:solidFill>
                      <a:srgbClr val="00B0F0"/>
                    </a:solidFill>
                    <a:latin typeface="Arial Narrow" panose="020B0606020202030204" pitchFamily="34" charset="0"/>
                  </a:rPr>
                  <a:t>hidden state </a:t>
                </a:r>
                <a:r>
                  <a:rPr lang="en-US" sz="2400" dirty="0">
                    <a:latin typeface="Arial Narrow" panose="020B060602020203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latin typeface="Arial Narrow" panose="020B0606020202030204" pitchFamily="34" charset="0"/>
                  </a:rPr>
                  <a:t>):</a:t>
                </a:r>
              </a:p>
              <a:p>
                <a:pPr marL="0" indent="-457200" algn="just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Arial Narrow" panose="020B060602020203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e>
                      <m:sub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ʘ </m:t>
                    </m:r>
                    <m:r>
                      <a:rPr lang="en-IN" b="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𝑡𝑎𝑛h</m:t>
                    </m:r>
                    <m:r>
                      <a:rPr lang="en-IN" b="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sSub>
                      <m:sSubPr>
                        <m:ctrlPr>
                          <a:rPr lang="en-IN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IN" b="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523" y="1606563"/>
                <a:ext cx="5279926" cy="3992905"/>
              </a:xfrm>
              <a:blipFill>
                <a:blip r:embed="rId5"/>
                <a:stretch>
                  <a:fillRect l="-1501" t="-1069" r="-1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/>
              <p:nvPr/>
            </p:nvSpPr>
            <p:spPr>
              <a:xfrm>
                <a:off x="6968137" y="570955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770E80-FFD4-4E29-96C9-F7244E1F7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137" y="5709556"/>
                <a:ext cx="628650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/>
              <p:nvPr/>
            </p:nvSpPr>
            <p:spPr>
              <a:xfrm>
                <a:off x="5717756" y="4359510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42ED1-01EC-4E5E-88E6-481FBF4E9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756" y="4359510"/>
                <a:ext cx="628650" cy="461665"/>
              </a:xfrm>
              <a:prstGeom prst="rect">
                <a:avLst/>
              </a:prstGeom>
              <a:blipFill>
                <a:blip r:embed="rId7"/>
                <a:stretch>
                  <a:fillRect l="-2913" r="-16505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/>
              <p:nvPr/>
            </p:nvSpPr>
            <p:spPr>
              <a:xfrm>
                <a:off x="11047006" y="4311885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7B24B5-AA73-43DC-9D13-01C28D31E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7006" y="4311885"/>
                <a:ext cx="628650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/>
              <p:nvPr/>
            </p:nvSpPr>
            <p:spPr>
              <a:xfrm>
                <a:off x="5836446" y="2365837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BD5C7-1AC1-468E-B7E4-948ABEDFF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446" y="2365837"/>
                <a:ext cx="628650" cy="461665"/>
              </a:xfrm>
              <a:prstGeom prst="rect">
                <a:avLst/>
              </a:prstGeom>
              <a:blipFill>
                <a:blip r:embed="rId9"/>
                <a:stretch>
                  <a:fillRect l="-1923" r="-14423"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/>
              <p:nvPr/>
            </p:nvSpPr>
            <p:spPr>
              <a:xfrm>
                <a:off x="11002596" y="2403488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7A63CF-1A9F-4809-9E91-33D5C4889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2596" y="2403488"/>
                <a:ext cx="628650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/>
              <p:nvPr/>
            </p:nvSpPr>
            <p:spPr>
              <a:xfrm>
                <a:off x="6785694" y="3533724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C387C2-BB75-431F-AB02-11047999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694" y="3533724"/>
                <a:ext cx="628650" cy="461665"/>
              </a:xfrm>
              <a:prstGeom prst="rect">
                <a:avLst/>
              </a:prstGeom>
              <a:blipFill>
                <a:blip r:embed="rId1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/>
              <p:nvPr/>
            </p:nvSpPr>
            <p:spPr>
              <a:xfrm>
                <a:off x="7840579" y="3603016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BDCF14-C2DB-4B08-81D3-DECD260CB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579" y="3603016"/>
                <a:ext cx="628650" cy="461665"/>
              </a:xfrm>
              <a:prstGeom prst="rect">
                <a:avLst/>
              </a:prstGeom>
              <a:blipFill>
                <a:blip r:embed="rId1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/>
              <p:nvPr/>
            </p:nvSpPr>
            <p:spPr>
              <a:xfrm>
                <a:off x="8639372" y="3680532"/>
                <a:ext cx="628650" cy="409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64EC3BB-8C2D-4F90-883E-8507DC9F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372" y="3680532"/>
                <a:ext cx="628650" cy="409856"/>
              </a:xfrm>
              <a:prstGeom prst="rect">
                <a:avLst/>
              </a:prstGeom>
              <a:blipFill>
                <a:blip r:embed="rId13"/>
                <a:stretch>
                  <a:fillRect t="-8955" r="-242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/>
              <p:nvPr/>
            </p:nvSpPr>
            <p:spPr>
              <a:xfrm>
                <a:off x="9736201" y="3536273"/>
                <a:ext cx="628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20A28-DE9D-4387-BBF9-960EB7D2A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201" y="3536273"/>
                <a:ext cx="628650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55717D72-4665-4D17-9EF1-61F6183F883B}"/>
              </a:ext>
            </a:extLst>
          </p:cNvPr>
          <p:cNvSpPr txBox="1"/>
          <p:nvPr/>
        </p:nvSpPr>
        <p:spPr>
          <a:xfrm>
            <a:off x="9725032" y="1882106"/>
            <a:ext cx="133407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 Gate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97D35D-4706-4F7E-AC37-6426DE4F18E3}"/>
              </a:ext>
            </a:extLst>
          </p:cNvPr>
          <p:cNvSpPr txBox="1"/>
          <p:nvPr/>
        </p:nvSpPr>
        <p:spPr>
          <a:xfrm>
            <a:off x="6721395" y="6492464"/>
            <a:ext cx="5595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https://colah.github.io/posts/2015-08-Understanding-LSTMs/</a:t>
            </a:r>
          </a:p>
        </p:txBody>
      </p:sp>
    </p:spTree>
    <p:extLst>
      <p:ext uri="{BB962C8B-B14F-4D97-AF65-F5344CB8AC3E}">
        <p14:creationId xmlns:p14="http://schemas.microsoft.com/office/powerpoint/2010/main" val="2173029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ight Arrow 13"/>
          <p:cNvSpPr/>
          <p:nvPr/>
        </p:nvSpPr>
        <p:spPr>
          <a:xfrm>
            <a:off x="212807" y="2082697"/>
            <a:ext cx="11979193" cy="901775"/>
          </a:xfrm>
          <a:prstGeom prst="rightArrow">
            <a:avLst/>
          </a:prstGeom>
          <a:solidFill>
            <a:schemeClr val="accent6">
              <a:lumMod val="60000"/>
              <a:lumOff val="40000"/>
              <a:alpha val="8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802" y="336576"/>
            <a:ext cx="10515600" cy="64452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  <a:cs typeface="Times New Roman" panose="02020603050405020304" pitchFamily="18" charset="0"/>
              </a:rPr>
              <a:t>Cell State</a:t>
            </a:r>
            <a:endParaRPr lang="en-IN" sz="3600" dirty="0">
              <a:latin typeface="Century" panose="020406040505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963892" y="2282840"/>
            <a:ext cx="4165032" cy="2237363"/>
            <a:chOff x="3963892" y="2449278"/>
            <a:chExt cx="4165032" cy="2237363"/>
          </a:xfrm>
        </p:grpSpPr>
        <p:sp>
          <p:nvSpPr>
            <p:cNvPr id="63" name="Rectangle 62"/>
            <p:cNvSpPr/>
            <p:nvPr/>
          </p:nvSpPr>
          <p:spPr>
            <a:xfrm>
              <a:off x="4633562" y="2576343"/>
              <a:ext cx="2870209" cy="159351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/>
            </a:p>
          </p:txBody>
        </p:sp>
        <p:cxnSp>
          <p:nvCxnSpPr>
            <p:cNvPr id="67" name="Straight Arrow Connector 66"/>
            <p:cNvCxnSpPr>
              <a:stCxn id="72" idx="3"/>
            </p:cNvCxnSpPr>
            <p:nvPr/>
          </p:nvCxnSpPr>
          <p:spPr>
            <a:xfrm>
              <a:off x="6115245" y="2847173"/>
              <a:ext cx="1830892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69" idx="3"/>
              <a:endCxn id="72" idx="1"/>
            </p:cNvCxnSpPr>
            <p:nvPr/>
          </p:nvCxnSpPr>
          <p:spPr>
            <a:xfrm>
              <a:off x="5074660" y="2847173"/>
              <a:ext cx="849415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/>
            <p:cNvSpPr/>
            <p:nvPr/>
          </p:nvSpPr>
          <p:spPr>
            <a:xfrm>
              <a:off x="4883489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0" name="Straight Connector 69"/>
            <p:cNvCxnSpPr>
              <a:endCxn id="69" idx="1"/>
            </p:cNvCxnSpPr>
            <p:nvPr/>
          </p:nvCxnSpPr>
          <p:spPr>
            <a:xfrm>
              <a:off x="4288631" y="2847171"/>
              <a:ext cx="594858" cy="2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5816766" y="3481435"/>
              <a:ext cx="420787" cy="2539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5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24074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924074" y="3131860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74" name="Straight Arrow Connector 73"/>
            <p:cNvCxnSpPr>
              <a:stCxn id="73" idx="0"/>
              <a:endCxn id="72" idx="2"/>
            </p:cNvCxnSpPr>
            <p:nvPr/>
          </p:nvCxnSpPr>
          <p:spPr>
            <a:xfrm flipV="1">
              <a:off x="6019660" y="2927418"/>
              <a:ext cx="0" cy="204442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>
              <a:stCxn id="71" idx="0"/>
              <a:endCxn id="73" idx="2"/>
            </p:cNvCxnSpPr>
            <p:nvPr/>
          </p:nvCxnSpPr>
          <p:spPr>
            <a:xfrm flipH="1" flipV="1">
              <a:off x="6019660" y="3292351"/>
              <a:ext cx="7500" cy="189084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/>
            <p:nvPr/>
          </p:nvCxnSpPr>
          <p:spPr>
            <a:xfrm flipV="1">
              <a:off x="4305300" y="3712415"/>
              <a:ext cx="2329616" cy="197598"/>
            </a:xfrm>
            <a:prstGeom prst="bentConnector3">
              <a:avLst>
                <a:gd name="adj1" fmla="val 100086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/>
            <p:nvPr/>
          </p:nvCxnSpPr>
          <p:spPr>
            <a:xfrm rot="16200000" flipH="1">
              <a:off x="7003681" y="2970299"/>
              <a:ext cx="1051231" cy="804979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6574649" y="3507974"/>
                  <a:ext cx="168596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4649" y="3507974"/>
                  <a:ext cx="168596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6667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Rectangle 78"/>
            <p:cNvSpPr/>
            <p:nvPr/>
          </p:nvSpPr>
          <p:spPr>
            <a:xfrm>
              <a:off x="7031976" y="3363751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80" name="Elbow Connector 79"/>
            <p:cNvCxnSpPr>
              <a:stCxn id="78" idx="0"/>
              <a:endCxn id="79" idx="1"/>
            </p:cNvCxnSpPr>
            <p:nvPr/>
          </p:nvCxnSpPr>
          <p:spPr>
            <a:xfrm rot="5400000" flipH="1" flipV="1">
              <a:off x="6813473" y="3289472"/>
              <a:ext cx="63977" cy="373029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4883013" y="3493467"/>
                  <a:ext cx="183486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 i="1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3013" y="3493467"/>
                  <a:ext cx="183486" cy="21544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5397202" y="3486324"/>
                  <a:ext cx="169095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 i="1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7202" y="3486324"/>
                  <a:ext cx="169095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3226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Elbow Connector 82"/>
            <p:cNvCxnSpPr>
              <a:stCxn id="82" idx="0"/>
              <a:endCxn id="73" idx="1"/>
            </p:cNvCxnSpPr>
            <p:nvPr/>
          </p:nvCxnSpPr>
          <p:spPr>
            <a:xfrm rot="5400000" flipH="1" flipV="1">
              <a:off x="5565803" y="3128053"/>
              <a:ext cx="274218" cy="442324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 flipV="1">
              <a:off x="4941759" y="3698876"/>
              <a:ext cx="1" cy="21753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 flipV="1">
              <a:off x="5443199" y="3705579"/>
              <a:ext cx="759" cy="2074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flipV="1">
              <a:off x="5923147" y="3702679"/>
              <a:ext cx="0" cy="21289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H="1">
              <a:off x="5015780" y="3695525"/>
              <a:ext cx="1" cy="68445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/>
            <p:cNvCxnSpPr/>
            <p:nvPr/>
          </p:nvCxnSpPr>
          <p:spPr>
            <a:xfrm flipV="1">
              <a:off x="5015780" y="3716437"/>
              <a:ext cx="1689633" cy="263775"/>
            </a:xfrm>
            <a:prstGeom prst="bentConnector3">
              <a:avLst>
                <a:gd name="adj1" fmla="val 100022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5521061" y="3695525"/>
              <a:ext cx="2388" cy="2846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V="1">
              <a:off x="6089124" y="3701996"/>
              <a:ext cx="884" cy="278215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6913804" y="3063874"/>
              <a:ext cx="413290" cy="2539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5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92" name="Straight Arrow Connector 91"/>
            <p:cNvCxnSpPr>
              <a:stCxn id="81" idx="0"/>
              <a:endCxn id="69" idx="2"/>
            </p:cNvCxnSpPr>
            <p:nvPr/>
          </p:nvCxnSpPr>
          <p:spPr>
            <a:xfrm flipV="1">
              <a:off x="4974756" y="2927418"/>
              <a:ext cx="4319" cy="56604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7770E80-FFD4-4E29-96C9-F7244E1F78AF}"/>
                    </a:ext>
                  </a:extLst>
                </p:cNvPr>
                <p:cNvSpPr txBox="1"/>
                <p:nvPr/>
              </p:nvSpPr>
              <p:spPr>
                <a:xfrm>
                  <a:off x="4789806" y="434808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7770E80-FFD4-4E29-96C9-F7244E1F7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9806" y="4348087"/>
                  <a:ext cx="451948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D42ED1-01EC-4E5E-88E6-481FBF4E95A3}"/>
                    </a:ext>
                  </a:extLst>
                </p:cNvPr>
                <p:cNvSpPr txBox="1"/>
                <p:nvPr/>
              </p:nvSpPr>
              <p:spPr>
                <a:xfrm>
                  <a:off x="3963892" y="3868473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DD42ED1-01EC-4E5E-88E6-481FBF4E9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3892" y="3868473"/>
                  <a:ext cx="451948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83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B7B24B5-AA73-43DC-9D13-01C28D31EA64}"/>
                    </a:ext>
                  </a:extLst>
                </p:cNvPr>
                <p:cNvSpPr txBox="1"/>
                <p:nvPr/>
              </p:nvSpPr>
              <p:spPr>
                <a:xfrm>
                  <a:off x="7676976" y="3937047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B7B24B5-AA73-43DC-9D13-01C28D31E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6976" y="3937047"/>
                  <a:ext cx="45194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/>
                <p:nvPr/>
              </p:nvSpPr>
              <p:spPr>
                <a:xfrm>
                  <a:off x="4134112" y="2473247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4112" y="2473247"/>
                  <a:ext cx="451948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702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/>
                <p:nvPr/>
              </p:nvSpPr>
              <p:spPr>
                <a:xfrm>
                  <a:off x="7606059" y="2449278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059" y="2449278"/>
                  <a:ext cx="45194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FC387C2-BB75-431F-AB02-110479997B3E}"/>
                    </a:ext>
                  </a:extLst>
                </p:cNvPr>
                <p:cNvSpPr txBox="1"/>
                <p:nvPr/>
              </p:nvSpPr>
              <p:spPr>
                <a:xfrm>
                  <a:off x="4637057" y="3257183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FC387C2-BB75-431F-AB02-110479997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7057" y="3257183"/>
                  <a:ext cx="451948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EBDCF14-C2DB-4B08-81D3-DECD260CB0FA}"/>
                    </a:ext>
                  </a:extLst>
                </p:cNvPr>
                <p:cNvSpPr txBox="1"/>
                <p:nvPr/>
              </p:nvSpPr>
              <p:spPr>
                <a:xfrm>
                  <a:off x="5344124" y="3205163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EBDCF14-C2DB-4B08-81D3-DECD260CB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124" y="3205163"/>
                  <a:ext cx="451948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64EC3BB-8C2D-4F90-883E-8507DC9F0C36}"/>
                    </a:ext>
                  </a:extLst>
                </p:cNvPr>
                <p:cNvSpPr txBox="1"/>
                <p:nvPr/>
              </p:nvSpPr>
              <p:spPr>
                <a:xfrm>
                  <a:off x="5887263" y="3263014"/>
                  <a:ext cx="451948" cy="2669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64EC3BB-8C2D-4F90-883E-8507DC9F0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263" y="3263014"/>
                  <a:ext cx="451948" cy="266933"/>
                </a:xfrm>
                <a:prstGeom prst="rect">
                  <a:avLst/>
                </a:prstGeom>
                <a:blipFill>
                  <a:blip r:embed="rId12"/>
                  <a:stretch>
                    <a:fillRect r="-945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7620A28-DE9D-4387-BBF9-960EB7D2AA92}"/>
                    </a:ext>
                  </a:extLst>
                </p:cNvPr>
                <p:cNvSpPr txBox="1"/>
                <p:nvPr/>
              </p:nvSpPr>
              <p:spPr>
                <a:xfrm>
                  <a:off x="6575154" y="3170536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7620A28-DE9D-4387-BBF9-960EB7D2AA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5154" y="3170536"/>
                  <a:ext cx="451948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6" name="Group 145"/>
          <p:cNvGrpSpPr/>
          <p:nvPr/>
        </p:nvGrpSpPr>
        <p:grpSpPr>
          <a:xfrm>
            <a:off x="424632" y="2325674"/>
            <a:ext cx="3854505" cy="1887864"/>
            <a:chOff x="4091632" y="2492112"/>
            <a:chExt cx="3854505" cy="1887864"/>
          </a:xfrm>
        </p:grpSpPr>
        <p:sp>
          <p:nvSpPr>
            <p:cNvPr id="147" name="Rectangle 146"/>
            <p:cNvSpPr/>
            <p:nvPr/>
          </p:nvSpPr>
          <p:spPr>
            <a:xfrm>
              <a:off x="4633562" y="2576343"/>
              <a:ext cx="2870209" cy="159351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/>
            </a:p>
          </p:txBody>
        </p:sp>
        <p:cxnSp>
          <p:nvCxnSpPr>
            <p:cNvPr id="148" name="Straight Arrow Connector 147"/>
            <p:cNvCxnSpPr>
              <a:stCxn id="153" idx="3"/>
            </p:cNvCxnSpPr>
            <p:nvPr/>
          </p:nvCxnSpPr>
          <p:spPr>
            <a:xfrm>
              <a:off x="6115245" y="2847173"/>
              <a:ext cx="1830892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>
              <a:stCxn id="150" idx="3"/>
              <a:endCxn id="153" idx="1"/>
            </p:cNvCxnSpPr>
            <p:nvPr/>
          </p:nvCxnSpPr>
          <p:spPr>
            <a:xfrm>
              <a:off x="5074660" y="2847173"/>
              <a:ext cx="849415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Rectangle 149"/>
            <p:cNvSpPr/>
            <p:nvPr/>
          </p:nvSpPr>
          <p:spPr>
            <a:xfrm>
              <a:off x="4883489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151" name="Straight Connector 150"/>
            <p:cNvCxnSpPr>
              <a:endCxn id="150" idx="1"/>
            </p:cNvCxnSpPr>
            <p:nvPr/>
          </p:nvCxnSpPr>
          <p:spPr>
            <a:xfrm>
              <a:off x="4288631" y="2847171"/>
              <a:ext cx="594858" cy="2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5785366" y="3448106"/>
              <a:ext cx="466061" cy="2539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5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5924074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5924074" y="3131860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155" name="Straight Arrow Connector 154"/>
            <p:cNvCxnSpPr>
              <a:stCxn id="154" idx="0"/>
              <a:endCxn id="153" idx="2"/>
            </p:cNvCxnSpPr>
            <p:nvPr/>
          </p:nvCxnSpPr>
          <p:spPr>
            <a:xfrm flipV="1">
              <a:off x="6019660" y="2927418"/>
              <a:ext cx="0" cy="204442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/>
            <p:cNvCxnSpPr>
              <a:stCxn id="152" idx="0"/>
              <a:endCxn id="154" idx="2"/>
            </p:cNvCxnSpPr>
            <p:nvPr/>
          </p:nvCxnSpPr>
          <p:spPr>
            <a:xfrm flipV="1">
              <a:off x="6018397" y="3292351"/>
              <a:ext cx="1263" cy="155755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Elbow Connector 156"/>
            <p:cNvCxnSpPr/>
            <p:nvPr/>
          </p:nvCxnSpPr>
          <p:spPr>
            <a:xfrm flipV="1">
              <a:off x="4305300" y="3712415"/>
              <a:ext cx="2329616" cy="197598"/>
            </a:xfrm>
            <a:prstGeom prst="bentConnector3">
              <a:avLst>
                <a:gd name="adj1" fmla="val 100086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Elbow Connector 157"/>
            <p:cNvCxnSpPr/>
            <p:nvPr/>
          </p:nvCxnSpPr>
          <p:spPr>
            <a:xfrm rot="16200000" flipH="1">
              <a:off x="7003681" y="2970299"/>
              <a:ext cx="1051231" cy="804979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/>
                <p:cNvSpPr txBox="1"/>
                <p:nvPr/>
              </p:nvSpPr>
              <p:spPr>
                <a:xfrm>
                  <a:off x="6612835" y="3507974"/>
                  <a:ext cx="109938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9" name="TextBox 1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835" y="3507974"/>
                  <a:ext cx="109938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28571" r="-23810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0" name="Rectangle 159"/>
            <p:cNvSpPr/>
            <p:nvPr/>
          </p:nvSpPr>
          <p:spPr>
            <a:xfrm>
              <a:off x="7031976" y="3363751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161" name="Elbow Connector 160"/>
            <p:cNvCxnSpPr>
              <a:stCxn id="159" idx="0"/>
              <a:endCxn id="160" idx="1"/>
            </p:cNvCxnSpPr>
            <p:nvPr/>
          </p:nvCxnSpPr>
          <p:spPr>
            <a:xfrm rot="5400000" flipH="1" flipV="1">
              <a:off x="6811802" y="3297324"/>
              <a:ext cx="73502" cy="366847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/>
                <p:cNvSpPr txBox="1"/>
                <p:nvPr/>
              </p:nvSpPr>
              <p:spPr>
                <a:xfrm>
                  <a:off x="4912147" y="3493467"/>
                  <a:ext cx="134883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2" name="TextBox 1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147" y="3493467"/>
                  <a:ext cx="134883" cy="215444"/>
                </a:xfrm>
                <a:prstGeom prst="rect">
                  <a:avLst/>
                </a:prstGeom>
                <a:blipFill>
                  <a:blip r:embed="rId15"/>
                  <a:stretch>
                    <a:fillRect l="-16000" r="-12000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/>
                <p:cNvSpPr txBox="1"/>
                <p:nvPr/>
              </p:nvSpPr>
              <p:spPr>
                <a:xfrm>
                  <a:off x="5411162" y="3486324"/>
                  <a:ext cx="136469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3" name="TextBox 1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162" y="3486324"/>
                  <a:ext cx="136469" cy="215444"/>
                </a:xfrm>
                <a:prstGeom prst="rect">
                  <a:avLst/>
                </a:prstGeom>
                <a:blipFill>
                  <a:blip r:embed="rId16"/>
                  <a:stretch>
                    <a:fillRect l="-15385" r="-7692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4" name="Elbow Connector 163"/>
            <p:cNvCxnSpPr>
              <a:stCxn id="163" idx="0"/>
              <a:endCxn id="154" idx="1"/>
            </p:cNvCxnSpPr>
            <p:nvPr/>
          </p:nvCxnSpPr>
          <p:spPr>
            <a:xfrm rot="5400000" flipH="1" flipV="1">
              <a:off x="5560627" y="3137162"/>
              <a:ext cx="288504" cy="438391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/>
            <p:nvPr/>
          </p:nvCxnSpPr>
          <p:spPr>
            <a:xfrm flipV="1">
              <a:off x="4941759" y="3698876"/>
              <a:ext cx="1" cy="21753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/>
            <p:nvPr/>
          </p:nvCxnSpPr>
          <p:spPr>
            <a:xfrm flipH="1" flipV="1">
              <a:off x="5443199" y="3705579"/>
              <a:ext cx="759" cy="2074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/>
            <p:nvPr/>
          </p:nvCxnSpPr>
          <p:spPr>
            <a:xfrm flipV="1">
              <a:off x="5923147" y="3702679"/>
              <a:ext cx="0" cy="21289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/>
            <p:cNvCxnSpPr/>
            <p:nvPr/>
          </p:nvCxnSpPr>
          <p:spPr>
            <a:xfrm flipH="1">
              <a:off x="5015780" y="3695525"/>
              <a:ext cx="1" cy="68445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Elbow Connector 168"/>
            <p:cNvCxnSpPr/>
            <p:nvPr/>
          </p:nvCxnSpPr>
          <p:spPr>
            <a:xfrm flipV="1">
              <a:off x="5015780" y="3716437"/>
              <a:ext cx="1689633" cy="263775"/>
            </a:xfrm>
            <a:prstGeom prst="bentConnector3">
              <a:avLst>
                <a:gd name="adj1" fmla="val 100022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/>
            <p:cNvCxnSpPr/>
            <p:nvPr/>
          </p:nvCxnSpPr>
          <p:spPr>
            <a:xfrm flipV="1">
              <a:off x="5521061" y="3695525"/>
              <a:ext cx="2388" cy="2846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/>
            <p:cNvCxnSpPr/>
            <p:nvPr/>
          </p:nvCxnSpPr>
          <p:spPr>
            <a:xfrm flipV="1">
              <a:off x="6089124" y="3701996"/>
              <a:ext cx="884" cy="278215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/>
            <p:cNvSpPr txBox="1"/>
            <p:nvPr/>
          </p:nvSpPr>
          <p:spPr>
            <a:xfrm>
              <a:off x="6910732" y="3032292"/>
              <a:ext cx="442277" cy="24622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0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173" name="Straight Arrow Connector 172"/>
            <p:cNvCxnSpPr>
              <a:stCxn id="162" idx="0"/>
              <a:endCxn id="150" idx="2"/>
            </p:cNvCxnSpPr>
            <p:nvPr/>
          </p:nvCxnSpPr>
          <p:spPr>
            <a:xfrm flipH="1" flipV="1">
              <a:off x="4979075" y="2927418"/>
              <a:ext cx="451" cy="57319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/>
                <p:nvPr/>
              </p:nvSpPr>
              <p:spPr>
                <a:xfrm>
                  <a:off x="4091632" y="2492112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632" y="2492112"/>
                  <a:ext cx="451948" cy="369332"/>
                </a:xfrm>
                <a:prstGeom prst="rect">
                  <a:avLst/>
                </a:prstGeom>
                <a:blipFill>
                  <a:blip r:embed="rId17"/>
                  <a:stretch>
                    <a:fillRect r="-256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3" name="Group 182"/>
          <p:cNvGrpSpPr/>
          <p:nvPr/>
        </p:nvGrpSpPr>
        <p:grpSpPr>
          <a:xfrm>
            <a:off x="7984853" y="2294896"/>
            <a:ext cx="3677177" cy="1909117"/>
            <a:chOff x="4288631" y="2470859"/>
            <a:chExt cx="3677177" cy="1909117"/>
          </a:xfrm>
        </p:grpSpPr>
        <p:sp>
          <p:nvSpPr>
            <p:cNvPr id="184" name="Rectangle 183"/>
            <p:cNvSpPr/>
            <p:nvPr/>
          </p:nvSpPr>
          <p:spPr>
            <a:xfrm>
              <a:off x="4633562" y="2576343"/>
              <a:ext cx="2870209" cy="159351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/>
            </a:p>
          </p:txBody>
        </p:sp>
        <p:cxnSp>
          <p:nvCxnSpPr>
            <p:cNvPr id="185" name="Straight Arrow Connector 184"/>
            <p:cNvCxnSpPr>
              <a:stCxn id="190" idx="3"/>
            </p:cNvCxnSpPr>
            <p:nvPr/>
          </p:nvCxnSpPr>
          <p:spPr>
            <a:xfrm>
              <a:off x="6115245" y="2847173"/>
              <a:ext cx="1830892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>
              <a:stCxn id="187" idx="3"/>
              <a:endCxn id="190" idx="1"/>
            </p:cNvCxnSpPr>
            <p:nvPr/>
          </p:nvCxnSpPr>
          <p:spPr>
            <a:xfrm>
              <a:off x="5074660" y="2847173"/>
              <a:ext cx="849415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/>
            <p:cNvSpPr/>
            <p:nvPr/>
          </p:nvSpPr>
          <p:spPr>
            <a:xfrm>
              <a:off x="4883489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188" name="Straight Connector 187"/>
            <p:cNvCxnSpPr>
              <a:endCxn id="187" idx="1"/>
            </p:cNvCxnSpPr>
            <p:nvPr/>
          </p:nvCxnSpPr>
          <p:spPr>
            <a:xfrm>
              <a:off x="4288631" y="2847171"/>
              <a:ext cx="594858" cy="2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/>
            <p:cNvSpPr txBox="1"/>
            <p:nvPr/>
          </p:nvSpPr>
          <p:spPr>
            <a:xfrm>
              <a:off x="5785407" y="3457625"/>
              <a:ext cx="460122" cy="2539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5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5924074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5924074" y="3131860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192" name="Straight Arrow Connector 191"/>
            <p:cNvCxnSpPr>
              <a:stCxn id="191" idx="0"/>
              <a:endCxn id="190" idx="2"/>
            </p:cNvCxnSpPr>
            <p:nvPr/>
          </p:nvCxnSpPr>
          <p:spPr>
            <a:xfrm flipV="1">
              <a:off x="6019660" y="2927418"/>
              <a:ext cx="0" cy="204442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/>
            <p:cNvCxnSpPr>
              <a:stCxn id="189" idx="0"/>
              <a:endCxn id="191" idx="2"/>
            </p:cNvCxnSpPr>
            <p:nvPr/>
          </p:nvCxnSpPr>
          <p:spPr>
            <a:xfrm flipV="1">
              <a:off x="6015468" y="3292351"/>
              <a:ext cx="4192" cy="165274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lbow Connector 193"/>
            <p:cNvCxnSpPr/>
            <p:nvPr/>
          </p:nvCxnSpPr>
          <p:spPr>
            <a:xfrm flipV="1">
              <a:off x="4305300" y="3712415"/>
              <a:ext cx="2329616" cy="197598"/>
            </a:xfrm>
            <a:prstGeom prst="bentConnector3">
              <a:avLst>
                <a:gd name="adj1" fmla="val 100086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lbow Connector 194"/>
            <p:cNvCxnSpPr/>
            <p:nvPr/>
          </p:nvCxnSpPr>
          <p:spPr>
            <a:xfrm rot="16200000" flipH="1">
              <a:off x="7003681" y="2970299"/>
              <a:ext cx="1051231" cy="804979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Box 195"/>
                <p:cNvSpPr txBox="1"/>
                <p:nvPr/>
              </p:nvSpPr>
              <p:spPr>
                <a:xfrm>
                  <a:off x="6577860" y="3507974"/>
                  <a:ext cx="194796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6" name="TextBox 1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7860" y="3507974"/>
                  <a:ext cx="194796" cy="21544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7" name="Rectangle 196"/>
            <p:cNvSpPr/>
            <p:nvPr/>
          </p:nvSpPr>
          <p:spPr>
            <a:xfrm>
              <a:off x="7031976" y="3363751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198" name="Elbow Connector 197"/>
            <p:cNvCxnSpPr>
              <a:stCxn id="196" idx="0"/>
              <a:endCxn id="197" idx="1"/>
            </p:cNvCxnSpPr>
            <p:nvPr/>
          </p:nvCxnSpPr>
          <p:spPr>
            <a:xfrm rot="5400000" flipH="1" flipV="1">
              <a:off x="6821629" y="3297627"/>
              <a:ext cx="63977" cy="356718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/>
                <p:cNvSpPr txBox="1"/>
                <p:nvPr/>
              </p:nvSpPr>
              <p:spPr>
                <a:xfrm>
                  <a:off x="4887875" y="3493467"/>
                  <a:ext cx="177316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9" name="TextBox 1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7875" y="3493467"/>
                  <a:ext cx="177316" cy="21544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/>
                <p:cNvSpPr txBox="1"/>
                <p:nvPr/>
              </p:nvSpPr>
              <p:spPr>
                <a:xfrm>
                  <a:off x="5398000" y="3486324"/>
                  <a:ext cx="168298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0" name="TextBox 1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8000" y="3486324"/>
                  <a:ext cx="168298" cy="215444"/>
                </a:xfrm>
                <a:prstGeom prst="rect">
                  <a:avLst/>
                </a:prstGeom>
                <a:blipFill>
                  <a:blip r:embed="rId20"/>
                  <a:stretch>
                    <a:fillRect l="-6667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1" name="Elbow Connector 200"/>
            <p:cNvCxnSpPr>
              <a:stCxn id="200" idx="0"/>
              <a:endCxn id="191" idx="1"/>
            </p:cNvCxnSpPr>
            <p:nvPr/>
          </p:nvCxnSpPr>
          <p:spPr>
            <a:xfrm rot="5400000" flipH="1" flipV="1">
              <a:off x="5566002" y="3128253"/>
              <a:ext cx="274218" cy="441925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/>
            <p:cNvCxnSpPr/>
            <p:nvPr/>
          </p:nvCxnSpPr>
          <p:spPr>
            <a:xfrm flipV="1">
              <a:off x="4941759" y="3698876"/>
              <a:ext cx="1" cy="21753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/>
            <p:cNvCxnSpPr/>
            <p:nvPr/>
          </p:nvCxnSpPr>
          <p:spPr>
            <a:xfrm flipH="1" flipV="1">
              <a:off x="5443199" y="3705579"/>
              <a:ext cx="759" cy="2074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/>
            <p:cNvCxnSpPr/>
            <p:nvPr/>
          </p:nvCxnSpPr>
          <p:spPr>
            <a:xfrm flipV="1">
              <a:off x="5923147" y="3702679"/>
              <a:ext cx="0" cy="21289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/>
            <p:cNvCxnSpPr/>
            <p:nvPr/>
          </p:nvCxnSpPr>
          <p:spPr>
            <a:xfrm flipH="1">
              <a:off x="5015780" y="3695525"/>
              <a:ext cx="1" cy="68445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Elbow Connector 205"/>
            <p:cNvCxnSpPr/>
            <p:nvPr/>
          </p:nvCxnSpPr>
          <p:spPr>
            <a:xfrm flipV="1">
              <a:off x="5015780" y="3716437"/>
              <a:ext cx="1689633" cy="263775"/>
            </a:xfrm>
            <a:prstGeom prst="bentConnector3">
              <a:avLst>
                <a:gd name="adj1" fmla="val 100022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/>
            <p:cNvCxnSpPr/>
            <p:nvPr/>
          </p:nvCxnSpPr>
          <p:spPr>
            <a:xfrm flipV="1">
              <a:off x="5521061" y="3695525"/>
              <a:ext cx="2388" cy="2846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/>
            <p:cNvCxnSpPr/>
            <p:nvPr/>
          </p:nvCxnSpPr>
          <p:spPr>
            <a:xfrm flipV="1">
              <a:off x="6089124" y="3701996"/>
              <a:ext cx="884" cy="278215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/>
            <p:cNvSpPr txBox="1"/>
            <p:nvPr/>
          </p:nvSpPr>
          <p:spPr>
            <a:xfrm>
              <a:off x="6893569" y="3040905"/>
              <a:ext cx="458238" cy="2539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5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210" name="Straight Arrow Connector 209"/>
            <p:cNvCxnSpPr>
              <a:stCxn id="199" idx="0"/>
              <a:endCxn id="187" idx="2"/>
            </p:cNvCxnSpPr>
            <p:nvPr/>
          </p:nvCxnSpPr>
          <p:spPr>
            <a:xfrm flipV="1">
              <a:off x="4976533" y="2927418"/>
              <a:ext cx="2542" cy="56604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/>
                <p:nvPr/>
              </p:nvSpPr>
              <p:spPr>
                <a:xfrm>
                  <a:off x="7513860" y="2470859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3860" y="2470859"/>
                  <a:ext cx="451948" cy="369332"/>
                </a:xfrm>
                <a:prstGeom prst="rect">
                  <a:avLst/>
                </a:prstGeom>
                <a:blipFill>
                  <a:blip r:embed="rId21"/>
                  <a:stretch>
                    <a:fillRect r="-256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574C3830-DEDB-4270-B434-B68E34E46BC6}"/>
                  </a:ext>
                </a:extLst>
              </p:cNvPr>
              <p:cNvSpPr/>
              <p:nvPr/>
            </p:nvSpPr>
            <p:spPr>
              <a:xfrm>
                <a:off x="4347251" y="4818787"/>
                <a:ext cx="3692165" cy="53675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acc>
                        <m:accPr>
                          <m:chr m:val="̃"/>
                          <m:ctrlP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574C3830-DEDB-4270-B434-B68E34E46B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251" y="4818787"/>
                <a:ext cx="3692165" cy="53675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Content Placeholder 2"/>
          <p:cNvSpPr>
            <a:spLocks noGrp="1"/>
          </p:cNvSpPr>
          <p:nvPr>
            <p:ph idx="1"/>
          </p:nvPr>
        </p:nvSpPr>
        <p:spPr>
          <a:xfrm>
            <a:off x="859310" y="1278492"/>
            <a:ext cx="10314092" cy="5566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latin typeface="Arial Narrow" panose="020B0606020202030204" pitchFamily="34" charset="0"/>
              </a:rPr>
              <a:t>LSTM introduces a memory cell (cell state) and gates that regulate the flow of information.</a:t>
            </a:r>
            <a:endParaRPr lang="en-IN" sz="2200" dirty="0">
              <a:latin typeface="Arial Narrow" panose="020B0606020202030204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62B3F7D-4E39-45DF-BC57-0496D6CC5DC8}"/>
              </a:ext>
            </a:extLst>
          </p:cNvPr>
          <p:cNvSpPr txBox="1"/>
          <p:nvPr/>
        </p:nvSpPr>
        <p:spPr>
          <a:xfrm>
            <a:off x="7328435" y="6508866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7891" y="1918394"/>
            <a:ext cx="3826895" cy="2671425"/>
          </a:xfrm>
          <a:prstGeom prst="roundRect">
            <a:avLst/>
          </a:prstGeom>
          <a:solidFill>
            <a:schemeClr val="accent3">
              <a:lumMod val="60000"/>
              <a:lumOff val="40000"/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ounded Rectangle 104"/>
          <p:cNvSpPr/>
          <p:nvPr/>
        </p:nvSpPr>
        <p:spPr>
          <a:xfrm>
            <a:off x="7931786" y="1918394"/>
            <a:ext cx="3826895" cy="2671425"/>
          </a:xfrm>
          <a:prstGeom prst="roundRect">
            <a:avLst/>
          </a:prstGeom>
          <a:solidFill>
            <a:schemeClr val="accent3">
              <a:lumMod val="60000"/>
              <a:lumOff val="40000"/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Content Placeholder 2"/>
              <p:cNvSpPr txBox="1">
                <a:spLocks/>
              </p:cNvSpPr>
              <p:nvPr/>
            </p:nvSpPr>
            <p:spPr>
              <a:xfrm>
                <a:off x="766101" y="5607023"/>
                <a:ext cx="10314092" cy="8237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The core idea of an LSTM is the cell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​</a:t>
                </a:r>
                <a:r>
                  <a:rPr lang="en-US" sz="2000" dirty="0">
                    <a:latin typeface="Arial Narrow" panose="020B0606020202030204" pitchFamily="34" charset="0"/>
                  </a:rPr>
                  <a:t>), which changes gradually through simple linear updates, allowing information to flow over long time steps with minimal change</a:t>
                </a:r>
                <a:r>
                  <a:rPr lang="en-US" sz="2400" dirty="0"/>
                  <a:t>.</a:t>
                </a:r>
                <a:endParaRPr lang="en-IN" sz="24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0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01" y="5607023"/>
                <a:ext cx="10314092" cy="823725"/>
              </a:xfrm>
              <a:prstGeom prst="rect">
                <a:avLst/>
              </a:prstGeom>
              <a:blipFill>
                <a:blip r:embed="rId23"/>
                <a:stretch>
                  <a:fillRect l="-650" t="-4444" r="-591" b="-96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037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413" y="310142"/>
            <a:ext cx="10515600" cy="84188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How LSTM solves the vanishing gradient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3" y="1332064"/>
            <a:ext cx="6144118" cy="5352176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dirty="0">
                <a:latin typeface="Arial Narrow" panose="020B0606020202030204" pitchFamily="34" charset="0"/>
              </a:rPr>
              <a:t>Instead of repeatedly multiplying hidden states, an LSTM updates its </a:t>
            </a: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cell state </a:t>
            </a:r>
            <a:r>
              <a:rPr lang="en-IN" dirty="0">
                <a:latin typeface="Arial Narrow" panose="020B0606020202030204" pitchFamily="34" charset="0"/>
              </a:rPr>
              <a:t>using additive operations: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IN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New information is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added</a:t>
            </a:r>
            <a:r>
              <a:rPr lang="en-US" dirty="0">
                <a:latin typeface="Arial Narrow" panose="020B0606020202030204" pitchFamily="34" charset="0"/>
              </a:rPr>
              <a:t> to the cell state rather than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repeatedly multiplied.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Since information is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added rather than repeatedly multiplied</a:t>
            </a:r>
            <a:r>
              <a:rPr lang="en-US" dirty="0">
                <a:latin typeface="Arial Narrow" panose="020B0606020202030204" pitchFamily="34" charset="0"/>
              </a:rPr>
              <a:t>, gradients can flow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backward with minimal decay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This mechanism is called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Constant Error Carousel </a:t>
            </a:r>
            <a:r>
              <a:rPr lang="en-US" dirty="0">
                <a:latin typeface="Arial Narrow" panose="020B0606020202030204" pitchFamily="34" charset="0"/>
              </a:rPr>
              <a:t>(CEC). </a:t>
            </a:r>
          </a:p>
          <a:p>
            <a:pPr algn="just">
              <a:lnSpc>
                <a:spcPct val="120000"/>
              </a:lnSpc>
            </a:pPr>
            <a:endParaRPr lang="en-US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As a result, gradients can propagate across many time steps without vanishing. </a:t>
            </a: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Thus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solve the vanishing gradient problem.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</a:p>
          <a:p>
            <a:pPr algn="just"/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2B3F7D-4E39-45DF-BC57-0496D6CC5DC8}"/>
              </a:ext>
            </a:extLst>
          </p:cNvPr>
          <p:cNvSpPr txBox="1"/>
          <p:nvPr/>
        </p:nvSpPr>
        <p:spPr>
          <a:xfrm>
            <a:off x="7236995" y="6508866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6918960" y="2641302"/>
            <a:ext cx="4977384" cy="2829858"/>
            <a:chOff x="3963892" y="2449278"/>
            <a:chExt cx="4165032" cy="2237363"/>
          </a:xfrm>
        </p:grpSpPr>
        <p:sp>
          <p:nvSpPr>
            <p:cNvPr id="43" name="Rectangle 42"/>
            <p:cNvSpPr/>
            <p:nvPr/>
          </p:nvSpPr>
          <p:spPr>
            <a:xfrm>
              <a:off x="4633562" y="2576343"/>
              <a:ext cx="2870209" cy="159351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/>
            </a:p>
          </p:txBody>
        </p:sp>
        <p:cxnSp>
          <p:nvCxnSpPr>
            <p:cNvPr id="44" name="Straight Arrow Connector 43"/>
            <p:cNvCxnSpPr>
              <a:stCxn id="49" idx="3"/>
            </p:cNvCxnSpPr>
            <p:nvPr/>
          </p:nvCxnSpPr>
          <p:spPr>
            <a:xfrm>
              <a:off x="6115245" y="2847173"/>
              <a:ext cx="1830892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6" idx="3"/>
              <a:endCxn id="49" idx="1"/>
            </p:cNvCxnSpPr>
            <p:nvPr/>
          </p:nvCxnSpPr>
          <p:spPr>
            <a:xfrm>
              <a:off x="5074660" y="2847173"/>
              <a:ext cx="849415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4883489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47" name="Straight Connector 46"/>
            <p:cNvCxnSpPr>
              <a:endCxn id="46" idx="1"/>
            </p:cNvCxnSpPr>
            <p:nvPr/>
          </p:nvCxnSpPr>
          <p:spPr>
            <a:xfrm>
              <a:off x="4288631" y="2847171"/>
              <a:ext cx="594858" cy="2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5833858" y="3505250"/>
              <a:ext cx="370197" cy="2007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5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24074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24074" y="3131860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51" name="Straight Arrow Connector 50"/>
            <p:cNvCxnSpPr>
              <a:stCxn id="50" idx="0"/>
              <a:endCxn id="49" idx="2"/>
            </p:cNvCxnSpPr>
            <p:nvPr/>
          </p:nvCxnSpPr>
          <p:spPr>
            <a:xfrm flipV="1">
              <a:off x="6019660" y="2927418"/>
              <a:ext cx="0" cy="204442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48" idx="0"/>
              <a:endCxn id="50" idx="2"/>
            </p:cNvCxnSpPr>
            <p:nvPr/>
          </p:nvCxnSpPr>
          <p:spPr>
            <a:xfrm flipV="1">
              <a:off x="6018957" y="3292351"/>
              <a:ext cx="703" cy="21289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lbow Connector 52"/>
            <p:cNvCxnSpPr/>
            <p:nvPr/>
          </p:nvCxnSpPr>
          <p:spPr>
            <a:xfrm flipV="1">
              <a:off x="4305300" y="3712415"/>
              <a:ext cx="2329616" cy="197598"/>
            </a:xfrm>
            <a:prstGeom prst="bentConnector3">
              <a:avLst>
                <a:gd name="adj1" fmla="val 100086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/>
            <p:nvPr/>
          </p:nvCxnSpPr>
          <p:spPr>
            <a:xfrm rot="16200000" flipH="1">
              <a:off x="7003681" y="2970299"/>
              <a:ext cx="1051231" cy="804979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612835" y="3507974"/>
                  <a:ext cx="109938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835" y="3507974"/>
                  <a:ext cx="109938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31818" r="-13636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/>
            <p:cNvSpPr/>
            <p:nvPr/>
          </p:nvSpPr>
          <p:spPr>
            <a:xfrm>
              <a:off x="7031976" y="3363751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57" name="Elbow Connector 56"/>
            <p:cNvCxnSpPr>
              <a:stCxn id="55" idx="0"/>
              <a:endCxn id="56" idx="1"/>
            </p:cNvCxnSpPr>
            <p:nvPr/>
          </p:nvCxnSpPr>
          <p:spPr>
            <a:xfrm rot="5400000" flipH="1" flipV="1">
              <a:off x="6811802" y="3297324"/>
              <a:ext cx="73502" cy="366847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4912147" y="3493467"/>
                  <a:ext cx="134883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147" y="3493467"/>
                  <a:ext cx="134883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5385" r="-7692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5411162" y="3486324"/>
                  <a:ext cx="136469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162" y="3486324"/>
                  <a:ext cx="136469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1538" r="-11538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Elbow Connector 59"/>
            <p:cNvCxnSpPr>
              <a:stCxn id="59" idx="0"/>
              <a:endCxn id="50" idx="1"/>
            </p:cNvCxnSpPr>
            <p:nvPr/>
          </p:nvCxnSpPr>
          <p:spPr>
            <a:xfrm rot="5400000" flipH="1" flipV="1">
              <a:off x="5560627" y="3137162"/>
              <a:ext cx="288504" cy="438391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V="1">
              <a:off x="4941759" y="3698876"/>
              <a:ext cx="1" cy="21753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 flipV="1">
              <a:off x="5443199" y="3705579"/>
              <a:ext cx="759" cy="2074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V="1">
              <a:off x="5923147" y="3702679"/>
              <a:ext cx="0" cy="21289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015780" y="3695525"/>
              <a:ext cx="1" cy="68445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/>
            <p:nvPr/>
          </p:nvCxnSpPr>
          <p:spPr>
            <a:xfrm flipV="1">
              <a:off x="5015780" y="3716437"/>
              <a:ext cx="1689633" cy="263775"/>
            </a:xfrm>
            <a:prstGeom prst="bentConnector3">
              <a:avLst>
                <a:gd name="adj1" fmla="val 100022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 flipV="1">
              <a:off x="5521061" y="3695525"/>
              <a:ext cx="2388" cy="2846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V="1">
              <a:off x="6089124" y="3701996"/>
              <a:ext cx="884" cy="278215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6927399" y="3065629"/>
              <a:ext cx="388261" cy="2190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69" name="Straight Arrow Connector 68"/>
            <p:cNvCxnSpPr>
              <a:stCxn id="58" idx="0"/>
              <a:endCxn id="46" idx="2"/>
            </p:cNvCxnSpPr>
            <p:nvPr/>
          </p:nvCxnSpPr>
          <p:spPr>
            <a:xfrm flipH="1" flipV="1">
              <a:off x="4979075" y="2927418"/>
              <a:ext cx="451" cy="57319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7770E80-FFD4-4E29-96C9-F7244E1F78AF}"/>
                    </a:ext>
                  </a:extLst>
                </p:cNvPr>
                <p:cNvSpPr txBox="1"/>
                <p:nvPr/>
              </p:nvSpPr>
              <p:spPr>
                <a:xfrm>
                  <a:off x="4789806" y="434808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7770E80-FFD4-4E29-96C9-F7244E1F7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9806" y="4348087"/>
                  <a:ext cx="451948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DD42ED1-01EC-4E5E-88E6-481FBF4E95A3}"/>
                    </a:ext>
                  </a:extLst>
                </p:cNvPr>
                <p:cNvSpPr txBox="1"/>
                <p:nvPr/>
              </p:nvSpPr>
              <p:spPr>
                <a:xfrm>
                  <a:off x="3963892" y="3868473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DD42ED1-01EC-4E5E-88E6-481FBF4E9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3892" y="3868473"/>
                  <a:ext cx="451948" cy="338554"/>
                </a:xfrm>
                <a:prstGeom prst="rect">
                  <a:avLst/>
                </a:prstGeom>
                <a:blipFill>
                  <a:blip r:embed="rId6"/>
                  <a:stretch>
                    <a:fillRect r="-89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B7B24B5-AA73-43DC-9D13-01C28D31EA64}"/>
                    </a:ext>
                  </a:extLst>
                </p:cNvPr>
                <p:cNvSpPr txBox="1"/>
                <p:nvPr/>
              </p:nvSpPr>
              <p:spPr>
                <a:xfrm>
                  <a:off x="7676976" y="393704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B7B24B5-AA73-43DC-9D13-01C28D31E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6976" y="3937047"/>
                  <a:ext cx="451948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/>
                <p:nvPr/>
              </p:nvSpPr>
              <p:spPr>
                <a:xfrm>
                  <a:off x="4134112" y="247324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4112" y="2473247"/>
                  <a:ext cx="451948" cy="338554"/>
                </a:xfrm>
                <a:prstGeom prst="rect">
                  <a:avLst/>
                </a:prstGeom>
                <a:blipFill>
                  <a:blip r:embed="rId8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/>
                <p:nvPr/>
              </p:nvSpPr>
              <p:spPr>
                <a:xfrm>
                  <a:off x="7606059" y="2449278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059" y="2449278"/>
                  <a:ext cx="45194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FC387C2-BB75-431F-AB02-110479997B3E}"/>
                    </a:ext>
                  </a:extLst>
                </p:cNvPr>
                <p:cNvSpPr txBox="1"/>
                <p:nvPr/>
              </p:nvSpPr>
              <p:spPr>
                <a:xfrm>
                  <a:off x="4637057" y="3257183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FC387C2-BB75-431F-AB02-110479997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7057" y="3257183"/>
                  <a:ext cx="451948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EBDCF14-C2DB-4B08-81D3-DECD260CB0FA}"/>
                    </a:ext>
                  </a:extLst>
                </p:cNvPr>
                <p:cNvSpPr txBox="1"/>
                <p:nvPr/>
              </p:nvSpPr>
              <p:spPr>
                <a:xfrm>
                  <a:off x="5344124" y="3205163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EBDCF14-C2DB-4B08-81D3-DECD260CB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124" y="3205163"/>
                  <a:ext cx="451948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64EC3BB-8C2D-4F90-883E-8507DC9F0C36}"/>
                    </a:ext>
                  </a:extLst>
                </p:cNvPr>
                <p:cNvSpPr txBox="1"/>
                <p:nvPr/>
              </p:nvSpPr>
              <p:spPr>
                <a:xfrm>
                  <a:off x="5887263" y="3263014"/>
                  <a:ext cx="451948" cy="2669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64EC3BB-8C2D-4F90-883E-8507DC9F0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263" y="3263014"/>
                  <a:ext cx="451948" cy="266933"/>
                </a:xfrm>
                <a:prstGeom prst="rect">
                  <a:avLst/>
                </a:prstGeom>
                <a:blipFill>
                  <a:blip r:embed="rId12"/>
                  <a:stretch>
                    <a:fillRect r="-103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DB297B-01C7-4997-AECA-C8FA3AA9BFF5}"/>
                  </a:ext>
                </a:extLst>
              </p:cNvPr>
              <p:cNvSpPr/>
              <p:nvPr/>
            </p:nvSpPr>
            <p:spPr>
              <a:xfrm>
                <a:off x="1649298" y="1989110"/>
                <a:ext cx="3692165" cy="536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acc>
                        <m:accPr>
                          <m:chr m:val="̃"/>
                          <m:ctrlPr>
                            <a:rPr lang="en-IN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CDB297B-01C7-4997-AECA-C8FA3AA9BF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298" y="1989110"/>
                <a:ext cx="3692165" cy="53675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36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178" y="246254"/>
            <a:ext cx="10691070" cy="96999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How LSTM Solves Long-term Dependency Issue?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951" y="1216248"/>
            <a:ext cx="6289428" cy="5277067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latin typeface="Arial Narrow" panose="020B0606020202030204" pitchFamily="34" charset="0"/>
              </a:rPr>
              <a:t>Long-Term Dependency Issue : </a:t>
            </a:r>
          </a:p>
          <a:p>
            <a:pPr lvl="1" algn="just">
              <a:lnSpc>
                <a:spcPct val="120000"/>
              </a:lnSpc>
            </a:pPr>
            <a:r>
              <a:rPr lang="en-US" i="1" dirty="0">
                <a:latin typeface="Arial Narrow" panose="020B0606020202030204" pitchFamily="34" charset="0"/>
              </a:rPr>
              <a:t>"</a:t>
            </a:r>
            <a:r>
              <a:rPr lang="en-US" dirty="0">
                <a:latin typeface="Arial Narrow" panose="020B0606020202030204" pitchFamily="34" charset="0"/>
              </a:rPr>
              <a:t>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movie,</a:t>
            </a:r>
            <a:r>
              <a:rPr lang="en-US" dirty="0">
                <a:latin typeface="Arial Narrow" panose="020B0606020202030204" pitchFamily="34" charset="0"/>
              </a:rPr>
              <a:t> which I watched last Saturday and absolutely loved,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was</a:t>
            </a:r>
            <a:r>
              <a:rPr lang="en-US" dirty="0">
                <a:latin typeface="Arial Narrow" panose="020B0606020202030204" pitchFamily="34" charset="0"/>
              </a:rPr>
              <a:t> fantastic."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Here, the verb "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was</a:t>
            </a:r>
            <a:r>
              <a:rPr lang="en-US" dirty="0">
                <a:latin typeface="Arial Narrow" panose="020B0606020202030204" pitchFamily="34" charset="0"/>
              </a:rPr>
              <a:t>" depends on “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movie</a:t>
            </a:r>
            <a:r>
              <a:rPr lang="en-US" dirty="0">
                <a:latin typeface="Arial Narrow" panose="020B0606020202030204" pitchFamily="34" charset="0"/>
              </a:rPr>
              <a:t>", not "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loved</a:t>
            </a:r>
            <a:r>
              <a:rPr lang="en-US" dirty="0">
                <a:latin typeface="Arial Narrow" panose="020B0606020202030204" pitchFamily="34" charset="0"/>
              </a:rPr>
              <a:t>". A simple RNN may forget “movie", while an LSTM can remember it through its memory cell.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 Narrow" panose="020B0606020202030204" pitchFamily="34" charset="0"/>
              </a:rPr>
              <a:t>How LSTM Fixes This: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LSTM introduces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memory cell (cell state) </a:t>
            </a:r>
            <a:r>
              <a:rPr lang="en-US" dirty="0">
                <a:latin typeface="Arial Narrow" panose="020B0606020202030204" pitchFamily="34" charset="0"/>
              </a:rPr>
              <a:t>and gates that regulate the flow of information.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The cell state acts as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memory highway</a:t>
            </a:r>
            <a:r>
              <a:rPr lang="en-US" dirty="0">
                <a:latin typeface="Arial Narrow" panose="020B0606020202030204" pitchFamily="34" charset="0"/>
              </a:rPr>
              <a:t>, allowing information and gradients to flow almost unchanged across many time steps. 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latin typeface="Arial Narrow" panose="020B0606020202030204" pitchFamily="34" charset="0"/>
              </a:rPr>
              <a:t>This enables LSTMs to learn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long-term dependencies </a:t>
            </a:r>
            <a:r>
              <a:rPr lang="en-US" dirty="0">
                <a:latin typeface="Arial Narrow" panose="020B0606020202030204" pitchFamily="34" charset="0"/>
              </a:rPr>
              <a:t>and greatly reduce the vanishing gradient problem. 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6918960" y="2641302"/>
            <a:ext cx="4977384" cy="2829858"/>
            <a:chOff x="3963892" y="2449278"/>
            <a:chExt cx="4165032" cy="2237363"/>
          </a:xfrm>
        </p:grpSpPr>
        <p:sp>
          <p:nvSpPr>
            <p:cNvPr id="43" name="Rectangle 42"/>
            <p:cNvSpPr/>
            <p:nvPr/>
          </p:nvSpPr>
          <p:spPr>
            <a:xfrm>
              <a:off x="4633562" y="2576343"/>
              <a:ext cx="2870209" cy="159351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/>
            </a:p>
          </p:txBody>
        </p:sp>
        <p:cxnSp>
          <p:nvCxnSpPr>
            <p:cNvPr id="44" name="Straight Arrow Connector 43"/>
            <p:cNvCxnSpPr>
              <a:stCxn id="49" idx="3"/>
            </p:cNvCxnSpPr>
            <p:nvPr/>
          </p:nvCxnSpPr>
          <p:spPr>
            <a:xfrm>
              <a:off x="6115245" y="2847173"/>
              <a:ext cx="1830892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46" idx="3"/>
              <a:endCxn id="49" idx="1"/>
            </p:cNvCxnSpPr>
            <p:nvPr/>
          </p:nvCxnSpPr>
          <p:spPr>
            <a:xfrm>
              <a:off x="5074660" y="2847173"/>
              <a:ext cx="849415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4883489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47" name="Straight Connector 46"/>
            <p:cNvCxnSpPr>
              <a:endCxn id="46" idx="1"/>
            </p:cNvCxnSpPr>
            <p:nvPr/>
          </p:nvCxnSpPr>
          <p:spPr>
            <a:xfrm>
              <a:off x="4288631" y="2847171"/>
              <a:ext cx="594858" cy="2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5833858" y="3505250"/>
              <a:ext cx="370197" cy="2007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5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924074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24074" y="3131860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51" name="Straight Arrow Connector 50"/>
            <p:cNvCxnSpPr>
              <a:stCxn id="50" idx="0"/>
              <a:endCxn id="49" idx="2"/>
            </p:cNvCxnSpPr>
            <p:nvPr/>
          </p:nvCxnSpPr>
          <p:spPr>
            <a:xfrm flipV="1">
              <a:off x="6019660" y="2927418"/>
              <a:ext cx="0" cy="204442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48" idx="0"/>
              <a:endCxn id="50" idx="2"/>
            </p:cNvCxnSpPr>
            <p:nvPr/>
          </p:nvCxnSpPr>
          <p:spPr>
            <a:xfrm flipV="1">
              <a:off x="6018957" y="3292351"/>
              <a:ext cx="703" cy="21289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Elbow Connector 52"/>
            <p:cNvCxnSpPr/>
            <p:nvPr/>
          </p:nvCxnSpPr>
          <p:spPr>
            <a:xfrm flipV="1">
              <a:off x="4305300" y="3712415"/>
              <a:ext cx="2329616" cy="197598"/>
            </a:xfrm>
            <a:prstGeom prst="bentConnector3">
              <a:avLst>
                <a:gd name="adj1" fmla="val 100086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Elbow Connector 53"/>
            <p:cNvCxnSpPr/>
            <p:nvPr/>
          </p:nvCxnSpPr>
          <p:spPr>
            <a:xfrm rot="16200000" flipH="1">
              <a:off x="7003681" y="2970299"/>
              <a:ext cx="1051231" cy="804979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612835" y="3507974"/>
                  <a:ext cx="109938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835" y="3507974"/>
                  <a:ext cx="109938" cy="215444"/>
                </a:xfrm>
                <a:prstGeom prst="rect">
                  <a:avLst/>
                </a:prstGeom>
                <a:blipFill>
                  <a:blip r:embed="rId2"/>
                  <a:stretch>
                    <a:fillRect l="-31818" r="-13636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/>
            <p:cNvSpPr/>
            <p:nvPr/>
          </p:nvSpPr>
          <p:spPr>
            <a:xfrm>
              <a:off x="7031976" y="3363751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57" name="Elbow Connector 56"/>
            <p:cNvCxnSpPr>
              <a:stCxn id="55" idx="0"/>
              <a:endCxn id="56" idx="1"/>
            </p:cNvCxnSpPr>
            <p:nvPr/>
          </p:nvCxnSpPr>
          <p:spPr>
            <a:xfrm rot="5400000" flipH="1" flipV="1">
              <a:off x="6811802" y="3297324"/>
              <a:ext cx="73502" cy="366847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4912147" y="3493467"/>
                  <a:ext cx="134883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147" y="3493467"/>
                  <a:ext cx="134883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5385" r="-7692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5411162" y="3486324"/>
                  <a:ext cx="136469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162" y="3486324"/>
                  <a:ext cx="136469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1538" r="-11538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Elbow Connector 59"/>
            <p:cNvCxnSpPr>
              <a:stCxn id="59" idx="0"/>
              <a:endCxn id="50" idx="1"/>
            </p:cNvCxnSpPr>
            <p:nvPr/>
          </p:nvCxnSpPr>
          <p:spPr>
            <a:xfrm rot="5400000" flipH="1" flipV="1">
              <a:off x="5560627" y="3137162"/>
              <a:ext cx="288504" cy="438391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V="1">
              <a:off x="4941759" y="3698876"/>
              <a:ext cx="1" cy="21753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 flipV="1">
              <a:off x="5443199" y="3705579"/>
              <a:ext cx="759" cy="2074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V="1">
              <a:off x="5923147" y="3702679"/>
              <a:ext cx="0" cy="21289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015780" y="3695525"/>
              <a:ext cx="1" cy="68445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/>
            <p:nvPr/>
          </p:nvCxnSpPr>
          <p:spPr>
            <a:xfrm flipV="1">
              <a:off x="5015780" y="3716437"/>
              <a:ext cx="1689633" cy="263775"/>
            </a:xfrm>
            <a:prstGeom prst="bentConnector3">
              <a:avLst>
                <a:gd name="adj1" fmla="val 100022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 flipV="1">
              <a:off x="5521061" y="3695525"/>
              <a:ext cx="2388" cy="2846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V="1">
              <a:off x="6089124" y="3701996"/>
              <a:ext cx="884" cy="278215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6927399" y="3065629"/>
              <a:ext cx="388261" cy="2190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69" name="Straight Arrow Connector 68"/>
            <p:cNvCxnSpPr>
              <a:stCxn id="58" idx="0"/>
              <a:endCxn id="46" idx="2"/>
            </p:cNvCxnSpPr>
            <p:nvPr/>
          </p:nvCxnSpPr>
          <p:spPr>
            <a:xfrm flipH="1" flipV="1">
              <a:off x="4979075" y="2927418"/>
              <a:ext cx="451" cy="57319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B7770E80-FFD4-4E29-96C9-F7244E1F78AF}"/>
                    </a:ext>
                  </a:extLst>
                </p:cNvPr>
                <p:cNvSpPr txBox="1"/>
                <p:nvPr/>
              </p:nvSpPr>
              <p:spPr>
                <a:xfrm>
                  <a:off x="4789806" y="434808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7770E80-FFD4-4E29-96C9-F7244E1F7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9806" y="4348087"/>
                  <a:ext cx="451948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DD42ED1-01EC-4E5E-88E6-481FBF4E95A3}"/>
                    </a:ext>
                  </a:extLst>
                </p:cNvPr>
                <p:cNvSpPr txBox="1"/>
                <p:nvPr/>
              </p:nvSpPr>
              <p:spPr>
                <a:xfrm>
                  <a:off x="3963892" y="3868473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DD42ED1-01EC-4E5E-88E6-481FBF4E9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3892" y="3868473"/>
                  <a:ext cx="451948" cy="338554"/>
                </a:xfrm>
                <a:prstGeom prst="rect">
                  <a:avLst/>
                </a:prstGeom>
                <a:blipFill>
                  <a:blip r:embed="rId6"/>
                  <a:stretch>
                    <a:fillRect r="-89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AB7B24B5-AA73-43DC-9D13-01C28D31EA64}"/>
                    </a:ext>
                  </a:extLst>
                </p:cNvPr>
                <p:cNvSpPr txBox="1"/>
                <p:nvPr/>
              </p:nvSpPr>
              <p:spPr>
                <a:xfrm>
                  <a:off x="7676976" y="393704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B7B24B5-AA73-43DC-9D13-01C28D31E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6976" y="3937047"/>
                  <a:ext cx="451948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/>
                <p:nvPr/>
              </p:nvSpPr>
              <p:spPr>
                <a:xfrm>
                  <a:off x="4134112" y="247324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4112" y="2473247"/>
                  <a:ext cx="451948" cy="338554"/>
                </a:xfrm>
                <a:prstGeom prst="rect">
                  <a:avLst/>
                </a:prstGeom>
                <a:blipFill>
                  <a:blip r:embed="rId8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/>
                <p:nvPr/>
              </p:nvSpPr>
              <p:spPr>
                <a:xfrm>
                  <a:off x="7606059" y="2449278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059" y="2449278"/>
                  <a:ext cx="45194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FC387C2-BB75-431F-AB02-110479997B3E}"/>
                    </a:ext>
                  </a:extLst>
                </p:cNvPr>
                <p:cNvSpPr txBox="1"/>
                <p:nvPr/>
              </p:nvSpPr>
              <p:spPr>
                <a:xfrm>
                  <a:off x="4637057" y="3257183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FC387C2-BB75-431F-AB02-110479997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7057" y="3257183"/>
                  <a:ext cx="451948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EBDCF14-C2DB-4B08-81D3-DECD260CB0FA}"/>
                    </a:ext>
                  </a:extLst>
                </p:cNvPr>
                <p:cNvSpPr txBox="1"/>
                <p:nvPr/>
              </p:nvSpPr>
              <p:spPr>
                <a:xfrm>
                  <a:off x="5344124" y="3205163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EBDCF14-C2DB-4B08-81D3-DECD260CB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124" y="3205163"/>
                  <a:ext cx="451948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64EC3BB-8C2D-4F90-883E-8507DC9F0C36}"/>
                    </a:ext>
                  </a:extLst>
                </p:cNvPr>
                <p:cNvSpPr txBox="1"/>
                <p:nvPr/>
              </p:nvSpPr>
              <p:spPr>
                <a:xfrm>
                  <a:off x="5887263" y="3263014"/>
                  <a:ext cx="451948" cy="2669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64EC3BB-8C2D-4F90-883E-8507DC9F0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263" y="3263014"/>
                  <a:ext cx="451948" cy="266933"/>
                </a:xfrm>
                <a:prstGeom prst="rect">
                  <a:avLst/>
                </a:prstGeom>
                <a:blipFill>
                  <a:blip r:embed="rId12"/>
                  <a:stretch>
                    <a:fillRect r="-103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85270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243" y="130234"/>
            <a:ext cx="10839706" cy="101473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entury" panose="02040604050505020304" pitchFamily="18" charset="0"/>
              </a:rPr>
              <a:t>How LSTM Solves Long-term Dependency Issue?</a:t>
            </a:r>
            <a:endParaRPr lang="en-IN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8242" y="1279957"/>
                <a:ext cx="10327241" cy="2874899"/>
              </a:xfrm>
            </p:spPr>
            <p:txBody>
              <a:bodyPr>
                <a:normAutofit fontScale="70000" lnSpcReduction="20000"/>
              </a:bodyPr>
              <a:lstStyle/>
              <a:p>
                <a:pPr indent="-230400" algn="just">
                  <a:lnSpc>
                    <a:spcPct val="120000"/>
                  </a:lnSpc>
                </a:pPr>
                <a:r>
                  <a:rPr lang="en-IN" dirty="0">
                    <a:latin typeface="Arial Narrow" panose="020B0606020202030204" pitchFamily="34" charset="0"/>
                  </a:rPr>
                  <a:t>Instead of repeatedly multiplying hidden states, LSTM updates its cell state using additive operations:</a:t>
                </a: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:endParaRPr lang="en-IN" dirty="0">
                  <a:latin typeface="Arial Narrow" panose="020B0606020202030204" pitchFamily="34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IN" dirty="0">
                    <a:latin typeface="Arial Narrow" panose="020B0606020202030204" pitchFamily="34" charset="0"/>
                  </a:rPr>
                  <a:t>​ If the forget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=1</a:t>
                </a:r>
                <a:r>
                  <a:rPr lang="en-IN" dirty="0">
                    <a:latin typeface="Arial Narrow" panose="020B0606020202030204" pitchFamily="34" charset="0"/>
                  </a:rPr>
                  <a:t> , then</a:t>
                </a:r>
              </a:p>
              <a:p>
                <a:pPr marL="0" indent="-23040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6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36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36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IN" sz="3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36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36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36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B0F0"/>
                  </a:solidFill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indent="-230400" algn="just">
                  <a:lnSpc>
                    <a:spcPct val="120000"/>
                  </a:lnSpc>
                </a:pPr>
                <a:r>
                  <a:rPr lang="en-IN" dirty="0">
                    <a:latin typeface="Arial Narrow" panose="020B0606020202030204" pitchFamily="34" charset="0"/>
                  </a:rPr>
                  <a:t>This means the cell state (and hence the gradients) can pass through many time steps with little or no change, preserving long-term dependencies and preventing the vanishing gradient problem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8242" y="1279957"/>
                <a:ext cx="10327241" cy="2874899"/>
              </a:xfrm>
              <a:blipFill>
                <a:blip r:embed="rId2"/>
                <a:stretch>
                  <a:fillRect l="-531" t="-1271" r="-6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987943" y="4109375"/>
            <a:ext cx="4977384" cy="2829858"/>
            <a:chOff x="3963892" y="2449278"/>
            <a:chExt cx="4165032" cy="2237363"/>
          </a:xfrm>
        </p:grpSpPr>
        <p:sp>
          <p:nvSpPr>
            <p:cNvPr id="5" name="Rectangle 4"/>
            <p:cNvSpPr/>
            <p:nvPr/>
          </p:nvSpPr>
          <p:spPr>
            <a:xfrm>
              <a:off x="4633562" y="2576343"/>
              <a:ext cx="2870209" cy="159351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5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/>
            </a:p>
          </p:txBody>
        </p:sp>
        <p:cxnSp>
          <p:nvCxnSpPr>
            <p:cNvPr id="6" name="Straight Arrow Connector 5"/>
            <p:cNvCxnSpPr>
              <a:stCxn id="11" idx="3"/>
            </p:cNvCxnSpPr>
            <p:nvPr/>
          </p:nvCxnSpPr>
          <p:spPr>
            <a:xfrm>
              <a:off x="6115245" y="2847173"/>
              <a:ext cx="1830892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8" idx="3"/>
              <a:endCxn id="11" idx="1"/>
            </p:cNvCxnSpPr>
            <p:nvPr/>
          </p:nvCxnSpPr>
          <p:spPr>
            <a:xfrm>
              <a:off x="5074660" y="2847173"/>
              <a:ext cx="849415" cy="0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4883489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9" name="Straight Connector 8"/>
            <p:cNvCxnSpPr>
              <a:endCxn id="8" idx="1"/>
            </p:cNvCxnSpPr>
            <p:nvPr/>
          </p:nvCxnSpPr>
          <p:spPr>
            <a:xfrm>
              <a:off x="4288631" y="2847171"/>
              <a:ext cx="594858" cy="2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833858" y="3505250"/>
              <a:ext cx="370197" cy="2007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05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24074" y="2766927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2060"/>
                  </a:solidFill>
                </a:rPr>
                <a:t>+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24074" y="3131860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13" name="Straight Arrow Connector 12"/>
            <p:cNvCxnSpPr>
              <a:stCxn id="12" idx="0"/>
              <a:endCxn id="11" idx="2"/>
            </p:cNvCxnSpPr>
            <p:nvPr/>
          </p:nvCxnSpPr>
          <p:spPr>
            <a:xfrm flipV="1">
              <a:off x="6019660" y="2927418"/>
              <a:ext cx="0" cy="204442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0"/>
              <a:endCxn id="12" idx="2"/>
            </p:cNvCxnSpPr>
            <p:nvPr/>
          </p:nvCxnSpPr>
          <p:spPr>
            <a:xfrm flipV="1">
              <a:off x="6018957" y="3292351"/>
              <a:ext cx="703" cy="212899"/>
            </a:xfrm>
            <a:prstGeom prst="straightConnector1">
              <a:avLst/>
            </a:prstGeom>
            <a:ln w="254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lbow Connector 14"/>
            <p:cNvCxnSpPr/>
            <p:nvPr/>
          </p:nvCxnSpPr>
          <p:spPr>
            <a:xfrm flipV="1">
              <a:off x="4305300" y="3712415"/>
              <a:ext cx="2329616" cy="197598"/>
            </a:xfrm>
            <a:prstGeom prst="bentConnector3">
              <a:avLst>
                <a:gd name="adj1" fmla="val 100086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/>
            <p:nvPr/>
          </p:nvCxnSpPr>
          <p:spPr>
            <a:xfrm rot="16200000" flipH="1">
              <a:off x="7003681" y="2970299"/>
              <a:ext cx="1051231" cy="804979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612835" y="3507974"/>
                  <a:ext cx="109938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835" y="3507974"/>
                  <a:ext cx="109938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31818" r="-13636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/>
            <p:cNvSpPr/>
            <p:nvPr/>
          </p:nvSpPr>
          <p:spPr>
            <a:xfrm>
              <a:off x="7031976" y="3363751"/>
              <a:ext cx="191171" cy="1604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solidFill>
                    <a:srgbClr val="002060"/>
                  </a:solidFill>
                </a:rPr>
                <a:t>X</a:t>
              </a:r>
            </a:p>
          </p:txBody>
        </p:sp>
        <p:cxnSp>
          <p:nvCxnSpPr>
            <p:cNvPr id="19" name="Elbow Connector 18"/>
            <p:cNvCxnSpPr>
              <a:stCxn id="17" idx="0"/>
              <a:endCxn id="18" idx="1"/>
            </p:cNvCxnSpPr>
            <p:nvPr/>
          </p:nvCxnSpPr>
          <p:spPr>
            <a:xfrm rot="5400000" flipH="1" flipV="1">
              <a:off x="6811802" y="3297324"/>
              <a:ext cx="73502" cy="366847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912147" y="3493467"/>
                  <a:ext cx="134883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147" y="3493467"/>
                  <a:ext cx="134883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5385" r="-7692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411162" y="3486324"/>
                  <a:ext cx="136469" cy="21544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en-IN" sz="14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1162" y="3486324"/>
                  <a:ext cx="136469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11538" r="-11538"/>
                  </a:stretch>
                </a:blipFill>
                <a:ln w="19050">
                  <a:solidFill>
                    <a:schemeClr val="accent5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Elbow Connector 21"/>
            <p:cNvCxnSpPr>
              <a:stCxn id="21" idx="0"/>
              <a:endCxn id="12" idx="1"/>
            </p:cNvCxnSpPr>
            <p:nvPr/>
          </p:nvCxnSpPr>
          <p:spPr>
            <a:xfrm rot="5400000" flipH="1" flipV="1">
              <a:off x="5560627" y="3137162"/>
              <a:ext cx="288504" cy="438391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4941759" y="3698876"/>
              <a:ext cx="1" cy="21753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 flipV="1">
              <a:off x="5443199" y="3705579"/>
              <a:ext cx="759" cy="2074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923147" y="3702679"/>
              <a:ext cx="0" cy="212899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5015780" y="3695525"/>
              <a:ext cx="1" cy="68445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Elbow Connector 26"/>
            <p:cNvCxnSpPr/>
            <p:nvPr/>
          </p:nvCxnSpPr>
          <p:spPr>
            <a:xfrm flipV="1">
              <a:off x="5015780" y="3716437"/>
              <a:ext cx="1689633" cy="263775"/>
            </a:xfrm>
            <a:prstGeom prst="bentConnector3">
              <a:avLst>
                <a:gd name="adj1" fmla="val 100022"/>
              </a:avLst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5521061" y="3695525"/>
              <a:ext cx="2388" cy="284686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6089124" y="3701996"/>
              <a:ext cx="884" cy="278215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6927399" y="3065629"/>
              <a:ext cx="388261" cy="2190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IN" sz="1200" b="1" i="1" dirty="0">
                  <a:solidFill>
                    <a:srgbClr val="002060"/>
                  </a:solidFill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tanh</a:t>
              </a:r>
            </a:p>
          </p:txBody>
        </p:sp>
        <p:cxnSp>
          <p:nvCxnSpPr>
            <p:cNvPr id="31" name="Straight Arrow Connector 30"/>
            <p:cNvCxnSpPr>
              <a:stCxn id="20" idx="0"/>
              <a:endCxn id="8" idx="2"/>
            </p:cNvCxnSpPr>
            <p:nvPr/>
          </p:nvCxnSpPr>
          <p:spPr>
            <a:xfrm flipH="1" flipV="1">
              <a:off x="4979075" y="2927418"/>
              <a:ext cx="451" cy="573191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7770E80-FFD4-4E29-96C9-F7244E1F78AF}"/>
                    </a:ext>
                  </a:extLst>
                </p:cNvPr>
                <p:cNvSpPr txBox="1"/>
                <p:nvPr/>
              </p:nvSpPr>
              <p:spPr>
                <a:xfrm>
                  <a:off x="4789806" y="434808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7770E80-FFD4-4E29-96C9-F7244E1F7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9806" y="4348087"/>
                  <a:ext cx="451948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DD42ED1-01EC-4E5E-88E6-481FBF4E95A3}"/>
                    </a:ext>
                  </a:extLst>
                </p:cNvPr>
                <p:cNvSpPr txBox="1"/>
                <p:nvPr/>
              </p:nvSpPr>
              <p:spPr>
                <a:xfrm>
                  <a:off x="3963892" y="3868473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DD42ED1-01EC-4E5E-88E6-481FBF4E9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3892" y="3868473"/>
                  <a:ext cx="451948" cy="338554"/>
                </a:xfrm>
                <a:prstGeom prst="rect">
                  <a:avLst/>
                </a:prstGeom>
                <a:blipFill>
                  <a:blip r:embed="rId7"/>
                  <a:stretch>
                    <a:fillRect r="-897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B7B24B5-AA73-43DC-9D13-01C28D31EA64}"/>
                    </a:ext>
                  </a:extLst>
                </p:cNvPr>
                <p:cNvSpPr txBox="1"/>
                <p:nvPr/>
              </p:nvSpPr>
              <p:spPr>
                <a:xfrm>
                  <a:off x="7676976" y="393704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B7B24B5-AA73-43DC-9D13-01C28D31E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6976" y="3937047"/>
                  <a:ext cx="451948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/>
                <p:nvPr/>
              </p:nvSpPr>
              <p:spPr>
                <a:xfrm>
                  <a:off x="4134112" y="2473247"/>
                  <a:ext cx="45194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IN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12BD5C7-1AC1-468E-B7E4-948ABEDFF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4112" y="2473247"/>
                  <a:ext cx="451948" cy="338554"/>
                </a:xfrm>
                <a:prstGeom prst="rect">
                  <a:avLst/>
                </a:prstGeom>
                <a:blipFill>
                  <a:blip r:embed="rId9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/>
                <p:nvPr/>
              </p:nvSpPr>
              <p:spPr>
                <a:xfrm>
                  <a:off x="7606059" y="2449278"/>
                  <a:ext cx="4519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27A63CF-1A9F-4809-9E91-33D5C48890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059" y="2449278"/>
                  <a:ext cx="45194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FC387C2-BB75-431F-AB02-110479997B3E}"/>
                    </a:ext>
                  </a:extLst>
                </p:cNvPr>
                <p:cNvSpPr txBox="1"/>
                <p:nvPr/>
              </p:nvSpPr>
              <p:spPr>
                <a:xfrm>
                  <a:off x="4637057" y="3257183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FC387C2-BB75-431F-AB02-110479997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7057" y="3257183"/>
                  <a:ext cx="451948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EBDCF14-C2DB-4B08-81D3-DECD260CB0FA}"/>
                    </a:ext>
                  </a:extLst>
                </p:cNvPr>
                <p:cNvSpPr txBox="1"/>
                <p:nvPr/>
              </p:nvSpPr>
              <p:spPr>
                <a:xfrm>
                  <a:off x="5344124" y="3205163"/>
                  <a:ext cx="45194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IN" sz="12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EBDCF14-C2DB-4B08-81D3-DECD260CB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4124" y="3205163"/>
                  <a:ext cx="451948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64EC3BB-8C2D-4F90-883E-8507DC9F0C36}"/>
                    </a:ext>
                  </a:extLst>
                </p:cNvPr>
                <p:cNvSpPr txBox="1"/>
                <p:nvPr/>
              </p:nvSpPr>
              <p:spPr>
                <a:xfrm>
                  <a:off x="5887263" y="3263014"/>
                  <a:ext cx="451948" cy="2669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1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11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64EC3BB-8C2D-4F90-883E-8507DC9F0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7263" y="3263014"/>
                  <a:ext cx="451948" cy="266933"/>
                </a:xfrm>
                <a:prstGeom prst="rect">
                  <a:avLst/>
                </a:prstGeom>
                <a:blipFill>
                  <a:blip r:embed="rId13"/>
                  <a:stretch>
                    <a:fillRect r="-103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CDB297B-01C7-4997-AECA-C8FA3AA9BFF5}"/>
                  </a:ext>
                </a:extLst>
              </p:cNvPr>
              <p:cNvSpPr/>
              <p:nvPr/>
            </p:nvSpPr>
            <p:spPr>
              <a:xfrm>
                <a:off x="4152424" y="1684679"/>
                <a:ext cx="3194464" cy="4732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acc>
                        <m:accPr>
                          <m:chr m:val="̃"/>
                          <m:ctrlPr>
                            <a:rPr lang="en-IN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IN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CDB297B-01C7-4997-AECA-C8FA3AA9BF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424" y="1684679"/>
                <a:ext cx="3194464" cy="473271"/>
              </a:xfrm>
              <a:prstGeom prst="rect">
                <a:avLst/>
              </a:prstGeom>
              <a:blipFill>
                <a:blip r:embed="rId14"/>
                <a:stretch>
                  <a:fillRect t="-6410" r="-13550"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9B9A18B6-11C8-41F0-AC74-ECA744BCB55A}"/>
              </a:ext>
            </a:extLst>
          </p:cNvPr>
          <p:cNvSpPr/>
          <p:nvPr/>
        </p:nvSpPr>
        <p:spPr>
          <a:xfrm>
            <a:off x="6096000" y="3955486"/>
            <a:ext cx="59854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The </a:t>
            </a:r>
            <a:r>
              <a:rPr lang="en-US" sz="1600" i="1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movie</a:t>
            </a:r>
            <a:r>
              <a:rPr lang="en-US" sz="16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, which I watched last Saturday  and absolutely loved, </a:t>
            </a:r>
            <a:r>
              <a:rPr lang="en-US" sz="1600" i="1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was</a:t>
            </a:r>
            <a:r>
              <a:rPr lang="en-US" sz="1600" i="1" dirty="0">
                <a:latin typeface="Arial Narrow" panose="020B0606020202030204" pitchFamily="34" charset="0"/>
                <a:cs typeface="Times New Roman" panose="02020603050405020304" pitchFamily="18" charset="0"/>
              </a:rPr>
              <a:t> fantastic</a:t>
            </a:r>
            <a:endParaRPr lang="en-IN" sz="1600" dirty="0">
              <a:latin typeface="Arial Narrow" panose="020B0606020202030204" pitchFamily="34" charset="0"/>
            </a:endParaRPr>
          </a:p>
        </p:txBody>
      </p:sp>
      <p:sp>
        <p:nvSpPr>
          <p:cNvPr id="44" name="Right Bracket 43"/>
          <p:cNvSpPr/>
          <p:nvPr/>
        </p:nvSpPr>
        <p:spPr>
          <a:xfrm rot="5400000">
            <a:off x="8746060" y="2285148"/>
            <a:ext cx="349873" cy="4305104"/>
          </a:xfrm>
          <a:prstGeom prst="rightBracket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E99DFD4-B193-4484-BB3B-20057412C9B3}"/>
                  </a:ext>
                </a:extLst>
              </p:cNvPr>
              <p:cNvSpPr/>
              <p:nvPr/>
            </p:nvSpPr>
            <p:spPr>
              <a:xfrm>
                <a:off x="8370533" y="4908116"/>
                <a:ext cx="109656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E99DFD4-B193-4484-BB3B-20057412C9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0533" y="4908116"/>
                <a:ext cx="1096566" cy="369332"/>
              </a:xfrm>
              <a:prstGeom prst="rect">
                <a:avLst/>
              </a:prstGeom>
              <a:blipFill>
                <a:blip r:embed="rId1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AD6C2E7-02A3-42CA-948A-B9545BDD6818}"/>
                  </a:ext>
                </a:extLst>
              </p:cNvPr>
              <p:cNvSpPr txBox="1"/>
              <p:nvPr/>
            </p:nvSpPr>
            <p:spPr>
              <a:xfrm>
                <a:off x="6345521" y="5430085"/>
                <a:ext cx="5764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=1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IN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sSub>
                      <m:sSub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so maintaining the previous state value.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AD6C2E7-02A3-42CA-948A-B9545BDD6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21" y="5430085"/>
                <a:ext cx="5764900" cy="369332"/>
              </a:xfrm>
              <a:prstGeom prst="rect">
                <a:avLst/>
              </a:prstGeom>
              <a:blipFill>
                <a:blip r:embed="rId17"/>
                <a:stretch>
                  <a:fillRect l="-951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57AEC09-A2F4-4275-B815-0940068628F5}"/>
              </a:ext>
            </a:extLst>
          </p:cNvPr>
          <p:cNvCxnSpPr>
            <a:stCxn id="44" idx="2"/>
          </p:cNvCxnSpPr>
          <p:nvPr/>
        </p:nvCxnSpPr>
        <p:spPr>
          <a:xfrm flipH="1">
            <a:off x="8920996" y="4612637"/>
            <a:ext cx="1" cy="2954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349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Summery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 of RNN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Vanishing Gradient Problem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Long-term Contextual Dependency Issue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Introduction to LSTM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LSTM Architecture</a:t>
            </a:r>
          </a:p>
          <a:p>
            <a:pPr marL="457200" indent="-457200">
              <a:lnSpc>
                <a:spcPct val="150000"/>
              </a:lnSpc>
            </a:pPr>
            <a:r>
              <a:rPr lang="en-US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How LSTM solves Vanishing Gradient Problem?</a:t>
            </a:r>
          </a:p>
        </p:txBody>
      </p:sp>
    </p:spTree>
    <p:extLst>
      <p:ext uri="{BB962C8B-B14F-4D97-AF65-F5344CB8AC3E}">
        <p14:creationId xmlns:p14="http://schemas.microsoft.com/office/powerpoint/2010/main" val="3276024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002060"/>
                </a:solidFill>
                <a:latin typeface="Arial Narrow" panose="020B0606020202030204" pitchFamily="34" charset="0"/>
              </a:rPr>
              <a:t>Sequence Modeling - II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6: Part 4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99" y="298917"/>
            <a:ext cx="10515600" cy="92687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5612" y="1561906"/>
                <a:ext cx="5544627" cy="4351338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we expand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sub>
                          </m:sSub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612" y="1561906"/>
                <a:ext cx="5544627" cy="4351338"/>
              </a:xfrm>
              <a:blipFill>
                <a:blip r:embed="rId2"/>
                <a:stretch>
                  <a:fillRect l="-2310" t="-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/>
          <p:cNvGrpSpPr/>
          <p:nvPr/>
        </p:nvGrpSpPr>
        <p:grpSpPr>
          <a:xfrm>
            <a:off x="6549319" y="2522796"/>
            <a:ext cx="5295712" cy="3355139"/>
            <a:chOff x="6512743" y="2403924"/>
            <a:chExt cx="5295712" cy="3355139"/>
          </a:xfrm>
        </p:grpSpPr>
        <p:sp>
          <p:nvSpPr>
            <p:cNvPr id="5" name="Oval 4"/>
            <p:cNvSpPr/>
            <p:nvPr/>
          </p:nvSpPr>
          <p:spPr>
            <a:xfrm>
              <a:off x="7368825" y="3494463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/>
            <p:cNvSpPr/>
            <p:nvPr/>
          </p:nvSpPr>
          <p:spPr>
            <a:xfrm>
              <a:off x="6620680" y="4368390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368825" y="4742463"/>
              <a:ext cx="396599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7765424" y="4368390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8513569" y="4742463"/>
              <a:ext cx="520960" cy="428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9034529" y="4372672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11" idx="6"/>
              <a:endCxn id="13" idx="2"/>
            </p:cNvCxnSpPr>
            <p:nvPr/>
          </p:nvCxnSpPr>
          <p:spPr>
            <a:xfrm>
              <a:off x="9782674" y="4746745"/>
              <a:ext cx="586794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10369468" y="4372672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4" name="Straight Arrow Connector 13"/>
            <p:cNvCxnSpPr>
              <a:endCxn id="7" idx="4"/>
            </p:cNvCxnSpPr>
            <p:nvPr/>
          </p:nvCxnSpPr>
          <p:spPr>
            <a:xfrm flipV="1">
              <a:off x="6994753" y="5116536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7" idx="0"/>
            </p:cNvCxnSpPr>
            <p:nvPr/>
          </p:nvCxnSpPr>
          <p:spPr>
            <a:xfrm flipV="1">
              <a:off x="6994753" y="3943462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endCxn id="9" idx="4"/>
            </p:cNvCxnSpPr>
            <p:nvPr/>
          </p:nvCxnSpPr>
          <p:spPr>
            <a:xfrm flipV="1">
              <a:off x="8139497" y="5116536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9" idx="0"/>
            </p:cNvCxnSpPr>
            <p:nvPr/>
          </p:nvCxnSpPr>
          <p:spPr>
            <a:xfrm flipV="1">
              <a:off x="8139497" y="3943462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1" idx="0"/>
            </p:cNvCxnSpPr>
            <p:nvPr/>
          </p:nvCxnSpPr>
          <p:spPr>
            <a:xfrm flipV="1">
              <a:off x="9408602" y="3935436"/>
              <a:ext cx="7132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3" idx="0"/>
            </p:cNvCxnSpPr>
            <p:nvPr/>
          </p:nvCxnSpPr>
          <p:spPr>
            <a:xfrm flipV="1">
              <a:off x="10743541" y="3935436"/>
              <a:ext cx="7131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11" idx="4"/>
            </p:cNvCxnSpPr>
            <p:nvPr/>
          </p:nvCxnSpPr>
          <p:spPr>
            <a:xfrm flipV="1">
              <a:off x="9408600" y="5120818"/>
              <a:ext cx="2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13" idx="4"/>
            </p:cNvCxnSpPr>
            <p:nvPr/>
          </p:nvCxnSpPr>
          <p:spPr>
            <a:xfrm flipH="1" flipV="1">
              <a:off x="10743541" y="5120818"/>
              <a:ext cx="7131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792655" y="455756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655" y="4557566"/>
                  <a:ext cx="25518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380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932489" y="455756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2489" y="4557566"/>
                  <a:ext cx="255187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404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541571" y="4557566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1571" y="4557566"/>
                  <a:ext cx="34031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53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199651" y="4555836"/>
                  <a:ext cx="438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9651" y="4555836"/>
                  <a:ext cx="438043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514495" y="40483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4495" y="4048394"/>
                  <a:ext cx="25518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298159" y="404637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159" y="4046372"/>
                  <a:ext cx="25518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686009" y="4039563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6009" y="4039563"/>
                  <a:ext cx="25518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906935" y="406412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6935" y="4064128"/>
                  <a:ext cx="255187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10298159" y="5060031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8159" y="5060031"/>
                  <a:ext cx="25518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8913348" y="50731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3348" y="5073132"/>
                  <a:ext cx="255187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7656388" y="5060031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6388" y="5060031"/>
                  <a:ext cx="255187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6512743" y="505013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2743" y="5050138"/>
                  <a:ext cx="255187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/>
                <p:nvPr/>
              </p:nvSpPr>
              <p:spPr>
                <a:xfrm>
                  <a:off x="9262370" y="5478522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2370" y="5478522"/>
                  <a:ext cx="28142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2766" r="-6383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/>
                <p:nvPr/>
              </p:nvSpPr>
              <p:spPr>
                <a:xfrm>
                  <a:off x="10699807" y="5463971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9807" y="5463971"/>
                  <a:ext cx="281423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043" r="-8696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/>
                <p:nvPr/>
              </p:nvSpPr>
              <p:spPr>
                <a:xfrm>
                  <a:off x="6792106" y="5482064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106" y="5482064"/>
                  <a:ext cx="276101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333" r="-8889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/>
                <p:nvPr/>
              </p:nvSpPr>
              <p:spPr>
                <a:xfrm>
                  <a:off x="8046964" y="5476231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964" y="5476231"/>
                  <a:ext cx="281424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13043" r="-8696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767930" y="3549134"/>
                  <a:ext cx="3183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7930" y="3549134"/>
                  <a:ext cx="318364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23077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932489" y="3557885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2489" y="3557885"/>
                  <a:ext cx="3958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412291" y="3549134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291" y="3549134"/>
                  <a:ext cx="39589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170197" y="3557399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0197" y="3557399"/>
                  <a:ext cx="395899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/>
                <p:nvPr/>
              </p:nvSpPr>
              <p:spPr>
                <a:xfrm>
                  <a:off x="7416851" y="4402393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851" y="4402393"/>
                  <a:ext cx="28847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9149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/>
                <p:nvPr/>
              </p:nvSpPr>
              <p:spPr>
                <a:xfrm>
                  <a:off x="7388199" y="474050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8199" y="4740502"/>
                  <a:ext cx="255187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/>
                <p:nvPr/>
              </p:nvSpPr>
              <p:spPr>
                <a:xfrm>
                  <a:off x="8583733" y="4408586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3733" y="4408586"/>
                  <a:ext cx="288477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277" r="-8511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9871137" y="4419066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1137" y="4419066"/>
                  <a:ext cx="28847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0833" r="-6250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/>
                <p:nvPr/>
              </p:nvSpPr>
              <p:spPr>
                <a:xfrm>
                  <a:off x="8636154" y="47237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6154" y="4723794"/>
                  <a:ext cx="255187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9837192" y="4718323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7192" y="4718323"/>
                  <a:ext cx="255187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1117613" y="4746745"/>
              <a:ext cx="690842" cy="5003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11221661" y="4407183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1661" y="4407183"/>
                  <a:ext cx="288477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1277" r="-6383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11147726" y="4749246"/>
                  <a:ext cx="151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7726" y="4749246"/>
                  <a:ext cx="151139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4167" r="-191667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384784" y="354046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4784" y="3540466"/>
                  <a:ext cx="419366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/>
            <p:cNvCxnSpPr>
              <a:stCxn id="38" idx="3"/>
              <a:endCxn id="52" idx="1"/>
            </p:cNvCxnSpPr>
            <p:nvPr/>
          </p:nvCxnSpPr>
          <p:spPr>
            <a:xfrm flipV="1">
              <a:off x="7086294" y="3725132"/>
              <a:ext cx="298490" cy="866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/>
            <p:cNvSpPr/>
            <p:nvPr/>
          </p:nvSpPr>
          <p:spPr>
            <a:xfrm>
              <a:off x="8568842" y="3530500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568842" y="355793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68842" y="3557932"/>
                  <a:ext cx="419366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/>
            <p:cNvCxnSpPr>
              <a:stCxn id="39" idx="3"/>
              <a:endCxn id="55" idx="1"/>
            </p:cNvCxnSpPr>
            <p:nvPr/>
          </p:nvCxnSpPr>
          <p:spPr>
            <a:xfrm>
              <a:off x="8328388" y="3742551"/>
              <a:ext cx="240454" cy="47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/>
            <p:cNvSpPr/>
            <p:nvPr/>
          </p:nvSpPr>
          <p:spPr>
            <a:xfrm>
              <a:off x="9786550" y="3532428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786550" y="3559860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6550" y="3559860"/>
                  <a:ext cx="419366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/>
            <p:cNvCxnSpPr>
              <a:stCxn id="41" idx="3"/>
              <a:endCxn id="58" idx="1"/>
            </p:cNvCxnSpPr>
            <p:nvPr/>
          </p:nvCxnSpPr>
          <p:spPr>
            <a:xfrm>
              <a:off x="9566096" y="3742065"/>
              <a:ext cx="220454" cy="2461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/>
            <p:cNvSpPr/>
            <p:nvPr/>
          </p:nvSpPr>
          <p:spPr>
            <a:xfrm>
              <a:off x="11102373" y="3517774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1102373" y="354520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2373" y="3545206"/>
                  <a:ext cx="419366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/>
            <p:cNvCxnSpPr>
              <a:stCxn id="40" idx="3"/>
              <a:endCxn id="61" idx="1"/>
            </p:cNvCxnSpPr>
            <p:nvPr/>
          </p:nvCxnSpPr>
          <p:spPr>
            <a:xfrm flipV="1">
              <a:off x="10808190" y="3729872"/>
              <a:ext cx="294183" cy="392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105945" y="2403924"/>
                  <a:ext cx="2547681" cy="369332"/>
                </a:xfrm>
                <a:prstGeom prst="rect">
                  <a:avLst/>
                </a:prstGeom>
                <a:solidFill>
                  <a:srgbClr val="7030A0">
                    <a:alpha val="55000"/>
                  </a:srgbClr>
                </a:solid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945" y="2403924"/>
                  <a:ext cx="2547681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Elbow Connector 63"/>
            <p:cNvCxnSpPr>
              <a:stCxn id="63" idx="2"/>
              <a:endCxn id="5" idx="0"/>
            </p:cNvCxnSpPr>
            <p:nvPr/>
          </p:nvCxnSpPr>
          <p:spPr>
            <a:xfrm rot="5400000">
              <a:off x="8122534" y="2237210"/>
              <a:ext cx="721207" cy="1793298"/>
            </a:xfrm>
            <a:prstGeom prst="bentConnector3">
              <a:avLst>
                <a:gd name="adj1" fmla="val 51981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Elbow Connector 64"/>
            <p:cNvCxnSpPr>
              <a:stCxn id="63" idx="2"/>
              <a:endCxn id="60" idx="0"/>
            </p:cNvCxnSpPr>
            <p:nvPr/>
          </p:nvCxnSpPr>
          <p:spPr>
            <a:xfrm rot="16200000" flipH="1">
              <a:off x="9977652" y="2175390"/>
              <a:ext cx="744518" cy="1940250"/>
            </a:xfrm>
            <a:prstGeom prst="bentConnector3">
              <a:avLst>
                <a:gd name="adj1" fmla="val 5064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lbow Connector 65"/>
            <p:cNvCxnSpPr>
              <a:stCxn id="63" idx="2"/>
              <a:endCxn id="54" idx="0"/>
            </p:cNvCxnSpPr>
            <p:nvPr/>
          </p:nvCxnSpPr>
          <p:spPr>
            <a:xfrm rot="5400000">
              <a:off x="8704524" y="2855238"/>
              <a:ext cx="757244" cy="593281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>
              <a:stCxn id="63" idx="2"/>
              <a:endCxn id="57" idx="0"/>
            </p:cNvCxnSpPr>
            <p:nvPr/>
          </p:nvCxnSpPr>
          <p:spPr>
            <a:xfrm rot="16200000" flipH="1">
              <a:off x="9312413" y="2840628"/>
              <a:ext cx="759172" cy="624427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B04D8303-8114-48E6-BC93-FE22C42D04AB}"/>
              </a:ext>
            </a:extLst>
          </p:cNvPr>
          <p:cNvSpPr txBox="1"/>
          <p:nvPr/>
        </p:nvSpPr>
        <p:spPr>
          <a:xfrm>
            <a:off x="6872919" y="6512367"/>
            <a:ext cx="5459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Deep Learning Lecture Prof. M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Khapra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IIT Madras</a:t>
            </a:r>
          </a:p>
        </p:txBody>
      </p:sp>
    </p:spTree>
    <p:extLst>
      <p:ext uri="{BB962C8B-B14F-4D97-AF65-F5344CB8AC3E}">
        <p14:creationId xmlns:p14="http://schemas.microsoft.com/office/powerpoint/2010/main" val="1514317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977" y="109093"/>
            <a:ext cx="10515600" cy="98818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A36333B-FC1F-4440-8850-4433F2AB7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38083"/>
                <a:ext cx="460337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2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Now,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I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endParaRPr lang="en-IN" sz="2200" b="0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2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sz="2200" b="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2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tanh</m:t>
                      </m:r>
                      <m:r>
                        <a:rPr lang="en-I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2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2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I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IN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I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I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I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2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2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2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As in our case, the no. of RNN nodes involved is T.</a:t>
                </a:r>
              </a:p>
              <a:p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A36333B-FC1F-4440-8850-4433F2AB7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8083"/>
                <a:ext cx="4603376" cy="4351338"/>
              </a:xfrm>
              <a:blipFill>
                <a:blip r:embed="rId2"/>
                <a:stretch>
                  <a:fillRect l="-1722" b="-4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6ADE414-5C96-4880-AAED-81864FB7CE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98777" y="1165411"/>
                <a:ext cx="5629836" cy="560294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𝑚𝑇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𝑚𝑇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In this matrix, the off-diagonal elements are zero.</a:t>
                </a:r>
              </a:p>
              <a:p>
                <a:pPr marL="0" indent="0">
                  <a:buNone/>
                </a:pPr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The diagonal matrix is </a:t>
                </a:r>
              </a:p>
              <a:p>
                <a:pPr marL="0" indent="0">
                  <a:buNone/>
                </a:pPr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…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I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f>
                                        <m:fPr>
                                          <m:ctrlP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𝑚𝑇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I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4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𝑚𝑇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400" b="0" i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400" b="0" i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400" b="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𝑡𝑎𝑛h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′(</m:t>
                              </m:r>
                              <m:sSub>
                                <m:sSub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𝑡𝑎𝑛h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′(</m:t>
                              </m:r>
                              <m:sSub>
                                <m:sSub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…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⋮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𝑡𝑎𝑛h</m:t>
                                    </m:r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′(</m:t>
                                    </m:r>
                                    <m:sSub>
                                      <m:sSubPr>
                                        <m:ctrlP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𝑚𝑇</m:t>
                                        </m:r>
                                      </m:sub>
                                    </m:sSub>
                                    <m:r>
                                      <a:rPr lang="en-IN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IN" sz="2400" b="0" i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400" b="0" i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𝑑𝑖𝑎𝑔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𝑡𝑎𝑛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6ADE414-5C96-4880-AAED-81864FB7C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777" y="1165411"/>
                <a:ext cx="5629836" cy="5602941"/>
              </a:xfrm>
              <a:prstGeom prst="rect">
                <a:avLst/>
              </a:prstGeom>
              <a:blipFill>
                <a:blip r:embed="rId3"/>
                <a:stretch>
                  <a:fillRect l="-758" t="-762" b="-10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A769C8-B5CB-4B18-A337-2EAE349BDC67}"/>
              </a:ext>
            </a:extLst>
          </p:cNvPr>
          <p:cNvSpPr txBox="1"/>
          <p:nvPr/>
        </p:nvSpPr>
        <p:spPr>
          <a:xfrm>
            <a:off x="210671" y="6471127"/>
            <a:ext cx="5459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Deep Learning Lecture Prof. M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Khapra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IIT Madras</a:t>
            </a:r>
          </a:p>
        </p:txBody>
      </p:sp>
    </p:spTree>
    <p:extLst>
      <p:ext uri="{BB962C8B-B14F-4D97-AF65-F5344CB8AC3E}">
        <p14:creationId xmlns:p14="http://schemas.microsoft.com/office/powerpoint/2010/main" val="1567510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07224" y="2761488"/>
            <a:ext cx="1664208" cy="466344"/>
          </a:xfrm>
          <a:prstGeom prst="rect">
            <a:avLst/>
          </a:prstGeom>
          <a:solidFill>
            <a:schemeClr val="accent2">
              <a:lumMod val="60000"/>
              <a:lumOff val="40000"/>
              <a:alpha val="35000"/>
            </a:schemeClr>
          </a:solidFill>
          <a:ln>
            <a:solidFill>
              <a:schemeClr val="accent5">
                <a:lumMod val="50000"/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744" y="163957"/>
            <a:ext cx="10515600" cy="89396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𝑑𝑖𝑎𝑔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𝑡𝑎𝑛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𝑑𝑖𝑎𝑔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𝑡𝑎𝑛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Since,</a:t>
                </a:r>
                <a:r>
                  <a:rPr lang="en-US" dirty="0">
                    <a:latin typeface="Arial Narrow" panose="020B0606020202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nary>
                      <m:naryPr>
                        <m:chr m:val="∏"/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nary>
                      <m:naryPr>
                        <m:chr m:val="∏"/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𝑑𝑖𝑎𝑔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𝑡𝑎𝑛</m:t>
                            </m:r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d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>
                  <a:latin typeface="Arial Narrow" panose="020B0606020202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So, the gradient becomes a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product of many matrices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B0F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                       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where as per our assumption </a:t>
                </a:r>
                <a:r>
                  <a:rPr lang="en-US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T are far apart (</a:t>
                </a:r>
                <a:r>
                  <a:rPr lang="en-US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=1 and T=50)</a:t>
                </a:r>
              </a:p>
              <a:p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8A769C8-B5CB-4B18-A337-2EAE349BDC67}"/>
              </a:ext>
            </a:extLst>
          </p:cNvPr>
          <p:cNvSpPr txBox="1"/>
          <p:nvPr/>
        </p:nvSpPr>
        <p:spPr>
          <a:xfrm>
            <a:off x="210671" y="6471127"/>
            <a:ext cx="5459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Deep Learning Lecture Prof. M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Khapra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,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9328" y="1825625"/>
            <a:ext cx="944489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i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Constant</a:t>
            </a:r>
          </a:p>
        </p:txBody>
      </p:sp>
      <p:cxnSp>
        <p:nvCxnSpPr>
          <p:cNvPr id="8" name="Straight Arrow Connector 7"/>
          <p:cNvCxnSpPr>
            <a:endCxn id="6" idx="2"/>
          </p:cNvCxnSpPr>
          <p:nvPr/>
        </p:nvCxnSpPr>
        <p:spPr>
          <a:xfrm flipV="1">
            <a:off x="8811572" y="2194957"/>
            <a:ext cx="1" cy="5665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121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912" y="118237"/>
            <a:ext cx="10515600" cy="10064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Vanishing Gradient Problem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8744" y="1183195"/>
                <a:ext cx="11103864" cy="5465954"/>
              </a:xfrm>
              <a:solidFill>
                <a:schemeClr val="bg1"/>
              </a:solidFill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During Backpropagation Through Time (BPTT), the gradient becomes the product of many matrices: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			</a:t>
                </a:r>
                <a:r>
                  <a:rPr lang="en-US" dirty="0">
                    <a:latin typeface="Arial Narrow" panose="020B0606020202030204" pitchFamily="34" charset="0"/>
                  </a:rPr>
                  <a:t>		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			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			</a:t>
                </a:r>
                <a:r>
                  <a:rPr lang="en-US" sz="26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where </a:t>
                </a:r>
                <a:r>
                  <a:rPr lang="en-US" sz="2600" dirty="0" err="1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</a:t>
                </a:r>
                <a:r>
                  <a:rPr lang="en-US" sz="26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 and T are far apart (e.g., </a:t>
                </a:r>
                <a:r>
                  <a:rPr lang="en-US" sz="2600" dirty="0" err="1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i</a:t>
                </a:r>
                <a:r>
                  <a:rPr lang="en-US" sz="26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=1 and T=50)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If the eigenvalues of the product are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less than 1</a:t>
                </a:r>
                <a:r>
                  <a:rPr lang="en-US" dirty="0">
                    <a:latin typeface="Arial Narrow" panose="020B0606020202030204" pitchFamily="34" charset="0"/>
                  </a:rPr>
                  <a:t>,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the gradients shrink exponentially</a:t>
                </a:r>
                <a:r>
                  <a:rPr lang="en-US" dirty="0">
                    <a:latin typeface="Arial Narrow" panose="020B0606020202030204" pitchFamily="34" charset="0"/>
                  </a:rPr>
                  <a:t>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If the eigenvalues are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greater than 1</a:t>
                </a:r>
                <a:r>
                  <a:rPr lang="en-US" dirty="0">
                    <a:latin typeface="Arial Narrow" panose="020B0606020202030204" pitchFamily="34" charset="0"/>
                  </a:rPr>
                  <a:t>, the gradients grow exponentially, leading to the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exploding gradient problem.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For </a:t>
                </a:r>
                <a:r>
                  <a:rPr lang="en-US" dirty="0" err="1">
                    <a:latin typeface="Arial Narrow" panose="020B0606020202030204" pitchFamily="34" charset="0"/>
                  </a:rPr>
                  <a:t>tanh</a:t>
                </a:r>
                <a:r>
                  <a:rPr lang="en-US" dirty="0">
                    <a:latin typeface="Arial Narrow" panose="020B0606020202030204" pitchFamily="34" charset="0"/>
                  </a:rPr>
                  <a:t> and sigmoid activation functions: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𝑡𝑎𝑛</m:t>
                    </m:r>
                    <m:sSup>
                      <m:sSup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p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IN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≤1</m:t>
                    </m:r>
                  </m:oMath>
                </a14:m>
                <a:r>
                  <a:rPr lang="en-IN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Hence, each multiplication usually scales the gradient by a factor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less than 1</a:t>
                </a:r>
                <a:r>
                  <a:rPr lang="en-US" dirty="0">
                    <a:latin typeface="Arial Narrow" panose="020B0606020202030204" pitchFamily="34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For example,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0.9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≈0.005</m:t>
                    </m:r>
                  </m:oMath>
                </a14:m>
                <a:endParaRPr lang="en-US" sz="2600" dirty="0">
                  <a:latin typeface="Arial Narrow" panose="020B0606020202030204" pitchFamily="34" charset="0"/>
                </a:endParaRP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n-US" sz="23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After many time steps, the gradient becomes almost zero, so the weights at the initial time steps receive negligible updates.</a:t>
                </a:r>
                <a:endParaRPr lang="en-US" sz="2200" dirty="0">
                  <a:solidFill>
                    <a:srgbClr val="7030A0"/>
                  </a:solidFill>
                  <a:latin typeface="Arial Narrow" panose="020B0606020202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This is known as the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vanishing gradient problem </a:t>
                </a:r>
                <a:r>
                  <a:rPr lang="en-US" dirty="0">
                    <a:latin typeface="Arial Narrow" panose="020B0606020202030204" pitchFamily="34" charset="0"/>
                  </a:rPr>
                  <a:t>in a simple RNN.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8744" y="1183195"/>
                <a:ext cx="11103864" cy="5465954"/>
              </a:xfrm>
              <a:blipFill>
                <a:blip r:embed="rId2"/>
                <a:stretch>
                  <a:fillRect l="-659" t="-6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379143" y="1805334"/>
                <a:ext cx="4660443" cy="64440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44000"/>
                </a:schemeClr>
              </a:solidFill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I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r>
                          <a:rPr lang="en-I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sSubSup>
                          <m:sSubSup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I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I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𝑑𝑖𝑎𝑔</m:t>
                        </m:r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𝑡𝑎𝑛</m:t>
                            </m:r>
                            <m:sSup>
                              <m:sSup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I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d>
                          </m:e>
                        </m:d>
                        <m:r>
                          <a:rPr lang="en-I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IN" sz="2000" dirty="0">
                    <a:latin typeface="Arial Narrow" panose="020B0606020202030204" pitchFamily="34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143" y="1805334"/>
                <a:ext cx="4660443" cy="644407"/>
              </a:xfrm>
              <a:prstGeom prst="rect">
                <a:avLst/>
              </a:prstGeom>
              <a:blipFill>
                <a:blip r:embed="rId3"/>
                <a:stretch>
                  <a:fillRect r="-392" b="-75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821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2920</TotalTime>
  <Words>2545</Words>
  <Application>Microsoft Office PowerPoint</Application>
  <PresentationFormat>Widescreen</PresentationFormat>
  <Paragraphs>560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Times New Roman</vt:lpstr>
      <vt:lpstr>Office Theme</vt:lpstr>
      <vt:lpstr>     LSTM  </vt:lpstr>
      <vt:lpstr>Content</vt:lpstr>
      <vt:lpstr> Basic RNN Architecture </vt:lpstr>
      <vt:lpstr>Problems of Simple RNN</vt:lpstr>
      <vt:lpstr>Problems of Simple RNN</vt:lpstr>
      <vt:lpstr>Vanishing Gradient Problem</vt:lpstr>
      <vt:lpstr>Vanishing Gradient Problem</vt:lpstr>
      <vt:lpstr>The naïve RNN</vt:lpstr>
      <vt:lpstr>RNN: Vanishing Gradient Problem </vt:lpstr>
      <vt:lpstr>Long Short Term Memory (LSTM) Hochreiter et al., 1997</vt:lpstr>
      <vt:lpstr>Long Short Term Memory (LSTM) Hochreiter et al., 1997</vt:lpstr>
      <vt:lpstr>LSTM Architecture</vt:lpstr>
      <vt:lpstr>Forget Gate (Controls Memory)</vt:lpstr>
      <vt:lpstr>Input Gate (Selective Writing)</vt:lpstr>
      <vt:lpstr>Output Gate (Controlled Exposure)</vt:lpstr>
      <vt:lpstr>Output Gate (Controlled Exposure)</vt:lpstr>
      <vt:lpstr>Cell State</vt:lpstr>
      <vt:lpstr>How LSTM solves the vanishing gradient problem?</vt:lpstr>
      <vt:lpstr>How LSTM Solves Long-term Dependency Issue?</vt:lpstr>
      <vt:lpstr>How LSTM Solves Long-term Dependency Issue?</vt:lpstr>
      <vt:lpstr>Summery</vt:lpstr>
      <vt:lpstr>Sequence Modeling - II </vt:lpstr>
      <vt:lpstr>Vanishing Gradient Problem</vt:lpstr>
      <vt:lpstr>Vanishing Gradient Problem</vt:lpstr>
      <vt:lpstr>Vanishing Gradient Problem</vt:lpstr>
      <vt:lpstr>Vanishing Gradient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LSTM  </dc:title>
  <dc:creator>IITG</dc:creator>
  <cp:lastModifiedBy>HP</cp:lastModifiedBy>
  <cp:revision>20</cp:revision>
  <dcterms:created xsi:type="dcterms:W3CDTF">2026-08-03T07:02:34Z</dcterms:created>
  <dcterms:modified xsi:type="dcterms:W3CDTF">2026-08-10T16:32:09Z</dcterms:modified>
</cp:coreProperties>
</file>