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87" r:id="rId2"/>
    <p:sldId id="257" r:id="rId3"/>
    <p:sldId id="384" r:id="rId4"/>
    <p:sldId id="259" r:id="rId5"/>
    <p:sldId id="385" r:id="rId6"/>
    <p:sldId id="263" r:id="rId7"/>
    <p:sldId id="264" r:id="rId8"/>
    <p:sldId id="386" r:id="rId9"/>
    <p:sldId id="388" r:id="rId10"/>
    <p:sldId id="265" r:id="rId11"/>
    <p:sldId id="395" r:id="rId12"/>
    <p:sldId id="389" r:id="rId13"/>
    <p:sldId id="390" r:id="rId14"/>
    <p:sldId id="391" r:id="rId15"/>
    <p:sldId id="392" r:id="rId16"/>
    <p:sldId id="393" r:id="rId17"/>
    <p:sldId id="394" r:id="rId18"/>
    <p:sldId id="396" r:id="rId19"/>
    <p:sldId id="397" r:id="rId20"/>
    <p:sldId id="398" r:id="rId21"/>
    <p:sldId id="267" r:id="rId22"/>
  </p:sldIdLst>
  <p:sldSz cx="12192000" cy="6858000"/>
  <p:notesSz cx="6858000" cy="9144000"/>
  <p:embeddedFontLst>
    <p:embeddedFont>
      <p:font typeface="Arial Narrow" panose="020B0606020202030204" pitchFamily="34" charset="0"/>
      <p:regular r:id="rId24"/>
      <p:bold r:id="rId25"/>
      <p:italic r:id="rId26"/>
      <p:boldItalic r:id="rId27"/>
    </p:embeddedFont>
    <p:embeddedFont>
      <p:font typeface="Book Antiqua" panose="02040602050305030304" pitchFamily="18" charset="0"/>
      <p:regular r:id="rId28"/>
      <p:bold r:id="rId29"/>
      <p:italic r:id="rId30"/>
      <p:boldItalic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" panose="02040604050505020304" pitchFamily="18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jD+QxfOy5NuKMrxOafKf9gTuql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7301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7354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856321"/>
            <a:ext cx="9144000" cy="942001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Variational Auto-Encoder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9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Book Antiqua"/>
              <a:buNone/>
            </a:pPr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Content</a:t>
            </a:r>
            <a:endParaRPr sz="36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93" name="Google Shape;93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Auto-Encoder </a:t>
            </a:r>
            <a:endParaRPr sz="2400" dirty="0">
              <a:latin typeface="Arial Narrow" panose="020B0606020202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Variational Auto-Encoder – An Introduction</a:t>
            </a:r>
            <a:endParaRPr sz="2400" dirty="0">
              <a:latin typeface="Arial Narrow" panose="020B0606020202030204" pitchFamily="34" charset="0"/>
            </a:endParaRPr>
          </a:p>
          <a:p>
            <a:pPr marL="228600" lvl="0" indent="-228600">
              <a:buSzPts val="2800"/>
            </a:pPr>
            <a:r>
              <a:rPr lang="en-IN" sz="2400" dirty="0">
                <a:solidFill>
                  <a:schemeClr val="tx1"/>
                </a:solidFill>
                <a:latin typeface="Arial Narrow" panose="020B0606020202030204" pitchFamily="34" charset="0"/>
                <a:ea typeface="Book Antiqua"/>
                <a:cs typeface="Book Antiqua"/>
                <a:sym typeface="Book Antiqua"/>
              </a:rPr>
              <a:t>Variational Auto-Encoder </a:t>
            </a:r>
          </a:p>
          <a:p>
            <a:pPr marL="685800" lvl="1" indent="-228600">
              <a:buSzPts val="2800"/>
            </a:pPr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Book Antiqua"/>
                <a:cs typeface="Book Antiqua"/>
                <a:sym typeface="Book Antiqua"/>
              </a:rPr>
              <a:t>Encoding – Sampling – Decoding</a:t>
            </a:r>
          </a:p>
          <a:p>
            <a:pPr marL="685800" lvl="1" indent="-228600">
              <a:buSzPts val="2800"/>
            </a:pPr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Book Antiqua"/>
                <a:cs typeface="Book Antiqua"/>
                <a:sym typeface="Book Antiqua"/>
              </a:rPr>
              <a:t>Statistical Understanding</a:t>
            </a:r>
          </a:p>
          <a:p>
            <a:pPr marL="685800" lvl="1" indent="-228600">
              <a:buSzPts val="2800"/>
            </a:pPr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Book Antiqua"/>
                <a:cs typeface="Book Antiqua"/>
                <a:sym typeface="Book Antiqua"/>
              </a:rPr>
              <a:t>Problem Formulation</a:t>
            </a: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4D520E-707D-49C5-B206-C574FC1DCB5E}"/>
              </a:ext>
            </a:extLst>
          </p:cNvPr>
          <p:cNvSpPr/>
          <p:nvPr/>
        </p:nvSpPr>
        <p:spPr>
          <a:xfrm>
            <a:off x="5615478" y="3634089"/>
            <a:ext cx="2152209" cy="68383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Arial Narrow" panose="020B0606020202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9DCFBA5-648C-4128-834F-83BA3EACAE1C}"/>
              </a:ext>
            </a:extLst>
          </p:cNvPr>
          <p:cNvSpPr/>
          <p:nvPr/>
        </p:nvSpPr>
        <p:spPr>
          <a:xfrm>
            <a:off x="8596826" y="4017217"/>
            <a:ext cx="3565990" cy="1087799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atin typeface="Arial Narrow" panose="020B0606020202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96A47C-2412-4718-B3BA-378E157BD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65" y="346910"/>
            <a:ext cx="10515600" cy="81036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Different Generative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1EC26-194F-4135-8ED3-CE5EA19EAA79}"/>
              </a:ext>
            </a:extLst>
          </p:cNvPr>
          <p:cNvSpPr txBox="1"/>
          <p:nvPr/>
        </p:nvSpPr>
        <p:spPr>
          <a:xfrm>
            <a:off x="472748" y="3771183"/>
            <a:ext cx="1636776" cy="34051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2000"/>
            </a:schemeClr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Generative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91886-7DC4-4D89-9055-BF2CC8F75321}"/>
              </a:ext>
            </a:extLst>
          </p:cNvPr>
          <p:cNvSpPr txBox="1"/>
          <p:nvPr/>
        </p:nvSpPr>
        <p:spPr>
          <a:xfrm>
            <a:off x="2905336" y="2418975"/>
            <a:ext cx="1304295" cy="578882"/>
          </a:xfrm>
          <a:prstGeom prst="roundRect">
            <a:avLst/>
          </a:prstGeom>
          <a:solidFill>
            <a:schemeClr val="accent1">
              <a:lumMod val="75000"/>
              <a:alpha val="15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Explicit Density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1BA6CE-C548-44E3-B5AD-CA3915E9ADD5}"/>
              </a:ext>
            </a:extLst>
          </p:cNvPr>
          <p:cNvSpPr txBox="1"/>
          <p:nvPr/>
        </p:nvSpPr>
        <p:spPr>
          <a:xfrm>
            <a:off x="2905336" y="5309939"/>
            <a:ext cx="1304295" cy="340519"/>
          </a:xfrm>
          <a:prstGeom prst="roundRect">
            <a:avLst/>
          </a:prstGeom>
          <a:solidFill>
            <a:schemeClr val="accent1">
              <a:lumMod val="75000"/>
              <a:alpha val="17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Implicit Density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3DBA5-C8A7-4B8D-BABA-AD5E79D4BBB2}"/>
              </a:ext>
            </a:extLst>
          </p:cNvPr>
          <p:cNvSpPr txBox="1"/>
          <p:nvPr/>
        </p:nvSpPr>
        <p:spPr>
          <a:xfrm>
            <a:off x="5707782" y="1325718"/>
            <a:ext cx="2529827" cy="374571"/>
          </a:xfrm>
          <a:prstGeom prst="roundRect">
            <a:avLst/>
          </a:prstGeom>
          <a:solidFill>
            <a:srgbClr val="FF0000">
              <a:alpha val="16000"/>
            </a:srgb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Tractable Density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CFD91-4D9A-4272-B41C-09D60EECB119}"/>
              </a:ext>
            </a:extLst>
          </p:cNvPr>
          <p:cNvSpPr txBox="1"/>
          <p:nvPr/>
        </p:nvSpPr>
        <p:spPr>
          <a:xfrm>
            <a:off x="5712726" y="3794595"/>
            <a:ext cx="1915544" cy="340519"/>
          </a:xfrm>
          <a:prstGeom prst="roundRect">
            <a:avLst/>
          </a:prstGeom>
          <a:solidFill>
            <a:schemeClr val="accent6">
              <a:lumMod val="75000"/>
              <a:alpha val="16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Approximate Density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E6BFB-2243-4E47-B366-B2B62FD26DFC}"/>
              </a:ext>
            </a:extLst>
          </p:cNvPr>
          <p:cNvSpPr txBox="1"/>
          <p:nvPr/>
        </p:nvSpPr>
        <p:spPr>
          <a:xfrm>
            <a:off x="7021326" y="5881819"/>
            <a:ext cx="1604684" cy="34051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Markov Chain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7D94B5-5AA6-44B4-81A4-59DE5221C7BC}"/>
              </a:ext>
            </a:extLst>
          </p:cNvPr>
          <p:cNvSpPr txBox="1"/>
          <p:nvPr/>
        </p:nvSpPr>
        <p:spPr>
          <a:xfrm>
            <a:off x="7024130" y="4905794"/>
            <a:ext cx="1265704" cy="340519"/>
          </a:xfrm>
          <a:prstGeom prst="roundRect">
            <a:avLst/>
          </a:prstGeom>
          <a:solidFill>
            <a:srgbClr val="00B0F0">
              <a:alpha val="22000"/>
            </a:srgb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Direct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1FAE04-100F-4D67-8B4E-4C4BA4F2D7A3}"/>
              </a:ext>
            </a:extLst>
          </p:cNvPr>
          <p:cNvSpPr txBox="1"/>
          <p:nvPr/>
        </p:nvSpPr>
        <p:spPr>
          <a:xfrm>
            <a:off x="8771439" y="4385593"/>
            <a:ext cx="1197200" cy="340519"/>
          </a:xfrm>
          <a:prstGeom prst="roundRect">
            <a:avLst/>
          </a:prstGeom>
          <a:solidFill>
            <a:schemeClr val="accent2">
              <a:lumMod val="75000"/>
              <a:alpha val="13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Variational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B5EFD-8A60-44E4-A557-E035017B76F8}"/>
              </a:ext>
            </a:extLst>
          </p:cNvPr>
          <p:cNvSpPr txBox="1"/>
          <p:nvPr/>
        </p:nvSpPr>
        <p:spPr>
          <a:xfrm>
            <a:off x="8771440" y="3133063"/>
            <a:ext cx="1296259" cy="340519"/>
          </a:xfrm>
          <a:prstGeom prst="roundRect">
            <a:avLst/>
          </a:prstGeom>
          <a:solidFill>
            <a:schemeClr val="accent2">
              <a:lumMod val="75000"/>
              <a:alpha val="26000"/>
            </a:schemeClr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Markov Chain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580FF9-659C-4D95-8A77-F9016D7BF516}"/>
              </a:ext>
            </a:extLst>
          </p:cNvPr>
          <p:cNvSpPr txBox="1"/>
          <p:nvPr/>
        </p:nvSpPr>
        <p:spPr>
          <a:xfrm>
            <a:off x="8667238" y="5866273"/>
            <a:ext cx="1604684" cy="374571"/>
          </a:xfrm>
          <a:prstGeom prst="roundRect">
            <a:avLst/>
          </a:prstGeom>
          <a:solidFill>
            <a:schemeClr val="bg2">
              <a:lumMod val="50000"/>
              <a:alpha val="23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GSN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DD086A-A4E3-4519-B561-0AEF86035792}"/>
              </a:ext>
            </a:extLst>
          </p:cNvPr>
          <p:cNvSpPr txBox="1"/>
          <p:nvPr/>
        </p:nvSpPr>
        <p:spPr>
          <a:xfrm>
            <a:off x="9994356" y="4385593"/>
            <a:ext cx="2010522" cy="340519"/>
          </a:xfrm>
          <a:prstGeom prst="roundRect">
            <a:avLst/>
          </a:prstGeom>
          <a:solidFill>
            <a:schemeClr val="accent5">
              <a:lumMod val="60000"/>
              <a:lumOff val="40000"/>
              <a:alpha val="2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Variational Autoencoder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2C6B8D-9E96-435A-AB64-5684613E10BA}"/>
              </a:ext>
            </a:extLst>
          </p:cNvPr>
          <p:cNvSpPr txBox="1"/>
          <p:nvPr/>
        </p:nvSpPr>
        <p:spPr>
          <a:xfrm>
            <a:off x="7024130" y="5280085"/>
            <a:ext cx="1265704" cy="340519"/>
          </a:xfrm>
          <a:prstGeom prst="roundRect">
            <a:avLst/>
          </a:prstGeom>
          <a:solidFill>
            <a:srgbClr val="00B0F0">
              <a:alpha val="23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GAN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C3B64C-13D7-48E0-9D87-0C1A7D4A43BF}"/>
              </a:ext>
            </a:extLst>
          </p:cNvPr>
          <p:cNvSpPr txBox="1"/>
          <p:nvPr/>
        </p:nvSpPr>
        <p:spPr>
          <a:xfrm>
            <a:off x="8778078" y="3506438"/>
            <a:ext cx="1797161" cy="340519"/>
          </a:xfrm>
          <a:prstGeom prst="roundRect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Boltzmann Machine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4E7E81-3DCC-44D9-B587-52DC8CD4B708}"/>
              </a:ext>
            </a:extLst>
          </p:cNvPr>
          <p:cNvSpPr txBox="1"/>
          <p:nvPr/>
        </p:nvSpPr>
        <p:spPr>
          <a:xfrm>
            <a:off x="5652365" y="1734111"/>
            <a:ext cx="3714290" cy="1248728"/>
          </a:xfrm>
          <a:prstGeom prst="roundRect">
            <a:avLst>
              <a:gd name="adj" fmla="val 11383"/>
            </a:avLst>
          </a:prstGeom>
          <a:solidFill>
            <a:srgbClr val="FF00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Fully Visible Belief Nets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NADE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MADE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Pixel RNN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Change of variable models (nonlinear ICA)</a:t>
            </a:r>
          </a:p>
        </p:txBody>
      </p:sp>
      <p:cxnSp>
        <p:nvCxnSpPr>
          <p:cNvPr id="19" name="Elbow Connector 99">
            <a:extLst>
              <a:ext uri="{FF2B5EF4-FFF2-40B4-BE49-F238E27FC236}">
                <a16:creationId xmlns:a16="http://schemas.microsoft.com/office/drawing/2014/main" id="{75B93D6F-0BD3-4BD1-8BD9-504E4746F4F4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2109524" y="2708416"/>
            <a:ext cx="795812" cy="1233027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01">
            <a:extLst>
              <a:ext uri="{FF2B5EF4-FFF2-40B4-BE49-F238E27FC236}">
                <a16:creationId xmlns:a16="http://schemas.microsoft.com/office/drawing/2014/main" id="{7D3A494A-D503-4080-8A80-1AE355EA3BDB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109524" y="3941443"/>
            <a:ext cx="795812" cy="1538756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103">
            <a:extLst>
              <a:ext uri="{FF2B5EF4-FFF2-40B4-BE49-F238E27FC236}">
                <a16:creationId xmlns:a16="http://schemas.microsoft.com/office/drawing/2014/main" id="{9853588F-26C0-43D8-B871-93335C2A45D4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4209631" y="1513004"/>
            <a:ext cx="1498151" cy="1195412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105">
            <a:extLst>
              <a:ext uri="{FF2B5EF4-FFF2-40B4-BE49-F238E27FC236}">
                <a16:creationId xmlns:a16="http://schemas.microsoft.com/office/drawing/2014/main" id="{F518D58F-E4DF-47F1-AB79-E25BC00568F6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4209631" y="2708416"/>
            <a:ext cx="1503095" cy="1256439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107">
            <a:extLst>
              <a:ext uri="{FF2B5EF4-FFF2-40B4-BE49-F238E27FC236}">
                <a16:creationId xmlns:a16="http://schemas.microsoft.com/office/drawing/2014/main" id="{EF709B49-9D7C-43AD-9E9D-A83B104F337D}"/>
              </a:ext>
            </a:extLst>
          </p:cNvPr>
          <p:cNvCxnSpPr>
            <a:stCxn id="9" idx="3"/>
            <a:endCxn id="13" idx="1"/>
          </p:cNvCxnSpPr>
          <p:nvPr/>
        </p:nvCxnSpPr>
        <p:spPr>
          <a:xfrm flipV="1">
            <a:off x="7628270" y="3303323"/>
            <a:ext cx="1143170" cy="661532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109">
            <a:extLst>
              <a:ext uri="{FF2B5EF4-FFF2-40B4-BE49-F238E27FC236}">
                <a16:creationId xmlns:a16="http://schemas.microsoft.com/office/drawing/2014/main" id="{98AA8C7B-1DF0-4918-8DA9-6AB866035F8A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7628270" y="3964855"/>
            <a:ext cx="1143169" cy="590998"/>
          </a:xfrm>
          <a:prstGeom prst="bentConnector3">
            <a:avLst>
              <a:gd name="adj1" fmla="val 5000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111">
            <a:extLst>
              <a:ext uri="{FF2B5EF4-FFF2-40B4-BE49-F238E27FC236}">
                <a16:creationId xmlns:a16="http://schemas.microsoft.com/office/drawing/2014/main" id="{FBBB6634-A711-4F3E-A9F3-F0765E334942}"/>
              </a:ext>
            </a:extLst>
          </p:cNvPr>
          <p:cNvCxnSpPr>
            <a:stCxn id="7" idx="3"/>
            <a:endCxn id="11" idx="1"/>
          </p:cNvCxnSpPr>
          <p:nvPr/>
        </p:nvCxnSpPr>
        <p:spPr>
          <a:xfrm flipV="1">
            <a:off x="4209631" y="5076054"/>
            <a:ext cx="2814499" cy="404145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113">
            <a:extLst>
              <a:ext uri="{FF2B5EF4-FFF2-40B4-BE49-F238E27FC236}">
                <a16:creationId xmlns:a16="http://schemas.microsoft.com/office/drawing/2014/main" id="{CB39A652-6E37-4FD2-B569-5D87719824D8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4209631" y="5480199"/>
            <a:ext cx="2811695" cy="571880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56972-9DE5-4F57-A860-99BC983CD23F}"/>
              </a:ext>
            </a:extLst>
          </p:cNvPr>
          <p:cNvSpPr/>
          <p:nvPr/>
        </p:nvSpPr>
        <p:spPr>
          <a:xfrm>
            <a:off x="3967584" y="6538696"/>
            <a:ext cx="76686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Figure copyright and adapted from Ian Goodfellow, Tutorial on Generative Adversarial Networks, 2017.</a:t>
            </a:r>
            <a:endParaRPr lang="en-IN" sz="1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Google Shape;123;p3" descr="HD Green Mark Tick Symbol Icon Sign PNG | Citypng">
            <a:extLst>
              <a:ext uri="{FF2B5EF4-FFF2-40B4-BE49-F238E27FC236}">
                <a16:creationId xmlns:a16="http://schemas.microsoft.com/office/drawing/2014/main" id="{C0CAAAC5-FF06-4EAA-A824-CBEF750E2AC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1674" y="1955378"/>
            <a:ext cx="555812" cy="5558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009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672045" y="358102"/>
            <a:ext cx="7906944" cy="868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Book Antiqua"/>
              <a:buNone/>
            </a:pPr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Auto-Encoder</a:t>
            </a:r>
            <a:endParaRPr sz="3600" dirty="0">
              <a:solidFill>
                <a:schemeClr val="tx1"/>
              </a:solidFill>
              <a:latin typeface="Century" panose="02040604050505020304" pitchFamily="18" charset="0"/>
              <a:ea typeface="Book Antiqua"/>
              <a:cs typeface="Book Antiqua"/>
              <a:sym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Google Shape;131;p4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672045" y="1462165"/>
                <a:ext cx="7906944" cy="45881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228600" lvl="0" indent="-228600" algn="just">
                  <a:spcBef>
                    <a:spcPts val="0"/>
                  </a:spcBef>
                  <a:buSzPts val="2200"/>
                </a:pPr>
                <a:r>
                  <a:rPr lang="en-US" sz="2000" dirty="0">
                    <a:latin typeface="Arial Narrow" panose="020B0606020202030204" pitchFamily="34" charset="0"/>
                  </a:rPr>
                  <a:t>An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autoencoder (AE)</a:t>
                </a:r>
                <a:r>
                  <a:rPr lang="en-US" sz="2000" dirty="0">
                    <a:latin typeface="Arial Narrow" panose="020B0606020202030204" pitchFamily="34" charset="0"/>
                  </a:rPr>
                  <a:t> is a neural network architecture designed to learn a compact and informative representation of input data through an unsupervised or self-supervised reconstruction objective.</a:t>
                </a:r>
              </a:p>
              <a:p>
                <a:pPr marL="0" lvl="0" indent="0" algn="just">
                  <a:spcBef>
                    <a:spcPts val="0"/>
                  </a:spcBef>
                  <a:buSzPts val="2200"/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 </a:t>
                </a:r>
              </a:p>
              <a:p>
                <a:pPr marL="228600" lvl="0" indent="-228600" algn="just">
                  <a:spcBef>
                    <a:spcPts val="0"/>
                  </a:spcBef>
                  <a:buSzPts val="2200"/>
                </a:pPr>
                <a:r>
                  <a:rPr lang="en-US" sz="2000" dirty="0">
                    <a:latin typeface="Arial Narrow" panose="020B0606020202030204" pitchFamily="34" charset="0"/>
                  </a:rPr>
                  <a:t>It typically consists of two principal components: an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encoder</a:t>
                </a:r>
                <a:r>
                  <a:rPr lang="en-US" sz="2000" dirty="0">
                    <a:latin typeface="Arial Narrow" panose="020B0606020202030204" pitchFamily="34" charset="0"/>
                  </a:rPr>
                  <a:t> and a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decoder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marL="228600" lvl="0" indent="-228600" algn="just">
                  <a:spcBef>
                    <a:spcPts val="0"/>
                  </a:spcBef>
                  <a:buSzPts val="2200"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228600" lvl="0" indent="-228600" algn="just">
                  <a:spcBef>
                    <a:spcPts val="0"/>
                  </a:spcBef>
                  <a:buSzPts val="2200"/>
                </a:pPr>
                <a:r>
                  <a:rPr lang="en-US" sz="2000" dirty="0">
                    <a:latin typeface="Arial Narrow" panose="020B0606020202030204" pitchFamily="34" charset="0"/>
                  </a:rPr>
                  <a:t>The encoder transforms the input </a:t>
                </a:r>
                <a:r>
                  <a:rPr lang="en-IN" sz="2000" dirty="0"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𝑥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 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into a lower-dimensional latent representation</a:t>
                </a:r>
                <a:r>
                  <a:rPr lang="en-IN" sz="2000" dirty="0">
                    <a:cs typeface="Times New Roman"/>
                    <a:sym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𝑧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expressed as</a:t>
                </a:r>
              </a:p>
              <a:p>
                <a:pPr marL="228600" lvl="0" indent="-228600" algn="just">
                  <a:spcBef>
                    <a:spcPts val="0"/>
                  </a:spcBef>
                  <a:buSzPts val="2200"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lvl="0" indent="0" algn="just">
                  <a:spcBef>
                    <a:spcPts val="0"/>
                  </a:spcBef>
                  <a:buSzPts val="2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𝑓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𝜃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(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𝑥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just">
                  <a:spcBef>
                    <a:spcPts val="0"/>
                  </a:spcBef>
                  <a:buSzPts val="2200"/>
                  <a:buNone/>
                </a:pPr>
                <a:endParaRPr lang="en-IN" sz="2000" dirty="0"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just">
                  <a:spcBef>
                    <a:spcPts val="0"/>
                  </a:spcBef>
                  <a:buSzPts val="2200"/>
                  <a:buNone/>
                </a:pPr>
                <a:r>
                  <a:rPr lang="en-US" sz="2000" dirty="0"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    while the decoder reconstructs the original input from this latent representation as</a:t>
                </a:r>
              </a:p>
              <a:p>
                <a:pPr marL="0" lvl="0" indent="0" algn="just">
                  <a:spcBef>
                    <a:spcPts val="0"/>
                  </a:spcBef>
                  <a:buSzPts val="2200"/>
                  <a:buNone/>
                </a:pPr>
                <a:endParaRPr lang="en-US" sz="2000" dirty="0"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  <a:p>
                <a:pPr marL="0" indent="0" algn="just">
                  <a:spcBef>
                    <a:spcPts val="0"/>
                  </a:spcBef>
                  <a:buSzPts val="2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2000" i="1" dirty="0" smtClean="0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accPr>
                        <m:e>
                          <m:r>
                            <a:rPr lang="en-IN" sz="2000" b="0" i="1" dirty="0" smtClean="0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𝑥</m:t>
                          </m:r>
                        </m:e>
                      </m:acc>
                      <m:r>
                        <a:rPr lang="en-IN" sz="2000" i="1"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𝑔</m:t>
                          </m:r>
                        </m:e>
                        <m:sub>
                          <m: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𝜑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(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𝑧</m:t>
                      </m:r>
                      <m:r>
                        <a:rPr lang="en-IN" sz="2000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  <a:p>
                <a:pPr marL="0" indent="0" algn="just">
                  <a:spcBef>
                    <a:spcPts val="0"/>
                  </a:spcBef>
                  <a:buSzPts val="2200"/>
                  <a:buNone/>
                </a:pPr>
                <a:endParaRPr lang="en-IN" sz="2000" dirty="0"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  <a:p>
                <a:pPr marL="228600" indent="-228600" algn="just">
                  <a:spcBef>
                    <a:spcPts val="0"/>
                  </a:spcBef>
                  <a:buSzPts val="2200"/>
                </a:pPr>
                <a:r>
                  <a:rPr lang="en-US" sz="2000" dirty="0"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The network parameters are optimized by minimizing a reconstruction loss, such as mean squared error or binary cross-entropy, between the input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/>
                        <a:sym typeface="Times New Roman"/>
                      </a:rPr>
                      <m:t>𝑥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 and its reconstruction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000" i="1" dirty="0"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</m:ctrlPr>
                      </m:acc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  <a:cs typeface="Times New Roman"/>
                            <a:sym typeface="Times New Roman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000" dirty="0"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. </a:t>
                </a:r>
                <a:endParaRPr sz="2000" dirty="0"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 xmlns="">
          <p:sp>
            <p:nvSpPr>
              <p:cNvPr id="131" name="Google Shape;131;p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672045" y="1462165"/>
                <a:ext cx="7906944" cy="4588115"/>
              </a:xfrm>
              <a:prstGeom prst="rect">
                <a:avLst/>
              </a:prstGeom>
              <a:blipFill>
                <a:blip r:embed="rId3"/>
                <a:stretch>
                  <a:fillRect l="-848" t="-2258" r="-848" b="-18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46;p5">
                <a:extLst>
                  <a:ext uri="{FF2B5EF4-FFF2-40B4-BE49-F238E27FC236}">
                    <a16:creationId xmlns:a16="http://schemas.microsoft.com/office/drawing/2014/main" id="{55CE1C5C-117C-47D6-B045-DAFE672E6599}"/>
                  </a:ext>
                </a:extLst>
              </p:cNvPr>
              <p:cNvSpPr txBox="1"/>
              <p:nvPr/>
            </p:nvSpPr>
            <p:spPr>
              <a:xfrm>
                <a:off x="8680106" y="5152833"/>
                <a:ext cx="1749281" cy="7078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000" dirty="0">
                    <a:solidFill>
                      <a:srgbClr val="7030A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Reconstructed Input 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sym typeface="Times New Roman"/>
                      </a:rPr>
                      <m:t>(</m:t>
                    </m:r>
                    <m:acc>
                      <m:accPr>
                        <m:chr m:val="̂"/>
                        <m:ctrlPr>
                          <a:rPr lang="ar-AE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</m:ctrlPr>
                      </m:accPr>
                      <m:e>
                        <m:r>
                          <a:rPr lang="ar-AE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𝑥</m:t>
                        </m:r>
                      </m:e>
                    </m:acc>
                    <m:r>
                      <a:rPr lang="en-IN" sz="20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sym typeface="Times New Roman"/>
                      </a:rPr>
                      <m:t>)</m:t>
                    </m:r>
                  </m:oMath>
                </a14:m>
                <a:endParaRPr lang="ar-AE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Google Shape;146;p5">
                <a:extLst>
                  <a:ext uri="{FF2B5EF4-FFF2-40B4-BE49-F238E27FC236}">
                    <a16:creationId xmlns:a16="http://schemas.microsoft.com/office/drawing/2014/main" id="{55CE1C5C-117C-47D6-B045-DAFE672E6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106" y="5152833"/>
                <a:ext cx="1749281" cy="707846"/>
              </a:xfrm>
              <a:prstGeom prst="rect">
                <a:avLst/>
              </a:prstGeom>
              <a:blipFill>
                <a:blip r:embed="rId4"/>
                <a:stretch>
                  <a:fillRect l="-697" t="-4310" r="-3484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8;p5">
            <a:extLst>
              <a:ext uri="{FF2B5EF4-FFF2-40B4-BE49-F238E27FC236}">
                <a16:creationId xmlns:a16="http://schemas.microsoft.com/office/drawing/2014/main" id="{C7C6898E-4E70-4A42-91F6-9D3A5C5B62E9}"/>
              </a:ext>
            </a:extLst>
          </p:cNvPr>
          <p:cNvSpPr/>
          <p:nvPr/>
        </p:nvSpPr>
        <p:spPr>
          <a:xfrm>
            <a:off x="10296477" y="4121853"/>
            <a:ext cx="1239777" cy="824195"/>
          </a:xfrm>
          <a:prstGeom prst="trapezoid">
            <a:avLst>
              <a:gd name="adj" fmla="val 53944"/>
            </a:avLst>
          </a:prstGeom>
          <a:solidFill>
            <a:schemeClr val="accent4">
              <a:lumMod val="40000"/>
              <a:lumOff val="60000"/>
            </a:schemeClr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139;p5">
            <a:extLst>
              <a:ext uri="{FF2B5EF4-FFF2-40B4-BE49-F238E27FC236}">
                <a16:creationId xmlns:a16="http://schemas.microsoft.com/office/drawing/2014/main" id="{522594C0-F59A-4D5F-8258-1CFD0A618C15}"/>
              </a:ext>
            </a:extLst>
          </p:cNvPr>
          <p:cNvSpPr txBox="1"/>
          <p:nvPr/>
        </p:nvSpPr>
        <p:spPr>
          <a:xfrm>
            <a:off x="9306292" y="2693137"/>
            <a:ext cx="12472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Encoder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9" name="Google Shape;140;p5">
            <a:extLst>
              <a:ext uri="{FF2B5EF4-FFF2-40B4-BE49-F238E27FC236}">
                <a16:creationId xmlns:a16="http://schemas.microsoft.com/office/drawing/2014/main" id="{274A8B9B-CFDF-4032-8584-D8B96FFE0994}"/>
              </a:ext>
            </a:extLst>
          </p:cNvPr>
          <p:cNvSpPr txBox="1"/>
          <p:nvPr/>
        </p:nvSpPr>
        <p:spPr>
          <a:xfrm>
            <a:off x="9334143" y="4285298"/>
            <a:ext cx="12472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Decoder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11" name="Google Shape;146;p5">
            <a:extLst>
              <a:ext uri="{FF2B5EF4-FFF2-40B4-BE49-F238E27FC236}">
                <a16:creationId xmlns:a16="http://schemas.microsoft.com/office/drawing/2014/main" id="{44F51B8D-CF1D-4069-B2F0-B4222B8A78C8}"/>
              </a:ext>
            </a:extLst>
          </p:cNvPr>
          <p:cNvSpPr txBox="1"/>
          <p:nvPr/>
        </p:nvSpPr>
        <p:spPr>
          <a:xfrm>
            <a:off x="8879245" y="3507307"/>
            <a:ext cx="154500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Latent Space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12" name="Google Shape;138;p5">
            <a:extLst>
              <a:ext uri="{FF2B5EF4-FFF2-40B4-BE49-F238E27FC236}">
                <a16:creationId xmlns:a16="http://schemas.microsoft.com/office/drawing/2014/main" id="{7C0DDF72-F630-48D3-9709-0E7DDD831101}"/>
              </a:ext>
            </a:extLst>
          </p:cNvPr>
          <p:cNvSpPr/>
          <p:nvPr/>
        </p:nvSpPr>
        <p:spPr>
          <a:xfrm rot="10800000">
            <a:off x="10296477" y="2453313"/>
            <a:ext cx="1239777" cy="824195"/>
          </a:xfrm>
          <a:prstGeom prst="trapezoid">
            <a:avLst>
              <a:gd name="adj" fmla="val 54466"/>
            </a:avLst>
          </a:prstGeom>
          <a:solidFill>
            <a:schemeClr val="accent4">
              <a:lumMod val="40000"/>
              <a:lumOff val="60000"/>
            </a:schemeClr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146;p5">
                <a:extLst>
                  <a:ext uri="{FF2B5EF4-FFF2-40B4-BE49-F238E27FC236}">
                    <a16:creationId xmlns:a16="http://schemas.microsoft.com/office/drawing/2014/main" id="{9DE96C85-CDD0-4690-8580-27813418E7C7}"/>
                  </a:ext>
                </a:extLst>
              </p:cNvPr>
              <p:cNvSpPr txBox="1"/>
              <p:nvPr/>
            </p:nvSpPr>
            <p:spPr>
              <a:xfrm>
                <a:off x="9286821" y="1800753"/>
                <a:ext cx="1137432" cy="400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000" dirty="0">
                    <a:solidFill>
                      <a:srgbClr val="7030A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Input (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𝑥</m:t>
                    </m:r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)</a:t>
                </a:r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4" name="Google Shape;146;p5">
                <a:extLst>
                  <a:ext uri="{FF2B5EF4-FFF2-40B4-BE49-F238E27FC236}">
                    <a16:creationId xmlns:a16="http://schemas.microsoft.com/office/drawing/2014/main" id="{9DE96C85-CDD0-4690-8580-27813418E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821" y="1800753"/>
                <a:ext cx="1137432" cy="400069"/>
              </a:xfrm>
              <a:prstGeom prst="rect">
                <a:avLst/>
              </a:prstGeom>
              <a:blipFill>
                <a:blip r:embed="rId5"/>
                <a:stretch>
                  <a:fillRect l="-5348" t="-7576" r="-1604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139;p5">
            <a:extLst>
              <a:ext uri="{FF2B5EF4-FFF2-40B4-BE49-F238E27FC236}">
                <a16:creationId xmlns:a16="http://schemas.microsoft.com/office/drawing/2014/main" id="{26CFA3CC-DB17-452A-9124-3AD34AD6112D}"/>
              </a:ext>
            </a:extLst>
          </p:cNvPr>
          <p:cNvSpPr txBox="1"/>
          <p:nvPr/>
        </p:nvSpPr>
        <p:spPr>
          <a:xfrm>
            <a:off x="11349902" y="3498553"/>
            <a:ext cx="30582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dirty="0">
              <a:solidFill>
                <a:srgbClr val="7030A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3DA8E4-1D11-4EF0-AC2D-48391E8539D3}"/>
              </a:ext>
            </a:extLst>
          </p:cNvPr>
          <p:cNvGrpSpPr/>
          <p:nvPr/>
        </p:nvGrpSpPr>
        <p:grpSpPr>
          <a:xfrm>
            <a:off x="10499197" y="3572777"/>
            <a:ext cx="825618" cy="323576"/>
            <a:chOff x="5287702" y="2213850"/>
            <a:chExt cx="825618" cy="323576"/>
          </a:xfrm>
        </p:grpSpPr>
        <p:sp>
          <p:nvSpPr>
            <p:cNvPr id="21" name="Google Shape;143;p5">
              <a:extLst>
                <a:ext uri="{FF2B5EF4-FFF2-40B4-BE49-F238E27FC236}">
                  <a16:creationId xmlns:a16="http://schemas.microsoft.com/office/drawing/2014/main" id="{F1BC33D4-530F-48E0-948C-2D1B41E6C8D0}"/>
                </a:ext>
              </a:extLst>
            </p:cNvPr>
            <p:cNvSpPr/>
            <p:nvPr/>
          </p:nvSpPr>
          <p:spPr>
            <a:xfrm>
              <a:off x="5287702" y="2213850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43;p5">
              <a:extLst>
                <a:ext uri="{FF2B5EF4-FFF2-40B4-BE49-F238E27FC236}">
                  <a16:creationId xmlns:a16="http://schemas.microsoft.com/office/drawing/2014/main" id="{AE2CCE3A-70CB-4267-9A7F-CB85FEFFBFC3}"/>
                </a:ext>
              </a:extLst>
            </p:cNvPr>
            <p:cNvSpPr/>
            <p:nvPr/>
          </p:nvSpPr>
          <p:spPr>
            <a:xfrm>
              <a:off x="5562908" y="2213850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43;p5">
              <a:extLst>
                <a:ext uri="{FF2B5EF4-FFF2-40B4-BE49-F238E27FC236}">
                  <a16:creationId xmlns:a16="http://schemas.microsoft.com/office/drawing/2014/main" id="{A68C59C7-F9EE-4990-8B8D-977328113DE6}"/>
                </a:ext>
              </a:extLst>
            </p:cNvPr>
            <p:cNvSpPr/>
            <p:nvPr/>
          </p:nvSpPr>
          <p:spPr>
            <a:xfrm>
              <a:off x="5838114" y="2213850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C101A07D-D887-48A8-8F6C-566D784C2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5610" y="1564924"/>
            <a:ext cx="841223" cy="7067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77D818A-A0DD-41F6-B628-10F56F6B97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9332" y="5105582"/>
            <a:ext cx="841196" cy="7161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40A280-236C-40B3-98FF-B38A83759D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806" y="1440990"/>
            <a:ext cx="925649" cy="9305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1800D3-4CAF-40F4-86F7-D9A004ECCD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8890" y="5086582"/>
            <a:ext cx="925649" cy="9256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1A8C49-DE6C-4DB4-A3E4-C7301D1447B7}"/>
                  </a:ext>
                </a:extLst>
              </p:cNvPr>
              <p:cNvSpPr/>
              <p:nvPr/>
            </p:nvSpPr>
            <p:spPr>
              <a:xfrm>
                <a:off x="10443460" y="2639873"/>
                <a:ext cx="96552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just">
                  <a:buSzPts val="2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𝑧</m:t>
                      </m:r>
                      <m:r>
                        <a:rPr lang="en-IN" i="1"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𝑓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𝜃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)</m:t>
                      </m:r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1A8C49-DE6C-4DB4-A3E4-C7301D144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3460" y="2639873"/>
                <a:ext cx="965521" cy="307777"/>
              </a:xfrm>
              <a:prstGeom prst="rect">
                <a:avLst/>
              </a:prstGeom>
              <a:blipFill>
                <a:blip r:embed="rId10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51F9EDC-4383-4250-B015-8D09166DEAD5}"/>
                  </a:ext>
                </a:extLst>
              </p:cNvPr>
              <p:cNvSpPr/>
              <p:nvPr/>
            </p:nvSpPr>
            <p:spPr>
              <a:xfrm>
                <a:off x="10419414" y="4447664"/>
                <a:ext cx="1013611" cy="326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buSzPts val="2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 dirty="0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acc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𝑥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𝑔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𝜑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𝑧</m:t>
                      </m:r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)</m:t>
                      </m:r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51F9EDC-4383-4250-B015-8D09166DEA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414" y="4447664"/>
                <a:ext cx="1013611" cy="326949"/>
              </a:xfrm>
              <a:prstGeom prst="rect">
                <a:avLst/>
              </a:prstGeom>
              <a:blipFill>
                <a:blip r:embed="rId11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AB9B5-2DEE-415E-8650-C94C4E25E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7405879" cy="4351338"/>
          </a:xfrm>
        </p:spPr>
        <p:txBody>
          <a:bodyPr>
            <a:normAutofit/>
          </a:bodyPr>
          <a:lstStyle/>
          <a:p>
            <a:pPr marL="228600" indent="-228600" algn="just">
              <a:spcBef>
                <a:spcPts val="0"/>
              </a:spcBef>
              <a:buSzPts val="2200"/>
            </a:pPr>
            <a:r>
              <a:rPr lang="en-US" sz="20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By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imposing a bottleneck</a:t>
            </a:r>
            <a:r>
              <a:rPr lang="en-US" sz="20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or other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constraints on the latent space</a:t>
            </a:r>
            <a:r>
              <a:rPr lang="en-US" sz="20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, the autoencoder is encouraged to capture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most salient features and underlying structure of the input data</a:t>
            </a:r>
            <a:r>
              <a:rPr lang="en-US" sz="20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while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suppressing redundant or irrelevant information</a:t>
            </a:r>
            <a:r>
              <a:rPr lang="en-US" sz="20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marL="228600" indent="-228600" algn="just">
              <a:spcBef>
                <a:spcPts val="0"/>
              </a:spcBef>
              <a:buSzPts val="2200"/>
            </a:pPr>
            <a:endParaRPr lang="en-US" sz="2000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228600" indent="-228600" algn="just">
              <a:spcBef>
                <a:spcPts val="0"/>
              </a:spcBef>
              <a:buSzPts val="2200"/>
            </a:pPr>
            <a:endParaRPr lang="en-US" sz="2000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228600" indent="-228600" algn="just">
              <a:spcBef>
                <a:spcPts val="0"/>
              </a:spcBef>
              <a:buSzPts val="2200"/>
            </a:pPr>
            <a:r>
              <a:rPr lang="en-US" sz="20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Consequently, autoencoders have been widely applied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dimensionality reduction, feature extraction, image reconstruction, denoising, anomaly detection, and representation learning</a:t>
            </a:r>
            <a:r>
              <a:rPr lang="en-US" sz="20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marL="228600" indent="-228600" algn="just">
              <a:spcBef>
                <a:spcPts val="0"/>
              </a:spcBef>
              <a:buSzPts val="2200"/>
            </a:pPr>
            <a:endParaRPr lang="en-US" sz="2000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228600" indent="-228600" algn="just">
              <a:spcBef>
                <a:spcPts val="0"/>
              </a:spcBef>
              <a:buSzPts val="2200"/>
            </a:pPr>
            <a:endParaRPr lang="en-US" sz="2000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228600" indent="-228600" algn="just">
              <a:spcBef>
                <a:spcPts val="0"/>
              </a:spcBef>
              <a:buSzPts val="2200"/>
            </a:pPr>
            <a:r>
              <a:rPr lang="en-US" sz="20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Variants such as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convolutional autoencoders (CAEs) further incorporate convolutional layers to exploit spatial correlations in image data</a:t>
            </a:r>
            <a:r>
              <a:rPr lang="en-US" sz="20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, making them particularly effective for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learning hierarchical visual representations</a:t>
            </a:r>
            <a:r>
              <a:rPr lang="en-US" sz="20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228600" indent="-228600" algn="just">
              <a:spcBef>
                <a:spcPts val="0"/>
              </a:spcBef>
              <a:buSzPts val="2200"/>
            </a:pPr>
            <a:endParaRPr lang="en-US" sz="2000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endParaRPr lang="en-US" sz="2000" dirty="0"/>
          </a:p>
          <a:p>
            <a:endParaRPr lang="en-IN" dirty="0"/>
          </a:p>
        </p:txBody>
      </p:sp>
      <p:sp>
        <p:nvSpPr>
          <p:cNvPr id="5" name="Google Shape;130;p4">
            <a:extLst>
              <a:ext uri="{FF2B5EF4-FFF2-40B4-BE49-F238E27FC236}">
                <a16:creationId xmlns:a16="http://schemas.microsoft.com/office/drawing/2014/main" id="{CD2815F8-8A36-4B20-A6E3-580468F7A2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Book Antiqua"/>
              <a:buNone/>
            </a:pPr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Auto-Encoder</a:t>
            </a:r>
            <a:endParaRPr sz="3600" dirty="0">
              <a:solidFill>
                <a:schemeClr val="tx1"/>
              </a:solidFill>
              <a:latin typeface="Century" panose="02040604050505020304" pitchFamily="18" charset="0"/>
              <a:ea typeface="Book Antiqua"/>
              <a:cs typeface="Book Antiqua"/>
              <a:sym typeface="Book Antiqua"/>
            </a:endParaRPr>
          </a:p>
        </p:txBody>
      </p:sp>
      <p:sp>
        <p:nvSpPr>
          <p:cNvPr id="25" name="Google Shape;138;p5">
            <a:extLst>
              <a:ext uri="{FF2B5EF4-FFF2-40B4-BE49-F238E27FC236}">
                <a16:creationId xmlns:a16="http://schemas.microsoft.com/office/drawing/2014/main" id="{5D982E66-6544-42D3-8196-D6CFDFFB4232}"/>
              </a:ext>
            </a:extLst>
          </p:cNvPr>
          <p:cNvSpPr/>
          <p:nvPr/>
        </p:nvSpPr>
        <p:spPr>
          <a:xfrm>
            <a:off x="9827931" y="4261600"/>
            <a:ext cx="1239777" cy="824195"/>
          </a:xfrm>
          <a:prstGeom prst="trapezoid">
            <a:avLst>
              <a:gd name="adj" fmla="val 53944"/>
            </a:avLst>
          </a:prstGeom>
          <a:solidFill>
            <a:schemeClr val="accent4">
              <a:lumMod val="40000"/>
              <a:lumOff val="60000"/>
            </a:schemeClr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139;p5">
            <a:extLst>
              <a:ext uri="{FF2B5EF4-FFF2-40B4-BE49-F238E27FC236}">
                <a16:creationId xmlns:a16="http://schemas.microsoft.com/office/drawing/2014/main" id="{250F84FD-7F7B-48AE-9CA0-A79C70B7ECEC}"/>
              </a:ext>
            </a:extLst>
          </p:cNvPr>
          <p:cNvSpPr txBox="1"/>
          <p:nvPr/>
        </p:nvSpPr>
        <p:spPr>
          <a:xfrm>
            <a:off x="8837746" y="2832884"/>
            <a:ext cx="12472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Encoder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7" name="Google Shape;140;p5">
            <a:extLst>
              <a:ext uri="{FF2B5EF4-FFF2-40B4-BE49-F238E27FC236}">
                <a16:creationId xmlns:a16="http://schemas.microsoft.com/office/drawing/2014/main" id="{54C93BE5-EF49-41FC-B230-4F09990C4FF9}"/>
              </a:ext>
            </a:extLst>
          </p:cNvPr>
          <p:cNvSpPr txBox="1"/>
          <p:nvPr/>
        </p:nvSpPr>
        <p:spPr>
          <a:xfrm>
            <a:off x="8865597" y="4425045"/>
            <a:ext cx="12472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Decoder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28" name="Google Shape;146;p5">
            <a:extLst>
              <a:ext uri="{FF2B5EF4-FFF2-40B4-BE49-F238E27FC236}">
                <a16:creationId xmlns:a16="http://schemas.microsoft.com/office/drawing/2014/main" id="{0ED201E7-C817-450F-9D2E-7EAE2D529C15}"/>
              </a:ext>
            </a:extLst>
          </p:cNvPr>
          <p:cNvSpPr txBox="1"/>
          <p:nvPr/>
        </p:nvSpPr>
        <p:spPr>
          <a:xfrm>
            <a:off x="8410699" y="3647054"/>
            <a:ext cx="154500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Latent Space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29" name="Google Shape;138;p5">
            <a:extLst>
              <a:ext uri="{FF2B5EF4-FFF2-40B4-BE49-F238E27FC236}">
                <a16:creationId xmlns:a16="http://schemas.microsoft.com/office/drawing/2014/main" id="{00C77515-DC66-42A1-A044-12A37AC09041}"/>
              </a:ext>
            </a:extLst>
          </p:cNvPr>
          <p:cNvSpPr/>
          <p:nvPr/>
        </p:nvSpPr>
        <p:spPr>
          <a:xfrm rot="10800000">
            <a:off x="9827931" y="2593060"/>
            <a:ext cx="1239777" cy="824195"/>
          </a:xfrm>
          <a:prstGeom prst="trapezoid">
            <a:avLst>
              <a:gd name="adj" fmla="val 54466"/>
            </a:avLst>
          </a:prstGeom>
          <a:solidFill>
            <a:schemeClr val="accent4">
              <a:lumMod val="40000"/>
              <a:lumOff val="60000"/>
            </a:schemeClr>
          </a:solidFill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Google Shape;146;p5">
                <a:extLst>
                  <a:ext uri="{FF2B5EF4-FFF2-40B4-BE49-F238E27FC236}">
                    <a16:creationId xmlns:a16="http://schemas.microsoft.com/office/drawing/2014/main" id="{5BA30D3C-4E43-4A26-8F8F-948831C70462}"/>
                  </a:ext>
                </a:extLst>
              </p:cNvPr>
              <p:cNvSpPr txBox="1"/>
              <p:nvPr/>
            </p:nvSpPr>
            <p:spPr>
              <a:xfrm>
                <a:off x="8818275" y="1940500"/>
                <a:ext cx="1137432" cy="400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2000" dirty="0">
                    <a:solidFill>
                      <a:srgbClr val="7030A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Input (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𝑥</m:t>
                    </m:r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)</a:t>
                </a:r>
                <a:endParaRPr lang="en-IN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30" name="Google Shape;146;p5">
                <a:extLst>
                  <a:ext uri="{FF2B5EF4-FFF2-40B4-BE49-F238E27FC236}">
                    <a16:creationId xmlns:a16="http://schemas.microsoft.com/office/drawing/2014/main" id="{5BA30D3C-4E43-4A26-8F8F-948831C70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275" y="1940500"/>
                <a:ext cx="1137432" cy="400069"/>
              </a:xfrm>
              <a:prstGeom prst="rect">
                <a:avLst/>
              </a:prstGeom>
              <a:blipFill>
                <a:blip r:embed="rId3"/>
                <a:stretch>
                  <a:fillRect l="-5914" t="-7576" r="-1613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Google Shape;139;p5">
            <a:extLst>
              <a:ext uri="{FF2B5EF4-FFF2-40B4-BE49-F238E27FC236}">
                <a16:creationId xmlns:a16="http://schemas.microsoft.com/office/drawing/2014/main" id="{8E526774-14AC-4052-A9C7-432C8AE83D01}"/>
              </a:ext>
            </a:extLst>
          </p:cNvPr>
          <p:cNvSpPr txBox="1"/>
          <p:nvPr/>
        </p:nvSpPr>
        <p:spPr>
          <a:xfrm>
            <a:off x="10881356" y="3638300"/>
            <a:ext cx="30582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dirty="0">
              <a:solidFill>
                <a:srgbClr val="7030A0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A34942B-5ECE-4F4B-A50B-169D5FB4276F}"/>
              </a:ext>
            </a:extLst>
          </p:cNvPr>
          <p:cNvGrpSpPr/>
          <p:nvPr/>
        </p:nvGrpSpPr>
        <p:grpSpPr>
          <a:xfrm>
            <a:off x="10030651" y="3712524"/>
            <a:ext cx="825618" cy="323576"/>
            <a:chOff x="5287702" y="2213850"/>
            <a:chExt cx="825618" cy="323576"/>
          </a:xfrm>
        </p:grpSpPr>
        <p:sp>
          <p:nvSpPr>
            <p:cNvPr id="33" name="Google Shape;143;p5">
              <a:extLst>
                <a:ext uri="{FF2B5EF4-FFF2-40B4-BE49-F238E27FC236}">
                  <a16:creationId xmlns:a16="http://schemas.microsoft.com/office/drawing/2014/main" id="{41D7E213-DA88-4607-8A31-5F9BDAD492BC}"/>
                </a:ext>
              </a:extLst>
            </p:cNvPr>
            <p:cNvSpPr/>
            <p:nvPr/>
          </p:nvSpPr>
          <p:spPr>
            <a:xfrm>
              <a:off x="5287702" y="2213850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43;p5">
              <a:extLst>
                <a:ext uri="{FF2B5EF4-FFF2-40B4-BE49-F238E27FC236}">
                  <a16:creationId xmlns:a16="http://schemas.microsoft.com/office/drawing/2014/main" id="{2B70387A-2D37-4EFD-9CC7-BFCEAAA3ADD6}"/>
                </a:ext>
              </a:extLst>
            </p:cNvPr>
            <p:cNvSpPr/>
            <p:nvPr/>
          </p:nvSpPr>
          <p:spPr>
            <a:xfrm>
              <a:off x="5562908" y="2213850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43;p5">
              <a:extLst>
                <a:ext uri="{FF2B5EF4-FFF2-40B4-BE49-F238E27FC236}">
                  <a16:creationId xmlns:a16="http://schemas.microsoft.com/office/drawing/2014/main" id="{F28F3F5F-F0A0-42CA-B732-672D805D62E6}"/>
                </a:ext>
              </a:extLst>
            </p:cNvPr>
            <p:cNvSpPr/>
            <p:nvPr/>
          </p:nvSpPr>
          <p:spPr>
            <a:xfrm>
              <a:off x="5838114" y="2213850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04173F0D-4DE6-4A55-BD50-6BFBE1B75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064" y="1704671"/>
            <a:ext cx="841223" cy="70675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FAE6A29-81E2-4728-AF16-4EA85FB08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786" y="5245329"/>
            <a:ext cx="841196" cy="71611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F39D832-325B-4E14-BCE6-2D6BC06E1A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3260" y="1580737"/>
            <a:ext cx="925649" cy="93059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9CB0311-0EF7-4E4E-A80A-67B470D90D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344" y="5226329"/>
            <a:ext cx="925649" cy="9256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B97D9B7-E76E-4A4B-8615-77C618821989}"/>
                  </a:ext>
                </a:extLst>
              </p:cNvPr>
              <p:cNvSpPr/>
              <p:nvPr/>
            </p:nvSpPr>
            <p:spPr>
              <a:xfrm>
                <a:off x="9974914" y="2779620"/>
                <a:ext cx="96552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just">
                  <a:buSzPts val="2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𝑧</m:t>
                      </m:r>
                      <m:r>
                        <a:rPr lang="en-IN" i="1"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𝑓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𝜃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)</m:t>
                      </m:r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B97D9B7-E76E-4A4B-8615-77C618821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4914" y="2779620"/>
                <a:ext cx="965521" cy="307777"/>
              </a:xfrm>
              <a:prstGeom prst="rect">
                <a:avLst/>
              </a:prstGeom>
              <a:blipFill>
                <a:blip r:embed="rId8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7F867F9-A27D-4921-BEF3-98716D3C1362}"/>
                  </a:ext>
                </a:extLst>
              </p:cNvPr>
              <p:cNvSpPr/>
              <p:nvPr/>
            </p:nvSpPr>
            <p:spPr>
              <a:xfrm>
                <a:off x="9950868" y="4587411"/>
                <a:ext cx="1013611" cy="326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buSzPts val="22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 dirty="0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acc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𝑥</m:t>
                          </m:r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𝑔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𝜑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𝑧</m:t>
                      </m:r>
                      <m:r>
                        <a:rPr lang="en-IN" i="1"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)</m:t>
                      </m:r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7F867F9-A27D-4921-BEF3-98716D3C1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868" y="4587411"/>
                <a:ext cx="1013611" cy="326949"/>
              </a:xfrm>
              <a:prstGeom prst="rect">
                <a:avLst/>
              </a:prstGeom>
              <a:blipFill>
                <a:blip r:embed="rId9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93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Book Antiqua"/>
              <a:buNone/>
            </a:pPr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Auto-encoder as Generative Model</a:t>
            </a:r>
            <a:endParaRPr sz="36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Google Shape;215;p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just">
                  <a:spcBef>
                    <a:spcPts val="0"/>
                  </a:spcBef>
                  <a:buSzPts val="2400"/>
                </a:pPr>
                <a:r>
                  <a:rPr lang="en-US" sz="2000" dirty="0">
                    <a:latin typeface="Arial Narrow" panose="020B0606020202030204" pitchFamily="34" charset="0"/>
                  </a:rPr>
                  <a:t>In a standard autoencoder, the encoder maps an input 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to a fixed latent vector 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which is subsequently used by the decoder to reconstruct the input. </a:t>
                </a:r>
              </a:p>
              <a:p>
                <a:pPr marL="228600" lvl="0" indent="-228600" algn="just">
                  <a:spcBef>
                    <a:spcPts val="0"/>
                  </a:spcBef>
                  <a:buSzPts val="2400"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228600" lvl="0" indent="-228600" algn="just">
                  <a:spcBef>
                    <a:spcPts val="0"/>
                  </a:spcBef>
                  <a:buSzPts val="2400"/>
                </a:pPr>
                <a:r>
                  <a:rPr lang="en-US" sz="2000" dirty="0">
                    <a:latin typeface="Arial Narrow" panose="020B0606020202030204" pitchFamily="34" charset="0"/>
                  </a:rPr>
                  <a:t>Although this approach is effective for representation learning and dimensionality reduction, the learned latent space may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lack a well-defined probabilistic structure, limiting its ability to generate new samples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marL="228600" lvl="0" indent="-228600" algn="just">
                  <a:spcBef>
                    <a:spcPts val="0"/>
                  </a:spcBef>
                  <a:buSzPts val="2400"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228600" lvl="0" indent="-228600" algn="just">
                  <a:spcBef>
                    <a:spcPts val="0"/>
                  </a:spcBef>
                  <a:buSzPts val="2400"/>
                </a:pPr>
                <a:r>
                  <a:rPr lang="en-US" sz="2000" dirty="0">
                    <a:latin typeface="Arial Narrow" panose="020B0606020202030204" pitchFamily="34" charset="0"/>
                  </a:rPr>
                  <a:t>So,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auto-encoder is </a:t>
                </a:r>
                <a:r>
                  <a:rPr lang="en-US" sz="2000" dirty="0">
                    <a:solidFill>
                      <a:srgbClr val="FF0000"/>
                    </a:solidFill>
                    <a:latin typeface="Arial Narrow" panose="020B0606020202030204" pitchFamily="34" charset="0"/>
                  </a:rPr>
                  <a:t>not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a generative model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  <a:endParaRPr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15" name="Google Shape;215;p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l="-812" t="-2241" r="-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Google Shape;216;p8"/>
          <p:cNvSpPr/>
          <p:nvPr/>
        </p:nvSpPr>
        <p:spPr>
          <a:xfrm>
            <a:off x="201146" y="6428078"/>
            <a:ext cx="59840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Concept: Fei-Fei Li, Ehsan </a:t>
            </a:r>
            <a:r>
              <a:rPr lang="en-IN" sz="1400" dirty="0" err="1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Adeli</a:t>
            </a:r>
            <a:r>
              <a:rPr lang="en-IN" sz="1400" dirty="0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, Generative Modelling, Stanford Lecture, 2024</a:t>
            </a:r>
            <a:endParaRPr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Book Antiqua"/>
              <a:buNone/>
            </a:pPr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endParaRPr sz="3600" dirty="0">
              <a:solidFill>
                <a:schemeClr val="tx1"/>
              </a:solidFill>
              <a:latin typeface="Century" panose="02040604050505020304" pitchFamily="18" charset="0"/>
              <a:ea typeface="Book Antiqua"/>
              <a:cs typeface="Book Antiqua"/>
              <a:sym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Google Shape;223;p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just">
                  <a:spcBef>
                    <a:spcPts val="0"/>
                  </a:spcBef>
                  <a:buSzPts val="2800"/>
                </a:pPr>
                <a:r>
                  <a:rPr lang="en-US" sz="2000" dirty="0">
                    <a:latin typeface="Arial Narrow" panose="020B0606020202030204" pitchFamily="34" charset="0"/>
                  </a:rPr>
                  <a:t>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VAE addresses this limitation </a:t>
                </a:r>
                <a:r>
                  <a:rPr lang="en-US" sz="2000" dirty="0">
                    <a:latin typeface="Arial Narrow" panose="020B0606020202030204" pitchFamily="34" charset="0"/>
                  </a:rPr>
                  <a:t>by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modeling the latent representation as a probability distribution</a:t>
                </a:r>
                <a:r>
                  <a:rPr lang="en-US" sz="2000" dirty="0">
                    <a:latin typeface="Arial Narrow" panose="020B0606020202030204" pitchFamily="34" charset="0"/>
                  </a:rPr>
                  <a:t>, typically a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Gaussian distribution </a:t>
                </a:r>
                <a:r>
                  <a:rPr lang="en-US" sz="2000" dirty="0">
                    <a:latin typeface="Arial Narrow" panose="020B0606020202030204" pitchFamily="34" charset="0"/>
                  </a:rPr>
                  <a:t>parameterized by a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mean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228600" lvl="0" indent="-228600" algn="just">
                  <a:spcBef>
                    <a:spcPts val="0"/>
                  </a:spcBef>
                  <a:buSzPts val="2800"/>
                </a:pPr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228600" lvl="0" indent="-228600" algn="just">
                  <a:spcBef>
                    <a:spcPts val="0"/>
                  </a:spcBef>
                  <a:buSzPts val="2800"/>
                </a:pPr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228600" lvl="0" indent="-228600" algn="just">
                  <a:spcBef>
                    <a:spcPts val="0"/>
                  </a:spcBef>
                  <a:buSzPts val="2800"/>
                </a:pPr>
                <a:r>
                  <a:rPr lang="en-US" sz="2000" dirty="0">
                    <a:latin typeface="Arial Narrow" panose="020B0606020202030204" pitchFamily="34" charset="0"/>
                  </a:rPr>
                  <a:t>The encoder therefore estimates the parameters of 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approximate posterior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d>
                      <m:dPr>
                        <m:ctrlP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, </a:t>
                </a:r>
                <a:r>
                  <a:rPr lang="en-US" sz="2000" dirty="0">
                    <a:latin typeface="Arial Narrow" panose="020B0606020202030204" pitchFamily="34" charset="0"/>
                  </a:rPr>
                  <a:t>from which a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latent vector is sampled and passed to the decoder to reconstruct the input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marL="228600" lvl="0" indent="-228600" algn="just">
                  <a:spcBef>
                    <a:spcPts val="0"/>
                  </a:spcBef>
                  <a:buSzPts val="2800"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228600" lvl="0" indent="-228600" algn="just">
                  <a:spcBef>
                    <a:spcPts val="0"/>
                  </a:spcBef>
                  <a:buSzPts val="2800"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228600" lvl="0" indent="-228600" algn="just">
                  <a:spcBef>
                    <a:spcPts val="0"/>
                  </a:spcBef>
                  <a:buSzPts val="2800"/>
                </a:pPr>
                <a:r>
                  <a:rPr lang="en-US" sz="2000" dirty="0">
                    <a:latin typeface="Arial Narrow" panose="020B0606020202030204" pitchFamily="34" charset="0"/>
                  </a:rPr>
                  <a:t>To enable efficient gradient-based optimization through the stochastic sampling operation, VAE employs 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reparameterization trick</a:t>
                </a:r>
                <a:r>
                  <a:rPr lang="en-US" sz="2000" dirty="0">
                    <a:latin typeface="Arial Narrow" panose="020B0606020202030204" pitchFamily="34" charset="0"/>
                  </a:rPr>
                  <a:t>, expressing the latent variable as </a:t>
                </a:r>
              </a:p>
              <a:p>
                <a:pPr marL="0" lvl="0" indent="0" algn="just">
                  <a:spcBef>
                    <a:spcPts val="0"/>
                  </a:spcBef>
                  <a:buSzPts val="2800"/>
                  <a:buNone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lvl="0" indent="0" algn="just">
                  <a:spcBef>
                    <a:spcPts val="0"/>
                  </a:spcBef>
                  <a:buSzPts val="2800"/>
                  <a:buNone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lvl="0" indent="0" algn="just">
                  <a:spcBef>
                    <a:spcPts val="0"/>
                  </a:spcBef>
                  <a:buSzPts val="2800"/>
                  <a:buNone/>
                </a:pPr>
                <a:r>
                  <a:rPr lang="en-US" sz="2000" b="0" dirty="0">
                    <a:latin typeface="Arial Narrow" panose="020B0606020202030204" pitchFamily="34" charset="0"/>
                  </a:rPr>
                  <a:t>                                                         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m:rPr>
                        <m:nor/>
                      </m:rPr>
                      <a:rPr lang="en-IN" sz="2000"/>
                      <m:t>⊙</m:t>
                    </m:r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228600" lvl="0" indent="-228600" algn="just">
                  <a:spcBef>
                    <a:spcPts val="0"/>
                  </a:spcBef>
                  <a:buSzPts val="2800"/>
                </a:pPr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228600" lvl="0" indent="-228600" algn="just">
                  <a:spcBef>
                    <a:spcPts val="0"/>
                  </a:spcBef>
                  <a:buSzPts val="2800"/>
                </a:pPr>
                <a:endParaRPr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23" name="Google Shape;223;p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l="-1101" t="-3641" r="-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Placeholder 28">
                <a:extLst>
                  <a:ext uri="{FF2B5EF4-FFF2-40B4-BE49-F238E27FC236}">
                    <a16:creationId xmlns:a16="http://schemas.microsoft.com/office/drawing/2014/main" id="{F4510F0D-A9E7-4BC1-9A76-C78A598923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690687"/>
                <a:ext cx="7089475" cy="480218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2400" dirty="0">
                    <a:latin typeface="Arial Narrow" panose="020B0606020202030204" pitchFamily="34" charset="0"/>
                  </a:rPr>
                  <a:t>Encoding</a:t>
                </a: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The encoder takes an input </a:t>
                </a:r>
                <a:r>
                  <a:rPr lang="en-IN" sz="2000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, such as an image, and produces the parameters of a probability distribution</a:t>
                </a:r>
                <a:r>
                  <a:rPr lang="en-US" sz="2000" dirty="0">
                    <a:latin typeface="Arial Narrow" panose="020B0606020202030204" pitchFamily="34" charset="0"/>
                  </a:rPr>
                  <a:t>:</a:t>
                </a:r>
              </a:p>
              <a:p>
                <a:pPr marL="571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Instead of mapping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to one fixed latent vector</a:t>
                </a:r>
                <a:r>
                  <a:rPr lang="en-US" sz="2000" dirty="0">
                    <a:latin typeface="Arial Narrow" panose="020B0606020202030204" pitchFamily="34" charset="0"/>
                  </a:rPr>
                  <a:t>, it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maps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to a distribution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lvl="1"/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IN" sz="2400" dirty="0">
                    <a:latin typeface="Arial Narrow" panose="020B0606020202030204" pitchFamily="34" charset="0"/>
                  </a:rPr>
                  <a:t>Sampling </a:t>
                </a: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From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this distribution of the latent space</a:t>
                </a:r>
                <a:r>
                  <a:rPr lang="en-US" sz="2000" dirty="0">
                    <a:latin typeface="Arial Narrow" panose="020B0606020202030204" pitchFamily="34" charset="0"/>
                  </a:rPr>
                  <a:t>,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 point is sampled to be decoded </a:t>
                </a:r>
                <a:r>
                  <a:rPr lang="en-US" sz="2000" dirty="0">
                    <a:latin typeface="Arial Narrow" panose="020B0606020202030204" pitchFamily="34" charset="0"/>
                  </a:rPr>
                  <a:t>to get the reconstruction error. </a:t>
                </a:r>
              </a:p>
              <a:p>
                <a:pPr marL="571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But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directly sampling makes backpropagation difficult</a:t>
                </a:r>
                <a:r>
                  <a:rPr lang="en-US" sz="2000" dirty="0">
                    <a:latin typeface="Arial Narrow" panose="020B0606020202030204" pitchFamily="34" charset="0"/>
                  </a:rPr>
                  <a:t>. VAE uses 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reparameterization trick</a:t>
                </a:r>
                <a:r>
                  <a:rPr lang="en-US" sz="2000" dirty="0">
                    <a:latin typeface="Arial Narrow" panose="020B0606020202030204" pitchFamily="34" charset="0"/>
                  </a:rPr>
                  <a:t>:</a:t>
                </a:r>
              </a:p>
              <a:p>
                <a:pPr marL="571500" lvl="1" indent="0">
                  <a:buNone/>
                </a:pPr>
                <a:r>
                  <a:rPr lang="en-IN" sz="2000" dirty="0">
                    <a:solidFill>
                      <a:srgbClr val="7030A0"/>
                    </a:solidFill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m:rPr>
                        <m:nor/>
                      </m:rPr>
                      <a:rPr lang="en-IN" sz="2000">
                        <a:solidFill>
                          <a:srgbClr val="7030A0"/>
                        </a:solidFill>
                      </a:rPr>
                      <m:t>⊙</m:t>
                    </m:r>
                    <m:r>
                      <m:rPr>
                        <m:sty m:val="p"/>
                      </m:rPr>
                      <a:rPr lang="el-GR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This allows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gradients to flow through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lvl="1"/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29" name="Text Placeholder 28">
                <a:extLst>
                  <a:ext uri="{FF2B5EF4-FFF2-40B4-BE49-F238E27FC236}">
                    <a16:creationId xmlns:a16="http://schemas.microsoft.com/office/drawing/2014/main" id="{F4510F0D-A9E7-4BC1-9A76-C78A598923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690687"/>
                <a:ext cx="7089475" cy="4802187"/>
              </a:xfrm>
              <a:blipFill>
                <a:blip r:embed="rId2"/>
                <a:stretch>
                  <a:fillRect r="-7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Google Shape;222;p9">
            <a:extLst>
              <a:ext uri="{FF2B5EF4-FFF2-40B4-BE49-F238E27FC236}">
                <a16:creationId xmlns:a16="http://schemas.microsoft.com/office/drawing/2014/main" id="{9DD2FB32-768B-4D2B-A9F4-829E327FFA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C00000"/>
              </a:buClr>
              <a:buSzPts val="3200"/>
            </a:pPr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b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</a:br>
            <a:r>
              <a:rPr lang="en-IN" sz="24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Encoding – Sampling – Decoding</a:t>
            </a:r>
            <a:endParaRPr sz="2400" dirty="0">
              <a:solidFill>
                <a:schemeClr val="tx1"/>
              </a:solidFill>
              <a:latin typeface="Century" panose="02040604050505020304" pitchFamily="18" charset="0"/>
              <a:ea typeface="Book Antiqua"/>
              <a:cs typeface="Book Antiqua"/>
              <a:sym typeface="Book Antiqua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9772FE-A8CB-4C6D-8EF3-0D39C0A1B164}"/>
              </a:ext>
            </a:extLst>
          </p:cNvPr>
          <p:cNvGrpSpPr/>
          <p:nvPr/>
        </p:nvGrpSpPr>
        <p:grpSpPr>
          <a:xfrm>
            <a:off x="7927675" y="1690686"/>
            <a:ext cx="3863538" cy="4665743"/>
            <a:chOff x="7979259" y="1380292"/>
            <a:chExt cx="3863538" cy="4665743"/>
          </a:xfrm>
        </p:grpSpPr>
        <p:sp>
          <p:nvSpPr>
            <p:cNvPr id="32" name="Google Shape;138;p5">
              <a:extLst>
                <a:ext uri="{FF2B5EF4-FFF2-40B4-BE49-F238E27FC236}">
                  <a16:creationId xmlns:a16="http://schemas.microsoft.com/office/drawing/2014/main" id="{C0A347B6-76AB-4A9D-9CC4-7832C56522BE}"/>
                </a:ext>
              </a:extLst>
            </p:cNvPr>
            <p:cNvSpPr/>
            <p:nvPr/>
          </p:nvSpPr>
          <p:spPr>
            <a:xfrm>
              <a:off x="9336316" y="4412467"/>
              <a:ext cx="1423580" cy="824195"/>
            </a:xfrm>
            <a:prstGeom prst="trapezoid">
              <a:avLst>
                <a:gd name="adj" fmla="val 585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" name="Google Shape;146;p5">
              <a:extLst>
                <a:ext uri="{FF2B5EF4-FFF2-40B4-BE49-F238E27FC236}">
                  <a16:creationId xmlns:a16="http://schemas.microsoft.com/office/drawing/2014/main" id="{57FB5C1D-E9EE-443E-8783-897B6A62C336}"/>
                </a:ext>
              </a:extLst>
            </p:cNvPr>
            <p:cNvSpPr txBox="1"/>
            <p:nvPr/>
          </p:nvSpPr>
          <p:spPr>
            <a:xfrm>
              <a:off x="8913548" y="3418105"/>
              <a:ext cx="1040077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Sampled</a:t>
              </a:r>
              <a:endParaRPr sz="1600" dirty="0">
                <a:solidFill>
                  <a:srgbClr val="7030A0"/>
                </a:solidFill>
              </a:endParaRPr>
            </a:p>
          </p:txBody>
        </p:sp>
        <p:sp>
          <p:nvSpPr>
            <p:cNvPr id="34" name="Google Shape;138;p5">
              <a:extLst>
                <a:ext uri="{FF2B5EF4-FFF2-40B4-BE49-F238E27FC236}">
                  <a16:creationId xmlns:a16="http://schemas.microsoft.com/office/drawing/2014/main" id="{69F88859-3C4F-4E9D-A3A6-CF0CE98AAD3B}"/>
                </a:ext>
              </a:extLst>
            </p:cNvPr>
            <p:cNvSpPr/>
            <p:nvPr/>
          </p:nvSpPr>
          <p:spPr>
            <a:xfrm rot="10800000">
              <a:off x="9336316" y="2107401"/>
              <a:ext cx="1423579" cy="824195"/>
            </a:xfrm>
            <a:prstGeom prst="trapezoid">
              <a:avLst>
                <a:gd name="adj" fmla="val 567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" name="Google Shape;143;p5">
              <a:extLst>
                <a:ext uri="{FF2B5EF4-FFF2-40B4-BE49-F238E27FC236}">
                  <a16:creationId xmlns:a16="http://schemas.microsoft.com/office/drawing/2014/main" id="{B20E0780-08F0-4E07-934E-C440D139DE2B}"/>
                </a:ext>
              </a:extLst>
            </p:cNvPr>
            <p:cNvSpPr/>
            <p:nvPr/>
          </p:nvSpPr>
          <p:spPr>
            <a:xfrm>
              <a:off x="9198686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43;p5">
              <a:extLst>
                <a:ext uri="{FF2B5EF4-FFF2-40B4-BE49-F238E27FC236}">
                  <a16:creationId xmlns:a16="http://schemas.microsoft.com/office/drawing/2014/main" id="{76EB9AC6-D19D-4F6A-AD97-735E08424D90}"/>
                </a:ext>
              </a:extLst>
            </p:cNvPr>
            <p:cNvSpPr/>
            <p:nvPr/>
          </p:nvSpPr>
          <p:spPr>
            <a:xfrm>
              <a:off x="9473892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43;p5">
              <a:extLst>
                <a:ext uri="{FF2B5EF4-FFF2-40B4-BE49-F238E27FC236}">
                  <a16:creationId xmlns:a16="http://schemas.microsoft.com/office/drawing/2014/main" id="{94B085E1-8035-4B5D-A564-2DE751190C4C}"/>
                </a:ext>
              </a:extLst>
            </p:cNvPr>
            <p:cNvSpPr/>
            <p:nvPr/>
          </p:nvSpPr>
          <p:spPr>
            <a:xfrm>
              <a:off x="9749098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055E0C5-6E8E-4D36-992A-8653303CF9F2}"/>
                    </a:ext>
                  </a:extLst>
                </p:cNvPr>
                <p:cNvSpPr txBox="1"/>
                <p:nvPr/>
              </p:nvSpPr>
              <p:spPr>
                <a:xfrm>
                  <a:off x="9574535" y="2140338"/>
                  <a:ext cx="913070" cy="3350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0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ϕ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4535" y="2140338"/>
                  <a:ext cx="913070" cy="335092"/>
                </a:xfrm>
                <a:prstGeom prst="rect">
                  <a:avLst/>
                </a:prstGeom>
                <a:blipFill>
                  <a:blip r:embed="rId4"/>
                  <a:stretch>
                    <a:fillRect l="-6040" r="-10067" b="-2545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8509A4F-4EE2-45CF-9E50-E3E234E8E460}"/>
                    </a:ext>
                  </a:extLst>
                </p:cNvPr>
                <p:cNvSpPr txBox="1"/>
                <p:nvPr/>
              </p:nvSpPr>
              <p:spPr>
                <a:xfrm>
                  <a:off x="9624092" y="4824564"/>
                  <a:ext cx="89216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4092" y="4824564"/>
                  <a:ext cx="892167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6849" t="-1961" r="-10274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Google Shape;143;p5">
              <a:extLst>
                <a:ext uri="{FF2B5EF4-FFF2-40B4-BE49-F238E27FC236}">
                  <a16:creationId xmlns:a16="http://schemas.microsoft.com/office/drawing/2014/main" id="{39526210-668A-4B2E-BFA8-B73AA2CCBB3A}"/>
                </a:ext>
              </a:extLst>
            </p:cNvPr>
            <p:cNvSpPr/>
            <p:nvPr/>
          </p:nvSpPr>
          <p:spPr>
            <a:xfrm>
              <a:off x="10024304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43;p5">
              <a:extLst>
                <a:ext uri="{FF2B5EF4-FFF2-40B4-BE49-F238E27FC236}">
                  <a16:creationId xmlns:a16="http://schemas.microsoft.com/office/drawing/2014/main" id="{04D3D976-016B-4C5C-8E15-6E0DEDD9A540}"/>
                </a:ext>
              </a:extLst>
            </p:cNvPr>
            <p:cNvSpPr/>
            <p:nvPr/>
          </p:nvSpPr>
          <p:spPr>
            <a:xfrm>
              <a:off x="10299510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43;p5">
              <a:extLst>
                <a:ext uri="{FF2B5EF4-FFF2-40B4-BE49-F238E27FC236}">
                  <a16:creationId xmlns:a16="http://schemas.microsoft.com/office/drawing/2014/main" id="{BBE0B9E1-1E57-4CFC-9A23-2F94FC084B20}"/>
                </a:ext>
              </a:extLst>
            </p:cNvPr>
            <p:cNvSpPr/>
            <p:nvPr/>
          </p:nvSpPr>
          <p:spPr>
            <a:xfrm>
              <a:off x="10574716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C74CD2E-C932-45FD-828C-5C70FF9185BD}"/>
                </a:ext>
              </a:extLst>
            </p:cNvPr>
            <p:cNvGrpSpPr/>
            <p:nvPr/>
          </p:nvGrpSpPr>
          <p:grpSpPr>
            <a:xfrm>
              <a:off x="9611495" y="3990458"/>
              <a:ext cx="825618" cy="323576"/>
              <a:chOff x="10173470" y="3194683"/>
              <a:chExt cx="825618" cy="323576"/>
            </a:xfrm>
          </p:grpSpPr>
          <p:sp>
            <p:nvSpPr>
              <p:cNvPr id="60" name="Google Shape;143;p5">
                <a:extLst>
                  <a:ext uri="{FF2B5EF4-FFF2-40B4-BE49-F238E27FC236}">
                    <a16:creationId xmlns:a16="http://schemas.microsoft.com/office/drawing/2014/main" id="{45FF9CE6-F267-40D0-A1E5-D27D0619787F}"/>
                  </a:ext>
                </a:extLst>
              </p:cNvPr>
              <p:cNvSpPr/>
              <p:nvPr/>
            </p:nvSpPr>
            <p:spPr>
              <a:xfrm>
                <a:off x="10173470" y="3194683"/>
                <a:ext cx="275206" cy="323576"/>
              </a:xfrm>
              <a:prstGeom prst="rect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143;p5">
                <a:extLst>
                  <a:ext uri="{FF2B5EF4-FFF2-40B4-BE49-F238E27FC236}">
                    <a16:creationId xmlns:a16="http://schemas.microsoft.com/office/drawing/2014/main" id="{452F84BE-7889-4008-934A-BEA2E1EFE1AF}"/>
                  </a:ext>
                </a:extLst>
              </p:cNvPr>
              <p:cNvSpPr/>
              <p:nvPr/>
            </p:nvSpPr>
            <p:spPr>
              <a:xfrm>
                <a:off x="10448676" y="3194683"/>
                <a:ext cx="275206" cy="323576"/>
              </a:xfrm>
              <a:prstGeom prst="rect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143;p5">
                <a:extLst>
                  <a:ext uri="{FF2B5EF4-FFF2-40B4-BE49-F238E27FC236}">
                    <a16:creationId xmlns:a16="http://schemas.microsoft.com/office/drawing/2014/main" id="{FE26E13A-25E8-472A-8894-F842DDA593A1}"/>
                  </a:ext>
                </a:extLst>
              </p:cNvPr>
              <p:cNvSpPr/>
              <p:nvPr/>
            </p:nvSpPr>
            <p:spPr>
              <a:xfrm>
                <a:off x="10723882" y="3194683"/>
                <a:ext cx="275206" cy="323576"/>
              </a:xfrm>
              <a:prstGeom prst="rect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" name="Google Shape;143;p5">
              <a:extLst>
                <a:ext uri="{FF2B5EF4-FFF2-40B4-BE49-F238E27FC236}">
                  <a16:creationId xmlns:a16="http://schemas.microsoft.com/office/drawing/2014/main" id="{8FE75DB1-7EBF-4351-8B34-A2BC265102FF}"/>
                </a:ext>
              </a:extLst>
            </p:cNvPr>
            <p:cNvSpPr/>
            <p:nvPr/>
          </p:nvSpPr>
          <p:spPr>
            <a:xfrm>
              <a:off x="9198686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3;p5">
              <a:extLst>
                <a:ext uri="{FF2B5EF4-FFF2-40B4-BE49-F238E27FC236}">
                  <a16:creationId xmlns:a16="http://schemas.microsoft.com/office/drawing/2014/main" id="{BEBC240E-643D-4323-9CF5-949D5FD2B65F}"/>
                </a:ext>
              </a:extLst>
            </p:cNvPr>
            <p:cNvSpPr/>
            <p:nvPr/>
          </p:nvSpPr>
          <p:spPr>
            <a:xfrm>
              <a:off x="9473892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3;p5">
              <a:extLst>
                <a:ext uri="{FF2B5EF4-FFF2-40B4-BE49-F238E27FC236}">
                  <a16:creationId xmlns:a16="http://schemas.microsoft.com/office/drawing/2014/main" id="{54F9631F-4A55-41F1-8470-AF9E8573B295}"/>
                </a:ext>
              </a:extLst>
            </p:cNvPr>
            <p:cNvSpPr/>
            <p:nvPr/>
          </p:nvSpPr>
          <p:spPr>
            <a:xfrm>
              <a:off x="9749098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3;p5">
              <a:extLst>
                <a:ext uri="{FF2B5EF4-FFF2-40B4-BE49-F238E27FC236}">
                  <a16:creationId xmlns:a16="http://schemas.microsoft.com/office/drawing/2014/main" id="{F14BEF85-0E14-45DF-9C95-0F01C20413C2}"/>
                </a:ext>
              </a:extLst>
            </p:cNvPr>
            <p:cNvSpPr/>
            <p:nvPr/>
          </p:nvSpPr>
          <p:spPr>
            <a:xfrm>
              <a:off x="10024304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3;p5">
              <a:extLst>
                <a:ext uri="{FF2B5EF4-FFF2-40B4-BE49-F238E27FC236}">
                  <a16:creationId xmlns:a16="http://schemas.microsoft.com/office/drawing/2014/main" id="{FAC1A75C-C1AF-4D44-8AFE-A74324C27E97}"/>
                </a:ext>
              </a:extLst>
            </p:cNvPr>
            <p:cNvSpPr/>
            <p:nvPr/>
          </p:nvSpPr>
          <p:spPr>
            <a:xfrm>
              <a:off x="10299510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43;p5">
              <a:extLst>
                <a:ext uri="{FF2B5EF4-FFF2-40B4-BE49-F238E27FC236}">
                  <a16:creationId xmlns:a16="http://schemas.microsoft.com/office/drawing/2014/main" id="{47AA1058-18EC-490B-A494-C3CF0CBB8D91}"/>
                </a:ext>
              </a:extLst>
            </p:cNvPr>
            <p:cNvSpPr/>
            <p:nvPr/>
          </p:nvSpPr>
          <p:spPr>
            <a:xfrm>
              <a:off x="10574716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47F805C-45C3-4CF6-B195-6C7A4775B3F8}"/>
                    </a:ext>
                  </a:extLst>
                </p:cNvPr>
                <p:cNvSpPr txBox="1"/>
                <p:nvPr/>
              </p:nvSpPr>
              <p:spPr>
                <a:xfrm>
                  <a:off x="9728133" y="2963536"/>
                  <a:ext cx="592342" cy="416922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8133" y="2963536"/>
                  <a:ext cx="592342" cy="41692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5D780AF-EC0B-4FC1-A926-FB931832FAE4}"/>
                </a:ext>
              </a:extLst>
            </p:cNvPr>
            <p:cNvCxnSpPr/>
            <p:nvPr/>
          </p:nvCxnSpPr>
          <p:spPr>
            <a:xfrm>
              <a:off x="10031070" y="3422096"/>
              <a:ext cx="0" cy="490796"/>
            </a:xfrm>
            <a:prstGeom prst="straightConnector1">
              <a:avLst/>
            </a:prstGeom>
            <a:ln w="1587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Google Shape;254;p10">
              <a:extLst>
                <a:ext uri="{FF2B5EF4-FFF2-40B4-BE49-F238E27FC236}">
                  <a16:creationId xmlns:a16="http://schemas.microsoft.com/office/drawing/2014/main" id="{3F84867B-B2DF-4D7F-9EF3-CA6758D07031}"/>
                </a:ext>
              </a:extLst>
            </p:cNvPr>
            <p:cNvSpPr txBox="1"/>
            <p:nvPr/>
          </p:nvSpPr>
          <p:spPr>
            <a:xfrm>
              <a:off x="10428815" y="2949391"/>
              <a:ext cx="726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p(</a:t>
              </a:r>
              <a:r>
                <a:rPr lang="en-IN" sz="1600" dirty="0" err="1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z|x</a:t>
              </a: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)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53" name="Google Shape;255;p10">
              <a:extLst>
                <a:ext uri="{FF2B5EF4-FFF2-40B4-BE49-F238E27FC236}">
                  <a16:creationId xmlns:a16="http://schemas.microsoft.com/office/drawing/2014/main" id="{AA335FC3-C5DA-496D-8BCE-BAC7C3BCD8D6}"/>
                </a:ext>
              </a:extLst>
            </p:cNvPr>
            <p:cNvSpPr txBox="1"/>
            <p:nvPr/>
          </p:nvSpPr>
          <p:spPr>
            <a:xfrm>
              <a:off x="10411079" y="3998068"/>
              <a:ext cx="110233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z ~ p(</a:t>
              </a:r>
              <a:r>
                <a:rPr lang="en-IN" sz="1600" dirty="0" err="1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z|x</a:t>
              </a: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)</a:t>
              </a:r>
              <a:endParaRPr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6D5B0C8-D865-47AB-814A-74CB0DE4B1A3}"/>
                    </a:ext>
                  </a:extLst>
                </p:cNvPr>
                <p:cNvSpPr/>
                <p:nvPr/>
              </p:nvSpPr>
              <p:spPr>
                <a:xfrm>
                  <a:off x="9453025" y="5669265"/>
                  <a:ext cx="1142557" cy="3767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ar-AE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sym typeface="Times New Roman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sym typeface="Times New Roman"/>
                              </a:rPr>
                              <m:t>𝑋</m:t>
                            </m:r>
                          </m:e>
                        </m:acc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=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𝑑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𝑧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)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3025" y="5669265"/>
                  <a:ext cx="1142557" cy="376770"/>
                </a:xfrm>
                <a:prstGeom prst="rect">
                  <a:avLst/>
                </a:prstGeom>
                <a:blipFill>
                  <a:blip r:embed="rId7"/>
                  <a:stretch>
                    <a:fillRect t="-1613" b="-1290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DD1FFFB-DAC9-4952-9F89-FD88BF909450}"/>
                    </a:ext>
                  </a:extLst>
                </p:cNvPr>
                <p:cNvSpPr/>
                <p:nvPr/>
              </p:nvSpPr>
              <p:spPr>
                <a:xfrm>
                  <a:off x="9851961" y="1380292"/>
                  <a:ext cx="3922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IN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1961" y="1380292"/>
                  <a:ext cx="39228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Google Shape;252;p10">
              <a:extLst>
                <a:ext uri="{FF2B5EF4-FFF2-40B4-BE49-F238E27FC236}">
                  <a16:creationId xmlns:a16="http://schemas.microsoft.com/office/drawing/2014/main" id="{F76913E9-EE75-40CA-B760-4E6467A177C4}"/>
                </a:ext>
              </a:extLst>
            </p:cNvPr>
            <p:cNvSpPr txBox="1"/>
            <p:nvPr/>
          </p:nvSpPr>
          <p:spPr>
            <a:xfrm>
              <a:off x="10595582" y="2294015"/>
              <a:ext cx="1247215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Probabilistic Encoder 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57" name="Google Shape;253;p10">
              <a:extLst>
                <a:ext uri="{FF2B5EF4-FFF2-40B4-BE49-F238E27FC236}">
                  <a16:creationId xmlns:a16="http://schemas.microsoft.com/office/drawing/2014/main" id="{38D6478F-D82F-4145-9B73-0BE8F487F609}"/>
                </a:ext>
              </a:extLst>
            </p:cNvPr>
            <p:cNvSpPr txBox="1"/>
            <p:nvPr/>
          </p:nvSpPr>
          <p:spPr>
            <a:xfrm>
              <a:off x="10595581" y="4597571"/>
              <a:ext cx="1247215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Probabilistic</a:t>
              </a:r>
              <a:endParaRPr dirty="0">
                <a:solidFill>
                  <a:srgbClr val="7030A0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Decoder </a:t>
              </a:r>
              <a:endParaRPr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3F8653F-2F64-4A09-9678-5A1B9A842738}"/>
                    </a:ext>
                  </a:extLst>
                </p:cNvPr>
                <p:cNvSpPr txBox="1"/>
                <p:nvPr/>
              </p:nvSpPr>
              <p:spPr>
                <a:xfrm>
                  <a:off x="8111280" y="2733020"/>
                  <a:ext cx="10855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1280" y="2733020"/>
                  <a:ext cx="108555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5618" t="-1961" r="-8427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6DF886E6-520C-42AE-8BAB-BD9BC1880B08}"/>
                    </a:ext>
                  </a:extLst>
                </p:cNvPr>
                <p:cNvSpPr txBox="1"/>
                <p:nvPr/>
              </p:nvSpPr>
              <p:spPr>
                <a:xfrm>
                  <a:off x="7979259" y="4347918"/>
                  <a:ext cx="142686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9259" y="4347918"/>
                  <a:ext cx="1426865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3846" t="-1961" r="-6410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70323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052804-C7CA-4FCE-8A89-C631ED8A5E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400" dirty="0">
                    <a:latin typeface="Arial Narrow" panose="020B0606020202030204" pitchFamily="34" charset="0"/>
                  </a:rPr>
                  <a:t>Decoding</a:t>
                </a:r>
              </a:p>
              <a:p>
                <a:pPr marL="114300" indent="0">
                  <a:buNone/>
                </a:pPr>
                <a:endParaRPr lang="en-IN" sz="24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The decoder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takes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and reconstructs the input:</a:t>
                </a:r>
              </a:p>
              <a:p>
                <a:pPr marL="571500" lvl="1" indent="0">
                  <a:buNone/>
                </a:pPr>
                <a:endParaRPr lang="en-US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571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052804-C7CA-4FCE-8A89-C631ED8A5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222;p9">
            <a:extLst>
              <a:ext uri="{FF2B5EF4-FFF2-40B4-BE49-F238E27FC236}">
                <a16:creationId xmlns:a16="http://schemas.microsoft.com/office/drawing/2014/main" id="{FF002810-30BD-44B6-8A67-3B5A69D6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C00000"/>
              </a:buClr>
              <a:buSzPts val="3200"/>
            </a:pPr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b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</a:br>
            <a:r>
              <a:rPr lang="en-IN" sz="24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Encoding – Sampling – Decoding</a:t>
            </a:r>
            <a:endParaRPr sz="2400" dirty="0">
              <a:solidFill>
                <a:schemeClr val="tx1"/>
              </a:solidFill>
              <a:latin typeface="Century" panose="02040604050505020304" pitchFamily="18" charset="0"/>
              <a:ea typeface="Book Antiqua"/>
              <a:cs typeface="Book Antiqua"/>
              <a:sym typeface="Book Antiqua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5F78734-178C-4E4F-A111-BAAA1869FFE5}"/>
              </a:ext>
            </a:extLst>
          </p:cNvPr>
          <p:cNvGrpSpPr/>
          <p:nvPr/>
        </p:nvGrpSpPr>
        <p:grpSpPr>
          <a:xfrm>
            <a:off x="7498103" y="1388919"/>
            <a:ext cx="3863538" cy="4665743"/>
            <a:chOff x="7979259" y="1380292"/>
            <a:chExt cx="3863538" cy="4665743"/>
          </a:xfrm>
        </p:grpSpPr>
        <p:sp>
          <p:nvSpPr>
            <p:cNvPr id="6" name="Google Shape;138;p5">
              <a:extLst>
                <a:ext uri="{FF2B5EF4-FFF2-40B4-BE49-F238E27FC236}">
                  <a16:creationId xmlns:a16="http://schemas.microsoft.com/office/drawing/2014/main" id="{E3FFAF61-29AF-4D4F-A5D3-CDA0E68642D9}"/>
                </a:ext>
              </a:extLst>
            </p:cNvPr>
            <p:cNvSpPr/>
            <p:nvPr/>
          </p:nvSpPr>
          <p:spPr>
            <a:xfrm>
              <a:off x="9336316" y="4412467"/>
              <a:ext cx="1423580" cy="824195"/>
            </a:xfrm>
            <a:prstGeom prst="trapezoid">
              <a:avLst>
                <a:gd name="adj" fmla="val 585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" name="Google Shape;146;p5">
              <a:extLst>
                <a:ext uri="{FF2B5EF4-FFF2-40B4-BE49-F238E27FC236}">
                  <a16:creationId xmlns:a16="http://schemas.microsoft.com/office/drawing/2014/main" id="{19CD044B-D0F2-4C45-B06C-1EBF1604A48A}"/>
                </a:ext>
              </a:extLst>
            </p:cNvPr>
            <p:cNvSpPr txBox="1"/>
            <p:nvPr/>
          </p:nvSpPr>
          <p:spPr>
            <a:xfrm>
              <a:off x="8913548" y="3418105"/>
              <a:ext cx="1040077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Sampled</a:t>
              </a:r>
              <a:endParaRPr sz="1600" dirty="0">
                <a:solidFill>
                  <a:srgbClr val="7030A0"/>
                </a:solidFill>
              </a:endParaRPr>
            </a:p>
          </p:txBody>
        </p:sp>
        <p:sp>
          <p:nvSpPr>
            <p:cNvPr id="8" name="Google Shape;138;p5">
              <a:extLst>
                <a:ext uri="{FF2B5EF4-FFF2-40B4-BE49-F238E27FC236}">
                  <a16:creationId xmlns:a16="http://schemas.microsoft.com/office/drawing/2014/main" id="{CFABE8D5-904A-4DB8-B32B-35A1CC36E19B}"/>
                </a:ext>
              </a:extLst>
            </p:cNvPr>
            <p:cNvSpPr/>
            <p:nvPr/>
          </p:nvSpPr>
          <p:spPr>
            <a:xfrm rot="10800000">
              <a:off x="9336316" y="2107401"/>
              <a:ext cx="1423579" cy="824195"/>
            </a:xfrm>
            <a:prstGeom prst="trapezoid">
              <a:avLst>
                <a:gd name="adj" fmla="val 567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" name="Google Shape;143;p5">
              <a:extLst>
                <a:ext uri="{FF2B5EF4-FFF2-40B4-BE49-F238E27FC236}">
                  <a16:creationId xmlns:a16="http://schemas.microsoft.com/office/drawing/2014/main" id="{CACD48C4-4268-4380-99A5-CEB290CA5862}"/>
                </a:ext>
              </a:extLst>
            </p:cNvPr>
            <p:cNvSpPr/>
            <p:nvPr/>
          </p:nvSpPr>
          <p:spPr>
            <a:xfrm>
              <a:off x="9198686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43;p5">
              <a:extLst>
                <a:ext uri="{FF2B5EF4-FFF2-40B4-BE49-F238E27FC236}">
                  <a16:creationId xmlns:a16="http://schemas.microsoft.com/office/drawing/2014/main" id="{CE4DE587-84F8-4C62-B811-904B3E3C29DB}"/>
                </a:ext>
              </a:extLst>
            </p:cNvPr>
            <p:cNvSpPr/>
            <p:nvPr/>
          </p:nvSpPr>
          <p:spPr>
            <a:xfrm>
              <a:off x="9473892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43;p5">
              <a:extLst>
                <a:ext uri="{FF2B5EF4-FFF2-40B4-BE49-F238E27FC236}">
                  <a16:creationId xmlns:a16="http://schemas.microsoft.com/office/drawing/2014/main" id="{899FE85E-8841-47E9-82A7-02C8072D17EF}"/>
                </a:ext>
              </a:extLst>
            </p:cNvPr>
            <p:cNvSpPr/>
            <p:nvPr/>
          </p:nvSpPr>
          <p:spPr>
            <a:xfrm>
              <a:off x="9749098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0AAB8B8-1C21-4EB1-986D-C0AD21E7701C}"/>
                    </a:ext>
                  </a:extLst>
                </p:cNvPr>
                <p:cNvSpPr txBox="1"/>
                <p:nvPr/>
              </p:nvSpPr>
              <p:spPr>
                <a:xfrm>
                  <a:off x="9574535" y="2140338"/>
                  <a:ext cx="913070" cy="3350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0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ϕ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4535" y="2140338"/>
                  <a:ext cx="913070" cy="335092"/>
                </a:xfrm>
                <a:prstGeom prst="rect">
                  <a:avLst/>
                </a:prstGeom>
                <a:blipFill>
                  <a:blip r:embed="rId4"/>
                  <a:stretch>
                    <a:fillRect l="-6040" r="-10067" b="-2545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6ACE7B0-A777-4061-98E3-CE8E3BF22D8B}"/>
                    </a:ext>
                  </a:extLst>
                </p:cNvPr>
                <p:cNvSpPr txBox="1"/>
                <p:nvPr/>
              </p:nvSpPr>
              <p:spPr>
                <a:xfrm>
                  <a:off x="9624092" y="4824564"/>
                  <a:ext cx="89216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4092" y="4824564"/>
                  <a:ext cx="892167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6849" t="-1961" r="-10274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Google Shape;143;p5">
              <a:extLst>
                <a:ext uri="{FF2B5EF4-FFF2-40B4-BE49-F238E27FC236}">
                  <a16:creationId xmlns:a16="http://schemas.microsoft.com/office/drawing/2014/main" id="{47BAB246-5333-40DC-8724-9E92087A0201}"/>
                </a:ext>
              </a:extLst>
            </p:cNvPr>
            <p:cNvSpPr/>
            <p:nvPr/>
          </p:nvSpPr>
          <p:spPr>
            <a:xfrm>
              <a:off x="10024304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43;p5">
              <a:extLst>
                <a:ext uri="{FF2B5EF4-FFF2-40B4-BE49-F238E27FC236}">
                  <a16:creationId xmlns:a16="http://schemas.microsoft.com/office/drawing/2014/main" id="{B7CFBA36-E5B7-4302-85D4-ED7EC21E91A1}"/>
                </a:ext>
              </a:extLst>
            </p:cNvPr>
            <p:cNvSpPr/>
            <p:nvPr/>
          </p:nvSpPr>
          <p:spPr>
            <a:xfrm>
              <a:off x="10299510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43;p5">
              <a:extLst>
                <a:ext uri="{FF2B5EF4-FFF2-40B4-BE49-F238E27FC236}">
                  <a16:creationId xmlns:a16="http://schemas.microsoft.com/office/drawing/2014/main" id="{94ABC86D-1D5D-4A77-B4DE-AD4ED85413AE}"/>
                </a:ext>
              </a:extLst>
            </p:cNvPr>
            <p:cNvSpPr/>
            <p:nvPr/>
          </p:nvSpPr>
          <p:spPr>
            <a:xfrm>
              <a:off x="10574716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FB13E11-B13F-48E9-BB9D-C36E13D72DC9}"/>
                </a:ext>
              </a:extLst>
            </p:cNvPr>
            <p:cNvGrpSpPr/>
            <p:nvPr/>
          </p:nvGrpSpPr>
          <p:grpSpPr>
            <a:xfrm>
              <a:off x="9611495" y="3990458"/>
              <a:ext cx="825618" cy="323576"/>
              <a:chOff x="10173470" y="3194683"/>
              <a:chExt cx="825618" cy="323576"/>
            </a:xfrm>
          </p:grpSpPr>
          <p:sp>
            <p:nvSpPr>
              <p:cNvPr id="34" name="Google Shape;143;p5">
                <a:extLst>
                  <a:ext uri="{FF2B5EF4-FFF2-40B4-BE49-F238E27FC236}">
                    <a16:creationId xmlns:a16="http://schemas.microsoft.com/office/drawing/2014/main" id="{2EF485D5-D1C9-4366-9302-3A5A08BAA874}"/>
                  </a:ext>
                </a:extLst>
              </p:cNvPr>
              <p:cNvSpPr/>
              <p:nvPr/>
            </p:nvSpPr>
            <p:spPr>
              <a:xfrm>
                <a:off x="10173470" y="3194683"/>
                <a:ext cx="275206" cy="323576"/>
              </a:xfrm>
              <a:prstGeom prst="rect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143;p5">
                <a:extLst>
                  <a:ext uri="{FF2B5EF4-FFF2-40B4-BE49-F238E27FC236}">
                    <a16:creationId xmlns:a16="http://schemas.microsoft.com/office/drawing/2014/main" id="{F518B431-0939-46F9-9643-7E97B8C3AB86}"/>
                  </a:ext>
                </a:extLst>
              </p:cNvPr>
              <p:cNvSpPr/>
              <p:nvPr/>
            </p:nvSpPr>
            <p:spPr>
              <a:xfrm>
                <a:off x="10448676" y="3194683"/>
                <a:ext cx="275206" cy="323576"/>
              </a:xfrm>
              <a:prstGeom prst="rect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143;p5">
                <a:extLst>
                  <a:ext uri="{FF2B5EF4-FFF2-40B4-BE49-F238E27FC236}">
                    <a16:creationId xmlns:a16="http://schemas.microsoft.com/office/drawing/2014/main" id="{BCB6C88E-0E3C-4B07-97B2-264BC0F4F699}"/>
                  </a:ext>
                </a:extLst>
              </p:cNvPr>
              <p:cNvSpPr/>
              <p:nvPr/>
            </p:nvSpPr>
            <p:spPr>
              <a:xfrm>
                <a:off x="10723882" y="3194683"/>
                <a:ext cx="275206" cy="323576"/>
              </a:xfrm>
              <a:prstGeom prst="rect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" name="Google Shape;143;p5">
              <a:extLst>
                <a:ext uri="{FF2B5EF4-FFF2-40B4-BE49-F238E27FC236}">
                  <a16:creationId xmlns:a16="http://schemas.microsoft.com/office/drawing/2014/main" id="{C90730BD-20F6-4530-81F0-5AFC1733846B}"/>
                </a:ext>
              </a:extLst>
            </p:cNvPr>
            <p:cNvSpPr/>
            <p:nvPr/>
          </p:nvSpPr>
          <p:spPr>
            <a:xfrm>
              <a:off x="9198686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43;p5">
              <a:extLst>
                <a:ext uri="{FF2B5EF4-FFF2-40B4-BE49-F238E27FC236}">
                  <a16:creationId xmlns:a16="http://schemas.microsoft.com/office/drawing/2014/main" id="{087D861B-E085-4D50-ABDA-2EA67157B887}"/>
                </a:ext>
              </a:extLst>
            </p:cNvPr>
            <p:cNvSpPr/>
            <p:nvPr/>
          </p:nvSpPr>
          <p:spPr>
            <a:xfrm>
              <a:off x="9473892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43;p5">
              <a:extLst>
                <a:ext uri="{FF2B5EF4-FFF2-40B4-BE49-F238E27FC236}">
                  <a16:creationId xmlns:a16="http://schemas.microsoft.com/office/drawing/2014/main" id="{AED07156-9066-42AB-9CF7-2BE910F38668}"/>
                </a:ext>
              </a:extLst>
            </p:cNvPr>
            <p:cNvSpPr/>
            <p:nvPr/>
          </p:nvSpPr>
          <p:spPr>
            <a:xfrm>
              <a:off x="9749098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43;p5">
              <a:extLst>
                <a:ext uri="{FF2B5EF4-FFF2-40B4-BE49-F238E27FC236}">
                  <a16:creationId xmlns:a16="http://schemas.microsoft.com/office/drawing/2014/main" id="{5115C96F-B3EE-4850-AE87-05FECCCAF4A1}"/>
                </a:ext>
              </a:extLst>
            </p:cNvPr>
            <p:cNvSpPr/>
            <p:nvPr/>
          </p:nvSpPr>
          <p:spPr>
            <a:xfrm>
              <a:off x="10024304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43;p5">
              <a:extLst>
                <a:ext uri="{FF2B5EF4-FFF2-40B4-BE49-F238E27FC236}">
                  <a16:creationId xmlns:a16="http://schemas.microsoft.com/office/drawing/2014/main" id="{6DCA5D1F-9779-444F-A456-3996F942B1AE}"/>
                </a:ext>
              </a:extLst>
            </p:cNvPr>
            <p:cNvSpPr/>
            <p:nvPr/>
          </p:nvSpPr>
          <p:spPr>
            <a:xfrm>
              <a:off x="10299510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43;p5">
              <a:extLst>
                <a:ext uri="{FF2B5EF4-FFF2-40B4-BE49-F238E27FC236}">
                  <a16:creationId xmlns:a16="http://schemas.microsoft.com/office/drawing/2014/main" id="{BA677565-1058-4FFD-91D2-0088A11FFA41}"/>
                </a:ext>
              </a:extLst>
            </p:cNvPr>
            <p:cNvSpPr/>
            <p:nvPr/>
          </p:nvSpPr>
          <p:spPr>
            <a:xfrm>
              <a:off x="10574716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BD31E08-E8CD-4D21-AF3B-17EF25383150}"/>
                    </a:ext>
                  </a:extLst>
                </p:cNvPr>
                <p:cNvSpPr txBox="1"/>
                <p:nvPr/>
              </p:nvSpPr>
              <p:spPr>
                <a:xfrm>
                  <a:off x="9728133" y="2963536"/>
                  <a:ext cx="592342" cy="416922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8133" y="2963536"/>
                  <a:ext cx="592342" cy="41692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D42E2AD-458A-454C-9370-11C0DC0106B7}"/>
                </a:ext>
              </a:extLst>
            </p:cNvPr>
            <p:cNvCxnSpPr/>
            <p:nvPr/>
          </p:nvCxnSpPr>
          <p:spPr>
            <a:xfrm>
              <a:off x="10031070" y="3422096"/>
              <a:ext cx="0" cy="490796"/>
            </a:xfrm>
            <a:prstGeom prst="straightConnector1">
              <a:avLst/>
            </a:prstGeom>
            <a:ln w="1587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Google Shape;254;p10">
              <a:extLst>
                <a:ext uri="{FF2B5EF4-FFF2-40B4-BE49-F238E27FC236}">
                  <a16:creationId xmlns:a16="http://schemas.microsoft.com/office/drawing/2014/main" id="{E45D9E1F-5098-42EF-B567-65BE31C7E7CF}"/>
                </a:ext>
              </a:extLst>
            </p:cNvPr>
            <p:cNvSpPr txBox="1"/>
            <p:nvPr/>
          </p:nvSpPr>
          <p:spPr>
            <a:xfrm>
              <a:off x="10428815" y="2949391"/>
              <a:ext cx="726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p(</a:t>
              </a:r>
              <a:r>
                <a:rPr lang="en-IN" sz="1600" dirty="0" err="1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z|x</a:t>
              </a: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)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27" name="Google Shape;255;p10">
              <a:extLst>
                <a:ext uri="{FF2B5EF4-FFF2-40B4-BE49-F238E27FC236}">
                  <a16:creationId xmlns:a16="http://schemas.microsoft.com/office/drawing/2014/main" id="{F6469600-F735-44E4-81B8-13112494E17C}"/>
                </a:ext>
              </a:extLst>
            </p:cNvPr>
            <p:cNvSpPr txBox="1"/>
            <p:nvPr/>
          </p:nvSpPr>
          <p:spPr>
            <a:xfrm>
              <a:off x="10411079" y="3998068"/>
              <a:ext cx="110233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z ~ p(</a:t>
              </a:r>
              <a:r>
                <a:rPr lang="en-IN" sz="1600" dirty="0" err="1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z|x</a:t>
              </a: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)</a:t>
              </a:r>
              <a:endParaRPr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706FA41-9119-41FB-A39F-858CFB754CB8}"/>
                    </a:ext>
                  </a:extLst>
                </p:cNvPr>
                <p:cNvSpPr/>
                <p:nvPr/>
              </p:nvSpPr>
              <p:spPr>
                <a:xfrm>
                  <a:off x="9453025" y="5669265"/>
                  <a:ext cx="1142557" cy="3767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ar-AE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sym typeface="Times New Roman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sym typeface="Times New Roman"/>
                              </a:rPr>
                              <m:t>𝑋</m:t>
                            </m:r>
                          </m:e>
                        </m:acc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=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𝑑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𝑧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)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3025" y="5669265"/>
                  <a:ext cx="1142557" cy="376770"/>
                </a:xfrm>
                <a:prstGeom prst="rect">
                  <a:avLst/>
                </a:prstGeom>
                <a:blipFill>
                  <a:blip r:embed="rId7"/>
                  <a:stretch>
                    <a:fillRect t="-1613" b="-1290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0962EF7-CE82-40E5-9AF8-CBC160955CC3}"/>
                    </a:ext>
                  </a:extLst>
                </p:cNvPr>
                <p:cNvSpPr/>
                <p:nvPr/>
              </p:nvSpPr>
              <p:spPr>
                <a:xfrm>
                  <a:off x="9851961" y="1380292"/>
                  <a:ext cx="3922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IN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1961" y="1380292"/>
                  <a:ext cx="39228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Google Shape;252;p10">
              <a:extLst>
                <a:ext uri="{FF2B5EF4-FFF2-40B4-BE49-F238E27FC236}">
                  <a16:creationId xmlns:a16="http://schemas.microsoft.com/office/drawing/2014/main" id="{0C6AFF46-DE0A-4371-A273-1497BE5BF2CC}"/>
                </a:ext>
              </a:extLst>
            </p:cNvPr>
            <p:cNvSpPr txBox="1"/>
            <p:nvPr/>
          </p:nvSpPr>
          <p:spPr>
            <a:xfrm>
              <a:off x="10595582" y="2294015"/>
              <a:ext cx="1247215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Probabilistic Encoder 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31" name="Google Shape;253;p10">
              <a:extLst>
                <a:ext uri="{FF2B5EF4-FFF2-40B4-BE49-F238E27FC236}">
                  <a16:creationId xmlns:a16="http://schemas.microsoft.com/office/drawing/2014/main" id="{CA78C98D-4D56-44B6-B95B-541A82502810}"/>
                </a:ext>
              </a:extLst>
            </p:cNvPr>
            <p:cNvSpPr txBox="1"/>
            <p:nvPr/>
          </p:nvSpPr>
          <p:spPr>
            <a:xfrm>
              <a:off x="10595581" y="4597571"/>
              <a:ext cx="1247215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Probabilistic</a:t>
              </a:r>
              <a:endParaRPr dirty="0">
                <a:solidFill>
                  <a:srgbClr val="7030A0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Decoder </a:t>
              </a:r>
              <a:endParaRPr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15A2FA6-0E37-4941-9F94-49ABE7C39CDF}"/>
                    </a:ext>
                  </a:extLst>
                </p:cNvPr>
                <p:cNvSpPr txBox="1"/>
                <p:nvPr/>
              </p:nvSpPr>
              <p:spPr>
                <a:xfrm>
                  <a:off x="8111280" y="2733020"/>
                  <a:ext cx="10855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1280" y="2733020"/>
                  <a:ext cx="108555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5618" t="-1961" r="-8427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75F4BA2-6C96-44FE-A279-B62EB8FD93B6}"/>
                    </a:ext>
                  </a:extLst>
                </p:cNvPr>
                <p:cNvSpPr txBox="1"/>
                <p:nvPr/>
              </p:nvSpPr>
              <p:spPr>
                <a:xfrm>
                  <a:off x="7979259" y="4347918"/>
                  <a:ext cx="142686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9259" y="4347918"/>
                  <a:ext cx="1426865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3846" t="-1961" r="-6410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22522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0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C00000"/>
              </a:buClr>
              <a:buSzPts val="3200"/>
            </a:pPr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endParaRPr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Google Shape;230;p10"/>
              <p:cNvSpPr txBox="1"/>
              <p:nvPr/>
            </p:nvSpPr>
            <p:spPr>
              <a:xfrm>
                <a:off x="828622" y="1535409"/>
                <a:ext cx="6245128" cy="42874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228600" marR="0" lvl="0" indent="-228600" algn="just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IN" sz="2000" dirty="0">
                    <a:solidFill>
                      <a:schemeClr val="dk1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The variational auto-encoder is trained to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regularize the latent space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lang="en-IN" sz="2000" dirty="0">
                    <a:solidFill>
                      <a:schemeClr val="dk1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so that it can be used as generative model.</a:t>
                </a:r>
              </a:p>
              <a:p>
                <a:pPr marL="228600" marR="0" lvl="0" indent="-228600" algn="just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</a:pPr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228600" marR="0" lvl="0" indent="-22860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IN" sz="2000" dirty="0">
                    <a:solidFill>
                      <a:schemeClr val="dk1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This is achieved by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encoding the input as a distribution over the latent space</a:t>
                </a:r>
                <a:r>
                  <a:rPr lang="en-IN" sz="2000" dirty="0">
                    <a:solidFill>
                      <a:srgbClr val="00B0F0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lang="en-IN" sz="2000" dirty="0">
                    <a:solidFill>
                      <a:schemeClr val="dk1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(rather encoded as a single point).</a:t>
                </a:r>
              </a:p>
              <a:p>
                <a:pPr marL="228600" marR="0" lvl="0" indent="-22860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IN" sz="2000" dirty="0">
                    <a:solidFill>
                      <a:schemeClr val="dk1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 </a:t>
                </a:r>
                <a:endParaRPr lang="en-IN" sz="2000" dirty="0">
                  <a:latin typeface="Arial Narrow" panose="020B0606020202030204" pitchFamily="34" charset="0"/>
                </a:endParaRPr>
              </a:p>
              <a:p>
                <a:pPr marL="228600" marR="0" lvl="0" indent="-22860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IN" sz="2000" dirty="0">
                    <a:solidFill>
                      <a:schemeClr val="dk1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From this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distribution</a:t>
                </a:r>
                <a:r>
                  <a:rPr lang="en-IN" sz="2000" dirty="0">
                    <a:solidFill>
                      <a:schemeClr val="dk1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 of the latent space,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a point is sampled </a:t>
                </a:r>
                <a:r>
                  <a:rPr lang="en-IN" sz="2000" dirty="0">
                    <a:solidFill>
                      <a:schemeClr val="dk1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to be decoded to get the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reconstruction error</a:t>
                </a:r>
                <a:r>
                  <a:rPr lang="en-IN" sz="2000" dirty="0">
                    <a:solidFill>
                      <a:schemeClr val="dk1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. </a:t>
                </a:r>
              </a:p>
              <a:p>
                <a:pPr marL="228600" marR="0" lvl="0" indent="-22860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</a:pPr>
                <a:endParaRPr lang="en-IN" sz="2000" dirty="0">
                  <a:solidFill>
                    <a:schemeClr val="dk1"/>
                  </a:solidFill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  <a:p>
                <a:pPr marL="228600" indent="-228600" algn="just">
                  <a:lnSpc>
                    <a:spcPct val="90000"/>
                  </a:lnSpc>
                  <a:spcBef>
                    <a:spcPts val="1000"/>
                  </a:spcBef>
                  <a:buClr>
                    <a:schemeClr val="dk1"/>
                  </a:buClr>
                  <a:buSzPts val="1800"/>
                  <a:buFont typeface="Arial"/>
                  <a:buChar char="•"/>
                </a:pPr>
                <a:r>
                  <a:rPr lang="en-IN" sz="2000" dirty="0">
                    <a:solidFill>
                      <a:schemeClr val="dk1"/>
                    </a:solidFill>
                    <a:latin typeface="Arial Narrow" panose="020B0606020202030204" pitchFamily="34" charset="0"/>
                    <a:ea typeface="Times New Roman"/>
                    <a:cs typeface="Times New Roman"/>
                    <a:sym typeface="Times New Roman"/>
                  </a:rPr>
                  <a:t>The goal of VAE is to find a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d>
                      <m:dPr>
                        <m:ctrlP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of some latent variable </a:t>
                </a:r>
                <a14:m>
                  <m:oMath xmlns:m="http://schemas.openxmlformats.org/officeDocument/2006/math">
                    <m:r>
                      <a:rPr lang="ar-AE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 which we can sample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d>
                      <m:dPr>
                        <m:ctrlP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 to generate new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IN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.</a:t>
                </a:r>
                <a:endParaRPr lang="ar-AE" sz="2000" dirty="0">
                  <a:solidFill>
                    <a:schemeClr val="tx1"/>
                  </a:solidFill>
                  <a:latin typeface="Arial Narrow" panose="020B0606020202030204" pitchFamily="34" charset="0"/>
                </a:endParaRPr>
              </a:p>
              <a:p>
                <a:pPr marR="0" lvl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</a:pPr>
                <a:endParaRPr sz="1800" dirty="0">
                  <a:solidFill>
                    <a:schemeClr val="dk1"/>
                  </a:solidFill>
                  <a:latin typeface="Arial Narrow" panose="020B0606020202030204" pitchFamily="34" charset="0"/>
                  <a:ea typeface="Times New Roman"/>
                  <a:cs typeface="Times New Roman"/>
                  <a:sym typeface="Times New Roman"/>
                </a:endParaRPr>
              </a:p>
            </p:txBody>
          </p:sp>
        </mc:Choice>
        <mc:Fallback xmlns="">
          <p:sp>
            <p:nvSpPr>
              <p:cNvPr id="230" name="Google Shape;230;p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22" y="1535409"/>
                <a:ext cx="6245128" cy="4287421"/>
              </a:xfrm>
              <a:prstGeom prst="rect">
                <a:avLst/>
              </a:prstGeom>
              <a:blipFill>
                <a:blip r:embed="rId3"/>
                <a:stretch>
                  <a:fillRect l="-684" t="-1565" r="-9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3" name="Google Shape;263;p10"/>
          <p:cNvSpPr/>
          <p:nvPr/>
        </p:nvSpPr>
        <p:spPr>
          <a:xfrm>
            <a:off x="6042338" y="6492875"/>
            <a:ext cx="59840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Concept: Fei-Fei Li, Ehsan </a:t>
            </a:r>
            <a:r>
              <a:rPr lang="en-IN" sz="1400" dirty="0" err="1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Adeli</a:t>
            </a:r>
            <a:r>
              <a:rPr lang="en-IN" sz="1400" dirty="0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, Generative Modelling, Stanford Lecture, 2024</a:t>
            </a:r>
            <a:endParaRPr dirty="0">
              <a:latin typeface="Arial Narrow" panose="020B0606020202030204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F03BEF2-AA1C-4D7A-BC5C-F45E67B65443}"/>
              </a:ext>
            </a:extLst>
          </p:cNvPr>
          <p:cNvGrpSpPr/>
          <p:nvPr/>
        </p:nvGrpSpPr>
        <p:grpSpPr>
          <a:xfrm>
            <a:off x="7161673" y="1249162"/>
            <a:ext cx="3863538" cy="4665743"/>
            <a:chOff x="7979259" y="1380292"/>
            <a:chExt cx="3863538" cy="4665743"/>
          </a:xfrm>
        </p:grpSpPr>
        <p:sp>
          <p:nvSpPr>
            <p:cNvPr id="39" name="Google Shape;138;p5">
              <a:extLst>
                <a:ext uri="{FF2B5EF4-FFF2-40B4-BE49-F238E27FC236}">
                  <a16:creationId xmlns:a16="http://schemas.microsoft.com/office/drawing/2014/main" id="{CD389D6B-E44C-4CAA-B0CE-89F0F35A2CEA}"/>
                </a:ext>
              </a:extLst>
            </p:cNvPr>
            <p:cNvSpPr/>
            <p:nvPr/>
          </p:nvSpPr>
          <p:spPr>
            <a:xfrm>
              <a:off x="9336316" y="4412467"/>
              <a:ext cx="1423580" cy="824195"/>
            </a:xfrm>
            <a:prstGeom prst="trapezoid">
              <a:avLst>
                <a:gd name="adj" fmla="val 585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" name="Google Shape;146;p5">
              <a:extLst>
                <a:ext uri="{FF2B5EF4-FFF2-40B4-BE49-F238E27FC236}">
                  <a16:creationId xmlns:a16="http://schemas.microsoft.com/office/drawing/2014/main" id="{A37BBE34-36BF-4D52-B9C4-2A8BD7F7A866}"/>
                </a:ext>
              </a:extLst>
            </p:cNvPr>
            <p:cNvSpPr txBox="1"/>
            <p:nvPr/>
          </p:nvSpPr>
          <p:spPr>
            <a:xfrm>
              <a:off x="8913548" y="3418105"/>
              <a:ext cx="1040077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Sampled</a:t>
              </a:r>
              <a:endParaRPr sz="1600" dirty="0">
                <a:solidFill>
                  <a:srgbClr val="7030A0"/>
                </a:solidFill>
              </a:endParaRPr>
            </a:p>
          </p:txBody>
        </p:sp>
        <p:sp>
          <p:nvSpPr>
            <p:cNvPr id="41" name="Google Shape;138;p5">
              <a:extLst>
                <a:ext uri="{FF2B5EF4-FFF2-40B4-BE49-F238E27FC236}">
                  <a16:creationId xmlns:a16="http://schemas.microsoft.com/office/drawing/2014/main" id="{DE80084E-FD92-4060-88C8-5C2378F29B6A}"/>
                </a:ext>
              </a:extLst>
            </p:cNvPr>
            <p:cNvSpPr/>
            <p:nvPr/>
          </p:nvSpPr>
          <p:spPr>
            <a:xfrm rot="10800000">
              <a:off x="9336316" y="2107401"/>
              <a:ext cx="1423579" cy="824195"/>
            </a:xfrm>
            <a:prstGeom prst="trapezoid">
              <a:avLst>
                <a:gd name="adj" fmla="val 567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" name="Google Shape;143;p5">
              <a:extLst>
                <a:ext uri="{FF2B5EF4-FFF2-40B4-BE49-F238E27FC236}">
                  <a16:creationId xmlns:a16="http://schemas.microsoft.com/office/drawing/2014/main" id="{CFE4DE51-C54B-4269-A0C7-9DF6A9126164}"/>
                </a:ext>
              </a:extLst>
            </p:cNvPr>
            <p:cNvSpPr/>
            <p:nvPr/>
          </p:nvSpPr>
          <p:spPr>
            <a:xfrm>
              <a:off x="9198686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43;p5">
              <a:extLst>
                <a:ext uri="{FF2B5EF4-FFF2-40B4-BE49-F238E27FC236}">
                  <a16:creationId xmlns:a16="http://schemas.microsoft.com/office/drawing/2014/main" id="{F0899159-7F96-4953-9A17-A247762EDB4C}"/>
                </a:ext>
              </a:extLst>
            </p:cNvPr>
            <p:cNvSpPr/>
            <p:nvPr/>
          </p:nvSpPr>
          <p:spPr>
            <a:xfrm>
              <a:off x="9473892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43;p5">
              <a:extLst>
                <a:ext uri="{FF2B5EF4-FFF2-40B4-BE49-F238E27FC236}">
                  <a16:creationId xmlns:a16="http://schemas.microsoft.com/office/drawing/2014/main" id="{EAE9569A-2806-45AE-8553-18A3F00EF4A6}"/>
                </a:ext>
              </a:extLst>
            </p:cNvPr>
            <p:cNvSpPr/>
            <p:nvPr/>
          </p:nvSpPr>
          <p:spPr>
            <a:xfrm>
              <a:off x="9749098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3F9C2BC-2EFB-4870-8992-06A36D217BDD}"/>
                    </a:ext>
                  </a:extLst>
                </p:cNvPr>
                <p:cNvSpPr txBox="1"/>
                <p:nvPr/>
              </p:nvSpPr>
              <p:spPr>
                <a:xfrm>
                  <a:off x="9574535" y="2140338"/>
                  <a:ext cx="913070" cy="3350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0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ϕ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4535" y="2140338"/>
                  <a:ext cx="913070" cy="335092"/>
                </a:xfrm>
                <a:prstGeom prst="rect">
                  <a:avLst/>
                </a:prstGeom>
                <a:blipFill>
                  <a:blip r:embed="rId4"/>
                  <a:stretch>
                    <a:fillRect l="-6040" r="-10067" b="-2545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958C288-D839-4600-ACFD-9C4C5FD877CD}"/>
                    </a:ext>
                  </a:extLst>
                </p:cNvPr>
                <p:cNvSpPr txBox="1"/>
                <p:nvPr/>
              </p:nvSpPr>
              <p:spPr>
                <a:xfrm>
                  <a:off x="9624092" y="4824564"/>
                  <a:ext cx="89216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/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4092" y="4824564"/>
                  <a:ext cx="892167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6849" t="-1961" r="-10274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Google Shape;143;p5">
              <a:extLst>
                <a:ext uri="{FF2B5EF4-FFF2-40B4-BE49-F238E27FC236}">
                  <a16:creationId xmlns:a16="http://schemas.microsoft.com/office/drawing/2014/main" id="{E9B24004-09BC-4ACB-BF08-A8ED7E631644}"/>
                </a:ext>
              </a:extLst>
            </p:cNvPr>
            <p:cNvSpPr/>
            <p:nvPr/>
          </p:nvSpPr>
          <p:spPr>
            <a:xfrm>
              <a:off x="10024304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3;p5">
              <a:extLst>
                <a:ext uri="{FF2B5EF4-FFF2-40B4-BE49-F238E27FC236}">
                  <a16:creationId xmlns:a16="http://schemas.microsoft.com/office/drawing/2014/main" id="{E30AF239-3454-4059-9FFA-E0DF70DA60D9}"/>
                </a:ext>
              </a:extLst>
            </p:cNvPr>
            <p:cNvSpPr/>
            <p:nvPr/>
          </p:nvSpPr>
          <p:spPr>
            <a:xfrm>
              <a:off x="10299510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43;p5">
              <a:extLst>
                <a:ext uri="{FF2B5EF4-FFF2-40B4-BE49-F238E27FC236}">
                  <a16:creationId xmlns:a16="http://schemas.microsoft.com/office/drawing/2014/main" id="{EBC70FC7-768B-46CA-8FA3-CEE1F4C02499}"/>
                </a:ext>
              </a:extLst>
            </p:cNvPr>
            <p:cNvSpPr/>
            <p:nvPr/>
          </p:nvSpPr>
          <p:spPr>
            <a:xfrm>
              <a:off x="10574716" y="1694036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4910733-9483-42B4-895E-D7885C65095B}"/>
                </a:ext>
              </a:extLst>
            </p:cNvPr>
            <p:cNvGrpSpPr/>
            <p:nvPr/>
          </p:nvGrpSpPr>
          <p:grpSpPr>
            <a:xfrm>
              <a:off x="9611495" y="3990458"/>
              <a:ext cx="825618" cy="323576"/>
              <a:chOff x="10173470" y="3194683"/>
              <a:chExt cx="825618" cy="323576"/>
            </a:xfrm>
          </p:grpSpPr>
          <p:sp>
            <p:nvSpPr>
              <p:cNvPr id="67" name="Google Shape;143;p5">
                <a:extLst>
                  <a:ext uri="{FF2B5EF4-FFF2-40B4-BE49-F238E27FC236}">
                    <a16:creationId xmlns:a16="http://schemas.microsoft.com/office/drawing/2014/main" id="{3AAEF959-6F04-4F21-BFA1-87B5A45D73DA}"/>
                  </a:ext>
                </a:extLst>
              </p:cNvPr>
              <p:cNvSpPr/>
              <p:nvPr/>
            </p:nvSpPr>
            <p:spPr>
              <a:xfrm>
                <a:off x="10173470" y="3194683"/>
                <a:ext cx="275206" cy="323576"/>
              </a:xfrm>
              <a:prstGeom prst="rect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143;p5">
                <a:extLst>
                  <a:ext uri="{FF2B5EF4-FFF2-40B4-BE49-F238E27FC236}">
                    <a16:creationId xmlns:a16="http://schemas.microsoft.com/office/drawing/2014/main" id="{699F7FAA-F73E-4865-8812-1E6D0241F498}"/>
                  </a:ext>
                </a:extLst>
              </p:cNvPr>
              <p:cNvSpPr/>
              <p:nvPr/>
            </p:nvSpPr>
            <p:spPr>
              <a:xfrm>
                <a:off x="10448676" y="3194683"/>
                <a:ext cx="275206" cy="323576"/>
              </a:xfrm>
              <a:prstGeom prst="rect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143;p5">
                <a:extLst>
                  <a:ext uri="{FF2B5EF4-FFF2-40B4-BE49-F238E27FC236}">
                    <a16:creationId xmlns:a16="http://schemas.microsoft.com/office/drawing/2014/main" id="{9CFF24D7-DD0F-454A-8AB3-27A6CB6C41C4}"/>
                  </a:ext>
                </a:extLst>
              </p:cNvPr>
              <p:cNvSpPr/>
              <p:nvPr/>
            </p:nvSpPr>
            <p:spPr>
              <a:xfrm>
                <a:off x="10723882" y="3194683"/>
                <a:ext cx="275206" cy="323576"/>
              </a:xfrm>
              <a:prstGeom prst="rect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" name="Google Shape;143;p5">
              <a:extLst>
                <a:ext uri="{FF2B5EF4-FFF2-40B4-BE49-F238E27FC236}">
                  <a16:creationId xmlns:a16="http://schemas.microsoft.com/office/drawing/2014/main" id="{4108B533-09CE-4A24-A1EA-D6A854EDF37C}"/>
                </a:ext>
              </a:extLst>
            </p:cNvPr>
            <p:cNvSpPr/>
            <p:nvPr/>
          </p:nvSpPr>
          <p:spPr>
            <a:xfrm>
              <a:off x="9198686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43;p5">
              <a:extLst>
                <a:ext uri="{FF2B5EF4-FFF2-40B4-BE49-F238E27FC236}">
                  <a16:creationId xmlns:a16="http://schemas.microsoft.com/office/drawing/2014/main" id="{0F16066D-1C17-4C9F-8C0F-19759BF8FDBE}"/>
                </a:ext>
              </a:extLst>
            </p:cNvPr>
            <p:cNvSpPr/>
            <p:nvPr/>
          </p:nvSpPr>
          <p:spPr>
            <a:xfrm>
              <a:off x="9473892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43;p5">
              <a:extLst>
                <a:ext uri="{FF2B5EF4-FFF2-40B4-BE49-F238E27FC236}">
                  <a16:creationId xmlns:a16="http://schemas.microsoft.com/office/drawing/2014/main" id="{7E31C247-BA35-4476-96A6-C441239DCAD2}"/>
                </a:ext>
              </a:extLst>
            </p:cNvPr>
            <p:cNvSpPr/>
            <p:nvPr/>
          </p:nvSpPr>
          <p:spPr>
            <a:xfrm>
              <a:off x="9749098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43;p5">
              <a:extLst>
                <a:ext uri="{FF2B5EF4-FFF2-40B4-BE49-F238E27FC236}">
                  <a16:creationId xmlns:a16="http://schemas.microsoft.com/office/drawing/2014/main" id="{08B6939F-0473-4B21-94E0-08F3A38FF211}"/>
                </a:ext>
              </a:extLst>
            </p:cNvPr>
            <p:cNvSpPr/>
            <p:nvPr/>
          </p:nvSpPr>
          <p:spPr>
            <a:xfrm>
              <a:off x="10024304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43;p5">
              <a:extLst>
                <a:ext uri="{FF2B5EF4-FFF2-40B4-BE49-F238E27FC236}">
                  <a16:creationId xmlns:a16="http://schemas.microsoft.com/office/drawing/2014/main" id="{056338C8-434E-4A86-9D46-4C6931A83712}"/>
                </a:ext>
              </a:extLst>
            </p:cNvPr>
            <p:cNvSpPr/>
            <p:nvPr/>
          </p:nvSpPr>
          <p:spPr>
            <a:xfrm>
              <a:off x="10299510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43;p5">
              <a:extLst>
                <a:ext uri="{FF2B5EF4-FFF2-40B4-BE49-F238E27FC236}">
                  <a16:creationId xmlns:a16="http://schemas.microsoft.com/office/drawing/2014/main" id="{C064EC02-A642-4BB2-9DD0-8A82660B9120}"/>
                </a:ext>
              </a:extLst>
            </p:cNvPr>
            <p:cNvSpPr/>
            <p:nvPr/>
          </p:nvSpPr>
          <p:spPr>
            <a:xfrm>
              <a:off x="10574716" y="5342803"/>
              <a:ext cx="275206" cy="323576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584EE92E-B6AC-4A3A-91EB-A16F7667FE8C}"/>
                    </a:ext>
                  </a:extLst>
                </p:cNvPr>
                <p:cNvSpPr txBox="1"/>
                <p:nvPr/>
              </p:nvSpPr>
              <p:spPr>
                <a:xfrm>
                  <a:off x="9728133" y="2963536"/>
                  <a:ext cx="592342" cy="416922"/>
                </a:xfrm>
                <a:prstGeom prst="ellipse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none" lIns="0" tIns="0" rIns="0" bIns="0" rtlCol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8133" y="2963536"/>
                  <a:ext cx="592342" cy="41692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67C2924-3608-44D2-9C30-964715787CDC}"/>
                </a:ext>
              </a:extLst>
            </p:cNvPr>
            <p:cNvCxnSpPr/>
            <p:nvPr/>
          </p:nvCxnSpPr>
          <p:spPr>
            <a:xfrm>
              <a:off x="10031070" y="3422096"/>
              <a:ext cx="0" cy="490796"/>
            </a:xfrm>
            <a:prstGeom prst="straightConnector1">
              <a:avLst/>
            </a:prstGeom>
            <a:ln w="1587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Google Shape;254;p10">
              <a:extLst>
                <a:ext uri="{FF2B5EF4-FFF2-40B4-BE49-F238E27FC236}">
                  <a16:creationId xmlns:a16="http://schemas.microsoft.com/office/drawing/2014/main" id="{2F823310-1158-490C-B04B-03F2571FC630}"/>
                </a:ext>
              </a:extLst>
            </p:cNvPr>
            <p:cNvSpPr txBox="1"/>
            <p:nvPr/>
          </p:nvSpPr>
          <p:spPr>
            <a:xfrm>
              <a:off x="10428815" y="2949391"/>
              <a:ext cx="7260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p(</a:t>
              </a:r>
              <a:r>
                <a:rPr lang="en-IN" sz="1600" dirty="0" err="1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z|x</a:t>
              </a: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)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60" name="Google Shape;255;p10">
              <a:extLst>
                <a:ext uri="{FF2B5EF4-FFF2-40B4-BE49-F238E27FC236}">
                  <a16:creationId xmlns:a16="http://schemas.microsoft.com/office/drawing/2014/main" id="{9C8533B1-508F-4EB1-8688-A76E7237CB43}"/>
                </a:ext>
              </a:extLst>
            </p:cNvPr>
            <p:cNvSpPr txBox="1"/>
            <p:nvPr/>
          </p:nvSpPr>
          <p:spPr>
            <a:xfrm>
              <a:off x="10411079" y="3998068"/>
              <a:ext cx="110233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z ~ p(</a:t>
              </a:r>
              <a:r>
                <a:rPr lang="en-IN" sz="1600" dirty="0" err="1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z|x</a:t>
              </a:r>
              <a:r>
                <a:rPr lang="en-IN" sz="1600" dirty="0">
                  <a:solidFill>
                    <a:srgbClr val="7030A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)</a:t>
              </a:r>
              <a:endParaRPr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651F7D61-A3FB-47C0-898E-ABD43E15BA43}"/>
                    </a:ext>
                  </a:extLst>
                </p:cNvPr>
                <p:cNvSpPr/>
                <p:nvPr/>
              </p:nvSpPr>
              <p:spPr>
                <a:xfrm>
                  <a:off x="9453025" y="5669265"/>
                  <a:ext cx="1142557" cy="3767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ar-AE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sym typeface="Times New Roman"/>
                              </a:rPr>
                            </m:ctrlPr>
                          </m:accPr>
                          <m:e>
                            <m:r>
                              <a:rPr lang="en-I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sym typeface="Times New Roman"/>
                              </a:rPr>
                              <m:t>𝑋</m:t>
                            </m:r>
                          </m:e>
                        </m:acc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=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𝑑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(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𝑧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sym typeface="Times New Roman"/>
                          </a:rPr>
                          <m:t>)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3025" y="5669265"/>
                  <a:ext cx="1142557" cy="376770"/>
                </a:xfrm>
                <a:prstGeom prst="rect">
                  <a:avLst/>
                </a:prstGeom>
                <a:blipFill>
                  <a:blip r:embed="rId7"/>
                  <a:stretch>
                    <a:fillRect t="-1613" b="-1290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BF78FA09-B4CF-4982-8CF1-6B5430EF3F87}"/>
                    </a:ext>
                  </a:extLst>
                </p:cNvPr>
                <p:cNvSpPr/>
                <p:nvPr/>
              </p:nvSpPr>
              <p:spPr>
                <a:xfrm>
                  <a:off x="9851961" y="1380292"/>
                  <a:ext cx="3922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IN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Rectangle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1961" y="1380292"/>
                  <a:ext cx="39228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Google Shape;252;p10">
              <a:extLst>
                <a:ext uri="{FF2B5EF4-FFF2-40B4-BE49-F238E27FC236}">
                  <a16:creationId xmlns:a16="http://schemas.microsoft.com/office/drawing/2014/main" id="{F67FBE32-5603-485D-B52D-84D61C4D033A}"/>
                </a:ext>
              </a:extLst>
            </p:cNvPr>
            <p:cNvSpPr txBox="1"/>
            <p:nvPr/>
          </p:nvSpPr>
          <p:spPr>
            <a:xfrm>
              <a:off x="10595582" y="2294015"/>
              <a:ext cx="1247215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Probabilistic Encoder 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64" name="Google Shape;253;p10">
              <a:extLst>
                <a:ext uri="{FF2B5EF4-FFF2-40B4-BE49-F238E27FC236}">
                  <a16:creationId xmlns:a16="http://schemas.microsoft.com/office/drawing/2014/main" id="{0E29AB4D-E642-4C09-86F5-83F7018E0F0B}"/>
                </a:ext>
              </a:extLst>
            </p:cNvPr>
            <p:cNvSpPr txBox="1"/>
            <p:nvPr/>
          </p:nvSpPr>
          <p:spPr>
            <a:xfrm>
              <a:off x="10595581" y="4597571"/>
              <a:ext cx="1247215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Probabilistic</a:t>
              </a:r>
              <a:endParaRPr dirty="0">
                <a:solidFill>
                  <a:srgbClr val="7030A0"/>
                </a:solidFill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Decoder </a:t>
              </a:r>
              <a:endParaRPr dirty="0">
                <a:solidFill>
                  <a:srgbClr val="7030A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674EEF9-0A6D-401C-9180-BB7B4060BB65}"/>
                    </a:ext>
                  </a:extLst>
                </p:cNvPr>
                <p:cNvSpPr txBox="1"/>
                <p:nvPr/>
              </p:nvSpPr>
              <p:spPr>
                <a:xfrm>
                  <a:off x="8111280" y="2733020"/>
                  <a:ext cx="1085554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TextBox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1280" y="2733020"/>
                  <a:ext cx="1085554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5618" t="-1961" r="-8427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BC1CE689-F155-43DD-BFA1-6489318E47A9}"/>
                    </a:ext>
                  </a:extLst>
                </p:cNvPr>
                <p:cNvSpPr txBox="1"/>
                <p:nvPr/>
              </p:nvSpPr>
              <p:spPr>
                <a:xfrm>
                  <a:off x="7979259" y="4347918"/>
                  <a:ext cx="142686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sz="20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TextBox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9259" y="4347918"/>
                  <a:ext cx="1426865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3846" t="-1961" r="-6410" b="-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 txBox="1">
            <a:spLocks noGrp="1"/>
          </p:cNvSpPr>
          <p:nvPr>
            <p:ph type="title"/>
          </p:nvPr>
        </p:nvSpPr>
        <p:spPr>
          <a:xfrm>
            <a:off x="925554" y="186438"/>
            <a:ext cx="8002545" cy="1000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Book Antiqua"/>
              <a:buNone/>
            </a:pPr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endParaRPr sz="36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227909" y="1645817"/>
            <a:ext cx="4403451" cy="4441340"/>
            <a:chOff x="1227909" y="1598156"/>
            <a:chExt cx="4403451" cy="4441340"/>
          </a:xfrm>
        </p:grpSpPr>
        <p:sp>
          <p:nvSpPr>
            <p:cNvPr id="53" name="Google Shape;138;p5"/>
            <p:cNvSpPr/>
            <p:nvPr/>
          </p:nvSpPr>
          <p:spPr>
            <a:xfrm>
              <a:off x="3022036" y="4110817"/>
              <a:ext cx="1436279" cy="824195"/>
            </a:xfrm>
            <a:prstGeom prst="trapezoid">
              <a:avLst>
                <a:gd name="adj" fmla="val 57796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138;p5"/>
            <p:cNvSpPr/>
            <p:nvPr/>
          </p:nvSpPr>
          <p:spPr>
            <a:xfrm rot="10800000">
              <a:off x="3022036" y="2673064"/>
              <a:ext cx="1423579" cy="824195"/>
            </a:xfrm>
            <a:prstGeom prst="trapezoid">
              <a:avLst>
                <a:gd name="adj" fmla="val 567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" name="Google Shape;143;p5"/>
            <p:cNvSpPr/>
            <p:nvPr/>
          </p:nvSpPr>
          <p:spPr>
            <a:xfrm>
              <a:off x="2738280" y="3682019"/>
              <a:ext cx="329892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3;p5"/>
            <p:cNvSpPr/>
            <p:nvPr/>
          </p:nvSpPr>
          <p:spPr>
            <a:xfrm>
              <a:off x="3065870" y="3682019"/>
              <a:ext cx="329892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43;p5"/>
            <p:cNvSpPr/>
            <p:nvPr/>
          </p:nvSpPr>
          <p:spPr>
            <a:xfrm>
              <a:off x="3395842" y="3682019"/>
              <a:ext cx="329892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43;p5"/>
            <p:cNvSpPr/>
            <p:nvPr/>
          </p:nvSpPr>
          <p:spPr>
            <a:xfrm>
              <a:off x="3725817" y="3682019"/>
              <a:ext cx="329892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43;p5"/>
            <p:cNvSpPr/>
            <p:nvPr/>
          </p:nvSpPr>
          <p:spPr>
            <a:xfrm>
              <a:off x="4055792" y="3682019"/>
              <a:ext cx="329892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43;p5"/>
            <p:cNvSpPr/>
            <p:nvPr/>
          </p:nvSpPr>
          <p:spPr>
            <a:xfrm>
              <a:off x="4385764" y="3682019"/>
              <a:ext cx="329892" cy="323576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08346" y="3689162"/>
              <a:ext cx="20730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0.9  0.3   0.1  0.2  0.7   0.5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5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200405" y="1598156"/>
              <a:ext cx="1240005" cy="985778"/>
            </a:xfrm>
            <a:prstGeom prst="rect">
              <a:avLst/>
            </a:prstGeom>
          </p:spPr>
        </p:pic>
        <p:sp>
          <p:nvSpPr>
            <p:cNvPr id="106" name="Google Shape;274;p11"/>
            <p:cNvSpPr txBox="1"/>
            <p:nvPr/>
          </p:nvSpPr>
          <p:spPr>
            <a:xfrm>
              <a:off x="2364342" y="4310603"/>
              <a:ext cx="90737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Decoder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107" name="Google Shape;276;p11"/>
            <p:cNvSpPr txBox="1"/>
            <p:nvPr/>
          </p:nvSpPr>
          <p:spPr>
            <a:xfrm>
              <a:off x="4605524" y="4327798"/>
              <a:ext cx="1025836" cy="33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Generator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108" name="Google Shape;289;p11"/>
            <p:cNvSpPr txBox="1"/>
            <p:nvPr/>
          </p:nvSpPr>
          <p:spPr>
            <a:xfrm>
              <a:off x="4667591" y="3679797"/>
              <a:ext cx="901701" cy="33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Values</a:t>
              </a:r>
              <a:endParaRPr>
                <a:solidFill>
                  <a:srgbClr val="7030A0"/>
                </a:solidFill>
              </a:endParaRPr>
            </a:p>
          </p:txBody>
        </p:sp>
        <p:sp>
          <p:nvSpPr>
            <p:cNvPr id="109" name="Google Shape;293;p11"/>
            <p:cNvSpPr txBox="1"/>
            <p:nvPr/>
          </p:nvSpPr>
          <p:spPr>
            <a:xfrm>
              <a:off x="1227909" y="3654918"/>
              <a:ext cx="1738371" cy="33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 (Latent space)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110" name="Google Shape;294;p11"/>
            <p:cNvSpPr txBox="1"/>
            <p:nvPr/>
          </p:nvSpPr>
          <p:spPr>
            <a:xfrm>
              <a:off x="2364342" y="2965018"/>
              <a:ext cx="997899" cy="33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Encoder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18" name="Right Bracket 17"/>
            <p:cNvSpPr/>
            <p:nvPr/>
          </p:nvSpPr>
          <p:spPr>
            <a:xfrm>
              <a:off x="4557753" y="4039839"/>
              <a:ext cx="95543" cy="959745"/>
            </a:xfrm>
            <a:prstGeom prst="rightBracket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83957" y="4962781"/>
              <a:ext cx="1008589" cy="1076715"/>
            </a:xfrm>
            <a:prstGeom prst="rect">
              <a:avLst/>
            </a:prstGeom>
          </p:spPr>
        </p:pic>
      </p:grpSp>
      <p:sp>
        <p:nvSpPr>
          <p:cNvPr id="115" name="Google Shape;312;p11"/>
          <p:cNvSpPr txBox="1"/>
          <p:nvPr/>
        </p:nvSpPr>
        <p:spPr>
          <a:xfrm>
            <a:off x="2512448" y="6177521"/>
            <a:ext cx="20084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Auto-Encoder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1227909" y="1461058"/>
            <a:ext cx="4577522" cy="4712176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9" name="Group 28"/>
          <p:cNvGrpSpPr/>
          <p:nvPr/>
        </p:nvGrpSpPr>
        <p:grpSpPr>
          <a:xfrm>
            <a:off x="6812465" y="1594928"/>
            <a:ext cx="4987051" cy="4557286"/>
            <a:chOff x="6812465" y="1001036"/>
            <a:chExt cx="4987051" cy="4557286"/>
          </a:xfrm>
        </p:grpSpPr>
        <p:grpSp>
          <p:nvGrpSpPr>
            <p:cNvPr id="27" name="Group 26"/>
            <p:cNvGrpSpPr/>
            <p:nvPr/>
          </p:nvGrpSpPr>
          <p:grpSpPr>
            <a:xfrm>
              <a:off x="8298259" y="3069431"/>
              <a:ext cx="2131118" cy="303066"/>
              <a:chOff x="8298259" y="3069431"/>
              <a:chExt cx="2131118" cy="303066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8298259" y="3069431"/>
                <a:ext cx="355598" cy="303066"/>
                <a:chOff x="8298259" y="3069431"/>
                <a:chExt cx="355598" cy="303066"/>
              </a:xfrm>
            </p:grpSpPr>
            <p:sp>
              <p:nvSpPr>
                <p:cNvPr id="24" name="Freeform 23"/>
                <p:cNvSpPr/>
                <p:nvPr/>
              </p:nvSpPr>
              <p:spPr>
                <a:xfrm>
                  <a:off x="8298259" y="3083142"/>
                  <a:ext cx="355598" cy="282213"/>
                </a:xfrm>
                <a:custGeom>
                  <a:avLst/>
                  <a:gdLst>
                    <a:gd name="connsiteX0" fmla="*/ 0 w 990600"/>
                    <a:gd name="connsiteY0" fmla="*/ 762000 h 867434"/>
                    <a:gd name="connsiteX1" fmla="*/ 304800 w 990600"/>
                    <a:gd name="connsiteY1" fmla="*/ 787400 h 867434"/>
                    <a:gd name="connsiteX2" fmla="*/ 609600 w 990600"/>
                    <a:gd name="connsiteY2" fmla="*/ 0 h 867434"/>
                    <a:gd name="connsiteX3" fmla="*/ 876300 w 990600"/>
                    <a:gd name="connsiteY3" fmla="*/ 787400 h 867434"/>
                    <a:gd name="connsiteX4" fmla="*/ 990600 w 990600"/>
                    <a:gd name="connsiteY4" fmla="*/ 800100 h 867434"/>
                    <a:gd name="connsiteX0" fmla="*/ 0 w 1039584"/>
                    <a:gd name="connsiteY0" fmla="*/ 1008617 h 1031010"/>
                    <a:gd name="connsiteX1" fmla="*/ 353784 w 1039584"/>
                    <a:gd name="connsiteY1" fmla="*/ 787400 h 1031010"/>
                    <a:gd name="connsiteX2" fmla="*/ 658584 w 1039584"/>
                    <a:gd name="connsiteY2" fmla="*/ 0 h 1031010"/>
                    <a:gd name="connsiteX3" fmla="*/ 925284 w 1039584"/>
                    <a:gd name="connsiteY3" fmla="*/ 787400 h 1031010"/>
                    <a:gd name="connsiteX4" fmla="*/ 1039584 w 1039584"/>
                    <a:gd name="connsiteY4" fmla="*/ 800100 h 1031010"/>
                    <a:gd name="connsiteX0" fmla="*/ 0 w 1039584"/>
                    <a:gd name="connsiteY0" fmla="*/ 1008628 h 1029286"/>
                    <a:gd name="connsiteX1" fmla="*/ 263977 w 1039584"/>
                    <a:gd name="connsiteY1" fmla="*/ 769793 h 1029286"/>
                    <a:gd name="connsiteX2" fmla="*/ 658584 w 1039584"/>
                    <a:gd name="connsiteY2" fmla="*/ 11 h 1029286"/>
                    <a:gd name="connsiteX3" fmla="*/ 925284 w 1039584"/>
                    <a:gd name="connsiteY3" fmla="*/ 787411 h 1029286"/>
                    <a:gd name="connsiteX4" fmla="*/ 1039584 w 1039584"/>
                    <a:gd name="connsiteY4" fmla="*/ 800111 h 1029286"/>
                    <a:gd name="connsiteX0" fmla="*/ 0 w 1243691"/>
                    <a:gd name="connsiteY0" fmla="*/ 1008628 h 1029290"/>
                    <a:gd name="connsiteX1" fmla="*/ 263977 w 1243691"/>
                    <a:gd name="connsiteY1" fmla="*/ 769793 h 1029290"/>
                    <a:gd name="connsiteX2" fmla="*/ 658584 w 1243691"/>
                    <a:gd name="connsiteY2" fmla="*/ 11 h 1029290"/>
                    <a:gd name="connsiteX3" fmla="*/ 925284 w 1243691"/>
                    <a:gd name="connsiteY3" fmla="*/ 787411 h 1029290"/>
                    <a:gd name="connsiteX4" fmla="*/ 1243691 w 1243691"/>
                    <a:gd name="connsiteY4" fmla="*/ 958654 h 1029290"/>
                    <a:gd name="connsiteX0" fmla="*/ 0 w 1243691"/>
                    <a:gd name="connsiteY0" fmla="*/ 1008617 h 1029275"/>
                    <a:gd name="connsiteX1" fmla="*/ 263977 w 1243691"/>
                    <a:gd name="connsiteY1" fmla="*/ 769782 h 1029275"/>
                    <a:gd name="connsiteX2" fmla="*/ 658584 w 1243691"/>
                    <a:gd name="connsiteY2" fmla="*/ 0 h 1029275"/>
                    <a:gd name="connsiteX3" fmla="*/ 933452 w 1243691"/>
                    <a:gd name="connsiteY3" fmla="*/ 769783 h 1029275"/>
                    <a:gd name="connsiteX4" fmla="*/ 1243691 w 1243691"/>
                    <a:gd name="connsiteY4" fmla="*/ 958643 h 1029275"/>
                    <a:gd name="connsiteX0" fmla="*/ 0 w 1219197"/>
                    <a:gd name="connsiteY0" fmla="*/ 1008617 h 1029279"/>
                    <a:gd name="connsiteX1" fmla="*/ 263977 w 1219197"/>
                    <a:gd name="connsiteY1" fmla="*/ 769782 h 1029279"/>
                    <a:gd name="connsiteX2" fmla="*/ 658584 w 1219197"/>
                    <a:gd name="connsiteY2" fmla="*/ 0 h 1029279"/>
                    <a:gd name="connsiteX3" fmla="*/ 933452 w 1219197"/>
                    <a:gd name="connsiteY3" fmla="*/ 769783 h 1029279"/>
                    <a:gd name="connsiteX4" fmla="*/ 1219197 w 1219197"/>
                    <a:gd name="connsiteY4" fmla="*/ 1002681 h 1029279"/>
                    <a:gd name="connsiteX0" fmla="*/ 0 w 1219197"/>
                    <a:gd name="connsiteY0" fmla="*/ 1026234 h 1047148"/>
                    <a:gd name="connsiteX1" fmla="*/ 263977 w 1219197"/>
                    <a:gd name="connsiteY1" fmla="*/ 787399 h 1047148"/>
                    <a:gd name="connsiteX2" fmla="*/ 609595 w 1219197"/>
                    <a:gd name="connsiteY2" fmla="*/ 0 h 1047148"/>
                    <a:gd name="connsiteX3" fmla="*/ 933452 w 1219197"/>
                    <a:gd name="connsiteY3" fmla="*/ 787400 h 1047148"/>
                    <a:gd name="connsiteX4" fmla="*/ 1219197 w 1219197"/>
                    <a:gd name="connsiteY4" fmla="*/ 1020298 h 1047148"/>
                    <a:gd name="connsiteX0" fmla="*/ 0 w 1219197"/>
                    <a:gd name="connsiteY0" fmla="*/ 1043849 h 1063452"/>
                    <a:gd name="connsiteX1" fmla="*/ 263977 w 1219197"/>
                    <a:gd name="connsiteY1" fmla="*/ 787399 h 1063452"/>
                    <a:gd name="connsiteX2" fmla="*/ 609595 w 1219197"/>
                    <a:gd name="connsiteY2" fmla="*/ 0 h 1063452"/>
                    <a:gd name="connsiteX3" fmla="*/ 933452 w 1219197"/>
                    <a:gd name="connsiteY3" fmla="*/ 787400 h 1063452"/>
                    <a:gd name="connsiteX4" fmla="*/ 1219197 w 1219197"/>
                    <a:gd name="connsiteY4" fmla="*/ 1020298 h 1063452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9197" h="1043848">
                      <a:moveTo>
                        <a:pt x="0" y="1043849"/>
                      </a:moveTo>
                      <a:cubicBezTo>
                        <a:pt x="117926" y="1005544"/>
                        <a:pt x="162378" y="961374"/>
                        <a:pt x="263977" y="787399"/>
                      </a:cubicBezTo>
                      <a:cubicBezTo>
                        <a:pt x="365576" y="613424"/>
                        <a:pt x="498016" y="0"/>
                        <a:pt x="609595" y="0"/>
                      </a:cubicBezTo>
                      <a:cubicBezTo>
                        <a:pt x="721174" y="0"/>
                        <a:pt x="864510" y="617351"/>
                        <a:pt x="933452" y="787400"/>
                      </a:cubicBezTo>
                      <a:cubicBezTo>
                        <a:pt x="1002394" y="957449"/>
                        <a:pt x="1193797" y="1080623"/>
                        <a:pt x="1219197" y="1020298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8298259" y="3069431"/>
                  <a:ext cx="355598" cy="303066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42" name="Group 141"/>
              <p:cNvGrpSpPr/>
              <p:nvPr/>
            </p:nvGrpSpPr>
            <p:grpSpPr>
              <a:xfrm>
                <a:off x="8653857" y="3069431"/>
                <a:ext cx="355598" cy="303066"/>
                <a:chOff x="8298259" y="3069431"/>
                <a:chExt cx="355598" cy="303066"/>
              </a:xfrm>
            </p:grpSpPr>
            <p:sp>
              <p:nvSpPr>
                <p:cNvPr id="143" name="Freeform 142"/>
                <p:cNvSpPr/>
                <p:nvPr/>
              </p:nvSpPr>
              <p:spPr>
                <a:xfrm>
                  <a:off x="8298259" y="3083142"/>
                  <a:ext cx="355598" cy="282213"/>
                </a:xfrm>
                <a:custGeom>
                  <a:avLst/>
                  <a:gdLst>
                    <a:gd name="connsiteX0" fmla="*/ 0 w 990600"/>
                    <a:gd name="connsiteY0" fmla="*/ 762000 h 867434"/>
                    <a:gd name="connsiteX1" fmla="*/ 304800 w 990600"/>
                    <a:gd name="connsiteY1" fmla="*/ 787400 h 867434"/>
                    <a:gd name="connsiteX2" fmla="*/ 609600 w 990600"/>
                    <a:gd name="connsiteY2" fmla="*/ 0 h 867434"/>
                    <a:gd name="connsiteX3" fmla="*/ 876300 w 990600"/>
                    <a:gd name="connsiteY3" fmla="*/ 787400 h 867434"/>
                    <a:gd name="connsiteX4" fmla="*/ 990600 w 990600"/>
                    <a:gd name="connsiteY4" fmla="*/ 800100 h 867434"/>
                    <a:gd name="connsiteX0" fmla="*/ 0 w 1039584"/>
                    <a:gd name="connsiteY0" fmla="*/ 1008617 h 1031010"/>
                    <a:gd name="connsiteX1" fmla="*/ 353784 w 1039584"/>
                    <a:gd name="connsiteY1" fmla="*/ 787400 h 1031010"/>
                    <a:gd name="connsiteX2" fmla="*/ 658584 w 1039584"/>
                    <a:gd name="connsiteY2" fmla="*/ 0 h 1031010"/>
                    <a:gd name="connsiteX3" fmla="*/ 925284 w 1039584"/>
                    <a:gd name="connsiteY3" fmla="*/ 787400 h 1031010"/>
                    <a:gd name="connsiteX4" fmla="*/ 1039584 w 1039584"/>
                    <a:gd name="connsiteY4" fmla="*/ 800100 h 1031010"/>
                    <a:gd name="connsiteX0" fmla="*/ 0 w 1039584"/>
                    <a:gd name="connsiteY0" fmla="*/ 1008628 h 1029286"/>
                    <a:gd name="connsiteX1" fmla="*/ 263977 w 1039584"/>
                    <a:gd name="connsiteY1" fmla="*/ 769793 h 1029286"/>
                    <a:gd name="connsiteX2" fmla="*/ 658584 w 1039584"/>
                    <a:gd name="connsiteY2" fmla="*/ 11 h 1029286"/>
                    <a:gd name="connsiteX3" fmla="*/ 925284 w 1039584"/>
                    <a:gd name="connsiteY3" fmla="*/ 787411 h 1029286"/>
                    <a:gd name="connsiteX4" fmla="*/ 1039584 w 1039584"/>
                    <a:gd name="connsiteY4" fmla="*/ 800111 h 1029286"/>
                    <a:gd name="connsiteX0" fmla="*/ 0 w 1243691"/>
                    <a:gd name="connsiteY0" fmla="*/ 1008628 h 1029290"/>
                    <a:gd name="connsiteX1" fmla="*/ 263977 w 1243691"/>
                    <a:gd name="connsiteY1" fmla="*/ 769793 h 1029290"/>
                    <a:gd name="connsiteX2" fmla="*/ 658584 w 1243691"/>
                    <a:gd name="connsiteY2" fmla="*/ 11 h 1029290"/>
                    <a:gd name="connsiteX3" fmla="*/ 925284 w 1243691"/>
                    <a:gd name="connsiteY3" fmla="*/ 787411 h 1029290"/>
                    <a:gd name="connsiteX4" fmla="*/ 1243691 w 1243691"/>
                    <a:gd name="connsiteY4" fmla="*/ 958654 h 1029290"/>
                    <a:gd name="connsiteX0" fmla="*/ 0 w 1243691"/>
                    <a:gd name="connsiteY0" fmla="*/ 1008617 h 1029275"/>
                    <a:gd name="connsiteX1" fmla="*/ 263977 w 1243691"/>
                    <a:gd name="connsiteY1" fmla="*/ 769782 h 1029275"/>
                    <a:gd name="connsiteX2" fmla="*/ 658584 w 1243691"/>
                    <a:gd name="connsiteY2" fmla="*/ 0 h 1029275"/>
                    <a:gd name="connsiteX3" fmla="*/ 933452 w 1243691"/>
                    <a:gd name="connsiteY3" fmla="*/ 769783 h 1029275"/>
                    <a:gd name="connsiteX4" fmla="*/ 1243691 w 1243691"/>
                    <a:gd name="connsiteY4" fmla="*/ 958643 h 1029275"/>
                    <a:gd name="connsiteX0" fmla="*/ 0 w 1219197"/>
                    <a:gd name="connsiteY0" fmla="*/ 1008617 h 1029279"/>
                    <a:gd name="connsiteX1" fmla="*/ 263977 w 1219197"/>
                    <a:gd name="connsiteY1" fmla="*/ 769782 h 1029279"/>
                    <a:gd name="connsiteX2" fmla="*/ 658584 w 1219197"/>
                    <a:gd name="connsiteY2" fmla="*/ 0 h 1029279"/>
                    <a:gd name="connsiteX3" fmla="*/ 933452 w 1219197"/>
                    <a:gd name="connsiteY3" fmla="*/ 769783 h 1029279"/>
                    <a:gd name="connsiteX4" fmla="*/ 1219197 w 1219197"/>
                    <a:gd name="connsiteY4" fmla="*/ 1002681 h 1029279"/>
                    <a:gd name="connsiteX0" fmla="*/ 0 w 1219197"/>
                    <a:gd name="connsiteY0" fmla="*/ 1026234 h 1047148"/>
                    <a:gd name="connsiteX1" fmla="*/ 263977 w 1219197"/>
                    <a:gd name="connsiteY1" fmla="*/ 787399 h 1047148"/>
                    <a:gd name="connsiteX2" fmla="*/ 609595 w 1219197"/>
                    <a:gd name="connsiteY2" fmla="*/ 0 h 1047148"/>
                    <a:gd name="connsiteX3" fmla="*/ 933452 w 1219197"/>
                    <a:gd name="connsiteY3" fmla="*/ 787400 h 1047148"/>
                    <a:gd name="connsiteX4" fmla="*/ 1219197 w 1219197"/>
                    <a:gd name="connsiteY4" fmla="*/ 1020298 h 1047148"/>
                    <a:gd name="connsiteX0" fmla="*/ 0 w 1219197"/>
                    <a:gd name="connsiteY0" fmla="*/ 1043849 h 1063452"/>
                    <a:gd name="connsiteX1" fmla="*/ 263977 w 1219197"/>
                    <a:gd name="connsiteY1" fmla="*/ 787399 h 1063452"/>
                    <a:gd name="connsiteX2" fmla="*/ 609595 w 1219197"/>
                    <a:gd name="connsiteY2" fmla="*/ 0 h 1063452"/>
                    <a:gd name="connsiteX3" fmla="*/ 933452 w 1219197"/>
                    <a:gd name="connsiteY3" fmla="*/ 787400 h 1063452"/>
                    <a:gd name="connsiteX4" fmla="*/ 1219197 w 1219197"/>
                    <a:gd name="connsiteY4" fmla="*/ 1020298 h 1063452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9197" h="1043848">
                      <a:moveTo>
                        <a:pt x="0" y="1043849"/>
                      </a:moveTo>
                      <a:cubicBezTo>
                        <a:pt x="117926" y="1005544"/>
                        <a:pt x="162378" y="961374"/>
                        <a:pt x="263977" y="787399"/>
                      </a:cubicBezTo>
                      <a:cubicBezTo>
                        <a:pt x="365576" y="613424"/>
                        <a:pt x="498016" y="0"/>
                        <a:pt x="609595" y="0"/>
                      </a:cubicBezTo>
                      <a:cubicBezTo>
                        <a:pt x="721174" y="0"/>
                        <a:pt x="864510" y="617351"/>
                        <a:pt x="933452" y="787400"/>
                      </a:cubicBezTo>
                      <a:cubicBezTo>
                        <a:pt x="1002394" y="957449"/>
                        <a:pt x="1193797" y="1080623"/>
                        <a:pt x="1219197" y="1020298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44" name="Rectangle 143"/>
                <p:cNvSpPr/>
                <p:nvPr/>
              </p:nvSpPr>
              <p:spPr>
                <a:xfrm>
                  <a:off x="8298259" y="3069431"/>
                  <a:ext cx="355598" cy="303066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57" name="Group 156"/>
              <p:cNvGrpSpPr/>
              <p:nvPr/>
            </p:nvGrpSpPr>
            <p:grpSpPr>
              <a:xfrm>
                <a:off x="9008220" y="3069431"/>
                <a:ext cx="355598" cy="303066"/>
                <a:chOff x="8298259" y="3069431"/>
                <a:chExt cx="355598" cy="303066"/>
              </a:xfrm>
            </p:grpSpPr>
            <p:sp>
              <p:nvSpPr>
                <p:cNvPr id="158" name="Freeform 157"/>
                <p:cNvSpPr/>
                <p:nvPr/>
              </p:nvSpPr>
              <p:spPr>
                <a:xfrm>
                  <a:off x="8298259" y="3083142"/>
                  <a:ext cx="355598" cy="282213"/>
                </a:xfrm>
                <a:custGeom>
                  <a:avLst/>
                  <a:gdLst>
                    <a:gd name="connsiteX0" fmla="*/ 0 w 990600"/>
                    <a:gd name="connsiteY0" fmla="*/ 762000 h 867434"/>
                    <a:gd name="connsiteX1" fmla="*/ 304800 w 990600"/>
                    <a:gd name="connsiteY1" fmla="*/ 787400 h 867434"/>
                    <a:gd name="connsiteX2" fmla="*/ 609600 w 990600"/>
                    <a:gd name="connsiteY2" fmla="*/ 0 h 867434"/>
                    <a:gd name="connsiteX3" fmla="*/ 876300 w 990600"/>
                    <a:gd name="connsiteY3" fmla="*/ 787400 h 867434"/>
                    <a:gd name="connsiteX4" fmla="*/ 990600 w 990600"/>
                    <a:gd name="connsiteY4" fmla="*/ 800100 h 867434"/>
                    <a:gd name="connsiteX0" fmla="*/ 0 w 1039584"/>
                    <a:gd name="connsiteY0" fmla="*/ 1008617 h 1031010"/>
                    <a:gd name="connsiteX1" fmla="*/ 353784 w 1039584"/>
                    <a:gd name="connsiteY1" fmla="*/ 787400 h 1031010"/>
                    <a:gd name="connsiteX2" fmla="*/ 658584 w 1039584"/>
                    <a:gd name="connsiteY2" fmla="*/ 0 h 1031010"/>
                    <a:gd name="connsiteX3" fmla="*/ 925284 w 1039584"/>
                    <a:gd name="connsiteY3" fmla="*/ 787400 h 1031010"/>
                    <a:gd name="connsiteX4" fmla="*/ 1039584 w 1039584"/>
                    <a:gd name="connsiteY4" fmla="*/ 800100 h 1031010"/>
                    <a:gd name="connsiteX0" fmla="*/ 0 w 1039584"/>
                    <a:gd name="connsiteY0" fmla="*/ 1008628 h 1029286"/>
                    <a:gd name="connsiteX1" fmla="*/ 263977 w 1039584"/>
                    <a:gd name="connsiteY1" fmla="*/ 769793 h 1029286"/>
                    <a:gd name="connsiteX2" fmla="*/ 658584 w 1039584"/>
                    <a:gd name="connsiteY2" fmla="*/ 11 h 1029286"/>
                    <a:gd name="connsiteX3" fmla="*/ 925284 w 1039584"/>
                    <a:gd name="connsiteY3" fmla="*/ 787411 h 1029286"/>
                    <a:gd name="connsiteX4" fmla="*/ 1039584 w 1039584"/>
                    <a:gd name="connsiteY4" fmla="*/ 800111 h 1029286"/>
                    <a:gd name="connsiteX0" fmla="*/ 0 w 1243691"/>
                    <a:gd name="connsiteY0" fmla="*/ 1008628 h 1029290"/>
                    <a:gd name="connsiteX1" fmla="*/ 263977 w 1243691"/>
                    <a:gd name="connsiteY1" fmla="*/ 769793 h 1029290"/>
                    <a:gd name="connsiteX2" fmla="*/ 658584 w 1243691"/>
                    <a:gd name="connsiteY2" fmla="*/ 11 h 1029290"/>
                    <a:gd name="connsiteX3" fmla="*/ 925284 w 1243691"/>
                    <a:gd name="connsiteY3" fmla="*/ 787411 h 1029290"/>
                    <a:gd name="connsiteX4" fmla="*/ 1243691 w 1243691"/>
                    <a:gd name="connsiteY4" fmla="*/ 958654 h 1029290"/>
                    <a:gd name="connsiteX0" fmla="*/ 0 w 1243691"/>
                    <a:gd name="connsiteY0" fmla="*/ 1008617 h 1029275"/>
                    <a:gd name="connsiteX1" fmla="*/ 263977 w 1243691"/>
                    <a:gd name="connsiteY1" fmla="*/ 769782 h 1029275"/>
                    <a:gd name="connsiteX2" fmla="*/ 658584 w 1243691"/>
                    <a:gd name="connsiteY2" fmla="*/ 0 h 1029275"/>
                    <a:gd name="connsiteX3" fmla="*/ 933452 w 1243691"/>
                    <a:gd name="connsiteY3" fmla="*/ 769783 h 1029275"/>
                    <a:gd name="connsiteX4" fmla="*/ 1243691 w 1243691"/>
                    <a:gd name="connsiteY4" fmla="*/ 958643 h 1029275"/>
                    <a:gd name="connsiteX0" fmla="*/ 0 w 1219197"/>
                    <a:gd name="connsiteY0" fmla="*/ 1008617 h 1029279"/>
                    <a:gd name="connsiteX1" fmla="*/ 263977 w 1219197"/>
                    <a:gd name="connsiteY1" fmla="*/ 769782 h 1029279"/>
                    <a:gd name="connsiteX2" fmla="*/ 658584 w 1219197"/>
                    <a:gd name="connsiteY2" fmla="*/ 0 h 1029279"/>
                    <a:gd name="connsiteX3" fmla="*/ 933452 w 1219197"/>
                    <a:gd name="connsiteY3" fmla="*/ 769783 h 1029279"/>
                    <a:gd name="connsiteX4" fmla="*/ 1219197 w 1219197"/>
                    <a:gd name="connsiteY4" fmla="*/ 1002681 h 1029279"/>
                    <a:gd name="connsiteX0" fmla="*/ 0 w 1219197"/>
                    <a:gd name="connsiteY0" fmla="*/ 1026234 h 1047148"/>
                    <a:gd name="connsiteX1" fmla="*/ 263977 w 1219197"/>
                    <a:gd name="connsiteY1" fmla="*/ 787399 h 1047148"/>
                    <a:gd name="connsiteX2" fmla="*/ 609595 w 1219197"/>
                    <a:gd name="connsiteY2" fmla="*/ 0 h 1047148"/>
                    <a:gd name="connsiteX3" fmla="*/ 933452 w 1219197"/>
                    <a:gd name="connsiteY3" fmla="*/ 787400 h 1047148"/>
                    <a:gd name="connsiteX4" fmla="*/ 1219197 w 1219197"/>
                    <a:gd name="connsiteY4" fmla="*/ 1020298 h 1047148"/>
                    <a:gd name="connsiteX0" fmla="*/ 0 w 1219197"/>
                    <a:gd name="connsiteY0" fmla="*/ 1043849 h 1063452"/>
                    <a:gd name="connsiteX1" fmla="*/ 263977 w 1219197"/>
                    <a:gd name="connsiteY1" fmla="*/ 787399 h 1063452"/>
                    <a:gd name="connsiteX2" fmla="*/ 609595 w 1219197"/>
                    <a:gd name="connsiteY2" fmla="*/ 0 h 1063452"/>
                    <a:gd name="connsiteX3" fmla="*/ 933452 w 1219197"/>
                    <a:gd name="connsiteY3" fmla="*/ 787400 h 1063452"/>
                    <a:gd name="connsiteX4" fmla="*/ 1219197 w 1219197"/>
                    <a:gd name="connsiteY4" fmla="*/ 1020298 h 1063452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9197" h="1043848">
                      <a:moveTo>
                        <a:pt x="0" y="1043849"/>
                      </a:moveTo>
                      <a:cubicBezTo>
                        <a:pt x="117926" y="1005544"/>
                        <a:pt x="162378" y="961374"/>
                        <a:pt x="263977" y="787399"/>
                      </a:cubicBezTo>
                      <a:cubicBezTo>
                        <a:pt x="365576" y="613424"/>
                        <a:pt x="498016" y="0"/>
                        <a:pt x="609595" y="0"/>
                      </a:cubicBezTo>
                      <a:cubicBezTo>
                        <a:pt x="721174" y="0"/>
                        <a:pt x="864510" y="617351"/>
                        <a:pt x="933452" y="787400"/>
                      </a:cubicBezTo>
                      <a:cubicBezTo>
                        <a:pt x="1002394" y="957449"/>
                        <a:pt x="1193797" y="1080623"/>
                        <a:pt x="1219197" y="1020298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59" name="Rectangle 158"/>
                <p:cNvSpPr/>
                <p:nvPr/>
              </p:nvSpPr>
              <p:spPr>
                <a:xfrm>
                  <a:off x="8298259" y="3069431"/>
                  <a:ext cx="355598" cy="303066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9363818" y="3069431"/>
                <a:ext cx="355598" cy="303066"/>
                <a:chOff x="8298259" y="3069431"/>
                <a:chExt cx="355598" cy="303066"/>
              </a:xfrm>
            </p:grpSpPr>
            <p:sp>
              <p:nvSpPr>
                <p:cNvPr id="161" name="Freeform 160"/>
                <p:cNvSpPr/>
                <p:nvPr/>
              </p:nvSpPr>
              <p:spPr>
                <a:xfrm>
                  <a:off x="8298259" y="3083142"/>
                  <a:ext cx="355598" cy="282213"/>
                </a:xfrm>
                <a:custGeom>
                  <a:avLst/>
                  <a:gdLst>
                    <a:gd name="connsiteX0" fmla="*/ 0 w 990600"/>
                    <a:gd name="connsiteY0" fmla="*/ 762000 h 867434"/>
                    <a:gd name="connsiteX1" fmla="*/ 304800 w 990600"/>
                    <a:gd name="connsiteY1" fmla="*/ 787400 h 867434"/>
                    <a:gd name="connsiteX2" fmla="*/ 609600 w 990600"/>
                    <a:gd name="connsiteY2" fmla="*/ 0 h 867434"/>
                    <a:gd name="connsiteX3" fmla="*/ 876300 w 990600"/>
                    <a:gd name="connsiteY3" fmla="*/ 787400 h 867434"/>
                    <a:gd name="connsiteX4" fmla="*/ 990600 w 990600"/>
                    <a:gd name="connsiteY4" fmla="*/ 800100 h 867434"/>
                    <a:gd name="connsiteX0" fmla="*/ 0 w 1039584"/>
                    <a:gd name="connsiteY0" fmla="*/ 1008617 h 1031010"/>
                    <a:gd name="connsiteX1" fmla="*/ 353784 w 1039584"/>
                    <a:gd name="connsiteY1" fmla="*/ 787400 h 1031010"/>
                    <a:gd name="connsiteX2" fmla="*/ 658584 w 1039584"/>
                    <a:gd name="connsiteY2" fmla="*/ 0 h 1031010"/>
                    <a:gd name="connsiteX3" fmla="*/ 925284 w 1039584"/>
                    <a:gd name="connsiteY3" fmla="*/ 787400 h 1031010"/>
                    <a:gd name="connsiteX4" fmla="*/ 1039584 w 1039584"/>
                    <a:gd name="connsiteY4" fmla="*/ 800100 h 1031010"/>
                    <a:gd name="connsiteX0" fmla="*/ 0 w 1039584"/>
                    <a:gd name="connsiteY0" fmla="*/ 1008628 h 1029286"/>
                    <a:gd name="connsiteX1" fmla="*/ 263977 w 1039584"/>
                    <a:gd name="connsiteY1" fmla="*/ 769793 h 1029286"/>
                    <a:gd name="connsiteX2" fmla="*/ 658584 w 1039584"/>
                    <a:gd name="connsiteY2" fmla="*/ 11 h 1029286"/>
                    <a:gd name="connsiteX3" fmla="*/ 925284 w 1039584"/>
                    <a:gd name="connsiteY3" fmla="*/ 787411 h 1029286"/>
                    <a:gd name="connsiteX4" fmla="*/ 1039584 w 1039584"/>
                    <a:gd name="connsiteY4" fmla="*/ 800111 h 1029286"/>
                    <a:gd name="connsiteX0" fmla="*/ 0 w 1243691"/>
                    <a:gd name="connsiteY0" fmla="*/ 1008628 h 1029290"/>
                    <a:gd name="connsiteX1" fmla="*/ 263977 w 1243691"/>
                    <a:gd name="connsiteY1" fmla="*/ 769793 h 1029290"/>
                    <a:gd name="connsiteX2" fmla="*/ 658584 w 1243691"/>
                    <a:gd name="connsiteY2" fmla="*/ 11 h 1029290"/>
                    <a:gd name="connsiteX3" fmla="*/ 925284 w 1243691"/>
                    <a:gd name="connsiteY3" fmla="*/ 787411 h 1029290"/>
                    <a:gd name="connsiteX4" fmla="*/ 1243691 w 1243691"/>
                    <a:gd name="connsiteY4" fmla="*/ 958654 h 1029290"/>
                    <a:gd name="connsiteX0" fmla="*/ 0 w 1243691"/>
                    <a:gd name="connsiteY0" fmla="*/ 1008617 h 1029275"/>
                    <a:gd name="connsiteX1" fmla="*/ 263977 w 1243691"/>
                    <a:gd name="connsiteY1" fmla="*/ 769782 h 1029275"/>
                    <a:gd name="connsiteX2" fmla="*/ 658584 w 1243691"/>
                    <a:gd name="connsiteY2" fmla="*/ 0 h 1029275"/>
                    <a:gd name="connsiteX3" fmla="*/ 933452 w 1243691"/>
                    <a:gd name="connsiteY3" fmla="*/ 769783 h 1029275"/>
                    <a:gd name="connsiteX4" fmla="*/ 1243691 w 1243691"/>
                    <a:gd name="connsiteY4" fmla="*/ 958643 h 1029275"/>
                    <a:gd name="connsiteX0" fmla="*/ 0 w 1219197"/>
                    <a:gd name="connsiteY0" fmla="*/ 1008617 h 1029279"/>
                    <a:gd name="connsiteX1" fmla="*/ 263977 w 1219197"/>
                    <a:gd name="connsiteY1" fmla="*/ 769782 h 1029279"/>
                    <a:gd name="connsiteX2" fmla="*/ 658584 w 1219197"/>
                    <a:gd name="connsiteY2" fmla="*/ 0 h 1029279"/>
                    <a:gd name="connsiteX3" fmla="*/ 933452 w 1219197"/>
                    <a:gd name="connsiteY3" fmla="*/ 769783 h 1029279"/>
                    <a:gd name="connsiteX4" fmla="*/ 1219197 w 1219197"/>
                    <a:gd name="connsiteY4" fmla="*/ 1002681 h 1029279"/>
                    <a:gd name="connsiteX0" fmla="*/ 0 w 1219197"/>
                    <a:gd name="connsiteY0" fmla="*/ 1026234 h 1047148"/>
                    <a:gd name="connsiteX1" fmla="*/ 263977 w 1219197"/>
                    <a:gd name="connsiteY1" fmla="*/ 787399 h 1047148"/>
                    <a:gd name="connsiteX2" fmla="*/ 609595 w 1219197"/>
                    <a:gd name="connsiteY2" fmla="*/ 0 h 1047148"/>
                    <a:gd name="connsiteX3" fmla="*/ 933452 w 1219197"/>
                    <a:gd name="connsiteY3" fmla="*/ 787400 h 1047148"/>
                    <a:gd name="connsiteX4" fmla="*/ 1219197 w 1219197"/>
                    <a:gd name="connsiteY4" fmla="*/ 1020298 h 1047148"/>
                    <a:gd name="connsiteX0" fmla="*/ 0 w 1219197"/>
                    <a:gd name="connsiteY0" fmla="*/ 1043849 h 1063452"/>
                    <a:gd name="connsiteX1" fmla="*/ 263977 w 1219197"/>
                    <a:gd name="connsiteY1" fmla="*/ 787399 h 1063452"/>
                    <a:gd name="connsiteX2" fmla="*/ 609595 w 1219197"/>
                    <a:gd name="connsiteY2" fmla="*/ 0 h 1063452"/>
                    <a:gd name="connsiteX3" fmla="*/ 933452 w 1219197"/>
                    <a:gd name="connsiteY3" fmla="*/ 787400 h 1063452"/>
                    <a:gd name="connsiteX4" fmla="*/ 1219197 w 1219197"/>
                    <a:gd name="connsiteY4" fmla="*/ 1020298 h 1063452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9197" h="1043848">
                      <a:moveTo>
                        <a:pt x="0" y="1043849"/>
                      </a:moveTo>
                      <a:cubicBezTo>
                        <a:pt x="117926" y="1005544"/>
                        <a:pt x="162378" y="961374"/>
                        <a:pt x="263977" y="787399"/>
                      </a:cubicBezTo>
                      <a:cubicBezTo>
                        <a:pt x="365576" y="613424"/>
                        <a:pt x="498016" y="0"/>
                        <a:pt x="609595" y="0"/>
                      </a:cubicBezTo>
                      <a:cubicBezTo>
                        <a:pt x="721174" y="0"/>
                        <a:pt x="864510" y="617351"/>
                        <a:pt x="933452" y="787400"/>
                      </a:cubicBezTo>
                      <a:cubicBezTo>
                        <a:pt x="1002394" y="957449"/>
                        <a:pt x="1193797" y="1080623"/>
                        <a:pt x="1219197" y="1020298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2" name="Rectangle 161"/>
                <p:cNvSpPr/>
                <p:nvPr/>
              </p:nvSpPr>
              <p:spPr>
                <a:xfrm>
                  <a:off x="8298259" y="3069431"/>
                  <a:ext cx="355598" cy="303066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63" name="Group 162"/>
              <p:cNvGrpSpPr/>
              <p:nvPr/>
            </p:nvGrpSpPr>
            <p:grpSpPr>
              <a:xfrm>
                <a:off x="9719416" y="3069431"/>
                <a:ext cx="355598" cy="303066"/>
                <a:chOff x="8298259" y="3069431"/>
                <a:chExt cx="355598" cy="303066"/>
              </a:xfrm>
            </p:grpSpPr>
            <p:sp>
              <p:nvSpPr>
                <p:cNvPr id="164" name="Freeform 163"/>
                <p:cNvSpPr/>
                <p:nvPr/>
              </p:nvSpPr>
              <p:spPr>
                <a:xfrm>
                  <a:off x="8298259" y="3083142"/>
                  <a:ext cx="355598" cy="282213"/>
                </a:xfrm>
                <a:custGeom>
                  <a:avLst/>
                  <a:gdLst>
                    <a:gd name="connsiteX0" fmla="*/ 0 w 990600"/>
                    <a:gd name="connsiteY0" fmla="*/ 762000 h 867434"/>
                    <a:gd name="connsiteX1" fmla="*/ 304800 w 990600"/>
                    <a:gd name="connsiteY1" fmla="*/ 787400 h 867434"/>
                    <a:gd name="connsiteX2" fmla="*/ 609600 w 990600"/>
                    <a:gd name="connsiteY2" fmla="*/ 0 h 867434"/>
                    <a:gd name="connsiteX3" fmla="*/ 876300 w 990600"/>
                    <a:gd name="connsiteY3" fmla="*/ 787400 h 867434"/>
                    <a:gd name="connsiteX4" fmla="*/ 990600 w 990600"/>
                    <a:gd name="connsiteY4" fmla="*/ 800100 h 867434"/>
                    <a:gd name="connsiteX0" fmla="*/ 0 w 1039584"/>
                    <a:gd name="connsiteY0" fmla="*/ 1008617 h 1031010"/>
                    <a:gd name="connsiteX1" fmla="*/ 353784 w 1039584"/>
                    <a:gd name="connsiteY1" fmla="*/ 787400 h 1031010"/>
                    <a:gd name="connsiteX2" fmla="*/ 658584 w 1039584"/>
                    <a:gd name="connsiteY2" fmla="*/ 0 h 1031010"/>
                    <a:gd name="connsiteX3" fmla="*/ 925284 w 1039584"/>
                    <a:gd name="connsiteY3" fmla="*/ 787400 h 1031010"/>
                    <a:gd name="connsiteX4" fmla="*/ 1039584 w 1039584"/>
                    <a:gd name="connsiteY4" fmla="*/ 800100 h 1031010"/>
                    <a:gd name="connsiteX0" fmla="*/ 0 w 1039584"/>
                    <a:gd name="connsiteY0" fmla="*/ 1008628 h 1029286"/>
                    <a:gd name="connsiteX1" fmla="*/ 263977 w 1039584"/>
                    <a:gd name="connsiteY1" fmla="*/ 769793 h 1029286"/>
                    <a:gd name="connsiteX2" fmla="*/ 658584 w 1039584"/>
                    <a:gd name="connsiteY2" fmla="*/ 11 h 1029286"/>
                    <a:gd name="connsiteX3" fmla="*/ 925284 w 1039584"/>
                    <a:gd name="connsiteY3" fmla="*/ 787411 h 1029286"/>
                    <a:gd name="connsiteX4" fmla="*/ 1039584 w 1039584"/>
                    <a:gd name="connsiteY4" fmla="*/ 800111 h 1029286"/>
                    <a:gd name="connsiteX0" fmla="*/ 0 w 1243691"/>
                    <a:gd name="connsiteY0" fmla="*/ 1008628 h 1029290"/>
                    <a:gd name="connsiteX1" fmla="*/ 263977 w 1243691"/>
                    <a:gd name="connsiteY1" fmla="*/ 769793 h 1029290"/>
                    <a:gd name="connsiteX2" fmla="*/ 658584 w 1243691"/>
                    <a:gd name="connsiteY2" fmla="*/ 11 h 1029290"/>
                    <a:gd name="connsiteX3" fmla="*/ 925284 w 1243691"/>
                    <a:gd name="connsiteY3" fmla="*/ 787411 h 1029290"/>
                    <a:gd name="connsiteX4" fmla="*/ 1243691 w 1243691"/>
                    <a:gd name="connsiteY4" fmla="*/ 958654 h 1029290"/>
                    <a:gd name="connsiteX0" fmla="*/ 0 w 1243691"/>
                    <a:gd name="connsiteY0" fmla="*/ 1008617 h 1029275"/>
                    <a:gd name="connsiteX1" fmla="*/ 263977 w 1243691"/>
                    <a:gd name="connsiteY1" fmla="*/ 769782 h 1029275"/>
                    <a:gd name="connsiteX2" fmla="*/ 658584 w 1243691"/>
                    <a:gd name="connsiteY2" fmla="*/ 0 h 1029275"/>
                    <a:gd name="connsiteX3" fmla="*/ 933452 w 1243691"/>
                    <a:gd name="connsiteY3" fmla="*/ 769783 h 1029275"/>
                    <a:gd name="connsiteX4" fmla="*/ 1243691 w 1243691"/>
                    <a:gd name="connsiteY4" fmla="*/ 958643 h 1029275"/>
                    <a:gd name="connsiteX0" fmla="*/ 0 w 1219197"/>
                    <a:gd name="connsiteY0" fmla="*/ 1008617 h 1029279"/>
                    <a:gd name="connsiteX1" fmla="*/ 263977 w 1219197"/>
                    <a:gd name="connsiteY1" fmla="*/ 769782 h 1029279"/>
                    <a:gd name="connsiteX2" fmla="*/ 658584 w 1219197"/>
                    <a:gd name="connsiteY2" fmla="*/ 0 h 1029279"/>
                    <a:gd name="connsiteX3" fmla="*/ 933452 w 1219197"/>
                    <a:gd name="connsiteY3" fmla="*/ 769783 h 1029279"/>
                    <a:gd name="connsiteX4" fmla="*/ 1219197 w 1219197"/>
                    <a:gd name="connsiteY4" fmla="*/ 1002681 h 1029279"/>
                    <a:gd name="connsiteX0" fmla="*/ 0 w 1219197"/>
                    <a:gd name="connsiteY0" fmla="*/ 1026234 h 1047148"/>
                    <a:gd name="connsiteX1" fmla="*/ 263977 w 1219197"/>
                    <a:gd name="connsiteY1" fmla="*/ 787399 h 1047148"/>
                    <a:gd name="connsiteX2" fmla="*/ 609595 w 1219197"/>
                    <a:gd name="connsiteY2" fmla="*/ 0 h 1047148"/>
                    <a:gd name="connsiteX3" fmla="*/ 933452 w 1219197"/>
                    <a:gd name="connsiteY3" fmla="*/ 787400 h 1047148"/>
                    <a:gd name="connsiteX4" fmla="*/ 1219197 w 1219197"/>
                    <a:gd name="connsiteY4" fmla="*/ 1020298 h 1047148"/>
                    <a:gd name="connsiteX0" fmla="*/ 0 w 1219197"/>
                    <a:gd name="connsiteY0" fmla="*/ 1043849 h 1063452"/>
                    <a:gd name="connsiteX1" fmla="*/ 263977 w 1219197"/>
                    <a:gd name="connsiteY1" fmla="*/ 787399 h 1063452"/>
                    <a:gd name="connsiteX2" fmla="*/ 609595 w 1219197"/>
                    <a:gd name="connsiteY2" fmla="*/ 0 h 1063452"/>
                    <a:gd name="connsiteX3" fmla="*/ 933452 w 1219197"/>
                    <a:gd name="connsiteY3" fmla="*/ 787400 h 1063452"/>
                    <a:gd name="connsiteX4" fmla="*/ 1219197 w 1219197"/>
                    <a:gd name="connsiteY4" fmla="*/ 1020298 h 1063452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9197" h="1043848">
                      <a:moveTo>
                        <a:pt x="0" y="1043849"/>
                      </a:moveTo>
                      <a:cubicBezTo>
                        <a:pt x="117926" y="1005544"/>
                        <a:pt x="162378" y="961374"/>
                        <a:pt x="263977" y="787399"/>
                      </a:cubicBezTo>
                      <a:cubicBezTo>
                        <a:pt x="365576" y="613424"/>
                        <a:pt x="498016" y="0"/>
                        <a:pt x="609595" y="0"/>
                      </a:cubicBezTo>
                      <a:cubicBezTo>
                        <a:pt x="721174" y="0"/>
                        <a:pt x="864510" y="617351"/>
                        <a:pt x="933452" y="787400"/>
                      </a:cubicBezTo>
                      <a:cubicBezTo>
                        <a:pt x="1002394" y="957449"/>
                        <a:pt x="1193797" y="1080623"/>
                        <a:pt x="1219197" y="1020298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5" name="Rectangle 164"/>
                <p:cNvSpPr/>
                <p:nvPr/>
              </p:nvSpPr>
              <p:spPr>
                <a:xfrm>
                  <a:off x="8298259" y="3069431"/>
                  <a:ext cx="355598" cy="303066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66" name="Group 165"/>
              <p:cNvGrpSpPr/>
              <p:nvPr/>
            </p:nvGrpSpPr>
            <p:grpSpPr>
              <a:xfrm>
                <a:off x="10073779" y="3069431"/>
                <a:ext cx="355598" cy="303066"/>
                <a:chOff x="8298259" y="3069431"/>
                <a:chExt cx="355598" cy="303066"/>
              </a:xfrm>
            </p:grpSpPr>
            <p:sp>
              <p:nvSpPr>
                <p:cNvPr id="167" name="Freeform 166"/>
                <p:cNvSpPr/>
                <p:nvPr/>
              </p:nvSpPr>
              <p:spPr>
                <a:xfrm>
                  <a:off x="8298259" y="3083142"/>
                  <a:ext cx="355598" cy="282213"/>
                </a:xfrm>
                <a:custGeom>
                  <a:avLst/>
                  <a:gdLst>
                    <a:gd name="connsiteX0" fmla="*/ 0 w 990600"/>
                    <a:gd name="connsiteY0" fmla="*/ 762000 h 867434"/>
                    <a:gd name="connsiteX1" fmla="*/ 304800 w 990600"/>
                    <a:gd name="connsiteY1" fmla="*/ 787400 h 867434"/>
                    <a:gd name="connsiteX2" fmla="*/ 609600 w 990600"/>
                    <a:gd name="connsiteY2" fmla="*/ 0 h 867434"/>
                    <a:gd name="connsiteX3" fmla="*/ 876300 w 990600"/>
                    <a:gd name="connsiteY3" fmla="*/ 787400 h 867434"/>
                    <a:gd name="connsiteX4" fmla="*/ 990600 w 990600"/>
                    <a:gd name="connsiteY4" fmla="*/ 800100 h 867434"/>
                    <a:gd name="connsiteX0" fmla="*/ 0 w 1039584"/>
                    <a:gd name="connsiteY0" fmla="*/ 1008617 h 1031010"/>
                    <a:gd name="connsiteX1" fmla="*/ 353784 w 1039584"/>
                    <a:gd name="connsiteY1" fmla="*/ 787400 h 1031010"/>
                    <a:gd name="connsiteX2" fmla="*/ 658584 w 1039584"/>
                    <a:gd name="connsiteY2" fmla="*/ 0 h 1031010"/>
                    <a:gd name="connsiteX3" fmla="*/ 925284 w 1039584"/>
                    <a:gd name="connsiteY3" fmla="*/ 787400 h 1031010"/>
                    <a:gd name="connsiteX4" fmla="*/ 1039584 w 1039584"/>
                    <a:gd name="connsiteY4" fmla="*/ 800100 h 1031010"/>
                    <a:gd name="connsiteX0" fmla="*/ 0 w 1039584"/>
                    <a:gd name="connsiteY0" fmla="*/ 1008628 h 1029286"/>
                    <a:gd name="connsiteX1" fmla="*/ 263977 w 1039584"/>
                    <a:gd name="connsiteY1" fmla="*/ 769793 h 1029286"/>
                    <a:gd name="connsiteX2" fmla="*/ 658584 w 1039584"/>
                    <a:gd name="connsiteY2" fmla="*/ 11 h 1029286"/>
                    <a:gd name="connsiteX3" fmla="*/ 925284 w 1039584"/>
                    <a:gd name="connsiteY3" fmla="*/ 787411 h 1029286"/>
                    <a:gd name="connsiteX4" fmla="*/ 1039584 w 1039584"/>
                    <a:gd name="connsiteY4" fmla="*/ 800111 h 1029286"/>
                    <a:gd name="connsiteX0" fmla="*/ 0 w 1243691"/>
                    <a:gd name="connsiteY0" fmla="*/ 1008628 h 1029290"/>
                    <a:gd name="connsiteX1" fmla="*/ 263977 w 1243691"/>
                    <a:gd name="connsiteY1" fmla="*/ 769793 h 1029290"/>
                    <a:gd name="connsiteX2" fmla="*/ 658584 w 1243691"/>
                    <a:gd name="connsiteY2" fmla="*/ 11 h 1029290"/>
                    <a:gd name="connsiteX3" fmla="*/ 925284 w 1243691"/>
                    <a:gd name="connsiteY3" fmla="*/ 787411 h 1029290"/>
                    <a:gd name="connsiteX4" fmla="*/ 1243691 w 1243691"/>
                    <a:gd name="connsiteY4" fmla="*/ 958654 h 1029290"/>
                    <a:gd name="connsiteX0" fmla="*/ 0 w 1243691"/>
                    <a:gd name="connsiteY0" fmla="*/ 1008617 h 1029275"/>
                    <a:gd name="connsiteX1" fmla="*/ 263977 w 1243691"/>
                    <a:gd name="connsiteY1" fmla="*/ 769782 h 1029275"/>
                    <a:gd name="connsiteX2" fmla="*/ 658584 w 1243691"/>
                    <a:gd name="connsiteY2" fmla="*/ 0 h 1029275"/>
                    <a:gd name="connsiteX3" fmla="*/ 933452 w 1243691"/>
                    <a:gd name="connsiteY3" fmla="*/ 769783 h 1029275"/>
                    <a:gd name="connsiteX4" fmla="*/ 1243691 w 1243691"/>
                    <a:gd name="connsiteY4" fmla="*/ 958643 h 1029275"/>
                    <a:gd name="connsiteX0" fmla="*/ 0 w 1219197"/>
                    <a:gd name="connsiteY0" fmla="*/ 1008617 h 1029279"/>
                    <a:gd name="connsiteX1" fmla="*/ 263977 w 1219197"/>
                    <a:gd name="connsiteY1" fmla="*/ 769782 h 1029279"/>
                    <a:gd name="connsiteX2" fmla="*/ 658584 w 1219197"/>
                    <a:gd name="connsiteY2" fmla="*/ 0 h 1029279"/>
                    <a:gd name="connsiteX3" fmla="*/ 933452 w 1219197"/>
                    <a:gd name="connsiteY3" fmla="*/ 769783 h 1029279"/>
                    <a:gd name="connsiteX4" fmla="*/ 1219197 w 1219197"/>
                    <a:gd name="connsiteY4" fmla="*/ 1002681 h 1029279"/>
                    <a:gd name="connsiteX0" fmla="*/ 0 w 1219197"/>
                    <a:gd name="connsiteY0" fmla="*/ 1026234 h 1047148"/>
                    <a:gd name="connsiteX1" fmla="*/ 263977 w 1219197"/>
                    <a:gd name="connsiteY1" fmla="*/ 787399 h 1047148"/>
                    <a:gd name="connsiteX2" fmla="*/ 609595 w 1219197"/>
                    <a:gd name="connsiteY2" fmla="*/ 0 h 1047148"/>
                    <a:gd name="connsiteX3" fmla="*/ 933452 w 1219197"/>
                    <a:gd name="connsiteY3" fmla="*/ 787400 h 1047148"/>
                    <a:gd name="connsiteX4" fmla="*/ 1219197 w 1219197"/>
                    <a:gd name="connsiteY4" fmla="*/ 1020298 h 1047148"/>
                    <a:gd name="connsiteX0" fmla="*/ 0 w 1219197"/>
                    <a:gd name="connsiteY0" fmla="*/ 1043849 h 1063452"/>
                    <a:gd name="connsiteX1" fmla="*/ 263977 w 1219197"/>
                    <a:gd name="connsiteY1" fmla="*/ 787399 h 1063452"/>
                    <a:gd name="connsiteX2" fmla="*/ 609595 w 1219197"/>
                    <a:gd name="connsiteY2" fmla="*/ 0 h 1063452"/>
                    <a:gd name="connsiteX3" fmla="*/ 933452 w 1219197"/>
                    <a:gd name="connsiteY3" fmla="*/ 787400 h 1063452"/>
                    <a:gd name="connsiteX4" fmla="*/ 1219197 w 1219197"/>
                    <a:gd name="connsiteY4" fmla="*/ 1020298 h 1063452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  <a:gd name="connsiteX0" fmla="*/ 0 w 1219197"/>
                    <a:gd name="connsiteY0" fmla="*/ 1043849 h 1043848"/>
                    <a:gd name="connsiteX1" fmla="*/ 263977 w 1219197"/>
                    <a:gd name="connsiteY1" fmla="*/ 787399 h 1043848"/>
                    <a:gd name="connsiteX2" fmla="*/ 609595 w 1219197"/>
                    <a:gd name="connsiteY2" fmla="*/ 0 h 1043848"/>
                    <a:gd name="connsiteX3" fmla="*/ 933452 w 1219197"/>
                    <a:gd name="connsiteY3" fmla="*/ 787400 h 1043848"/>
                    <a:gd name="connsiteX4" fmla="*/ 1219197 w 1219197"/>
                    <a:gd name="connsiteY4" fmla="*/ 1020298 h 1043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9197" h="1043848">
                      <a:moveTo>
                        <a:pt x="0" y="1043849"/>
                      </a:moveTo>
                      <a:cubicBezTo>
                        <a:pt x="117926" y="1005544"/>
                        <a:pt x="162378" y="961374"/>
                        <a:pt x="263977" y="787399"/>
                      </a:cubicBezTo>
                      <a:cubicBezTo>
                        <a:pt x="365576" y="613424"/>
                        <a:pt x="498016" y="0"/>
                        <a:pt x="609595" y="0"/>
                      </a:cubicBezTo>
                      <a:cubicBezTo>
                        <a:pt x="721174" y="0"/>
                        <a:pt x="864510" y="617351"/>
                        <a:pt x="933452" y="787400"/>
                      </a:cubicBezTo>
                      <a:cubicBezTo>
                        <a:pt x="1002394" y="957449"/>
                        <a:pt x="1193797" y="1080623"/>
                        <a:pt x="1219197" y="1020298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68" name="Rectangle 167"/>
                <p:cNvSpPr/>
                <p:nvPr/>
              </p:nvSpPr>
              <p:spPr>
                <a:xfrm>
                  <a:off x="8298259" y="3069431"/>
                  <a:ext cx="355598" cy="303066"/>
                </a:xfrm>
                <a:prstGeom prst="rect">
                  <a:avLst/>
                </a:prstGeom>
                <a:noFill/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170" name="Google Shape;138;p5"/>
            <p:cNvSpPr/>
            <p:nvPr/>
          </p:nvSpPr>
          <p:spPr>
            <a:xfrm>
              <a:off x="8709581" y="3513697"/>
              <a:ext cx="1436279" cy="824195"/>
            </a:xfrm>
            <a:prstGeom prst="trapezoid">
              <a:avLst>
                <a:gd name="adj" fmla="val 57796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38;p5"/>
            <p:cNvSpPr/>
            <p:nvPr/>
          </p:nvSpPr>
          <p:spPr>
            <a:xfrm rot="10800000">
              <a:off x="8709581" y="2075944"/>
              <a:ext cx="1423579" cy="824195"/>
            </a:xfrm>
            <a:prstGeom prst="trapezoid">
              <a:avLst>
                <a:gd name="adj" fmla="val 5677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79" name="Picture 178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5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68900" y="1001036"/>
              <a:ext cx="1240005" cy="985778"/>
            </a:xfrm>
            <a:prstGeom prst="rect">
              <a:avLst/>
            </a:prstGeom>
          </p:spPr>
        </p:pic>
        <p:sp>
          <p:nvSpPr>
            <p:cNvPr id="180" name="Google Shape;274;p11"/>
            <p:cNvSpPr txBox="1"/>
            <p:nvPr/>
          </p:nvSpPr>
          <p:spPr>
            <a:xfrm>
              <a:off x="8051887" y="3713483"/>
              <a:ext cx="907372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Decoder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181" name="Google Shape;276;p11"/>
            <p:cNvSpPr txBox="1"/>
            <p:nvPr/>
          </p:nvSpPr>
          <p:spPr>
            <a:xfrm>
              <a:off x="10293069" y="3730678"/>
              <a:ext cx="1025836" cy="33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Generator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182" name="Google Shape;289;p11"/>
            <p:cNvSpPr txBox="1"/>
            <p:nvPr/>
          </p:nvSpPr>
          <p:spPr>
            <a:xfrm>
              <a:off x="10429377" y="3043817"/>
              <a:ext cx="1370139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Distributions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183" name="Google Shape;293;p11"/>
            <p:cNvSpPr txBox="1"/>
            <p:nvPr/>
          </p:nvSpPr>
          <p:spPr>
            <a:xfrm>
              <a:off x="6812465" y="3040690"/>
              <a:ext cx="1738371" cy="33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 (Latent space)</a:t>
              </a:r>
              <a:endParaRPr dirty="0">
                <a:solidFill>
                  <a:srgbClr val="7030A0"/>
                </a:solidFill>
              </a:endParaRPr>
            </a:p>
          </p:txBody>
        </p:sp>
        <p:sp>
          <p:nvSpPr>
            <p:cNvPr id="184" name="Google Shape;294;p11"/>
            <p:cNvSpPr txBox="1"/>
            <p:nvPr/>
          </p:nvSpPr>
          <p:spPr>
            <a:xfrm>
              <a:off x="8051887" y="2367898"/>
              <a:ext cx="997899" cy="338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dirty="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Encoder</a:t>
              </a:r>
              <a:endParaRPr dirty="0">
                <a:solidFill>
                  <a:srgbClr val="7030A0"/>
                </a:solidFill>
              </a:endParaRP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09049" y="4381269"/>
              <a:ext cx="1154308" cy="1177053"/>
            </a:xfrm>
            <a:prstGeom prst="rect">
              <a:avLst/>
            </a:prstGeom>
          </p:spPr>
        </p:pic>
      </p:grpSp>
      <p:sp>
        <p:nvSpPr>
          <p:cNvPr id="189" name="Rectangle 188"/>
          <p:cNvSpPr/>
          <p:nvPr/>
        </p:nvSpPr>
        <p:spPr>
          <a:xfrm>
            <a:off x="6806635" y="1481064"/>
            <a:ext cx="4954123" cy="4712176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1" name="Google Shape;313;p11"/>
          <p:cNvSpPr txBox="1"/>
          <p:nvPr/>
        </p:nvSpPr>
        <p:spPr>
          <a:xfrm>
            <a:off x="7770553" y="6193240"/>
            <a:ext cx="335378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Variational Auto-Encoder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074FB6-4B1A-450E-9977-8399F4C2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b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</a:br>
            <a:r>
              <a:rPr lang="en-IN" sz="24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Statistical Understanding</a:t>
            </a:r>
            <a:endParaRPr lang="en-IN" sz="2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664DF9-7ED2-4026-BC4F-7D28C568963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400" dirty="0">
                    <a:latin typeface="Arial Narrow" panose="020B0606020202030204" pitchFamily="34" charset="0"/>
                  </a:rPr>
                  <a:t>Assumptions</a:t>
                </a:r>
                <a:r>
                  <a:rPr lang="en-IN" sz="2000" dirty="0">
                    <a:latin typeface="Arial Narrow" panose="020B0606020202030204" pitchFamily="34" charset="0"/>
                  </a:rPr>
                  <a:t>:</a:t>
                </a: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IN" sz="2000" dirty="0">
                    <a:latin typeface="Arial Narrow" panose="020B0606020202030204" pitchFamily="34" charset="0"/>
                  </a:rPr>
                  <a:t>The training data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p>
                          <m:sSup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is generated from a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latent (unobserved) distribution</a:t>
                </a:r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lvl="1"/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X: An Image; z= attributes </a:t>
                </a:r>
              </a:p>
              <a:p>
                <a:pPr lvl="1"/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VAE learn latent features z from raw data </a:t>
                </a:r>
                <a:r>
                  <a:rPr lang="en-IN" sz="2000" dirty="0">
                    <a:latin typeface="Arial Narrow" panose="020B0606020202030204" pitchFamily="34" charset="0"/>
                  </a:rPr>
                  <a:t>and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sample from the model to generate new data</a:t>
                </a:r>
              </a:p>
              <a:p>
                <a:pPr lvl="1"/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Instead of mapping the input into a fixed vector,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we want to map it into a distribution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6664DF9-7ED2-4026-BC4F-7D28C56896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263;p10">
            <a:extLst>
              <a:ext uri="{FF2B5EF4-FFF2-40B4-BE49-F238E27FC236}">
                <a16:creationId xmlns:a16="http://schemas.microsoft.com/office/drawing/2014/main" id="{582E504D-82E1-47F4-9696-922B84A7F27F}"/>
              </a:ext>
            </a:extLst>
          </p:cNvPr>
          <p:cNvSpPr/>
          <p:nvPr/>
        </p:nvSpPr>
        <p:spPr>
          <a:xfrm>
            <a:off x="161365" y="6202540"/>
            <a:ext cx="598407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Concept: Fei-Fei Li, et. al. Generative Modelling, Stanford Lecture, 2026</a:t>
            </a:r>
            <a:endParaRPr dirty="0">
              <a:latin typeface="Arial Narrow" panose="020B0606020202030204" pitchFamily="34" charset="0"/>
            </a:endParaRPr>
          </a:p>
        </p:txBody>
      </p:sp>
      <p:sp>
        <p:nvSpPr>
          <p:cNvPr id="6" name="Google Shape;328;p12">
            <a:extLst>
              <a:ext uri="{FF2B5EF4-FFF2-40B4-BE49-F238E27FC236}">
                <a16:creationId xmlns:a16="http://schemas.microsoft.com/office/drawing/2014/main" id="{A534E490-7B05-483B-853A-233BB2133F9B}"/>
              </a:ext>
            </a:extLst>
          </p:cNvPr>
          <p:cNvSpPr/>
          <p:nvPr/>
        </p:nvSpPr>
        <p:spPr>
          <a:xfrm>
            <a:off x="161365" y="6484189"/>
            <a:ext cx="92605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Weng, Lilian. (2018).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From Autoencoder to Beta-VAE,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400" b="0" i="0" dirty="0" err="1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Lil’Log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"https://lilianweng.github.io/posts/2018-08-12-vae/"</a:t>
            </a:r>
            <a:endParaRPr sz="1400" dirty="0">
              <a:solidFill>
                <a:schemeClr val="dk1"/>
              </a:solidFill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3752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340C631-C7F1-4C43-BFB6-F8DB489294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A VAE maps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to a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probability distribution over possible latent vectors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Let’s label this distribution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parameterized by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. The relationship between the data input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and the latent encoding vector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can be fully defined by:</a:t>
                </a:r>
              </a:p>
              <a:p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Prior: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prior</a:t>
                </a:r>
                <a:r>
                  <a:rPr lang="en-US" sz="2000" dirty="0">
                    <a:latin typeface="Arial Narrow" panose="020B0606020202030204" pitchFamily="34" charset="0"/>
                  </a:rPr>
                  <a:t> describes what we believe about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the latent variable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before seeing any input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Usually, we choose something simple such as:</a:t>
                </a:r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So,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before observing any data</a:t>
                </a:r>
                <a:r>
                  <a:rPr lang="en-US" sz="2000" dirty="0">
                    <a:latin typeface="Arial Narrow" panose="020B0606020202030204" pitchFamily="34" charset="0"/>
                  </a:rPr>
                  <a:t>, we assume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latent vectors are distributed around zero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Likelihood: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IN" sz="2000" dirty="0">
                    <a:latin typeface="Arial Narrow" panose="020B0606020202030204" pitchFamily="34" charset="0"/>
                  </a:rPr>
                  <a:t>The likelihood answers: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If I know the latent representation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, how likely is the observed data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?</a:t>
                </a: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This is essentially 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decoder</a:t>
                </a:r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</a:p>
              <a:p>
                <a:pPr marL="571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Instead of the decoder necessarily producing one exact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, it produces the parameters of a probability distribution for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.</a:t>
                </a:r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340C631-C7F1-4C43-BFB6-F8DB48929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2">
            <a:extLst>
              <a:ext uri="{FF2B5EF4-FFF2-40B4-BE49-F238E27FC236}">
                <a16:creationId xmlns:a16="http://schemas.microsoft.com/office/drawing/2014/main" id="{D3D50C0C-987D-4E1B-B851-BC69EF717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b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</a:br>
            <a:r>
              <a:rPr lang="en-IN" sz="24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Statistical Understanding</a:t>
            </a:r>
            <a:endParaRPr lang="en-IN" sz="2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5" name="Google Shape;328;p12">
            <a:extLst>
              <a:ext uri="{FF2B5EF4-FFF2-40B4-BE49-F238E27FC236}">
                <a16:creationId xmlns:a16="http://schemas.microsoft.com/office/drawing/2014/main" id="{9EC08467-D940-4439-A7C0-39373B2BE5A2}"/>
              </a:ext>
            </a:extLst>
          </p:cNvPr>
          <p:cNvSpPr/>
          <p:nvPr/>
        </p:nvSpPr>
        <p:spPr>
          <a:xfrm>
            <a:off x="161365" y="6484189"/>
            <a:ext cx="92605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Weng, Lilian. (2018).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From Autoencoder to Beta-VAE,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400" b="0" i="0" dirty="0" err="1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Lil’Log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"https://lilianweng.github.io/posts/2018-08-12-vae/"</a:t>
            </a:r>
            <a:endParaRPr sz="1400" dirty="0">
              <a:solidFill>
                <a:schemeClr val="dk1"/>
              </a:solidFill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1982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52991F-CBAC-48A7-8EBB-1D373C8C8EE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3981286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>
                    <a:latin typeface="Arial Narrow" panose="020B0606020202030204" pitchFamily="34" charset="0"/>
                  </a:rPr>
                  <a:t>Posterior: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The posterior goes in the opposite direction: Given an observed input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, which latent values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are plausible?</a:t>
                </a:r>
              </a:p>
              <a:p>
                <a:pPr lvl="1"/>
                <a:endParaRPr lang="en-US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Conceptually: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US" sz="2000" dirty="0">
                    <a:latin typeface="Arial Narrow" panose="020B0606020202030204" pitchFamily="34" charset="0"/>
                  </a:rPr>
                  <a:t>This is what 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Encoder</a:t>
                </a:r>
                <a:r>
                  <a:rPr lang="en-US" sz="2000" dirty="0">
                    <a:latin typeface="Arial Narrow" panose="020B0606020202030204" pitchFamily="34" charset="0"/>
                  </a:rPr>
                  <a:t> tries to learn.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52991F-CBAC-48A7-8EBB-1D373C8C8E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398128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2">
            <a:extLst>
              <a:ext uri="{FF2B5EF4-FFF2-40B4-BE49-F238E27FC236}">
                <a16:creationId xmlns:a16="http://schemas.microsoft.com/office/drawing/2014/main" id="{086C3B97-FDD6-406B-9408-CC4AC8A35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b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</a:br>
            <a:r>
              <a:rPr lang="en-IN" sz="24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Statistical Understanding</a:t>
            </a:r>
            <a:endParaRPr lang="en-IN" sz="2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5" name="Google Shape;328;p12">
            <a:extLst>
              <a:ext uri="{FF2B5EF4-FFF2-40B4-BE49-F238E27FC236}">
                <a16:creationId xmlns:a16="http://schemas.microsoft.com/office/drawing/2014/main" id="{A72006B1-9689-47D4-834E-EB7ADCDB3A0D}"/>
              </a:ext>
            </a:extLst>
          </p:cNvPr>
          <p:cNvSpPr/>
          <p:nvPr/>
        </p:nvSpPr>
        <p:spPr>
          <a:xfrm>
            <a:off x="161365" y="6484189"/>
            <a:ext cx="92605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Weng, Lilian. (2018).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From Autoencoder to Beta-VAE,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400" b="0" i="0" dirty="0" err="1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Lil’Log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"https://lilianweng.github.io/posts/2018-08-12-vae/"</a:t>
            </a:r>
            <a:endParaRPr sz="1400" dirty="0">
              <a:solidFill>
                <a:schemeClr val="dk1"/>
              </a:solidFill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0239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F5B5-F5F2-4038-9FF5-09DA4CB81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Generative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EF418B-48E6-4263-B006-47BB943B504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571101"/>
                <a:ext cx="10515600" cy="4921774"/>
              </a:xfrm>
            </p:spPr>
            <p:txBody>
              <a:bodyPr>
                <a:normAutofit/>
              </a:bodyPr>
              <a:lstStyle/>
              <a:p>
                <a:r>
                  <a:rPr lang="en-IN" sz="2000" dirty="0">
                    <a:latin typeface="Arial Narrow" panose="020B0606020202030204" pitchFamily="34" charset="0"/>
                  </a:rPr>
                  <a:t>The generative way is: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lvl="1"/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Then,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In other words,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Prior → latent variable → data</a:t>
                </a:r>
              </a:p>
              <a:p>
                <a:pPr marL="571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)→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)→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But during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encoding</a:t>
                </a:r>
                <a:r>
                  <a:rPr lang="en-US" sz="2000" dirty="0">
                    <a:latin typeface="Arial Narrow" panose="020B0606020202030204" pitchFamily="34" charset="0"/>
                  </a:rPr>
                  <a:t>, we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observe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and want to go backward</a:t>
                </a:r>
                <a:r>
                  <a:rPr lang="en-US" sz="2000" dirty="0">
                    <a:latin typeface="Arial Narrow" panose="020B0606020202030204" pitchFamily="34" charset="0"/>
                  </a:rPr>
                  <a:t>:</a:t>
                </a:r>
              </a:p>
              <a:p>
                <a:pPr marL="571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Bayes' rule connects these quantities:</a:t>
                </a:r>
              </a:p>
              <a:p>
                <a:pPr marL="571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sz="2000" dirty="0">
                              <a:solidFill>
                                <a:srgbClr val="7030A0"/>
                              </a:solidFill>
                              <a:latin typeface="Arial Narrow" panose="020B0606020202030204" pitchFamily="34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IN" sz="2000" dirty="0">
                              <a:solidFill>
                                <a:srgbClr val="7030A0"/>
                              </a:solidFill>
                              <a:latin typeface="Arial Narrow" panose="020B0606020202030204" pitchFamily="34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The problem is that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computing the true posterior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latin typeface="Arial Narrow" panose="020B0606020202030204" pitchFamily="34" charset="0"/>
                  </a:rPr>
                  <a:t>is usually </a:t>
                </a:r>
                <a:r>
                  <a:rPr lang="en-US" sz="2000" dirty="0">
                    <a:solidFill>
                      <a:srgbClr val="FF0000"/>
                    </a:solidFill>
                    <a:latin typeface="Arial Narrow" panose="020B0606020202030204" pitchFamily="34" charset="0"/>
                  </a:rPr>
                  <a:t>intractable for every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sz="2000" dirty="0">
                  <a:solidFill>
                    <a:srgbClr val="FF0000"/>
                  </a:solidFill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That's why VAEs introduce an approximate posterior, typically written: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0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IN" sz="20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lvl="1"/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endParaRPr lang="en-IN" sz="2000" dirty="0">
                  <a:latin typeface="Arial Narrow" panose="020B0606020202030204" pitchFamily="34" charset="0"/>
                </a:endParaRPr>
              </a:p>
              <a:p>
                <a:pPr lvl="1"/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8EF418B-48E6-4263-B006-47BB943B50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571101"/>
                <a:ext cx="10515600" cy="492177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328;p12">
            <a:extLst>
              <a:ext uri="{FF2B5EF4-FFF2-40B4-BE49-F238E27FC236}">
                <a16:creationId xmlns:a16="http://schemas.microsoft.com/office/drawing/2014/main" id="{289D3206-37DA-40E3-ABEE-004C4DCB6A11}"/>
              </a:ext>
            </a:extLst>
          </p:cNvPr>
          <p:cNvSpPr/>
          <p:nvPr/>
        </p:nvSpPr>
        <p:spPr>
          <a:xfrm>
            <a:off x="161365" y="6484189"/>
            <a:ext cx="92605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Weng, Lilian. (2018).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From Autoencoder to Beta-VAE,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400" b="0" i="0" dirty="0" err="1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Lil’Log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"https://lilianweng.github.io/posts/2018-08-12-vae/"</a:t>
            </a:r>
            <a:endParaRPr sz="1400" dirty="0">
              <a:solidFill>
                <a:schemeClr val="dk1"/>
              </a:solidFill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6351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E9D22AC-6182-4CC7-8010-F9ECE4BEB4A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575458"/>
                <a:ext cx="7678270" cy="478256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Assuming that we know 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real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for this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. In order to generate a sample that looks like a real data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, we follow these steps:</a:t>
                </a: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 First,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sample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from a prior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IN" sz="20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000" b="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Then a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is generated from a conditional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IN" sz="20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</a:rPr>
                  <a:t>The </a:t>
                </a:r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optimal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is the one that maximizes the probability of generating real data samples</a:t>
                </a:r>
                <a:r>
                  <a:rPr lang="en-US" sz="2000" dirty="0">
                    <a:latin typeface="Arial Narrow" panose="020B0606020202030204" pitchFamily="34" charset="0"/>
                  </a:rPr>
                  <a:t>:</a:t>
                </a:r>
              </a:p>
              <a:p>
                <a:pPr marL="114300" indent="0">
                  <a:buNone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unc>
                              <m:funcPr>
                                <m:ctrlPr>
                                  <a:rPr lang="en-IN" sz="20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IN" sz="2000" b="0" i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000" b="0" i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rg</m:t>
                                </m:r>
                              </m:fName>
                              <m:e>
                                <m:r>
                                  <a:rPr lang="en-IN" sz="2000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e>
                            </m:func>
                          </m:e>
                        </m:mr>
                        <m:mr>
                          <m:e>
                            <m:r>
                              <a:rPr lang="en-IN" sz="20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mr>
                      </m:m>
                      <m:nary>
                        <m:naryPr>
                          <m:chr m:val="∏"/>
                          <m:ctrlP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 Commonly we use the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log probabilities to convert the product on RHS to a sum</a:t>
                </a:r>
                <a:r>
                  <a:rPr lang="en-US" sz="2000" dirty="0">
                    <a:latin typeface="Arial Narrow" panose="020B0606020202030204" pitchFamily="34" charset="0"/>
                  </a:rPr>
                  <a:t>:</a:t>
                </a:r>
              </a:p>
              <a:p>
                <a:pPr marL="114300" indent="0">
                  <a:buNone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N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unc>
                              <m:funcPr>
                                <m:ctrlPr>
                                  <a:rPr lang="en-IN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IN" sz="200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00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rg</m:t>
                                </m:r>
                              </m:fName>
                              <m:e>
                                <m:r>
                                  <a:rPr lang="en-IN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e>
                            </m:func>
                          </m:e>
                        </m:mr>
                        <m:m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mr>
                      </m:m>
                      <m:nary>
                        <m:naryPr>
                          <m:chr m:val="∑"/>
                          <m:ctrlPr>
                            <a:rPr lang="en-IN" sz="20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I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IN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0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IN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E9D22AC-6182-4CC7-8010-F9ECE4BEB4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575458"/>
                <a:ext cx="7678270" cy="4782565"/>
              </a:xfrm>
              <a:blipFill>
                <a:blip r:embed="rId2"/>
                <a:stretch>
                  <a:fillRect r="-1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2">
            <a:extLst>
              <a:ext uri="{FF2B5EF4-FFF2-40B4-BE49-F238E27FC236}">
                <a16:creationId xmlns:a16="http://schemas.microsoft.com/office/drawing/2014/main" id="{316CF800-C97D-42CF-9194-B2BAE04F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b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</a:br>
            <a:r>
              <a:rPr lang="en-IN" sz="24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In another view-point</a:t>
            </a:r>
            <a:endParaRPr lang="en-IN" sz="2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5" name="Google Shape;322;p12">
            <a:extLst>
              <a:ext uri="{FF2B5EF4-FFF2-40B4-BE49-F238E27FC236}">
                <a16:creationId xmlns:a16="http://schemas.microsoft.com/office/drawing/2014/main" id="{2F3A438D-3578-47BF-BAD3-FEA1639569C1}"/>
              </a:ext>
            </a:extLst>
          </p:cNvPr>
          <p:cNvSpPr txBox="1"/>
          <p:nvPr/>
        </p:nvSpPr>
        <p:spPr>
          <a:xfrm>
            <a:off x="9462247" y="3996763"/>
            <a:ext cx="1891553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" name="Google Shape;323;p12">
            <a:extLst>
              <a:ext uri="{FF2B5EF4-FFF2-40B4-BE49-F238E27FC236}">
                <a16:creationId xmlns:a16="http://schemas.microsoft.com/office/drawing/2014/main" id="{E3F5187C-ADB6-4043-B842-3F7363080A2A}"/>
              </a:ext>
            </a:extLst>
          </p:cNvPr>
          <p:cNvSpPr txBox="1"/>
          <p:nvPr/>
        </p:nvSpPr>
        <p:spPr>
          <a:xfrm>
            <a:off x="9462247" y="2482288"/>
            <a:ext cx="1891553" cy="5232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" name="Google Shape;324;p12">
            <a:extLst>
              <a:ext uri="{FF2B5EF4-FFF2-40B4-BE49-F238E27FC236}">
                <a16:creationId xmlns:a16="http://schemas.microsoft.com/office/drawing/2014/main" id="{3037EEC1-E515-473F-B3C4-8C0C59F5A951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10800000">
            <a:off x="10408024" y="3005563"/>
            <a:ext cx="0" cy="99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0898E8-136F-422D-8C6B-4C0C4356F817}"/>
                  </a:ext>
                </a:extLst>
              </p:cNvPr>
              <p:cNvSpPr txBox="1"/>
              <p:nvPr/>
            </p:nvSpPr>
            <p:spPr>
              <a:xfrm>
                <a:off x="9351034" y="4690446"/>
                <a:ext cx="2372264" cy="595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Arial Narrow" panose="020B0606020202030204" pitchFamily="34" charset="0"/>
                  </a:rPr>
                  <a:t>First, sample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 from a prior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IN" sz="16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   </a:t>
                </a:r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0898E8-136F-422D-8C6B-4C0C4356F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1034" y="4690446"/>
                <a:ext cx="2372264" cy="595035"/>
              </a:xfrm>
              <a:prstGeom prst="rect">
                <a:avLst/>
              </a:prstGeom>
              <a:blipFill>
                <a:blip r:embed="rId5"/>
                <a:stretch>
                  <a:fillRect l="-1542" t="-1020" b="-122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4A05B5-D425-42F6-BD37-86596C922F73}"/>
                  </a:ext>
                </a:extLst>
              </p:cNvPr>
              <p:cNvSpPr txBox="1"/>
              <p:nvPr/>
            </p:nvSpPr>
            <p:spPr>
              <a:xfrm>
                <a:off x="8761477" y="1708683"/>
                <a:ext cx="3293092" cy="626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Arial Narrow" panose="020B0606020202030204" pitchFamily="34" charset="0"/>
                  </a:rPr>
                  <a:t>Then a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 </a:t>
                </a:r>
                <a:r>
                  <a:rPr lang="en-US" sz="1600" dirty="0">
                    <a:latin typeface="Arial Narrow" panose="020B0606020202030204" pitchFamily="34" charset="0"/>
                  </a:rPr>
                  <a:t>is generated from a conditional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IN" sz="16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4A05B5-D425-42F6-BD37-86596C922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1477" y="1708683"/>
                <a:ext cx="3293092" cy="626775"/>
              </a:xfrm>
              <a:prstGeom prst="rect">
                <a:avLst/>
              </a:prstGeom>
              <a:blipFill>
                <a:blip r:embed="rId6"/>
                <a:stretch>
                  <a:fillRect l="-926" t="-971" b="-87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328;p12">
            <a:extLst>
              <a:ext uri="{FF2B5EF4-FFF2-40B4-BE49-F238E27FC236}">
                <a16:creationId xmlns:a16="http://schemas.microsoft.com/office/drawing/2014/main" id="{F3CE5D31-053F-460F-9E29-0589B28CDD5B}"/>
              </a:ext>
            </a:extLst>
          </p:cNvPr>
          <p:cNvSpPr/>
          <p:nvPr/>
        </p:nvSpPr>
        <p:spPr>
          <a:xfrm>
            <a:off x="161365" y="6484189"/>
            <a:ext cx="92605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Weng, Lilian. (2018).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From Autoencoder to Beta-VAE,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400" b="0" i="0" dirty="0" err="1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Lil’Log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"https://lilianweng.github.io/posts/2018-08-12-vae/"</a:t>
            </a:r>
            <a:endParaRPr sz="1400" dirty="0">
              <a:solidFill>
                <a:schemeClr val="dk1"/>
              </a:solidFill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462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829EF3-8A28-4D5A-B199-6F84BBF65D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227" y="1681972"/>
                <a:ext cx="7598434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latin typeface="Arial Narrow" panose="020B0606020202030204" pitchFamily="34" charset="0"/>
                  </a:rPr>
                  <a:t>Now let’s update the equation to better demonstrate the data generation process so as to involve the encoding vector: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nary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IN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Unfortunately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it is not easy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IN" sz="2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IN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IN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in this way</a:t>
                </a:r>
                <a:r>
                  <a:rPr lang="en-US" sz="2000" dirty="0">
                    <a:latin typeface="Arial Narrow" panose="020B0606020202030204" pitchFamily="34" charset="0"/>
                  </a:rPr>
                  <a:t>, as it is very expensive to check all the possible values of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and sum them up (</a:t>
                </a:r>
                <a:r>
                  <a:rPr lang="en-US" sz="2000" dirty="0">
                    <a:solidFill>
                      <a:srgbClr val="FF0000"/>
                    </a:solidFill>
                    <a:latin typeface="Arial Narrow" panose="020B0606020202030204" pitchFamily="34" charset="0"/>
                  </a:rPr>
                  <a:t>so intractable</a:t>
                </a:r>
                <a:r>
                  <a:rPr lang="en-US" sz="2000" dirty="0">
                    <a:latin typeface="Arial Narrow" panose="020B0606020202030204" pitchFamily="34" charset="0"/>
                  </a:rPr>
                  <a:t>). </a:t>
                </a:r>
              </a:p>
              <a:p>
                <a:endParaRPr lang="en-US" sz="2000" dirty="0">
                  <a:latin typeface="Arial Narrow" panose="020B0606020202030204" pitchFamily="34" charset="0"/>
                </a:endParaRPr>
              </a:p>
              <a:p>
                <a:r>
                  <a:rPr lang="en-US" sz="2000" dirty="0">
                    <a:latin typeface="Arial Narrow" panose="020B0606020202030204" pitchFamily="34" charset="0"/>
                  </a:rPr>
                  <a:t>To narrow down the value space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to facilitate faster search</a:t>
                </a:r>
                <a:r>
                  <a:rPr lang="en-US" sz="2000" dirty="0">
                    <a:latin typeface="Arial Narrow" panose="020B0606020202030204" pitchFamily="34" charset="0"/>
                  </a:rPr>
                  <a:t>, we would like to introduce a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new approximation function </a:t>
                </a:r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to output what is a likely code given an input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,</a:t>
                </a:r>
                <a:r>
                  <a:rPr lang="en-IN" sz="20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0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IN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, </a:t>
                </a:r>
                <a:r>
                  <a:rPr lang="en-US" sz="2000" dirty="0">
                    <a:solidFill>
                      <a:schemeClr val="tx1"/>
                    </a:solidFill>
                    <a:latin typeface="Arial Narrow" panose="020B0606020202030204" pitchFamily="34" charset="0"/>
                  </a:rPr>
                  <a:t>parameterized by </a:t>
                </a:r>
                <a14:m>
                  <m:oMath xmlns:m="http://schemas.openxmlformats.org/officeDocument/2006/math">
                    <m:r>
                      <a:rPr lang="en-IN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.</a:t>
                </a: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114300" indent="0">
                  <a:buNone/>
                </a:pPr>
                <a:r>
                  <a:rPr lang="en-IN" sz="2000" dirty="0">
                    <a:latin typeface="Arial Narrow" panose="020B0606020202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829EF3-8A28-4D5A-B199-6F84BBF65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227" y="1681972"/>
                <a:ext cx="7598434" cy="4351338"/>
              </a:xfrm>
              <a:blipFill>
                <a:blip r:embed="rId2"/>
                <a:stretch>
                  <a:fillRect r="-14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2">
            <a:extLst>
              <a:ext uri="{FF2B5EF4-FFF2-40B4-BE49-F238E27FC236}">
                <a16:creationId xmlns:a16="http://schemas.microsoft.com/office/drawing/2014/main" id="{710D4C93-277F-4104-95F3-5EA24FD91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b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</a:br>
            <a:r>
              <a:rPr lang="en-IN" sz="24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In another view-point</a:t>
            </a:r>
            <a:endParaRPr lang="en-IN" sz="2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5" name="Google Shape;322;p12">
            <a:extLst>
              <a:ext uri="{FF2B5EF4-FFF2-40B4-BE49-F238E27FC236}">
                <a16:creationId xmlns:a16="http://schemas.microsoft.com/office/drawing/2014/main" id="{90242D71-7E7D-4026-A2BE-BA93E05B8538}"/>
              </a:ext>
            </a:extLst>
          </p:cNvPr>
          <p:cNvSpPr txBox="1"/>
          <p:nvPr/>
        </p:nvSpPr>
        <p:spPr>
          <a:xfrm>
            <a:off x="9065431" y="3970052"/>
            <a:ext cx="1891553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" name="Google Shape;323;p12">
            <a:extLst>
              <a:ext uri="{FF2B5EF4-FFF2-40B4-BE49-F238E27FC236}">
                <a16:creationId xmlns:a16="http://schemas.microsoft.com/office/drawing/2014/main" id="{CEAEFB6D-D64A-472F-99D6-D846E043A49A}"/>
              </a:ext>
            </a:extLst>
          </p:cNvPr>
          <p:cNvSpPr txBox="1"/>
          <p:nvPr/>
        </p:nvSpPr>
        <p:spPr>
          <a:xfrm>
            <a:off x="9065431" y="2455577"/>
            <a:ext cx="1891553" cy="5232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7" name="Google Shape;324;p12">
            <a:extLst>
              <a:ext uri="{FF2B5EF4-FFF2-40B4-BE49-F238E27FC236}">
                <a16:creationId xmlns:a16="http://schemas.microsoft.com/office/drawing/2014/main" id="{AB2AE962-0C2D-447C-9B8A-D61EF4A1BE69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10800000">
            <a:off x="10011208" y="2978852"/>
            <a:ext cx="0" cy="99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C38A77-A2CC-483C-82C5-7F81F2F16067}"/>
                  </a:ext>
                </a:extLst>
              </p:cNvPr>
              <p:cNvSpPr txBox="1"/>
              <p:nvPr/>
            </p:nvSpPr>
            <p:spPr>
              <a:xfrm>
                <a:off x="8954218" y="4663735"/>
                <a:ext cx="2372264" cy="595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Arial Narrow" panose="020B0606020202030204" pitchFamily="34" charset="0"/>
                  </a:rPr>
                  <a:t>First, sample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 from a prior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IN" sz="16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   </a:t>
                </a:r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C38A77-A2CC-483C-82C5-7F81F2F16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218" y="4663735"/>
                <a:ext cx="2372264" cy="595035"/>
              </a:xfrm>
              <a:prstGeom prst="rect">
                <a:avLst/>
              </a:prstGeom>
              <a:blipFill>
                <a:blip r:embed="rId5"/>
                <a:stretch>
                  <a:fillRect l="-1542" t="-1020" b="-122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9DE5CD-27FA-42D7-B426-EBA74934A23C}"/>
                  </a:ext>
                </a:extLst>
              </p:cNvPr>
              <p:cNvSpPr txBox="1"/>
              <p:nvPr/>
            </p:nvSpPr>
            <p:spPr>
              <a:xfrm>
                <a:off x="8364661" y="1681972"/>
                <a:ext cx="3293092" cy="626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Arial Narrow" panose="020B0606020202030204" pitchFamily="34" charset="0"/>
                  </a:rPr>
                  <a:t>Then a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 </a:t>
                </a:r>
                <a:r>
                  <a:rPr lang="en-US" sz="1600" dirty="0">
                    <a:latin typeface="Arial Narrow" panose="020B0606020202030204" pitchFamily="34" charset="0"/>
                  </a:rPr>
                  <a:t>is generated from a conditional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IN" sz="16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9DE5CD-27FA-42D7-B426-EBA74934A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661" y="1681972"/>
                <a:ext cx="3293092" cy="626775"/>
              </a:xfrm>
              <a:prstGeom prst="rect">
                <a:avLst/>
              </a:prstGeom>
              <a:blipFill>
                <a:blip r:embed="rId6"/>
                <a:stretch>
                  <a:fillRect l="-926" t="-971" b="-87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328;p12">
            <a:extLst>
              <a:ext uri="{FF2B5EF4-FFF2-40B4-BE49-F238E27FC236}">
                <a16:creationId xmlns:a16="http://schemas.microsoft.com/office/drawing/2014/main" id="{08B7EC13-B4D8-4FD3-9F1F-67CE09FF6F19}"/>
              </a:ext>
            </a:extLst>
          </p:cNvPr>
          <p:cNvSpPr/>
          <p:nvPr/>
        </p:nvSpPr>
        <p:spPr>
          <a:xfrm>
            <a:off x="161365" y="6465335"/>
            <a:ext cx="92605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Weng, Lilian. (2018).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From Autoencoder to Beta-VAE,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400" b="0" i="0" dirty="0" err="1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Lil’Log</a:t>
            </a:r>
            <a:r>
              <a:rPr lang="en-IN" sz="1400" b="0" i="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. </a:t>
            </a:r>
            <a:r>
              <a:rPr lang="en-IN" sz="1400" dirty="0">
                <a:solidFill>
                  <a:srgbClr val="1F1F1F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"https://lilianweng.github.io/posts/2018-08-12-vae/"</a:t>
            </a:r>
            <a:endParaRPr sz="1400" dirty="0">
              <a:solidFill>
                <a:schemeClr val="dk1"/>
              </a:solidFill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9710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87BCE-9FFD-4801-91E6-36DD4728B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6183702" cy="435133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How should we represent this model?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  <a:p>
            <a:r>
              <a:rPr lang="en-IN" sz="2000" dirty="0">
                <a:latin typeface="Arial Narrow" panose="020B0606020202030204" pitchFamily="34" charset="0"/>
              </a:rPr>
              <a:t>Choose prior p(z) is simple e.g. Gaussian.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  <a:p>
            <a:r>
              <a:rPr lang="en-IN" sz="2000" dirty="0">
                <a:latin typeface="Arial Narrow" panose="020B0606020202030204" pitchFamily="34" charset="0"/>
              </a:rPr>
              <a:t>Reasonable for latent attributes.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  <a:p>
            <a:r>
              <a:rPr lang="en-IN" sz="2000" dirty="0">
                <a:latin typeface="Arial Narrow" panose="020B0606020202030204" pitchFamily="34" charset="0"/>
              </a:rPr>
              <a:t>Conditional p(</a:t>
            </a:r>
            <a:r>
              <a:rPr lang="en-IN" sz="2000" dirty="0" err="1">
                <a:latin typeface="Arial Narrow" panose="020B0606020202030204" pitchFamily="34" charset="0"/>
              </a:rPr>
              <a:t>x|z</a:t>
            </a:r>
            <a:r>
              <a:rPr lang="en-IN" sz="2000" dirty="0">
                <a:latin typeface="Arial Narrow" panose="020B0606020202030204" pitchFamily="34" charset="0"/>
              </a:rPr>
              <a:t>) is complex. It can be represented with neural network.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  <a:p>
            <a:r>
              <a:rPr lang="en-IN" sz="2000" dirty="0">
                <a:latin typeface="Arial Narrow" panose="020B0606020202030204" pitchFamily="34" charset="0"/>
              </a:rPr>
              <a:t>How to train the model? </a:t>
            </a:r>
          </a:p>
          <a:p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Google Shape;348;p14">
            <a:extLst>
              <a:ext uri="{FF2B5EF4-FFF2-40B4-BE49-F238E27FC236}">
                <a16:creationId xmlns:a16="http://schemas.microsoft.com/office/drawing/2014/main" id="{80D2A660-3B68-44B3-BF38-A40B2CAF9756}"/>
              </a:ext>
            </a:extLst>
          </p:cNvPr>
          <p:cNvSpPr txBox="1"/>
          <p:nvPr/>
        </p:nvSpPr>
        <p:spPr>
          <a:xfrm>
            <a:off x="8516471" y="4373835"/>
            <a:ext cx="1891553" cy="52322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Arial Narrow" panose="020B0606020202030204" pitchFamily="34" charset="0"/>
                <a:ea typeface="Calibri"/>
                <a:cs typeface="Calibri"/>
                <a:sym typeface="Calibri"/>
              </a:rPr>
              <a:t> </a:t>
            </a:r>
            <a:endParaRPr>
              <a:latin typeface="Arial Narrow" panose="020B0606020202030204" pitchFamily="34" charset="0"/>
            </a:endParaRPr>
          </a:p>
        </p:txBody>
      </p:sp>
      <p:sp>
        <p:nvSpPr>
          <p:cNvPr id="5" name="Google Shape;349;p14">
            <a:extLst>
              <a:ext uri="{FF2B5EF4-FFF2-40B4-BE49-F238E27FC236}">
                <a16:creationId xmlns:a16="http://schemas.microsoft.com/office/drawing/2014/main" id="{DF8F90B0-804B-4F3E-A4F8-CE5D2A62973D}"/>
              </a:ext>
            </a:extLst>
          </p:cNvPr>
          <p:cNvSpPr txBox="1"/>
          <p:nvPr/>
        </p:nvSpPr>
        <p:spPr>
          <a:xfrm>
            <a:off x="8516471" y="2859360"/>
            <a:ext cx="1891553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Arial Narrow" panose="020B0606020202030204" pitchFamily="34" charset="0"/>
                <a:ea typeface="Calibri"/>
                <a:cs typeface="Calibri"/>
                <a:sym typeface="Calibri"/>
              </a:rPr>
              <a:t> </a:t>
            </a:r>
            <a:endParaRPr>
              <a:latin typeface="Arial Narrow" panose="020B0606020202030204" pitchFamily="34" charset="0"/>
            </a:endParaRPr>
          </a:p>
        </p:txBody>
      </p:sp>
      <p:cxnSp>
        <p:nvCxnSpPr>
          <p:cNvPr id="6" name="Google Shape;350;p14">
            <a:extLst>
              <a:ext uri="{FF2B5EF4-FFF2-40B4-BE49-F238E27FC236}">
                <a16:creationId xmlns:a16="http://schemas.microsoft.com/office/drawing/2014/main" id="{7D58B44B-612C-45F9-BEFF-32B11A85A40C}"/>
              </a:ext>
            </a:extLst>
          </p:cNvPr>
          <p:cNvCxnSpPr>
            <a:stCxn id="4" idx="0"/>
            <a:endCxn id="5" idx="2"/>
          </p:cNvCxnSpPr>
          <p:nvPr/>
        </p:nvCxnSpPr>
        <p:spPr>
          <a:xfrm rot="10800000">
            <a:off x="9462248" y="3382635"/>
            <a:ext cx="0" cy="99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9" name="Google Shape;353;p14">
            <a:extLst>
              <a:ext uri="{FF2B5EF4-FFF2-40B4-BE49-F238E27FC236}">
                <a16:creationId xmlns:a16="http://schemas.microsoft.com/office/drawing/2014/main" id="{9DA76C6E-FF0D-4846-9CEC-08FC8AECA0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5483" y="4367521"/>
            <a:ext cx="838317" cy="504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54;p14">
            <a:extLst>
              <a:ext uri="{FF2B5EF4-FFF2-40B4-BE49-F238E27FC236}">
                <a16:creationId xmlns:a16="http://schemas.microsoft.com/office/drawing/2014/main" id="{0C7A9869-CFA0-4E77-9025-F57F7AD638F8}"/>
              </a:ext>
            </a:extLst>
          </p:cNvPr>
          <p:cNvSpPr txBox="1"/>
          <p:nvPr/>
        </p:nvSpPr>
        <p:spPr>
          <a:xfrm>
            <a:off x="9549655" y="3750942"/>
            <a:ext cx="17167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Decoder Network</a:t>
            </a:r>
            <a:endParaRPr>
              <a:latin typeface="Arial Narrow" panose="020B0606020202030204" pitchFamily="34" charset="0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844AA070-9955-4233-AF90-BAE38D7F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b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</a:br>
            <a:r>
              <a:rPr lang="en-IN" sz="24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In another view-point</a:t>
            </a:r>
            <a:endParaRPr lang="en-IN" sz="2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57709E-0625-46D0-9254-2C04F42E2F91}"/>
                  </a:ext>
                </a:extLst>
              </p:cNvPr>
              <p:cNvSpPr txBox="1"/>
              <p:nvPr/>
            </p:nvSpPr>
            <p:spPr>
              <a:xfrm>
                <a:off x="8481743" y="4982912"/>
                <a:ext cx="2372264" cy="595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Arial Narrow" panose="020B0606020202030204" pitchFamily="34" charset="0"/>
                  </a:rPr>
                  <a:t>First, sample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 from a prior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IN" sz="16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   </a:t>
                </a:r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57709E-0625-46D0-9254-2C04F42E2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743" y="4982912"/>
                <a:ext cx="2372264" cy="595035"/>
              </a:xfrm>
              <a:prstGeom prst="rect">
                <a:avLst/>
              </a:prstGeom>
              <a:blipFill>
                <a:blip r:embed="rId5"/>
                <a:stretch>
                  <a:fillRect l="-1282" t="-1020" b="-122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C65529-2F36-4BF5-840C-FF9842EB1B05}"/>
                  </a:ext>
                </a:extLst>
              </p:cNvPr>
              <p:cNvSpPr txBox="1"/>
              <p:nvPr/>
            </p:nvSpPr>
            <p:spPr>
              <a:xfrm>
                <a:off x="7815701" y="2059050"/>
                <a:ext cx="3293092" cy="626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Arial Narrow" panose="020B0606020202030204" pitchFamily="34" charset="0"/>
                  </a:rPr>
                  <a:t>Then a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1600" dirty="0">
                    <a:latin typeface="Arial Narrow" panose="020B0606020202030204" pitchFamily="34" charset="0"/>
                  </a:rPr>
                  <a:t> </a:t>
                </a:r>
                <a:r>
                  <a:rPr lang="en-US" sz="1600" dirty="0">
                    <a:latin typeface="Arial Narrow" panose="020B0606020202030204" pitchFamily="34" charset="0"/>
                  </a:rPr>
                  <a:t>is generated from a conditional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p>
                          <m:sSupPr>
                            <m:ctrlP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6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IN" sz="16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sz="16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FC65529-2F36-4BF5-840C-FF9842EB1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701" y="2059050"/>
                <a:ext cx="3293092" cy="626775"/>
              </a:xfrm>
              <a:prstGeom prst="rect">
                <a:avLst/>
              </a:prstGeom>
              <a:blipFill>
                <a:blip r:embed="rId6"/>
                <a:stretch>
                  <a:fillRect l="-926" t="-971" b="-87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263;p10">
            <a:extLst>
              <a:ext uri="{FF2B5EF4-FFF2-40B4-BE49-F238E27FC236}">
                <a16:creationId xmlns:a16="http://schemas.microsoft.com/office/drawing/2014/main" id="{CF7BB02F-270B-4B35-843A-B60FA3FC305C}"/>
              </a:ext>
            </a:extLst>
          </p:cNvPr>
          <p:cNvSpPr/>
          <p:nvPr/>
        </p:nvSpPr>
        <p:spPr>
          <a:xfrm>
            <a:off x="302767" y="6457574"/>
            <a:ext cx="598407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Concept: Fei-Fei Li, et. al. Generative Modelling, Stanford Lecture, 2024</a:t>
            </a:r>
            <a:endParaRPr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917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E81479-32B2-41C9-B05A-46DC240EA10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>
                    <a:latin typeface="Arial Narrow" panose="020B0606020202030204" pitchFamily="34" charset="0"/>
                  </a:rPr>
                  <a:t>We have:</a:t>
                </a:r>
              </a:p>
              <a:p>
                <a:pPr lvl="1"/>
                <a:r>
                  <a:rPr lang="en-IN" dirty="0">
                    <a:latin typeface="Arial Narrow" panose="020B0606020202030204" pitchFamily="34" charset="0"/>
                  </a:rPr>
                  <a:t>Latent variable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IN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IN" dirty="0">
                    <a:latin typeface="Arial Narrow" panose="020B0606020202030204" pitchFamily="34" charset="0"/>
                  </a:rPr>
                  <a:t>Observed data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IN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lvl="1"/>
                <a:r>
                  <a:rPr lang="en-IN" dirty="0">
                    <a:latin typeface="Arial Narrow" panose="020B0606020202030204" pitchFamily="34" charset="0"/>
                  </a:rPr>
                  <a:t>Generative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lvl="1"/>
                <a:endParaRPr lang="en-IN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r>
                  <a:rPr lang="en-IN" dirty="0">
                    <a:latin typeface="Arial Narrow" panose="020B0606020202030204" pitchFamily="34" charset="0"/>
                  </a:rPr>
                  <a:t>We want to maximize: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dirty="0">
                  <a:latin typeface="Arial Narrow" panose="020B0606020202030204" pitchFamily="34" charset="0"/>
                </a:endParaRPr>
              </a:p>
              <a:p>
                <a:endParaRPr lang="en-IN" dirty="0">
                  <a:latin typeface="Arial Narrow" panose="020B0606020202030204" pitchFamily="34" charset="0"/>
                </a:endParaRPr>
              </a:p>
              <a:p>
                <a:r>
                  <a:rPr lang="en-IN" dirty="0">
                    <a:latin typeface="Arial Narrow" panose="020B0606020202030204" pitchFamily="34" charset="0"/>
                  </a:rPr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I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IN" dirty="0">
                            <a:solidFill>
                              <a:srgbClr val="7030A0"/>
                            </a:solidFill>
                            <a:latin typeface="Arial Narrow" panose="020B0606020202030204" pitchFamily="34" charset="0"/>
                          </a:rPr>
                          <m:t> </m:t>
                        </m:r>
                      </m:e>
                    </m:nary>
                  </m:oMath>
                </a14:m>
                <a:endParaRPr lang="en-IN" dirty="0">
                  <a:latin typeface="Arial Narrow" panose="020B0606020202030204" pitchFamily="34" charset="0"/>
                </a:endParaRPr>
              </a:p>
              <a:p>
                <a:pPr lvl="1"/>
                <a:r>
                  <a:rPr lang="en-IN" dirty="0">
                    <a:latin typeface="Arial Narrow" panose="020B0606020202030204" pitchFamily="34" charset="0"/>
                  </a:rPr>
                  <a:t>This integral is intractable due to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IN" dirty="0">
                  <a:latin typeface="Arial Narrow" panose="020B0606020202030204" pitchFamily="34" charset="0"/>
                </a:endParaRPr>
              </a:p>
              <a:p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E81479-32B2-41C9-B05A-46DC240EA1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2">
            <a:extLst>
              <a:ext uri="{FF2B5EF4-FFF2-40B4-BE49-F238E27FC236}">
                <a16:creationId xmlns:a16="http://schemas.microsoft.com/office/drawing/2014/main" id="{975DC59E-F7A9-4807-B997-2159AAF8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Variational Auto-encoder</a:t>
            </a:r>
            <a:b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</a:br>
            <a:r>
              <a:rPr lang="en-IN" sz="2400" dirty="0">
                <a:solidFill>
                  <a:schemeClr val="tx1"/>
                </a:solidFill>
                <a:latin typeface="Arial Narrow" panose="020B0606020202030204" pitchFamily="34" charset="0"/>
                <a:ea typeface="Book Antiqua"/>
                <a:cs typeface="Book Antiqua"/>
                <a:sym typeface="Book Antiqua"/>
              </a:rPr>
              <a:t>Problem Formulation</a:t>
            </a:r>
            <a:endParaRPr lang="en-IN" sz="24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5" name="Google Shape;263;p10">
            <a:extLst>
              <a:ext uri="{FF2B5EF4-FFF2-40B4-BE49-F238E27FC236}">
                <a16:creationId xmlns:a16="http://schemas.microsoft.com/office/drawing/2014/main" id="{AB2C2E0D-5E43-4E83-9CA2-59159340EE93}"/>
              </a:ext>
            </a:extLst>
          </p:cNvPr>
          <p:cNvSpPr/>
          <p:nvPr/>
        </p:nvSpPr>
        <p:spPr>
          <a:xfrm>
            <a:off x="387608" y="6339007"/>
            <a:ext cx="5984074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chemeClr val="dk1"/>
                </a:solidFill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Concept: Fei-Fei Li, et. al. Generative Modelling, Stanford Lecture, 2024</a:t>
            </a:r>
            <a:endParaRPr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517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Book Antiqua"/>
              <a:buNone/>
            </a:pPr>
            <a:r>
              <a:rPr lang="en-IN" sz="3600" dirty="0">
                <a:solidFill>
                  <a:schemeClr val="tx1"/>
                </a:solidFill>
                <a:latin typeface="Century" panose="02040604050505020304" pitchFamily="18" charset="0"/>
                <a:ea typeface="Book Antiqua"/>
                <a:cs typeface="Book Antiqua"/>
                <a:sym typeface="Book Antiqua"/>
              </a:rPr>
              <a:t>Summary</a:t>
            </a:r>
            <a:endParaRPr sz="36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  <p:sp>
        <p:nvSpPr>
          <p:cNvPr id="93" name="Google Shape;93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Auto-Encoder </a:t>
            </a:r>
            <a:endParaRPr sz="2400" dirty="0">
              <a:latin typeface="Arial Narrow" panose="020B0606020202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400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Variational Auto-Encoder – An Introduction</a:t>
            </a:r>
            <a:endParaRPr sz="2400" dirty="0">
              <a:latin typeface="Arial Narrow" panose="020B0606020202030204" pitchFamily="34" charset="0"/>
            </a:endParaRPr>
          </a:p>
          <a:p>
            <a:pPr marL="228600" lvl="0" indent="-228600">
              <a:buSzPts val="2800"/>
            </a:pPr>
            <a:r>
              <a:rPr lang="en-IN" sz="2400" dirty="0">
                <a:solidFill>
                  <a:schemeClr val="tx1"/>
                </a:solidFill>
                <a:latin typeface="Arial Narrow" panose="020B0606020202030204" pitchFamily="34" charset="0"/>
                <a:ea typeface="Book Antiqua"/>
                <a:cs typeface="Book Antiqua"/>
                <a:sym typeface="Book Antiqua"/>
              </a:rPr>
              <a:t>Variational Auto-Encoder </a:t>
            </a:r>
          </a:p>
          <a:p>
            <a:pPr marL="685800" lvl="1" indent="-228600">
              <a:buSzPts val="2800"/>
            </a:pPr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Book Antiqua"/>
                <a:cs typeface="Book Antiqua"/>
                <a:sym typeface="Book Antiqua"/>
              </a:rPr>
              <a:t>Encoding – Sampling – Decoding</a:t>
            </a:r>
          </a:p>
          <a:p>
            <a:pPr marL="685800" lvl="1" indent="-228600">
              <a:buSzPts val="2800"/>
            </a:pPr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Book Antiqua"/>
                <a:cs typeface="Book Antiqua"/>
                <a:sym typeface="Book Antiqua"/>
              </a:rPr>
              <a:t>Statistical Understanding</a:t>
            </a:r>
          </a:p>
          <a:p>
            <a:pPr marL="685800" lvl="1" indent="-228600">
              <a:buSzPts val="2800"/>
            </a:pPr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Book Antiqua"/>
                <a:cs typeface="Book Antiqua"/>
                <a:sym typeface="Book Antiqua"/>
              </a:rPr>
              <a:t>Problem Formulation</a:t>
            </a: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3145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74233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Variational Auto-Encoder - II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9: Part 2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5145</TotalTime>
  <Words>2032</Words>
  <Application>Microsoft Office PowerPoint</Application>
  <PresentationFormat>Widescreen</PresentationFormat>
  <Paragraphs>282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 Narrow</vt:lpstr>
      <vt:lpstr>Arial</vt:lpstr>
      <vt:lpstr>Book Antiqua</vt:lpstr>
      <vt:lpstr>Cambria Math</vt:lpstr>
      <vt:lpstr>Century</vt:lpstr>
      <vt:lpstr>Calibri</vt:lpstr>
      <vt:lpstr>Times New Roman</vt:lpstr>
      <vt:lpstr>Office Theme</vt:lpstr>
      <vt:lpstr>  Variational Auto-Encoder</vt:lpstr>
      <vt:lpstr>Content</vt:lpstr>
      <vt:lpstr>Different Generative Models</vt:lpstr>
      <vt:lpstr>Auto-Encoder</vt:lpstr>
      <vt:lpstr>Auto-Encoder</vt:lpstr>
      <vt:lpstr>Auto-encoder as Generative Model</vt:lpstr>
      <vt:lpstr>Variational Auto-Encoder</vt:lpstr>
      <vt:lpstr>Variational Auto-Encoder Encoding – Sampling – Decoding</vt:lpstr>
      <vt:lpstr>Variational Auto-Encoder Encoding – Sampling – Decoding</vt:lpstr>
      <vt:lpstr>Variational Auto-Encoder</vt:lpstr>
      <vt:lpstr>Variational Auto-encoder</vt:lpstr>
      <vt:lpstr>Variational Auto-encoder Statistical Understanding</vt:lpstr>
      <vt:lpstr>Variational Auto-encoder Statistical Understanding</vt:lpstr>
      <vt:lpstr>Variational Auto-encoder Statistical Understanding</vt:lpstr>
      <vt:lpstr>Generative Learning</vt:lpstr>
      <vt:lpstr>Variational Auto-encoder In another view-point</vt:lpstr>
      <vt:lpstr>Variational Auto-encoder In another view-point</vt:lpstr>
      <vt:lpstr>Variational Auto-encoder In another view-point</vt:lpstr>
      <vt:lpstr>Variational Auto-encoder Problem Formulation</vt:lpstr>
      <vt:lpstr>Summary</vt:lpstr>
      <vt:lpstr>Variational Auto-Encoder - II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Variational Auto-Encoder</dc:title>
  <dc:creator>IITG</dc:creator>
  <cp:lastModifiedBy>HP</cp:lastModifiedBy>
  <cp:revision>51</cp:revision>
  <dcterms:created xsi:type="dcterms:W3CDTF">2026-02-24T07:05:34Z</dcterms:created>
  <dcterms:modified xsi:type="dcterms:W3CDTF">2026-09-07T08:42:35Z</dcterms:modified>
</cp:coreProperties>
</file>