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68" r:id="rId2"/>
    <p:sldId id="256" r:id="rId3"/>
    <p:sldId id="269" r:id="rId4"/>
    <p:sldId id="270" r:id="rId5"/>
    <p:sldId id="279" r:id="rId6"/>
    <p:sldId id="280" r:id="rId7"/>
    <p:sldId id="289" r:id="rId8"/>
    <p:sldId id="281" r:id="rId9"/>
    <p:sldId id="262" r:id="rId10"/>
    <p:sldId id="290" r:id="rId11"/>
    <p:sldId id="272" r:id="rId12"/>
    <p:sldId id="271" r:id="rId13"/>
    <p:sldId id="273" r:id="rId14"/>
    <p:sldId id="274" r:id="rId15"/>
    <p:sldId id="275" r:id="rId16"/>
    <p:sldId id="276" r:id="rId17"/>
    <p:sldId id="277" r:id="rId18"/>
    <p:sldId id="278" r:id="rId19"/>
    <p:sldId id="291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EFEF4-5046-400A-AD90-6C4A72AEF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5E7AC-A6BB-4AE6-ADE6-78884E6B4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CF9B5-E717-43E6-AB76-DA4D35738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41999-F2D2-4894-9B83-981B41ABF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E0EE-3B96-4463-9255-81D64670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32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92027-AB35-46D2-A608-42BEB6E2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70F86-03BA-4889-857B-C512C4B81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B57E3-AEFC-4A0C-AE42-010DC5507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933E2-4AE9-4969-9AAD-D0656AE3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610C8-4EFC-48C0-A7E5-9AADEDB2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70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64DFC-6D35-4B85-BF6E-21BD0FF7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189B3-9BC1-49A1-BA96-0746429C2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CAF15-8800-4823-AC50-1F16EC4C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833F5-5BC8-4AB9-AF19-D75AC36B9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22B0A-691E-4B3E-8AAF-05C74FF8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9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E888-465F-4AC1-A3B2-30899B3A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B9998-8537-4BE9-AFDF-E778540D4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08E18-3699-4A41-B0F1-2630704E6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50172-606D-4255-9B73-27963865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BE214-6FB5-444A-9066-A9F7FEA8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25C47-030D-4B1E-8434-2D153A8E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33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0915-B533-4FD8-9CE9-6879BDBE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C8C01-561D-4EEA-8C6B-74AA61F72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02154-6AEB-40BA-8AB3-C7C2D2D16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0B691-E4B7-44BA-8661-ECDA09D1D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2D76D-4D6C-462E-AA1D-89EB95D37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AD100E-B6AA-41C2-BF50-5EEFA446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EFEB44-9972-4EF4-957E-5277AE42B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14F53-3F70-4FEA-B62F-B2906D28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80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E566-5B10-4CB5-B495-AFB6C5389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486CF-8F11-42DA-869F-C0706051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DCE3E-EF02-4566-86E0-1483DB1A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93AA4-724F-40AA-85C5-D61396EB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325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5B285-1968-4905-BD41-0C759BB7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84E31-0074-47C2-8F5E-17A36251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44A05-4DAB-4124-A617-6E33EEA6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229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7FA4-72D0-415B-9055-AD6CC300D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9602-C15B-49D8-8BFE-27ECA1B4B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5D3A6-9728-4E48-95E4-B4FE2C561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F866-D0A0-429E-9073-3D245B42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F5341-4796-4B68-8EF5-AB980B8EE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2ACED-DE16-4546-99CD-A85BB128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003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3E89-EC8D-44AE-AB2B-A46B2253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F26452-33B0-410C-9502-50894B714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DE8CD-683A-42E7-9ECB-0C8F98FD3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F7217-EF34-4ED3-8DB8-80A15149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D378C-B452-44DD-BA84-E1FB048E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AA6A5-34D5-493E-B3D9-020B0F84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498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BBA8-F1E2-43F7-AD22-AE7C3868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6A624-1309-46AF-B998-C5EC11F89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79B7-B3A1-4A7F-9246-A20BD531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CC5AC-E837-42BD-ADDD-93466DBDF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E5ACF-8103-4B0F-A75F-DB0B0394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4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F0EAD-9FD8-4FDB-AD50-7790DE7DED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FFC43-8D97-4BF8-B240-E24027B9B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13979-7DAA-4619-93DB-47B1AF1D8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20E9A-A0BA-4AAD-8A49-0317B752C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DFF09-177D-490D-845F-71E2B2C9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89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C5206-BB3C-4B75-AB40-E8957321E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64631-6BD6-4A4D-84B4-5B99C51B9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5BE32-9B7B-4AF8-BC64-C3F536474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2B0D-32C7-49AF-B22F-56F42F5C8F7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89D53-7DCE-44DE-B3A9-AE97BA2C4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0C6E6-09CC-4CDC-A84E-574D8B79C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27AA5-7218-456B-BEE5-32DCC5E19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9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35.gi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34.jpe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704462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Mathematical Preliminaries – II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(</a:t>
            </a:r>
            <a:r>
              <a:rPr lang="en-IN" sz="3600">
                <a:solidFill>
                  <a:srgbClr val="002060"/>
                </a:solidFill>
                <a:latin typeface="Arial Narrow" panose="020B0606020202030204" pitchFamily="34" charset="0"/>
              </a:rPr>
              <a:t>Basic Probability - I</a:t>
            </a:r>
            <a:r>
              <a:rPr lang="en-IN" sz="4000">
                <a:solidFill>
                  <a:srgbClr val="002060"/>
                </a:solidFill>
                <a:latin typeface="Arial Narrow" panose="020B0606020202030204" pitchFamily="34" charset="0"/>
              </a:rPr>
              <a:t>)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1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2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0F12D-6A40-428B-8A86-E52B1B89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F38412-46DA-44F4-89B6-A0FBA85FD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Definitions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Random Variables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Conditional Probability and Bayes theorem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Discrete and Continuous Random Variables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Probability Density Function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Cumulative Distribution Function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Mean and Variance</a:t>
            </a:r>
          </a:p>
          <a:p>
            <a:pPr marL="0" indent="0">
              <a:buNone/>
            </a:pPr>
            <a:endParaRPr lang="en-IN" sz="20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336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C3E3-6631-4B0C-B897-028592B1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 few definitions of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CD5F9-0D73-4F58-95A3-3AF1609B7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200" dirty="0">
                    <a:latin typeface="Arial Narrow" panose="020B0606020202030204" pitchFamily="34" charset="0"/>
                  </a:rPr>
                  <a:t>In probability, the </a:t>
                </a:r>
                <a:r>
                  <a:rPr lang="en-US" sz="22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sample space </a:t>
                </a:r>
                <a:r>
                  <a:rPr lang="en-US" sz="2200" dirty="0">
                    <a:latin typeface="Arial Narrow" panose="020B0606020202030204" pitchFamily="34" charset="0"/>
                  </a:rPr>
                  <a:t>is the </a:t>
                </a:r>
                <a:r>
                  <a:rPr lang="en-US" sz="22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set of all possible outcomes </a:t>
                </a:r>
                <a:r>
                  <a:rPr lang="en-US" sz="2200" dirty="0">
                    <a:latin typeface="Arial Narrow" panose="020B0606020202030204" pitchFamily="34" charset="0"/>
                  </a:rPr>
                  <a:t>of a random experiment.</a:t>
                </a: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It is usually denoted by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(Omega).</a:t>
                </a:r>
              </a:p>
              <a:p>
                <a:pPr lvl="1"/>
                <a:r>
                  <a:rPr lang="en-IN" sz="2000" dirty="0">
                    <a:latin typeface="Arial Narrow" panose="020B0606020202030204" pitchFamily="34" charset="0"/>
                  </a:rPr>
                  <a:t>Example: Tossing a coin: Possible outcomes: Head (H), Tail (T), </a:t>
                </a:r>
              </a:p>
              <a:p>
                <a:pPr lvl="1"/>
                <a:r>
                  <a:rPr lang="en-IN" sz="2000" dirty="0">
                    <a:latin typeface="Arial Narrow" panose="020B0606020202030204" pitchFamily="34" charset="0"/>
                  </a:rPr>
                  <a:t>Sample space: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IN" sz="2000" b="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IN" sz="2000" dirty="0">
                    <a:latin typeface="Arial Narrow" panose="020B0606020202030204" pitchFamily="34" charset="0"/>
                  </a:rPr>
                  <a:t>Example: Rolling a die: Possible outcomes: 1, 2, 3, 4, 5, 6; </a:t>
                </a:r>
              </a:p>
              <a:p>
                <a:pPr lvl="1"/>
                <a:r>
                  <a:rPr lang="en-IN" sz="2000" dirty="0">
                    <a:latin typeface="Arial Narrow" panose="020B0606020202030204" pitchFamily="34" charset="0"/>
                  </a:rPr>
                  <a:t>Sample Space: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1, 2, 3, 4, 5, 6</m:t>
                        </m:r>
                      </m:e>
                    </m:d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Probability of an event</a:t>
                </a:r>
                <a:r>
                  <a:rPr lang="en-IN" sz="2000" dirty="0">
                    <a:latin typeface="Arial Narrow" panose="020B0606020202030204" pitchFamily="34" charset="0"/>
                  </a:rPr>
                  <a:t>: </a:t>
                </a:r>
                <a:r>
                  <a:rPr lang="en-US" sz="2000" dirty="0">
                    <a:latin typeface="Arial Narrow" panose="020B0606020202030204" pitchFamily="34" charset="0"/>
                  </a:rPr>
                  <a:t>The probability of an event is the measure of the chance that the event will occur. It is denoted by (P(E)).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all outcomes in the sample space are equally likely, then</a:t>
                </a:r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𝑓𝑎𝑣𝑜𝑢𝑟𝑎𝑏𝑙𝑒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𝑝𝑜𝑠𝑠𝑖𝑏𝑙𝑒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That means, for a fair coin,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𝐻𝑒𝑎𝑑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for a fair die,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=1,2,3,4,5,6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CD5F9-0D73-4F58-95A3-3AF1609B7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541" r="-2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2188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65C8-15CD-420A-A70E-EDF5E7EC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Probability and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E9BFC-780C-411D-97D7-337D9F7EFF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75175"/>
              </a:xfrm>
            </p:spPr>
            <p:txBody>
              <a:bodyPr>
                <a:normAutofit/>
              </a:bodyPr>
              <a:lstStyle/>
              <a:p>
                <a:r>
                  <a:rPr lang="en-IN" sz="2200" dirty="0">
                    <a:latin typeface="Arial Narrow" panose="020B0606020202030204" pitchFamily="34" charset="0"/>
                  </a:rPr>
                  <a:t>From frequentist definition: Given a event A, probability P(A), by repeated conducting a relevant experiment, </a:t>
                </a:r>
                <a:r>
                  <a:rPr lang="en-IN" sz="22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number of times A occurs </a:t>
                </a:r>
                <a:r>
                  <a:rPr lang="en-IN" sz="2200" dirty="0">
                    <a:latin typeface="Arial Narrow" panose="020B0606020202030204" pitchFamily="34" charset="0"/>
                  </a:rPr>
                  <a:t>[#(A)] among </a:t>
                </a:r>
                <a:r>
                  <a:rPr lang="en-IN" sz="22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total number of experiments </a:t>
                </a:r>
                <a:r>
                  <a:rPr lang="en-IN" sz="2200" dirty="0">
                    <a:latin typeface="Arial Narrow" panose="020B0606020202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#(</m:t>
                    </m:r>
                    <m:r>
                      <m:rPr>
                        <m:sty m:val="p"/>
                      </m:rPr>
                      <a:rPr lang="en-US" sz="2200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IN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2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endParaRPr lang="en-IN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# 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#(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</a:endParaRPr>
              </a:p>
              <a:p>
                <a:r>
                  <a:rPr lang="en-IN" sz="22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Random Variable</a:t>
                </a:r>
                <a:r>
                  <a:rPr lang="en-IN" sz="2200" dirty="0">
                    <a:latin typeface="Arial Narrow" panose="020B0606020202030204" pitchFamily="34" charset="0"/>
                  </a:rPr>
                  <a:t>: </a:t>
                </a:r>
                <a:r>
                  <a:rPr lang="en-US" sz="2200" dirty="0">
                    <a:latin typeface="Arial Narrow" panose="020B0606020202030204" pitchFamily="34" charset="0"/>
                  </a:rPr>
                  <a:t>A random variable is a function that assigns a real number to each outcome in the sample space of a random experiment. It is usually denoted by capital letters such as (X), (Y), or (Z).</a:t>
                </a:r>
              </a:p>
              <a:p>
                <a:pPr marL="0" indent="0">
                  <a:buNone/>
                </a:pPr>
                <a:endParaRPr lang="en-US" sz="22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Random Variable (Example)</a:t>
                </a:r>
                <a:r>
                  <a:rPr lang="en-IN" sz="2000" dirty="0">
                    <a:latin typeface="Arial Narrow" panose="020B0606020202030204" pitchFamily="34" charset="0"/>
                  </a:rPr>
                  <a:t>:</a:t>
                </a:r>
              </a:p>
              <a:p>
                <a:pPr lvl="1"/>
                <a:r>
                  <a:rPr lang="en-IN" sz="2000" dirty="0">
                    <a:latin typeface="Arial Narrow" panose="020B0606020202030204" pitchFamily="34" charset="0"/>
                  </a:rPr>
                  <a:t>When a coin is tossed twice, the 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IN" sz="2000" dirty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IN" sz="2000" dirty="0">
                        <a:latin typeface="Cambria Math" panose="02040503050406030204" pitchFamily="18" charset="0"/>
                      </a:rPr>
                      <m:t>HH</m:t>
                    </m:r>
                    <m:r>
                      <a:rPr lang="en-IN" sz="2000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000" dirty="0">
                        <a:latin typeface="Cambria Math" panose="02040503050406030204" pitchFamily="18" charset="0"/>
                      </a:rPr>
                      <m:t>HT</m:t>
                    </m:r>
                    <m:r>
                      <a:rPr lang="en-IN" sz="2000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000" dirty="0">
                        <a:latin typeface="Cambria Math" panose="02040503050406030204" pitchFamily="18" charset="0"/>
                      </a:rPr>
                      <m:t>TH</m:t>
                    </m:r>
                    <m:r>
                      <a:rPr lang="en-IN" sz="2000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000" dirty="0">
                        <a:latin typeface="Cambria Math" panose="02040503050406030204" pitchFamily="18" charset="0"/>
                      </a:rPr>
                      <m:t>TT</m:t>
                    </m:r>
                    <m:r>
                      <a:rPr lang="en-IN" sz="2000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Let (X) be the number of heads obtained. Then, X(HH)=2, X(HT)=1, X(TH)=1, X(TT)=0</a:t>
                </a:r>
              </a:p>
              <a:p>
                <a:pPr lvl="1"/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Thus, the random variable (X) can take the values ({0,1,2}).</a:t>
                </a:r>
              </a:p>
              <a:p>
                <a:endParaRPr lang="en-US" sz="22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E9BFC-780C-411D-97D7-337D9F7EFF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75175"/>
              </a:xfrm>
              <a:blipFill>
                <a:blip r:embed="rId2"/>
                <a:stretch>
                  <a:fillRect l="-696" t="-1465" b="-15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873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0AF1-D645-449C-BF5B-7F302D79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Probability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24BF7-56E4-454F-AAE7-05273F8182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 Addition Rule (Union of Two Events): In probability, 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addition rule </a:t>
                </a:r>
                <a:r>
                  <a:rPr lang="en-US" sz="2000" dirty="0">
                    <a:latin typeface="Arial Narrow" panose="020B0606020202030204" pitchFamily="34" charset="0"/>
                  </a:rPr>
                  <a:t>is used to find the probability that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at least one </a:t>
                </a:r>
                <a:r>
                  <a:rPr lang="en-US" sz="2000" dirty="0">
                    <a:latin typeface="Arial Narrow" panose="020B0606020202030204" pitchFamily="34" charset="0"/>
                  </a:rPr>
                  <a:t>of two events occurs.</a:t>
                </a:r>
              </a:p>
              <a:p>
                <a:pPr marL="0" indent="0">
                  <a:buNone/>
                </a:pPr>
                <a:r>
                  <a:rPr lang="en-IN" sz="2000" b="0" dirty="0"/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, w</a:t>
                </a:r>
                <a:r>
                  <a:rPr lang="en-US" sz="200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here:</a:t>
                </a:r>
              </a:p>
              <a:p>
                <a:pPr marL="457200" lvl="1" indent="0">
                  <a:buNone/>
                </a:pPr>
                <a:r>
                  <a:rPr lang="en-US" sz="160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          P(A) = probability of event A, P(B) = probability of event B, P(A∩B) = probability that both A and B occur</a:t>
                </a:r>
              </a:p>
              <a:p>
                <a:pPr marL="457200" lvl="1" indent="0">
                  <a:buNone/>
                </a:pPr>
                <a:endParaRPr lang="en-US" sz="160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If the Event A and B are Mutually Exclusive (A and B cannot happen at the same time),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  <a:p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</a:rPr>
                  <a:t>Independent Events</a:t>
                </a:r>
                <a:r>
                  <a:rPr lang="en-IN" sz="200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: </a:t>
                </a:r>
                <a:r>
                  <a:rPr lang="en-US" sz="200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Independent Events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are events where the occurrence of one event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</a:rPr>
                  <a:t>does not affect </a:t>
                </a:r>
                <a:r>
                  <a:rPr lang="en-US" sz="200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the probability of the other event.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  <a:p>
                <a:r>
                  <a:rPr lang="en-IN" sz="2000" b="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This is also called the multiplication rule for two independent events.</a:t>
                </a:r>
              </a:p>
              <a:p>
                <a:endParaRPr lang="en-IN" sz="2000" b="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000" b="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24BF7-56E4-454F-AAE7-05273F8182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47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02F2-D971-4E71-A8DD-2B40A055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Conditional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6650A1-0D2C-47B7-8AB4-4899234290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2711"/>
                <a:ext cx="10515600" cy="49001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Conditional Probability </a:t>
                </a:r>
                <a:r>
                  <a:rPr lang="en-US" sz="2000" dirty="0">
                    <a:latin typeface="Arial Narrow" panose="020B0606020202030204" pitchFamily="34" charset="0"/>
                  </a:rPr>
                  <a:t>is the probability of an event occurring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given that another event has already occurred.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 The conditional probability of an event B, assuming that the event A has happened, is denoted by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and defined as</a:t>
                </a:r>
              </a:p>
              <a:p>
                <a:pPr marL="0" indent="0">
                  <a:buNone/>
                </a:pPr>
                <a:r>
                  <a:rPr lang="en-IN" sz="2000" dirty="0"/>
                  <a:t>                                                 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provided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For example, when a fair dice is tossed, the conditional probability of getting “1”, given that an odd number has been obtained, is equal to 1/3 as explained below: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                                               S={1,2,3,4,5,6};          A={1,3,5};          B= {1}</a:t>
                </a:r>
              </a:p>
              <a:p>
                <a:pPr marL="0" indent="0">
                  <a:buNone/>
                </a:pPr>
                <a:endParaRPr lang="en-I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As per the definition given above,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0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1/6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1/2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Rewriting the definition of conditional probability, we get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)⨉</m:t>
                    </m:r>
                  </m:oMath>
                </a14:m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. This is sometimes referred to as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Product theorem of probability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6650A1-0D2C-47B7-8AB4-489923429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2711"/>
                <a:ext cx="10515600" cy="4900163"/>
              </a:xfrm>
              <a:blipFill>
                <a:blip r:embed="rId2"/>
                <a:stretch>
                  <a:fillRect l="-522" t="-18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3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924F-21AB-49C2-A24E-30028549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ea typeface="Cambria Math" panose="02040503050406030204" pitchFamily="18" charset="0"/>
              </a:rPr>
              <a:t>Independent Events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93055E-2DDF-499C-B9AB-15B3CE56F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A set of events is said to be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independent</a:t>
                </a:r>
                <a:r>
                  <a:rPr lang="en-US" sz="2000" dirty="0">
                    <a:latin typeface="Arial Narrow" panose="020B0606020202030204" pitchFamily="34" charset="0"/>
                  </a:rPr>
                  <a:t> if the occurrence of any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one of them does not depend on the occurrence or non-occurrence of the others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‘When 2 events A and B are independent, it is obvious from the definition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the events A and B are independent, the product theorem takes the form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Conversely, if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the events A and B are said to be independent (pairwise independent). 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 product theorem can be extended to any number of independent events: 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are n independent events.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⨉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⨉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⨉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When this condition is satisfied, the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are also said to be totally independent.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93055E-2DDF-499C-B9AB-15B3CE56F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3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6A08-FE48-423F-AA4B-A1A92065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Bayes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98C43F-9653-4772-97E9-CF0358EAC0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9579"/>
                <a:ext cx="10515600" cy="4868473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>
                    <a:latin typeface="Arial Narrow" panose="020B060602020203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be a set of exhaustive and mutually exclusive events associated with a random experiment and A is another event associated with (or caused by)</a:t>
                </a:r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then</a:t>
                </a:r>
              </a:p>
              <a:p>
                <a:pPr marL="0" indent="0">
                  <a:buNone/>
                </a:pPr>
                <a:endParaRPr lang="en-IN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⨉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⨉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Proof</a:t>
                </a:r>
                <a:r>
                  <a:rPr lang="en-IN" sz="2000" dirty="0">
                    <a:latin typeface="Arial Narrow" panose="020B0606020202030204" pitchFamily="34" charset="0"/>
                  </a:rPr>
                  <a:t>: According to the conditional probability formula,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i="0" smtClean="0">
                            <a:latin typeface="+mj-lt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000" i="0" smtClean="0">
                            <a:latin typeface="+mj-lt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IN" sz="2000" i="0" smtClean="0">
                            <a:latin typeface="+mj-lt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000" i="0" smtClean="0">
                            <a:latin typeface="+mj-lt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From total probability theorem,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⨉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Then, by using the multiplication rule of probability, we get</a:t>
                </a:r>
              </a:p>
              <a:p>
                <a:pPr marL="0" indent="0">
                  <a:buNone/>
                </a:pPr>
                <a:r>
                  <a:rPr lang="en-IN" sz="2000" dirty="0">
                    <a:ea typeface="Cambria Math" panose="02040503050406030204" pitchFamily="18" charset="0"/>
                  </a:rPr>
                  <a:t>                                        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N" sz="2000" i="0" dirty="0">
                    <a:latin typeface="+mj-lt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begChr m:val="|"/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endParaRPr lang="en-I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⨉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⨉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⨉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98C43F-9653-4772-97E9-CF0358EAC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9579"/>
                <a:ext cx="10515600" cy="4868473"/>
              </a:xfrm>
              <a:blipFill>
                <a:blip r:embed="rId2"/>
                <a:stretch>
                  <a:fillRect l="-522" t="-12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9106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123406"/>
                <a:ext cx="11127377" cy="555171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person takes a lab test for gluten allergy and the result comes positive. Given the result is positive(+), we have to calculate the probability that the person has the gluten allergy and the probability that the person does not have the gluten allergy.</a:t>
                </a:r>
              </a:p>
              <a:p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the following data (probabilities). Using Bayes theorem, we can calculate the above probabilities.   </a:t>
                </a:r>
              </a:p>
              <a:p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test returns a correct positive result in only 98% of the cases in which the allergy is actually present, and a correct negative result in only 97% of the cases in which the allergy is not present.  Furthermore, 0.8% of the entire population have this allergy.</a:t>
                </a:r>
              </a:p>
              <a:p>
                <a:pPr>
                  <a:buFontTx/>
                  <a:buNone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allergic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0.008		P(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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allergic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= 0.992</a:t>
                </a:r>
                <a:endPara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P(+|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allergic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0.98		P(-|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allergic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0.02</a:t>
                </a:r>
              </a:p>
              <a:p>
                <a:pPr>
                  <a:buFontTx/>
                  <a:buNone/>
                </a:pP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P(+|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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allergic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 = 0.03	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P(-|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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allergic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0.97</a:t>
                </a:r>
              </a:p>
              <a:p>
                <a:pPr>
                  <a:buFontTx/>
                  <a:buNone/>
                </a:pPr>
                <a:endPara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allergic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|+)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</a:rPr>
                              <m:t>𝑎𝑙𝑙𝑒𝑟𝑔𝑖𝑐</m:t>
                            </m:r>
                          </m:e>
                        </m:d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𝑎𝑙𝑙𝑒𝑟𝑔𝑖𝑐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0.98 ∗0.008</m:t>
                        </m:r>
                      </m:num>
                      <m:den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0.00784 (</a:t>
                </a:r>
                <a:r>
                  <a:rPr lang="en-US" altLang="en-US" sz="2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that the person has the allergy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>
                  <a:buFontTx/>
                  <a:buNone/>
                </a:pPr>
                <a:endPara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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allergic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|+)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2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en-US" sz="2200" b="0" i="0" smtClean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en-US" sz="22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</m:t>
                            </m:r>
                            <m:r>
                              <a:rPr lang="en-US" altLang="en-US" sz="2200" i="1">
                                <a:latin typeface="Cambria Math" panose="02040503050406030204" pitchFamily="18" charset="0"/>
                              </a:rPr>
                              <m:t>𝑎𝑙𝑙𝑒𝑟𝑔𝑖𝑐</m:t>
                            </m:r>
                          </m:e>
                        </m:d>
                        <m:r>
                          <a:rPr lang="en-US" altLang="en-US" sz="22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en-US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</m:t>
                        </m:r>
                        <m:r>
                          <a:rPr lang="en-US" altLang="en-US" sz="2200" i="1">
                            <a:latin typeface="Cambria Math" panose="02040503050406030204" pitchFamily="18" charset="0"/>
                          </a:rPr>
                          <m:t>𝑎𝑙𝑙𝑒𝑟𝑔𝑖𝑐</m:t>
                        </m:r>
                        <m:r>
                          <a:rPr lang="en-US" altLang="en-US" sz="22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en-US" sz="22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en-US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en-US" sz="22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0.03 ∗0.992</m:t>
                        </m:r>
                      </m:num>
                      <m:den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0.02976 (</a:t>
                </a:r>
                <a:r>
                  <a:rPr lang="en-US" altLang="en-US" sz="2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that the person has not the 							         allergy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>
                  <a:buFontTx/>
                  <a:buNone/>
                </a:pPr>
                <a:endPara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123406"/>
                <a:ext cx="11127377" cy="5551713"/>
              </a:xfrm>
              <a:blipFill>
                <a:blip r:embed="rId2"/>
                <a:stretch>
                  <a:fillRect l="-548" t="-2086" r="-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5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215538" y="373773"/>
            <a:ext cx="10515600" cy="64240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 Theorem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5320" y="4289382"/>
            <a:ext cx="11336383" cy="2130652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alt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P(A): Prior probability: The prior probability of event A, denoted by P(A), is the probability of A occurring before knowing whether event B has occurred or not. Here, A is treated as a proposition or hypothesis, and B represents evidence that may later be used to update the probability of A.</a:t>
            </a:r>
            <a:endParaRPr lang="en-US" i="1" dirty="0">
              <a:solidFill>
                <a:srgbClr val="00B050"/>
              </a:solidFill>
            </a:endParaRPr>
          </a:p>
          <a:p>
            <a:r>
              <a:rPr lang="en-US" alt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P(B)</a:t>
            </a:r>
            <a:r>
              <a:rPr lang="en-US" alt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Evidential probability: the probability pf the evidential event B.</a:t>
            </a:r>
          </a:p>
          <a:p>
            <a:r>
              <a:rPr lang="en-US" altLang="en-US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P(A|B)</a:t>
            </a:r>
            <a:r>
              <a:rPr lang="en-US" alt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Posterior probability: The probability of proposition or hypothesis A post the occurrence of the evidential event B. </a:t>
            </a:r>
            <a:endParaRPr lang="en-US" altLang="en-US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P(B|A)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Likelihood: how likely the evidence B is, given that proposition A has occurred.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19983" y="3302361"/>
            <a:ext cx="2207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posterior probability</a:t>
            </a:r>
            <a:endParaRPr lang="en-US" dirty="0">
              <a:solidFill>
                <a:srgbClr val="00B0F0"/>
              </a:solidFill>
            </a:endParaRPr>
          </a:p>
        </p:txBody>
      </p:sp>
      <p:cxnSp>
        <p:nvCxnSpPr>
          <p:cNvPr id="4" name="Straight Arrow Connector 3"/>
          <p:cNvCxnSpPr>
            <a:cxnSpLocks/>
          </p:cNvCxnSpPr>
          <p:nvPr/>
        </p:nvCxnSpPr>
        <p:spPr>
          <a:xfrm flipV="1">
            <a:off x="3330325" y="2969983"/>
            <a:ext cx="209006" cy="3490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44112" y="972977"/>
            <a:ext cx="132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3818" y="3384559"/>
            <a:ext cx="229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Evidential probability</a:t>
            </a:r>
            <a:endParaRPr lang="en-US" i="1" dirty="0">
              <a:solidFill>
                <a:srgbClr val="0070C0"/>
              </a:solidFill>
            </a:endParaRPr>
          </a:p>
        </p:txBody>
      </p:sp>
      <p:cxnSp>
        <p:nvCxnSpPr>
          <p:cNvPr id="16" name="Straight Arrow Connector 15"/>
          <p:cNvCxnSpPr>
            <a:cxnSpLocks/>
          </p:cNvCxnSpPr>
          <p:nvPr/>
        </p:nvCxnSpPr>
        <p:spPr>
          <a:xfrm flipH="1" flipV="1">
            <a:off x="6602573" y="3195307"/>
            <a:ext cx="252548" cy="2141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5307875" y="1342309"/>
            <a:ext cx="329581" cy="7829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9C6E7A-63AC-41EE-ABA0-B3793614AC61}"/>
                  </a:ext>
                </a:extLst>
              </p:cNvPr>
              <p:cNvSpPr/>
              <p:nvPr/>
            </p:nvSpPr>
            <p:spPr>
              <a:xfrm>
                <a:off x="3113411" y="2089582"/>
                <a:ext cx="4239046" cy="1135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2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IN" sz="32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IN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IN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9C6E7A-63AC-41EE-ABA0-B3793614AC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411" y="2089582"/>
                <a:ext cx="4239046" cy="11353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5A7F7C09-9E26-4865-ABF2-528A47D40EDF}"/>
              </a:ext>
            </a:extLst>
          </p:cNvPr>
          <p:cNvSpPr/>
          <p:nvPr/>
        </p:nvSpPr>
        <p:spPr>
          <a:xfrm>
            <a:off x="7564868" y="1468639"/>
            <a:ext cx="1759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 probability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426E39-70AA-407E-A5B2-0F1C8396D093}"/>
              </a:ext>
            </a:extLst>
          </p:cNvPr>
          <p:cNvCxnSpPr/>
          <p:nvPr/>
        </p:nvCxnSpPr>
        <p:spPr>
          <a:xfrm flipH="1">
            <a:off x="7211679" y="1932320"/>
            <a:ext cx="816984" cy="332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471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213C-41F5-4C60-8DCC-3FBF880C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Probability and Random Variable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06A64-0387-4442-BBBE-480CC150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74612"/>
            <a:ext cx="10515600" cy="471861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 Narrow" panose="020B0606020202030204" pitchFamily="34" charset="0"/>
              </a:rPr>
              <a:t>There are two types of random variables:</a:t>
            </a: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Discrete Random Variable – Takes a finite or countable number of values (e.g., the number of heads obtained when tossing three coins).</a:t>
            </a: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Continuous Random Variable – Takes any value within a given interval (e.g., the height or weight of a person).</a:t>
            </a:r>
          </a:p>
          <a:p>
            <a:endParaRPr lang="en-IN" sz="2400" dirty="0">
              <a:latin typeface="Arial Narrow" panose="020B0606020202030204" pitchFamily="34" charset="0"/>
            </a:endParaRPr>
          </a:p>
          <a:p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981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84E0-6A7F-4138-8176-CB7A3B64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Discrete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2529F4-076D-4E67-8C08-E3D20A7B9B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458071"/>
                <a:ext cx="7996516" cy="4799853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If X is a random variable (RV) which can take a finite number or countably infinite number of values, X is called a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discrete RV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When the RV is discrete, the possible values of X may be assumed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endParaRPr lang="en-IN" sz="2000" b="0" dirty="0">
                  <a:latin typeface="Arial Narrow" panose="020B0606020202030204" pitchFamily="34" charset="0"/>
                </a:endParaRPr>
              </a:p>
              <a:p>
                <a:pPr algn="just"/>
                <a:endParaRPr lang="en-IN" sz="2000" b="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Probability Function</a:t>
                </a:r>
                <a:r>
                  <a:rPr lang="en-IN" sz="2000" dirty="0">
                    <a:latin typeface="Arial Narrow" panose="020B0606020202030204" pitchFamily="34" charset="0"/>
                  </a:rPr>
                  <a:t>: </a:t>
                </a:r>
                <a:r>
                  <a:rPr lang="en-US" sz="2000" dirty="0">
                    <a:latin typeface="Arial Narrow" panose="020B0606020202030204" pitchFamily="34" charset="0"/>
                  </a:rPr>
                  <a:t>If X is a discrete RV which can take the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 is called </a:t>
                </a:r>
                <a:r>
                  <a:rPr lang="en-US" sz="2000" dirty="0">
                    <a:latin typeface="Arial Narrow" panose="020B0606020202030204" pitchFamily="34" charset="0"/>
                  </a:rPr>
                  <a:t>the probability function or probability mass function or point probability function, provided,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=1,2,3,…)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satisfy the following conditions:</a:t>
                </a:r>
              </a:p>
              <a:p>
                <a:pPr marL="914400" lvl="1" indent="-457200" algn="just">
                  <a:buFont typeface="+mj-lt"/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𝑎𝑙𝑙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</m:oMath>
                </a14:m>
                <a:endParaRPr lang="en-IN" sz="1600" b="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  <a:p>
                <a:pPr marL="914400" lvl="1" indent="-457200" algn="just">
                  <a:buFont typeface="+mj-lt"/>
                  <a:buAutoNum type="arabicParenR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 </a:t>
                </a:r>
              </a:p>
              <a:p>
                <a:pPr marL="457200" lvl="1" indent="0" algn="just">
                  <a:buNone/>
                </a:pPr>
                <a:endParaRPr lang="en-IN" sz="16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IN" sz="2000" dirty="0">
                    <a:latin typeface="Arial Narrow" panose="020B0606020202030204" pitchFamily="34" charset="0"/>
                  </a:rPr>
                  <a:t> The collection of pairs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=1,2,3,…</m:t>
                    </m:r>
                  </m:oMath>
                </a14:m>
                <a:r>
                  <a:rPr lang="en-IN" sz="2000" b="0" dirty="0">
                    <a:latin typeface="Arial Narrow" panose="020B0606020202030204" pitchFamily="34" charset="0"/>
                  </a:rPr>
                  <a:t>, </a:t>
                </a:r>
                <a:r>
                  <a:rPr lang="en-US" sz="2000" dirty="0">
                    <a:latin typeface="Arial Narrow" panose="020B0606020202030204" pitchFamily="34" charset="0"/>
                  </a:rPr>
                  <a:t>is called the probability distribution of the RV X, which can be represented as a table as given:</a:t>
                </a:r>
                <a:endParaRPr lang="en-IN" sz="2000" b="0" dirty="0">
                  <a:latin typeface="Arial Narrow" panose="020B0606020202030204" pitchFamily="34" charset="0"/>
                </a:endParaRPr>
              </a:p>
              <a:p>
                <a:pPr algn="just"/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2529F4-076D-4E67-8C08-E3D20A7B9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458071"/>
                <a:ext cx="7996516" cy="4799853"/>
              </a:xfrm>
              <a:blipFill>
                <a:blip r:embed="rId2"/>
                <a:stretch>
                  <a:fillRect l="-686" t="-1904" r="-8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C910481-4CBF-44FC-A65A-81017594583F}"/>
              </a:ext>
            </a:extLst>
          </p:cNvPr>
          <p:cNvSpPr txBox="1"/>
          <p:nvPr/>
        </p:nvSpPr>
        <p:spPr>
          <a:xfrm>
            <a:off x="4347882" y="6492875"/>
            <a:ext cx="7996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Narrow" panose="020B0606020202030204" pitchFamily="34" charset="0"/>
              </a:rPr>
              <a:t>Source: Probability, Statistics and Random Processes, T </a:t>
            </a:r>
            <a:r>
              <a:rPr lang="en-US" sz="1400" dirty="0" err="1">
                <a:latin typeface="Arial Narrow" panose="020B0606020202030204" pitchFamily="34" charset="0"/>
              </a:rPr>
              <a:t>Veerarajan</a:t>
            </a:r>
            <a:r>
              <a:rPr lang="en-US" sz="1400" dirty="0">
                <a:latin typeface="Arial Narrow" panose="020B0606020202030204" pitchFamily="34" charset="0"/>
              </a:rPr>
              <a:t>, Tata McGraw-Hill Publishing Company Limited</a:t>
            </a:r>
            <a:endParaRPr lang="en-IN" sz="1400" dirty="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B6C7A7-0330-4F1F-A24D-E7EB0229387E}"/>
                  </a:ext>
                </a:extLst>
              </p:cNvPr>
              <p:cNvSpPr txBox="1"/>
              <p:nvPr/>
            </p:nvSpPr>
            <p:spPr>
              <a:xfrm>
                <a:off x="9098335" y="2223896"/>
                <a:ext cx="129988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B6C7A7-0330-4F1F-A24D-E7EB02293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335" y="2223896"/>
                <a:ext cx="12998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0B4104-8AD0-4DD4-AC52-3A66AFA2A9D9}"/>
                  </a:ext>
                </a:extLst>
              </p:cNvPr>
              <p:cNvSpPr txBox="1"/>
              <p:nvPr/>
            </p:nvSpPr>
            <p:spPr>
              <a:xfrm>
                <a:off x="10398218" y="2223896"/>
                <a:ext cx="154921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0B4104-8AD0-4DD4-AC52-3A66AFA2A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218" y="2223896"/>
                <a:ext cx="1549213" cy="369332"/>
              </a:xfrm>
              <a:prstGeom prst="rect">
                <a:avLst/>
              </a:prstGeom>
              <a:blipFill>
                <a:blip r:embed="rId4"/>
                <a:stretch>
                  <a:fillRect b="-112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51C67B-EA05-4024-A090-B583163216E0}"/>
                  </a:ext>
                </a:extLst>
              </p:cNvPr>
              <p:cNvSpPr txBox="1"/>
              <p:nvPr/>
            </p:nvSpPr>
            <p:spPr>
              <a:xfrm>
                <a:off x="9098335" y="2593228"/>
                <a:ext cx="129988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51C67B-EA05-4024-A090-B58316321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335" y="2593228"/>
                <a:ext cx="12998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FFCAC8-D9BB-41A5-83C3-1ACB113AC96E}"/>
                  </a:ext>
                </a:extLst>
              </p:cNvPr>
              <p:cNvSpPr txBox="1"/>
              <p:nvPr/>
            </p:nvSpPr>
            <p:spPr>
              <a:xfrm>
                <a:off x="10398218" y="2593228"/>
                <a:ext cx="154921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FFCAC8-D9BB-41A5-83C3-1ACB113AC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218" y="2593228"/>
                <a:ext cx="1549213" cy="369332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FBAECB-C53F-40A8-AC0C-C62F58D25688}"/>
                  </a:ext>
                </a:extLst>
              </p:cNvPr>
              <p:cNvSpPr txBox="1"/>
              <p:nvPr/>
            </p:nvSpPr>
            <p:spPr>
              <a:xfrm>
                <a:off x="9098335" y="2962560"/>
                <a:ext cx="129988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FBAECB-C53F-40A8-AC0C-C62F58D25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335" y="2962560"/>
                <a:ext cx="129988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E8DFE5-590F-45AB-9C93-F7F964A8AC35}"/>
                  </a:ext>
                </a:extLst>
              </p:cNvPr>
              <p:cNvSpPr txBox="1"/>
              <p:nvPr/>
            </p:nvSpPr>
            <p:spPr>
              <a:xfrm>
                <a:off x="10398218" y="2962560"/>
                <a:ext cx="154921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E8DFE5-590F-45AB-9C93-F7F964A8A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218" y="2962560"/>
                <a:ext cx="1549213" cy="369332"/>
              </a:xfrm>
              <a:prstGeom prst="rect">
                <a:avLst/>
              </a:prstGeom>
              <a:blipFill>
                <a:blip r:embed="rId8"/>
                <a:stretch>
                  <a:fillRect b="-31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8A30DD-DBCC-4873-952A-E6DFD948273B}"/>
                  </a:ext>
                </a:extLst>
              </p:cNvPr>
              <p:cNvSpPr txBox="1"/>
              <p:nvPr/>
            </p:nvSpPr>
            <p:spPr>
              <a:xfrm>
                <a:off x="9098335" y="3331892"/>
                <a:ext cx="129988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8A30DD-DBCC-4873-952A-E6DFD9482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335" y="3331892"/>
                <a:ext cx="1299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40E861-EE67-496E-AB90-31DE1726849A}"/>
                  </a:ext>
                </a:extLst>
              </p:cNvPr>
              <p:cNvSpPr txBox="1"/>
              <p:nvPr/>
            </p:nvSpPr>
            <p:spPr>
              <a:xfrm>
                <a:off x="10398218" y="3331892"/>
                <a:ext cx="154921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40E861-EE67-496E-AB90-31DE17268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218" y="3331892"/>
                <a:ext cx="15492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DBBE77-428A-42E1-AF77-887E9602539B}"/>
                  </a:ext>
                </a:extLst>
              </p:cNvPr>
              <p:cNvSpPr txBox="1"/>
              <p:nvPr/>
            </p:nvSpPr>
            <p:spPr>
              <a:xfrm>
                <a:off x="9098335" y="3701224"/>
                <a:ext cx="129988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DBBE77-428A-42E1-AF77-887E96025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335" y="3701224"/>
                <a:ext cx="129988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8A121D-BCAA-44F3-A3CD-BBA607671B2F}"/>
                  </a:ext>
                </a:extLst>
              </p:cNvPr>
              <p:cNvSpPr txBox="1"/>
              <p:nvPr/>
            </p:nvSpPr>
            <p:spPr>
              <a:xfrm>
                <a:off x="10398218" y="3701224"/>
                <a:ext cx="154921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8A121D-BCAA-44F3-A3CD-BBA607671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218" y="3701224"/>
                <a:ext cx="1549213" cy="369332"/>
              </a:xfrm>
              <a:prstGeom prst="rect">
                <a:avLst/>
              </a:prstGeom>
              <a:blipFill>
                <a:blip r:embed="rId12"/>
                <a:stretch>
                  <a:fillRect b="-47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202DA2-DB3C-409F-ADDB-491A6FB704A7}"/>
                  </a:ext>
                </a:extLst>
              </p:cNvPr>
              <p:cNvSpPr txBox="1"/>
              <p:nvPr/>
            </p:nvSpPr>
            <p:spPr>
              <a:xfrm>
                <a:off x="9098335" y="4066555"/>
                <a:ext cx="129988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202DA2-DB3C-409F-ADDB-491A6FB70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335" y="4066555"/>
                <a:ext cx="129988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57DD92-19BE-4A3C-B755-86D92239007F}"/>
                  </a:ext>
                </a:extLst>
              </p:cNvPr>
              <p:cNvSpPr txBox="1"/>
              <p:nvPr/>
            </p:nvSpPr>
            <p:spPr>
              <a:xfrm>
                <a:off x="10398218" y="4066555"/>
                <a:ext cx="154921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57DD92-19BE-4A3C-B755-86D922390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218" y="4066555"/>
                <a:ext cx="154921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54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A446-88FC-4734-A53A-87280372B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Continuous Random Variable and Probability Density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F458E-9ECA-4D91-B650-66689F3E5C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 If X is an RV which can take all values (i.e., infinite number of values) in an interval, then X is called a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continuous RV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Example: Temperature at a place, height of a person, Lifetime of an electronic device, etc.</a:t>
                </a:r>
              </a:p>
              <a:p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Probability Density Function</a:t>
                </a:r>
                <a:r>
                  <a:rPr lang="en-US" sz="2000" dirty="0">
                    <a:latin typeface="Arial Narrow" panose="020B0606020202030204" pitchFamily="34" charset="0"/>
                  </a:rPr>
                  <a:t>: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X is a continuous RV 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is called the probability density function (shortly denoted as pdf) of X, provided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satisfies the following conditions:</a:t>
                </a:r>
              </a:p>
              <a:p>
                <a:pPr marL="0" indent="0">
                  <a:buNone/>
                </a:pPr>
                <a:r>
                  <a:rPr lang="en-IN" sz="2000" dirty="0">
                    <a:ea typeface="Cambria Math" panose="02040503050406030204" pitchFamily="18" charset="0"/>
                  </a:rPr>
                  <a:t>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𝑓𝑜𝑟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𝑎𝑙𝑙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F458E-9ECA-4D91-B650-66689F3E5C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1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078F52-5913-4AF9-A33B-6667ADF5C5CF}"/>
                  </a:ext>
                </a:extLst>
              </p:cNvPr>
              <p:cNvSpPr txBox="1"/>
              <p:nvPr/>
            </p:nvSpPr>
            <p:spPr>
              <a:xfrm>
                <a:off x="5172636" y="5838409"/>
                <a:ext cx="4751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078F52-5913-4AF9-A33B-6667ADF5C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636" y="5838409"/>
                <a:ext cx="47512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406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FD09-0290-4C17-A61E-E3E4AA39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Probability Density Function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CF2BE0-6B0F-4DE2-8DA7-1CB2E3C506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sz="2000" dirty="0">
                    <a:latin typeface="Arial Narrow" panose="020B0606020202030204" pitchFamily="34" charset="0"/>
                  </a:rPr>
                  <a:t>Moreover,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is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The curve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is called the probability curve of the RV X.</a:t>
                </a:r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CF2BE0-6B0F-4DE2-8DA7-1CB2E3C50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F14F8B2-5FC7-466D-A068-12ED0EF772C3}"/>
              </a:ext>
            </a:extLst>
          </p:cNvPr>
          <p:cNvGrpSpPr/>
          <p:nvPr/>
        </p:nvGrpSpPr>
        <p:grpSpPr>
          <a:xfrm>
            <a:off x="8054023" y="2450458"/>
            <a:ext cx="3299777" cy="2800629"/>
            <a:chOff x="6981825" y="3545833"/>
            <a:chExt cx="3299777" cy="280062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D7E5FCA-3C56-4D07-9547-E4E23EA3D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7077" y="3545833"/>
              <a:ext cx="3187382" cy="280062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342BD49-078B-49A5-A07D-18A7A1D8565B}"/>
                    </a:ext>
                  </a:extLst>
                </p:cNvPr>
                <p:cNvSpPr txBox="1"/>
                <p:nvPr/>
              </p:nvSpPr>
              <p:spPr>
                <a:xfrm>
                  <a:off x="6981825" y="4397375"/>
                  <a:ext cx="56197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342BD49-078B-49A5-A07D-18A7A1D85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825" y="4397375"/>
                  <a:ext cx="561975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126CF8D-0166-49AA-8924-BF46F50D9E5A}"/>
                    </a:ext>
                  </a:extLst>
                </p:cNvPr>
                <p:cNvSpPr/>
                <p:nvPr/>
              </p:nvSpPr>
              <p:spPr>
                <a:xfrm>
                  <a:off x="9913617" y="5892381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126CF8D-0166-49AA-8924-BF46F50D9E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3617" y="5892381"/>
                  <a:ext cx="36798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2ACA5CE-A857-4F65-B397-0D606A904334}"/>
                    </a:ext>
                  </a:extLst>
                </p:cNvPr>
                <p:cNvSpPr/>
                <p:nvPr/>
              </p:nvSpPr>
              <p:spPr>
                <a:xfrm>
                  <a:off x="7968852" y="5278672"/>
                  <a:ext cx="122039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I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I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IN" sz="1400" dirty="0"/>
                    <a:t>)</a:t>
                  </a: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2ACA5CE-A857-4F65-B397-0D606A9043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8852" y="5278672"/>
                  <a:ext cx="1220399" cy="307777"/>
                </a:xfrm>
                <a:prstGeom prst="rect">
                  <a:avLst/>
                </a:prstGeom>
                <a:blipFill>
                  <a:blip r:embed="rId6"/>
                  <a:stretch>
                    <a:fillRect t="-3922" r="-500" b="-196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FCDFF87-58B6-4FC0-92DB-3800A5646581}"/>
                    </a:ext>
                  </a:extLst>
                </p:cNvPr>
                <p:cNvSpPr txBox="1"/>
                <p:nvPr/>
              </p:nvSpPr>
              <p:spPr>
                <a:xfrm>
                  <a:off x="7657385" y="5964389"/>
                  <a:ext cx="7150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FCDFF87-58B6-4FC0-92DB-3800A5646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7385" y="5964389"/>
                  <a:ext cx="715090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2DE2FD9-52D9-420D-A1B1-7F4A8BCE51AE}"/>
                    </a:ext>
                  </a:extLst>
                </p:cNvPr>
                <p:cNvSpPr txBox="1"/>
                <p:nvPr/>
              </p:nvSpPr>
              <p:spPr>
                <a:xfrm>
                  <a:off x="8852086" y="5979696"/>
                  <a:ext cx="71509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2DE2FD9-52D9-420D-A1B1-7F4A8BCE51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2086" y="5979696"/>
                  <a:ext cx="715090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72FE1422-3342-4BAF-B4ED-66064B748149}"/>
                    </a:ext>
                  </a:extLst>
                </p:cNvPr>
                <p:cNvSpPr/>
                <p:nvPr/>
              </p:nvSpPr>
              <p:spPr>
                <a:xfrm>
                  <a:off x="7189338" y="5870621"/>
                  <a:ext cx="36580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72FE1422-3342-4BAF-B4ED-66064B7481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9338" y="5870621"/>
                  <a:ext cx="36580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3095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7CB9-0ED8-4150-865C-A8BC3DBA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Cumulative Distribution Function (</a:t>
            </a:r>
            <a:r>
              <a:rPr lang="en-IN" sz="3600" dirty="0" err="1">
                <a:latin typeface="Century" panose="02040604050505020304" pitchFamily="18" charset="0"/>
              </a:rPr>
              <a:t>cdf</a:t>
            </a:r>
            <a:r>
              <a:rPr lang="en-IN" sz="3600" dirty="0">
                <a:latin typeface="Century" panose="020406040505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EE5B53-A5B1-4133-9B35-587F29BB93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an RV, discrete or continuous, then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is called the cumulative distribution function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or distribution function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and denoted 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is discrete,</a:t>
                </a:r>
              </a:p>
              <a:p>
                <a:pPr marL="0" indent="0">
                  <a:buNone/>
                </a:pPr>
                <a:r>
                  <a:rPr lang="en-IN" sz="2000" b="0" dirty="0"/>
                  <a:t>                                                      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is continuous,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∞&lt;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EE5B53-A5B1-4133-9B35-587F29BB93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981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93D2-7396-4AA6-BBA0-3B716C459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Some useful PDFs in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F2687-388E-4DAF-92B8-5518070A12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893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Probability density functions of some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continuous RVs</a:t>
                </a:r>
                <a:r>
                  <a:rPr lang="en-US" sz="2000" dirty="0">
                    <a:latin typeface="Arial Narrow" panose="020B0606020202030204" pitchFamily="34" charset="0"/>
                  </a:rPr>
                  <a:t>, which are of frequent ML applications, are as follows:</a:t>
                </a:r>
              </a:p>
              <a:p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Uniform distribution</a:t>
                </a:r>
                <a:r>
                  <a:rPr lang="en-IN" sz="2000" dirty="0">
                    <a:latin typeface="Arial Narrow" panose="020B0606020202030204" pitchFamily="34" charset="0"/>
                  </a:rPr>
                  <a:t>:</a:t>
                </a:r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the pdf of a continuous RV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𝑐𝑜𝑛𝑠𝑡𝑎𝑛𝑡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follows a uniform distribution (or rectangular) distribution.</a:t>
                </a:r>
              </a:p>
              <a:p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Gaussian Distribution</a:t>
                </a:r>
                <a:r>
                  <a:rPr lang="en-IN" sz="2000" dirty="0">
                    <a:latin typeface="Arial Narrow" panose="020B0606020202030204" pitchFamily="34" charset="0"/>
                  </a:rPr>
                  <a:t>: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the pdf of a continuous RV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</a:t>
                </a:r>
              </a:p>
              <a:p>
                <a:pPr marL="0" indent="0">
                  <a:buNone/>
                </a:pPr>
                <a:r>
                  <a:rPr lang="en-IN" sz="2000" b="0" dirty="0"/>
                  <a:t>                              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then X is said to follow a normal distribution (or Gaussian distribution) with parameters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(mean) and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(</a:t>
                </a:r>
                <a:r>
                  <a:rPr lang="en-US" sz="2000" dirty="0">
                    <a:latin typeface="Arial Narrow" panose="020B0606020202030204" pitchFamily="34" charset="0"/>
                  </a:rPr>
                  <a:t>standard deviation</a:t>
                </a:r>
                <a:r>
                  <a:rPr lang="en-IN" sz="2000" dirty="0">
                    <a:latin typeface="Arial Narrow" panose="020B0606020202030204" pitchFamily="34" charset="0"/>
                  </a:rPr>
                  <a:t>) of the distribution, also denoted as 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</a:rPr>
                      <m:t>𝓝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F2687-388E-4DAF-92B8-5518070A12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89300" cy="4351338"/>
              </a:xfrm>
              <a:blipFill>
                <a:blip r:embed="rId2"/>
                <a:stretch>
                  <a:fillRect l="-921" t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0117F47-F624-4F26-BC37-4B635507A994}"/>
              </a:ext>
            </a:extLst>
          </p:cNvPr>
          <p:cNvGrpSpPr/>
          <p:nvPr/>
        </p:nvGrpSpPr>
        <p:grpSpPr>
          <a:xfrm>
            <a:off x="8522717" y="950638"/>
            <a:ext cx="3327021" cy="2650117"/>
            <a:chOff x="8545114" y="1550713"/>
            <a:chExt cx="3327021" cy="26501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57AFBB-9A7C-4DC1-A2DF-2B251DCD1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11364" y="1835150"/>
              <a:ext cx="2510499" cy="1719349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990ABEA-15FF-4E8F-8CA1-1EFF1F66CC53}"/>
                </a:ext>
              </a:extLst>
            </p:cNvPr>
            <p:cNvCxnSpPr>
              <a:cxnSpLocks/>
            </p:cNvCxnSpPr>
            <p:nvPr/>
          </p:nvCxnSpPr>
          <p:spPr>
            <a:xfrm>
              <a:off x="9950824" y="2474819"/>
              <a:ext cx="0" cy="735106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B050506-9A20-46A0-B90D-565538BB941F}"/>
                </a:ext>
              </a:extLst>
            </p:cNvPr>
            <p:cNvCxnSpPr>
              <a:cxnSpLocks/>
            </p:cNvCxnSpPr>
            <p:nvPr/>
          </p:nvCxnSpPr>
          <p:spPr>
            <a:xfrm>
              <a:off x="10912849" y="2474819"/>
              <a:ext cx="0" cy="735106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78742C-DD25-4CA9-A272-EEAA72EE42C4}"/>
                </a:ext>
              </a:extLst>
            </p:cNvPr>
            <p:cNvCxnSpPr/>
            <p:nvPr/>
          </p:nvCxnSpPr>
          <p:spPr>
            <a:xfrm>
              <a:off x="9950824" y="2465294"/>
              <a:ext cx="962025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C2763B00-AFBC-4799-B0A4-D8062044D3D2}"/>
                    </a:ext>
                  </a:extLst>
                </p:cNvPr>
                <p:cNvSpPr/>
                <p:nvPr/>
              </p:nvSpPr>
              <p:spPr>
                <a:xfrm>
                  <a:off x="8545114" y="2149403"/>
                  <a:ext cx="777264" cy="6127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C2763B00-AFBC-4799-B0A4-D8062044D3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5114" y="2149403"/>
                  <a:ext cx="777264" cy="6127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687E033-CCCF-4DD7-99E5-4C68FB1C4DFC}"/>
                    </a:ext>
                  </a:extLst>
                </p:cNvPr>
                <p:cNvSpPr/>
                <p:nvPr/>
              </p:nvSpPr>
              <p:spPr>
                <a:xfrm>
                  <a:off x="8975905" y="1550713"/>
                  <a:ext cx="69294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687E033-CCCF-4DD7-99E5-4C68FB1C4D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5905" y="1550713"/>
                  <a:ext cx="69294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3BAAB6D-5068-4760-9A85-436DA572A2FC}"/>
                    </a:ext>
                  </a:extLst>
                </p:cNvPr>
                <p:cNvSpPr/>
                <p:nvPr/>
              </p:nvSpPr>
              <p:spPr>
                <a:xfrm>
                  <a:off x="11450897" y="3015734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3BAAB6D-5068-4760-9A85-436DA572A2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0897" y="3015734"/>
                  <a:ext cx="36798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9027EBF-E40F-4211-A787-B3CF81DA7B06}"/>
                    </a:ext>
                  </a:extLst>
                </p:cNvPr>
                <p:cNvSpPr/>
                <p:nvPr/>
              </p:nvSpPr>
              <p:spPr>
                <a:xfrm>
                  <a:off x="9791365" y="3150671"/>
                  <a:ext cx="37144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9027EBF-E40F-4211-A787-B3CF81DA7B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1365" y="3150671"/>
                  <a:ext cx="37144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AF4AA413-65B8-44CF-B04A-50F82814FBC0}"/>
                    </a:ext>
                  </a:extLst>
                </p:cNvPr>
                <p:cNvSpPr/>
                <p:nvPr/>
              </p:nvSpPr>
              <p:spPr>
                <a:xfrm>
                  <a:off x="10758981" y="3200400"/>
                  <a:ext cx="36766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AF4AA413-65B8-44CF-B04A-50F82814FB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8981" y="3200400"/>
                  <a:ext cx="36766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E5A122E-EC04-4E8F-843C-47ED02CDD214}"/>
                    </a:ext>
                  </a:extLst>
                </p:cNvPr>
                <p:cNvSpPr/>
                <p:nvPr/>
              </p:nvSpPr>
              <p:spPr>
                <a:xfrm>
                  <a:off x="8923892" y="3554499"/>
                  <a:ext cx="2948243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>
                      <a:latin typeface="Arial Narrow" panose="020B0606020202030204" pitchFamily="34" charset="0"/>
                    </a:rPr>
                    <a:t>Fig1: pdf of a </a:t>
                  </a:r>
                  <a:r>
                    <a:rPr lang="en-IN" dirty="0">
                      <a:latin typeface="Arial Narrow" panose="020B0606020202030204" pitchFamily="34" charset="0"/>
                    </a:rPr>
                    <a:t>uniform distribution</a:t>
                  </a:r>
                </a:p>
                <a:p>
                  <a:pPr algn="ctr"/>
                  <a:r>
                    <a:rPr lang="en-IN" dirty="0">
                      <a:latin typeface="Arial Narrow" panose="020B0606020202030204" pitchFamily="34" charset="0"/>
                    </a:rPr>
                    <a:t>for </a:t>
                  </a:r>
                  <a:r>
                    <a:rPr lang="en-US" dirty="0">
                      <a:latin typeface="Arial Narrow" panose="020B0606020202030204" pitchFamily="34" charset="0"/>
                    </a:rPr>
                    <a:t>a continuous RV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</m:oMath>
                  </a14:m>
                  <a:r>
                    <a:rPr lang="en-US" dirty="0">
                      <a:latin typeface="Arial Narrow" panose="020B0606020202030204" pitchFamily="34" charset="0"/>
                    </a:rPr>
                    <a:t> </a:t>
                  </a:r>
                  <a:endParaRPr lang="en-IN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E5A122E-EC04-4E8F-843C-47ED02CDD2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3892" y="3554499"/>
                  <a:ext cx="2948243" cy="646331"/>
                </a:xfrm>
                <a:prstGeom prst="rect">
                  <a:avLst/>
                </a:prstGeom>
                <a:blipFill>
                  <a:blip r:embed="rId9"/>
                  <a:stretch>
                    <a:fillRect l="-1446" t="-4717" r="-1240" b="-132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076" name="Picture 4" descr="Figure 3">
            <a:extLst>
              <a:ext uri="{FF2B5EF4-FFF2-40B4-BE49-F238E27FC236}">
                <a16:creationId xmlns:a16="http://schemas.microsoft.com/office/drawing/2014/main" id="{ABB714BE-25EA-4221-98FB-026560EF2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449" y="3662260"/>
            <a:ext cx="4074485" cy="243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52198F3-7A42-432E-9836-0870AE3A3155}"/>
              </a:ext>
            </a:extLst>
          </p:cNvPr>
          <p:cNvSpPr/>
          <p:nvPr/>
        </p:nvSpPr>
        <p:spPr>
          <a:xfrm>
            <a:off x="373299" y="6492875"/>
            <a:ext cx="45560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Fig2: Source: https://ned.ipac.caltech.edu/level5/Leo/Stats2_3.html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A127DCCD-3A09-45D3-B979-415E0DFE68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3182208"/>
                  </p:ext>
                </p:extLst>
              </p:nvPr>
            </p:nvGraphicFramePr>
            <p:xfrm>
              <a:off x="7551421" y="6098252"/>
              <a:ext cx="4640579" cy="579120"/>
            </p:xfrm>
            <a:graphic>
              <a:graphicData uri="http://schemas.openxmlformats.org/drawingml/2006/table">
                <a:tbl>
                  <a:tblPr/>
                  <a:tblGrid>
                    <a:gridCol w="4640579">
                      <a:extLst>
                        <a:ext uri="{9D8B030D-6E8A-4147-A177-3AD203B41FA5}">
                          <a16:colId xmlns:a16="http://schemas.microsoft.com/office/drawing/2014/main" val="42182858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dirty="0">
                              <a:latin typeface="Arial Narrow" panose="020B0606020202030204" pitchFamily="34" charset="0"/>
                            </a:rPr>
                            <a:t>Fig2: Gaussian distribution for various</a:t>
                          </a:r>
                          <a14:m>
                            <m:oMath xmlns:m="http://schemas.openxmlformats.org/officeDocument/2006/math">
                              <m:r>
                                <a:rPr lang="en-IN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oMath>
                          </a14:m>
                          <a:r>
                            <a:rPr lang="en-US" sz="1600" dirty="0">
                              <a:latin typeface="Arial Narrow" panose="020B0606020202030204" pitchFamily="34" charset="0"/>
                            </a:rPr>
                            <a:t>. The standard deviation determines the width of the distribution.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07276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A127DCCD-3A09-45D3-B979-415E0DFE68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3182208"/>
                  </p:ext>
                </p:extLst>
              </p:nvPr>
            </p:nvGraphicFramePr>
            <p:xfrm>
              <a:off x="7551421" y="6098252"/>
              <a:ext cx="4640579" cy="579120"/>
            </p:xfrm>
            <a:graphic>
              <a:graphicData uri="http://schemas.openxmlformats.org/drawingml/2006/table">
                <a:tbl>
                  <a:tblPr/>
                  <a:tblGrid>
                    <a:gridCol w="4640579">
                      <a:extLst>
                        <a:ext uri="{9D8B030D-6E8A-4147-A177-3AD203B41FA5}">
                          <a16:colId xmlns:a16="http://schemas.microsoft.com/office/drawing/2014/main" val="421828582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11"/>
                          <a:stretch>
                            <a:fillRect t="-2083" b="-13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276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078" name="Picture 6" descr="sigma">
            <a:extLst>
              <a:ext uri="{FF2B5EF4-FFF2-40B4-BE49-F238E27FC236}">
                <a16:creationId xmlns:a16="http://schemas.microsoft.com/office/drawing/2014/main" id="{160E4E3B-E5BB-4A7D-8B5E-A538F3E30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300" y="9060309"/>
            <a:ext cx="66675" cy="6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266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8B79-FD24-4BA2-9CEB-88D0209B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Mean and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8DC75-8AAC-4900-83A1-28D9663932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a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discrete random variable </a:t>
                </a:r>
                <a:r>
                  <a:rPr lang="en-US" sz="2000" dirty="0">
                    <a:latin typeface="Arial Narrow" panose="020B0606020202030204" pitchFamily="34" charset="0"/>
                  </a:rPr>
                  <a:t>with probability mass function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=1,2,3,…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then </a:t>
                </a:r>
                <a:r>
                  <a:rPr lang="en-US" sz="2000" dirty="0">
                    <a:latin typeface="Arial Narrow" panose="020B0606020202030204" pitchFamily="34" charset="0"/>
                  </a:rPr>
                  <a:t>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mathematical expectation</a:t>
                </a:r>
                <a:r>
                  <a:rPr lang="en-US" sz="2000" dirty="0">
                    <a:latin typeface="Arial Narrow" panose="020B060602020203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or the </a:t>
                </a:r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arithmetic mean </a:t>
                </a:r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denoted as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is defined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is a continuous random variable with probability density function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is defined by</a:t>
                </a:r>
              </a:p>
              <a:p>
                <a:pPr marL="0" indent="0">
                  <a:buNone/>
                </a:pPr>
                <a:r>
                  <a:rPr lang="en-IN" sz="2000" dirty="0"/>
                  <a:t>			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                                                                       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is the range space of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r>
                  <a:rPr lang="en-US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Variance</a:t>
                </a:r>
                <a:r>
                  <a:rPr lang="en-US" sz="2000" dirty="0">
                    <a:latin typeface="Arial Narrow" panose="020B0606020202030204" pitchFamily="34" charset="0"/>
                  </a:rPr>
                  <a:t>: The variance measures how far the values of a random variable are spread around the mean. A larger variance indicates greater variability.</a:t>
                </a:r>
              </a:p>
              <a:p>
                <a:pPr marL="0" indent="0">
                  <a:buNone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8DC75-8AAC-4900-83A1-28D9663932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1100F02-941E-4010-B88A-2E59316E36B9}"/>
                  </a:ext>
                </a:extLst>
              </p:cNvPr>
              <p:cNvSpPr/>
              <p:nvPr/>
            </p:nvSpPr>
            <p:spPr>
              <a:xfrm>
                <a:off x="4908474" y="3832017"/>
                <a:ext cx="45980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 </a:t>
                </a:r>
                <a:endParaRPr lang="en-IN" sz="16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1100F02-941E-4010-B88A-2E59316E36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474" y="3832017"/>
                <a:ext cx="459806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722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D709-9531-4E86-AF52-5C1BF6A8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Mean and Variance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4563A-1A21-47DC-AA61-B09280FB3C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2000" dirty="0">
                    <a:latin typeface="Arial Narrow" panose="020B0606020202030204" pitchFamily="34" charset="0"/>
                  </a:rPr>
                  <a:t>For a discrete random variable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For a continuous random variable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Mean measures the 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average value of a random variable</a:t>
                </a:r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Variance measures the 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spread of the values around the mean</a:t>
                </a:r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A higher variance indicates greater dispersion, while a lower variance indicates that the values are closer to the mean.</a:t>
                </a: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4563A-1A21-47DC-AA61-B09280FB3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464" t="-19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650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0F12D-6A40-428B-8A86-E52B1B89D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F38412-46DA-44F4-89B6-A0FBA85FD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Definitions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Random Variables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Conditional Probability and Bayes theorem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Discrete and Continuous Random Variables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Probability Density Function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Cumulative Distribution Function</a:t>
            </a:r>
          </a:p>
          <a:p>
            <a:r>
              <a:rPr lang="en-IN" sz="2000" dirty="0">
                <a:latin typeface="Arial Narrow" panose="020B0606020202030204" pitchFamily="34" charset="0"/>
              </a:rPr>
              <a:t>Mean and Variance</a:t>
            </a:r>
          </a:p>
          <a:p>
            <a:pPr marL="0" indent="0">
              <a:buNone/>
            </a:pPr>
            <a:endParaRPr lang="en-IN" sz="20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5248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44946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Mathematical Preliminaries – II</a:t>
            </a:r>
            <a:b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(Basic Probability)</a:t>
            </a:r>
            <a:b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2:Part 3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14931</TotalTime>
  <Words>2245</Words>
  <Application>Microsoft Office PowerPoint</Application>
  <PresentationFormat>Widescreen</PresentationFormat>
  <Paragraphs>201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Symbol</vt:lpstr>
      <vt:lpstr>Times New Roman</vt:lpstr>
      <vt:lpstr>Office Theme</vt:lpstr>
      <vt:lpstr>   Mathematical Preliminaries – II (Basic Probability - I) </vt:lpstr>
      <vt:lpstr>Outline</vt:lpstr>
      <vt:lpstr>A few definitions of Probability</vt:lpstr>
      <vt:lpstr>Probability and Random Variable</vt:lpstr>
      <vt:lpstr>Probability Rules</vt:lpstr>
      <vt:lpstr>Conditional Probability</vt:lpstr>
      <vt:lpstr>Independent Events</vt:lpstr>
      <vt:lpstr>Bayes Theorem</vt:lpstr>
      <vt:lpstr>Application of Bayes Theorem</vt:lpstr>
      <vt:lpstr>Bayes Theorem</vt:lpstr>
      <vt:lpstr>Probability and Random Variable</vt:lpstr>
      <vt:lpstr>Discrete Random Variable</vt:lpstr>
      <vt:lpstr>Continuous Random Variable and Probability Density Function</vt:lpstr>
      <vt:lpstr>Probability Density Function</vt:lpstr>
      <vt:lpstr>Cumulative Distribution Function (cdf)</vt:lpstr>
      <vt:lpstr>Some useful PDFs in ML</vt:lpstr>
      <vt:lpstr>Mean and Variance</vt:lpstr>
      <vt:lpstr>Mean and Variance</vt:lpstr>
      <vt:lpstr>Summary</vt:lpstr>
      <vt:lpstr>Mathematical Preliminaries – II (Basic Probability)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lastModifiedBy>HP</cp:lastModifiedBy>
  <cp:revision>112</cp:revision>
  <dcterms:created xsi:type="dcterms:W3CDTF">2026-06-26T15:24:18Z</dcterms:created>
  <dcterms:modified xsi:type="dcterms:W3CDTF">2026-07-08T07:59:17Z</dcterms:modified>
</cp:coreProperties>
</file>