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87" r:id="rId2"/>
    <p:sldId id="258" r:id="rId3"/>
    <p:sldId id="395" r:id="rId4"/>
    <p:sldId id="396" r:id="rId5"/>
    <p:sldId id="397" r:id="rId6"/>
    <p:sldId id="398" r:id="rId7"/>
    <p:sldId id="399" r:id="rId8"/>
    <p:sldId id="400" r:id="rId9"/>
    <p:sldId id="401" r:id="rId10"/>
    <p:sldId id="402" r:id="rId11"/>
    <p:sldId id="415" r:id="rId12"/>
    <p:sldId id="403" r:id="rId13"/>
    <p:sldId id="404" r:id="rId14"/>
    <p:sldId id="405" r:id="rId15"/>
    <p:sldId id="406" r:id="rId16"/>
    <p:sldId id="416" r:id="rId17"/>
    <p:sldId id="407" r:id="rId18"/>
    <p:sldId id="408" r:id="rId19"/>
    <p:sldId id="417" r:id="rId20"/>
    <p:sldId id="409" r:id="rId21"/>
    <p:sldId id="418" r:id="rId22"/>
    <p:sldId id="388" r:id="rId23"/>
    <p:sldId id="419" r:id="rId24"/>
    <p:sldId id="410" r:id="rId25"/>
    <p:sldId id="412" r:id="rId26"/>
    <p:sldId id="413" r:id="rId27"/>
    <p:sldId id="414" r:id="rId28"/>
    <p:sldId id="357" r:id="rId29"/>
    <p:sldId id="411" r:id="rId30"/>
    <p:sldId id="267"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1C3C4B-647F-4197-B196-B0C218A5F8E5}" type="datetimeFigureOut">
              <a:rPr lang="en-IN" smtClean="0"/>
              <a:t>28-08-2026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CF3444-E6CD-4FE7-8E1C-87356E5F91FF}" type="slidenum">
              <a:rPr lang="en-IN" smtClean="0"/>
              <a:t>‹#›</a:t>
            </a:fld>
            <a:endParaRPr lang="en-IN"/>
          </a:p>
        </p:txBody>
      </p:sp>
    </p:spTree>
    <p:extLst>
      <p:ext uri="{BB962C8B-B14F-4D97-AF65-F5344CB8AC3E}">
        <p14:creationId xmlns:p14="http://schemas.microsoft.com/office/powerpoint/2010/main" val="16000079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265391C-9898-4706-BCA9-3F22EE62F00A}" type="slidenum">
              <a:rPr lang="en-IN" smtClean="0"/>
              <a:t>27</a:t>
            </a:fld>
            <a:endParaRPr lang="en-IN"/>
          </a:p>
        </p:txBody>
      </p:sp>
    </p:spTree>
    <p:extLst>
      <p:ext uri="{BB962C8B-B14F-4D97-AF65-F5344CB8AC3E}">
        <p14:creationId xmlns:p14="http://schemas.microsoft.com/office/powerpoint/2010/main" val="31320740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DF975-DAB1-49AF-8954-30CE9722F98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EEBD5C50-A07E-4066-A307-F1FAE829E19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FAF1EFFA-C33D-49C1-A92A-64BB94C9906A}"/>
              </a:ext>
            </a:extLst>
          </p:cNvPr>
          <p:cNvSpPr>
            <a:spLocks noGrp="1"/>
          </p:cNvSpPr>
          <p:nvPr>
            <p:ph type="dt" sz="half" idx="10"/>
          </p:nvPr>
        </p:nvSpPr>
        <p:spPr/>
        <p:txBody>
          <a:bodyPr/>
          <a:lstStyle/>
          <a:p>
            <a:fld id="{852D827C-2FEE-45E4-9E06-55DBCE8A61E0}" type="datetimeFigureOut">
              <a:rPr lang="en-GB" smtClean="0"/>
              <a:t>28/08/2026</a:t>
            </a:fld>
            <a:endParaRPr lang="en-GB"/>
          </a:p>
        </p:txBody>
      </p:sp>
      <p:sp>
        <p:nvSpPr>
          <p:cNvPr id="5" name="Footer Placeholder 4">
            <a:extLst>
              <a:ext uri="{FF2B5EF4-FFF2-40B4-BE49-F238E27FC236}">
                <a16:creationId xmlns:a16="http://schemas.microsoft.com/office/drawing/2014/main" id="{B4F86026-C6A2-422F-A770-DD30F323D47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C0CAA48-1852-4FA3-AFB6-9D05508913D2}"/>
              </a:ext>
            </a:extLst>
          </p:cNvPr>
          <p:cNvSpPr>
            <a:spLocks noGrp="1"/>
          </p:cNvSpPr>
          <p:nvPr>
            <p:ph type="sldNum" sz="quarter" idx="12"/>
          </p:nvPr>
        </p:nvSpPr>
        <p:spPr/>
        <p:txBody>
          <a:bodyPr/>
          <a:lstStyle/>
          <a:p>
            <a:fld id="{57F72460-1439-4FD1-840A-D0C4E9D460B7}" type="slidenum">
              <a:rPr lang="en-GB" smtClean="0"/>
              <a:t>‹#›</a:t>
            </a:fld>
            <a:endParaRPr lang="en-GB"/>
          </a:p>
        </p:txBody>
      </p:sp>
    </p:spTree>
    <p:extLst>
      <p:ext uri="{BB962C8B-B14F-4D97-AF65-F5344CB8AC3E}">
        <p14:creationId xmlns:p14="http://schemas.microsoft.com/office/powerpoint/2010/main" val="3675146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F5133-EAD1-4A43-BE29-2A3A50F6542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AF5460D-E0C1-490A-AEB3-3B1E540C6AE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6955C1C-15D2-4333-9E3E-026E261C5984}"/>
              </a:ext>
            </a:extLst>
          </p:cNvPr>
          <p:cNvSpPr>
            <a:spLocks noGrp="1"/>
          </p:cNvSpPr>
          <p:nvPr>
            <p:ph type="dt" sz="half" idx="10"/>
          </p:nvPr>
        </p:nvSpPr>
        <p:spPr/>
        <p:txBody>
          <a:bodyPr/>
          <a:lstStyle/>
          <a:p>
            <a:fld id="{852D827C-2FEE-45E4-9E06-55DBCE8A61E0}" type="datetimeFigureOut">
              <a:rPr lang="en-GB" smtClean="0"/>
              <a:t>28/08/2026</a:t>
            </a:fld>
            <a:endParaRPr lang="en-GB"/>
          </a:p>
        </p:txBody>
      </p:sp>
      <p:sp>
        <p:nvSpPr>
          <p:cNvPr id="5" name="Footer Placeholder 4">
            <a:extLst>
              <a:ext uri="{FF2B5EF4-FFF2-40B4-BE49-F238E27FC236}">
                <a16:creationId xmlns:a16="http://schemas.microsoft.com/office/drawing/2014/main" id="{19FFB7F6-62C3-4410-A465-B364A1453FF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192414A-4251-4CCE-A757-04D39153B72B}"/>
              </a:ext>
            </a:extLst>
          </p:cNvPr>
          <p:cNvSpPr>
            <a:spLocks noGrp="1"/>
          </p:cNvSpPr>
          <p:nvPr>
            <p:ph type="sldNum" sz="quarter" idx="12"/>
          </p:nvPr>
        </p:nvSpPr>
        <p:spPr/>
        <p:txBody>
          <a:bodyPr/>
          <a:lstStyle/>
          <a:p>
            <a:fld id="{57F72460-1439-4FD1-840A-D0C4E9D460B7}" type="slidenum">
              <a:rPr lang="en-GB" smtClean="0"/>
              <a:t>‹#›</a:t>
            </a:fld>
            <a:endParaRPr lang="en-GB"/>
          </a:p>
        </p:txBody>
      </p:sp>
    </p:spTree>
    <p:extLst>
      <p:ext uri="{BB962C8B-B14F-4D97-AF65-F5344CB8AC3E}">
        <p14:creationId xmlns:p14="http://schemas.microsoft.com/office/powerpoint/2010/main" val="4282458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FC797-21BC-4BA4-B978-31E68E89208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0699CD28-979F-45C4-B382-553C7E6A52C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59F13C6-AA80-43F2-9E4E-0F23F3C51B68}"/>
              </a:ext>
            </a:extLst>
          </p:cNvPr>
          <p:cNvSpPr>
            <a:spLocks noGrp="1"/>
          </p:cNvSpPr>
          <p:nvPr>
            <p:ph type="dt" sz="half" idx="10"/>
          </p:nvPr>
        </p:nvSpPr>
        <p:spPr/>
        <p:txBody>
          <a:bodyPr/>
          <a:lstStyle/>
          <a:p>
            <a:fld id="{852D827C-2FEE-45E4-9E06-55DBCE8A61E0}" type="datetimeFigureOut">
              <a:rPr lang="en-GB" smtClean="0"/>
              <a:t>28/08/2026</a:t>
            </a:fld>
            <a:endParaRPr lang="en-GB"/>
          </a:p>
        </p:txBody>
      </p:sp>
      <p:sp>
        <p:nvSpPr>
          <p:cNvPr id="5" name="Footer Placeholder 4">
            <a:extLst>
              <a:ext uri="{FF2B5EF4-FFF2-40B4-BE49-F238E27FC236}">
                <a16:creationId xmlns:a16="http://schemas.microsoft.com/office/drawing/2014/main" id="{D92513D4-2C54-4062-8EF7-C7C1429C778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44FD28C-9F75-46C1-8E6E-79593F449CDE}"/>
              </a:ext>
            </a:extLst>
          </p:cNvPr>
          <p:cNvSpPr>
            <a:spLocks noGrp="1"/>
          </p:cNvSpPr>
          <p:nvPr>
            <p:ph type="sldNum" sz="quarter" idx="12"/>
          </p:nvPr>
        </p:nvSpPr>
        <p:spPr/>
        <p:txBody>
          <a:bodyPr/>
          <a:lstStyle/>
          <a:p>
            <a:fld id="{57F72460-1439-4FD1-840A-D0C4E9D460B7}" type="slidenum">
              <a:rPr lang="en-GB" smtClean="0"/>
              <a:t>‹#›</a:t>
            </a:fld>
            <a:endParaRPr lang="en-GB"/>
          </a:p>
        </p:txBody>
      </p:sp>
    </p:spTree>
    <p:extLst>
      <p:ext uri="{BB962C8B-B14F-4D97-AF65-F5344CB8AC3E}">
        <p14:creationId xmlns:p14="http://schemas.microsoft.com/office/powerpoint/2010/main" val="15874229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D33FC-5450-4539-83C3-998250A0F90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DAEE43C-382D-45B1-BC9B-044A6971A75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B7697D1-6F2B-4F4D-A358-F9B930AE4E5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16536773-B12D-48BA-B4E6-48F7D88ED0EC}"/>
              </a:ext>
            </a:extLst>
          </p:cNvPr>
          <p:cNvSpPr>
            <a:spLocks noGrp="1"/>
          </p:cNvSpPr>
          <p:nvPr>
            <p:ph type="dt" sz="half" idx="10"/>
          </p:nvPr>
        </p:nvSpPr>
        <p:spPr/>
        <p:txBody>
          <a:bodyPr/>
          <a:lstStyle/>
          <a:p>
            <a:fld id="{852D827C-2FEE-45E4-9E06-55DBCE8A61E0}" type="datetimeFigureOut">
              <a:rPr lang="en-GB" smtClean="0"/>
              <a:t>28/08/2026</a:t>
            </a:fld>
            <a:endParaRPr lang="en-GB"/>
          </a:p>
        </p:txBody>
      </p:sp>
      <p:sp>
        <p:nvSpPr>
          <p:cNvPr id="6" name="Footer Placeholder 5">
            <a:extLst>
              <a:ext uri="{FF2B5EF4-FFF2-40B4-BE49-F238E27FC236}">
                <a16:creationId xmlns:a16="http://schemas.microsoft.com/office/drawing/2014/main" id="{3001FC9B-7451-4CFF-9646-E8D55040A98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2E00569-C77E-49B4-8677-148827E0CD2E}"/>
              </a:ext>
            </a:extLst>
          </p:cNvPr>
          <p:cNvSpPr>
            <a:spLocks noGrp="1"/>
          </p:cNvSpPr>
          <p:nvPr>
            <p:ph type="sldNum" sz="quarter" idx="12"/>
          </p:nvPr>
        </p:nvSpPr>
        <p:spPr/>
        <p:txBody>
          <a:bodyPr/>
          <a:lstStyle/>
          <a:p>
            <a:fld id="{57F72460-1439-4FD1-840A-D0C4E9D460B7}" type="slidenum">
              <a:rPr lang="en-GB" smtClean="0"/>
              <a:t>‹#›</a:t>
            </a:fld>
            <a:endParaRPr lang="en-GB"/>
          </a:p>
        </p:txBody>
      </p:sp>
    </p:spTree>
    <p:extLst>
      <p:ext uri="{BB962C8B-B14F-4D97-AF65-F5344CB8AC3E}">
        <p14:creationId xmlns:p14="http://schemas.microsoft.com/office/powerpoint/2010/main" val="27896470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6AA03-C9E7-49BE-BB39-DDA65028B3B5}"/>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514FF64-7DB4-442E-BE63-72992559FCF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874E6DDC-9087-4964-80E4-69B85C69EE18}"/>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6F400948-602B-4505-9275-7D2A08A99E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DACB3F2-5D70-4402-B7C3-B257F8ECF562}"/>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05729042-5577-428C-8B2D-73A7A0CFEE99}"/>
              </a:ext>
            </a:extLst>
          </p:cNvPr>
          <p:cNvSpPr>
            <a:spLocks noGrp="1"/>
          </p:cNvSpPr>
          <p:nvPr>
            <p:ph type="dt" sz="half" idx="10"/>
          </p:nvPr>
        </p:nvSpPr>
        <p:spPr/>
        <p:txBody>
          <a:bodyPr/>
          <a:lstStyle/>
          <a:p>
            <a:fld id="{852D827C-2FEE-45E4-9E06-55DBCE8A61E0}" type="datetimeFigureOut">
              <a:rPr lang="en-GB" smtClean="0"/>
              <a:t>28/08/2026</a:t>
            </a:fld>
            <a:endParaRPr lang="en-GB"/>
          </a:p>
        </p:txBody>
      </p:sp>
      <p:sp>
        <p:nvSpPr>
          <p:cNvPr id="8" name="Footer Placeholder 7">
            <a:extLst>
              <a:ext uri="{FF2B5EF4-FFF2-40B4-BE49-F238E27FC236}">
                <a16:creationId xmlns:a16="http://schemas.microsoft.com/office/drawing/2014/main" id="{258BCC5B-700B-428E-97DA-413DDF1A365F}"/>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9F578D35-8443-4DAE-BF1C-97E2E811138F}"/>
              </a:ext>
            </a:extLst>
          </p:cNvPr>
          <p:cNvSpPr>
            <a:spLocks noGrp="1"/>
          </p:cNvSpPr>
          <p:nvPr>
            <p:ph type="sldNum" sz="quarter" idx="12"/>
          </p:nvPr>
        </p:nvSpPr>
        <p:spPr/>
        <p:txBody>
          <a:bodyPr/>
          <a:lstStyle/>
          <a:p>
            <a:fld id="{57F72460-1439-4FD1-840A-D0C4E9D460B7}" type="slidenum">
              <a:rPr lang="en-GB" smtClean="0"/>
              <a:t>‹#›</a:t>
            </a:fld>
            <a:endParaRPr lang="en-GB"/>
          </a:p>
        </p:txBody>
      </p:sp>
    </p:spTree>
    <p:extLst>
      <p:ext uri="{BB962C8B-B14F-4D97-AF65-F5344CB8AC3E}">
        <p14:creationId xmlns:p14="http://schemas.microsoft.com/office/powerpoint/2010/main" val="22439401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37E23-C186-4D3A-9DF5-29FE9B73DB17}"/>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456BABCA-BA4F-41BE-8E75-8D665EAC8ABC}"/>
              </a:ext>
            </a:extLst>
          </p:cNvPr>
          <p:cNvSpPr>
            <a:spLocks noGrp="1"/>
          </p:cNvSpPr>
          <p:nvPr>
            <p:ph type="dt" sz="half" idx="10"/>
          </p:nvPr>
        </p:nvSpPr>
        <p:spPr/>
        <p:txBody>
          <a:bodyPr/>
          <a:lstStyle/>
          <a:p>
            <a:fld id="{852D827C-2FEE-45E4-9E06-55DBCE8A61E0}" type="datetimeFigureOut">
              <a:rPr lang="en-GB" smtClean="0"/>
              <a:t>28/08/2026</a:t>
            </a:fld>
            <a:endParaRPr lang="en-GB"/>
          </a:p>
        </p:txBody>
      </p:sp>
      <p:sp>
        <p:nvSpPr>
          <p:cNvPr id="4" name="Footer Placeholder 3">
            <a:extLst>
              <a:ext uri="{FF2B5EF4-FFF2-40B4-BE49-F238E27FC236}">
                <a16:creationId xmlns:a16="http://schemas.microsoft.com/office/drawing/2014/main" id="{8ECE5BA7-3B24-438D-B718-5A676ED70470}"/>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B0984CD4-2746-4D89-9096-C55743A8F791}"/>
              </a:ext>
            </a:extLst>
          </p:cNvPr>
          <p:cNvSpPr>
            <a:spLocks noGrp="1"/>
          </p:cNvSpPr>
          <p:nvPr>
            <p:ph type="sldNum" sz="quarter" idx="12"/>
          </p:nvPr>
        </p:nvSpPr>
        <p:spPr/>
        <p:txBody>
          <a:bodyPr/>
          <a:lstStyle/>
          <a:p>
            <a:fld id="{57F72460-1439-4FD1-840A-D0C4E9D460B7}" type="slidenum">
              <a:rPr lang="en-GB" smtClean="0"/>
              <a:t>‹#›</a:t>
            </a:fld>
            <a:endParaRPr lang="en-GB"/>
          </a:p>
        </p:txBody>
      </p:sp>
    </p:spTree>
    <p:extLst>
      <p:ext uri="{BB962C8B-B14F-4D97-AF65-F5344CB8AC3E}">
        <p14:creationId xmlns:p14="http://schemas.microsoft.com/office/powerpoint/2010/main" val="7005634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EF60B1-806D-4472-B217-7B4CA31DB8EB}"/>
              </a:ext>
            </a:extLst>
          </p:cNvPr>
          <p:cNvSpPr>
            <a:spLocks noGrp="1"/>
          </p:cNvSpPr>
          <p:nvPr>
            <p:ph type="dt" sz="half" idx="10"/>
          </p:nvPr>
        </p:nvSpPr>
        <p:spPr/>
        <p:txBody>
          <a:bodyPr/>
          <a:lstStyle/>
          <a:p>
            <a:fld id="{852D827C-2FEE-45E4-9E06-55DBCE8A61E0}" type="datetimeFigureOut">
              <a:rPr lang="en-GB" smtClean="0"/>
              <a:t>28/08/2026</a:t>
            </a:fld>
            <a:endParaRPr lang="en-GB"/>
          </a:p>
        </p:txBody>
      </p:sp>
      <p:sp>
        <p:nvSpPr>
          <p:cNvPr id="3" name="Footer Placeholder 2">
            <a:extLst>
              <a:ext uri="{FF2B5EF4-FFF2-40B4-BE49-F238E27FC236}">
                <a16:creationId xmlns:a16="http://schemas.microsoft.com/office/drawing/2014/main" id="{581AF769-CF9B-4A0E-AB98-0EE9FADCB8F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443D3B1F-52D8-42EC-A2A9-BFB9D9C384F0}"/>
              </a:ext>
            </a:extLst>
          </p:cNvPr>
          <p:cNvSpPr>
            <a:spLocks noGrp="1"/>
          </p:cNvSpPr>
          <p:nvPr>
            <p:ph type="sldNum" sz="quarter" idx="12"/>
          </p:nvPr>
        </p:nvSpPr>
        <p:spPr/>
        <p:txBody>
          <a:bodyPr/>
          <a:lstStyle/>
          <a:p>
            <a:fld id="{57F72460-1439-4FD1-840A-D0C4E9D460B7}" type="slidenum">
              <a:rPr lang="en-GB" smtClean="0"/>
              <a:t>‹#›</a:t>
            </a:fld>
            <a:endParaRPr lang="en-GB"/>
          </a:p>
        </p:txBody>
      </p:sp>
    </p:spTree>
    <p:extLst>
      <p:ext uri="{BB962C8B-B14F-4D97-AF65-F5344CB8AC3E}">
        <p14:creationId xmlns:p14="http://schemas.microsoft.com/office/powerpoint/2010/main" val="22433408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FBF1B-4BB3-4BD3-A67E-11B05DFD72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D2CFCD4B-33C5-4E9D-B9B0-3506AE278A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0D546F8E-6F1F-4243-BA97-1BFB303956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98D11FF-4EBA-4509-BB13-DBE33C22EDD9}"/>
              </a:ext>
            </a:extLst>
          </p:cNvPr>
          <p:cNvSpPr>
            <a:spLocks noGrp="1"/>
          </p:cNvSpPr>
          <p:nvPr>
            <p:ph type="dt" sz="half" idx="10"/>
          </p:nvPr>
        </p:nvSpPr>
        <p:spPr/>
        <p:txBody>
          <a:bodyPr/>
          <a:lstStyle/>
          <a:p>
            <a:fld id="{852D827C-2FEE-45E4-9E06-55DBCE8A61E0}" type="datetimeFigureOut">
              <a:rPr lang="en-GB" smtClean="0"/>
              <a:t>28/08/2026</a:t>
            </a:fld>
            <a:endParaRPr lang="en-GB"/>
          </a:p>
        </p:txBody>
      </p:sp>
      <p:sp>
        <p:nvSpPr>
          <p:cNvPr id="6" name="Footer Placeholder 5">
            <a:extLst>
              <a:ext uri="{FF2B5EF4-FFF2-40B4-BE49-F238E27FC236}">
                <a16:creationId xmlns:a16="http://schemas.microsoft.com/office/drawing/2014/main" id="{71E62D68-7FD8-4965-BABD-91457ED2D51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02DE3D5-4E32-46BD-A7B8-74D08078C42D}"/>
              </a:ext>
            </a:extLst>
          </p:cNvPr>
          <p:cNvSpPr>
            <a:spLocks noGrp="1"/>
          </p:cNvSpPr>
          <p:nvPr>
            <p:ph type="sldNum" sz="quarter" idx="12"/>
          </p:nvPr>
        </p:nvSpPr>
        <p:spPr/>
        <p:txBody>
          <a:bodyPr/>
          <a:lstStyle/>
          <a:p>
            <a:fld id="{57F72460-1439-4FD1-840A-D0C4E9D460B7}" type="slidenum">
              <a:rPr lang="en-GB" smtClean="0"/>
              <a:t>‹#›</a:t>
            </a:fld>
            <a:endParaRPr lang="en-GB"/>
          </a:p>
        </p:txBody>
      </p:sp>
    </p:spTree>
    <p:extLst>
      <p:ext uri="{BB962C8B-B14F-4D97-AF65-F5344CB8AC3E}">
        <p14:creationId xmlns:p14="http://schemas.microsoft.com/office/powerpoint/2010/main" val="2067942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34A66-96D6-4406-8B82-5469CAC1DD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283CB3A0-D56E-4FD2-A1E0-FEDF936C90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B0D50BB1-91A9-474A-824F-058C7BE1F7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4F14060-D972-4BD7-AAED-0A09577394F0}"/>
              </a:ext>
            </a:extLst>
          </p:cNvPr>
          <p:cNvSpPr>
            <a:spLocks noGrp="1"/>
          </p:cNvSpPr>
          <p:nvPr>
            <p:ph type="dt" sz="half" idx="10"/>
          </p:nvPr>
        </p:nvSpPr>
        <p:spPr/>
        <p:txBody>
          <a:bodyPr/>
          <a:lstStyle/>
          <a:p>
            <a:fld id="{852D827C-2FEE-45E4-9E06-55DBCE8A61E0}" type="datetimeFigureOut">
              <a:rPr lang="en-GB" smtClean="0"/>
              <a:t>28/08/2026</a:t>
            </a:fld>
            <a:endParaRPr lang="en-GB"/>
          </a:p>
        </p:txBody>
      </p:sp>
      <p:sp>
        <p:nvSpPr>
          <p:cNvPr id="6" name="Footer Placeholder 5">
            <a:extLst>
              <a:ext uri="{FF2B5EF4-FFF2-40B4-BE49-F238E27FC236}">
                <a16:creationId xmlns:a16="http://schemas.microsoft.com/office/drawing/2014/main" id="{7A13BEBC-B468-47AE-B0B8-2119499D1C4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3661D22-D369-4E7F-BB64-2A95ADD77126}"/>
              </a:ext>
            </a:extLst>
          </p:cNvPr>
          <p:cNvSpPr>
            <a:spLocks noGrp="1"/>
          </p:cNvSpPr>
          <p:nvPr>
            <p:ph type="sldNum" sz="quarter" idx="12"/>
          </p:nvPr>
        </p:nvSpPr>
        <p:spPr/>
        <p:txBody>
          <a:bodyPr/>
          <a:lstStyle/>
          <a:p>
            <a:fld id="{57F72460-1439-4FD1-840A-D0C4E9D460B7}" type="slidenum">
              <a:rPr lang="en-GB" smtClean="0"/>
              <a:t>‹#›</a:t>
            </a:fld>
            <a:endParaRPr lang="en-GB"/>
          </a:p>
        </p:txBody>
      </p:sp>
    </p:spTree>
    <p:extLst>
      <p:ext uri="{BB962C8B-B14F-4D97-AF65-F5344CB8AC3E}">
        <p14:creationId xmlns:p14="http://schemas.microsoft.com/office/powerpoint/2010/main" val="1128763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D3153-99D2-4E75-BEC9-ACE6ABEF8F9B}"/>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9C253FB-C67B-44B1-AA3F-9441A46205FA}"/>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1821315-9C83-4B4A-ACA8-EE865A422257}"/>
              </a:ext>
            </a:extLst>
          </p:cNvPr>
          <p:cNvSpPr>
            <a:spLocks noGrp="1"/>
          </p:cNvSpPr>
          <p:nvPr>
            <p:ph type="dt" sz="half" idx="10"/>
          </p:nvPr>
        </p:nvSpPr>
        <p:spPr/>
        <p:txBody>
          <a:bodyPr/>
          <a:lstStyle/>
          <a:p>
            <a:fld id="{852D827C-2FEE-45E4-9E06-55DBCE8A61E0}" type="datetimeFigureOut">
              <a:rPr lang="en-GB" smtClean="0"/>
              <a:t>28/08/2026</a:t>
            </a:fld>
            <a:endParaRPr lang="en-GB"/>
          </a:p>
        </p:txBody>
      </p:sp>
      <p:sp>
        <p:nvSpPr>
          <p:cNvPr id="5" name="Footer Placeholder 4">
            <a:extLst>
              <a:ext uri="{FF2B5EF4-FFF2-40B4-BE49-F238E27FC236}">
                <a16:creationId xmlns:a16="http://schemas.microsoft.com/office/drawing/2014/main" id="{7F2482DE-E24B-49C0-8385-D484FB4C84D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5F4DD28-D2C2-43BD-99B9-C612C1A92E34}"/>
              </a:ext>
            </a:extLst>
          </p:cNvPr>
          <p:cNvSpPr>
            <a:spLocks noGrp="1"/>
          </p:cNvSpPr>
          <p:nvPr>
            <p:ph type="sldNum" sz="quarter" idx="12"/>
          </p:nvPr>
        </p:nvSpPr>
        <p:spPr/>
        <p:txBody>
          <a:bodyPr/>
          <a:lstStyle/>
          <a:p>
            <a:fld id="{57F72460-1439-4FD1-840A-D0C4E9D460B7}" type="slidenum">
              <a:rPr lang="en-GB" smtClean="0"/>
              <a:t>‹#›</a:t>
            </a:fld>
            <a:endParaRPr lang="en-GB"/>
          </a:p>
        </p:txBody>
      </p:sp>
    </p:spTree>
    <p:extLst>
      <p:ext uri="{BB962C8B-B14F-4D97-AF65-F5344CB8AC3E}">
        <p14:creationId xmlns:p14="http://schemas.microsoft.com/office/powerpoint/2010/main" val="26269369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0094103-89A0-47D8-B3D6-C06CA127626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9E96D9C-A536-4D76-9AAA-4344216AD2C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63CF78A-7E1E-4CD0-A01C-0E3106844091}"/>
              </a:ext>
            </a:extLst>
          </p:cNvPr>
          <p:cNvSpPr>
            <a:spLocks noGrp="1"/>
          </p:cNvSpPr>
          <p:nvPr>
            <p:ph type="dt" sz="half" idx="10"/>
          </p:nvPr>
        </p:nvSpPr>
        <p:spPr/>
        <p:txBody>
          <a:bodyPr/>
          <a:lstStyle/>
          <a:p>
            <a:fld id="{852D827C-2FEE-45E4-9E06-55DBCE8A61E0}" type="datetimeFigureOut">
              <a:rPr lang="en-GB" smtClean="0"/>
              <a:t>28/08/2026</a:t>
            </a:fld>
            <a:endParaRPr lang="en-GB"/>
          </a:p>
        </p:txBody>
      </p:sp>
      <p:sp>
        <p:nvSpPr>
          <p:cNvPr id="5" name="Footer Placeholder 4">
            <a:extLst>
              <a:ext uri="{FF2B5EF4-FFF2-40B4-BE49-F238E27FC236}">
                <a16:creationId xmlns:a16="http://schemas.microsoft.com/office/drawing/2014/main" id="{2D363798-4D12-4C07-AD41-489A4093427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227A5CB-03D7-445E-9F40-2C5E6700819E}"/>
              </a:ext>
            </a:extLst>
          </p:cNvPr>
          <p:cNvSpPr>
            <a:spLocks noGrp="1"/>
          </p:cNvSpPr>
          <p:nvPr>
            <p:ph type="sldNum" sz="quarter" idx="12"/>
          </p:nvPr>
        </p:nvSpPr>
        <p:spPr/>
        <p:txBody>
          <a:bodyPr/>
          <a:lstStyle/>
          <a:p>
            <a:fld id="{57F72460-1439-4FD1-840A-D0C4E9D460B7}" type="slidenum">
              <a:rPr lang="en-GB" smtClean="0"/>
              <a:t>‹#›</a:t>
            </a:fld>
            <a:endParaRPr lang="en-GB"/>
          </a:p>
        </p:txBody>
      </p:sp>
    </p:spTree>
    <p:extLst>
      <p:ext uri="{BB962C8B-B14F-4D97-AF65-F5344CB8AC3E}">
        <p14:creationId xmlns:p14="http://schemas.microsoft.com/office/powerpoint/2010/main" val="10593644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800A34-E42E-479E-9992-FB05F3B474A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FA8EE5A-E97B-4F19-BAC3-0C71B9EA3D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FEFBE9B-794B-45FB-86F5-3D8272EDDD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2D827C-2FEE-45E4-9E06-55DBCE8A61E0}" type="datetimeFigureOut">
              <a:rPr lang="en-GB" smtClean="0"/>
              <a:t>28/08/2026</a:t>
            </a:fld>
            <a:endParaRPr lang="en-GB"/>
          </a:p>
        </p:txBody>
      </p:sp>
      <p:sp>
        <p:nvSpPr>
          <p:cNvPr id="5" name="Footer Placeholder 4">
            <a:extLst>
              <a:ext uri="{FF2B5EF4-FFF2-40B4-BE49-F238E27FC236}">
                <a16:creationId xmlns:a16="http://schemas.microsoft.com/office/drawing/2014/main" id="{84BFE605-9A62-46A1-9321-962AD0E33AE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67ED2C34-5F67-4C4D-BC4F-7FC31FF31A3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F72460-1439-4FD1-840A-D0C4E9D460B7}" type="slidenum">
              <a:rPr lang="en-GB" smtClean="0"/>
              <a:t>‹#›</a:t>
            </a:fld>
            <a:endParaRPr lang="en-GB"/>
          </a:p>
        </p:txBody>
      </p:sp>
    </p:spTree>
    <p:extLst>
      <p:ext uri="{BB962C8B-B14F-4D97-AF65-F5344CB8AC3E}">
        <p14:creationId xmlns:p14="http://schemas.microsoft.com/office/powerpoint/2010/main" val="22107257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pn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8.png"/><Relationship Id="rId2" Type="http://schemas.openxmlformats.org/officeDocument/2006/relationships/image" Target="../media/image18.png"/><Relationship Id="rId1" Type="http://schemas.openxmlformats.org/officeDocument/2006/relationships/slideLayout" Target="../slideLayouts/slideLayout6.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png"/><Relationship Id="rId3" Type="http://schemas.openxmlformats.org/officeDocument/2006/relationships/image" Target="../media/image31.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image" Target="../media/image30.png"/><Relationship Id="rId1" Type="http://schemas.openxmlformats.org/officeDocument/2006/relationships/slideLayout" Target="../slideLayouts/slideLayout6.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png"/><Relationship Id="rId14" Type="http://schemas.openxmlformats.org/officeDocument/2006/relationships/image" Target="../media/image42.png"/></Relationships>
</file>

<file path=ppt/slides/_rels/slide9.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image" Target="../media/image54.png"/><Relationship Id="rId3" Type="http://schemas.openxmlformats.org/officeDocument/2006/relationships/image" Target="../media/image29.png"/><Relationship Id="rId7" Type="http://schemas.openxmlformats.org/officeDocument/2006/relationships/image" Target="../media/image48.png"/><Relationship Id="rId12" Type="http://schemas.openxmlformats.org/officeDocument/2006/relationships/image" Target="../media/image53.png"/><Relationship Id="rId2" Type="http://schemas.openxmlformats.org/officeDocument/2006/relationships/image" Target="../media/image43.png"/><Relationship Id="rId1" Type="http://schemas.openxmlformats.org/officeDocument/2006/relationships/slideLayout" Target="../slideLayouts/slideLayout6.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png"/><Relationship Id="rId10" Type="http://schemas.openxmlformats.org/officeDocument/2006/relationships/image" Target="../media/image51.png"/><Relationship Id="rId4" Type="http://schemas.openxmlformats.org/officeDocument/2006/relationships/image" Target="../media/image45.png"/><Relationship Id="rId9" Type="http://schemas.openxmlformats.org/officeDocument/2006/relationships/image" Target="../media/image50.png"/><Relationship Id="rId14" Type="http://schemas.openxmlformats.org/officeDocument/2006/relationships/image" Target="../media/image55.png"/></Relationships>
</file>

<file path=ppt/slides/_rels/slide10.xml.rels><?xml version="1.0" encoding="UTF-8" standalone="yes"?>
<Relationships xmlns="http://schemas.openxmlformats.org/package/2006/relationships"><Relationship Id="rId8" Type="http://schemas.openxmlformats.org/officeDocument/2006/relationships/image" Target="../media/image62.png"/><Relationship Id="rId13" Type="http://schemas.openxmlformats.org/officeDocument/2006/relationships/image" Target="../media/image67.png"/><Relationship Id="rId18" Type="http://schemas.openxmlformats.org/officeDocument/2006/relationships/image" Target="../media/image72.png"/><Relationship Id="rId26" Type="http://schemas.openxmlformats.org/officeDocument/2006/relationships/image" Target="../media/image80.png"/><Relationship Id="rId3" Type="http://schemas.openxmlformats.org/officeDocument/2006/relationships/image" Target="../media/image57.png"/><Relationship Id="rId21" Type="http://schemas.openxmlformats.org/officeDocument/2006/relationships/image" Target="../media/image75.png"/><Relationship Id="rId7" Type="http://schemas.openxmlformats.org/officeDocument/2006/relationships/image" Target="../media/image61.png"/><Relationship Id="rId12" Type="http://schemas.openxmlformats.org/officeDocument/2006/relationships/image" Target="../media/image66.png"/><Relationship Id="rId17" Type="http://schemas.openxmlformats.org/officeDocument/2006/relationships/image" Target="../media/image71.png"/><Relationship Id="rId25" Type="http://schemas.openxmlformats.org/officeDocument/2006/relationships/image" Target="../media/image79.png"/><Relationship Id="rId2" Type="http://schemas.openxmlformats.org/officeDocument/2006/relationships/image" Target="../media/image56.png"/><Relationship Id="rId16" Type="http://schemas.openxmlformats.org/officeDocument/2006/relationships/image" Target="../media/image70.png"/><Relationship Id="rId20" Type="http://schemas.openxmlformats.org/officeDocument/2006/relationships/image" Target="../media/image74.png"/><Relationship Id="rId29" Type="http://schemas.openxmlformats.org/officeDocument/2006/relationships/image" Target="../media/image83.png"/><Relationship Id="rId1" Type="http://schemas.openxmlformats.org/officeDocument/2006/relationships/slideLayout" Target="../slideLayouts/slideLayout6.xml"/><Relationship Id="rId6" Type="http://schemas.openxmlformats.org/officeDocument/2006/relationships/image" Target="../media/image60.png"/><Relationship Id="rId11" Type="http://schemas.openxmlformats.org/officeDocument/2006/relationships/image" Target="../media/image65.png"/><Relationship Id="rId24" Type="http://schemas.openxmlformats.org/officeDocument/2006/relationships/image" Target="../media/image78.png"/><Relationship Id="rId5" Type="http://schemas.openxmlformats.org/officeDocument/2006/relationships/image" Target="../media/image59.png"/><Relationship Id="rId15" Type="http://schemas.openxmlformats.org/officeDocument/2006/relationships/image" Target="../media/image69.png"/><Relationship Id="rId23" Type="http://schemas.openxmlformats.org/officeDocument/2006/relationships/image" Target="../media/image77.png"/><Relationship Id="rId28" Type="http://schemas.openxmlformats.org/officeDocument/2006/relationships/image" Target="../media/image82.png"/><Relationship Id="rId10" Type="http://schemas.openxmlformats.org/officeDocument/2006/relationships/image" Target="../media/image64.png"/><Relationship Id="rId19" Type="http://schemas.openxmlformats.org/officeDocument/2006/relationships/image" Target="../media/image73.png"/><Relationship Id="rId4" Type="http://schemas.openxmlformats.org/officeDocument/2006/relationships/image" Target="../media/image58.png"/><Relationship Id="rId9" Type="http://schemas.openxmlformats.org/officeDocument/2006/relationships/image" Target="../media/image63.png"/><Relationship Id="rId14" Type="http://schemas.openxmlformats.org/officeDocument/2006/relationships/image" Target="../media/image68.png"/><Relationship Id="rId22" Type="http://schemas.openxmlformats.org/officeDocument/2006/relationships/image" Target="../media/image76.png"/><Relationship Id="rId27" Type="http://schemas.openxmlformats.org/officeDocument/2006/relationships/image" Target="../media/image8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18" Type="http://schemas.openxmlformats.org/officeDocument/2006/relationships/image" Target="../media/image85.png"/><Relationship Id="rId26" Type="http://schemas.openxmlformats.org/officeDocument/2006/relationships/image" Target="../media/image93.png"/><Relationship Id="rId3" Type="http://schemas.openxmlformats.org/officeDocument/2006/relationships/image" Target="../media/image4.png"/><Relationship Id="rId21" Type="http://schemas.openxmlformats.org/officeDocument/2006/relationships/image" Target="../media/image88.png"/><Relationship Id="rId7" Type="http://schemas.openxmlformats.org/officeDocument/2006/relationships/image" Target="../media/image8.png"/><Relationship Id="rId12" Type="http://schemas.openxmlformats.org/officeDocument/2006/relationships/image" Target="../media/image13.png"/><Relationship Id="rId17" Type="http://schemas.openxmlformats.org/officeDocument/2006/relationships/image" Target="../media/image84.png"/><Relationship Id="rId25" Type="http://schemas.openxmlformats.org/officeDocument/2006/relationships/image" Target="../media/image92.png"/><Relationship Id="rId2" Type="http://schemas.openxmlformats.org/officeDocument/2006/relationships/image" Target="../media/image3.png"/><Relationship Id="rId16" Type="http://schemas.openxmlformats.org/officeDocument/2006/relationships/image" Target="../media/image44.png"/><Relationship Id="rId20" Type="http://schemas.openxmlformats.org/officeDocument/2006/relationships/image" Target="../media/image87.png"/><Relationship Id="rId29" Type="http://schemas.openxmlformats.org/officeDocument/2006/relationships/image" Target="../media/image96.png"/><Relationship Id="rId1" Type="http://schemas.openxmlformats.org/officeDocument/2006/relationships/slideLayout" Target="../slideLayouts/slideLayout6.xml"/><Relationship Id="rId6" Type="http://schemas.openxmlformats.org/officeDocument/2006/relationships/image" Target="../media/image7.png"/><Relationship Id="rId11" Type="http://schemas.openxmlformats.org/officeDocument/2006/relationships/image" Target="../media/image12.png"/><Relationship Id="rId24" Type="http://schemas.openxmlformats.org/officeDocument/2006/relationships/image" Target="../media/image91.png"/><Relationship Id="rId5" Type="http://schemas.openxmlformats.org/officeDocument/2006/relationships/image" Target="../media/image6.png"/><Relationship Id="rId15" Type="http://schemas.openxmlformats.org/officeDocument/2006/relationships/image" Target="../media/image16.png"/><Relationship Id="rId23" Type="http://schemas.openxmlformats.org/officeDocument/2006/relationships/image" Target="../media/image90.png"/><Relationship Id="rId28" Type="http://schemas.openxmlformats.org/officeDocument/2006/relationships/image" Target="../media/image95.png"/><Relationship Id="rId10" Type="http://schemas.openxmlformats.org/officeDocument/2006/relationships/image" Target="../media/image11.png"/><Relationship Id="rId19" Type="http://schemas.openxmlformats.org/officeDocument/2006/relationships/image" Target="../media/image86.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 Id="rId22" Type="http://schemas.openxmlformats.org/officeDocument/2006/relationships/image" Target="../media/image89.png"/><Relationship Id="rId27" Type="http://schemas.openxmlformats.org/officeDocument/2006/relationships/image" Target="../media/image94.png"/></Relationships>
</file>

<file path=ppt/slides/_rels/slide13.xml.rels><?xml version="1.0" encoding="UTF-8" standalone="yes"?>
<Relationships xmlns="http://schemas.openxmlformats.org/package/2006/relationships"><Relationship Id="rId8" Type="http://schemas.openxmlformats.org/officeDocument/2006/relationships/image" Target="../media/image103.png"/><Relationship Id="rId13" Type="http://schemas.openxmlformats.org/officeDocument/2006/relationships/image" Target="../media/image108.png"/><Relationship Id="rId3" Type="http://schemas.openxmlformats.org/officeDocument/2006/relationships/image" Target="../media/image98.png"/><Relationship Id="rId7" Type="http://schemas.openxmlformats.org/officeDocument/2006/relationships/image" Target="../media/image102.png"/><Relationship Id="rId12" Type="http://schemas.openxmlformats.org/officeDocument/2006/relationships/image" Target="../media/image107.png"/><Relationship Id="rId2" Type="http://schemas.openxmlformats.org/officeDocument/2006/relationships/image" Target="../media/image97.png"/><Relationship Id="rId1" Type="http://schemas.openxmlformats.org/officeDocument/2006/relationships/slideLayout" Target="../slideLayouts/slideLayout6.xml"/><Relationship Id="rId6" Type="http://schemas.openxmlformats.org/officeDocument/2006/relationships/image" Target="../media/image101.png"/><Relationship Id="rId11" Type="http://schemas.openxmlformats.org/officeDocument/2006/relationships/image" Target="../media/image106.png"/><Relationship Id="rId5" Type="http://schemas.openxmlformats.org/officeDocument/2006/relationships/image" Target="../media/image100.png"/><Relationship Id="rId10" Type="http://schemas.openxmlformats.org/officeDocument/2006/relationships/image" Target="../media/image105.png"/><Relationship Id="rId4" Type="http://schemas.openxmlformats.org/officeDocument/2006/relationships/image" Target="../media/image99.png"/><Relationship Id="rId9" Type="http://schemas.openxmlformats.org/officeDocument/2006/relationships/image" Target="../media/image104.png"/></Relationships>
</file>

<file path=ppt/slides/_rels/slide14.xml.rels><?xml version="1.0" encoding="UTF-8" standalone="yes"?>
<Relationships xmlns="http://schemas.openxmlformats.org/package/2006/relationships"><Relationship Id="rId13" Type="http://schemas.openxmlformats.org/officeDocument/2006/relationships/image" Target="../media/image1180.png"/><Relationship Id="rId18" Type="http://schemas.openxmlformats.org/officeDocument/2006/relationships/image" Target="../media/image130.png"/><Relationship Id="rId26" Type="http://schemas.openxmlformats.org/officeDocument/2006/relationships/image" Target="../media/image133.png"/><Relationship Id="rId3" Type="http://schemas.openxmlformats.org/officeDocument/2006/relationships/image" Target="../media/image1080.png"/><Relationship Id="rId21" Type="http://schemas.openxmlformats.org/officeDocument/2006/relationships/image" Target="../media/image1260.png"/><Relationship Id="rId34" Type="http://schemas.openxmlformats.org/officeDocument/2006/relationships/image" Target="../media/image139.png"/><Relationship Id="rId7" Type="http://schemas.openxmlformats.org/officeDocument/2006/relationships/image" Target="../media/image1120.png"/><Relationship Id="rId12" Type="http://schemas.openxmlformats.org/officeDocument/2006/relationships/image" Target="../media/image1170.png"/><Relationship Id="rId17" Type="http://schemas.openxmlformats.org/officeDocument/2006/relationships/image" Target="../media/image129.png"/><Relationship Id="rId25" Type="http://schemas.openxmlformats.org/officeDocument/2006/relationships/image" Target="../media/image132.png"/><Relationship Id="rId33" Type="http://schemas.openxmlformats.org/officeDocument/2006/relationships/image" Target="../media/image138.png"/><Relationship Id="rId2" Type="http://schemas.openxmlformats.org/officeDocument/2006/relationships/image" Target="../media/image109.png"/><Relationship Id="rId16" Type="http://schemas.openxmlformats.org/officeDocument/2006/relationships/image" Target="../media/image128.png"/><Relationship Id="rId20" Type="http://schemas.openxmlformats.org/officeDocument/2006/relationships/image" Target="../media/image1250.png"/><Relationship Id="rId29" Type="http://schemas.openxmlformats.org/officeDocument/2006/relationships/image" Target="../media/image134.png"/><Relationship Id="rId1" Type="http://schemas.openxmlformats.org/officeDocument/2006/relationships/slideLayout" Target="../slideLayouts/slideLayout6.xml"/><Relationship Id="rId6" Type="http://schemas.openxmlformats.org/officeDocument/2006/relationships/image" Target="../media/image1110.png"/><Relationship Id="rId11" Type="http://schemas.openxmlformats.org/officeDocument/2006/relationships/image" Target="../media/image1160.png"/><Relationship Id="rId24" Type="http://schemas.openxmlformats.org/officeDocument/2006/relationships/image" Target="../media/image131.png"/><Relationship Id="rId32" Type="http://schemas.openxmlformats.org/officeDocument/2006/relationships/image" Target="../media/image137.png"/><Relationship Id="rId5" Type="http://schemas.openxmlformats.org/officeDocument/2006/relationships/image" Target="../media/image1100.png"/><Relationship Id="rId15" Type="http://schemas.openxmlformats.org/officeDocument/2006/relationships/image" Target="../media/image1200.png"/><Relationship Id="rId23" Type="http://schemas.openxmlformats.org/officeDocument/2006/relationships/image" Target="../media/image1280.png"/><Relationship Id="rId28" Type="http://schemas.openxmlformats.org/officeDocument/2006/relationships/image" Target="../media/image1330.png"/><Relationship Id="rId10" Type="http://schemas.openxmlformats.org/officeDocument/2006/relationships/image" Target="../media/image127.png"/><Relationship Id="rId19" Type="http://schemas.openxmlformats.org/officeDocument/2006/relationships/image" Target="../media/image1240.png"/><Relationship Id="rId31" Type="http://schemas.openxmlformats.org/officeDocument/2006/relationships/image" Target="../media/image136.png"/><Relationship Id="rId4" Type="http://schemas.openxmlformats.org/officeDocument/2006/relationships/image" Target="../media/image1090.png"/><Relationship Id="rId9" Type="http://schemas.openxmlformats.org/officeDocument/2006/relationships/image" Target="../media/image126.png"/><Relationship Id="rId14" Type="http://schemas.openxmlformats.org/officeDocument/2006/relationships/image" Target="../media/image1190.png"/><Relationship Id="rId22" Type="http://schemas.openxmlformats.org/officeDocument/2006/relationships/image" Target="../media/image1270.png"/><Relationship Id="rId27" Type="http://schemas.openxmlformats.org/officeDocument/2006/relationships/image" Target="../media/image1320.png"/><Relationship Id="rId30" Type="http://schemas.openxmlformats.org/officeDocument/2006/relationships/image" Target="../media/image135.png"/><Relationship Id="rId35" Type="http://schemas.openxmlformats.org/officeDocument/2006/relationships/image" Target="../media/image140.png"/><Relationship Id="rId8" Type="http://schemas.openxmlformats.org/officeDocument/2006/relationships/image" Target="../media/image1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3" Type="http://schemas.openxmlformats.org/officeDocument/2006/relationships/image" Target="../media/image152.png"/><Relationship Id="rId18" Type="http://schemas.openxmlformats.org/officeDocument/2006/relationships/image" Target="../media/image151.png"/><Relationship Id="rId26" Type="http://schemas.openxmlformats.org/officeDocument/2006/relationships/image" Target="../media/image159.png"/><Relationship Id="rId3" Type="http://schemas.openxmlformats.org/officeDocument/2006/relationships/image" Target="../media/image142.png"/><Relationship Id="rId21" Type="http://schemas.openxmlformats.org/officeDocument/2006/relationships/image" Target="../media/image160.png"/><Relationship Id="rId34" Type="http://schemas.openxmlformats.org/officeDocument/2006/relationships/image" Target="../media/image173.png"/><Relationship Id="rId7" Type="http://schemas.openxmlformats.org/officeDocument/2006/relationships/image" Target="../media/image146.png"/><Relationship Id="rId12" Type="http://schemas.openxmlformats.org/officeDocument/2006/relationships/image" Target="../media/image150.png"/><Relationship Id="rId17" Type="http://schemas.openxmlformats.org/officeDocument/2006/relationships/image" Target="../media/image156.png"/><Relationship Id="rId25" Type="http://schemas.openxmlformats.org/officeDocument/2006/relationships/image" Target="../media/image164.png"/><Relationship Id="rId33" Type="http://schemas.openxmlformats.org/officeDocument/2006/relationships/image" Target="../media/image172.png"/><Relationship Id="rId2" Type="http://schemas.openxmlformats.org/officeDocument/2006/relationships/image" Target="../media/image141.png"/><Relationship Id="rId16" Type="http://schemas.openxmlformats.org/officeDocument/2006/relationships/image" Target="../media/image155.png"/><Relationship Id="rId20" Type="http://schemas.openxmlformats.org/officeDocument/2006/relationships/image" Target="../media/image158.png"/><Relationship Id="rId29" Type="http://schemas.openxmlformats.org/officeDocument/2006/relationships/image" Target="../media/image168.png"/><Relationship Id="rId1" Type="http://schemas.openxmlformats.org/officeDocument/2006/relationships/slideLayout" Target="../slideLayouts/slideLayout6.xml"/><Relationship Id="rId6" Type="http://schemas.openxmlformats.org/officeDocument/2006/relationships/image" Target="../media/image145.png"/><Relationship Id="rId11" Type="http://schemas.openxmlformats.org/officeDocument/2006/relationships/image" Target="../media/image149.png"/><Relationship Id="rId24" Type="http://schemas.openxmlformats.org/officeDocument/2006/relationships/image" Target="../media/image163.png"/><Relationship Id="rId32" Type="http://schemas.openxmlformats.org/officeDocument/2006/relationships/image" Target="../media/image171.png"/><Relationship Id="rId37" Type="http://schemas.openxmlformats.org/officeDocument/2006/relationships/image" Target="../media/image176.png"/><Relationship Id="rId5" Type="http://schemas.openxmlformats.org/officeDocument/2006/relationships/image" Target="../media/image144.png"/><Relationship Id="rId15" Type="http://schemas.openxmlformats.org/officeDocument/2006/relationships/image" Target="../media/image154.png"/><Relationship Id="rId23" Type="http://schemas.openxmlformats.org/officeDocument/2006/relationships/image" Target="../media/image162.png"/><Relationship Id="rId28" Type="http://schemas.openxmlformats.org/officeDocument/2006/relationships/image" Target="../media/image166.png"/><Relationship Id="rId36" Type="http://schemas.openxmlformats.org/officeDocument/2006/relationships/image" Target="../media/image175.png"/><Relationship Id="rId10" Type="http://schemas.openxmlformats.org/officeDocument/2006/relationships/image" Target="../media/image143.png"/><Relationship Id="rId19" Type="http://schemas.openxmlformats.org/officeDocument/2006/relationships/image" Target="../media/image157.png"/><Relationship Id="rId31" Type="http://schemas.openxmlformats.org/officeDocument/2006/relationships/image" Target="../media/image170.png"/><Relationship Id="rId9" Type="http://schemas.openxmlformats.org/officeDocument/2006/relationships/image" Target="../media/image148.png"/><Relationship Id="rId14" Type="http://schemas.openxmlformats.org/officeDocument/2006/relationships/image" Target="../media/image153.png"/><Relationship Id="rId22" Type="http://schemas.openxmlformats.org/officeDocument/2006/relationships/image" Target="../media/image161.png"/><Relationship Id="rId27" Type="http://schemas.openxmlformats.org/officeDocument/2006/relationships/image" Target="../media/image165.png"/><Relationship Id="rId30" Type="http://schemas.openxmlformats.org/officeDocument/2006/relationships/image" Target="../media/image169.png"/><Relationship Id="rId35" Type="http://schemas.openxmlformats.org/officeDocument/2006/relationships/image" Target="../media/image174.png"/><Relationship Id="rId8" Type="http://schemas.openxmlformats.org/officeDocument/2006/relationships/image" Target="../media/image14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182.png"/><Relationship Id="rId3" Type="http://schemas.openxmlformats.org/officeDocument/2006/relationships/image" Target="../media/image177.png"/><Relationship Id="rId7" Type="http://schemas.openxmlformats.org/officeDocument/2006/relationships/image" Target="../media/image181.png"/><Relationship Id="rId2" Type="http://schemas.openxmlformats.org/officeDocument/2006/relationships/image" Target="../media/image167.png"/><Relationship Id="rId1" Type="http://schemas.openxmlformats.org/officeDocument/2006/relationships/slideLayout" Target="../slideLayouts/slideLayout6.xml"/><Relationship Id="rId6" Type="http://schemas.openxmlformats.org/officeDocument/2006/relationships/image" Target="../media/image180.png"/><Relationship Id="rId5" Type="http://schemas.openxmlformats.org/officeDocument/2006/relationships/image" Target="../media/image179.png"/><Relationship Id="rId4" Type="http://schemas.openxmlformats.org/officeDocument/2006/relationships/image" Target="../media/image17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3" Type="http://schemas.openxmlformats.org/officeDocument/2006/relationships/image" Target="../media/image194.png"/><Relationship Id="rId18" Type="http://schemas.openxmlformats.org/officeDocument/2006/relationships/image" Target="../media/image199.png"/><Relationship Id="rId26" Type="http://schemas.openxmlformats.org/officeDocument/2006/relationships/image" Target="../media/image207.png"/><Relationship Id="rId39" Type="http://schemas.openxmlformats.org/officeDocument/2006/relationships/image" Target="../media/image220.png"/><Relationship Id="rId21" Type="http://schemas.openxmlformats.org/officeDocument/2006/relationships/image" Target="../media/image202.png"/><Relationship Id="rId34" Type="http://schemas.openxmlformats.org/officeDocument/2006/relationships/image" Target="../media/image215.png"/><Relationship Id="rId7" Type="http://schemas.openxmlformats.org/officeDocument/2006/relationships/image" Target="../media/image188.png"/><Relationship Id="rId2" Type="http://schemas.openxmlformats.org/officeDocument/2006/relationships/image" Target="../media/image183.png"/><Relationship Id="rId16" Type="http://schemas.openxmlformats.org/officeDocument/2006/relationships/image" Target="../media/image197.png"/><Relationship Id="rId20" Type="http://schemas.openxmlformats.org/officeDocument/2006/relationships/image" Target="../media/image201.png"/><Relationship Id="rId29" Type="http://schemas.openxmlformats.org/officeDocument/2006/relationships/image" Target="../media/image210.png"/><Relationship Id="rId41" Type="http://schemas.openxmlformats.org/officeDocument/2006/relationships/image" Target="../media/image222.png"/><Relationship Id="rId1" Type="http://schemas.openxmlformats.org/officeDocument/2006/relationships/slideLayout" Target="../slideLayouts/slideLayout6.xml"/><Relationship Id="rId6" Type="http://schemas.openxmlformats.org/officeDocument/2006/relationships/image" Target="../media/image187.png"/><Relationship Id="rId11" Type="http://schemas.openxmlformats.org/officeDocument/2006/relationships/image" Target="../media/image192.png"/><Relationship Id="rId24" Type="http://schemas.openxmlformats.org/officeDocument/2006/relationships/image" Target="../media/image205.png"/><Relationship Id="rId32" Type="http://schemas.openxmlformats.org/officeDocument/2006/relationships/image" Target="../media/image213.png"/><Relationship Id="rId37" Type="http://schemas.openxmlformats.org/officeDocument/2006/relationships/image" Target="../media/image218.png"/><Relationship Id="rId40" Type="http://schemas.openxmlformats.org/officeDocument/2006/relationships/image" Target="../media/image221.png"/><Relationship Id="rId5" Type="http://schemas.openxmlformats.org/officeDocument/2006/relationships/image" Target="../media/image186.png"/><Relationship Id="rId15" Type="http://schemas.openxmlformats.org/officeDocument/2006/relationships/image" Target="../media/image196.png"/><Relationship Id="rId23" Type="http://schemas.openxmlformats.org/officeDocument/2006/relationships/image" Target="../media/image204.png"/><Relationship Id="rId28" Type="http://schemas.openxmlformats.org/officeDocument/2006/relationships/image" Target="../media/image209.png"/><Relationship Id="rId36" Type="http://schemas.openxmlformats.org/officeDocument/2006/relationships/image" Target="../media/image217.png"/><Relationship Id="rId10" Type="http://schemas.openxmlformats.org/officeDocument/2006/relationships/image" Target="../media/image191.png"/><Relationship Id="rId19" Type="http://schemas.openxmlformats.org/officeDocument/2006/relationships/image" Target="../media/image200.png"/><Relationship Id="rId31" Type="http://schemas.openxmlformats.org/officeDocument/2006/relationships/image" Target="../media/image212.png"/><Relationship Id="rId4" Type="http://schemas.openxmlformats.org/officeDocument/2006/relationships/image" Target="../media/image185.png"/><Relationship Id="rId9" Type="http://schemas.openxmlformats.org/officeDocument/2006/relationships/image" Target="../media/image190.png"/><Relationship Id="rId14" Type="http://schemas.openxmlformats.org/officeDocument/2006/relationships/image" Target="../media/image195.png"/><Relationship Id="rId22" Type="http://schemas.openxmlformats.org/officeDocument/2006/relationships/image" Target="../media/image203.png"/><Relationship Id="rId27" Type="http://schemas.openxmlformats.org/officeDocument/2006/relationships/image" Target="../media/image208.png"/><Relationship Id="rId30" Type="http://schemas.openxmlformats.org/officeDocument/2006/relationships/image" Target="../media/image211.png"/><Relationship Id="rId35" Type="http://schemas.openxmlformats.org/officeDocument/2006/relationships/image" Target="../media/image216.png"/><Relationship Id="rId8" Type="http://schemas.openxmlformats.org/officeDocument/2006/relationships/image" Target="../media/image189.png"/><Relationship Id="rId3" Type="http://schemas.openxmlformats.org/officeDocument/2006/relationships/image" Target="../media/image184.png"/><Relationship Id="rId12" Type="http://schemas.openxmlformats.org/officeDocument/2006/relationships/image" Target="../media/image193.png"/><Relationship Id="rId17" Type="http://schemas.openxmlformats.org/officeDocument/2006/relationships/image" Target="../media/image198.png"/><Relationship Id="rId25" Type="http://schemas.openxmlformats.org/officeDocument/2006/relationships/image" Target="../media/image206.png"/><Relationship Id="rId33" Type="http://schemas.openxmlformats.org/officeDocument/2006/relationships/image" Target="../media/image214.png"/><Relationship Id="rId38" Type="http://schemas.openxmlformats.org/officeDocument/2006/relationships/image" Target="../media/image2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3" Type="http://schemas.openxmlformats.org/officeDocument/2006/relationships/image" Target="../media/image234.png"/><Relationship Id="rId18" Type="http://schemas.openxmlformats.org/officeDocument/2006/relationships/image" Target="../media/image239.png"/><Relationship Id="rId26" Type="http://schemas.openxmlformats.org/officeDocument/2006/relationships/image" Target="../media/image247.png"/><Relationship Id="rId3" Type="http://schemas.openxmlformats.org/officeDocument/2006/relationships/image" Target="../media/image224.png"/><Relationship Id="rId21" Type="http://schemas.openxmlformats.org/officeDocument/2006/relationships/image" Target="../media/image242.png"/><Relationship Id="rId34" Type="http://schemas.openxmlformats.org/officeDocument/2006/relationships/image" Target="../media/image255.png"/><Relationship Id="rId7" Type="http://schemas.openxmlformats.org/officeDocument/2006/relationships/image" Target="../media/image228.png"/><Relationship Id="rId12" Type="http://schemas.openxmlformats.org/officeDocument/2006/relationships/image" Target="../media/image233.png"/><Relationship Id="rId17" Type="http://schemas.openxmlformats.org/officeDocument/2006/relationships/image" Target="../media/image238.png"/><Relationship Id="rId25" Type="http://schemas.openxmlformats.org/officeDocument/2006/relationships/image" Target="../media/image246.png"/><Relationship Id="rId33" Type="http://schemas.openxmlformats.org/officeDocument/2006/relationships/image" Target="../media/image254.png"/><Relationship Id="rId2" Type="http://schemas.openxmlformats.org/officeDocument/2006/relationships/image" Target="../media/image223.png"/><Relationship Id="rId16" Type="http://schemas.openxmlformats.org/officeDocument/2006/relationships/image" Target="../media/image237.png"/><Relationship Id="rId20" Type="http://schemas.openxmlformats.org/officeDocument/2006/relationships/image" Target="../media/image241.png"/><Relationship Id="rId29" Type="http://schemas.openxmlformats.org/officeDocument/2006/relationships/image" Target="../media/image250.png"/><Relationship Id="rId1" Type="http://schemas.openxmlformats.org/officeDocument/2006/relationships/slideLayout" Target="../slideLayouts/slideLayout6.xml"/><Relationship Id="rId6" Type="http://schemas.openxmlformats.org/officeDocument/2006/relationships/image" Target="../media/image227.png"/><Relationship Id="rId11" Type="http://schemas.openxmlformats.org/officeDocument/2006/relationships/image" Target="../media/image232.png"/><Relationship Id="rId24" Type="http://schemas.openxmlformats.org/officeDocument/2006/relationships/image" Target="../media/image245.png"/><Relationship Id="rId32" Type="http://schemas.openxmlformats.org/officeDocument/2006/relationships/image" Target="../media/image253.png"/><Relationship Id="rId5" Type="http://schemas.openxmlformats.org/officeDocument/2006/relationships/image" Target="../media/image226.png"/><Relationship Id="rId15" Type="http://schemas.openxmlformats.org/officeDocument/2006/relationships/image" Target="../media/image236.png"/><Relationship Id="rId23" Type="http://schemas.openxmlformats.org/officeDocument/2006/relationships/image" Target="../media/image244.png"/><Relationship Id="rId28" Type="http://schemas.openxmlformats.org/officeDocument/2006/relationships/image" Target="../media/image249.png"/><Relationship Id="rId10" Type="http://schemas.openxmlformats.org/officeDocument/2006/relationships/image" Target="../media/image231.png"/><Relationship Id="rId19" Type="http://schemas.openxmlformats.org/officeDocument/2006/relationships/image" Target="../media/image240.png"/><Relationship Id="rId31" Type="http://schemas.openxmlformats.org/officeDocument/2006/relationships/image" Target="../media/image252.png"/><Relationship Id="rId4" Type="http://schemas.openxmlformats.org/officeDocument/2006/relationships/image" Target="../media/image225.png"/><Relationship Id="rId9" Type="http://schemas.openxmlformats.org/officeDocument/2006/relationships/image" Target="../media/image230.png"/><Relationship Id="rId14" Type="http://schemas.openxmlformats.org/officeDocument/2006/relationships/image" Target="../media/image235.png"/><Relationship Id="rId22" Type="http://schemas.openxmlformats.org/officeDocument/2006/relationships/image" Target="../media/image243.png"/><Relationship Id="rId27" Type="http://schemas.openxmlformats.org/officeDocument/2006/relationships/image" Target="../media/image248.png"/><Relationship Id="rId30" Type="http://schemas.openxmlformats.org/officeDocument/2006/relationships/image" Target="../media/image251.png"/><Relationship Id="rId35" Type="http://schemas.openxmlformats.org/officeDocument/2006/relationships/image" Target="../media/image256.png"/><Relationship Id="rId8" Type="http://schemas.openxmlformats.org/officeDocument/2006/relationships/image" Target="../media/image22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710.png"/><Relationship Id="rId13" Type="http://schemas.openxmlformats.org/officeDocument/2006/relationships/image" Target="../media/image120.png"/><Relationship Id="rId18" Type="http://schemas.openxmlformats.org/officeDocument/2006/relationships/image" Target="../media/image1710.png"/><Relationship Id="rId3" Type="http://schemas.openxmlformats.org/officeDocument/2006/relationships/image" Target="../media/image257.png"/><Relationship Id="rId21" Type="http://schemas.openxmlformats.org/officeDocument/2006/relationships/image" Target="../media/image2010.png"/><Relationship Id="rId7" Type="http://schemas.openxmlformats.org/officeDocument/2006/relationships/image" Target="../media/image610.png"/><Relationship Id="rId12" Type="http://schemas.openxmlformats.org/officeDocument/2006/relationships/image" Target="../media/image111.png"/><Relationship Id="rId17" Type="http://schemas.openxmlformats.org/officeDocument/2006/relationships/image" Target="../media/image1610.png"/><Relationship Id="rId25" Type="http://schemas.openxmlformats.org/officeDocument/2006/relationships/image" Target="../media/image2410.png"/><Relationship Id="rId2" Type="http://schemas.openxmlformats.org/officeDocument/2006/relationships/image" Target="../media/image110.png"/><Relationship Id="rId16" Type="http://schemas.openxmlformats.org/officeDocument/2006/relationships/image" Target="../media/image1510.png"/><Relationship Id="rId20" Type="http://schemas.openxmlformats.org/officeDocument/2006/relationships/image" Target="../media/image1910.png"/><Relationship Id="rId1" Type="http://schemas.openxmlformats.org/officeDocument/2006/relationships/slideLayout" Target="../slideLayouts/slideLayout6.xml"/><Relationship Id="rId6" Type="http://schemas.openxmlformats.org/officeDocument/2006/relationships/image" Target="../media/image510.png"/><Relationship Id="rId11" Type="http://schemas.openxmlformats.org/officeDocument/2006/relationships/image" Target="../media/image1010.png"/><Relationship Id="rId24" Type="http://schemas.openxmlformats.org/officeDocument/2006/relationships/image" Target="../media/image2310.png"/><Relationship Id="rId5" Type="http://schemas.openxmlformats.org/officeDocument/2006/relationships/image" Target="../media/image410.png"/><Relationship Id="rId15" Type="http://schemas.openxmlformats.org/officeDocument/2006/relationships/image" Target="../media/image1410.png"/><Relationship Id="rId23" Type="http://schemas.openxmlformats.org/officeDocument/2006/relationships/image" Target="../media/image2210.png"/><Relationship Id="rId10" Type="http://schemas.openxmlformats.org/officeDocument/2006/relationships/image" Target="../media/image910.png"/><Relationship Id="rId19" Type="http://schemas.openxmlformats.org/officeDocument/2006/relationships/image" Target="../media/image1810.png"/><Relationship Id="rId4" Type="http://schemas.openxmlformats.org/officeDocument/2006/relationships/image" Target="../media/image310.png"/><Relationship Id="rId9" Type="http://schemas.openxmlformats.org/officeDocument/2006/relationships/image" Target="../media/image810.png"/><Relationship Id="rId14" Type="http://schemas.openxmlformats.org/officeDocument/2006/relationships/image" Target="../media/image1310.png"/><Relationship Id="rId22" Type="http://schemas.openxmlformats.org/officeDocument/2006/relationships/image" Target="../media/image21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D1312-3FC0-4078-A2B9-78735F9B2C94}"/>
              </a:ext>
            </a:extLst>
          </p:cNvPr>
          <p:cNvSpPr>
            <a:spLocks noGrp="1"/>
          </p:cNvSpPr>
          <p:nvPr>
            <p:ph type="ctrTitle"/>
          </p:nvPr>
        </p:nvSpPr>
        <p:spPr>
          <a:xfrm>
            <a:off x="1361661" y="2856321"/>
            <a:ext cx="9144000" cy="942001"/>
          </a:xfrm>
        </p:spPr>
        <p:txBody>
          <a:bodyPr>
            <a:normAutofit fontScale="90000"/>
          </a:bodyPr>
          <a:lstStyle/>
          <a:p>
            <a:br>
              <a:rPr lang="en-IN" sz="4000" dirty="0">
                <a:solidFill>
                  <a:srgbClr val="002060"/>
                </a:solidFill>
                <a:latin typeface="Arial Narrow" panose="020B0606020202030204" pitchFamily="34" charset="0"/>
              </a:rPr>
            </a:br>
            <a:br>
              <a:rPr lang="en-IN" sz="4000" dirty="0">
                <a:solidFill>
                  <a:srgbClr val="002060"/>
                </a:solidFill>
                <a:latin typeface="Arial Narrow" panose="020B0606020202030204" pitchFamily="34" charset="0"/>
              </a:rPr>
            </a:br>
            <a:r>
              <a:rPr lang="en-US" sz="4000" dirty="0">
                <a:solidFill>
                  <a:srgbClr val="002060"/>
                </a:solidFill>
                <a:latin typeface="Arial Narrow" panose="020B0606020202030204" pitchFamily="34" charset="0"/>
                <a:cs typeface="Times New Roman" panose="02020603050405020304" pitchFamily="18" charset="0"/>
              </a:rPr>
              <a:t>Transformers - II</a:t>
            </a:r>
            <a:endParaRPr lang="en-IN" sz="4000" dirty="0"/>
          </a:p>
        </p:txBody>
      </p:sp>
      <p:sp>
        <p:nvSpPr>
          <p:cNvPr id="3" name="Subtitle 2">
            <a:extLst>
              <a:ext uri="{FF2B5EF4-FFF2-40B4-BE49-F238E27FC236}">
                <a16:creationId xmlns:a16="http://schemas.microsoft.com/office/drawing/2014/main" id="{14B6BD41-65D8-4E39-9EB8-873E6D591764}"/>
              </a:ext>
            </a:extLst>
          </p:cNvPr>
          <p:cNvSpPr>
            <a:spLocks noGrp="1"/>
          </p:cNvSpPr>
          <p:nvPr>
            <p:ph type="subTitle" idx="1"/>
          </p:nvPr>
        </p:nvSpPr>
        <p:spPr>
          <a:xfrm>
            <a:off x="1524000" y="4582425"/>
            <a:ext cx="9144000" cy="1655762"/>
          </a:xfrm>
        </p:spPr>
        <p:txBody>
          <a:bodyPr>
            <a:normAutofit/>
          </a:bodyPr>
          <a:lstStyle/>
          <a:p>
            <a:r>
              <a:rPr lang="en-US" sz="3600" dirty="0">
                <a:solidFill>
                  <a:srgbClr val="00B050"/>
                </a:solidFill>
                <a:latin typeface="Book Antiqua" panose="02040602050305030304" pitchFamily="18" charset="0"/>
              </a:rPr>
              <a:t>Generative AI for Computer Vision</a:t>
            </a:r>
            <a:endParaRPr lang="en-IN" sz="3600" dirty="0">
              <a:solidFill>
                <a:srgbClr val="002060"/>
              </a:solidFill>
              <a:latin typeface="Arial Narrow" panose="020B0606020202030204" pitchFamily="34" charset="0"/>
            </a:endParaRPr>
          </a:p>
        </p:txBody>
      </p:sp>
      <p:sp>
        <p:nvSpPr>
          <p:cNvPr id="4" name="TextBox 3">
            <a:extLst>
              <a:ext uri="{FF2B5EF4-FFF2-40B4-BE49-F238E27FC236}">
                <a16:creationId xmlns:a16="http://schemas.microsoft.com/office/drawing/2014/main" id="{8A279711-0489-4234-BC9E-AEC0ED47B657}"/>
              </a:ext>
            </a:extLst>
          </p:cNvPr>
          <p:cNvSpPr txBox="1"/>
          <p:nvPr/>
        </p:nvSpPr>
        <p:spPr>
          <a:xfrm>
            <a:off x="4035287" y="860753"/>
            <a:ext cx="3796748" cy="1384995"/>
          </a:xfrm>
          <a:prstGeom prst="rect">
            <a:avLst/>
          </a:prstGeom>
          <a:noFill/>
        </p:spPr>
        <p:txBody>
          <a:bodyPr wrap="square" rtlCol="0">
            <a:spAutoFit/>
          </a:bodyPr>
          <a:lstStyle/>
          <a:p>
            <a:pPr algn="ctr"/>
            <a:r>
              <a:rPr lang="en-IN" sz="2800" dirty="0">
                <a:latin typeface="Arial Narrow" panose="020B0606020202030204" pitchFamily="34" charset="0"/>
              </a:rPr>
              <a:t>Lecture 8</a:t>
            </a:r>
          </a:p>
          <a:p>
            <a:pPr algn="ctr"/>
            <a:endParaRPr lang="en-IN" sz="2800" dirty="0">
              <a:latin typeface="Arial Narrow" panose="020B0606020202030204" pitchFamily="34" charset="0"/>
            </a:endParaRPr>
          </a:p>
          <a:p>
            <a:pPr algn="ctr"/>
            <a:r>
              <a:rPr lang="en-IN" sz="2800" dirty="0">
                <a:latin typeface="Arial Narrow" panose="020B0606020202030204" pitchFamily="34" charset="0"/>
              </a:rPr>
              <a:t>Part 4</a:t>
            </a:r>
          </a:p>
        </p:txBody>
      </p:sp>
    </p:spTree>
    <p:extLst>
      <p:ext uri="{BB962C8B-B14F-4D97-AF65-F5344CB8AC3E}">
        <p14:creationId xmlns:p14="http://schemas.microsoft.com/office/powerpoint/2010/main" val="25049298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dirty="0">
                <a:latin typeface="Century" panose="02040604050505020304" pitchFamily="18" charset="0"/>
              </a:rPr>
              <a:t>Content</a:t>
            </a:r>
          </a:p>
        </p:txBody>
      </p:sp>
      <p:sp>
        <p:nvSpPr>
          <p:cNvPr id="3" name="Content Placeholder 2"/>
          <p:cNvSpPr>
            <a:spLocks noGrp="1"/>
          </p:cNvSpPr>
          <p:nvPr>
            <p:ph idx="1"/>
          </p:nvPr>
        </p:nvSpPr>
        <p:spPr>
          <a:xfrm>
            <a:off x="838200" y="1690687"/>
            <a:ext cx="10515600" cy="4239057"/>
          </a:xfrm>
        </p:spPr>
        <p:txBody>
          <a:bodyPr>
            <a:normAutofit/>
          </a:bodyPr>
          <a:lstStyle/>
          <a:p>
            <a:pPr marL="457200" indent="-457200">
              <a:lnSpc>
                <a:spcPct val="150000"/>
              </a:lnSpc>
            </a:pPr>
            <a:r>
              <a:rPr lang="en-US" dirty="0">
                <a:latin typeface="Arial Narrow" panose="020B0606020202030204" pitchFamily="34" charset="0"/>
                <a:cs typeface="Times New Roman" panose="02020603050405020304" pitchFamily="18" charset="0"/>
              </a:rPr>
              <a:t>How Attention is computed?</a:t>
            </a:r>
          </a:p>
          <a:p>
            <a:pPr marL="457200" indent="-457200">
              <a:lnSpc>
                <a:spcPct val="150000"/>
              </a:lnSpc>
            </a:pPr>
            <a:r>
              <a:rPr lang="en-US" dirty="0">
                <a:latin typeface="Arial Narrow" panose="020B0606020202030204" pitchFamily="34" charset="0"/>
                <a:cs typeface="Times New Roman" panose="02020603050405020304" pitchFamily="18" charset="0"/>
              </a:rPr>
              <a:t>Self attention</a:t>
            </a:r>
          </a:p>
          <a:p>
            <a:pPr marL="457200" indent="-457200">
              <a:lnSpc>
                <a:spcPct val="150000"/>
              </a:lnSpc>
            </a:pPr>
            <a:r>
              <a:rPr lang="en-US" dirty="0">
                <a:latin typeface="Arial Narrow" panose="020B0606020202030204" pitchFamily="34" charset="0"/>
                <a:cs typeface="Times New Roman" panose="02020603050405020304" pitchFamily="18" charset="0"/>
              </a:rPr>
              <a:t>Masked Self Attention</a:t>
            </a:r>
          </a:p>
          <a:p>
            <a:pPr marL="457200" indent="-457200">
              <a:lnSpc>
                <a:spcPct val="150000"/>
              </a:lnSpc>
            </a:pPr>
            <a:r>
              <a:rPr lang="en-US" dirty="0">
                <a:latin typeface="Arial Narrow" panose="020B0606020202030204" pitchFamily="34" charset="0"/>
                <a:cs typeface="Times New Roman" panose="02020603050405020304" pitchFamily="18" charset="0"/>
              </a:rPr>
              <a:t>Multi-head Self-attention</a:t>
            </a:r>
          </a:p>
          <a:p>
            <a:pPr marL="457200" indent="-457200">
              <a:lnSpc>
                <a:spcPct val="150000"/>
              </a:lnSpc>
            </a:pPr>
            <a:endParaRPr lang="en-US" dirty="0">
              <a:latin typeface="Arial Narrow" panose="020B0606020202030204" pitchFamily="34" charset="0"/>
              <a:cs typeface="Times New Roman" panose="02020603050405020304" pitchFamily="18" charset="0"/>
            </a:endParaRPr>
          </a:p>
        </p:txBody>
      </p:sp>
    </p:spTree>
    <p:extLst>
      <p:ext uri="{BB962C8B-B14F-4D97-AF65-F5344CB8AC3E}">
        <p14:creationId xmlns:p14="http://schemas.microsoft.com/office/powerpoint/2010/main" val="22210838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2854660-AFC7-4DD7-A283-5B8542308C87}"/>
              </a:ext>
            </a:extLst>
          </p:cNvPr>
          <p:cNvSpPr>
            <a:spLocks noGrp="1"/>
          </p:cNvSpPr>
          <p:nvPr>
            <p:ph type="title"/>
          </p:nvPr>
        </p:nvSpPr>
        <p:spPr>
          <a:xfrm>
            <a:off x="838199" y="142453"/>
            <a:ext cx="10153651" cy="1404813"/>
          </a:xfrm>
        </p:spPr>
        <p:txBody>
          <a:bodyPr>
            <a:normAutofit/>
          </a:bodyPr>
          <a:lstStyle/>
          <a:p>
            <a:r>
              <a:rPr lang="en-IN" sz="3200" dirty="0">
                <a:latin typeface="Century" panose="02040604050505020304" pitchFamily="18" charset="0"/>
              </a:rPr>
              <a:t>How attention is computed in Image Captioning?</a:t>
            </a:r>
          </a:p>
        </p:txBody>
      </p:sp>
      <p:grpSp>
        <p:nvGrpSpPr>
          <p:cNvPr id="126" name="Group 125"/>
          <p:cNvGrpSpPr/>
          <p:nvPr/>
        </p:nvGrpSpPr>
        <p:grpSpPr>
          <a:xfrm>
            <a:off x="8874041" y="2377318"/>
            <a:ext cx="1571821" cy="1198422"/>
            <a:chOff x="3907525" y="3282431"/>
            <a:chExt cx="1399431" cy="991913"/>
          </a:xfrm>
          <a:solidFill>
            <a:srgbClr val="FFC000">
              <a:alpha val="36000"/>
            </a:srgbClr>
          </a:solidFill>
        </p:grpSpPr>
        <p:sp>
          <p:nvSpPr>
            <p:cNvPr id="130" name="Rectangle 129"/>
            <p:cNvSpPr/>
            <p:nvPr/>
          </p:nvSpPr>
          <p:spPr>
            <a:xfrm>
              <a:off x="3907525" y="3282431"/>
              <a:ext cx="466794" cy="334605"/>
            </a:xfrm>
            <a:prstGeom prst="rect">
              <a:avLst/>
            </a:prstGeom>
            <a:grpFill/>
            <a:ln>
              <a:solidFill>
                <a:schemeClr val="accent1">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Z</a:t>
              </a:r>
              <a:r>
                <a:rPr lang="en-IN" sz="1400" baseline="-25000" dirty="0">
                  <a:latin typeface="Arial Narrow" panose="020B0606020202030204" pitchFamily="34" charset="0"/>
                  <a:cs typeface="Times New Roman" panose="02020603050405020304" pitchFamily="18" charset="0"/>
                </a:rPr>
                <a:t>0,0</a:t>
              </a:r>
            </a:p>
          </p:txBody>
        </p:sp>
        <p:sp>
          <p:nvSpPr>
            <p:cNvPr id="140" name="Rectangle 139"/>
            <p:cNvSpPr/>
            <p:nvPr/>
          </p:nvSpPr>
          <p:spPr>
            <a:xfrm>
              <a:off x="4373368" y="3282433"/>
              <a:ext cx="466794" cy="334604"/>
            </a:xfrm>
            <a:prstGeom prst="rect">
              <a:avLst/>
            </a:prstGeom>
            <a:grpFill/>
            <a:ln>
              <a:solidFill>
                <a:schemeClr val="accent1">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Z</a:t>
              </a:r>
              <a:r>
                <a:rPr lang="en-IN" sz="1400" baseline="-25000" dirty="0">
                  <a:latin typeface="Arial Narrow" panose="020B0606020202030204" pitchFamily="34" charset="0"/>
                  <a:cs typeface="Times New Roman" panose="02020603050405020304" pitchFamily="18" charset="0"/>
                </a:rPr>
                <a:t>0,1</a:t>
              </a:r>
            </a:p>
          </p:txBody>
        </p:sp>
        <p:sp>
          <p:nvSpPr>
            <p:cNvPr id="154" name="Rectangle 153"/>
            <p:cNvSpPr/>
            <p:nvPr/>
          </p:nvSpPr>
          <p:spPr>
            <a:xfrm>
              <a:off x="4840162" y="3282432"/>
              <a:ext cx="466794" cy="334604"/>
            </a:xfrm>
            <a:prstGeom prst="rect">
              <a:avLst/>
            </a:prstGeom>
            <a:grpFill/>
            <a:ln>
              <a:solidFill>
                <a:schemeClr val="accent1">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Z</a:t>
              </a:r>
              <a:r>
                <a:rPr lang="en-IN" sz="1400" baseline="-25000" dirty="0">
                  <a:latin typeface="Arial Narrow" panose="020B0606020202030204" pitchFamily="34" charset="0"/>
                  <a:cs typeface="Times New Roman" panose="02020603050405020304" pitchFamily="18" charset="0"/>
                </a:rPr>
                <a:t>0,2</a:t>
              </a:r>
            </a:p>
          </p:txBody>
        </p:sp>
        <p:sp>
          <p:nvSpPr>
            <p:cNvPr id="157" name="Rectangle 156"/>
            <p:cNvSpPr/>
            <p:nvPr/>
          </p:nvSpPr>
          <p:spPr>
            <a:xfrm>
              <a:off x="3907526" y="3617038"/>
              <a:ext cx="466794" cy="334604"/>
            </a:xfrm>
            <a:prstGeom prst="rect">
              <a:avLst/>
            </a:prstGeom>
            <a:grpFill/>
            <a:ln>
              <a:solidFill>
                <a:schemeClr val="accent1">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Z</a:t>
              </a:r>
              <a:r>
                <a:rPr lang="en-IN" sz="1400" baseline="-25000" dirty="0">
                  <a:latin typeface="Arial Narrow" panose="020B0606020202030204" pitchFamily="34" charset="0"/>
                  <a:cs typeface="Times New Roman" panose="02020603050405020304" pitchFamily="18" charset="0"/>
                </a:rPr>
                <a:t>1,0</a:t>
              </a:r>
            </a:p>
          </p:txBody>
        </p:sp>
        <p:sp>
          <p:nvSpPr>
            <p:cNvPr id="158" name="Rectangle 157"/>
            <p:cNvSpPr/>
            <p:nvPr/>
          </p:nvSpPr>
          <p:spPr>
            <a:xfrm>
              <a:off x="4373368" y="3617038"/>
              <a:ext cx="466794" cy="334604"/>
            </a:xfrm>
            <a:prstGeom prst="rect">
              <a:avLst/>
            </a:prstGeom>
            <a:grpFill/>
            <a:ln>
              <a:solidFill>
                <a:schemeClr val="accent1">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Z</a:t>
              </a:r>
              <a:r>
                <a:rPr lang="en-IN" sz="1400" baseline="-25000" dirty="0">
                  <a:latin typeface="Arial Narrow" panose="020B0606020202030204" pitchFamily="34" charset="0"/>
                  <a:cs typeface="Times New Roman" panose="02020603050405020304" pitchFamily="18" charset="0"/>
                </a:rPr>
                <a:t>1,1</a:t>
              </a:r>
            </a:p>
          </p:txBody>
        </p:sp>
        <p:sp>
          <p:nvSpPr>
            <p:cNvPr id="159" name="Rectangle 158"/>
            <p:cNvSpPr/>
            <p:nvPr/>
          </p:nvSpPr>
          <p:spPr>
            <a:xfrm>
              <a:off x="4840162" y="3617037"/>
              <a:ext cx="466794" cy="334604"/>
            </a:xfrm>
            <a:prstGeom prst="rect">
              <a:avLst/>
            </a:prstGeom>
            <a:grpFill/>
            <a:ln>
              <a:solidFill>
                <a:schemeClr val="accent1">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Z</a:t>
              </a:r>
              <a:r>
                <a:rPr lang="en-IN" sz="1400" baseline="-25000" dirty="0">
                  <a:latin typeface="Arial Narrow" panose="020B0606020202030204" pitchFamily="34" charset="0"/>
                  <a:cs typeface="Times New Roman" panose="02020603050405020304" pitchFamily="18" charset="0"/>
                </a:rPr>
                <a:t>1,2</a:t>
              </a:r>
            </a:p>
          </p:txBody>
        </p:sp>
        <p:sp>
          <p:nvSpPr>
            <p:cNvPr id="160" name="Rectangle 159"/>
            <p:cNvSpPr/>
            <p:nvPr/>
          </p:nvSpPr>
          <p:spPr>
            <a:xfrm>
              <a:off x="3907525" y="3951644"/>
              <a:ext cx="466794" cy="322700"/>
            </a:xfrm>
            <a:prstGeom prst="rect">
              <a:avLst/>
            </a:prstGeom>
            <a:grpFill/>
            <a:ln>
              <a:solidFill>
                <a:schemeClr val="accent1">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Z</a:t>
              </a:r>
              <a:r>
                <a:rPr lang="en-IN" sz="1400" baseline="-25000" dirty="0">
                  <a:latin typeface="Arial Narrow" panose="020B0606020202030204" pitchFamily="34" charset="0"/>
                  <a:cs typeface="Times New Roman" panose="02020603050405020304" pitchFamily="18" charset="0"/>
                </a:rPr>
                <a:t>2,0</a:t>
              </a:r>
            </a:p>
          </p:txBody>
        </p:sp>
        <p:sp>
          <p:nvSpPr>
            <p:cNvPr id="161" name="Rectangle 160"/>
            <p:cNvSpPr/>
            <p:nvPr/>
          </p:nvSpPr>
          <p:spPr>
            <a:xfrm>
              <a:off x="4373367" y="3951644"/>
              <a:ext cx="466794" cy="322700"/>
            </a:xfrm>
            <a:prstGeom prst="rect">
              <a:avLst/>
            </a:prstGeom>
            <a:grpFill/>
            <a:ln>
              <a:solidFill>
                <a:schemeClr val="accent1">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Z</a:t>
              </a:r>
              <a:r>
                <a:rPr lang="en-IN" sz="1400" baseline="-25000" dirty="0">
                  <a:latin typeface="Arial Narrow" panose="020B0606020202030204" pitchFamily="34" charset="0"/>
                  <a:cs typeface="Times New Roman" panose="02020603050405020304" pitchFamily="18" charset="0"/>
                </a:rPr>
                <a:t>2,1</a:t>
              </a:r>
            </a:p>
          </p:txBody>
        </p:sp>
        <p:sp>
          <p:nvSpPr>
            <p:cNvPr id="170" name="Rectangle 169"/>
            <p:cNvSpPr/>
            <p:nvPr/>
          </p:nvSpPr>
          <p:spPr>
            <a:xfrm>
              <a:off x="4840161" y="3951643"/>
              <a:ext cx="466794" cy="322700"/>
            </a:xfrm>
            <a:prstGeom prst="rect">
              <a:avLst/>
            </a:prstGeom>
            <a:grpFill/>
            <a:ln>
              <a:solidFill>
                <a:schemeClr val="accent1">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Z</a:t>
              </a:r>
              <a:r>
                <a:rPr lang="en-IN" sz="1400" baseline="-25000" dirty="0">
                  <a:latin typeface="Arial Narrow" panose="020B0606020202030204" pitchFamily="34" charset="0"/>
                  <a:cs typeface="Times New Roman" panose="02020603050405020304" pitchFamily="18" charset="0"/>
                </a:rPr>
                <a:t>2,2</a:t>
              </a:r>
            </a:p>
          </p:txBody>
        </p:sp>
      </p:grpSp>
      <p:sp>
        <p:nvSpPr>
          <p:cNvPr id="173" name="Oval 172"/>
          <p:cNvSpPr/>
          <p:nvPr/>
        </p:nvSpPr>
        <p:spPr>
          <a:xfrm>
            <a:off x="9536683" y="4217625"/>
            <a:ext cx="468699" cy="452903"/>
          </a:xfrm>
          <a:prstGeom prst="ellipse">
            <a:avLst/>
          </a:prstGeom>
          <a:solidFill>
            <a:schemeClr val="accent2">
              <a:lumMod val="60000"/>
              <a:lumOff val="40000"/>
            </a:schemeClr>
          </a:solidFill>
          <a:ln w="1587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dirty="0">
              <a:latin typeface="Arial Narrow" panose="020B0606020202030204" pitchFamily="34" charset="0"/>
              <a:cs typeface="Times New Roman" panose="02020603050405020304" pitchFamily="18" charset="0"/>
            </a:endParaRPr>
          </a:p>
        </p:txBody>
      </p:sp>
      <p:sp>
        <p:nvSpPr>
          <p:cNvPr id="177" name="Rectangle 176"/>
          <p:cNvSpPr/>
          <p:nvPr/>
        </p:nvSpPr>
        <p:spPr>
          <a:xfrm>
            <a:off x="9634104" y="4240556"/>
            <a:ext cx="390353" cy="400110"/>
          </a:xfrm>
          <a:prstGeom prst="rect">
            <a:avLst/>
          </a:prstGeom>
        </p:spPr>
        <p:txBody>
          <a:bodyPr wrap="square">
            <a:spAutoFit/>
          </a:bodyPr>
          <a:lstStyle/>
          <a:p>
            <a:r>
              <a:rPr lang="en-IN" sz="2000" dirty="0">
                <a:latin typeface="Arial Narrow" panose="020B0606020202030204" pitchFamily="34" charset="0"/>
                <a:cs typeface="Times New Roman" panose="02020603050405020304" pitchFamily="18" charset="0"/>
              </a:rPr>
              <a:t>h</a:t>
            </a:r>
          </a:p>
        </p:txBody>
      </p:sp>
      <p:sp>
        <p:nvSpPr>
          <p:cNvPr id="178" name="TextBox 177"/>
          <p:cNvSpPr txBox="1"/>
          <p:nvPr/>
        </p:nvSpPr>
        <p:spPr>
          <a:xfrm>
            <a:off x="9093709" y="1951595"/>
            <a:ext cx="1051891" cy="400110"/>
          </a:xfrm>
          <a:prstGeom prst="rect">
            <a:avLst/>
          </a:prstGeom>
          <a:noFill/>
        </p:spPr>
        <p:txBody>
          <a:bodyPr wrap="none" rtlCol="0">
            <a:spAutoFit/>
          </a:bodyPr>
          <a:lstStyle/>
          <a:p>
            <a:pPr algn="ctr"/>
            <a:r>
              <a:rPr lang="en-IN" sz="2000" dirty="0">
                <a:latin typeface="Arial Narrow" panose="020B0606020202030204" pitchFamily="34" charset="0"/>
                <a:cs typeface="Times New Roman" panose="02020603050405020304" pitchFamily="18" charset="0"/>
              </a:rPr>
              <a:t>Features</a:t>
            </a:r>
            <a:endParaRPr lang="en-IN" dirty="0">
              <a:latin typeface="Arial Narrow" panose="020B0606020202030204" pitchFamily="34" charset="0"/>
              <a:cs typeface="Times New Roman" panose="02020603050405020304" pitchFamily="18" charset="0"/>
            </a:endParaRPr>
          </a:p>
        </p:txBody>
      </p:sp>
      <p:sp>
        <p:nvSpPr>
          <p:cNvPr id="6" name="TextBox 5"/>
          <p:cNvSpPr txBox="1"/>
          <p:nvPr/>
        </p:nvSpPr>
        <p:spPr>
          <a:xfrm>
            <a:off x="838199" y="1365235"/>
            <a:ext cx="3605474" cy="1015663"/>
          </a:xfrm>
          <a:prstGeom prst="rect">
            <a:avLst/>
          </a:prstGeom>
          <a:noFill/>
        </p:spPr>
        <p:txBody>
          <a:bodyPr wrap="none" rtlCol="0">
            <a:spAutoFit/>
          </a:bodyPr>
          <a:lstStyle/>
          <a:p>
            <a:r>
              <a:rPr lang="en-IN" sz="2000" dirty="0">
                <a:solidFill>
                  <a:srgbClr val="00B0F0"/>
                </a:solidFill>
                <a:latin typeface="Arial Narrow" panose="020B0606020202030204" pitchFamily="34" charset="0"/>
                <a:cs typeface="Times New Roman" panose="02020603050405020304" pitchFamily="18" charset="0"/>
              </a:rPr>
              <a:t>Inputs : </a:t>
            </a:r>
          </a:p>
          <a:p>
            <a:r>
              <a:rPr lang="en-IN" sz="2000" dirty="0">
                <a:latin typeface="Arial Narrow" panose="020B0606020202030204" pitchFamily="34" charset="0"/>
                <a:cs typeface="Times New Roman" panose="02020603050405020304" pitchFamily="18" charset="0"/>
              </a:rPr>
              <a:t>Features : </a:t>
            </a:r>
            <a:r>
              <a:rPr lang="en-IN" sz="2000" dirty="0">
                <a:solidFill>
                  <a:srgbClr val="7030A0"/>
                </a:solidFill>
                <a:latin typeface="Arial Narrow" panose="020B0606020202030204" pitchFamily="34" charset="0"/>
                <a:cs typeface="Times New Roman" panose="02020603050405020304" pitchFamily="18" charset="0"/>
              </a:rPr>
              <a:t>z</a:t>
            </a:r>
            <a:r>
              <a:rPr lang="en-IN" sz="2000" dirty="0">
                <a:latin typeface="Arial Narrow" panose="020B0606020202030204" pitchFamily="34" charset="0"/>
                <a:cs typeface="Times New Roman" panose="02020603050405020304" pitchFamily="18" charset="0"/>
              </a:rPr>
              <a:t> (Dimension : H x W x D)</a:t>
            </a:r>
          </a:p>
          <a:p>
            <a:r>
              <a:rPr lang="en-IN" sz="2000" dirty="0">
                <a:latin typeface="Arial Narrow" panose="020B0606020202030204" pitchFamily="34" charset="0"/>
                <a:cs typeface="Times New Roman" panose="02020603050405020304" pitchFamily="18" charset="0"/>
              </a:rPr>
              <a:t>Query : </a:t>
            </a:r>
            <a:r>
              <a:rPr lang="en-IN" sz="2000" dirty="0">
                <a:solidFill>
                  <a:srgbClr val="7030A0"/>
                </a:solidFill>
                <a:latin typeface="Arial Narrow" panose="020B0606020202030204" pitchFamily="34" charset="0"/>
                <a:cs typeface="Times New Roman" panose="02020603050405020304" pitchFamily="18" charset="0"/>
              </a:rPr>
              <a:t>h</a:t>
            </a:r>
            <a:r>
              <a:rPr lang="en-IN" sz="2000" dirty="0">
                <a:latin typeface="Arial Narrow" panose="020B0606020202030204" pitchFamily="34" charset="0"/>
                <a:cs typeface="Times New Roman" panose="02020603050405020304" pitchFamily="18" charset="0"/>
              </a:rPr>
              <a:t> (Dimension :D)</a:t>
            </a:r>
          </a:p>
        </p:txBody>
      </p:sp>
      <p:sp>
        <p:nvSpPr>
          <p:cNvPr id="17" name="TextBox 16">
            <a:extLst>
              <a:ext uri="{FF2B5EF4-FFF2-40B4-BE49-F238E27FC236}">
                <a16:creationId xmlns:a16="http://schemas.microsoft.com/office/drawing/2014/main" id="{DD1CF308-3D7B-4821-88BD-9F1678419C7A}"/>
              </a:ext>
            </a:extLst>
          </p:cNvPr>
          <p:cNvSpPr txBox="1"/>
          <p:nvPr/>
        </p:nvSpPr>
        <p:spPr>
          <a:xfrm>
            <a:off x="6960248" y="3632850"/>
            <a:ext cx="2175941" cy="584775"/>
          </a:xfrm>
          <a:prstGeom prst="rect">
            <a:avLst/>
          </a:prstGeom>
          <a:noFill/>
        </p:spPr>
        <p:txBody>
          <a:bodyPr wrap="square" rtlCol="0">
            <a:spAutoFit/>
          </a:bodyPr>
          <a:lstStyle/>
          <a:p>
            <a:pPr algn="ctr"/>
            <a:r>
              <a:rPr lang="en-IN" sz="1600" dirty="0">
                <a:latin typeface="Arial Narrow" panose="020B0606020202030204" pitchFamily="34" charset="0"/>
                <a:cs typeface="Times New Roman" panose="02020603050405020304" pitchFamily="18" charset="0"/>
              </a:rPr>
              <a:t>Extract spatial features from a pretrained CNN</a:t>
            </a:r>
          </a:p>
        </p:txBody>
      </p:sp>
      <p:pic>
        <p:nvPicPr>
          <p:cNvPr id="19" name="Picture 18">
            <a:extLst>
              <a:ext uri="{FF2B5EF4-FFF2-40B4-BE49-F238E27FC236}">
                <a16:creationId xmlns:a16="http://schemas.microsoft.com/office/drawing/2014/main" id="{B242ECF0-4B52-4E51-BB2D-13895252ECF2}"/>
              </a:ext>
            </a:extLst>
          </p:cNvPr>
          <p:cNvPicPr>
            <a:picLocks noChangeAspect="1"/>
          </p:cNvPicPr>
          <p:nvPr/>
        </p:nvPicPr>
        <p:blipFill>
          <a:blip r:embed="rId2"/>
          <a:stretch>
            <a:fillRect/>
          </a:stretch>
        </p:blipFill>
        <p:spPr>
          <a:xfrm>
            <a:off x="6955917" y="2490549"/>
            <a:ext cx="836736" cy="890248"/>
          </a:xfrm>
          <a:prstGeom prst="rect">
            <a:avLst/>
          </a:prstGeom>
        </p:spPr>
      </p:pic>
      <p:sp>
        <p:nvSpPr>
          <p:cNvPr id="20" name="Trapezoid 19">
            <a:extLst>
              <a:ext uri="{FF2B5EF4-FFF2-40B4-BE49-F238E27FC236}">
                <a16:creationId xmlns:a16="http://schemas.microsoft.com/office/drawing/2014/main" id="{6606CB8E-1078-4062-8734-118D606E9CE8}"/>
              </a:ext>
            </a:extLst>
          </p:cNvPr>
          <p:cNvSpPr/>
          <p:nvPr/>
        </p:nvSpPr>
        <p:spPr>
          <a:xfrm rot="5400000">
            <a:off x="7804014" y="2659260"/>
            <a:ext cx="909750" cy="601216"/>
          </a:xfrm>
          <a:prstGeom prst="trapezoid">
            <a:avLst/>
          </a:prstGeom>
          <a:solidFill>
            <a:schemeClr val="accent1">
              <a:alpha val="2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21" name="TextBox 20">
            <a:extLst>
              <a:ext uri="{FF2B5EF4-FFF2-40B4-BE49-F238E27FC236}">
                <a16:creationId xmlns:a16="http://schemas.microsoft.com/office/drawing/2014/main" id="{DB4CA134-F489-4F74-AC8D-979C5094A6A3}"/>
              </a:ext>
            </a:extLst>
          </p:cNvPr>
          <p:cNvSpPr txBox="1"/>
          <p:nvPr/>
        </p:nvSpPr>
        <p:spPr>
          <a:xfrm>
            <a:off x="7925817" y="2796434"/>
            <a:ext cx="666143" cy="369332"/>
          </a:xfrm>
          <a:prstGeom prst="rect">
            <a:avLst/>
          </a:prstGeom>
          <a:noFill/>
        </p:spPr>
        <p:txBody>
          <a:bodyPr wrap="square" rtlCol="0">
            <a:spAutoFit/>
          </a:bodyPr>
          <a:lstStyle/>
          <a:p>
            <a:pPr algn="ctr"/>
            <a:r>
              <a:rPr lang="en-IN" dirty="0">
                <a:latin typeface="Arial Narrow" panose="020B0606020202030204" pitchFamily="34" charset="0"/>
              </a:rPr>
              <a:t>CNN</a:t>
            </a:r>
          </a:p>
        </p:txBody>
      </p:sp>
      <p:cxnSp>
        <p:nvCxnSpPr>
          <p:cNvPr id="22" name="Straight Arrow Connector 21">
            <a:extLst>
              <a:ext uri="{FF2B5EF4-FFF2-40B4-BE49-F238E27FC236}">
                <a16:creationId xmlns:a16="http://schemas.microsoft.com/office/drawing/2014/main" id="{0613571E-FB73-43D2-A339-27B2B8873C18}"/>
              </a:ext>
            </a:extLst>
          </p:cNvPr>
          <p:cNvCxnSpPr>
            <a:cxnSpLocks/>
          </p:cNvCxnSpPr>
          <p:nvPr/>
        </p:nvCxnSpPr>
        <p:spPr>
          <a:xfrm flipH="1">
            <a:off x="9763258" y="3583075"/>
            <a:ext cx="7775" cy="634550"/>
          </a:xfrm>
          <a:prstGeom prst="straightConnector1">
            <a:avLst/>
          </a:prstGeom>
          <a:ln w="22225">
            <a:solidFill>
              <a:srgbClr val="00B05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2297D9A5-2748-41E7-B6E8-60A665C41152}"/>
              </a:ext>
            </a:extLst>
          </p:cNvPr>
          <p:cNvSpPr/>
          <p:nvPr/>
        </p:nvSpPr>
        <p:spPr>
          <a:xfrm>
            <a:off x="838199" y="2457467"/>
            <a:ext cx="5515672" cy="3293209"/>
          </a:xfrm>
          <a:prstGeom prst="rect">
            <a:avLst/>
          </a:prstGeom>
        </p:spPr>
        <p:txBody>
          <a:bodyPr wrap="square">
            <a:spAutoFit/>
          </a:bodyPr>
          <a:lstStyle/>
          <a:p>
            <a:pPr algn="just"/>
            <a:r>
              <a:rPr lang="en-US" sz="2000" dirty="0">
                <a:latin typeface="Arial Narrow" panose="020B0606020202030204" pitchFamily="34" charset="0"/>
              </a:rPr>
              <a:t>In transformer, </a:t>
            </a:r>
            <a:r>
              <a:rPr lang="en-US" sz="2000" dirty="0">
                <a:solidFill>
                  <a:srgbClr val="7030A0"/>
                </a:solidFill>
                <a:latin typeface="Arial Narrow" panose="020B0606020202030204" pitchFamily="34" charset="0"/>
              </a:rPr>
              <a:t>separate fully connected (FC) linear transformations </a:t>
            </a:r>
            <a:r>
              <a:rPr lang="en-US" sz="2000" dirty="0">
                <a:latin typeface="Arial Narrow" panose="020B0606020202030204" pitchFamily="34" charset="0"/>
              </a:rPr>
              <a:t>are applied to the input to generate three distinct representations: </a:t>
            </a:r>
          </a:p>
          <a:p>
            <a:pPr algn="just"/>
            <a:r>
              <a:rPr lang="en-US" sz="2000" dirty="0">
                <a:solidFill>
                  <a:srgbClr val="00B0F0"/>
                </a:solidFill>
                <a:latin typeface="Arial Narrow" panose="020B0606020202030204" pitchFamily="34" charset="0"/>
              </a:rPr>
              <a:t>Query (Q), Key (K), and Value (V). </a:t>
            </a:r>
          </a:p>
          <a:p>
            <a:pPr algn="just"/>
            <a:endParaRPr lang="en-US" sz="2000" dirty="0">
              <a:solidFill>
                <a:srgbClr val="00B0F0"/>
              </a:solidFill>
              <a:latin typeface="Arial Narrow" panose="020B0606020202030204" pitchFamily="34" charset="0"/>
            </a:endParaRPr>
          </a:p>
          <a:p>
            <a:pPr algn="just"/>
            <a:r>
              <a:rPr lang="en-US" sz="2000" dirty="0">
                <a:latin typeface="Arial Narrow" panose="020B0606020202030204" pitchFamily="34" charset="0"/>
              </a:rPr>
              <a:t>The </a:t>
            </a:r>
            <a:r>
              <a:rPr lang="en-US" sz="2000" dirty="0">
                <a:solidFill>
                  <a:srgbClr val="00B0F0"/>
                </a:solidFill>
                <a:latin typeface="Arial Narrow" panose="020B0606020202030204" pitchFamily="34" charset="0"/>
              </a:rPr>
              <a:t>Query</a:t>
            </a:r>
            <a:r>
              <a:rPr lang="en-US" sz="2000" dirty="0">
                <a:latin typeface="Arial Narrow" panose="020B0606020202030204" pitchFamily="34" charset="0"/>
              </a:rPr>
              <a:t> and </a:t>
            </a:r>
            <a:r>
              <a:rPr lang="en-US" sz="2000" dirty="0">
                <a:solidFill>
                  <a:srgbClr val="00B0F0"/>
                </a:solidFill>
                <a:latin typeface="Arial Narrow" panose="020B0606020202030204" pitchFamily="34" charset="0"/>
              </a:rPr>
              <a:t>Key</a:t>
            </a:r>
            <a:r>
              <a:rPr lang="en-US" sz="2000" dirty="0">
                <a:latin typeface="Arial Narrow" panose="020B0606020202030204" pitchFamily="34" charset="0"/>
              </a:rPr>
              <a:t> vectors are used to </a:t>
            </a:r>
            <a:r>
              <a:rPr lang="en-US" sz="2000" dirty="0">
                <a:solidFill>
                  <a:srgbClr val="7030A0"/>
                </a:solidFill>
                <a:latin typeface="Arial Narrow" panose="020B0606020202030204" pitchFamily="34" charset="0"/>
              </a:rPr>
              <a:t>compute alignment scores in the self-attention mechanism</a:t>
            </a:r>
            <a:r>
              <a:rPr lang="en-US" sz="2000" dirty="0">
                <a:latin typeface="Arial Narrow" panose="020B0606020202030204" pitchFamily="34" charset="0"/>
              </a:rPr>
              <a:t>, while the </a:t>
            </a:r>
            <a:r>
              <a:rPr lang="en-US" sz="2000" dirty="0">
                <a:solidFill>
                  <a:srgbClr val="00B0F0"/>
                </a:solidFill>
                <a:latin typeface="Arial Narrow" panose="020B0606020202030204" pitchFamily="34" charset="0"/>
              </a:rPr>
              <a:t>Value</a:t>
            </a:r>
            <a:r>
              <a:rPr lang="en-US" sz="2000" dirty="0">
                <a:solidFill>
                  <a:srgbClr val="7030A0"/>
                </a:solidFill>
                <a:latin typeface="Arial Narrow" panose="020B0606020202030204" pitchFamily="34" charset="0"/>
              </a:rPr>
              <a:t> vectors are used to construct the final weighted output</a:t>
            </a:r>
            <a:r>
              <a:rPr lang="en-US" sz="2000" dirty="0">
                <a:latin typeface="Arial Narrow" panose="020B0606020202030204" pitchFamily="34" charset="0"/>
              </a:rPr>
              <a:t>. </a:t>
            </a:r>
          </a:p>
          <a:p>
            <a:pPr algn="just"/>
            <a:endParaRPr lang="en-US" sz="2000" dirty="0">
              <a:solidFill>
                <a:srgbClr val="00B0F0"/>
              </a:solidFill>
              <a:latin typeface="Arial Narrow" panose="020B0606020202030204" pitchFamily="34" charset="0"/>
            </a:endParaRPr>
          </a:p>
        </p:txBody>
      </p:sp>
    </p:spTree>
    <p:extLst>
      <p:ext uri="{BB962C8B-B14F-4D97-AF65-F5344CB8AC3E}">
        <p14:creationId xmlns:p14="http://schemas.microsoft.com/office/powerpoint/2010/main" val="17026540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6" name="Group 125"/>
          <p:cNvGrpSpPr/>
          <p:nvPr/>
        </p:nvGrpSpPr>
        <p:grpSpPr>
          <a:xfrm>
            <a:off x="8353760" y="1766299"/>
            <a:ext cx="1571821" cy="1198422"/>
            <a:chOff x="3907525" y="3282431"/>
            <a:chExt cx="1399431" cy="991913"/>
          </a:xfrm>
          <a:solidFill>
            <a:srgbClr val="FFC000">
              <a:alpha val="36000"/>
            </a:srgbClr>
          </a:solidFill>
        </p:grpSpPr>
        <p:sp>
          <p:nvSpPr>
            <p:cNvPr id="130" name="Rectangle 129"/>
            <p:cNvSpPr/>
            <p:nvPr/>
          </p:nvSpPr>
          <p:spPr>
            <a:xfrm>
              <a:off x="3907525" y="3282431"/>
              <a:ext cx="466794" cy="334605"/>
            </a:xfrm>
            <a:prstGeom prst="rect">
              <a:avLst/>
            </a:prstGeom>
            <a:grpFill/>
            <a:ln>
              <a:solidFill>
                <a:schemeClr val="accent1">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Z</a:t>
              </a:r>
              <a:r>
                <a:rPr lang="en-IN" sz="1400" baseline="-25000" dirty="0">
                  <a:latin typeface="Arial Narrow" panose="020B0606020202030204" pitchFamily="34" charset="0"/>
                  <a:cs typeface="Times New Roman" panose="02020603050405020304" pitchFamily="18" charset="0"/>
                </a:rPr>
                <a:t>0,0</a:t>
              </a:r>
            </a:p>
          </p:txBody>
        </p:sp>
        <p:sp>
          <p:nvSpPr>
            <p:cNvPr id="140" name="Rectangle 139"/>
            <p:cNvSpPr/>
            <p:nvPr/>
          </p:nvSpPr>
          <p:spPr>
            <a:xfrm>
              <a:off x="4373368" y="3282433"/>
              <a:ext cx="466794" cy="334604"/>
            </a:xfrm>
            <a:prstGeom prst="rect">
              <a:avLst/>
            </a:prstGeom>
            <a:grpFill/>
            <a:ln>
              <a:solidFill>
                <a:schemeClr val="accent1">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Z</a:t>
              </a:r>
              <a:r>
                <a:rPr lang="en-IN" sz="1400" baseline="-25000" dirty="0">
                  <a:latin typeface="Arial Narrow" panose="020B0606020202030204" pitchFamily="34" charset="0"/>
                  <a:cs typeface="Times New Roman" panose="02020603050405020304" pitchFamily="18" charset="0"/>
                </a:rPr>
                <a:t>0,1</a:t>
              </a:r>
            </a:p>
          </p:txBody>
        </p:sp>
        <p:sp>
          <p:nvSpPr>
            <p:cNvPr id="154" name="Rectangle 153"/>
            <p:cNvSpPr/>
            <p:nvPr/>
          </p:nvSpPr>
          <p:spPr>
            <a:xfrm>
              <a:off x="4840162" y="3282432"/>
              <a:ext cx="466794" cy="334604"/>
            </a:xfrm>
            <a:prstGeom prst="rect">
              <a:avLst/>
            </a:prstGeom>
            <a:grpFill/>
            <a:ln>
              <a:solidFill>
                <a:schemeClr val="accent1">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Z</a:t>
              </a:r>
              <a:r>
                <a:rPr lang="en-IN" sz="1400" baseline="-25000" dirty="0">
                  <a:latin typeface="Arial Narrow" panose="020B0606020202030204" pitchFamily="34" charset="0"/>
                  <a:cs typeface="Times New Roman" panose="02020603050405020304" pitchFamily="18" charset="0"/>
                </a:rPr>
                <a:t>0,2</a:t>
              </a:r>
            </a:p>
          </p:txBody>
        </p:sp>
        <p:sp>
          <p:nvSpPr>
            <p:cNvPr id="157" name="Rectangle 156"/>
            <p:cNvSpPr/>
            <p:nvPr/>
          </p:nvSpPr>
          <p:spPr>
            <a:xfrm>
              <a:off x="3907526" y="3617038"/>
              <a:ext cx="466794" cy="334604"/>
            </a:xfrm>
            <a:prstGeom prst="rect">
              <a:avLst/>
            </a:prstGeom>
            <a:grpFill/>
            <a:ln>
              <a:solidFill>
                <a:schemeClr val="accent1">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Z</a:t>
              </a:r>
              <a:r>
                <a:rPr lang="en-IN" sz="1400" baseline="-25000" dirty="0">
                  <a:latin typeface="Arial Narrow" panose="020B0606020202030204" pitchFamily="34" charset="0"/>
                  <a:cs typeface="Times New Roman" panose="02020603050405020304" pitchFamily="18" charset="0"/>
                </a:rPr>
                <a:t>1,0</a:t>
              </a:r>
            </a:p>
          </p:txBody>
        </p:sp>
        <p:sp>
          <p:nvSpPr>
            <p:cNvPr id="158" name="Rectangle 157"/>
            <p:cNvSpPr/>
            <p:nvPr/>
          </p:nvSpPr>
          <p:spPr>
            <a:xfrm>
              <a:off x="4373368" y="3617038"/>
              <a:ext cx="466794" cy="334604"/>
            </a:xfrm>
            <a:prstGeom prst="rect">
              <a:avLst/>
            </a:prstGeom>
            <a:grpFill/>
            <a:ln>
              <a:solidFill>
                <a:schemeClr val="accent1">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Z</a:t>
              </a:r>
              <a:r>
                <a:rPr lang="en-IN" sz="1400" baseline="-25000" dirty="0">
                  <a:latin typeface="Arial Narrow" panose="020B0606020202030204" pitchFamily="34" charset="0"/>
                  <a:cs typeface="Times New Roman" panose="02020603050405020304" pitchFamily="18" charset="0"/>
                </a:rPr>
                <a:t>1,1</a:t>
              </a:r>
            </a:p>
          </p:txBody>
        </p:sp>
        <p:sp>
          <p:nvSpPr>
            <p:cNvPr id="159" name="Rectangle 158"/>
            <p:cNvSpPr/>
            <p:nvPr/>
          </p:nvSpPr>
          <p:spPr>
            <a:xfrm>
              <a:off x="4840162" y="3617037"/>
              <a:ext cx="466794" cy="334604"/>
            </a:xfrm>
            <a:prstGeom prst="rect">
              <a:avLst/>
            </a:prstGeom>
            <a:grpFill/>
            <a:ln>
              <a:solidFill>
                <a:schemeClr val="accent1">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Z</a:t>
              </a:r>
              <a:r>
                <a:rPr lang="en-IN" sz="1400" baseline="-25000" dirty="0">
                  <a:latin typeface="Arial Narrow" panose="020B0606020202030204" pitchFamily="34" charset="0"/>
                  <a:cs typeface="Times New Roman" panose="02020603050405020304" pitchFamily="18" charset="0"/>
                </a:rPr>
                <a:t>1,2</a:t>
              </a:r>
            </a:p>
          </p:txBody>
        </p:sp>
        <p:sp>
          <p:nvSpPr>
            <p:cNvPr id="160" name="Rectangle 159"/>
            <p:cNvSpPr/>
            <p:nvPr/>
          </p:nvSpPr>
          <p:spPr>
            <a:xfrm>
              <a:off x="3907525" y="3951644"/>
              <a:ext cx="466794" cy="322700"/>
            </a:xfrm>
            <a:prstGeom prst="rect">
              <a:avLst/>
            </a:prstGeom>
            <a:grpFill/>
            <a:ln>
              <a:solidFill>
                <a:schemeClr val="accent1">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Z</a:t>
              </a:r>
              <a:r>
                <a:rPr lang="en-IN" sz="1400" baseline="-25000" dirty="0">
                  <a:latin typeface="Arial Narrow" panose="020B0606020202030204" pitchFamily="34" charset="0"/>
                  <a:cs typeface="Times New Roman" panose="02020603050405020304" pitchFamily="18" charset="0"/>
                </a:rPr>
                <a:t>2,0</a:t>
              </a:r>
            </a:p>
          </p:txBody>
        </p:sp>
        <p:sp>
          <p:nvSpPr>
            <p:cNvPr id="161" name="Rectangle 160"/>
            <p:cNvSpPr/>
            <p:nvPr/>
          </p:nvSpPr>
          <p:spPr>
            <a:xfrm>
              <a:off x="4373367" y="3951644"/>
              <a:ext cx="466794" cy="322700"/>
            </a:xfrm>
            <a:prstGeom prst="rect">
              <a:avLst/>
            </a:prstGeom>
            <a:grpFill/>
            <a:ln>
              <a:solidFill>
                <a:schemeClr val="accent1">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Z</a:t>
              </a:r>
              <a:r>
                <a:rPr lang="en-IN" sz="1400" baseline="-25000" dirty="0">
                  <a:latin typeface="Arial Narrow" panose="020B0606020202030204" pitchFamily="34" charset="0"/>
                  <a:cs typeface="Times New Roman" panose="02020603050405020304" pitchFamily="18" charset="0"/>
                </a:rPr>
                <a:t>2,1</a:t>
              </a:r>
            </a:p>
          </p:txBody>
        </p:sp>
        <p:sp>
          <p:nvSpPr>
            <p:cNvPr id="170" name="Rectangle 169"/>
            <p:cNvSpPr/>
            <p:nvPr/>
          </p:nvSpPr>
          <p:spPr>
            <a:xfrm>
              <a:off x="4840161" y="3951643"/>
              <a:ext cx="466794" cy="322700"/>
            </a:xfrm>
            <a:prstGeom prst="rect">
              <a:avLst/>
            </a:prstGeom>
            <a:grpFill/>
            <a:ln>
              <a:solidFill>
                <a:schemeClr val="accent1">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Z</a:t>
              </a:r>
              <a:r>
                <a:rPr lang="en-IN" sz="1400" baseline="-25000" dirty="0">
                  <a:latin typeface="Arial Narrow" panose="020B0606020202030204" pitchFamily="34" charset="0"/>
                  <a:cs typeface="Times New Roman" panose="02020603050405020304" pitchFamily="18" charset="0"/>
                </a:rPr>
                <a:t>2,2</a:t>
              </a:r>
            </a:p>
          </p:txBody>
        </p:sp>
      </p:grpSp>
      <p:sp>
        <p:nvSpPr>
          <p:cNvPr id="173" name="Oval 172"/>
          <p:cNvSpPr/>
          <p:nvPr/>
        </p:nvSpPr>
        <p:spPr>
          <a:xfrm>
            <a:off x="7016648" y="3974559"/>
            <a:ext cx="468699" cy="452903"/>
          </a:xfrm>
          <a:prstGeom prst="ellipse">
            <a:avLst/>
          </a:prstGeom>
          <a:solidFill>
            <a:schemeClr val="accent2">
              <a:lumMod val="60000"/>
              <a:lumOff val="40000"/>
            </a:schemeClr>
          </a:solidFill>
          <a:ln w="1587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dirty="0">
              <a:latin typeface="Arial Narrow" panose="020B0606020202030204" pitchFamily="34" charset="0"/>
              <a:cs typeface="Times New Roman" panose="02020603050405020304" pitchFamily="18" charset="0"/>
            </a:endParaRPr>
          </a:p>
        </p:txBody>
      </p:sp>
      <p:sp>
        <p:nvSpPr>
          <p:cNvPr id="177" name="Rectangle 176"/>
          <p:cNvSpPr/>
          <p:nvPr/>
        </p:nvSpPr>
        <p:spPr>
          <a:xfrm>
            <a:off x="7082679" y="4000955"/>
            <a:ext cx="390353" cy="400110"/>
          </a:xfrm>
          <a:prstGeom prst="rect">
            <a:avLst/>
          </a:prstGeom>
        </p:spPr>
        <p:txBody>
          <a:bodyPr wrap="square">
            <a:spAutoFit/>
          </a:bodyPr>
          <a:lstStyle/>
          <a:p>
            <a:r>
              <a:rPr lang="en-IN" sz="2000" dirty="0">
                <a:latin typeface="Arial Narrow" panose="020B0606020202030204" pitchFamily="34" charset="0"/>
                <a:cs typeface="Times New Roman" panose="02020603050405020304" pitchFamily="18" charset="0"/>
              </a:rPr>
              <a:t>h</a:t>
            </a:r>
          </a:p>
        </p:txBody>
      </p:sp>
      <p:sp>
        <p:nvSpPr>
          <p:cNvPr id="178" name="TextBox 177"/>
          <p:cNvSpPr txBox="1"/>
          <p:nvPr/>
        </p:nvSpPr>
        <p:spPr>
          <a:xfrm>
            <a:off x="8533907" y="1368391"/>
            <a:ext cx="1051891" cy="400110"/>
          </a:xfrm>
          <a:prstGeom prst="rect">
            <a:avLst/>
          </a:prstGeom>
          <a:noFill/>
        </p:spPr>
        <p:txBody>
          <a:bodyPr wrap="none" rtlCol="0">
            <a:spAutoFit/>
          </a:bodyPr>
          <a:lstStyle/>
          <a:p>
            <a:pPr algn="ctr"/>
            <a:r>
              <a:rPr lang="en-IN" sz="2000" dirty="0">
                <a:latin typeface="Arial Narrow" panose="020B0606020202030204" pitchFamily="34" charset="0"/>
                <a:cs typeface="Times New Roman" panose="02020603050405020304" pitchFamily="18" charset="0"/>
              </a:rPr>
              <a:t>Features</a:t>
            </a:r>
          </a:p>
        </p:txBody>
      </p:sp>
      <p:sp>
        <p:nvSpPr>
          <p:cNvPr id="6" name="TextBox 5"/>
          <p:cNvSpPr txBox="1"/>
          <p:nvPr/>
        </p:nvSpPr>
        <p:spPr>
          <a:xfrm>
            <a:off x="606812" y="1568446"/>
            <a:ext cx="4413388" cy="1015663"/>
          </a:xfrm>
          <a:prstGeom prst="rect">
            <a:avLst/>
          </a:prstGeom>
          <a:noFill/>
        </p:spPr>
        <p:txBody>
          <a:bodyPr wrap="none" rtlCol="0">
            <a:spAutoFit/>
          </a:bodyPr>
          <a:lstStyle/>
          <a:p>
            <a:pPr marL="342900" indent="-342900">
              <a:buFont typeface="Arial" panose="020B0604020202020204" pitchFamily="34" charset="0"/>
              <a:buChar char="•"/>
            </a:pPr>
            <a:r>
              <a:rPr lang="en-IN" sz="2000" dirty="0">
                <a:solidFill>
                  <a:srgbClr val="7030A0"/>
                </a:solidFill>
                <a:latin typeface="Arial Narrow" panose="020B0606020202030204" pitchFamily="34" charset="0"/>
                <a:cs typeface="Times New Roman" panose="02020603050405020304" pitchFamily="18" charset="0"/>
              </a:rPr>
              <a:t>Inputs :</a:t>
            </a:r>
            <a:r>
              <a:rPr lang="en-IN" sz="2000" dirty="0">
                <a:solidFill>
                  <a:srgbClr val="00B0F0"/>
                </a:solidFill>
                <a:latin typeface="Arial Narrow" panose="020B0606020202030204" pitchFamily="34" charset="0"/>
                <a:cs typeface="Times New Roman" panose="02020603050405020304" pitchFamily="18" charset="0"/>
              </a:rPr>
              <a:t> </a:t>
            </a:r>
          </a:p>
          <a:p>
            <a:pPr marL="800100" lvl="1" indent="-342900">
              <a:buFont typeface="Arial" panose="020B0604020202020204" pitchFamily="34" charset="0"/>
              <a:buChar char="•"/>
            </a:pPr>
            <a:r>
              <a:rPr lang="en-IN" sz="2000" dirty="0">
                <a:latin typeface="Arial Narrow" panose="020B0606020202030204" pitchFamily="34" charset="0"/>
                <a:cs typeface="Times New Roman" panose="02020603050405020304" pitchFamily="18" charset="0"/>
              </a:rPr>
              <a:t>Features : </a:t>
            </a:r>
            <a:r>
              <a:rPr lang="en-IN" sz="2000" dirty="0">
                <a:solidFill>
                  <a:srgbClr val="7030A0"/>
                </a:solidFill>
                <a:latin typeface="Arial Narrow" panose="020B0606020202030204" pitchFamily="34" charset="0"/>
                <a:cs typeface="Times New Roman" panose="02020603050405020304" pitchFamily="18" charset="0"/>
              </a:rPr>
              <a:t>z</a:t>
            </a:r>
            <a:r>
              <a:rPr lang="en-IN" sz="2000" dirty="0">
                <a:latin typeface="Arial Narrow" panose="020B0606020202030204" pitchFamily="34" charset="0"/>
                <a:cs typeface="Times New Roman" panose="02020603050405020304" pitchFamily="18" charset="0"/>
              </a:rPr>
              <a:t> (Dimension : H x W x D)</a:t>
            </a:r>
          </a:p>
          <a:p>
            <a:pPr marL="800100" lvl="1" indent="-342900">
              <a:buFont typeface="Arial" panose="020B0604020202020204" pitchFamily="34" charset="0"/>
              <a:buChar char="•"/>
            </a:pPr>
            <a:r>
              <a:rPr lang="en-IN" sz="2000" dirty="0">
                <a:latin typeface="Arial Narrow" panose="020B0606020202030204" pitchFamily="34" charset="0"/>
                <a:cs typeface="Times New Roman" panose="02020603050405020304" pitchFamily="18" charset="0"/>
              </a:rPr>
              <a:t>Query : </a:t>
            </a:r>
            <a:r>
              <a:rPr lang="en-IN" sz="2000" dirty="0">
                <a:solidFill>
                  <a:srgbClr val="7030A0"/>
                </a:solidFill>
                <a:latin typeface="Arial Narrow" panose="020B0606020202030204" pitchFamily="34" charset="0"/>
                <a:cs typeface="Times New Roman" panose="02020603050405020304" pitchFamily="18" charset="0"/>
              </a:rPr>
              <a:t>h</a:t>
            </a:r>
            <a:r>
              <a:rPr lang="en-IN" sz="2000" dirty="0">
                <a:latin typeface="Arial Narrow" panose="020B0606020202030204" pitchFamily="34" charset="0"/>
                <a:cs typeface="Times New Roman" panose="02020603050405020304" pitchFamily="18" charset="0"/>
              </a:rPr>
              <a:t> (Dimension :D)</a:t>
            </a:r>
          </a:p>
        </p:txBody>
      </p:sp>
      <p:grpSp>
        <p:nvGrpSpPr>
          <p:cNvPr id="19" name="Group 18"/>
          <p:cNvGrpSpPr/>
          <p:nvPr/>
        </p:nvGrpSpPr>
        <p:grpSpPr>
          <a:xfrm>
            <a:off x="8353760" y="3584417"/>
            <a:ext cx="1571819" cy="1198421"/>
            <a:chOff x="3907525" y="3282431"/>
            <a:chExt cx="1399431" cy="991913"/>
          </a:xfrm>
          <a:solidFill>
            <a:schemeClr val="accent1">
              <a:lumMod val="60000"/>
              <a:lumOff val="40000"/>
            </a:schemeClr>
          </a:solidFill>
        </p:grpSpPr>
        <p:sp>
          <p:nvSpPr>
            <p:cNvPr id="20" name="Rectangle 19"/>
            <p:cNvSpPr/>
            <p:nvPr/>
          </p:nvSpPr>
          <p:spPr>
            <a:xfrm>
              <a:off x="3907525" y="3282431"/>
              <a:ext cx="466794" cy="334605"/>
            </a:xfrm>
            <a:prstGeom prst="rect">
              <a:avLst/>
            </a:prstGeom>
            <a:grpFill/>
            <a:ln>
              <a:solidFill>
                <a:schemeClr val="accent2">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e</a:t>
              </a:r>
              <a:r>
                <a:rPr lang="en-IN" sz="1400" baseline="-25000" dirty="0">
                  <a:latin typeface="Arial Narrow" panose="020B0606020202030204" pitchFamily="34" charset="0"/>
                  <a:cs typeface="Times New Roman" panose="02020603050405020304" pitchFamily="18" charset="0"/>
                </a:rPr>
                <a:t>0,0</a:t>
              </a:r>
            </a:p>
          </p:txBody>
        </p:sp>
        <p:sp>
          <p:nvSpPr>
            <p:cNvPr id="21" name="Rectangle 20"/>
            <p:cNvSpPr/>
            <p:nvPr/>
          </p:nvSpPr>
          <p:spPr>
            <a:xfrm>
              <a:off x="4373368" y="3282433"/>
              <a:ext cx="466794" cy="334604"/>
            </a:xfrm>
            <a:prstGeom prst="rect">
              <a:avLst/>
            </a:prstGeom>
            <a:grpFill/>
            <a:ln>
              <a:solidFill>
                <a:schemeClr val="accent2">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e</a:t>
              </a:r>
              <a:r>
                <a:rPr lang="en-IN" sz="1400" baseline="-25000" dirty="0">
                  <a:latin typeface="Arial Narrow" panose="020B0606020202030204" pitchFamily="34" charset="0"/>
                  <a:cs typeface="Times New Roman" panose="02020603050405020304" pitchFamily="18" charset="0"/>
                </a:rPr>
                <a:t>0,1</a:t>
              </a:r>
            </a:p>
          </p:txBody>
        </p:sp>
        <p:sp>
          <p:nvSpPr>
            <p:cNvPr id="22" name="Rectangle 21"/>
            <p:cNvSpPr/>
            <p:nvPr/>
          </p:nvSpPr>
          <p:spPr>
            <a:xfrm>
              <a:off x="4840162" y="3282432"/>
              <a:ext cx="466794" cy="334604"/>
            </a:xfrm>
            <a:prstGeom prst="rect">
              <a:avLst/>
            </a:prstGeom>
            <a:grpFill/>
            <a:ln>
              <a:solidFill>
                <a:schemeClr val="accent2">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e</a:t>
              </a:r>
              <a:r>
                <a:rPr lang="en-IN" sz="1400" baseline="-25000" dirty="0">
                  <a:latin typeface="Arial Narrow" panose="020B0606020202030204" pitchFamily="34" charset="0"/>
                  <a:cs typeface="Times New Roman" panose="02020603050405020304" pitchFamily="18" charset="0"/>
                </a:rPr>
                <a:t>0,2</a:t>
              </a:r>
            </a:p>
          </p:txBody>
        </p:sp>
        <p:sp>
          <p:nvSpPr>
            <p:cNvPr id="23" name="Rectangle 22"/>
            <p:cNvSpPr/>
            <p:nvPr/>
          </p:nvSpPr>
          <p:spPr>
            <a:xfrm>
              <a:off x="3907526" y="3617038"/>
              <a:ext cx="466794" cy="334604"/>
            </a:xfrm>
            <a:prstGeom prst="rect">
              <a:avLst/>
            </a:prstGeom>
            <a:grpFill/>
            <a:ln>
              <a:solidFill>
                <a:schemeClr val="accent2">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e</a:t>
              </a:r>
              <a:r>
                <a:rPr lang="en-IN" sz="1400" baseline="-25000" dirty="0">
                  <a:latin typeface="Arial Narrow" panose="020B0606020202030204" pitchFamily="34" charset="0"/>
                  <a:cs typeface="Times New Roman" panose="02020603050405020304" pitchFamily="18" charset="0"/>
                </a:rPr>
                <a:t>1,0</a:t>
              </a:r>
            </a:p>
          </p:txBody>
        </p:sp>
        <p:sp>
          <p:nvSpPr>
            <p:cNvPr id="24" name="Rectangle 23"/>
            <p:cNvSpPr/>
            <p:nvPr/>
          </p:nvSpPr>
          <p:spPr>
            <a:xfrm>
              <a:off x="4373368" y="3617038"/>
              <a:ext cx="466794" cy="334604"/>
            </a:xfrm>
            <a:prstGeom prst="rect">
              <a:avLst/>
            </a:prstGeom>
            <a:grpFill/>
            <a:ln>
              <a:solidFill>
                <a:schemeClr val="accent2">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e</a:t>
              </a:r>
              <a:r>
                <a:rPr lang="en-IN" sz="1400" baseline="-25000" dirty="0">
                  <a:latin typeface="Arial Narrow" panose="020B0606020202030204" pitchFamily="34" charset="0"/>
                  <a:cs typeface="Times New Roman" panose="02020603050405020304" pitchFamily="18" charset="0"/>
                </a:rPr>
                <a:t>1,1</a:t>
              </a:r>
            </a:p>
          </p:txBody>
        </p:sp>
        <p:sp>
          <p:nvSpPr>
            <p:cNvPr id="25" name="Rectangle 24"/>
            <p:cNvSpPr/>
            <p:nvPr/>
          </p:nvSpPr>
          <p:spPr>
            <a:xfrm>
              <a:off x="4840162" y="3617037"/>
              <a:ext cx="466794" cy="334604"/>
            </a:xfrm>
            <a:prstGeom prst="rect">
              <a:avLst/>
            </a:prstGeom>
            <a:grpFill/>
            <a:ln>
              <a:solidFill>
                <a:schemeClr val="accent2">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e</a:t>
              </a:r>
              <a:r>
                <a:rPr lang="en-IN" sz="1400" baseline="-25000" dirty="0">
                  <a:latin typeface="Arial Narrow" panose="020B0606020202030204" pitchFamily="34" charset="0"/>
                  <a:cs typeface="Times New Roman" panose="02020603050405020304" pitchFamily="18" charset="0"/>
                </a:rPr>
                <a:t>1,2</a:t>
              </a:r>
            </a:p>
          </p:txBody>
        </p:sp>
        <p:sp>
          <p:nvSpPr>
            <p:cNvPr id="26" name="Rectangle 25"/>
            <p:cNvSpPr/>
            <p:nvPr/>
          </p:nvSpPr>
          <p:spPr>
            <a:xfrm>
              <a:off x="3907525" y="3951644"/>
              <a:ext cx="466794" cy="322700"/>
            </a:xfrm>
            <a:prstGeom prst="rect">
              <a:avLst/>
            </a:prstGeom>
            <a:grpFill/>
            <a:ln>
              <a:solidFill>
                <a:schemeClr val="accent2">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e</a:t>
              </a:r>
              <a:r>
                <a:rPr lang="en-IN" sz="1400" baseline="-25000" dirty="0">
                  <a:latin typeface="Arial Narrow" panose="020B0606020202030204" pitchFamily="34" charset="0"/>
                  <a:cs typeface="Times New Roman" panose="02020603050405020304" pitchFamily="18" charset="0"/>
                </a:rPr>
                <a:t>2,0</a:t>
              </a:r>
            </a:p>
          </p:txBody>
        </p:sp>
        <p:sp>
          <p:nvSpPr>
            <p:cNvPr id="27" name="Rectangle 26"/>
            <p:cNvSpPr/>
            <p:nvPr/>
          </p:nvSpPr>
          <p:spPr>
            <a:xfrm>
              <a:off x="4373367" y="3951644"/>
              <a:ext cx="466794" cy="322700"/>
            </a:xfrm>
            <a:prstGeom prst="rect">
              <a:avLst/>
            </a:prstGeom>
            <a:grpFill/>
            <a:ln>
              <a:solidFill>
                <a:schemeClr val="accent2">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e</a:t>
              </a:r>
              <a:r>
                <a:rPr lang="en-IN" sz="1400" baseline="-25000" dirty="0">
                  <a:latin typeface="Arial Narrow" panose="020B0606020202030204" pitchFamily="34" charset="0"/>
                  <a:cs typeface="Times New Roman" panose="02020603050405020304" pitchFamily="18" charset="0"/>
                </a:rPr>
                <a:t>2,1</a:t>
              </a:r>
            </a:p>
          </p:txBody>
        </p:sp>
        <p:sp>
          <p:nvSpPr>
            <p:cNvPr id="28" name="Rectangle 27"/>
            <p:cNvSpPr/>
            <p:nvPr/>
          </p:nvSpPr>
          <p:spPr>
            <a:xfrm>
              <a:off x="4840161" y="3951643"/>
              <a:ext cx="466794" cy="322700"/>
            </a:xfrm>
            <a:prstGeom prst="rect">
              <a:avLst/>
            </a:prstGeom>
            <a:grpFill/>
            <a:ln>
              <a:solidFill>
                <a:schemeClr val="accent2">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e</a:t>
              </a:r>
              <a:r>
                <a:rPr lang="en-IN" sz="1400" baseline="-25000" dirty="0">
                  <a:latin typeface="Arial Narrow" panose="020B0606020202030204" pitchFamily="34" charset="0"/>
                  <a:cs typeface="Times New Roman" panose="02020603050405020304" pitchFamily="18" charset="0"/>
                </a:rPr>
                <a:t>2,2</a:t>
              </a:r>
            </a:p>
          </p:txBody>
        </p:sp>
      </p:grpSp>
      <p:cxnSp>
        <p:nvCxnSpPr>
          <p:cNvPr id="5" name="Straight Arrow Connector 4"/>
          <p:cNvCxnSpPr>
            <a:stCxn id="160" idx="2"/>
            <a:endCxn id="20" idx="0"/>
          </p:cNvCxnSpPr>
          <p:nvPr/>
        </p:nvCxnSpPr>
        <p:spPr>
          <a:xfrm>
            <a:off x="8615908" y="2964721"/>
            <a:ext cx="0" cy="619696"/>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a:stCxn id="161" idx="2"/>
            <a:endCxn id="21" idx="0"/>
          </p:cNvCxnSpPr>
          <p:nvPr/>
        </p:nvCxnSpPr>
        <p:spPr>
          <a:xfrm>
            <a:off x="9139135" y="2964721"/>
            <a:ext cx="1" cy="619698"/>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170" idx="2"/>
            <a:endCxn id="22" idx="0"/>
          </p:cNvCxnSpPr>
          <p:nvPr/>
        </p:nvCxnSpPr>
        <p:spPr>
          <a:xfrm>
            <a:off x="9663431" y="2964720"/>
            <a:ext cx="0" cy="619698"/>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stCxn id="173" idx="6"/>
            <a:endCxn id="23" idx="1"/>
          </p:cNvCxnSpPr>
          <p:nvPr/>
        </p:nvCxnSpPr>
        <p:spPr>
          <a:xfrm flipV="1">
            <a:off x="7485347" y="4190819"/>
            <a:ext cx="868414" cy="10192"/>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8604583" y="4783955"/>
            <a:ext cx="1119216" cy="400110"/>
          </a:xfrm>
          <a:prstGeom prst="rect">
            <a:avLst/>
          </a:prstGeom>
        </p:spPr>
        <p:txBody>
          <a:bodyPr wrap="none">
            <a:spAutoFit/>
          </a:bodyPr>
          <a:lstStyle/>
          <a:p>
            <a:pPr algn="ctr"/>
            <a:r>
              <a:rPr lang="en-IN" sz="2000" dirty="0">
                <a:latin typeface="Arial Narrow" panose="020B0606020202030204" pitchFamily="34" charset="0"/>
                <a:cs typeface="Times New Roman" panose="02020603050405020304" pitchFamily="18" charset="0"/>
              </a:rPr>
              <a:t>Alignment</a:t>
            </a:r>
          </a:p>
        </p:txBody>
      </p:sp>
      <p:sp>
        <p:nvSpPr>
          <p:cNvPr id="29" name="TextBox 28"/>
          <p:cNvSpPr txBox="1"/>
          <p:nvPr/>
        </p:nvSpPr>
        <p:spPr>
          <a:xfrm>
            <a:off x="8353760" y="5489609"/>
            <a:ext cx="2597186" cy="707886"/>
          </a:xfrm>
          <a:prstGeom prst="rect">
            <a:avLst/>
          </a:prstGeom>
          <a:noFill/>
        </p:spPr>
        <p:txBody>
          <a:bodyPr wrap="none" rtlCol="0">
            <a:spAutoFit/>
          </a:bodyPr>
          <a:lstStyle/>
          <a:p>
            <a:r>
              <a:rPr lang="en-IN" sz="2000" dirty="0">
                <a:solidFill>
                  <a:srgbClr val="00B0F0"/>
                </a:solidFill>
                <a:latin typeface="Arial Narrow" panose="020B0606020202030204" pitchFamily="34" charset="0"/>
                <a:cs typeface="Times New Roman" panose="02020603050405020304" pitchFamily="18" charset="0"/>
              </a:rPr>
              <a:t>Operations : </a:t>
            </a:r>
          </a:p>
          <a:p>
            <a:r>
              <a:rPr lang="en-IN" sz="2000" dirty="0">
                <a:latin typeface="Arial Narrow" panose="020B0606020202030204" pitchFamily="34" charset="0"/>
                <a:cs typeface="Times New Roman" panose="02020603050405020304" pitchFamily="18" charset="0"/>
              </a:rPr>
              <a:t>Alignment :  e</a:t>
            </a:r>
            <a:r>
              <a:rPr lang="en-IN" sz="2000" baseline="-25000" dirty="0">
                <a:latin typeface="Arial Narrow" panose="020B0606020202030204" pitchFamily="34" charset="0"/>
                <a:cs typeface="Times New Roman" panose="02020603050405020304" pitchFamily="18" charset="0"/>
              </a:rPr>
              <a:t>i,j</a:t>
            </a:r>
            <a:r>
              <a:rPr lang="en-IN" sz="2000" dirty="0">
                <a:latin typeface="Arial Narrow" panose="020B0606020202030204" pitchFamily="34" charset="0"/>
                <a:cs typeface="Times New Roman" panose="02020603050405020304" pitchFamily="18" charset="0"/>
              </a:rPr>
              <a:t> = f</a:t>
            </a:r>
            <a:r>
              <a:rPr lang="en-IN" sz="2000" baseline="-25000" dirty="0">
                <a:latin typeface="Arial Narrow" panose="020B0606020202030204" pitchFamily="34" charset="0"/>
                <a:cs typeface="Times New Roman" panose="02020603050405020304" pitchFamily="18" charset="0"/>
              </a:rPr>
              <a:t>all</a:t>
            </a:r>
            <a:r>
              <a:rPr lang="en-IN" sz="2000" dirty="0">
                <a:latin typeface="Arial Narrow" panose="020B0606020202030204" pitchFamily="34" charset="0"/>
                <a:cs typeface="Times New Roman" panose="02020603050405020304" pitchFamily="18" charset="0"/>
              </a:rPr>
              <a:t>(h, </a:t>
            </a:r>
            <a:r>
              <a:rPr lang="en-IN" sz="2000" dirty="0" err="1">
                <a:latin typeface="Arial Narrow" panose="020B0606020202030204" pitchFamily="34" charset="0"/>
                <a:cs typeface="Times New Roman" panose="02020603050405020304" pitchFamily="18" charset="0"/>
              </a:rPr>
              <a:t>z</a:t>
            </a:r>
            <a:r>
              <a:rPr lang="en-IN" sz="2000" baseline="-25000" dirty="0" err="1">
                <a:latin typeface="Arial Narrow" panose="020B0606020202030204" pitchFamily="34" charset="0"/>
                <a:cs typeface="Times New Roman" panose="02020603050405020304" pitchFamily="18" charset="0"/>
              </a:rPr>
              <a:t>i,j</a:t>
            </a:r>
            <a:r>
              <a:rPr lang="en-IN" sz="2000" dirty="0">
                <a:latin typeface="Arial Narrow" panose="020B0606020202030204" pitchFamily="34" charset="0"/>
                <a:cs typeface="Times New Roman" panose="02020603050405020304" pitchFamily="18" charset="0"/>
              </a:rPr>
              <a:t>)</a:t>
            </a:r>
          </a:p>
        </p:txBody>
      </p:sp>
      <p:sp>
        <p:nvSpPr>
          <p:cNvPr id="2" name="Rectangle 1">
            <a:extLst>
              <a:ext uri="{FF2B5EF4-FFF2-40B4-BE49-F238E27FC236}">
                <a16:creationId xmlns:a16="http://schemas.microsoft.com/office/drawing/2014/main" id="{F221F486-2C5D-4E7B-90CB-F32C3E128461}"/>
              </a:ext>
            </a:extLst>
          </p:cNvPr>
          <p:cNvSpPr/>
          <p:nvPr/>
        </p:nvSpPr>
        <p:spPr>
          <a:xfrm>
            <a:off x="606812" y="2780452"/>
            <a:ext cx="6096000" cy="1631216"/>
          </a:xfrm>
          <a:prstGeom prst="rect">
            <a:avLst/>
          </a:prstGeom>
        </p:spPr>
        <p:txBody>
          <a:bodyPr>
            <a:spAutoFit/>
          </a:bodyPr>
          <a:lstStyle/>
          <a:p>
            <a:pPr marL="342900" indent="-342900">
              <a:buFont typeface="Arial" panose="020B0604020202020204" pitchFamily="34" charset="0"/>
              <a:buChar char="•"/>
            </a:pPr>
            <a:r>
              <a:rPr lang="en-US" sz="2000" dirty="0">
                <a:latin typeface="Arial Narrow" panose="020B0606020202030204" pitchFamily="34" charset="0"/>
              </a:rPr>
              <a:t>In an attention mechanism, the </a:t>
            </a:r>
            <a:r>
              <a:rPr lang="en-US" sz="2000" dirty="0">
                <a:solidFill>
                  <a:srgbClr val="7030A0"/>
                </a:solidFill>
                <a:latin typeface="Arial Narrow" panose="020B0606020202030204" pitchFamily="34" charset="0"/>
              </a:rPr>
              <a:t>alignment score </a:t>
            </a:r>
            <a:r>
              <a:rPr lang="en-US" sz="2000" dirty="0">
                <a:latin typeface="Arial Narrow" panose="020B0606020202030204" pitchFamily="34" charset="0"/>
              </a:rPr>
              <a:t>measures </a:t>
            </a:r>
            <a:r>
              <a:rPr lang="en-US" sz="2000" dirty="0">
                <a:solidFill>
                  <a:srgbClr val="7030A0"/>
                </a:solidFill>
                <a:latin typeface="Arial Narrow" panose="020B0606020202030204" pitchFamily="34" charset="0"/>
              </a:rPr>
              <a:t>how well a query matches a key</a:t>
            </a:r>
            <a:r>
              <a:rPr lang="en-US" sz="2000" dirty="0">
                <a:latin typeface="Arial Narrow" panose="020B0606020202030204" pitchFamily="34" charset="0"/>
              </a:rPr>
              <a:t>. </a:t>
            </a:r>
          </a:p>
          <a:p>
            <a:pPr marL="342900" indent="-342900">
              <a:buFont typeface="Arial" panose="020B0604020202020204" pitchFamily="34" charset="0"/>
              <a:buChar char="•"/>
            </a:pPr>
            <a:endParaRPr lang="en-US" sz="2000" dirty="0">
              <a:latin typeface="Arial Narrow" panose="020B0606020202030204" pitchFamily="34" charset="0"/>
            </a:endParaRPr>
          </a:p>
          <a:p>
            <a:pPr marL="342900" indent="-342900">
              <a:buFont typeface="Arial" panose="020B0604020202020204" pitchFamily="34" charset="0"/>
              <a:buChar char="•"/>
            </a:pPr>
            <a:r>
              <a:rPr lang="en-US" sz="2000" dirty="0">
                <a:latin typeface="Arial Narrow" panose="020B0606020202030204" pitchFamily="34" charset="0"/>
              </a:rPr>
              <a:t>It indicates the importance or relevance of each key to the given query.</a:t>
            </a:r>
          </a:p>
        </p:txBody>
      </p:sp>
      <p:sp>
        <p:nvSpPr>
          <p:cNvPr id="37" name="Title 3">
            <a:extLst>
              <a:ext uri="{FF2B5EF4-FFF2-40B4-BE49-F238E27FC236}">
                <a16:creationId xmlns:a16="http://schemas.microsoft.com/office/drawing/2014/main" id="{AC56164F-F74F-4E86-A7CF-7FBD17BDAEC2}"/>
              </a:ext>
            </a:extLst>
          </p:cNvPr>
          <p:cNvSpPr>
            <a:spLocks noGrp="1"/>
          </p:cNvSpPr>
          <p:nvPr>
            <p:ph type="title"/>
          </p:nvPr>
        </p:nvSpPr>
        <p:spPr>
          <a:xfrm>
            <a:off x="838199" y="142453"/>
            <a:ext cx="10153651" cy="1404813"/>
          </a:xfrm>
        </p:spPr>
        <p:txBody>
          <a:bodyPr>
            <a:normAutofit/>
          </a:bodyPr>
          <a:lstStyle/>
          <a:p>
            <a:r>
              <a:rPr lang="en-IN" sz="3200" dirty="0">
                <a:latin typeface="Century" panose="02040604050505020304" pitchFamily="18" charset="0"/>
              </a:rPr>
              <a:t>How attention is computed in Image Captioning?</a:t>
            </a:r>
          </a:p>
        </p:txBody>
      </p:sp>
    </p:spTree>
    <p:extLst>
      <p:ext uri="{BB962C8B-B14F-4D97-AF65-F5344CB8AC3E}">
        <p14:creationId xmlns:p14="http://schemas.microsoft.com/office/powerpoint/2010/main" val="25811432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54940" y="1503789"/>
            <a:ext cx="4413388" cy="1015663"/>
          </a:xfrm>
          <a:prstGeom prst="rect">
            <a:avLst/>
          </a:prstGeom>
          <a:noFill/>
        </p:spPr>
        <p:txBody>
          <a:bodyPr wrap="none" rtlCol="0">
            <a:spAutoFit/>
          </a:bodyPr>
          <a:lstStyle/>
          <a:p>
            <a:pPr marL="342900" indent="-342900">
              <a:buFont typeface="Arial" panose="020B0604020202020204" pitchFamily="34" charset="0"/>
              <a:buChar char="•"/>
            </a:pPr>
            <a:r>
              <a:rPr lang="en-IN" sz="2000" dirty="0">
                <a:solidFill>
                  <a:srgbClr val="7030A0"/>
                </a:solidFill>
                <a:latin typeface="Arial Narrow" panose="020B0606020202030204" pitchFamily="34" charset="0"/>
                <a:cs typeface="Times New Roman" panose="02020603050405020304" pitchFamily="18" charset="0"/>
              </a:rPr>
              <a:t>Inputs : </a:t>
            </a:r>
          </a:p>
          <a:p>
            <a:pPr marL="800100" lvl="1" indent="-342900">
              <a:buFont typeface="Arial" panose="020B0604020202020204" pitchFamily="34" charset="0"/>
              <a:buChar char="•"/>
            </a:pPr>
            <a:r>
              <a:rPr lang="en-IN" sz="2000" dirty="0">
                <a:latin typeface="Arial Narrow" panose="020B0606020202030204" pitchFamily="34" charset="0"/>
                <a:cs typeface="Times New Roman" panose="02020603050405020304" pitchFamily="18" charset="0"/>
              </a:rPr>
              <a:t>Features : </a:t>
            </a:r>
            <a:r>
              <a:rPr lang="en-IN" sz="2000" dirty="0">
                <a:solidFill>
                  <a:srgbClr val="7030A0"/>
                </a:solidFill>
                <a:latin typeface="Arial Narrow" panose="020B0606020202030204" pitchFamily="34" charset="0"/>
                <a:cs typeface="Times New Roman" panose="02020603050405020304" pitchFamily="18" charset="0"/>
              </a:rPr>
              <a:t>z</a:t>
            </a:r>
            <a:r>
              <a:rPr lang="en-IN" sz="2000" dirty="0">
                <a:latin typeface="Arial Narrow" panose="020B0606020202030204" pitchFamily="34" charset="0"/>
                <a:cs typeface="Times New Roman" panose="02020603050405020304" pitchFamily="18" charset="0"/>
              </a:rPr>
              <a:t> (Dimension : H x W x D)</a:t>
            </a:r>
          </a:p>
          <a:p>
            <a:pPr marL="800100" lvl="1" indent="-342900">
              <a:buFont typeface="Arial" panose="020B0604020202020204" pitchFamily="34" charset="0"/>
              <a:buChar char="•"/>
            </a:pPr>
            <a:r>
              <a:rPr lang="en-IN" sz="2000" dirty="0">
                <a:latin typeface="Arial Narrow" panose="020B0606020202030204" pitchFamily="34" charset="0"/>
                <a:cs typeface="Times New Roman" panose="02020603050405020304" pitchFamily="18" charset="0"/>
              </a:rPr>
              <a:t>Query : </a:t>
            </a:r>
            <a:r>
              <a:rPr lang="en-IN" sz="2000" dirty="0">
                <a:solidFill>
                  <a:srgbClr val="7030A0"/>
                </a:solidFill>
                <a:latin typeface="Arial Narrow" panose="020B0606020202030204" pitchFamily="34" charset="0"/>
                <a:cs typeface="Times New Roman" panose="02020603050405020304" pitchFamily="18" charset="0"/>
              </a:rPr>
              <a:t>h</a:t>
            </a:r>
            <a:r>
              <a:rPr lang="en-IN" sz="2000" dirty="0">
                <a:latin typeface="Arial Narrow" panose="020B0606020202030204" pitchFamily="34" charset="0"/>
                <a:cs typeface="Times New Roman" panose="02020603050405020304" pitchFamily="18" charset="0"/>
              </a:rPr>
              <a:t> (Dimension :D)</a:t>
            </a:r>
          </a:p>
        </p:txBody>
      </p:sp>
      <p:sp>
        <p:nvSpPr>
          <p:cNvPr id="29" name="TextBox 28"/>
          <p:cNvSpPr txBox="1"/>
          <p:nvPr/>
        </p:nvSpPr>
        <p:spPr>
          <a:xfrm>
            <a:off x="8140328" y="5145018"/>
            <a:ext cx="2658100" cy="1015663"/>
          </a:xfrm>
          <a:prstGeom prst="rect">
            <a:avLst/>
          </a:prstGeom>
          <a:noFill/>
        </p:spPr>
        <p:txBody>
          <a:bodyPr wrap="none" rtlCol="0">
            <a:spAutoFit/>
          </a:bodyPr>
          <a:lstStyle/>
          <a:p>
            <a:r>
              <a:rPr lang="en-IN" sz="2000" dirty="0">
                <a:solidFill>
                  <a:srgbClr val="00B0F0"/>
                </a:solidFill>
                <a:latin typeface="Arial Narrow" panose="020B0606020202030204" pitchFamily="34" charset="0"/>
                <a:cs typeface="Times New Roman" panose="02020603050405020304" pitchFamily="18" charset="0"/>
              </a:rPr>
              <a:t>Operations : </a:t>
            </a:r>
          </a:p>
          <a:p>
            <a:r>
              <a:rPr lang="en-IN" sz="2000" dirty="0">
                <a:latin typeface="Arial Narrow" panose="020B0606020202030204" pitchFamily="34" charset="0"/>
                <a:cs typeface="Times New Roman" panose="02020603050405020304" pitchFamily="18" charset="0"/>
              </a:rPr>
              <a:t>Alignment :  e</a:t>
            </a:r>
            <a:r>
              <a:rPr lang="en-IN" sz="2000" baseline="-25000" dirty="0">
                <a:latin typeface="Arial Narrow" panose="020B0606020202030204" pitchFamily="34" charset="0"/>
                <a:cs typeface="Times New Roman" panose="02020603050405020304" pitchFamily="18" charset="0"/>
              </a:rPr>
              <a:t>i,j</a:t>
            </a:r>
            <a:r>
              <a:rPr lang="en-IN" sz="2000" dirty="0">
                <a:latin typeface="Arial Narrow" panose="020B0606020202030204" pitchFamily="34" charset="0"/>
                <a:cs typeface="Times New Roman" panose="02020603050405020304" pitchFamily="18" charset="0"/>
              </a:rPr>
              <a:t> = f</a:t>
            </a:r>
            <a:r>
              <a:rPr lang="en-IN" sz="2000" baseline="-25000" dirty="0">
                <a:latin typeface="Arial Narrow" panose="020B0606020202030204" pitchFamily="34" charset="0"/>
                <a:cs typeface="Times New Roman" panose="02020603050405020304" pitchFamily="18" charset="0"/>
              </a:rPr>
              <a:t>all</a:t>
            </a:r>
            <a:r>
              <a:rPr lang="en-IN" sz="2000" dirty="0">
                <a:latin typeface="Arial Narrow" panose="020B0606020202030204" pitchFamily="34" charset="0"/>
                <a:cs typeface="Times New Roman" panose="02020603050405020304" pitchFamily="18" charset="0"/>
              </a:rPr>
              <a:t>(h, </a:t>
            </a:r>
            <a:r>
              <a:rPr lang="en-IN" sz="2000" dirty="0" err="1">
                <a:latin typeface="Arial Narrow" panose="020B0606020202030204" pitchFamily="34" charset="0"/>
                <a:cs typeface="Times New Roman" panose="02020603050405020304" pitchFamily="18" charset="0"/>
              </a:rPr>
              <a:t>z</a:t>
            </a:r>
            <a:r>
              <a:rPr lang="en-IN" sz="2000" baseline="-25000" dirty="0" err="1">
                <a:latin typeface="Arial Narrow" panose="020B0606020202030204" pitchFamily="34" charset="0"/>
                <a:cs typeface="Times New Roman" panose="02020603050405020304" pitchFamily="18" charset="0"/>
              </a:rPr>
              <a:t>i,j</a:t>
            </a:r>
            <a:r>
              <a:rPr lang="en-IN" sz="2000" dirty="0">
                <a:latin typeface="Arial Narrow" panose="020B0606020202030204" pitchFamily="34" charset="0"/>
                <a:cs typeface="Times New Roman" panose="02020603050405020304" pitchFamily="18" charset="0"/>
              </a:rPr>
              <a:t>)</a:t>
            </a:r>
          </a:p>
          <a:p>
            <a:r>
              <a:rPr lang="en-IN" sz="2000" dirty="0">
                <a:latin typeface="Arial Narrow" panose="020B0606020202030204" pitchFamily="34" charset="0"/>
                <a:cs typeface="Times New Roman" panose="02020603050405020304" pitchFamily="18" charset="0"/>
              </a:rPr>
              <a:t>Attention : </a:t>
            </a:r>
            <a:r>
              <a:rPr lang="en-IN" sz="2000" dirty="0">
                <a:solidFill>
                  <a:srgbClr val="7030A0"/>
                </a:solidFill>
                <a:latin typeface="Arial Narrow" panose="020B0606020202030204" pitchFamily="34" charset="0"/>
                <a:cs typeface="Times New Roman" panose="02020603050405020304" pitchFamily="18" charset="0"/>
              </a:rPr>
              <a:t>a</a:t>
            </a:r>
            <a:r>
              <a:rPr lang="en-IN" sz="2000" dirty="0">
                <a:latin typeface="Arial Narrow" panose="020B0606020202030204" pitchFamily="34" charset="0"/>
                <a:cs typeface="Times New Roman" panose="02020603050405020304" pitchFamily="18" charset="0"/>
              </a:rPr>
              <a:t> = Softmax(</a:t>
            </a:r>
            <a:r>
              <a:rPr lang="en-IN" sz="2000" dirty="0">
                <a:solidFill>
                  <a:srgbClr val="7030A0"/>
                </a:solidFill>
                <a:latin typeface="Arial Narrow" panose="020B0606020202030204" pitchFamily="34" charset="0"/>
                <a:cs typeface="Times New Roman" panose="02020603050405020304" pitchFamily="18" charset="0"/>
              </a:rPr>
              <a:t>e</a:t>
            </a:r>
            <a:r>
              <a:rPr lang="en-IN" sz="2000" dirty="0">
                <a:latin typeface="Arial Narrow" panose="020B0606020202030204" pitchFamily="34" charset="0"/>
                <a:cs typeface="Times New Roman" panose="02020603050405020304" pitchFamily="18" charset="0"/>
              </a:rPr>
              <a:t>)</a:t>
            </a:r>
          </a:p>
        </p:txBody>
      </p:sp>
      <p:grpSp>
        <p:nvGrpSpPr>
          <p:cNvPr id="46" name="Group 45"/>
          <p:cNvGrpSpPr/>
          <p:nvPr/>
        </p:nvGrpSpPr>
        <p:grpSpPr>
          <a:xfrm>
            <a:off x="10580575" y="3529035"/>
            <a:ext cx="1532066" cy="1198419"/>
            <a:chOff x="3907525" y="3282431"/>
            <a:chExt cx="1399431" cy="991913"/>
          </a:xfrm>
          <a:solidFill>
            <a:schemeClr val="accent6">
              <a:lumMod val="75000"/>
              <a:alpha val="77000"/>
            </a:schemeClr>
          </a:solidFill>
        </p:grpSpPr>
        <p:sp>
          <p:nvSpPr>
            <p:cNvPr id="47" name="Rectangle 46"/>
            <p:cNvSpPr/>
            <p:nvPr/>
          </p:nvSpPr>
          <p:spPr>
            <a:xfrm>
              <a:off x="3907525" y="3282431"/>
              <a:ext cx="466794" cy="334605"/>
            </a:xfrm>
            <a:prstGeom prst="rect">
              <a:avLst/>
            </a:prstGeom>
            <a:grpFill/>
            <a:ln w="19050">
              <a:solidFill>
                <a:schemeClr val="accent4">
                  <a:lumMod val="60000"/>
                  <a:lumOff val="40000"/>
                  <a:alpha val="60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a</a:t>
              </a:r>
              <a:r>
                <a:rPr lang="en-IN" sz="1400" baseline="-25000" dirty="0">
                  <a:latin typeface="Arial Narrow" panose="020B0606020202030204" pitchFamily="34" charset="0"/>
                  <a:cs typeface="Times New Roman" panose="02020603050405020304" pitchFamily="18" charset="0"/>
                </a:rPr>
                <a:t>0,0</a:t>
              </a:r>
            </a:p>
          </p:txBody>
        </p:sp>
        <p:sp>
          <p:nvSpPr>
            <p:cNvPr id="48" name="Rectangle 47"/>
            <p:cNvSpPr/>
            <p:nvPr/>
          </p:nvSpPr>
          <p:spPr>
            <a:xfrm>
              <a:off x="4373368" y="3282433"/>
              <a:ext cx="466794" cy="334604"/>
            </a:xfrm>
            <a:prstGeom prst="rect">
              <a:avLst/>
            </a:prstGeom>
            <a:grpFill/>
            <a:ln w="19050">
              <a:solidFill>
                <a:schemeClr val="accent4">
                  <a:lumMod val="60000"/>
                  <a:lumOff val="40000"/>
                  <a:alpha val="60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a</a:t>
              </a:r>
              <a:r>
                <a:rPr lang="en-IN" sz="1400" baseline="-25000" dirty="0">
                  <a:latin typeface="Arial Narrow" panose="020B0606020202030204" pitchFamily="34" charset="0"/>
                  <a:cs typeface="Times New Roman" panose="02020603050405020304" pitchFamily="18" charset="0"/>
                </a:rPr>
                <a:t>0,1</a:t>
              </a:r>
            </a:p>
          </p:txBody>
        </p:sp>
        <p:sp>
          <p:nvSpPr>
            <p:cNvPr id="49" name="Rectangle 48"/>
            <p:cNvSpPr/>
            <p:nvPr/>
          </p:nvSpPr>
          <p:spPr>
            <a:xfrm>
              <a:off x="4840162" y="3282432"/>
              <a:ext cx="466794" cy="334604"/>
            </a:xfrm>
            <a:prstGeom prst="rect">
              <a:avLst/>
            </a:prstGeom>
            <a:grpFill/>
            <a:ln w="19050">
              <a:solidFill>
                <a:schemeClr val="accent4">
                  <a:lumMod val="60000"/>
                  <a:lumOff val="40000"/>
                  <a:alpha val="60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a</a:t>
              </a:r>
              <a:r>
                <a:rPr lang="en-IN" sz="1400" baseline="-25000" dirty="0">
                  <a:latin typeface="Arial Narrow" panose="020B0606020202030204" pitchFamily="34" charset="0"/>
                  <a:cs typeface="Times New Roman" panose="02020603050405020304" pitchFamily="18" charset="0"/>
                </a:rPr>
                <a:t>0,2</a:t>
              </a:r>
            </a:p>
          </p:txBody>
        </p:sp>
        <p:sp>
          <p:nvSpPr>
            <p:cNvPr id="50" name="Rectangle 49"/>
            <p:cNvSpPr/>
            <p:nvPr/>
          </p:nvSpPr>
          <p:spPr>
            <a:xfrm>
              <a:off x="3907526" y="3617038"/>
              <a:ext cx="466794" cy="334604"/>
            </a:xfrm>
            <a:prstGeom prst="rect">
              <a:avLst/>
            </a:prstGeom>
            <a:grpFill/>
            <a:ln w="19050">
              <a:solidFill>
                <a:schemeClr val="accent4">
                  <a:lumMod val="60000"/>
                  <a:lumOff val="40000"/>
                  <a:alpha val="60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a</a:t>
              </a:r>
              <a:r>
                <a:rPr lang="en-IN" sz="1400" baseline="-25000" dirty="0">
                  <a:latin typeface="Arial Narrow" panose="020B0606020202030204" pitchFamily="34" charset="0"/>
                  <a:cs typeface="Times New Roman" panose="02020603050405020304" pitchFamily="18" charset="0"/>
                </a:rPr>
                <a:t>1,0</a:t>
              </a:r>
            </a:p>
          </p:txBody>
        </p:sp>
        <p:sp>
          <p:nvSpPr>
            <p:cNvPr id="51" name="Rectangle 50"/>
            <p:cNvSpPr/>
            <p:nvPr/>
          </p:nvSpPr>
          <p:spPr>
            <a:xfrm>
              <a:off x="4373368" y="3617038"/>
              <a:ext cx="466794" cy="334604"/>
            </a:xfrm>
            <a:prstGeom prst="rect">
              <a:avLst/>
            </a:prstGeom>
            <a:grpFill/>
            <a:ln w="19050">
              <a:solidFill>
                <a:schemeClr val="accent4">
                  <a:lumMod val="60000"/>
                  <a:lumOff val="40000"/>
                  <a:alpha val="60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a</a:t>
              </a:r>
              <a:r>
                <a:rPr lang="en-IN" sz="1400" baseline="-25000" dirty="0">
                  <a:latin typeface="Arial Narrow" panose="020B0606020202030204" pitchFamily="34" charset="0"/>
                  <a:cs typeface="Times New Roman" panose="02020603050405020304" pitchFamily="18" charset="0"/>
                </a:rPr>
                <a:t>1,1</a:t>
              </a:r>
            </a:p>
          </p:txBody>
        </p:sp>
        <p:sp>
          <p:nvSpPr>
            <p:cNvPr id="52" name="Rectangle 51"/>
            <p:cNvSpPr/>
            <p:nvPr/>
          </p:nvSpPr>
          <p:spPr>
            <a:xfrm>
              <a:off x="4840162" y="3617037"/>
              <a:ext cx="466794" cy="334604"/>
            </a:xfrm>
            <a:prstGeom prst="rect">
              <a:avLst/>
            </a:prstGeom>
            <a:grpFill/>
            <a:ln w="19050">
              <a:solidFill>
                <a:schemeClr val="accent4">
                  <a:lumMod val="60000"/>
                  <a:lumOff val="40000"/>
                  <a:alpha val="60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a</a:t>
              </a:r>
              <a:r>
                <a:rPr lang="en-IN" sz="1400" baseline="-25000" dirty="0">
                  <a:latin typeface="Arial Narrow" panose="020B0606020202030204" pitchFamily="34" charset="0"/>
                  <a:cs typeface="Times New Roman" panose="02020603050405020304" pitchFamily="18" charset="0"/>
                </a:rPr>
                <a:t>1,2</a:t>
              </a:r>
            </a:p>
          </p:txBody>
        </p:sp>
        <p:sp>
          <p:nvSpPr>
            <p:cNvPr id="53" name="Rectangle 52"/>
            <p:cNvSpPr/>
            <p:nvPr/>
          </p:nvSpPr>
          <p:spPr>
            <a:xfrm>
              <a:off x="3907525" y="3951644"/>
              <a:ext cx="466794" cy="322700"/>
            </a:xfrm>
            <a:prstGeom prst="rect">
              <a:avLst/>
            </a:prstGeom>
            <a:grpFill/>
            <a:ln w="19050">
              <a:solidFill>
                <a:schemeClr val="accent4">
                  <a:lumMod val="60000"/>
                  <a:lumOff val="40000"/>
                  <a:alpha val="60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a</a:t>
              </a:r>
              <a:r>
                <a:rPr lang="en-IN" sz="1400" baseline="-25000" dirty="0">
                  <a:latin typeface="Arial Narrow" panose="020B0606020202030204" pitchFamily="34" charset="0"/>
                  <a:cs typeface="Times New Roman" panose="02020603050405020304" pitchFamily="18" charset="0"/>
                </a:rPr>
                <a:t>2,0</a:t>
              </a:r>
            </a:p>
          </p:txBody>
        </p:sp>
        <p:sp>
          <p:nvSpPr>
            <p:cNvPr id="54" name="Rectangle 53"/>
            <p:cNvSpPr/>
            <p:nvPr/>
          </p:nvSpPr>
          <p:spPr>
            <a:xfrm>
              <a:off x="4373367" y="3951644"/>
              <a:ext cx="466794" cy="322700"/>
            </a:xfrm>
            <a:prstGeom prst="rect">
              <a:avLst/>
            </a:prstGeom>
            <a:grpFill/>
            <a:ln w="19050">
              <a:solidFill>
                <a:schemeClr val="accent4">
                  <a:lumMod val="60000"/>
                  <a:lumOff val="40000"/>
                  <a:alpha val="60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a</a:t>
              </a:r>
              <a:r>
                <a:rPr lang="en-IN" sz="1400" baseline="-25000" dirty="0">
                  <a:latin typeface="Arial Narrow" panose="020B0606020202030204" pitchFamily="34" charset="0"/>
                  <a:cs typeface="Times New Roman" panose="02020603050405020304" pitchFamily="18" charset="0"/>
                </a:rPr>
                <a:t>2,1</a:t>
              </a:r>
            </a:p>
          </p:txBody>
        </p:sp>
        <p:sp>
          <p:nvSpPr>
            <p:cNvPr id="55" name="Rectangle 54"/>
            <p:cNvSpPr/>
            <p:nvPr/>
          </p:nvSpPr>
          <p:spPr>
            <a:xfrm>
              <a:off x="4840161" y="3951643"/>
              <a:ext cx="466794" cy="322700"/>
            </a:xfrm>
            <a:prstGeom prst="rect">
              <a:avLst/>
            </a:prstGeom>
            <a:grpFill/>
            <a:ln w="19050">
              <a:solidFill>
                <a:schemeClr val="accent4">
                  <a:lumMod val="60000"/>
                  <a:lumOff val="40000"/>
                  <a:alpha val="60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a</a:t>
              </a:r>
              <a:r>
                <a:rPr lang="en-IN" sz="1400" baseline="-25000" dirty="0">
                  <a:latin typeface="Arial Narrow" panose="020B0606020202030204" pitchFamily="34" charset="0"/>
                  <a:cs typeface="Times New Roman" panose="02020603050405020304" pitchFamily="18" charset="0"/>
                </a:rPr>
                <a:t>2,2</a:t>
              </a:r>
            </a:p>
          </p:txBody>
        </p:sp>
      </p:grpSp>
      <p:sp>
        <p:nvSpPr>
          <p:cNvPr id="56" name="TextBox 55"/>
          <p:cNvSpPr txBox="1"/>
          <p:nvPr/>
        </p:nvSpPr>
        <p:spPr>
          <a:xfrm>
            <a:off x="10770448" y="4727453"/>
            <a:ext cx="1151277" cy="400110"/>
          </a:xfrm>
          <a:prstGeom prst="rect">
            <a:avLst/>
          </a:prstGeom>
          <a:noFill/>
        </p:spPr>
        <p:txBody>
          <a:bodyPr wrap="square" rtlCol="0">
            <a:spAutoFit/>
          </a:bodyPr>
          <a:lstStyle/>
          <a:p>
            <a:pPr algn="ctr"/>
            <a:r>
              <a:rPr lang="en-IN" sz="2000" dirty="0">
                <a:latin typeface="Arial Narrow" panose="020B0606020202030204" pitchFamily="34" charset="0"/>
                <a:cs typeface="Times New Roman" panose="02020603050405020304" pitchFamily="18" charset="0"/>
              </a:rPr>
              <a:t>Attention</a:t>
            </a:r>
          </a:p>
        </p:txBody>
      </p:sp>
      <p:grpSp>
        <p:nvGrpSpPr>
          <p:cNvPr id="57" name="Group 56"/>
          <p:cNvGrpSpPr/>
          <p:nvPr/>
        </p:nvGrpSpPr>
        <p:grpSpPr>
          <a:xfrm>
            <a:off x="7647108" y="1710917"/>
            <a:ext cx="1571821" cy="1198422"/>
            <a:chOff x="3907525" y="3282431"/>
            <a:chExt cx="1399431" cy="991913"/>
          </a:xfrm>
          <a:solidFill>
            <a:srgbClr val="FFC000">
              <a:alpha val="36000"/>
            </a:srgbClr>
          </a:solidFill>
        </p:grpSpPr>
        <p:sp>
          <p:nvSpPr>
            <p:cNvPr id="58" name="Rectangle 57"/>
            <p:cNvSpPr/>
            <p:nvPr/>
          </p:nvSpPr>
          <p:spPr>
            <a:xfrm>
              <a:off x="3907525" y="3282431"/>
              <a:ext cx="466794" cy="334605"/>
            </a:xfrm>
            <a:prstGeom prst="rect">
              <a:avLst/>
            </a:prstGeom>
            <a:grpFill/>
            <a:ln>
              <a:solidFill>
                <a:schemeClr val="accent1">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Z</a:t>
              </a:r>
              <a:r>
                <a:rPr lang="en-IN" sz="1400" baseline="-25000" dirty="0">
                  <a:latin typeface="Arial Narrow" panose="020B0606020202030204" pitchFamily="34" charset="0"/>
                  <a:cs typeface="Times New Roman" panose="02020603050405020304" pitchFamily="18" charset="0"/>
                </a:rPr>
                <a:t>0,0</a:t>
              </a:r>
            </a:p>
          </p:txBody>
        </p:sp>
        <p:sp>
          <p:nvSpPr>
            <p:cNvPr id="59" name="Rectangle 58"/>
            <p:cNvSpPr/>
            <p:nvPr/>
          </p:nvSpPr>
          <p:spPr>
            <a:xfrm>
              <a:off x="4373368" y="3282433"/>
              <a:ext cx="466794" cy="334604"/>
            </a:xfrm>
            <a:prstGeom prst="rect">
              <a:avLst/>
            </a:prstGeom>
            <a:grpFill/>
            <a:ln>
              <a:solidFill>
                <a:schemeClr val="accent1">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Z</a:t>
              </a:r>
              <a:r>
                <a:rPr lang="en-IN" sz="1400" baseline="-25000" dirty="0">
                  <a:latin typeface="Arial Narrow" panose="020B0606020202030204" pitchFamily="34" charset="0"/>
                  <a:cs typeface="Times New Roman" panose="02020603050405020304" pitchFamily="18" charset="0"/>
                </a:rPr>
                <a:t>0,1</a:t>
              </a:r>
            </a:p>
          </p:txBody>
        </p:sp>
        <p:sp>
          <p:nvSpPr>
            <p:cNvPr id="60" name="Rectangle 59"/>
            <p:cNvSpPr/>
            <p:nvPr/>
          </p:nvSpPr>
          <p:spPr>
            <a:xfrm>
              <a:off x="4840162" y="3282432"/>
              <a:ext cx="466794" cy="334604"/>
            </a:xfrm>
            <a:prstGeom prst="rect">
              <a:avLst/>
            </a:prstGeom>
            <a:grpFill/>
            <a:ln>
              <a:solidFill>
                <a:schemeClr val="accent1">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Z</a:t>
              </a:r>
              <a:r>
                <a:rPr lang="en-IN" sz="1400" baseline="-25000" dirty="0">
                  <a:latin typeface="Arial Narrow" panose="020B0606020202030204" pitchFamily="34" charset="0"/>
                  <a:cs typeface="Times New Roman" panose="02020603050405020304" pitchFamily="18" charset="0"/>
                </a:rPr>
                <a:t>0,2</a:t>
              </a:r>
            </a:p>
          </p:txBody>
        </p:sp>
        <p:sp>
          <p:nvSpPr>
            <p:cNvPr id="61" name="Rectangle 60"/>
            <p:cNvSpPr/>
            <p:nvPr/>
          </p:nvSpPr>
          <p:spPr>
            <a:xfrm>
              <a:off x="3907526" y="3617038"/>
              <a:ext cx="466794" cy="334604"/>
            </a:xfrm>
            <a:prstGeom prst="rect">
              <a:avLst/>
            </a:prstGeom>
            <a:grpFill/>
            <a:ln>
              <a:solidFill>
                <a:schemeClr val="accent1">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Z</a:t>
              </a:r>
              <a:r>
                <a:rPr lang="en-IN" sz="1400" baseline="-25000" dirty="0">
                  <a:latin typeface="Arial Narrow" panose="020B0606020202030204" pitchFamily="34" charset="0"/>
                  <a:cs typeface="Times New Roman" panose="02020603050405020304" pitchFamily="18" charset="0"/>
                </a:rPr>
                <a:t>1,0</a:t>
              </a:r>
            </a:p>
          </p:txBody>
        </p:sp>
        <p:sp>
          <p:nvSpPr>
            <p:cNvPr id="62" name="Rectangle 61"/>
            <p:cNvSpPr/>
            <p:nvPr/>
          </p:nvSpPr>
          <p:spPr>
            <a:xfrm>
              <a:off x="4373368" y="3617038"/>
              <a:ext cx="466794" cy="334604"/>
            </a:xfrm>
            <a:prstGeom prst="rect">
              <a:avLst/>
            </a:prstGeom>
            <a:grpFill/>
            <a:ln>
              <a:solidFill>
                <a:schemeClr val="accent1">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Z</a:t>
              </a:r>
              <a:r>
                <a:rPr lang="en-IN" sz="1400" baseline="-25000" dirty="0">
                  <a:latin typeface="Arial Narrow" panose="020B0606020202030204" pitchFamily="34" charset="0"/>
                  <a:cs typeface="Times New Roman" panose="02020603050405020304" pitchFamily="18" charset="0"/>
                </a:rPr>
                <a:t>1,1</a:t>
              </a:r>
            </a:p>
          </p:txBody>
        </p:sp>
        <p:sp>
          <p:nvSpPr>
            <p:cNvPr id="63" name="Rectangle 62"/>
            <p:cNvSpPr/>
            <p:nvPr/>
          </p:nvSpPr>
          <p:spPr>
            <a:xfrm>
              <a:off x="4840162" y="3617037"/>
              <a:ext cx="466794" cy="334604"/>
            </a:xfrm>
            <a:prstGeom prst="rect">
              <a:avLst/>
            </a:prstGeom>
            <a:grpFill/>
            <a:ln>
              <a:solidFill>
                <a:schemeClr val="accent1">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Z</a:t>
              </a:r>
              <a:r>
                <a:rPr lang="en-IN" sz="1400" baseline="-25000" dirty="0">
                  <a:latin typeface="Arial Narrow" panose="020B0606020202030204" pitchFamily="34" charset="0"/>
                  <a:cs typeface="Times New Roman" panose="02020603050405020304" pitchFamily="18" charset="0"/>
                </a:rPr>
                <a:t>1,2</a:t>
              </a:r>
            </a:p>
          </p:txBody>
        </p:sp>
        <p:sp>
          <p:nvSpPr>
            <p:cNvPr id="64" name="Rectangle 63"/>
            <p:cNvSpPr/>
            <p:nvPr/>
          </p:nvSpPr>
          <p:spPr>
            <a:xfrm>
              <a:off x="3907525" y="3951644"/>
              <a:ext cx="466794" cy="322700"/>
            </a:xfrm>
            <a:prstGeom prst="rect">
              <a:avLst/>
            </a:prstGeom>
            <a:grpFill/>
            <a:ln>
              <a:solidFill>
                <a:schemeClr val="accent1">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Z</a:t>
              </a:r>
              <a:r>
                <a:rPr lang="en-IN" sz="1400" baseline="-25000" dirty="0">
                  <a:latin typeface="Arial Narrow" panose="020B0606020202030204" pitchFamily="34" charset="0"/>
                  <a:cs typeface="Times New Roman" panose="02020603050405020304" pitchFamily="18" charset="0"/>
                </a:rPr>
                <a:t>2,0</a:t>
              </a:r>
            </a:p>
          </p:txBody>
        </p:sp>
        <p:sp>
          <p:nvSpPr>
            <p:cNvPr id="65" name="Rectangle 64"/>
            <p:cNvSpPr/>
            <p:nvPr/>
          </p:nvSpPr>
          <p:spPr>
            <a:xfrm>
              <a:off x="4373367" y="3951644"/>
              <a:ext cx="466794" cy="322700"/>
            </a:xfrm>
            <a:prstGeom prst="rect">
              <a:avLst/>
            </a:prstGeom>
            <a:grpFill/>
            <a:ln>
              <a:solidFill>
                <a:schemeClr val="accent1">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Z</a:t>
              </a:r>
              <a:r>
                <a:rPr lang="en-IN" sz="1400" baseline="-25000" dirty="0">
                  <a:latin typeface="Arial Narrow" panose="020B0606020202030204" pitchFamily="34" charset="0"/>
                  <a:cs typeface="Times New Roman" panose="02020603050405020304" pitchFamily="18" charset="0"/>
                </a:rPr>
                <a:t>2,1</a:t>
              </a:r>
            </a:p>
          </p:txBody>
        </p:sp>
        <p:sp>
          <p:nvSpPr>
            <p:cNvPr id="66" name="Rectangle 65"/>
            <p:cNvSpPr/>
            <p:nvPr/>
          </p:nvSpPr>
          <p:spPr>
            <a:xfrm>
              <a:off x="4840161" y="3951643"/>
              <a:ext cx="466794" cy="322700"/>
            </a:xfrm>
            <a:prstGeom prst="rect">
              <a:avLst/>
            </a:prstGeom>
            <a:grpFill/>
            <a:ln>
              <a:solidFill>
                <a:schemeClr val="accent1">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Z</a:t>
              </a:r>
              <a:r>
                <a:rPr lang="en-IN" sz="1400" baseline="-25000" dirty="0">
                  <a:latin typeface="Arial Narrow" panose="020B0606020202030204" pitchFamily="34" charset="0"/>
                  <a:cs typeface="Times New Roman" panose="02020603050405020304" pitchFamily="18" charset="0"/>
                </a:rPr>
                <a:t>2,2</a:t>
              </a:r>
            </a:p>
          </p:txBody>
        </p:sp>
      </p:grpSp>
      <p:sp>
        <p:nvSpPr>
          <p:cNvPr id="67" name="Oval 66"/>
          <p:cNvSpPr/>
          <p:nvPr/>
        </p:nvSpPr>
        <p:spPr>
          <a:xfrm>
            <a:off x="6309996" y="3919177"/>
            <a:ext cx="468699" cy="452903"/>
          </a:xfrm>
          <a:prstGeom prst="ellipse">
            <a:avLst/>
          </a:prstGeom>
          <a:solidFill>
            <a:schemeClr val="accent2">
              <a:lumMod val="60000"/>
              <a:lumOff val="40000"/>
            </a:schemeClr>
          </a:solidFill>
          <a:ln w="1587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dirty="0">
              <a:latin typeface="Arial Narrow" panose="020B0606020202030204" pitchFamily="34" charset="0"/>
              <a:cs typeface="Times New Roman" panose="02020603050405020304" pitchFamily="18" charset="0"/>
            </a:endParaRPr>
          </a:p>
        </p:txBody>
      </p:sp>
      <p:sp>
        <p:nvSpPr>
          <p:cNvPr id="68" name="Rectangle 67"/>
          <p:cNvSpPr/>
          <p:nvPr/>
        </p:nvSpPr>
        <p:spPr>
          <a:xfrm>
            <a:off x="6381546" y="3933301"/>
            <a:ext cx="390353" cy="400110"/>
          </a:xfrm>
          <a:prstGeom prst="rect">
            <a:avLst/>
          </a:prstGeom>
        </p:spPr>
        <p:txBody>
          <a:bodyPr wrap="square">
            <a:spAutoFit/>
          </a:bodyPr>
          <a:lstStyle/>
          <a:p>
            <a:r>
              <a:rPr lang="en-IN" sz="2000" dirty="0">
                <a:latin typeface="Arial Narrow" panose="020B0606020202030204" pitchFamily="34" charset="0"/>
                <a:cs typeface="Times New Roman" panose="02020603050405020304" pitchFamily="18" charset="0"/>
              </a:rPr>
              <a:t>h</a:t>
            </a:r>
          </a:p>
        </p:txBody>
      </p:sp>
      <p:sp>
        <p:nvSpPr>
          <p:cNvPr id="69" name="TextBox 68"/>
          <p:cNvSpPr txBox="1"/>
          <p:nvPr/>
        </p:nvSpPr>
        <p:spPr>
          <a:xfrm>
            <a:off x="7827255" y="1313009"/>
            <a:ext cx="1051891" cy="400110"/>
          </a:xfrm>
          <a:prstGeom prst="rect">
            <a:avLst/>
          </a:prstGeom>
          <a:noFill/>
        </p:spPr>
        <p:txBody>
          <a:bodyPr wrap="none" rtlCol="0">
            <a:spAutoFit/>
          </a:bodyPr>
          <a:lstStyle/>
          <a:p>
            <a:pPr algn="ctr"/>
            <a:r>
              <a:rPr lang="en-IN" sz="2000" dirty="0">
                <a:latin typeface="Arial Narrow" panose="020B0606020202030204" pitchFamily="34" charset="0"/>
                <a:cs typeface="Times New Roman" panose="02020603050405020304" pitchFamily="18" charset="0"/>
              </a:rPr>
              <a:t>Features</a:t>
            </a:r>
          </a:p>
        </p:txBody>
      </p:sp>
      <p:grpSp>
        <p:nvGrpSpPr>
          <p:cNvPr id="70" name="Group 69"/>
          <p:cNvGrpSpPr/>
          <p:nvPr/>
        </p:nvGrpSpPr>
        <p:grpSpPr>
          <a:xfrm>
            <a:off x="7647108" y="3529035"/>
            <a:ext cx="1571819" cy="1198421"/>
            <a:chOff x="3907525" y="3282431"/>
            <a:chExt cx="1399431" cy="991913"/>
          </a:xfrm>
          <a:solidFill>
            <a:schemeClr val="accent1">
              <a:lumMod val="60000"/>
              <a:lumOff val="40000"/>
            </a:schemeClr>
          </a:solidFill>
        </p:grpSpPr>
        <p:sp>
          <p:nvSpPr>
            <p:cNvPr id="71" name="Rectangle 70"/>
            <p:cNvSpPr/>
            <p:nvPr/>
          </p:nvSpPr>
          <p:spPr>
            <a:xfrm>
              <a:off x="3907525" y="3282431"/>
              <a:ext cx="466794" cy="334605"/>
            </a:xfrm>
            <a:prstGeom prst="rect">
              <a:avLst/>
            </a:prstGeom>
            <a:grpFill/>
            <a:ln>
              <a:solidFill>
                <a:schemeClr val="accent2">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e</a:t>
              </a:r>
              <a:r>
                <a:rPr lang="en-IN" sz="1400" baseline="-25000" dirty="0">
                  <a:latin typeface="Arial Narrow" panose="020B0606020202030204" pitchFamily="34" charset="0"/>
                  <a:cs typeface="Times New Roman" panose="02020603050405020304" pitchFamily="18" charset="0"/>
                </a:rPr>
                <a:t>0,0</a:t>
              </a:r>
            </a:p>
          </p:txBody>
        </p:sp>
        <p:sp>
          <p:nvSpPr>
            <p:cNvPr id="72" name="Rectangle 71"/>
            <p:cNvSpPr/>
            <p:nvPr/>
          </p:nvSpPr>
          <p:spPr>
            <a:xfrm>
              <a:off x="4373368" y="3282433"/>
              <a:ext cx="466794" cy="334604"/>
            </a:xfrm>
            <a:prstGeom prst="rect">
              <a:avLst/>
            </a:prstGeom>
            <a:grpFill/>
            <a:ln>
              <a:solidFill>
                <a:schemeClr val="accent2">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e</a:t>
              </a:r>
              <a:r>
                <a:rPr lang="en-IN" sz="1400" baseline="-25000" dirty="0">
                  <a:latin typeface="Arial Narrow" panose="020B0606020202030204" pitchFamily="34" charset="0"/>
                  <a:cs typeface="Times New Roman" panose="02020603050405020304" pitchFamily="18" charset="0"/>
                </a:rPr>
                <a:t>0,1</a:t>
              </a:r>
            </a:p>
          </p:txBody>
        </p:sp>
        <p:sp>
          <p:nvSpPr>
            <p:cNvPr id="73" name="Rectangle 72"/>
            <p:cNvSpPr/>
            <p:nvPr/>
          </p:nvSpPr>
          <p:spPr>
            <a:xfrm>
              <a:off x="4840162" y="3282432"/>
              <a:ext cx="466794" cy="334604"/>
            </a:xfrm>
            <a:prstGeom prst="rect">
              <a:avLst/>
            </a:prstGeom>
            <a:grpFill/>
            <a:ln>
              <a:solidFill>
                <a:schemeClr val="accent2">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e</a:t>
              </a:r>
              <a:r>
                <a:rPr lang="en-IN" sz="1400" baseline="-25000" dirty="0">
                  <a:latin typeface="Arial Narrow" panose="020B0606020202030204" pitchFamily="34" charset="0"/>
                  <a:cs typeface="Times New Roman" panose="02020603050405020304" pitchFamily="18" charset="0"/>
                </a:rPr>
                <a:t>0,2</a:t>
              </a:r>
            </a:p>
          </p:txBody>
        </p:sp>
        <p:sp>
          <p:nvSpPr>
            <p:cNvPr id="74" name="Rectangle 73"/>
            <p:cNvSpPr/>
            <p:nvPr/>
          </p:nvSpPr>
          <p:spPr>
            <a:xfrm>
              <a:off x="3907526" y="3617038"/>
              <a:ext cx="466794" cy="334604"/>
            </a:xfrm>
            <a:prstGeom prst="rect">
              <a:avLst/>
            </a:prstGeom>
            <a:grpFill/>
            <a:ln>
              <a:solidFill>
                <a:schemeClr val="accent2">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e</a:t>
              </a:r>
              <a:r>
                <a:rPr lang="en-IN" sz="1400" baseline="-25000" dirty="0">
                  <a:latin typeface="Arial Narrow" panose="020B0606020202030204" pitchFamily="34" charset="0"/>
                  <a:cs typeface="Times New Roman" panose="02020603050405020304" pitchFamily="18" charset="0"/>
                </a:rPr>
                <a:t>1,0</a:t>
              </a:r>
            </a:p>
          </p:txBody>
        </p:sp>
        <p:sp>
          <p:nvSpPr>
            <p:cNvPr id="75" name="Rectangle 74"/>
            <p:cNvSpPr/>
            <p:nvPr/>
          </p:nvSpPr>
          <p:spPr>
            <a:xfrm>
              <a:off x="4373368" y="3617038"/>
              <a:ext cx="466794" cy="334604"/>
            </a:xfrm>
            <a:prstGeom prst="rect">
              <a:avLst/>
            </a:prstGeom>
            <a:grpFill/>
            <a:ln>
              <a:solidFill>
                <a:schemeClr val="accent2">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e</a:t>
              </a:r>
              <a:r>
                <a:rPr lang="en-IN" sz="1400" baseline="-25000" dirty="0">
                  <a:latin typeface="Arial Narrow" panose="020B0606020202030204" pitchFamily="34" charset="0"/>
                  <a:cs typeface="Times New Roman" panose="02020603050405020304" pitchFamily="18" charset="0"/>
                </a:rPr>
                <a:t>1,1</a:t>
              </a:r>
            </a:p>
          </p:txBody>
        </p:sp>
        <p:sp>
          <p:nvSpPr>
            <p:cNvPr id="76" name="Rectangle 75"/>
            <p:cNvSpPr/>
            <p:nvPr/>
          </p:nvSpPr>
          <p:spPr>
            <a:xfrm>
              <a:off x="4840162" y="3617037"/>
              <a:ext cx="466794" cy="334604"/>
            </a:xfrm>
            <a:prstGeom prst="rect">
              <a:avLst/>
            </a:prstGeom>
            <a:grpFill/>
            <a:ln>
              <a:solidFill>
                <a:schemeClr val="accent2">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e</a:t>
              </a:r>
              <a:r>
                <a:rPr lang="en-IN" sz="1400" baseline="-25000" dirty="0">
                  <a:latin typeface="Arial Narrow" panose="020B0606020202030204" pitchFamily="34" charset="0"/>
                  <a:cs typeface="Times New Roman" panose="02020603050405020304" pitchFamily="18" charset="0"/>
                </a:rPr>
                <a:t>1,2</a:t>
              </a:r>
            </a:p>
          </p:txBody>
        </p:sp>
        <p:sp>
          <p:nvSpPr>
            <p:cNvPr id="77" name="Rectangle 76"/>
            <p:cNvSpPr/>
            <p:nvPr/>
          </p:nvSpPr>
          <p:spPr>
            <a:xfrm>
              <a:off x="3907525" y="3951644"/>
              <a:ext cx="466794" cy="322700"/>
            </a:xfrm>
            <a:prstGeom prst="rect">
              <a:avLst/>
            </a:prstGeom>
            <a:grpFill/>
            <a:ln>
              <a:solidFill>
                <a:schemeClr val="accent2">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e</a:t>
              </a:r>
              <a:r>
                <a:rPr lang="en-IN" sz="1400" baseline="-25000" dirty="0">
                  <a:latin typeface="Arial Narrow" panose="020B0606020202030204" pitchFamily="34" charset="0"/>
                  <a:cs typeface="Times New Roman" panose="02020603050405020304" pitchFamily="18" charset="0"/>
                </a:rPr>
                <a:t>2,0</a:t>
              </a:r>
            </a:p>
          </p:txBody>
        </p:sp>
        <p:sp>
          <p:nvSpPr>
            <p:cNvPr id="78" name="Rectangle 77"/>
            <p:cNvSpPr/>
            <p:nvPr/>
          </p:nvSpPr>
          <p:spPr>
            <a:xfrm>
              <a:off x="4373367" y="3951644"/>
              <a:ext cx="466794" cy="322700"/>
            </a:xfrm>
            <a:prstGeom prst="rect">
              <a:avLst/>
            </a:prstGeom>
            <a:grpFill/>
            <a:ln>
              <a:solidFill>
                <a:schemeClr val="accent2">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e</a:t>
              </a:r>
              <a:r>
                <a:rPr lang="en-IN" sz="1400" baseline="-25000" dirty="0">
                  <a:latin typeface="Arial Narrow" panose="020B0606020202030204" pitchFamily="34" charset="0"/>
                  <a:cs typeface="Times New Roman" panose="02020603050405020304" pitchFamily="18" charset="0"/>
                </a:rPr>
                <a:t>2,1</a:t>
              </a:r>
            </a:p>
          </p:txBody>
        </p:sp>
        <p:sp>
          <p:nvSpPr>
            <p:cNvPr id="79" name="Rectangle 78"/>
            <p:cNvSpPr/>
            <p:nvPr/>
          </p:nvSpPr>
          <p:spPr>
            <a:xfrm>
              <a:off x="4840161" y="3951643"/>
              <a:ext cx="466794" cy="322700"/>
            </a:xfrm>
            <a:prstGeom prst="rect">
              <a:avLst/>
            </a:prstGeom>
            <a:grpFill/>
            <a:ln>
              <a:solidFill>
                <a:schemeClr val="accent2">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e</a:t>
              </a:r>
              <a:r>
                <a:rPr lang="en-IN" sz="1400" baseline="-25000" dirty="0">
                  <a:latin typeface="Arial Narrow" panose="020B0606020202030204" pitchFamily="34" charset="0"/>
                  <a:cs typeface="Times New Roman" panose="02020603050405020304" pitchFamily="18" charset="0"/>
                </a:rPr>
                <a:t>2,2</a:t>
              </a:r>
            </a:p>
          </p:txBody>
        </p:sp>
      </p:grpSp>
      <p:cxnSp>
        <p:nvCxnSpPr>
          <p:cNvPr id="80" name="Straight Arrow Connector 79"/>
          <p:cNvCxnSpPr>
            <a:stCxn id="64" idx="2"/>
            <a:endCxn id="71" idx="0"/>
          </p:cNvCxnSpPr>
          <p:nvPr/>
        </p:nvCxnSpPr>
        <p:spPr>
          <a:xfrm>
            <a:off x="7909256" y="2909339"/>
            <a:ext cx="0" cy="619696"/>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a:stCxn id="65" idx="2"/>
            <a:endCxn id="72" idx="0"/>
          </p:cNvCxnSpPr>
          <p:nvPr/>
        </p:nvCxnSpPr>
        <p:spPr>
          <a:xfrm>
            <a:off x="8432483" y="2909339"/>
            <a:ext cx="1" cy="619698"/>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a:stCxn id="66" idx="2"/>
            <a:endCxn id="73" idx="0"/>
          </p:cNvCxnSpPr>
          <p:nvPr/>
        </p:nvCxnSpPr>
        <p:spPr>
          <a:xfrm>
            <a:off x="8956779" y="2909338"/>
            <a:ext cx="0" cy="619698"/>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a:stCxn id="67" idx="6"/>
            <a:endCxn id="74" idx="1"/>
          </p:cNvCxnSpPr>
          <p:nvPr/>
        </p:nvCxnSpPr>
        <p:spPr>
          <a:xfrm flipV="1">
            <a:off x="6778695" y="4135437"/>
            <a:ext cx="868414" cy="10192"/>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84" name="Rectangle 83"/>
          <p:cNvSpPr/>
          <p:nvPr/>
        </p:nvSpPr>
        <p:spPr>
          <a:xfrm>
            <a:off x="7897931" y="4728573"/>
            <a:ext cx="1119216" cy="400110"/>
          </a:xfrm>
          <a:prstGeom prst="rect">
            <a:avLst/>
          </a:prstGeom>
        </p:spPr>
        <p:txBody>
          <a:bodyPr wrap="none">
            <a:spAutoFit/>
          </a:bodyPr>
          <a:lstStyle/>
          <a:p>
            <a:pPr algn="ctr"/>
            <a:r>
              <a:rPr lang="en-IN" sz="2000" dirty="0">
                <a:latin typeface="Arial Narrow" panose="020B0606020202030204" pitchFamily="34" charset="0"/>
                <a:cs typeface="Times New Roman" panose="02020603050405020304" pitchFamily="18" charset="0"/>
              </a:rPr>
              <a:t>Alignment</a:t>
            </a:r>
          </a:p>
        </p:txBody>
      </p:sp>
      <p:cxnSp>
        <p:nvCxnSpPr>
          <p:cNvPr id="3" name="Straight Arrow Connector 2"/>
          <p:cNvCxnSpPr>
            <a:stCxn id="76" idx="3"/>
            <a:endCxn id="17" idx="2"/>
          </p:cNvCxnSpPr>
          <p:nvPr/>
        </p:nvCxnSpPr>
        <p:spPr>
          <a:xfrm flipV="1">
            <a:off x="9218927" y="4135381"/>
            <a:ext cx="466987" cy="55"/>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17" idx="0"/>
            <a:endCxn id="50" idx="1"/>
          </p:cNvCxnSpPr>
          <p:nvPr/>
        </p:nvCxnSpPr>
        <p:spPr>
          <a:xfrm>
            <a:off x="10086024" y="4135381"/>
            <a:ext cx="494552" cy="56"/>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rot="5400000">
            <a:off x="9324373" y="3935325"/>
            <a:ext cx="1123191" cy="400110"/>
          </a:xfrm>
          <a:prstGeom prst="rect">
            <a:avLst/>
          </a:prstGeom>
          <a:solidFill>
            <a:srgbClr val="6B94A9">
              <a:alpha val="77000"/>
            </a:srgbClr>
          </a:solidFill>
          <a:ln w="19050">
            <a:solidFill>
              <a:schemeClr val="accent2">
                <a:lumMod val="60000"/>
                <a:lumOff val="40000"/>
              </a:schemeClr>
            </a:solidFill>
          </a:ln>
        </p:spPr>
        <p:txBody>
          <a:bodyPr wrap="square" rtlCol="0">
            <a:spAutoFit/>
          </a:bodyPr>
          <a:lstStyle/>
          <a:p>
            <a:pPr algn="ctr"/>
            <a:r>
              <a:rPr lang="en-IN" sz="2000" dirty="0">
                <a:solidFill>
                  <a:schemeClr val="bg1"/>
                </a:solidFill>
                <a:latin typeface="Arial Narrow" panose="020B0606020202030204" pitchFamily="34" charset="0"/>
                <a:cs typeface="Times New Roman" panose="02020603050405020304" pitchFamily="18" charset="0"/>
              </a:rPr>
              <a:t>Softmax</a:t>
            </a:r>
          </a:p>
        </p:txBody>
      </p:sp>
      <p:cxnSp>
        <p:nvCxnSpPr>
          <p:cNvPr id="97" name="Straight Arrow Connector 96"/>
          <p:cNvCxnSpPr>
            <a:stCxn id="73" idx="3"/>
          </p:cNvCxnSpPr>
          <p:nvPr/>
        </p:nvCxnSpPr>
        <p:spPr>
          <a:xfrm>
            <a:off x="9218927" y="3731169"/>
            <a:ext cx="474607" cy="988"/>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p:cNvCxnSpPr>
            <a:endCxn id="47" idx="1"/>
          </p:cNvCxnSpPr>
          <p:nvPr/>
        </p:nvCxnSpPr>
        <p:spPr>
          <a:xfrm flipV="1">
            <a:off x="10093644" y="3731168"/>
            <a:ext cx="486931" cy="988"/>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p:cNvCxnSpPr>
            <a:stCxn id="79" idx="3"/>
          </p:cNvCxnSpPr>
          <p:nvPr/>
        </p:nvCxnSpPr>
        <p:spPr>
          <a:xfrm flipV="1">
            <a:off x="9218926" y="4532257"/>
            <a:ext cx="463813" cy="256"/>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p:cNvCxnSpPr>
            <a:endCxn id="53" idx="1"/>
          </p:cNvCxnSpPr>
          <p:nvPr/>
        </p:nvCxnSpPr>
        <p:spPr>
          <a:xfrm>
            <a:off x="10086024" y="4529081"/>
            <a:ext cx="494551" cy="3432"/>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0046DDED-1EAE-4A2F-8132-E2467411AA4E}"/>
              </a:ext>
            </a:extLst>
          </p:cNvPr>
          <p:cNvSpPr/>
          <p:nvPr/>
        </p:nvSpPr>
        <p:spPr>
          <a:xfrm>
            <a:off x="754940" y="2732972"/>
            <a:ext cx="5376583" cy="1323439"/>
          </a:xfrm>
          <a:prstGeom prst="rect">
            <a:avLst/>
          </a:prstGeom>
        </p:spPr>
        <p:txBody>
          <a:bodyPr wrap="square">
            <a:spAutoFit/>
          </a:bodyPr>
          <a:lstStyle/>
          <a:p>
            <a:pPr marL="342900" indent="-342900" algn="just">
              <a:buFont typeface="Arial" panose="020B0604020202020204" pitchFamily="34" charset="0"/>
              <a:buChar char="•"/>
            </a:pPr>
            <a:r>
              <a:rPr lang="en-US" sz="2000" dirty="0">
                <a:solidFill>
                  <a:srgbClr val="0D0D0D"/>
                </a:solidFill>
                <a:latin typeface="Arial Narrow" panose="020B0606020202030204" pitchFamily="34" charset="0"/>
              </a:rPr>
              <a:t>Once the alignment scores are calculated between a query and all the keys, they are passed through a </a:t>
            </a:r>
            <a:r>
              <a:rPr lang="en-US" sz="2000" dirty="0" err="1">
                <a:solidFill>
                  <a:srgbClr val="7030A0"/>
                </a:solidFill>
                <a:latin typeface="Arial Narrow" panose="020B0606020202030204" pitchFamily="34" charset="0"/>
              </a:rPr>
              <a:t>softmax</a:t>
            </a:r>
            <a:r>
              <a:rPr lang="en-US" sz="2000" dirty="0">
                <a:solidFill>
                  <a:srgbClr val="7030A0"/>
                </a:solidFill>
                <a:latin typeface="Arial Narrow" panose="020B0606020202030204" pitchFamily="34" charset="0"/>
              </a:rPr>
              <a:t> function</a:t>
            </a:r>
            <a:r>
              <a:rPr lang="en-US" sz="2000" dirty="0">
                <a:solidFill>
                  <a:srgbClr val="0D0D0D"/>
                </a:solidFill>
                <a:latin typeface="Arial Narrow" panose="020B0606020202030204" pitchFamily="34" charset="0"/>
              </a:rPr>
              <a:t> to convert them into attention weights.</a:t>
            </a:r>
            <a:r>
              <a:rPr lang="en-US" dirty="0">
                <a:solidFill>
                  <a:srgbClr val="0D0D0D"/>
                </a:solidFill>
                <a:latin typeface="Arial Narrow" panose="020B0606020202030204" pitchFamily="34" charset="0"/>
              </a:rPr>
              <a:t> </a:t>
            </a:r>
          </a:p>
        </p:txBody>
      </p:sp>
      <p:sp>
        <p:nvSpPr>
          <p:cNvPr id="85" name="Title 3">
            <a:extLst>
              <a:ext uri="{FF2B5EF4-FFF2-40B4-BE49-F238E27FC236}">
                <a16:creationId xmlns:a16="http://schemas.microsoft.com/office/drawing/2014/main" id="{FC66213B-2F00-466D-BF5E-82E08FFD1616}"/>
              </a:ext>
            </a:extLst>
          </p:cNvPr>
          <p:cNvSpPr>
            <a:spLocks noGrp="1"/>
          </p:cNvSpPr>
          <p:nvPr>
            <p:ph type="title"/>
          </p:nvPr>
        </p:nvSpPr>
        <p:spPr>
          <a:xfrm>
            <a:off x="838199" y="142453"/>
            <a:ext cx="10153651" cy="1404813"/>
          </a:xfrm>
        </p:spPr>
        <p:txBody>
          <a:bodyPr>
            <a:normAutofit/>
          </a:bodyPr>
          <a:lstStyle/>
          <a:p>
            <a:r>
              <a:rPr lang="en-IN" sz="3200" dirty="0">
                <a:latin typeface="Century" panose="02040604050505020304" pitchFamily="18" charset="0"/>
              </a:rPr>
              <a:t>How attention is computed in Image Captioning?</a:t>
            </a:r>
          </a:p>
        </p:txBody>
      </p:sp>
    </p:spTree>
    <p:extLst>
      <p:ext uri="{BB962C8B-B14F-4D97-AF65-F5344CB8AC3E}">
        <p14:creationId xmlns:p14="http://schemas.microsoft.com/office/powerpoint/2010/main" val="37324836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77141" y="5078812"/>
            <a:ext cx="4413388" cy="1015663"/>
          </a:xfrm>
          <a:prstGeom prst="rect">
            <a:avLst/>
          </a:prstGeom>
          <a:noFill/>
        </p:spPr>
        <p:txBody>
          <a:bodyPr wrap="none" rtlCol="0">
            <a:spAutoFit/>
          </a:bodyPr>
          <a:lstStyle/>
          <a:p>
            <a:pPr marL="342900" indent="-342900">
              <a:buFont typeface="Arial" panose="020B0604020202020204" pitchFamily="34" charset="0"/>
              <a:buChar char="•"/>
            </a:pPr>
            <a:r>
              <a:rPr lang="en-IN" sz="2000" dirty="0">
                <a:solidFill>
                  <a:srgbClr val="7030A0"/>
                </a:solidFill>
                <a:latin typeface="Arial Narrow" panose="020B0606020202030204" pitchFamily="34" charset="0"/>
                <a:cs typeface="Times New Roman" panose="02020603050405020304" pitchFamily="18" charset="0"/>
              </a:rPr>
              <a:t>Inputs : </a:t>
            </a:r>
          </a:p>
          <a:p>
            <a:pPr marL="800100" lvl="1" indent="-342900">
              <a:buFont typeface="Arial" panose="020B0604020202020204" pitchFamily="34" charset="0"/>
              <a:buChar char="•"/>
            </a:pPr>
            <a:r>
              <a:rPr lang="en-IN" sz="2000" dirty="0">
                <a:latin typeface="Arial Narrow" panose="020B0606020202030204" pitchFamily="34" charset="0"/>
                <a:cs typeface="Times New Roman" panose="02020603050405020304" pitchFamily="18" charset="0"/>
              </a:rPr>
              <a:t>Features : </a:t>
            </a:r>
            <a:r>
              <a:rPr lang="en-IN" sz="2000" dirty="0">
                <a:solidFill>
                  <a:srgbClr val="7030A0"/>
                </a:solidFill>
                <a:latin typeface="Arial Narrow" panose="020B0606020202030204" pitchFamily="34" charset="0"/>
                <a:cs typeface="Times New Roman" panose="02020603050405020304" pitchFamily="18" charset="0"/>
              </a:rPr>
              <a:t>z</a:t>
            </a:r>
            <a:r>
              <a:rPr lang="en-IN" sz="2000" dirty="0">
                <a:latin typeface="Arial Narrow" panose="020B0606020202030204" pitchFamily="34" charset="0"/>
                <a:cs typeface="Times New Roman" panose="02020603050405020304" pitchFamily="18" charset="0"/>
              </a:rPr>
              <a:t> (Dimension : H x W x D)</a:t>
            </a:r>
          </a:p>
          <a:p>
            <a:pPr marL="800100" lvl="1" indent="-342900">
              <a:buFont typeface="Arial" panose="020B0604020202020204" pitchFamily="34" charset="0"/>
              <a:buChar char="•"/>
            </a:pPr>
            <a:r>
              <a:rPr lang="en-IN" sz="2000" dirty="0">
                <a:latin typeface="Arial Narrow" panose="020B0606020202030204" pitchFamily="34" charset="0"/>
                <a:cs typeface="Times New Roman" panose="02020603050405020304" pitchFamily="18" charset="0"/>
              </a:rPr>
              <a:t>Query : </a:t>
            </a:r>
            <a:r>
              <a:rPr lang="en-IN" sz="2000" dirty="0">
                <a:solidFill>
                  <a:srgbClr val="7030A0"/>
                </a:solidFill>
                <a:latin typeface="Arial Narrow" panose="020B0606020202030204" pitchFamily="34" charset="0"/>
                <a:cs typeface="Times New Roman" panose="02020603050405020304" pitchFamily="18" charset="0"/>
              </a:rPr>
              <a:t>h</a:t>
            </a:r>
            <a:r>
              <a:rPr lang="en-IN" sz="2000" dirty="0">
                <a:latin typeface="Arial Narrow" panose="020B0606020202030204" pitchFamily="34" charset="0"/>
                <a:cs typeface="Times New Roman" panose="02020603050405020304" pitchFamily="18" charset="0"/>
              </a:rPr>
              <a:t> (Dimension :D)</a:t>
            </a:r>
          </a:p>
        </p:txBody>
      </p:sp>
      <mc:AlternateContent xmlns:mc="http://schemas.openxmlformats.org/markup-compatibility/2006" xmlns:a14="http://schemas.microsoft.com/office/drawing/2010/main">
        <mc:Choice Requires="a14">
          <p:sp>
            <p:nvSpPr>
              <p:cNvPr id="29" name="TextBox 28"/>
              <p:cNvSpPr txBox="1"/>
              <p:nvPr/>
            </p:nvSpPr>
            <p:spPr>
              <a:xfrm>
                <a:off x="7737882" y="5238360"/>
                <a:ext cx="2658100" cy="1323439"/>
              </a:xfrm>
              <a:prstGeom prst="rect">
                <a:avLst/>
              </a:prstGeom>
              <a:noFill/>
            </p:spPr>
            <p:txBody>
              <a:bodyPr wrap="none" rtlCol="0">
                <a:spAutoFit/>
              </a:bodyPr>
              <a:lstStyle/>
              <a:p>
                <a:r>
                  <a:rPr lang="en-IN" sz="2000" dirty="0">
                    <a:solidFill>
                      <a:srgbClr val="7030A0"/>
                    </a:solidFill>
                    <a:latin typeface="Arial Narrow" panose="020B0606020202030204" pitchFamily="34" charset="0"/>
                    <a:cs typeface="Times New Roman" panose="02020603050405020304" pitchFamily="18" charset="0"/>
                  </a:rPr>
                  <a:t>Operations : </a:t>
                </a:r>
              </a:p>
              <a:p>
                <a:r>
                  <a:rPr lang="en-IN" sz="2000" dirty="0">
                    <a:latin typeface="Arial Narrow" panose="020B0606020202030204" pitchFamily="34" charset="0"/>
                    <a:cs typeface="Times New Roman" panose="02020603050405020304" pitchFamily="18" charset="0"/>
                  </a:rPr>
                  <a:t>Alignment :  e</a:t>
                </a:r>
                <a:r>
                  <a:rPr lang="en-IN" sz="2000" baseline="-25000" dirty="0">
                    <a:latin typeface="Arial Narrow" panose="020B0606020202030204" pitchFamily="34" charset="0"/>
                    <a:cs typeface="Times New Roman" panose="02020603050405020304" pitchFamily="18" charset="0"/>
                  </a:rPr>
                  <a:t>i,j</a:t>
                </a:r>
                <a:r>
                  <a:rPr lang="en-IN" sz="2000" dirty="0">
                    <a:latin typeface="Arial Narrow" panose="020B0606020202030204" pitchFamily="34" charset="0"/>
                    <a:cs typeface="Times New Roman" panose="02020603050405020304" pitchFamily="18" charset="0"/>
                  </a:rPr>
                  <a:t> = f</a:t>
                </a:r>
                <a:r>
                  <a:rPr lang="en-IN" sz="2000" baseline="-25000" dirty="0">
                    <a:latin typeface="Arial Narrow" panose="020B0606020202030204" pitchFamily="34" charset="0"/>
                    <a:cs typeface="Times New Roman" panose="02020603050405020304" pitchFamily="18" charset="0"/>
                  </a:rPr>
                  <a:t>all</a:t>
                </a:r>
                <a:r>
                  <a:rPr lang="en-IN" sz="2000" dirty="0">
                    <a:latin typeface="Arial Narrow" panose="020B0606020202030204" pitchFamily="34" charset="0"/>
                    <a:cs typeface="Times New Roman" panose="02020603050405020304" pitchFamily="18" charset="0"/>
                  </a:rPr>
                  <a:t>(h, </a:t>
                </a:r>
                <a:r>
                  <a:rPr lang="en-IN" sz="2000" dirty="0" err="1">
                    <a:latin typeface="Arial Narrow" panose="020B0606020202030204" pitchFamily="34" charset="0"/>
                    <a:cs typeface="Times New Roman" panose="02020603050405020304" pitchFamily="18" charset="0"/>
                  </a:rPr>
                  <a:t>z</a:t>
                </a:r>
                <a:r>
                  <a:rPr lang="en-IN" sz="2000" baseline="-25000" dirty="0" err="1">
                    <a:latin typeface="Arial Narrow" panose="020B0606020202030204" pitchFamily="34" charset="0"/>
                    <a:cs typeface="Times New Roman" panose="02020603050405020304" pitchFamily="18" charset="0"/>
                  </a:rPr>
                  <a:t>i,j</a:t>
                </a:r>
                <a:r>
                  <a:rPr lang="en-IN" sz="2000" dirty="0">
                    <a:latin typeface="Arial Narrow" panose="020B0606020202030204" pitchFamily="34" charset="0"/>
                    <a:cs typeface="Times New Roman" panose="02020603050405020304" pitchFamily="18" charset="0"/>
                  </a:rPr>
                  <a:t>)</a:t>
                </a:r>
              </a:p>
              <a:p>
                <a:r>
                  <a:rPr lang="en-IN" sz="2000" dirty="0">
                    <a:latin typeface="Arial Narrow" panose="020B0606020202030204" pitchFamily="34" charset="0"/>
                    <a:cs typeface="Times New Roman" panose="02020603050405020304" pitchFamily="18" charset="0"/>
                  </a:rPr>
                  <a:t>Attention : </a:t>
                </a:r>
                <a:r>
                  <a:rPr lang="en-IN" sz="2000" dirty="0">
                    <a:solidFill>
                      <a:srgbClr val="7030A0"/>
                    </a:solidFill>
                    <a:latin typeface="Arial Narrow" panose="020B0606020202030204" pitchFamily="34" charset="0"/>
                    <a:cs typeface="Times New Roman" panose="02020603050405020304" pitchFamily="18" charset="0"/>
                  </a:rPr>
                  <a:t>a</a:t>
                </a:r>
                <a:r>
                  <a:rPr lang="en-IN" sz="2000" dirty="0">
                    <a:latin typeface="Arial Narrow" panose="020B0606020202030204" pitchFamily="34" charset="0"/>
                    <a:cs typeface="Times New Roman" panose="02020603050405020304" pitchFamily="18" charset="0"/>
                  </a:rPr>
                  <a:t> = Softmax(</a:t>
                </a:r>
                <a:r>
                  <a:rPr lang="en-IN" sz="2000" dirty="0">
                    <a:solidFill>
                      <a:srgbClr val="7030A0"/>
                    </a:solidFill>
                    <a:latin typeface="Arial Narrow" panose="020B0606020202030204" pitchFamily="34" charset="0"/>
                    <a:cs typeface="Times New Roman" panose="02020603050405020304" pitchFamily="18" charset="0"/>
                  </a:rPr>
                  <a:t>e</a:t>
                </a:r>
                <a:r>
                  <a:rPr lang="en-IN" sz="2000" dirty="0">
                    <a:latin typeface="Arial Narrow" panose="020B0606020202030204" pitchFamily="34" charset="0"/>
                    <a:cs typeface="Times New Roman" panose="02020603050405020304" pitchFamily="18" charset="0"/>
                  </a:rPr>
                  <a:t>)</a:t>
                </a:r>
              </a:p>
              <a:p>
                <a:r>
                  <a:rPr lang="en-IN" sz="2000" dirty="0">
                    <a:latin typeface="Arial Narrow" panose="020B0606020202030204" pitchFamily="34" charset="0"/>
                    <a:cs typeface="Times New Roman" panose="02020603050405020304" pitchFamily="18" charset="0"/>
                  </a:rPr>
                  <a:t>Output : </a:t>
                </a:r>
                <a:r>
                  <a:rPr lang="en-IN" sz="2000" dirty="0">
                    <a:solidFill>
                      <a:srgbClr val="7030A0"/>
                    </a:solidFill>
                    <a:latin typeface="Arial Narrow" panose="020B0606020202030204" pitchFamily="34" charset="0"/>
                    <a:cs typeface="Times New Roman" panose="02020603050405020304" pitchFamily="18" charset="0"/>
                  </a:rPr>
                  <a:t>c</a:t>
                </a:r>
                <a:r>
                  <a:rPr lang="en-IN" sz="2000" dirty="0">
                    <a:latin typeface="Arial Narrow" panose="020B0606020202030204" pitchFamily="34" charset="0"/>
                    <a:cs typeface="Times New Roman" panose="02020603050405020304" pitchFamily="18" charset="0"/>
                  </a:rPr>
                  <a:t> = </a:t>
                </a:r>
                <a14:m>
                  <m:oMath xmlns:m="http://schemas.openxmlformats.org/officeDocument/2006/math">
                    <m:r>
                      <a:rPr lang="en-IN" sz="200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IN" sz="2000" baseline="-25000" dirty="0">
                    <a:latin typeface="Arial Narrow" panose="020B0606020202030204" pitchFamily="34" charset="0"/>
                    <a:cs typeface="Times New Roman" panose="02020603050405020304" pitchFamily="18" charset="0"/>
                  </a:rPr>
                  <a:t>i,j</a:t>
                </a:r>
                <a:r>
                  <a:rPr lang="en-IN" sz="2000" dirty="0">
                    <a:latin typeface="Arial Narrow" panose="020B0606020202030204" pitchFamily="34" charset="0"/>
                    <a:cs typeface="Times New Roman" panose="02020603050405020304" pitchFamily="18" charset="0"/>
                  </a:rPr>
                  <a:t>a</a:t>
                </a:r>
                <a:r>
                  <a:rPr lang="en-IN" sz="2000" baseline="-25000" dirty="0">
                    <a:latin typeface="Arial Narrow" panose="020B0606020202030204" pitchFamily="34" charset="0"/>
                    <a:cs typeface="Times New Roman" panose="02020603050405020304" pitchFamily="18" charset="0"/>
                  </a:rPr>
                  <a:t> </a:t>
                </a:r>
                <a:r>
                  <a:rPr lang="en-IN" sz="2000" baseline="-25000" dirty="0" err="1">
                    <a:latin typeface="Arial Narrow" panose="020B0606020202030204" pitchFamily="34" charset="0"/>
                    <a:cs typeface="Times New Roman" panose="02020603050405020304" pitchFamily="18" charset="0"/>
                  </a:rPr>
                  <a:t>i,j</a:t>
                </a:r>
                <a:r>
                  <a:rPr lang="en-IN" sz="2000" dirty="0" err="1">
                    <a:latin typeface="Arial Narrow" panose="020B0606020202030204" pitchFamily="34" charset="0"/>
                    <a:cs typeface="Times New Roman" panose="02020603050405020304" pitchFamily="18" charset="0"/>
                  </a:rPr>
                  <a:t>z</a:t>
                </a:r>
                <a:r>
                  <a:rPr lang="en-IN" sz="2000" baseline="-25000" dirty="0">
                    <a:latin typeface="Arial Narrow" panose="020B0606020202030204" pitchFamily="34" charset="0"/>
                    <a:cs typeface="Times New Roman" panose="02020603050405020304" pitchFamily="18" charset="0"/>
                  </a:rPr>
                  <a:t> </a:t>
                </a:r>
                <a:r>
                  <a:rPr lang="en-IN" sz="2000" baseline="-25000" dirty="0" err="1">
                    <a:latin typeface="Arial Narrow" panose="020B0606020202030204" pitchFamily="34" charset="0"/>
                    <a:cs typeface="Times New Roman" panose="02020603050405020304" pitchFamily="18" charset="0"/>
                  </a:rPr>
                  <a:t>i,j</a:t>
                </a:r>
                <a:endParaRPr lang="en-IN" sz="2000" dirty="0">
                  <a:latin typeface="Arial Narrow" panose="020B0606020202030204" pitchFamily="34" charset="0"/>
                  <a:cs typeface="Times New Roman" panose="02020603050405020304" pitchFamily="18" charset="0"/>
                </a:endParaRPr>
              </a:p>
            </p:txBody>
          </p:sp>
        </mc:Choice>
        <mc:Fallback xmlns="">
          <p:sp>
            <p:nvSpPr>
              <p:cNvPr id="29" name="TextBox 28"/>
              <p:cNvSpPr txBox="1">
                <a:spLocks noRot="1" noChangeAspect="1" noMove="1" noResize="1" noEditPoints="1" noAdjustHandles="1" noChangeArrowheads="1" noChangeShapeType="1" noTextEdit="1"/>
              </p:cNvSpPr>
              <p:nvPr/>
            </p:nvSpPr>
            <p:spPr>
              <a:xfrm>
                <a:off x="7737882" y="5238360"/>
                <a:ext cx="2658100" cy="1323439"/>
              </a:xfrm>
              <a:prstGeom prst="rect">
                <a:avLst/>
              </a:prstGeom>
              <a:blipFill>
                <a:blip r:embed="rId2"/>
                <a:stretch>
                  <a:fillRect l="-2294" t="-2304" b="-7373"/>
                </a:stretch>
              </a:blipFill>
            </p:spPr>
            <p:txBody>
              <a:bodyPr/>
              <a:lstStyle/>
              <a:p>
                <a:r>
                  <a:rPr lang="en-IN">
                    <a:noFill/>
                  </a:rPr>
                  <a:t> </a:t>
                </a:r>
              </a:p>
            </p:txBody>
          </p:sp>
        </mc:Fallback>
      </mc:AlternateContent>
      <p:grpSp>
        <p:nvGrpSpPr>
          <p:cNvPr id="46" name="Group 45"/>
          <p:cNvGrpSpPr/>
          <p:nvPr/>
        </p:nvGrpSpPr>
        <p:grpSpPr>
          <a:xfrm>
            <a:off x="8821235" y="3480284"/>
            <a:ext cx="1532066" cy="1198419"/>
            <a:chOff x="3907525" y="3282431"/>
            <a:chExt cx="1399431" cy="991913"/>
          </a:xfrm>
          <a:solidFill>
            <a:schemeClr val="accent6">
              <a:lumMod val="75000"/>
              <a:alpha val="77000"/>
            </a:schemeClr>
          </a:solidFill>
        </p:grpSpPr>
        <p:sp>
          <p:nvSpPr>
            <p:cNvPr id="47" name="Rectangle 46"/>
            <p:cNvSpPr/>
            <p:nvPr/>
          </p:nvSpPr>
          <p:spPr>
            <a:xfrm>
              <a:off x="3907525" y="3282431"/>
              <a:ext cx="466794" cy="334605"/>
            </a:xfrm>
            <a:prstGeom prst="rect">
              <a:avLst/>
            </a:prstGeom>
            <a:grpFill/>
            <a:ln w="19050">
              <a:solidFill>
                <a:schemeClr val="accent4">
                  <a:lumMod val="60000"/>
                  <a:lumOff val="40000"/>
                  <a:alpha val="60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a</a:t>
              </a:r>
              <a:r>
                <a:rPr lang="en-IN" sz="1400" baseline="-25000" dirty="0">
                  <a:latin typeface="Arial Narrow" panose="020B0606020202030204" pitchFamily="34" charset="0"/>
                  <a:cs typeface="Times New Roman" panose="02020603050405020304" pitchFamily="18" charset="0"/>
                </a:rPr>
                <a:t>0,0</a:t>
              </a:r>
            </a:p>
          </p:txBody>
        </p:sp>
        <p:sp>
          <p:nvSpPr>
            <p:cNvPr id="48" name="Rectangle 47"/>
            <p:cNvSpPr/>
            <p:nvPr/>
          </p:nvSpPr>
          <p:spPr>
            <a:xfrm>
              <a:off x="4373368" y="3282433"/>
              <a:ext cx="466794" cy="334604"/>
            </a:xfrm>
            <a:prstGeom prst="rect">
              <a:avLst/>
            </a:prstGeom>
            <a:grpFill/>
            <a:ln w="19050">
              <a:solidFill>
                <a:schemeClr val="accent4">
                  <a:lumMod val="60000"/>
                  <a:lumOff val="40000"/>
                  <a:alpha val="60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a</a:t>
              </a:r>
              <a:r>
                <a:rPr lang="en-IN" sz="1400" baseline="-25000" dirty="0">
                  <a:latin typeface="Arial Narrow" panose="020B0606020202030204" pitchFamily="34" charset="0"/>
                  <a:cs typeface="Times New Roman" panose="02020603050405020304" pitchFamily="18" charset="0"/>
                </a:rPr>
                <a:t>0,1</a:t>
              </a:r>
            </a:p>
          </p:txBody>
        </p:sp>
        <p:sp>
          <p:nvSpPr>
            <p:cNvPr id="49" name="Rectangle 48"/>
            <p:cNvSpPr/>
            <p:nvPr/>
          </p:nvSpPr>
          <p:spPr>
            <a:xfrm>
              <a:off x="4840162" y="3282432"/>
              <a:ext cx="466794" cy="334604"/>
            </a:xfrm>
            <a:prstGeom prst="rect">
              <a:avLst/>
            </a:prstGeom>
            <a:grpFill/>
            <a:ln w="19050">
              <a:solidFill>
                <a:schemeClr val="accent4">
                  <a:lumMod val="60000"/>
                  <a:lumOff val="40000"/>
                  <a:alpha val="60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a</a:t>
              </a:r>
              <a:r>
                <a:rPr lang="en-IN" sz="1400" baseline="-25000" dirty="0">
                  <a:latin typeface="Arial Narrow" panose="020B0606020202030204" pitchFamily="34" charset="0"/>
                  <a:cs typeface="Times New Roman" panose="02020603050405020304" pitchFamily="18" charset="0"/>
                </a:rPr>
                <a:t>0,2</a:t>
              </a:r>
            </a:p>
          </p:txBody>
        </p:sp>
        <p:sp>
          <p:nvSpPr>
            <p:cNvPr id="50" name="Rectangle 49"/>
            <p:cNvSpPr/>
            <p:nvPr/>
          </p:nvSpPr>
          <p:spPr>
            <a:xfrm>
              <a:off x="3907526" y="3617038"/>
              <a:ext cx="466794" cy="334604"/>
            </a:xfrm>
            <a:prstGeom prst="rect">
              <a:avLst/>
            </a:prstGeom>
            <a:grpFill/>
            <a:ln w="19050">
              <a:solidFill>
                <a:schemeClr val="accent4">
                  <a:lumMod val="60000"/>
                  <a:lumOff val="40000"/>
                  <a:alpha val="60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a</a:t>
              </a:r>
              <a:r>
                <a:rPr lang="en-IN" sz="1400" baseline="-25000" dirty="0">
                  <a:latin typeface="Arial Narrow" panose="020B0606020202030204" pitchFamily="34" charset="0"/>
                  <a:cs typeface="Times New Roman" panose="02020603050405020304" pitchFamily="18" charset="0"/>
                </a:rPr>
                <a:t>1,0</a:t>
              </a:r>
            </a:p>
          </p:txBody>
        </p:sp>
        <p:sp>
          <p:nvSpPr>
            <p:cNvPr id="51" name="Rectangle 50"/>
            <p:cNvSpPr/>
            <p:nvPr/>
          </p:nvSpPr>
          <p:spPr>
            <a:xfrm>
              <a:off x="4373368" y="3617038"/>
              <a:ext cx="466794" cy="334604"/>
            </a:xfrm>
            <a:prstGeom prst="rect">
              <a:avLst/>
            </a:prstGeom>
            <a:grpFill/>
            <a:ln w="19050">
              <a:solidFill>
                <a:schemeClr val="accent4">
                  <a:lumMod val="60000"/>
                  <a:lumOff val="40000"/>
                  <a:alpha val="60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a</a:t>
              </a:r>
              <a:r>
                <a:rPr lang="en-IN" sz="1400" baseline="-25000" dirty="0">
                  <a:latin typeface="Arial Narrow" panose="020B0606020202030204" pitchFamily="34" charset="0"/>
                  <a:cs typeface="Times New Roman" panose="02020603050405020304" pitchFamily="18" charset="0"/>
                </a:rPr>
                <a:t>1,1</a:t>
              </a:r>
            </a:p>
          </p:txBody>
        </p:sp>
        <p:sp>
          <p:nvSpPr>
            <p:cNvPr id="52" name="Rectangle 51"/>
            <p:cNvSpPr/>
            <p:nvPr/>
          </p:nvSpPr>
          <p:spPr>
            <a:xfrm>
              <a:off x="4840162" y="3617037"/>
              <a:ext cx="466794" cy="334604"/>
            </a:xfrm>
            <a:prstGeom prst="rect">
              <a:avLst/>
            </a:prstGeom>
            <a:grpFill/>
            <a:ln w="19050">
              <a:solidFill>
                <a:schemeClr val="accent4">
                  <a:lumMod val="60000"/>
                  <a:lumOff val="40000"/>
                  <a:alpha val="60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a</a:t>
              </a:r>
              <a:r>
                <a:rPr lang="en-IN" sz="1400" baseline="-25000" dirty="0">
                  <a:latin typeface="Arial Narrow" panose="020B0606020202030204" pitchFamily="34" charset="0"/>
                  <a:cs typeface="Times New Roman" panose="02020603050405020304" pitchFamily="18" charset="0"/>
                </a:rPr>
                <a:t>1,2</a:t>
              </a:r>
            </a:p>
          </p:txBody>
        </p:sp>
        <p:sp>
          <p:nvSpPr>
            <p:cNvPr id="53" name="Rectangle 52"/>
            <p:cNvSpPr/>
            <p:nvPr/>
          </p:nvSpPr>
          <p:spPr>
            <a:xfrm>
              <a:off x="3907525" y="3951644"/>
              <a:ext cx="466794" cy="322700"/>
            </a:xfrm>
            <a:prstGeom prst="rect">
              <a:avLst/>
            </a:prstGeom>
            <a:grpFill/>
            <a:ln w="19050">
              <a:solidFill>
                <a:schemeClr val="accent4">
                  <a:lumMod val="60000"/>
                  <a:lumOff val="40000"/>
                  <a:alpha val="60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a</a:t>
              </a:r>
              <a:r>
                <a:rPr lang="en-IN" sz="1400" baseline="-25000" dirty="0">
                  <a:latin typeface="Arial Narrow" panose="020B0606020202030204" pitchFamily="34" charset="0"/>
                  <a:cs typeface="Times New Roman" panose="02020603050405020304" pitchFamily="18" charset="0"/>
                </a:rPr>
                <a:t>2,0</a:t>
              </a:r>
            </a:p>
          </p:txBody>
        </p:sp>
        <p:sp>
          <p:nvSpPr>
            <p:cNvPr id="54" name="Rectangle 53"/>
            <p:cNvSpPr/>
            <p:nvPr/>
          </p:nvSpPr>
          <p:spPr>
            <a:xfrm>
              <a:off x="4373367" y="3951644"/>
              <a:ext cx="466794" cy="322700"/>
            </a:xfrm>
            <a:prstGeom prst="rect">
              <a:avLst/>
            </a:prstGeom>
            <a:grpFill/>
            <a:ln w="19050">
              <a:solidFill>
                <a:schemeClr val="accent4">
                  <a:lumMod val="60000"/>
                  <a:lumOff val="40000"/>
                  <a:alpha val="60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a</a:t>
              </a:r>
              <a:r>
                <a:rPr lang="en-IN" sz="1400" baseline="-25000" dirty="0">
                  <a:latin typeface="Arial Narrow" panose="020B0606020202030204" pitchFamily="34" charset="0"/>
                  <a:cs typeface="Times New Roman" panose="02020603050405020304" pitchFamily="18" charset="0"/>
                </a:rPr>
                <a:t>2,1</a:t>
              </a:r>
            </a:p>
          </p:txBody>
        </p:sp>
        <p:sp>
          <p:nvSpPr>
            <p:cNvPr id="55" name="Rectangle 54"/>
            <p:cNvSpPr/>
            <p:nvPr/>
          </p:nvSpPr>
          <p:spPr>
            <a:xfrm>
              <a:off x="4840161" y="3951643"/>
              <a:ext cx="466794" cy="322700"/>
            </a:xfrm>
            <a:prstGeom prst="rect">
              <a:avLst/>
            </a:prstGeom>
            <a:grpFill/>
            <a:ln w="19050">
              <a:solidFill>
                <a:schemeClr val="accent4">
                  <a:lumMod val="60000"/>
                  <a:lumOff val="40000"/>
                  <a:alpha val="60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a</a:t>
              </a:r>
              <a:r>
                <a:rPr lang="en-IN" sz="1400" baseline="-25000" dirty="0">
                  <a:latin typeface="Arial Narrow" panose="020B0606020202030204" pitchFamily="34" charset="0"/>
                  <a:cs typeface="Times New Roman" panose="02020603050405020304" pitchFamily="18" charset="0"/>
                </a:rPr>
                <a:t>2,2</a:t>
              </a:r>
            </a:p>
          </p:txBody>
        </p:sp>
      </p:grpSp>
      <p:sp>
        <p:nvSpPr>
          <p:cNvPr id="56" name="TextBox 55"/>
          <p:cNvSpPr txBox="1"/>
          <p:nvPr/>
        </p:nvSpPr>
        <p:spPr>
          <a:xfrm>
            <a:off x="9011108" y="4678702"/>
            <a:ext cx="1151277" cy="400110"/>
          </a:xfrm>
          <a:prstGeom prst="rect">
            <a:avLst/>
          </a:prstGeom>
          <a:noFill/>
        </p:spPr>
        <p:txBody>
          <a:bodyPr wrap="square" rtlCol="0">
            <a:spAutoFit/>
          </a:bodyPr>
          <a:lstStyle/>
          <a:p>
            <a:pPr algn="ctr"/>
            <a:r>
              <a:rPr lang="en-IN" sz="2000" dirty="0">
                <a:latin typeface="Arial Narrow" panose="020B0606020202030204" pitchFamily="34" charset="0"/>
                <a:cs typeface="Times New Roman" panose="02020603050405020304" pitchFamily="18" charset="0"/>
              </a:rPr>
              <a:t>Attention</a:t>
            </a:r>
          </a:p>
        </p:txBody>
      </p:sp>
      <p:grpSp>
        <p:nvGrpSpPr>
          <p:cNvPr id="57" name="Group 56"/>
          <p:cNvGrpSpPr/>
          <p:nvPr/>
        </p:nvGrpSpPr>
        <p:grpSpPr>
          <a:xfrm>
            <a:off x="5887768" y="1662166"/>
            <a:ext cx="1571821" cy="1198422"/>
            <a:chOff x="3907525" y="3282431"/>
            <a:chExt cx="1399431" cy="991913"/>
          </a:xfrm>
          <a:solidFill>
            <a:srgbClr val="FFC000">
              <a:alpha val="36000"/>
            </a:srgbClr>
          </a:solidFill>
        </p:grpSpPr>
        <p:sp>
          <p:nvSpPr>
            <p:cNvPr id="58" name="Rectangle 57"/>
            <p:cNvSpPr/>
            <p:nvPr/>
          </p:nvSpPr>
          <p:spPr>
            <a:xfrm>
              <a:off x="3907525" y="3282431"/>
              <a:ext cx="466794" cy="334605"/>
            </a:xfrm>
            <a:prstGeom prst="rect">
              <a:avLst/>
            </a:prstGeom>
            <a:grpFill/>
            <a:ln>
              <a:solidFill>
                <a:schemeClr val="accent1">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Z</a:t>
              </a:r>
              <a:r>
                <a:rPr lang="en-IN" sz="1400" baseline="-25000" dirty="0">
                  <a:latin typeface="Arial Narrow" panose="020B0606020202030204" pitchFamily="34" charset="0"/>
                  <a:cs typeface="Times New Roman" panose="02020603050405020304" pitchFamily="18" charset="0"/>
                </a:rPr>
                <a:t>0,0</a:t>
              </a:r>
            </a:p>
          </p:txBody>
        </p:sp>
        <p:sp>
          <p:nvSpPr>
            <p:cNvPr id="59" name="Rectangle 58"/>
            <p:cNvSpPr/>
            <p:nvPr/>
          </p:nvSpPr>
          <p:spPr>
            <a:xfrm>
              <a:off x="4373368" y="3282433"/>
              <a:ext cx="466794" cy="334604"/>
            </a:xfrm>
            <a:prstGeom prst="rect">
              <a:avLst/>
            </a:prstGeom>
            <a:grpFill/>
            <a:ln>
              <a:solidFill>
                <a:schemeClr val="accent1">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Z</a:t>
              </a:r>
              <a:r>
                <a:rPr lang="en-IN" sz="1400" baseline="-25000" dirty="0">
                  <a:latin typeface="Arial Narrow" panose="020B0606020202030204" pitchFamily="34" charset="0"/>
                  <a:cs typeface="Times New Roman" panose="02020603050405020304" pitchFamily="18" charset="0"/>
                </a:rPr>
                <a:t>0,1</a:t>
              </a:r>
            </a:p>
          </p:txBody>
        </p:sp>
        <p:sp>
          <p:nvSpPr>
            <p:cNvPr id="60" name="Rectangle 59"/>
            <p:cNvSpPr/>
            <p:nvPr/>
          </p:nvSpPr>
          <p:spPr>
            <a:xfrm>
              <a:off x="4840162" y="3282432"/>
              <a:ext cx="466794" cy="334604"/>
            </a:xfrm>
            <a:prstGeom prst="rect">
              <a:avLst/>
            </a:prstGeom>
            <a:grpFill/>
            <a:ln>
              <a:solidFill>
                <a:schemeClr val="accent1">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Z</a:t>
              </a:r>
              <a:r>
                <a:rPr lang="en-IN" sz="1400" baseline="-25000" dirty="0">
                  <a:latin typeface="Arial Narrow" panose="020B0606020202030204" pitchFamily="34" charset="0"/>
                  <a:cs typeface="Times New Roman" panose="02020603050405020304" pitchFamily="18" charset="0"/>
                </a:rPr>
                <a:t>0,2</a:t>
              </a:r>
            </a:p>
          </p:txBody>
        </p:sp>
        <p:sp>
          <p:nvSpPr>
            <p:cNvPr id="61" name="Rectangle 60"/>
            <p:cNvSpPr/>
            <p:nvPr/>
          </p:nvSpPr>
          <p:spPr>
            <a:xfrm>
              <a:off x="3907526" y="3617038"/>
              <a:ext cx="466794" cy="334604"/>
            </a:xfrm>
            <a:prstGeom prst="rect">
              <a:avLst/>
            </a:prstGeom>
            <a:grpFill/>
            <a:ln>
              <a:solidFill>
                <a:schemeClr val="accent1">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Z</a:t>
              </a:r>
              <a:r>
                <a:rPr lang="en-IN" sz="1400" baseline="-25000" dirty="0">
                  <a:latin typeface="Arial Narrow" panose="020B0606020202030204" pitchFamily="34" charset="0"/>
                  <a:cs typeface="Times New Roman" panose="02020603050405020304" pitchFamily="18" charset="0"/>
                </a:rPr>
                <a:t>1,0</a:t>
              </a:r>
            </a:p>
          </p:txBody>
        </p:sp>
        <p:sp>
          <p:nvSpPr>
            <p:cNvPr id="62" name="Rectangle 61"/>
            <p:cNvSpPr/>
            <p:nvPr/>
          </p:nvSpPr>
          <p:spPr>
            <a:xfrm>
              <a:off x="4373368" y="3617038"/>
              <a:ext cx="466794" cy="334604"/>
            </a:xfrm>
            <a:prstGeom prst="rect">
              <a:avLst/>
            </a:prstGeom>
            <a:grpFill/>
            <a:ln>
              <a:solidFill>
                <a:schemeClr val="accent1">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Z</a:t>
              </a:r>
              <a:r>
                <a:rPr lang="en-IN" sz="1400" baseline="-25000" dirty="0">
                  <a:latin typeface="Arial Narrow" panose="020B0606020202030204" pitchFamily="34" charset="0"/>
                  <a:cs typeface="Times New Roman" panose="02020603050405020304" pitchFamily="18" charset="0"/>
                </a:rPr>
                <a:t>1,1</a:t>
              </a:r>
            </a:p>
          </p:txBody>
        </p:sp>
        <p:sp>
          <p:nvSpPr>
            <p:cNvPr id="63" name="Rectangle 62"/>
            <p:cNvSpPr/>
            <p:nvPr/>
          </p:nvSpPr>
          <p:spPr>
            <a:xfrm>
              <a:off x="4840162" y="3617037"/>
              <a:ext cx="466794" cy="334604"/>
            </a:xfrm>
            <a:prstGeom prst="rect">
              <a:avLst/>
            </a:prstGeom>
            <a:grpFill/>
            <a:ln>
              <a:solidFill>
                <a:schemeClr val="accent1">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Z</a:t>
              </a:r>
              <a:r>
                <a:rPr lang="en-IN" sz="1400" baseline="-25000" dirty="0">
                  <a:latin typeface="Arial Narrow" panose="020B0606020202030204" pitchFamily="34" charset="0"/>
                  <a:cs typeface="Times New Roman" panose="02020603050405020304" pitchFamily="18" charset="0"/>
                </a:rPr>
                <a:t>1,2</a:t>
              </a:r>
            </a:p>
          </p:txBody>
        </p:sp>
        <p:sp>
          <p:nvSpPr>
            <p:cNvPr id="64" name="Rectangle 63"/>
            <p:cNvSpPr/>
            <p:nvPr/>
          </p:nvSpPr>
          <p:spPr>
            <a:xfrm>
              <a:off x="3907525" y="3951644"/>
              <a:ext cx="466794" cy="322700"/>
            </a:xfrm>
            <a:prstGeom prst="rect">
              <a:avLst/>
            </a:prstGeom>
            <a:grpFill/>
            <a:ln>
              <a:solidFill>
                <a:schemeClr val="accent1">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Z</a:t>
              </a:r>
              <a:r>
                <a:rPr lang="en-IN" sz="1400" baseline="-25000" dirty="0">
                  <a:latin typeface="Arial Narrow" panose="020B0606020202030204" pitchFamily="34" charset="0"/>
                  <a:cs typeface="Times New Roman" panose="02020603050405020304" pitchFamily="18" charset="0"/>
                </a:rPr>
                <a:t>2,0</a:t>
              </a:r>
            </a:p>
          </p:txBody>
        </p:sp>
        <p:sp>
          <p:nvSpPr>
            <p:cNvPr id="65" name="Rectangle 64"/>
            <p:cNvSpPr/>
            <p:nvPr/>
          </p:nvSpPr>
          <p:spPr>
            <a:xfrm>
              <a:off x="4373367" y="3951644"/>
              <a:ext cx="466794" cy="322700"/>
            </a:xfrm>
            <a:prstGeom prst="rect">
              <a:avLst/>
            </a:prstGeom>
            <a:grpFill/>
            <a:ln>
              <a:solidFill>
                <a:schemeClr val="accent1">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Z</a:t>
              </a:r>
              <a:r>
                <a:rPr lang="en-IN" sz="1400" baseline="-25000" dirty="0">
                  <a:latin typeface="Arial Narrow" panose="020B0606020202030204" pitchFamily="34" charset="0"/>
                  <a:cs typeface="Times New Roman" panose="02020603050405020304" pitchFamily="18" charset="0"/>
                </a:rPr>
                <a:t>2,1</a:t>
              </a:r>
            </a:p>
          </p:txBody>
        </p:sp>
        <p:sp>
          <p:nvSpPr>
            <p:cNvPr id="66" name="Rectangle 65"/>
            <p:cNvSpPr/>
            <p:nvPr/>
          </p:nvSpPr>
          <p:spPr>
            <a:xfrm>
              <a:off x="4840161" y="3951643"/>
              <a:ext cx="466794" cy="322700"/>
            </a:xfrm>
            <a:prstGeom prst="rect">
              <a:avLst/>
            </a:prstGeom>
            <a:grpFill/>
            <a:ln>
              <a:solidFill>
                <a:schemeClr val="accent1">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Z</a:t>
              </a:r>
              <a:r>
                <a:rPr lang="en-IN" sz="1400" baseline="-25000" dirty="0">
                  <a:latin typeface="Arial Narrow" panose="020B0606020202030204" pitchFamily="34" charset="0"/>
                  <a:cs typeface="Times New Roman" panose="02020603050405020304" pitchFamily="18" charset="0"/>
                </a:rPr>
                <a:t>2,2</a:t>
              </a:r>
            </a:p>
          </p:txBody>
        </p:sp>
      </p:grpSp>
      <p:sp>
        <p:nvSpPr>
          <p:cNvPr id="67" name="Oval 66"/>
          <p:cNvSpPr/>
          <p:nvPr/>
        </p:nvSpPr>
        <p:spPr>
          <a:xfrm>
            <a:off x="5050182" y="3853947"/>
            <a:ext cx="468699" cy="452903"/>
          </a:xfrm>
          <a:prstGeom prst="ellipse">
            <a:avLst/>
          </a:prstGeom>
          <a:solidFill>
            <a:schemeClr val="accent2">
              <a:lumMod val="60000"/>
              <a:lumOff val="40000"/>
            </a:schemeClr>
          </a:solidFill>
          <a:ln w="1587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dirty="0">
              <a:latin typeface="Arial Narrow" panose="020B0606020202030204" pitchFamily="34" charset="0"/>
              <a:cs typeface="Times New Roman" panose="02020603050405020304" pitchFamily="18" charset="0"/>
            </a:endParaRPr>
          </a:p>
        </p:txBody>
      </p:sp>
      <p:sp>
        <p:nvSpPr>
          <p:cNvPr id="68" name="Rectangle 67"/>
          <p:cNvSpPr/>
          <p:nvPr/>
        </p:nvSpPr>
        <p:spPr>
          <a:xfrm>
            <a:off x="5121732" y="3868071"/>
            <a:ext cx="390353" cy="400110"/>
          </a:xfrm>
          <a:prstGeom prst="rect">
            <a:avLst/>
          </a:prstGeom>
        </p:spPr>
        <p:txBody>
          <a:bodyPr wrap="square">
            <a:spAutoFit/>
          </a:bodyPr>
          <a:lstStyle/>
          <a:p>
            <a:r>
              <a:rPr lang="en-IN" sz="2000" dirty="0">
                <a:latin typeface="Arial Narrow" panose="020B0606020202030204" pitchFamily="34" charset="0"/>
                <a:cs typeface="Times New Roman" panose="02020603050405020304" pitchFamily="18" charset="0"/>
              </a:rPr>
              <a:t>h</a:t>
            </a:r>
          </a:p>
        </p:txBody>
      </p:sp>
      <p:sp>
        <p:nvSpPr>
          <p:cNvPr id="69" name="TextBox 68"/>
          <p:cNvSpPr txBox="1"/>
          <p:nvPr/>
        </p:nvSpPr>
        <p:spPr>
          <a:xfrm>
            <a:off x="6067915" y="1264258"/>
            <a:ext cx="1051891" cy="400110"/>
          </a:xfrm>
          <a:prstGeom prst="rect">
            <a:avLst/>
          </a:prstGeom>
          <a:noFill/>
        </p:spPr>
        <p:txBody>
          <a:bodyPr wrap="none" rtlCol="0">
            <a:spAutoFit/>
          </a:bodyPr>
          <a:lstStyle/>
          <a:p>
            <a:pPr algn="ctr"/>
            <a:r>
              <a:rPr lang="en-IN" sz="2000" dirty="0">
                <a:latin typeface="Arial Narrow" panose="020B0606020202030204" pitchFamily="34" charset="0"/>
                <a:cs typeface="Times New Roman" panose="02020603050405020304" pitchFamily="18" charset="0"/>
              </a:rPr>
              <a:t>Features</a:t>
            </a:r>
          </a:p>
        </p:txBody>
      </p:sp>
      <p:grpSp>
        <p:nvGrpSpPr>
          <p:cNvPr id="70" name="Group 69"/>
          <p:cNvGrpSpPr/>
          <p:nvPr/>
        </p:nvGrpSpPr>
        <p:grpSpPr>
          <a:xfrm>
            <a:off x="5887768" y="3480284"/>
            <a:ext cx="1571819" cy="1198421"/>
            <a:chOff x="3907525" y="3282431"/>
            <a:chExt cx="1399431" cy="991913"/>
          </a:xfrm>
          <a:solidFill>
            <a:schemeClr val="accent1">
              <a:lumMod val="60000"/>
              <a:lumOff val="40000"/>
            </a:schemeClr>
          </a:solidFill>
        </p:grpSpPr>
        <p:sp>
          <p:nvSpPr>
            <p:cNvPr id="71" name="Rectangle 70"/>
            <p:cNvSpPr/>
            <p:nvPr/>
          </p:nvSpPr>
          <p:spPr>
            <a:xfrm>
              <a:off x="3907525" y="3282431"/>
              <a:ext cx="466794" cy="334605"/>
            </a:xfrm>
            <a:prstGeom prst="rect">
              <a:avLst/>
            </a:prstGeom>
            <a:grpFill/>
            <a:ln>
              <a:solidFill>
                <a:schemeClr val="accent2">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e</a:t>
              </a:r>
              <a:r>
                <a:rPr lang="en-IN" sz="1400" baseline="-25000" dirty="0">
                  <a:latin typeface="Arial Narrow" panose="020B0606020202030204" pitchFamily="34" charset="0"/>
                  <a:cs typeface="Times New Roman" panose="02020603050405020304" pitchFamily="18" charset="0"/>
                </a:rPr>
                <a:t>0,0</a:t>
              </a:r>
            </a:p>
          </p:txBody>
        </p:sp>
        <p:sp>
          <p:nvSpPr>
            <p:cNvPr id="72" name="Rectangle 71"/>
            <p:cNvSpPr/>
            <p:nvPr/>
          </p:nvSpPr>
          <p:spPr>
            <a:xfrm>
              <a:off x="4373368" y="3282433"/>
              <a:ext cx="466794" cy="334604"/>
            </a:xfrm>
            <a:prstGeom prst="rect">
              <a:avLst/>
            </a:prstGeom>
            <a:grpFill/>
            <a:ln>
              <a:solidFill>
                <a:schemeClr val="accent2">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e</a:t>
              </a:r>
              <a:r>
                <a:rPr lang="en-IN" sz="1400" baseline="-25000" dirty="0">
                  <a:latin typeface="Arial Narrow" panose="020B0606020202030204" pitchFamily="34" charset="0"/>
                  <a:cs typeface="Times New Roman" panose="02020603050405020304" pitchFamily="18" charset="0"/>
                </a:rPr>
                <a:t>0,1</a:t>
              </a:r>
            </a:p>
          </p:txBody>
        </p:sp>
        <p:sp>
          <p:nvSpPr>
            <p:cNvPr id="73" name="Rectangle 72"/>
            <p:cNvSpPr/>
            <p:nvPr/>
          </p:nvSpPr>
          <p:spPr>
            <a:xfrm>
              <a:off x="4840162" y="3282432"/>
              <a:ext cx="466794" cy="334604"/>
            </a:xfrm>
            <a:prstGeom prst="rect">
              <a:avLst/>
            </a:prstGeom>
            <a:grpFill/>
            <a:ln>
              <a:solidFill>
                <a:schemeClr val="accent2">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e</a:t>
              </a:r>
              <a:r>
                <a:rPr lang="en-IN" sz="1400" baseline="-25000" dirty="0">
                  <a:latin typeface="Arial Narrow" panose="020B0606020202030204" pitchFamily="34" charset="0"/>
                  <a:cs typeface="Times New Roman" panose="02020603050405020304" pitchFamily="18" charset="0"/>
                </a:rPr>
                <a:t>0,2</a:t>
              </a:r>
            </a:p>
          </p:txBody>
        </p:sp>
        <p:sp>
          <p:nvSpPr>
            <p:cNvPr id="74" name="Rectangle 73"/>
            <p:cNvSpPr/>
            <p:nvPr/>
          </p:nvSpPr>
          <p:spPr>
            <a:xfrm>
              <a:off x="3907526" y="3617038"/>
              <a:ext cx="466794" cy="334604"/>
            </a:xfrm>
            <a:prstGeom prst="rect">
              <a:avLst/>
            </a:prstGeom>
            <a:grpFill/>
            <a:ln>
              <a:solidFill>
                <a:schemeClr val="accent2">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e</a:t>
              </a:r>
              <a:r>
                <a:rPr lang="en-IN" sz="1400" baseline="-25000" dirty="0">
                  <a:latin typeface="Arial Narrow" panose="020B0606020202030204" pitchFamily="34" charset="0"/>
                  <a:cs typeface="Times New Roman" panose="02020603050405020304" pitchFamily="18" charset="0"/>
                </a:rPr>
                <a:t>1,0</a:t>
              </a:r>
            </a:p>
          </p:txBody>
        </p:sp>
        <p:sp>
          <p:nvSpPr>
            <p:cNvPr id="75" name="Rectangle 74"/>
            <p:cNvSpPr/>
            <p:nvPr/>
          </p:nvSpPr>
          <p:spPr>
            <a:xfrm>
              <a:off x="4373368" y="3617038"/>
              <a:ext cx="466794" cy="334604"/>
            </a:xfrm>
            <a:prstGeom prst="rect">
              <a:avLst/>
            </a:prstGeom>
            <a:grpFill/>
            <a:ln>
              <a:solidFill>
                <a:schemeClr val="accent2">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e</a:t>
              </a:r>
              <a:r>
                <a:rPr lang="en-IN" sz="1400" baseline="-25000" dirty="0">
                  <a:latin typeface="Arial Narrow" panose="020B0606020202030204" pitchFamily="34" charset="0"/>
                  <a:cs typeface="Times New Roman" panose="02020603050405020304" pitchFamily="18" charset="0"/>
                </a:rPr>
                <a:t>1,1</a:t>
              </a:r>
            </a:p>
          </p:txBody>
        </p:sp>
        <p:sp>
          <p:nvSpPr>
            <p:cNvPr id="76" name="Rectangle 75"/>
            <p:cNvSpPr/>
            <p:nvPr/>
          </p:nvSpPr>
          <p:spPr>
            <a:xfrm>
              <a:off x="4840162" y="3617037"/>
              <a:ext cx="466794" cy="334604"/>
            </a:xfrm>
            <a:prstGeom prst="rect">
              <a:avLst/>
            </a:prstGeom>
            <a:grpFill/>
            <a:ln>
              <a:solidFill>
                <a:schemeClr val="accent2">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e</a:t>
              </a:r>
              <a:r>
                <a:rPr lang="en-IN" sz="1400" baseline="-25000" dirty="0">
                  <a:latin typeface="Arial Narrow" panose="020B0606020202030204" pitchFamily="34" charset="0"/>
                  <a:cs typeface="Times New Roman" panose="02020603050405020304" pitchFamily="18" charset="0"/>
                </a:rPr>
                <a:t>1,2</a:t>
              </a:r>
            </a:p>
          </p:txBody>
        </p:sp>
        <p:sp>
          <p:nvSpPr>
            <p:cNvPr id="77" name="Rectangle 76"/>
            <p:cNvSpPr/>
            <p:nvPr/>
          </p:nvSpPr>
          <p:spPr>
            <a:xfrm>
              <a:off x="3907525" y="3951644"/>
              <a:ext cx="466794" cy="322700"/>
            </a:xfrm>
            <a:prstGeom prst="rect">
              <a:avLst/>
            </a:prstGeom>
            <a:grpFill/>
            <a:ln>
              <a:solidFill>
                <a:schemeClr val="accent2">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e</a:t>
              </a:r>
              <a:r>
                <a:rPr lang="en-IN" sz="1400" baseline="-25000" dirty="0">
                  <a:latin typeface="Arial Narrow" panose="020B0606020202030204" pitchFamily="34" charset="0"/>
                  <a:cs typeface="Times New Roman" panose="02020603050405020304" pitchFamily="18" charset="0"/>
                </a:rPr>
                <a:t>2,0</a:t>
              </a:r>
            </a:p>
          </p:txBody>
        </p:sp>
        <p:sp>
          <p:nvSpPr>
            <p:cNvPr id="78" name="Rectangle 77"/>
            <p:cNvSpPr/>
            <p:nvPr/>
          </p:nvSpPr>
          <p:spPr>
            <a:xfrm>
              <a:off x="4373367" y="3951644"/>
              <a:ext cx="466794" cy="322700"/>
            </a:xfrm>
            <a:prstGeom prst="rect">
              <a:avLst/>
            </a:prstGeom>
            <a:grpFill/>
            <a:ln>
              <a:solidFill>
                <a:schemeClr val="accent2">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e</a:t>
              </a:r>
              <a:r>
                <a:rPr lang="en-IN" sz="1400" baseline="-25000" dirty="0">
                  <a:latin typeface="Arial Narrow" panose="020B0606020202030204" pitchFamily="34" charset="0"/>
                  <a:cs typeface="Times New Roman" panose="02020603050405020304" pitchFamily="18" charset="0"/>
                </a:rPr>
                <a:t>2,1</a:t>
              </a:r>
            </a:p>
          </p:txBody>
        </p:sp>
        <p:sp>
          <p:nvSpPr>
            <p:cNvPr id="79" name="Rectangle 78"/>
            <p:cNvSpPr/>
            <p:nvPr/>
          </p:nvSpPr>
          <p:spPr>
            <a:xfrm>
              <a:off x="4840161" y="3951643"/>
              <a:ext cx="466794" cy="322700"/>
            </a:xfrm>
            <a:prstGeom prst="rect">
              <a:avLst/>
            </a:prstGeom>
            <a:grpFill/>
            <a:ln>
              <a:solidFill>
                <a:schemeClr val="accent2">
                  <a:lumMod val="75000"/>
                </a:schemeClr>
              </a:solidFill>
            </a:ln>
          </p:spPr>
          <p:txBody>
            <a:bodyPr wrap="none">
              <a:normAutofit/>
            </a:bodyPr>
            <a:lstStyle/>
            <a:p>
              <a:r>
                <a:rPr lang="en-IN" sz="1400" dirty="0">
                  <a:latin typeface="Arial Narrow" panose="020B0606020202030204" pitchFamily="34" charset="0"/>
                  <a:cs typeface="Times New Roman" panose="02020603050405020304" pitchFamily="18" charset="0"/>
                </a:rPr>
                <a:t>e</a:t>
              </a:r>
              <a:r>
                <a:rPr lang="en-IN" sz="1400" baseline="-25000" dirty="0">
                  <a:latin typeface="Arial Narrow" panose="020B0606020202030204" pitchFamily="34" charset="0"/>
                  <a:cs typeface="Times New Roman" panose="02020603050405020304" pitchFamily="18" charset="0"/>
                </a:rPr>
                <a:t>2,2</a:t>
              </a:r>
            </a:p>
          </p:txBody>
        </p:sp>
      </p:grpSp>
      <p:cxnSp>
        <p:nvCxnSpPr>
          <p:cNvPr id="80" name="Straight Arrow Connector 79"/>
          <p:cNvCxnSpPr>
            <a:stCxn id="64" idx="2"/>
            <a:endCxn id="71" idx="0"/>
          </p:cNvCxnSpPr>
          <p:nvPr/>
        </p:nvCxnSpPr>
        <p:spPr>
          <a:xfrm>
            <a:off x="6149916" y="2860588"/>
            <a:ext cx="0" cy="619696"/>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a:stCxn id="65" idx="2"/>
            <a:endCxn id="72" idx="0"/>
          </p:cNvCxnSpPr>
          <p:nvPr/>
        </p:nvCxnSpPr>
        <p:spPr>
          <a:xfrm>
            <a:off x="6673143" y="2860588"/>
            <a:ext cx="1" cy="619698"/>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a:stCxn id="66" idx="2"/>
            <a:endCxn id="73" idx="0"/>
          </p:cNvCxnSpPr>
          <p:nvPr/>
        </p:nvCxnSpPr>
        <p:spPr>
          <a:xfrm>
            <a:off x="7197439" y="2860587"/>
            <a:ext cx="0" cy="619698"/>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a:cxnSpLocks/>
            <a:endCxn id="74" idx="1"/>
          </p:cNvCxnSpPr>
          <p:nvPr/>
        </p:nvCxnSpPr>
        <p:spPr>
          <a:xfrm flipV="1">
            <a:off x="5509088" y="4086686"/>
            <a:ext cx="378681" cy="10191"/>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84" name="Rectangle 83"/>
          <p:cNvSpPr/>
          <p:nvPr/>
        </p:nvSpPr>
        <p:spPr>
          <a:xfrm>
            <a:off x="6138591" y="4679822"/>
            <a:ext cx="1119216" cy="400110"/>
          </a:xfrm>
          <a:prstGeom prst="rect">
            <a:avLst/>
          </a:prstGeom>
        </p:spPr>
        <p:txBody>
          <a:bodyPr wrap="none">
            <a:spAutoFit/>
          </a:bodyPr>
          <a:lstStyle/>
          <a:p>
            <a:pPr algn="ctr"/>
            <a:r>
              <a:rPr lang="en-IN" sz="2000" dirty="0">
                <a:latin typeface="Arial Narrow" panose="020B0606020202030204" pitchFamily="34" charset="0"/>
                <a:cs typeface="Times New Roman" panose="02020603050405020304" pitchFamily="18" charset="0"/>
              </a:rPr>
              <a:t>Alignment</a:t>
            </a:r>
          </a:p>
        </p:txBody>
      </p:sp>
      <p:cxnSp>
        <p:nvCxnSpPr>
          <p:cNvPr id="3" name="Straight Arrow Connector 2"/>
          <p:cNvCxnSpPr>
            <a:stCxn id="76" idx="3"/>
            <a:endCxn id="17" idx="2"/>
          </p:cNvCxnSpPr>
          <p:nvPr/>
        </p:nvCxnSpPr>
        <p:spPr>
          <a:xfrm flipV="1">
            <a:off x="7459587" y="4086630"/>
            <a:ext cx="466987" cy="55"/>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17" idx="0"/>
            <a:endCxn id="50" idx="1"/>
          </p:cNvCxnSpPr>
          <p:nvPr/>
        </p:nvCxnSpPr>
        <p:spPr>
          <a:xfrm>
            <a:off x="8326684" y="4086630"/>
            <a:ext cx="494552" cy="56"/>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rot="5400000">
            <a:off x="7565033" y="3886574"/>
            <a:ext cx="1123191" cy="400110"/>
          </a:xfrm>
          <a:prstGeom prst="rect">
            <a:avLst/>
          </a:prstGeom>
          <a:solidFill>
            <a:srgbClr val="6B94A9">
              <a:alpha val="77000"/>
            </a:srgbClr>
          </a:solidFill>
          <a:ln w="19050">
            <a:solidFill>
              <a:srgbClr val="00B050"/>
            </a:solidFill>
          </a:ln>
        </p:spPr>
        <p:txBody>
          <a:bodyPr wrap="square" rtlCol="0">
            <a:spAutoFit/>
          </a:bodyPr>
          <a:lstStyle/>
          <a:p>
            <a:pPr algn="ctr"/>
            <a:r>
              <a:rPr lang="en-IN" sz="2000" dirty="0">
                <a:solidFill>
                  <a:schemeClr val="bg1"/>
                </a:solidFill>
                <a:latin typeface="Arial Narrow" panose="020B0606020202030204" pitchFamily="34" charset="0"/>
                <a:cs typeface="Times New Roman" panose="02020603050405020304" pitchFamily="18" charset="0"/>
              </a:rPr>
              <a:t>Softmax</a:t>
            </a:r>
          </a:p>
        </p:txBody>
      </p:sp>
      <p:cxnSp>
        <p:nvCxnSpPr>
          <p:cNvPr id="97" name="Straight Arrow Connector 96"/>
          <p:cNvCxnSpPr>
            <a:stCxn id="73" idx="3"/>
          </p:cNvCxnSpPr>
          <p:nvPr/>
        </p:nvCxnSpPr>
        <p:spPr>
          <a:xfrm>
            <a:off x="7459587" y="3682418"/>
            <a:ext cx="474607" cy="988"/>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p:cNvCxnSpPr>
            <a:endCxn id="47" idx="1"/>
          </p:cNvCxnSpPr>
          <p:nvPr/>
        </p:nvCxnSpPr>
        <p:spPr>
          <a:xfrm flipV="1">
            <a:off x="8334304" y="3682417"/>
            <a:ext cx="486931" cy="988"/>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p:cNvCxnSpPr>
            <a:stCxn id="79" idx="3"/>
          </p:cNvCxnSpPr>
          <p:nvPr/>
        </p:nvCxnSpPr>
        <p:spPr>
          <a:xfrm flipV="1">
            <a:off x="7459586" y="4483506"/>
            <a:ext cx="463813" cy="256"/>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p:cNvCxnSpPr>
            <a:endCxn id="53" idx="1"/>
          </p:cNvCxnSpPr>
          <p:nvPr/>
        </p:nvCxnSpPr>
        <p:spPr>
          <a:xfrm>
            <a:off x="8326684" y="4480330"/>
            <a:ext cx="494551" cy="3432"/>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86" name="TextBox 85"/>
          <p:cNvSpPr txBox="1"/>
          <p:nvPr/>
        </p:nvSpPr>
        <p:spPr>
          <a:xfrm rot="5400000">
            <a:off x="10212353" y="3882849"/>
            <a:ext cx="1268909" cy="400110"/>
          </a:xfrm>
          <a:prstGeom prst="rect">
            <a:avLst/>
          </a:prstGeom>
          <a:solidFill>
            <a:schemeClr val="bg2">
              <a:lumMod val="75000"/>
              <a:alpha val="77000"/>
            </a:schemeClr>
          </a:solidFill>
          <a:ln w="19050">
            <a:solidFill>
              <a:srgbClr val="002060"/>
            </a:solidFill>
          </a:ln>
        </p:spPr>
        <p:txBody>
          <a:bodyPr wrap="square" rtlCol="0">
            <a:spAutoFit/>
          </a:bodyPr>
          <a:lstStyle/>
          <a:p>
            <a:pPr algn="ctr"/>
            <a:r>
              <a:rPr lang="en-IN" sz="2000" dirty="0">
                <a:latin typeface="Arial Narrow" panose="020B0606020202030204" pitchFamily="34" charset="0"/>
                <a:cs typeface="Times New Roman" panose="02020603050405020304" pitchFamily="18" charset="0"/>
              </a:rPr>
              <a:t>mul + add</a:t>
            </a:r>
          </a:p>
        </p:txBody>
      </p:sp>
      <p:cxnSp>
        <p:nvCxnSpPr>
          <p:cNvPr id="87" name="Straight Arrow Connector 86"/>
          <p:cNvCxnSpPr>
            <a:stCxn id="52" idx="3"/>
            <a:endCxn id="86" idx="2"/>
          </p:cNvCxnSpPr>
          <p:nvPr/>
        </p:nvCxnSpPr>
        <p:spPr>
          <a:xfrm flipV="1">
            <a:off x="10353301" y="4082905"/>
            <a:ext cx="293452" cy="3779"/>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88" name="Oval 87"/>
          <p:cNvSpPr/>
          <p:nvPr/>
        </p:nvSpPr>
        <p:spPr>
          <a:xfrm>
            <a:off x="11541646" y="3853947"/>
            <a:ext cx="468699" cy="452903"/>
          </a:xfrm>
          <a:prstGeom prst="ellipse">
            <a:avLst/>
          </a:prstGeom>
          <a:solidFill>
            <a:schemeClr val="accent2">
              <a:lumMod val="60000"/>
              <a:lumOff val="40000"/>
            </a:schemeClr>
          </a:solidFill>
          <a:ln w="1587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dirty="0">
              <a:latin typeface="Arial Narrow" panose="020B0606020202030204" pitchFamily="34" charset="0"/>
              <a:cs typeface="Times New Roman" panose="02020603050405020304" pitchFamily="18" charset="0"/>
            </a:endParaRPr>
          </a:p>
        </p:txBody>
      </p:sp>
      <p:sp>
        <p:nvSpPr>
          <p:cNvPr id="89" name="Rectangle 88"/>
          <p:cNvSpPr/>
          <p:nvPr/>
        </p:nvSpPr>
        <p:spPr>
          <a:xfrm>
            <a:off x="11613196" y="3868071"/>
            <a:ext cx="390353" cy="400110"/>
          </a:xfrm>
          <a:prstGeom prst="rect">
            <a:avLst/>
          </a:prstGeom>
        </p:spPr>
        <p:txBody>
          <a:bodyPr wrap="square">
            <a:spAutoFit/>
          </a:bodyPr>
          <a:lstStyle/>
          <a:p>
            <a:r>
              <a:rPr lang="en-IN" sz="2000" dirty="0">
                <a:latin typeface="Arial Narrow" panose="020B0606020202030204" pitchFamily="34" charset="0"/>
                <a:cs typeface="Times New Roman" panose="02020603050405020304" pitchFamily="18" charset="0"/>
              </a:rPr>
              <a:t>c</a:t>
            </a:r>
          </a:p>
        </p:txBody>
      </p:sp>
      <p:cxnSp>
        <p:nvCxnSpPr>
          <p:cNvPr id="90" name="Straight Arrow Connector 89"/>
          <p:cNvCxnSpPr>
            <a:stCxn id="86" idx="0"/>
            <a:endCxn id="88" idx="2"/>
          </p:cNvCxnSpPr>
          <p:nvPr/>
        </p:nvCxnSpPr>
        <p:spPr>
          <a:xfrm flipV="1">
            <a:off x="11046863" y="4080399"/>
            <a:ext cx="494783" cy="2506"/>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577141" y="6001254"/>
            <a:ext cx="4017446" cy="707886"/>
          </a:xfrm>
          <a:prstGeom prst="rect">
            <a:avLst/>
          </a:prstGeom>
          <a:noFill/>
        </p:spPr>
        <p:txBody>
          <a:bodyPr wrap="none" rtlCol="0">
            <a:spAutoFit/>
          </a:bodyPr>
          <a:lstStyle/>
          <a:p>
            <a:pPr marL="285750" indent="-285750">
              <a:buFont typeface="Arial" panose="020B0604020202020204" pitchFamily="34" charset="0"/>
              <a:buChar char="•"/>
            </a:pPr>
            <a:r>
              <a:rPr lang="en-IN" sz="2000" dirty="0">
                <a:solidFill>
                  <a:srgbClr val="7030A0"/>
                </a:solidFill>
                <a:latin typeface="Arial Narrow" panose="020B0606020202030204" pitchFamily="34" charset="0"/>
                <a:cs typeface="Times New Roman" panose="02020603050405020304" pitchFamily="18" charset="0"/>
              </a:rPr>
              <a:t>Outputs : </a:t>
            </a:r>
          </a:p>
          <a:p>
            <a:pPr marL="742950" lvl="1" indent="-285750">
              <a:buFont typeface="Arial" panose="020B0604020202020204" pitchFamily="34" charset="0"/>
              <a:buChar char="•"/>
            </a:pPr>
            <a:r>
              <a:rPr lang="en-IN" sz="2000" dirty="0">
                <a:latin typeface="Arial Narrow" panose="020B0606020202030204" pitchFamily="34" charset="0"/>
                <a:cs typeface="Times New Roman" panose="02020603050405020304" pitchFamily="18" charset="0"/>
              </a:rPr>
              <a:t>Context vector : </a:t>
            </a:r>
            <a:r>
              <a:rPr lang="en-IN" sz="2000" dirty="0">
                <a:solidFill>
                  <a:srgbClr val="7030A0"/>
                </a:solidFill>
                <a:latin typeface="Arial Narrow" panose="020B0606020202030204" pitchFamily="34" charset="0"/>
                <a:cs typeface="Times New Roman" panose="02020603050405020304" pitchFamily="18" charset="0"/>
              </a:rPr>
              <a:t>c</a:t>
            </a:r>
            <a:r>
              <a:rPr lang="en-IN" sz="2000" dirty="0">
                <a:latin typeface="Arial Narrow" panose="020B0606020202030204" pitchFamily="34" charset="0"/>
                <a:cs typeface="Times New Roman" panose="02020603050405020304" pitchFamily="18" charset="0"/>
              </a:rPr>
              <a:t> Dimension : D)</a:t>
            </a:r>
          </a:p>
        </p:txBody>
      </p:sp>
      <p:cxnSp>
        <p:nvCxnSpPr>
          <p:cNvPr id="4" name="Straight Connector 3">
            <a:extLst>
              <a:ext uri="{FF2B5EF4-FFF2-40B4-BE49-F238E27FC236}">
                <a16:creationId xmlns:a16="http://schemas.microsoft.com/office/drawing/2014/main" id="{D0F5C531-C9BC-4B60-9E1F-6AABBEACD01A}"/>
              </a:ext>
            </a:extLst>
          </p:cNvPr>
          <p:cNvCxnSpPr>
            <a:cxnSpLocks/>
            <a:stCxn id="66" idx="3"/>
          </p:cNvCxnSpPr>
          <p:nvPr/>
        </p:nvCxnSpPr>
        <p:spPr>
          <a:xfrm>
            <a:off x="7459587" y="2665645"/>
            <a:ext cx="1617166" cy="0"/>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2354414E-0FA3-4F4C-9A4A-70F43AAACCBB}"/>
              </a:ext>
            </a:extLst>
          </p:cNvPr>
          <p:cNvCxnSpPr>
            <a:cxnSpLocks/>
            <a:endCxn id="47" idx="0"/>
          </p:cNvCxnSpPr>
          <p:nvPr/>
        </p:nvCxnSpPr>
        <p:spPr>
          <a:xfrm>
            <a:off x="9076753" y="2662082"/>
            <a:ext cx="0" cy="818202"/>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0EF7B32-A8BB-4976-B05F-E5ECE4863B04}"/>
              </a:ext>
            </a:extLst>
          </p:cNvPr>
          <p:cNvCxnSpPr>
            <a:cxnSpLocks/>
          </p:cNvCxnSpPr>
          <p:nvPr/>
        </p:nvCxnSpPr>
        <p:spPr>
          <a:xfrm flipV="1">
            <a:off x="7459589" y="2243579"/>
            <a:ext cx="2127159" cy="6135"/>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70A5CB3-9D06-499E-B959-297259268B41}"/>
              </a:ext>
            </a:extLst>
          </p:cNvPr>
          <p:cNvCxnSpPr>
            <a:cxnSpLocks/>
            <a:endCxn id="48" idx="0"/>
          </p:cNvCxnSpPr>
          <p:nvPr/>
        </p:nvCxnSpPr>
        <p:spPr>
          <a:xfrm>
            <a:off x="9577646" y="2243579"/>
            <a:ext cx="9102" cy="1236707"/>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D947EE5-9CBD-43C5-A040-8DDF52D1BDF2}"/>
              </a:ext>
            </a:extLst>
          </p:cNvPr>
          <p:cNvCxnSpPr>
            <a:cxnSpLocks/>
            <a:stCxn id="60" idx="3"/>
          </p:cNvCxnSpPr>
          <p:nvPr/>
        </p:nvCxnSpPr>
        <p:spPr>
          <a:xfrm flipV="1">
            <a:off x="7459589" y="1847654"/>
            <a:ext cx="2638194" cy="16646"/>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6C3FF46A-2B28-4031-8210-CE3972291A1D}"/>
              </a:ext>
            </a:extLst>
          </p:cNvPr>
          <p:cNvCxnSpPr>
            <a:cxnSpLocks/>
            <a:endCxn id="49" idx="0"/>
          </p:cNvCxnSpPr>
          <p:nvPr/>
        </p:nvCxnSpPr>
        <p:spPr>
          <a:xfrm>
            <a:off x="10097783" y="1847654"/>
            <a:ext cx="0" cy="1632631"/>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A2F0909B-EBAA-4889-983A-DC13CF87F597}"/>
              </a:ext>
            </a:extLst>
          </p:cNvPr>
          <p:cNvSpPr/>
          <p:nvPr/>
        </p:nvSpPr>
        <p:spPr>
          <a:xfrm>
            <a:off x="589212" y="1024469"/>
            <a:ext cx="4455756" cy="4093428"/>
          </a:xfrm>
          <a:prstGeom prst="rect">
            <a:avLst/>
          </a:prstGeom>
        </p:spPr>
        <p:txBody>
          <a:bodyPr wrap="square">
            <a:spAutoFit/>
          </a:bodyPr>
          <a:lstStyle/>
          <a:p>
            <a:pPr marL="342900" indent="-342900" algn="just">
              <a:buFont typeface="Arial" panose="020B0604020202020204" pitchFamily="34" charset="0"/>
              <a:buChar char="•"/>
            </a:pPr>
            <a:r>
              <a:rPr lang="en-US" sz="2000" b="0" i="0" dirty="0">
                <a:solidFill>
                  <a:srgbClr val="0D0D0D"/>
                </a:solidFill>
                <a:effectLst/>
                <a:latin typeface="Arial Narrow" panose="020B0606020202030204" pitchFamily="34" charset="0"/>
              </a:rPr>
              <a:t>The </a:t>
            </a:r>
            <a:r>
              <a:rPr lang="en-US" sz="2000" i="0" dirty="0">
                <a:solidFill>
                  <a:srgbClr val="7030A0"/>
                </a:solidFill>
                <a:effectLst/>
                <a:latin typeface="Arial Narrow" panose="020B0606020202030204" pitchFamily="34" charset="0"/>
              </a:rPr>
              <a:t>context vector</a:t>
            </a:r>
            <a:r>
              <a:rPr lang="en-US" sz="2000" b="0" i="0" dirty="0">
                <a:solidFill>
                  <a:srgbClr val="0D0D0D"/>
                </a:solidFill>
                <a:effectLst/>
                <a:latin typeface="Arial Narrow" panose="020B0606020202030204" pitchFamily="34" charset="0"/>
              </a:rPr>
              <a:t> is obtained by taking the weighted sum of the value vectors using the attention weights. </a:t>
            </a:r>
          </a:p>
          <a:p>
            <a:pPr marL="342900" indent="-342900" algn="just">
              <a:buFont typeface="Arial" panose="020B0604020202020204" pitchFamily="34" charset="0"/>
              <a:buChar char="•"/>
            </a:pPr>
            <a:endParaRPr lang="en-US" sz="2000" dirty="0">
              <a:solidFill>
                <a:srgbClr val="0D0D0D"/>
              </a:solidFill>
              <a:latin typeface="Arial Narrow" panose="020B0606020202030204" pitchFamily="34" charset="0"/>
            </a:endParaRPr>
          </a:p>
          <a:p>
            <a:pPr marL="342900" indent="-342900" algn="just">
              <a:buFont typeface="Arial" panose="020B0604020202020204" pitchFamily="34" charset="0"/>
              <a:buChar char="•"/>
            </a:pPr>
            <a:r>
              <a:rPr lang="en-US" sz="2000" b="0" i="0" dirty="0">
                <a:solidFill>
                  <a:srgbClr val="0D0D0D"/>
                </a:solidFill>
                <a:effectLst/>
                <a:latin typeface="Arial Narrow" panose="020B0606020202030204" pitchFamily="34" charset="0"/>
              </a:rPr>
              <a:t>Each </a:t>
            </a:r>
            <a:r>
              <a:rPr lang="en-US" sz="2000" b="0" i="0" dirty="0">
                <a:solidFill>
                  <a:srgbClr val="7030A0"/>
                </a:solidFill>
                <a:effectLst/>
                <a:latin typeface="Arial Narrow" panose="020B0606020202030204" pitchFamily="34" charset="0"/>
              </a:rPr>
              <a:t>value vector (here Features) </a:t>
            </a:r>
            <a:r>
              <a:rPr lang="en-US" sz="2000" b="0" i="0" dirty="0">
                <a:solidFill>
                  <a:srgbClr val="0D0D0D"/>
                </a:solidFill>
                <a:effectLst/>
                <a:latin typeface="Arial Narrow" panose="020B0606020202030204" pitchFamily="34" charset="0"/>
              </a:rPr>
              <a:t>is then multiplied by its corresponding attention weight, and all the weighted values are added together. </a:t>
            </a:r>
          </a:p>
          <a:p>
            <a:pPr marL="342900" indent="-342900" algn="just">
              <a:buFont typeface="Arial" panose="020B0604020202020204" pitchFamily="34" charset="0"/>
              <a:buChar char="•"/>
            </a:pPr>
            <a:endParaRPr lang="en-US" sz="2000" dirty="0">
              <a:solidFill>
                <a:srgbClr val="0D0D0D"/>
              </a:solidFill>
              <a:latin typeface="Arial Narrow" panose="020B0606020202030204" pitchFamily="34" charset="0"/>
            </a:endParaRPr>
          </a:p>
          <a:p>
            <a:pPr marL="342900" indent="-342900" algn="just">
              <a:buFont typeface="Arial" panose="020B0604020202020204" pitchFamily="34" charset="0"/>
              <a:buChar char="•"/>
            </a:pPr>
            <a:r>
              <a:rPr lang="en-US" sz="2000" b="0" i="0" dirty="0">
                <a:solidFill>
                  <a:srgbClr val="0D0D0D"/>
                </a:solidFill>
                <a:effectLst/>
                <a:latin typeface="Arial Narrow" panose="020B0606020202030204" pitchFamily="34" charset="0"/>
              </a:rPr>
              <a:t>The resulting vector is the </a:t>
            </a:r>
            <a:r>
              <a:rPr lang="en-US" sz="2000" i="0" dirty="0">
                <a:solidFill>
                  <a:srgbClr val="7030A0"/>
                </a:solidFill>
                <a:effectLst/>
                <a:latin typeface="Arial Narrow" panose="020B0606020202030204" pitchFamily="34" charset="0"/>
              </a:rPr>
              <a:t>context vector</a:t>
            </a:r>
            <a:r>
              <a:rPr lang="en-US" sz="2000" b="0" i="0" dirty="0">
                <a:solidFill>
                  <a:srgbClr val="0D0D0D"/>
                </a:solidFill>
                <a:effectLst/>
                <a:latin typeface="Arial Narrow" panose="020B0606020202030204" pitchFamily="34" charset="0"/>
              </a:rPr>
              <a:t>, which contains the most relevant information from the input sequence for the current query.</a:t>
            </a:r>
            <a:endParaRPr lang="en-IN" sz="2000" dirty="0">
              <a:latin typeface="Arial Narrow" panose="020B0606020202030204" pitchFamily="34" charset="0"/>
            </a:endParaRPr>
          </a:p>
        </p:txBody>
      </p:sp>
      <p:sp>
        <p:nvSpPr>
          <p:cNvPr id="91" name="Title 3">
            <a:extLst>
              <a:ext uri="{FF2B5EF4-FFF2-40B4-BE49-F238E27FC236}">
                <a16:creationId xmlns:a16="http://schemas.microsoft.com/office/drawing/2014/main" id="{3717ECE7-6C51-46CD-9E5B-51E3E6DEAAF7}"/>
              </a:ext>
            </a:extLst>
          </p:cNvPr>
          <p:cNvSpPr>
            <a:spLocks noGrp="1"/>
          </p:cNvSpPr>
          <p:nvPr>
            <p:ph type="title"/>
          </p:nvPr>
        </p:nvSpPr>
        <p:spPr>
          <a:xfrm>
            <a:off x="577141" y="-99180"/>
            <a:ext cx="10153651" cy="1404813"/>
          </a:xfrm>
        </p:spPr>
        <p:txBody>
          <a:bodyPr>
            <a:normAutofit/>
          </a:bodyPr>
          <a:lstStyle/>
          <a:p>
            <a:r>
              <a:rPr lang="en-IN" sz="3200" dirty="0">
                <a:latin typeface="Century" panose="02040604050505020304" pitchFamily="18" charset="0"/>
              </a:rPr>
              <a:t>How attention is computed in Image Captioning?</a:t>
            </a:r>
          </a:p>
        </p:txBody>
      </p:sp>
    </p:spTree>
    <p:extLst>
      <p:ext uri="{BB962C8B-B14F-4D97-AF65-F5344CB8AC3E}">
        <p14:creationId xmlns:p14="http://schemas.microsoft.com/office/powerpoint/2010/main" val="18353006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Rectangle 151">
            <a:extLst>
              <a:ext uri="{FF2B5EF4-FFF2-40B4-BE49-F238E27FC236}">
                <a16:creationId xmlns:a16="http://schemas.microsoft.com/office/drawing/2014/main" id="{0EEB5DC9-EE79-4262-AB80-0AE9E2CBAE86}"/>
              </a:ext>
            </a:extLst>
          </p:cNvPr>
          <p:cNvSpPr/>
          <p:nvPr/>
        </p:nvSpPr>
        <p:spPr>
          <a:xfrm>
            <a:off x="451653" y="2907635"/>
            <a:ext cx="3501782" cy="311361"/>
          </a:xfrm>
          <a:prstGeom prst="rect">
            <a:avLst/>
          </a:prstGeom>
          <a:solidFill>
            <a:schemeClr val="accent1">
              <a:lumMod val="40000"/>
              <a:lumOff val="60000"/>
              <a:alpha val="2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51" name="TextBox 150">
            <a:extLst>
              <a:ext uri="{FF2B5EF4-FFF2-40B4-BE49-F238E27FC236}">
                <a16:creationId xmlns:a16="http://schemas.microsoft.com/office/drawing/2014/main" id="{48B5E281-0F40-417E-A7EB-72E8C2D0C332}"/>
              </a:ext>
            </a:extLst>
          </p:cNvPr>
          <p:cNvSpPr txBox="1"/>
          <p:nvPr/>
        </p:nvSpPr>
        <p:spPr>
          <a:xfrm>
            <a:off x="359046" y="2511663"/>
            <a:ext cx="3818507" cy="1015663"/>
          </a:xfrm>
          <a:prstGeom prst="rect">
            <a:avLst/>
          </a:prstGeom>
          <a:noFill/>
        </p:spPr>
        <p:txBody>
          <a:bodyPr wrap="square" rtlCol="0">
            <a:spAutoFit/>
          </a:bodyPr>
          <a:lstStyle/>
          <a:p>
            <a:r>
              <a:rPr lang="en-IN" sz="2000" dirty="0">
                <a:latin typeface="Arial Narrow" panose="020B0606020202030204" pitchFamily="34" charset="0"/>
                <a:cs typeface="Times New Roman" panose="02020603050405020304" pitchFamily="18" charset="0"/>
              </a:rPr>
              <a:t>Inputs:</a:t>
            </a:r>
          </a:p>
          <a:p>
            <a:r>
              <a:rPr lang="en-IN" sz="2000" dirty="0">
                <a:latin typeface="Arial Narrow" panose="020B0606020202030204" pitchFamily="34" charset="0"/>
                <a:cs typeface="Times New Roman" panose="02020603050405020304" pitchFamily="18" charset="0"/>
              </a:rPr>
              <a:t>Input Vector X (Dimension : </a:t>
            </a:r>
            <a:r>
              <a:rPr lang="en-IN" sz="2000" dirty="0" err="1">
                <a:latin typeface="Arial Narrow" panose="020B0606020202030204" pitchFamily="34" charset="0"/>
                <a:cs typeface="Times New Roman" panose="02020603050405020304" pitchFamily="18" charset="0"/>
              </a:rPr>
              <a:t>NxD</a:t>
            </a:r>
            <a:r>
              <a:rPr lang="en-IN" sz="2000" dirty="0">
                <a:latin typeface="Arial Narrow" panose="020B0606020202030204" pitchFamily="34" charset="0"/>
                <a:cs typeface="Times New Roman" panose="02020603050405020304" pitchFamily="18" charset="0"/>
              </a:rPr>
              <a:t>)</a:t>
            </a:r>
          </a:p>
          <a:p>
            <a:r>
              <a:rPr lang="en-IN" sz="2000" dirty="0">
                <a:latin typeface="Arial Narrow" panose="020B0606020202030204" pitchFamily="34" charset="0"/>
                <a:cs typeface="Times New Roman" panose="02020603050405020304" pitchFamily="18" charset="0"/>
              </a:rPr>
              <a:t>Query Vector h (Dimension : D)</a:t>
            </a:r>
          </a:p>
        </p:txBody>
      </p:sp>
      <p:sp>
        <p:nvSpPr>
          <p:cNvPr id="4" name="Title 3">
            <a:extLst>
              <a:ext uri="{FF2B5EF4-FFF2-40B4-BE49-F238E27FC236}">
                <a16:creationId xmlns:a16="http://schemas.microsoft.com/office/drawing/2014/main" id="{A2854660-AFC7-4DD7-A283-5B8542308C87}"/>
              </a:ext>
            </a:extLst>
          </p:cNvPr>
          <p:cNvSpPr>
            <a:spLocks noGrp="1"/>
          </p:cNvSpPr>
          <p:nvPr>
            <p:ph type="title"/>
          </p:nvPr>
        </p:nvSpPr>
        <p:spPr>
          <a:xfrm>
            <a:off x="359046" y="473687"/>
            <a:ext cx="10515600" cy="859910"/>
          </a:xfrm>
        </p:spPr>
        <p:txBody>
          <a:bodyPr>
            <a:normAutofit/>
          </a:bodyPr>
          <a:lstStyle/>
          <a:p>
            <a:r>
              <a:rPr lang="en-IN" sz="3200" dirty="0">
                <a:latin typeface="Century" panose="02040604050505020304" pitchFamily="18" charset="0"/>
              </a:rPr>
              <a:t>Attention Layer</a:t>
            </a:r>
          </a:p>
        </p:txBody>
      </p:sp>
      <p:sp>
        <p:nvSpPr>
          <p:cNvPr id="42" name="TextBox 41">
            <a:extLst>
              <a:ext uri="{FF2B5EF4-FFF2-40B4-BE49-F238E27FC236}">
                <a16:creationId xmlns:a16="http://schemas.microsoft.com/office/drawing/2014/main" id="{34ABCD45-4722-4823-A4C0-ED95878A56CF}"/>
              </a:ext>
            </a:extLst>
          </p:cNvPr>
          <p:cNvSpPr txBox="1"/>
          <p:nvPr/>
        </p:nvSpPr>
        <p:spPr>
          <a:xfrm>
            <a:off x="6581775" y="6492875"/>
            <a:ext cx="5610225" cy="307777"/>
          </a:xfrm>
          <a:prstGeom prst="rect">
            <a:avLst/>
          </a:prstGeom>
          <a:noFill/>
        </p:spPr>
        <p:txBody>
          <a:bodyPr wrap="square" rtlCol="0">
            <a:spAutoFit/>
          </a:bodyPr>
          <a:lstStyle/>
          <a:p>
            <a:r>
              <a:rPr lang="en-IN" sz="1400" dirty="0">
                <a:latin typeface="Arial Narrow" panose="020B0606020202030204" pitchFamily="34" charset="0"/>
                <a:cs typeface="Times New Roman" panose="02020603050405020304" pitchFamily="18" charset="0"/>
              </a:rPr>
              <a:t>Concept: Fei-Fei Li Attention and Transformers CS231n Stanford Lecture</a:t>
            </a:r>
          </a:p>
        </p:txBody>
      </p:sp>
      <p:grpSp>
        <p:nvGrpSpPr>
          <p:cNvPr id="158" name="Group 157"/>
          <p:cNvGrpSpPr/>
          <p:nvPr/>
        </p:nvGrpSpPr>
        <p:grpSpPr>
          <a:xfrm>
            <a:off x="600364" y="3565251"/>
            <a:ext cx="9199883" cy="3170075"/>
            <a:chOff x="600364" y="3565251"/>
            <a:chExt cx="9199883" cy="3170075"/>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D6D90FF-8B08-44E6-ADD1-B975BDF15677}"/>
                    </a:ext>
                  </a:extLst>
                </p:cNvPr>
                <p:cNvSpPr txBox="1"/>
                <p:nvPr/>
              </p:nvSpPr>
              <p:spPr>
                <a:xfrm rot="10800000" flipV="1">
                  <a:off x="2704639" y="4008572"/>
                  <a:ext cx="503989" cy="51935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n-IN" b="0" i="1" smtClean="0">
                                <a:latin typeface="Cambria Math" panose="02040503050406030204" pitchFamily="18" charset="0"/>
                              </a:rPr>
                              <m:t>1</m:t>
                            </m:r>
                          </m:sub>
                        </m:sSub>
                      </m:oMath>
                    </m:oMathPara>
                  </a14:m>
                  <a:endParaRPr lang="en-IN" dirty="0">
                    <a:latin typeface="Arial Narrow" panose="020B0606020202030204" pitchFamily="34" charset="0"/>
                  </a:endParaRPr>
                </a:p>
              </p:txBody>
            </p:sp>
          </mc:Choice>
          <mc:Fallback xmlns="">
            <p:sp>
              <p:nvSpPr>
                <p:cNvPr id="5" name="TextBox 4">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2704639" y="4008572"/>
                  <a:ext cx="503989" cy="519351"/>
                </a:xfrm>
                <a:prstGeom prst="ellipse">
                  <a:avLst/>
                </a:prstGeom>
                <a:blipFill>
                  <a:blip r:embed="rId2"/>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6F03E2E-8229-4DFD-869B-C4F6CF96084E}"/>
                    </a:ext>
                  </a:extLst>
                </p:cNvPr>
                <p:cNvSpPr txBox="1"/>
                <p:nvPr/>
              </p:nvSpPr>
              <p:spPr>
                <a:xfrm rot="10800000" flipV="1">
                  <a:off x="2149166" y="4008572"/>
                  <a:ext cx="503989" cy="51935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n-IN" b="0" i="1" smtClean="0">
                                <a:latin typeface="Cambria Math" panose="02040503050406030204" pitchFamily="18" charset="0"/>
                              </a:rPr>
                              <m:t>2</m:t>
                            </m:r>
                          </m:sub>
                        </m:sSub>
                      </m:oMath>
                    </m:oMathPara>
                  </a14:m>
                  <a:endParaRPr lang="en-IN" dirty="0">
                    <a:latin typeface="Arial Narrow" panose="020B0606020202030204" pitchFamily="34" charset="0"/>
                  </a:endParaRPr>
                </a:p>
              </p:txBody>
            </p:sp>
          </mc:Choice>
          <mc:Fallback xmlns="">
            <p:sp>
              <p:nvSpPr>
                <p:cNvPr id="6" name="TextBox 5">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2149166" y="4008572"/>
                  <a:ext cx="503989" cy="519351"/>
                </a:xfrm>
                <a:prstGeom prst="ellipse">
                  <a:avLst/>
                </a:prstGeom>
                <a:blipFill>
                  <a:blip r:embed="rId3"/>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F1D3D16-4F7D-4FD0-95EB-E2360401B577}"/>
                    </a:ext>
                  </a:extLst>
                </p:cNvPr>
                <p:cNvSpPr txBox="1"/>
                <p:nvPr/>
              </p:nvSpPr>
              <p:spPr>
                <a:xfrm rot="10800000" flipV="1">
                  <a:off x="1599076" y="4008573"/>
                  <a:ext cx="503989" cy="51935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n-IN" b="0" i="1" smtClean="0">
                                <a:latin typeface="Cambria Math" panose="02040503050406030204" pitchFamily="18" charset="0"/>
                              </a:rPr>
                              <m:t>3</m:t>
                            </m:r>
                          </m:sub>
                        </m:sSub>
                      </m:oMath>
                    </m:oMathPara>
                  </a14:m>
                  <a:endParaRPr lang="en-IN" dirty="0">
                    <a:latin typeface="Arial Narrow" panose="020B0606020202030204" pitchFamily="34" charset="0"/>
                  </a:endParaRPr>
                </a:p>
              </p:txBody>
            </p:sp>
          </mc:Choice>
          <mc:Fallback xmlns="">
            <p:sp>
              <p:nvSpPr>
                <p:cNvPr id="7" name="TextBox 6">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1599076" y="4008573"/>
                  <a:ext cx="503989" cy="519351"/>
                </a:xfrm>
                <a:prstGeom prst="ellipse">
                  <a:avLst/>
                </a:prstGeom>
                <a:blipFill>
                  <a:blip r:embed="rId4"/>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8434757-453A-49BA-B417-238E5FFE6B79}"/>
                    </a:ext>
                  </a:extLst>
                </p:cNvPr>
                <p:cNvSpPr txBox="1"/>
                <p:nvPr/>
              </p:nvSpPr>
              <p:spPr>
                <a:xfrm rot="10800000" flipV="1">
                  <a:off x="2710348" y="4890912"/>
                  <a:ext cx="503989" cy="51935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oMath>
                    </m:oMathPara>
                  </a14:m>
                  <a:endParaRPr lang="en-IN" dirty="0">
                    <a:latin typeface="Arial Narrow" panose="020B0606020202030204" pitchFamily="34" charset="0"/>
                  </a:endParaRPr>
                </a:p>
              </p:txBody>
            </p:sp>
          </mc:Choice>
          <mc:Fallback xmlns="">
            <p:sp>
              <p:nvSpPr>
                <p:cNvPr id="8" name="TextBox 7">
                  <a:extLst>
                    <a:ext uri="{FF2B5EF4-FFF2-40B4-BE49-F238E27FC236}">
                      <a16:creationId xmlns:a16="http://schemas.microsoft.com/office/drawing/2014/main" id="{98434757-453A-49BA-B417-238E5FFE6B79}"/>
                    </a:ext>
                  </a:extLst>
                </p:cNvPr>
                <p:cNvSpPr txBox="1">
                  <a:spLocks noRot="1" noChangeAspect="1" noMove="1" noResize="1" noEditPoints="1" noAdjustHandles="1" noChangeArrowheads="1" noChangeShapeType="1" noTextEdit="1"/>
                </p:cNvSpPr>
                <p:nvPr/>
              </p:nvSpPr>
              <p:spPr>
                <a:xfrm rot="10800000" flipV="1">
                  <a:off x="2710348" y="4890912"/>
                  <a:ext cx="503989" cy="519351"/>
                </a:xfrm>
                <a:prstGeom prst="ellipse">
                  <a:avLst/>
                </a:prstGeom>
                <a:blipFill>
                  <a:blip r:embed="rId5"/>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8E17763-565A-4B77-80A1-9B07A3DF1DA4}"/>
                    </a:ext>
                  </a:extLst>
                </p:cNvPr>
                <p:cNvSpPr txBox="1"/>
                <p:nvPr/>
              </p:nvSpPr>
              <p:spPr>
                <a:xfrm rot="10800000" flipV="1">
                  <a:off x="2149166" y="4886817"/>
                  <a:ext cx="503989" cy="51935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2</m:t>
                            </m:r>
                          </m:sub>
                        </m:sSub>
                      </m:oMath>
                    </m:oMathPara>
                  </a14:m>
                  <a:endParaRPr lang="en-IN" dirty="0">
                    <a:latin typeface="Arial Narrow" panose="020B0606020202030204" pitchFamily="34" charset="0"/>
                  </a:endParaRPr>
                </a:p>
              </p:txBody>
            </p:sp>
          </mc:Choice>
          <mc:Fallback xmlns="">
            <p:sp>
              <p:nvSpPr>
                <p:cNvPr id="9" name="TextBox 8">
                  <a:extLst>
                    <a:ext uri="{FF2B5EF4-FFF2-40B4-BE49-F238E27FC236}">
                      <a16:creationId xmlns:a16="http://schemas.microsoft.com/office/drawing/2014/main" id="{B8E17763-565A-4B77-80A1-9B07A3DF1DA4}"/>
                    </a:ext>
                  </a:extLst>
                </p:cNvPr>
                <p:cNvSpPr txBox="1">
                  <a:spLocks noRot="1" noChangeAspect="1" noMove="1" noResize="1" noEditPoints="1" noAdjustHandles="1" noChangeArrowheads="1" noChangeShapeType="1" noTextEdit="1"/>
                </p:cNvSpPr>
                <p:nvPr/>
              </p:nvSpPr>
              <p:spPr>
                <a:xfrm rot="10800000" flipV="1">
                  <a:off x="2149166" y="4886817"/>
                  <a:ext cx="503989" cy="519351"/>
                </a:xfrm>
                <a:prstGeom prst="ellipse">
                  <a:avLst/>
                </a:prstGeom>
                <a:blipFill>
                  <a:blip r:embed="rId6"/>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8FC9D7E-BEDD-4715-866C-F8B1DB2EC23B}"/>
                    </a:ext>
                  </a:extLst>
                </p:cNvPr>
                <p:cNvSpPr txBox="1"/>
                <p:nvPr/>
              </p:nvSpPr>
              <p:spPr>
                <a:xfrm rot="10800000" flipV="1">
                  <a:off x="1599076" y="4886817"/>
                  <a:ext cx="503989" cy="51935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3</m:t>
                            </m:r>
                          </m:sub>
                        </m:sSub>
                      </m:oMath>
                    </m:oMathPara>
                  </a14:m>
                  <a:endParaRPr lang="en-IN" dirty="0">
                    <a:latin typeface="Arial Narrow" panose="020B0606020202030204" pitchFamily="34" charset="0"/>
                  </a:endParaRPr>
                </a:p>
              </p:txBody>
            </p:sp>
          </mc:Choice>
          <mc:Fallback xmlns="">
            <p:sp>
              <p:nvSpPr>
                <p:cNvPr id="10" name="TextBox 9">
                  <a:extLst>
                    <a:ext uri="{FF2B5EF4-FFF2-40B4-BE49-F238E27FC236}">
                      <a16:creationId xmlns:a16="http://schemas.microsoft.com/office/drawing/2014/main" id="{C8FC9D7E-BEDD-4715-866C-F8B1DB2EC23B}"/>
                    </a:ext>
                  </a:extLst>
                </p:cNvPr>
                <p:cNvSpPr txBox="1">
                  <a:spLocks noRot="1" noChangeAspect="1" noMove="1" noResize="1" noEditPoints="1" noAdjustHandles="1" noChangeArrowheads="1" noChangeShapeType="1" noTextEdit="1"/>
                </p:cNvSpPr>
                <p:nvPr/>
              </p:nvSpPr>
              <p:spPr>
                <a:xfrm rot="10800000" flipV="1">
                  <a:off x="1599076" y="4886817"/>
                  <a:ext cx="503989" cy="519351"/>
                </a:xfrm>
                <a:prstGeom prst="ellipse">
                  <a:avLst/>
                </a:prstGeom>
                <a:blipFill>
                  <a:blip r:embed="rId7"/>
                  <a:stretch>
                    <a:fillRect/>
                  </a:stretch>
                </a:blipFill>
                <a:ln w="12700">
                  <a:solidFill>
                    <a:schemeClr val="tx1"/>
                  </a:solidFill>
                </a:ln>
              </p:spPr>
              <p:txBody>
                <a:bodyPr/>
                <a:lstStyle/>
                <a:p>
                  <a:r>
                    <a:rPr lang="en-IN">
                      <a:noFill/>
                    </a:rPr>
                    <a:t> </a:t>
                  </a:r>
                </a:p>
              </p:txBody>
            </p:sp>
          </mc:Fallback>
        </mc:AlternateContent>
        <p:cxnSp>
          <p:nvCxnSpPr>
            <p:cNvPr id="12" name="Straight Arrow Connector 11">
              <a:extLst>
                <a:ext uri="{FF2B5EF4-FFF2-40B4-BE49-F238E27FC236}">
                  <a16:creationId xmlns:a16="http://schemas.microsoft.com/office/drawing/2014/main" id="{A263021F-7328-4211-909D-49F49CA28D98}"/>
                </a:ext>
              </a:extLst>
            </p:cNvPr>
            <p:cNvCxnSpPr>
              <a:stCxn id="8" idx="0"/>
              <a:endCxn id="5" idx="4"/>
            </p:cNvCxnSpPr>
            <p:nvPr/>
          </p:nvCxnSpPr>
          <p:spPr>
            <a:xfrm flipH="1" flipV="1">
              <a:off x="2956633" y="4527923"/>
              <a:ext cx="5709" cy="362989"/>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48E3A579-0DB9-42B0-BAF2-784E8D2CED22}"/>
                </a:ext>
              </a:extLst>
            </p:cNvPr>
            <p:cNvCxnSpPr>
              <a:cxnSpLocks/>
              <a:stCxn id="9" idx="0"/>
              <a:endCxn id="6" idx="4"/>
            </p:cNvCxnSpPr>
            <p:nvPr/>
          </p:nvCxnSpPr>
          <p:spPr>
            <a:xfrm flipV="1">
              <a:off x="2401160" y="4527923"/>
              <a:ext cx="0" cy="358894"/>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C1137974-CC6B-47D3-81CF-6AC92B143B47}"/>
                </a:ext>
              </a:extLst>
            </p:cNvPr>
            <p:cNvCxnSpPr>
              <a:cxnSpLocks/>
              <a:stCxn id="10" idx="0"/>
              <a:endCxn id="7" idx="4"/>
            </p:cNvCxnSpPr>
            <p:nvPr/>
          </p:nvCxnSpPr>
          <p:spPr>
            <a:xfrm flipV="1">
              <a:off x="1851070" y="4527924"/>
              <a:ext cx="0" cy="358893"/>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9F7A9C69-BDD0-4A8F-93A2-06B1642E46C3}"/>
                </a:ext>
              </a:extLst>
            </p:cNvPr>
            <p:cNvSpPr txBox="1"/>
            <p:nvPr/>
          </p:nvSpPr>
          <p:spPr>
            <a:xfrm rot="10800000" flipV="1">
              <a:off x="3797285" y="4079328"/>
              <a:ext cx="923375" cy="369332"/>
            </a:xfrm>
            <a:prstGeom prst="rect">
              <a:avLst/>
            </a:prstGeom>
            <a:noFill/>
            <a:ln>
              <a:solidFill>
                <a:srgbClr val="002060"/>
              </a:solidFill>
            </a:ln>
          </p:spPr>
          <p:txBody>
            <a:bodyPr wrap="square" rtlCol="0">
              <a:spAutoFit/>
            </a:bodyPr>
            <a:lstStyle/>
            <a:p>
              <a:pPr algn="ctr"/>
              <a:r>
                <a:rPr lang="en-IN" dirty="0" err="1">
                  <a:latin typeface="Arial Narrow" panose="020B0606020202030204" pitchFamily="34" charset="0"/>
                  <a:cs typeface="Times New Roman" panose="02020603050405020304" pitchFamily="18" charset="0"/>
                </a:rPr>
                <a:t>softmax</a:t>
              </a:r>
              <a:endParaRPr lang="en-IN" dirty="0">
                <a:latin typeface="Arial Narrow" panose="020B0606020202030204" pitchFamily="34" charset="0"/>
                <a:cs typeface="Times New Roman" panose="02020603050405020304" pitchFamily="18" charset="0"/>
              </a:endParaRPr>
            </a:p>
          </p:txBody>
        </p:sp>
        <p:cxnSp>
          <p:nvCxnSpPr>
            <p:cNvPr id="65" name="Straight Arrow Connector 64">
              <a:extLst>
                <a:ext uri="{FF2B5EF4-FFF2-40B4-BE49-F238E27FC236}">
                  <a16:creationId xmlns:a16="http://schemas.microsoft.com/office/drawing/2014/main" id="{47F04F6C-A5DE-48AC-A93E-885D326C2D52}"/>
                </a:ext>
              </a:extLst>
            </p:cNvPr>
            <p:cNvCxnSpPr>
              <a:cxnSpLocks/>
              <a:stCxn id="105" idx="2"/>
              <a:endCxn id="94" idx="3"/>
            </p:cNvCxnSpPr>
            <p:nvPr/>
          </p:nvCxnSpPr>
          <p:spPr>
            <a:xfrm>
              <a:off x="6818694" y="4268248"/>
              <a:ext cx="623543" cy="1984"/>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93CE584A-6224-4185-BA7F-7DBE679AAC01}"/>
                </a:ext>
              </a:extLst>
            </p:cNvPr>
            <p:cNvCxnSpPr>
              <a:cxnSpLocks/>
              <a:endCxn id="63" idx="3"/>
            </p:cNvCxnSpPr>
            <p:nvPr/>
          </p:nvCxnSpPr>
          <p:spPr>
            <a:xfrm flipV="1">
              <a:off x="3238568" y="4263994"/>
              <a:ext cx="558717" cy="4254"/>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CB478EDF-F147-4A46-ACD7-767B4A547BF2}"/>
                    </a:ext>
                  </a:extLst>
                </p:cNvPr>
                <p:cNvSpPr txBox="1"/>
                <p:nvPr/>
              </p:nvSpPr>
              <p:spPr>
                <a:xfrm rot="10800000" flipV="1">
                  <a:off x="600364" y="3986932"/>
                  <a:ext cx="508127" cy="562630"/>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IN" sz="2000" i="1" smtClean="0">
                            <a:latin typeface="Cambria Math" panose="02040503050406030204" pitchFamily="18" charset="0"/>
                          </a:rPr>
                          <m:t>h</m:t>
                        </m:r>
                      </m:oMath>
                    </m:oMathPara>
                  </a14:m>
                  <a:endParaRPr lang="en-IN" sz="2000" dirty="0">
                    <a:latin typeface="Arial Narrow" panose="020B0606020202030204" pitchFamily="34" charset="0"/>
                  </a:endParaRPr>
                </a:p>
              </p:txBody>
            </p:sp>
          </mc:Choice>
          <mc:Fallback xmlns="">
            <p:sp>
              <p:nvSpPr>
                <p:cNvPr id="88" name="TextBox 87">
                  <a:extLst>
                    <a:ext uri="{FF2B5EF4-FFF2-40B4-BE49-F238E27FC236}">
                      <a16:creationId xmlns:a16="http://schemas.microsoft.com/office/drawing/2014/main" id="{CB478EDF-F147-4A46-ACD7-767B4A547BF2}"/>
                    </a:ext>
                  </a:extLst>
                </p:cNvPr>
                <p:cNvSpPr txBox="1">
                  <a:spLocks noRot="1" noChangeAspect="1" noMove="1" noResize="1" noEditPoints="1" noAdjustHandles="1" noChangeArrowheads="1" noChangeShapeType="1" noTextEdit="1"/>
                </p:cNvSpPr>
                <p:nvPr/>
              </p:nvSpPr>
              <p:spPr>
                <a:xfrm rot="10800000" flipV="1">
                  <a:off x="600364" y="3986932"/>
                  <a:ext cx="508127" cy="562630"/>
                </a:xfrm>
                <a:prstGeom prst="ellipse">
                  <a:avLst/>
                </a:prstGeom>
                <a:blipFill>
                  <a:blip r:embed="rId8"/>
                  <a:stretch>
                    <a:fillRect/>
                  </a:stretch>
                </a:blipFill>
                <a:ln w="12700">
                  <a:solidFill>
                    <a:schemeClr val="tx1"/>
                  </a:solidFill>
                </a:ln>
              </p:spPr>
              <p:txBody>
                <a:bodyPr/>
                <a:lstStyle/>
                <a:p>
                  <a:r>
                    <a:rPr lang="en-IN">
                      <a:noFill/>
                    </a:rPr>
                    <a:t> </a:t>
                  </a:r>
                </a:p>
              </p:txBody>
            </p:sp>
          </mc:Fallback>
        </mc:AlternateContent>
        <p:cxnSp>
          <p:nvCxnSpPr>
            <p:cNvPr id="90" name="Straight Arrow Connector 89">
              <a:extLst>
                <a:ext uri="{FF2B5EF4-FFF2-40B4-BE49-F238E27FC236}">
                  <a16:creationId xmlns:a16="http://schemas.microsoft.com/office/drawing/2014/main" id="{20C9C6AC-19F5-4564-9E13-1B8D0A63390D}"/>
                </a:ext>
              </a:extLst>
            </p:cNvPr>
            <p:cNvCxnSpPr>
              <a:stCxn id="88" idx="2"/>
              <a:endCxn id="7" idx="6"/>
            </p:cNvCxnSpPr>
            <p:nvPr/>
          </p:nvCxnSpPr>
          <p:spPr>
            <a:xfrm>
              <a:off x="1108491" y="4268247"/>
              <a:ext cx="490585" cy="2"/>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19A753A8-AD35-4022-B3B3-F8FBEA03A328}"/>
                </a:ext>
              </a:extLst>
            </p:cNvPr>
            <p:cNvCxnSpPr>
              <a:stCxn id="94" idx="1"/>
              <a:endCxn id="96" idx="6"/>
            </p:cNvCxnSpPr>
            <p:nvPr/>
          </p:nvCxnSpPr>
          <p:spPr>
            <a:xfrm flipV="1">
              <a:off x="8880076" y="4268248"/>
              <a:ext cx="416182" cy="1984"/>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A3B9A7C8-E18A-4216-ABA7-D4FFF52E7DCF}"/>
                </a:ext>
              </a:extLst>
            </p:cNvPr>
            <p:cNvSpPr txBox="1"/>
            <p:nvPr/>
          </p:nvSpPr>
          <p:spPr>
            <a:xfrm rot="10800000" flipV="1">
              <a:off x="7442237" y="4085566"/>
              <a:ext cx="1437839" cy="369332"/>
            </a:xfrm>
            <a:prstGeom prst="rect">
              <a:avLst/>
            </a:prstGeom>
            <a:noFill/>
            <a:ln>
              <a:solidFill>
                <a:srgbClr val="002060"/>
              </a:solidFill>
            </a:ln>
          </p:spPr>
          <p:txBody>
            <a:bodyPr wrap="square" rtlCol="0">
              <a:spAutoFit/>
            </a:bodyPr>
            <a:lstStyle/>
            <a:p>
              <a:pPr algn="ctr"/>
              <a:r>
                <a:rPr lang="en-IN" dirty="0" err="1">
                  <a:latin typeface="Arial Narrow" panose="020B0606020202030204" pitchFamily="34" charset="0"/>
                  <a:cs typeface="Times New Roman" panose="02020603050405020304" pitchFamily="18" charset="0"/>
                </a:rPr>
                <a:t>mul</a:t>
              </a:r>
              <a:r>
                <a:rPr lang="en-IN" dirty="0">
                  <a:latin typeface="Arial Narrow" panose="020B0606020202030204" pitchFamily="34" charset="0"/>
                  <a:cs typeface="Times New Roman" panose="02020603050405020304" pitchFamily="18" charset="0"/>
                </a:rPr>
                <a:t> + add</a:t>
              </a:r>
            </a:p>
          </p:txBody>
        </p:sp>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6803D624-9F2D-4CB6-A000-91DDACFD0A2B}"/>
                    </a:ext>
                  </a:extLst>
                </p:cNvPr>
                <p:cNvSpPr txBox="1"/>
                <p:nvPr/>
              </p:nvSpPr>
              <p:spPr>
                <a:xfrm rot="10800000" flipV="1">
                  <a:off x="9296258" y="4008572"/>
                  <a:ext cx="503989" cy="51935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𝑐</m:t>
                        </m:r>
                      </m:oMath>
                    </m:oMathPara>
                  </a14:m>
                  <a:endParaRPr lang="en-IN" dirty="0">
                    <a:latin typeface="Arial Narrow" panose="020B0606020202030204" pitchFamily="34" charset="0"/>
                  </a:endParaRPr>
                </a:p>
              </p:txBody>
            </p:sp>
          </mc:Choice>
          <mc:Fallback xmlns="">
            <p:sp>
              <p:nvSpPr>
                <p:cNvPr id="96" name="TextBox 95">
                  <a:extLst>
                    <a:ext uri="{FF2B5EF4-FFF2-40B4-BE49-F238E27FC236}">
                      <a16:creationId xmlns:a16="http://schemas.microsoft.com/office/drawing/2014/main" id="{6803D624-9F2D-4CB6-A000-91DDACFD0A2B}"/>
                    </a:ext>
                  </a:extLst>
                </p:cNvPr>
                <p:cNvSpPr txBox="1">
                  <a:spLocks noRot="1" noChangeAspect="1" noMove="1" noResize="1" noEditPoints="1" noAdjustHandles="1" noChangeArrowheads="1" noChangeShapeType="1" noTextEdit="1"/>
                </p:cNvSpPr>
                <p:nvPr/>
              </p:nvSpPr>
              <p:spPr>
                <a:xfrm rot="10800000" flipV="1">
                  <a:off x="9296258" y="4008572"/>
                  <a:ext cx="503989" cy="519351"/>
                </a:xfrm>
                <a:prstGeom prst="ellipse">
                  <a:avLst/>
                </a:prstGeom>
                <a:blipFill>
                  <a:blip r:embed="rId9"/>
                  <a:stretch>
                    <a:fillRect/>
                  </a:stretch>
                </a:blipFill>
                <a:ln w="12700">
                  <a:solidFill>
                    <a:schemeClr val="tx1"/>
                  </a:solidFill>
                </a:ln>
              </p:spPr>
              <p:txBody>
                <a:bodyPr/>
                <a:lstStyle/>
                <a:p>
                  <a:r>
                    <a:rPr lang="en-IN">
                      <a:noFill/>
                    </a:rPr>
                    <a:t> </a:t>
                  </a:r>
                </a:p>
              </p:txBody>
            </p:sp>
          </mc:Fallback>
        </mc:AlternateContent>
        <p:sp>
          <p:nvSpPr>
            <p:cNvPr id="97" name="TextBox 96">
              <a:extLst>
                <a:ext uri="{FF2B5EF4-FFF2-40B4-BE49-F238E27FC236}">
                  <a16:creationId xmlns:a16="http://schemas.microsoft.com/office/drawing/2014/main" id="{E17818E8-007B-45D8-AD06-1A2108924884}"/>
                </a:ext>
              </a:extLst>
            </p:cNvPr>
            <p:cNvSpPr txBox="1"/>
            <p:nvPr/>
          </p:nvSpPr>
          <p:spPr>
            <a:xfrm rot="10800000" flipV="1">
              <a:off x="1738827" y="3582725"/>
              <a:ext cx="1355644" cy="369332"/>
            </a:xfrm>
            <a:prstGeom prst="rect">
              <a:avLst/>
            </a:prstGeom>
            <a:noFill/>
          </p:spPr>
          <p:txBody>
            <a:bodyPr wrap="square" rtlCol="0">
              <a:spAutoFit/>
            </a:bodyPr>
            <a:lstStyle/>
            <a:p>
              <a:r>
                <a:rPr lang="en-IN" dirty="0">
                  <a:latin typeface="Arial Narrow" panose="020B0606020202030204" pitchFamily="34" charset="0"/>
                  <a:cs typeface="Times New Roman" panose="02020603050405020304" pitchFamily="18" charset="0"/>
                </a:rPr>
                <a:t>Alignment</a:t>
              </a:r>
            </a:p>
          </p:txBody>
        </p:sp>
        <p:sp>
          <p:nvSpPr>
            <p:cNvPr id="98" name="TextBox 97">
              <a:extLst>
                <a:ext uri="{FF2B5EF4-FFF2-40B4-BE49-F238E27FC236}">
                  <a16:creationId xmlns:a16="http://schemas.microsoft.com/office/drawing/2014/main" id="{A8C9EC39-2EA1-4820-AB08-8E44D249B4B8}"/>
                </a:ext>
              </a:extLst>
            </p:cNvPr>
            <p:cNvSpPr txBox="1"/>
            <p:nvPr/>
          </p:nvSpPr>
          <p:spPr>
            <a:xfrm rot="10800000" flipV="1">
              <a:off x="5461136" y="3565251"/>
              <a:ext cx="1355644" cy="369332"/>
            </a:xfrm>
            <a:prstGeom prst="rect">
              <a:avLst/>
            </a:prstGeom>
            <a:noFill/>
          </p:spPr>
          <p:txBody>
            <a:bodyPr wrap="square" rtlCol="0">
              <a:spAutoFit/>
            </a:bodyPr>
            <a:lstStyle/>
            <a:p>
              <a:r>
                <a:rPr lang="en-IN" dirty="0">
                  <a:latin typeface="Arial Narrow" panose="020B0606020202030204" pitchFamily="34" charset="0"/>
                  <a:cs typeface="Times New Roman" panose="02020603050405020304" pitchFamily="18" charset="0"/>
                </a:rPr>
                <a:t>Attention</a:t>
              </a:r>
            </a:p>
          </p:txBody>
        </p:sp>
        <p:sp>
          <p:nvSpPr>
            <p:cNvPr id="103" name="TextBox 102">
              <a:extLst>
                <a:ext uri="{FF2B5EF4-FFF2-40B4-BE49-F238E27FC236}">
                  <a16:creationId xmlns:a16="http://schemas.microsoft.com/office/drawing/2014/main" id="{03D7A7FB-37B5-491B-9275-F91C88822728}"/>
                </a:ext>
              </a:extLst>
            </p:cNvPr>
            <p:cNvSpPr txBox="1"/>
            <p:nvPr/>
          </p:nvSpPr>
          <p:spPr>
            <a:xfrm rot="10800000" flipV="1">
              <a:off x="1738826" y="6365994"/>
              <a:ext cx="1583957" cy="369332"/>
            </a:xfrm>
            <a:prstGeom prst="rect">
              <a:avLst/>
            </a:prstGeom>
            <a:noFill/>
          </p:spPr>
          <p:txBody>
            <a:bodyPr wrap="square" rtlCol="0">
              <a:spAutoFit/>
            </a:bodyPr>
            <a:lstStyle/>
            <a:p>
              <a:r>
                <a:rPr lang="en-IN" dirty="0">
                  <a:latin typeface="Arial Narrow" panose="020B0606020202030204" pitchFamily="34" charset="0"/>
                  <a:cs typeface="Times New Roman" panose="02020603050405020304" pitchFamily="18" charset="0"/>
                </a:rPr>
                <a:t>Input Vectors</a:t>
              </a:r>
            </a:p>
          </p:txBody>
        </p:sp>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AD6D90FF-8B08-44E6-ADD1-B975BDF15677}"/>
                    </a:ext>
                  </a:extLst>
                </p:cNvPr>
                <p:cNvSpPr txBox="1"/>
                <p:nvPr/>
              </p:nvSpPr>
              <p:spPr>
                <a:xfrm rot="10800000" flipV="1">
                  <a:off x="6314705" y="4008572"/>
                  <a:ext cx="503989" cy="51935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ea typeface="Cambria Math" panose="02040503050406030204" pitchFamily="18" charset="0"/>
                                <a:cs typeface="Times New Roman" panose="02020603050405020304" pitchFamily="18" charset="0"/>
                              </a:rPr>
                              <m:t>𝑎</m:t>
                            </m:r>
                          </m:e>
                          <m:sub>
                            <m:r>
                              <a:rPr lang="en-IN" b="0" i="1" smtClean="0">
                                <a:latin typeface="Cambria Math" panose="02040503050406030204" pitchFamily="18" charset="0"/>
                              </a:rPr>
                              <m:t>1</m:t>
                            </m:r>
                          </m:sub>
                        </m:sSub>
                      </m:oMath>
                    </m:oMathPara>
                  </a14:m>
                  <a:endParaRPr lang="en-IN" dirty="0">
                    <a:latin typeface="Arial Narrow" panose="020B0606020202030204" pitchFamily="34" charset="0"/>
                  </a:endParaRPr>
                </a:p>
              </p:txBody>
            </p:sp>
          </mc:Choice>
          <mc:Fallback xmlns="">
            <p:sp>
              <p:nvSpPr>
                <p:cNvPr id="105" name="TextBox 104">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6314705" y="4008572"/>
                  <a:ext cx="503989" cy="519351"/>
                </a:xfrm>
                <a:prstGeom prst="ellipse">
                  <a:avLst/>
                </a:prstGeom>
                <a:blipFill>
                  <a:blip r:embed="rId10"/>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36F03E2E-8229-4DFD-869B-C4F6CF96084E}"/>
                    </a:ext>
                  </a:extLst>
                </p:cNvPr>
                <p:cNvSpPr txBox="1"/>
                <p:nvPr/>
              </p:nvSpPr>
              <p:spPr>
                <a:xfrm rot="10800000" flipV="1">
                  <a:off x="5759232" y="4008572"/>
                  <a:ext cx="503989" cy="51935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ea typeface="Cambria Math" panose="02040503050406030204" pitchFamily="18" charset="0"/>
                                <a:cs typeface="Times New Roman" panose="02020603050405020304" pitchFamily="18" charset="0"/>
                              </a:rPr>
                              <m:t>𝑎</m:t>
                            </m:r>
                          </m:e>
                          <m:sub>
                            <m:r>
                              <a:rPr lang="en-IN" b="0" i="1" smtClean="0">
                                <a:latin typeface="Cambria Math" panose="02040503050406030204" pitchFamily="18" charset="0"/>
                              </a:rPr>
                              <m:t>2</m:t>
                            </m:r>
                          </m:sub>
                        </m:sSub>
                      </m:oMath>
                    </m:oMathPara>
                  </a14:m>
                  <a:endParaRPr lang="en-IN" dirty="0">
                    <a:latin typeface="Arial Narrow" panose="020B0606020202030204" pitchFamily="34" charset="0"/>
                  </a:endParaRPr>
                </a:p>
              </p:txBody>
            </p:sp>
          </mc:Choice>
          <mc:Fallback xmlns="">
            <p:sp>
              <p:nvSpPr>
                <p:cNvPr id="106" name="TextBox 105">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5759232" y="4008572"/>
                  <a:ext cx="503989" cy="519351"/>
                </a:xfrm>
                <a:prstGeom prst="ellipse">
                  <a:avLst/>
                </a:prstGeom>
                <a:blipFill>
                  <a:blip r:embed="rId11"/>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DF1D3D16-4F7D-4FD0-95EB-E2360401B577}"/>
                    </a:ext>
                  </a:extLst>
                </p:cNvPr>
                <p:cNvSpPr txBox="1"/>
                <p:nvPr/>
              </p:nvSpPr>
              <p:spPr>
                <a:xfrm rot="10800000" flipV="1">
                  <a:off x="5209142" y="4008573"/>
                  <a:ext cx="503989" cy="51935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ea typeface="Cambria Math" panose="02040503050406030204" pitchFamily="18" charset="0"/>
                                <a:cs typeface="Times New Roman" panose="02020603050405020304" pitchFamily="18" charset="0"/>
                              </a:rPr>
                              <m:t>𝑎</m:t>
                            </m:r>
                          </m:e>
                          <m:sub>
                            <m:r>
                              <a:rPr lang="en-IN" b="0" i="1" smtClean="0">
                                <a:latin typeface="Cambria Math" panose="02040503050406030204" pitchFamily="18" charset="0"/>
                              </a:rPr>
                              <m:t>3</m:t>
                            </m:r>
                          </m:sub>
                        </m:sSub>
                      </m:oMath>
                    </m:oMathPara>
                  </a14:m>
                  <a:endParaRPr lang="en-IN" dirty="0">
                    <a:latin typeface="Arial Narrow" panose="020B0606020202030204" pitchFamily="34" charset="0"/>
                  </a:endParaRPr>
                </a:p>
              </p:txBody>
            </p:sp>
          </mc:Choice>
          <mc:Fallback xmlns="">
            <p:sp>
              <p:nvSpPr>
                <p:cNvPr id="107" name="TextBox 106">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5209142" y="4008573"/>
                  <a:ext cx="503989" cy="519351"/>
                </a:xfrm>
                <a:prstGeom prst="ellipse">
                  <a:avLst/>
                </a:prstGeom>
                <a:blipFill>
                  <a:blip r:embed="rId12"/>
                  <a:stretch>
                    <a:fillRect/>
                  </a:stretch>
                </a:blipFill>
                <a:ln w="12700">
                  <a:solidFill>
                    <a:schemeClr val="tx1"/>
                  </a:solidFill>
                </a:ln>
              </p:spPr>
              <p:txBody>
                <a:bodyPr/>
                <a:lstStyle/>
                <a:p>
                  <a:r>
                    <a:rPr lang="en-IN">
                      <a:noFill/>
                    </a:rPr>
                    <a:t> </a:t>
                  </a:r>
                </a:p>
              </p:txBody>
            </p:sp>
          </mc:Fallback>
        </mc:AlternateContent>
        <p:cxnSp>
          <p:nvCxnSpPr>
            <p:cNvPr id="108" name="Straight Arrow Connector 107">
              <a:extLst>
                <a:ext uri="{FF2B5EF4-FFF2-40B4-BE49-F238E27FC236}">
                  <a16:creationId xmlns:a16="http://schemas.microsoft.com/office/drawing/2014/main" id="{93CE584A-6224-4185-BA7F-7DBE679AAC01}"/>
                </a:ext>
              </a:extLst>
            </p:cNvPr>
            <p:cNvCxnSpPr>
              <a:cxnSpLocks/>
              <a:stCxn id="63" idx="1"/>
              <a:endCxn id="107" idx="6"/>
            </p:cNvCxnSpPr>
            <p:nvPr/>
          </p:nvCxnSpPr>
          <p:spPr>
            <a:xfrm>
              <a:off x="4720660" y="4263994"/>
              <a:ext cx="488482" cy="4255"/>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39" name="Elbow Connector 138"/>
            <p:cNvCxnSpPr>
              <a:stCxn id="8" idx="4"/>
              <a:endCxn id="107" idx="4"/>
            </p:cNvCxnSpPr>
            <p:nvPr/>
          </p:nvCxnSpPr>
          <p:spPr>
            <a:xfrm rot="5400000" flipH="1" flipV="1">
              <a:off x="3770569" y="3719697"/>
              <a:ext cx="882339" cy="2498794"/>
            </a:xfrm>
            <a:prstGeom prst="bentConnector3">
              <a:avLst>
                <a:gd name="adj1" fmla="val -25908"/>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Elbow Connector 140"/>
            <p:cNvCxnSpPr>
              <a:stCxn id="9" idx="4"/>
              <a:endCxn id="106" idx="4"/>
            </p:cNvCxnSpPr>
            <p:nvPr/>
          </p:nvCxnSpPr>
          <p:spPr>
            <a:xfrm rot="5400000" flipH="1" flipV="1">
              <a:off x="3767070" y="3162013"/>
              <a:ext cx="878245" cy="3610066"/>
            </a:xfrm>
            <a:prstGeom prst="bentConnector3">
              <a:avLst>
                <a:gd name="adj1" fmla="val -71773"/>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43" name="Elbow Connector 142"/>
            <p:cNvCxnSpPr>
              <a:stCxn id="10" idx="4"/>
              <a:endCxn id="105" idx="4"/>
            </p:cNvCxnSpPr>
            <p:nvPr/>
          </p:nvCxnSpPr>
          <p:spPr>
            <a:xfrm rot="5400000" flipH="1" flipV="1">
              <a:off x="3769761" y="2609231"/>
              <a:ext cx="878245" cy="4715629"/>
            </a:xfrm>
            <a:prstGeom prst="bentConnector3">
              <a:avLst>
                <a:gd name="adj1" fmla="val -115412"/>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153" name="TextBox 152">
                <a:extLst>
                  <a:ext uri="{FF2B5EF4-FFF2-40B4-BE49-F238E27FC236}">
                    <a16:creationId xmlns:a16="http://schemas.microsoft.com/office/drawing/2014/main" id="{5253E52A-CF0A-405D-9D6C-C42BAE0717AA}"/>
                  </a:ext>
                </a:extLst>
              </p:cNvPr>
              <p:cNvSpPr txBox="1"/>
              <p:nvPr/>
            </p:nvSpPr>
            <p:spPr>
              <a:xfrm>
                <a:off x="4473105" y="2286831"/>
                <a:ext cx="3580231" cy="1323632"/>
              </a:xfrm>
              <a:prstGeom prst="rect">
                <a:avLst/>
              </a:prstGeom>
              <a:noFill/>
            </p:spPr>
            <p:txBody>
              <a:bodyPr wrap="square" rtlCol="0">
                <a:spAutoFit/>
              </a:bodyPr>
              <a:lstStyle/>
              <a:p>
                <a:r>
                  <a:rPr lang="en-IN" sz="2000" dirty="0">
                    <a:latin typeface="Arial Narrow" panose="020B0606020202030204" pitchFamily="34" charset="0"/>
                    <a:cs typeface="Times New Roman" panose="02020603050405020304" pitchFamily="18" charset="0"/>
                  </a:rPr>
                  <a:t>Operations:</a:t>
                </a:r>
              </a:p>
              <a:p>
                <a:r>
                  <a:rPr lang="en-IN" sz="2000" dirty="0">
                    <a:latin typeface="Arial Narrow" panose="020B0606020202030204" pitchFamily="34" charset="0"/>
                    <a:cs typeface="Times New Roman" panose="02020603050405020304" pitchFamily="18" charset="0"/>
                  </a:rPr>
                  <a:t>Alignment: </a:t>
                </a:r>
                <a14:m>
                  <m:oMath xmlns:m="http://schemas.openxmlformats.org/officeDocument/2006/math">
                    <m:sSub>
                      <m:sSubPr>
                        <m:ctrlPr>
                          <a:rPr lang="en-US" sz="2000" i="1" smtClean="0">
                            <a:latin typeface="Cambria Math" panose="02040503050406030204" pitchFamily="18" charset="0"/>
                            <a:cs typeface="Times New Roman" panose="02020603050405020304" pitchFamily="18" charset="0"/>
                          </a:rPr>
                        </m:ctrlPr>
                      </m:sSubPr>
                      <m:e>
                        <m:r>
                          <a:rPr lang="en-IN" sz="2000"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n-IN" sz="2000" i="1">
                            <a:latin typeface="Cambria Math" panose="02040503050406030204" pitchFamily="18" charset="0"/>
                            <a:cs typeface="Times New Roman" panose="02020603050405020304" pitchFamily="18" charset="0"/>
                          </a:rPr>
                          <m:t>𝑖</m:t>
                        </m:r>
                      </m:sub>
                    </m:sSub>
                    <m:r>
                      <a:rPr lang="en-IN" sz="2000" i="1">
                        <a:latin typeface="Cambria Math" panose="02040503050406030204" pitchFamily="18" charset="0"/>
                        <a:cs typeface="Times New Roman" panose="02020603050405020304" pitchFamily="18" charset="0"/>
                      </a:rPr>
                      <m:t>=</m:t>
                    </m:r>
                    <m:sSub>
                      <m:sSubPr>
                        <m:ctrlPr>
                          <a:rPr lang="en-IN" sz="2000" i="1">
                            <a:latin typeface="Cambria Math" panose="02040503050406030204" pitchFamily="18" charset="0"/>
                            <a:cs typeface="Times New Roman" panose="02020603050405020304" pitchFamily="18" charset="0"/>
                          </a:rPr>
                        </m:ctrlPr>
                      </m:sSubPr>
                      <m:e>
                        <m:r>
                          <a:rPr lang="en-IN" sz="2000" i="1">
                            <a:latin typeface="Cambria Math" panose="02040503050406030204" pitchFamily="18" charset="0"/>
                            <a:cs typeface="Times New Roman" panose="02020603050405020304" pitchFamily="18" charset="0"/>
                          </a:rPr>
                          <m:t>𝑓</m:t>
                        </m:r>
                      </m:e>
                      <m:sub>
                        <m:r>
                          <a:rPr lang="en-IN" sz="2000" i="1">
                            <a:latin typeface="Cambria Math" panose="02040503050406030204" pitchFamily="18" charset="0"/>
                            <a:cs typeface="Times New Roman" panose="02020603050405020304" pitchFamily="18" charset="0"/>
                          </a:rPr>
                          <m:t>𝑎</m:t>
                        </m:r>
                        <m:r>
                          <a:rPr lang="en-GB" sz="2000" b="0" i="1" smtClean="0">
                            <a:latin typeface="Cambria Math" panose="02040503050406030204" pitchFamily="18" charset="0"/>
                            <a:cs typeface="Times New Roman" panose="02020603050405020304" pitchFamily="18" charset="0"/>
                          </a:rPr>
                          <m:t>𝑙𝑙</m:t>
                        </m:r>
                      </m:sub>
                    </m:sSub>
                    <m:d>
                      <m:dPr>
                        <m:ctrlPr>
                          <a:rPr lang="en-IN" sz="2000" i="1">
                            <a:latin typeface="Cambria Math" panose="02040503050406030204" pitchFamily="18" charset="0"/>
                            <a:cs typeface="Times New Roman" panose="02020603050405020304" pitchFamily="18" charset="0"/>
                          </a:rPr>
                        </m:ctrlPr>
                      </m:dPr>
                      <m:e>
                        <m:r>
                          <a:rPr lang="en-IN" sz="2000" b="0" i="1" smtClean="0">
                            <a:latin typeface="Cambria Math" panose="02040503050406030204" pitchFamily="18" charset="0"/>
                            <a:cs typeface="Times New Roman" panose="02020603050405020304" pitchFamily="18" charset="0"/>
                          </a:rPr>
                          <m:t>h</m:t>
                        </m:r>
                        <m:r>
                          <a:rPr lang="en-IN" sz="2000" b="0" i="1" smtClean="0">
                            <a:latin typeface="Cambria Math" panose="02040503050406030204" pitchFamily="18" charset="0"/>
                            <a:cs typeface="Times New Roman" panose="02020603050405020304" pitchFamily="18" charset="0"/>
                          </a:rPr>
                          <m:t>,</m:t>
                        </m:r>
                        <m:sSub>
                          <m:sSubPr>
                            <m:ctrlPr>
                              <a:rPr lang="en-IN" sz="2000" i="1">
                                <a:latin typeface="Cambria Math" panose="02040503050406030204" pitchFamily="18" charset="0"/>
                                <a:cs typeface="Times New Roman" panose="02020603050405020304" pitchFamily="18" charset="0"/>
                              </a:rPr>
                            </m:ctrlPr>
                          </m:sSubPr>
                          <m:e>
                            <m:r>
                              <a:rPr lang="en-IN" sz="2000" b="0" i="1" smtClean="0">
                                <a:latin typeface="Cambria Math" panose="02040503050406030204" pitchFamily="18" charset="0"/>
                                <a:cs typeface="Times New Roman" panose="02020603050405020304" pitchFamily="18" charset="0"/>
                              </a:rPr>
                              <m:t>𝑥</m:t>
                            </m:r>
                          </m:e>
                          <m:sub>
                            <m:r>
                              <a:rPr lang="en-IN" sz="2000" b="0" i="1" smtClean="0">
                                <a:latin typeface="Cambria Math" panose="02040503050406030204" pitchFamily="18" charset="0"/>
                                <a:cs typeface="Times New Roman" panose="02020603050405020304" pitchFamily="18" charset="0"/>
                              </a:rPr>
                              <m:t>𝑖</m:t>
                            </m:r>
                          </m:sub>
                        </m:sSub>
                      </m:e>
                    </m:d>
                  </m:oMath>
                </a14:m>
                <a:r>
                  <a:rPr lang="en-IN" sz="2000" dirty="0">
                    <a:latin typeface="Arial Narrow" panose="020B0606020202030204" pitchFamily="34" charset="0"/>
                    <a:cs typeface="Times New Roman" panose="02020603050405020304" pitchFamily="18" charset="0"/>
                  </a:rPr>
                  <a:t> </a:t>
                </a:r>
              </a:p>
              <a:p>
                <a:r>
                  <a:rPr lang="en-IN" sz="2000" dirty="0">
                    <a:latin typeface="Arial Narrow" panose="020B0606020202030204" pitchFamily="34" charset="0"/>
                    <a:cs typeface="Times New Roman" panose="02020603050405020304" pitchFamily="18" charset="0"/>
                  </a:rPr>
                  <a:t>Attention: </a:t>
                </a:r>
                <a14:m>
                  <m:oMath xmlns:m="http://schemas.openxmlformats.org/officeDocument/2006/math">
                    <m:r>
                      <a:rPr lang="en-IN" sz="2000" b="0" i="1" smtClean="0">
                        <a:latin typeface="Cambria Math" panose="02040503050406030204" pitchFamily="18" charset="0"/>
                        <a:ea typeface="Cambria Math" panose="02040503050406030204" pitchFamily="18" charset="0"/>
                        <a:cs typeface="Times New Roman" panose="02020603050405020304" pitchFamily="18" charset="0"/>
                      </a:rPr>
                      <m:t>𝑎</m:t>
                    </m:r>
                    <m:r>
                      <a:rPr lang="en-IN" sz="2000" i="1">
                        <a:latin typeface="Cambria Math" panose="02040503050406030204" pitchFamily="18" charset="0"/>
                        <a:cs typeface="Times New Roman" panose="02020603050405020304" pitchFamily="18" charset="0"/>
                      </a:rPr>
                      <m:t>=</m:t>
                    </m:r>
                    <m:r>
                      <a:rPr lang="en-IN" sz="2000" i="1">
                        <a:latin typeface="Cambria Math" panose="02040503050406030204" pitchFamily="18" charset="0"/>
                        <a:cs typeface="Times New Roman" panose="02020603050405020304" pitchFamily="18" charset="0"/>
                      </a:rPr>
                      <m:t>𝑆𝑜𝑓𝑡𝑚𝑎𝑥</m:t>
                    </m:r>
                    <m:d>
                      <m:dPr>
                        <m:ctrlPr>
                          <a:rPr lang="en-IN" sz="2000" i="1">
                            <a:latin typeface="Cambria Math" panose="02040503050406030204" pitchFamily="18" charset="0"/>
                            <a:cs typeface="Times New Roman" panose="02020603050405020304" pitchFamily="18" charset="0"/>
                          </a:rPr>
                        </m:ctrlPr>
                      </m:dPr>
                      <m:e>
                        <m:r>
                          <a:rPr lang="en-IN" sz="2000" i="1" smtClean="0">
                            <a:latin typeface="Cambria Math" panose="02040503050406030204" pitchFamily="18" charset="0"/>
                            <a:ea typeface="Cambria Math" panose="02040503050406030204" pitchFamily="18" charset="0"/>
                            <a:cs typeface="Times New Roman" panose="02020603050405020304" pitchFamily="18" charset="0"/>
                          </a:rPr>
                          <m:t>𝛼</m:t>
                        </m:r>
                      </m:e>
                    </m:d>
                  </m:oMath>
                </a14:m>
                <a:r>
                  <a:rPr lang="en-IN" sz="2000" dirty="0">
                    <a:latin typeface="Arial Narrow" panose="020B0606020202030204" pitchFamily="34" charset="0"/>
                    <a:cs typeface="Times New Roman" panose="02020603050405020304" pitchFamily="18" charset="0"/>
                  </a:rPr>
                  <a:t> </a:t>
                </a:r>
              </a:p>
              <a:p>
                <a:r>
                  <a:rPr lang="en-IN" sz="2000" dirty="0">
                    <a:latin typeface="Arial Narrow" panose="020B0606020202030204" pitchFamily="34" charset="0"/>
                    <a:cs typeface="Times New Roman" panose="02020603050405020304" pitchFamily="18" charset="0"/>
                  </a:rPr>
                  <a:t>Output: </a:t>
                </a:r>
                <a14:m>
                  <m:oMath xmlns:m="http://schemas.openxmlformats.org/officeDocument/2006/math">
                    <m:r>
                      <a:rPr lang="en-IN" sz="2000" b="0" i="1" dirty="0" smtClean="0">
                        <a:latin typeface="Cambria Math" panose="02040503050406030204" pitchFamily="18" charset="0"/>
                        <a:cs typeface="Times New Roman" panose="02020603050405020304" pitchFamily="18" charset="0"/>
                      </a:rPr>
                      <m:t>𝑐</m:t>
                    </m:r>
                    <m:r>
                      <a:rPr lang="en-IN" sz="2000" i="1">
                        <a:latin typeface="Cambria Math" panose="02040503050406030204" pitchFamily="18" charset="0"/>
                        <a:cs typeface="Times New Roman" panose="02020603050405020304" pitchFamily="18" charset="0"/>
                      </a:rPr>
                      <m:t>=</m:t>
                    </m:r>
                  </m:oMath>
                </a14:m>
                <a:r>
                  <a:rPr lang="en-IN" sz="2000" dirty="0">
                    <a:latin typeface="Arial Narrow" panose="020B0606020202030204" pitchFamily="34" charset="0"/>
                    <a:cs typeface="Times New Roman" panose="02020603050405020304" pitchFamily="18" charset="0"/>
                  </a:rPr>
                  <a:t> </a:t>
                </a:r>
                <a14:m>
                  <m:oMath xmlns:m="http://schemas.openxmlformats.org/officeDocument/2006/math">
                    <m:nary>
                      <m:naryPr>
                        <m:chr m:val="∑"/>
                        <m:limLoc m:val="subSup"/>
                        <m:supHide m:val="on"/>
                        <m:ctrlPr>
                          <a:rPr lang="en-IN" sz="2000" i="1" dirty="0" smtClean="0">
                            <a:latin typeface="Cambria Math" panose="02040503050406030204" pitchFamily="18" charset="0"/>
                            <a:cs typeface="Times New Roman" panose="02020603050405020304" pitchFamily="18" charset="0"/>
                          </a:rPr>
                        </m:ctrlPr>
                      </m:naryPr>
                      <m:sub>
                        <m:r>
                          <m:rPr>
                            <m:brk m:alnAt="9"/>
                          </m:rPr>
                          <a:rPr lang="en-IN" sz="2000" b="0" i="1" dirty="0" smtClean="0">
                            <a:latin typeface="Cambria Math" panose="02040503050406030204" pitchFamily="18" charset="0"/>
                            <a:cs typeface="Times New Roman" panose="02020603050405020304" pitchFamily="18" charset="0"/>
                          </a:rPr>
                          <m:t>𝑖</m:t>
                        </m:r>
                      </m:sub>
                      <m:sup/>
                      <m:e>
                        <m:sSub>
                          <m:sSubPr>
                            <m:ctrlPr>
                              <a:rPr lang="en-IN" sz="2000" i="1" dirty="0" smtClean="0">
                                <a:latin typeface="Cambria Math" panose="02040503050406030204" pitchFamily="18" charset="0"/>
                                <a:cs typeface="Times New Roman" panose="02020603050405020304" pitchFamily="18" charset="0"/>
                              </a:rPr>
                            </m:ctrlPr>
                          </m:sSubPr>
                          <m:e>
                            <m:r>
                              <a:rPr lang="en-IN" sz="2000" b="0" i="1" dirty="0" smtClean="0">
                                <a:latin typeface="Cambria Math" panose="02040503050406030204" pitchFamily="18" charset="0"/>
                                <a:cs typeface="Times New Roman" panose="02020603050405020304" pitchFamily="18" charset="0"/>
                              </a:rPr>
                              <m:t>𝑎</m:t>
                            </m:r>
                          </m:e>
                          <m:sub>
                            <m:r>
                              <a:rPr lang="en-IN" sz="2000" b="0" i="1" dirty="0" smtClean="0">
                                <a:latin typeface="Cambria Math" panose="02040503050406030204" pitchFamily="18" charset="0"/>
                                <a:cs typeface="Times New Roman" panose="02020603050405020304" pitchFamily="18" charset="0"/>
                              </a:rPr>
                              <m:t>𝑖</m:t>
                            </m:r>
                          </m:sub>
                        </m:sSub>
                        <m:sSub>
                          <m:sSubPr>
                            <m:ctrlPr>
                              <a:rPr lang="en-IN" sz="2000" i="1" dirty="0" smtClean="0">
                                <a:latin typeface="Cambria Math" panose="02040503050406030204" pitchFamily="18" charset="0"/>
                                <a:cs typeface="Times New Roman" panose="02020603050405020304" pitchFamily="18" charset="0"/>
                              </a:rPr>
                            </m:ctrlPr>
                          </m:sSubPr>
                          <m:e>
                            <m:r>
                              <a:rPr lang="en-IN" sz="2000" b="0" i="1" dirty="0" smtClean="0">
                                <a:latin typeface="Cambria Math" panose="02040503050406030204" pitchFamily="18" charset="0"/>
                                <a:cs typeface="Times New Roman" panose="02020603050405020304" pitchFamily="18" charset="0"/>
                              </a:rPr>
                              <m:t>𝑥</m:t>
                            </m:r>
                          </m:e>
                          <m:sub>
                            <m:r>
                              <a:rPr lang="en-IN" sz="2000" b="0" i="1" dirty="0" smtClean="0">
                                <a:latin typeface="Cambria Math" panose="02040503050406030204" pitchFamily="18" charset="0"/>
                                <a:cs typeface="Times New Roman" panose="02020603050405020304" pitchFamily="18" charset="0"/>
                              </a:rPr>
                              <m:t>𝑖</m:t>
                            </m:r>
                          </m:sub>
                        </m:sSub>
                      </m:e>
                    </m:nary>
                  </m:oMath>
                </a14:m>
                <a:endParaRPr lang="en-IN" sz="2000" dirty="0">
                  <a:latin typeface="Arial Narrow" panose="020B0606020202030204" pitchFamily="34" charset="0"/>
                  <a:cs typeface="Times New Roman" panose="02020603050405020304" pitchFamily="18" charset="0"/>
                </a:endParaRPr>
              </a:p>
            </p:txBody>
          </p:sp>
        </mc:Choice>
        <mc:Fallback>
          <p:sp>
            <p:nvSpPr>
              <p:cNvPr id="153" name="TextBox 152">
                <a:extLst>
                  <a:ext uri="{FF2B5EF4-FFF2-40B4-BE49-F238E27FC236}">
                    <a16:creationId xmlns:a16="http://schemas.microsoft.com/office/drawing/2014/main" id="{5253E52A-CF0A-405D-9D6C-C42BAE0717AA}"/>
                  </a:ext>
                </a:extLst>
              </p:cNvPr>
              <p:cNvSpPr txBox="1">
                <a:spLocks noRot="1" noChangeAspect="1" noMove="1" noResize="1" noEditPoints="1" noAdjustHandles="1" noChangeArrowheads="1" noChangeShapeType="1" noTextEdit="1"/>
              </p:cNvSpPr>
              <p:nvPr/>
            </p:nvSpPr>
            <p:spPr>
              <a:xfrm>
                <a:off x="4473105" y="2286831"/>
                <a:ext cx="3580231" cy="1323632"/>
              </a:xfrm>
              <a:prstGeom prst="rect">
                <a:avLst/>
              </a:prstGeom>
              <a:blipFill>
                <a:blip r:embed="rId13"/>
                <a:stretch>
                  <a:fillRect l="-1874" t="-2304" b="-55300"/>
                </a:stretch>
              </a:blipFill>
            </p:spPr>
            <p:txBody>
              <a:bodyPr/>
              <a:lstStyle/>
              <a:p>
                <a:r>
                  <a:rPr lang="en-GB">
                    <a:noFill/>
                  </a:rPr>
                  <a:t> </a:t>
                </a:r>
              </a:p>
            </p:txBody>
          </p:sp>
        </mc:Fallback>
      </mc:AlternateContent>
      <p:sp>
        <p:nvSpPr>
          <p:cNvPr id="154" name="TextBox 153">
            <a:extLst>
              <a:ext uri="{FF2B5EF4-FFF2-40B4-BE49-F238E27FC236}">
                <a16:creationId xmlns:a16="http://schemas.microsoft.com/office/drawing/2014/main" id="{814A0750-898F-4132-B31D-6BB41D3260C4}"/>
              </a:ext>
            </a:extLst>
          </p:cNvPr>
          <p:cNvSpPr txBox="1"/>
          <p:nvPr/>
        </p:nvSpPr>
        <p:spPr>
          <a:xfrm>
            <a:off x="8161156" y="4787600"/>
            <a:ext cx="3580227" cy="707886"/>
          </a:xfrm>
          <a:prstGeom prst="rect">
            <a:avLst/>
          </a:prstGeom>
          <a:noFill/>
        </p:spPr>
        <p:txBody>
          <a:bodyPr wrap="square" rtlCol="0">
            <a:spAutoFit/>
          </a:bodyPr>
          <a:lstStyle/>
          <a:p>
            <a:r>
              <a:rPr lang="en-IN" sz="2000" dirty="0">
                <a:latin typeface="Arial Narrow" panose="020B0606020202030204" pitchFamily="34" charset="0"/>
                <a:cs typeface="Times New Roman" panose="02020603050405020304" pitchFamily="18" charset="0"/>
              </a:rPr>
              <a:t>Output:</a:t>
            </a:r>
          </a:p>
          <a:p>
            <a:r>
              <a:rPr lang="en-IN" sz="2000" dirty="0">
                <a:latin typeface="Arial Narrow" panose="020B0606020202030204" pitchFamily="34" charset="0"/>
                <a:cs typeface="Times New Roman" panose="02020603050405020304" pitchFamily="18" charset="0"/>
              </a:rPr>
              <a:t>Context Vector C (Dimension : D)</a:t>
            </a:r>
          </a:p>
        </p:txBody>
      </p:sp>
    </p:spTree>
    <p:extLst>
      <p:ext uri="{BB962C8B-B14F-4D97-AF65-F5344CB8AC3E}">
        <p14:creationId xmlns:p14="http://schemas.microsoft.com/office/powerpoint/2010/main" val="719924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extBox 41">
            <a:extLst>
              <a:ext uri="{FF2B5EF4-FFF2-40B4-BE49-F238E27FC236}">
                <a16:creationId xmlns:a16="http://schemas.microsoft.com/office/drawing/2014/main" id="{34ABCD45-4722-4823-A4C0-ED95878A56CF}"/>
              </a:ext>
            </a:extLst>
          </p:cNvPr>
          <p:cNvSpPr txBox="1"/>
          <p:nvPr/>
        </p:nvSpPr>
        <p:spPr>
          <a:xfrm>
            <a:off x="6581775" y="6492875"/>
            <a:ext cx="5610225" cy="307777"/>
          </a:xfrm>
          <a:prstGeom prst="rect">
            <a:avLst/>
          </a:prstGeom>
          <a:noFill/>
        </p:spPr>
        <p:txBody>
          <a:bodyPr wrap="square" rtlCol="0">
            <a:spAutoFit/>
          </a:bodyPr>
          <a:lstStyle/>
          <a:p>
            <a:r>
              <a:rPr lang="en-IN" sz="1400" dirty="0">
                <a:latin typeface="Arial Narrow" panose="020B0606020202030204" pitchFamily="34" charset="0"/>
                <a:cs typeface="Times New Roman" panose="02020603050405020304" pitchFamily="18" charset="0"/>
              </a:rPr>
              <a:t>Concept: Fei-Fei Li Attention and Transformers CS231n Stanford Lecture</a:t>
            </a:r>
          </a:p>
        </p:txBody>
      </p:sp>
      <p:grpSp>
        <p:nvGrpSpPr>
          <p:cNvPr id="158" name="Group 157"/>
          <p:cNvGrpSpPr/>
          <p:nvPr/>
        </p:nvGrpSpPr>
        <p:grpSpPr>
          <a:xfrm>
            <a:off x="600364" y="3317601"/>
            <a:ext cx="9199883" cy="3170075"/>
            <a:chOff x="600364" y="3565251"/>
            <a:chExt cx="9199883" cy="3170075"/>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D6D90FF-8B08-44E6-ADD1-B975BDF15677}"/>
                    </a:ext>
                  </a:extLst>
                </p:cNvPr>
                <p:cNvSpPr txBox="1"/>
                <p:nvPr/>
              </p:nvSpPr>
              <p:spPr>
                <a:xfrm rot="10800000" flipV="1">
                  <a:off x="2704639" y="4008572"/>
                  <a:ext cx="503989" cy="51935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n-IN" b="0" i="1" smtClean="0">
                                <a:latin typeface="Cambria Math" panose="02040503050406030204" pitchFamily="18" charset="0"/>
                              </a:rPr>
                              <m:t>1</m:t>
                            </m:r>
                          </m:sub>
                        </m:sSub>
                      </m:oMath>
                    </m:oMathPara>
                  </a14:m>
                  <a:endParaRPr lang="en-IN" dirty="0">
                    <a:latin typeface="Arial Narrow" panose="020B0606020202030204" pitchFamily="34" charset="0"/>
                  </a:endParaRPr>
                </a:p>
              </p:txBody>
            </p:sp>
          </mc:Choice>
          <mc:Fallback xmlns="">
            <p:sp>
              <p:nvSpPr>
                <p:cNvPr id="5" name="TextBox 4">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2704639" y="4008572"/>
                  <a:ext cx="503989" cy="519351"/>
                </a:xfrm>
                <a:prstGeom prst="ellipse">
                  <a:avLst/>
                </a:prstGeom>
                <a:blipFill>
                  <a:blip r:embed="rId2"/>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6F03E2E-8229-4DFD-869B-C4F6CF96084E}"/>
                    </a:ext>
                  </a:extLst>
                </p:cNvPr>
                <p:cNvSpPr txBox="1"/>
                <p:nvPr/>
              </p:nvSpPr>
              <p:spPr>
                <a:xfrm rot="10800000" flipV="1">
                  <a:off x="2149166" y="4008572"/>
                  <a:ext cx="503989" cy="51935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n-IN" b="0" i="1" smtClean="0">
                                <a:latin typeface="Cambria Math" panose="02040503050406030204" pitchFamily="18" charset="0"/>
                              </a:rPr>
                              <m:t>2</m:t>
                            </m:r>
                          </m:sub>
                        </m:sSub>
                      </m:oMath>
                    </m:oMathPara>
                  </a14:m>
                  <a:endParaRPr lang="en-IN" dirty="0">
                    <a:latin typeface="Arial Narrow" panose="020B0606020202030204" pitchFamily="34" charset="0"/>
                  </a:endParaRPr>
                </a:p>
              </p:txBody>
            </p:sp>
          </mc:Choice>
          <mc:Fallback xmlns="">
            <p:sp>
              <p:nvSpPr>
                <p:cNvPr id="6" name="TextBox 5">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2149166" y="4008572"/>
                  <a:ext cx="503989" cy="519351"/>
                </a:xfrm>
                <a:prstGeom prst="ellipse">
                  <a:avLst/>
                </a:prstGeom>
                <a:blipFill>
                  <a:blip r:embed="rId3"/>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F1D3D16-4F7D-4FD0-95EB-E2360401B577}"/>
                    </a:ext>
                  </a:extLst>
                </p:cNvPr>
                <p:cNvSpPr txBox="1"/>
                <p:nvPr/>
              </p:nvSpPr>
              <p:spPr>
                <a:xfrm rot="10800000" flipV="1">
                  <a:off x="1599076" y="4008573"/>
                  <a:ext cx="503989" cy="51935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n-IN" b="0" i="1" smtClean="0">
                                <a:latin typeface="Cambria Math" panose="02040503050406030204" pitchFamily="18" charset="0"/>
                              </a:rPr>
                              <m:t>3</m:t>
                            </m:r>
                          </m:sub>
                        </m:sSub>
                      </m:oMath>
                    </m:oMathPara>
                  </a14:m>
                  <a:endParaRPr lang="en-IN" dirty="0">
                    <a:latin typeface="Arial Narrow" panose="020B0606020202030204" pitchFamily="34" charset="0"/>
                  </a:endParaRPr>
                </a:p>
              </p:txBody>
            </p:sp>
          </mc:Choice>
          <mc:Fallback xmlns="">
            <p:sp>
              <p:nvSpPr>
                <p:cNvPr id="7" name="TextBox 6">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1599076" y="4008573"/>
                  <a:ext cx="503989" cy="519351"/>
                </a:xfrm>
                <a:prstGeom prst="ellipse">
                  <a:avLst/>
                </a:prstGeom>
                <a:blipFill>
                  <a:blip r:embed="rId4"/>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8434757-453A-49BA-B417-238E5FFE6B79}"/>
                    </a:ext>
                  </a:extLst>
                </p:cNvPr>
                <p:cNvSpPr txBox="1"/>
                <p:nvPr/>
              </p:nvSpPr>
              <p:spPr>
                <a:xfrm rot="10800000" flipV="1">
                  <a:off x="2710348" y="4890912"/>
                  <a:ext cx="503989" cy="51935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oMath>
                    </m:oMathPara>
                  </a14:m>
                  <a:endParaRPr lang="en-IN" dirty="0">
                    <a:latin typeface="Arial Narrow" panose="020B0606020202030204" pitchFamily="34" charset="0"/>
                  </a:endParaRPr>
                </a:p>
              </p:txBody>
            </p:sp>
          </mc:Choice>
          <mc:Fallback xmlns="">
            <p:sp>
              <p:nvSpPr>
                <p:cNvPr id="8" name="TextBox 7">
                  <a:extLst>
                    <a:ext uri="{FF2B5EF4-FFF2-40B4-BE49-F238E27FC236}">
                      <a16:creationId xmlns:a16="http://schemas.microsoft.com/office/drawing/2014/main" id="{98434757-453A-49BA-B417-238E5FFE6B79}"/>
                    </a:ext>
                  </a:extLst>
                </p:cNvPr>
                <p:cNvSpPr txBox="1">
                  <a:spLocks noRot="1" noChangeAspect="1" noMove="1" noResize="1" noEditPoints="1" noAdjustHandles="1" noChangeArrowheads="1" noChangeShapeType="1" noTextEdit="1"/>
                </p:cNvSpPr>
                <p:nvPr/>
              </p:nvSpPr>
              <p:spPr>
                <a:xfrm rot="10800000" flipV="1">
                  <a:off x="2710348" y="4890912"/>
                  <a:ext cx="503989" cy="519351"/>
                </a:xfrm>
                <a:prstGeom prst="ellipse">
                  <a:avLst/>
                </a:prstGeom>
                <a:blipFill>
                  <a:blip r:embed="rId5"/>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8E17763-565A-4B77-80A1-9B07A3DF1DA4}"/>
                    </a:ext>
                  </a:extLst>
                </p:cNvPr>
                <p:cNvSpPr txBox="1"/>
                <p:nvPr/>
              </p:nvSpPr>
              <p:spPr>
                <a:xfrm rot="10800000" flipV="1">
                  <a:off x="2149166" y="4886817"/>
                  <a:ext cx="503989" cy="51935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2</m:t>
                            </m:r>
                          </m:sub>
                        </m:sSub>
                      </m:oMath>
                    </m:oMathPara>
                  </a14:m>
                  <a:endParaRPr lang="en-IN" dirty="0">
                    <a:latin typeface="Arial Narrow" panose="020B0606020202030204" pitchFamily="34" charset="0"/>
                  </a:endParaRPr>
                </a:p>
              </p:txBody>
            </p:sp>
          </mc:Choice>
          <mc:Fallback xmlns="">
            <p:sp>
              <p:nvSpPr>
                <p:cNvPr id="9" name="TextBox 8">
                  <a:extLst>
                    <a:ext uri="{FF2B5EF4-FFF2-40B4-BE49-F238E27FC236}">
                      <a16:creationId xmlns:a16="http://schemas.microsoft.com/office/drawing/2014/main" id="{B8E17763-565A-4B77-80A1-9B07A3DF1DA4}"/>
                    </a:ext>
                  </a:extLst>
                </p:cNvPr>
                <p:cNvSpPr txBox="1">
                  <a:spLocks noRot="1" noChangeAspect="1" noMove="1" noResize="1" noEditPoints="1" noAdjustHandles="1" noChangeArrowheads="1" noChangeShapeType="1" noTextEdit="1"/>
                </p:cNvSpPr>
                <p:nvPr/>
              </p:nvSpPr>
              <p:spPr>
                <a:xfrm rot="10800000" flipV="1">
                  <a:off x="2149166" y="4886817"/>
                  <a:ext cx="503989" cy="519351"/>
                </a:xfrm>
                <a:prstGeom prst="ellipse">
                  <a:avLst/>
                </a:prstGeom>
                <a:blipFill>
                  <a:blip r:embed="rId6"/>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8FC9D7E-BEDD-4715-866C-F8B1DB2EC23B}"/>
                    </a:ext>
                  </a:extLst>
                </p:cNvPr>
                <p:cNvSpPr txBox="1"/>
                <p:nvPr/>
              </p:nvSpPr>
              <p:spPr>
                <a:xfrm rot="10800000" flipV="1">
                  <a:off x="1599076" y="4886817"/>
                  <a:ext cx="503989" cy="51935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3</m:t>
                            </m:r>
                          </m:sub>
                        </m:sSub>
                      </m:oMath>
                    </m:oMathPara>
                  </a14:m>
                  <a:endParaRPr lang="en-IN" dirty="0">
                    <a:latin typeface="Arial Narrow" panose="020B0606020202030204" pitchFamily="34" charset="0"/>
                  </a:endParaRPr>
                </a:p>
              </p:txBody>
            </p:sp>
          </mc:Choice>
          <mc:Fallback xmlns="">
            <p:sp>
              <p:nvSpPr>
                <p:cNvPr id="10" name="TextBox 9">
                  <a:extLst>
                    <a:ext uri="{FF2B5EF4-FFF2-40B4-BE49-F238E27FC236}">
                      <a16:creationId xmlns:a16="http://schemas.microsoft.com/office/drawing/2014/main" id="{C8FC9D7E-BEDD-4715-866C-F8B1DB2EC23B}"/>
                    </a:ext>
                  </a:extLst>
                </p:cNvPr>
                <p:cNvSpPr txBox="1">
                  <a:spLocks noRot="1" noChangeAspect="1" noMove="1" noResize="1" noEditPoints="1" noAdjustHandles="1" noChangeArrowheads="1" noChangeShapeType="1" noTextEdit="1"/>
                </p:cNvSpPr>
                <p:nvPr/>
              </p:nvSpPr>
              <p:spPr>
                <a:xfrm rot="10800000" flipV="1">
                  <a:off x="1599076" y="4886817"/>
                  <a:ext cx="503989" cy="519351"/>
                </a:xfrm>
                <a:prstGeom prst="ellipse">
                  <a:avLst/>
                </a:prstGeom>
                <a:blipFill>
                  <a:blip r:embed="rId7"/>
                  <a:stretch>
                    <a:fillRect/>
                  </a:stretch>
                </a:blipFill>
                <a:ln w="12700">
                  <a:solidFill>
                    <a:schemeClr val="tx1"/>
                  </a:solidFill>
                </a:ln>
              </p:spPr>
              <p:txBody>
                <a:bodyPr/>
                <a:lstStyle/>
                <a:p>
                  <a:r>
                    <a:rPr lang="en-IN">
                      <a:noFill/>
                    </a:rPr>
                    <a:t> </a:t>
                  </a:r>
                </a:p>
              </p:txBody>
            </p:sp>
          </mc:Fallback>
        </mc:AlternateContent>
        <p:cxnSp>
          <p:nvCxnSpPr>
            <p:cNvPr id="12" name="Straight Arrow Connector 11">
              <a:extLst>
                <a:ext uri="{FF2B5EF4-FFF2-40B4-BE49-F238E27FC236}">
                  <a16:creationId xmlns:a16="http://schemas.microsoft.com/office/drawing/2014/main" id="{A263021F-7328-4211-909D-49F49CA28D98}"/>
                </a:ext>
              </a:extLst>
            </p:cNvPr>
            <p:cNvCxnSpPr>
              <a:stCxn id="8" idx="0"/>
              <a:endCxn id="5" idx="4"/>
            </p:cNvCxnSpPr>
            <p:nvPr/>
          </p:nvCxnSpPr>
          <p:spPr>
            <a:xfrm flipH="1" flipV="1">
              <a:off x="2956633" y="4527923"/>
              <a:ext cx="5709" cy="362989"/>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48E3A579-0DB9-42B0-BAF2-784E8D2CED22}"/>
                </a:ext>
              </a:extLst>
            </p:cNvPr>
            <p:cNvCxnSpPr>
              <a:cxnSpLocks/>
              <a:stCxn id="9" idx="0"/>
              <a:endCxn id="6" idx="4"/>
            </p:cNvCxnSpPr>
            <p:nvPr/>
          </p:nvCxnSpPr>
          <p:spPr>
            <a:xfrm flipV="1">
              <a:off x="2401160" y="4527923"/>
              <a:ext cx="0" cy="358894"/>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C1137974-CC6B-47D3-81CF-6AC92B143B47}"/>
                </a:ext>
              </a:extLst>
            </p:cNvPr>
            <p:cNvCxnSpPr>
              <a:cxnSpLocks/>
              <a:stCxn id="10" idx="0"/>
              <a:endCxn id="7" idx="4"/>
            </p:cNvCxnSpPr>
            <p:nvPr/>
          </p:nvCxnSpPr>
          <p:spPr>
            <a:xfrm flipV="1">
              <a:off x="1851070" y="4527924"/>
              <a:ext cx="0" cy="358893"/>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9F7A9C69-BDD0-4A8F-93A2-06B1642E46C3}"/>
                </a:ext>
              </a:extLst>
            </p:cNvPr>
            <p:cNvSpPr txBox="1"/>
            <p:nvPr/>
          </p:nvSpPr>
          <p:spPr>
            <a:xfrm rot="10800000" flipV="1">
              <a:off x="3797285" y="4079328"/>
              <a:ext cx="923375" cy="369332"/>
            </a:xfrm>
            <a:prstGeom prst="rect">
              <a:avLst/>
            </a:prstGeom>
            <a:noFill/>
            <a:ln>
              <a:solidFill>
                <a:srgbClr val="002060"/>
              </a:solidFill>
            </a:ln>
          </p:spPr>
          <p:txBody>
            <a:bodyPr wrap="square" rtlCol="0">
              <a:spAutoFit/>
            </a:bodyPr>
            <a:lstStyle/>
            <a:p>
              <a:pPr algn="ctr"/>
              <a:r>
                <a:rPr lang="en-IN" dirty="0" err="1">
                  <a:latin typeface="Arial Narrow" panose="020B0606020202030204" pitchFamily="34" charset="0"/>
                  <a:cs typeface="Times New Roman" panose="02020603050405020304" pitchFamily="18" charset="0"/>
                </a:rPr>
                <a:t>softmax</a:t>
              </a:r>
              <a:endParaRPr lang="en-IN" dirty="0">
                <a:latin typeface="Arial Narrow" panose="020B0606020202030204" pitchFamily="34" charset="0"/>
                <a:cs typeface="Times New Roman" panose="02020603050405020304" pitchFamily="18" charset="0"/>
              </a:endParaRPr>
            </a:p>
          </p:txBody>
        </p:sp>
        <p:cxnSp>
          <p:nvCxnSpPr>
            <p:cNvPr id="65" name="Straight Arrow Connector 64">
              <a:extLst>
                <a:ext uri="{FF2B5EF4-FFF2-40B4-BE49-F238E27FC236}">
                  <a16:creationId xmlns:a16="http://schemas.microsoft.com/office/drawing/2014/main" id="{47F04F6C-A5DE-48AC-A93E-885D326C2D52}"/>
                </a:ext>
              </a:extLst>
            </p:cNvPr>
            <p:cNvCxnSpPr>
              <a:cxnSpLocks/>
              <a:stCxn id="105" idx="2"/>
              <a:endCxn id="94" idx="3"/>
            </p:cNvCxnSpPr>
            <p:nvPr/>
          </p:nvCxnSpPr>
          <p:spPr>
            <a:xfrm>
              <a:off x="6818694" y="4268248"/>
              <a:ext cx="623543" cy="1984"/>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93CE584A-6224-4185-BA7F-7DBE679AAC01}"/>
                </a:ext>
              </a:extLst>
            </p:cNvPr>
            <p:cNvCxnSpPr>
              <a:cxnSpLocks/>
              <a:endCxn id="63" idx="3"/>
            </p:cNvCxnSpPr>
            <p:nvPr/>
          </p:nvCxnSpPr>
          <p:spPr>
            <a:xfrm flipV="1">
              <a:off x="3238568" y="4263994"/>
              <a:ext cx="558717" cy="4254"/>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CB478EDF-F147-4A46-ACD7-767B4A547BF2}"/>
                    </a:ext>
                  </a:extLst>
                </p:cNvPr>
                <p:cNvSpPr txBox="1"/>
                <p:nvPr/>
              </p:nvSpPr>
              <p:spPr>
                <a:xfrm rot="10800000" flipV="1">
                  <a:off x="600364" y="3986932"/>
                  <a:ext cx="508127" cy="562630"/>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IN" sz="2000" i="1" smtClean="0">
                            <a:latin typeface="Cambria Math" panose="02040503050406030204" pitchFamily="18" charset="0"/>
                          </a:rPr>
                          <m:t>h</m:t>
                        </m:r>
                      </m:oMath>
                    </m:oMathPara>
                  </a14:m>
                  <a:endParaRPr lang="en-IN" sz="2000" dirty="0">
                    <a:latin typeface="Arial Narrow" panose="020B0606020202030204" pitchFamily="34" charset="0"/>
                  </a:endParaRPr>
                </a:p>
              </p:txBody>
            </p:sp>
          </mc:Choice>
          <mc:Fallback xmlns="">
            <p:sp>
              <p:nvSpPr>
                <p:cNvPr id="88" name="TextBox 87">
                  <a:extLst>
                    <a:ext uri="{FF2B5EF4-FFF2-40B4-BE49-F238E27FC236}">
                      <a16:creationId xmlns:a16="http://schemas.microsoft.com/office/drawing/2014/main" id="{CB478EDF-F147-4A46-ACD7-767B4A547BF2}"/>
                    </a:ext>
                  </a:extLst>
                </p:cNvPr>
                <p:cNvSpPr txBox="1">
                  <a:spLocks noRot="1" noChangeAspect="1" noMove="1" noResize="1" noEditPoints="1" noAdjustHandles="1" noChangeArrowheads="1" noChangeShapeType="1" noTextEdit="1"/>
                </p:cNvSpPr>
                <p:nvPr/>
              </p:nvSpPr>
              <p:spPr>
                <a:xfrm rot="10800000" flipV="1">
                  <a:off x="600364" y="3986932"/>
                  <a:ext cx="508127" cy="562630"/>
                </a:xfrm>
                <a:prstGeom prst="ellipse">
                  <a:avLst/>
                </a:prstGeom>
                <a:blipFill>
                  <a:blip r:embed="rId8"/>
                  <a:stretch>
                    <a:fillRect/>
                  </a:stretch>
                </a:blipFill>
                <a:ln w="12700">
                  <a:solidFill>
                    <a:schemeClr val="tx1"/>
                  </a:solidFill>
                </a:ln>
              </p:spPr>
              <p:txBody>
                <a:bodyPr/>
                <a:lstStyle/>
                <a:p>
                  <a:r>
                    <a:rPr lang="en-IN">
                      <a:noFill/>
                    </a:rPr>
                    <a:t> </a:t>
                  </a:r>
                </a:p>
              </p:txBody>
            </p:sp>
          </mc:Fallback>
        </mc:AlternateContent>
        <p:cxnSp>
          <p:nvCxnSpPr>
            <p:cNvPr id="90" name="Straight Arrow Connector 89">
              <a:extLst>
                <a:ext uri="{FF2B5EF4-FFF2-40B4-BE49-F238E27FC236}">
                  <a16:creationId xmlns:a16="http://schemas.microsoft.com/office/drawing/2014/main" id="{20C9C6AC-19F5-4564-9E13-1B8D0A63390D}"/>
                </a:ext>
              </a:extLst>
            </p:cNvPr>
            <p:cNvCxnSpPr>
              <a:stCxn id="88" idx="2"/>
              <a:endCxn id="7" idx="6"/>
            </p:cNvCxnSpPr>
            <p:nvPr/>
          </p:nvCxnSpPr>
          <p:spPr>
            <a:xfrm>
              <a:off x="1108491" y="4268247"/>
              <a:ext cx="490585" cy="2"/>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19A753A8-AD35-4022-B3B3-F8FBEA03A328}"/>
                </a:ext>
              </a:extLst>
            </p:cNvPr>
            <p:cNvCxnSpPr>
              <a:stCxn id="94" idx="1"/>
              <a:endCxn id="96" idx="6"/>
            </p:cNvCxnSpPr>
            <p:nvPr/>
          </p:nvCxnSpPr>
          <p:spPr>
            <a:xfrm flipV="1">
              <a:off x="8880076" y="4268248"/>
              <a:ext cx="416182" cy="1984"/>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A3B9A7C8-E18A-4216-ABA7-D4FFF52E7DCF}"/>
                </a:ext>
              </a:extLst>
            </p:cNvPr>
            <p:cNvSpPr txBox="1"/>
            <p:nvPr/>
          </p:nvSpPr>
          <p:spPr>
            <a:xfrm rot="10800000" flipV="1">
              <a:off x="7442237" y="4085566"/>
              <a:ext cx="1437839" cy="369332"/>
            </a:xfrm>
            <a:prstGeom prst="rect">
              <a:avLst/>
            </a:prstGeom>
            <a:noFill/>
            <a:ln>
              <a:solidFill>
                <a:srgbClr val="002060"/>
              </a:solidFill>
            </a:ln>
          </p:spPr>
          <p:txBody>
            <a:bodyPr wrap="square" rtlCol="0">
              <a:spAutoFit/>
            </a:bodyPr>
            <a:lstStyle/>
            <a:p>
              <a:pPr algn="ctr"/>
              <a:r>
                <a:rPr lang="en-IN" dirty="0" err="1">
                  <a:latin typeface="Arial Narrow" panose="020B0606020202030204" pitchFamily="34" charset="0"/>
                  <a:cs typeface="Times New Roman" panose="02020603050405020304" pitchFamily="18" charset="0"/>
                </a:rPr>
                <a:t>mul</a:t>
              </a:r>
              <a:r>
                <a:rPr lang="en-IN" dirty="0">
                  <a:latin typeface="Arial Narrow" panose="020B0606020202030204" pitchFamily="34" charset="0"/>
                  <a:cs typeface="Times New Roman" panose="02020603050405020304" pitchFamily="18" charset="0"/>
                </a:rPr>
                <a:t> + add</a:t>
              </a:r>
            </a:p>
          </p:txBody>
        </p:sp>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6803D624-9F2D-4CB6-A000-91DDACFD0A2B}"/>
                    </a:ext>
                  </a:extLst>
                </p:cNvPr>
                <p:cNvSpPr txBox="1"/>
                <p:nvPr/>
              </p:nvSpPr>
              <p:spPr>
                <a:xfrm rot="10800000" flipV="1">
                  <a:off x="9296258" y="4008572"/>
                  <a:ext cx="503989" cy="51935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𝑐</m:t>
                        </m:r>
                      </m:oMath>
                    </m:oMathPara>
                  </a14:m>
                  <a:endParaRPr lang="en-IN" dirty="0">
                    <a:latin typeface="Arial Narrow" panose="020B0606020202030204" pitchFamily="34" charset="0"/>
                  </a:endParaRPr>
                </a:p>
              </p:txBody>
            </p:sp>
          </mc:Choice>
          <mc:Fallback xmlns="">
            <p:sp>
              <p:nvSpPr>
                <p:cNvPr id="96" name="TextBox 95">
                  <a:extLst>
                    <a:ext uri="{FF2B5EF4-FFF2-40B4-BE49-F238E27FC236}">
                      <a16:creationId xmlns:a16="http://schemas.microsoft.com/office/drawing/2014/main" id="{6803D624-9F2D-4CB6-A000-91DDACFD0A2B}"/>
                    </a:ext>
                  </a:extLst>
                </p:cNvPr>
                <p:cNvSpPr txBox="1">
                  <a:spLocks noRot="1" noChangeAspect="1" noMove="1" noResize="1" noEditPoints="1" noAdjustHandles="1" noChangeArrowheads="1" noChangeShapeType="1" noTextEdit="1"/>
                </p:cNvSpPr>
                <p:nvPr/>
              </p:nvSpPr>
              <p:spPr>
                <a:xfrm rot="10800000" flipV="1">
                  <a:off x="9296258" y="4008572"/>
                  <a:ext cx="503989" cy="519351"/>
                </a:xfrm>
                <a:prstGeom prst="ellipse">
                  <a:avLst/>
                </a:prstGeom>
                <a:blipFill>
                  <a:blip r:embed="rId9"/>
                  <a:stretch>
                    <a:fillRect/>
                  </a:stretch>
                </a:blipFill>
                <a:ln w="12700">
                  <a:solidFill>
                    <a:schemeClr val="tx1"/>
                  </a:solidFill>
                </a:ln>
              </p:spPr>
              <p:txBody>
                <a:bodyPr/>
                <a:lstStyle/>
                <a:p>
                  <a:r>
                    <a:rPr lang="en-IN">
                      <a:noFill/>
                    </a:rPr>
                    <a:t> </a:t>
                  </a:r>
                </a:p>
              </p:txBody>
            </p:sp>
          </mc:Fallback>
        </mc:AlternateContent>
        <p:sp>
          <p:nvSpPr>
            <p:cNvPr id="97" name="TextBox 96">
              <a:extLst>
                <a:ext uri="{FF2B5EF4-FFF2-40B4-BE49-F238E27FC236}">
                  <a16:creationId xmlns:a16="http://schemas.microsoft.com/office/drawing/2014/main" id="{E17818E8-007B-45D8-AD06-1A2108924884}"/>
                </a:ext>
              </a:extLst>
            </p:cNvPr>
            <p:cNvSpPr txBox="1"/>
            <p:nvPr/>
          </p:nvSpPr>
          <p:spPr>
            <a:xfrm rot="10800000" flipV="1">
              <a:off x="1738827" y="3582725"/>
              <a:ext cx="1355644" cy="369332"/>
            </a:xfrm>
            <a:prstGeom prst="rect">
              <a:avLst/>
            </a:prstGeom>
            <a:noFill/>
          </p:spPr>
          <p:txBody>
            <a:bodyPr wrap="square" rtlCol="0">
              <a:spAutoFit/>
            </a:bodyPr>
            <a:lstStyle/>
            <a:p>
              <a:r>
                <a:rPr lang="en-IN" dirty="0">
                  <a:latin typeface="Arial Narrow" panose="020B0606020202030204" pitchFamily="34" charset="0"/>
                  <a:cs typeface="Times New Roman" panose="02020603050405020304" pitchFamily="18" charset="0"/>
                </a:rPr>
                <a:t>Alignment</a:t>
              </a:r>
            </a:p>
          </p:txBody>
        </p:sp>
        <p:sp>
          <p:nvSpPr>
            <p:cNvPr id="98" name="TextBox 97">
              <a:extLst>
                <a:ext uri="{FF2B5EF4-FFF2-40B4-BE49-F238E27FC236}">
                  <a16:creationId xmlns:a16="http://schemas.microsoft.com/office/drawing/2014/main" id="{A8C9EC39-2EA1-4820-AB08-8E44D249B4B8}"/>
                </a:ext>
              </a:extLst>
            </p:cNvPr>
            <p:cNvSpPr txBox="1"/>
            <p:nvPr/>
          </p:nvSpPr>
          <p:spPr>
            <a:xfrm rot="10800000" flipV="1">
              <a:off x="5461136" y="3565251"/>
              <a:ext cx="1355644" cy="369332"/>
            </a:xfrm>
            <a:prstGeom prst="rect">
              <a:avLst/>
            </a:prstGeom>
            <a:noFill/>
          </p:spPr>
          <p:txBody>
            <a:bodyPr wrap="square" rtlCol="0">
              <a:spAutoFit/>
            </a:bodyPr>
            <a:lstStyle/>
            <a:p>
              <a:r>
                <a:rPr lang="en-IN" dirty="0">
                  <a:latin typeface="Arial Narrow" panose="020B0606020202030204" pitchFamily="34" charset="0"/>
                  <a:cs typeface="Times New Roman" panose="02020603050405020304" pitchFamily="18" charset="0"/>
                </a:rPr>
                <a:t>Attention</a:t>
              </a:r>
            </a:p>
          </p:txBody>
        </p:sp>
        <p:sp>
          <p:nvSpPr>
            <p:cNvPr id="103" name="TextBox 102">
              <a:extLst>
                <a:ext uri="{FF2B5EF4-FFF2-40B4-BE49-F238E27FC236}">
                  <a16:creationId xmlns:a16="http://schemas.microsoft.com/office/drawing/2014/main" id="{03D7A7FB-37B5-491B-9275-F91C88822728}"/>
                </a:ext>
              </a:extLst>
            </p:cNvPr>
            <p:cNvSpPr txBox="1"/>
            <p:nvPr/>
          </p:nvSpPr>
          <p:spPr>
            <a:xfrm rot="10800000" flipV="1">
              <a:off x="1738826" y="6365994"/>
              <a:ext cx="1583957" cy="369332"/>
            </a:xfrm>
            <a:prstGeom prst="rect">
              <a:avLst/>
            </a:prstGeom>
            <a:noFill/>
          </p:spPr>
          <p:txBody>
            <a:bodyPr wrap="square" rtlCol="0">
              <a:spAutoFit/>
            </a:bodyPr>
            <a:lstStyle/>
            <a:p>
              <a:r>
                <a:rPr lang="en-IN" dirty="0">
                  <a:latin typeface="Arial Narrow" panose="020B0606020202030204" pitchFamily="34" charset="0"/>
                  <a:cs typeface="Times New Roman" panose="02020603050405020304" pitchFamily="18" charset="0"/>
                </a:rPr>
                <a:t>Input Vectors</a:t>
              </a:r>
            </a:p>
          </p:txBody>
        </p:sp>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AD6D90FF-8B08-44E6-ADD1-B975BDF15677}"/>
                    </a:ext>
                  </a:extLst>
                </p:cNvPr>
                <p:cNvSpPr txBox="1"/>
                <p:nvPr/>
              </p:nvSpPr>
              <p:spPr>
                <a:xfrm rot="10800000" flipV="1">
                  <a:off x="6314705" y="4008572"/>
                  <a:ext cx="503989" cy="51935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ea typeface="Cambria Math" panose="02040503050406030204" pitchFamily="18" charset="0"/>
                                <a:cs typeface="Times New Roman" panose="02020603050405020304" pitchFamily="18" charset="0"/>
                              </a:rPr>
                              <m:t>𝑎</m:t>
                            </m:r>
                          </m:e>
                          <m:sub>
                            <m:r>
                              <a:rPr lang="en-IN" b="0" i="1" smtClean="0">
                                <a:latin typeface="Cambria Math" panose="02040503050406030204" pitchFamily="18" charset="0"/>
                              </a:rPr>
                              <m:t>1</m:t>
                            </m:r>
                          </m:sub>
                        </m:sSub>
                      </m:oMath>
                    </m:oMathPara>
                  </a14:m>
                  <a:endParaRPr lang="en-IN" dirty="0">
                    <a:latin typeface="Arial Narrow" panose="020B0606020202030204" pitchFamily="34" charset="0"/>
                  </a:endParaRPr>
                </a:p>
              </p:txBody>
            </p:sp>
          </mc:Choice>
          <mc:Fallback xmlns="">
            <p:sp>
              <p:nvSpPr>
                <p:cNvPr id="105" name="TextBox 104">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6314705" y="4008572"/>
                  <a:ext cx="503989" cy="519351"/>
                </a:xfrm>
                <a:prstGeom prst="ellipse">
                  <a:avLst/>
                </a:prstGeom>
                <a:blipFill>
                  <a:blip r:embed="rId10"/>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36F03E2E-8229-4DFD-869B-C4F6CF96084E}"/>
                    </a:ext>
                  </a:extLst>
                </p:cNvPr>
                <p:cNvSpPr txBox="1"/>
                <p:nvPr/>
              </p:nvSpPr>
              <p:spPr>
                <a:xfrm rot="10800000" flipV="1">
                  <a:off x="5759232" y="4008572"/>
                  <a:ext cx="503989" cy="51935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ea typeface="Cambria Math" panose="02040503050406030204" pitchFamily="18" charset="0"/>
                                <a:cs typeface="Times New Roman" panose="02020603050405020304" pitchFamily="18" charset="0"/>
                              </a:rPr>
                              <m:t>𝑎</m:t>
                            </m:r>
                          </m:e>
                          <m:sub>
                            <m:r>
                              <a:rPr lang="en-IN" b="0" i="1" smtClean="0">
                                <a:latin typeface="Cambria Math" panose="02040503050406030204" pitchFamily="18" charset="0"/>
                              </a:rPr>
                              <m:t>2</m:t>
                            </m:r>
                          </m:sub>
                        </m:sSub>
                      </m:oMath>
                    </m:oMathPara>
                  </a14:m>
                  <a:endParaRPr lang="en-IN" dirty="0">
                    <a:latin typeface="Arial Narrow" panose="020B0606020202030204" pitchFamily="34" charset="0"/>
                  </a:endParaRPr>
                </a:p>
              </p:txBody>
            </p:sp>
          </mc:Choice>
          <mc:Fallback xmlns="">
            <p:sp>
              <p:nvSpPr>
                <p:cNvPr id="106" name="TextBox 105">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5759232" y="4008572"/>
                  <a:ext cx="503989" cy="519351"/>
                </a:xfrm>
                <a:prstGeom prst="ellipse">
                  <a:avLst/>
                </a:prstGeom>
                <a:blipFill>
                  <a:blip r:embed="rId11"/>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DF1D3D16-4F7D-4FD0-95EB-E2360401B577}"/>
                    </a:ext>
                  </a:extLst>
                </p:cNvPr>
                <p:cNvSpPr txBox="1"/>
                <p:nvPr/>
              </p:nvSpPr>
              <p:spPr>
                <a:xfrm rot="10800000" flipV="1">
                  <a:off x="5209142" y="4008573"/>
                  <a:ext cx="503989" cy="51935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ea typeface="Cambria Math" panose="02040503050406030204" pitchFamily="18" charset="0"/>
                                <a:cs typeface="Times New Roman" panose="02020603050405020304" pitchFamily="18" charset="0"/>
                              </a:rPr>
                              <m:t>𝑎</m:t>
                            </m:r>
                          </m:e>
                          <m:sub>
                            <m:r>
                              <a:rPr lang="en-IN" b="0" i="1" smtClean="0">
                                <a:latin typeface="Cambria Math" panose="02040503050406030204" pitchFamily="18" charset="0"/>
                              </a:rPr>
                              <m:t>3</m:t>
                            </m:r>
                          </m:sub>
                        </m:sSub>
                      </m:oMath>
                    </m:oMathPara>
                  </a14:m>
                  <a:endParaRPr lang="en-IN" dirty="0">
                    <a:latin typeface="Arial Narrow" panose="020B0606020202030204" pitchFamily="34" charset="0"/>
                  </a:endParaRPr>
                </a:p>
              </p:txBody>
            </p:sp>
          </mc:Choice>
          <mc:Fallback xmlns="">
            <p:sp>
              <p:nvSpPr>
                <p:cNvPr id="107" name="TextBox 106">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5209142" y="4008573"/>
                  <a:ext cx="503989" cy="519351"/>
                </a:xfrm>
                <a:prstGeom prst="ellipse">
                  <a:avLst/>
                </a:prstGeom>
                <a:blipFill>
                  <a:blip r:embed="rId12"/>
                  <a:stretch>
                    <a:fillRect/>
                  </a:stretch>
                </a:blipFill>
                <a:ln w="12700">
                  <a:solidFill>
                    <a:schemeClr val="tx1"/>
                  </a:solidFill>
                </a:ln>
              </p:spPr>
              <p:txBody>
                <a:bodyPr/>
                <a:lstStyle/>
                <a:p>
                  <a:r>
                    <a:rPr lang="en-IN">
                      <a:noFill/>
                    </a:rPr>
                    <a:t> </a:t>
                  </a:r>
                </a:p>
              </p:txBody>
            </p:sp>
          </mc:Fallback>
        </mc:AlternateContent>
        <p:cxnSp>
          <p:nvCxnSpPr>
            <p:cNvPr id="108" name="Straight Arrow Connector 107">
              <a:extLst>
                <a:ext uri="{FF2B5EF4-FFF2-40B4-BE49-F238E27FC236}">
                  <a16:creationId xmlns:a16="http://schemas.microsoft.com/office/drawing/2014/main" id="{93CE584A-6224-4185-BA7F-7DBE679AAC01}"/>
                </a:ext>
              </a:extLst>
            </p:cNvPr>
            <p:cNvCxnSpPr>
              <a:cxnSpLocks/>
              <a:stCxn id="63" idx="1"/>
              <a:endCxn id="107" idx="6"/>
            </p:cNvCxnSpPr>
            <p:nvPr/>
          </p:nvCxnSpPr>
          <p:spPr>
            <a:xfrm>
              <a:off x="4720660" y="4263994"/>
              <a:ext cx="488482" cy="4255"/>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39" name="Elbow Connector 138"/>
            <p:cNvCxnSpPr>
              <a:stCxn id="8" idx="4"/>
              <a:endCxn id="107" idx="4"/>
            </p:cNvCxnSpPr>
            <p:nvPr/>
          </p:nvCxnSpPr>
          <p:spPr>
            <a:xfrm rot="5400000" flipH="1" flipV="1">
              <a:off x="3770569" y="3719697"/>
              <a:ext cx="882339" cy="2498794"/>
            </a:xfrm>
            <a:prstGeom prst="bentConnector3">
              <a:avLst>
                <a:gd name="adj1" fmla="val -25908"/>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Elbow Connector 140"/>
            <p:cNvCxnSpPr>
              <a:stCxn id="9" idx="4"/>
              <a:endCxn id="106" idx="4"/>
            </p:cNvCxnSpPr>
            <p:nvPr/>
          </p:nvCxnSpPr>
          <p:spPr>
            <a:xfrm rot="5400000" flipH="1" flipV="1">
              <a:off x="3767070" y="3162013"/>
              <a:ext cx="878245" cy="3610066"/>
            </a:xfrm>
            <a:prstGeom prst="bentConnector3">
              <a:avLst>
                <a:gd name="adj1" fmla="val -71773"/>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43" name="Elbow Connector 142"/>
            <p:cNvCxnSpPr>
              <a:stCxn id="10" idx="4"/>
              <a:endCxn id="105" idx="4"/>
            </p:cNvCxnSpPr>
            <p:nvPr/>
          </p:nvCxnSpPr>
          <p:spPr>
            <a:xfrm rot="5400000" flipH="1" flipV="1">
              <a:off x="3769761" y="2609231"/>
              <a:ext cx="878245" cy="4715629"/>
            </a:xfrm>
            <a:prstGeom prst="bentConnector3">
              <a:avLst>
                <a:gd name="adj1" fmla="val -115412"/>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grpSp>
      <p:sp>
        <p:nvSpPr>
          <p:cNvPr id="151" name="TextBox 150">
            <a:extLst>
              <a:ext uri="{FF2B5EF4-FFF2-40B4-BE49-F238E27FC236}">
                <a16:creationId xmlns:a16="http://schemas.microsoft.com/office/drawing/2014/main" id="{48B5E281-0F40-417E-A7EB-72E8C2D0C332}"/>
              </a:ext>
            </a:extLst>
          </p:cNvPr>
          <p:cNvSpPr txBox="1"/>
          <p:nvPr/>
        </p:nvSpPr>
        <p:spPr>
          <a:xfrm>
            <a:off x="359046" y="2264013"/>
            <a:ext cx="3580237" cy="1015663"/>
          </a:xfrm>
          <a:prstGeom prst="rect">
            <a:avLst/>
          </a:prstGeom>
          <a:noFill/>
        </p:spPr>
        <p:txBody>
          <a:bodyPr wrap="square" rtlCol="0">
            <a:spAutoFit/>
          </a:bodyPr>
          <a:lstStyle/>
          <a:p>
            <a:r>
              <a:rPr lang="en-IN" sz="2000" dirty="0">
                <a:latin typeface="Arial Narrow" panose="020B0606020202030204" pitchFamily="34" charset="0"/>
                <a:cs typeface="Times New Roman" panose="02020603050405020304" pitchFamily="18" charset="0"/>
              </a:rPr>
              <a:t>Inputs:</a:t>
            </a:r>
          </a:p>
          <a:p>
            <a:r>
              <a:rPr lang="en-IN" sz="2000" dirty="0">
                <a:latin typeface="Arial Narrow" panose="020B0606020202030204" pitchFamily="34" charset="0"/>
                <a:cs typeface="Times New Roman" panose="02020603050405020304" pitchFamily="18" charset="0"/>
              </a:rPr>
              <a:t>Input Vector X (Dimension : </a:t>
            </a:r>
            <a:r>
              <a:rPr lang="en-IN" sz="2000" dirty="0" err="1">
                <a:latin typeface="Arial Narrow" panose="020B0606020202030204" pitchFamily="34" charset="0"/>
                <a:cs typeface="Times New Roman" panose="02020603050405020304" pitchFamily="18" charset="0"/>
              </a:rPr>
              <a:t>NxD</a:t>
            </a:r>
            <a:r>
              <a:rPr lang="en-IN" sz="2000" dirty="0">
                <a:latin typeface="Arial Narrow" panose="020B0606020202030204" pitchFamily="34" charset="0"/>
                <a:cs typeface="Times New Roman" panose="02020603050405020304" pitchFamily="18" charset="0"/>
              </a:rPr>
              <a:t>)</a:t>
            </a:r>
          </a:p>
          <a:p>
            <a:r>
              <a:rPr lang="en-IN" sz="2000" dirty="0">
                <a:latin typeface="Arial Narrow" panose="020B0606020202030204" pitchFamily="34" charset="0"/>
                <a:cs typeface="Times New Roman" panose="02020603050405020304" pitchFamily="18" charset="0"/>
              </a:rPr>
              <a:t>Query Vector h (Dimension : D)</a:t>
            </a:r>
          </a:p>
        </p:txBody>
      </p:sp>
      <p:sp>
        <p:nvSpPr>
          <p:cNvPr id="152" name="Rectangle 151">
            <a:extLst>
              <a:ext uri="{FF2B5EF4-FFF2-40B4-BE49-F238E27FC236}">
                <a16:creationId xmlns:a16="http://schemas.microsoft.com/office/drawing/2014/main" id="{0EEB5DC9-EE79-4262-AB80-0AE9E2CBAE86}"/>
              </a:ext>
            </a:extLst>
          </p:cNvPr>
          <p:cNvSpPr/>
          <p:nvPr/>
        </p:nvSpPr>
        <p:spPr>
          <a:xfrm>
            <a:off x="4762963" y="2270432"/>
            <a:ext cx="3000516" cy="311361"/>
          </a:xfrm>
          <a:prstGeom prst="rect">
            <a:avLst/>
          </a:prstGeom>
          <a:solidFill>
            <a:schemeClr val="accent1">
              <a:lumMod val="40000"/>
              <a:lumOff val="60000"/>
              <a:alpha val="2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54" name="TextBox 153">
            <a:extLst>
              <a:ext uri="{FF2B5EF4-FFF2-40B4-BE49-F238E27FC236}">
                <a16:creationId xmlns:a16="http://schemas.microsoft.com/office/drawing/2014/main" id="{814A0750-898F-4132-B31D-6BB41D3260C4}"/>
              </a:ext>
            </a:extLst>
          </p:cNvPr>
          <p:cNvSpPr txBox="1"/>
          <p:nvPr/>
        </p:nvSpPr>
        <p:spPr>
          <a:xfrm>
            <a:off x="8161156" y="4539950"/>
            <a:ext cx="3580227" cy="707886"/>
          </a:xfrm>
          <a:prstGeom prst="rect">
            <a:avLst/>
          </a:prstGeom>
          <a:noFill/>
        </p:spPr>
        <p:txBody>
          <a:bodyPr wrap="square" rtlCol="0">
            <a:spAutoFit/>
          </a:bodyPr>
          <a:lstStyle/>
          <a:p>
            <a:r>
              <a:rPr lang="en-IN" sz="2000" dirty="0">
                <a:latin typeface="Arial Narrow" panose="020B0606020202030204" pitchFamily="34" charset="0"/>
                <a:cs typeface="Times New Roman" panose="02020603050405020304" pitchFamily="18" charset="0"/>
              </a:rPr>
              <a:t>Output:</a:t>
            </a:r>
          </a:p>
          <a:p>
            <a:r>
              <a:rPr lang="en-IN" sz="2000" dirty="0">
                <a:latin typeface="Arial Narrow" panose="020B0606020202030204" pitchFamily="34" charset="0"/>
                <a:cs typeface="Times New Roman" panose="02020603050405020304" pitchFamily="18" charset="0"/>
              </a:rPr>
              <a:t>Context Vector C (Dimension : D)</a:t>
            </a:r>
          </a:p>
        </p:txBody>
      </p:sp>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B98F48DF-540C-4629-BC19-AD512CC2C17E}"/>
                  </a:ext>
                </a:extLst>
              </p:cNvPr>
              <p:cNvSpPr/>
              <p:nvPr/>
            </p:nvSpPr>
            <p:spPr>
              <a:xfrm>
                <a:off x="8078290" y="2125513"/>
                <a:ext cx="2939923" cy="646331"/>
              </a:xfrm>
              <a:prstGeom prst="rect">
                <a:avLst/>
              </a:prstGeom>
            </p:spPr>
            <p:txBody>
              <a:bodyPr wrap="square">
                <a:spAutoFit/>
              </a:bodyPr>
              <a:lstStyle/>
              <a:p>
                <a14:m>
                  <m:oMath xmlns:m="http://schemas.openxmlformats.org/officeDocument/2006/math">
                    <m:sSub>
                      <m:sSubPr>
                        <m:ctrlPr>
                          <a:rPr lang="en-IN" i="1" smtClean="0">
                            <a:solidFill>
                              <a:srgbClr val="00B0F0"/>
                            </a:solidFill>
                            <a:latin typeface="Cambria Math" panose="02040503050406030204" pitchFamily="18" charset="0"/>
                            <a:cs typeface="Times New Roman" panose="02020603050405020304" pitchFamily="18" charset="0"/>
                          </a:rPr>
                        </m:ctrlPr>
                      </m:sSubPr>
                      <m:e>
                        <m:r>
                          <a:rPr lang="en-IN" i="1">
                            <a:solidFill>
                              <a:srgbClr val="00B0F0"/>
                            </a:solidFill>
                            <a:latin typeface="Cambria Math" panose="02040503050406030204" pitchFamily="18" charset="0"/>
                            <a:cs typeface="Times New Roman" panose="02020603050405020304" pitchFamily="18" charset="0"/>
                          </a:rPr>
                          <m:t>𝑓</m:t>
                        </m:r>
                      </m:e>
                      <m:sub>
                        <m:r>
                          <a:rPr lang="en-IN" i="1">
                            <a:solidFill>
                              <a:srgbClr val="00B0F0"/>
                            </a:solidFill>
                            <a:latin typeface="Cambria Math" panose="02040503050406030204" pitchFamily="18" charset="0"/>
                            <a:cs typeface="Times New Roman" panose="02020603050405020304" pitchFamily="18" charset="0"/>
                          </a:rPr>
                          <m:t>𝑎</m:t>
                        </m:r>
                        <m:r>
                          <a:rPr lang="en-IN" b="0" i="1" smtClean="0">
                            <a:solidFill>
                              <a:srgbClr val="00B0F0"/>
                            </a:solidFill>
                            <a:latin typeface="Cambria Math" panose="02040503050406030204" pitchFamily="18" charset="0"/>
                            <a:cs typeface="Times New Roman" panose="02020603050405020304" pitchFamily="18" charset="0"/>
                          </a:rPr>
                          <m:t>𝑙𝑙</m:t>
                        </m:r>
                      </m:sub>
                    </m:sSub>
                    <m:d>
                      <m:dPr>
                        <m:ctrlPr>
                          <a:rPr lang="en-IN" i="1">
                            <a:solidFill>
                              <a:srgbClr val="00B0F0"/>
                            </a:solidFill>
                            <a:latin typeface="Cambria Math" panose="02040503050406030204" pitchFamily="18" charset="0"/>
                            <a:cs typeface="Times New Roman" panose="02020603050405020304" pitchFamily="18" charset="0"/>
                          </a:rPr>
                        </m:ctrlPr>
                      </m:dPr>
                      <m:e>
                        <m:r>
                          <a:rPr lang="en-IN" i="1">
                            <a:solidFill>
                              <a:srgbClr val="00B0F0"/>
                            </a:solidFill>
                            <a:latin typeface="Cambria Math" panose="02040503050406030204" pitchFamily="18" charset="0"/>
                            <a:cs typeface="Times New Roman" panose="02020603050405020304" pitchFamily="18" charset="0"/>
                          </a:rPr>
                          <m:t>h</m:t>
                        </m:r>
                        <m:r>
                          <a:rPr lang="en-IN" i="1">
                            <a:solidFill>
                              <a:srgbClr val="00B0F0"/>
                            </a:solidFill>
                            <a:latin typeface="Cambria Math" panose="02040503050406030204" pitchFamily="18" charset="0"/>
                            <a:cs typeface="Times New Roman" panose="02020603050405020304" pitchFamily="18" charset="0"/>
                          </a:rPr>
                          <m:t>,</m:t>
                        </m:r>
                        <m:sSub>
                          <m:sSubPr>
                            <m:ctrlPr>
                              <a:rPr lang="en-IN" i="1">
                                <a:solidFill>
                                  <a:srgbClr val="00B0F0"/>
                                </a:solidFill>
                                <a:latin typeface="Cambria Math" panose="02040503050406030204" pitchFamily="18" charset="0"/>
                                <a:cs typeface="Times New Roman" panose="02020603050405020304" pitchFamily="18" charset="0"/>
                              </a:rPr>
                            </m:ctrlPr>
                          </m:sSubPr>
                          <m:e>
                            <m:r>
                              <a:rPr lang="en-IN" i="1">
                                <a:solidFill>
                                  <a:srgbClr val="00B0F0"/>
                                </a:solidFill>
                                <a:latin typeface="Cambria Math" panose="02040503050406030204" pitchFamily="18" charset="0"/>
                                <a:cs typeface="Times New Roman" panose="02020603050405020304" pitchFamily="18" charset="0"/>
                              </a:rPr>
                              <m:t>𝑥</m:t>
                            </m:r>
                          </m:e>
                          <m:sub>
                            <m:r>
                              <a:rPr lang="en-IN" i="1">
                                <a:solidFill>
                                  <a:srgbClr val="00B0F0"/>
                                </a:solidFill>
                                <a:latin typeface="Cambria Math" panose="02040503050406030204" pitchFamily="18" charset="0"/>
                                <a:cs typeface="Times New Roman" panose="02020603050405020304" pitchFamily="18" charset="0"/>
                              </a:rPr>
                              <m:t>𝑖</m:t>
                            </m:r>
                          </m:sub>
                        </m:sSub>
                      </m:e>
                    </m:d>
                  </m:oMath>
                </a14:m>
                <a:r>
                  <a:rPr lang="en-IN" dirty="0">
                    <a:solidFill>
                      <a:srgbClr val="00B0F0"/>
                    </a:solidFill>
                    <a:latin typeface="Arial Narrow" panose="020B0606020202030204" pitchFamily="34" charset="0"/>
                    <a:cs typeface="Times New Roman" panose="02020603050405020304" pitchFamily="18" charset="0"/>
                  </a:rPr>
                  <a:t> is replaced with a simple dot (.) product </a:t>
                </a:r>
              </a:p>
            </p:txBody>
          </p:sp>
        </mc:Choice>
        <mc:Fallback xmlns="">
          <p:sp>
            <p:nvSpPr>
              <p:cNvPr id="37" name="Rectangle 36">
                <a:extLst>
                  <a:ext uri="{FF2B5EF4-FFF2-40B4-BE49-F238E27FC236}">
                    <a16:creationId xmlns:a16="http://schemas.microsoft.com/office/drawing/2014/main" id="{B98F48DF-540C-4629-BC19-AD512CC2C17E}"/>
                  </a:ext>
                </a:extLst>
              </p:cNvPr>
              <p:cNvSpPr>
                <a:spLocks noRot="1" noChangeAspect="1" noMove="1" noResize="1" noEditPoints="1" noAdjustHandles="1" noChangeArrowheads="1" noChangeShapeType="1" noTextEdit="1"/>
              </p:cNvSpPr>
              <p:nvPr/>
            </p:nvSpPr>
            <p:spPr>
              <a:xfrm>
                <a:off x="8078290" y="2125513"/>
                <a:ext cx="2939923" cy="646331"/>
              </a:xfrm>
              <a:prstGeom prst="rect">
                <a:avLst/>
              </a:prstGeom>
              <a:blipFill>
                <a:blip r:embed="rId13"/>
                <a:stretch>
                  <a:fillRect l="-1660" t="-4717" b="-1509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5253E52A-CF0A-405D-9D6C-C42BAE0717AA}"/>
                  </a:ext>
                </a:extLst>
              </p:cNvPr>
              <p:cNvSpPr txBox="1"/>
              <p:nvPr/>
            </p:nvSpPr>
            <p:spPr>
              <a:xfrm>
                <a:off x="4709611" y="1891950"/>
                <a:ext cx="3580231" cy="1323632"/>
              </a:xfrm>
              <a:prstGeom prst="rect">
                <a:avLst/>
              </a:prstGeom>
              <a:noFill/>
            </p:spPr>
            <p:txBody>
              <a:bodyPr wrap="square" rtlCol="0">
                <a:spAutoFit/>
              </a:bodyPr>
              <a:lstStyle/>
              <a:p>
                <a:r>
                  <a:rPr lang="en-IN" sz="2000" dirty="0">
                    <a:latin typeface="Arial Narrow" panose="020B0606020202030204" pitchFamily="34" charset="0"/>
                    <a:cs typeface="Times New Roman" panose="02020603050405020304" pitchFamily="18" charset="0"/>
                  </a:rPr>
                  <a:t>Operations:</a:t>
                </a:r>
              </a:p>
              <a:p>
                <a:r>
                  <a:rPr lang="en-IN" sz="2000" dirty="0">
                    <a:latin typeface="Arial Narrow" panose="020B0606020202030204" pitchFamily="34" charset="0"/>
                    <a:cs typeface="Times New Roman" panose="02020603050405020304" pitchFamily="18" charset="0"/>
                  </a:rPr>
                  <a:t>Alignment: </a:t>
                </a:r>
                <a14:m>
                  <m:oMath xmlns:m="http://schemas.openxmlformats.org/officeDocument/2006/math">
                    <m:sSub>
                      <m:sSubPr>
                        <m:ctrlPr>
                          <a:rPr lang="en-US" sz="2000" i="1" smtClean="0">
                            <a:latin typeface="Cambria Math" panose="02040503050406030204" pitchFamily="18" charset="0"/>
                            <a:cs typeface="Times New Roman" panose="02020603050405020304" pitchFamily="18" charset="0"/>
                          </a:rPr>
                        </m:ctrlPr>
                      </m:sSubPr>
                      <m:e>
                        <m:r>
                          <a:rPr lang="en-IN" sz="2000"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n-IN" sz="2000" i="1">
                            <a:latin typeface="Cambria Math" panose="02040503050406030204" pitchFamily="18" charset="0"/>
                            <a:cs typeface="Times New Roman" panose="02020603050405020304" pitchFamily="18" charset="0"/>
                          </a:rPr>
                          <m:t>𝑖</m:t>
                        </m:r>
                      </m:sub>
                    </m:sSub>
                    <m:r>
                      <a:rPr lang="en-IN" sz="2000" i="1">
                        <a:latin typeface="Cambria Math" panose="02040503050406030204" pitchFamily="18" charset="0"/>
                        <a:cs typeface="Times New Roman" panose="02020603050405020304" pitchFamily="18" charset="0"/>
                      </a:rPr>
                      <m:t>=</m:t>
                    </m:r>
                    <m:r>
                      <a:rPr lang="en-IN" sz="2000" i="1" smtClean="0">
                        <a:latin typeface="Cambria Math" panose="02040503050406030204" pitchFamily="18" charset="0"/>
                        <a:cs typeface="Times New Roman" panose="02020603050405020304" pitchFamily="18" charset="0"/>
                      </a:rPr>
                      <m:t>h</m:t>
                    </m:r>
                    <m:r>
                      <a:rPr lang="en-IN" sz="2000" b="0" i="1" smtClean="0">
                        <a:latin typeface="Cambria Math" panose="02040503050406030204" pitchFamily="18" charset="0"/>
                        <a:cs typeface="Times New Roman" panose="02020603050405020304" pitchFamily="18" charset="0"/>
                      </a:rPr>
                      <m:t>.</m:t>
                    </m:r>
                    <m:sSub>
                      <m:sSubPr>
                        <m:ctrlPr>
                          <a:rPr lang="en-IN" sz="2000" i="1" dirty="0" smtClean="0">
                            <a:latin typeface="Cambria Math" panose="02040503050406030204" pitchFamily="18" charset="0"/>
                            <a:cs typeface="Times New Roman" panose="02020603050405020304" pitchFamily="18" charset="0"/>
                          </a:rPr>
                        </m:ctrlPr>
                      </m:sSubPr>
                      <m:e>
                        <m:r>
                          <a:rPr lang="en-IN" sz="2000" b="0" i="1" dirty="0" smtClean="0">
                            <a:latin typeface="Cambria Math" panose="02040503050406030204" pitchFamily="18" charset="0"/>
                            <a:cs typeface="Times New Roman" panose="02020603050405020304" pitchFamily="18" charset="0"/>
                          </a:rPr>
                          <m:t>𝑥</m:t>
                        </m:r>
                      </m:e>
                      <m:sub>
                        <m:r>
                          <a:rPr lang="en-IN" sz="2000" b="0" i="1" dirty="0" smtClean="0">
                            <a:latin typeface="Cambria Math" panose="02040503050406030204" pitchFamily="18" charset="0"/>
                            <a:cs typeface="Times New Roman" panose="02020603050405020304" pitchFamily="18" charset="0"/>
                          </a:rPr>
                          <m:t>𝑖</m:t>
                        </m:r>
                      </m:sub>
                    </m:sSub>
                  </m:oMath>
                </a14:m>
                <a:endParaRPr lang="en-IN" sz="2000" dirty="0">
                  <a:latin typeface="Arial Narrow" panose="020B0606020202030204" pitchFamily="34" charset="0"/>
                  <a:cs typeface="Times New Roman" panose="02020603050405020304" pitchFamily="18" charset="0"/>
                </a:endParaRPr>
              </a:p>
              <a:p>
                <a:r>
                  <a:rPr lang="en-IN" sz="2000" dirty="0">
                    <a:latin typeface="Arial Narrow" panose="020B0606020202030204" pitchFamily="34" charset="0"/>
                    <a:cs typeface="Times New Roman" panose="02020603050405020304" pitchFamily="18" charset="0"/>
                  </a:rPr>
                  <a:t>Attention: </a:t>
                </a:r>
                <a14:m>
                  <m:oMath xmlns:m="http://schemas.openxmlformats.org/officeDocument/2006/math">
                    <m:r>
                      <a:rPr lang="en-IN" sz="2000" b="0" i="1" smtClean="0">
                        <a:latin typeface="Cambria Math" panose="02040503050406030204" pitchFamily="18" charset="0"/>
                        <a:ea typeface="Cambria Math" panose="02040503050406030204" pitchFamily="18" charset="0"/>
                        <a:cs typeface="Times New Roman" panose="02020603050405020304" pitchFamily="18" charset="0"/>
                      </a:rPr>
                      <m:t>𝑎</m:t>
                    </m:r>
                    <m:r>
                      <a:rPr lang="en-IN" sz="2000" i="1">
                        <a:latin typeface="Cambria Math" panose="02040503050406030204" pitchFamily="18" charset="0"/>
                        <a:cs typeface="Times New Roman" panose="02020603050405020304" pitchFamily="18" charset="0"/>
                      </a:rPr>
                      <m:t>=</m:t>
                    </m:r>
                    <m:r>
                      <a:rPr lang="en-IN" sz="2000" i="1">
                        <a:latin typeface="Cambria Math" panose="02040503050406030204" pitchFamily="18" charset="0"/>
                        <a:cs typeface="Times New Roman" panose="02020603050405020304" pitchFamily="18" charset="0"/>
                      </a:rPr>
                      <m:t>𝑆𝑜𝑓𝑡𝑚𝑎𝑥</m:t>
                    </m:r>
                    <m:d>
                      <m:dPr>
                        <m:ctrlPr>
                          <a:rPr lang="en-IN" sz="2000" i="1">
                            <a:latin typeface="Cambria Math" panose="02040503050406030204" pitchFamily="18" charset="0"/>
                            <a:cs typeface="Times New Roman" panose="02020603050405020304" pitchFamily="18" charset="0"/>
                          </a:rPr>
                        </m:ctrlPr>
                      </m:dPr>
                      <m:e>
                        <m:r>
                          <a:rPr lang="en-IN" sz="2000" i="1" smtClean="0">
                            <a:latin typeface="Cambria Math" panose="02040503050406030204" pitchFamily="18" charset="0"/>
                            <a:ea typeface="Cambria Math" panose="02040503050406030204" pitchFamily="18" charset="0"/>
                            <a:cs typeface="Times New Roman" panose="02020603050405020304" pitchFamily="18" charset="0"/>
                          </a:rPr>
                          <m:t>𝛼</m:t>
                        </m:r>
                      </m:e>
                    </m:d>
                  </m:oMath>
                </a14:m>
                <a:r>
                  <a:rPr lang="en-IN" sz="2000" dirty="0">
                    <a:latin typeface="Arial Narrow" panose="020B0606020202030204" pitchFamily="34" charset="0"/>
                    <a:cs typeface="Times New Roman" panose="02020603050405020304" pitchFamily="18" charset="0"/>
                  </a:rPr>
                  <a:t> </a:t>
                </a:r>
              </a:p>
              <a:p>
                <a:r>
                  <a:rPr lang="en-IN" sz="2000" dirty="0">
                    <a:latin typeface="Arial Narrow" panose="020B0606020202030204" pitchFamily="34" charset="0"/>
                    <a:cs typeface="Times New Roman" panose="02020603050405020304" pitchFamily="18" charset="0"/>
                  </a:rPr>
                  <a:t>Output: </a:t>
                </a:r>
                <a14:m>
                  <m:oMath xmlns:m="http://schemas.openxmlformats.org/officeDocument/2006/math">
                    <m:r>
                      <a:rPr lang="en-IN" sz="2000" b="0" i="1" dirty="0" smtClean="0">
                        <a:latin typeface="Cambria Math" panose="02040503050406030204" pitchFamily="18" charset="0"/>
                        <a:cs typeface="Times New Roman" panose="02020603050405020304" pitchFamily="18" charset="0"/>
                      </a:rPr>
                      <m:t>𝑐</m:t>
                    </m:r>
                    <m:r>
                      <a:rPr lang="en-IN" sz="2000" i="1">
                        <a:latin typeface="Cambria Math" panose="02040503050406030204" pitchFamily="18" charset="0"/>
                        <a:cs typeface="Times New Roman" panose="02020603050405020304" pitchFamily="18" charset="0"/>
                      </a:rPr>
                      <m:t>=</m:t>
                    </m:r>
                  </m:oMath>
                </a14:m>
                <a:r>
                  <a:rPr lang="en-IN" sz="2000" dirty="0">
                    <a:latin typeface="Arial Narrow" panose="020B0606020202030204" pitchFamily="34" charset="0"/>
                    <a:cs typeface="Times New Roman" panose="02020603050405020304" pitchFamily="18" charset="0"/>
                  </a:rPr>
                  <a:t> </a:t>
                </a:r>
                <a14:m>
                  <m:oMath xmlns:m="http://schemas.openxmlformats.org/officeDocument/2006/math">
                    <m:nary>
                      <m:naryPr>
                        <m:chr m:val="∑"/>
                        <m:limLoc m:val="subSup"/>
                        <m:supHide m:val="on"/>
                        <m:ctrlPr>
                          <a:rPr lang="en-IN" sz="2000" i="1" dirty="0" smtClean="0">
                            <a:latin typeface="Cambria Math" panose="02040503050406030204" pitchFamily="18" charset="0"/>
                            <a:cs typeface="Times New Roman" panose="02020603050405020304" pitchFamily="18" charset="0"/>
                          </a:rPr>
                        </m:ctrlPr>
                      </m:naryPr>
                      <m:sub>
                        <m:r>
                          <m:rPr>
                            <m:brk m:alnAt="9"/>
                          </m:rPr>
                          <a:rPr lang="en-IN" sz="2000" b="0" i="1" dirty="0" smtClean="0">
                            <a:latin typeface="Cambria Math" panose="02040503050406030204" pitchFamily="18" charset="0"/>
                            <a:cs typeface="Times New Roman" panose="02020603050405020304" pitchFamily="18" charset="0"/>
                          </a:rPr>
                          <m:t>𝑖</m:t>
                        </m:r>
                      </m:sub>
                      <m:sup/>
                      <m:e>
                        <m:sSub>
                          <m:sSubPr>
                            <m:ctrlPr>
                              <a:rPr lang="en-IN" sz="2000" i="1" dirty="0" smtClean="0">
                                <a:latin typeface="Cambria Math" panose="02040503050406030204" pitchFamily="18" charset="0"/>
                                <a:cs typeface="Times New Roman" panose="02020603050405020304" pitchFamily="18" charset="0"/>
                              </a:rPr>
                            </m:ctrlPr>
                          </m:sSubPr>
                          <m:e>
                            <m:r>
                              <a:rPr lang="en-IN" sz="2000" b="0" i="1" dirty="0" smtClean="0">
                                <a:latin typeface="Cambria Math" panose="02040503050406030204" pitchFamily="18" charset="0"/>
                                <a:cs typeface="Times New Roman" panose="02020603050405020304" pitchFamily="18" charset="0"/>
                              </a:rPr>
                              <m:t>𝑎</m:t>
                            </m:r>
                          </m:e>
                          <m:sub>
                            <m:r>
                              <a:rPr lang="en-IN" sz="2000" b="0" i="1" dirty="0" smtClean="0">
                                <a:latin typeface="Cambria Math" panose="02040503050406030204" pitchFamily="18" charset="0"/>
                                <a:cs typeface="Times New Roman" panose="02020603050405020304" pitchFamily="18" charset="0"/>
                              </a:rPr>
                              <m:t>𝑖</m:t>
                            </m:r>
                          </m:sub>
                        </m:sSub>
                        <m:sSub>
                          <m:sSubPr>
                            <m:ctrlPr>
                              <a:rPr lang="en-IN" sz="2000" i="1" dirty="0" smtClean="0">
                                <a:latin typeface="Cambria Math" panose="02040503050406030204" pitchFamily="18" charset="0"/>
                                <a:cs typeface="Times New Roman" panose="02020603050405020304" pitchFamily="18" charset="0"/>
                              </a:rPr>
                            </m:ctrlPr>
                          </m:sSubPr>
                          <m:e>
                            <m:r>
                              <a:rPr lang="en-IN" sz="2000" b="0" i="1" dirty="0" smtClean="0">
                                <a:latin typeface="Cambria Math" panose="02040503050406030204" pitchFamily="18" charset="0"/>
                                <a:cs typeface="Times New Roman" panose="02020603050405020304" pitchFamily="18" charset="0"/>
                              </a:rPr>
                              <m:t>𝑥</m:t>
                            </m:r>
                          </m:e>
                          <m:sub>
                            <m:r>
                              <a:rPr lang="en-IN" sz="2000" b="0" i="1" dirty="0" smtClean="0">
                                <a:latin typeface="Cambria Math" panose="02040503050406030204" pitchFamily="18" charset="0"/>
                                <a:cs typeface="Times New Roman" panose="02020603050405020304" pitchFamily="18" charset="0"/>
                              </a:rPr>
                              <m:t>𝑖</m:t>
                            </m:r>
                          </m:sub>
                        </m:sSub>
                      </m:e>
                    </m:nary>
                  </m:oMath>
                </a14:m>
                <a:endParaRPr lang="en-IN" sz="2000" dirty="0">
                  <a:latin typeface="Arial Narrow" panose="020B0606020202030204" pitchFamily="34" charset="0"/>
                  <a:cs typeface="Times New Roman" panose="02020603050405020304" pitchFamily="18" charset="0"/>
                </a:endParaRPr>
              </a:p>
            </p:txBody>
          </p:sp>
        </mc:Choice>
        <mc:Fallback xmlns="">
          <p:sp>
            <p:nvSpPr>
              <p:cNvPr id="38" name="TextBox 37">
                <a:extLst>
                  <a:ext uri="{FF2B5EF4-FFF2-40B4-BE49-F238E27FC236}">
                    <a16:creationId xmlns:a16="http://schemas.microsoft.com/office/drawing/2014/main" id="{5253E52A-CF0A-405D-9D6C-C42BAE0717AA}"/>
                  </a:ext>
                </a:extLst>
              </p:cNvPr>
              <p:cNvSpPr txBox="1">
                <a:spLocks noRot="1" noChangeAspect="1" noMove="1" noResize="1" noEditPoints="1" noAdjustHandles="1" noChangeArrowheads="1" noChangeShapeType="1" noTextEdit="1"/>
              </p:cNvSpPr>
              <p:nvPr/>
            </p:nvSpPr>
            <p:spPr>
              <a:xfrm>
                <a:off x="4709611" y="1891950"/>
                <a:ext cx="3580231" cy="1323632"/>
              </a:xfrm>
              <a:prstGeom prst="rect">
                <a:avLst/>
              </a:prstGeom>
              <a:blipFill>
                <a:blip r:embed="rId14"/>
                <a:stretch>
                  <a:fillRect l="-1874" t="-2304" b="-55300"/>
                </a:stretch>
              </a:blipFill>
            </p:spPr>
            <p:txBody>
              <a:bodyPr/>
              <a:lstStyle/>
              <a:p>
                <a:r>
                  <a:rPr lang="en-IN">
                    <a:noFill/>
                  </a:rPr>
                  <a:t> </a:t>
                </a:r>
              </a:p>
            </p:txBody>
          </p:sp>
        </mc:Fallback>
      </mc:AlternateContent>
      <p:sp>
        <p:nvSpPr>
          <p:cNvPr id="39" name="Title 3">
            <a:extLst>
              <a:ext uri="{FF2B5EF4-FFF2-40B4-BE49-F238E27FC236}">
                <a16:creationId xmlns:a16="http://schemas.microsoft.com/office/drawing/2014/main" id="{F47B8448-4928-45C0-8E16-AC777F25744C}"/>
              </a:ext>
            </a:extLst>
          </p:cNvPr>
          <p:cNvSpPr>
            <a:spLocks noGrp="1"/>
          </p:cNvSpPr>
          <p:nvPr>
            <p:ph type="title"/>
          </p:nvPr>
        </p:nvSpPr>
        <p:spPr>
          <a:xfrm>
            <a:off x="359046" y="473687"/>
            <a:ext cx="10515600" cy="859910"/>
          </a:xfrm>
        </p:spPr>
        <p:txBody>
          <a:bodyPr>
            <a:normAutofit/>
          </a:bodyPr>
          <a:lstStyle/>
          <a:p>
            <a:r>
              <a:rPr lang="en-IN" sz="3200" dirty="0">
                <a:latin typeface="Century" panose="02040604050505020304" pitchFamily="18" charset="0"/>
              </a:rPr>
              <a:t>Attention Layer</a:t>
            </a:r>
          </a:p>
        </p:txBody>
      </p:sp>
    </p:spTree>
    <p:extLst>
      <p:ext uri="{BB962C8B-B14F-4D97-AF65-F5344CB8AC3E}">
        <p14:creationId xmlns:p14="http://schemas.microsoft.com/office/powerpoint/2010/main" val="15021606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8" name="Straight Connector 57">
            <a:extLst>
              <a:ext uri="{FF2B5EF4-FFF2-40B4-BE49-F238E27FC236}">
                <a16:creationId xmlns:a16="http://schemas.microsoft.com/office/drawing/2014/main" id="{1B0BBDC5-3F7A-42D8-B1E5-54F450CE7F0A}"/>
              </a:ext>
            </a:extLst>
          </p:cNvPr>
          <p:cNvCxnSpPr>
            <a:cxnSpLocks/>
          </p:cNvCxnSpPr>
          <p:nvPr/>
        </p:nvCxnSpPr>
        <p:spPr>
          <a:xfrm>
            <a:off x="5673425" y="3938045"/>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814A0750-898F-4132-B31D-6BB41D3260C4}"/>
              </a:ext>
            </a:extLst>
          </p:cNvPr>
          <p:cNvSpPr txBox="1"/>
          <p:nvPr/>
        </p:nvSpPr>
        <p:spPr>
          <a:xfrm>
            <a:off x="8257431" y="5419631"/>
            <a:ext cx="3245518" cy="584775"/>
          </a:xfrm>
          <a:prstGeom prst="rect">
            <a:avLst/>
          </a:prstGeom>
          <a:noFill/>
        </p:spPr>
        <p:txBody>
          <a:bodyPr wrap="square" rtlCol="0">
            <a:spAutoFit/>
          </a:bodyPr>
          <a:lstStyle/>
          <a:p>
            <a:r>
              <a:rPr lang="en-IN" sz="1600" dirty="0">
                <a:latin typeface="Arial Narrow" panose="020B0606020202030204" pitchFamily="34" charset="0"/>
                <a:cs typeface="Times New Roman" panose="02020603050405020304" pitchFamily="18" charset="0"/>
              </a:rPr>
              <a:t>Output:</a:t>
            </a:r>
          </a:p>
          <a:p>
            <a:r>
              <a:rPr lang="en-IN" sz="1600" dirty="0">
                <a:latin typeface="Arial Narrow" panose="020B0606020202030204" pitchFamily="34" charset="0"/>
                <a:cs typeface="Times New Roman" panose="02020603050405020304" pitchFamily="18" charset="0"/>
              </a:rPr>
              <a:t>Context Vector C (Dimension : D)</a:t>
            </a:r>
          </a:p>
        </p:txBody>
      </p:sp>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5253E52A-CF0A-405D-9D6C-C42BAE0717AA}"/>
                  </a:ext>
                </a:extLst>
              </p:cNvPr>
              <p:cNvSpPr txBox="1"/>
              <p:nvPr/>
            </p:nvSpPr>
            <p:spPr>
              <a:xfrm>
                <a:off x="5650306" y="3305450"/>
                <a:ext cx="3245522" cy="1100622"/>
              </a:xfrm>
              <a:prstGeom prst="rect">
                <a:avLst/>
              </a:prstGeom>
              <a:noFill/>
            </p:spPr>
            <p:txBody>
              <a:bodyPr wrap="square" rtlCol="0">
                <a:spAutoFit/>
              </a:bodyPr>
              <a:lstStyle/>
              <a:p>
                <a:r>
                  <a:rPr lang="en-IN" sz="1600" dirty="0">
                    <a:latin typeface="Arial Narrow" panose="020B0606020202030204" pitchFamily="34" charset="0"/>
                    <a:cs typeface="Times New Roman" panose="02020603050405020304" pitchFamily="18" charset="0"/>
                  </a:rPr>
                  <a:t>Operations:</a:t>
                </a:r>
              </a:p>
              <a:p>
                <a:r>
                  <a:rPr lang="en-IN" sz="1600" dirty="0">
                    <a:latin typeface="Arial Narrow" panose="020B0606020202030204" pitchFamily="34" charset="0"/>
                    <a:cs typeface="Times New Roman" panose="02020603050405020304" pitchFamily="18" charset="0"/>
                  </a:rPr>
                  <a:t>Alignment: </a:t>
                </a:r>
                <a14:m>
                  <m:oMath xmlns:m="http://schemas.openxmlformats.org/officeDocument/2006/math">
                    <m:sSub>
                      <m:sSubPr>
                        <m:ctrlPr>
                          <a:rPr lang="en-US" sz="1600" i="1" smtClean="0">
                            <a:latin typeface="Cambria Math" panose="02040503050406030204" pitchFamily="18" charset="0"/>
                            <a:cs typeface="Times New Roman" panose="02020603050405020304" pitchFamily="18" charset="0"/>
                          </a:rPr>
                        </m:ctrlPr>
                      </m:sSubPr>
                      <m:e>
                        <m:r>
                          <a:rPr lang="en-IN" sz="1600"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n-IN" sz="1600" i="1">
                            <a:latin typeface="Cambria Math" panose="02040503050406030204" pitchFamily="18" charset="0"/>
                            <a:cs typeface="Times New Roman" panose="02020603050405020304" pitchFamily="18" charset="0"/>
                          </a:rPr>
                          <m:t>𝑖</m:t>
                        </m:r>
                      </m:sub>
                    </m:sSub>
                    <m:r>
                      <a:rPr lang="en-IN" sz="1600" i="1">
                        <a:latin typeface="Cambria Math" panose="02040503050406030204" pitchFamily="18" charset="0"/>
                        <a:cs typeface="Times New Roman" panose="02020603050405020304" pitchFamily="18" charset="0"/>
                      </a:rPr>
                      <m:t>=</m:t>
                    </m:r>
                    <m:r>
                      <a:rPr lang="en-IN" sz="1600" i="1" smtClean="0">
                        <a:latin typeface="Cambria Math" panose="02040503050406030204" pitchFamily="18" charset="0"/>
                        <a:cs typeface="Times New Roman" panose="02020603050405020304" pitchFamily="18" charset="0"/>
                      </a:rPr>
                      <m:t>h</m:t>
                    </m:r>
                    <m:r>
                      <a:rPr lang="en-IN" sz="1600" b="0" i="1" smtClean="0">
                        <a:latin typeface="Cambria Math" panose="02040503050406030204" pitchFamily="18" charset="0"/>
                        <a:cs typeface="Times New Roman" panose="02020603050405020304" pitchFamily="18" charset="0"/>
                      </a:rPr>
                      <m:t>.</m:t>
                    </m:r>
                    <m:sSub>
                      <m:sSubPr>
                        <m:ctrlPr>
                          <a:rPr lang="en-IN" sz="1600" i="1" dirty="0" smtClean="0">
                            <a:latin typeface="Cambria Math" panose="02040503050406030204" pitchFamily="18" charset="0"/>
                            <a:cs typeface="Times New Roman" panose="02020603050405020304" pitchFamily="18" charset="0"/>
                          </a:rPr>
                        </m:ctrlPr>
                      </m:sSubPr>
                      <m:e>
                        <m:r>
                          <a:rPr lang="en-IN" sz="1600" b="0" i="1" dirty="0" smtClean="0">
                            <a:latin typeface="Cambria Math" panose="02040503050406030204" pitchFamily="18" charset="0"/>
                            <a:cs typeface="Times New Roman" panose="02020603050405020304" pitchFamily="18" charset="0"/>
                          </a:rPr>
                          <m:t>𝑥</m:t>
                        </m:r>
                      </m:e>
                      <m:sub>
                        <m:r>
                          <a:rPr lang="en-IN" sz="1600" b="0" i="1" dirty="0" smtClean="0">
                            <a:latin typeface="Cambria Math" panose="02040503050406030204" pitchFamily="18" charset="0"/>
                            <a:cs typeface="Times New Roman" panose="02020603050405020304" pitchFamily="18" charset="0"/>
                          </a:rPr>
                          <m:t>𝑖</m:t>
                        </m:r>
                      </m:sub>
                    </m:sSub>
                    <m:r>
                      <a:rPr lang="en-IN" sz="1600" b="0" i="1" dirty="0" smtClean="0">
                        <a:latin typeface="Cambria Math" panose="02040503050406030204" pitchFamily="18" charset="0"/>
                        <a:cs typeface="Times New Roman" panose="02020603050405020304" pitchFamily="18" charset="0"/>
                      </a:rPr>
                      <m:t>/</m:t>
                    </m:r>
                    <m:rad>
                      <m:radPr>
                        <m:degHide m:val="on"/>
                        <m:ctrlPr>
                          <a:rPr lang="en-IN" sz="1600" b="0" i="1" dirty="0" smtClean="0">
                            <a:latin typeface="Cambria Math" panose="02040503050406030204" pitchFamily="18" charset="0"/>
                            <a:cs typeface="Times New Roman" panose="02020603050405020304" pitchFamily="18" charset="0"/>
                          </a:rPr>
                        </m:ctrlPr>
                      </m:radPr>
                      <m:deg/>
                      <m:e>
                        <m:r>
                          <a:rPr lang="en-IN" sz="1600" b="0" i="1" dirty="0" smtClean="0">
                            <a:latin typeface="Cambria Math" panose="02040503050406030204" pitchFamily="18" charset="0"/>
                            <a:cs typeface="Times New Roman" panose="02020603050405020304" pitchFamily="18" charset="0"/>
                          </a:rPr>
                          <m:t>𝐷</m:t>
                        </m:r>
                      </m:e>
                    </m:rad>
                  </m:oMath>
                </a14:m>
                <a:endParaRPr lang="en-IN" sz="1600" dirty="0">
                  <a:latin typeface="Arial Narrow" panose="020B0606020202030204" pitchFamily="34" charset="0"/>
                  <a:cs typeface="Times New Roman" panose="02020603050405020304" pitchFamily="18" charset="0"/>
                </a:endParaRPr>
              </a:p>
              <a:p>
                <a:r>
                  <a:rPr lang="en-IN" sz="1600" dirty="0">
                    <a:latin typeface="Arial Narrow" panose="020B0606020202030204" pitchFamily="34" charset="0"/>
                    <a:cs typeface="Times New Roman" panose="02020603050405020304" pitchFamily="18" charset="0"/>
                  </a:rPr>
                  <a:t>Attention: </a:t>
                </a:r>
                <a14:m>
                  <m:oMath xmlns:m="http://schemas.openxmlformats.org/officeDocument/2006/math">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𝑎</m:t>
                    </m:r>
                    <m:r>
                      <a:rPr lang="en-IN" sz="1600" i="1">
                        <a:latin typeface="Cambria Math" panose="02040503050406030204" pitchFamily="18" charset="0"/>
                        <a:cs typeface="Times New Roman" panose="02020603050405020304" pitchFamily="18" charset="0"/>
                      </a:rPr>
                      <m:t>=</m:t>
                    </m:r>
                    <m:r>
                      <a:rPr lang="en-IN" sz="1600" i="1">
                        <a:latin typeface="Cambria Math" panose="02040503050406030204" pitchFamily="18" charset="0"/>
                        <a:cs typeface="Times New Roman" panose="02020603050405020304" pitchFamily="18" charset="0"/>
                      </a:rPr>
                      <m:t>𝑆𝑜𝑓𝑡𝑚𝑎𝑥</m:t>
                    </m:r>
                    <m:d>
                      <m:dPr>
                        <m:ctrlPr>
                          <a:rPr lang="en-IN" sz="1600" i="1">
                            <a:latin typeface="Cambria Math" panose="02040503050406030204" pitchFamily="18" charset="0"/>
                            <a:cs typeface="Times New Roman" panose="02020603050405020304" pitchFamily="18" charset="0"/>
                          </a:rPr>
                        </m:ctrlPr>
                      </m:dPr>
                      <m:e>
                        <m:r>
                          <a:rPr lang="en-IN" sz="1600" i="1" smtClean="0">
                            <a:latin typeface="Cambria Math" panose="02040503050406030204" pitchFamily="18" charset="0"/>
                            <a:ea typeface="Cambria Math" panose="02040503050406030204" pitchFamily="18" charset="0"/>
                            <a:cs typeface="Times New Roman" panose="02020603050405020304" pitchFamily="18" charset="0"/>
                          </a:rPr>
                          <m:t>𝛼</m:t>
                        </m:r>
                      </m:e>
                    </m:d>
                  </m:oMath>
                </a14:m>
                <a:r>
                  <a:rPr lang="en-IN" sz="1600" dirty="0">
                    <a:latin typeface="Arial Narrow" panose="020B0606020202030204" pitchFamily="34" charset="0"/>
                    <a:cs typeface="Times New Roman" panose="02020603050405020304" pitchFamily="18" charset="0"/>
                  </a:rPr>
                  <a:t> </a:t>
                </a:r>
              </a:p>
              <a:p>
                <a:r>
                  <a:rPr lang="en-IN" sz="1600" dirty="0">
                    <a:latin typeface="Arial Narrow" panose="020B0606020202030204" pitchFamily="34" charset="0"/>
                    <a:cs typeface="Times New Roman" panose="02020603050405020304" pitchFamily="18" charset="0"/>
                  </a:rPr>
                  <a:t>Output: </a:t>
                </a:r>
                <a14:m>
                  <m:oMath xmlns:m="http://schemas.openxmlformats.org/officeDocument/2006/math">
                    <m:r>
                      <a:rPr lang="en-IN" sz="1600" b="0" i="1" dirty="0" smtClean="0">
                        <a:latin typeface="Cambria Math" panose="02040503050406030204" pitchFamily="18" charset="0"/>
                        <a:cs typeface="Times New Roman" panose="02020603050405020304" pitchFamily="18" charset="0"/>
                      </a:rPr>
                      <m:t>𝑐</m:t>
                    </m:r>
                    <m:r>
                      <a:rPr lang="en-IN" sz="1600" i="1">
                        <a:latin typeface="Cambria Math" panose="02040503050406030204" pitchFamily="18" charset="0"/>
                        <a:cs typeface="Times New Roman" panose="02020603050405020304" pitchFamily="18" charset="0"/>
                      </a:rPr>
                      <m:t>=</m:t>
                    </m:r>
                  </m:oMath>
                </a14:m>
                <a:r>
                  <a:rPr lang="en-IN" sz="1600" dirty="0">
                    <a:latin typeface="Arial Narrow" panose="020B0606020202030204" pitchFamily="34" charset="0"/>
                    <a:cs typeface="Times New Roman" panose="02020603050405020304" pitchFamily="18" charset="0"/>
                  </a:rPr>
                  <a:t> </a:t>
                </a:r>
                <a14:m>
                  <m:oMath xmlns:m="http://schemas.openxmlformats.org/officeDocument/2006/math">
                    <m:nary>
                      <m:naryPr>
                        <m:chr m:val="∑"/>
                        <m:limLoc m:val="subSup"/>
                        <m:supHide m:val="on"/>
                        <m:ctrlPr>
                          <a:rPr lang="en-IN" sz="1600" i="1" dirty="0" smtClean="0">
                            <a:latin typeface="Cambria Math" panose="02040503050406030204" pitchFamily="18" charset="0"/>
                            <a:cs typeface="Times New Roman" panose="02020603050405020304" pitchFamily="18" charset="0"/>
                          </a:rPr>
                        </m:ctrlPr>
                      </m:naryPr>
                      <m:sub>
                        <m:r>
                          <m:rPr>
                            <m:brk m:alnAt="9"/>
                          </m:rPr>
                          <a:rPr lang="en-IN" sz="1600" b="0" i="1" dirty="0" smtClean="0">
                            <a:latin typeface="Cambria Math" panose="02040503050406030204" pitchFamily="18" charset="0"/>
                            <a:cs typeface="Times New Roman" panose="02020603050405020304" pitchFamily="18" charset="0"/>
                          </a:rPr>
                          <m:t>𝑖</m:t>
                        </m:r>
                      </m:sub>
                      <m:sup/>
                      <m:e>
                        <m:sSub>
                          <m:sSubPr>
                            <m:ctrlPr>
                              <a:rPr lang="en-IN" sz="1600" i="1" dirty="0" smtClean="0">
                                <a:latin typeface="Cambria Math" panose="02040503050406030204" pitchFamily="18" charset="0"/>
                                <a:cs typeface="Times New Roman" panose="02020603050405020304" pitchFamily="18" charset="0"/>
                              </a:rPr>
                            </m:ctrlPr>
                          </m:sSubPr>
                          <m:e>
                            <m:r>
                              <a:rPr lang="en-IN" sz="1600" b="0" i="1" dirty="0" smtClean="0">
                                <a:latin typeface="Cambria Math" panose="02040503050406030204" pitchFamily="18" charset="0"/>
                                <a:cs typeface="Times New Roman" panose="02020603050405020304" pitchFamily="18" charset="0"/>
                              </a:rPr>
                              <m:t>𝑎</m:t>
                            </m:r>
                          </m:e>
                          <m:sub>
                            <m:r>
                              <a:rPr lang="en-IN" sz="1600" b="0" i="1" dirty="0" smtClean="0">
                                <a:latin typeface="Cambria Math" panose="02040503050406030204" pitchFamily="18" charset="0"/>
                                <a:cs typeface="Times New Roman" panose="02020603050405020304" pitchFamily="18" charset="0"/>
                              </a:rPr>
                              <m:t>𝑖</m:t>
                            </m:r>
                          </m:sub>
                        </m:sSub>
                        <m:sSub>
                          <m:sSubPr>
                            <m:ctrlPr>
                              <a:rPr lang="en-IN" sz="1600" i="1" dirty="0" smtClean="0">
                                <a:latin typeface="Cambria Math" panose="02040503050406030204" pitchFamily="18" charset="0"/>
                                <a:cs typeface="Times New Roman" panose="02020603050405020304" pitchFamily="18" charset="0"/>
                              </a:rPr>
                            </m:ctrlPr>
                          </m:sSubPr>
                          <m:e>
                            <m:r>
                              <a:rPr lang="en-IN" sz="1600" b="0" i="1" dirty="0" smtClean="0">
                                <a:latin typeface="Cambria Math" panose="02040503050406030204" pitchFamily="18" charset="0"/>
                                <a:cs typeface="Times New Roman" panose="02020603050405020304" pitchFamily="18" charset="0"/>
                              </a:rPr>
                              <m:t>𝑥</m:t>
                            </m:r>
                          </m:e>
                          <m:sub>
                            <m:r>
                              <a:rPr lang="en-IN" sz="1600" b="0" i="1" dirty="0" smtClean="0">
                                <a:latin typeface="Cambria Math" panose="02040503050406030204" pitchFamily="18" charset="0"/>
                                <a:cs typeface="Times New Roman" panose="02020603050405020304" pitchFamily="18" charset="0"/>
                              </a:rPr>
                              <m:t>𝑖</m:t>
                            </m:r>
                          </m:sub>
                        </m:sSub>
                      </m:e>
                    </m:nary>
                  </m:oMath>
                </a14:m>
                <a:endParaRPr lang="en-IN" sz="1600" dirty="0">
                  <a:latin typeface="Arial Narrow" panose="020B0606020202030204" pitchFamily="34" charset="0"/>
                  <a:cs typeface="Times New Roman" panose="02020603050405020304" pitchFamily="18" charset="0"/>
                </a:endParaRPr>
              </a:p>
            </p:txBody>
          </p:sp>
        </mc:Choice>
        <mc:Fallback xmlns="">
          <p:sp>
            <p:nvSpPr>
              <p:cNvPr id="100" name="TextBox 99">
                <a:extLst>
                  <a:ext uri="{FF2B5EF4-FFF2-40B4-BE49-F238E27FC236}">
                    <a16:creationId xmlns:a16="http://schemas.microsoft.com/office/drawing/2014/main" id="{5253E52A-CF0A-405D-9D6C-C42BAE0717AA}"/>
                  </a:ext>
                </a:extLst>
              </p:cNvPr>
              <p:cNvSpPr txBox="1">
                <a:spLocks noRot="1" noChangeAspect="1" noMove="1" noResize="1" noEditPoints="1" noAdjustHandles="1" noChangeArrowheads="1" noChangeShapeType="1" noTextEdit="1"/>
              </p:cNvSpPr>
              <p:nvPr/>
            </p:nvSpPr>
            <p:spPr>
              <a:xfrm>
                <a:off x="5650306" y="3305450"/>
                <a:ext cx="3245522" cy="1100622"/>
              </a:xfrm>
              <a:prstGeom prst="rect">
                <a:avLst/>
              </a:prstGeom>
              <a:blipFill>
                <a:blip r:embed="rId2"/>
                <a:stretch>
                  <a:fillRect l="-1128" t="-1105" b="-51934"/>
                </a:stretch>
              </a:blipFill>
            </p:spPr>
            <p:txBody>
              <a:bodyPr/>
              <a:lstStyle/>
              <a:p>
                <a:r>
                  <a:rPr lang="en-IN">
                    <a:noFill/>
                  </a:rPr>
                  <a:t> </a:t>
                </a:r>
              </a:p>
            </p:txBody>
          </p:sp>
        </mc:Fallback>
      </mc:AlternateContent>
      <p:sp>
        <p:nvSpPr>
          <p:cNvPr id="101" name="TextBox 100">
            <a:extLst>
              <a:ext uri="{FF2B5EF4-FFF2-40B4-BE49-F238E27FC236}">
                <a16:creationId xmlns:a16="http://schemas.microsoft.com/office/drawing/2014/main" id="{48B5E281-0F40-417E-A7EB-72E8C2D0C332}"/>
              </a:ext>
            </a:extLst>
          </p:cNvPr>
          <p:cNvSpPr txBox="1"/>
          <p:nvPr/>
        </p:nvSpPr>
        <p:spPr>
          <a:xfrm>
            <a:off x="577468" y="3461306"/>
            <a:ext cx="3245527" cy="861774"/>
          </a:xfrm>
          <a:prstGeom prst="rect">
            <a:avLst/>
          </a:prstGeom>
          <a:noFill/>
        </p:spPr>
        <p:txBody>
          <a:bodyPr wrap="square" rtlCol="0">
            <a:spAutoFit/>
          </a:bodyPr>
          <a:lstStyle/>
          <a:p>
            <a:r>
              <a:rPr lang="en-IN" sz="1600" dirty="0">
                <a:latin typeface="Arial Narrow" panose="020B0606020202030204" pitchFamily="34" charset="0"/>
                <a:cs typeface="Times New Roman" panose="02020603050405020304" pitchFamily="18" charset="0"/>
              </a:rPr>
              <a:t>Inputs:</a:t>
            </a:r>
          </a:p>
          <a:p>
            <a:r>
              <a:rPr lang="en-IN" sz="1600" dirty="0">
                <a:latin typeface="Arial Narrow" panose="020B0606020202030204" pitchFamily="34" charset="0"/>
                <a:cs typeface="Times New Roman" panose="02020603050405020304" pitchFamily="18" charset="0"/>
              </a:rPr>
              <a:t>Input Vector X (Dimension : </a:t>
            </a:r>
            <a:r>
              <a:rPr lang="en-IN" sz="1600" dirty="0" err="1">
                <a:latin typeface="Arial Narrow" panose="020B0606020202030204" pitchFamily="34" charset="0"/>
                <a:cs typeface="Times New Roman" panose="02020603050405020304" pitchFamily="18" charset="0"/>
              </a:rPr>
              <a:t>NxD</a:t>
            </a:r>
            <a:r>
              <a:rPr lang="en-IN" sz="1600" dirty="0">
                <a:latin typeface="Arial Narrow" panose="020B0606020202030204" pitchFamily="34" charset="0"/>
                <a:cs typeface="Times New Roman" panose="02020603050405020304" pitchFamily="18" charset="0"/>
              </a:rPr>
              <a:t>)</a:t>
            </a:r>
          </a:p>
          <a:p>
            <a:r>
              <a:rPr lang="en-IN" sz="1600" dirty="0">
                <a:latin typeface="Arial Narrow" panose="020B0606020202030204" pitchFamily="34" charset="0"/>
                <a:cs typeface="Times New Roman" panose="02020603050405020304" pitchFamily="18" charset="0"/>
              </a:rPr>
              <a:t>Query Vector h (Dimension : D)</a:t>
            </a:r>
          </a:p>
        </p:txBody>
      </p:sp>
      <mc:AlternateContent xmlns:mc="http://schemas.openxmlformats.org/markup-compatibility/2006" xmlns:a14="http://schemas.microsoft.com/office/drawing/2010/main">
        <mc:Choice Requires="a14">
          <p:sp>
            <p:nvSpPr>
              <p:cNvPr id="102" name="Rectangle 101">
                <a:extLst>
                  <a:ext uri="{FF2B5EF4-FFF2-40B4-BE49-F238E27FC236}">
                    <a16:creationId xmlns:a16="http://schemas.microsoft.com/office/drawing/2014/main" id="{B98F48DF-540C-4629-BC19-AD512CC2C17E}"/>
                  </a:ext>
                </a:extLst>
              </p:cNvPr>
              <p:cNvSpPr/>
              <p:nvPr/>
            </p:nvSpPr>
            <p:spPr>
              <a:xfrm>
                <a:off x="218787" y="922196"/>
                <a:ext cx="11635452" cy="2348910"/>
              </a:xfrm>
              <a:prstGeom prst="rect">
                <a:avLst/>
              </a:prstGeom>
              <a:solidFill>
                <a:schemeClr val="accent4">
                  <a:lumMod val="60000"/>
                  <a:lumOff val="40000"/>
                  <a:alpha val="14000"/>
                </a:schemeClr>
              </a:solidFill>
            </p:spPr>
            <p:txBody>
              <a:bodyPr wrap="square">
                <a:noAutofit/>
              </a:bodyPr>
              <a:lstStyle/>
              <a:p>
                <a:pPr marL="285750" indent="-285750" algn="just">
                  <a:buFont typeface="Arial" panose="020B0604020202020204" pitchFamily="34" charset="0"/>
                  <a:buChar char="•"/>
                </a:pPr>
                <a:r>
                  <a:rPr lang="en-US" dirty="0">
                    <a:latin typeface="Arial Narrow" panose="020B0606020202030204" pitchFamily="34" charset="0"/>
                  </a:rPr>
                  <a:t>When the vector dimension D becomes large, the dot product contains many terms in its sum, </a:t>
                </a:r>
              </a:p>
              <a:p>
                <a:pPr algn="just"/>
                <a:r>
                  <a:rPr lang="en-US" dirty="0">
                    <a:latin typeface="Arial Narrow" panose="020B0606020202030204" pitchFamily="34" charset="0"/>
                  </a:rPr>
                  <a:t>      causing the variance of the resulting logits to increase. </a:t>
                </a:r>
              </a:p>
              <a:p>
                <a:pPr marL="285750" indent="-285750" algn="just">
                  <a:buFont typeface="Arial" panose="020B0604020202020204" pitchFamily="34" charset="0"/>
                  <a:buChar char="•"/>
                </a:pPr>
                <a:r>
                  <a:rPr lang="en-US" dirty="0">
                    <a:latin typeface="Arial Narrow" panose="020B0606020202030204" pitchFamily="34" charset="0"/>
                  </a:rPr>
                  <a:t>Consequently, the logits can become large in magnitude, and when these values are passed through the </a:t>
                </a:r>
                <a:r>
                  <a:rPr lang="en-US" dirty="0" err="1">
                    <a:latin typeface="Arial Narrow" panose="020B0606020202030204" pitchFamily="34" charset="0"/>
                  </a:rPr>
                  <a:t>Softmax</a:t>
                </a:r>
                <a:r>
                  <a:rPr lang="en-US" dirty="0">
                    <a:latin typeface="Arial Narrow" panose="020B0606020202030204" pitchFamily="34" charset="0"/>
                  </a:rPr>
                  <a:t> function, the output distribution can become extremely peaked, with one position receiving most of the attention weight while the others receive very little. </a:t>
                </a:r>
              </a:p>
              <a:p>
                <a:pPr marL="285750" indent="-285750" algn="just">
                  <a:buFont typeface="Arial" panose="020B0604020202020204" pitchFamily="34" charset="0"/>
                  <a:buChar char="•"/>
                </a:pPr>
                <a:r>
                  <a:rPr lang="en-US" dirty="0">
                    <a:latin typeface="Arial Narrow" panose="020B0606020202030204" pitchFamily="34" charset="0"/>
                  </a:rPr>
                  <a:t>This low-entropy distribution can lead to unstable learning and make optimization more difficult. </a:t>
                </a:r>
              </a:p>
              <a:p>
                <a:pPr marL="285750" indent="-285750" algn="just">
                  <a:buFont typeface="Arial" panose="020B0604020202020204" pitchFamily="34" charset="0"/>
                  <a:buChar char="•"/>
                </a:pPr>
                <a:r>
                  <a:rPr lang="en-US" dirty="0">
                    <a:latin typeface="Arial Narrow" panose="020B0606020202030204" pitchFamily="34" charset="0"/>
                  </a:rPr>
                  <a:t>To address this issue, the dot product is scaled by</a:t>
                </a:r>
                <a:r>
                  <a:rPr lang="en-US" dirty="0"/>
                  <a:t> </a:t>
                </a:r>
                <a14:m>
                  <m:oMath xmlns:m="http://schemas.openxmlformats.org/officeDocument/2006/math">
                    <m:rad>
                      <m:radPr>
                        <m:degHide m:val="on"/>
                        <m:ctrlPr>
                          <a:rPr lang="en-US" i="1">
                            <a:latin typeface="Cambria Math" panose="02040503050406030204" pitchFamily="18" charset="0"/>
                          </a:rPr>
                        </m:ctrlPr>
                      </m:radPr>
                      <m:deg/>
                      <m:e>
                        <m:r>
                          <a:rPr lang="en-IN" i="1">
                            <a:latin typeface="Cambria Math" panose="02040503050406030204" pitchFamily="18" charset="0"/>
                          </a:rPr>
                          <m:t>𝐷</m:t>
                        </m:r>
                      </m:e>
                    </m:rad>
                  </m:oMath>
                </a14:m>
                <a:r>
                  <a:rPr lang="en-US" dirty="0">
                    <a:latin typeface="Arial Narrow" panose="020B0606020202030204" pitchFamily="34" charset="0"/>
                  </a:rPr>
                  <a:t>, where </a:t>
                </a:r>
                <a14:m>
                  <m:oMath xmlns:m="http://schemas.openxmlformats.org/officeDocument/2006/math">
                    <m:r>
                      <a:rPr lang="en-IN" i="1">
                        <a:latin typeface="Cambria Math" panose="02040503050406030204" pitchFamily="18" charset="0"/>
                      </a:rPr>
                      <m:t>𝐷</m:t>
                    </m:r>
                    <m:r>
                      <a:rPr lang="en-IN" i="1">
                        <a:latin typeface="Cambria Math" panose="02040503050406030204" pitchFamily="18" charset="0"/>
                      </a:rPr>
                      <m:t> </m:t>
                    </m:r>
                  </m:oMath>
                </a14:m>
                <a:r>
                  <a:rPr lang="en-US" dirty="0">
                    <a:latin typeface="Arial Narrow" panose="020B0606020202030204" pitchFamily="34" charset="0"/>
                  </a:rPr>
                  <a:t>is the dimensionality of the vectors. </a:t>
                </a:r>
              </a:p>
              <a:p>
                <a:pPr marL="285750" indent="-285750" algn="just">
                  <a:buFont typeface="Arial" panose="020B0604020202020204" pitchFamily="34" charset="0"/>
                  <a:buChar char="•"/>
                </a:pPr>
                <a:r>
                  <a:rPr lang="en-US" dirty="0">
                    <a:latin typeface="Arial Narrow" panose="020B0606020202030204" pitchFamily="34" charset="0"/>
                  </a:rPr>
                  <a:t>Dividing by </a:t>
                </a:r>
                <a14:m>
                  <m:oMath xmlns:m="http://schemas.openxmlformats.org/officeDocument/2006/math">
                    <m:rad>
                      <m:radPr>
                        <m:degHide m:val="on"/>
                        <m:ctrlPr>
                          <a:rPr lang="en-US" i="1" smtClean="0">
                            <a:latin typeface="Cambria Math" panose="02040503050406030204" pitchFamily="18" charset="0"/>
                          </a:rPr>
                        </m:ctrlPr>
                      </m:radPr>
                      <m:deg/>
                      <m:e>
                        <m:r>
                          <a:rPr lang="en-IN" b="0" i="1" smtClean="0">
                            <a:latin typeface="Cambria Math" panose="02040503050406030204" pitchFamily="18" charset="0"/>
                          </a:rPr>
                          <m:t>𝐷</m:t>
                        </m:r>
                      </m:e>
                    </m:rad>
                  </m:oMath>
                </a14:m>
                <a:r>
                  <a:rPr lang="en-US" dirty="0">
                    <a:latin typeface="Arial Narrow" panose="020B0606020202030204" pitchFamily="34" charset="0"/>
                  </a:rPr>
                  <a:t> keeps the logits at a more appropriate scale, prevents the </a:t>
                </a:r>
                <a:r>
                  <a:rPr lang="en-US" dirty="0" err="1">
                    <a:latin typeface="Arial Narrow" panose="020B0606020202030204" pitchFamily="34" charset="0"/>
                  </a:rPr>
                  <a:t>Softmax</a:t>
                </a:r>
                <a:r>
                  <a:rPr lang="en-US" dirty="0">
                    <a:latin typeface="Arial Narrow" panose="020B0606020202030204" pitchFamily="34" charset="0"/>
                  </a:rPr>
                  <a:t> function from becoming excessively peaked, and helps maintain more balanced attention weights, thereby improving training stability.</a:t>
                </a:r>
                <a:endParaRPr lang="en-IN" dirty="0">
                  <a:solidFill>
                    <a:srgbClr val="00B0F0"/>
                  </a:solidFill>
                  <a:latin typeface="Arial Narrow" panose="020B0606020202030204" pitchFamily="34" charset="0"/>
                  <a:cs typeface="Times New Roman" panose="02020603050405020304" pitchFamily="18" charset="0"/>
                </a:endParaRPr>
              </a:p>
            </p:txBody>
          </p:sp>
        </mc:Choice>
        <mc:Fallback xmlns="">
          <p:sp>
            <p:nvSpPr>
              <p:cNvPr id="102" name="Rectangle 101">
                <a:extLst>
                  <a:ext uri="{FF2B5EF4-FFF2-40B4-BE49-F238E27FC236}">
                    <a16:creationId xmlns:a16="http://schemas.microsoft.com/office/drawing/2014/main" id="{B98F48DF-540C-4629-BC19-AD512CC2C17E}"/>
                  </a:ext>
                </a:extLst>
              </p:cNvPr>
              <p:cNvSpPr>
                <a:spLocks noRot="1" noChangeAspect="1" noMove="1" noResize="1" noEditPoints="1" noAdjustHandles="1" noChangeArrowheads="1" noChangeShapeType="1" noTextEdit="1"/>
              </p:cNvSpPr>
              <p:nvPr/>
            </p:nvSpPr>
            <p:spPr>
              <a:xfrm>
                <a:off x="218787" y="922196"/>
                <a:ext cx="11635452" cy="2348910"/>
              </a:xfrm>
              <a:prstGeom prst="rect">
                <a:avLst/>
              </a:prstGeom>
              <a:blipFill>
                <a:blip r:embed="rId3"/>
                <a:stretch>
                  <a:fillRect l="-367" t="-1036" r="-419" b="-3627"/>
                </a:stretch>
              </a:blipFill>
            </p:spPr>
            <p:txBody>
              <a:bodyPr/>
              <a:lstStyle/>
              <a:p>
                <a:r>
                  <a:rPr lang="en-IN">
                    <a:noFill/>
                  </a:rPr>
                  <a:t> </a:t>
                </a:r>
              </a:p>
            </p:txBody>
          </p:sp>
        </mc:Fallback>
      </mc:AlternateContent>
      <p:sp>
        <p:nvSpPr>
          <p:cNvPr id="2" name="Rectangle 1">
            <a:extLst>
              <a:ext uri="{FF2B5EF4-FFF2-40B4-BE49-F238E27FC236}">
                <a16:creationId xmlns:a16="http://schemas.microsoft.com/office/drawing/2014/main" id="{706D1F09-D219-4262-97DC-7961FA4D64DE}"/>
              </a:ext>
            </a:extLst>
          </p:cNvPr>
          <p:cNvSpPr/>
          <p:nvPr/>
        </p:nvSpPr>
        <p:spPr>
          <a:xfrm>
            <a:off x="5723610" y="4106672"/>
            <a:ext cx="2801334" cy="269037"/>
          </a:xfrm>
          <a:prstGeom prst="rect">
            <a:avLst/>
          </a:prstGeom>
          <a:solidFill>
            <a:schemeClr val="accent1">
              <a:lumMod val="40000"/>
              <a:lumOff val="60000"/>
              <a:alpha val="2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42" name="Title 3">
            <a:extLst>
              <a:ext uri="{FF2B5EF4-FFF2-40B4-BE49-F238E27FC236}">
                <a16:creationId xmlns:a16="http://schemas.microsoft.com/office/drawing/2014/main" id="{16574032-DB89-481D-AA73-ACCBD27A52F6}"/>
              </a:ext>
            </a:extLst>
          </p:cNvPr>
          <p:cNvSpPr>
            <a:spLocks noGrp="1"/>
          </p:cNvSpPr>
          <p:nvPr>
            <p:ph type="title"/>
          </p:nvPr>
        </p:nvSpPr>
        <p:spPr>
          <a:xfrm>
            <a:off x="322173" y="52411"/>
            <a:ext cx="10515600" cy="859910"/>
          </a:xfrm>
        </p:spPr>
        <p:txBody>
          <a:bodyPr>
            <a:normAutofit/>
          </a:bodyPr>
          <a:lstStyle/>
          <a:p>
            <a:r>
              <a:rPr lang="en-IN" sz="3200" dirty="0">
                <a:latin typeface="Century" panose="02040604050505020304" pitchFamily="18" charset="0"/>
              </a:rPr>
              <a:t>Attention Layer</a:t>
            </a:r>
          </a:p>
        </p:txBody>
      </p:sp>
      <p:sp>
        <p:nvSpPr>
          <p:cNvPr id="51" name="TextBox 50">
            <a:extLst>
              <a:ext uri="{FF2B5EF4-FFF2-40B4-BE49-F238E27FC236}">
                <a16:creationId xmlns:a16="http://schemas.microsoft.com/office/drawing/2014/main" id="{6049486E-075D-47E9-94B8-DFC5455E2595}"/>
              </a:ext>
            </a:extLst>
          </p:cNvPr>
          <p:cNvSpPr txBox="1"/>
          <p:nvPr/>
        </p:nvSpPr>
        <p:spPr>
          <a:xfrm>
            <a:off x="6581775" y="6492875"/>
            <a:ext cx="5610225" cy="307777"/>
          </a:xfrm>
          <a:prstGeom prst="rect">
            <a:avLst/>
          </a:prstGeom>
          <a:noFill/>
        </p:spPr>
        <p:txBody>
          <a:bodyPr wrap="square" rtlCol="0">
            <a:spAutoFit/>
          </a:bodyPr>
          <a:lstStyle/>
          <a:p>
            <a:r>
              <a:rPr lang="en-IN" sz="1400" dirty="0">
                <a:latin typeface="Arial Narrow" panose="020B0606020202030204" pitchFamily="34" charset="0"/>
                <a:cs typeface="Times New Roman" panose="02020603050405020304" pitchFamily="18" charset="0"/>
              </a:rPr>
              <a:t>Concept: Fei-Fei Li Attention and Transformers CS231n Stanford Lecture</a:t>
            </a:r>
          </a:p>
        </p:txBody>
      </p:sp>
      <p:grpSp>
        <p:nvGrpSpPr>
          <p:cNvPr id="43" name="Group 42"/>
          <p:cNvGrpSpPr/>
          <p:nvPr/>
        </p:nvGrpSpPr>
        <p:grpSpPr>
          <a:xfrm>
            <a:off x="322173" y="4415947"/>
            <a:ext cx="9199883" cy="2442053"/>
            <a:chOff x="600364" y="3548316"/>
            <a:chExt cx="9199883" cy="2666012"/>
          </a:xfrm>
        </p:grpSpPr>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AD6D90FF-8B08-44E6-ADD1-B975BDF15677}"/>
                    </a:ext>
                  </a:extLst>
                </p:cNvPr>
                <p:cNvSpPr txBox="1"/>
                <p:nvPr/>
              </p:nvSpPr>
              <p:spPr>
                <a:xfrm rot="10800000" flipV="1">
                  <a:off x="2704639" y="3984757"/>
                  <a:ext cx="503989" cy="566980"/>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n-IN" b="0" i="1" smtClean="0">
                                <a:latin typeface="Cambria Math" panose="02040503050406030204" pitchFamily="18" charset="0"/>
                              </a:rPr>
                              <m:t>1</m:t>
                            </m:r>
                          </m:sub>
                        </m:sSub>
                      </m:oMath>
                    </m:oMathPara>
                  </a14:m>
                  <a:endParaRPr lang="en-IN" dirty="0">
                    <a:latin typeface="Arial Narrow" panose="020B0606020202030204" pitchFamily="34" charset="0"/>
                  </a:endParaRPr>
                </a:p>
              </p:txBody>
            </p:sp>
          </mc:Choice>
          <mc:Fallback xmlns="">
            <p:sp>
              <p:nvSpPr>
                <p:cNvPr id="44" name="TextBox 43">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2704639" y="3984757"/>
                  <a:ext cx="503989" cy="566980"/>
                </a:xfrm>
                <a:prstGeom prst="ellipse">
                  <a:avLst/>
                </a:prstGeom>
                <a:blipFill>
                  <a:blip r:embed="rId4"/>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36F03E2E-8229-4DFD-869B-C4F6CF96084E}"/>
                    </a:ext>
                  </a:extLst>
                </p:cNvPr>
                <p:cNvSpPr txBox="1"/>
                <p:nvPr/>
              </p:nvSpPr>
              <p:spPr>
                <a:xfrm rot="10800000" flipV="1">
                  <a:off x="2149166" y="3984757"/>
                  <a:ext cx="503989" cy="566980"/>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n-IN" b="0" i="1" smtClean="0">
                                <a:latin typeface="Cambria Math" panose="02040503050406030204" pitchFamily="18" charset="0"/>
                              </a:rPr>
                              <m:t>2</m:t>
                            </m:r>
                          </m:sub>
                        </m:sSub>
                      </m:oMath>
                    </m:oMathPara>
                  </a14:m>
                  <a:endParaRPr lang="en-IN" dirty="0">
                    <a:latin typeface="Arial Narrow" panose="020B0606020202030204" pitchFamily="34" charset="0"/>
                  </a:endParaRPr>
                </a:p>
              </p:txBody>
            </p:sp>
          </mc:Choice>
          <mc:Fallback xmlns="">
            <p:sp>
              <p:nvSpPr>
                <p:cNvPr id="45" name="TextBox 44">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2149166" y="3984757"/>
                  <a:ext cx="503989" cy="566980"/>
                </a:xfrm>
                <a:prstGeom prst="ellipse">
                  <a:avLst/>
                </a:prstGeom>
                <a:blipFill>
                  <a:blip r:embed="rId5"/>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DF1D3D16-4F7D-4FD0-95EB-E2360401B577}"/>
                    </a:ext>
                  </a:extLst>
                </p:cNvPr>
                <p:cNvSpPr txBox="1"/>
                <p:nvPr/>
              </p:nvSpPr>
              <p:spPr>
                <a:xfrm rot="10800000" flipV="1">
                  <a:off x="1599076" y="3984758"/>
                  <a:ext cx="503989" cy="566980"/>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n-IN" b="0" i="1" smtClean="0">
                                <a:latin typeface="Cambria Math" panose="02040503050406030204" pitchFamily="18" charset="0"/>
                              </a:rPr>
                              <m:t>3</m:t>
                            </m:r>
                          </m:sub>
                        </m:sSub>
                      </m:oMath>
                    </m:oMathPara>
                  </a14:m>
                  <a:endParaRPr lang="en-IN" dirty="0">
                    <a:latin typeface="Arial Narrow" panose="020B0606020202030204" pitchFamily="34" charset="0"/>
                  </a:endParaRPr>
                </a:p>
              </p:txBody>
            </p:sp>
          </mc:Choice>
          <mc:Fallback xmlns="">
            <p:sp>
              <p:nvSpPr>
                <p:cNvPr id="46" name="TextBox 45">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1599076" y="3984758"/>
                  <a:ext cx="503989" cy="566980"/>
                </a:xfrm>
                <a:prstGeom prst="ellipse">
                  <a:avLst/>
                </a:prstGeom>
                <a:blipFill>
                  <a:blip r:embed="rId6"/>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98434757-453A-49BA-B417-238E5FFE6B79}"/>
                    </a:ext>
                  </a:extLst>
                </p:cNvPr>
                <p:cNvSpPr txBox="1"/>
                <p:nvPr/>
              </p:nvSpPr>
              <p:spPr>
                <a:xfrm rot="10800000" flipV="1">
                  <a:off x="2710348" y="4867097"/>
                  <a:ext cx="503989" cy="566980"/>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oMath>
                    </m:oMathPara>
                  </a14:m>
                  <a:endParaRPr lang="en-IN" dirty="0">
                    <a:latin typeface="Arial Narrow" panose="020B0606020202030204" pitchFamily="34" charset="0"/>
                  </a:endParaRPr>
                </a:p>
              </p:txBody>
            </p:sp>
          </mc:Choice>
          <mc:Fallback xmlns="">
            <p:sp>
              <p:nvSpPr>
                <p:cNvPr id="47" name="TextBox 46">
                  <a:extLst>
                    <a:ext uri="{FF2B5EF4-FFF2-40B4-BE49-F238E27FC236}">
                      <a16:creationId xmlns:a16="http://schemas.microsoft.com/office/drawing/2014/main" id="{98434757-453A-49BA-B417-238E5FFE6B79}"/>
                    </a:ext>
                  </a:extLst>
                </p:cNvPr>
                <p:cNvSpPr txBox="1">
                  <a:spLocks noRot="1" noChangeAspect="1" noMove="1" noResize="1" noEditPoints="1" noAdjustHandles="1" noChangeArrowheads="1" noChangeShapeType="1" noTextEdit="1"/>
                </p:cNvSpPr>
                <p:nvPr/>
              </p:nvSpPr>
              <p:spPr>
                <a:xfrm rot="10800000" flipV="1">
                  <a:off x="2710348" y="4867097"/>
                  <a:ext cx="503989" cy="566980"/>
                </a:xfrm>
                <a:prstGeom prst="ellipse">
                  <a:avLst/>
                </a:prstGeom>
                <a:blipFill>
                  <a:blip r:embed="rId7"/>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B8E17763-565A-4B77-80A1-9B07A3DF1DA4}"/>
                    </a:ext>
                  </a:extLst>
                </p:cNvPr>
                <p:cNvSpPr txBox="1"/>
                <p:nvPr/>
              </p:nvSpPr>
              <p:spPr>
                <a:xfrm rot="10800000" flipV="1">
                  <a:off x="2149166" y="4863002"/>
                  <a:ext cx="503989" cy="566980"/>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2</m:t>
                            </m:r>
                          </m:sub>
                        </m:sSub>
                      </m:oMath>
                    </m:oMathPara>
                  </a14:m>
                  <a:endParaRPr lang="en-IN" dirty="0">
                    <a:latin typeface="Arial Narrow" panose="020B0606020202030204" pitchFamily="34" charset="0"/>
                  </a:endParaRPr>
                </a:p>
              </p:txBody>
            </p:sp>
          </mc:Choice>
          <mc:Fallback xmlns="">
            <p:sp>
              <p:nvSpPr>
                <p:cNvPr id="48" name="TextBox 47">
                  <a:extLst>
                    <a:ext uri="{FF2B5EF4-FFF2-40B4-BE49-F238E27FC236}">
                      <a16:creationId xmlns:a16="http://schemas.microsoft.com/office/drawing/2014/main" id="{B8E17763-565A-4B77-80A1-9B07A3DF1DA4}"/>
                    </a:ext>
                  </a:extLst>
                </p:cNvPr>
                <p:cNvSpPr txBox="1">
                  <a:spLocks noRot="1" noChangeAspect="1" noMove="1" noResize="1" noEditPoints="1" noAdjustHandles="1" noChangeArrowheads="1" noChangeShapeType="1" noTextEdit="1"/>
                </p:cNvSpPr>
                <p:nvPr/>
              </p:nvSpPr>
              <p:spPr>
                <a:xfrm rot="10800000" flipV="1">
                  <a:off x="2149166" y="4863002"/>
                  <a:ext cx="503989" cy="566980"/>
                </a:xfrm>
                <a:prstGeom prst="ellipse">
                  <a:avLst/>
                </a:prstGeom>
                <a:blipFill>
                  <a:blip r:embed="rId8"/>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C8FC9D7E-BEDD-4715-866C-F8B1DB2EC23B}"/>
                    </a:ext>
                  </a:extLst>
                </p:cNvPr>
                <p:cNvSpPr txBox="1"/>
                <p:nvPr/>
              </p:nvSpPr>
              <p:spPr>
                <a:xfrm rot="10800000" flipV="1">
                  <a:off x="1599076" y="4863002"/>
                  <a:ext cx="503989" cy="566980"/>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3</m:t>
                            </m:r>
                          </m:sub>
                        </m:sSub>
                      </m:oMath>
                    </m:oMathPara>
                  </a14:m>
                  <a:endParaRPr lang="en-IN" dirty="0">
                    <a:latin typeface="Arial Narrow" panose="020B0606020202030204" pitchFamily="34" charset="0"/>
                  </a:endParaRPr>
                </a:p>
              </p:txBody>
            </p:sp>
          </mc:Choice>
          <mc:Fallback xmlns="">
            <p:sp>
              <p:nvSpPr>
                <p:cNvPr id="49" name="TextBox 48">
                  <a:extLst>
                    <a:ext uri="{FF2B5EF4-FFF2-40B4-BE49-F238E27FC236}">
                      <a16:creationId xmlns:a16="http://schemas.microsoft.com/office/drawing/2014/main" id="{C8FC9D7E-BEDD-4715-866C-F8B1DB2EC23B}"/>
                    </a:ext>
                  </a:extLst>
                </p:cNvPr>
                <p:cNvSpPr txBox="1">
                  <a:spLocks noRot="1" noChangeAspect="1" noMove="1" noResize="1" noEditPoints="1" noAdjustHandles="1" noChangeArrowheads="1" noChangeShapeType="1" noTextEdit="1"/>
                </p:cNvSpPr>
                <p:nvPr/>
              </p:nvSpPr>
              <p:spPr>
                <a:xfrm rot="10800000" flipV="1">
                  <a:off x="1599076" y="4863002"/>
                  <a:ext cx="503989" cy="566980"/>
                </a:xfrm>
                <a:prstGeom prst="ellipse">
                  <a:avLst/>
                </a:prstGeom>
                <a:blipFill>
                  <a:blip r:embed="rId9"/>
                  <a:stretch>
                    <a:fillRect/>
                  </a:stretch>
                </a:blipFill>
                <a:ln w="12700">
                  <a:solidFill>
                    <a:schemeClr val="tx1"/>
                  </a:solidFill>
                </a:ln>
              </p:spPr>
              <p:txBody>
                <a:bodyPr/>
                <a:lstStyle/>
                <a:p>
                  <a:r>
                    <a:rPr lang="en-IN">
                      <a:noFill/>
                    </a:rPr>
                    <a:t> </a:t>
                  </a:r>
                </a:p>
              </p:txBody>
            </p:sp>
          </mc:Fallback>
        </mc:AlternateContent>
        <p:cxnSp>
          <p:nvCxnSpPr>
            <p:cNvPr id="50" name="Straight Arrow Connector 49">
              <a:extLst>
                <a:ext uri="{FF2B5EF4-FFF2-40B4-BE49-F238E27FC236}">
                  <a16:creationId xmlns:a16="http://schemas.microsoft.com/office/drawing/2014/main" id="{A263021F-7328-4211-909D-49F49CA28D98}"/>
                </a:ext>
              </a:extLst>
            </p:cNvPr>
            <p:cNvCxnSpPr>
              <a:stCxn id="47" idx="0"/>
              <a:endCxn id="44" idx="4"/>
            </p:cNvCxnSpPr>
            <p:nvPr/>
          </p:nvCxnSpPr>
          <p:spPr>
            <a:xfrm flipH="1" flipV="1">
              <a:off x="2956633" y="4551738"/>
              <a:ext cx="5709" cy="315360"/>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48E3A579-0DB9-42B0-BAF2-784E8D2CED22}"/>
                </a:ext>
              </a:extLst>
            </p:cNvPr>
            <p:cNvCxnSpPr>
              <a:cxnSpLocks/>
              <a:stCxn id="48" idx="0"/>
              <a:endCxn id="45" idx="4"/>
            </p:cNvCxnSpPr>
            <p:nvPr/>
          </p:nvCxnSpPr>
          <p:spPr>
            <a:xfrm flipV="1">
              <a:off x="2401160" y="4551738"/>
              <a:ext cx="0" cy="311265"/>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C1137974-CC6B-47D3-81CF-6AC92B143B47}"/>
                </a:ext>
              </a:extLst>
            </p:cNvPr>
            <p:cNvCxnSpPr>
              <a:cxnSpLocks/>
              <a:stCxn id="49" idx="0"/>
              <a:endCxn id="46" idx="4"/>
            </p:cNvCxnSpPr>
            <p:nvPr/>
          </p:nvCxnSpPr>
          <p:spPr>
            <a:xfrm flipV="1">
              <a:off x="1851070" y="4551739"/>
              <a:ext cx="0" cy="311264"/>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9F7A9C69-BDD0-4A8F-93A2-06B1642E46C3}"/>
                </a:ext>
              </a:extLst>
            </p:cNvPr>
            <p:cNvSpPr txBox="1"/>
            <p:nvPr/>
          </p:nvSpPr>
          <p:spPr>
            <a:xfrm rot="10800000" flipV="1">
              <a:off x="3797285" y="4062392"/>
              <a:ext cx="923375" cy="403203"/>
            </a:xfrm>
            <a:prstGeom prst="rect">
              <a:avLst/>
            </a:prstGeom>
            <a:noFill/>
            <a:ln>
              <a:solidFill>
                <a:srgbClr val="002060"/>
              </a:solidFill>
            </a:ln>
          </p:spPr>
          <p:txBody>
            <a:bodyPr wrap="square" rtlCol="0">
              <a:spAutoFit/>
            </a:bodyPr>
            <a:lstStyle/>
            <a:p>
              <a:pPr algn="ctr"/>
              <a:r>
                <a:rPr lang="en-IN" dirty="0" err="1">
                  <a:latin typeface="Arial Narrow" panose="020B0606020202030204" pitchFamily="34" charset="0"/>
                  <a:cs typeface="Times New Roman" panose="02020603050405020304" pitchFamily="18" charset="0"/>
                </a:rPr>
                <a:t>softmax</a:t>
              </a:r>
              <a:endParaRPr lang="en-IN" dirty="0">
                <a:latin typeface="Arial Narrow" panose="020B0606020202030204" pitchFamily="34" charset="0"/>
                <a:cs typeface="Times New Roman" panose="02020603050405020304" pitchFamily="18" charset="0"/>
              </a:endParaRPr>
            </a:p>
          </p:txBody>
        </p:sp>
        <p:cxnSp>
          <p:nvCxnSpPr>
            <p:cNvPr id="56" name="Straight Arrow Connector 55">
              <a:extLst>
                <a:ext uri="{FF2B5EF4-FFF2-40B4-BE49-F238E27FC236}">
                  <a16:creationId xmlns:a16="http://schemas.microsoft.com/office/drawing/2014/main" id="{47F04F6C-A5DE-48AC-A93E-885D326C2D52}"/>
                </a:ext>
              </a:extLst>
            </p:cNvPr>
            <p:cNvCxnSpPr>
              <a:cxnSpLocks/>
              <a:stCxn id="71" idx="2"/>
              <a:endCxn id="64" idx="3"/>
            </p:cNvCxnSpPr>
            <p:nvPr/>
          </p:nvCxnSpPr>
          <p:spPr>
            <a:xfrm>
              <a:off x="6818694" y="4268248"/>
              <a:ext cx="623543" cy="1984"/>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93CE584A-6224-4185-BA7F-7DBE679AAC01}"/>
                </a:ext>
              </a:extLst>
            </p:cNvPr>
            <p:cNvCxnSpPr>
              <a:cxnSpLocks/>
              <a:endCxn id="54" idx="3"/>
            </p:cNvCxnSpPr>
            <p:nvPr/>
          </p:nvCxnSpPr>
          <p:spPr>
            <a:xfrm flipV="1">
              <a:off x="3238568" y="4263993"/>
              <a:ext cx="558717" cy="4255"/>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CB478EDF-F147-4A46-ACD7-767B4A547BF2}"/>
                    </a:ext>
                  </a:extLst>
                </p:cNvPr>
                <p:cNvSpPr txBox="1"/>
                <p:nvPr/>
              </p:nvSpPr>
              <p:spPr>
                <a:xfrm rot="10800000" flipV="1">
                  <a:off x="600364" y="3961132"/>
                  <a:ext cx="508127" cy="614229"/>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IN" sz="2000" i="1" smtClean="0">
                            <a:latin typeface="Cambria Math" panose="02040503050406030204" pitchFamily="18" charset="0"/>
                          </a:rPr>
                          <m:t>h</m:t>
                        </m:r>
                      </m:oMath>
                    </m:oMathPara>
                  </a14:m>
                  <a:endParaRPr lang="en-IN" sz="2000" dirty="0">
                    <a:latin typeface="Arial Narrow" panose="020B0606020202030204" pitchFamily="34" charset="0"/>
                  </a:endParaRPr>
                </a:p>
              </p:txBody>
            </p:sp>
          </mc:Choice>
          <mc:Fallback xmlns="">
            <p:sp>
              <p:nvSpPr>
                <p:cNvPr id="59" name="TextBox 58">
                  <a:extLst>
                    <a:ext uri="{FF2B5EF4-FFF2-40B4-BE49-F238E27FC236}">
                      <a16:creationId xmlns:a16="http://schemas.microsoft.com/office/drawing/2014/main" id="{CB478EDF-F147-4A46-ACD7-767B4A547BF2}"/>
                    </a:ext>
                  </a:extLst>
                </p:cNvPr>
                <p:cNvSpPr txBox="1">
                  <a:spLocks noRot="1" noChangeAspect="1" noMove="1" noResize="1" noEditPoints="1" noAdjustHandles="1" noChangeArrowheads="1" noChangeShapeType="1" noTextEdit="1"/>
                </p:cNvSpPr>
                <p:nvPr/>
              </p:nvSpPr>
              <p:spPr>
                <a:xfrm rot="10800000" flipV="1">
                  <a:off x="600364" y="3961132"/>
                  <a:ext cx="508127" cy="614229"/>
                </a:xfrm>
                <a:prstGeom prst="ellipse">
                  <a:avLst/>
                </a:prstGeom>
                <a:blipFill>
                  <a:blip r:embed="rId10"/>
                  <a:stretch>
                    <a:fillRect/>
                  </a:stretch>
                </a:blipFill>
                <a:ln w="12700">
                  <a:solidFill>
                    <a:schemeClr val="tx1"/>
                  </a:solidFill>
                </a:ln>
              </p:spPr>
              <p:txBody>
                <a:bodyPr/>
                <a:lstStyle/>
                <a:p>
                  <a:r>
                    <a:rPr lang="en-IN">
                      <a:noFill/>
                    </a:rPr>
                    <a:t> </a:t>
                  </a:r>
                </a:p>
              </p:txBody>
            </p:sp>
          </mc:Fallback>
        </mc:AlternateContent>
        <p:cxnSp>
          <p:nvCxnSpPr>
            <p:cNvPr id="61" name="Straight Arrow Connector 60">
              <a:extLst>
                <a:ext uri="{FF2B5EF4-FFF2-40B4-BE49-F238E27FC236}">
                  <a16:creationId xmlns:a16="http://schemas.microsoft.com/office/drawing/2014/main" id="{20C9C6AC-19F5-4564-9E13-1B8D0A63390D}"/>
                </a:ext>
              </a:extLst>
            </p:cNvPr>
            <p:cNvCxnSpPr>
              <a:stCxn id="59" idx="2"/>
              <a:endCxn id="46" idx="6"/>
            </p:cNvCxnSpPr>
            <p:nvPr/>
          </p:nvCxnSpPr>
          <p:spPr>
            <a:xfrm>
              <a:off x="1108491" y="4268247"/>
              <a:ext cx="490585" cy="2"/>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19A753A8-AD35-4022-B3B3-F8FBEA03A328}"/>
                </a:ext>
              </a:extLst>
            </p:cNvPr>
            <p:cNvCxnSpPr>
              <a:stCxn id="64" idx="1"/>
              <a:endCxn id="66" idx="6"/>
            </p:cNvCxnSpPr>
            <p:nvPr/>
          </p:nvCxnSpPr>
          <p:spPr>
            <a:xfrm flipV="1">
              <a:off x="8880076" y="4268248"/>
              <a:ext cx="416182" cy="1984"/>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A3B9A7C8-E18A-4216-ABA7-D4FFF52E7DCF}"/>
                </a:ext>
              </a:extLst>
            </p:cNvPr>
            <p:cNvSpPr txBox="1"/>
            <p:nvPr/>
          </p:nvSpPr>
          <p:spPr>
            <a:xfrm rot="10800000" flipV="1">
              <a:off x="7442237" y="4068630"/>
              <a:ext cx="1437839" cy="403203"/>
            </a:xfrm>
            <a:prstGeom prst="rect">
              <a:avLst/>
            </a:prstGeom>
            <a:noFill/>
            <a:ln>
              <a:solidFill>
                <a:srgbClr val="002060"/>
              </a:solidFill>
            </a:ln>
          </p:spPr>
          <p:txBody>
            <a:bodyPr wrap="square" rtlCol="0">
              <a:spAutoFit/>
            </a:bodyPr>
            <a:lstStyle/>
            <a:p>
              <a:pPr algn="ctr"/>
              <a:r>
                <a:rPr lang="en-IN" dirty="0" err="1">
                  <a:latin typeface="Arial Narrow" panose="020B0606020202030204" pitchFamily="34" charset="0"/>
                  <a:cs typeface="Times New Roman" panose="02020603050405020304" pitchFamily="18" charset="0"/>
                </a:rPr>
                <a:t>mul</a:t>
              </a:r>
              <a:r>
                <a:rPr lang="en-IN" dirty="0">
                  <a:latin typeface="Arial Narrow" panose="020B0606020202030204" pitchFamily="34" charset="0"/>
                  <a:cs typeface="Times New Roman" panose="02020603050405020304" pitchFamily="18" charset="0"/>
                </a:rPr>
                <a:t> + add</a:t>
              </a:r>
            </a:p>
          </p:txBody>
        </p:sp>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6803D624-9F2D-4CB6-A000-91DDACFD0A2B}"/>
                    </a:ext>
                  </a:extLst>
                </p:cNvPr>
                <p:cNvSpPr txBox="1"/>
                <p:nvPr/>
              </p:nvSpPr>
              <p:spPr>
                <a:xfrm rot="10800000" flipV="1">
                  <a:off x="9296258" y="3984757"/>
                  <a:ext cx="503989" cy="566980"/>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𝑐</m:t>
                        </m:r>
                      </m:oMath>
                    </m:oMathPara>
                  </a14:m>
                  <a:endParaRPr lang="en-IN" dirty="0">
                    <a:latin typeface="Arial Narrow" panose="020B0606020202030204" pitchFamily="34" charset="0"/>
                  </a:endParaRPr>
                </a:p>
              </p:txBody>
            </p:sp>
          </mc:Choice>
          <mc:Fallback xmlns="">
            <p:sp>
              <p:nvSpPr>
                <p:cNvPr id="66" name="TextBox 65">
                  <a:extLst>
                    <a:ext uri="{FF2B5EF4-FFF2-40B4-BE49-F238E27FC236}">
                      <a16:creationId xmlns:a16="http://schemas.microsoft.com/office/drawing/2014/main" id="{6803D624-9F2D-4CB6-A000-91DDACFD0A2B}"/>
                    </a:ext>
                  </a:extLst>
                </p:cNvPr>
                <p:cNvSpPr txBox="1">
                  <a:spLocks noRot="1" noChangeAspect="1" noMove="1" noResize="1" noEditPoints="1" noAdjustHandles="1" noChangeArrowheads="1" noChangeShapeType="1" noTextEdit="1"/>
                </p:cNvSpPr>
                <p:nvPr/>
              </p:nvSpPr>
              <p:spPr>
                <a:xfrm rot="10800000" flipV="1">
                  <a:off x="9296258" y="3984757"/>
                  <a:ext cx="503989" cy="566980"/>
                </a:xfrm>
                <a:prstGeom prst="ellipse">
                  <a:avLst/>
                </a:prstGeom>
                <a:blipFill>
                  <a:blip r:embed="rId11"/>
                  <a:stretch>
                    <a:fillRect/>
                  </a:stretch>
                </a:blipFill>
                <a:ln w="12700">
                  <a:solidFill>
                    <a:schemeClr val="tx1"/>
                  </a:solidFill>
                </a:ln>
              </p:spPr>
              <p:txBody>
                <a:bodyPr/>
                <a:lstStyle/>
                <a:p>
                  <a:r>
                    <a:rPr lang="en-IN">
                      <a:noFill/>
                    </a:rPr>
                    <a:t> </a:t>
                  </a:r>
                </a:p>
              </p:txBody>
            </p:sp>
          </mc:Fallback>
        </mc:AlternateContent>
        <p:sp>
          <p:nvSpPr>
            <p:cNvPr id="68" name="TextBox 67">
              <a:extLst>
                <a:ext uri="{FF2B5EF4-FFF2-40B4-BE49-F238E27FC236}">
                  <a16:creationId xmlns:a16="http://schemas.microsoft.com/office/drawing/2014/main" id="{E17818E8-007B-45D8-AD06-1A2108924884}"/>
                </a:ext>
              </a:extLst>
            </p:cNvPr>
            <p:cNvSpPr txBox="1"/>
            <p:nvPr/>
          </p:nvSpPr>
          <p:spPr>
            <a:xfrm rot="10800000" flipV="1">
              <a:off x="1738827" y="3565790"/>
              <a:ext cx="1355644" cy="403203"/>
            </a:xfrm>
            <a:prstGeom prst="rect">
              <a:avLst/>
            </a:prstGeom>
            <a:noFill/>
          </p:spPr>
          <p:txBody>
            <a:bodyPr wrap="square" rtlCol="0">
              <a:spAutoFit/>
            </a:bodyPr>
            <a:lstStyle/>
            <a:p>
              <a:r>
                <a:rPr lang="en-IN" dirty="0">
                  <a:latin typeface="Arial Narrow" panose="020B0606020202030204" pitchFamily="34" charset="0"/>
                  <a:cs typeface="Times New Roman" panose="02020603050405020304" pitchFamily="18" charset="0"/>
                </a:rPr>
                <a:t>Alignment</a:t>
              </a:r>
            </a:p>
          </p:txBody>
        </p:sp>
        <p:sp>
          <p:nvSpPr>
            <p:cNvPr id="69" name="TextBox 68">
              <a:extLst>
                <a:ext uri="{FF2B5EF4-FFF2-40B4-BE49-F238E27FC236}">
                  <a16:creationId xmlns:a16="http://schemas.microsoft.com/office/drawing/2014/main" id="{A8C9EC39-2EA1-4820-AB08-8E44D249B4B8}"/>
                </a:ext>
              </a:extLst>
            </p:cNvPr>
            <p:cNvSpPr txBox="1"/>
            <p:nvPr/>
          </p:nvSpPr>
          <p:spPr>
            <a:xfrm rot="10800000" flipV="1">
              <a:off x="5461136" y="3548316"/>
              <a:ext cx="1355644" cy="403203"/>
            </a:xfrm>
            <a:prstGeom prst="rect">
              <a:avLst/>
            </a:prstGeom>
            <a:noFill/>
          </p:spPr>
          <p:txBody>
            <a:bodyPr wrap="square" rtlCol="0">
              <a:spAutoFit/>
            </a:bodyPr>
            <a:lstStyle/>
            <a:p>
              <a:r>
                <a:rPr lang="en-IN" dirty="0">
                  <a:latin typeface="Arial Narrow" panose="020B0606020202030204" pitchFamily="34" charset="0"/>
                  <a:cs typeface="Times New Roman" panose="02020603050405020304" pitchFamily="18" charset="0"/>
                </a:rPr>
                <a:t>Attention</a:t>
              </a:r>
            </a:p>
          </p:txBody>
        </p:sp>
        <p:sp>
          <p:nvSpPr>
            <p:cNvPr id="70" name="TextBox 69">
              <a:extLst>
                <a:ext uri="{FF2B5EF4-FFF2-40B4-BE49-F238E27FC236}">
                  <a16:creationId xmlns:a16="http://schemas.microsoft.com/office/drawing/2014/main" id="{03D7A7FB-37B5-491B-9275-F91C88822728}"/>
                </a:ext>
              </a:extLst>
            </p:cNvPr>
            <p:cNvSpPr txBox="1"/>
            <p:nvPr/>
          </p:nvSpPr>
          <p:spPr>
            <a:xfrm rot="10800000" flipV="1">
              <a:off x="1764656" y="5811125"/>
              <a:ext cx="1583957" cy="403203"/>
            </a:xfrm>
            <a:prstGeom prst="rect">
              <a:avLst/>
            </a:prstGeom>
            <a:noFill/>
          </p:spPr>
          <p:txBody>
            <a:bodyPr wrap="square" rtlCol="0">
              <a:spAutoFit/>
            </a:bodyPr>
            <a:lstStyle/>
            <a:p>
              <a:r>
                <a:rPr lang="en-IN" dirty="0">
                  <a:latin typeface="Arial Narrow" panose="020B0606020202030204" pitchFamily="34" charset="0"/>
                  <a:cs typeface="Times New Roman" panose="02020603050405020304" pitchFamily="18" charset="0"/>
                </a:rPr>
                <a:t>Input Vectors</a:t>
              </a:r>
            </a:p>
          </p:txBody>
        </p:sp>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AD6D90FF-8B08-44E6-ADD1-B975BDF15677}"/>
                    </a:ext>
                  </a:extLst>
                </p:cNvPr>
                <p:cNvSpPr txBox="1"/>
                <p:nvPr/>
              </p:nvSpPr>
              <p:spPr>
                <a:xfrm rot="10800000" flipV="1">
                  <a:off x="6314705" y="3984757"/>
                  <a:ext cx="503989" cy="566980"/>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ea typeface="Cambria Math" panose="02040503050406030204" pitchFamily="18" charset="0"/>
                                <a:cs typeface="Times New Roman" panose="02020603050405020304" pitchFamily="18" charset="0"/>
                              </a:rPr>
                              <m:t>𝑎</m:t>
                            </m:r>
                          </m:e>
                          <m:sub>
                            <m:r>
                              <a:rPr lang="en-IN" b="0" i="1" smtClean="0">
                                <a:latin typeface="Cambria Math" panose="02040503050406030204" pitchFamily="18" charset="0"/>
                              </a:rPr>
                              <m:t>1</m:t>
                            </m:r>
                          </m:sub>
                        </m:sSub>
                      </m:oMath>
                    </m:oMathPara>
                  </a14:m>
                  <a:endParaRPr lang="en-IN" dirty="0">
                    <a:latin typeface="Arial Narrow" panose="020B0606020202030204" pitchFamily="34" charset="0"/>
                  </a:endParaRPr>
                </a:p>
              </p:txBody>
            </p:sp>
          </mc:Choice>
          <mc:Fallback xmlns="">
            <p:sp>
              <p:nvSpPr>
                <p:cNvPr id="71" name="TextBox 70">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6314705" y="3984757"/>
                  <a:ext cx="503989" cy="566980"/>
                </a:xfrm>
                <a:prstGeom prst="ellipse">
                  <a:avLst/>
                </a:prstGeom>
                <a:blipFill>
                  <a:blip r:embed="rId12"/>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36F03E2E-8229-4DFD-869B-C4F6CF96084E}"/>
                    </a:ext>
                  </a:extLst>
                </p:cNvPr>
                <p:cNvSpPr txBox="1"/>
                <p:nvPr/>
              </p:nvSpPr>
              <p:spPr>
                <a:xfrm rot="10800000" flipV="1">
                  <a:off x="5759232" y="3984757"/>
                  <a:ext cx="503989" cy="566980"/>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ea typeface="Cambria Math" panose="02040503050406030204" pitchFamily="18" charset="0"/>
                                <a:cs typeface="Times New Roman" panose="02020603050405020304" pitchFamily="18" charset="0"/>
                              </a:rPr>
                              <m:t>𝑎</m:t>
                            </m:r>
                          </m:e>
                          <m:sub>
                            <m:r>
                              <a:rPr lang="en-IN" b="0" i="1" smtClean="0">
                                <a:latin typeface="Cambria Math" panose="02040503050406030204" pitchFamily="18" charset="0"/>
                              </a:rPr>
                              <m:t>2</m:t>
                            </m:r>
                          </m:sub>
                        </m:sSub>
                      </m:oMath>
                    </m:oMathPara>
                  </a14:m>
                  <a:endParaRPr lang="en-IN" dirty="0">
                    <a:latin typeface="Arial Narrow" panose="020B0606020202030204" pitchFamily="34" charset="0"/>
                  </a:endParaRPr>
                </a:p>
              </p:txBody>
            </p:sp>
          </mc:Choice>
          <mc:Fallback xmlns="">
            <p:sp>
              <p:nvSpPr>
                <p:cNvPr id="72" name="TextBox 71">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5759232" y="3984757"/>
                  <a:ext cx="503989" cy="566980"/>
                </a:xfrm>
                <a:prstGeom prst="ellipse">
                  <a:avLst/>
                </a:prstGeom>
                <a:blipFill>
                  <a:blip r:embed="rId13"/>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DF1D3D16-4F7D-4FD0-95EB-E2360401B577}"/>
                    </a:ext>
                  </a:extLst>
                </p:cNvPr>
                <p:cNvSpPr txBox="1"/>
                <p:nvPr/>
              </p:nvSpPr>
              <p:spPr>
                <a:xfrm rot="10800000" flipV="1">
                  <a:off x="5209142" y="3984758"/>
                  <a:ext cx="503989" cy="566980"/>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ea typeface="Cambria Math" panose="02040503050406030204" pitchFamily="18" charset="0"/>
                                <a:cs typeface="Times New Roman" panose="02020603050405020304" pitchFamily="18" charset="0"/>
                              </a:rPr>
                              <m:t>𝑎</m:t>
                            </m:r>
                          </m:e>
                          <m:sub>
                            <m:r>
                              <a:rPr lang="en-IN" b="0" i="1" smtClean="0">
                                <a:latin typeface="Cambria Math" panose="02040503050406030204" pitchFamily="18" charset="0"/>
                              </a:rPr>
                              <m:t>3</m:t>
                            </m:r>
                          </m:sub>
                        </m:sSub>
                      </m:oMath>
                    </m:oMathPara>
                  </a14:m>
                  <a:endParaRPr lang="en-IN" dirty="0">
                    <a:latin typeface="Arial Narrow" panose="020B0606020202030204" pitchFamily="34" charset="0"/>
                  </a:endParaRPr>
                </a:p>
              </p:txBody>
            </p:sp>
          </mc:Choice>
          <mc:Fallback xmlns="">
            <p:sp>
              <p:nvSpPr>
                <p:cNvPr id="73" name="TextBox 72">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5209142" y="3984758"/>
                  <a:ext cx="503989" cy="566980"/>
                </a:xfrm>
                <a:prstGeom prst="ellipse">
                  <a:avLst/>
                </a:prstGeom>
                <a:blipFill>
                  <a:blip r:embed="rId14"/>
                  <a:stretch>
                    <a:fillRect/>
                  </a:stretch>
                </a:blipFill>
                <a:ln w="12700">
                  <a:solidFill>
                    <a:schemeClr val="tx1"/>
                  </a:solidFill>
                </a:ln>
              </p:spPr>
              <p:txBody>
                <a:bodyPr/>
                <a:lstStyle/>
                <a:p>
                  <a:r>
                    <a:rPr lang="en-IN">
                      <a:noFill/>
                    </a:rPr>
                    <a:t> </a:t>
                  </a:r>
                </a:p>
              </p:txBody>
            </p:sp>
          </mc:Fallback>
        </mc:AlternateContent>
        <p:cxnSp>
          <p:nvCxnSpPr>
            <p:cNvPr id="74" name="Straight Arrow Connector 73">
              <a:extLst>
                <a:ext uri="{FF2B5EF4-FFF2-40B4-BE49-F238E27FC236}">
                  <a16:creationId xmlns:a16="http://schemas.microsoft.com/office/drawing/2014/main" id="{93CE584A-6224-4185-BA7F-7DBE679AAC01}"/>
                </a:ext>
              </a:extLst>
            </p:cNvPr>
            <p:cNvCxnSpPr>
              <a:cxnSpLocks/>
              <a:stCxn id="54" idx="1"/>
              <a:endCxn id="73" idx="6"/>
            </p:cNvCxnSpPr>
            <p:nvPr/>
          </p:nvCxnSpPr>
          <p:spPr>
            <a:xfrm>
              <a:off x="4720660" y="4263994"/>
              <a:ext cx="488482" cy="4255"/>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5" name="Elbow Connector 74"/>
            <p:cNvCxnSpPr>
              <a:stCxn id="47" idx="4"/>
              <a:endCxn id="73" idx="4"/>
            </p:cNvCxnSpPr>
            <p:nvPr/>
          </p:nvCxnSpPr>
          <p:spPr>
            <a:xfrm rot="5400000" flipH="1" flipV="1">
              <a:off x="3770569" y="3743511"/>
              <a:ext cx="882339" cy="2498794"/>
            </a:xfrm>
            <a:prstGeom prst="bentConnector3">
              <a:avLst>
                <a:gd name="adj1" fmla="val -28284"/>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6" name="Elbow Connector 75"/>
            <p:cNvCxnSpPr>
              <a:stCxn id="48" idx="4"/>
              <a:endCxn id="72" idx="4"/>
            </p:cNvCxnSpPr>
            <p:nvPr/>
          </p:nvCxnSpPr>
          <p:spPr>
            <a:xfrm rot="5400000" flipH="1" flipV="1">
              <a:off x="3767070" y="3185827"/>
              <a:ext cx="878245" cy="3610066"/>
            </a:xfrm>
            <a:prstGeom prst="bentConnector3">
              <a:avLst>
                <a:gd name="adj1" fmla="val -28416"/>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7" name="Elbow Connector 76"/>
            <p:cNvCxnSpPr>
              <a:stCxn id="49" idx="4"/>
              <a:endCxn id="71" idx="4"/>
            </p:cNvCxnSpPr>
            <p:nvPr/>
          </p:nvCxnSpPr>
          <p:spPr>
            <a:xfrm rot="5400000" flipH="1" flipV="1">
              <a:off x="3769761" y="2633045"/>
              <a:ext cx="878245" cy="4715629"/>
            </a:xfrm>
            <a:prstGeom prst="bentConnector3">
              <a:avLst>
                <a:gd name="adj1" fmla="val -28416"/>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28502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Rectangle 111">
            <a:extLst>
              <a:ext uri="{FF2B5EF4-FFF2-40B4-BE49-F238E27FC236}">
                <a16:creationId xmlns:a16="http://schemas.microsoft.com/office/drawing/2014/main" id="{4B636EA9-9873-40E6-B0BF-6ACD02D70E49}"/>
              </a:ext>
            </a:extLst>
          </p:cNvPr>
          <p:cNvSpPr/>
          <p:nvPr/>
        </p:nvSpPr>
        <p:spPr>
          <a:xfrm>
            <a:off x="8079299" y="5748898"/>
            <a:ext cx="2982382" cy="290348"/>
          </a:xfrm>
          <a:prstGeom prst="rect">
            <a:avLst/>
          </a:prstGeom>
          <a:solidFill>
            <a:schemeClr val="accent1">
              <a:lumMod val="40000"/>
              <a:lumOff val="60000"/>
              <a:alpha val="2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2" name="Rectangle 1">
            <a:extLst>
              <a:ext uri="{FF2B5EF4-FFF2-40B4-BE49-F238E27FC236}">
                <a16:creationId xmlns:a16="http://schemas.microsoft.com/office/drawing/2014/main" id="{706D1F09-D219-4262-97DC-7961FA4D64DE}"/>
              </a:ext>
            </a:extLst>
          </p:cNvPr>
          <p:cNvSpPr/>
          <p:nvPr/>
        </p:nvSpPr>
        <p:spPr>
          <a:xfrm>
            <a:off x="480985" y="3006854"/>
            <a:ext cx="3145814" cy="318447"/>
          </a:xfrm>
          <a:prstGeom prst="rect">
            <a:avLst/>
          </a:prstGeom>
          <a:solidFill>
            <a:schemeClr val="accent1">
              <a:lumMod val="40000"/>
              <a:lumOff val="60000"/>
              <a:alpha val="2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cxnSp>
        <p:nvCxnSpPr>
          <p:cNvPr id="58" name="Straight Connector 57">
            <a:extLst>
              <a:ext uri="{FF2B5EF4-FFF2-40B4-BE49-F238E27FC236}">
                <a16:creationId xmlns:a16="http://schemas.microsoft.com/office/drawing/2014/main" id="{1B0BBDC5-3F7A-42D8-B1E5-54F450CE7F0A}"/>
              </a:ext>
            </a:extLst>
          </p:cNvPr>
          <p:cNvCxnSpPr/>
          <p:nvPr/>
        </p:nvCxnSpPr>
        <p:spPr>
          <a:xfrm>
            <a:off x="2520011" y="2818987"/>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814A0750-898F-4132-B31D-6BB41D3260C4}"/>
              </a:ext>
            </a:extLst>
          </p:cNvPr>
          <p:cNvSpPr txBox="1"/>
          <p:nvPr/>
        </p:nvSpPr>
        <p:spPr>
          <a:xfrm>
            <a:off x="8036721" y="5394955"/>
            <a:ext cx="3580227" cy="707886"/>
          </a:xfrm>
          <a:prstGeom prst="rect">
            <a:avLst/>
          </a:prstGeom>
          <a:noFill/>
        </p:spPr>
        <p:txBody>
          <a:bodyPr wrap="square" rtlCol="0">
            <a:spAutoFit/>
          </a:bodyPr>
          <a:lstStyle/>
          <a:p>
            <a:r>
              <a:rPr lang="en-IN" sz="2000" dirty="0">
                <a:latin typeface="Arial Narrow" panose="020B0606020202030204" pitchFamily="34" charset="0"/>
                <a:cs typeface="Times New Roman" panose="02020603050405020304" pitchFamily="18" charset="0"/>
              </a:rPr>
              <a:t>Output:</a:t>
            </a:r>
          </a:p>
          <a:p>
            <a:r>
              <a:rPr lang="en-IN" sz="2000" dirty="0">
                <a:latin typeface="Arial Narrow" panose="020B0606020202030204" pitchFamily="34" charset="0"/>
                <a:cs typeface="Times New Roman" panose="02020603050405020304" pitchFamily="18" charset="0"/>
              </a:rPr>
              <a:t>Context Vector y (Dimension : D)</a:t>
            </a:r>
          </a:p>
        </p:txBody>
      </p:sp>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5253E52A-CF0A-405D-9D6C-C42BAE0717AA}"/>
                  </a:ext>
                </a:extLst>
              </p:cNvPr>
              <p:cNvSpPr txBox="1"/>
              <p:nvPr/>
            </p:nvSpPr>
            <p:spPr>
              <a:xfrm>
                <a:off x="4286509" y="2016150"/>
                <a:ext cx="3580231" cy="1419299"/>
              </a:xfrm>
              <a:prstGeom prst="rect">
                <a:avLst/>
              </a:prstGeom>
              <a:noFill/>
            </p:spPr>
            <p:txBody>
              <a:bodyPr wrap="square" rtlCol="0">
                <a:spAutoFit/>
              </a:bodyPr>
              <a:lstStyle/>
              <a:p>
                <a:r>
                  <a:rPr lang="en-IN" sz="2000" dirty="0">
                    <a:latin typeface="Arial Narrow" panose="020B0606020202030204" pitchFamily="34" charset="0"/>
                    <a:cs typeface="Times New Roman" panose="02020603050405020304" pitchFamily="18" charset="0"/>
                  </a:rPr>
                  <a:t>Operations:</a:t>
                </a:r>
              </a:p>
              <a:p>
                <a:r>
                  <a:rPr lang="en-IN" sz="2000" dirty="0">
                    <a:latin typeface="Arial Narrow" panose="020B0606020202030204" pitchFamily="34" charset="0"/>
                    <a:cs typeface="Times New Roman" panose="02020603050405020304" pitchFamily="18" charset="0"/>
                  </a:rPr>
                  <a:t>Alignment: </a:t>
                </a:r>
                <a14:m>
                  <m:oMath xmlns:m="http://schemas.openxmlformats.org/officeDocument/2006/math">
                    <m:sSub>
                      <m:sSubPr>
                        <m:ctrlPr>
                          <a:rPr lang="en-US" sz="2000" i="1" smtClean="0">
                            <a:latin typeface="Cambria Math" panose="02040503050406030204" pitchFamily="18" charset="0"/>
                            <a:cs typeface="Times New Roman" panose="02020603050405020304" pitchFamily="18" charset="0"/>
                          </a:rPr>
                        </m:ctrlPr>
                      </m:sSubPr>
                      <m:e>
                        <m:r>
                          <a:rPr lang="en-IN" sz="2000"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n-IN" sz="2000" i="1">
                            <a:latin typeface="Cambria Math" panose="02040503050406030204" pitchFamily="18" charset="0"/>
                            <a:cs typeface="Times New Roman" panose="02020603050405020304" pitchFamily="18" charset="0"/>
                          </a:rPr>
                          <m:t>𝑖</m:t>
                        </m:r>
                        <m:r>
                          <a:rPr lang="en-IN" sz="2000" b="0" i="1" smtClean="0">
                            <a:latin typeface="Cambria Math" panose="02040503050406030204" pitchFamily="18" charset="0"/>
                            <a:cs typeface="Times New Roman" panose="02020603050405020304" pitchFamily="18" charset="0"/>
                          </a:rPr>
                          <m:t>𝑗</m:t>
                        </m:r>
                      </m:sub>
                    </m:sSub>
                    <m:r>
                      <a:rPr lang="en-IN" sz="2000" i="1">
                        <a:latin typeface="Cambria Math" panose="02040503050406030204" pitchFamily="18" charset="0"/>
                        <a:cs typeface="Times New Roman" panose="02020603050405020304" pitchFamily="18" charset="0"/>
                      </a:rPr>
                      <m:t>=</m:t>
                    </m:r>
                    <m:sSub>
                      <m:sSubPr>
                        <m:ctrlPr>
                          <a:rPr lang="en-IN" sz="2000" i="1" smtClean="0">
                            <a:latin typeface="Cambria Math" panose="02040503050406030204" pitchFamily="18" charset="0"/>
                          </a:rPr>
                        </m:ctrlPr>
                      </m:sSubPr>
                      <m:e>
                        <m:r>
                          <a:rPr lang="en-IN" sz="2000" b="0" i="1" smtClean="0">
                            <a:latin typeface="Cambria Math" panose="02040503050406030204" pitchFamily="18" charset="0"/>
                          </a:rPr>
                          <m:t>𝑞</m:t>
                        </m:r>
                      </m:e>
                      <m:sub>
                        <m:r>
                          <a:rPr lang="en-IN" sz="2000" b="0" i="1" smtClean="0">
                            <a:latin typeface="Cambria Math" panose="02040503050406030204" pitchFamily="18" charset="0"/>
                          </a:rPr>
                          <m:t>𝑗</m:t>
                        </m:r>
                      </m:sub>
                    </m:sSub>
                    <m:r>
                      <a:rPr lang="en-IN" sz="2000" b="0" i="1" smtClean="0">
                        <a:latin typeface="Cambria Math" panose="02040503050406030204" pitchFamily="18" charset="0"/>
                        <a:cs typeface="Times New Roman" panose="02020603050405020304" pitchFamily="18" charset="0"/>
                      </a:rPr>
                      <m:t>.</m:t>
                    </m:r>
                    <m:sSub>
                      <m:sSubPr>
                        <m:ctrlPr>
                          <a:rPr lang="en-IN" sz="2000" i="1" dirty="0" smtClean="0">
                            <a:latin typeface="Cambria Math" panose="02040503050406030204" pitchFamily="18" charset="0"/>
                            <a:cs typeface="Times New Roman" panose="02020603050405020304" pitchFamily="18" charset="0"/>
                          </a:rPr>
                        </m:ctrlPr>
                      </m:sSubPr>
                      <m:e>
                        <m:r>
                          <a:rPr lang="en-IN" sz="2000" b="0" i="1" dirty="0" smtClean="0">
                            <a:latin typeface="Cambria Math" panose="02040503050406030204" pitchFamily="18" charset="0"/>
                            <a:cs typeface="Times New Roman" panose="02020603050405020304" pitchFamily="18" charset="0"/>
                          </a:rPr>
                          <m:t>𝑥</m:t>
                        </m:r>
                      </m:e>
                      <m:sub>
                        <m:r>
                          <a:rPr lang="en-IN" sz="2000" b="0" i="1" dirty="0" smtClean="0">
                            <a:latin typeface="Cambria Math" panose="02040503050406030204" pitchFamily="18" charset="0"/>
                            <a:cs typeface="Times New Roman" panose="02020603050405020304" pitchFamily="18" charset="0"/>
                          </a:rPr>
                          <m:t>𝑖</m:t>
                        </m:r>
                      </m:sub>
                    </m:sSub>
                    <m:r>
                      <a:rPr lang="en-IN" sz="2000" b="0" i="1" dirty="0" smtClean="0">
                        <a:latin typeface="Cambria Math" panose="02040503050406030204" pitchFamily="18" charset="0"/>
                        <a:cs typeface="Times New Roman" panose="02020603050405020304" pitchFamily="18" charset="0"/>
                      </a:rPr>
                      <m:t>/</m:t>
                    </m:r>
                    <m:rad>
                      <m:radPr>
                        <m:degHide m:val="on"/>
                        <m:ctrlPr>
                          <a:rPr lang="en-IN" sz="2000" b="0" i="1" dirty="0" smtClean="0">
                            <a:latin typeface="Cambria Math" panose="02040503050406030204" pitchFamily="18" charset="0"/>
                            <a:cs typeface="Times New Roman" panose="02020603050405020304" pitchFamily="18" charset="0"/>
                          </a:rPr>
                        </m:ctrlPr>
                      </m:radPr>
                      <m:deg/>
                      <m:e>
                        <m:r>
                          <a:rPr lang="en-IN" sz="2000" b="0" i="1" dirty="0" smtClean="0">
                            <a:latin typeface="Cambria Math" panose="02040503050406030204" pitchFamily="18" charset="0"/>
                            <a:cs typeface="Times New Roman" panose="02020603050405020304" pitchFamily="18" charset="0"/>
                          </a:rPr>
                          <m:t>𝐷</m:t>
                        </m:r>
                      </m:e>
                    </m:rad>
                  </m:oMath>
                </a14:m>
                <a:endParaRPr lang="en-IN" sz="2000" dirty="0">
                  <a:latin typeface="Arial Narrow" panose="020B0606020202030204" pitchFamily="34" charset="0"/>
                  <a:cs typeface="Times New Roman" panose="02020603050405020304" pitchFamily="18" charset="0"/>
                </a:endParaRPr>
              </a:p>
              <a:p>
                <a:r>
                  <a:rPr lang="en-IN" sz="2000" dirty="0">
                    <a:latin typeface="Arial Narrow" panose="020B0606020202030204" pitchFamily="34" charset="0"/>
                    <a:cs typeface="Times New Roman" panose="02020603050405020304" pitchFamily="18" charset="0"/>
                  </a:rPr>
                  <a:t>Attention: </a:t>
                </a:r>
                <a14:m>
                  <m:oMath xmlns:m="http://schemas.openxmlformats.org/officeDocument/2006/math">
                    <m:r>
                      <a:rPr lang="en-IN" sz="2000" b="0" i="1" smtClean="0">
                        <a:latin typeface="Cambria Math" panose="02040503050406030204" pitchFamily="18" charset="0"/>
                        <a:ea typeface="Cambria Math" panose="02040503050406030204" pitchFamily="18" charset="0"/>
                        <a:cs typeface="Times New Roman" panose="02020603050405020304" pitchFamily="18" charset="0"/>
                      </a:rPr>
                      <m:t>𝑎</m:t>
                    </m:r>
                    <m:r>
                      <a:rPr lang="en-IN" sz="2000" i="1">
                        <a:latin typeface="Cambria Math" panose="02040503050406030204" pitchFamily="18" charset="0"/>
                        <a:cs typeface="Times New Roman" panose="02020603050405020304" pitchFamily="18" charset="0"/>
                      </a:rPr>
                      <m:t>=</m:t>
                    </m:r>
                    <m:r>
                      <a:rPr lang="en-IN" sz="2000" i="1">
                        <a:latin typeface="Cambria Math" panose="02040503050406030204" pitchFamily="18" charset="0"/>
                        <a:cs typeface="Times New Roman" panose="02020603050405020304" pitchFamily="18" charset="0"/>
                      </a:rPr>
                      <m:t>𝑆𝑜𝑓𝑡𝑚𝑎𝑥</m:t>
                    </m:r>
                    <m:d>
                      <m:dPr>
                        <m:ctrlPr>
                          <a:rPr lang="en-IN" sz="2000" i="1">
                            <a:latin typeface="Cambria Math" panose="02040503050406030204" pitchFamily="18" charset="0"/>
                            <a:cs typeface="Times New Roman" panose="02020603050405020304" pitchFamily="18" charset="0"/>
                          </a:rPr>
                        </m:ctrlPr>
                      </m:dPr>
                      <m:e>
                        <m:r>
                          <a:rPr lang="en-IN" sz="2000" i="1" smtClean="0">
                            <a:latin typeface="Cambria Math" panose="02040503050406030204" pitchFamily="18" charset="0"/>
                            <a:ea typeface="Cambria Math" panose="02040503050406030204" pitchFamily="18" charset="0"/>
                            <a:cs typeface="Times New Roman" panose="02020603050405020304" pitchFamily="18" charset="0"/>
                          </a:rPr>
                          <m:t>𝛼</m:t>
                        </m:r>
                      </m:e>
                    </m:d>
                  </m:oMath>
                </a14:m>
                <a:r>
                  <a:rPr lang="en-IN" sz="2000" dirty="0">
                    <a:latin typeface="Arial Narrow" panose="020B0606020202030204" pitchFamily="34" charset="0"/>
                    <a:cs typeface="Times New Roman" panose="02020603050405020304" pitchFamily="18" charset="0"/>
                  </a:rPr>
                  <a:t> </a:t>
                </a:r>
              </a:p>
              <a:p>
                <a:r>
                  <a:rPr lang="en-IN" sz="2000" dirty="0">
                    <a:latin typeface="Arial Narrow" panose="020B0606020202030204" pitchFamily="34" charset="0"/>
                    <a:cs typeface="Times New Roman" panose="02020603050405020304" pitchFamily="18" charset="0"/>
                  </a:rPr>
                  <a:t>Output:</a:t>
                </a:r>
                <a14:m>
                  <m:oMath xmlns:m="http://schemas.openxmlformats.org/officeDocument/2006/math">
                    <m:sSub>
                      <m:sSubPr>
                        <m:ctrlPr>
                          <a:rPr lang="en-IN" sz="2000" i="1" smtClean="0">
                            <a:latin typeface="Cambria Math" panose="02040503050406030204" pitchFamily="18" charset="0"/>
                          </a:rPr>
                        </m:ctrlPr>
                      </m:sSubPr>
                      <m:e>
                        <m:r>
                          <a:rPr lang="en-IN" sz="2000" b="0" i="1" smtClean="0">
                            <a:latin typeface="Cambria Math" panose="02040503050406030204" pitchFamily="18" charset="0"/>
                          </a:rPr>
                          <m:t> </m:t>
                        </m:r>
                        <m:r>
                          <a:rPr lang="en-IN" sz="2000" b="0" i="1" smtClean="0">
                            <a:latin typeface="Cambria Math" panose="02040503050406030204" pitchFamily="18" charset="0"/>
                          </a:rPr>
                          <m:t>𝑦</m:t>
                        </m:r>
                      </m:e>
                      <m:sub>
                        <m:r>
                          <a:rPr lang="en-IN" sz="2000" b="0" i="1" smtClean="0">
                            <a:latin typeface="Cambria Math" panose="02040503050406030204" pitchFamily="18" charset="0"/>
                          </a:rPr>
                          <m:t>𝑗</m:t>
                        </m:r>
                      </m:sub>
                    </m:sSub>
                    <m:r>
                      <a:rPr lang="en-IN" sz="2000" i="1">
                        <a:latin typeface="Cambria Math" panose="02040503050406030204" pitchFamily="18" charset="0"/>
                        <a:cs typeface="Times New Roman" panose="02020603050405020304" pitchFamily="18" charset="0"/>
                      </a:rPr>
                      <m:t>=</m:t>
                    </m:r>
                  </m:oMath>
                </a14:m>
                <a:r>
                  <a:rPr lang="en-IN" sz="2000" dirty="0">
                    <a:latin typeface="Arial Narrow" panose="020B0606020202030204" pitchFamily="34" charset="0"/>
                    <a:cs typeface="Times New Roman" panose="02020603050405020304" pitchFamily="18" charset="0"/>
                  </a:rPr>
                  <a:t> </a:t>
                </a:r>
                <a14:m>
                  <m:oMath xmlns:m="http://schemas.openxmlformats.org/officeDocument/2006/math">
                    <m:nary>
                      <m:naryPr>
                        <m:chr m:val="∑"/>
                        <m:limLoc m:val="subSup"/>
                        <m:supHide m:val="on"/>
                        <m:ctrlPr>
                          <a:rPr lang="en-IN" sz="2000" i="1" dirty="0" smtClean="0">
                            <a:latin typeface="Cambria Math" panose="02040503050406030204" pitchFamily="18" charset="0"/>
                            <a:cs typeface="Times New Roman" panose="02020603050405020304" pitchFamily="18" charset="0"/>
                          </a:rPr>
                        </m:ctrlPr>
                      </m:naryPr>
                      <m:sub>
                        <m:r>
                          <m:rPr>
                            <m:brk m:alnAt="9"/>
                          </m:rPr>
                          <a:rPr lang="en-IN" sz="2000" b="0" i="1" dirty="0" smtClean="0">
                            <a:latin typeface="Cambria Math" panose="02040503050406030204" pitchFamily="18" charset="0"/>
                            <a:cs typeface="Times New Roman" panose="02020603050405020304" pitchFamily="18" charset="0"/>
                          </a:rPr>
                          <m:t>𝑗</m:t>
                        </m:r>
                      </m:sub>
                      <m:sup/>
                      <m:e>
                        <m:sSub>
                          <m:sSubPr>
                            <m:ctrlPr>
                              <a:rPr lang="en-IN" sz="2000" i="1" dirty="0" smtClean="0">
                                <a:latin typeface="Cambria Math" panose="02040503050406030204" pitchFamily="18" charset="0"/>
                                <a:cs typeface="Times New Roman" panose="02020603050405020304" pitchFamily="18" charset="0"/>
                              </a:rPr>
                            </m:ctrlPr>
                          </m:sSubPr>
                          <m:e>
                            <m:r>
                              <a:rPr lang="en-IN" sz="2000" b="0" i="1" dirty="0" smtClean="0">
                                <a:latin typeface="Cambria Math" panose="02040503050406030204" pitchFamily="18" charset="0"/>
                                <a:cs typeface="Times New Roman" panose="02020603050405020304" pitchFamily="18" charset="0"/>
                              </a:rPr>
                              <m:t>𝑎</m:t>
                            </m:r>
                          </m:e>
                          <m:sub>
                            <m:r>
                              <a:rPr lang="en-IN" sz="2000" b="0" i="1" dirty="0" smtClean="0">
                                <a:latin typeface="Cambria Math" panose="02040503050406030204" pitchFamily="18" charset="0"/>
                                <a:cs typeface="Times New Roman" panose="02020603050405020304" pitchFamily="18" charset="0"/>
                              </a:rPr>
                              <m:t>𝑖𝑗</m:t>
                            </m:r>
                          </m:sub>
                        </m:sSub>
                        <m:sSub>
                          <m:sSubPr>
                            <m:ctrlPr>
                              <a:rPr lang="en-IN" sz="2000" i="1" dirty="0" smtClean="0">
                                <a:latin typeface="Cambria Math" panose="02040503050406030204" pitchFamily="18" charset="0"/>
                                <a:cs typeface="Times New Roman" panose="02020603050405020304" pitchFamily="18" charset="0"/>
                              </a:rPr>
                            </m:ctrlPr>
                          </m:sSubPr>
                          <m:e>
                            <m:r>
                              <a:rPr lang="en-IN" sz="2000" b="0" i="1" dirty="0" smtClean="0">
                                <a:latin typeface="Cambria Math" panose="02040503050406030204" pitchFamily="18" charset="0"/>
                                <a:cs typeface="Times New Roman" panose="02020603050405020304" pitchFamily="18" charset="0"/>
                              </a:rPr>
                              <m:t>𝑥</m:t>
                            </m:r>
                          </m:e>
                          <m:sub>
                            <m:r>
                              <a:rPr lang="en-IN" sz="2000" b="0" i="1" dirty="0" smtClean="0">
                                <a:latin typeface="Cambria Math" panose="02040503050406030204" pitchFamily="18" charset="0"/>
                                <a:cs typeface="Times New Roman" panose="02020603050405020304" pitchFamily="18" charset="0"/>
                              </a:rPr>
                              <m:t>𝑖</m:t>
                            </m:r>
                          </m:sub>
                        </m:sSub>
                      </m:e>
                    </m:nary>
                  </m:oMath>
                </a14:m>
                <a:endParaRPr lang="en-IN" sz="2000" dirty="0">
                  <a:latin typeface="Arial Narrow" panose="020B0606020202030204" pitchFamily="34" charset="0"/>
                  <a:cs typeface="Times New Roman" panose="02020603050405020304" pitchFamily="18" charset="0"/>
                </a:endParaRPr>
              </a:p>
            </p:txBody>
          </p:sp>
        </mc:Choice>
        <mc:Fallback xmlns="">
          <p:sp>
            <p:nvSpPr>
              <p:cNvPr id="100" name="TextBox 99">
                <a:extLst>
                  <a:ext uri="{FF2B5EF4-FFF2-40B4-BE49-F238E27FC236}">
                    <a16:creationId xmlns:a16="http://schemas.microsoft.com/office/drawing/2014/main" id="{5253E52A-CF0A-405D-9D6C-C42BAE0717AA}"/>
                  </a:ext>
                </a:extLst>
              </p:cNvPr>
              <p:cNvSpPr txBox="1">
                <a:spLocks noRot="1" noChangeAspect="1" noMove="1" noResize="1" noEditPoints="1" noAdjustHandles="1" noChangeArrowheads="1" noChangeShapeType="1" noTextEdit="1"/>
              </p:cNvSpPr>
              <p:nvPr/>
            </p:nvSpPr>
            <p:spPr>
              <a:xfrm>
                <a:off x="4286509" y="2016150"/>
                <a:ext cx="3580231" cy="1419299"/>
              </a:xfrm>
              <a:prstGeom prst="rect">
                <a:avLst/>
              </a:prstGeom>
              <a:blipFill>
                <a:blip r:embed="rId2"/>
                <a:stretch>
                  <a:fillRect l="-1704" t="-2575" b="-48927"/>
                </a:stretch>
              </a:blipFill>
            </p:spPr>
            <p:txBody>
              <a:bodyPr/>
              <a:lstStyle/>
              <a:p>
                <a:r>
                  <a:rPr lang="en-IN">
                    <a:noFill/>
                  </a:rPr>
                  <a:t> </a:t>
                </a:r>
              </a:p>
            </p:txBody>
          </p:sp>
        </mc:Fallback>
      </mc:AlternateContent>
      <p:sp>
        <p:nvSpPr>
          <p:cNvPr id="101" name="TextBox 100">
            <a:extLst>
              <a:ext uri="{FF2B5EF4-FFF2-40B4-BE49-F238E27FC236}">
                <a16:creationId xmlns:a16="http://schemas.microsoft.com/office/drawing/2014/main" id="{48B5E281-0F40-417E-A7EB-72E8C2D0C332}"/>
              </a:ext>
            </a:extLst>
          </p:cNvPr>
          <p:cNvSpPr txBox="1"/>
          <p:nvPr/>
        </p:nvSpPr>
        <p:spPr>
          <a:xfrm>
            <a:off x="407963" y="2336715"/>
            <a:ext cx="3580237" cy="1015663"/>
          </a:xfrm>
          <a:prstGeom prst="rect">
            <a:avLst/>
          </a:prstGeom>
          <a:noFill/>
        </p:spPr>
        <p:txBody>
          <a:bodyPr wrap="square" rtlCol="0">
            <a:spAutoFit/>
          </a:bodyPr>
          <a:lstStyle/>
          <a:p>
            <a:r>
              <a:rPr lang="en-IN" sz="2000" dirty="0">
                <a:latin typeface="Arial Narrow" panose="020B0606020202030204" pitchFamily="34" charset="0"/>
                <a:cs typeface="Times New Roman" panose="02020603050405020304" pitchFamily="18" charset="0"/>
              </a:rPr>
              <a:t>Inputs:</a:t>
            </a:r>
          </a:p>
          <a:p>
            <a:r>
              <a:rPr lang="en-IN" sz="2000" dirty="0">
                <a:latin typeface="Arial Narrow" panose="020B0606020202030204" pitchFamily="34" charset="0"/>
                <a:cs typeface="Times New Roman" panose="02020603050405020304" pitchFamily="18" charset="0"/>
              </a:rPr>
              <a:t>Input Vector X (Dimension : </a:t>
            </a:r>
            <a:r>
              <a:rPr lang="en-IN" sz="2000" dirty="0" err="1">
                <a:latin typeface="Arial Narrow" panose="020B0606020202030204" pitchFamily="34" charset="0"/>
                <a:cs typeface="Times New Roman" panose="02020603050405020304" pitchFamily="18" charset="0"/>
              </a:rPr>
              <a:t>NxD</a:t>
            </a:r>
            <a:r>
              <a:rPr lang="en-IN" sz="2000" dirty="0">
                <a:latin typeface="Arial Narrow" panose="020B0606020202030204" pitchFamily="34" charset="0"/>
                <a:cs typeface="Times New Roman" panose="02020603050405020304" pitchFamily="18" charset="0"/>
              </a:rPr>
              <a:t>)</a:t>
            </a:r>
          </a:p>
          <a:p>
            <a:r>
              <a:rPr lang="en-IN" sz="2000" dirty="0">
                <a:latin typeface="Arial Narrow" panose="020B0606020202030204" pitchFamily="34" charset="0"/>
                <a:cs typeface="Times New Roman" panose="02020603050405020304" pitchFamily="18" charset="0"/>
              </a:rPr>
              <a:t>Query Vector q (Dimension : </a:t>
            </a:r>
            <a:r>
              <a:rPr lang="en-IN" sz="2000" dirty="0" err="1">
                <a:latin typeface="Arial Narrow" panose="020B0606020202030204" pitchFamily="34" charset="0"/>
                <a:cs typeface="Times New Roman" panose="02020603050405020304" pitchFamily="18" charset="0"/>
              </a:rPr>
              <a:t>MxD</a:t>
            </a:r>
            <a:r>
              <a:rPr lang="en-IN" sz="2000" dirty="0">
                <a:latin typeface="Arial Narrow" panose="020B0606020202030204" pitchFamily="34" charset="0"/>
                <a:cs typeface="Times New Roman" panose="02020603050405020304" pitchFamily="18" charset="0"/>
              </a:rPr>
              <a:t>)</a:t>
            </a:r>
          </a:p>
        </p:txBody>
      </p:sp>
      <p:sp>
        <p:nvSpPr>
          <p:cNvPr id="3" name="Rectangle 2">
            <a:extLst>
              <a:ext uri="{FF2B5EF4-FFF2-40B4-BE49-F238E27FC236}">
                <a16:creationId xmlns:a16="http://schemas.microsoft.com/office/drawing/2014/main" id="{6C6DD356-3550-4904-8E06-D0587EBA5677}"/>
              </a:ext>
            </a:extLst>
          </p:cNvPr>
          <p:cNvSpPr/>
          <p:nvPr/>
        </p:nvSpPr>
        <p:spPr>
          <a:xfrm>
            <a:off x="460059" y="1456096"/>
            <a:ext cx="10816640" cy="369332"/>
          </a:xfrm>
          <a:prstGeom prst="rect">
            <a:avLst/>
          </a:prstGeom>
          <a:solidFill>
            <a:schemeClr val="accent2">
              <a:lumMod val="60000"/>
              <a:lumOff val="40000"/>
              <a:alpha val="23000"/>
            </a:schemeClr>
          </a:solidFill>
        </p:spPr>
        <p:txBody>
          <a:bodyPr wrap="square">
            <a:spAutoFit/>
          </a:bodyPr>
          <a:lstStyle/>
          <a:p>
            <a:pPr algn="just"/>
            <a:r>
              <a:rPr lang="en-IN" dirty="0">
                <a:latin typeface="Arial Narrow" panose="020B0606020202030204" pitchFamily="34" charset="0"/>
                <a:cs typeface="Times New Roman" panose="02020603050405020304" pitchFamily="18" charset="0"/>
              </a:rPr>
              <a:t>As each query vector may obtain a different context, so there are multiple context vectors because of multiple query vectors.</a:t>
            </a:r>
          </a:p>
        </p:txBody>
      </p:sp>
      <p:sp>
        <p:nvSpPr>
          <p:cNvPr id="113" name="Title 3">
            <a:extLst>
              <a:ext uri="{FF2B5EF4-FFF2-40B4-BE49-F238E27FC236}">
                <a16:creationId xmlns:a16="http://schemas.microsoft.com/office/drawing/2014/main" id="{ED35C9AB-4F16-4B8A-82A1-A59450FFE2EA}"/>
              </a:ext>
            </a:extLst>
          </p:cNvPr>
          <p:cNvSpPr>
            <a:spLocks noGrp="1"/>
          </p:cNvSpPr>
          <p:nvPr>
            <p:ph type="title"/>
          </p:nvPr>
        </p:nvSpPr>
        <p:spPr>
          <a:xfrm>
            <a:off x="465436" y="257405"/>
            <a:ext cx="10515600" cy="859910"/>
          </a:xfrm>
        </p:spPr>
        <p:txBody>
          <a:bodyPr>
            <a:normAutofit/>
          </a:bodyPr>
          <a:lstStyle/>
          <a:p>
            <a:r>
              <a:rPr lang="en-IN" sz="3200" dirty="0">
                <a:latin typeface="Century" panose="02040604050505020304" pitchFamily="18" charset="0"/>
              </a:rPr>
              <a:t>Attention Layer</a:t>
            </a:r>
          </a:p>
        </p:txBody>
      </p:sp>
      <p:sp>
        <p:nvSpPr>
          <p:cNvPr id="88" name="TextBox 87">
            <a:extLst>
              <a:ext uri="{FF2B5EF4-FFF2-40B4-BE49-F238E27FC236}">
                <a16:creationId xmlns:a16="http://schemas.microsoft.com/office/drawing/2014/main" id="{3ED7F4C0-CF08-4F1E-9483-CB1282187231}"/>
              </a:ext>
            </a:extLst>
          </p:cNvPr>
          <p:cNvSpPr txBox="1"/>
          <p:nvPr/>
        </p:nvSpPr>
        <p:spPr>
          <a:xfrm>
            <a:off x="6581775" y="6492875"/>
            <a:ext cx="5610225" cy="307777"/>
          </a:xfrm>
          <a:prstGeom prst="rect">
            <a:avLst/>
          </a:prstGeom>
          <a:noFill/>
        </p:spPr>
        <p:txBody>
          <a:bodyPr wrap="square" rtlCol="0">
            <a:spAutoFit/>
          </a:bodyPr>
          <a:lstStyle/>
          <a:p>
            <a:r>
              <a:rPr lang="en-IN" sz="1400" dirty="0">
                <a:latin typeface="Arial Narrow" panose="020B0606020202030204" pitchFamily="34" charset="0"/>
                <a:cs typeface="Times New Roman" panose="02020603050405020304" pitchFamily="18" charset="0"/>
              </a:rPr>
              <a:t>Concept: Fei-Fei Li Attention and Transformers CS231n Stanford Lecture</a:t>
            </a:r>
          </a:p>
        </p:txBody>
      </p:sp>
      <mc:AlternateContent xmlns:mc="http://schemas.openxmlformats.org/markup-compatibility/2006" xmlns:a14="http://schemas.microsoft.com/office/drawing/2010/main">
        <mc:Choice Requires="a14">
          <p:sp>
            <p:nvSpPr>
              <p:cNvPr id="135" name="TextBox 134">
                <a:extLst>
                  <a:ext uri="{FF2B5EF4-FFF2-40B4-BE49-F238E27FC236}">
                    <a16:creationId xmlns:a16="http://schemas.microsoft.com/office/drawing/2014/main" id="{AD6D90FF-8B08-44E6-ADD1-B975BDF15677}"/>
                  </a:ext>
                </a:extLst>
              </p:cNvPr>
              <p:cNvSpPr txBox="1"/>
              <p:nvPr/>
            </p:nvSpPr>
            <p:spPr>
              <a:xfrm rot="10800000" flipV="1">
                <a:off x="2668644" y="4839917"/>
                <a:ext cx="503989" cy="491219"/>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i="1">
                              <a:latin typeface="Cambria Math" panose="02040503050406030204" pitchFamily="18" charset="0"/>
                            </a:rPr>
                          </m:ctrlPr>
                        </m:sSubPr>
                        <m:e>
                          <m:r>
                            <a:rPr lang="en-IN">
                              <a:latin typeface="Cambria Math" panose="02040503050406030204" pitchFamily="18" charset="0"/>
                            </a:rPr>
                            <m:t>𝛼</m:t>
                          </m:r>
                        </m:e>
                        <m:sub>
                          <m:r>
                            <a:rPr lang="en-IN">
                              <a:latin typeface="Cambria Math" panose="02040503050406030204" pitchFamily="18" charset="0"/>
                            </a:rPr>
                            <m:t>1,1</m:t>
                          </m:r>
                        </m:sub>
                      </m:sSub>
                    </m:oMath>
                  </m:oMathPara>
                </a14:m>
                <a:endParaRPr lang="en-IN" dirty="0">
                  <a:latin typeface="Arial Narrow" panose="020B0606020202030204" pitchFamily="34" charset="0"/>
                </a:endParaRPr>
              </a:p>
            </p:txBody>
          </p:sp>
        </mc:Choice>
        <mc:Fallback xmlns="">
          <p:sp>
            <p:nvSpPr>
              <p:cNvPr id="135" name="TextBox 134">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2668644" y="4839917"/>
                <a:ext cx="503989" cy="491219"/>
              </a:xfrm>
              <a:prstGeom prst="ellipse">
                <a:avLst/>
              </a:prstGeom>
              <a:blipFill>
                <a:blip r:embed="rId3"/>
                <a:stretch>
                  <a:fillRect r="-4762"/>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6" name="TextBox 135">
                <a:extLst>
                  <a:ext uri="{FF2B5EF4-FFF2-40B4-BE49-F238E27FC236}">
                    <a16:creationId xmlns:a16="http://schemas.microsoft.com/office/drawing/2014/main" id="{36F03E2E-8229-4DFD-869B-C4F6CF96084E}"/>
                  </a:ext>
                </a:extLst>
              </p:cNvPr>
              <p:cNvSpPr txBox="1"/>
              <p:nvPr/>
            </p:nvSpPr>
            <p:spPr>
              <a:xfrm rot="10800000" flipV="1">
                <a:off x="2113171" y="4839918"/>
                <a:ext cx="503989" cy="491219"/>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i="1">
                              <a:latin typeface="Cambria Math" panose="02040503050406030204" pitchFamily="18" charset="0"/>
                            </a:rPr>
                          </m:ctrlPr>
                        </m:sSubPr>
                        <m:e>
                          <m:r>
                            <a:rPr lang="en-IN">
                              <a:latin typeface="Cambria Math" panose="02040503050406030204" pitchFamily="18" charset="0"/>
                            </a:rPr>
                            <m:t>𝛼</m:t>
                          </m:r>
                        </m:e>
                        <m:sub>
                          <m:r>
                            <a:rPr lang="en-IN">
                              <a:latin typeface="Cambria Math" panose="02040503050406030204" pitchFamily="18" charset="0"/>
                            </a:rPr>
                            <m:t>2,1</m:t>
                          </m:r>
                        </m:sub>
                      </m:sSub>
                    </m:oMath>
                  </m:oMathPara>
                </a14:m>
                <a:endParaRPr lang="en-IN" dirty="0">
                  <a:latin typeface="Arial Narrow" panose="020B0606020202030204" pitchFamily="34" charset="0"/>
                </a:endParaRPr>
              </a:p>
            </p:txBody>
          </p:sp>
        </mc:Choice>
        <mc:Fallback xmlns="">
          <p:sp>
            <p:nvSpPr>
              <p:cNvPr id="136" name="TextBox 135">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2113171" y="4839918"/>
                <a:ext cx="503989" cy="491219"/>
              </a:xfrm>
              <a:prstGeom prst="ellipse">
                <a:avLst/>
              </a:prstGeom>
              <a:blipFill>
                <a:blip r:embed="rId4"/>
                <a:stretch>
                  <a:fillRect r="-5952"/>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DF1D3D16-4F7D-4FD0-95EB-E2360401B577}"/>
                  </a:ext>
                </a:extLst>
              </p:cNvPr>
              <p:cNvSpPr txBox="1"/>
              <p:nvPr/>
            </p:nvSpPr>
            <p:spPr>
              <a:xfrm rot="10800000" flipV="1">
                <a:off x="1563081" y="4847493"/>
                <a:ext cx="503989" cy="47607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n-IN" sz="1600" b="0" i="1" smtClean="0">
                              <a:latin typeface="Cambria Math" panose="02040503050406030204" pitchFamily="18" charset="0"/>
                            </a:rPr>
                            <m:t>31</m:t>
                          </m:r>
                        </m:sub>
                      </m:sSub>
                    </m:oMath>
                  </m:oMathPara>
                </a14:m>
                <a:endParaRPr lang="en-IN" sz="1600" dirty="0">
                  <a:latin typeface="Arial Narrow" panose="020B0606020202030204" pitchFamily="34" charset="0"/>
                </a:endParaRPr>
              </a:p>
            </p:txBody>
          </p:sp>
        </mc:Choice>
        <mc:Fallback xmlns="">
          <p:sp>
            <p:nvSpPr>
              <p:cNvPr id="137" name="TextBox 136">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1563081" y="4847493"/>
                <a:ext cx="503989" cy="476071"/>
              </a:xfrm>
              <a:prstGeom prst="ellipse">
                <a:avLst/>
              </a:prstGeom>
              <a:blipFill>
                <a:blip r:embed="rId5"/>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8" name="TextBox 137">
                <a:extLst>
                  <a:ext uri="{FF2B5EF4-FFF2-40B4-BE49-F238E27FC236}">
                    <a16:creationId xmlns:a16="http://schemas.microsoft.com/office/drawing/2014/main" id="{98434757-453A-49BA-B417-238E5FFE6B79}"/>
                  </a:ext>
                </a:extLst>
              </p:cNvPr>
              <p:cNvSpPr txBox="1"/>
              <p:nvPr/>
            </p:nvSpPr>
            <p:spPr>
              <a:xfrm rot="10800000" flipV="1">
                <a:off x="2674353" y="5510246"/>
                <a:ext cx="503989" cy="51935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oMath>
                  </m:oMathPara>
                </a14:m>
                <a:endParaRPr lang="en-IN" dirty="0">
                  <a:latin typeface="Arial Narrow" panose="020B0606020202030204" pitchFamily="34" charset="0"/>
                </a:endParaRPr>
              </a:p>
            </p:txBody>
          </p:sp>
        </mc:Choice>
        <mc:Fallback xmlns="">
          <p:sp>
            <p:nvSpPr>
              <p:cNvPr id="138" name="TextBox 137">
                <a:extLst>
                  <a:ext uri="{FF2B5EF4-FFF2-40B4-BE49-F238E27FC236}">
                    <a16:creationId xmlns:a16="http://schemas.microsoft.com/office/drawing/2014/main" id="{98434757-453A-49BA-B417-238E5FFE6B79}"/>
                  </a:ext>
                </a:extLst>
              </p:cNvPr>
              <p:cNvSpPr txBox="1">
                <a:spLocks noRot="1" noChangeAspect="1" noMove="1" noResize="1" noEditPoints="1" noAdjustHandles="1" noChangeArrowheads="1" noChangeShapeType="1" noTextEdit="1"/>
              </p:cNvSpPr>
              <p:nvPr/>
            </p:nvSpPr>
            <p:spPr>
              <a:xfrm rot="10800000" flipV="1">
                <a:off x="2674353" y="5510246"/>
                <a:ext cx="503989" cy="519351"/>
              </a:xfrm>
              <a:prstGeom prst="ellipse">
                <a:avLst/>
              </a:prstGeom>
              <a:blipFill>
                <a:blip r:embed="rId6"/>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9" name="TextBox 138">
                <a:extLst>
                  <a:ext uri="{FF2B5EF4-FFF2-40B4-BE49-F238E27FC236}">
                    <a16:creationId xmlns:a16="http://schemas.microsoft.com/office/drawing/2014/main" id="{B8E17763-565A-4B77-80A1-9B07A3DF1DA4}"/>
                  </a:ext>
                </a:extLst>
              </p:cNvPr>
              <p:cNvSpPr txBox="1"/>
              <p:nvPr/>
            </p:nvSpPr>
            <p:spPr>
              <a:xfrm rot="10800000" flipV="1">
                <a:off x="2113171" y="5506495"/>
                <a:ext cx="503989" cy="51935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2</m:t>
                          </m:r>
                        </m:sub>
                      </m:sSub>
                    </m:oMath>
                  </m:oMathPara>
                </a14:m>
                <a:endParaRPr lang="en-IN" dirty="0">
                  <a:latin typeface="Arial Narrow" panose="020B0606020202030204" pitchFamily="34" charset="0"/>
                </a:endParaRPr>
              </a:p>
            </p:txBody>
          </p:sp>
        </mc:Choice>
        <mc:Fallback xmlns="">
          <p:sp>
            <p:nvSpPr>
              <p:cNvPr id="139" name="TextBox 138">
                <a:extLst>
                  <a:ext uri="{FF2B5EF4-FFF2-40B4-BE49-F238E27FC236}">
                    <a16:creationId xmlns:a16="http://schemas.microsoft.com/office/drawing/2014/main" id="{B8E17763-565A-4B77-80A1-9B07A3DF1DA4}"/>
                  </a:ext>
                </a:extLst>
              </p:cNvPr>
              <p:cNvSpPr txBox="1">
                <a:spLocks noRot="1" noChangeAspect="1" noMove="1" noResize="1" noEditPoints="1" noAdjustHandles="1" noChangeArrowheads="1" noChangeShapeType="1" noTextEdit="1"/>
              </p:cNvSpPr>
              <p:nvPr/>
            </p:nvSpPr>
            <p:spPr>
              <a:xfrm rot="10800000" flipV="1">
                <a:off x="2113171" y="5506495"/>
                <a:ext cx="503989" cy="519351"/>
              </a:xfrm>
              <a:prstGeom prst="ellipse">
                <a:avLst/>
              </a:prstGeom>
              <a:blipFill>
                <a:blip r:embed="rId7"/>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0" name="TextBox 139">
                <a:extLst>
                  <a:ext uri="{FF2B5EF4-FFF2-40B4-BE49-F238E27FC236}">
                    <a16:creationId xmlns:a16="http://schemas.microsoft.com/office/drawing/2014/main" id="{C8FC9D7E-BEDD-4715-866C-F8B1DB2EC23B}"/>
                  </a:ext>
                </a:extLst>
              </p:cNvPr>
              <p:cNvSpPr txBox="1"/>
              <p:nvPr/>
            </p:nvSpPr>
            <p:spPr>
              <a:xfrm rot="10800000" flipV="1">
                <a:off x="1563081" y="5506495"/>
                <a:ext cx="503989" cy="51935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3</m:t>
                          </m:r>
                        </m:sub>
                      </m:sSub>
                    </m:oMath>
                  </m:oMathPara>
                </a14:m>
                <a:endParaRPr lang="en-IN" dirty="0">
                  <a:latin typeface="Arial Narrow" panose="020B0606020202030204" pitchFamily="34" charset="0"/>
                </a:endParaRPr>
              </a:p>
            </p:txBody>
          </p:sp>
        </mc:Choice>
        <mc:Fallback xmlns="">
          <p:sp>
            <p:nvSpPr>
              <p:cNvPr id="140" name="TextBox 139">
                <a:extLst>
                  <a:ext uri="{FF2B5EF4-FFF2-40B4-BE49-F238E27FC236}">
                    <a16:creationId xmlns:a16="http://schemas.microsoft.com/office/drawing/2014/main" id="{C8FC9D7E-BEDD-4715-866C-F8B1DB2EC23B}"/>
                  </a:ext>
                </a:extLst>
              </p:cNvPr>
              <p:cNvSpPr txBox="1">
                <a:spLocks noRot="1" noChangeAspect="1" noMove="1" noResize="1" noEditPoints="1" noAdjustHandles="1" noChangeArrowheads="1" noChangeShapeType="1" noTextEdit="1"/>
              </p:cNvSpPr>
              <p:nvPr/>
            </p:nvSpPr>
            <p:spPr>
              <a:xfrm rot="10800000" flipV="1">
                <a:off x="1563081" y="5506495"/>
                <a:ext cx="503989" cy="519351"/>
              </a:xfrm>
              <a:prstGeom prst="ellipse">
                <a:avLst/>
              </a:prstGeom>
              <a:blipFill>
                <a:blip r:embed="rId8"/>
                <a:stretch>
                  <a:fillRect/>
                </a:stretch>
              </a:blipFill>
              <a:ln w="12700">
                <a:solidFill>
                  <a:schemeClr val="tx1"/>
                </a:solidFill>
              </a:ln>
            </p:spPr>
            <p:txBody>
              <a:bodyPr/>
              <a:lstStyle/>
              <a:p>
                <a:r>
                  <a:rPr lang="en-IN">
                    <a:noFill/>
                  </a:rPr>
                  <a:t> </a:t>
                </a:r>
              </a:p>
            </p:txBody>
          </p:sp>
        </mc:Fallback>
      </mc:AlternateContent>
      <p:cxnSp>
        <p:nvCxnSpPr>
          <p:cNvPr id="141" name="Straight Arrow Connector 140">
            <a:extLst>
              <a:ext uri="{FF2B5EF4-FFF2-40B4-BE49-F238E27FC236}">
                <a16:creationId xmlns:a16="http://schemas.microsoft.com/office/drawing/2014/main" id="{A263021F-7328-4211-909D-49F49CA28D98}"/>
              </a:ext>
            </a:extLst>
          </p:cNvPr>
          <p:cNvCxnSpPr>
            <a:stCxn id="138" idx="0"/>
            <a:endCxn id="135" idx="4"/>
          </p:cNvCxnSpPr>
          <p:nvPr/>
        </p:nvCxnSpPr>
        <p:spPr>
          <a:xfrm flipH="1" flipV="1">
            <a:off x="2920638" y="5331136"/>
            <a:ext cx="5709" cy="179110"/>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42" name="Straight Arrow Connector 141">
            <a:extLst>
              <a:ext uri="{FF2B5EF4-FFF2-40B4-BE49-F238E27FC236}">
                <a16:creationId xmlns:a16="http://schemas.microsoft.com/office/drawing/2014/main" id="{48E3A579-0DB9-42B0-BAF2-784E8D2CED22}"/>
              </a:ext>
            </a:extLst>
          </p:cNvPr>
          <p:cNvCxnSpPr>
            <a:cxnSpLocks/>
            <a:stCxn id="139" idx="0"/>
            <a:endCxn id="136" idx="4"/>
          </p:cNvCxnSpPr>
          <p:nvPr/>
        </p:nvCxnSpPr>
        <p:spPr>
          <a:xfrm flipV="1">
            <a:off x="2365165" y="5331137"/>
            <a:ext cx="0" cy="175358"/>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a:extLst>
              <a:ext uri="{FF2B5EF4-FFF2-40B4-BE49-F238E27FC236}">
                <a16:creationId xmlns:a16="http://schemas.microsoft.com/office/drawing/2014/main" id="{C1137974-CC6B-47D3-81CF-6AC92B143B47}"/>
              </a:ext>
            </a:extLst>
          </p:cNvPr>
          <p:cNvCxnSpPr>
            <a:cxnSpLocks/>
            <a:stCxn id="140" idx="0"/>
            <a:endCxn id="137" idx="4"/>
          </p:cNvCxnSpPr>
          <p:nvPr/>
        </p:nvCxnSpPr>
        <p:spPr>
          <a:xfrm flipV="1">
            <a:off x="1815075" y="5323564"/>
            <a:ext cx="0" cy="182931"/>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a:extLst>
              <a:ext uri="{FF2B5EF4-FFF2-40B4-BE49-F238E27FC236}">
                <a16:creationId xmlns:a16="http://schemas.microsoft.com/office/drawing/2014/main" id="{47F04F6C-A5DE-48AC-A93E-885D326C2D52}"/>
              </a:ext>
            </a:extLst>
          </p:cNvPr>
          <p:cNvCxnSpPr>
            <a:cxnSpLocks/>
            <a:stCxn id="153" idx="2"/>
          </p:cNvCxnSpPr>
          <p:nvPr/>
        </p:nvCxnSpPr>
        <p:spPr>
          <a:xfrm>
            <a:off x="6782699" y="5085528"/>
            <a:ext cx="623543" cy="1817"/>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6" name="TextBox 145">
                <a:extLst>
                  <a:ext uri="{FF2B5EF4-FFF2-40B4-BE49-F238E27FC236}">
                    <a16:creationId xmlns:a16="http://schemas.microsoft.com/office/drawing/2014/main" id="{CB478EDF-F147-4A46-ACD7-767B4A547BF2}"/>
                  </a:ext>
                </a:extLst>
              </p:cNvPr>
              <p:cNvSpPr txBox="1"/>
              <p:nvPr/>
            </p:nvSpPr>
            <p:spPr>
              <a:xfrm rot="10800000" flipV="1">
                <a:off x="564369" y="4825851"/>
                <a:ext cx="508127" cy="51935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𝑞</m:t>
                          </m:r>
                        </m:e>
                        <m:sub>
                          <m:r>
                            <a:rPr lang="en-IN" i="1">
                              <a:latin typeface="Cambria Math" panose="02040503050406030204" pitchFamily="18" charset="0"/>
                            </a:rPr>
                            <m:t>1</m:t>
                          </m:r>
                        </m:sub>
                      </m:sSub>
                    </m:oMath>
                  </m:oMathPara>
                </a14:m>
                <a:endParaRPr lang="en-IN" dirty="0">
                  <a:latin typeface="Arial Narrow" panose="020B0606020202030204" pitchFamily="34" charset="0"/>
                </a:endParaRPr>
              </a:p>
            </p:txBody>
          </p:sp>
        </mc:Choice>
        <mc:Fallback xmlns="">
          <p:sp>
            <p:nvSpPr>
              <p:cNvPr id="146" name="TextBox 145">
                <a:extLst>
                  <a:ext uri="{FF2B5EF4-FFF2-40B4-BE49-F238E27FC236}">
                    <a16:creationId xmlns:a16="http://schemas.microsoft.com/office/drawing/2014/main" id="{CB478EDF-F147-4A46-ACD7-767B4A547BF2}"/>
                  </a:ext>
                </a:extLst>
              </p:cNvPr>
              <p:cNvSpPr txBox="1">
                <a:spLocks noRot="1" noChangeAspect="1" noMove="1" noResize="1" noEditPoints="1" noAdjustHandles="1" noChangeArrowheads="1" noChangeShapeType="1" noTextEdit="1"/>
              </p:cNvSpPr>
              <p:nvPr/>
            </p:nvSpPr>
            <p:spPr>
              <a:xfrm rot="10800000" flipV="1">
                <a:off x="564369" y="4825851"/>
                <a:ext cx="508127" cy="519351"/>
              </a:xfrm>
              <a:prstGeom prst="ellipse">
                <a:avLst/>
              </a:prstGeom>
              <a:blipFill>
                <a:blip r:embed="rId9"/>
                <a:stretch>
                  <a:fillRect/>
                </a:stretch>
              </a:blipFill>
              <a:ln w="12700">
                <a:solidFill>
                  <a:schemeClr val="tx1"/>
                </a:solidFill>
              </a:ln>
            </p:spPr>
            <p:txBody>
              <a:bodyPr/>
              <a:lstStyle/>
              <a:p>
                <a:r>
                  <a:rPr lang="en-IN">
                    <a:noFill/>
                  </a:rPr>
                  <a:t> </a:t>
                </a:r>
              </a:p>
            </p:txBody>
          </p:sp>
        </mc:Fallback>
      </mc:AlternateContent>
      <p:cxnSp>
        <p:nvCxnSpPr>
          <p:cNvPr id="147" name="Straight Arrow Connector 146">
            <a:extLst>
              <a:ext uri="{FF2B5EF4-FFF2-40B4-BE49-F238E27FC236}">
                <a16:creationId xmlns:a16="http://schemas.microsoft.com/office/drawing/2014/main" id="{20C9C6AC-19F5-4564-9E13-1B8D0A63390D}"/>
              </a:ext>
            </a:extLst>
          </p:cNvPr>
          <p:cNvCxnSpPr>
            <a:stCxn id="146" idx="2"/>
            <a:endCxn id="137" idx="6"/>
          </p:cNvCxnSpPr>
          <p:nvPr/>
        </p:nvCxnSpPr>
        <p:spPr>
          <a:xfrm>
            <a:off x="1072496" y="5085527"/>
            <a:ext cx="490585" cy="2"/>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48" name="Straight Arrow Connector 147">
            <a:extLst>
              <a:ext uri="{FF2B5EF4-FFF2-40B4-BE49-F238E27FC236}">
                <a16:creationId xmlns:a16="http://schemas.microsoft.com/office/drawing/2014/main" id="{19A753A8-AD35-4022-B3B3-F8FBEA03A328}"/>
              </a:ext>
            </a:extLst>
          </p:cNvPr>
          <p:cNvCxnSpPr>
            <a:endCxn id="149" idx="6"/>
          </p:cNvCxnSpPr>
          <p:nvPr/>
        </p:nvCxnSpPr>
        <p:spPr>
          <a:xfrm flipV="1">
            <a:off x="8325921" y="5085528"/>
            <a:ext cx="416182" cy="1818"/>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9" name="TextBox 148">
                <a:extLst>
                  <a:ext uri="{FF2B5EF4-FFF2-40B4-BE49-F238E27FC236}">
                    <a16:creationId xmlns:a16="http://schemas.microsoft.com/office/drawing/2014/main" id="{6803D624-9F2D-4CB6-A000-91DDACFD0A2B}"/>
                  </a:ext>
                </a:extLst>
              </p:cNvPr>
              <p:cNvSpPr txBox="1"/>
              <p:nvPr/>
            </p:nvSpPr>
            <p:spPr>
              <a:xfrm rot="10800000" flipV="1">
                <a:off x="8742103" y="4825852"/>
                <a:ext cx="503989" cy="51935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𝑦</m:t>
                          </m:r>
                        </m:e>
                        <m:sub>
                          <m:r>
                            <a:rPr lang="en-IN" i="1">
                              <a:latin typeface="Cambria Math" panose="02040503050406030204" pitchFamily="18" charset="0"/>
                            </a:rPr>
                            <m:t>1</m:t>
                          </m:r>
                        </m:sub>
                      </m:sSub>
                    </m:oMath>
                  </m:oMathPara>
                </a14:m>
                <a:endParaRPr lang="en-IN" dirty="0">
                  <a:latin typeface="Arial Narrow" panose="020B0606020202030204" pitchFamily="34" charset="0"/>
                </a:endParaRPr>
              </a:p>
            </p:txBody>
          </p:sp>
        </mc:Choice>
        <mc:Fallback xmlns="">
          <p:sp>
            <p:nvSpPr>
              <p:cNvPr id="149" name="TextBox 148">
                <a:extLst>
                  <a:ext uri="{FF2B5EF4-FFF2-40B4-BE49-F238E27FC236}">
                    <a16:creationId xmlns:a16="http://schemas.microsoft.com/office/drawing/2014/main" id="{6803D624-9F2D-4CB6-A000-91DDACFD0A2B}"/>
                  </a:ext>
                </a:extLst>
              </p:cNvPr>
              <p:cNvSpPr txBox="1">
                <a:spLocks noRot="1" noChangeAspect="1" noMove="1" noResize="1" noEditPoints="1" noAdjustHandles="1" noChangeArrowheads="1" noChangeShapeType="1" noTextEdit="1"/>
              </p:cNvSpPr>
              <p:nvPr/>
            </p:nvSpPr>
            <p:spPr>
              <a:xfrm rot="10800000" flipV="1">
                <a:off x="8742103" y="4825852"/>
                <a:ext cx="503989" cy="519351"/>
              </a:xfrm>
              <a:prstGeom prst="ellipse">
                <a:avLst/>
              </a:prstGeom>
              <a:blipFill>
                <a:blip r:embed="rId10"/>
                <a:stretch>
                  <a:fillRect/>
                </a:stretch>
              </a:blipFill>
              <a:ln w="12700">
                <a:solidFill>
                  <a:schemeClr val="tx1"/>
                </a:solidFill>
              </a:ln>
            </p:spPr>
            <p:txBody>
              <a:bodyPr/>
              <a:lstStyle/>
              <a:p>
                <a:r>
                  <a:rPr lang="en-IN">
                    <a:noFill/>
                  </a:rPr>
                  <a:t> </a:t>
                </a:r>
              </a:p>
            </p:txBody>
          </p:sp>
        </mc:Fallback>
      </mc:AlternateContent>
      <p:sp>
        <p:nvSpPr>
          <p:cNvPr id="150" name="TextBox 149">
            <a:extLst>
              <a:ext uri="{FF2B5EF4-FFF2-40B4-BE49-F238E27FC236}">
                <a16:creationId xmlns:a16="http://schemas.microsoft.com/office/drawing/2014/main" id="{E17818E8-007B-45D8-AD06-1A2108924884}"/>
              </a:ext>
            </a:extLst>
          </p:cNvPr>
          <p:cNvSpPr txBox="1"/>
          <p:nvPr/>
        </p:nvSpPr>
        <p:spPr>
          <a:xfrm rot="10800000" flipV="1">
            <a:off x="1702831" y="3268637"/>
            <a:ext cx="1355644" cy="369332"/>
          </a:xfrm>
          <a:prstGeom prst="rect">
            <a:avLst/>
          </a:prstGeom>
          <a:noFill/>
        </p:spPr>
        <p:txBody>
          <a:bodyPr wrap="square" rtlCol="0">
            <a:spAutoFit/>
          </a:bodyPr>
          <a:lstStyle/>
          <a:p>
            <a:r>
              <a:rPr lang="en-IN" dirty="0">
                <a:latin typeface="Arial Narrow" panose="020B0606020202030204" pitchFamily="34" charset="0"/>
                <a:cs typeface="Times New Roman" panose="02020603050405020304" pitchFamily="18" charset="0"/>
              </a:rPr>
              <a:t>Alignment</a:t>
            </a:r>
          </a:p>
        </p:txBody>
      </p:sp>
      <p:sp>
        <p:nvSpPr>
          <p:cNvPr id="151" name="TextBox 150">
            <a:extLst>
              <a:ext uri="{FF2B5EF4-FFF2-40B4-BE49-F238E27FC236}">
                <a16:creationId xmlns:a16="http://schemas.microsoft.com/office/drawing/2014/main" id="{A8C9EC39-2EA1-4820-AB08-8E44D249B4B8}"/>
              </a:ext>
            </a:extLst>
          </p:cNvPr>
          <p:cNvSpPr txBox="1"/>
          <p:nvPr/>
        </p:nvSpPr>
        <p:spPr>
          <a:xfrm rot="10800000" flipV="1">
            <a:off x="5427055" y="3272752"/>
            <a:ext cx="1355644" cy="369332"/>
          </a:xfrm>
          <a:prstGeom prst="rect">
            <a:avLst/>
          </a:prstGeom>
          <a:noFill/>
        </p:spPr>
        <p:txBody>
          <a:bodyPr wrap="square" rtlCol="0">
            <a:spAutoFit/>
          </a:bodyPr>
          <a:lstStyle/>
          <a:p>
            <a:r>
              <a:rPr lang="en-IN" dirty="0">
                <a:latin typeface="Arial Narrow" panose="020B0606020202030204" pitchFamily="34" charset="0"/>
                <a:cs typeface="Times New Roman" panose="02020603050405020304" pitchFamily="18" charset="0"/>
              </a:rPr>
              <a:t>Attention</a:t>
            </a:r>
          </a:p>
        </p:txBody>
      </p:sp>
      <p:sp>
        <p:nvSpPr>
          <p:cNvPr id="152" name="TextBox 151">
            <a:extLst>
              <a:ext uri="{FF2B5EF4-FFF2-40B4-BE49-F238E27FC236}">
                <a16:creationId xmlns:a16="http://schemas.microsoft.com/office/drawing/2014/main" id="{03D7A7FB-37B5-491B-9275-F91C88822728}"/>
              </a:ext>
            </a:extLst>
          </p:cNvPr>
          <p:cNvSpPr txBox="1"/>
          <p:nvPr/>
        </p:nvSpPr>
        <p:spPr>
          <a:xfrm rot="10800000" flipV="1">
            <a:off x="432521" y="6287476"/>
            <a:ext cx="1583957" cy="369332"/>
          </a:xfrm>
          <a:prstGeom prst="rect">
            <a:avLst/>
          </a:prstGeom>
          <a:noFill/>
        </p:spPr>
        <p:txBody>
          <a:bodyPr wrap="square" rtlCol="0">
            <a:spAutoFit/>
          </a:bodyPr>
          <a:lstStyle/>
          <a:p>
            <a:r>
              <a:rPr lang="en-IN" dirty="0">
                <a:latin typeface="Arial Narrow" panose="020B0606020202030204" pitchFamily="34" charset="0"/>
                <a:cs typeface="Times New Roman" panose="02020603050405020304" pitchFamily="18" charset="0"/>
              </a:rPr>
              <a:t>Input Vectors</a:t>
            </a:r>
          </a:p>
        </p:txBody>
      </p:sp>
      <mc:AlternateContent xmlns:mc="http://schemas.openxmlformats.org/markup-compatibility/2006" xmlns:a14="http://schemas.microsoft.com/office/drawing/2010/main">
        <mc:Choice Requires="a14">
          <p:sp>
            <p:nvSpPr>
              <p:cNvPr id="153" name="TextBox 152">
                <a:extLst>
                  <a:ext uri="{FF2B5EF4-FFF2-40B4-BE49-F238E27FC236}">
                    <a16:creationId xmlns:a16="http://schemas.microsoft.com/office/drawing/2014/main" id="{AD6D90FF-8B08-44E6-ADD1-B975BDF15677}"/>
                  </a:ext>
                </a:extLst>
              </p:cNvPr>
              <p:cNvSpPr txBox="1"/>
              <p:nvPr/>
            </p:nvSpPr>
            <p:spPr>
              <a:xfrm rot="10800000" flipV="1">
                <a:off x="6278710" y="4839918"/>
                <a:ext cx="503989" cy="491219"/>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𝑎</m:t>
                          </m:r>
                        </m:e>
                        <m:sub>
                          <m:r>
                            <a:rPr lang="en-IN">
                              <a:latin typeface="Cambria Math" panose="02040503050406030204" pitchFamily="18" charset="0"/>
                            </a:rPr>
                            <m:t>1,1</m:t>
                          </m:r>
                        </m:sub>
                      </m:sSub>
                    </m:oMath>
                  </m:oMathPara>
                </a14:m>
                <a:endParaRPr lang="en-IN" dirty="0">
                  <a:latin typeface="Arial Narrow" panose="020B0606020202030204" pitchFamily="34" charset="0"/>
                </a:endParaRPr>
              </a:p>
            </p:txBody>
          </p:sp>
        </mc:Choice>
        <mc:Fallback xmlns="">
          <p:sp>
            <p:nvSpPr>
              <p:cNvPr id="153" name="TextBox 152">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6278710" y="4839918"/>
                <a:ext cx="503989" cy="491219"/>
              </a:xfrm>
              <a:prstGeom prst="ellipse">
                <a:avLst/>
              </a:prstGeom>
              <a:blipFill>
                <a:blip r:embed="rId11"/>
                <a:stretch>
                  <a:fillRect r="-2353"/>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4" name="TextBox 153">
                <a:extLst>
                  <a:ext uri="{FF2B5EF4-FFF2-40B4-BE49-F238E27FC236}">
                    <a16:creationId xmlns:a16="http://schemas.microsoft.com/office/drawing/2014/main" id="{36F03E2E-8229-4DFD-869B-C4F6CF96084E}"/>
                  </a:ext>
                </a:extLst>
              </p:cNvPr>
              <p:cNvSpPr txBox="1"/>
              <p:nvPr/>
            </p:nvSpPr>
            <p:spPr>
              <a:xfrm rot="10800000" flipV="1">
                <a:off x="5723237" y="4839918"/>
                <a:ext cx="503989" cy="491219"/>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𝑎</m:t>
                          </m:r>
                        </m:e>
                        <m:sub>
                          <m:r>
                            <a:rPr lang="en-IN">
                              <a:latin typeface="Cambria Math" panose="02040503050406030204" pitchFamily="18" charset="0"/>
                            </a:rPr>
                            <m:t>2,1</m:t>
                          </m:r>
                        </m:sub>
                      </m:sSub>
                    </m:oMath>
                  </m:oMathPara>
                </a14:m>
                <a:endParaRPr lang="en-IN" dirty="0">
                  <a:latin typeface="Arial Narrow" panose="020B0606020202030204" pitchFamily="34" charset="0"/>
                </a:endParaRPr>
              </a:p>
            </p:txBody>
          </p:sp>
        </mc:Choice>
        <mc:Fallback xmlns="">
          <p:sp>
            <p:nvSpPr>
              <p:cNvPr id="154" name="TextBox 153">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5723237" y="4839918"/>
                <a:ext cx="503989" cy="491219"/>
              </a:xfrm>
              <a:prstGeom prst="ellipse">
                <a:avLst/>
              </a:prstGeom>
              <a:blipFill>
                <a:blip r:embed="rId12"/>
                <a:stretch>
                  <a:fillRect r="-3529"/>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5" name="TextBox 154">
                <a:extLst>
                  <a:ext uri="{FF2B5EF4-FFF2-40B4-BE49-F238E27FC236}">
                    <a16:creationId xmlns:a16="http://schemas.microsoft.com/office/drawing/2014/main" id="{DF1D3D16-4F7D-4FD0-95EB-E2360401B577}"/>
                  </a:ext>
                </a:extLst>
              </p:cNvPr>
              <p:cNvSpPr txBox="1"/>
              <p:nvPr/>
            </p:nvSpPr>
            <p:spPr>
              <a:xfrm rot="10800000" flipV="1">
                <a:off x="5173147" y="4839919"/>
                <a:ext cx="503989" cy="491219"/>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𝑎</m:t>
                          </m:r>
                        </m:e>
                        <m:sub>
                          <m:r>
                            <a:rPr lang="en-IN">
                              <a:latin typeface="Cambria Math" panose="02040503050406030204" pitchFamily="18" charset="0"/>
                            </a:rPr>
                            <m:t>3</m:t>
                          </m:r>
                          <m:r>
                            <a:rPr lang="en-IN" b="0" i="1" smtClean="0">
                              <a:latin typeface="Cambria Math" panose="02040503050406030204" pitchFamily="18" charset="0"/>
                            </a:rPr>
                            <m:t>,</m:t>
                          </m:r>
                          <m:r>
                            <a:rPr lang="en-IN">
                              <a:latin typeface="Cambria Math" panose="02040503050406030204" pitchFamily="18" charset="0"/>
                            </a:rPr>
                            <m:t>1</m:t>
                          </m:r>
                        </m:sub>
                      </m:sSub>
                    </m:oMath>
                  </m:oMathPara>
                </a14:m>
                <a:endParaRPr lang="en-IN" dirty="0">
                  <a:latin typeface="Arial Narrow" panose="020B0606020202030204" pitchFamily="34" charset="0"/>
                </a:endParaRPr>
              </a:p>
            </p:txBody>
          </p:sp>
        </mc:Choice>
        <mc:Fallback xmlns="">
          <p:sp>
            <p:nvSpPr>
              <p:cNvPr id="155" name="TextBox 154">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5173147" y="4839919"/>
                <a:ext cx="503989" cy="491219"/>
              </a:xfrm>
              <a:prstGeom prst="ellipse">
                <a:avLst/>
              </a:prstGeom>
              <a:blipFill>
                <a:blip r:embed="rId13"/>
                <a:stretch>
                  <a:fillRect r="-4762"/>
                </a:stretch>
              </a:blipFill>
              <a:ln w="12700">
                <a:solidFill>
                  <a:schemeClr val="tx1"/>
                </a:solidFill>
              </a:ln>
            </p:spPr>
            <p:txBody>
              <a:bodyPr/>
              <a:lstStyle/>
              <a:p>
                <a:r>
                  <a:rPr lang="en-IN">
                    <a:noFill/>
                  </a:rPr>
                  <a:t> </a:t>
                </a:r>
              </a:p>
            </p:txBody>
          </p:sp>
        </mc:Fallback>
      </mc:AlternateContent>
      <p:cxnSp>
        <p:nvCxnSpPr>
          <p:cNvPr id="156" name="Straight Arrow Connector 155">
            <a:extLst>
              <a:ext uri="{FF2B5EF4-FFF2-40B4-BE49-F238E27FC236}">
                <a16:creationId xmlns:a16="http://schemas.microsoft.com/office/drawing/2014/main" id="{93CE584A-6224-4185-BA7F-7DBE679AAC01}"/>
              </a:ext>
            </a:extLst>
          </p:cNvPr>
          <p:cNvCxnSpPr>
            <a:cxnSpLocks/>
            <a:endCxn id="155" idx="6"/>
          </p:cNvCxnSpPr>
          <p:nvPr/>
        </p:nvCxnSpPr>
        <p:spPr>
          <a:xfrm>
            <a:off x="4684665" y="5081631"/>
            <a:ext cx="488482" cy="3898"/>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57" name="Elbow Connector 156"/>
          <p:cNvCxnSpPr>
            <a:stCxn id="138" idx="4"/>
            <a:endCxn id="155" idx="4"/>
          </p:cNvCxnSpPr>
          <p:nvPr/>
        </p:nvCxnSpPr>
        <p:spPr>
          <a:xfrm rot="5400000" flipH="1" flipV="1">
            <a:off x="3826514" y="4430971"/>
            <a:ext cx="698459" cy="2498794"/>
          </a:xfrm>
          <a:prstGeom prst="bentConnector3">
            <a:avLst>
              <a:gd name="adj1" fmla="val -32729"/>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58" name="Elbow Connector 157"/>
          <p:cNvCxnSpPr>
            <a:stCxn id="139" idx="4"/>
            <a:endCxn id="154" idx="4"/>
          </p:cNvCxnSpPr>
          <p:nvPr/>
        </p:nvCxnSpPr>
        <p:spPr>
          <a:xfrm rot="5400000" flipH="1" flipV="1">
            <a:off x="3822843" y="3873459"/>
            <a:ext cx="694709" cy="3610066"/>
          </a:xfrm>
          <a:prstGeom prst="bentConnector3">
            <a:avLst>
              <a:gd name="adj1" fmla="val -32906"/>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59" name="Elbow Connector 158"/>
          <p:cNvCxnSpPr>
            <a:stCxn id="140" idx="4"/>
            <a:endCxn id="153" idx="4"/>
          </p:cNvCxnSpPr>
          <p:nvPr/>
        </p:nvCxnSpPr>
        <p:spPr>
          <a:xfrm rot="5400000" flipH="1" flipV="1">
            <a:off x="3825534" y="3320677"/>
            <a:ext cx="694709" cy="4715629"/>
          </a:xfrm>
          <a:prstGeom prst="bentConnector3">
            <a:avLst>
              <a:gd name="adj1" fmla="val -32906"/>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0" name="TextBox 159">
                <a:extLst>
                  <a:ext uri="{FF2B5EF4-FFF2-40B4-BE49-F238E27FC236}">
                    <a16:creationId xmlns:a16="http://schemas.microsoft.com/office/drawing/2014/main" id="{AD6D90FF-8B08-44E6-ADD1-B975BDF15677}"/>
                  </a:ext>
                </a:extLst>
              </p:cNvPr>
              <p:cNvSpPr txBox="1"/>
              <p:nvPr/>
            </p:nvSpPr>
            <p:spPr>
              <a:xfrm rot="10800000" flipV="1">
                <a:off x="2668644" y="4269416"/>
                <a:ext cx="503989" cy="491219"/>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i="1">
                              <a:latin typeface="Cambria Math" panose="02040503050406030204" pitchFamily="18" charset="0"/>
                            </a:rPr>
                          </m:ctrlPr>
                        </m:sSubPr>
                        <m:e>
                          <m:r>
                            <a:rPr lang="en-IN">
                              <a:latin typeface="Cambria Math" panose="02040503050406030204" pitchFamily="18" charset="0"/>
                            </a:rPr>
                            <m:t>𝛼</m:t>
                          </m:r>
                        </m:e>
                        <m:sub>
                          <m:r>
                            <a:rPr lang="en-IN">
                              <a:latin typeface="Cambria Math" panose="02040503050406030204" pitchFamily="18" charset="0"/>
                            </a:rPr>
                            <m:t>1,2</m:t>
                          </m:r>
                        </m:sub>
                      </m:sSub>
                    </m:oMath>
                  </m:oMathPara>
                </a14:m>
                <a:endParaRPr lang="en-IN" dirty="0">
                  <a:latin typeface="Arial Narrow" panose="020B0606020202030204" pitchFamily="34" charset="0"/>
                </a:endParaRPr>
              </a:p>
            </p:txBody>
          </p:sp>
        </mc:Choice>
        <mc:Fallback xmlns="">
          <p:sp>
            <p:nvSpPr>
              <p:cNvPr id="160" name="TextBox 159">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2668644" y="4269416"/>
                <a:ext cx="503989" cy="491219"/>
              </a:xfrm>
              <a:prstGeom prst="ellipse">
                <a:avLst/>
              </a:prstGeom>
              <a:blipFill>
                <a:blip r:embed="rId14"/>
                <a:stretch>
                  <a:fillRect r="-4762"/>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1" name="TextBox 160">
                <a:extLst>
                  <a:ext uri="{FF2B5EF4-FFF2-40B4-BE49-F238E27FC236}">
                    <a16:creationId xmlns:a16="http://schemas.microsoft.com/office/drawing/2014/main" id="{36F03E2E-8229-4DFD-869B-C4F6CF96084E}"/>
                  </a:ext>
                </a:extLst>
              </p:cNvPr>
              <p:cNvSpPr txBox="1"/>
              <p:nvPr/>
            </p:nvSpPr>
            <p:spPr>
              <a:xfrm rot="10800000" flipV="1">
                <a:off x="2113171" y="4269416"/>
                <a:ext cx="503989" cy="491219"/>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i="1">
                              <a:latin typeface="Cambria Math" panose="02040503050406030204" pitchFamily="18" charset="0"/>
                            </a:rPr>
                          </m:ctrlPr>
                        </m:sSubPr>
                        <m:e>
                          <m:r>
                            <a:rPr lang="en-IN">
                              <a:latin typeface="Cambria Math" panose="02040503050406030204" pitchFamily="18" charset="0"/>
                            </a:rPr>
                            <m:t>𝛼</m:t>
                          </m:r>
                        </m:e>
                        <m:sub>
                          <m:r>
                            <a:rPr lang="en-IN">
                              <a:latin typeface="Cambria Math" panose="02040503050406030204" pitchFamily="18" charset="0"/>
                            </a:rPr>
                            <m:t>2,2</m:t>
                          </m:r>
                        </m:sub>
                      </m:sSub>
                    </m:oMath>
                  </m:oMathPara>
                </a14:m>
                <a:endParaRPr lang="en-IN" dirty="0">
                  <a:latin typeface="Arial Narrow" panose="020B0606020202030204" pitchFamily="34" charset="0"/>
                </a:endParaRPr>
              </a:p>
            </p:txBody>
          </p:sp>
        </mc:Choice>
        <mc:Fallback xmlns="">
          <p:sp>
            <p:nvSpPr>
              <p:cNvPr id="161" name="TextBox 160">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2113171" y="4269416"/>
                <a:ext cx="503989" cy="491219"/>
              </a:xfrm>
              <a:prstGeom prst="ellipse">
                <a:avLst/>
              </a:prstGeom>
              <a:blipFill>
                <a:blip r:embed="rId15"/>
                <a:stretch>
                  <a:fillRect r="-5952"/>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2" name="TextBox 161">
                <a:extLst>
                  <a:ext uri="{FF2B5EF4-FFF2-40B4-BE49-F238E27FC236}">
                    <a16:creationId xmlns:a16="http://schemas.microsoft.com/office/drawing/2014/main" id="{DF1D3D16-4F7D-4FD0-95EB-E2360401B577}"/>
                  </a:ext>
                </a:extLst>
              </p:cNvPr>
              <p:cNvSpPr txBox="1"/>
              <p:nvPr/>
            </p:nvSpPr>
            <p:spPr>
              <a:xfrm rot="10800000" flipV="1">
                <a:off x="1563081" y="4276991"/>
                <a:ext cx="503989" cy="47607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n-IN" sz="1600" b="0" i="1" smtClean="0">
                              <a:latin typeface="Cambria Math" panose="02040503050406030204" pitchFamily="18" charset="0"/>
                            </a:rPr>
                            <m:t>32</m:t>
                          </m:r>
                        </m:sub>
                      </m:sSub>
                    </m:oMath>
                  </m:oMathPara>
                </a14:m>
                <a:endParaRPr lang="en-IN" sz="1600" dirty="0">
                  <a:latin typeface="Arial Narrow" panose="020B0606020202030204" pitchFamily="34" charset="0"/>
                </a:endParaRPr>
              </a:p>
            </p:txBody>
          </p:sp>
        </mc:Choice>
        <mc:Fallback xmlns="">
          <p:sp>
            <p:nvSpPr>
              <p:cNvPr id="162" name="TextBox 161">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1563081" y="4276991"/>
                <a:ext cx="503989" cy="476071"/>
              </a:xfrm>
              <a:prstGeom prst="ellipse">
                <a:avLst/>
              </a:prstGeom>
              <a:blipFill>
                <a:blip r:embed="rId16"/>
                <a:stretch>
                  <a:fillRect/>
                </a:stretch>
              </a:blipFill>
              <a:ln w="12700">
                <a:solidFill>
                  <a:schemeClr val="tx1"/>
                </a:solidFill>
              </a:ln>
            </p:spPr>
            <p:txBody>
              <a:bodyPr/>
              <a:lstStyle/>
              <a:p>
                <a:r>
                  <a:rPr lang="en-IN">
                    <a:noFill/>
                  </a:rPr>
                  <a:t> </a:t>
                </a:r>
              </a:p>
            </p:txBody>
          </p:sp>
        </mc:Fallback>
      </mc:AlternateContent>
      <p:cxnSp>
        <p:nvCxnSpPr>
          <p:cNvPr id="163" name="Straight Arrow Connector 162">
            <a:extLst>
              <a:ext uri="{FF2B5EF4-FFF2-40B4-BE49-F238E27FC236}">
                <a16:creationId xmlns:a16="http://schemas.microsoft.com/office/drawing/2014/main" id="{47F04F6C-A5DE-48AC-A93E-885D326C2D52}"/>
              </a:ext>
            </a:extLst>
          </p:cNvPr>
          <p:cNvCxnSpPr>
            <a:cxnSpLocks/>
            <a:stCxn id="170" idx="2"/>
            <a:endCxn id="168" idx="3"/>
          </p:cNvCxnSpPr>
          <p:nvPr/>
        </p:nvCxnSpPr>
        <p:spPr>
          <a:xfrm flipV="1">
            <a:off x="6782699" y="4506930"/>
            <a:ext cx="623539" cy="8096"/>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5" name="TextBox 164">
                <a:extLst>
                  <a:ext uri="{FF2B5EF4-FFF2-40B4-BE49-F238E27FC236}">
                    <a16:creationId xmlns:a16="http://schemas.microsoft.com/office/drawing/2014/main" id="{CB478EDF-F147-4A46-ACD7-767B4A547BF2}"/>
                  </a:ext>
                </a:extLst>
              </p:cNvPr>
              <p:cNvSpPr txBox="1"/>
              <p:nvPr/>
            </p:nvSpPr>
            <p:spPr>
              <a:xfrm rot="10800000" flipV="1">
                <a:off x="564369" y="4255350"/>
                <a:ext cx="508127" cy="51935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i="1">
                              <a:latin typeface="Cambria Math" panose="02040503050406030204" pitchFamily="18" charset="0"/>
                            </a:rPr>
                            <m:t>𝑞</m:t>
                          </m:r>
                        </m:e>
                        <m:sub>
                          <m:r>
                            <a:rPr lang="en-IN" b="0" i="1" smtClean="0">
                              <a:latin typeface="Cambria Math" panose="02040503050406030204" pitchFamily="18" charset="0"/>
                            </a:rPr>
                            <m:t>2</m:t>
                          </m:r>
                        </m:sub>
                      </m:sSub>
                    </m:oMath>
                  </m:oMathPara>
                </a14:m>
                <a:endParaRPr lang="en-IN" dirty="0">
                  <a:latin typeface="Arial Narrow" panose="020B0606020202030204" pitchFamily="34" charset="0"/>
                </a:endParaRPr>
              </a:p>
            </p:txBody>
          </p:sp>
        </mc:Choice>
        <mc:Fallback xmlns="">
          <p:sp>
            <p:nvSpPr>
              <p:cNvPr id="165" name="TextBox 164">
                <a:extLst>
                  <a:ext uri="{FF2B5EF4-FFF2-40B4-BE49-F238E27FC236}">
                    <a16:creationId xmlns:a16="http://schemas.microsoft.com/office/drawing/2014/main" id="{CB478EDF-F147-4A46-ACD7-767B4A547BF2}"/>
                  </a:ext>
                </a:extLst>
              </p:cNvPr>
              <p:cNvSpPr txBox="1">
                <a:spLocks noRot="1" noChangeAspect="1" noMove="1" noResize="1" noEditPoints="1" noAdjustHandles="1" noChangeArrowheads="1" noChangeShapeType="1" noTextEdit="1"/>
              </p:cNvSpPr>
              <p:nvPr/>
            </p:nvSpPr>
            <p:spPr>
              <a:xfrm rot="10800000" flipV="1">
                <a:off x="564369" y="4255350"/>
                <a:ext cx="508127" cy="519351"/>
              </a:xfrm>
              <a:prstGeom prst="ellipse">
                <a:avLst/>
              </a:prstGeom>
              <a:blipFill>
                <a:blip r:embed="rId17"/>
                <a:stretch>
                  <a:fillRect/>
                </a:stretch>
              </a:blipFill>
              <a:ln w="12700">
                <a:solidFill>
                  <a:schemeClr val="tx1"/>
                </a:solidFill>
              </a:ln>
            </p:spPr>
            <p:txBody>
              <a:bodyPr/>
              <a:lstStyle/>
              <a:p>
                <a:r>
                  <a:rPr lang="en-IN">
                    <a:noFill/>
                  </a:rPr>
                  <a:t> </a:t>
                </a:r>
              </a:p>
            </p:txBody>
          </p:sp>
        </mc:Fallback>
      </mc:AlternateContent>
      <p:cxnSp>
        <p:nvCxnSpPr>
          <p:cNvPr id="166" name="Straight Arrow Connector 165">
            <a:extLst>
              <a:ext uri="{FF2B5EF4-FFF2-40B4-BE49-F238E27FC236}">
                <a16:creationId xmlns:a16="http://schemas.microsoft.com/office/drawing/2014/main" id="{20C9C6AC-19F5-4564-9E13-1B8D0A63390D}"/>
              </a:ext>
            </a:extLst>
          </p:cNvPr>
          <p:cNvCxnSpPr>
            <a:stCxn id="165" idx="2"/>
            <a:endCxn id="162" idx="6"/>
          </p:cNvCxnSpPr>
          <p:nvPr/>
        </p:nvCxnSpPr>
        <p:spPr>
          <a:xfrm>
            <a:off x="1072496" y="4515026"/>
            <a:ext cx="490585" cy="1"/>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67" name="Straight Arrow Connector 166">
            <a:extLst>
              <a:ext uri="{FF2B5EF4-FFF2-40B4-BE49-F238E27FC236}">
                <a16:creationId xmlns:a16="http://schemas.microsoft.com/office/drawing/2014/main" id="{19A753A8-AD35-4022-B3B3-F8FBEA03A328}"/>
              </a:ext>
            </a:extLst>
          </p:cNvPr>
          <p:cNvCxnSpPr>
            <a:stCxn id="168" idx="1"/>
            <a:endCxn id="169" idx="6"/>
          </p:cNvCxnSpPr>
          <p:nvPr/>
        </p:nvCxnSpPr>
        <p:spPr>
          <a:xfrm>
            <a:off x="8327244" y="4506930"/>
            <a:ext cx="414859" cy="8096"/>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68" name="TextBox 167">
            <a:extLst>
              <a:ext uri="{FF2B5EF4-FFF2-40B4-BE49-F238E27FC236}">
                <a16:creationId xmlns:a16="http://schemas.microsoft.com/office/drawing/2014/main" id="{A3B9A7C8-E18A-4216-ABA7-D4FFF52E7DCF}"/>
              </a:ext>
            </a:extLst>
          </p:cNvPr>
          <p:cNvSpPr txBox="1"/>
          <p:nvPr/>
        </p:nvSpPr>
        <p:spPr>
          <a:xfrm rot="10800000" flipV="1">
            <a:off x="7406238" y="3862404"/>
            <a:ext cx="921006" cy="1289051"/>
          </a:xfrm>
          <a:prstGeom prst="rect">
            <a:avLst/>
          </a:prstGeom>
          <a:noFill/>
          <a:ln>
            <a:solidFill>
              <a:srgbClr val="002060"/>
            </a:solidFill>
          </a:ln>
        </p:spPr>
        <p:txBody>
          <a:bodyPr wrap="square" rtlCol="0" anchor="ctr">
            <a:normAutofit lnSpcReduction="10000"/>
          </a:bodyPr>
          <a:lstStyle>
            <a:defPPr>
              <a:defRPr lang="en-US"/>
            </a:defPPr>
            <a:lvl1pPr algn="ctr">
              <a:defRPr>
                <a:latin typeface="Times New Roman" panose="02020603050405020304" pitchFamily="18" charset="0"/>
                <a:cs typeface="Times New Roman" panose="02020603050405020304" pitchFamily="18" charset="0"/>
              </a:defRPr>
            </a:lvl1pPr>
          </a:lstStyle>
          <a:p>
            <a:r>
              <a:rPr lang="en-IN" sz="1600" dirty="0">
                <a:latin typeface="Arial Narrow" panose="020B0606020202030204" pitchFamily="34" charset="0"/>
              </a:rPr>
              <a:t>Mul</a:t>
            </a:r>
          </a:p>
          <a:p>
            <a:r>
              <a:rPr lang="en-IN" sz="1600" dirty="0">
                <a:latin typeface="Arial Narrow" panose="020B0606020202030204" pitchFamily="34" charset="0"/>
              </a:rPr>
              <a:t> </a:t>
            </a:r>
          </a:p>
          <a:p>
            <a:r>
              <a:rPr lang="en-IN" sz="1600" dirty="0">
                <a:latin typeface="Arial Narrow" panose="020B0606020202030204" pitchFamily="34" charset="0"/>
              </a:rPr>
              <a:t>+</a:t>
            </a:r>
          </a:p>
          <a:p>
            <a:r>
              <a:rPr lang="en-IN" sz="1600" dirty="0">
                <a:latin typeface="Arial Narrow" panose="020B0606020202030204" pitchFamily="34" charset="0"/>
              </a:rPr>
              <a:t>Add</a:t>
            </a:r>
            <a:endParaRPr lang="en-IN" dirty="0">
              <a:latin typeface="Arial Narrow" panose="020B0606020202030204" pitchFamily="34" charset="0"/>
            </a:endParaRPr>
          </a:p>
          <a:p>
            <a:r>
              <a:rPr lang="en-IN" sz="1900" dirty="0">
                <a:latin typeface="Arial Narrow" panose="020B0606020202030204" pitchFamily="34" charset="0"/>
              </a:rPr>
              <a:t>(→)</a:t>
            </a:r>
          </a:p>
        </p:txBody>
      </p:sp>
      <mc:AlternateContent xmlns:mc="http://schemas.openxmlformats.org/markup-compatibility/2006" xmlns:a14="http://schemas.microsoft.com/office/drawing/2010/main">
        <mc:Choice Requires="a14">
          <p:sp>
            <p:nvSpPr>
              <p:cNvPr id="169" name="TextBox 168">
                <a:extLst>
                  <a:ext uri="{FF2B5EF4-FFF2-40B4-BE49-F238E27FC236}">
                    <a16:creationId xmlns:a16="http://schemas.microsoft.com/office/drawing/2014/main" id="{6803D624-9F2D-4CB6-A000-91DDACFD0A2B}"/>
                  </a:ext>
                </a:extLst>
              </p:cNvPr>
              <p:cNvSpPr txBox="1"/>
              <p:nvPr/>
            </p:nvSpPr>
            <p:spPr>
              <a:xfrm rot="10800000" flipV="1">
                <a:off x="8742103" y="4255350"/>
                <a:ext cx="503989" cy="51935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𝑦</m:t>
                          </m:r>
                        </m:e>
                        <m:sub>
                          <m:r>
                            <a:rPr lang="en-IN" i="1">
                              <a:latin typeface="Cambria Math" panose="02040503050406030204" pitchFamily="18" charset="0"/>
                            </a:rPr>
                            <m:t>2</m:t>
                          </m:r>
                        </m:sub>
                      </m:sSub>
                    </m:oMath>
                  </m:oMathPara>
                </a14:m>
                <a:endParaRPr lang="en-IN" dirty="0">
                  <a:latin typeface="Arial Narrow" panose="020B0606020202030204" pitchFamily="34" charset="0"/>
                </a:endParaRPr>
              </a:p>
            </p:txBody>
          </p:sp>
        </mc:Choice>
        <mc:Fallback xmlns="">
          <p:sp>
            <p:nvSpPr>
              <p:cNvPr id="169" name="TextBox 168">
                <a:extLst>
                  <a:ext uri="{FF2B5EF4-FFF2-40B4-BE49-F238E27FC236}">
                    <a16:creationId xmlns:a16="http://schemas.microsoft.com/office/drawing/2014/main" id="{6803D624-9F2D-4CB6-A000-91DDACFD0A2B}"/>
                  </a:ext>
                </a:extLst>
              </p:cNvPr>
              <p:cNvSpPr txBox="1">
                <a:spLocks noRot="1" noChangeAspect="1" noMove="1" noResize="1" noEditPoints="1" noAdjustHandles="1" noChangeArrowheads="1" noChangeShapeType="1" noTextEdit="1"/>
              </p:cNvSpPr>
              <p:nvPr/>
            </p:nvSpPr>
            <p:spPr>
              <a:xfrm rot="10800000" flipV="1">
                <a:off x="8742103" y="4255350"/>
                <a:ext cx="503989" cy="519351"/>
              </a:xfrm>
              <a:prstGeom prst="ellipse">
                <a:avLst/>
              </a:prstGeom>
              <a:blipFill>
                <a:blip r:embed="rId18"/>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0" name="TextBox 169">
                <a:extLst>
                  <a:ext uri="{FF2B5EF4-FFF2-40B4-BE49-F238E27FC236}">
                    <a16:creationId xmlns:a16="http://schemas.microsoft.com/office/drawing/2014/main" id="{AD6D90FF-8B08-44E6-ADD1-B975BDF15677}"/>
                  </a:ext>
                </a:extLst>
              </p:cNvPr>
              <p:cNvSpPr txBox="1"/>
              <p:nvPr/>
            </p:nvSpPr>
            <p:spPr>
              <a:xfrm rot="10800000" flipV="1">
                <a:off x="6278710" y="4269416"/>
                <a:ext cx="503989" cy="491219"/>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𝑎</m:t>
                          </m:r>
                        </m:e>
                        <m:sub>
                          <m:r>
                            <a:rPr lang="en-IN">
                              <a:latin typeface="Cambria Math" panose="02040503050406030204" pitchFamily="18" charset="0"/>
                            </a:rPr>
                            <m:t>1,2</m:t>
                          </m:r>
                        </m:sub>
                      </m:sSub>
                    </m:oMath>
                  </m:oMathPara>
                </a14:m>
                <a:endParaRPr lang="en-IN" dirty="0">
                  <a:latin typeface="Arial Narrow" panose="020B0606020202030204" pitchFamily="34" charset="0"/>
                </a:endParaRPr>
              </a:p>
            </p:txBody>
          </p:sp>
        </mc:Choice>
        <mc:Fallback xmlns="">
          <p:sp>
            <p:nvSpPr>
              <p:cNvPr id="170" name="TextBox 169">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6278710" y="4269416"/>
                <a:ext cx="503989" cy="491219"/>
              </a:xfrm>
              <a:prstGeom prst="ellipse">
                <a:avLst/>
              </a:prstGeom>
              <a:blipFill>
                <a:blip r:embed="rId19"/>
                <a:stretch>
                  <a:fillRect r="-2353"/>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1" name="TextBox 170">
                <a:extLst>
                  <a:ext uri="{FF2B5EF4-FFF2-40B4-BE49-F238E27FC236}">
                    <a16:creationId xmlns:a16="http://schemas.microsoft.com/office/drawing/2014/main" id="{36F03E2E-8229-4DFD-869B-C4F6CF96084E}"/>
                  </a:ext>
                </a:extLst>
              </p:cNvPr>
              <p:cNvSpPr txBox="1"/>
              <p:nvPr/>
            </p:nvSpPr>
            <p:spPr>
              <a:xfrm rot="10800000" flipV="1">
                <a:off x="5723237" y="4269416"/>
                <a:ext cx="503989" cy="491219"/>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𝑎</m:t>
                          </m:r>
                        </m:e>
                        <m:sub>
                          <m:r>
                            <a:rPr lang="en-IN">
                              <a:latin typeface="Cambria Math" panose="02040503050406030204" pitchFamily="18" charset="0"/>
                            </a:rPr>
                            <m:t>2,2</m:t>
                          </m:r>
                        </m:sub>
                      </m:sSub>
                    </m:oMath>
                  </m:oMathPara>
                </a14:m>
                <a:endParaRPr lang="en-IN" dirty="0">
                  <a:latin typeface="Arial Narrow" panose="020B0606020202030204" pitchFamily="34" charset="0"/>
                </a:endParaRPr>
              </a:p>
            </p:txBody>
          </p:sp>
        </mc:Choice>
        <mc:Fallback xmlns="">
          <p:sp>
            <p:nvSpPr>
              <p:cNvPr id="171" name="TextBox 170">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5723237" y="4269416"/>
                <a:ext cx="503989" cy="491219"/>
              </a:xfrm>
              <a:prstGeom prst="ellipse">
                <a:avLst/>
              </a:prstGeom>
              <a:blipFill>
                <a:blip r:embed="rId20"/>
                <a:stretch>
                  <a:fillRect r="-3529"/>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2" name="TextBox 171">
                <a:extLst>
                  <a:ext uri="{FF2B5EF4-FFF2-40B4-BE49-F238E27FC236}">
                    <a16:creationId xmlns:a16="http://schemas.microsoft.com/office/drawing/2014/main" id="{DF1D3D16-4F7D-4FD0-95EB-E2360401B577}"/>
                  </a:ext>
                </a:extLst>
              </p:cNvPr>
              <p:cNvSpPr txBox="1"/>
              <p:nvPr/>
            </p:nvSpPr>
            <p:spPr>
              <a:xfrm rot="10800000" flipV="1">
                <a:off x="5173147" y="4269417"/>
                <a:ext cx="503989" cy="491219"/>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𝑎</m:t>
                          </m:r>
                        </m:e>
                        <m:sub>
                          <m:r>
                            <a:rPr lang="en-IN">
                              <a:latin typeface="Cambria Math" panose="02040503050406030204" pitchFamily="18" charset="0"/>
                            </a:rPr>
                            <m:t>3</m:t>
                          </m:r>
                          <m:r>
                            <a:rPr lang="en-IN" b="0" i="1" smtClean="0">
                              <a:latin typeface="Cambria Math" panose="02040503050406030204" pitchFamily="18" charset="0"/>
                            </a:rPr>
                            <m:t>,</m:t>
                          </m:r>
                          <m:r>
                            <a:rPr lang="en-IN">
                              <a:latin typeface="Cambria Math" panose="02040503050406030204" pitchFamily="18" charset="0"/>
                            </a:rPr>
                            <m:t>2</m:t>
                          </m:r>
                        </m:sub>
                      </m:sSub>
                    </m:oMath>
                  </m:oMathPara>
                </a14:m>
                <a:endParaRPr lang="en-IN" dirty="0">
                  <a:latin typeface="Arial Narrow" panose="020B0606020202030204" pitchFamily="34" charset="0"/>
                </a:endParaRPr>
              </a:p>
            </p:txBody>
          </p:sp>
        </mc:Choice>
        <mc:Fallback xmlns="">
          <p:sp>
            <p:nvSpPr>
              <p:cNvPr id="172" name="TextBox 171">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5173147" y="4269417"/>
                <a:ext cx="503989" cy="491219"/>
              </a:xfrm>
              <a:prstGeom prst="ellipse">
                <a:avLst/>
              </a:prstGeom>
              <a:blipFill>
                <a:blip r:embed="rId21"/>
                <a:stretch>
                  <a:fillRect r="-4762"/>
                </a:stretch>
              </a:blipFill>
              <a:ln w="12700">
                <a:solidFill>
                  <a:schemeClr val="tx1"/>
                </a:solidFill>
              </a:ln>
            </p:spPr>
            <p:txBody>
              <a:bodyPr/>
              <a:lstStyle/>
              <a:p>
                <a:r>
                  <a:rPr lang="en-IN">
                    <a:noFill/>
                  </a:rPr>
                  <a:t> </a:t>
                </a:r>
              </a:p>
            </p:txBody>
          </p:sp>
        </mc:Fallback>
      </mc:AlternateContent>
      <p:cxnSp>
        <p:nvCxnSpPr>
          <p:cNvPr id="173" name="Straight Arrow Connector 172">
            <a:extLst>
              <a:ext uri="{FF2B5EF4-FFF2-40B4-BE49-F238E27FC236}">
                <a16:creationId xmlns:a16="http://schemas.microsoft.com/office/drawing/2014/main" id="{93CE584A-6224-4185-BA7F-7DBE679AAC01}"/>
              </a:ext>
            </a:extLst>
          </p:cNvPr>
          <p:cNvCxnSpPr>
            <a:cxnSpLocks/>
            <a:stCxn id="187" idx="1"/>
            <a:endCxn id="172" idx="6"/>
          </p:cNvCxnSpPr>
          <p:nvPr/>
        </p:nvCxnSpPr>
        <p:spPr>
          <a:xfrm>
            <a:off x="4698766" y="4500956"/>
            <a:ext cx="474381" cy="14071"/>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4" name="TextBox 173">
                <a:extLst>
                  <a:ext uri="{FF2B5EF4-FFF2-40B4-BE49-F238E27FC236}">
                    <a16:creationId xmlns:a16="http://schemas.microsoft.com/office/drawing/2014/main" id="{AD6D90FF-8B08-44E6-ADD1-B975BDF15677}"/>
                  </a:ext>
                </a:extLst>
              </p:cNvPr>
              <p:cNvSpPr txBox="1"/>
              <p:nvPr/>
            </p:nvSpPr>
            <p:spPr>
              <a:xfrm rot="10800000" flipV="1">
                <a:off x="2668644" y="3698912"/>
                <a:ext cx="503989" cy="491219"/>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i="1">
                              <a:latin typeface="Cambria Math" panose="02040503050406030204" pitchFamily="18" charset="0"/>
                            </a:rPr>
                          </m:ctrlPr>
                        </m:sSubPr>
                        <m:e>
                          <m:r>
                            <a:rPr lang="en-IN">
                              <a:latin typeface="Cambria Math" panose="02040503050406030204" pitchFamily="18" charset="0"/>
                            </a:rPr>
                            <m:t>𝛼</m:t>
                          </m:r>
                        </m:e>
                        <m:sub>
                          <m:r>
                            <a:rPr lang="en-IN">
                              <a:latin typeface="Cambria Math" panose="02040503050406030204" pitchFamily="18" charset="0"/>
                            </a:rPr>
                            <m:t>1,3</m:t>
                          </m:r>
                        </m:sub>
                      </m:sSub>
                    </m:oMath>
                  </m:oMathPara>
                </a14:m>
                <a:endParaRPr lang="en-IN" dirty="0">
                  <a:latin typeface="Arial Narrow" panose="020B0606020202030204" pitchFamily="34" charset="0"/>
                </a:endParaRPr>
              </a:p>
            </p:txBody>
          </p:sp>
        </mc:Choice>
        <mc:Fallback xmlns="">
          <p:sp>
            <p:nvSpPr>
              <p:cNvPr id="174" name="TextBox 173">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2668644" y="3698912"/>
                <a:ext cx="503989" cy="491219"/>
              </a:xfrm>
              <a:prstGeom prst="ellipse">
                <a:avLst/>
              </a:prstGeom>
              <a:blipFill>
                <a:blip r:embed="rId22"/>
                <a:stretch>
                  <a:fillRect r="-4762"/>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5" name="TextBox 174">
                <a:extLst>
                  <a:ext uri="{FF2B5EF4-FFF2-40B4-BE49-F238E27FC236}">
                    <a16:creationId xmlns:a16="http://schemas.microsoft.com/office/drawing/2014/main" id="{36F03E2E-8229-4DFD-869B-C4F6CF96084E}"/>
                  </a:ext>
                </a:extLst>
              </p:cNvPr>
              <p:cNvSpPr txBox="1"/>
              <p:nvPr/>
            </p:nvSpPr>
            <p:spPr>
              <a:xfrm rot="10800000" flipV="1">
                <a:off x="2113171" y="3698912"/>
                <a:ext cx="503989" cy="491219"/>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i="1">
                              <a:latin typeface="Cambria Math" panose="02040503050406030204" pitchFamily="18" charset="0"/>
                            </a:rPr>
                          </m:ctrlPr>
                        </m:sSubPr>
                        <m:e>
                          <m:r>
                            <a:rPr lang="en-IN">
                              <a:latin typeface="Cambria Math" panose="02040503050406030204" pitchFamily="18" charset="0"/>
                              <a:ea typeface="Cambria Math" panose="02040503050406030204" pitchFamily="18" charset="0"/>
                              <a:cs typeface="Times New Roman" panose="02020603050405020304" pitchFamily="18" charset="0"/>
                            </a:rPr>
                            <m:t>𝛼</m:t>
                          </m:r>
                        </m:e>
                        <m:sub>
                          <m:r>
                            <a:rPr lang="en-IN">
                              <a:latin typeface="Cambria Math" panose="02040503050406030204" pitchFamily="18" charset="0"/>
                            </a:rPr>
                            <m:t>2,3</m:t>
                          </m:r>
                        </m:sub>
                      </m:sSub>
                    </m:oMath>
                  </m:oMathPara>
                </a14:m>
                <a:endParaRPr lang="en-IN" dirty="0">
                  <a:latin typeface="Arial Narrow" panose="020B0606020202030204" pitchFamily="34" charset="0"/>
                </a:endParaRPr>
              </a:p>
            </p:txBody>
          </p:sp>
        </mc:Choice>
        <mc:Fallback xmlns="">
          <p:sp>
            <p:nvSpPr>
              <p:cNvPr id="175" name="TextBox 174">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2113171" y="3698912"/>
                <a:ext cx="503989" cy="491219"/>
              </a:xfrm>
              <a:prstGeom prst="ellipse">
                <a:avLst/>
              </a:prstGeom>
              <a:blipFill>
                <a:blip r:embed="rId23"/>
                <a:stretch>
                  <a:fillRect r="-5952"/>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6" name="TextBox 175">
                <a:extLst>
                  <a:ext uri="{FF2B5EF4-FFF2-40B4-BE49-F238E27FC236}">
                    <a16:creationId xmlns:a16="http://schemas.microsoft.com/office/drawing/2014/main" id="{DF1D3D16-4F7D-4FD0-95EB-E2360401B577}"/>
                  </a:ext>
                </a:extLst>
              </p:cNvPr>
              <p:cNvSpPr txBox="1"/>
              <p:nvPr/>
            </p:nvSpPr>
            <p:spPr>
              <a:xfrm rot="10800000" flipV="1">
                <a:off x="1563081" y="3706487"/>
                <a:ext cx="503989" cy="47607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n-IN" sz="1600" b="0" i="1" smtClean="0">
                              <a:latin typeface="Cambria Math" panose="02040503050406030204" pitchFamily="18" charset="0"/>
                            </a:rPr>
                            <m:t>33</m:t>
                          </m:r>
                        </m:sub>
                      </m:sSub>
                    </m:oMath>
                  </m:oMathPara>
                </a14:m>
                <a:endParaRPr lang="en-IN" sz="1600" dirty="0">
                  <a:latin typeface="Arial Narrow" panose="020B0606020202030204" pitchFamily="34" charset="0"/>
                </a:endParaRPr>
              </a:p>
            </p:txBody>
          </p:sp>
        </mc:Choice>
        <mc:Fallback xmlns="">
          <p:sp>
            <p:nvSpPr>
              <p:cNvPr id="176" name="TextBox 175">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1563081" y="3706487"/>
                <a:ext cx="503989" cy="476071"/>
              </a:xfrm>
              <a:prstGeom prst="ellipse">
                <a:avLst/>
              </a:prstGeom>
              <a:blipFill>
                <a:blip r:embed="rId24"/>
                <a:stretch>
                  <a:fillRect/>
                </a:stretch>
              </a:blipFill>
              <a:ln w="12700">
                <a:solidFill>
                  <a:schemeClr val="tx1"/>
                </a:solidFill>
              </a:ln>
            </p:spPr>
            <p:txBody>
              <a:bodyPr/>
              <a:lstStyle/>
              <a:p>
                <a:r>
                  <a:rPr lang="en-IN">
                    <a:noFill/>
                  </a:rPr>
                  <a:t> </a:t>
                </a:r>
              </a:p>
            </p:txBody>
          </p:sp>
        </mc:Fallback>
      </mc:AlternateContent>
      <p:cxnSp>
        <p:nvCxnSpPr>
          <p:cNvPr id="177" name="Straight Arrow Connector 176">
            <a:extLst>
              <a:ext uri="{FF2B5EF4-FFF2-40B4-BE49-F238E27FC236}">
                <a16:creationId xmlns:a16="http://schemas.microsoft.com/office/drawing/2014/main" id="{47F04F6C-A5DE-48AC-A93E-885D326C2D52}"/>
              </a:ext>
            </a:extLst>
          </p:cNvPr>
          <p:cNvCxnSpPr>
            <a:cxnSpLocks/>
            <a:stCxn id="183" idx="2"/>
          </p:cNvCxnSpPr>
          <p:nvPr/>
        </p:nvCxnSpPr>
        <p:spPr>
          <a:xfrm>
            <a:off x="6782699" y="3944522"/>
            <a:ext cx="623543" cy="1817"/>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78" name="Straight Arrow Connector 177">
            <a:extLst>
              <a:ext uri="{FF2B5EF4-FFF2-40B4-BE49-F238E27FC236}">
                <a16:creationId xmlns:a16="http://schemas.microsoft.com/office/drawing/2014/main" id="{93CE584A-6224-4185-BA7F-7DBE679AAC01}"/>
              </a:ext>
            </a:extLst>
          </p:cNvPr>
          <p:cNvCxnSpPr>
            <a:cxnSpLocks/>
            <a:stCxn id="174" idx="2"/>
          </p:cNvCxnSpPr>
          <p:nvPr/>
        </p:nvCxnSpPr>
        <p:spPr>
          <a:xfrm flipV="1">
            <a:off x="3172633" y="3941632"/>
            <a:ext cx="495643" cy="2890"/>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9" name="TextBox 178">
                <a:extLst>
                  <a:ext uri="{FF2B5EF4-FFF2-40B4-BE49-F238E27FC236}">
                    <a16:creationId xmlns:a16="http://schemas.microsoft.com/office/drawing/2014/main" id="{CB478EDF-F147-4A46-ACD7-767B4A547BF2}"/>
                  </a:ext>
                </a:extLst>
              </p:cNvPr>
              <p:cNvSpPr txBox="1"/>
              <p:nvPr/>
            </p:nvSpPr>
            <p:spPr>
              <a:xfrm rot="10800000" flipV="1">
                <a:off x="564369" y="3684846"/>
                <a:ext cx="508127" cy="51935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i="1">
                              <a:latin typeface="Cambria Math" panose="02040503050406030204" pitchFamily="18" charset="0"/>
                            </a:rPr>
                            <m:t>𝑞</m:t>
                          </m:r>
                        </m:e>
                        <m:sub>
                          <m:r>
                            <a:rPr lang="en-IN" b="0" i="1" smtClean="0">
                              <a:latin typeface="Cambria Math" panose="02040503050406030204" pitchFamily="18" charset="0"/>
                            </a:rPr>
                            <m:t>3</m:t>
                          </m:r>
                        </m:sub>
                      </m:sSub>
                    </m:oMath>
                  </m:oMathPara>
                </a14:m>
                <a:endParaRPr lang="en-IN" dirty="0">
                  <a:latin typeface="Arial Narrow" panose="020B0606020202030204" pitchFamily="34" charset="0"/>
                </a:endParaRPr>
              </a:p>
            </p:txBody>
          </p:sp>
        </mc:Choice>
        <mc:Fallback xmlns="">
          <p:sp>
            <p:nvSpPr>
              <p:cNvPr id="179" name="TextBox 178">
                <a:extLst>
                  <a:ext uri="{FF2B5EF4-FFF2-40B4-BE49-F238E27FC236}">
                    <a16:creationId xmlns:a16="http://schemas.microsoft.com/office/drawing/2014/main" id="{CB478EDF-F147-4A46-ACD7-767B4A547BF2}"/>
                  </a:ext>
                </a:extLst>
              </p:cNvPr>
              <p:cNvSpPr txBox="1">
                <a:spLocks noRot="1" noChangeAspect="1" noMove="1" noResize="1" noEditPoints="1" noAdjustHandles="1" noChangeArrowheads="1" noChangeShapeType="1" noTextEdit="1"/>
              </p:cNvSpPr>
              <p:nvPr/>
            </p:nvSpPr>
            <p:spPr>
              <a:xfrm rot="10800000" flipV="1">
                <a:off x="564369" y="3684846"/>
                <a:ext cx="508127" cy="519351"/>
              </a:xfrm>
              <a:prstGeom prst="ellipse">
                <a:avLst/>
              </a:prstGeom>
              <a:blipFill>
                <a:blip r:embed="rId25"/>
                <a:stretch>
                  <a:fillRect/>
                </a:stretch>
              </a:blipFill>
              <a:ln w="12700">
                <a:solidFill>
                  <a:schemeClr val="tx1"/>
                </a:solidFill>
              </a:ln>
            </p:spPr>
            <p:txBody>
              <a:bodyPr/>
              <a:lstStyle/>
              <a:p>
                <a:r>
                  <a:rPr lang="en-IN">
                    <a:noFill/>
                  </a:rPr>
                  <a:t> </a:t>
                </a:r>
              </a:p>
            </p:txBody>
          </p:sp>
        </mc:Fallback>
      </mc:AlternateContent>
      <p:cxnSp>
        <p:nvCxnSpPr>
          <p:cNvPr id="180" name="Straight Arrow Connector 179">
            <a:extLst>
              <a:ext uri="{FF2B5EF4-FFF2-40B4-BE49-F238E27FC236}">
                <a16:creationId xmlns:a16="http://schemas.microsoft.com/office/drawing/2014/main" id="{20C9C6AC-19F5-4564-9E13-1B8D0A63390D}"/>
              </a:ext>
            </a:extLst>
          </p:cNvPr>
          <p:cNvCxnSpPr>
            <a:stCxn id="179" idx="2"/>
            <a:endCxn id="176" idx="6"/>
          </p:cNvCxnSpPr>
          <p:nvPr/>
        </p:nvCxnSpPr>
        <p:spPr>
          <a:xfrm>
            <a:off x="1072496" y="3944522"/>
            <a:ext cx="490585" cy="1"/>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81" name="Straight Arrow Connector 180">
            <a:extLst>
              <a:ext uri="{FF2B5EF4-FFF2-40B4-BE49-F238E27FC236}">
                <a16:creationId xmlns:a16="http://schemas.microsoft.com/office/drawing/2014/main" id="{19A753A8-AD35-4022-B3B3-F8FBEA03A328}"/>
              </a:ext>
            </a:extLst>
          </p:cNvPr>
          <p:cNvCxnSpPr>
            <a:endCxn id="182" idx="6"/>
          </p:cNvCxnSpPr>
          <p:nvPr/>
        </p:nvCxnSpPr>
        <p:spPr>
          <a:xfrm flipV="1">
            <a:off x="8325921" y="3944522"/>
            <a:ext cx="416182" cy="1818"/>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2" name="TextBox 181">
                <a:extLst>
                  <a:ext uri="{FF2B5EF4-FFF2-40B4-BE49-F238E27FC236}">
                    <a16:creationId xmlns:a16="http://schemas.microsoft.com/office/drawing/2014/main" id="{6803D624-9F2D-4CB6-A000-91DDACFD0A2B}"/>
                  </a:ext>
                </a:extLst>
              </p:cNvPr>
              <p:cNvSpPr txBox="1"/>
              <p:nvPr/>
            </p:nvSpPr>
            <p:spPr>
              <a:xfrm rot="10800000" flipV="1">
                <a:off x="8742103" y="3684846"/>
                <a:ext cx="503989" cy="51935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𝑦</m:t>
                          </m:r>
                        </m:e>
                        <m:sub>
                          <m:r>
                            <a:rPr lang="en-IN" i="1">
                              <a:latin typeface="Cambria Math" panose="02040503050406030204" pitchFamily="18" charset="0"/>
                            </a:rPr>
                            <m:t>3</m:t>
                          </m:r>
                        </m:sub>
                      </m:sSub>
                    </m:oMath>
                  </m:oMathPara>
                </a14:m>
                <a:endParaRPr lang="en-IN" dirty="0">
                  <a:latin typeface="Arial Narrow" panose="020B0606020202030204" pitchFamily="34" charset="0"/>
                </a:endParaRPr>
              </a:p>
            </p:txBody>
          </p:sp>
        </mc:Choice>
        <mc:Fallback xmlns="">
          <p:sp>
            <p:nvSpPr>
              <p:cNvPr id="182" name="TextBox 181">
                <a:extLst>
                  <a:ext uri="{FF2B5EF4-FFF2-40B4-BE49-F238E27FC236}">
                    <a16:creationId xmlns:a16="http://schemas.microsoft.com/office/drawing/2014/main" id="{6803D624-9F2D-4CB6-A000-91DDACFD0A2B}"/>
                  </a:ext>
                </a:extLst>
              </p:cNvPr>
              <p:cNvSpPr txBox="1">
                <a:spLocks noRot="1" noChangeAspect="1" noMove="1" noResize="1" noEditPoints="1" noAdjustHandles="1" noChangeArrowheads="1" noChangeShapeType="1" noTextEdit="1"/>
              </p:cNvSpPr>
              <p:nvPr/>
            </p:nvSpPr>
            <p:spPr>
              <a:xfrm rot="10800000" flipV="1">
                <a:off x="8742103" y="3684846"/>
                <a:ext cx="503989" cy="519351"/>
              </a:xfrm>
              <a:prstGeom prst="ellipse">
                <a:avLst/>
              </a:prstGeom>
              <a:blipFill>
                <a:blip r:embed="rId26"/>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3" name="TextBox 182">
                <a:extLst>
                  <a:ext uri="{FF2B5EF4-FFF2-40B4-BE49-F238E27FC236}">
                    <a16:creationId xmlns:a16="http://schemas.microsoft.com/office/drawing/2014/main" id="{AD6D90FF-8B08-44E6-ADD1-B975BDF15677}"/>
                  </a:ext>
                </a:extLst>
              </p:cNvPr>
              <p:cNvSpPr txBox="1"/>
              <p:nvPr/>
            </p:nvSpPr>
            <p:spPr>
              <a:xfrm rot="10800000" flipV="1">
                <a:off x="6278710" y="3698912"/>
                <a:ext cx="503989" cy="491219"/>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𝑎</m:t>
                          </m:r>
                        </m:e>
                        <m:sub>
                          <m:r>
                            <a:rPr lang="en-IN">
                              <a:latin typeface="Cambria Math" panose="02040503050406030204" pitchFamily="18" charset="0"/>
                            </a:rPr>
                            <m:t>1,3</m:t>
                          </m:r>
                        </m:sub>
                      </m:sSub>
                    </m:oMath>
                  </m:oMathPara>
                </a14:m>
                <a:endParaRPr lang="en-IN" dirty="0">
                  <a:latin typeface="Arial Narrow" panose="020B0606020202030204" pitchFamily="34" charset="0"/>
                </a:endParaRPr>
              </a:p>
            </p:txBody>
          </p:sp>
        </mc:Choice>
        <mc:Fallback xmlns="">
          <p:sp>
            <p:nvSpPr>
              <p:cNvPr id="183" name="TextBox 182">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6278710" y="3698912"/>
                <a:ext cx="503989" cy="491219"/>
              </a:xfrm>
              <a:prstGeom prst="ellipse">
                <a:avLst/>
              </a:prstGeom>
              <a:blipFill>
                <a:blip r:embed="rId27"/>
                <a:stretch>
                  <a:fillRect r="-2353"/>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36F03E2E-8229-4DFD-869B-C4F6CF96084E}"/>
                  </a:ext>
                </a:extLst>
              </p:cNvPr>
              <p:cNvSpPr txBox="1"/>
              <p:nvPr/>
            </p:nvSpPr>
            <p:spPr>
              <a:xfrm rot="10800000" flipV="1">
                <a:off x="5723237" y="3698912"/>
                <a:ext cx="503989" cy="491219"/>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𝑎</m:t>
                          </m:r>
                        </m:e>
                        <m:sub>
                          <m:r>
                            <a:rPr lang="en-IN">
                              <a:latin typeface="Cambria Math" panose="02040503050406030204" pitchFamily="18" charset="0"/>
                            </a:rPr>
                            <m:t>2,3</m:t>
                          </m:r>
                        </m:sub>
                      </m:sSub>
                    </m:oMath>
                  </m:oMathPara>
                </a14:m>
                <a:endParaRPr lang="en-IN" dirty="0">
                  <a:latin typeface="Arial Narrow" panose="020B0606020202030204" pitchFamily="34" charset="0"/>
                </a:endParaRPr>
              </a:p>
            </p:txBody>
          </p:sp>
        </mc:Choice>
        <mc:Fallback xmlns="">
          <p:sp>
            <p:nvSpPr>
              <p:cNvPr id="184" name="TextBox 183">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5723237" y="3698912"/>
                <a:ext cx="503989" cy="491219"/>
              </a:xfrm>
              <a:prstGeom prst="ellipse">
                <a:avLst/>
              </a:prstGeom>
              <a:blipFill>
                <a:blip r:embed="rId28"/>
                <a:stretch>
                  <a:fillRect r="-3529"/>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5" name="TextBox 184">
                <a:extLst>
                  <a:ext uri="{FF2B5EF4-FFF2-40B4-BE49-F238E27FC236}">
                    <a16:creationId xmlns:a16="http://schemas.microsoft.com/office/drawing/2014/main" id="{DF1D3D16-4F7D-4FD0-95EB-E2360401B577}"/>
                  </a:ext>
                </a:extLst>
              </p:cNvPr>
              <p:cNvSpPr txBox="1"/>
              <p:nvPr/>
            </p:nvSpPr>
            <p:spPr>
              <a:xfrm rot="10800000" flipV="1">
                <a:off x="5173147" y="3698913"/>
                <a:ext cx="503989" cy="491219"/>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𝑎</m:t>
                          </m:r>
                        </m:e>
                        <m:sub>
                          <m:r>
                            <a:rPr lang="en-IN">
                              <a:latin typeface="Cambria Math" panose="02040503050406030204" pitchFamily="18" charset="0"/>
                            </a:rPr>
                            <m:t>3</m:t>
                          </m:r>
                          <m:r>
                            <a:rPr lang="en-IN" b="0" i="1" smtClean="0">
                              <a:latin typeface="Cambria Math" panose="02040503050406030204" pitchFamily="18" charset="0"/>
                            </a:rPr>
                            <m:t>,</m:t>
                          </m:r>
                          <m:r>
                            <a:rPr lang="en-IN">
                              <a:latin typeface="Cambria Math" panose="02040503050406030204" pitchFamily="18" charset="0"/>
                            </a:rPr>
                            <m:t>3</m:t>
                          </m:r>
                        </m:sub>
                      </m:sSub>
                    </m:oMath>
                  </m:oMathPara>
                </a14:m>
                <a:endParaRPr lang="en-IN" dirty="0">
                  <a:latin typeface="Arial Narrow" panose="020B0606020202030204" pitchFamily="34" charset="0"/>
                </a:endParaRPr>
              </a:p>
            </p:txBody>
          </p:sp>
        </mc:Choice>
        <mc:Fallback xmlns="">
          <p:sp>
            <p:nvSpPr>
              <p:cNvPr id="185" name="TextBox 184">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5173147" y="3698913"/>
                <a:ext cx="503989" cy="491219"/>
              </a:xfrm>
              <a:prstGeom prst="ellipse">
                <a:avLst/>
              </a:prstGeom>
              <a:blipFill>
                <a:blip r:embed="rId29"/>
                <a:stretch>
                  <a:fillRect r="-4762"/>
                </a:stretch>
              </a:blipFill>
              <a:ln w="12700">
                <a:solidFill>
                  <a:schemeClr val="tx1"/>
                </a:solidFill>
              </a:ln>
            </p:spPr>
            <p:txBody>
              <a:bodyPr/>
              <a:lstStyle/>
              <a:p>
                <a:r>
                  <a:rPr lang="en-IN">
                    <a:noFill/>
                  </a:rPr>
                  <a:t> </a:t>
                </a:r>
              </a:p>
            </p:txBody>
          </p:sp>
        </mc:Fallback>
      </mc:AlternateContent>
      <p:cxnSp>
        <p:nvCxnSpPr>
          <p:cNvPr id="186" name="Straight Arrow Connector 185">
            <a:extLst>
              <a:ext uri="{FF2B5EF4-FFF2-40B4-BE49-F238E27FC236}">
                <a16:creationId xmlns:a16="http://schemas.microsoft.com/office/drawing/2014/main" id="{93CE584A-6224-4185-BA7F-7DBE679AAC01}"/>
              </a:ext>
            </a:extLst>
          </p:cNvPr>
          <p:cNvCxnSpPr>
            <a:cxnSpLocks/>
            <a:endCxn id="185" idx="6"/>
          </p:cNvCxnSpPr>
          <p:nvPr/>
        </p:nvCxnSpPr>
        <p:spPr>
          <a:xfrm>
            <a:off x="4684665" y="3940625"/>
            <a:ext cx="488482" cy="3898"/>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87" name="TextBox 186">
            <a:extLst>
              <a:ext uri="{FF2B5EF4-FFF2-40B4-BE49-F238E27FC236}">
                <a16:creationId xmlns:a16="http://schemas.microsoft.com/office/drawing/2014/main" id="{9F7A9C69-BDD0-4A8F-93A2-06B1642E46C3}"/>
              </a:ext>
            </a:extLst>
          </p:cNvPr>
          <p:cNvSpPr txBox="1"/>
          <p:nvPr/>
        </p:nvSpPr>
        <p:spPr>
          <a:xfrm rot="10800000" flipV="1">
            <a:off x="3657822" y="3856431"/>
            <a:ext cx="1040944" cy="1289050"/>
          </a:xfrm>
          <a:prstGeom prst="rect">
            <a:avLst/>
          </a:prstGeom>
          <a:noFill/>
          <a:ln>
            <a:solidFill>
              <a:srgbClr val="002060"/>
            </a:solidFill>
          </a:ln>
        </p:spPr>
        <p:txBody>
          <a:bodyPr wrap="square" rtlCol="0" anchor="t">
            <a:normAutofit/>
          </a:bodyPr>
          <a:lstStyle/>
          <a:p>
            <a:endParaRPr lang="en-IN" dirty="0">
              <a:latin typeface="Arial Narrow" panose="020B0606020202030204" pitchFamily="34" charset="0"/>
              <a:cs typeface="Times New Roman" panose="02020603050405020304" pitchFamily="18" charset="0"/>
            </a:endParaRPr>
          </a:p>
          <a:p>
            <a:pPr algn="ctr"/>
            <a:r>
              <a:rPr lang="en-IN" dirty="0" err="1">
                <a:latin typeface="Arial Narrow" panose="020B0606020202030204" pitchFamily="34" charset="0"/>
                <a:cs typeface="Times New Roman" panose="02020603050405020304" pitchFamily="18" charset="0"/>
              </a:rPr>
              <a:t>Softmax</a:t>
            </a:r>
            <a:r>
              <a:rPr lang="en-IN" sz="2400" dirty="0">
                <a:latin typeface="Arial Narrow" panose="020B0606020202030204" pitchFamily="34" charset="0"/>
                <a:cs typeface="Times New Roman" panose="02020603050405020304" pitchFamily="18" charset="0"/>
              </a:rPr>
              <a:t>()</a:t>
            </a:r>
          </a:p>
          <a:p>
            <a:pPr algn="ctr"/>
            <a:r>
              <a:rPr lang="en-IN" dirty="0">
                <a:latin typeface="Arial Narrow" panose="020B0606020202030204" pitchFamily="34" charset="0"/>
                <a:cs typeface="Times New Roman" panose="02020603050405020304" pitchFamily="18" charset="0"/>
              </a:rPr>
              <a:t>(→)</a:t>
            </a:r>
          </a:p>
          <a:p>
            <a:endParaRPr lang="en-IN" dirty="0">
              <a:latin typeface="Arial Narrow" panose="020B0606020202030204" pitchFamily="34" charset="0"/>
              <a:cs typeface="Times New Roman" panose="02020603050405020304" pitchFamily="18" charset="0"/>
            </a:endParaRPr>
          </a:p>
          <a:p>
            <a:pPr algn="ctr"/>
            <a:endParaRPr lang="en-IN" dirty="0">
              <a:latin typeface="Arial Narrow" panose="020B0606020202030204" pitchFamily="34" charset="0"/>
              <a:cs typeface="Times New Roman" panose="02020603050405020304" pitchFamily="18" charset="0"/>
            </a:endParaRPr>
          </a:p>
        </p:txBody>
      </p:sp>
      <p:sp>
        <p:nvSpPr>
          <p:cNvPr id="188" name="Rectangle 187"/>
          <p:cNvSpPr/>
          <p:nvPr/>
        </p:nvSpPr>
        <p:spPr>
          <a:xfrm rot="10800000">
            <a:off x="7654183" y="4131644"/>
            <a:ext cx="425116" cy="369332"/>
          </a:xfrm>
          <a:prstGeom prst="rect">
            <a:avLst/>
          </a:prstGeom>
        </p:spPr>
        <p:txBody>
          <a:bodyPr wrap="none">
            <a:spAutoFit/>
          </a:bodyPr>
          <a:lstStyle/>
          <a:p>
            <a:pPr algn="ctr"/>
            <a:r>
              <a:rPr lang="en-IN" dirty="0">
                <a:latin typeface="Arial Narrow" panose="020B0606020202030204" pitchFamily="34" charset="0"/>
                <a:cs typeface="Times New Roman" panose="02020603050405020304" pitchFamily="18" charset="0"/>
              </a:rPr>
              <a:t>(↑)</a:t>
            </a:r>
          </a:p>
        </p:txBody>
      </p:sp>
      <p:cxnSp>
        <p:nvCxnSpPr>
          <p:cNvPr id="70" name="Straight Arrow Connector 69">
            <a:extLst>
              <a:ext uri="{FF2B5EF4-FFF2-40B4-BE49-F238E27FC236}">
                <a16:creationId xmlns:a16="http://schemas.microsoft.com/office/drawing/2014/main" id="{F8FD12FF-1EBC-4E0E-92A7-7429CF011CED}"/>
              </a:ext>
            </a:extLst>
          </p:cNvPr>
          <p:cNvCxnSpPr>
            <a:cxnSpLocks/>
          </p:cNvCxnSpPr>
          <p:nvPr/>
        </p:nvCxnSpPr>
        <p:spPr>
          <a:xfrm flipV="1">
            <a:off x="3183441" y="4499511"/>
            <a:ext cx="495643" cy="2890"/>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BE7E33E2-78F9-408C-86A6-AA8A4C5D24DB}"/>
              </a:ext>
            </a:extLst>
          </p:cNvPr>
          <p:cNvCxnSpPr>
            <a:cxnSpLocks/>
          </p:cNvCxnSpPr>
          <p:nvPr/>
        </p:nvCxnSpPr>
        <p:spPr>
          <a:xfrm flipV="1">
            <a:off x="3172633" y="5050936"/>
            <a:ext cx="495643" cy="2890"/>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81189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7190B70-B6C8-46D0-BE48-84FC6BEFAB4B}"/>
              </a:ext>
            </a:extLst>
          </p:cNvPr>
          <p:cNvSpPr>
            <a:spLocks noGrp="1"/>
          </p:cNvSpPr>
          <p:nvPr>
            <p:ph idx="1"/>
          </p:nvPr>
        </p:nvSpPr>
        <p:spPr>
          <a:xfrm>
            <a:off x="465436" y="1547719"/>
            <a:ext cx="10515600" cy="4351338"/>
          </a:xfrm>
        </p:spPr>
        <p:txBody>
          <a:bodyPr>
            <a:normAutofit/>
          </a:bodyPr>
          <a:lstStyle/>
          <a:p>
            <a:pPr algn="just"/>
            <a:r>
              <a:rPr lang="en-US" sz="2000" dirty="0">
                <a:latin typeface="Arial Narrow" panose="020B0606020202030204" pitchFamily="34" charset="0"/>
              </a:rPr>
              <a:t>In the attention mechanism of a Transformer</a:t>
            </a:r>
            <a:r>
              <a:rPr lang="en-US" sz="2000" dirty="0">
                <a:solidFill>
                  <a:srgbClr val="7030A0"/>
                </a:solidFill>
                <a:latin typeface="Arial Narrow" panose="020B0606020202030204" pitchFamily="34" charset="0"/>
              </a:rPr>
              <a:t>, the same input representations may initially be used both to determine the alignment between tokens by computing attention scores and to generate the final attention output.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However, using a single representation for both purposes can </a:t>
            </a:r>
            <a:r>
              <a:rPr lang="en-US" sz="2000" dirty="0">
                <a:solidFill>
                  <a:srgbClr val="7030A0"/>
                </a:solidFill>
                <a:latin typeface="Arial Narrow" panose="020B0606020202030204" pitchFamily="34" charset="0"/>
              </a:rPr>
              <a:t>limit the model’s flexibility and expressive capacity</a:t>
            </a:r>
            <a:r>
              <a:rPr lang="en-US" sz="2000" dirty="0">
                <a:latin typeface="Arial Narrow" panose="020B0606020202030204" pitchFamily="34" charset="0"/>
              </a:rPr>
              <a:t>. </a:t>
            </a:r>
          </a:p>
          <a:p>
            <a:pPr algn="just"/>
            <a:endParaRPr lang="en-US" sz="2000" dirty="0">
              <a:latin typeface="Arial Narrow" panose="020B0606020202030204" pitchFamily="34" charset="0"/>
            </a:endParaRPr>
          </a:p>
          <a:p>
            <a:pPr algn="just"/>
            <a:r>
              <a:rPr lang="en-US" sz="2000" dirty="0">
                <a:solidFill>
                  <a:srgbClr val="7030A0"/>
                </a:solidFill>
                <a:latin typeface="Arial Narrow" panose="020B0606020202030204" pitchFamily="34" charset="0"/>
              </a:rPr>
              <a:t>To overcome this limitation, separate fully connected (FC) linear transformations are applied to the input representations</a:t>
            </a:r>
            <a:r>
              <a:rPr lang="en-US" sz="2000" dirty="0">
                <a:latin typeface="Arial Narrow" panose="020B0606020202030204" pitchFamily="34" charset="0"/>
              </a:rPr>
              <a:t> to produce distinct representations for different roles within the attention mechanism.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This allows the model to learn specialized projections for computing attention scores and generating the final output, thereby increasing the </a:t>
            </a:r>
            <a:r>
              <a:rPr lang="en-US" sz="2000" dirty="0">
                <a:solidFill>
                  <a:srgbClr val="7030A0"/>
                </a:solidFill>
                <a:latin typeface="Arial Narrow" panose="020B0606020202030204" pitchFamily="34" charset="0"/>
              </a:rPr>
              <a:t>expressive power and flexibility of the layer</a:t>
            </a:r>
            <a:r>
              <a:rPr lang="en-US" sz="2000" dirty="0">
                <a:latin typeface="Arial Narrow" panose="020B0606020202030204" pitchFamily="34" charset="0"/>
              </a:rPr>
              <a:t>.</a:t>
            </a:r>
            <a:endParaRPr lang="en-IN" sz="2000" dirty="0">
              <a:latin typeface="Arial Narrow" panose="020B0606020202030204" pitchFamily="34" charset="0"/>
            </a:endParaRPr>
          </a:p>
        </p:txBody>
      </p:sp>
      <p:sp>
        <p:nvSpPr>
          <p:cNvPr id="5" name="Title 3">
            <a:extLst>
              <a:ext uri="{FF2B5EF4-FFF2-40B4-BE49-F238E27FC236}">
                <a16:creationId xmlns:a16="http://schemas.microsoft.com/office/drawing/2014/main" id="{54DE1074-C6B0-44DB-9EE1-7D4F21BEF808}"/>
              </a:ext>
            </a:extLst>
          </p:cNvPr>
          <p:cNvSpPr>
            <a:spLocks noGrp="1"/>
          </p:cNvSpPr>
          <p:nvPr>
            <p:ph type="title"/>
          </p:nvPr>
        </p:nvSpPr>
        <p:spPr>
          <a:xfrm>
            <a:off x="465436" y="257405"/>
            <a:ext cx="10515600" cy="859910"/>
          </a:xfrm>
        </p:spPr>
        <p:txBody>
          <a:bodyPr>
            <a:normAutofit/>
          </a:bodyPr>
          <a:lstStyle/>
          <a:p>
            <a:r>
              <a:rPr lang="en-IN" sz="3200" dirty="0">
                <a:latin typeface="Century" panose="02040604050505020304" pitchFamily="18" charset="0"/>
              </a:rPr>
              <a:t>Attention Layer</a:t>
            </a:r>
          </a:p>
        </p:txBody>
      </p:sp>
      <p:sp>
        <p:nvSpPr>
          <p:cNvPr id="6" name="TextBox 5">
            <a:extLst>
              <a:ext uri="{FF2B5EF4-FFF2-40B4-BE49-F238E27FC236}">
                <a16:creationId xmlns:a16="http://schemas.microsoft.com/office/drawing/2014/main" id="{E6162A80-6260-4EC2-97B6-97D7C3E59767}"/>
              </a:ext>
            </a:extLst>
          </p:cNvPr>
          <p:cNvSpPr txBox="1"/>
          <p:nvPr/>
        </p:nvSpPr>
        <p:spPr>
          <a:xfrm>
            <a:off x="6787754" y="6506941"/>
            <a:ext cx="5610225" cy="307777"/>
          </a:xfrm>
          <a:prstGeom prst="rect">
            <a:avLst/>
          </a:prstGeom>
          <a:noFill/>
        </p:spPr>
        <p:txBody>
          <a:bodyPr wrap="square" rtlCol="0">
            <a:spAutoFit/>
          </a:bodyPr>
          <a:lstStyle/>
          <a:p>
            <a:r>
              <a:rPr lang="en-IN" sz="1400" dirty="0">
                <a:latin typeface="Arial Narrow" panose="020B0606020202030204" pitchFamily="34" charset="0"/>
                <a:cs typeface="Times New Roman" panose="02020603050405020304" pitchFamily="18" charset="0"/>
              </a:rPr>
              <a:t>Concept: Fei-Fei Li Attention and Transformers CS231n Stanford Lecture</a:t>
            </a:r>
          </a:p>
        </p:txBody>
      </p:sp>
    </p:spTree>
    <p:extLst>
      <p:ext uri="{BB962C8B-B14F-4D97-AF65-F5344CB8AC3E}">
        <p14:creationId xmlns:p14="http://schemas.microsoft.com/office/powerpoint/2010/main" val="19389976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Rectangle 162">
            <a:extLst>
              <a:ext uri="{FF2B5EF4-FFF2-40B4-BE49-F238E27FC236}">
                <a16:creationId xmlns:a16="http://schemas.microsoft.com/office/drawing/2014/main" id="{46F5E6D9-AABE-429A-B7CE-DA39BE1C299D}"/>
              </a:ext>
            </a:extLst>
          </p:cNvPr>
          <p:cNvSpPr/>
          <p:nvPr/>
        </p:nvSpPr>
        <p:spPr>
          <a:xfrm>
            <a:off x="2143677" y="2878394"/>
            <a:ext cx="1966568" cy="3363126"/>
          </a:xfrm>
          <a:prstGeom prst="rect">
            <a:avLst/>
          </a:prstGeom>
          <a:solidFill>
            <a:schemeClr val="accent2">
              <a:lumMod val="40000"/>
              <a:lumOff val="60000"/>
              <a:alpha val="2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62" name="Rectangle 161">
            <a:extLst>
              <a:ext uri="{FF2B5EF4-FFF2-40B4-BE49-F238E27FC236}">
                <a16:creationId xmlns:a16="http://schemas.microsoft.com/office/drawing/2014/main" id="{8A56BDC0-6E74-488E-9838-E476DF6F54A8}"/>
              </a:ext>
            </a:extLst>
          </p:cNvPr>
          <p:cNvSpPr/>
          <p:nvPr/>
        </p:nvSpPr>
        <p:spPr>
          <a:xfrm>
            <a:off x="5774963" y="2878394"/>
            <a:ext cx="1888850" cy="3363126"/>
          </a:xfrm>
          <a:prstGeom prst="rect">
            <a:avLst/>
          </a:prstGeom>
          <a:solidFill>
            <a:schemeClr val="accent2">
              <a:lumMod val="40000"/>
              <a:lumOff val="60000"/>
              <a:alpha val="2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cxnSp>
        <p:nvCxnSpPr>
          <p:cNvPr id="58" name="Straight Connector 57">
            <a:extLst>
              <a:ext uri="{FF2B5EF4-FFF2-40B4-BE49-F238E27FC236}">
                <a16:creationId xmlns:a16="http://schemas.microsoft.com/office/drawing/2014/main" id="{1B0BBDC5-3F7A-42D8-B1E5-54F450CE7F0A}"/>
              </a:ext>
            </a:extLst>
          </p:cNvPr>
          <p:cNvCxnSpPr/>
          <p:nvPr/>
        </p:nvCxnSpPr>
        <p:spPr>
          <a:xfrm>
            <a:off x="6192528" y="363685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814A0750-898F-4132-B31D-6BB41D3260C4}"/>
              </a:ext>
            </a:extLst>
          </p:cNvPr>
          <p:cNvSpPr txBox="1"/>
          <p:nvPr/>
        </p:nvSpPr>
        <p:spPr>
          <a:xfrm>
            <a:off x="9369549" y="4869063"/>
            <a:ext cx="2655662" cy="830997"/>
          </a:xfrm>
          <a:prstGeom prst="rect">
            <a:avLst/>
          </a:prstGeom>
          <a:noFill/>
        </p:spPr>
        <p:txBody>
          <a:bodyPr wrap="square" rtlCol="0">
            <a:spAutoFit/>
          </a:bodyPr>
          <a:lstStyle/>
          <a:p>
            <a:r>
              <a:rPr lang="en-IN" sz="1600" dirty="0">
                <a:latin typeface="Arial Narrow" panose="020B0606020202030204" pitchFamily="34" charset="0"/>
                <a:cs typeface="Times New Roman" panose="02020603050405020304" pitchFamily="18" charset="0"/>
              </a:rPr>
              <a:t>Output:</a:t>
            </a:r>
          </a:p>
          <a:p>
            <a:r>
              <a:rPr lang="en-IN" sz="1600" dirty="0">
                <a:latin typeface="Arial Narrow" panose="020B0606020202030204" pitchFamily="34" charset="0"/>
                <a:cs typeface="Times New Roman" panose="02020603050405020304" pitchFamily="18" charset="0"/>
              </a:rPr>
              <a:t>Context Vector y </a:t>
            </a:r>
          </a:p>
          <a:p>
            <a:r>
              <a:rPr lang="en-IN" sz="1600" dirty="0">
                <a:latin typeface="Arial Narrow" panose="020B0606020202030204" pitchFamily="34" charset="0"/>
                <a:cs typeface="Times New Roman" panose="02020603050405020304" pitchFamily="18" charset="0"/>
              </a:rPr>
              <a:t>(Dimension : D)</a:t>
            </a:r>
          </a:p>
        </p:txBody>
      </p:sp>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5253E52A-CF0A-405D-9D6C-C42BAE0717AA}"/>
                  </a:ext>
                </a:extLst>
              </p:cNvPr>
              <p:cNvSpPr txBox="1"/>
              <p:nvPr/>
            </p:nvSpPr>
            <p:spPr>
              <a:xfrm>
                <a:off x="6069907" y="1337249"/>
                <a:ext cx="3187812" cy="1153970"/>
              </a:xfrm>
              <a:prstGeom prst="rect">
                <a:avLst/>
              </a:prstGeom>
              <a:noFill/>
            </p:spPr>
            <p:txBody>
              <a:bodyPr wrap="square" rtlCol="0">
                <a:spAutoFit/>
              </a:bodyPr>
              <a:lstStyle/>
              <a:p>
                <a:r>
                  <a:rPr lang="en-IN" sz="1600" dirty="0">
                    <a:latin typeface="Arial Narrow" panose="020B0606020202030204" pitchFamily="34" charset="0"/>
                    <a:cs typeface="Times New Roman" panose="02020603050405020304" pitchFamily="18" charset="0"/>
                  </a:rPr>
                  <a:t>Operations:</a:t>
                </a:r>
              </a:p>
              <a:p>
                <a:r>
                  <a:rPr lang="en-IN" sz="1600" dirty="0">
                    <a:latin typeface="Arial Narrow" panose="020B0606020202030204" pitchFamily="34" charset="0"/>
                    <a:cs typeface="Times New Roman" panose="02020603050405020304" pitchFamily="18" charset="0"/>
                  </a:rPr>
                  <a:t>Alignment: </a:t>
                </a:r>
                <a14:m>
                  <m:oMath xmlns:m="http://schemas.openxmlformats.org/officeDocument/2006/math">
                    <m:sSub>
                      <m:sSubPr>
                        <m:ctrlPr>
                          <a:rPr lang="en-US" sz="1600" i="1" smtClean="0">
                            <a:latin typeface="Cambria Math" panose="02040503050406030204" pitchFamily="18" charset="0"/>
                            <a:cs typeface="Times New Roman" panose="02020603050405020304" pitchFamily="18" charset="0"/>
                          </a:rPr>
                        </m:ctrlPr>
                      </m:sSubPr>
                      <m:e>
                        <m:r>
                          <a:rPr lang="en-IN" sz="1600"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n-IN" sz="1600" i="1">
                            <a:latin typeface="Cambria Math" panose="02040503050406030204" pitchFamily="18" charset="0"/>
                            <a:cs typeface="Times New Roman" panose="02020603050405020304" pitchFamily="18" charset="0"/>
                          </a:rPr>
                          <m:t>𝑖</m:t>
                        </m:r>
                        <m:r>
                          <a:rPr lang="en-IN" sz="1600" b="0" i="1" smtClean="0">
                            <a:latin typeface="Cambria Math" panose="02040503050406030204" pitchFamily="18" charset="0"/>
                            <a:cs typeface="Times New Roman" panose="02020603050405020304" pitchFamily="18" charset="0"/>
                          </a:rPr>
                          <m:t>𝑗</m:t>
                        </m:r>
                      </m:sub>
                    </m:sSub>
                    <m:r>
                      <a:rPr lang="en-IN" sz="1600" i="1">
                        <a:latin typeface="Cambria Math" panose="02040503050406030204" pitchFamily="18" charset="0"/>
                        <a:cs typeface="Times New Roman" panose="02020603050405020304" pitchFamily="18" charset="0"/>
                      </a:rPr>
                      <m:t>=</m:t>
                    </m:r>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𝑞</m:t>
                        </m:r>
                      </m:e>
                      <m:sub>
                        <m:r>
                          <a:rPr lang="en-IN" sz="1600" b="0" i="1" smtClean="0">
                            <a:latin typeface="Cambria Math" panose="02040503050406030204" pitchFamily="18" charset="0"/>
                          </a:rPr>
                          <m:t>𝑗</m:t>
                        </m:r>
                      </m:sub>
                    </m:sSub>
                    <m:r>
                      <a:rPr lang="en-IN" sz="1600" b="0" i="1" smtClean="0">
                        <a:latin typeface="Cambria Math" panose="02040503050406030204" pitchFamily="18" charset="0"/>
                        <a:cs typeface="Times New Roman" panose="02020603050405020304" pitchFamily="18" charset="0"/>
                      </a:rPr>
                      <m:t>.</m:t>
                    </m:r>
                    <m:sSub>
                      <m:sSubPr>
                        <m:ctrlPr>
                          <a:rPr lang="en-IN" sz="1600" i="1" dirty="0" smtClean="0">
                            <a:latin typeface="Cambria Math" panose="02040503050406030204" pitchFamily="18" charset="0"/>
                            <a:cs typeface="Times New Roman" panose="02020603050405020304" pitchFamily="18" charset="0"/>
                          </a:rPr>
                        </m:ctrlPr>
                      </m:sSubPr>
                      <m:e>
                        <m:r>
                          <a:rPr lang="en-IN" sz="1600" b="0" i="1" dirty="0" smtClean="0">
                            <a:latin typeface="Cambria Math" panose="02040503050406030204" pitchFamily="18" charset="0"/>
                            <a:cs typeface="Times New Roman" panose="02020603050405020304" pitchFamily="18" charset="0"/>
                          </a:rPr>
                          <m:t>𝑥</m:t>
                        </m:r>
                      </m:e>
                      <m:sub>
                        <m:r>
                          <a:rPr lang="en-IN" sz="1600" b="0" i="1" dirty="0" smtClean="0">
                            <a:latin typeface="Cambria Math" panose="02040503050406030204" pitchFamily="18" charset="0"/>
                            <a:cs typeface="Times New Roman" panose="02020603050405020304" pitchFamily="18" charset="0"/>
                          </a:rPr>
                          <m:t>𝑖</m:t>
                        </m:r>
                      </m:sub>
                    </m:sSub>
                    <m:r>
                      <a:rPr lang="en-IN" sz="1600" b="0" i="1" dirty="0" smtClean="0">
                        <a:latin typeface="Cambria Math" panose="02040503050406030204" pitchFamily="18" charset="0"/>
                        <a:cs typeface="Times New Roman" panose="02020603050405020304" pitchFamily="18" charset="0"/>
                      </a:rPr>
                      <m:t>/</m:t>
                    </m:r>
                    <m:rad>
                      <m:radPr>
                        <m:degHide m:val="on"/>
                        <m:ctrlPr>
                          <a:rPr lang="en-IN" sz="1600" b="0" i="1" dirty="0" smtClean="0">
                            <a:latin typeface="Cambria Math" panose="02040503050406030204" pitchFamily="18" charset="0"/>
                            <a:cs typeface="Times New Roman" panose="02020603050405020304" pitchFamily="18" charset="0"/>
                          </a:rPr>
                        </m:ctrlPr>
                      </m:radPr>
                      <m:deg/>
                      <m:e>
                        <m:r>
                          <a:rPr lang="en-IN" sz="1600" b="0" i="1" dirty="0" smtClean="0">
                            <a:latin typeface="Cambria Math" panose="02040503050406030204" pitchFamily="18" charset="0"/>
                            <a:cs typeface="Times New Roman" panose="02020603050405020304" pitchFamily="18" charset="0"/>
                          </a:rPr>
                          <m:t>𝐷</m:t>
                        </m:r>
                      </m:e>
                    </m:rad>
                  </m:oMath>
                </a14:m>
                <a:r>
                  <a:rPr lang="en-IN" sz="1600" dirty="0">
                    <a:latin typeface="Arial Narrow" panose="020B0606020202030204" pitchFamily="34" charset="0"/>
                    <a:cs typeface="Times New Roman" panose="02020603050405020304" pitchFamily="18" charset="0"/>
                  </a:rPr>
                  <a:t> Attention: </a:t>
                </a:r>
                <a14:m>
                  <m:oMath xmlns:m="http://schemas.openxmlformats.org/officeDocument/2006/math">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𝑎</m:t>
                    </m:r>
                    <m:r>
                      <a:rPr lang="en-IN" sz="1600" i="1">
                        <a:latin typeface="Cambria Math" panose="02040503050406030204" pitchFamily="18" charset="0"/>
                        <a:cs typeface="Times New Roman" panose="02020603050405020304" pitchFamily="18" charset="0"/>
                      </a:rPr>
                      <m:t>=</m:t>
                    </m:r>
                    <m:r>
                      <a:rPr lang="en-IN" sz="1600" i="1">
                        <a:latin typeface="Cambria Math" panose="02040503050406030204" pitchFamily="18" charset="0"/>
                        <a:cs typeface="Times New Roman" panose="02020603050405020304" pitchFamily="18" charset="0"/>
                      </a:rPr>
                      <m:t>𝑆𝑜𝑓𝑡𝑚𝑎𝑥</m:t>
                    </m:r>
                    <m:d>
                      <m:dPr>
                        <m:ctrlPr>
                          <a:rPr lang="en-IN" sz="1600" i="1">
                            <a:latin typeface="Cambria Math" panose="02040503050406030204" pitchFamily="18" charset="0"/>
                            <a:cs typeface="Times New Roman" panose="02020603050405020304" pitchFamily="18" charset="0"/>
                          </a:rPr>
                        </m:ctrlPr>
                      </m:dPr>
                      <m:e>
                        <m:r>
                          <a:rPr lang="en-IN" sz="1600" i="1" smtClean="0">
                            <a:latin typeface="Cambria Math" panose="02040503050406030204" pitchFamily="18" charset="0"/>
                            <a:ea typeface="Cambria Math" panose="02040503050406030204" pitchFamily="18" charset="0"/>
                            <a:cs typeface="Times New Roman" panose="02020603050405020304" pitchFamily="18" charset="0"/>
                          </a:rPr>
                          <m:t>𝛼</m:t>
                        </m:r>
                      </m:e>
                    </m:d>
                  </m:oMath>
                </a14:m>
                <a:r>
                  <a:rPr lang="en-IN" sz="1600" dirty="0">
                    <a:latin typeface="Arial Narrow" panose="020B0606020202030204" pitchFamily="34" charset="0"/>
                    <a:cs typeface="Times New Roman" panose="02020603050405020304" pitchFamily="18" charset="0"/>
                  </a:rPr>
                  <a:t> </a:t>
                </a:r>
              </a:p>
              <a:p>
                <a:r>
                  <a:rPr lang="en-IN" sz="1600" dirty="0">
                    <a:latin typeface="Arial Narrow" panose="020B0606020202030204" pitchFamily="34" charset="0"/>
                    <a:cs typeface="Times New Roman" panose="02020603050405020304" pitchFamily="18" charset="0"/>
                  </a:rPr>
                  <a:t>Output:</a:t>
                </a:r>
                <a14:m>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 </m:t>
                        </m:r>
                        <m:r>
                          <a:rPr lang="en-IN" sz="1600" b="0" i="1" smtClean="0">
                            <a:latin typeface="Cambria Math" panose="02040503050406030204" pitchFamily="18" charset="0"/>
                          </a:rPr>
                          <m:t>𝑦</m:t>
                        </m:r>
                      </m:e>
                      <m:sub>
                        <m:r>
                          <a:rPr lang="en-IN" sz="1600" b="0" i="1" smtClean="0">
                            <a:latin typeface="Cambria Math" panose="02040503050406030204" pitchFamily="18" charset="0"/>
                          </a:rPr>
                          <m:t>𝑗</m:t>
                        </m:r>
                      </m:sub>
                    </m:sSub>
                    <m:r>
                      <a:rPr lang="en-IN" sz="1600" i="1">
                        <a:latin typeface="Cambria Math" panose="02040503050406030204" pitchFamily="18" charset="0"/>
                        <a:cs typeface="Times New Roman" panose="02020603050405020304" pitchFamily="18" charset="0"/>
                      </a:rPr>
                      <m:t>=</m:t>
                    </m:r>
                  </m:oMath>
                </a14:m>
                <a:r>
                  <a:rPr lang="en-IN" sz="1600" dirty="0">
                    <a:latin typeface="Arial Narrow" panose="020B0606020202030204" pitchFamily="34" charset="0"/>
                    <a:cs typeface="Times New Roman" panose="02020603050405020304" pitchFamily="18" charset="0"/>
                  </a:rPr>
                  <a:t> </a:t>
                </a:r>
                <a14:m>
                  <m:oMath xmlns:m="http://schemas.openxmlformats.org/officeDocument/2006/math">
                    <m:nary>
                      <m:naryPr>
                        <m:chr m:val="∑"/>
                        <m:limLoc m:val="subSup"/>
                        <m:supHide m:val="on"/>
                        <m:ctrlPr>
                          <a:rPr lang="en-IN" sz="1600" i="1" dirty="0" smtClean="0">
                            <a:latin typeface="Cambria Math" panose="02040503050406030204" pitchFamily="18" charset="0"/>
                            <a:cs typeface="Times New Roman" panose="02020603050405020304" pitchFamily="18" charset="0"/>
                          </a:rPr>
                        </m:ctrlPr>
                      </m:naryPr>
                      <m:sub>
                        <m:r>
                          <m:rPr>
                            <m:brk m:alnAt="9"/>
                          </m:rPr>
                          <a:rPr lang="en-IN" sz="1600" b="0" i="1" dirty="0" smtClean="0">
                            <a:latin typeface="Cambria Math" panose="02040503050406030204" pitchFamily="18" charset="0"/>
                            <a:cs typeface="Times New Roman" panose="02020603050405020304" pitchFamily="18" charset="0"/>
                          </a:rPr>
                          <m:t>𝑗</m:t>
                        </m:r>
                      </m:sub>
                      <m:sup/>
                      <m:e>
                        <m:sSub>
                          <m:sSubPr>
                            <m:ctrlPr>
                              <a:rPr lang="en-IN" sz="1600" i="1" dirty="0" smtClean="0">
                                <a:latin typeface="Cambria Math" panose="02040503050406030204" pitchFamily="18" charset="0"/>
                                <a:cs typeface="Times New Roman" panose="02020603050405020304" pitchFamily="18" charset="0"/>
                              </a:rPr>
                            </m:ctrlPr>
                          </m:sSubPr>
                          <m:e>
                            <m:r>
                              <a:rPr lang="en-IN" sz="1600" b="0" i="1" dirty="0" smtClean="0">
                                <a:latin typeface="Cambria Math" panose="02040503050406030204" pitchFamily="18" charset="0"/>
                                <a:cs typeface="Times New Roman" panose="02020603050405020304" pitchFamily="18" charset="0"/>
                              </a:rPr>
                              <m:t>𝑎</m:t>
                            </m:r>
                          </m:e>
                          <m:sub>
                            <m:r>
                              <a:rPr lang="en-IN" sz="1600" b="0" i="1" dirty="0" smtClean="0">
                                <a:latin typeface="Cambria Math" panose="02040503050406030204" pitchFamily="18" charset="0"/>
                                <a:cs typeface="Times New Roman" panose="02020603050405020304" pitchFamily="18" charset="0"/>
                              </a:rPr>
                              <m:t>𝑖𝑗</m:t>
                            </m:r>
                          </m:sub>
                        </m:sSub>
                        <m:sSub>
                          <m:sSubPr>
                            <m:ctrlPr>
                              <a:rPr lang="en-IN" sz="1600" i="1" dirty="0" smtClean="0">
                                <a:latin typeface="Cambria Math" panose="02040503050406030204" pitchFamily="18" charset="0"/>
                                <a:cs typeface="Times New Roman" panose="02020603050405020304" pitchFamily="18" charset="0"/>
                              </a:rPr>
                            </m:ctrlPr>
                          </m:sSubPr>
                          <m:e>
                            <m:r>
                              <a:rPr lang="en-IN" sz="1600" b="0" i="1" dirty="0" smtClean="0">
                                <a:latin typeface="Cambria Math" panose="02040503050406030204" pitchFamily="18" charset="0"/>
                                <a:cs typeface="Times New Roman" panose="02020603050405020304" pitchFamily="18" charset="0"/>
                              </a:rPr>
                              <m:t>𝑥</m:t>
                            </m:r>
                          </m:e>
                          <m:sub>
                            <m:r>
                              <a:rPr lang="en-IN" sz="1600" b="0" i="1" dirty="0" smtClean="0">
                                <a:latin typeface="Cambria Math" panose="02040503050406030204" pitchFamily="18" charset="0"/>
                                <a:cs typeface="Times New Roman" panose="02020603050405020304" pitchFamily="18" charset="0"/>
                              </a:rPr>
                              <m:t>𝑖</m:t>
                            </m:r>
                          </m:sub>
                        </m:sSub>
                      </m:e>
                    </m:nary>
                  </m:oMath>
                </a14:m>
                <a:endParaRPr lang="en-IN" sz="1600" dirty="0">
                  <a:latin typeface="Arial Narrow" panose="020B0606020202030204" pitchFamily="34" charset="0"/>
                  <a:cs typeface="Times New Roman" panose="02020603050405020304" pitchFamily="18" charset="0"/>
                </a:endParaRPr>
              </a:p>
            </p:txBody>
          </p:sp>
        </mc:Choice>
        <mc:Fallback xmlns="">
          <p:sp>
            <p:nvSpPr>
              <p:cNvPr id="100" name="TextBox 99">
                <a:extLst>
                  <a:ext uri="{FF2B5EF4-FFF2-40B4-BE49-F238E27FC236}">
                    <a16:creationId xmlns:a16="http://schemas.microsoft.com/office/drawing/2014/main" id="{5253E52A-CF0A-405D-9D6C-C42BAE0717AA}"/>
                  </a:ext>
                </a:extLst>
              </p:cNvPr>
              <p:cNvSpPr txBox="1">
                <a:spLocks noRot="1" noChangeAspect="1" noMove="1" noResize="1" noEditPoints="1" noAdjustHandles="1" noChangeArrowheads="1" noChangeShapeType="1" noTextEdit="1"/>
              </p:cNvSpPr>
              <p:nvPr/>
            </p:nvSpPr>
            <p:spPr>
              <a:xfrm>
                <a:off x="6069907" y="1337249"/>
                <a:ext cx="3187812" cy="1153970"/>
              </a:xfrm>
              <a:prstGeom prst="rect">
                <a:avLst/>
              </a:prstGeom>
              <a:blipFill>
                <a:blip r:embed="rId2"/>
                <a:stretch>
                  <a:fillRect l="-1147" t="-1053" b="-46842"/>
                </a:stretch>
              </a:blipFill>
            </p:spPr>
            <p:txBody>
              <a:bodyPr/>
              <a:lstStyle/>
              <a:p>
                <a:r>
                  <a:rPr lang="en-IN">
                    <a:noFill/>
                  </a:rPr>
                  <a:t> </a:t>
                </a:r>
              </a:p>
            </p:txBody>
          </p:sp>
        </mc:Fallback>
      </mc:AlternateContent>
      <p:sp>
        <p:nvSpPr>
          <p:cNvPr id="101" name="TextBox 100">
            <a:extLst>
              <a:ext uri="{FF2B5EF4-FFF2-40B4-BE49-F238E27FC236}">
                <a16:creationId xmlns:a16="http://schemas.microsoft.com/office/drawing/2014/main" id="{48B5E281-0F40-417E-A7EB-72E8C2D0C332}"/>
              </a:ext>
            </a:extLst>
          </p:cNvPr>
          <p:cNvSpPr txBox="1"/>
          <p:nvPr/>
        </p:nvSpPr>
        <p:spPr>
          <a:xfrm>
            <a:off x="1570742" y="1337249"/>
            <a:ext cx="3331464" cy="830997"/>
          </a:xfrm>
          <a:prstGeom prst="rect">
            <a:avLst/>
          </a:prstGeom>
          <a:noFill/>
        </p:spPr>
        <p:txBody>
          <a:bodyPr wrap="square" rtlCol="0">
            <a:spAutoFit/>
          </a:bodyPr>
          <a:lstStyle/>
          <a:p>
            <a:r>
              <a:rPr lang="en-IN" sz="1600" dirty="0">
                <a:latin typeface="Arial Narrow" panose="020B0606020202030204" pitchFamily="34" charset="0"/>
                <a:cs typeface="Times New Roman" panose="02020603050405020304" pitchFamily="18" charset="0"/>
              </a:rPr>
              <a:t>Inputs:</a:t>
            </a:r>
          </a:p>
          <a:p>
            <a:r>
              <a:rPr lang="en-IN" sz="1600" dirty="0">
                <a:latin typeface="Arial Narrow" panose="020B0606020202030204" pitchFamily="34" charset="0"/>
                <a:cs typeface="Times New Roman" panose="02020603050405020304" pitchFamily="18" charset="0"/>
              </a:rPr>
              <a:t>Input Vector X (Dimension : </a:t>
            </a:r>
            <a:r>
              <a:rPr lang="en-IN" sz="1600" dirty="0" err="1">
                <a:latin typeface="Arial Narrow" panose="020B0606020202030204" pitchFamily="34" charset="0"/>
                <a:cs typeface="Times New Roman" panose="02020603050405020304" pitchFamily="18" charset="0"/>
              </a:rPr>
              <a:t>NxD</a:t>
            </a:r>
            <a:r>
              <a:rPr lang="en-IN" sz="1600" dirty="0">
                <a:latin typeface="Arial Narrow" panose="020B0606020202030204" pitchFamily="34" charset="0"/>
                <a:cs typeface="Times New Roman" panose="02020603050405020304" pitchFamily="18" charset="0"/>
              </a:rPr>
              <a:t>)</a:t>
            </a:r>
          </a:p>
          <a:p>
            <a:r>
              <a:rPr lang="en-IN" sz="1600" dirty="0">
                <a:latin typeface="Arial Narrow" panose="020B0606020202030204" pitchFamily="34" charset="0"/>
                <a:cs typeface="Times New Roman" panose="02020603050405020304" pitchFamily="18" charset="0"/>
              </a:rPr>
              <a:t>Query Vector q (Dimension : </a:t>
            </a:r>
            <a:r>
              <a:rPr lang="en-IN" sz="1600" dirty="0" err="1">
                <a:latin typeface="Arial Narrow" panose="020B0606020202030204" pitchFamily="34" charset="0"/>
                <a:cs typeface="Times New Roman" panose="02020603050405020304" pitchFamily="18" charset="0"/>
              </a:rPr>
              <a:t>MxD</a:t>
            </a:r>
            <a:r>
              <a:rPr lang="en-IN" sz="1600" dirty="0">
                <a:latin typeface="Arial Narrow" panose="020B0606020202030204" pitchFamily="34" charset="0"/>
                <a:cs typeface="Times New Roman" panose="02020603050405020304" pitchFamily="18" charset="0"/>
              </a:rPr>
              <a:t>)</a:t>
            </a:r>
          </a:p>
        </p:txBody>
      </p:sp>
      <p:sp>
        <p:nvSpPr>
          <p:cNvPr id="94" name="Title 3">
            <a:extLst>
              <a:ext uri="{FF2B5EF4-FFF2-40B4-BE49-F238E27FC236}">
                <a16:creationId xmlns:a16="http://schemas.microsoft.com/office/drawing/2014/main" id="{0252BA2B-6D0A-4E95-83FC-A0B2B0267CD1}"/>
              </a:ext>
            </a:extLst>
          </p:cNvPr>
          <p:cNvSpPr>
            <a:spLocks noGrp="1"/>
          </p:cNvSpPr>
          <p:nvPr>
            <p:ph type="title"/>
          </p:nvPr>
        </p:nvSpPr>
        <p:spPr>
          <a:xfrm>
            <a:off x="493048" y="58411"/>
            <a:ext cx="10515600" cy="859910"/>
          </a:xfrm>
        </p:spPr>
        <p:txBody>
          <a:bodyPr>
            <a:normAutofit/>
          </a:bodyPr>
          <a:lstStyle/>
          <a:p>
            <a:r>
              <a:rPr lang="en-IN" sz="3200" dirty="0">
                <a:latin typeface="Century" panose="02040604050505020304" pitchFamily="18" charset="0"/>
              </a:rPr>
              <a:t>Attention Layer</a:t>
            </a:r>
          </a:p>
        </p:txBody>
      </p:sp>
      <p:sp>
        <p:nvSpPr>
          <p:cNvPr id="95" name="TextBox 94">
            <a:extLst>
              <a:ext uri="{FF2B5EF4-FFF2-40B4-BE49-F238E27FC236}">
                <a16:creationId xmlns:a16="http://schemas.microsoft.com/office/drawing/2014/main" id="{CCD7D1ED-89B7-4863-A127-F3B435CD530F}"/>
              </a:ext>
            </a:extLst>
          </p:cNvPr>
          <p:cNvSpPr txBox="1"/>
          <p:nvPr/>
        </p:nvSpPr>
        <p:spPr>
          <a:xfrm>
            <a:off x="6787754" y="6506941"/>
            <a:ext cx="5610225" cy="307777"/>
          </a:xfrm>
          <a:prstGeom prst="rect">
            <a:avLst/>
          </a:prstGeom>
          <a:noFill/>
        </p:spPr>
        <p:txBody>
          <a:bodyPr wrap="square" rtlCol="0">
            <a:spAutoFit/>
          </a:bodyPr>
          <a:lstStyle/>
          <a:p>
            <a:r>
              <a:rPr lang="en-IN" sz="1400" dirty="0">
                <a:latin typeface="Arial Narrow" panose="020B0606020202030204" pitchFamily="34" charset="0"/>
                <a:cs typeface="Times New Roman" panose="02020603050405020304" pitchFamily="18" charset="0"/>
              </a:rPr>
              <a:t>Concept: Fei-Fei Li Attention and Transformers CS231n Stanford Lecture</a:t>
            </a:r>
          </a:p>
        </p:txBody>
      </p:sp>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AD6D90FF-8B08-44E6-ADD1-B975BDF15677}"/>
                  </a:ext>
                </a:extLst>
              </p:cNvPr>
              <p:cNvSpPr txBox="1"/>
              <p:nvPr/>
            </p:nvSpPr>
            <p:spPr>
              <a:xfrm rot="10800000" flipV="1">
                <a:off x="3430209" y="4322877"/>
                <a:ext cx="503989" cy="491219"/>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i="1">
                              <a:latin typeface="Cambria Math" panose="02040503050406030204" pitchFamily="18" charset="0"/>
                            </a:rPr>
                          </m:ctrlPr>
                        </m:sSubPr>
                        <m:e>
                          <m:r>
                            <a:rPr lang="en-IN">
                              <a:latin typeface="Cambria Math" panose="02040503050406030204" pitchFamily="18" charset="0"/>
                            </a:rPr>
                            <m:t>𝛼</m:t>
                          </m:r>
                        </m:e>
                        <m:sub>
                          <m:r>
                            <a:rPr lang="en-IN">
                              <a:latin typeface="Cambria Math" panose="02040503050406030204" pitchFamily="18" charset="0"/>
                            </a:rPr>
                            <m:t>1,1</m:t>
                          </m:r>
                        </m:sub>
                      </m:sSub>
                    </m:oMath>
                  </m:oMathPara>
                </a14:m>
                <a:endParaRPr lang="en-IN" dirty="0">
                  <a:latin typeface="Arial Narrow" panose="020B0606020202030204" pitchFamily="34" charset="0"/>
                </a:endParaRPr>
              </a:p>
            </p:txBody>
          </p:sp>
        </mc:Choice>
        <mc:Fallback xmlns="">
          <p:sp>
            <p:nvSpPr>
              <p:cNvPr id="96" name="TextBox 95">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3430209" y="4322877"/>
                <a:ext cx="503989" cy="491219"/>
              </a:xfrm>
              <a:prstGeom prst="ellipse">
                <a:avLst/>
              </a:prstGeom>
              <a:blipFill>
                <a:blip r:embed="rId3"/>
                <a:stretch>
                  <a:fillRect r="-4762"/>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36F03E2E-8229-4DFD-869B-C4F6CF96084E}"/>
                  </a:ext>
                </a:extLst>
              </p:cNvPr>
              <p:cNvSpPr txBox="1"/>
              <p:nvPr/>
            </p:nvSpPr>
            <p:spPr>
              <a:xfrm rot="10800000" flipV="1">
                <a:off x="2874736" y="4322878"/>
                <a:ext cx="503989" cy="491219"/>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i="1">
                              <a:latin typeface="Cambria Math" panose="02040503050406030204" pitchFamily="18" charset="0"/>
                            </a:rPr>
                          </m:ctrlPr>
                        </m:sSubPr>
                        <m:e>
                          <m:r>
                            <a:rPr lang="en-IN">
                              <a:latin typeface="Cambria Math" panose="02040503050406030204" pitchFamily="18" charset="0"/>
                            </a:rPr>
                            <m:t>𝛼</m:t>
                          </m:r>
                        </m:e>
                        <m:sub>
                          <m:r>
                            <a:rPr lang="en-IN">
                              <a:latin typeface="Cambria Math" panose="02040503050406030204" pitchFamily="18" charset="0"/>
                            </a:rPr>
                            <m:t>2,1</m:t>
                          </m:r>
                        </m:sub>
                      </m:sSub>
                    </m:oMath>
                  </m:oMathPara>
                </a14:m>
                <a:endParaRPr lang="en-IN" dirty="0">
                  <a:latin typeface="Arial Narrow" panose="020B0606020202030204" pitchFamily="34" charset="0"/>
                </a:endParaRPr>
              </a:p>
            </p:txBody>
          </p:sp>
        </mc:Choice>
        <mc:Fallback xmlns="">
          <p:sp>
            <p:nvSpPr>
              <p:cNvPr id="97" name="TextBox 96">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2874736" y="4322878"/>
                <a:ext cx="503989" cy="491219"/>
              </a:xfrm>
              <a:prstGeom prst="ellipse">
                <a:avLst/>
              </a:prstGeom>
              <a:blipFill>
                <a:blip r:embed="rId4"/>
                <a:stretch>
                  <a:fillRect r="-5952"/>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DF1D3D16-4F7D-4FD0-95EB-E2360401B577}"/>
                  </a:ext>
                </a:extLst>
              </p:cNvPr>
              <p:cNvSpPr txBox="1"/>
              <p:nvPr/>
            </p:nvSpPr>
            <p:spPr>
              <a:xfrm rot="10800000" flipV="1">
                <a:off x="2324646" y="4330453"/>
                <a:ext cx="503989" cy="47607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n-IN" sz="1600" b="0" i="1" smtClean="0">
                              <a:latin typeface="Cambria Math" panose="02040503050406030204" pitchFamily="18" charset="0"/>
                            </a:rPr>
                            <m:t>31</m:t>
                          </m:r>
                        </m:sub>
                      </m:sSub>
                    </m:oMath>
                  </m:oMathPara>
                </a14:m>
                <a:endParaRPr lang="en-IN" sz="1600" dirty="0">
                  <a:latin typeface="Arial Narrow" panose="020B0606020202030204" pitchFamily="34" charset="0"/>
                </a:endParaRPr>
              </a:p>
            </p:txBody>
          </p:sp>
        </mc:Choice>
        <mc:Fallback xmlns="">
          <p:sp>
            <p:nvSpPr>
              <p:cNvPr id="98" name="TextBox 97">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2324646" y="4330453"/>
                <a:ext cx="503989" cy="476071"/>
              </a:xfrm>
              <a:prstGeom prst="ellipse">
                <a:avLst/>
              </a:prstGeom>
              <a:blipFill>
                <a:blip r:embed="rId5"/>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98434757-453A-49BA-B417-238E5FFE6B79}"/>
                  </a:ext>
                </a:extLst>
              </p:cNvPr>
              <p:cNvSpPr txBox="1"/>
              <p:nvPr/>
            </p:nvSpPr>
            <p:spPr>
              <a:xfrm rot="10800000" flipV="1">
                <a:off x="3435918" y="4993206"/>
                <a:ext cx="503989" cy="51935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oMath>
                  </m:oMathPara>
                </a14:m>
                <a:endParaRPr lang="en-IN" dirty="0">
                  <a:latin typeface="Arial Narrow" panose="020B0606020202030204" pitchFamily="34" charset="0"/>
                </a:endParaRPr>
              </a:p>
            </p:txBody>
          </p:sp>
        </mc:Choice>
        <mc:Fallback xmlns="">
          <p:sp>
            <p:nvSpPr>
              <p:cNvPr id="102" name="TextBox 101">
                <a:extLst>
                  <a:ext uri="{FF2B5EF4-FFF2-40B4-BE49-F238E27FC236}">
                    <a16:creationId xmlns:a16="http://schemas.microsoft.com/office/drawing/2014/main" id="{98434757-453A-49BA-B417-238E5FFE6B79}"/>
                  </a:ext>
                </a:extLst>
              </p:cNvPr>
              <p:cNvSpPr txBox="1">
                <a:spLocks noRot="1" noChangeAspect="1" noMove="1" noResize="1" noEditPoints="1" noAdjustHandles="1" noChangeArrowheads="1" noChangeShapeType="1" noTextEdit="1"/>
              </p:cNvSpPr>
              <p:nvPr/>
            </p:nvSpPr>
            <p:spPr>
              <a:xfrm rot="10800000" flipV="1">
                <a:off x="3435918" y="4993206"/>
                <a:ext cx="503989" cy="519351"/>
              </a:xfrm>
              <a:prstGeom prst="ellipse">
                <a:avLst/>
              </a:prstGeom>
              <a:blipFill>
                <a:blip r:embed="rId6"/>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B8E17763-565A-4B77-80A1-9B07A3DF1DA4}"/>
                  </a:ext>
                </a:extLst>
              </p:cNvPr>
              <p:cNvSpPr txBox="1"/>
              <p:nvPr/>
            </p:nvSpPr>
            <p:spPr>
              <a:xfrm rot="10800000" flipV="1">
                <a:off x="2874736" y="4989455"/>
                <a:ext cx="503989" cy="51935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2</m:t>
                          </m:r>
                        </m:sub>
                      </m:sSub>
                    </m:oMath>
                  </m:oMathPara>
                </a14:m>
                <a:endParaRPr lang="en-IN" dirty="0">
                  <a:latin typeface="Arial Narrow" panose="020B0606020202030204" pitchFamily="34" charset="0"/>
                </a:endParaRPr>
              </a:p>
            </p:txBody>
          </p:sp>
        </mc:Choice>
        <mc:Fallback xmlns="">
          <p:sp>
            <p:nvSpPr>
              <p:cNvPr id="112" name="TextBox 111">
                <a:extLst>
                  <a:ext uri="{FF2B5EF4-FFF2-40B4-BE49-F238E27FC236}">
                    <a16:creationId xmlns:a16="http://schemas.microsoft.com/office/drawing/2014/main" id="{B8E17763-565A-4B77-80A1-9B07A3DF1DA4}"/>
                  </a:ext>
                </a:extLst>
              </p:cNvPr>
              <p:cNvSpPr txBox="1">
                <a:spLocks noRot="1" noChangeAspect="1" noMove="1" noResize="1" noEditPoints="1" noAdjustHandles="1" noChangeArrowheads="1" noChangeShapeType="1" noTextEdit="1"/>
              </p:cNvSpPr>
              <p:nvPr/>
            </p:nvSpPr>
            <p:spPr>
              <a:xfrm rot="10800000" flipV="1">
                <a:off x="2874736" y="4989455"/>
                <a:ext cx="503989" cy="519351"/>
              </a:xfrm>
              <a:prstGeom prst="ellipse">
                <a:avLst/>
              </a:prstGeom>
              <a:blipFill>
                <a:blip r:embed="rId7"/>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C8FC9D7E-BEDD-4715-866C-F8B1DB2EC23B}"/>
                  </a:ext>
                </a:extLst>
              </p:cNvPr>
              <p:cNvSpPr txBox="1"/>
              <p:nvPr/>
            </p:nvSpPr>
            <p:spPr>
              <a:xfrm rot="10800000" flipV="1">
                <a:off x="2324646" y="4989455"/>
                <a:ext cx="503989" cy="51935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3</m:t>
                          </m:r>
                        </m:sub>
                      </m:sSub>
                    </m:oMath>
                  </m:oMathPara>
                </a14:m>
                <a:endParaRPr lang="en-IN" dirty="0">
                  <a:latin typeface="Arial Narrow" panose="020B0606020202030204" pitchFamily="34" charset="0"/>
                </a:endParaRPr>
              </a:p>
            </p:txBody>
          </p:sp>
        </mc:Choice>
        <mc:Fallback xmlns="">
          <p:sp>
            <p:nvSpPr>
              <p:cNvPr id="113" name="TextBox 112">
                <a:extLst>
                  <a:ext uri="{FF2B5EF4-FFF2-40B4-BE49-F238E27FC236}">
                    <a16:creationId xmlns:a16="http://schemas.microsoft.com/office/drawing/2014/main" id="{C8FC9D7E-BEDD-4715-866C-F8B1DB2EC23B}"/>
                  </a:ext>
                </a:extLst>
              </p:cNvPr>
              <p:cNvSpPr txBox="1">
                <a:spLocks noRot="1" noChangeAspect="1" noMove="1" noResize="1" noEditPoints="1" noAdjustHandles="1" noChangeArrowheads="1" noChangeShapeType="1" noTextEdit="1"/>
              </p:cNvSpPr>
              <p:nvPr/>
            </p:nvSpPr>
            <p:spPr>
              <a:xfrm rot="10800000" flipV="1">
                <a:off x="2324646" y="4989455"/>
                <a:ext cx="503989" cy="519351"/>
              </a:xfrm>
              <a:prstGeom prst="ellipse">
                <a:avLst/>
              </a:prstGeom>
              <a:blipFill>
                <a:blip r:embed="rId8"/>
                <a:stretch>
                  <a:fillRect/>
                </a:stretch>
              </a:blipFill>
              <a:ln w="12700">
                <a:solidFill>
                  <a:schemeClr val="tx1"/>
                </a:solidFill>
              </a:ln>
            </p:spPr>
            <p:txBody>
              <a:bodyPr/>
              <a:lstStyle/>
              <a:p>
                <a:r>
                  <a:rPr lang="en-IN">
                    <a:noFill/>
                  </a:rPr>
                  <a:t> </a:t>
                </a:r>
              </a:p>
            </p:txBody>
          </p:sp>
        </mc:Fallback>
      </mc:AlternateContent>
      <p:cxnSp>
        <p:nvCxnSpPr>
          <p:cNvPr id="114" name="Straight Arrow Connector 113">
            <a:extLst>
              <a:ext uri="{FF2B5EF4-FFF2-40B4-BE49-F238E27FC236}">
                <a16:creationId xmlns:a16="http://schemas.microsoft.com/office/drawing/2014/main" id="{A263021F-7328-4211-909D-49F49CA28D98}"/>
              </a:ext>
            </a:extLst>
          </p:cNvPr>
          <p:cNvCxnSpPr>
            <a:stCxn id="102" idx="0"/>
            <a:endCxn id="96" idx="4"/>
          </p:cNvCxnSpPr>
          <p:nvPr/>
        </p:nvCxnSpPr>
        <p:spPr>
          <a:xfrm flipH="1" flipV="1">
            <a:off x="3682203" y="4814096"/>
            <a:ext cx="5709" cy="179110"/>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48E3A579-0DB9-42B0-BAF2-784E8D2CED22}"/>
              </a:ext>
            </a:extLst>
          </p:cNvPr>
          <p:cNvCxnSpPr>
            <a:cxnSpLocks/>
            <a:stCxn id="112" idx="0"/>
            <a:endCxn id="97" idx="4"/>
          </p:cNvCxnSpPr>
          <p:nvPr/>
        </p:nvCxnSpPr>
        <p:spPr>
          <a:xfrm flipV="1">
            <a:off x="3126730" y="4814097"/>
            <a:ext cx="0" cy="175358"/>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C1137974-CC6B-47D3-81CF-6AC92B143B47}"/>
              </a:ext>
            </a:extLst>
          </p:cNvPr>
          <p:cNvCxnSpPr>
            <a:cxnSpLocks/>
            <a:stCxn id="113" idx="0"/>
            <a:endCxn id="98" idx="4"/>
          </p:cNvCxnSpPr>
          <p:nvPr/>
        </p:nvCxnSpPr>
        <p:spPr>
          <a:xfrm flipV="1">
            <a:off x="2576640" y="4806524"/>
            <a:ext cx="0" cy="182931"/>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47F04F6C-A5DE-48AC-A93E-885D326C2D52}"/>
              </a:ext>
            </a:extLst>
          </p:cNvPr>
          <p:cNvCxnSpPr>
            <a:cxnSpLocks/>
            <a:stCxn id="126" idx="2"/>
          </p:cNvCxnSpPr>
          <p:nvPr/>
        </p:nvCxnSpPr>
        <p:spPr>
          <a:xfrm>
            <a:off x="7544264" y="4568488"/>
            <a:ext cx="623543" cy="1817"/>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9" name="TextBox 118">
                <a:extLst>
                  <a:ext uri="{FF2B5EF4-FFF2-40B4-BE49-F238E27FC236}">
                    <a16:creationId xmlns:a16="http://schemas.microsoft.com/office/drawing/2014/main" id="{CB478EDF-F147-4A46-ACD7-767B4A547BF2}"/>
                  </a:ext>
                </a:extLst>
              </p:cNvPr>
              <p:cNvSpPr txBox="1"/>
              <p:nvPr/>
            </p:nvSpPr>
            <p:spPr>
              <a:xfrm rot="10800000" flipV="1">
                <a:off x="1325934" y="4308811"/>
                <a:ext cx="508127" cy="51935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𝑞</m:t>
                          </m:r>
                        </m:e>
                        <m:sub>
                          <m:r>
                            <a:rPr lang="en-IN" i="1">
                              <a:latin typeface="Cambria Math" panose="02040503050406030204" pitchFamily="18" charset="0"/>
                            </a:rPr>
                            <m:t>1</m:t>
                          </m:r>
                        </m:sub>
                      </m:sSub>
                    </m:oMath>
                  </m:oMathPara>
                </a14:m>
                <a:endParaRPr lang="en-IN" dirty="0">
                  <a:latin typeface="Arial Narrow" panose="020B0606020202030204" pitchFamily="34" charset="0"/>
                </a:endParaRPr>
              </a:p>
            </p:txBody>
          </p:sp>
        </mc:Choice>
        <mc:Fallback xmlns="">
          <p:sp>
            <p:nvSpPr>
              <p:cNvPr id="119" name="TextBox 118">
                <a:extLst>
                  <a:ext uri="{FF2B5EF4-FFF2-40B4-BE49-F238E27FC236}">
                    <a16:creationId xmlns:a16="http://schemas.microsoft.com/office/drawing/2014/main" id="{CB478EDF-F147-4A46-ACD7-767B4A547BF2}"/>
                  </a:ext>
                </a:extLst>
              </p:cNvPr>
              <p:cNvSpPr txBox="1">
                <a:spLocks noRot="1" noChangeAspect="1" noMove="1" noResize="1" noEditPoints="1" noAdjustHandles="1" noChangeArrowheads="1" noChangeShapeType="1" noTextEdit="1"/>
              </p:cNvSpPr>
              <p:nvPr/>
            </p:nvSpPr>
            <p:spPr>
              <a:xfrm rot="10800000" flipV="1">
                <a:off x="1325934" y="4308811"/>
                <a:ext cx="508127" cy="519351"/>
              </a:xfrm>
              <a:prstGeom prst="ellipse">
                <a:avLst/>
              </a:prstGeom>
              <a:blipFill>
                <a:blip r:embed="rId9"/>
                <a:stretch>
                  <a:fillRect/>
                </a:stretch>
              </a:blipFill>
              <a:ln w="12700">
                <a:solidFill>
                  <a:schemeClr val="tx1"/>
                </a:solidFill>
              </a:ln>
            </p:spPr>
            <p:txBody>
              <a:bodyPr/>
              <a:lstStyle/>
              <a:p>
                <a:r>
                  <a:rPr lang="en-IN">
                    <a:noFill/>
                  </a:rPr>
                  <a:t> </a:t>
                </a:r>
              </a:p>
            </p:txBody>
          </p:sp>
        </mc:Fallback>
      </mc:AlternateContent>
      <p:cxnSp>
        <p:nvCxnSpPr>
          <p:cNvPr id="120" name="Straight Arrow Connector 119">
            <a:extLst>
              <a:ext uri="{FF2B5EF4-FFF2-40B4-BE49-F238E27FC236}">
                <a16:creationId xmlns:a16="http://schemas.microsoft.com/office/drawing/2014/main" id="{20C9C6AC-19F5-4564-9E13-1B8D0A63390D}"/>
              </a:ext>
            </a:extLst>
          </p:cNvPr>
          <p:cNvCxnSpPr>
            <a:stCxn id="119" idx="2"/>
            <a:endCxn id="98" idx="6"/>
          </p:cNvCxnSpPr>
          <p:nvPr/>
        </p:nvCxnSpPr>
        <p:spPr>
          <a:xfrm>
            <a:off x="1834061" y="4568487"/>
            <a:ext cx="490585" cy="2"/>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19A753A8-AD35-4022-B3B3-F8FBEA03A328}"/>
              </a:ext>
            </a:extLst>
          </p:cNvPr>
          <p:cNvCxnSpPr>
            <a:endCxn id="122" idx="6"/>
          </p:cNvCxnSpPr>
          <p:nvPr/>
        </p:nvCxnSpPr>
        <p:spPr>
          <a:xfrm flipV="1">
            <a:off x="9087486" y="4568488"/>
            <a:ext cx="416182" cy="1818"/>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2" name="TextBox 121">
                <a:extLst>
                  <a:ext uri="{FF2B5EF4-FFF2-40B4-BE49-F238E27FC236}">
                    <a16:creationId xmlns:a16="http://schemas.microsoft.com/office/drawing/2014/main" id="{6803D624-9F2D-4CB6-A000-91DDACFD0A2B}"/>
                  </a:ext>
                </a:extLst>
              </p:cNvPr>
              <p:cNvSpPr txBox="1"/>
              <p:nvPr/>
            </p:nvSpPr>
            <p:spPr>
              <a:xfrm rot="10800000" flipV="1">
                <a:off x="9503668" y="4308812"/>
                <a:ext cx="503989" cy="51935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𝑦</m:t>
                          </m:r>
                        </m:e>
                        <m:sub>
                          <m:r>
                            <a:rPr lang="en-IN" i="1">
                              <a:latin typeface="Cambria Math" panose="02040503050406030204" pitchFamily="18" charset="0"/>
                            </a:rPr>
                            <m:t>1</m:t>
                          </m:r>
                        </m:sub>
                      </m:sSub>
                    </m:oMath>
                  </m:oMathPara>
                </a14:m>
                <a:endParaRPr lang="en-IN" dirty="0">
                  <a:latin typeface="Arial Narrow" panose="020B0606020202030204" pitchFamily="34" charset="0"/>
                </a:endParaRPr>
              </a:p>
            </p:txBody>
          </p:sp>
        </mc:Choice>
        <mc:Fallback xmlns="">
          <p:sp>
            <p:nvSpPr>
              <p:cNvPr id="122" name="TextBox 121">
                <a:extLst>
                  <a:ext uri="{FF2B5EF4-FFF2-40B4-BE49-F238E27FC236}">
                    <a16:creationId xmlns:a16="http://schemas.microsoft.com/office/drawing/2014/main" id="{6803D624-9F2D-4CB6-A000-91DDACFD0A2B}"/>
                  </a:ext>
                </a:extLst>
              </p:cNvPr>
              <p:cNvSpPr txBox="1">
                <a:spLocks noRot="1" noChangeAspect="1" noMove="1" noResize="1" noEditPoints="1" noAdjustHandles="1" noChangeArrowheads="1" noChangeShapeType="1" noTextEdit="1"/>
              </p:cNvSpPr>
              <p:nvPr/>
            </p:nvSpPr>
            <p:spPr>
              <a:xfrm rot="10800000" flipV="1">
                <a:off x="9503668" y="4308812"/>
                <a:ext cx="503989" cy="519351"/>
              </a:xfrm>
              <a:prstGeom prst="ellipse">
                <a:avLst/>
              </a:prstGeom>
              <a:blipFill>
                <a:blip r:embed="rId10"/>
                <a:stretch>
                  <a:fillRect/>
                </a:stretch>
              </a:blipFill>
              <a:ln w="12700">
                <a:solidFill>
                  <a:schemeClr val="tx1"/>
                </a:solidFill>
              </a:ln>
            </p:spPr>
            <p:txBody>
              <a:bodyPr/>
              <a:lstStyle/>
              <a:p>
                <a:r>
                  <a:rPr lang="en-IN">
                    <a:noFill/>
                  </a:rPr>
                  <a:t> </a:t>
                </a:r>
              </a:p>
            </p:txBody>
          </p:sp>
        </mc:Fallback>
      </mc:AlternateContent>
      <p:sp>
        <p:nvSpPr>
          <p:cNvPr id="123" name="TextBox 122">
            <a:extLst>
              <a:ext uri="{FF2B5EF4-FFF2-40B4-BE49-F238E27FC236}">
                <a16:creationId xmlns:a16="http://schemas.microsoft.com/office/drawing/2014/main" id="{E17818E8-007B-45D8-AD06-1A2108924884}"/>
              </a:ext>
            </a:extLst>
          </p:cNvPr>
          <p:cNvSpPr txBox="1"/>
          <p:nvPr/>
        </p:nvSpPr>
        <p:spPr>
          <a:xfrm rot="10800000" flipV="1">
            <a:off x="2604223" y="2509957"/>
            <a:ext cx="1355644" cy="369332"/>
          </a:xfrm>
          <a:prstGeom prst="rect">
            <a:avLst/>
          </a:prstGeom>
          <a:noFill/>
        </p:spPr>
        <p:txBody>
          <a:bodyPr wrap="square" rtlCol="0">
            <a:spAutoFit/>
          </a:bodyPr>
          <a:lstStyle/>
          <a:p>
            <a:r>
              <a:rPr lang="en-IN" dirty="0">
                <a:latin typeface="Arial Narrow" panose="020B0606020202030204" pitchFamily="34" charset="0"/>
                <a:cs typeface="Times New Roman" panose="02020603050405020304" pitchFamily="18" charset="0"/>
              </a:rPr>
              <a:t>Alignment</a:t>
            </a:r>
          </a:p>
        </p:txBody>
      </p:sp>
      <p:sp>
        <p:nvSpPr>
          <p:cNvPr id="124" name="TextBox 123">
            <a:extLst>
              <a:ext uri="{FF2B5EF4-FFF2-40B4-BE49-F238E27FC236}">
                <a16:creationId xmlns:a16="http://schemas.microsoft.com/office/drawing/2014/main" id="{A8C9EC39-2EA1-4820-AB08-8E44D249B4B8}"/>
              </a:ext>
            </a:extLst>
          </p:cNvPr>
          <p:cNvSpPr txBox="1"/>
          <p:nvPr/>
        </p:nvSpPr>
        <p:spPr>
          <a:xfrm rot="10800000" flipV="1">
            <a:off x="6186706" y="2514470"/>
            <a:ext cx="1355644" cy="369332"/>
          </a:xfrm>
          <a:prstGeom prst="rect">
            <a:avLst/>
          </a:prstGeom>
          <a:noFill/>
        </p:spPr>
        <p:txBody>
          <a:bodyPr wrap="square" rtlCol="0">
            <a:spAutoFit/>
          </a:bodyPr>
          <a:lstStyle/>
          <a:p>
            <a:r>
              <a:rPr lang="en-IN" dirty="0">
                <a:latin typeface="Arial Narrow" panose="020B0606020202030204" pitchFamily="34" charset="0"/>
                <a:cs typeface="Times New Roman" panose="02020603050405020304" pitchFamily="18" charset="0"/>
              </a:rPr>
              <a:t>Attention</a:t>
            </a:r>
          </a:p>
        </p:txBody>
      </p:sp>
      <p:sp>
        <p:nvSpPr>
          <p:cNvPr id="125" name="TextBox 124">
            <a:extLst>
              <a:ext uri="{FF2B5EF4-FFF2-40B4-BE49-F238E27FC236}">
                <a16:creationId xmlns:a16="http://schemas.microsoft.com/office/drawing/2014/main" id="{03D7A7FB-37B5-491B-9275-F91C88822728}"/>
              </a:ext>
            </a:extLst>
          </p:cNvPr>
          <p:cNvSpPr txBox="1"/>
          <p:nvPr/>
        </p:nvSpPr>
        <p:spPr>
          <a:xfrm rot="10800000" flipV="1">
            <a:off x="2539927" y="5905478"/>
            <a:ext cx="1583957" cy="369332"/>
          </a:xfrm>
          <a:prstGeom prst="rect">
            <a:avLst/>
          </a:prstGeom>
          <a:noFill/>
        </p:spPr>
        <p:txBody>
          <a:bodyPr wrap="square" rtlCol="0">
            <a:spAutoFit/>
          </a:bodyPr>
          <a:lstStyle/>
          <a:p>
            <a:r>
              <a:rPr lang="en-IN" dirty="0">
                <a:latin typeface="Arial Narrow" panose="020B0606020202030204" pitchFamily="34" charset="0"/>
                <a:cs typeface="Times New Roman" panose="02020603050405020304" pitchFamily="18" charset="0"/>
              </a:rPr>
              <a:t>Input Vectors</a:t>
            </a:r>
          </a:p>
        </p:txBody>
      </p:sp>
      <mc:AlternateContent xmlns:mc="http://schemas.openxmlformats.org/markup-compatibility/2006" xmlns:a14="http://schemas.microsoft.com/office/drawing/2010/main">
        <mc:Choice Requires="a14">
          <p:sp>
            <p:nvSpPr>
              <p:cNvPr id="126" name="TextBox 125">
                <a:extLst>
                  <a:ext uri="{FF2B5EF4-FFF2-40B4-BE49-F238E27FC236}">
                    <a16:creationId xmlns:a16="http://schemas.microsoft.com/office/drawing/2014/main" id="{AD6D90FF-8B08-44E6-ADD1-B975BDF15677}"/>
                  </a:ext>
                </a:extLst>
              </p:cNvPr>
              <p:cNvSpPr txBox="1"/>
              <p:nvPr/>
            </p:nvSpPr>
            <p:spPr>
              <a:xfrm rot="10800000" flipV="1">
                <a:off x="7040275" y="4322878"/>
                <a:ext cx="503989" cy="491219"/>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𝑎</m:t>
                          </m:r>
                        </m:e>
                        <m:sub>
                          <m:r>
                            <a:rPr lang="en-IN">
                              <a:latin typeface="Cambria Math" panose="02040503050406030204" pitchFamily="18" charset="0"/>
                            </a:rPr>
                            <m:t>1,1</m:t>
                          </m:r>
                        </m:sub>
                      </m:sSub>
                    </m:oMath>
                  </m:oMathPara>
                </a14:m>
                <a:endParaRPr lang="en-IN" dirty="0">
                  <a:latin typeface="Arial Narrow" panose="020B0606020202030204" pitchFamily="34" charset="0"/>
                </a:endParaRPr>
              </a:p>
            </p:txBody>
          </p:sp>
        </mc:Choice>
        <mc:Fallback xmlns="">
          <p:sp>
            <p:nvSpPr>
              <p:cNvPr id="126" name="TextBox 125">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7040275" y="4322878"/>
                <a:ext cx="503989" cy="491219"/>
              </a:xfrm>
              <a:prstGeom prst="ellipse">
                <a:avLst/>
              </a:prstGeom>
              <a:blipFill>
                <a:blip r:embed="rId11"/>
                <a:stretch>
                  <a:fillRect r="-2353"/>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7" name="TextBox 126">
                <a:extLst>
                  <a:ext uri="{FF2B5EF4-FFF2-40B4-BE49-F238E27FC236}">
                    <a16:creationId xmlns:a16="http://schemas.microsoft.com/office/drawing/2014/main" id="{36F03E2E-8229-4DFD-869B-C4F6CF96084E}"/>
                  </a:ext>
                </a:extLst>
              </p:cNvPr>
              <p:cNvSpPr txBox="1"/>
              <p:nvPr/>
            </p:nvSpPr>
            <p:spPr>
              <a:xfrm rot="10800000" flipV="1">
                <a:off x="6484802" y="4322878"/>
                <a:ext cx="503989" cy="491219"/>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𝑎</m:t>
                          </m:r>
                        </m:e>
                        <m:sub>
                          <m:r>
                            <a:rPr lang="en-IN">
                              <a:latin typeface="Cambria Math" panose="02040503050406030204" pitchFamily="18" charset="0"/>
                            </a:rPr>
                            <m:t>2,1</m:t>
                          </m:r>
                        </m:sub>
                      </m:sSub>
                    </m:oMath>
                  </m:oMathPara>
                </a14:m>
                <a:endParaRPr lang="en-IN" dirty="0">
                  <a:latin typeface="Arial Narrow" panose="020B0606020202030204" pitchFamily="34" charset="0"/>
                </a:endParaRPr>
              </a:p>
            </p:txBody>
          </p:sp>
        </mc:Choice>
        <mc:Fallback xmlns="">
          <p:sp>
            <p:nvSpPr>
              <p:cNvPr id="127" name="TextBox 126">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6484802" y="4322878"/>
                <a:ext cx="503989" cy="491219"/>
              </a:xfrm>
              <a:prstGeom prst="ellipse">
                <a:avLst/>
              </a:prstGeom>
              <a:blipFill>
                <a:blip r:embed="rId12"/>
                <a:stretch>
                  <a:fillRect r="-4762"/>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8" name="TextBox 127">
                <a:extLst>
                  <a:ext uri="{FF2B5EF4-FFF2-40B4-BE49-F238E27FC236}">
                    <a16:creationId xmlns:a16="http://schemas.microsoft.com/office/drawing/2014/main" id="{DF1D3D16-4F7D-4FD0-95EB-E2360401B577}"/>
                  </a:ext>
                </a:extLst>
              </p:cNvPr>
              <p:cNvSpPr txBox="1"/>
              <p:nvPr/>
            </p:nvSpPr>
            <p:spPr>
              <a:xfrm rot="10800000" flipV="1">
                <a:off x="5934712" y="4322879"/>
                <a:ext cx="503989" cy="491219"/>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ea typeface="Cambria Math" panose="02040503050406030204" pitchFamily="18" charset="0"/>
                              <a:cs typeface="Times New Roman" panose="02020603050405020304" pitchFamily="18" charset="0"/>
                            </a:rPr>
                            <m:t>𝑎</m:t>
                          </m:r>
                        </m:e>
                        <m:sub>
                          <m:r>
                            <a:rPr lang="en-IN">
                              <a:latin typeface="Cambria Math" panose="02040503050406030204" pitchFamily="18" charset="0"/>
                            </a:rPr>
                            <m:t>3</m:t>
                          </m:r>
                          <m:r>
                            <a:rPr lang="en-IN" b="0" i="1" smtClean="0">
                              <a:latin typeface="Cambria Math" panose="02040503050406030204" pitchFamily="18" charset="0"/>
                            </a:rPr>
                            <m:t>,</m:t>
                          </m:r>
                          <m:r>
                            <a:rPr lang="en-IN">
                              <a:latin typeface="Cambria Math" panose="02040503050406030204" pitchFamily="18" charset="0"/>
                            </a:rPr>
                            <m:t>1</m:t>
                          </m:r>
                        </m:sub>
                      </m:sSub>
                    </m:oMath>
                  </m:oMathPara>
                </a14:m>
                <a:endParaRPr lang="en-IN" dirty="0">
                  <a:latin typeface="Arial Narrow" panose="020B0606020202030204" pitchFamily="34" charset="0"/>
                </a:endParaRPr>
              </a:p>
            </p:txBody>
          </p:sp>
        </mc:Choice>
        <mc:Fallback xmlns="">
          <p:sp>
            <p:nvSpPr>
              <p:cNvPr id="128" name="TextBox 127">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5934712" y="4322879"/>
                <a:ext cx="503989" cy="491219"/>
              </a:xfrm>
              <a:prstGeom prst="ellipse">
                <a:avLst/>
              </a:prstGeom>
              <a:blipFill>
                <a:blip r:embed="rId13"/>
                <a:stretch>
                  <a:fillRect r="-4762"/>
                </a:stretch>
              </a:blipFill>
              <a:ln w="12700">
                <a:solidFill>
                  <a:schemeClr val="tx1"/>
                </a:solidFill>
              </a:ln>
            </p:spPr>
            <p:txBody>
              <a:bodyPr/>
              <a:lstStyle/>
              <a:p>
                <a:r>
                  <a:rPr lang="en-IN">
                    <a:noFill/>
                  </a:rPr>
                  <a:t> </a:t>
                </a:r>
              </a:p>
            </p:txBody>
          </p:sp>
        </mc:Fallback>
      </mc:AlternateContent>
      <p:cxnSp>
        <p:nvCxnSpPr>
          <p:cNvPr id="129" name="Straight Arrow Connector 128">
            <a:extLst>
              <a:ext uri="{FF2B5EF4-FFF2-40B4-BE49-F238E27FC236}">
                <a16:creationId xmlns:a16="http://schemas.microsoft.com/office/drawing/2014/main" id="{93CE584A-6224-4185-BA7F-7DBE679AAC01}"/>
              </a:ext>
            </a:extLst>
          </p:cNvPr>
          <p:cNvCxnSpPr>
            <a:cxnSpLocks/>
            <a:endCxn id="128" idx="6"/>
          </p:cNvCxnSpPr>
          <p:nvPr/>
        </p:nvCxnSpPr>
        <p:spPr>
          <a:xfrm>
            <a:off x="5446230" y="4564591"/>
            <a:ext cx="488482" cy="3898"/>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Elbow Connector 129"/>
          <p:cNvCxnSpPr>
            <a:stCxn id="102" idx="4"/>
            <a:endCxn id="128" idx="4"/>
          </p:cNvCxnSpPr>
          <p:nvPr/>
        </p:nvCxnSpPr>
        <p:spPr>
          <a:xfrm rot="5400000" flipH="1" flipV="1">
            <a:off x="4588079" y="3913931"/>
            <a:ext cx="698459" cy="2498794"/>
          </a:xfrm>
          <a:prstGeom prst="bentConnector3">
            <a:avLst>
              <a:gd name="adj1" fmla="val -32729"/>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Elbow Connector 130"/>
          <p:cNvCxnSpPr>
            <a:stCxn id="112" idx="4"/>
            <a:endCxn id="127" idx="4"/>
          </p:cNvCxnSpPr>
          <p:nvPr/>
        </p:nvCxnSpPr>
        <p:spPr>
          <a:xfrm rot="5400000" flipH="1" flipV="1">
            <a:off x="4584408" y="3356419"/>
            <a:ext cx="694709" cy="3610066"/>
          </a:xfrm>
          <a:prstGeom prst="bentConnector3">
            <a:avLst>
              <a:gd name="adj1" fmla="val -4839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Elbow Connector 131"/>
          <p:cNvCxnSpPr>
            <a:cxnSpLocks/>
          </p:cNvCxnSpPr>
          <p:nvPr/>
        </p:nvCxnSpPr>
        <p:spPr>
          <a:xfrm rot="5400000" flipH="1" flipV="1">
            <a:off x="4633582" y="2803637"/>
            <a:ext cx="694709" cy="4715629"/>
          </a:xfrm>
          <a:prstGeom prst="bentConnector3">
            <a:avLst>
              <a:gd name="adj1" fmla="val -62586"/>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3" name="TextBox 132">
                <a:extLst>
                  <a:ext uri="{FF2B5EF4-FFF2-40B4-BE49-F238E27FC236}">
                    <a16:creationId xmlns:a16="http://schemas.microsoft.com/office/drawing/2014/main" id="{AD6D90FF-8B08-44E6-ADD1-B975BDF15677}"/>
                  </a:ext>
                </a:extLst>
              </p:cNvPr>
              <p:cNvSpPr txBox="1"/>
              <p:nvPr/>
            </p:nvSpPr>
            <p:spPr>
              <a:xfrm rot="10800000" flipV="1">
                <a:off x="3430209" y="3752376"/>
                <a:ext cx="503989" cy="491219"/>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i="1">
                              <a:latin typeface="Cambria Math" panose="02040503050406030204" pitchFamily="18" charset="0"/>
                            </a:rPr>
                          </m:ctrlPr>
                        </m:sSubPr>
                        <m:e>
                          <m:r>
                            <a:rPr lang="en-IN">
                              <a:latin typeface="Cambria Math" panose="02040503050406030204" pitchFamily="18" charset="0"/>
                            </a:rPr>
                            <m:t>𝛼</m:t>
                          </m:r>
                        </m:e>
                        <m:sub>
                          <m:r>
                            <a:rPr lang="en-IN">
                              <a:latin typeface="Cambria Math" panose="02040503050406030204" pitchFamily="18" charset="0"/>
                            </a:rPr>
                            <m:t>1,2</m:t>
                          </m:r>
                        </m:sub>
                      </m:sSub>
                    </m:oMath>
                  </m:oMathPara>
                </a14:m>
                <a:endParaRPr lang="en-IN" dirty="0">
                  <a:latin typeface="Arial Narrow" panose="020B0606020202030204" pitchFamily="34" charset="0"/>
                </a:endParaRPr>
              </a:p>
            </p:txBody>
          </p:sp>
        </mc:Choice>
        <mc:Fallback xmlns="">
          <p:sp>
            <p:nvSpPr>
              <p:cNvPr id="133" name="TextBox 132">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3430209" y="3752376"/>
                <a:ext cx="503989" cy="491219"/>
              </a:xfrm>
              <a:prstGeom prst="ellipse">
                <a:avLst/>
              </a:prstGeom>
              <a:blipFill>
                <a:blip r:embed="rId14"/>
                <a:stretch>
                  <a:fillRect r="-4762"/>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4" name="TextBox 133">
                <a:extLst>
                  <a:ext uri="{FF2B5EF4-FFF2-40B4-BE49-F238E27FC236}">
                    <a16:creationId xmlns:a16="http://schemas.microsoft.com/office/drawing/2014/main" id="{36F03E2E-8229-4DFD-869B-C4F6CF96084E}"/>
                  </a:ext>
                </a:extLst>
              </p:cNvPr>
              <p:cNvSpPr txBox="1"/>
              <p:nvPr/>
            </p:nvSpPr>
            <p:spPr>
              <a:xfrm rot="10800000" flipV="1">
                <a:off x="2874736" y="3752376"/>
                <a:ext cx="503989" cy="491219"/>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i="1">
                              <a:latin typeface="Cambria Math" panose="02040503050406030204" pitchFamily="18" charset="0"/>
                            </a:rPr>
                          </m:ctrlPr>
                        </m:sSubPr>
                        <m:e>
                          <m:r>
                            <a:rPr lang="en-IN">
                              <a:latin typeface="Cambria Math" panose="02040503050406030204" pitchFamily="18" charset="0"/>
                            </a:rPr>
                            <m:t>𝛼</m:t>
                          </m:r>
                        </m:e>
                        <m:sub>
                          <m:r>
                            <a:rPr lang="en-IN">
                              <a:latin typeface="Cambria Math" panose="02040503050406030204" pitchFamily="18" charset="0"/>
                            </a:rPr>
                            <m:t>2,2</m:t>
                          </m:r>
                        </m:sub>
                      </m:sSub>
                    </m:oMath>
                  </m:oMathPara>
                </a14:m>
                <a:endParaRPr lang="en-IN" dirty="0">
                  <a:latin typeface="Arial Narrow" panose="020B0606020202030204" pitchFamily="34" charset="0"/>
                </a:endParaRPr>
              </a:p>
            </p:txBody>
          </p:sp>
        </mc:Choice>
        <mc:Fallback xmlns="">
          <p:sp>
            <p:nvSpPr>
              <p:cNvPr id="134" name="TextBox 133">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2874736" y="3752376"/>
                <a:ext cx="503989" cy="491219"/>
              </a:xfrm>
              <a:prstGeom prst="ellipse">
                <a:avLst/>
              </a:prstGeom>
              <a:blipFill>
                <a:blip r:embed="rId15"/>
                <a:stretch>
                  <a:fillRect r="-5952"/>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5" name="TextBox 134">
                <a:extLst>
                  <a:ext uri="{FF2B5EF4-FFF2-40B4-BE49-F238E27FC236}">
                    <a16:creationId xmlns:a16="http://schemas.microsoft.com/office/drawing/2014/main" id="{DF1D3D16-4F7D-4FD0-95EB-E2360401B577}"/>
                  </a:ext>
                </a:extLst>
              </p:cNvPr>
              <p:cNvSpPr txBox="1"/>
              <p:nvPr/>
            </p:nvSpPr>
            <p:spPr>
              <a:xfrm rot="10800000" flipV="1">
                <a:off x="2324646" y="3759951"/>
                <a:ext cx="503989" cy="47607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n-IN" sz="1600" b="0" i="1" smtClean="0">
                              <a:latin typeface="Cambria Math" panose="02040503050406030204" pitchFamily="18" charset="0"/>
                            </a:rPr>
                            <m:t>32</m:t>
                          </m:r>
                        </m:sub>
                      </m:sSub>
                    </m:oMath>
                  </m:oMathPara>
                </a14:m>
                <a:endParaRPr lang="en-IN" sz="1600" dirty="0">
                  <a:latin typeface="Arial Narrow" panose="020B0606020202030204" pitchFamily="34" charset="0"/>
                </a:endParaRPr>
              </a:p>
            </p:txBody>
          </p:sp>
        </mc:Choice>
        <mc:Fallback xmlns="">
          <p:sp>
            <p:nvSpPr>
              <p:cNvPr id="135" name="TextBox 134">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2324646" y="3759951"/>
                <a:ext cx="503989" cy="476071"/>
              </a:xfrm>
              <a:prstGeom prst="ellipse">
                <a:avLst/>
              </a:prstGeom>
              <a:blipFill>
                <a:blip r:embed="rId16"/>
                <a:stretch>
                  <a:fillRect/>
                </a:stretch>
              </a:blipFill>
              <a:ln w="12700">
                <a:solidFill>
                  <a:schemeClr val="tx1"/>
                </a:solidFill>
              </a:ln>
            </p:spPr>
            <p:txBody>
              <a:bodyPr/>
              <a:lstStyle/>
              <a:p>
                <a:r>
                  <a:rPr lang="en-IN">
                    <a:noFill/>
                  </a:rPr>
                  <a:t> </a:t>
                </a:r>
              </a:p>
            </p:txBody>
          </p:sp>
        </mc:Fallback>
      </mc:AlternateContent>
      <p:cxnSp>
        <p:nvCxnSpPr>
          <p:cNvPr id="136" name="Straight Arrow Connector 135">
            <a:extLst>
              <a:ext uri="{FF2B5EF4-FFF2-40B4-BE49-F238E27FC236}">
                <a16:creationId xmlns:a16="http://schemas.microsoft.com/office/drawing/2014/main" id="{47F04F6C-A5DE-48AC-A93E-885D326C2D52}"/>
              </a:ext>
            </a:extLst>
          </p:cNvPr>
          <p:cNvCxnSpPr>
            <a:cxnSpLocks/>
            <a:stCxn id="143" idx="2"/>
            <a:endCxn id="141" idx="3"/>
          </p:cNvCxnSpPr>
          <p:nvPr/>
        </p:nvCxnSpPr>
        <p:spPr>
          <a:xfrm flipV="1">
            <a:off x="7544264" y="3989890"/>
            <a:ext cx="623539" cy="8096"/>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8" name="TextBox 137">
                <a:extLst>
                  <a:ext uri="{FF2B5EF4-FFF2-40B4-BE49-F238E27FC236}">
                    <a16:creationId xmlns:a16="http://schemas.microsoft.com/office/drawing/2014/main" id="{CB478EDF-F147-4A46-ACD7-767B4A547BF2}"/>
                  </a:ext>
                </a:extLst>
              </p:cNvPr>
              <p:cNvSpPr txBox="1"/>
              <p:nvPr/>
            </p:nvSpPr>
            <p:spPr>
              <a:xfrm rot="10800000" flipV="1">
                <a:off x="1325934" y="3738310"/>
                <a:ext cx="508127" cy="51935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i="1">
                              <a:latin typeface="Cambria Math" panose="02040503050406030204" pitchFamily="18" charset="0"/>
                            </a:rPr>
                            <m:t>𝑞</m:t>
                          </m:r>
                        </m:e>
                        <m:sub>
                          <m:r>
                            <a:rPr lang="en-IN" b="0" i="1" smtClean="0">
                              <a:latin typeface="Cambria Math" panose="02040503050406030204" pitchFamily="18" charset="0"/>
                            </a:rPr>
                            <m:t>2</m:t>
                          </m:r>
                        </m:sub>
                      </m:sSub>
                    </m:oMath>
                  </m:oMathPara>
                </a14:m>
                <a:endParaRPr lang="en-IN" dirty="0">
                  <a:latin typeface="Arial Narrow" panose="020B0606020202030204" pitchFamily="34" charset="0"/>
                </a:endParaRPr>
              </a:p>
            </p:txBody>
          </p:sp>
        </mc:Choice>
        <mc:Fallback xmlns="">
          <p:sp>
            <p:nvSpPr>
              <p:cNvPr id="138" name="TextBox 137">
                <a:extLst>
                  <a:ext uri="{FF2B5EF4-FFF2-40B4-BE49-F238E27FC236}">
                    <a16:creationId xmlns:a16="http://schemas.microsoft.com/office/drawing/2014/main" id="{CB478EDF-F147-4A46-ACD7-767B4A547BF2}"/>
                  </a:ext>
                </a:extLst>
              </p:cNvPr>
              <p:cNvSpPr txBox="1">
                <a:spLocks noRot="1" noChangeAspect="1" noMove="1" noResize="1" noEditPoints="1" noAdjustHandles="1" noChangeArrowheads="1" noChangeShapeType="1" noTextEdit="1"/>
              </p:cNvSpPr>
              <p:nvPr/>
            </p:nvSpPr>
            <p:spPr>
              <a:xfrm rot="10800000" flipV="1">
                <a:off x="1325934" y="3738310"/>
                <a:ext cx="508127" cy="519351"/>
              </a:xfrm>
              <a:prstGeom prst="ellipse">
                <a:avLst/>
              </a:prstGeom>
              <a:blipFill>
                <a:blip r:embed="rId17"/>
                <a:stretch>
                  <a:fillRect/>
                </a:stretch>
              </a:blipFill>
              <a:ln w="12700">
                <a:solidFill>
                  <a:schemeClr val="tx1"/>
                </a:solidFill>
              </a:ln>
            </p:spPr>
            <p:txBody>
              <a:bodyPr/>
              <a:lstStyle/>
              <a:p>
                <a:r>
                  <a:rPr lang="en-IN">
                    <a:noFill/>
                  </a:rPr>
                  <a:t> </a:t>
                </a:r>
              </a:p>
            </p:txBody>
          </p:sp>
        </mc:Fallback>
      </mc:AlternateContent>
      <p:cxnSp>
        <p:nvCxnSpPr>
          <p:cNvPr id="139" name="Straight Arrow Connector 138">
            <a:extLst>
              <a:ext uri="{FF2B5EF4-FFF2-40B4-BE49-F238E27FC236}">
                <a16:creationId xmlns:a16="http://schemas.microsoft.com/office/drawing/2014/main" id="{20C9C6AC-19F5-4564-9E13-1B8D0A63390D}"/>
              </a:ext>
            </a:extLst>
          </p:cNvPr>
          <p:cNvCxnSpPr>
            <a:stCxn id="138" idx="2"/>
            <a:endCxn id="135" idx="6"/>
          </p:cNvCxnSpPr>
          <p:nvPr/>
        </p:nvCxnSpPr>
        <p:spPr>
          <a:xfrm>
            <a:off x="1834061" y="3997986"/>
            <a:ext cx="490585" cy="1"/>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40" name="Straight Arrow Connector 139">
            <a:extLst>
              <a:ext uri="{FF2B5EF4-FFF2-40B4-BE49-F238E27FC236}">
                <a16:creationId xmlns:a16="http://schemas.microsoft.com/office/drawing/2014/main" id="{19A753A8-AD35-4022-B3B3-F8FBEA03A328}"/>
              </a:ext>
            </a:extLst>
          </p:cNvPr>
          <p:cNvCxnSpPr>
            <a:stCxn id="141" idx="1"/>
            <a:endCxn id="142" idx="6"/>
          </p:cNvCxnSpPr>
          <p:nvPr/>
        </p:nvCxnSpPr>
        <p:spPr>
          <a:xfrm>
            <a:off x="9088809" y="3989890"/>
            <a:ext cx="414859" cy="8096"/>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41" name="TextBox 140">
            <a:extLst>
              <a:ext uri="{FF2B5EF4-FFF2-40B4-BE49-F238E27FC236}">
                <a16:creationId xmlns:a16="http://schemas.microsoft.com/office/drawing/2014/main" id="{A3B9A7C8-E18A-4216-ABA7-D4FFF52E7DCF}"/>
              </a:ext>
            </a:extLst>
          </p:cNvPr>
          <p:cNvSpPr txBox="1"/>
          <p:nvPr/>
        </p:nvSpPr>
        <p:spPr>
          <a:xfrm rot="10800000" flipV="1">
            <a:off x="8167803" y="3345364"/>
            <a:ext cx="921006" cy="1289051"/>
          </a:xfrm>
          <a:prstGeom prst="rect">
            <a:avLst/>
          </a:prstGeom>
          <a:noFill/>
          <a:ln>
            <a:solidFill>
              <a:srgbClr val="002060"/>
            </a:solidFill>
          </a:ln>
        </p:spPr>
        <p:txBody>
          <a:bodyPr wrap="square" rtlCol="0" anchor="ctr">
            <a:normAutofit lnSpcReduction="10000"/>
          </a:bodyPr>
          <a:lstStyle>
            <a:defPPr>
              <a:defRPr lang="en-US"/>
            </a:defPPr>
            <a:lvl1pPr algn="ctr">
              <a:defRPr>
                <a:latin typeface="Times New Roman" panose="02020603050405020304" pitchFamily="18" charset="0"/>
                <a:cs typeface="Times New Roman" panose="02020603050405020304" pitchFamily="18" charset="0"/>
              </a:defRPr>
            </a:lvl1pPr>
          </a:lstStyle>
          <a:p>
            <a:r>
              <a:rPr lang="en-IN" sz="1600" dirty="0">
                <a:latin typeface="Arial Narrow" panose="020B0606020202030204" pitchFamily="34" charset="0"/>
              </a:rPr>
              <a:t>Mul</a:t>
            </a:r>
          </a:p>
          <a:p>
            <a:r>
              <a:rPr lang="en-IN" sz="1600" dirty="0">
                <a:latin typeface="Arial Narrow" panose="020B0606020202030204" pitchFamily="34" charset="0"/>
              </a:rPr>
              <a:t> </a:t>
            </a:r>
          </a:p>
          <a:p>
            <a:r>
              <a:rPr lang="en-IN" sz="1600" dirty="0">
                <a:latin typeface="Arial Narrow" panose="020B0606020202030204" pitchFamily="34" charset="0"/>
              </a:rPr>
              <a:t>+</a:t>
            </a:r>
          </a:p>
          <a:p>
            <a:r>
              <a:rPr lang="en-IN" sz="1600" dirty="0">
                <a:latin typeface="Arial Narrow" panose="020B0606020202030204" pitchFamily="34" charset="0"/>
              </a:rPr>
              <a:t>Add</a:t>
            </a:r>
            <a:endParaRPr lang="en-IN" dirty="0">
              <a:latin typeface="Arial Narrow" panose="020B0606020202030204" pitchFamily="34" charset="0"/>
            </a:endParaRPr>
          </a:p>
          <a:p>
            <a:r>
              <a:rPr lang="en-IN" sz="1900" dirty="0">
                <a:latin typeface="Arial Narrow" panose="020B0606020202030204" pitchFamily="34" charset="0"/>
              </a:rPr>
              <a:t>(→)</a:t>
            </a:r>
          </a:p>
        </p:txBody>
      </p:sp>
      <mc:AlternateContent xmlns:mc="http://schemas.openxmlformats.org/markup-compatibility/2006" xmlns:a14="http://schemas.microsoft.com/office/drawing/2010/main">
        <mc:Choice Requires="a14">
          <p:sp>
            <p:nvSpPr>
              <p:cNvPr id="142" name="TextBox 141">
                <a:extLst>
                  <a:ext uri="{FF2B5EF4-FFF2-40B4-BE49-F238E27FC236}">
                    <a16:creationId xmlns:a16="http://schemas.microsoft.com/office/drawing/2014/main" id="{6803D624-9F2D-4CB6-A000-91DDACFD0A2B}"/>
                  </a:ext>
                </a:extLst>
              </p:cNvPr>
              <p:cNvSpPr txBox="1"/>
              <p:nvPr/>
            </p:nvSpPr>
            <p:spPr>
              <a:xfrm rot="10800000" flipV="1">
                <a:off x="9503668" y="3738310"/>
                <a:ext cx="503989" cy="51935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𝑦</m:t>
                          </m:r>
                        </m:e>
                        <m:sub>
                          <m:r>
                            <a:rPr lang="en-IN" i="1">
                              <a:latin typeface="Cambria Math" panose="02040503050406030204" pitchFamily="18" charset="0"/>
                            </a:rPr>
                            <m:t>2</m:t>
                          </m:r>
                        </m:sub>
                      </m:sSub>
                    </m:oMath>
                  </m:oMathPara>
                </a14:m>
                <a:endParaRPr lang="en-IN" dirty="0">
                  <a:latin typeface="Arial Narrow" panose="020B0606020202030204" pitchFamily="34" charset="0"/>
                </a:endParaRPr>
              </a:p>
            </p:txBody>
          </p:sp>
        </mc:Choice>
        <mc:Fallback xmlns="">
          <p:sp>
            <p:nvSpPr>
              <p:cNvPr id="142" name="TextBox 141">
                <a:extLst>
                  <a:ext uri="{FF2B5EF4-FFF2-40B4-BE49-F238E27FC236}">
                    <a16:creationId xmlns:a16="http://schemas.microsoft.com/office/drawing/2014/main" id="{6803D624-9F2D-4CB6-A000-91DDACFD0A2B}"/>
                  </a:ext>
                </a:extLst>
              </p:cNvPr>
              <p:cNvSpPr txBox="1">
                <a:spLocks noRot="1" noChangeAspect="1" noMove="1" noResize="1" noEditPoints="1" noAdjustHandles="1" noChangeArrowheads="1" noChangeShapeType="1" noTextEdit="1"/>
              </p:cNvSpPr>
              <p:nvPr/>
            </p:nvSpPr>
            <p:spPr>
              <a:xfrm rot="10800000" flipV="1">
                <a:off x="9503668" y="3738310"/>
                <a:ext cx="503989" cy="519351"/>
              </a:xfrm>
              <a:prstGeom prst="ellipse">
                <a:avLst/>
              </a:prstGeom>
              <a:blipFill>
                <a:blip r:embed="rId18"/>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3" name="TextBox 142">
                <a:extLst>
                  <a:ext uri="{FF2B5EF4-FFF2-40B4-BE49-F238E27FC236}">
                    <a16:creationId xmlns:a16="http://schemas.microsoft.com/office/drawing/2014/main" id="{AD6D90FF-8B08-44E6-ADD1-B975BDF15677}"/>
                  </a:ext>
                </a:extLst>
              </p:cNvPr>
              <p:cNvSpPr txBox="1"/>
              <p:nvPr/>
            </p:nvSpPr>
            <p:spPr>
              <a:xfrm rot="10800000" flipV="1">
                <a:off x="7040275" y="3752376"/>
                <a:ext cx="503989" cy="491219"/>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𝑎</m:t>
                          </m:r>
                        </m:e>
                        <m:sub>
                          <m:r>
                            <a:rPr lang="en-IN">
                              <a:latin typeface="Cambria Math" panose="02040503050406030204" pitchFamily="18" charset="0"/>
                            </a:rPr>
                            <m:t>1,2</m:t>
                          </m:r>
                        </m:sub>
                      </m:sSub>
                    </m:oMath>
                  </m:oMathPara>
                </a14:m>
                <a:endParaRPr lang="en-IN" dirty="0">
                  <a:latin typeface="Arial Narrow" panose="020B0606020202030204" pitchFamily="34" charset="0"/>
                </a:endParaRPr>
              </a:p>
            </p:txBody>
          </p:sp>
        </mc:Choice>
        <mc:Fallback xmlns="">
          <p:sp>
            <p:nvSpPr>
              <p:cNvPr id="143" name="TextBox 142">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7040275" y="3752376"/>
                <a:ext cx="503989" cy="491219"/>
              </a:xfrm>
              <a:prstGeom prst="ellipse">
                <a:avLst/>
              </a:prstGeom>
              <a:blipFill>
                <a:blip r:embed="rId19"/>
                <a:stretch>
                  <a:fillRect r="-2353"/>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4" name="TextBox 143">
                <a:extLst>
                  <a:ext uri="{FF2B5EF4-FFF2-40B4-BE49-F238E27FC236}">
                    <a16:creationId xmlns:a16="http://schemas.microsoft.com/office/drawing/2014/main" id="{36F03E2E-8229-4DFD-869B-C4F6CF96084E}"/>
                  </a:ext>
                </a:extLst>
              </p:cNvPr>
              <p:cNvSpPr txBox="1"/>
              <p:nvPr/>
            </p:nvSpPr>
            <p:spPr>
              <a:xfrm rot="10800000" flipV="1">
                <a:off x="6484802" y="3752376"/>
                <a:ext cx="503989" cy="491219"/>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𝑎</m:t>
                          </m:r>
                        </m:e>
                        <m:sub>
                          <m:r>
                            <a:rPr lang="en-IN">
                              <a:latin typeface="Cambria Math" panose="02040503050406030204" pitchFamily="18" charset="0"/>
                            </a:rPr>
                            <m:t>2,2</m:t>
                          </m:r>
                        </m:sub>
                      </m:sSub>
                    </m:oMath>
                  </m:oMathPara>
                </a14:m>
                <a:endParaRPr lang="en-IN" dirty="0">
                  <a:latin typeface="Arial Narrow" panose="020B0606020202030204" pitchFamily="34" charset="0"/>
                </a:endParaRPr>
              </a:p>
            </p:txBody>
          </p:sp>
        </mc:Choice>
        <mc:Fallback xmlns="">
          <p:sp>
            <p:nvSpPr>
              <p:cNvPr id="144" name="TextBox 143">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6484802" y="3752376"/>
                <a:ext cx="503989" cy="491219"/>
              </a:xfrm>
              <a:prstGeom prst="ellipse">
                <a:avLst/>
              </a:prstGeom>
              <a:blipFill>
                <a:blip r:embed="rId20"/>
                <a:stretch>
                  <a:fillRect r="-4762"/>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5" name="TextBox 144">
                <a:extLst>
                  <a:ext uri="{FF2B5EF4-FFF2-40B4-BE49-F238E27FC236}">
                    <a16:creationId xmlns:a16="http://schemas.microsoft.com/office/drawing/2014/main" id="{DF1D3D16-4F7D-4FD0-95EB-E2360401B577}"/>
                  </a:ext>
                </a:extLst>
              </p:cNvPr>
              <p:cNvSpPr txBox="1"/>
              <p:nvPr/>
            </p:nvSpPr>
            <p:spPr>
              <a:xfrm rot="10800000" flipV="1">
                <a:off x="5934712" y="3752377"/>
                <a:ext cx="503989" cy="491219"/>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ea typeface="Cambria Math" panose="02040503050406030204" pitchFamily="18" charset="0"/>
                              <a:cs typeface="Times New Roman" panose="02020603050405020304" pitchFamily="18" charset="0"/>
                            </a:rPr>
                            <m:t>𝑎</m:t>
                          </m:r>
                        </m:e>
                        <m:sub>
                          <m:r>
                            <a:rPr lang="en-IN">
                              <a:latin typeface="Cambria Math" panose="02040503050406030204" pitchFamily="18" charset="0"/>
                            </a:rPr>
                            <m:t>3</m:t>
                          </m:r>
                          <m:r>
                            <a:rPr lang="en-IN" b="0" i="1" smtClean="0">
                              <a:latin typeface="Cambria Math" panose="02040503050406030204" pitchFamily="18" charset="0"/>
                            </a:rPr>
                            <m:t>,</m:t>
                          </m:r>
                          <m:r>
                            <a:rPr lang="en-IN">
                              <a:latin typeface="Cambria Math" panose="02040503050406030204" pitchFamily="18" charset="0"/>
                            </a:rPr>
                            <m:t>2</m:t>
                          </m:r>
                        </m:sub>
                      </m:sSub>
                    </m:oMath>
                  </m:oMathPara>
                </a14:m>
                <a:endParaRPr lang="en-IN" dirty="0">
                  <a:latin typeface="Arial Narrow" panose="020B0606020202030204" pitchFamily="34" charset="0"/>
                </a:endParaRPr>
              </a:p>
            </p:txBody>
          </p:sp>
        </mc:Choice>
        <mc:Fallback xmlns="">
          <p:sp>
            <p:nvSpPr>
              <p:cNvPr id="145" name="TextBox 144">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5934712" y="3752377"/>
                <a:ext cx="503989" cy="491219"/>
              </a:xfrm>
              <a:prstGeom prst="ellipse">
                <a:avLst/>
              </a:prstGeom>
              <a:blipFill>
                <a:blip r:embed="rId21"/>
                <a:stretch>
                  <a:fillRect r="-4762"/>
                </a:stretch>
              </a:blipFill>
              <a:ln w="12700">
                <a:solidFill>
                  <a:schemeClr val="tx1"/>
                </a:solidFill>
              </a:ln>
            </p:spPr>
            <p:txBody>
              <a:bodyPr/>
              <a:lstStyle/>
              <a:p>
                <a:r>
                  <a:rPr lang="en-IN">
                    <a:noFill/>
                  </a:rPr>
                  <a:t> </a:t>
                </a:r>
              </a:p>
            </p:txBody>
          </p:sp>
        </mc:Fallback>
      </mc:AlternateContent>
      <p:cxnSp>
        <p:nvCxnSpPr>
          <p:cNvPr id="146" name="Straight Arrow Connector 145">
            <a:extLst>
              <a:ext uri="{FF2B5EF4-FFF2-40B4-BE49-F238E27FC236}">
                <a16:creationId xmlns:a16="http://schemas.microsoft.com/office/drawing/2014/main" id="{93CE584A-6224-4185-BA7F-7DBE679AAC01}"/>
              </a:ext>
            </a:extLst>
          </p:cNvPr>
          <p:cNvCxnSpPr>
            <a:cxnSpLocks/>
            <a:stCxn id="160" idx="1"/>
            <a:endCxn id="145" idx="6"/>
          </p:cNvCxnSpPr>
          <p:nvPr/>
        </p:nvCxnSpPr>
        <p:spPr>
          <a:xfrm>
            <a:off x="5446225" y="3989889"/>
            <a:ext cx="488487" cy="8098"/>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7" name="TextBox 146">
                <a:extLst>
                  <a:ext uri="{FF2B5EF4-FFF2-40B4-BE49-F238E27FC236}">
                    <a16:creationId xmlns:a16="http://schemas.microsoft.com/office/drawing/2014/main" id="{AD6D90FF-8B08-44E6-ADD1-B975BDF15677}"/>
                  </a:ext>
                </a:extLst>
              </p:cNvPr>
              <p:cNvSpPr txBox="1"/>
              <p:nvPr/>
            </p:nvSpPr>
            <p:spPr>
              <a:xfrm rot="10800000" flipV="1">
                <a:off x="3430209" y="3181872"/>
                <a:ext cx="503989" cy="491219"/>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i="1">
                              <a:latin typeface="Cambria Math" panose="02040503050406030204" pitchFamily="18" charset="0"/>
                            </a:rPr>
                          </m:ctrlPr>
                        </m:sSubPr>
                        <m:e>
                          <m:r>
                            <a:rPr lang="en-IN">
                              <a:latin typeface="Cambria Math" panose="02040503050406030204" pitchFamily="18" charset="0"/>
                            </a:rPr>
                            <m:t>𝛼</m:t>
                          </m:r>
                        </m:e>
                        <m:sub>
                          <m:r>
                            <a:rPr lang="en-IN">
                              <a:latin typeface="Cambria Math" panose="02040503050406030204" pitchFamily="18" charset="0"/>
                            </a:rPr>
                            <m:t>1,3</m:t>
                          </m:r>
                        </m:sub>
                      </m:sSub>
                    </m:oMath>
                  </m:oMathPara>
                </a14:m>
                <a:endParaRPr lang="en-IN" dirty="0">
                  <a:latin typeface="Arial Narrow" panose="020B0606020202030204" pitchFamily="34" charset="0"/>
                </a:endParaRPr>
              </a:p>
            </p:txBody>
          </p:sp>
        </mc:Choice>
        <mc:Fallback xmlns="">
          <p:sp>
            <p:nvSpPr>
              <p:cNvPr id="147" name="TextBox 146">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3430209" y="3181872"/>
                <a:ext cx="503989" cy="491219"/>
              </a:xfrm>
              <a:prstGeom prst="ellipse">
                <a:avLst/>
              </a:prstGeom>
              <a:blipFill>
                <a:blip r:embed="rId22"/>
                <a:stretch>
                  <a:fillRect r="-4762"/>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8" name="TextBox 147">
                <a:extLst>
                  <a:ext uri="{FF2B5EF4-FFF2-40B4-BE49-F238E27FC236}">
                    <a16:creationId xmlns:a16="http://schemas.microsoft.com/office/drawing/2014/main" id="{36F03E2E-8229-4DFD-869B-C4F6CF96084E}"/>
                  </a:ext>
                </a:extLst>
              </p:cNvPr>
              <p:cNvSpPr txBox="1"/>
              <p:nvPr/>
            </p:nvSpPr>
            <p:spPr>
              <a:xfrm rot="10800000" flipV="1">
                <a:off x="2874736" y="3181872"/>
                <a:ext cx="503989" cy="491219"/>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i="1">
                              <a:latin typeface="Cambria Math" panose="02040503050406030204" pitchFamily="18" charset="0"/>
                            </a:rPr>
                          </m:ctrlPr>
                        </m:sSubPr>
                        <m:e>
                          <m:r>
                            <a:rPr lang="en-IN">
                              <a:latin typeface="Cambria Math" panose="02040503050406030204" pitchFamily="18" charset="0"/>
                              <a:ea typeface="Cambria Math" panose="02040503050406030204" pitchFamily="18" charset="0"/>
                              <a:cs typeface="Times New Roman" panose="02020603050405020304" pitchFamily="18" charset="0"/>
                            </a:rPr>
                            <m:t>𝛼</m:t>
                          </m:r>
                        </m:e>
                        <m:sub>
                          <m:r>
                            <a:rPr lang="en-IN">
                              <a:latin typeface="Cambria Math" panose="02040503050406030204" pitchFamily="18" charset="0"/>
                            </a:rPr>
                            <m:t>2,3</m:t>
                          </m:r>
                        </m:sub>
                      </m:sSub>
                    </m:oMath>
                  </m:oMathPara>
                </a14:m>
                <a:endParaRPr lang="en-IN" dirty="0">
                  <a:latin typeface="Arial Narrow" panose="020B0606020202030204" pitchFamily="34" charset="0"/>
                </a:endParaRPr>
              </a:p>
            </p:txBody>
          </p:sp>
        </mc:Choice>
        <mc:Fallback xmlns="">
          <p:sp>
            <p:nvSpPr>
              <p:cNvPr id="148" name="TextBox 147">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2874736" y="3181872"/>
                <a:ext cx="503989" cy="491219"/>
              </a:xfrm>
              <a:prstGeom prst="ellipse">
                <a:avLst/>
              </a:prstGeom>
              <a:blipFill>
                <a:blip r:embed="rId23"/>
                <a:stretch>
                  <a:fillRect r="-5952"/>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9" name="TextBox 148">
                <a:extLst>
                  <a:ext uri="{FF2B5EF4-FFF2-40B4-BE49-F238E27FC236}">
                    <a16:creationId xmlns:a16="http://schemas.microsoft.com/office/drawing/2014/main" id="{DF1D3D16-4F7D-4FD0-95EB-E2360401B577}"/>
                  </a:ext>
                </a:extLst>
              </p:cNvPr>
              <p:cNvSpPr txBox="1"/>
              <p:nvPr/>
            </p:nvSpPr>
            <p:spPr>
              <a:xfrm rot="10800000" flipV="1">
                <a:off x="2324646" y="3189447"/>
                <a:ext cx="503989" cy="47607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n-IN" sz="1600" b="0" i="1" smtClean="0">
                              <a:latin typeface="Cambria Math" panose="02040503050406030204" pitchFamily="18" charset="0"/>
                            </a:rPr>
                            <m:t>33</m:t>
                          </m:r>
                        </m:sub>
                      </m:sSub>
                    </m:oMath>
                  </m:oMathPara>
                </a14:m>
                <a:endParaRPr lang="en-IN" sz="1600" dirty="0">
                  <a:latin typeface="Arial Narrow" panose="020B0606020202030204" pitchFamily="34" charset="0"/>
                </a:endParaRPr>
              </a:p>
            </p:txBody>
          </p:sp>
        </mc:Choice>
        <mc:Fallback xmlns="">
          <p:sp>
            <p:nvSpPr>
              <p:cNvPr id="149" name="TextBox 148">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2324646" y="3189447"/>
                <a:ext cx="503989" cy="476071"/>
              </a:xfrm>
              <a:prstGeom prst="ellipse">
                <a:avLst/>
              </a:prstGeom>
              <a:blipFill>
                <a:blip r:embed="rId24"/>
                <a:stretch>
                  <a:fillRect/>
                </a:stretch>
              </a:blipFill>
              <a:ln w="12700">
                <a:solidFill>
                  <a:schemeClr val="tx1"/>
                </a:solidFill>
              </a:ln>
            </p:spPr>
            <p:txBody>
              <a:bodyPr/>
              <a:lstStyle/>
              <a:p>
                <a:r>
                  <a:rPr lang="en-IN">
                    <a:noFill/>
                  </a:rPr>
                  <a:t> </a:t>
                </a:r>
              </a:p>
            </p:txBody>
          </p:sp>
        </mc:Fallback>
      </mc:AlternateContent>
      <p:cxnSp>
        <p:nvCxnSpPr>
          <p:cNvPr id="150" name="Straight Arrow Connector 149">
            <a:extLst>
              <a:ext uri="{FF2B5EF4-FFF2-40B4-BE49-F238E27FC236}">
                <a16:creationId xmlns:a16="http://schemas.microsoft.com/office/drawing/2014/main" id="{47F04F6C-A5DE-48AC-A93E-885D326C2D52}"/>
              </a:ext>
            </a:extLst>
          </p:cNvPr>
          <p:cNvCxnSpPr>
            <a:cxnSpLocks/>
            <a:stCxn id="156" idx="2"/>
          </p:cNvCxnSpPr>
          <p:nvPr/>
        </p:nvCxnSpPr>
        <p:spPr>
          <a:xfrm>
            <a:off x="7544264" y="3427482"/>
            <a:ext cx="623543" cy="1817"/>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2" name="TextBox 151">
                <a:extLst>
                  <a:ext uri="{FF2B5EF4-FFF2-40B4-BE49-F238E27FC236}">
                    <a16:creationId xmlns:a16="http://schemas.microsoft.com/office/drawing/2014/main" id="{CB478EDF-F147-4A46-ACD7-767B4A547BF2}"/>
                  </a:ext>
                </a:extLst>
              </p:cNvPr>
              <p:cNvSpPr txBox="1"/>
              <p:nvPr/>
            </p:nvSpPr>
            <p:spPr>
              <a:xfrm rot="10800000" flipV="1">
                <a:off x="1325934" y="3167806"/>
                <a:ext cx="508127" cy="51935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i="1">
                              <a:latin typeface="Cambria Math" panose="02040503050406030204" pitchFamily="18" charset="0"/>
                            </a:rPr>
                            <m:t>𝑞</m:t>
                          </m:r>
                        </m:e>
                        <m:sub>
                          <m:r>
                            <a:rPr lang="en-IN" b="0" i="1" smtClean="0">
                              <a:latin typeface="Cambria Math" panose="02040503050406030204" pitchFamily="18" charset="0"/>
                            </a:rPr>
                            <m:t>3</m:t>
                          </m:r>
                        </m:sub>
                      </m:sSub>
                    </m:oMath>
                  </m:oMathPara>
                </a14:m>
                <a:endParaRPr lang="en-IN" dirty="0">
                  <a:latin typeface="Arial Narrow" panose="020B0606020202030204" pitchFamily="34" charset="0"/>
                </a:endParaRPr>
              </a:p>
            </p:txBody>
          </p:sp>
        </mc:Choice>
        <mc:Fallback xmlns="">
          <p:sp>
            <p:nvSpPr>
              <p:cNvPr id="152" name="TextBox 151">
                <a:extLst>
                  <a:ext uri="{FF2B5EF4-FFF2-40B4-BE49-F238E27FC236}">
                    <a16:creationId xmlns:a16="http://schemas.microsoft.com/office/drawing/2014/main" id="{CB478EDF-F147-4A46-ACD7-767B4A547BF2}"/>
                  </a:ext>
                </a:extLst>
              </p:cNvPr>
              <p:cNvSpPr txBox="1">
                <a:spLocks noRot="1" noChangeAspect="1" noMove="1" noResize="1" noEditPoints="1" noAdjustHandles="1" noChangeArrowheads="1" noChangeShapeType="1" noTextEdit="1"/>
              </p:cNvSpPr>
              <p:nvPr/>
            </p:nvSpPr>
            <p:spPr>
              <a:xfrm rot="10800000" flipV="1">
                <a:off x="1325934" y="3167806"/>
                <a:ext cx="508127" cy="519351"/>
              </a:xfrm>
              <a:prstGeom prst="ellipse">
                <a:avLst/>
              </a:prstGeom>
              <a:blipFill>
                <a:blip r:embed="rId25"/>
                <a:stretch>
                  <a:fillRect/>
                </a:stretch>
              </a:blipFill>
              <a:ln w="12700">
                <a:solidFill>
                  <a:schemeClr val="tx1"/>
                </a:solidFill>
              </a:ln>
            </p:spPr>
            <p:txBody>
              <a:bodyPr/>
              <a:lstStyle/>
              <a:p>
                <a:r>
                  <a:rPr lang="en-IN">
                    <a:noFill/>
                  </a:rPr>
                  <a:t> </a:t>
                </a:r>
              </a:p>
            </p:txBody>
          </p:sp>
        </mc:Fallback>
      </mc:AlternateContent>
      <p:cxnSp>
        <p:nvCxnSpPr>
          <p:cNvPr id="153" name="Straight Arrow Connector 152">
            <a:extLst>
              <a:ext uri="{FF2B5EF4-FFF2-40B4-BE49-F238E27FC236}">
                <a16:creationId xmlns:a16="http://schemas.microsoft.com/office/drawing/2014/main" id="{20C9C6AC-19F5-4564-9E13-1B8D0A63390D}"/>
              </a:ext>
            </a:extLst>
          </p:cNvPr>
          <p:cNvCxnSpPr>
            <a:stCxn id="152" idx="2"/>
            <a:endCxn id="149" idx="6"/>
          </p:cNvCxnSpPr>
          <p:nvPr/>
        </p:nvCxnSpPr>
        <p:spPr>
          <a:xfrm>
            <a:off x="1834061" y="3427482"/>
            <a:ext cx="490585" cy="1"/>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54" name="Straight Arrow Connector 153">
            <a:extLst>
              <a:ext uri="{FF2B5EF4-FFF2-40B4-BE49-F238E27FC236}">
                <a16:creationId xmlns:a16="http://schemas.microsoft.com/office/drawing/2014/main" id="{19A753A8-AD35-4022-B3B3-F8FBEA03A328}"/>
              </a:ext>
            </a:extLst>
          </p:cNvPr>
          <p:cNvCxnSpPr>
            <a:endCxn id="155" idx="6"/>
          </p:cNvCxnSpPr>
          <p:nvPr/>
        </p:nvCxnSpPr>
        <p:spPr>
          <a:xfrm flipV="1">
            <a:off x="9087486" y="3427482"/>
            <a:ext cx="416182" cy="1818"/>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5" name="TextBox 154">
                <a:extLst>
                  <a:ext uri="{FF2B5EF4-FFF2-40B4-BE49-F238E27FC236}">
                    <a16:creationId xmlns:a16="http://schemas.microsoft.com/office/drawing/2014/main" id="{6803D624-9F2D-4CB6-A000-91DDACFD0A2B}"/>
                  </a:ext>
                </a:extLst>
              </p:cNvPr>
              <p:cNvSpPr txBox="1"/>
              <p:nvPr/>
            </p:nvSpPr>
            <p:spPr>
              <a:xfrm rot="10800000" flipV="1">
                <a:off x="9503668" y="3167806"/>
                <a:ext cx="503989" cy="51935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𝑦</m:t>
                          </m:r>
                        </m:e>
                        <m:sub>
                          <m:r>
                            <a:rPr lang="en-IN" i="1">
                              <a:latin typeface="Cambria Math" panose="02040503050406030204" pitchFamily="18" charset="0"/>
                            </a:rPr>
                            <m:t>3</m:t>
                          </m:r>
                        </m:sub>
                      </m:sSub>
                    </m:oMath>
                  </m:oMathPara>
                </a14:m>
                <a:endParaRPr lang="en-IN" dirty="0">
                  <a:latin typeface="Arial Narrow" panose="020B0606020202030204" pitchFamily="34" charset="0"/>
                </a:endParaRPr>
              </a:p>
            </p:txBody>
          </p:sp>
        </mc:Choice>
        <mc:Fallback xmlns="">
          <p:sp>
            <p:nvSpPr>
              <p:cNvPr id="155" name="TextBox 154">
                <a:extLst>
                  <a:ext uri="{FF2B5EF4-FFF2-40B4-BE49-F238E27FC236}">
                    <a16:creationId xmlns:a16="http://schemas.microsoft.com/office/drawing/2014/main" id="{6803D624-9F2D-4CB6-A000-91DDACFD0A2B}"/>
                  </a:ext>
                </a:extLst>
              </p:cNvPr>
              <p:cNvSpPr txBox="1">
                <a:spLocks noRot="1" noChangeAspect="1" noMove="1" noResize="1" noEditPoints="1" noAdjustHandles="1" noChangeArrowheads="1" noChangeShapeType="1" noTextEdit="1"/>
              </p:cNvSpPr>
              <p:nvPr/>
            </p:nvSpPr>
            <p:spPr>
              <a:xfrm rot="10800000" flipV="1">
                <a:off x="9503668" y="3167806"/>
                <a:ext cx="503989" cy="519351"/>
              </a:xfrm>
              <a:prstGeom prst="ellipse">
                <a:avLst/>
              </a:prstGeom>
              <a:blipFill>
                <a:blip r:embed="rId26"/>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6" name="TextBox 155">
                <a:extLst>
                  <a:ext uri="{FF2B5EF4-FFF2-40B4-BE49-F238E27FC236}">
                    <a16:creationId xmlns:a16="http://schemas.microsoft.com/office/drawing/2014/main" id="{AD6D90FF-8B08-44E6-ADD1-B975BDF15677}"/>
                  </a:ext>
                </a:extLst>
              </p:cNvPr>
              <p:cNvSpPr txBox="1"/>
              <p:nvPr/>
            </p:nvSpPr>
            <p:spPr>
              <a:xfrm rot="10800000" flipV="1">
                <a:off x="7040275" y="3181872"/>
                <a:ext cx="503989" cy="491219"/>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𝑎</m:t>
                          </m:r>
                        </m:e>
                        <m:sub>
                          <m:r>
                            <a:rPr lang="en-IN">
                              <a:latin typeface="Cambria Math" panose="02040503050406030204" pitchFamily="18" charset="0"/>
                            </a:rPr>
                            <m:t>1,3</m:t>
                          </m:r>
                        </m:sub>
                      </m:sSub>
                    </m:oMath>
                  </m:oMathPara>
                </a14:m>
                <a:endParaRPr lang="en-IN" dirty="0">
                  <a:latin typeface="Arial Narrow" panose="020B0606020202030204" pitchFamily="34" charset="0"/>
                </a:endParaRPr>
              </a:p>
            </p:txBody>
          </p:sp>
        </mc:Choice>
        <mc:Fallback xmlns="">
          <p:sp>
            <p:nvSpPr>
              <p:cNvPr id="156" name="TextBox 155">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7040275" y="3181872"/>
                <a:ext cx="503989" cy="491219"/>
              </a:xfrm>
              <a:prstGeom prst="ellipse">
                <a:avLst/>
              </a:prstGeom>
              <a:blipFill>
                <a:blip r:embed="rId27"/>
                <a:stretch>
                  <a:fillRect r="-2353"/>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7" name="TextBox 156">
                <a:extLst>
                  <a:ext uri="{FF2B5EF4-FFF2-40B4-BE49-F238E27FC236}">
                    <a16:creationId xmlns:a16="http://schemas.microsoft.com/office/drawing/2014/main" id="{36F03E2E-8229-4DFD-869B-C4F6CF96084E}"/>
                  </a:ext>
                </a:extLst>
              </p:cNvPr>
              <p:cNvSpPr txBox="1"/>
              <p:nvPr/>
            </p:nvSpPr>
            <p:spPr>
              <a:xfrm rot="10800000" flipV="1">
                <a:off x="6484802" y="3181872"/>
                <a:ext cx="503989" cy="491219"/>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ea typeface="Cambria Math" panose="02040503050406030204" pitchFamily="18" charset="0"/>
                              <a:cs typeface="Times New Roman" panose="02020603050405020304" pitchFamily="18" charset="0"/>
                            </a:rPr>
                            <m:t>𝑎</m:t>
                          </m:r>
                        </m:e>
                        <m:sub>
                          <m:r>
                            <a:rPr lang="en-IN">
                              <a:latin typeface="Cambria Math" panose="02040503050406030204" pitchFamily="18" charset="0"/>
                            </a:rPr>
                            <m:t>2,3</m:t>
                          </m:r>
                        </m:sub>
                      </m:sSub>
                    </m:oMath>
                  </m:oMathPara>
                </a14:m>
                <a:endParaRPr lang="en-IN" dirty="0">
                  <a:latin typeface="Arial Narrow" panose="020B0606020202030204" pitchFamily="34" charset="0"/>
                </a:endParaRPr>
              </a:p>
            </p:txBody>
          </p:sp>
        </mc:Choice>
        <mc:Fallback xmlns="">
          <p:sp>
            <p:nvSpPr>
              <p:cNvPr id="157" name="TextBox 156">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6484802" y="3181872"/>
                <a:ext cx="503989" cy="491219"/>
              </a:xfrm>
              <a:prstGeom prst="ellipse">
                <a:avLst/>
              </a:prstGeom>
              <a:blipFill>
                <a:blip r:embed="rId28"/>
                <a:stretch>
                  <a:fillRect r="-4762"/>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8" name="TextBox 157">
                <a:extLst>
                  <a:ext uri="{FF2B5EF4-FFF2-40B4-BE49-F238E27FC236}">
                    <a16:creationId xmlns:a16="http://schemas.microsoft.com/office/drawing/2014/main" id="{DF1D3D16-4F7D-4FD0-95EB-E2360401B577}"/>
                  </a:ext>
                </a:extLst>
              </p:cNvPr>
              <p:cNvSpPr txBox="1"/>
              <p:nvPr/>
            </p:nvSpPr>
            <p:spPr>
              <a:xfrm rot="10800000" flipV="1">
                <a:off x="5934712" y="3181873"/>
                <a:ext cx="503989" cy="491219"/>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ea typeface="Cambria Math" panose="02040503050406030204" pitchFamily="18" charset="0"/>
                              <a:cs typeface="Times New Roman" panose="02020603050405020304" pitchFamily="18" charset="0"/>
                            </a:rPr>
                            <m:t>𝑎</m:t>
                          </m:r>
                        </m:e>
                        <m:sub>
                          <m:r>
                            <a:rPr lang="en-IN">
                              <a:latin typeface="Cambria Math" panose="02040503050406030204" pitchFamily="18" charset="0"/>
                            </a:rPr>
                            <m:t>3</m:t>
                          </m:r>
                          <m:r>
                            <a:rPr lang="en-IN" b="0" i="1" smtClean="0">
                              <a:latin typeface="Cambria Math" panose="02040503050406030204" pitchFamily="18" charset="0"/>
                            </a:rPr>
                            <m:t>,</m:t>
                          </m:r>
                          <m:r>
                            <a:rPr lang="en-IN">
                              <a:latin typeface="Cambria Math" panose="02040503050406030204" pitchFamily="18" charset="0"/>
                            </a:rPr>
                            <m:t>3</m:t>
                          </m:r>
                        </m:sub>
                      </m:sSub>
                    </m:oMath>
                  </m:oMathPara>
                </a14:m>
                <a:endParaRPr lang="en-IN" dirty="0">
                  <a:latin typeface="Arial Narrow" panose="020B0606020202030204" pitchFamily="34" charset="0"/>
                </a:endParaRPr>
              </a:p>
            </p:txBody>
          </p:sp>
        </mc:Choice>
        <mc:Fallback xmlns="">
          <p:sp>
            <p:nvSpPr>
              <p:cNvPr id="158" name="TextBox 157">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5934712" y="3181873"/>
                <a:ext cx="503989" cy="491219"/>
              </a:xfrm>
              <a:prstGeom prst="ellipse">
                <a:avLst/>
              </a:prstGeom>
              <a:blipFill>
                <a:blip r:embed="rId29"/>
                <a:stretch>
                  <a:fillRect r="-4762"/>
                </a:stretch>
              </a:blipFill>
              <a:ln w="12700">
                <a:solidFill>
                  <a:schemeClr val="tx1"/>
                </a:solidFill>
              </a:ln>
            </p:spPr>
            <p:txBody>
              <a:bodyPr/>
              <a:lstStyle/>
              <a:p>
                <a:r>
                  <a:rPr lang="en-IN">
                    <a:noFill/>
                  </a:rPr>
                  <a:t> </a:t>
                </a:r>
              </a:p>
            </p:txBody>
          </p:sp>
        </mc:Fallback>
      </mc:AlternateContent>
      <p:cxnSp>
        <p:nvCxnSpPr>
          <p:cNvPr id="159" name="Straight Arrow Connector 158">
            <a:extLst>
              <a:ext uri="{FF2B5EF4-FFF2-40B4-BE49-F238E27FC236}">
                <a16:creationId xmlns:a16="http://schemas.microsoft.com/office/drawing/2014/main" id="{93CE584A-6224-4185-BA7F-7DBE679AAC01}"/>
              </a:ext>
            </a:extLst>
          </p:cNvPr>
          <p:cNvCxnSpPr>
            <a:cxnSpLocks/>
            <a:endCxn id="158" idx="6"/>
          </p:cNvCxnSpPr>
          <p:nvPr/>
        </p:nvCxnSpPr>
        <p:spPr>
          <a:xfrm>
            <a:off x="5446230" y="3423585"/>
            <a:ext cx="488482" cy="3898"/>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60" name="TextBox 159">
            <a:extLst>
              <a:ext uri="{FF2B5EF4-FFF2-40B4-BE49-F238E27FC236}">
                <a16:creationId xmlns:a16="http://schemas.microsoft.com/office/drawing/2014/main" id="{9F7A9C69-BDD0-4A8F-93A2-06B1642E46C3}"/>
              </a:ext>
            </a:extLst>
          </p:cNvPr>
          <p:cNvSpPr txBox="1"/>
          <p:nvPr/>
        </p:nvSpPr>
        <p:spPr>
          <a:xfrm rot="10800000" flipV="1">
            <a:off x="4358189" y="3345364"/>
            <a:ext cx="1088036" cy="1289050"/>
          </a:xfrm>
          <a:prstGeom prst="rect">
            <a:avLst/>
          </a:prstGeom>
          <a:noFill/>
          <a:ln>
            <a:solidFill>
              <a:srgbClr val="002060"/>
            </a:solidFill>
          </a:ln>
        </p:spPr>
        <p:txBody>
          <a:bodyPr wrap="square" rtlCol="0" anchor="t">
            <a:normAutofit/>
          </a:bodyPr>
          <a:lstStyle/>
          <a:p>
            <a:endParaRPr lang="en-IN" dirty="0">
              <a:latin typeface="Arial Narrow" panose="020B0606020202030204" pitchFamily="34" charset="0"/>
              <a:cs typeface="Times New Roman" panose="02020603050405020304" pitchFamily="18" charset="0"/>
            </a:endParaRPr>
          </a:p>
          <a:p>
            <a:pPr algn="ctr"/>
            <a:r>
              <a:rPr lang="en-IN" dirty="0" err="1">
                <a:latin typeface="Arial Narrow" panose="020B0606020202030204" pitchFamily="34" charset="0"/>
                <a:cs typeface="Times New Roman" panose="02020603050405020304" pitchFamily="18" charset="0"/>
              </a:rPr>
              <a:t>Softmax</a:t>
            </a:r>
            <a:r>
              <a:rPr lang="en-IN" sz="2400" dirty="0">
                <a:latin typeface="Arial Narrow" panose="020B0606020202030204" pitchFamily="34" charset="0"/>
                <a:cs typeface="Times New Roman" panose="02020603050405020304" pitchFamily="18" charset="0"/>
              </a:rPr>
              <a:t>()</a:t>
            </a:r>
          </a:p>
          <a:p>
            <a:pPr algn="ctr"/>
            <a:r>
              <a:rPr lang="en-IN" dirty="0">
                <a:latin typeface="Arial Narrow" panose="020B0606020202030204" pitchFamily="34" charset="0"/>
                <a:cs typeface="Times New Roman" panose="02020603050405020304" pitchFamily="18" charset="0"/>
              </a:rPr>
              <a:t>(→)</a:t>
            </a:r>
          </a:p>
          <a:p>
            <a:endParaRPr lang="en-IN" dirty="0">
              <a:latin typeface="Arial Narrow" panose="020B0606020202030204" pitchFamily="34" charset="0"/>
              <a:cs typeface="Times New Roman" panose="02020603050405020304" pitchFamily="18" charset="0"/>
            </a:endParaRPr>
          </a:p>
          <a:p>
            <a:pPr algn="ctr"/>
            <a:endParaRPr lang="en-IN" dirty="0">
              <a:latin typeface="Arial Narrow" panose="020B0606020202030204" pitchFamily="34" charset="0"/>
              <a:cs typeface="Times New Roman" panose="02020603050405020304" pitchFamily="18" charset="0"/>
            </a:endParaRPr>
          </a:p>
        </p:txBody>
      </p:sp>
      <p:sp>
        <p:nvSpPr>
          <p:cNvPr id="161" name="Rectangle 160"/>
          <p:cNvSpPr/>
          <p:nvPr/>
        </p:nvSpPr>
        <p:spPr>
          <a:xfrm rot="10800000">
            <a:off x="8415748" y="3614604"/>
            <a:ext cx="425116" cy="369332"/>
          </a:xfrm>
          <a:prstGeom prst="rect">
            <a:avLst/>
          </a:prstGeom>
        </p:spPr>
        <p:txBody>
          <a:bodyPr wrap="none">
            <a:spAutoFit/>
          </a:bodyPr>
          <a:lstStyle/>
          <a:p>
            <a:pPr algn="ctr"/>
            <a:r>
              <a:rPr lang="en-IN" dirty="0">
                <a:latin typeface="Arial Narrow" panose="020B0606020202030204" pitchFamily="34" charset="0"/>
                <a:cs typeface="Times New Roman" panose="02020603050405020304" pitchFamily="18" charset="0"/>
              </a:rPr>
              <a:t>(↑)</a:t>
            </a:r>
          </a:p>
        </p:txBody>
      </p:sp>
      <p:cxnSp>
        <p:nvCxnSpPr>
          <p:cNvPr id="66" name="Straight Arrow Connector 65">
            <a:extLst>
              <a:ext uri="{FF2B5EF4-FFF2-40B4-BE49-F238E27FC236}">
                <a16:creationId xmlns:a16="http://schemas.microsoft.com/office/drawing/2014/main" id="{B333D696-ABBB-4E3C-A73E-14E708985BDD}"/>
              </a:ext>
            </a:extLst>
          </p:cNvPr>
          <p:cNvCxnSpPr>
            <a:cxnSpLocks/>
          </p:cNvCxnSpPr>
          <p:nvPr/>
        </p:nvCxnSpPr>
        <p:spPr>
          <a:xfrm flipV="1">
            <a:off x="3934198" y="3423585"/>
            <a:ext cx="423985" cy="2890"/>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E38820B9-3C38-42D8-9CB0-71BE4FD88594}"/>
              </a:ext>
            </a:extLst>
          </p:cNvPr>
          <p:cNvCxnSpPr>
            <a:cxnSpLocks/>
          </p:cNvCxnSpPr>
          <p:nvPr/>
        </p:nvCxnSpPr>
        <p:spPr>
          <a:xfrm flipV="1">
            <a:off x="3949622" y="3983010"/>
            <a:ext cx="423985" cy="2890"/>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C8AF8AB2-EDD3-4821-8D76-9723FF384552}"/>
              </a:ext>
            </a:extLst>
          </p:cNvPr>
          <p:cNvCxnSpPr>
            <a:cxnSpLocks/>
          </p:cNvCxnSpPr>
          <p:nvPr/>
        </p:nvCxnSpPr>
        <p:spPr>
          <a:xfrm flipV="1">
            <a:off x="3945228" y="4565095"/>
            <a:ext cx="423985" cy="2890"/>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79900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8" name="Straight Connector 57">
            <a:extLst>
              <a:ext uri="{FF2B5EF4-FFF2-40B4-BE49-F238E27FC236}">
                <a16:creationId xmlns:a16="http://schemas.microsoft.com/office/drawing/2014/main" id="{1B0BBDC5-3F7A-42D8-B1E5-54F450CE7F0A}"/>
              </a:ext>
            </a:extLst>
          </p:cNvPr>
          <p:cNvCxnSpPr>
            <a:cxnSpLocks/>
          </p:cNvCxnSpPr>
          <p:nvPr/>
        </p:nvCxnSpPr>
        <p:spPr>
          <a:xfrm>
            <a:off x="5465109" y="3369878"/>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086F0207-6EE0-4AC4-BD2F-4600D077A09E}"/>
              </a:ext>
            </a:extLst>
          </p:cNvPr>
          <p:cNvSpPr txBox="1"/>
          <p:nvPr/>
        </p:nvSpPr>
        <p:spPr>
          <a:xfrm>
            <a:off x="8213602" y="3957820"/>
            <a:ext cx="2763532" cy="1015663"/>
          </a:xfrm>
          <a:prstGeom prst="rect">
            <a:avLst/>
          </a:prstGeom>
          <a:noFill/>
        </p:spPr>
        <p:txBody>
          <a:bodyPr wrap="square" rtlCol="0">
            <a:spAutoFit/>
          </a:bodyPr>
          <a:lstStyle/>
          <a:p>
            <a:r>
              <a:rPr lang="en-IN" sz="2000" dirty="0">
                <a:latin typeface="Arial Narrow" panose="020B0606020202030204" pitchFamily="34" charset="0"/>
                <a:cs typeface="Times New Roman" panose="02020603050405020304" pitchFamily="18" charset="0"/>
              </a:rPr>
              <a:t>Operations:</a:t>
            </a:r>
          </a:p>
          <a:p>
            <a:r>
              <a:rPr lang="en-IN" sz="2000" dirty="0">
                <a:latin typeface="Arial Narrow" panose="020B0606020202030204" pitchFamily="34" charset="0"/>
                <a:cs typeface="Times New Roman" panose="02020603050405020304" pitchFamily="18" charset="0"/>
              </a:rPr>
              <a:t>Key Vectors: k=</a:t>
            </a:r>
            <a:r>
              <a:rPr lang="en-IN" sz="2000" dirty="0" err="1">
                <a:latin typeface="Arial Narrow" panose="020B0606020202030204" pitchFamily="34" charset="0"/>
                <a:cs typeface="Times New Roman" panose="02020603050405020304" pitchFamily="18" charset="0"/>
              </a:rPr>
              <a:t>xW</a:t>
            </a:r>
            <a:r>
              <a:rPr lang="en-IN" sz="2000" baseline="-25000" dirty="0" err="1">
                <a:latin typeface="Arial Narrow" panose="020B0606020202030204" pitchFamily="34" charset="0"/>
                <a:cs typeface="Times New Roman" panose="02020603050405020304" pitchFamily="18" charset="0"/>
              </a:rPr>
              <a:t>k</a:t>
            </a:r>
            <a:endParaRPr lang="en-IN" sz="2000" baseline="-25000" dirty="0">
              <a:latin typeface="Arial Narrow" panose="020B0606020202030204" pitchFamily="34" charset="0"/>
              <a:cs typeface="Times New Roman" panose="02020603050405020304" pitchFamily="18" charset="0"/>
            </a:endParaRPr>
          </a:p>
          <a:p>
            <a:r>
              <a:rPr lang="en-IN" sz="2000" dirty="0">
                <a:latin typeface="Arial Narrow" panose="020B0606020202030204" pitchFamily="34" charset="0"/>
                <a:cs typeface="Times New Roman" panose="02020603050405020304" pitchFamily="18" charset="0"/>
              </a:rPr>
              <a:t>Value Vectors: v=</a:t>
            </a:r>
            <a:r>
              <a:rPr lang="en-IN" sz="2000" dirty="0" err="1">
                <a:latin typeface="Arial Narrow" panose="020B0606020202030204" pitchFamily="34" charset="0"/>
                <a:cs typeface="Times New Roman" panose="02020603050405020304" pitchFamily="18" charset="0"/>
              </a:rPr>
              <a:t>xW</a:t>
            </a:r>
            <a:r>
              <a:rPr lang="en-IN" sz="2000" baseline="-25000" dirty="0" err="1">
                <a:latin typeface="Arial Narrow" panose="020B0606020202030204" pitchFamily="34" charset="0"/>
                <a:cs typeface="Times New Roman" panose="02020603050405020304" pitchFamily="18" charset="0"/>
              </a:rPr>
              <a:t>v</a:t>
            </a:r>
            <a:endParaRPr lang="en-IN" sz="2000" baseline="-25000" dirty="0">
              <a:latin typeface="Arial Narrow" panose="020B0606020202030204" pitchFamily="34" charset="0"/>
              <a:cs typeface="Times New Roman" panose="02020603050405020304" pitchFamily="18" charset="0"/>
            </a:endParaRPr>
          </a:p>
        </p:txBody>
      </p:sp>
      <p:sp>
        <p:nvSpPr>
          <p:cNvPr id="64" name="TextBox 63">
            <a:extLst>
              <a:ext uri="{FF2B5EF4-FFF2-40B4-BE49-F238E27FC236}">
                <a16:creationId xmlns:a16="http://schemas.microsoft.com/office/drawing/2014/main" id="{42041928-98FF-4E1F-8EF9-F54454ED2806}"/>
              </a:ext>
            </a:extLst>
          </p:cNvPr>
          <p:cNvSpPr txBox="1"/>
          <p:nvPr/>
        </p:nvSpPr>
        <p:spPr>
          <a:xfrm>
            <a:off x="405440" y="3682496"/>
            <a:ext cx="2102654" cy="1631216"/>
          </a:xfrm>
          <a:prstGeom prst="rect">
            <a:avLst/>
          </a:prstGeom>
          <a:noFill/>
        </p:spPr>
        <p:txBody>
          <a:bodyPr wrap="square" rtlCol="0">
            <a:spAutoFit/>
          </a:bodyPr>
          <a:lstStyle/>
          <a:p>
            <a:r>
              <a:rPr lang="en-IN" sz="2000" dirty="0">
                <a:latin typeface="Arial Narrow" panose="020B0606020202030204" pitchFamily="34" charset="0"/>
                <a:cs typeface="Times New Roman" panose="02020603050405020304" pitchFamily="18" charset="0"/>
              </a:rPr>
              <a:t>Inputs:</a:t>
            </a:r>
          </a:p>
          <a:p>
            <a:r>
              <a:rPr lang="en-IN" sz="2000" dirty="0">
                <a:latin typeface="Arial Narrow" panose="020B0606020202030204" pitchFamily="34" charset="0"/>
                <a:cs typeface="Times New Roman" panose="02020603050405020304" pitchFamily="18" charset="0"/>
              </a:rPr>
              <a:t>Input Vector X </a:t>
            </a:r>
          </a:p>
          <a:p>
            <a:r>
              <a:rPr lang="en-IN" sz="2000" dirty="0">
                <a:latin typeface="Arial Narrow" panose="020B0606020202030204" pitchFamily="34" charset="0"/>
                <a:cs typeface="Times New Roman" panose="02020603050405020304" pitchFamily="18" charset="0"/>
              </a:rPr>
              <a:t>(Dimension : </a:t>
            </a:r>
            <a:r>
              <a:rPr lang="en-IN" sz="2000" dirty="0" err="1">
                <a:latin typeface="Arial Narrow" panose="020B0606020202030204" pitchFamily="34" charset="0"/>
                <a:cs typeface="Times New Roman" panose="02020603050405020304" pitchFamily="18" charset="0"/>
              </a:rPr>
              <a:t>NxD</a:t>
            </a:r>
            <a:r>
              <a:rPr lang="en-IN" sz="2000" dirty="0">
                <a:latin typeface="Arial Narrow" panose="020B0606020202030204" pitchFamily="34" charset="0"/>
                <a:cs typeface="Times New Roman" panose="02020603050405020304" pitchFamily="18" charset="0"/>
              </a:rPr>
              <a:t>)</a:t>
            </a:r>
          </a:p>
          <a:p>
            <a:r>
              <a:rPr lang="en-IN" sz="2000" dirty="0">
                <a:latin typeface="Arial Narrow" panose="020B0606020202030204" pitchFamily="34" charset="0"/>
                <a:cs typeface="Times New Roman" panose="02020603050405020304" pitchFamily="18" charset="0"/>
              </a:rPr>
              <a:t>Query Vector q </a:t>
            </a:r>
          </a:p>
          <a:p>
            <a:r>
              <a:rPr lang="en-IN" sz="2000" dirty="0">
                <a:latin typeface="Arial Narrow" panose="020B0606020202030204" pitchFamily="34" charset="0"/>
                <a:cs typeface="Times New Roman" panose="02020603050405020304" pitchFamily="18" charset="0"/>
              </a:rPr>
              <a:t>(Dimension : </a:t>
            </a:r>
            <a:r>
              <a:rPr lang="en-IN" sz="2000" dirty="0" err="1">
                <a:latin typeface="Arial Narrow" panose="020B0606020202030204" pitchFamily="34" charset="0"/>
                <a:cs typeface="Times New Roman" panose="02020603050405020304" pitchFamily="18" charset="0"/>
              </a:rPr>
              <a:t>MxD</a:t>
            </a:r>
            <a:r>
              <a:rPr lang="en-IN" sz="2000" baseline="-25000" dirty="0" err="1">
                <a:latin typeface="Arial Narrow" panose="020B0606020202030204" pitchFamily="34" charset="0"/>
                <a:cs typeface="Times New Roman" panose="02020603050405020304" pitchFamily="18" charset="0"/>
              </a:rPr>
              <a:t>k</a:t>
            </a:r>
            <a:r>
              <a:rPr lang="en-IN" sz="2000" dirty="0">
                <a:latin typeface="Arial Narrow" panose="020B0606020202030204" pitchFamily="34" charset="0"/>
                <a:cs typeface="Times New Roman" panose="02020603050405020304" pitchFamily="18" charset="0"/>
              </a:rPr>
              <a:t>)</a:t>
            </a:r>
          </a:p>
        </p:txBody>
      </p:sp>
      <p:sp>
        <p:nvSpPr>
          <p:cNvPr id="41" name="Rectangle 40">
            <a:extLst>
              <a:ext uri="{FF2B5EF4-FFF2-40B4-BE49-F238E27FC236}">
                <a16:creationId xmlns:a16="http://schemas.microsoft.com/office/drawing/2014/main" id="{E0A2980C-20D6-4F77-B088-CC2A27DFF329}"/>
              </a:ext>
            </a:extLst>
          </p:cNvPr>
          <p:cNvSpPr/>
          <p:nvPr/>
        </p:nvSpPr>
        <p:spPr>
          <a:xfrm>
            <a:off x="568938" y="1086723"/>
            <a:ext cx="11054121" cy="2308324"/>
          </a:xfrm>
          <a:prstGeom prst="rect">
            <a:avLst/>
          </a:prstGeom>
        </p:spPr>
        <p:txBody>
          <a:bodyPr wrap="square">
            <a:spAutoFit/>
          </a:bodyPr>
          <a:lstStyle/>
          <a:p>
            <a:pPr marL="342900" indent="-342900" algn="just">
              <a:buFont typeface="Arial" panose="020B0604020202020204" pitchFamily="34" charset="0"/>
              <a:buChar char="•"/>
            </a:pPr>
            <a:r>
              <a:rPr lang="en-US" dirty="0">
                <a:latin typeface="Arial Narrow" panose="020B0606020202030204" pitchFamily="34" charset="0"/>
              </a:rPr>
              <a:t>These transformations generate three distinct vector representations: Query (Q), Key (K), and Value (V). </a:t>
            </a:r>
          </a:p>
          <a:p>
            <a:pPr marL="342900" indent="-342900" algn="just">
              <a:buFont typeface="Arial" panose="020B0604020202020204" pitchFamily="34" charset="0"/>
              <a:buChar char="•"/>
            </a:pPr>
            <a:r>
              <a:rPr lang="en-US" dirty="0">
                <a:latin typeface="Arial Narrow" panose="020B0606020202030204" pitchFamily="34" charset="0"/>
              </a:rPr>
              <a:t>The Query and Key vectors are used to compute alignment scores through the self-attention mechanism, determining how strongly each token should attend to the others, while the Value vectors are used to construct the final weighted representation. </a:t>
            </a:r>
          </a:p>
          <a:p>
            <a:pPr marL="342900" indent="-342900" algn="just">
              <a:buFont typeface="Arial" panose="020B0604020202020204" pitchFamily="34" charset="0"/>
              <a:buChar char="•"/>
            </a:pPr>
            <a:r>
              <a:rPr lang="en-US" dirty="0">
                <a:latin typeface="Arial Narrow" panose="020B0606020202030204" pitchFamily="34" charset="0"/>
              </a:rPr>
              <a:t>By applying separate linear transformations to generate Q, K, and V, the model can learn specialized feature representations for measuring token relationships and producing the output. </a:t>
            </a:r>
          </a:p>
          <a:p>
            <a:pPr marL="342900" indent="-342900" algn="just">
              <a:buFont typeface="Arial" panose="020B0604020202020204" pitchFamily="34" charset="0"/>
              <a:buChar char="•"/>
            </a:pPr>
            <a:r>
              <a:rPr lang="en-US" dirty="0">
                <a:latin typeface="Arial Narrow" panose="020B0606020202030204" pitchFamily="34" charset="0"/>
              </a:rPr>
              <a:t>This separation increases the flexibility and expressive power of the attention mechanism, enabling the model to capture more complex relationships and dependencies within the input data.</a:t>
            </a:r>
            <a:endParaRPr lang="en-IN" sz="2000" dirty="0">
              <a:latin typeface="Arial Narrow" panose="020B0606020202030204" pitchFamily="34" charset="0"/>
              <a:cs typeface="Times New Roman" panose="02020603050405020304" pitchFamily="18" charset="0"/>
            </a:endParaRPr>
          </a:p>
        </p:txBody>
      </p:sp>
      <p:sp>
        <p:nvSpPr>
          <p:cNvPr id="89" name="Title 3">
            <a:extLst>
              <a:ext uri="{FF2B5EF4-FFF2-40B4-BE49-F238E27FC236}">
                <a16:creationId xmlns:a16="http://schemas.microsoft.com/office/drawing/2014/main" id="{019F1C44-E12A-413A-A03B-920A30FCB170}"/>
              </a:ext>
            </a:extLst>
          </p:cNvPr>
          <p:cNvSpPr>
            <a:spLocks noGrp="1"/>
          </p:cNvSpPr>
          <p:nvPr>
            <p:ph type="title"/>
          </p:nvPr>
        </p:nvSpPr>
        <p:spPr>
          <a:xfrm>
            <a:off x="405440" y="293766"/>
            <a:ext cx="10515600" cy="859910"/>
          </a:xfrm>
        </p:spPr>
        <p:txBody>
          <a:bodyPr>
            <a:normAutofit/>
          </a:bodyPr>
          <a:lstStyle/>
          <a:p>
            <a:r>
              <a:rPr lang="en-IN" sz="3200" dirty="0">
                <a:latin typeface="Century" panose="02040604050505020304" pitchFamily="18" charset="0"/>
              </a:rPr>
              <a:t>Attention Layer</a:t>
            </a:r>
          </a:p>
        </p:txBody>
      </p:sp>
      <p:sp>
        <p:nvSpPr>
          <p:cNvPr id="36" name="TextBox 35">
            <a:extLst>
              <a:ext uri="{FF2B5EF4-FFF2-40B4-BE49-F238E27FC236}">
                <a16:creationId xmlns:a16="http://schemas.microsoft.com/office/drawing/2014/main" id="{066369FF-8C6A-4A90-B298-C4FC2A5599D2}"/>
              </a:ext>
            </a:extLst>
          </p:cNvPr>
          <p:cNvSpPr txBox="1"/>
          <p:nvPr/>
        </p:nvSpPr>
        <p:spPr>
          <a:xfrm>
            <a:off x="80647" y="6618476"/>
            <a:ext cx="4395359" cy="276999"/>
          </a:xfrm>
          <a:prstGeom prst="rect">
            <a:avLst/>
          </a:prstGeom>
          <a:noFill/>
        </p:spPr>
        <p:txBody>
          <a:bodyPr wrap="square" rtlCol="0">
            <a:spAutoFit/>
          </a:bodyPr>
          <a:lstStyle/>
          <a:p>
            <a:r>
              <a:rPr lang="en-IN" sz="1200" dirty="0">
                <a:latin typeface="Arial Narrow" panose="020B0606020202030204" pitchFamily="34" charset="0"/>
                <a:cs typeface="Times New Roman" panose="02020603050405020304" pitchFamily="18" charset="0"/>
              </a:rPr>
              <a:t>Concept: Fei-Fei Li Attention and Transformers CS231n Stanford Lecture</a:t>
            </a: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D6D90FF-8B08-44E6-ADD1-B975BDF15677}"/>
                  </a:ext>
                </a:extLst>
              </p:cNvPr>
              <p:cNvSpPr txBox="1"/>
              <p:nvPr/>
            </p:nvSpPr>
            <p:spPr>
              <a:xfrm rot="10800000" flipV="1">
                <a:off x="4779486" y="4944598"/>
                <a:ext cx="503989" cy="491219"/>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𝑘</m:t>
                          </m:r>
                        </m:e>
                        <m:sub>
                          <m:r>
                            <a:rPr lang="en-IN">
                              <a:latin typeface="Cambria Math" panose="02040503050406030204" pitchFamily="18" charset="0"/>
                            </a:rPr>
                            <m:t>1</m:t>
                          </m:r>
                        </m:sub>
                      </m:sSub>
                    </m:oMath>
                  </m:oMathPara>
                </a14:m>
                <a:endParaRPr lang="en-IN" dirty="0">
                  <a:latin typeface="Arial Narrow" panose="020B0606020202030204" pitchFamily="34" charset="0"/>
                </a:endParaRPr>
              </a:p>
            </p:txBody>
          </p:sp>
        </mc:Choice>
        <mc:Fallback xmlns="">
          <p:sp>
            <p:nvSpPr>
              <p:cNvPr id="38" name="TextBox 37">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4779486" y="4944598"/>
                <a:ext cx="503989" cy="491219"/>
              </a:xfrm>
              <a:prstGeom prst="ellipse">
                <a:avLst/>
              </a:prstGeom>
              <a:blipFill>
                <a:blip r:embed="rId2"/>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36F03E2E-8229-4DFD-869B-C4F6CF96084E}"/>
                  </a:ext>
                </a:extLst>
              </p:cNvPr>
              <p:cNvSpPr txBox="1"/>
              <p:nvPr/>
            </p:nvSpPr>
            <p:spPr>
              <a:xfrm rot="10800000" flipV="1">
                <a:off x="4224013" y="4944599"/>
                <a:ext cx="503989" cy="491219"/>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a:latin typeface="Cambria Math" panose="02040503050406030204" pitchFamily="18" charset="0"/>
                            </a:rPr>
                            <m:t>𝑘</m:t>
                          </m:r>
                        </m:e>
                        <m:sub>
                          <m:r>
                            <a:rPr lang="en-IN" b="0" i="1" smtClean="0">
                              <a:latin typeface="Cambria Math" panose="02040503050406030204" pitchFamily="18" charset="0"/>
                            </a:rPr>
                            <m:t>2</m:t>
                          </m:r>
                        </m:sub>
                      </m:sSub>
                    </m:oMath>
                  </m:oMathPara>
                </a14:m>
                <a:endParaRPr lang="en-IN" dirty="0">
                  <a:latin typeface="Arial Narrow" panose="020B0606020202030204" pitchFamily="34" charset="0"/>
                </a:endParaRPr>
              </a:p>
            </p:txBody>
          </p:sp>
        </mc:Choice>
        <mc:Fallback xmlns="">
          <p:sp>
            <p:nvSpPr>
              <p:cNvPr id="39" name="TextBox 38">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4224013" y="4944599"/>
                <a:ext cx="503989" cy="491219"/>
              </a:xfrm>
              <a:prstGeom prst="ellipse">
                <a:avLst/>
              </a:prstGeom>
              <a:blipFill>
                <a:blip r:embed="rId3"/>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DF1D3D16-4F7D-4FD0-95EB-E2360401B577}"/>
                  </a:ext>
                </a:extLst>
              </p:cNvPr>
              <p:cNvSpPr txBox="1"/>
              <p:nvPr/>
            </p:nvSpPr>
            <p:spPr>
              <a:xfrm rot="10800000" flipV="1">
                <a:off x="3673923" y="4952174"/>
                <a:ext cx="503989" cy="47607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𝑘</m:t>
                          </m:r>
                        </m:e>
                        <m:sub>
                          <m:r>
                            <a:rPr lang="en-IN" sz="1600" b="0" i="1" smtClean="0">
                              <a:latin typeface="Cambria Math" panose="02040503050406030204" pitchFamily="18" charset="0"/>
                            </a:rPr>
                            <m:t>3</m:t>
                          </m:r>
                        </m:sub>
                      </m:sSub>
                    </m:oMath>
                  </m:oMathPara>
                </a14:m>
                <a:endParaRPr lang="en-IN" sz="1600" dirty="0">
                  <a:latin typeface="Arial Narrow" panose="020B0606020202030204" pitchFamily="34" charset="0"/>
                </a:endParaRPr>
              </a:p>
            </p:txBody>
          </p:sp>
        </mc:Choice>
        <mc:Fallback xmlns="">
          <p:sp>
            <p:nvSpPr>
              <p:cNvPr id="40" name="TextBox 39">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3673923" y="4952174"/>
                <a:ext cx="503989" cy="476071"/>
              </a:xfrm>
              <a:prstGeom prst="ellipse">
                <a:avLst/>
              </a:prstGeom>
              <a:blipFill>
                <a:blip r:embed="rId4"/>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98434757-453A-49BA-B417-238E5FFE6B79}"/>
                  </a:ext>
                </a:extLst>
              </p:cNvPr>
              <p:cNvSpPr txBox="1"/>
              <p:nvPr/>
            </p:nvSpPr>
            <p:spPr>
              <a:xfrm rot="10800000" flipV="1">
                <a:off x="4785195" y="5614927"/>
                <a:ext cx="503989" cy="51935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oMath>
                  </m:oMathPara>
                </a14:m>
                <a:endParaRPr lang="en-IN" dirty="0">
                  <a:latin typeface="Arial Narrow" panose="020B0606020202030204" pitchFamily="34" charset="0"/>
                </a:endParaRPr>
              </a:p>
            </p:txBody>
          </p:sp>
        </mc:Choice>
        <mc:Fallback xmlns="">
          <p:sp>
            <p:nvSpPr>
              <p:cNvPr id="42" name="TextBox 41">
                <a:extLst>
                  <a:ext uri="{FF2B5EF4-FFF2-40B4-BE49-F238E27FC236}">
                    <a16:creationId xmlns:a16="http://schemas.microsoft.com/office/drawing/2014/main" id="{98434757-453A-49BA-B417-238E5FFE6B79}"/>
                  </a:ext>
                </a:extLst>
              </p:cNvPr>
              <p:cNvSpPr txBox="1">
                <a:spLocks noRot="1" noChangeAspect="1" noMove="1" noResize="1" noEditPoints="1" noAdjustHandles="1" noChangeArrowheads="1" noChangeShapeType="1" noTextEdit="1"/>
              </p:cNvSpPr>
              <p:nvPr/>
            </p:nvSpPr>
            <p:spPr>
              <a:xfrm rot="10800000" flipV="1">
                <a:off x="4785195" y="5614927"/>
                <a:ext cx="503989" cy="519351"/>
              </a:xfrm>
              <a:prstGeom prst="ellipse">
                <a:avLst/>
              </a:prstGeom>
              <a:blipFill>
                <a:blip r:embed="rId5"/>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B8E17763-565A-4B77-80A1-9B07A3DF1DA4}"/>
                  </a:ext>
                </a:extLst>
              </p:cNvPr>
              <p:cNvSpPr txBox="1"/>
              <p:nvPr/>
            </p:nvSpPr>
            <p:spPr>
              <a:xfrm rot="10800000" flipV="1">
                <a:off x="4224013" y="5611176"/>
                <a:ext cx="503989" cy="51935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2</m:t>
                          </m:r>
                        </m:sub>
                      </m:sSub>
                    </m:oMath>
                  </m:oMathPara>
                </a14:m>
                <a:endParaRPr lang="en-IN" dirty="0">
                  <a:latin typeface="Arial Narrow" panose="020B0606020202030204" pitchFamily="34" charset="0"/>
                </a:endParaRPr>
              </a:p>
            </p:txBody>
          </p:sp>
        </mc:Choice>
        <mc:Fallback xmlns="">
          <p:sp>
            <p:nvSpPr>
              <p:cNvPr id="43" name="TextBox 42">
                <a:extLst>
                  <a:ext uri="{FF2B5EF4-FFF2-40B4-BE49-F238E27FC236}">
                    <a16:creationId xmlns:a16="http://schemas.microsoft.com/office/drawing/2014/main" id="{B8E17763-565A-4B77-80A1-9B07A3DF1DA4}"/>
                  </a:ext>
                </a:extLst>
              </p:cNvPr>
              <p:cNvSpPr txBox="1">
                <a:spLocks noRot="1" noChangeAspect="1" noMove="1" noResize="1" noEditPoints="1" noAdjustHandles="1" noChangeArrowheads="1" noChangeShapeType="1" noTextEdit="1"/>
              </p:cNvSpPr>
              <p:nvPr/>
            </p:nvSpPr>
            <p:spPr>
              <a:xfrm rot="10800000" flipV="1">
                <a:off x="4224013" y="5611176"/>
                <a:ext cx="503989" cy="519351"/>
              </a:xfrm>
              <a:prstGeom prst="ellipse">
                <a:avLst/>
              </a:prstGeom>
              <a:blipFill>
                <a:blip r:embed="rId6"/>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C8FC9D7E-BEDD-4715-866C-F8B1DB2EC23B}"/>
                  </a:ext>
                </a:extLst>
              </p:cNvPr>
              <p:cNvSpPr txBox="1"/>
              <p:nvPr/>
            </p:nvSpPr>
            <p:spPr>
              <a:xfrm rot="10800000" flipV="1">
                <a:off x="3673923" y="5611176"/>
                <a:ext cx="503989" cy="51935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3</m:t>
                          </m:r>
                        </m:sub>
                      </m:sSub>
                    </m:oMath>
                  </m:oMathPara>
                </a14:m>
                <a:endParaRPr lang="en-IN" dirty="0">
                  <a:latin typeface="Arial Narrow" panose="020B0606020202030204" pitchFamily="34" charset="0"/>
                </a:endParaRPr>
              </a:p>
            </p:txBody>
          </p:sp>
        </mc:Choice>
        <mc:Fallback xmlns="">
          <p:sp>
            <p:nvSpPr>
              <p:cNvPr id="47" name="TextBox 46">
                <a:extLst>
                  <a:ext uri="{FF2B5EF4-FFF2-40B4-BE49-F238E27FC236}">
                    <a16:creationId xmlns:a16="http://schemas.microsoft.com/office/drawing/2014/main" id="{C8FC9D7E-BEDD-4715-866C-F8B1DB2EC23B}"/>
                  </a:ext>
                </a:extLst>
              </p:cNvPr>
              <p:cNvSpPr txBox="1">
                <a:spLocks noRot="1" noChangeAspect="1" noMove="1" noResize="1" noEditPoints="1" noAdjustHandles="1" noChangeArrowheads="1" noChangeShapeType="1" noTextEdit="1"/>
              </p:cNvSpPr>
              <p:nvPr/>
            </p:nvSpPr>
            <p:spPr>
              <a:xfrm rot="10800000" flipV="1">
                <a:off x="3673923" y="5611176"/>
                <a:ext cx="503989" cy="519351"/>
              </a:xfrm>
              <a:prstGeom prst="ellipse">
                <a:avLst/>
              </a:prstGeom>
              <a:blipFill>
                <a:blip r:embed="rId7"/>
                <a:stretch>
                  <a:fillRect/>
                </a:stretch>
              </a:blipFill>
              <a:ln w="12700">
                <a:solidFill>
                  <a:schemeClr val="tx1"/>
                </a:solidFill>
              </a:ln>
            </p:spPr>
            <p:txBody>
              <a:bodyPr/>
              <a:lstStyle/>
              <a:p>
                <a:r>
                  <a:rPr lang="en-IN">
                    <a:noFill/>
                  </a:rPr>
                  <a:t> </a:t>
                </a:r>
              </a:p>
            </p:txBody>
          </p:sp>
        </mc:Fallback>
      </mc:AlternateContent>
      <p:cxnSp>
        <p:nvCxnSpPr>
          <p:cNvPr id="48" name="Straight Arrow Connector 47">
            <a:extLst>
              <a:ext uri="{FF2B5EF4-FFF2-40B4-BE49-F238E27FC236}">
                <a16:creationId xmlns:a16="http://schemas.microsoft.com/office/drawing/2014/main" id="{A263021F-7328-4211-909D-49F49CA28D98}"/>
              </a:ext>
            </a:extLst>
          </p:cNvPr>
          <p:cNvCxnSpPr>
            <a:stCxn id="42" idx="0"/>
            <a:endCxn id="38" idx="4"/>
          </p:cNvCxnSpPr>
          <p:nvPr/>
        </p:nvCxnSpPr>
        <p:spPr>
          <a:xfrm flipH="1" flipV="1">
            <a:off x="5031480" y="5435817"/>
            <a:ext cx="5709" cy="179110"/>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48E3A579-0DB9-42B0-BAF2-784E8D2CED22}"/>
              </a:ext>
            </a:extLst>
          </p:cNvPr>
          <p:cNvCxnSpPr>
            <a:cxnSpLocks/>
            <a:stCxn id="43" idx="0"/>
            <a:endCxn id="39" idx="4"/>
          </p:cNvCxnSpPr>
          <p:nvPr/>
        </p:nvCxnSpPr>
        <p:spPr>
          <a:xfrm flipV="1">
            <a:off x="4476007" y="5435818"/>
            <a:ext cx="0" cy="175358"/>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C1137974-CC6B-47D3-81CF-6AC92B143B47}"/>
              </a:ext>
            </a:extLst>
          </p:cNvPr>
          <p:cNvCxnSpPr>
            <a:cxnSpLocks/>
            <a:stCxn id="47" idx="0"/>
            <a:endCxn id="40" idx="4"/>
          </p:cNvCxnSpPr>
          <p:nvPr/>
        </p:nvCxnSpPr>
        <p:spPr>
          <a:xfrm flipV="1">
            <a:off x="3925917" y="5428245"/>
            <a:ext cx="0" cy="182931"/>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CB478EDF-F147-4A46-ACD7-767B4A547BF2}"/>
                  </a:ext>
                </a:extLst>
              </p:cNvPr>
              <p:cNvSpPr txBox="1"/>
              <p:nvPr/>
            </p:nvSpPr>
            <p:spPr>
              <a:xfrm rot="10800000" flipV="1">
                <a:off x="2657142" y="4647193"/>
                <a:ext cx="508127" cy="51935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𝑞</m:t>
                          </m:r>
                        </m:e>
                        <m:sub>
                          <m:r>
                            <a:rPr lang="en-IN" i="1">
                              <a:latin typeface="Cambria Math" panose="02040503050406030204" pitchFamily="18" charset="0"/>
                            </a:rPr>
                            <m:t>1</m:t>
                          </m:r>
                        </m:sub>
                      </m:sSub>
                    </m:oMath>
                  </m:oMathPara>
                </a14:m>
                <a:endParaRPr lang="en-IN" dirty="0">
                  <a:latin typeface="Arial Narrow" panose="020B0606020202030204" pitchFamily="34" charset="0"/>
                </a:endParaRPr>
              </a:p>
            </p:txBody>
          </p:sp>
        </mc:Choice>
        <mc:Fallback xmlns="">
          <p:sp>
            <p:nvSpPr>
              <p:cNvPr id="51" name="TextBox 50">
                <a:extLst>
                  <a:ext uri="{FF2B5EF4-FFF2-40B4-BE49-F238E27FC236}">
                    <a16:creationId xmlns:a16="http://schemas.microsoft.com/office/drawing/2014/main" id="{CB478EDF-F147-4A46-ACD7-767B4A547BF2}"/>
                  </a:ext>
                </a:extLst>
              </p:cNvPr>
              <p:cNvSpPr txBox="1">
                <a:spLocks noRot="1" noChangeAspect="1" noMove="1" noResize="1" noEditPoints="1" noAdjustHandles="1" noChangeArrowheads="1" noChangeShapeType="1" noTextEdit="1"/>
              </p:cNvSpPr>
              <p:nvPr/>
            </p:nvSpPr>
            <p:spPr>
              <a:xfrm rot="10800000" flipV="1">
                <a:off x="2657142" y="4647193"/>
                <a:ext cx="508127" cy="519351"/>
              </a:xfrm>
              <a:prstGeom prst="ellipse">
                <a:avLst/>
              </a:prstGeom>
              <a:blipFill>
                <a:blip r:embed="rId8"/>
                <a:stretch>
                  <a:fillRect/>
                </a:stretch>
              </a:blipFill>
              <a:ln w="12700">
                <a:solidFill>
                  <a:schemeClr val="tx1"/>
                </a:solidFill>
              </a:ln>
            </p:spPr>
            <p:txBody>
              <a:bodyPr/>
              <a:lstStyle/>
              <a:p>
                <a:r>
                  <a:rPr lang="en-IN">
                    <a:noFill/>
                  </a:rPr>
                  <a:t> </a:t>
                </a:r>
              </a:p>
            </p:txBody>
          </p:sp>
        </mc:Fallback>
      </mc:AlternateContent>
      <p:cxnSp>
        <p:nvCxnSpPr>
          <p:cNvPr id="54" name="Straight Arrow Connector 53">
            <a:extLst>
              <a:ext uri="{FF2B5EF4-FFF2-40B4-BE49-F238E27FC236}">
                <a16:creationId xmlns:a16="http://schemas.microsoft.com/office/drawing/2014/main" id="{20C9C6AC-19F5-4564-9E13-1B8D0A63390D}"/>
              </a:ext>
            </a:extLst>
          </p:cNvPr>
          <p:cNvCxnSpPr>
            <a:stCxn id="51" idx="2"/>
          </p:cNvCxnSpPr>
          <p:nvPr/>
        </p:nvCxnSpPr>
        <p:spPr>
          <a:xfrm>
            <a:off x="3165269" y="4906869"/>
            <a:ext cx="490585" cy="2"/>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03D7A7FB-37B5-491B-9275-F91C88822728}"/>
              </a:ext>
            </a:extLst>
          </p:cNvPr>
          <p:cNvSpPr txBox="1"/>
          <p:nvPr/>
        </p:nvSpPr>
        <p:spPr>
          <a:xfrm rot="10800000" flipV="1">
            <a:off x="2505263" y="6257196"/>
            <a:ext cx="1583957" cy="369332"/>
          </a:xfrm>
          <a:prstGeom prst="rect">
            <a:avLst/>
          </a:prstGeom>
          <a:noFill/>
        </p:spPr>
        <p:txBody>
          <a:bodyPr wrap="square" rtlCol="0">
            <a:spAutoFit/>
          </a:bodyPr>
          <a:lstStyle/>
          <a:p>
            <a:r>
              <a:rPr lang="en-IN" dirty="0">
                <a:latin typeface="Arial Narrow" panose="020B0606020202030204" pitchFamily="34" charset="0"/>
                <a:cs typeface="Times New Roman" panose="02020603050405020304" pitchFamily="18" charset="0"/>
              </a:rPr>
              <a:t>Input Vectors</a:t>
            </a:r>
          </a:p>
        </p:txBody>
      </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AD6D90FF-8B08-44E6-ADD1-B975BDF15677}"/>
                  </a:ext>
                </a:extLst>
              </p:cNvPr>
              <p:cNvSpPr txBox="1"/>
              <p:nvPr/>
            </p:nvSpPr>
            <p:spPr>
              <a:xfrm rot="10800000" flipV="1">
                <a:off x="8389552" y="4952173"/>
                <a:ext cx="503989" cy="476071"/>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𝑣</m:t>
                          </m:r>
                        </m:e>
                        <m:sub>
                          <m:r>
                            <a:rPr lang="en-IN">
                              <a:latin typeface="Cambria Math" panose="02040503050406030204" pitchFamily="18" charset="0"/>
                            </a:rPr>
                            <m:t>1</m:t>
                          </m:r>
                        </m:sub>
                      </m:sSub>
                    </m:oMath>
                  </m:oMathPara>
                </a14:m>
                <a:endParaRPr lang="en-IN" dirty="0">
                  <a:latin typeface="Arial Narrow" panose="020B0606020202030204" pitchFamily="34" charset="0"/>
                </a:endParaRPr>
              </a:p>
            </p:txBody>
          </p:sp>
        </mc:Choice>
        <mc:Fallback xmlns="">
          <p:sp>
            <p:nvSpPr>
              <p:cNvPr id="57" name="TextBox 56">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8389552" y="4952173"/>
                <a:ext cx="503989" cy="476071"/>
              </a:xfrm>
              <a:prstGeom prst="ellipse">
                <a:avLst/>
              </a:prstGeom>
              <a:blipFill>
                <a:blip r:embed="rId9"/>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36F03E2E-8229-4DFD-869B-C4F6CF96084E}"/>
                  </a:ext>
                </a:extLst>
              </p:cNvPr>
              <p:cNvSpPr txBox="1"/>
              <p:nvPr/>
            </p:nvSpPr>
            <p:spPr>
              <a:xfrm rot="10800000" flipV="1">
                <a:off x="7834079" y="4952173"/>
                <a:ext cx="503989" cy="476071"/>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𝑣</m:t>
                          </m:r>
                        </m:e>
                        <m:sub>
                          <m:r>
                            <a:rPr lang="en-IN" b="0" i="1" smtClean="0">
                              <a:latin typeface="Cambria Math" panose="02040503050406030204" pitchFamily="18" charset="0"/>
                            </a:rPr>
                            <m:t>2</m:t>
                          </m:r>
                        </m:sub>
                      </m:sSub>
                    </m:oMath>
                  </m:oMathPara>
                </a14:m>
                <a:endParaRPr lang="en-IN" dirty="0">
                  <a:latin typeface="Arial Narrow" panose="020B0606020202030204" pitchFamily="34" charset="0"/>
                </a:endParaRPr>
              </a:p>
            </p:txBody>
          </p:sp>
        </mc:Choice>
        <mc:Fallback xmlns="">
          <p:sp>
            <p:nvSpPr>
              <p:cNvPr id="63" name="TextBox 62">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7834079" y="4952173"/>
                <a:ext cx="503989" cy="476071"/>
              </a:xfrm>
              <a:prstGeom prst="ellipse">
                <a:avLst/>
              </a:prstGeom>
              <a:blipFill>
                <a:blip r:embed="rId10"/>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DF1D3D16-4F7D-4FD0-95EB-E2360401B577}"/>
                  </a:ext>
                </a:extLst>
              </p:cNvPr>
              <p:cNvSpPr txBox="1"/>
              <p:nvPr/>
            </p:nvSpPr>
            <p:spPr>
              <a:xfrm rot="10800000" flipV="1">
                <a:off x="7283989" y="4952174"/>
                <a:ext cx="503989" cy="476071"/>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𝑣</m:t>
                          </m:r>
                        </m:e>
                        <m:sub>
                          <m:r>
                            <a:rPr lang="en-IN" b="0" i="1" smtClean="0">
                              <a:latin typeface="Cambria Math" panose="02040503050406030204" pitchFamily="18" charset="0"/>
                            </a:rPr>
                            <m:t>3</m:t>
                          </m:r>
                        </m:sub>
                      </m:sSub>
                    </m:oMath>
                  </m:oMathPara>
                </a14:m>
                <a:endParaRPr lang="en-IN" dirty="0">
                  <a:latin typeface="Arial Narrow" panose="020B0606020202030204" pitchFamily="34" charset="0"/>
                </a:endParaRPr>
              </a:p>
            </p:txBody>
          </p:sp>
        </mc:Choice>
        <mc:Fallback xmlns="">
          <p:sp>
            <p:nvSpPr>
              <p:cNvPr id="65" name="TextBox 64">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7283989" y="4952174"/>
                <a:ext cx="503989" cy="476071"/>
              </a:xfrm>
              <a:prstGeom prst="ellipse">
                <a:avLst/>
              </a:prstGeom>
              <a:blipFill>
                <a:blip r:embed="rId11"/>
                <a:stretch>
                  <a:fillRect/>
                </a:stretch>
              </a:blipFill>
              <a:ln w="12700">
                <a:solidFill>
                  <a:schemeClr val="tx1"/>
                </a:solidFill>
              </a:ln>
            </p:spPr>
            <p:txBody>
              <a:bodyPr/>
              <a:lstStyle/>
              <a:p>
                <a:r>
                  <a:rPr lang="en-IN">
                    <a:noFill/>
                  </a:rPr>
                  <a:t> </a:t>
                </a:r>
              </a:p>
            </p:txBody>
          </p:sp>
        </mc:Fallback>
      </mc:AlternateContent>
      <p:cxnSp>
        <p:nvCxnSpPr>
          <p:cNvPr id="66" name="Elbow Connector 65"/>
          <p:cNvCxnSpPr>
            <a:stCxn id="42" idx="4"/>
            <a:endCxn id="65" idx="4"/>
          </p:cNvCxnSpPr>
          <p:nvPr/>
        </p:nvCxnSpPr>
        <p:spPr>
          <a:xfrm rot="5400000" flipH="1" flipV="1">
            <a:off x="5933569" y="4531865"/>
            <a:ext cx="706033" cy="2498794"/>
          </a:xfrm>
          <a:prstGeom prst="bentConnector3">
            <a:avLst>
              <a:gd name="adj1" fmla="val -32378"/>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Elbow Connector 66"/>
          <p:cNvCxnSpPr>
            <a:stCxn id="43" idx="4"/>
            <a:endCxn id="63" idx="4"/>
          </p:cNvCxnSpPr>
          <p:nvPr/>
        </p:nvCxnSpPr>
        <p:spPr>
          <a:xfrm rot="5400000" flipH="1" flipV="1">
            <a:off x="5929898" y="3974353"/>
            <a:ext cx="702283" cy="3610066"/>
          </a:xfrm>
          <a:prstGeom prst="bentConnector3">
            <a:avLst>
              <a:gd name="adj1" fmla="val -50422"/>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68" name="Elbow Connector 67"/>
          <p:cNvCxnSpPr>
            <a:stCxn id="47" idx="4"/>
            <a:endCxn id="57" idx="4"/>
          </p:cNvCxnSpPr>
          <p:nvPr/>
        </p:nvCxnSpPr>
        <p:spPr>
          <a:xfrm rot="5400000" flipH="1" flipV="1">
            <a:off x="5932589" y="3421571"/>
            <a:ext cx="702283" cy="4715629"/>
          </a:xfrm>
          <a:prstGeom prst="bentConnector3">
            <a:avLst>
              <a:gd name="adj1" fmla="val -63187"/>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CB478EDF-F147-4A46-ACD7-767B4A547BF2}"/>
                  </a:ext>
                </a:extLst>
              </p:cNvPr>
              <p:cNvSpPr txBox="1"/>
              <p:nvPr/>
            </p:nvSpPr>
            <p:spPr>
              <a:xfrm rot="10800000" flipV="1">
                <a:off x="2657142" y="4076692"/>
                <a:ext cx="508127" cy="51935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i="1">
                              <a:latin typeface="Cambria Math" panose="02040503050406030204" pitchFamily="18" charset="0"/>
                            </a:rPr>
                            <m:t>𝑞</m:t>
                          </m:r>
                        </m:e>
                        <m:sub>
                          <m:r>
                            <a:rPr lang="en-IN" b="0" i="1" smtClean="0">
                              <a:latin typeface="Cambria Math" panose="02040503050406030204" pitchFamily="18" charset="0"/>
                            </a:rPr>
                            <m:t>2</m:t>
                          </m:r>
                        </m:sub>
                      </m:sSub>
                    </m:oMath>
                  </m:oMathPara>
                </a14:m>
                <a:endParaRPr lang="en-IN" dirty="0">
                  <a:latin typeface="Arial Narrow" panose="020B0606020202030204" pitchFamily="34" charset="0"/>
                </a:endParaRPr>
              </a:p>
            </p:txBody>
          </p:sp>
        </mc:Choice>
        <mc:Fallback xmlns="">
          <p:sp>
            <p:nvSpPr>
              <p:cNvPr id="69" name="TextBox 68">
                <a:extLst>
                  <a:ext uri="{FF2B5EF4-FFF2-40B4-BE49-F238E27FC236}">
                    <a16:creationId xmlns:a16="http://schemas.microsoft.com/office/drawing/2014/main" id="{CB478EDF-F147-4A46-ACD7-767B4A547BF2}"/>
                  </a:ext>
                </a:extLst>
              </p:cNvPr>
              <p:cNvSpPr txBox="1">
                <a:spLocks noRot="1" noChangeAspect="1" noMove="1" noResize="1" noEditPoints="1" noAdjustHandles="1" noChangeArrowheads="1" noChangeShapeType="1" noTextEdit="1"/>
              </p:cNvSpPr>
              <p:nvPr/>
            </p:nvSpPr>
            <p:spPr>
              <a:xfrm rot="10800000" flipV="1">
                <a:off x="2657142" y="4076692"/>
                <a:ext cx="508127" cy="519351"/>
              </a:xfrm>
              <a:prstGeom prst="ellipse">
                <a:avLst/>
              </a:prstGeom>
              <a:blipFill>
                <a:blip r:embed="rId12"/>
                <a:stretch>
                  <a:fillRect/>
                </a:stretch>
              </a:blipFill>
              <a:ln w="12700">
                <a:solidFill>
                  <a:schemeClr val="tx1"/>
                </a:solidFill>
              </a:ln>
            </p:spPr>
            <p:txBody>
              <a:bodyPr/>
              <a:lstStyle/>
              <a:p>
                <a:r>
                  <a:rPr lang="en-IN">
                    <a:noFill/>
                  </a:rPr>
                  <a:t> </a:t>
                </a:r>
              </a:p>
            </p:txBody>
          </p:sp>
        </mc:Fallback>
      </mc:AlternateContent>
      <p:cxnSp>
        <p:nvCxnSpPr>
          <p:cNvPr id="70" name="Straight Arrow Connector 69">
            <a:extLst>
              <a:ext uri="{FF2B5EF4-FFF2-40B4-BE49-F238E27FC236}">
                <a16:creationId xmlns:a16="http://schemas.microsoft.com/office/drawing/2014/main" id="{20C9C6AC-19F5-4564-9E13-1B8D0A63390D}"/>
              </a:ext>
            </a:extLst>
          </p:cNvPr>
          <p:cNvCxnSpPr>
            <a:stCxn id="69" idx="2"/>
          </p:cNvCxnSpPr>
          <p:nvPr/>
        </p:nvCxnSpPr>
        <p:spPr>
          <a:xfrm>
            <a:off x="3165269" y="4336368"/>
            <a:ext cx="490585" cy="1"/>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CB478EDF-F147-4A46-ACD7-767B4A547BF2}"/>
                  </a:ext>
                </a:extLst>
              </p:cNvPr>
              <p:cNvSpPr txBox="1"/>
              <p:nvPr/>
            </p:nvSpPr>
            <p:spPr>
              <a:xfrm rot="10800000" flipV="1">
                <a:off x="2657142" y="3506188"/>
                <a:ext cx="508127" cy="519351"/>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i="1">
                              <a:latin typeface="Cambria Math" panose="02040503050406030204" pitchFamily="18" charset="0"/>
                            </a:rPr>
                            <m:t>𝑞</m:t>
                          </m:r>
                        </m:e>
                        <m:sub>
                          <m:r>
                            <a:rPr lang="en-IN" b="0" i="1" smtClean="0">
                              <a:latin typeface="Cambria Math" panose="02040503050406030204" pitchFamily="18" charset="0"/>
                            </a:rPr>
                            <m:t>3</m:t>
                          </m:r>
                        </m:sub>
                      </m:sSub>
                    </m:oMath>
                  </m:oMathPara>
                </a14:m>
                <a:endParaRPr lang="en-IN" dirty="0">
                  <a:latin typeface="Arial Narrow" panose="020B0606020202030204" pitchFamily="34" charset="0"/>
                </a:endParaRPr>
              </a:p>
            </p:txBody>
          </p:sp>
        </mc:Choice>
        <mc:Fallback xmlns="">
          <p:sp>
            <p:nvSpPr>
              <p:cNvPr id="71" name="TextBox 70">
                <a:extLst>
                  <a:ext uri="{FF2B5EF4-FFF2-40B4-BE49-F238E27FC236}">
                    <a16:creationId xmlns:a16="http://schemas.microsoft.com/office/drawing/2014/main" id="{CB478EDF-F147-4A46-ACD7-767B4A547BF2}"/>
                  </a:ext>
                </a:extLst>
              </p:cNvPr>
              <p:cNvSpPr txBox="1">
                <a:spLocks noRot="1" noChangeAspect="1" noMove="1" noResize="1" noEditPoints="1" noAdjustHandles="1" noChangeArrowheads="1" noChangeShapeType="1" noTextEdit="1"/>
              </p:cNvSpPr>
              <p:nvPr/>
            </p:nvSpPr>
            <p:spPr>
              <a:xfrm rot="10800000" flipV="1">
                <a:off x="2657142" y="3506188"/>
                <a:ext cx="508127" cy="519351"/>
              </a:xfrm>
              <a:prstGeom prst="ellipse">
                <a:avLst/>
              </a:prstGeom>
              <a:blipFill>
                <a:blip r:embed="rId13"/>
                <a:stretch>
                  <a:fillRect/>
                </a:stretch>
              </a:blipFill>
              <a:ln w="12700">
                <a:solidFill>
                  <a:schemeClr val="tx1"/>
                </a:solidFill>
              </a:ln>
            </p:spPr>
            <p:txBody>
              <a:bodyPr/>
              <a:lstStyle/>
              <a:p>
                <a:r>
                  <a:rPr lang="en-IN">
                    <a:noFill/>
                  </a:rPr>
                  <a:t> </a:t>
                </a:r>
              </a:p>
            </p:txBody>
          </p:sp>
        </mc:Fallback>
      </mc:AlternateContent>
      <p:cxnSp>
        <p:nvCxnSpPr>
          <p:cNvPr id="72" name="Straight Arrow Connector 71">
            <a:extLst>
              <a:ext uri="{FF2B5EF4-FFF2-40B4-BE49-F238E27FC236}">
                <a16:creationId xmlns:a16="http://schemas.microsoft.com/office/drawing/2014/main" id="{20C9C6AC-19F5-4564-9E13-1B8D0A63390D}"/>
              </a:ext>
            </a:extLst>
          </p:cNvPr>
          <p:cNvCxnSpPr>
            <a:stCxn id="71" idx="2"/>
          </p:cNvCxnSpPr>
          <p:nvPr/>
        </p:nvCxnSpPr>
        <p:spPr>
          <a:xfrm>
            <a:off x="3165269" y="3765864"/>
            <a:ext cx="490585" cy="1"/>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2623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Rectangle 113">
            <a:extLst>
              <a:ext uri="{FF2B5EF4-FFF2-40B4-BE49-F238E27FC236}">
                <a16:creationId xmlns:a16="http://schemas.microsoft.com/office/drawing/2014/main" id="{9B4DC93C-919B-455B-BD0E-0F01490513CB}"/>
              </a:ext>
            </a:extLst>
          </p:cNvPr>
          <p:cNvSpPr/>
          <p:nvPr/>
        </p:nvSpPr>
        <p:spPr>
          <a:xfrm>
            <a:off x="10212155" y="5547782"/>
            <a:ext cx="1167046" cy="224647"/>
          </a:xfrm>
          <a:prstGeom prst="rect">
            <a:avLst/>
          </a:prstGeom>
          <a:solidFill>
            <a:schemeClr val="accent1">
              <a:lumMod val="40000"/>
              <a:lumOff val="60000"/>
              <a:alpha val="2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cxnSp>
        <p:nvCxnSpPr>
          <p:cNvPr id="58" name="Straight Connector 57">
            <a:extLst>
              <a:ext uri="{FF2B5EF4-FFF2-40B4-BE49-F238E27FC236}">
                <a16:creationId xmlns:a16="http://schemas.microsoft.com/office/drawing/2014/main" id="{1B0BBDC5-3F7A-42D8-B1E5-54F450CE7F0A}"/>
              </a:ext>
            </a:extLst>
          </p:cNvPr>
          <p:cNvCxnSpPr/>
          <p:nvPr/>
        </p:nvCxnSpPr>
        <p:spPr>
          <a:xfrm>
            <a:off x="5581650" y="4210050"/>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814A0750-898F-4132-B31D-6BB41D3260C4}"/>
              </a:ext>
            </a:extLst>
          </p:cNvPr>
          <p:cNvSpPr txBox="1"/>
          <p:nvPr/>
        </p:nvSpPr>
        <p:spPr>
          <a:xfrm>
            <a:off x="8866568" y="5246251"/>
            <a:ext cx="3313900" cy="584775"/>
          </a:xfrm>
          <a:prstGeom prst="rect">
            <a:avLst/>
          </a:prstGeom>
          <a:noFill/>
        </p:spPr>
        <p:txBody>
          <a:bodyPr wrap="square" rtlCol="0">
            <a:spAutoFit/>
          </a:bodyPr>
          <a:lstStyle/>
          <a:p>
            <a:r>
              <a:rPr lang="en-IN" sz="1600" dirty="0">
                <a:latin typeface="Arial Narrow" panose="020B0606020202030204" pitchFamily="34" charset="0"/>
                <a:cs typeface="Times New Roman" panose="02020603050405020304" pitchFamily="18" charset="0"/>
              </a:rPr>
              <a:t>Output:</a:t>
            </a:r>
          </a:p>
          <a:p>
            <a:r>
              <a:rPr lang="en-IN" sz="1600" dirty="0">
                <a:latin typeface="Arial Narrow" panose="020B0606020202030204" pitchFamily="34" charset="0"/>
                <a:cs typeface="Times New Roman" panose="02020603050405020304" pitchFamily="18" charset="0"/>
              </a:rPr>
              <a:t>Context Vector y (Dimension : </a:t>
            </a:r>
            <a:r>
              <a:rPr lang="en-IN" sz="1600" dirty="0" err="1">
                <a:latin typeface="Arial Narrow" panose="020B0606020202030204" pitchFamily="34" charset="0"/>
                <a:cs typeface="Times New Roman" panose="02020603050405020304" pitchFamily="18" charset="0"/>
              </a:rPr>
              <a:t>D</a:t>
            </a:r>
            <a:r>
              <a:rPr lang="en-IN" sz="1600" baseline="-25000" dirty="0" err="1">
                <a:latin typeface="Arial Narrow" panose="020B0606020202030204" pitchFamily="34" charset="0"/>
                <a:cs typeface="Times New Roman" panose="02020603050405020304" pitchFamily="18" charset="0"/>
              </a:rPr>
              <a:t>v</a:t>
            </a:r>
            <a:r>
              <a:rPr lang="en-IN" sz="1600" dirty="0">
                <a:latin typeface="Arial Narrow" panose="020B0606020202030204" pitchFamily="34"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086F0207-6EE0-4AC4-BD2F-4600D077A09E}"/>
                  </a:ext>
                </a:extLst>
              </p:cNvPr>
              <p:cNvSpPr txBox="1"/>
              <p:nvPr/>
            </p:nvSpPr>
            <p:spPr>
              <a:xfrm>
                <a:off x="8684070" y="1793025"/>
                <a:ext cx="2517825" cy="1646413"/>
              </a:xfrm>
              <a:prstGeom prst="rect">
                <a:avLst/>
              </a:prstGeom>
              <a:noFill/>
            </p:spPr>
            <p:txBody>
              <a:bodyPr wrap="square" rtlCol="0">
                <a:spAutoFit/>
              </a:bodyPr>
              <a:lstStyle/>
              <a:p>
                <a:r>
                  <a:rPr lang="en-IN" sz="1600" dirty="0">
                    <a:latin typeface="Arial Narrow" panose="020B0606020202030204" pitchFamily="34" charset="0"/>
                    <a:cs typeface="Times New Roman" panose="02020603050405020304" pitchFamily="18" charset="0"/>
                  </a:rPr>
                  <a:t>Operations:</a:t>
                </a:r>
              </a:p>
              <a:p>
                <a:r>
                  <a:rPr lang="en-IN" sz="1600" dirty="0">
                    <a:latin typeface="Arial Narrow" panose="020B0606020202030204" pitchFamily="34" charset="0"/>
                    <a:cs typeface="Times New Roman" panose="02020603050405020304" pitchFamily="18" charset="0"/>
                  </a:rPr>
                  <a:t>Key Vectors: k=</a:t>
                </a:r>
                <a:r>
                  <a:rPr lang="en-IN" sz="1600" dirty="0" err="1">
                    <a:latin typeface="Arial Narrow" panose="020B0606020202030204" pitchFamily="34" charset="0"/>
                    <a:cs typeface="Times New Roman" panose="02020603050405020304" pitchFamily="18" charset="0"/>
                  </a:rPr>
                  <a:t>xW</a:t>
                </a:r>
                <a:r>
                  <a:rPr lang="en-IN" sz="1600" baseline="-25000" dirty="0" err="1">
                    <a:latin typeface="Arial Narrow" panose="020B0606020202030204" pitchFamily="34" charset="0"/>
                    <a:cs typeface="Times New Roman" panose="02020603050405020304" pitchFamily="18" charset="0"/>
                  </a:rPr>
                  <a:t>k</a:t>
                </a:r>
                <a:endParaRPr lang="en-IN" sz="1600" baseline="-25000" dirty="0">
                  <a:latin typeface="Arial Narrow" panose="020B0606020202030204" pitchFamily="34" charset="0"/>
                  <a:cs typeface="Times New Roman" panose="02020603050405020304" pitchFamily="18" charset="0"/>
                </a:endParaRPr>
              </a:p>
              <a:p>
                <a:r>
                  <a:rPr lang="en-IN" sz="1600" dirty="0">
                    <a:latin typeface="Arial Narrow" panose="020B0606020202030204" pitchFamily="34" charset="0"/>
                    <a:cs typeface="Times New Roman" panose="02020603050405020304" pitchFamily="18" charset="0"/>
                  </a:rPr>
                  <a:t>Value Vectors: v=</a:t>
                </a:r>
                <a:r>
                  <a:rPr lang="en-IN" sz="1600" dirty="0" err="1">
                    <a:latin typeface="Arial Narrow" panose="020B0606020202030204" pitchFamily="34" charset="0"/>
                    <a:cs typeface="Times New Roman" panose="02020603050405020304" pitchFamily="18" charset="0"/>
                  </a:rPr>
                  <a:t>xW</a:t>
                </a:r>
                <a:r>
                  <a:rPr lang="en-IN" sz="1600" baseline="-25000" dirty="0" err="1">
                    <a:latin typeface="Arial Narrow" panose="020B0606020202030204" pitchFamily="34" charset="0"/>
                    <a:cs typeface="Times New Roman" panose="02020603050405020304" pitchFamily="18" charset="0"/>
                  </a:rPr>
                  <a:t>v</a:t>
                </a:r>
                <a:endParaRPr lang="en-IN" sz="1600" baseline="-25000" dirty="0">
                  <a:latin typeface="Arial Narrow" panose="020B0606020202030204" pitchFamily="34" charset="0"/>
                  <a:cs typeface="Times New Roman" panose="02020603050405020304" pitchFamily="18" charset="0"/>
                </a:endParaRPr>
              </a:p>
              <a:p>
                <a:r>
                  <a:rPr lang="en-IN" sz="1600" dirty="0">
                    <a:latin typeface="Arial Narrow" panose="020B0606020202030204" pitchFamily="34" charset="0"/>
                    <a:cs typeface="Times New Roman" panose="02020603050405020304" pitchFamily="18" charset="0"/>
                  </a:rPr>
                  <a:t>Alignment: </a:t>
                </a:r>
                <a14:m>
                  <m:oMath xmlns:m="http://schemas.openxmlformats.org/officeDocument/2006/math">
                    <m:sSub>
                      <m:sSubPr>
                        <m:ctrlPr>
                          <a:rPr lang="en-US" sz="1600" i="1" smtClean="0">
                            <a:latin typeface="Cambria Math" panose="02040503050406030204" pitchFamily="18" charset="0"/>
                            <a:cs typeface="Times New Roman" panose="02020603050405020304" pitchFamily="18" charset="0"/>
                          </a:rPr>
                        </m:ctrlPr>
                      </m:sSubPr>
                      <m:e>
                        <m:r>
                          <a:rPr lang="en-IN" sz="1600"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n-IN" sz="1600" i="1">
                            <a:latin typeface="Cambria Math" panose="02040503050406030204" pitchFamily="18" charset="0"/>
                            <a:cs typeface="Times New Roman" panose="02020603050405020304" pitchFamily="18" charset="0"/>
                          </a:rPr>
                          <m:t>𝑖</m:t>
                        </m:r>
                        <m:r>
                          <a:rPr lang="en-IN" sz="1600" b="0" i="1" smtClean="0">
                            <a:latin typeface="Cambria Math" panose="02040503050406030204" pitchFamily="18" charset="0"/>
                            <a:cs typeface="Times New Roman" panose="02020603050405020304" pitchFamily="18" charset="0"/>
                          </a:rPr>
                          <m:t>𝑗</m:t>
                        </m:r>
                      </m:sub>
                    </m:sSub>
                    <m:r>
                      <a:rPr lang="en-IN" sz="1600" i="1">
                        <a:latin typeface="Cambria Math" panose="02040503050406030204" pitchFamily="18" charset="0"/>
                        <a:cs typeface="Times New Roman" panose="02020603050405020304" pitchFamily="18" charset="0"/>
                      </a:rPr>
                      <m:t>=</m:t>
                    </m:r>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𝑞</m:t>
                        </m:r>
                      </m:e>
                      <m:sub>
                        <m:r>
                          <a:rPr lang="en-IN" sz="1600" b="0" i="1" smtClean="0">
                            <a:latin typeface="Cambria Math" panose="02040503050406030204" pitchFamily="18" charset="0"/>
                          </a:rPr>
                          <m:t>𝑗</m:t>
                        </m:r>
                      </m:sub>
                    </m:sSub>
                    <m:r>
                      <a:rPr lang="en-IN" sz="1600" b="0" i="1" smtClean="0">
                        <a:latin typeface="Cambria Math" panose="02040503050406030204" pitchFamily="18" charset="0"/>
                        <a:cs typeface="Times New Roman" panose="02020603050405020304" pitchFamily="18" charset="0"/>
                      </a:rPr>
                      <m:t>.</m:t>
                    </m:r>
                    <m:sSub>
                      <m:sSubPr>
                        <m:ctrlPr>
                          <a:rPr lang="en-IN" sz="1600" i="1" dirty="0" smtClean="0">
                            <a:latin typeface="Cambria Math" panose="02040503050406030204" pitchFamily="18" charset="0"/>
                            <a:cs typeface="Times New Roman" panose="02020603050405020304" pitchFamily="18" charset="0"/>
                          </a:rPr>
                        </m:ctrlPr>
                      </m:sSubPr>
                      <m:e>
                        <m:r>
                          <a:rPr lang="en-IN" sz="1600" b="0" i="1" dirty="0" smtClean="0">
                            <a:latin typeface="Cambria Math" panose="02040503050406030204" pitchFamily="18" charset="0"/>
                            <a:cs typeface="Times New Roman" panose="02020603050405020304" pitchFamily="18" charset="0"/>
                          </a:rPr>
                          <m:t>𝑘</m:t>
                        </m:r>
                      </m:e>
                      <m:sub>
                        <m:r>
                          <a:rPr lang="en-IN" sz="1600" b="0" i="1" dirty="0" smtClean="0">
                            <a:latin typeface="Cambria Math" panose="02040503050406030204" pitchFamily="18" charset="0"/>
                            <a:cs typeface="Times New Roman" panose="02020603050405020304" pitchFamily="18" charset="0"/>
                          </a:rPr>
                          <m:t>𝑖</m:t>
                        </m:r>
                      </m:sub>
                    </m:sSub>
                    <m:r>
                      <a:rPr lang="en-IN" sz="1600" b="0" i="1" dirty="0" smtClean="0">
                        <a:latin typeface="Cambria Math" panose="02040503050406030204" pitchFamily="18" charset="0"/>
                        <a:cs typeface="Times New Roman" panose="02020603050405020304" pitchFamily="18" charset="0"/>
                      </a:rPr>
                      <m:t>/</m:t>
                    </m:r>
                    <m:rad>
                      <m:radPr>
                        <m:degHide m:val="on"/>
                        <m:ctrlPr>
                          <a:rPr lang="en-IN" sz="1600" b="0" i="1" dirty="0" smtClean="0">
                            <a:latin typeface="Cambria Math" panose="02040503050406030204" pitchFamily="18" charset="0"/>
                            <a:cs typeface="Times New Roman" panose="02020603050405020304" pitchFamily="18" charset="0"/>
                          </a:rPr>
                        </m:ctrlPr>
                      </m:radPr>
                      <m:deg/>
                      <m:e>
                        <m:r>
                          <a:rPr lang="en-IN" sz="1600" b="0" i="1" dirty="0" smtClean="0">
                            <a:latin typeface="Cambria Math" panose="02040503050406030204" pitchFamily="18" charset="0"/>
                            <a:cs typeface="Times New Roman" panose="02020603050405020304" pitchFamily="18" charset="0"/>
                          </a:rPr>
                          <m:t>𝐷</m:t>
                        </m:r>
                      </m:e>
                    </m:rad>
                  </m:oMath>
                </a14:m>
                <a:endParaRPr lang="en-IN" sz="1600" dirty="0">
                  <a:latin typeface="Arial Narrow" panose="020B0606020202030204" pitchFamily="34" charset="0"/>
                  <a:cs typeface="Times New Roman" panose="02020603050405020304" pitchFamily="18" charset="0"/>
                </a:endParaRPr>
              </a:p>
              <a:p>
                <a:r>
                  <a:rPr lang="en-IN" sz="1600" dirty="0">
                    <a:latin typeface="Arial Narrow" panose="020B0606020202030204" pitchFamily="34" charset="0"/>
                    <a:cs typeface="Times New Roman" panose="02020603050405020304" pitchFamily="18" charset="0"/>
                  </a:rPr>
                  <a:t>Attention: </a:t>
                </a:r>
                <a14:m>
                  <m:oMath xmlns:m="http://schemas.openxmlformats.org/officeDocument/2006/math">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𝑎</m:t>
                    </m:r>
                    <m:r>
                      <a:rPr lang="en-IN" sz="1600" i="1">
                        <a:latin typeface="Cambria Math" panose="02040503050406030204" pitchFamily="18" charset="0"/>
                        <a:cs typeface="Times New Roman" panose="02020603050405020304" pitchFamily="18" charset="0"/>
                      </a:rPr>
                      <m:t>=</m:t>
                    </m:r>
                    <m:r>
                      <a:rPr lang="en-IN" sz="1600" i="1">
                        <a:latin typeface="Cambria Math" panose="02040503050406030204" pitchFamily="18" charset="0"/>
                        <a:cs typeface="Times New Roman" panose="02020603050405020304" pitchFamily="18" charset="0"/>
                      </a:rPr>
                      <m:t>𝑆𝑜𝑓𝑡𝑚𝑎𝑥</m:t>
                    </m:r>
                    <m:d>
                      <m:dPr>
                        <m:ctrlPr>
                          <a:rPr lang="en-IN" sz="1600" i="1">
                            <a:latin typeface="Cambria Math" panose="02040503050406030204" pitchFamily="18" charset="0"/>
                            <a:cs typeface="Times New Roman" panose="02020603050405020304" pitchFamily="18" charset="0"/>
                          </a:rPr>
                        </m:ctrlPr>
                      </m:dPr>
                      <m:e>
                        <m:r>
                          <a:rPr lang="en-IN" sz="1600" i="1" smtClean="0">
                            <a:latin typeface="Cambria Math" panose="02040503050406030204" pitchFamily="18" charset="0"/>
                            <a:ea typeface="Cambria Math" panose="02040503050406030204" pitchFamily="18" charset="0"/>
                            <a:cs typeface="Times New Roman" panose="02020603050405020304" pitchFamily="18" charset="0"/>
                          </a:rPr>
                          <m:t>𝛼</m:t>
                        </m:r>
                      </m:e>
                    </m:d>
                  </m:oMath>
                </a14:m>
                <a:r>
                  <a:rPr lang="en-IN" sz="1600" dirty="0">
                    <a:latin typeface="Arial Narrow" panose="020B0606020202030204" pitchFamily="34" charset="0"/>
                    <a:cs typeface="Times New Roman" panose="02020603050405020304" pitchFamily="18" charset="0"/>
                  </a:rPr>
                  <a:t> </a:t>
                </a:r>
              </a:p>
              <a:p>
                <a:r>
                  <a:rPr lang="en-IN" sz="1600" dirty="0">
                    <a:latin typeface="Arial Narrow" panose="020B0606020202030204" pitchFamily="34" charset="0"/>
                    <a:cs typeface="Times New Roman" panose="02020603050405020304" pitchFamily="18" charset="0"/>
                  </a:rPr>
                  <a:t>Output:</a:t>
                </a:r>
                <a14:m>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𝑦</m:t>
                        </m:r>
                      </m:e>
                      <m:sub>
                        <m:r>
                          <a:rPr lang="en-IN" sz="1600" b="0" i="1" smtClean="0">
                            <a:latin typeface="Cambria Math" panose="02040503050406030204" pitchFamily="18" charset="0"/>
                          </a:rPr>
                          <m:t>𝑗</m:t>
                        </m:r>
                      </m:sub>
                    </m:sSub>
                    <m:r>
                      <a:rPr lang="en-IN" sz="1600" i="1">
                        <a:latin typeface="Cambria Math" panose="02040503050406030204" pitchFamily="18" charset="0"/>
                        <a:cs typeface="Times New Roman" panose="02020603050405020304" pitchFamily="18" charset="0"/>
                      </a:rPr>
                      <m:t>=</m:t>
                    </m:r>
                  </m:oMath>
                </a14:m>
                <a:r>
                  <a:rPr lang="en-IN" sz="1600" dirty="0">
                    <a:latin typeface="Arial Narrow" panose="020B0606020202030204" pitchFamily="34" charset="0"/>
                    <a:cs typeface="Times New Roman" panose="02020603050405020304" pitchFamily="18" charset="0"/>
                  </a:rPr>
                  <a:t> </a:t>
                </a:r>
                <a14:m>
                  <m:oMath xmlns:m="http://schemas.openxmlformats.org/officeDocument/2006/math">
                    <m:nary>
                      <m:naryPr>
                        <m:chr m:val="∑"/>
                        <m:limLoc m:val="subSup"/>
                        <m:supHide m:val="on"/>
                        <m:ctrlPr>
                          <a:rPr lang="en-IN" sz="1600" i="1" dirty="0" smtClean="0">
                            <a:latin typeface="Cambria Math" panose="02040503050406030204" pitchFamily="18" charset="0"/>
                            <a:cs typeface="Times New Roman" panose="02020603050405020304" pitchFamily="18" charset="0"/>
                          </a:rPr>
                        </m:ctrlPr>
                      </m:naryPr>
                      <m:sub>
                        <m:r>
                          <m:rPr>
                            <m:brk m:alnAt="9"/>
                          </m:rPr>
                          <a:rPr lang="en-IN" sz="1600" b="0" i="1" dirty="0" smtClean="0">
                            <a:latin typeface="Cambria Math" panose="02040503050406030204" pitchFamily="18" charset="0"/>
                            <a:cs typeface="Times New Roman" panose="02020603050405020304" pitchFamily="18" charset="0"/>
                          </a:rPr>
                          <m:t>𝑗</m:t>
                        </m:r>
                      </m:sub>
                      <m:sup/>
                      <m:e>
                        <m:sSub>
                          <m:sSubPr>
                            <m:ctrlPr>
                              <a:rPr lang="en-IN" sz="1600" i="1" dirty="0" smtClean="0">
                                <a:latin typeface="Cambria Math" panose="02040503050406030204" pitchFamily="18" charset="0"/>
                                <a:cs typeface="Times New Roman" panose="02020603050405020304" pitchFamily="18" charset="0"/>
                              </a:rPr>
                            </m:ctrlPr>
                          </m:sSubPr>
                          <m:e>
                            <m:r>
                              <a:rPr lang="en-IN" sz="1600" b="0" i="1" dirty="0" smtClean="0">
                                <a:latin typeface="Cambria Math" panose="02040503050406030204" pitchFamily="18" charset="0"/>
                                <a:cs typeface="Times New Roman" panose="02020603050405020304" pitchFamily="18" charset="0"/>
                              </a:rPr>
                              <m:t>𝑎</m:t>
                            </m:r>
                          </m:e>
                          <m:sub>
                            <m:r>
                              <a:rPr lang="en-IN" sz="1600" b="0" i="1" dirty="0" smtClean="0">
                                <a:latin typeface="Cambria Math" panose="02040503050406030204" pitchFamily="18" charset="0"/>
                                <a:cs typeface="Times New Roman" panose="02020603050405020304" pitchFamily="18" charset="0"/>
                              </a:rPr>
                              <m:t>𝑖𝑗</m:t>
                            </m:r>
                          </m:sub>
                        </m:sSub>
                        <m:sSub>
                          <m:sSubPr>
                            <m:ctrlPr>
                              <a:rPr lang="en-IN" sz="1600" i="1" dirty="0" smtClean="0">
                                <a:latin typeface="Cambria Math" panose="02040503050406030204" pitchFamily="18" charset="0"/>
                                <a:cs typeface="Times New Roman" panose="02020603050405020304" pitchFamily="18" charset="0"/>
                              </a:rPr>
                            </m:ctrlPr>
                          </m:sSubPr>
                          <m:e>
                            <m:r>
                              <a:rPr lang="en-IN" sz="1600" b="0" i="1" dirty="0" smtClean="0">
                                <a:latin typeface="Cambria Math" panose="02040503050406030204" pitchFamily="18" charset="0"/>
                                <a:cs typeface="Times New Roman" panose="02020603050405020304" pitchFamily="18" charset="0"/>
                              </a:rPr>
                              <m:t>𝑣</m:t>
                            </m:r>
                          </m:e>
                          <m:sub>
                            <m:r>
                              <a:rPr lang="en-IN" sz="1600" b="0" i="1" dirty="0" smtClean="0">
                                <a:latin typeface="Cambria Math" panose="02040503050406030204" pitchFamily="18" charset="0"/>
                                <a:cs typeface="Times New Roman" panose="02020603050405020304" pitchFamily="18" charset="0"/>
                              </a:rPr>
                              <m:t>𝑖</m:t>
                            </m:r>
                          </m:sub>
                        </m:sSub>
                      </m:e>
                    </m:nary>
                  </m:oMath>
                </a14:m>
                <a:endParaRPr lang="en-IN" sz="1600" dirty="0">
                  <a:latin typeface="Arial Narrow" panose="020B0606020202030204" pitchFamily="34" charset="0"/>
                  <a:cs typeface="Times New Roman" panose="02020603050405020304" pitchFamily="18" charset="0"/>
                </a:endParaRPr>
              </a:p>
            </p:txBody>
          </p:sp>
        </mc:Choice>
        <mc:Fallback xmlns="">
          <p:sp>
            <p:nvSpPr>
              <p:cNvPr id="62" name="TextBox 61">
                <a:extLst>
                  <a:ext uri="{FF2B5EF4-FFF2-40B4-BE49-F238E27FC236}">
                    <a16:creationId xmlns:a16="http://schemas.microsoft.com/office/drawing/2014/main" id="{086F0207-6EE0-4AC4-BD2F-4600D077A09E}"/>
                  </a:ext>
                </a:extLst>
              </p:cNvPr>
              <p:cNvSpPr txBox="1">
                <a:spLocks noRot="1" noChangeAspect="1" noMove="1" noResize="1" noEditPoints="1" noAdjustHandles="1" noChangeArrowheads="1" noChangeShapeType="1" noTextEdit="1"/>
              </p:cNvSpPr>
              <p:nvPr/>
            </p:nvSpPr>
            <p:spPr>
              <a:xfrm>
                <a:off x="8684070" y="1793025"/>
                <a:ext cx="2517825" cy="1646413"/>
              </a:xfrm>
              <a:prstGeom prst="rect">
                <a:avLst/>
              </a:prstGeom>
              <a:blipFill>
                <a:blip r:embed="rId2"/>
                <a:stretch>
                  <a:fillRect l="-1453" t="-741" b="-32963"/>
                </a:stretch>
              </a:blipFill>
            </p:spPr>
            <p:txBody>
              <a:bodyPr/>
              <a:lstStyle/>
              <a:p>
                <a:r>
                  <a:rPr lang="en-IN">
                    <a:noFill/>
                  </a:rPr>
                  <a:t> </a:t>
                </a:r>
              </a:p>
            </p:txBody>
          </p:sp>
        </mc:Fallback>
      </mc:AlternateContent>
      <p:sp>
        <p:nvSpPr>
          <p:cNvPr id="64" name="TextBox 63">
            <a:extLst>
              <a:ext uri="{FF2B5EF4-FFF2-40B4-BE49-F238E27FC236}">
                <a16:creationId xmlns:a16="http://schemas.microsoft.com/office/drawing/2014/main" id="{42041928-98FF-4E1F-8EF9-F54454ED2806}"/>
              </a:ext>
            </a:extLst>
          </p:cNvPr>
          <p:cNvSpPr txBox="1"/>
          <p:nvPr/>
        </p:nvSpPr>
        <p:spPr>
          <a:xfrm>
            <a:off x="294511" y="4929347"/>
            <a:ext cx="2986438" cy="1077218"/>
          </a:xfrm>
          <a:prstGeom prst="rect">
            <a:avLst/>
          </a:prstGeom>
          <a:noFill/>
        </p:spPr>
        <p:txBody>
          <a:bodyPr wrap="square" rtlCol="0">
            <a:spAutoFit/>
          </a:bodyPr>
          <a:lstStyle/>
          <a:p>
            <a:r>
              <a:rPr lang="en-IN" sz="1600" dirty="0">
                <a:latin typeface="Arial Narrow" panose="020B0606020202030204" pitchFamily="34" charset="0"/>
                <a:cs typeface="Times New Roman" panose="02020603050405020304" pitchFamily="18" charset="0"/>
              </a:rPr>
              <a:t>Inputs:</a:t>
            </a:r>
          </a:p>
          <a:p>
            <a:r>
              <a:rPr lang="en-IN" sz="1600" dirty="0">
                <a:latin typeface="Arial Narrow" panose="020B0606020202030204" pitchFamily="34" charset="0"/>
                <a:cs typeface="Times New Roman" panose="02020603050405020304" pitchFamily="18" charset="0"/>
              </a:rPr>
              <a:t>Input Vector X (Dimension : </a:t>
            </a:r>
            <a:r>
              <a:rPr lang="en-IN" sz="1600" dirty="0" err="1">
                <a:latin typeface="Arial Narrow" panose="020B0606020202030204" pitchFamily="34" charset="0"/>
                <a:cs typeface="Times New Roman" panose="02020603050405020304" pitchFamily="18" charset="0"/>
              </a:rPr>
              <a:t>NxD</a:t>
            </a:r>
            <a:r>
              <a:rPr lang="en-IN" sz="1600" dirty="0">
                <a:latin typeface="Arial Narrow" panose="020B0606020202030204" pitchFamily="34" charset="0"/>
                <a:cs typeface="Times New Roman" panose="02020603050405020304" pitchFamily="18" charset="0"/>
              </a:rPr>
              <a:t>)</a:t>
            </a:r>
          </a:p>
          <a:p>
            <a:r>
              <a:rPr lang="en-IN" sz="1600" dirty="0">
                <a:latin typeface="Arial Narrow" panose="020B0606020202030204" pitchFamily="34" charset="0"/>
                <a:cs typeface="Times New Roman" panose="02020603050405020304" pitchFamily="18" charset="0"/>
              </a:rPr>
              <a:t>Query Vector q (Dimension : </a:t>
            </a:r>
            <a:r>
              <a:rPr lang="en-IN" sz="1600" dirty="0" err="1">
                <a:latin typeface="Arial Narrow" panose="020B0606020202030204" pitchFamily="34" charset="0"/>
                <a:cs typeface="Times New Roman" panose="02020603050405020304" pitchFamily="18" charset="0"/>
              </a:rPr>
              <a:t>MxD</a:t>
            </a:r>
            <a:r>
              <a:rPr lang="en-IN" sz="1600" baseline="-25000" dirty="0" err="1">
                <a:latin typeface="Arial Narrow" panose="020B0606020202030204" pitchFamily="34" charset="0"/>
                <a:cs typeface="Times New Roman" panose="02020603050405020304" pitchFamily="18" charset="0"/>
              </a:rPr>
              <a:t>k</a:t>
            </a:r>
            <a:r>
              <a:rPr lang="en-IN" sz="1600" dirty="0">
                <a:latin typeface="Arial Narrow" panose="020B0606020202030204" pitchFamily="34" charset="0"/>
                <a:cs typeface="Times New Roman" panose="02020603050405020304" pitchFamily="18" charset="0"/>
              </a:rPr>
              <a:t>)</a:t>
            </a:r>
          </a:p>
          <a:p>
            <a:endParaRPr lang="en-IN" sz="1600" dirty="0">
              <a:latin typeface="Arial Narrow" panose="020B0606020202030204" pitchFamily="34" charset="0"/>
              <a:cs typeface="Times New Roman" panose="02020603050405020304" pitchFamily="18" charset="0"/>
            </a:endParaRPr>
          </a:p>
        </p:txBody>
      </p:sp>
      <p:sp>
        <p:nvSpPr>
          <p:cNvPr id="11" name="Rectangle 10">
            <a:extLst>
              <a:ext uri="{FF2B5EF4-FFF2-40B4-BE49-F238E27FC236}">
                <a16:creationId xmlns:a16="http://schemas.microsoft.com/office/drawing/2014/main" id="{473C758C-7F6C-4E7E-BA9F-891BB3D40F42}"/>
              </a:ext>
            </a:extLst>
          </p:cNvPr>
          <p:cNvSpPr/>
          <p:nvPr/>
        </p:nvSpPr>
        <p:spPr>
          <a:xfrm>
            <a:off x="476203" y="1044829"/>
            <a:ext cx="8207867" cy="2308324"/>
          </a:xfrm>
          <a:prstGeom prst="rect">
            <a:avLst/>
          </a:prstGeom>
          <a:solidFill>
            <a:srgbClr val="FFFF00">
              <a:alpha val="23000"/>
            </a:srgbClr>
          </a:solidFill>
        </p:spPr>
        <p:txBody>
          <a:bodyPr wrap="square">
            <a:spAutoFit/>
          </a:bodyPr>
          <a:lstStyle/>
          <a:p>
            <a:pPr marL="285750" indent="-285750" algn="just">
              <a:buFont typeface="Arial" panose="020B0604020202020204" pitchFamily="34" charset="0"/>
              <a:buChar char="•"/>
            </a:pPr>
            <a:r>
              <a:rPr lang="en-US" sz="1600" dirty="0">
                <a:latin typeface="Arial Narrow" panose="020B0606020202030204" pitchFamily="34" charset="0"/>
              </a:rPr>
              <a:t>In this setup, the input vectors are used both for computing the alignment scores and for performing the attention calculations. </a:t>
            </a:r>
          </a:p>
          <a:p>
            <a:pPr marL="285750" indent="-285750" algn="just">
              <a:buFont typeface="Arial" panose="020B0604020202020204" pitchFamily="34" charset="0"/>
              <a:buChar char="•"/>
            </a:pPr>
            <a:r>
              <a:rPr lang="en-US" sz="1600" dirty="0">
                <a:latin typeface="Arial Narrow" panose="020B0606020202030204" pitchFamily="34" charset="0"/>
              </a:rPr>
              <a:t>Since the fully connected (FC) layers used to generate the Query, Key, and Value representations can have different dimensions, the attention mechanism is not restricted to a fixed input or output dimensionality. </a:t>
            </a:r>
          </a:p>
          <a:p>
            <a:pPr marL="285750" indent="-285750" algn="just">
              <a:buFont typeface="Arial" panose="020B0604020202020204" pitchFamily="34" charset="0"/>
              <a:buChar char="•"/>
            </a:pPr>
            <a:r>
              <a:rPr lang="en-US" sz="1600" dirty="0">
                <a:latin typeface="Arial Narrow" panose="020B0606020202030204" pitchFamily="34" charset="0"/>
              </a:rPr>
              <a:t>In particular, the dimensions of the Key and Value projections can determine the dimensionality of the attention computations and the resulting representation. </a:t>
            </a:r>
          </a:p>
          <a:p>
            <a:pPr marL="285750" indent="-285750" algn="just">
              <a:buFont typeface="Arial" panose="020B0604020202020204" pitchFamily="34" charset="0"/>
              <a:buChar char="•"/>
            </a:pPr>
            <a:r>
              <a:rPr lang="en-US" sz="1600" dirty="0">
                <a:latin typeface="Arial Narrow" panose="020B0606020202030204" pitchFamily="34" charset="0"/>
              </a:rPr>
              <a:t>This flexibility allows the model to learn more specialized feature representations and capture complex relationships within the input data.</a:t>
            </a:r>
            <a:endParaRPr lang="en-IN" sz="1600" dirty="0">
              <a:latin typeface="Arial Narrow" panose="020B0606020202030204" pitchFamily="34" charset="0"/>
              <a:cs typeface="Times New Roman" panose="02020603050405020304" pitchFamily="18" charset="0"/>
            </a:endParaRPr>
          </a:p>
        </p:txBody>
      </p:sp>
      <p:sp>
        <p:nvSpPr>
          <p:cNvPr id="113" name="Rectangle 112">
            <a:extLst>
              <a:ext uri="{FF2B5EF4-FFF2-40B4-BE49-F238E27FC236}">
                <a16:creationId xmlns:a16="http://schemas.microsoft.com/office/drawing/2014/main" id="{7CFAC49A-1C88-4DD7-9DB7-274196E3E572}"/>
              </a:ext>
            </a:extLst>
          </p:cNvPr>
          <p:cNvSpPr/>
          <p:nvPr/>
        </p:nvSpPr>
        <p:spPr>
          <a:xfrm>
            <a:off x="377073" y="5476827"/>
            <a:ext cx="2608296" cy="225423"/>
          </a:xfrm>
          <a:prstGeom prst="rect">
            <a:avLst/>
          </a:prstGeom>
          <a:solidFill>
            <a:schemeClr val="accent1">
              <a:lumMod val="40000"/>
              <a:lumOff val="60000"/>
              <a:alpha val="2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15" name="Title 3">
            <a:extLst>
              <a:ext uri="{FF2B5EF4-FFF2-40B4-BE49-F238E27FC236}">
                <a16:creationId xmlns:a16="http://schemas.microsoft.com/office/drawing/2014/main" id="{B38932FA-4D85-4C96-A2C3-8A7AF58463BE}"/>
              </a:ext>
            </a:extLst>
          </p:cNvPr>
          <p:cNvSpPr>
            <a:spLocks noGrp="1"/>
          </p:cNvSpPr>
          <p:nvPr>
            <p:ph type="title"/>
          </p:nvPr>
        </p:nvSpPr>
        <p:spPr>
          <a:xfrm>
            <a:off x="476203" y="194506"/>
            <a:ext cx="10515600" cy="859910"/>
          </a:xfrm>
        </p:spPr>
        <p:txBody>
          <a:bodyPr>
            <a:normAutofit/>
          </a:bodyPr>
          <a:lstStyle/>
          <a:p>
            <a:r>
              <a:rPr lang="en-IN" sz="3200" dirty="0">
                <a:latin typeface="Century" panose="02040604050505020304" pitchFamily="18" charset="0"/>
              </a:rPr>
              <a:t>Attention Layer</a:t>
            </a:r>
          </a:p>
        </p:txBody>
      </p:sp>
      <p:sp>
        <p:nvSpPr>
          <p:cNvPr id="97" name="TextBox 96">
            <a:extLst>
              <a:ext uri="{FF2B5EF4-FFF2-40B4-BE49-F238E27FC236}">
                <a16:creationId xmlns:a16="http://schemas.microsoft.com/office/drawing/2014/main" id="{30C56DDE-6E15-49C1-861D-E6322B0CBA89}"/>
              </a:ext>
            </a:extLst>
          </p:cNvPr>
          <p:cNvSpPr txBox="1"/>
          <p:nvPr/>
        </p:nvSpPr>
        <p:spPr>
          <a:xfrm>
            <a:off x="8336993" y="6412767"/>
            <a:ext cx="3856600" cy="461665"/>
          </a:xfrm>
          <a:prstGeom prst="rect">
            <a:avLst/>
          </a:prstGeom>
          <a:noFill/>
        </p:spPr>
        <p:txBody>
          <a:bodyPr wrap="square" rtlCol="0">
            <a:spAutoFit/>
          </a:bodyPr>
          <a:lstStyle/>
          <a:p>
            <a:r>
              <a:rPr lang="en-IN" sz="1200" dirty="0">
                <a:latin typeface="Arial Narrow" panose="020B0606020202030204" pitchFamily="34" charset="0"/>
                <a:cs typeface="Times New Roman" panose="02020603050405020304" pitchFamily="18" charset="0"/>
              </a:rPr>
              <a:t>Concept: Fei-Fei Li Attention and Transformers CS231n Stanford Lecture</a:t>
            </a:r>
          </a:p>
        </p:txBody>
      </p:sp>
      <p:grpSp>
        <p:nvGrpSpPr>
          <p:cNvPr id="116" name="Group 115"/>
          <p:cNvGrpSpPr/>
          <p:nvPr/>
        </p:nvGrpSpPr>
        <p:grpSpPr>
          <a:xfrm>
            <a:off x="2379597" y="3344066"/>
            <a:ext cx="8538015" cy="3150507"/>
            <a:chOff x="1272735" y="2569519"/>
            <a:chExt cx="8538015" cy="3150507"/>
          </a:xfrm>
        </p:grpSpPr>
        <mc:AlternateContent xmlns:mc="http://schemas.openxmlformats.org/markup-compatibility/2006" xmlns:a14="http://schemas.microsoft.com/office/drawing/2010/main">
          <mc:Choice Requires="a14">
            <p:sp>
              <p:nvSpPr>
                <p:cNvPr id="117" name="TextBox 116">
                  <a:extLst>
                    <a:ext uri="{FF2B5EF4-FFF2-40B4-BE49-F238E27FC236}">
                      <a16:creationId xmlns:a16="http://schemas.microsoft.com/office/drawing/2014/main" id="{AD6D90FF-8B08-44E6-ADD1-B975BDF15677}"/>
                    </a:ext>
                  </a:extLst>
                </p:cNvPr>
                <p:cNvSpPr txBox="1"/>
                <p:nvPr/>
              </p:nvSpPr>
              <p:spPr>
                <a:xfrm rot="10800000" flipV="1">
                  <a:off x="3342178" y="3885966"/>
                  <a:ext cx="495646" cy="468588"/>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a:latin typeface="Cambria Math" panose="02040503050406030204" pitchFamily="18" charset="0"/>
                              </a:rPr>
                            </m:ctrlPr>
                          </m:sSubPr>
                          <m:e>
                            <m:r>
                              <a:rPr lang="en-IN" sz="1500">
                                <a:latin typeface="Cambria Math" panose="02040503050406030204" pitchFamily="18" charset="0"/>
                              </a:rPr>
                              <m:t>𝛼</m:t>
                            </m:r>
                          </m:e>
                          <m:sub>
                            <m:r>
                              <a:rPr lang="en-IN" sz="1500">
                                <a:latin typeface="Cambria Math" panose="02040503050406030204" pitchFamily="18" charset="0"/>
                              </a:rPr>
                              <m:t>1,1</m:t>
                            </m:r>
                          </m:sub>
                        </m:sSub>
                      </m:oMath>
                    </m:oMathPara>
                  </a14:m>
                  <a:endParaRPr lang="en-IN" sz="1500" dirty="0">
                    <a:latin typeface="Arial Narrow" panose="020B0606020202030204" pitchFamily="34" charset="0"/>
                  </a:endParaRPr>
                </a:p>
              </p:txBody>
            </p:sp>
          </mc:Choice>
          <mc:Fallback xmlns="">
            <p:sp>
              <p:nvSpPr>
                <p:cNvPr id="117" name="TextBox 116">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3342178" y="3885966"/>
                  <a:ext cx="495646" cy="468588"/>
                </a:xfrm>
                <a:prstGeom prst="ellipse">
                  <a:avLst/>
                </a:prstGeom>
                <a:blipFill>
                  <a:blip r:embed="rId3"/>
                  <a:stretch>
                    <a:fillRect r="-1205"/>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8" name="TextBox 117">
                  <a:extLst>
                    <a:ext uri="{FF2B5EF4-FFF2-40B4-BE49-F238E27FC236}">
                      <a16:creationId xmlns:a16="http://schemas.microsoft.com/office/drawing/2014/main" id="{36F03E2E-8229-4DFD-869B-C4F6CF96084E}"/>
                    </a:ext>
                  </a:extLst>
                </p:cNvPr>
                <p:cNvSpPr txBox="1"/>
                <p:nvPr/>
              </p:nvSpPr>
              <p:spPr>
                <a:xfrm rot="10800000" flipV="1">
                  <a:off x="2795900" y="3885967"/>
                  <a:ext cx="495646" cy="468588"/>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a:latin typeface="Cambria Math" panose="02040503050406030204" pitchFamily="18" charset="0"/>
                              </a:rPr>
                            </m:ctrlPr>
                          </m:sSubPr>
                          <m:e>
                            <m:r>
                              <a:rPr lang="en-IN" sz="1500">
                                <a:latin typeface="Cambria Math" panose="02040503050406030204" pitchFamily="18" charset="0"/>
                              </a:rPr>
                              <m:t>𝛼</m:t>
                            </m:r>
                          </m:e>
                          <m:sub>
                            <m:r>
                              <a:rPr lang="en-IN" sz="1500">
                                <a:latin typeface="Cambria Math" panose="02040503050406030204" pitchFamily="18" charset="0"/>
                              </a:rPr>
                              <m:t>2,1</m:t>
                            </m:r>
                          </m:sub>
                        </m:sSub>
                      </m:oMath>
                    </m:oMathPara>
                  </a14:m>
                  <a:endParaRPr lang="en-IN" sz="1500" dirty="0">
                    <a:latin typeface="Arial Narrow" panose="020B0606020202030204" pitchFamily="34" charset="0"/>
                  </a:endParaRPr>
                </a:p>
              </p:txBody>
            </p:sp>
          </mc:Choice>
          <mc:Fallback xmlns="">
            <p:sp>
              <p:nvSpPr>
                <p:cNvPr id="118" name="TextBox 117">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2795900" y="3885967"/>
                  <a:ext cx="495646" cy="468588"/>
                </a:xfrm>
                <a:prstGeom prst="ellipse">
                  <a:avLst/>
                </a:prstGeom>
                <a:blipFill>
                  <a:blip r:embed="rId4"/>
                  <a:stretch>
                    <a:fillRect r="-2381"/>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9" name="TextBox 118">
                  <a:extLst>
                    <a:ext uri="{FF2B5EF4-FFF2-40B4-BE49-F238E27FC236}">
                      <a16:creationId xmlns:a16="http://schemas.microsoft.com/office/drawing/2014/main" id="{DF1D3D16-4F7D-4FD0-95EB-E2360401B577}"/>
                    </a:ext>
                  </a:extLst>
                </p:cNvPr>
                <p:cNvSpPr txBox="1"/>
                <p:nvPr/>
              </p:nvSpPr>
              <p:spPr>
                <a:xfrm rot="10800000" flipV="1">
                  <a:off x="2254916" y="3885426"/>
                  <a:ext cx="495646" cy="454432"/>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n-IN" sz="1500" b="0" i="1" smtClean="0">
                                <a:latin typeface="Cambria Math" panose="02040503050406030204" pitchFamily="18" charset="0"/>
                              </a:rPr>
                              <m:t>31</m:t>
                            </m:r>
                          </m:sub>
                        </m:sSub>
                      </m:oMath>
                    </m:oMathPara>
                  </a14:m>
                  <a:endParaRPr lang="en-IN" sz="1500" dirty="0">
                    <a:latin typeface="Arial Narrow" panose="020B0606020202030204" pitchFamily="34" charset="0"/>
                  </a:endParaRPr>
                </a:p>
              </p:txBody>
            </p:sp>
          </mc:Choice>
          <mc:Fallback xmlns="">
            <p:sp>
              <p:nvSpPr>
                <p:cNvPr id="119" name="TextBox 118">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2254916" y="3885426"/>
                  <a:ext cx="495646" cy="454432"/>
                </a:xfrm>
                <a:prstGeom prst="ellipse">
                  <a:avLst/>
                </a:prstGeom>
                <a:blipFill>
                  <a:blip r:embed="rId5"/>
                  <a:stretch>
                    <a:fillRect/>
                  </a:stretch>
                </a:blipFill>
                <a:ln w="12700">
                  <a:solidFill>
                    <a:schemeClr val="tx1"/>
                  </a:solidFill>
                </a:ln>
              </p:spPr>
              <p:txBody>
                <a:bodyPr/>
                <a:lstStyle/>
                <a:p>
                  <a:r>
                    <a:rPr lang="en-IN">
                      <a:noFill/>
                    </a:rPr>
                    <a:t> </a:t>
                  </a:r>
                </a:p>
              </p:txBody>
            </p:sp>
          </mc:Fallback>
        </mc:AlternateContent>
        <p:cxnSp>
          <p:nvCxnSpPr>
            <p:cNvPr id="120" name="Straight Arrow Connector 119">
              <a:extLst>
                <a:ext uri="{FF2B5EF4-FFF2-40B4-BE49-F238E27FC236}">
                  <a16:creationId xmlns:a16="http://schemas.microsoft.com/office/drawing/2014/main" id="{A263021F-7328-4211-909D-49F49CA28D98}"/>
                </a:ext>
              </a:extLst>
            </p:cNvPr>
            <p:cNvCxnSpPr>
              <a:stCxn id="164" idx="0"/>
              <a:endCxn id="117" idx="4"/>
            </p:cNvCxnSpPr>
            <p:nvPr/>
          </p:nvCxnSpPr>
          <p:spPr>
            <a:xfrm flipV="1">
              <a:off x="3587584" y="4354554"/>
              <a:ext cx="2417" cy="118717"/>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48E3A579-0DB9-42B0-BAF2-784E8D2CED22}"/>
                </a:ext>
              </a:extLst>
            </p:cNvPr>
            <p:cNvCxnSpPr>
              <a:cxnSpLocks/>
              <a:stCxn id="165" idx="0"/>
              <a:endCxn id="118" idx="4"/>
            </p:cNvCxnSpPr>
            <p:nvPr/>
          </p:nvCxnSpPr>
          <p:spPr>
            <a:xfrm flipV="1">
              <a:off x="3041306" y="4354555"/>
              <a:ext cx="2417" cy="118717"/>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C1137974-CC6B-47D3-81CF-6AC92B143B47}"/>
                </a:ext>
              </a:extLst>
            </p:cNvPr>
            <p:cNvCxnSpPr>
              <a:cxnSpLocks/>
              <a:stCxn id="166" idx="0"/>
              <a:endCxn id="119" idx="4"/>
            </p:cNvCxnSpPr>
            <p:nvPr/>
          </p:nvCxnSpPr>
          <p:spPr>
            <a:xfrm flipV="1">
              <a:off x="2500321" y="4339858"/>
              <a:ext cx="2418" cy="133415"/>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Straight Arrow Connector 122">
              <a:extLst>
                <a:ext uri="{FF2B5EF4-FFF2-40B4-BE49-F238E27FC236}">
                  <a16:creationId xmlns:a16="http://schemas.microsoft.com/office/drawing/2014/main" id="{47F04F6C-A5DE-48AC-A93E-885D326C2D52}"/>
                </a:ext>
              </a:extLst>
            </p:cNvPr>
            <p:cNvCxnSpPr>
              <a:cxnSpLocks/>
              <a:stCxn id="131" idx="2"/>
            </p:cNvCxnSpPr>
            <p:nvPr/>
          </p:nvCxnSpPr>
          <p:spPr>
            <a:xfrm>
              <a:off x="7388133" y="4112641"/>
              <a:ext cx="613222" cy="1535"/>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Straight Arrow Connector 123">
              <a:extLst>
                <a:ext uri="{FF2B5EF4-FFF2-40B4-BE49-F238E27FC236}">
                  <a16:creationId xmlns:a16="http://schemas.microsoft.com/office/drawing/2014/main" id="{93CE584A-6224-4185-BA7F-7DBE679AAC01}"/>
                </a:ext>
              </a:extLst>
            </p:cNvPr>
            <p:cNvCxnSpPr>
              <a:cxnSpLocks/>
              <a:stCxn id="117" idx="2"/>
            </p:cNvCxnSpPr>
            <p:nvPr/>
          </p:nvCxnSpPr>
          <p:spPr>
            <a:xfrm flipV="1">
              <a:off x="3837824" y="4116970"/>
              <a:ext cx="578914" cy="3290"/>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5" name="TextBox 124">
                  <a:extLst>
                    <a:ext uri="{FF2B5EF4-FFF2-40B4-BE49-F238E27FC236}">
                      <a16:creationId xmlns:a16="http://schemas.microsoft.com/office/drawing/2014/main" id="{CB478EDF-F147-4A46-ACD7-767B4A547BF2}"/>
                    </a:ext>
                  </a:extLst>
                </p:cNvPr>
                <p:cNvSpPr txBox="1"/>
                <p:nvPr/>
              </p:nvSpPr>
              <p:spPr>
                <a:xfrm rot="10800000" flipV="1">
                  <a:off x="1272735" y="3885424"/>
                  <a:ext cx="499716" cy="454432"/>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a:latin typeface="Cambria Math" panose="02040503050406030204" pitchFamily="18" charset="0"/>
                              </a:rPr>
                            </m:ctrlPr>
                          </m:sSubPr>
                          <m:e>
                            <m:r>
                              <a:rPr lang="en-IN" sz="1500" i="1">
                                <a:latin typeface="Cambria Math" panose="02040503050406030204" pitchFamily="18" charset="0"/>
                              </a:rPr>
                              <m:t>𝑞</m:t>
                            </m:r>
                          </m:e>
                          <m:sub>
                            <m:r>
                              <a:rPr lang="en-IN" sz="1500" i="1">
                                <a:latin typeface="Cambria Math" panose="02040503050406030204" pitchFamily="18" charset="0"/>
                              </a:rPr>
                              <m:t>1</m:t>
                            </m:r>
                          </m:sub>
                        </m:sSub>
                      </m:oMath>
                    </m:oMathPara>
                  </a14:m>
                  <a:endParaRPr lang="en-IN" sz="1500" dirty="0">
                    <a:latin typeface="Arial Narrow" panose="020B0606020202030204" pitchFamily="34" charset="0"/>
                  </a:endParaRPr>
                </a:p>
              </p:txBody>
            </p:sp>
          </mc:Choice>
          <mc:Fallback xmlns="">
            <p:sp>
              <p:nvSpPr>
                <p:cNvPr id="125" name="TextBox 124">
                  <a:extLst>
                    <a:ext uri="{FF2B5EF4-FFF2-40B4-BE49-F238E27FC236}">
                      <a16:creationId xmlns:a16="http://schemas.microsoft.com/office/drawing/2014/main" id="{CB478EDF-F147-4A46-ACD7-767B4A547BF2}"/>
                    </a:ext>
                  </a:extLst>
                </p:cNvPr>
                <p:cNvSpPr txBox="1">
                  <a:spLocks noRot="1" noChangeAspect="1" noMove="1" noResize="1" noEditPoints="1" noAdjustHandles="1" noChangeArrowheads="1" noChangeShapeType="1" noTextEdit="1"/>
                </p:cNvSpPr>
                <p:nvPr/>
              </p:nvSpPr>
              <p:spPr>
                <a:xfrm rot="10800000" flipV="1">
                  <a:off x="1272735" y="3885424"/>
                  <a:ext cx="499716" cy="454432"/>
                </a:xfrm>
                <a:prstGeom prst="ellipse">
                  <a:avLst/>
                </a:prstGeom>
                <a:blipFill>
                  <a:blip r:embed="rId6"/>
                  <a:stretch>
                    <a:fillRect/>
                  </a:stretch>
                </a:blipFill>
                <a:ln w="12700">
                  <a:solidFill>
                    <a:schemeClr val="tx1"/>
                  </a:solidFill>
                </a:ln>
              </p:spPr>
              <p:txBody>
                <a:bodyPr/>
                <a:lstStyle/>
                <a:p>
                  <a:r>
                    <a:rPr lang="en-IN">
                      <a:noFill/>
                    </a:rPr>
                    <a:t> </a:t>
                  </a:r>
                </a:p>
              </p:txBody>
            </p:sp>
          </mc:Fallback>
        </mc:AlternateContent>
        <p:cxnSp>
          <p:nvCxnSpPr>
            <p:cNvPr id="126" name="Straight Arrow Connector 125">
              <a:extLst>
                <a:ext uri="{FF2B5EF4-FFF2-40B4-BE49-F238E27FC236}">
                  <a16:creationId xmlns:a16="http://schemas.microsoft.com/office/drawing/2014/main" id="{20C9C6AC-19F5-4564-9E13-1B8D0A63390D}"/>
                </a:ext>
              </a:extLst>
            </p:cNvPr>
            <p:cNvCxnSpPr>
              <a:stCxn id="125" idx="2"/>
              <a:endCxn id="119" idx="6"/>
            </p:cNvCxnSpPr>
            <p:nvPr/>
          </p:nvCxnSpPr>
          <p:spPr>
            <a:xfrm>
              <a:off x="1772451" y="4112640"/>
              <a:ext cx="482465" cy="2"/>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27" name="Straight Arrow Connector 126">
              <a:extLst>
                <a:ext uri="{FF2B5EF4-FFF2-40B4-BE49-F238E27FC236}">
                  <a16:creationId xmlns:a16="http://schemas.microsoft.com/office/drawing/2014/main" id="{19A753A8-AD35-4022-B3B3-F8FBEA03A328}"/>
                </a:ext>
              </a:extLst>
            </p:cNvPr>
            <p:cNvCxnSpPr>
              <a:endCxn id="128" idx="6"/>
            </p:cNvCxnSpPr>
            <p:nvPr/>
          </p:nvCxnSpPr>
          <p:spPr>
            <a:xfrm flipV="1">
              <a:off x="8905811" y="4112641"/>
              <a:ext cx="409293" cy="1536"/>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8" name="TextBox 127">
                  <a:extLst>
                    <a:ext uri="{FF2B5EF4-FFF2-40B4-BE49-F238E27FC236}">
                      <a16:creationId xmlns:a16="http://schemas.microsoft.com/office/drawing/2014/main" id="{6803D624-9F2D-4CB6-A000-91DDACFD0A2B}"/>
                    </a:ext>
                  </a:extLst>
                </p:cNvPr>
                <p:cNvSpPr txBox="1"/>
                <p:nvPr/>
              </p:nvSpPr>
              <p:spPr>
                <a:xfrm rot="10800000" flipV="1">
                  <a:off x="9315104" y="3885425"/>
                  <a:ext cx="495646" cy="454432"/>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a:latin typeface="Cambria Math" panose="02040503050406030204" pitchFamily="18" charset="0"/>
                              </a:rPr>
                            </m:ctrlPr>
                          </m:sSubPr>
                          <m:e>
                            <m:r>
                              <a:rPr lang="en-IN" sz="1500" i="1">
                                <a:latin typeface="Cambria Math" panose="02040503050406030204" pitchFamily="18" charset="0"/>
                              </a:rPr>
                              <m:t>𝑦</m:t>
                            </m:r>
                          </m:e>
                          <m:sub>
                            <m:r>
                              <a:rPr lang="en-IN" sz="1500" i="1">
                                <a:latin typeface="Cambria Math" panose="02040503050406030204" pitchFamily="18" charset="0"/>
                              </a:rPr>
                              <m:t>1</m:t>
                            </m:r>
                          </m:sub>
                        </m:sSub>
                      </m:oMath>
                    </m:oMathPara>
                  </a14:m>
                  <a:endParaRPr lang="en-IN" sz="1500" dirty="0">
                    <a:latin typeface="Arial Narrow" panose="020B0606020202030204" pitchFamily="34" charset="0"/>
                  </a:endParaRPr>
                </a:p>
              </p:txBody>
            </p:sp>
          </mc:Choice>
          <mc:Fallback xmlns="">
            <p:sp>
              <p:nvSpPr>
                <p:cNvPr id="128" name="TextBox 127">
                  <a:extLst>
                    <a:ext uri="{FF2B5EF4-FFF2-40B4-BE49-F238E27FC236}">
                      <a16:creationId xmlns:a16="http://schemas.microsoft.com/office/drawing/2014/main" id="{6803D624-9F2D-4CB6-A000-91DDACFD0A2B}"/>
                    </a:ext>
                  </a:extLst>
                </p:cNvPr>
                <p:cNvSpPr txBox="1">
                  <a:spLocks noRot="1" noChangeAspect="1" noMove="1" noResize="1" noEditPoints="1" noAdjustHandles="1" noChangeArrowheads="1" noChangeShapeType="1" noTextEdit="1"/>
                </p:cNvSpPr>
                <p:nvPr/>
              </p:nvSpPr>
              <p:spPr>
                <a:xfrm rot="10800000" flipV="1">
                  <a:off x="9315104" y="3885425"/>
                  <a:ext cx="495646" cy="454432"/>
                </a:xfrm>
                <a:prstGeom prst="ellipse">
                  <a:avLst/>
                </a:prstGeom>
                <a:blipFill>
                  <a:blip r:embed="rId7"/>
                  <a:stretch>
                    <a:fillRect/>
                  </a:stretch>
                </a:blipFill>
                <a:ln w="12700">
                  <a:solidFill>
                    <a:schemeClr val="tx1"/>
                  </a:solidFill>
                </a:ln>
              </p:spPr>
              <p:txBody>
                <a:bodyPr/>
                <a:lstStyle/>
                <a:p>
                  <a:r>
                    <a:rPr lang="en-IN">
                      <a:noFill/>
                    </a:rPr>
                    <a:t> </a:t>
                  </a:r>
                </a:p>
              </p:txBody>
            </p:sp>
          </mc:Fallback>
        </mc:AlternateContent>
        <p:sp>
          <p:nvSpPr>
            <p:cNvPr id="129" name="TextBox 128">
              <a:extLst>
                <a:ext uri="{FF2B5EF4-FFF2-40B4-BE49-F238E27FC236}">
                  <a16:creationId xmlns:a16="http://schemas.microsoft.com/office/drawing/2014/main" id="{E17818E8-007B-45D8-AD06-1A2108924884}"/>
                </a:ext>
              </a:extLst>
            </p:cNvPr>
            <p:cNvSpPr txBox="1"/>
            <p:nvPr/>
          </p:nvSpPr>
          <p:spPr>
            <a:xfrm rot="10800000" flipV="1">
              <a:off x="2392352" y="2572258"/>
              <a:ext cx="1333204" cy="323165"/>
            </a:xfrm>
            <a:prstGeom prst="rect">
              <a:avLst/>
            </a:prstGeom>
            <a:noFill/>
          </p:spPr>
          <p:txBody>
            <a:bodyPr wrap="square" rtlCol="0">
              <a:spAutoFit/>
            </a:bodyPr>
            <a:lstStyle/>
            <a:p>
              <a:r>
                <a:rPr lang="en-IN" sz="1500" dirty="0">
                  <a:latin typeface="Arial Narrow" panose="020B0606020202030204" pitchFamily="34" charset="0"/>
                  <a:cs typeface="Times New Roman" panose="02020603050405020304" pitchFamily="18" charset="0"/>
                </a:rPr>
                <a:t>Alignment</a:t>
              </a:r>
            </a:p>
          </p:txBody>
        </p:sp>
        <p:sp>
          <p:nvSpPr>
            <p:cNvPr id="130" name="TextBox 129">
              <a:extLst>
                <a:ext uri="{FF2B5EF4-FFF2-40B4-BE49-F238E27FC236}">
                  <a16:creationId xmlns:a16="http://schemas.microsoft.com/office/drawing/2014/main" id="{A8C9EC39-2EA1-4820-AB08-8E44D249B4B8}"/>
                </a:ext>
              </a:extLst>
            </p:cNvPr>
            <p:cNvSpPr txBox="1"/>
            <p:nvPr/>
          </p:nvSpPr>
          <p:spPr>
            <a:xfrm rot="10800000" flipV="1">
              <a:off x="6130677" y="2569519"/>
              <a:ext cx="1333204" cy="323165"/>
            </a:xfrm>
            <a:prstGeom prst="rect">
              <a:avLst/>
            </a:prstGeom>
            <a:noFill/>
          </p:spPr>
          <p:txBody>
            <a:bodyPr wrap="square" rtlCol="0">
              <a:spAutoFit/>
            </a:bodyPr>
            <a:lstStyle/>
            <a:p>
              <a:r>
                <a:rPr lang="en-IN" sz="1500" dirty="0">
                  <a:latin typeface="Arial Narrow" panose="020B0606020202030204" pitchFamily="34" charset="0"/>
                  <a:cs typeface="Times New Roman" panose="02020603050405020304" pitchFamily="18" charset="0"/>
                </a:rPr>
                <a:t>Attention</a:t>
              </a:r>
            </a:p>
          </p:txBody>
        </p:sp>
        <mc:AlternateContent xmlns:mc="http://schemas.openxmlformats.org/markup-compatibility/2006" xmlns:a14="http://schemas.microsoft.com/office/drawing/2010/main">
          <mc:Choice Requires="a14">
            <p:sp>
              <p:nvSpPr>
                <p:cNvPr id="131" name="TextBox 130">
                  <a:extLst>
                    <a:ext uri="{FF2B5EF4-FFF2-40B4-BE49-F238E27FC236}">
                      <a16:creationId xmlns:a16="http://schemas.microsoft.com/office/drawing/2014/main" id="{AD6D90FF-8B08-44E6-ADD1-B975BDF15677}"/>
                    </a:ext>
                  </a:extLst>
                </p:cNvPr>
                <p:cNvSpPr txBox="1"/>
                <p:nvPr/>
              </p:nvSpPr>
              <p:spPr>
                <a:xfrm rot="10800000" flipV="1">
                  <a:off x="6892487" y="3878347"/>
                  <a:ext cx="495646" cy="468588"/>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𝑎</m:t>
                            </m:r>
                          </m:e>
                          <m:sub>
                            <m:r>
                              <a:rPr lang="en-IN" sz="1500">
                                <a:latin typeface="Cambria Math" panose="02040503050406030204" pitchFamily="18" charset="0"/>
                              </a:rPr>
                              <m:t>1,1</m:t>
                            </m:r>
                          </m:sub>
                        </m:sSub>
                      </m:oMath>
                    </m:oMathPara>
                  </a14:m>
                  <a:endParaRPr lang="en-IN" sz="1500" dirty="0">
                    <a:latin typeface="Arial Narrow" panose="020B0606020202030204" pitchFamily="34" charset="0"/>
                  </a:endParaRPr>
                </a:p>
              </p:txBody>
            </p:sp>
          </mc:Choice>
          <mc:Fallback xmlns="">
            <p:sp>
              <p:nvSpPr>
                <p:cNvPr id="131" name="TextBox 130">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6892487" y="3878347"/>
                  <a:ext cx="495646" cy="468588"/>
                </a:xfrm>
                <a:prstGeom prst="ellipse">
                  <a:avLst/>
                </a:prstGeom>
                <a:blipFill>
                  <a:blip r:embed="rId8"/>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2" name="TextBox 131">
                  <a:extLst>
                    <a:ext uri="{FF2B5EF4-FFF2-40B4-BE49-F238E27FC236}">
                      <a16:creationId xmlns:a16="http://schemas.microsoft.com/office/drawing/2014/main" id="{36F03E2E-8229-4DFD-869B-C4F6CF96084E}"/>
                    </a:ext>
                  </a:extLst>
                </p:cNvPr>
                <p:cNvSpPr txBox="1"/>
                <p:nvPr/>
              </p:nvSpPr>
              <p:spPr>
                <a:xfrm rot="10800000" flipV="1">
                  <a:off x="6346209" y="3878347"/>
                  <a:ext cx="495646" cy="468588"/>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𝑎</m:t>
                            </m:r>
                          </m:e>
                          <m:sub>
                            <m:r>
                              <a:rPr lang="en-IN" sz="1500">
                                <a:latin typeface="Cambria Math" panose="02040503050406030204" pitchFamily="18" charset="0"/>
                              </a:rPr>
                              <m:t>2,1</m:t>
                            </m:r>
                          </m:sub>
                        </m:sSub>
                      </m:oMath>
                    </m:oMathPara>
                  </a14:m>
                  <a:endParaRPr lang="en-IN" sz="1500" dirty="0">
                    <a:latin typeface="Arial Narrow" panose="020B0606020202030204" pitchFamily="34" charset="0"/>
                  </a:endParaRPr>
                </a:p>
              </p:txBody>
            </p:sp>
          </mc:Choice>
          <mc:Fallback xmlns="">
            <p:sp>
              <p:nvSpPr>
                <p:cNvPr id="132" name="TextBox 131">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6346209" y="3878347"/>
                  <a:ext cx="495646" cy="468588"/>
                </a:xfrm>
                <a:prstGeom prst="ellipse">
                  <a:avLst/>
                </a:prstGeom>
                <a:blipFill>
                  <a:blip r:embed="rId9"/>
                  <a:stretch>
                    <a:fillRect r="-1205"/>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3" name="TextBox 132">
                  <a:extLst>
                    <a:ext uri="{FF2B5EF4-FFF2-40B4-BE49-F238E27FC236}">
                      <a16:creationId xmlns:a16="http://schemas.microsoft.com/office/drawing/2014/main" id="{DF1D3D16-4F7D-4FD0-95EB-E2360401B577}"/>
                    </a:ext>
                  </a:extLst>
                </p:cNvPr>
                <p:cNvSpPr txBox="1"/>
                <p:nvPr/>
              </p:nvSpPr>
              <p:spPr>
                <a:xfrm rot="10800000" flipV="1">
                  <a:off x="5805224" y="3878348"/>
                  <a:ext cx="495646" cy="468588"/>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ea typeface="Cambria Math" panose="02040503050406030204" pitchFamily="18" charset="0"/>
                                <a:cs typeface="Times New Roman" panose="02020603050405020304" pitchFamily="18" charset="0"/>
                              </a:rPr>
                              <m:t>𝑎</m:t>
                            </m:r>
                          </m:e>
                          <m:sub>
                            <m:r>
                              <a:rPr lang="en-IN" sz="1500">
                                <a:latin typeface="Cambria Math" panose="02040503050406030204" pitchFamily="18" charset="0"/>
                              </a:rPr>
                              <m:t>3</m:t>
                            </m:r>
                            <m:r>
                              <a:rPr lang="en-IN" sz="1500" b="0" i="1" smtClean="0">
                                <a:latin typeface="Cambria Math" panose="02040503050406030204" pitchFamily="18" charset="0"/>
                              </a:rPr>
                              <m:t>,</m:t>
                            </m:r>
                            <m:r>
                              <a:rPr lang="en-IN" sz="1500">
                                <a:latin typeface="Cambria Math" panose="02040503050406030204" pitchFamily="18" charset="0"/>
                              </a:rPr>
                              <m:t>1</m:t>
                            </m:r>
                          </m:sub>
                        </m:sSub>
                      </m:oMath>
                    </m:oMathPara>
                  </a14:m>
                  <a:endParaRPr lang="en-IN" sz="1500" dirty="0">
                    <a:latin typeface="Arial Narrow" panose="020B0606020202030204" pitchFamily="34" charset="0"/>
                  </a:endParaRPr>
                </a:p>
              </p:txBody>
            </p:sp>
          </mc:Choice>
          <mc:Fallback xmlns="">
            <p:sp>
              <p:nvSpPr>
                <p:cNvPr id="133" name="TextBox 132">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5805224" y="3878348"/>
                  <a:ext cx="495646" cy="468588"/>
                </a:xfrm>
                <a:prstGeom prst="ellipse">
                  <a:avLst/>
                </a:prstGeom>
                <a:blipFill>
                  <a:blip r:embed="rId10"/>
                  <a:stretch>
                    <a:fillRect r="-1205"/>
                  </a:stretch>
                </a:blipFill>
                <a:ln w="12700">
                  <a:solidFill>
                    <a:schemeClr val="tx1"/>
                  </a:solidFill>
                </a:ln>
              </p:spPr>
              <p:txBody>
                <a:bodyPr/>
                <a:lstStyle/>
                <a:p>
                  <a:r>
                    <a:rPr lang="en-IN">
                      <a:noFill/>
                    </a:rPr>
                    <a:t> </a:t>
                  </a:r>
                </a:p>
              </p:txBody>
            </p:sp>
          </mc:Fallback>
        </mc:AlternateContent>
        <p:cxnSp>
          <p:nvCxnSpPr>
            <p:cNvPr id="134" name="Straight Arrow Connector 133">
              <a:extLst>
                <a:ext uri="{FF2B5EF4-FFF2-40B4-BE49-F238E27FC236}">
                  <a16:creationId xmlns:a16="http://schemas.microsoft.com/office/drawing/2014/main" id="{93CE584A-6224-4185-BA7F-7DBE679AAC01}"/>
                </a:ext>
              </a:extLst>
            </p:cNvPr>
            <p:cNvCxnSpPr>
              <a:cxnSpLocks/>
              <a:endCxn id="133" idx="6"/>
            </p:cNvCxnSpPr>
            <p:nvPr/>
          </p:nvCxnSpPr>
          <p:spPr>
            <a:xfrm>
              <a:off x="5324828" y="4109349"/>
              <a:ext cx="480396" cy="3293"/>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5" name="TextBox 134">
                  <a:extLst>
                    <a:ext uri="{FF2B5EF4-FFF2-40B4-BE49-F238E27FC236}">
                      <a16:creationId xmlns:a16="http://schemas.microsoft.com/office/drawing/2014/main" id="{AD6D90FF-8B08-44E6-ADD1-B975BDF15677}"/>
                    </a:ext>
                  </a:extLst>
                </p:cNvPr>
                <p:cNvSpPr txBox="1"/>
                <p:nvPr/>
              </p:nvSpPr>
              <p:spPr>
                <a:xfrm rot="10800000" flipV="1">
                  <a:off x="3342178" y="3396423"/>
                  <a:ext cx="495646" cy="468588"/>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a:latin typeface="Cambria Math" panose="02040503050406030204" pitchFamily="18" charset="0"/>
                              </a:rPr>
                            </m:ctrlPr>
                          </m:sSubPr>
                          <m:e>
                            <m:r>
                              <a:rPr lang="en-IN" sz="1500">
                                <a:latin typeface="Cambria Math" panose="02040503050406030204" pitchFamily="18" charset="0"/>
                              </a:rPr>
                              <m:t>𝛼</m:t>
                            </m:r>
                          </m:e>
                          <m:sub>
                            <m:r>
                              <a:rPr lang="en-IN" sz="1500">
                                <a:latin typeface="Cambria Math" panose="02040503050406030204" pitchFamily="18" charset="0"/>
                              </a:rPr>
                              <m:t>1,2</m:t>
                            </m:r>
                          </m:sub>
                        </m:sSub>
                      </m:oMath>
                    </m:oMathPara>
                  </a14:m>
                  <a:endParaRPr lang="en-IN" sz="1500" dirty="0">
                    <a:latin typeface="Arial Narrow" panose="020B0606020202030204" pitchFamily="34" charset="0"/>
                  </a:endParaRPr>
                </a:p>
              </p:txBody>
            </p:sp>
          </mc:Choice>
          <mc:Fallback xmlns="">
            <p:sp>
              <p:nvSpPr>
                <p:cNvPr id="135" name="TextBox 134">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3342178" y="3396423"/>
                  <a:ext cx="495646" cy="468588"/>
                </a:xfrm>
                <a:prstGeom prst="ellipse">
                  <a:avLst/>
                </a:prstGeom>
                <a:blipFill>
                  <a:blip r:embed="rId11"/>
                  <a:stretch>
                    <a:fillRect r="-2410"/>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6" name="TextBox 135">
                  <a:extLst>
                    <a:ext uri="{FF2B5EF4-FFF2-40B4-BE49-F238E27FC236}">
                      <a16:creationId xmlns:a16="http://schemas.microsoft.com/office/drawing/2014/main" id="{36F03E2E-8229-4DFD-869B-C4F6CF96084E}"/>
                    </a:ext>
                  </a:extLst>
                </p:cNvPr>
                <p:cNvSpPr txBox="1"/>
                <p:nvPr/>
              </p:nvSpPr>
              <p:spPr>
                <a:xfrm rot="10800000" flipV="1">
                  <a:off x="2795900" y="3396423"/>
                  <a:ext cx="495646" cy="468588"/>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a:latin typeface="Cambria Math" panose="02040503050406030204" pitchFamily="18" charset="0"/>
                              </a:rPr>
                            </m:ctrlPr>
                          </m:sSubPr>
                          <m:e>
                            <m:r>
                              <a:rPr lang="en-IN" sz="1500">
                                <a:latin typeface="Cambria Math" panose="02040503050406030204" pitchFamily="18" charset="0"/>
                              </a:rPr>
                              <m:t>𝛼</m:t>
                            </m:r>
                          </m:e>
                          <m:sub>
                            <m:r>
                              <a:rPr lang="en-IN" sz="1500">
                                <a:latin typeface="Cambria Math" panose="02040503050406030204" pitchFamily="18" charset="0"/>
                              </a:rPr>
                              <m:t>2,2</m:t>
                            </m:r>
                          </m:sub>
                        </m:sSub>
                      </m:oMath>
                    </m:oMathPara>
                  </a14:m>
                  <a:endParaRPr lang="en-IN" sz="1500" dirty="0">
                    <a:latin typeface="Arial Narrow" panose="020B0606020202030204" pitchFamily="34" charset="0"/>
                  </a:endParaRPr>
                </a:p>
              </p:txBody>
            </p:sp>
          </mc:Choice>
          <mc:Fallback xmlns="">
            <p:sp>
              <p:nvSpPr>
                <p:cNvPr id="136" name="TextBox 135">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2795900" y="3396423"/>
                  <a:ext cx="495646" cy="468588"/>
                </a:xfrm>
                <a:prstGeom prst="ellipse">
                  <a:avLst/>
                </a:prstGeom>
                <a:blipFill>
                  <a:blip r:embed="rId12"/>
                  <a:stretch>
                    <a:fillRect r="-2381"/>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DF1D3D16-4F7D-4FD0-95EB-E2360401B577}"/>
                    </a:ext>
                  </a:extLst>
                </p:cNvPr>
                <p:cNvSpPr txBox="1"/>
                <p:nvPr/>
              </p:nvSpPr>
              <p:spPr>
                <a:xfrm rot="10800000" flipV="1">
                  <a:off x="2254916" y="3403502"/>
                  <a:ext cx="495646" cy="454432"/>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n-IN" sz="1500" b="0" i="1" smtClean="0">
                                <a:latin typeface="Cambria Math" panose="02040503050406030204" pitchFamily="18" charset="0"/>
                              </a:rPr>
                              <m:t>32</m:t>
                            </m:r>
                          </m:sub>
                        </m:sSub>
                      </m:oMath>
                    </m:oMathPara>
                  </a14:m>
                  <a:endParaRPr lang="en-IN" sz="1500" dirty="0">
                    <a:latin typeface="Arial Narrow" panose="020B0606020202030204" pitchFamily="34" charset="0"/>
                  </a:endParaRPr>
                </a:p>
              </p:txBody>
            </p:sp>
          </mc:Choice>
          <mc:Fallback xmlns="">
            <p:sp>
              <p:nvSpPr>
                <p:cNvPr id="137" name="TextBox 136">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2254916" y="3403502"/>
                  <a:ext cx="495646" cy="454432"/>
                </a:xfrm>
                <a:prstGeom prst="ellipse">
                  <a:avLst/>
                </a:prstGeom>
                <a:blipFill>
                  <a:blip r:embed="rId13"/>
                  <a:stretch>
                    <a:fillRect/>
                  </a:stretch>
                </a:blipFill>
                <a:ln w="12700">
                  <a:solidFill>
                    <a:schemeClr val="tx1"/>
                  </a:solidFill>
                </a:ln>
              </p:spPr>
              <p:txBody>
                <a:bodyPr/>
                <a:lstStyle/>
                <a:p>
                  <a:r>
                    <a:rPr lang="en-IN">
                      <a:noFill/>
                    </a:rPr>
                    <a:t> </a:t>
                  </a:r>
                </a:p>
              </p:txBody>
            </p:sp>
          </mc:Fallback>
        </mc:AlternateContent>
        <p:cxnSp>
          <p:nvCxnSpPr>
            <p:cNvPr id="138" name="Straight Arrow Connector 137">
              <a:extLst>
                <a:ext uri="{FF2B5EF4-FFF2-40B4-BE49-F238E27FC236}">
                  <a16:creationId xmlns:a16="http://schemas.microsoft.com/office/drawing/2014/main" id="{47F04F6C-A5DE-48AC-A93E-885D326C2D52}"/>
                </a:ext>
              </a:extLst>
            </p:cNvPr>
            <p:cNvCxnSpPr>
              <a:cxnSpLocks/>
              <a:stCxn id="145" idx="2"/>
              <a:endCxn id="143" idx="3"/>
            </p:cNvCxnSpPr>
            <p:nvPr/>
          </p:nvCxnSpPr>
          <p:spPr>
            <a:xfrm>
              <a:off x="7388133" y="3623097"/>
              <a:ext cx="613218" cy="780"/>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39" name="Straight Arrow Connector 138">
              <a:extLst>
                <a:ext uri="{FF2B5EF4-FFF2-40B4-BE49-F238E27FC236}">
                  <a16:creationId xmlns:a16="http://schemas.microsoft.com/office/drawing/2014/main" id="{93CE584A-6224-4185-BA7F-7DBE679AAC01}"/>
                </a:ext>
              </a:extLst>
            </p:cNvPr>
            <p:cNvCxnSpPr>
              <a:cxnSpLocks/>
              <a:stCxn id="135" idx="2"/>
            </p:cNvCxnSpPr>
            <p:nvPr/>
          </p:nvCxnSpPr>
          <p:spPr>
            <a:xfrm flipV="1">
              <a:off x="3837824" y="3623879"/>
              <a:ext cx="578910" cy="6838"/>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0" name="TextBox 139">
                  <a:extLst>
                    <a:ext uri="{FF2B5EF4-FFF2-40B4-BE49-F238E27FC236}">
                      <a16:creationId xmlns:a16="http://schemas.microsoft.com/office/drawing/2014/main" id="{CB478EDF-F147-4A46-ACD7-767B4A547BF2}"/>
                    </a:ext>
                  </a:extLst>
                </p:cNvPr>
                <p:cNvSpPr txBox="1"/>
                <p:nvPr/>
              </p:nvSpPr>
              <p:spPr>
                <a:xfrm rot="10800000" flipV="1">
                  <a:off x="1272735" y="3403501"/>
                  <a:ext cx="499716" cy="454432"/>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i="1">
                                <a:latin typeface="Cambria Math" panose="02040503050406030204" pitchFamily="18" charset="0"/>
                              </a:rPr>
                              <m:t>𝑞</m:t>
                            </m:r>
                          </m:e>
                          <m:sub>
                            <m:r>
                              <a:rPr lang="en-IN" sz="1500" b="0" i="1" smtClean="0">
                                <a:latin typeface="Cambria Math" panose="02040503050406030204" pitchFamily="18" charset="0"/>
                              </a:rPr>
                              <m:t>2</m:t>
                            </m:r>
                          </m:sub>
                        </m:sSub>
                      </m:oMath>
                    </m:oMathPara>
                  </a14:m>
                  <a:endParaRPr lang="en-IN" sz="1500" dirty="0">
                    <a:latin typeface="Arial Narrow" panose="020B0606020202030204" pitchFamily="34" charset="0"/>
                  </a:endParaRPr>
                </a:p>
              </p:txBody>
            </p:sp>
          </mc:Choice>
          <mc:Fallback xmlns="">
            <p:sp>
              <p:nvSpPr>
                <p:cNvPr id="140" name="TextBox 139">
                  <a:extLst>
                    <a:ext uri="{FF2B5EF4-FFF2-40B4-BE49-F238E27FC236}">
                      <a16:creationId xmlns:a16="http://schemas.microsoft.com/office/drawing/2014/main" id="{CB478EDF-F147-4A46-ACD7-767B4A547BF2}"/>
                    </a:ext>
                  </a:extLst>
                </p:cNvPr>
                <p:cNvSpPr txBox="1">
                  <a:spLocks noRot="1" noChangeAspect="1" noMove="1" noResize="1" noEditPoints="1" noAdjustHandles="1" noChangeArrowheads="1" noChangeShapeType="1" noTextEdit="1"/>
                </p:cNvSpPr>
                <p:nvPr/>
              </p:nvSpPr>
              <p:spPr>
                <a:xfrm rot="10800000" flipV="1">
                  <a:off x="1272735" y="3403501"/>
                  <a:ext cx="499716" cy="454432"/>
                </a:xfrm>
                <a:prstGeom prst="ellipse">
                  <a:avLst/>
                </a:prstGeom>
                <a:blipFill>
                  <a:blip r:embed="rId14"/>
                  <a:stretch>
                    <a:fillRect/>
                  </a:stretch>
                </a:blipFill>
                <a:ln w="12700">
                  <a:solidFill>
                    <a:schemeClr val="tx1"/>
                  </a:solidFill>
                </a:ln>
              </p:spPr>
              <p:txBody>
                <a:bodyPr/>
                <a:lstStyle/>
                <a:p>
                  <a:r>
                    <a:rPr lang="en-IN">
                      <a:noFill/>
                    </a:rPr>
                    <a:t> </a:t>
                  </a:r>
                </a:p>
              </p:txBody>
            </p:sp>
          </mc:Fallback>
        </mc:AlternateContent>
        <p:cxnSp>
          <p:nvCxnSpPr>
            <p:cNvPr id="141" name="Straight Arrow Connector 140">
              <a:extLst>
                <a:ext uri="{FF2B5EF4-FFF2-40B4-BE49-F238E27FC236}">
                  <a16:creationId xmlns:a16="http://schemas.microsoft.com/office/drawing/2014/main" id="{20C9C6AC-19F5-4564-9E13-1B8D0A63390D}"/>
                </a:ext>
              </a:extLst>
            </p:cNvPr>
            <p:cNvCxnSpPr>
              <a:stCxn id="140" idx="2"/>
              <a:endCxn id="137" idx="6"/>
            </p:cNvCxnSpPr>
            <p:nvPr/>
          </p:nvCxnSpPr>
          <p:spPr>
            <a:xfrm>
              <a:off x="1772451" y="3630717"/>
              <a:ext cx="482465" cy="1"/>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42" name="Straight Arrow Connector 141">
              <a:extLst>
                <a:ext uri="{FF2B5EF4-FFF2-40B4-BE49-F238E27FC236}">
                  <a16:creationId xmlns:a16="http://schemas.microsoft.com/office/drawing/2014/main" id="{19A753A8-AD35-4022-B3B3-F8FBEA03A328}"/>
                </a:ext>
              </a:extLst>
            </p:cNvPr>
            <p:cNvCxnSpPr>
              <a:stCxn id="143" idx="1"/>
              <a:endCxn id="144" idx="6"/>
            </p:cNvCxnSpPr>
            <p:nvPr/>
          </p:nvCxnSpPr>
          <p:spPr>
            <a:xfrm>
              <a:off x="8907112" y="3623877"/>
              <a:ext cx="407992" cy="6840"/>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43" name="TextBox 142">
              <a:extLst>
                <a:ext uri="{FF2B5EF4-FFF2-40B4-BE49-F238E27FC236}">
                  <a16:creationId xmlns:a16="http://schemas.microsoft.com/office/drawing/2014/main" id="{A3B9A7C8-E18A-4216-ABA7-D4FFF52E7DCF}"/>
                </a:ext>
              </a:extLst>
            </p:cNvPr>
            <p:cNvSpPr txBox="1"/>
            <p:nvPr/>
          </p:nvSpPr>
          <p:spPr>
            <a:xfrm rot="10800000" flipV="1">
              <a:off x="8001351" y="3079423"/>
              <a:ext cx="905761" cy="1088908"/>
            </a:xfrm>
            <a:prstGeom prst="rect">
              <a:avLst/>
            </a:prstGeom>
            <a:noFill/>
            <a:ln>
              <a:solidFill>
                <a:srgbClr val="002060"/>
              </a:solidFill>
            </a:ln>
          </p:spPr>
          <p:txBody>
            <a:bodyPr wrap="square" rtlCol="0" anchor="ctr">
              <a:normAutofit fontScale="92500" lnSpcReduction="10000"/>
            </a:bodyPr>
            <a:lstStyle>
              <a:defPPr>
                <a:defRPr lang="en-US"/>
              </a:defPPr>
              <a:lvl1pPr algn="ctr">
                <a:defRPr>
                  <a:latin typeface="Times New Roman" panose="02020603050405020304" pitchFamily="18" charset="0"/>
                  <a:cs typeface="Times New Roman" panose="02020603050405020304" pitchFamily="18" charset="0"/>
                </a:defRPr>
              </a:lvl1pPr>
            </a:lstStyle>
            <a:p>
              <a:r>
                <a:rPr lang="en-IN" sz="1500" dirty="0">
                  <a:latin typeface="Arial Narrow" panose="020B0606020202030204" pitchFamily="34" charset="0"/>
                </a:rPr>
                <a:t>Mul</a:t>
              </a:r>
            </a:p>
            <a:p>
              <a:r>
                <a:rPr lang="en-IN" sz="1500" dirty="0">
                  <a:latin typeface="Arial Narrow" panose="020B0606020202030204" pitchFamily="34" charset="0"/>
                </a:rPr>
                <a:t> </a:t>
              </a:r>
            </a:p>
            <a:p>
              <a:r>
                <a:rPr lang="en-IN" sz="1500" dirty="0">
                  <a:latin typeface="Arial Narrow" panose="020B0606020202030204" pitchFamily="34" charset="0"/>
                </a:rPr>
                <a:t>+</a:t>
              </a:r>
            </a:p>
            <a:p>
              <a:r>
                <a:rPr lang="en-IN" sz="1500" dirty="0">
                  <a:latin typeface="Arial Narrow" panose="020B0606020202030204" pitchFamily="34" charset="0"/>
                </a:rPr>
                <a:t>Add</a:t>
              </a:r>
            </a:p>
            <a:p>
              <a:r>
                <a:rPr lang="en-IN" sz="1500" dirty="0">
                  <a:latin typeface="Arial Narrow" panose="020B0606020202030204" pitchFamily="34" charset="0"/>
                </a:rPr>
                <a:t>(→)</a:t>
              </a:r>
            </a:p>
          </p:txBody>
        </p:sp>
        <mc:AlternateContent xmlns:mc="http://schemas.openxmlformats.org/markup-compatibility/2006" xmlns:a14="http://schemas.microsoft.com/office/drawing/2010/main">
          <mc:Choice Requires="a14">
            <p:sp>
              <p:nvSpPr>
                <p:cNvPr id="144" name="TextBox 143">
                  <a:extLst>
                    <a:ext uri="{FF2B5EF4-FFF2-40B4-BE49-F238E27FC236}">
                      <a16:creationId xmlns:a16="http://schemas.microsoft.com/office/drawing/2014/main" id="{6803D624-9F2D-4CB6-A000-91DDACFD0A2B}"/>
                    </a:ext>
                  </a:extLst>
                </p:cNvPr>
                <p:cNvSpPr txBox="1"/>
                <p:nvPr/>
              </p:nvSpPr>
              <p:spPr>
                <a:xfrm rot="10800000" flipV="1">
                  <a:off x="9315104" y="3403501"/>
                  <a:ext cx="495646" cy="454432"/>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a:latin typeface="Cambria Math" panose="02040503050406030204" pitchFamily="18" charset="0"/>
                              </a:rPr>
                            </m:ctrlPr>
                          </m:sSubPr>
                          <m:e>
                            <m:r>
                              <a:rPr lang="en-IN" sz="1500" i="1">
                                <a:latin typeface="Cambria Math" panose="02040503050406030204" pitchFamily="18" charset="0"/>
                              </a:rPr>
                              <m:t>𝑦</m:t>
                            </m:r>
                          </m:e>
                          <m:sub>
                            <m:r>
                              <a:rPr lang="en-IN" sz="1500" i="1">
                                <a:latin typeface="Cambria Math" panose="02040503050406030204" pitchFamily="18" charset="0"/>
                              </a:rPr>
                              <m:t>2</m:t>
                            </m:r>
                          </m:sub>
                        </m:sSub>
                      </m:oMath>
                    </m:oMathPara>
                  </a14:m>
                  <a:endParaRPr lang="en-IN" sz="1500" dirty="0">
                    <a:latin typeface="Arial Narrow" panose="020B0606020202030204" pitchFamily="34" charset="0"/>
                  </a:endParaRPr>
                </a:p>
              </p:txBody>
            </p:sp>
          </mc:Choice>
          <mc:Fallback xmlns="">
            <p:sp>
              <p:nvSpPr>
                <p:cNvPr id="144" name="TextBox 143">
                  <a:extLst>
                    <a:ext uri="{FF2B5EF4-FFF2-40B4-BE49-F238E27FC236}">
                      <a16:creationId xmlns:a16="http://schemas.microsoft.com/office/drawing/2014/main" id="{6803D624-9F2D-4CB6-A000-91DDACFD0A2B}"/>
                    </a:ext>
                  </a:extLst>
                </p:cNvPr>
                <p:cNvSpPr txBox="1">
                  <a:spLocks noRot="1" noChangeAspect="1" noMove="1" noResize="1" noEditPoints="1" noAdjustHandles="1" noChangeArrowheads="1" noChangeShapeType="1" noTextEdit="1"/>
                </p:cNvSpPr>
                <p:nvPr/>
              </p:nvSpPr>
              <p:spPr>
                <a:xfrm rot="10800000" flipV="1">
                  <a:off x="9315104" y="3403501"/>
                  <a:ext cx="495646" cy="454432"/>
                </a:xfrm>
                <a:prstGeom prst="ellipse">
                  <a:avLst/>
                </a:prstGeom>
                <a:blipFill>
                  <a:blip r:embed="rId15"/>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5" name="TextBox 144">
                  <a:extLst>
                    <a:ext uri="{FF2B5EF4-FFF2-40B4-BE49-F238E27FC236}">
                      <a16:creationId xmlns:a16="http://schemas.microsoft.com/office/drawing/2014/main" id="{AD6D90FF-8B08-44E6-ADD1-B975BDF15677}"/>
                    </a:ext>
                  </a:extLst>
                </p:cNvPr>
                <p:cNvSpPr txBox="1"/>
                <p:nvPr/>
              </p:nvSpPr>
              <p:spPr>
                <a:xfrm rot="10800000" flipV="1">
                  <a:off x="6892487" y="3388803"/>
                  <a:ext cx="495646" cy="468588"/>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𝑎</m:t>
                            </m:r>
                          </m:e>
                          <m:sub>
                            <m:r>
                              <a:rPr lang="en-IN" sz="1500">
                                <a:latin typeface="Cambria Math" panose="02040503050406030204" pitchFamily="18" charset="0"/>
                              </a:rPr>
                              <m:t>1,2</m:t>
                            </m:r>
                          </m:sub>
                        </m:sSub>
                      </m:oMath>
                    </m:oMathPara>
                  </a14:m>
                  <a:endParaRPr lang="en-IN" sz="1500" dirty="0">
                    <a:latin typeface="Arial Narrow" panose="020B0606020202030204" pitchFamily="34" charset="0"/>
                  </a:endParaRPr>
                </a:p>
              </p:txBody>
            </p:sp>
          </mc:Choice>
          <mc:Fallback xmlns="">
            <p:sp>
              <p:nvSpPr>
                <p:cNvPr id="145" name="TextBox 144">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6892487" y="3388803"/>
                  <a:ext cx="495646" cy="468588"/>
                </a:xfrm>
                <a:prstGeom prst="ellipse">
                  <a:avLst/>
                </a:prstGeom>
                <a:blipFill>
                  <a:blip r:embed="rId16"/>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6" name="TextBox 145">
                  <a:extLst>
                    <a:ext uri="{FF2B5EF4-FFF2-40B4-BE49-F238E27FC236}">
                      <a16:creationId xmlns:a16="http://schemas.microsoft.com/office/drawing/2014/main" id="{36F03E2E-8229-4DFD-869B-C4F6CF96084E}"/>
                    </a:ext>
                  </a:extLst>
                </p:cNvPr>
                <p:cNvSpPr txBox="1"/>
                <p:nvPr/>
              </p:nvSpPr>
              <p:spPr>
                <a:xfrm rot="10800000" flipV="1">
                  <a:off x="6346209" y="3388803"/>
                  <a:ext cx="495646" cy="468588"/>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𝑎</m:t>
                            </m:r>
                          </m:e>
                          <m:sub>
                            <m:r>
                              <a:rPr lang="en-IN" sz="1500">
                                <a:latin typeface="Cambria Math" panose="02040503050406030204" pitchFamily="18" charset="0"/>
                              </a:rPr>
                              <m:t>2,2</m:t>
                            </m:r>
                          </m:sub>
                        </m:sSub>
                      </m:oMath>
                    </m:oMathPara>
                  </a14:m>
                  <a:endParaRPr lang="en-IN" sz="1500" dirty="0">
                    <a:latin typeface="Arial Narrow" panose="020B0606020202030204" pitchFamily="34" charset="0"/>
                  </a:endParaRPr>
                </a:p>
              </p:txBody>
            </p:sp>
          </mc:Choice>
          <mc:Fallback xmlns="">
            <p:sp>
              <p:nvSpPr>
                <p:cNvPr id="146" name="TextBox 145">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6346209" y="3388803"/>
                  <a:ext cx="495646" cy="468588"/>
                </a:xfrm>
                <a:prstGeom prst="ellipse">
                  <a:avLst/>
                </a:prstGeom>
                <a:blipFill>
                  <a:blip r:embed="rId17"/>
                  <a:stretch>
                    <a:fillRect r="-2410"/>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7" name="TextBox 146">
                  <a:extLst>
                    <a:ext uri="{FF2B5EF4-FFF2-40B4-BE49-F238E27FC236}">
                      <a16:creationId xmlns:a16="http://schemas.microsoft.com/office/drawing/2014/main" id="{DF1D3D16-4F7D-4FD0-95EB-E2360401B577}"/>
                    </a:ext>
                  </a:extLst>
                </p:cNvPr>
                <p:cNvSpPr txBox="1"/>
                <p:nvPr/>
              </p:nvSpPr>
              <p:spPr>
                <a:xfrm rot="10800000" flipV="1">
                  <a:off x="5805224" y="3388804"/>
                  <a:ext cx="495646" cy="468588"/>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ea typeface="Cambria Math" panose="02040503050406030204" pitchFamily="18" charset="0"/>
                                <a:cs typeface="Times New Roman" panose="02020603050405020304" pitchFamily="18" charset="0"/>
                              </a:rPr>
                              <m:t>𝑎</m:t>
                            </m:r>
                          </m:e>
                          <m:sub>
                            <m:r>
                              <a:rPr lang="en-IN" sz="1500">
                                <a:latin typeface="Cambria Math" panose="02040503050406030204" pitchFamily="18" charset="0"/>
                              </a:rPr>
                              <m:t>3</m:t>
                            </m:r>
                            <m:r>
                              <a:rPr lang="en-IN" sz="1500" b="0" i="1" smtClean="0">
                                <a:latin typeface="Cambria Math" panose="02040503050406030204" pitchFamily="18" charset="0"/>
                              </a:rPr>
                              <m:t>,</m:t>
                            </m:r>
                            <m:r>
                              <a:rPr lang="en-IN" sz="1500">
                                <a:latin typeface="Cambria Math" panose="02040503050406030204" pitchFamily="18" charset="0"/>
                              </a:rPr>
                              <m:t>2</m:t>
                            </m:r>
                          </m:sub>
                        </m:sSub>
                      </m:oMath>
                    </m:oMathPara>
                  </a14:m>
                  <a:endParaRPr lang="en-IN" sz="1500" dirty="0">
                    <a:latin typeface="Arial Narrow" panose="020B0606020202030204" pitchFamily="34" charset="0"/>
                  </a:endParaRPr>
                </a:p>
              </p:txBody>
            </p:sp>
          </mc:Choice>
          <mc:Fallback xmlns="">
            <p:sp>
              <p:nvSpPr>
                <p:cNvPr id="147" name="TextBox 146">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5805224" y="3388804"/>
                  <a:ext cx="495646" cy="468588"/>
                </a:xfrm>
                <a:prstGeom prst="ellipse">
                  <a:avLst/>
                </a:prstGeom>
                <a:blipFill>
                  <a:blip r:embed="rId18"/>
                  <a:stretch>
                    <a:fillRect r="-2410"/>
                  </a:stretch>
                </a:blipFill>
                <a:ln w="12700">
                  <a:solidFill>
                    <a:schemeClr val="tx1"/>
                  </a:solidFill>
                </a:ln>
              </p:spPr>
              <p:txBody>
                <a:bodyPr/>
                <a:lstStyle/>
                <a:p>
                  <a:r>
                    <a:rPr lang="en-IN">
                      <a:noFill/>
                    </a:rPr>
                    <a:t> </a:t>
                  </a:r>
                </a:p>
              </p:txBody>
            </p:sp>
          </mc:Fallback>
        </mc:AlternateContent>
        <p:cxnSp>
          <p:nvCxnSpPr>
            <p:cNvPr id="148" name="Straight Arrow Connector 147">
              <a:extLst>
                <a:ext uri="{FF2B5EF4-FFF2-40B4-BE49-F238E27FC236}">
                  <a16:creationId xmlns:a16="http://schemas.microsoft.com/office/drawing/2014/main" id="{93CE584A-6224-4185-BA7F-7DBE679AAC01}"/>
                </a:ext>
              </a:extLst>
            </p:cNvPr>
            <p:cNvCxnSpPr>
              <a:cxnSpLocks/>
              <a:stCxn id="162" idx="1"/>
              <a:endCxn id="147" idx="6"/>
            </p:cNvCxnSpPr>
            <p:nvPr/>
          </p:nvCxnSpPr>
          <p:spPr>
            <a:xfrm flipV="1">
              <a:off x="5324824" y="3623098"/>
              <a:ext cx="480400" cy="779"/>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9" name="TextBox 148">
                  <a:extLst>
                    <a:ext uri="{FF2B5EF4-FFF2-40B4-BE49-F238E27FC236}">
                      <a16:creationId xmlns:a16="http://schemas.microsoft.com/office/drawing/2014/main" id="{AD6D90FF-8B08-44E6-ADD1-B975BDF15677}"/>
                    </a:ext>
                  </a:extLst>
                </p:cNvPr>
                <p:cNvSpPr txBox="1"/>
                <p:nvPr/>
              </p:nvSpPr>
              <p:spPr>
                <a:xfrm rot="10800000" flipV="1">
                  <a:off x="3342178" y="2906878"/>
                  <a:ext cx="495646" cy="468588"/>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a:latin typeface="Cambria Math" panose="02040503050406030204" pitchFamily="18" charset="0"/>
                              </a:rPr>
                            </m:ctrlPr>
                          </m:sSubPr>
                          <m:e>
                            <m:r>
                              <a:rPr lang="en-IN" sz="1500">
                                <a:latin typeface="Cambria Math" panose="02040503050406030204" pitchFamily="18" charset="0"/>
                              </a:rPr>
                              <m:t>𝛼</m:t>
                            </m:r>
                          </m:e>
                          <m:sub>
                            <m:r>
                              <a:rPr lang="en-IN" sz="1500">
                                <a:latin typeface="Cambria Math" panose="02040503050406030204" pitchFamily="18" charset="0"/>
                              </a:rPr>
                              <m:t>1,3</m:t>
                            </m:r>
                          </m:sub>
                        </m:sSub>
                      </m:oMath>
                    </m:oMathPara>
                  </a14:m>
                  <a:endParaRPr lang="en-IN" sz="1500" dirty="0">
                    <a:latin typeface="Arial Narrow" panose="020B0606020202030204" pitchFamily="34" charset="0"/>
                  </a:endParaRPr>
                </a:p>
              </p:txBody>
            </p:sp>
          </mc:Choice>
          <mc:Fallback xmlns="">
            <p:sp>
              <p:nvSpPr>
                <p:cNvPr id="149" name="TextBox 148">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3342178" y="2906878"/>
                  <a:ext cx="495646" cy="468588"/>
                </a:xfrm>
                <a:prstGeom prst="ellipse">
                  <a:avLst/>
                </a:prstGeom>
                <a:blipFill>
                  <a:blip r:embed="rId19"/>
                  <a:stretch>
                    <a:fillRect r="-2410"/>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0" name="TextBox 149">
                  <a:extLst>
                    <a:ext uri="{FF2B5EF4-FFF2-40B4-BE49-F238E27FC236}">
                      <a16:creationId xmlns:a16="http://schemas.microsoft.com/office/drawing/2014/main" id="{36F03E2E-8229-4DFD-869B-C4F6CF96084E}"/>
                    </a:ext>
                  </a:extLst>
                </p:cNvPr>
                <p:cNvSpPr txBox="1"/>
                <p:nvPr/>
              </p:nvSpPr>
              <p:spPr>
                <a:xfrm rot="10800000" flipV="1">
                  <a:off x="2795900" y="2906878"/>
                  <a:ext cx="495646" cy="468588"/>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a:latin typeface="Cambria Math" panose="02040503050406030204" pitchFamily="18" charset="0"/>
                              </a:rPr>
                            </m:ctrlPr>
                          </m:sSubPr>
                          <m:e>
                            <m:r>
                              <a:rPr lang="en-IN" sz="1500">
                                <a:latin typeface="Cambria Math" panose="02040503050406030204" pitchFamily="18" charset="0"/>
                                <a:ea typeface="Cambria Math" panose="02040503050406030204" pitchFamily="18" charset="0"/>
                                <a:cs typeface="Times New Roman" panose="02020603050405020304" pitchFamily="18" charset="0"/>
                              </a:rPr>
                              <m:t>𝛼</m:t>
                            </m:r>
                          </m:e>
                          <m:sub>
                            <m:r>
                              <a:rPr lang="en-IN" sz="1500">
                                <a:latin typeface="Cambria Math" panose="02040503050406030204" pitchFamily="18" charset="0"/>
                              </a:rPr>
                              <m:t>2,3</m:t>
                            </m:r>
                          </m:sub>
                        </m:sSub>
                      </m:oMath>
                    </m:oMathPara>
                  </a14:m>
                  <a:endParaRPr lang="en-IN" sz="1500" dirty="0">
                    <a:latin typeface="Arial Narrow" panose="020B0606020202030204" pitchFamily="34" charset="0"/>
                  </a:endParaRPr>
                </a:p>
              </p:txBody>
            </p:sp>
          </mc:Choice>
          <mc:Fallback xmlns="">
            <p:sp>
              <p:nvSpPr>
                <p:cNvPr id="150" name="TextBox 149">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2795900" y="2906878"/>
                  <a:ext cx="495646" cy="468588"/>
                </a:xfrm>
                <a:prstGeom prst="ellipse">
                  <a:avLst/>
                </a:prstGeom>
                <a:blipFill>
                  <a:blip r:embed="rId20"/>
                  <a:stretch>
                    <a:fillRect r="-2381"/>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1" name="TextBox 150">
                  <a:extLst>
                    <a:ext uri="{FF2B5EF4-FFF2-40B4-BE49-F238E27FC236}">
                      <a16:creationId xmlns:a16="http://schemas.microsoft.com/office/drawing/2014/main" id="{DF1D3D16-4F7D-4FD0-95EB-E2360401B577}"/>
                    </a:ext>
                  </a:extLst>
                </p:cNvPr>
                <p:cNvSpPr txBox="1"/>
                <p:nvPr/>
              </p:nvSpPr>
              <p:spPr>
                <a:xfrm rot="10800000" flipV="1">
                  <a:off x="2254916" y="2921577"/>
                  <a:ext cx="495646" cy="454432"/>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n-IN" sz="1500" b="0" i="1" smtClean="0">
                                <a:latin typeface="Cambria Math" panose="02040503050406030204" pitchFamily="18" charset="0"/>
                              </a:rPr>
                              <m:t>33</m:t>
                            </m:r>
                          </m:sub>
                        </m:sSub>
                      </m:oMath>
                    </m:oMathPara>
                  </a14:m>
                  <a:endParaRPr lang="en-IN" sz="1500" dirty="0">
                    <a:latin typeface="Arial Narrow" panose="020B0606020202030204" pitchFamily="34" charset="0"/>
                  </a:endParaRPr>
                </a:p>
              </p:txBody>
            </p:sp>
          </mc:Choice>
          <mc:Fallback xmlns="">
            <p:sp>
              <p:nvSpPr>
                <p:cNvPr id="151" name="TextBox 150">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2254916" y="2921577"/>
                  <a:ext cx="495646" cy="454432"/>
                </a:xfrm>
                <a:prstGeom prst="ellipse">
                  <a:avLst/>
                </a:prstGeom>
                <a:blipFill>
                  <a:blip r:embed="rId21"/>
                  <a:stretch>
                    <a:fillRect/>
                  </a:stretch>
                </a:blipFill>
                <a:ln w="12700">
                  <a:solidFill>
                    <a:schemeClr val="tx1"/>
                  </a:solidFill>
                </a:ln>
              </p:spPr>
              <p:txBody>
                <a:bodyPr/>
                <a:lstStyle/>
                <a:p>
                  <a:r>
                    <a:rPr lang="en-IN">
                      <a:noFill/>
                    </a:rPr>
                    <a:t> </a:t>
                  </a:r>
                </a:p>
              </p:txBody>
            </p:sp>
          </mc:Fallback>
        </mc:AlternateContent>
        <p:cxnSp>
          <p:nvCxnSpPr>
            <p:cNvPr id="152" name="Straight Arrow Connector 151">
              <a:extLst>
                <a:ext uri="{FF2B5EF4-FFF2-40B4-BE49-F238E27FC236}">
                  <a16:creationId xmlns:a16="http://schemas.microsoft.com/office/drawing/2014/main" id="{47F04F6C-A5DE-48AC-A93E-885D326C2D52}"/>
                </a:ext>
              </a:extLst>
            </p:cNvPr>
            <p:cNvCxnSpPr>
              <a:cxnSpLocks/>
              <a:stCxn id="158" idx="2"/>
            </p:cNvCxnSpPr>
            <p:nvPr/>
          </p:nvCxnSpPr>
          <p:spPr>
            <a:xfrm>
              <a:off x="7388133" y="3133552"/>
              <a:ext cx="613222" cy="1535"/>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53" name="Straight Arrow Connector 152">
              <a:extLst>
                <a:ext uri="{FF2B5EF4-FFF2-40B4-BE49-F238E27FC236}">
                  <a16:creationId xmlns:a16="http://schemas.microsoft.com/office/drawing/2014/main" id="{93CE584A-6224-4185-BA7F-7DBE679AAC01}"/>
                </a:ext>
              </a:extLst>
            </p:cNvPr>
            <p:cNvCxnSpPr>
              <a:cxnSpLocks/>
              <a:stCxn id="149" idx="2"/>
            </p:cNvCxnSpPr>
            <p:nvPr/>
          </p:nvCxnSpPr>
          <p:spPr>
            <a:xfrm flipV="1">
              <a:off x="3837824" y="3137881"/>
              <a:ext cx="578914" cy="3291"/>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4" name="TextBox 153">
                  <a:extLst>
                    <a:ext uri="{FF2B5EF4-FFF2-40B4-BE49-F238E27FC236}">
                      <a16:creationId xmlns:a16="http://schemas.microsoft.com/office/drawing/2014/main" id="{CB478EDF-F147-4A46-ACD7-767B4A547BF2}"/>
                    </a:ext>
                  </a:extLst>
                </p:cNvPr>
                <p:cNvSpPr txBox="1"/>
                <p:nvPr/>
              </p:nvSpPr>
              <p:spPr>
                <a:xfrm rot="10800000" flipV="1">
                  <a:off x="1272735" y="2921576"/>
                  <a:ext cx="499716" cy="454432"/>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i="1">
                                <a:latin typeface="Cambria Math" panose="02040503050406030204" pitchFamily="18" charset="0"/>
                              </a:rPr>
                              <m:t>𝑞</m:t>
                            </m:r>
                          </m:e>
                          <m:sub>
                            <m:r>
                              <a:rPr lang="en-IN" sz="1500" b="0" i="1" smtClean="0">
                                <a:latin typeface="Cambria Math" panose="02040503050406030204" pitchFamily="18" charset="0"/>
                              </a:rPr>
                              <m:t>3</m:t>
                            </m:r>
                          </m:sub>
                        </m:sSub>
                      </m:oMath>
                    </m:oMathPara>
                  </a14:m>
                  <a:endParaRPr lang="en-IN" sz="1500" dirty="0">
                    <a:latin typeface="Arial Narrow" panose="020B0606020202030204" pitchFamily="34" charset="0"/>
                  </a:endParaRPr>
                </a:p>
              </p:txBody>
            </p:sp>
          </mc:Choice>
          <mc:Fallback xmlns="">
            <p:sp>
              <p:nvSpPr>
                <p:cNvPr id="154" name="TextBox 153">
                  <a:extLst>
                    <a:ext uri="{FF2B5EF4-FFF2-40B4-BE49-F238E27FC236}">
                      <a16:creationId xmlns:a16="http://schemas.microsoft.com/office/drawing/2014/main" id="{CB478EDF-F147-4A46-ACD7-767B4A547BF2}"/>
                    </a:ext>
                  </a:extLst>
                </p:cNvPr>
                <p:cNvSpPr txBox="1">
                  <a:spLocks noRot="1" noChangeAspect="1" noMove="1" noResize="1" noEditPoints="1" noAdjustHandles="1" noChangeArrowheads="1" noChangeShapeType="1" noTextEdit="1"/>
                </p:cNvSpPr>
                <p:nvPr/>
              </p:nvSpPr>
              <p:spPr>
                <a:xfrm rot="10800000" flipV="1">
                  <a:off x="1272735" y="2921576"/>
                  <a:ext cx="499716" cy="454432"/>
                </a:xfrm>
                <a:prstGeom prst="ellipse">
                  <a:avLst/>
                </a:prstGeom>
                <a:blipFill>
                  <a:blip r:embed="rId22"/>
                  <a:stretch>
                    <a:fillRect/>
                  </a:stretch>
                </a:blipFill>
                <a:ln w="12700">
                  <a:solidFill>
                    <a:schemeClr val="tx1"/>
                  </a:solidFill>
                </a:ln>
              </p:spPr>
              <p:txBody>
                <a:bodyPr/>
                <a:lstStyle/>
                <a:p>
                  <a:r>
                    <a:rPr lang="en-IN">
                      <a:noFill/>
                    </a:rPr>
                    <a:t> </a:t>
                  </a:r>
                </a:p>
              </p:txBody>
            </p:sp>
          </mc:Fallback>
        </mc:AlternateContent>
        <p:cxnSp>
          <p:nvCxnSpPr>
            <p:cNvPr id="155" name="Straight Arrow Connector 154">
              <a:extLst>
                <a:ext uri="{FF2B5EF4-FFF2-40B4-BE49-F238E27FC236}">
                  <a16:creationId xmlns:a16="http://schemas.microsoft.com/office/drawing/2014/main" id="{20C9C6AC-19F5-4564-9E13-1B8D0A63390D}"/>
                </a:ext>
              </a:extLst>
            </p:cNvPr>
            <p:cNvCxnSpPr>
              <a:stCxn id="154" idx="2"/>
              <a:endCxn id="151" idx="6"/>
            </p:cNvCxnSpPr>
            <p:nvPr/>
          </p:nvCxnSpPr>
          <p:spPr>
            <a:xfrm>
              <a:off x="1772451" y="3148792"/>
              <a:ext cx="482465" cy="1"/>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19A753A8-AD35-4022-B3B3-F8FBEA03A328}"/>
                </a:ext>
              </a:extLst>
            </p:cNvPr>
            <p:cNvCxnSpPr>
              <a:endCxn id="157" idx="6"/>
            </p:cNvCxnSpPr>
            <p:nvPr/>
          </p:nvCxnSpPr>
          <p:spPr>
            <a:xfrm flipV="1">
              <a:off x="8905811" y="3148792"/>
              <a:ext cx="409293" cy="1536"/>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7" name="TextBox 156">
                  <a:extLst>
                    <a:ext uri="{FF2B5EF4-FFF2-40B4-BE49-F238E27FC236}">
                      <a16:creationId xmlns:a16="http://schemas.microsoft.com/office/drawing/2014/main" id="{6803D624-9F2D-4CB6-A000-91DDACFD0A2B}"/>
                    </a:ext>
                  </a:extLst>
                </p:cNvPr>
                <p:cNvSpPr txBox="1"/>
                <p:nvPr/>
              </p:nvSpPr>
              <p:spPr>
                <a:xfrm rot="10800000" flipV="1">
                  <a:off x="9315104" y="2921576"/>
                  <a:ext cx="495646" cy="454432"/>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a:latin typeface="Cambria Math" panose="02040503050406030204" pitchFamily="18" charset="0"/>
                              </a:rPr>
                            </m:ctrlPr>
                          </m:sSubPr>
                          <m:e>
                            <m:r>
                              <a:rPr lang="en-IN" sz="1500" i="1">
                                <a:latin typeface="Cambria Math" panose="02040503050406030204" pitchFamily="18" charset="0"/>
                              </a:rPr>
                              <m:t>𝑦</m:t>
                            </m:r>
                          </m:e>
                          <m:sub>
                            <m:r>
                              <a:rPr lang="en-IN" sz="1500" i="1">
                                <a:latin typeface="Cambria Math" panose="02040503050406030204" pitchFamily="18" charset="0"/>
                              </a:rPr>
                              <m:t>3</m:t>
                            </m:r>
                          </m:sub>
                        </m:sSub>
                      </m:oMath>
                    </m:oMathPara>
                  </a14:m>
                  <a:endParaRPr lang="en-IN" sz="1500" dirty="0">
                    <a:latin typeface="Arial Narrow" panose="020B0606020202030204" pitchFamily="34" charset="0"/>
                  </a:endParaRPr>
                </a:p>
              </p:txBody>
            </p:sp>
          </mc:Choice>
          <mc:Fallback xmlns="">
            <p:sp>
              <p:nvSpPr>
                <p:cNvPr id="157" name="TextBox 156">
                  <a:extLst>
                    <a:ext uri="{FF2B5EF4-FFF2-40B4-BE49-F238E27FC236}">
                      <a16:creationId xmlns:a16="http://schemas.microsoft.com/office/drawing/2014/main" id="{6803D624-9F2D-4CB6-A000-91DDACFD0A2B}"/>
                    </a:ext>
                  </a:extLst>
                </p:cNvPr>
                <p:cNvSpPr txBox="1">
                  <a:spLocks noRot="1" noChangeAspect="1" noMove="1" noResize="1" noEditPoints="1" noAdjustHandles="1" noChangeArrowheads="1" noChangeShapeType="1" noTextEdit="1"/>
                </p:cNvSpPr>
                <p:nvPr/>
              </p:nvSpPr>
              <p:spPr>
                <a:xfrm rot="10800000" flipV="1">
                  <a:off x="9315104" y="2921576"/>
                  <a:ext cx="495646" cy="454432"/>
                </a:xfrm>
                <a:prstGeom prst="ellipse">
                  <a:avLst/>
                </a:prstGeom>
                <a:blipFill>
                  <a:blip r:embed="rId23"/>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8" name="TextBox 157">
                  <a:extLst>
                    <a:ext uri="{FF2B5EF4-FFF2-40B4-BE49-F238E27FC236}">
                      <a16:creationId xmlns:a16="http://schemas.microsoft.com/office/drawing/2014/main" id="{AD6D90FF-8B08-44E6-ADD1-B975BDF15677}"/>
                    </a:ext>
                  </a:extLst>
                </p:cNvPr>
                <p:cNvSpPr txBox="1"/>
                <p:nvPr/>
              </p:nvSpPr>
              <p:spPr>
                <a:xfrm rot="10800000" flipV="1">
                  <a:off x="6892487" y="2899258"/>
                  <a:ext cx="495646" cy="468588"/>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𝑎</m:t>
                            </m:r>
                          </m:e>
                          <m:sub>
                            <m:r>
                              <a:rPr lang="en-IN" sz="1500">
                                <a:latin typeface="Cambria Math" panose="02040503050406030204" pitchFamily="18" charset="0"/>
                              </a:rPr>
                              <m:t>1,3</m:t>
                            </m:r>
                          </m:sub>
                        </m:sSub>
                      </m:oMath>
                    </m:oMathPara>
                  </a14:m>
                  <a:endParaRPr lang="en-IN" sz="1500" dirty="0">
                    <a:latin typeface="Arial Narrow" panose="020B0606020202030204" pitchFamily="34" charset="0"/>
                  </a:endParaRPr>
                </a:p>
              </p:txBody>
            </p:sp>
          </mc:Choice>
          <mc:Fallback xmlns="">
            <p:sp>
              <p:nvSpPr>
                <p:cNvPr id="158" name="TextBox 157">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6892487" y="2899258"/>
                  <a:ext cx="495646" cy="468588"/>
                </a:xfrm>
                <a:prstGeom prst="ellipse">
                  <a:avLst/>
                </a:prstGeom>
                <a:blipFill>
                  <a:blip r:embed="rId24"/>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9" name="TextBox 158">
                  <a:extLst>
                    <a:ext uri="{FF2B5EF4-FFF2-40B4-BE49-F238E27FC236}">
                      <a16:creationId xmlns:a16="http://schemas.microsoft.com/office/drawing/2014/main" id="{36F03E2E-8229-4DFD-869B-C4F6CF96084E}"/>
                    </a:ext>
                  </a:extLst>
                </p:cNvPr>
                <p:cNvSpPr txBox="1"/>
                <p:nvPr/>
              </p:nvSpPr>
              <p:spPr>
                <a:xfrm rot="10800000" flipV="1">
                  <a:off x="6346209" y="2899258"/>
                  <a:ext cx="495646" cy="468588"/>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ea typeface="Cambria Math" panose="02040503050406030204" pitchFamily="18" charset="0"/>
                                <a:cs typeface="Times New Roman" panose="02020603050405020304" pitchFamily="18" charset="0"/>
                              </a:rPr>
                              <m:t>𝑎</m:t>
                            </m:r>
                          </m:e>
                          <m:sub>
                            <m:r>
                              <a:rPr lang="en-IN" sz="1500">
                                <a:latin typeface="Cambria Math" panose="02040503050406030204" pitchFamily="18" charset="0"/>
                              </a:rPr>
                              <m:t>2,3</m:t>
                            </m:r>
                          </m:sub>
                        </m:sSub>
                      </m:oMath>
                    </m:oMathPara>
                  </a14:m>
                  <a:endParaRPr lang="en-IN" sz="1500" dirty="0">
                    <a:latin typeface="Arial Narrow" panose="020B0606020202030204" pitchFamily="34" charset="0"/>
                  </a:endParaRPr>
                </a:p>
              </p:txBody>
            </p:sp>
          </mc:Choice>
          <mc:Fallback xmlns="">
            <p:sp>
              <p:nvSpPr>
                <p:cNvPr id="159" name="TextBox 158">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6346209" y="2899258"/>
                  <a:ext cx="495646" cy="468588"/>
                </a:xfrm>
                <a:prstGeom prst="ellipse">
                  <a:avLst/>
                </a:prstGeom>
                <a:blipFill>
                  <a:blip r:embed="rId25"/>
                  <a:stretch>
                    <a:fillRect r="-2410"/>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0" name="TextBox 159">
                  <a:extLst>
                    <a:ext uri="{FF2B5EF4-FFF2-40B4-BE49-F238E27FC236}">
                      <a16:creationId xmlns:a16="http://schemas.microsoft.com/office/drawing/2014/main" id="{DF1D3D16-4F7D-4FD0-95EB-E2360401B577}"/>
                    </a:ext>
                  </a:extLst>
                </p:cNvPr>
                <p:cNvSpPr txBox="1"/>
                <p:nvPr/>
              </p:nvSpPr>
              <p:spPr>
                <a:xfrm rot="10800000" flipV="1">
                  <a:off x="5805224" y="2899259"/>
                  <a:ext cx="495646" cy="468588"/>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ea typeface="Cambria Math" panose="02040503050406030204" pitchFamily="18" charset="0"/>
                                <a:cs typeface="Times New Roman" panose="02020603050405020304" pitchFamily="18" charset="0"/>
                              </a:rPr>
                              <m:t>𝑎</m:t>
                            </m:r>
                          </m:e>
                          <m:sub>
                            <m:r>
                              <a:rPr lang="en-IN" sz="1500">
                                <a:latin typeface="Cambria Math" panose="02040503050406030204" pitchFamily="18" charset="0"/>
                              </a:rPr>
                              <m:t>3</m:t>
                            </m:r>
                            <m:r>
                              <a:rPr lang="en-IN" sz="1500" b="0" i="1" smtClean="0">
                                <a:latin typeface="Cambria Math" panose="02040503050406030204" pitchFamily="18" charset="0"/>
                              </a:rPr>
                              <m:t>,</m:t>
                            </m:r>
                            <m:r>
                              <a:rPr lang="en-IN" sz="1500">
                                <a:latin typeface="Cambria Math" panose="02040503050406030204" pitchFamily="18" charset="0"/>
                              </a:rPr>
                              <m:t>3</m:t>
                            </m:r>
                          </m:sub>
                        </m:sSub>
                      </m:oMath>
                    </m:oMathPara>
                  </a14:m>
                  <a:endParaRPr lang="en-IN" sz="1500" dirty="0">
                    <a:latin typeface="Arial Narrow" panose="020B0606020202030204" pitchFamily="34" charset="0"/>
                  </a:endParaRPr>
                </a:p>
              </p:txBody>
            </p:sp>
          </mc:Choice>
          <mc:Fallback xmlns="">
            <p:sp>
              <p:nvSpPr>
                <p:cNvPr id="160" name="TextBox 159">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5805224" y="2899259"/>
                  <a:ext cx="495646" cy="468588"/>
                </a:xfrm>
                <a:prstGeom prst="ellipse">
                  <a:avLst/>
                </a:prstGeom>
                <a:blipFill>
                  <a:blip r:embed="rId26"/>
                  <a:stretch>
                    <a:fillRect r="-2410"/>
                  </a:stretch>
                </a:blipFill>
                <a:ln w="12700">
                  <a:solidFill>
                    <a:schemeClr val="tx1"/>
                  </a:solidFill>
                </a:ln>
              </p:spPr>
              <p:txBody>
                <a:bodyPr/>
                <a:lstStyle/>
                <a:p>
                  <a:r>
                    <a:rPr lang="en-IN">
                      <a:noFill/>
                    </a:rPr>
                    <a:t> </a:t>
                  </a:r>
                </a:p>
              </p:txBody>
            </p:sp>
          </mc:Fallback>
        </mc:AlternateContent>
        <p:cxnSp>
          <p:nvCxnSpPr>
            <p:cNvPr id="161" name="Straight Arrow Connector 160">
              <a:extLst>
                <a:ext uri="{FF2B5EF4-FFF2-40B4-BE49-F238E27FC236}">
                  <a16:creationId xmlns:a16="http://schemas.microsoft.com/office/drawing/2014/main" id="{93CE584A-6224-4185-BA7F-7DBE679AAC01}"/>
                </a:ext>
              </a:extLst>
            </p:cNvPr>
            <p:cNvCxnSpPr>
              <a:cxnSpLocks/>
              <a:endCxn id="160" idx="6"/>
            </p:cNvCxnSpPr>
            <p:nvPr/>
          </p:nvCxnSpPr>
          <p:spPr>
            <a:xfrm>
              <a:off x="5324828" y="3130260"/>
              <a:ext cx="480396" cy="3293"/>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62" name="TextBox 161">
              <a:extLst>
                <a:ext uri="{FF2B5EF4-FFF2-40B4-BE49-F238E27FC236}">
                  <a16:creationId xmlns:a16="http://schemas.microsoft.com/office/drawing/2014/main" id="{9F7A9C69-BDD0-4A8F-93A2-06B1642E46C3}"/>
                </a:ext>
              </a:extLst>
            </p:cNvPr>
            <p:cNvSpPr txBox="1"/>
            <p:nvPr/>
          </p:nvSpPr>
          <p:spPr>
            <a:xfrm rot="10800000" flipV="1">
              <a:off x="4416734" y="3079423"/>
              <a:ext cx="908090" cy="1088908"/>
            </a:xfrm>
            <a:prstGeom prst="rect">
              <a:avLst/>
            </a:prstGeom>
            <a:noFill/>
            <a:ln>
              <a:solidFill>
                <a:srgbClr val="002060"/>
              </a:solidFill>
            </a:ln>
          </p:spPr>
          <p:txBody>
            <a:bodyPr wrap="square" rtlCol="0" anchor="t">
              <a:normAutofit/>
            </a:bodyPr>
            <a:lstStyle/>
            <a:p>
              <a:endParaRPr lang="en-IN" sz="1500" dirty="0">
                <a:latin typeface="Arial Narrow" panose="020B0606020202030204" pitchFamily="34" charset="0"/>
                <a:cs typeface="Times New Roman" panose="02020603050405020304" pitchFamily="18" charset="0"/>
              </a:endParaRPr>
            </a:p>
            <a:p>
              <a:pPr algn="ctr"/>
              <a:r>
                <a:rPr lang="en-IN" sz="1600" dirty="0" err="1">
                  <a:latin typeface="Arial Narrow" panose="020B0606020202030204" pitchFamily="34" charset="0"/>
                  <a:cs typeface="Times New Roman" panose="02020603050405020304" pitchFamily="18" charset="0"/>
                </a:rPr>
                <a:t>softmax</a:t>
              </a:r>
              <a:endParaRPr lang="en-IN" sz="1600" dirty="0">
                <a:latin typeface="Arial Narrow" panose="020B0606020202030204" pitchFamily="34" charset="0"/>
                <a:cs typeface="Times New Roman" panose="02020603050405020304" pitchFamily="18" charset="0"/>
              </a:endParaRPr>
            </a:p>
            <a:p>
              <a:pPr algn="ctr"/>
              <a:r>
                <a:rPr lang="en-IN" sz="1600" dirty="0">
                  <a:latin typeface="Arial Narrow" panose="020B0606020202030204" pitchFamily="34" charset="0"/>
                  <a:cs typeface="Times New Roman" panose="02020603050405020304" pitchFamily="18" charset="0"/>
                </a:rPr>
                <a:t>(→)</a:t>
              </a:r>
            </a:p>
            <a:p>
              <a:endParaRPr lang="en-IN" sz="1500" dirty="0">
                <a:latin typeface="Arial Narrow" panose="020B0606020202030204" pitchFamily="34" charset="0"/>
                <a:cs typeface="Times New Roman" panose="02020603050405020304" pitchFamily="18" charset="0"/>
              </a:endParaRPr>
            </a:p>
            <a:p>
              <a:pPr algn="ctr"/>
              <a:endParaRPr lang="en-IN" sz="1500" dirty="0">
                <a:latin typeface="Arial Narrow" panose="020B0606020202030204" pitchFamily="34" charset="0"/>
                <a:cs typeface="Times New Roman" panose="02020603050405020304" pitchFamily="18" charset="0"/>
              </a:endParaRPr>
            </a:p>
          </p:txBody>
        </p:sp>
        <p:sp>
          <p:nvSpPr>
            <p:cNvPr id="163" name="Rectangle 162"/>
            <p:cNvSpPr/>
            <p:nvPr/>
          </p:nvSpPr>
          <p:spPr>
            <a:xfrm rot="10800000">
              <a:off x="8260909" y="3301272"/>
              <a:ext cx="386644" cy="323165"/>
            </a:xfrm>
            <a:prstGeom prst="rect">
              <a:avLst/>
            </a:prstGeom>
          </p:spPr>
          <p:txBody>
            <a:bodyPr wrap="none">
              <a:spAutoFit/>
            </a:bodyPr>
            <a:lstStyle/>
            <a:p>
              <a:pPr algn="ctr"/>
              <a:r>
                <a:rPr lang="en-IN" sz="1500" dirty="0">
                  <a:latin typeface="Arial Narrow" panose="020B0606020202030204" pitchFamily="34"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164" name="TextBox 163">
                  <a:extLst>
                    <a:ext uri="{FF2B5EF4-FFF2-40B4-BE49-F238E27FC236}">
                      <a16:creationId xmlns:a16="http://schemas.microsoft.com/office/drawing/2014/main" id="{AD6D90FF-8B08-44E6-ADD1-B975BDF15677}"/>
                    </a:ext>
                  </a:extLst>
                </p:cNvPr>
                <p:cNvSpPr txBox="1"/>
                <p:nvPr/>
              </p:nvSpPr>
              <p:spPr>
                <a:xfrm rot="10800000" flipV="1">
                  <a:off x="3339761" y="4473271"/>
                  <a:ext cx="495646" cy="454432"/>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𝑘</m:t>
                            </m:r>
                          </m:e>
                          <m:sub>
                            <m:r>
                              <a:rPr lang="en-IN" sz="1500">
                                <a:latin typeface="Cambria Math" panose="02040503050406030204" pitchFamily="18" charset="0"/>
                              </a:rPr>
                              <m:t>1</m:t>
                            </m:r>
                          </m:sub>
                        </m:sSub>
                      </m:oMath>
                    </m:oMathPara>
                  </a14:m>
                  <a:endParaRPr lang="en-IN" sz="1500" dirty="0">
                    <a:latin typeface="Arial Narrow" panose="020B0606020202030204" pitchFamily="34" charset="0"/>
                  </a:endParaRPr>
                </a:p>
              </p:txBody>
            </p:sp>
          </mc:Choice>
          <mc:Fallback xmlns="">
            <p:sp>
              <p:nvSpPr>
                <p:cNvPr id="164" name="TextBox 163">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3339761" y="4473271"/>
                  <a:ext cx="495646" cy="454432"/>
                </a:xfrm>
                <a:prstGeom prst="ellipse">
                  <a:avLst/>
                </a:prstGeom>
                <a:blipFill>
                  <a:blip r:embed="rId27"/>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5" name="TextBox 164">
                  <a:extLst>
                    <a:ext uri="{FF2B5EF4-FFF2-40B4-BE49-F238E27FC236}">
                      <a16:creationId xmlns:a16="http://schemas.microsoft.com/office/drawing/2014/main" id="{36F03E2E-8229-4DFD-869B-C4F6CF96084E}"/>
                    </a:ext>
                  </a:extLst>
                </p:cNvPr>
                <p:cNvSpPr txBox="1"/>
                <p:nvPr/>
              </p:nvSpPr>
              <p:spPr>
                <a:xfrm rot="10800000" flipV="1">
                  <a:off x="2793483" y="4473272"/>
                  <a:ext cx="495646" cy="454432"/>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a:latin typeface="Cambria Math" panose="02040503050406030204" pitchFamily="18" charset="0"/>
                              </a:rPr>
                              <m:t>𝑘</m:t>
                            </m:r>
                          </m:e>
                          <m:sub>
                            <m:r>
                              <a:rPr lang="en-IN" sz="1500" b="0" i="1" smtClean="0">
                                <a:latin typeface="Cambria Math" panose="02040503050406030204" pitchFamily="18" charset="0"/>
                              </a:rPr>
                              <m:t>2</m:t>
                            </m:r>
                          </m:sub>
                        </m:sSub>
                      </m:oMath>
                    </m:oMathPara>
                  </a14:m>
                  <a:endParaRPr lang="en-IN" sz="1500" dirty="0">
                    <a:latin typeface="Arial Narrow" panose="020B0606020202030204" pitchFamily="34" charset="0"/>
                  </a:endParaRPr>
                </a:p>
              </p:txBody>
            </p:sp>
          </mc:Choice>
          <mc:Fallback xmlns="">
            <p:sp>
              <p:nvSpPr>
                <p:cNvPr id="165" name="TextBox 164">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2793483" y="4473272"/>
                  <a:ext cx="495646" cy="454432"/>
                </a:xfrm>
                <a:prstGeom prst="ellipse">
                  <a:avLst/>
                </a:prstGeom>
                <a:blipFill>
                  <a:blip r:embed="rId28"/>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6" name="TextBox 165">
                  <a:extLst>
                    <a:ext uri="{FF2B5EF4-FFF2-40B4-BE49-F238E27FC236}">
                      <a16:creationId xmlns:a16="http://schemas.microsoft.com/office/drawing/2014/main" id="{DF1D3D16-4F7D-4FD0-95EB-E2360401B577}"/>
                    </a:ext>
                  </a:extLst>
                </p:cNvPr>
                <p:cNvSpPr txBox="1"/>
                <p:nvPr/>
              </p:nvSpPr>
              <p:spPr>
                <a:xfrm rot="10800000" flipV="1">
                  <a:off x="2252498" y="4473273"/>
                  <a:ext cx="495646" cy="454432"/>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𝑘</m:t>
                            </m:r>
                          </m:e>
                          <m:sub>
                            <m:r>
                              <a:rPr lang="en-IN" sz="1500" b="0" i="1" smtClean="0">
                                <a:latin typeface="Cambria Math" panose="02040503050406030204" pitchFamily="18" charset="0"/>
                              </a:rPr>
                              <m:t>3</m:t>
                            </m:r>
                          </m:sub>
                        </m:sSub>
                      </m:oMath>
                    </m:oMathPara>
                  </a14:m>
                  <a:endParaRPr lang="en-IN" sz="1500" dirty="0">
                    <a:latin typeface="Arial Narrow" panose="020B0606020202030204" pitchFamily="34" charset="0"/>
                  </a:endParaRPr>
                </a:p>
              </p:txBody>
            </p:sp>
          </mc:Choice>
          <mc:Fallback xmlns="">
            <p:sp>
              <p:nvSpPr>
                <p:cNvPr id="166" name="TextBox 165">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2252498" y="4473273"/>
                  <a:ext cx="495646" cy="454432"/>
                </a:xfrm>
                <a:prstGeom prst="ellipse">
                  <a:avLst/>
                </a:prstGeom>
                <a:blipFill>
                  <a:blip r:embed="rId29"/>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7" name="TextBox 166">
                  <a:extLst>
                    <a:ext uri="{FF2B5EF4-FFF2-40B4-BE49-F238E27FC236}">
                      <a16:creationId xmlns:a16="http://schemas.microsoft.com/office/drawing/2014/main" id="{98434757-453A-49BA-B417-238E5FFE6B79}"/>
                    </a:ext>
                  </a:extLst>
                </p:cNvPr>
                <p:cNvSpPr txBox="1"/>
                <p:nvPr/>
              </p:nvSpPr>
              <p:spPr>
                <a:xfrm rot="10800000" flipV="1">
                  <a:off x="3345375" y="5051405"/>
                  <a:ext cx="495646" cy="454432"/>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𝑥</m:t>
                            </m:r>
                          </m:e>
                          <m:sub>
                            <m:r>
                              <a:rPr lang="en-IN" sz="1500" b="0" i="1" smtClean="0">
                                <a:latin typeface="Cambria Math" panose="02040503050406030204" pitchFamily="18" charset="0"/>
                              </a:rPr>
                              <m:t>1</m:t>
                            </m:r>
                          </m:sub>
                        </m:sSub>
                      </m:oMath>
                    </m:oMathPara>
                  </a14:m>
                  <a:endParaRPr lang="en-IN" sz="1500" dirty="0">
                    <a:latin typeface="Arial Narrow" panose="020B0606020202030204" pitchFamily="34" charset="0"/>
                  </a:endParaRPr>
                </a:p>
              </p:txBody>
            </p:sp>
          </mc:Choice>
          <mc:Fallback xmlns="">
            <p:sp>
              <p:nvSpPr>
                <p:cNvPr id="167" name="TextBox 166">
                  <a:extLst>
                    <a:ext uri="{FF2B5EF4-FFF2-40B4-BE49-F238E27FC236}">
                      <a16:creationId xmlns:a16="http://schemas.microsoft.com/office/drawing/2014/main" id="{98434757-453A-49BA-B417-238E5FFE6B79}"/>
                    </a:ext>
                  </a:extLst>
                </p:cNvPr>
                <p:cNvSpPr txBox="1">
                  <a:spLocks noRot="1" noChangeAspect="1" noMove="1" noResize="1" noEditPoints="1" noAdjustHandles="1" noChangeArrowheads="1" noChangeShapeType="1" noTextEdit="1"/>
                </p:cNvSpPr>
                <p:nvPr/>
              </p:nvSpPr>
              <p:spPr>
                <a:xfrm rot="10800000" flipV="1">
                  <a:off x="3345375" y="5051405"/>
                  <a:ext cx="495646" cy="454432"/>
                </a:xfrm>
                <a:prstGeom prst="ellipse">
                  <a:avLst/>
                </a:prstGeom>
                <a:blipFill>
                  <a:blip r:embed="rId30"/>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8" name="TextBox 167">
                  <a:extLst>
                    <a:ext uri="{FF2B5EF4-FFF2-40B4-BE49-F238E27FC236}">
                      <a16:creationId xmlns:a16="http://schemas.microsoft.com/office/drawing/2014/main" id="{B8E17763-565A-4B77-80A1-9B07A3DF1DA4}"/>
                    </a:ext>
                  </a:extLst>
                </p:cNvPr>
                <p:cNvSpPr txBox="1"/>
                <p:nvPr/>
              </p:nvSpPr>
              <p:spPr>
                <a:xfrm rot="10800000" flipV="1">
                  <a:off x="2793483" y="5048236"/>
                  <a:ext cx="495646" cy="454432"/>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𝑥</m:t>
                            </m:r>
                          </m:e>
                          <m:sub>
                            <m:r>
                              <a:rPr lang="en-IN" sz="1500" b="0" i="1" smtClean="0">
                                <a:latin typeface="Cambria Math" panose="02040503050406030204" pitchFamily="18" charset="0"/>
                              </a:rPr>
                              <m:t>2</m:t>
                            </m:r>
                          </m:sub>
                        </m:sSub>
                      </m:oMath>
                    </m:oMathPara>
                  </a14:m>
                  <a:endParaRPr lang="en-IN" sz="1500" dirty="0">
                    <a:latin typeface="Arial Narrow" panose="020B0606020202030204" pitchFamily="34" charset="0"/>
                  </a:endParaRPr>
                </a:p>
              </p:txBody>
            </p:sp>
          </mc:Choice>
          <mc:Fallback xmlns="">
            <p:sp>
              <p:nvSpPr>
                <p:cNvPr id="168" name="TextBox 167">
                  <a:extLst>
                    <a:ext uri="{FF2B5EF4-FFF2-40B4-BE49-F238E27FC236}">
                      <a16:creationId xmlns:a16="http://schemas.microsoft.com/office/drawing/2014/main" id="{B8E17763-565A-4B77-80A1-9B07A3DF1DA4}"/>
                    </a:ext>
                  </a:extLst>
                </p:cNvPr>
                <p:cNvSpPr txBox="1">
                  <a:spLocks noRot="1" noChangeAspect="1" noMove="1" noResize="1" noEditPoints="1" noAdjustHandles="1" noChangeArrowheads="1" noChangeShapeType="1" noTextEdit="1"/>
                </p:cNvSpPr>
                <p:nvPr/>
              </p:nvSpPr>
              <p:spPr>
                <a:xfrm rot="10800000" flipV="1">
                  <a:off x="2793483" y="5048236"/>
                  <a:ext cx="495646" cy="454432"/>
                </a:xfrm>
                <a:prstGeom prst="ellipse">
                  <a:avLst/>
                </a:prstGeom>
                <a:blipFill>
                  <a:blip r:embed="rId31"/>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9" name="TextBox 168">
                  <a:extLst>
                    <a:ext uri="{FF2B5EF4-FFF2-40B4-BE49-F238E27FC236}">
                      <a16:creationId xmlns:a16="http://schemas.microsoft.com/office/drawing/2014/main" id="{C8FC9D7E-BEDD-4715-866C-F8B1DB2EC23B}"/>
                    </a:ext>
                  </a:extLst>
                </p:cNvPr>
                <p:cNvSpPr txBox="1"/>
                <p:nvPr/>
              </p:nvSpPr>
              <p:spPr>
                <a:xfrm rot="10800000" flipV="1">
                  <a:off x="2252498" y="5048236"/>
                  <a:ext cx="495646" cy="454432"/>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𝑥</m:t>
                            </m:r>
                          </m:e>
                          <m:sub>
                            <m:r>
                              <a:rPr lang="en-IN" sz="1500" b="0" i="1" smtClean="0">
                                <a:latin typeface="Cambria Math" panose="02040503050406030204" pitchFamily="18" charset="0"/>
                              </a:rPr>
                              <m:t>3</m:t>
                            </m:r>
                          </m:sub>
                        </m:sSub>
                      </m:oMath>
                    </m:oMathPara>
                  </a14:m>
                  <a:endParaRPr lang="en-IN" sz="1500" dirty="0">
                    <a:latin typeface="Arial Narrow" panose="020B0606020202030204" pitchFamily="34" charset="0"/>
                  </a:endParaRPr>
                </a:p>
              </p:txBody>
            </p:sp>
          </mc:Choice>
          <mc:Fallback xmlns="">
            <p:sp>
              <p:nvSpPr>
                <p:cNvPr id="169" name="TextBox 168">
                  <a:extLst>
                    <a:ext uri="{FF2B5EF4-FFF2-40B4-BE49-F238E27FC236}">
                      <a16:creationId xmlns:a16="http://schemas.microsoft.com/office/drawing/2014/main" id="{C8FC9D7E-BEDD-4715-866C-F8B1DB2EC23B}"/>
                    </a:ext>
                  </a:extLst>
                </p:cNvPr>
                <p:cNvSpPr txBox="1">
                  <a:spLocks noRot="1" noChangeAspect="1" noMove="1" noResize="1" noEditPoints="1" noAdjustHandles="1" noChangeArrowheads="1" noChangeShapeType="1" noTextEdit="1"/>
                </p:cNvSpPr>
                <p:nvPr/>
              </p:nvSpPr>
              <p:spPr>
                <a:xfrm rot="10800000" flipV="1">
                  <a:off x="2252498" y="5048236"/>
                  <a:ext cx="495646" cy="454432"/>
                </a:xfrm>
                <a:prstGeom prst="ellipse">
                  <a:avLst/>
                </a:prstGeom>
                <a:blipFill>
                  <a:blip r:embed="rId32"/>
                  <a:stretch>
                    <a:fillRect/>
                  </a:stretch>
                </a:blipFill>
                <a:ln w="12700">
                  <a:solidFill>
                    <a:schemeClr val="tx1"/>
                  </a:solidFill>
                </a:ln>
              </p:spPr>
              <p:txBody>
                <a:bodyPr/>
                <a:lstStyle/>
                <a:p>
                  <a:r>
                    <a:rPr lang="en-IN">
                      <a:noFill/>
                    </a:rPr>
                    <a:t> </a:t>
                  </a:r>
                </a:p>
              </p:txBody>
            </p:sp>
          </mc:Fallback>
        </mc:AlternateContent>
        <p:cxnSp>
          <p:nvCxnSpPr>
            <p:cNvPr id="170" name="Straight Arrow Connector 169">
              <a:extLst>
                <a:ext uri="{FF2B5EF4-FFF2-40B4-BE49-F238E27FC236}">
                  <a16:creationId xmlns:a16="http://schemas.microsoft.com/office/drawing/2014/main" id="{A263021F-7328-4211-909D-49F49CA28D98}"/>
                </a:ext>
              </a:extLst>
            </p:cNvPr>
            <p:cNvCxnSpPr>
              <a:stCxn id="167" idx="0"/>
              <a:endCxn id="164" idx="4"/>
            </p:cNvCxnSpPr>
            <p:nvPr/>
          </p:nvCxnSpPr>
          <p:spPr>
            <a:xfrm flipH="1" flipV="1">
              <a:off x="3587584" y="4927703"/>
              <a:ext cx="5614" cy="123702"/>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71" name="Straight Arrow Connector 170">
              <a:extLst>
                <a:ext uri="{FF2B5EF4-FFF2-40B4-BE49-F238E27FC236}">
                  <a16:creationId xmlns:a16="http://schemas.microsoft.com/office/drawing/2014/main" id="{48E3A579-0DB9-42B0-BAF2-784E8D2CED22}"/>
                </a:ext>
              </a:extLst>
            </p:cNvPr>
            <p:cNvCxnSpPr>
              <a:cxnSpLocks/>
              <a:stCxn id="168" idx="0"/>
              <a:endCxn id="165" idx="4"/>
            </p:cNvCxnSpPr>
            <p:nvPr/>
          </p:nvCxnSpPr>
          <p:spPr>
            <a:xfrm flipV="1">
              <a:off x="3041306" y="4927704"/>
              <a:ext cx="0" cy="120532"/>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72" name="Straight Arrow Connector 171">
              <a:extLst>
                <a:ext uri="{FF2B5EF4-FFF2-40B4-BE49-F238E27FC236}">
                  <a16:creationId xmlns:a16="http://schemas.microsoft.com/office/drawing/2014/main" id="{C1137974-CC6B-47D3-81CF-6AC92B143B47}"/>
                </a:ext>
              </a:extLst>
            </p:cNvPr>
            <p:cNvCxnSpPr>
              <a:cxnSpLocks/>
              <a:stCxn id="169" idx="0"/>
              <a:endCxn id="166" idx="4"/>
            </p:cNvCxnSpPr>
            <p:nvPr/>
          </p:nvCxnSpPr>
          <p:spPr>
            <a:xfrm flipV="1">
              <a:off x="2500321" y="4927705"/>
              <a:ext cx="0" cy="120531"/>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03D7A7FB-37B5-491B-9275-F91C88822728}"/>
                </a:ext>
              </a:extLst>
            </p:cNvPr>
            <p:cNvSpPr txBox="1"/>
            <p:nvPr/>
          </p:nvSpPr>
          <p:spPr>
            <a:xfrm rot="10800000" flipV="1">
              <a:off x="4210269" y="5396861"/>
              <a:ext cx="1557738" cy="323165"/>
            </a:xfrm>
            <a:prstGeom prst="rect">
              <a:avLst/>
            </a:prstGeom>
            <a:noFill/>
          </p:spPr>
          <p:txBody>
            <a:bodyPr wrap="square" rtlCol="0">
              <a:spAutoFit/>
            </a:bodyPr>
            <a:lstStyle/>
            <a:p>
              <a:r>
                <a:rPr lang="en-IN" sz="1500" dirty="0">
                  <a:latin typeface="Arial Narrow" panose="020B0606020202030204" pitchFamily="34" charset="0"/>
                  <a:cs typeface="Times New Roman" panose="02020603050405020304" pitchFamily="18" charset="0"/>
                </a:rPr>
                <a:t>Input Vectors</a:t>
              </a:r>
            </a:p>
          </p:txBody>
        </p:sp>
        <mc:AlternateContent xmlns:mc="http://schemas.openxmlformats.org/markup-compatibility/2006" xmlns:a14="http://schemas.microsoft.com/office/drawing/2010/main">
          <mc:Choice Requires="a14">
            <p:sp>
              <p:nvSpPr>
                <p:cNvPr id="174" name="TextBox 173">
                  <a:extLst>
                    <a:ext uri="{FF2B5EF4-FFF2-40B4-BE49-F238E27FC236}">
                      <a16:creationId xmlns:a16="http://schemas.microsoft.com/office/drawing/2014/main" id="{AD6D90FF-8B08-44E6-ADD1-B975BDF15677}"/>
                    </a:ext>
                  </a:extLst>
                </p:cNvPr>
                <p:cNvSpPr txBox="1"/>
                <p:nvPr/>
              </p:nvSpPr>
              <p:spPr>
                <a:xfrm rot="10800000" flipV="1">
                  <a:off x="6890070" y="4473272"/>
                  <a:ext cx="495646" cy="454432"/>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𝑣</m:t>
                            </m:r>
                          </m:e>
                          <m:sub>
                            <m:r>
                              <a:rPr lang="en-IN" sz="1500">
                                <a:latin typeface="Cambria Math" panose="02040503050406030204" pitchFamily="18" charset="0"/>
                              </a:rPr>
                              <m:t>1</m:t>
                            </m:r>
                          </m:sub>
                        </m:sSub>
                      </m:oMath>
                    </m:oMathPara>
                  </a14:m>
                  <a:endParaRPr lang="en-IN" sz="1500" dirty="0">
                    <a:latin typeface="Arial Narrow" panose="020B0606020202030204" pitchFamily="34" charset="0"/>
                  </a:endParaRPr>
                </a:p>
              </p:txBody>
            </p:sp>
          </mc:Choice>
          <mc:Fallback xmlns="">
            <p:sp>
              <p:nvSpPr>
                <p:cNvPr id="174" name="TextBox 173">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6890070" y="4473272"/>
                  <a:ext cx="495646" cy="454432"/>
                </a:xfrm>
                <a:prstGeom prst="ellipse">
                  <a:avLst/>
                </a:prstGeom>
                <a:blipFill>
                  <a:blip r:embed="rId33"/>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5" name="TextBox 174">
                  <a:extLst>
                    <a:ext uri="{FF2B5EF4-FFF2-40B4-BE49-F238E27FC236}">
                      <a16:creationId xmlns:a16="http://schemas.microsoft.com/office/drawing/2014/main" id="{36F03E2E-8229-4DFD-869B-C4F6CF96084E}"/>
                    </a:ext>
                  </a:extLst>
                </p:cNvPr>
                <p:cNvSpPr txBox="1"/>
                <p:nvPr/>
              </p:nvSpPr>
              <p:spPr>
                <a:xfrm rot="10800000" flipV="1">
                  <a:off x="6343791" y="4473272"/>
                  <a:ext cx="495646" cy="454432"/>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𝑣</m:t>
                            </m:r>
                          </m:e>
                          <m:sub>
                            <m:r>
                              <a:rPr lang="en-IN" sz="1500" b="0" i="1" smtClean="0">
                                <a:latin typeface="Cambria Math" panose="02040503050406030204" pitchFamily="18" charset="0"/>
                              </a:rPr>
                              <m:t>2</m:t>
                            </m:r>
                          </m:sub>
                        </m:sSub>
                      </m:oMath>
                    </m:oMathPara>
                  </a14:m>
                  <a:endParaRPr lang="en-IN" sz="1500" dirty="0">
                    <a:latin typeface="Arial Narrow" panose="020B0606020202030204" pitchFamily="34" charset="0"/>
                  </a:endParaRPr>
                </a:p>
              </p:txBody>
            </p:sp>
          </mc:Choice>
          <mc:Fallback xmlns="">
            <p:sp>
              <p:nvSpPr>
                <p:cNvPr id="175" name="TextBox 174">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6343791" y="4473272"/>
                  <a:ext cx="495646" cy="454432"/>
                </a:xfrm>
                <a:prstGeom prst="ellipse">
                  <a:avLst/>
                </a:prstGeom>
                <a:blipFill>
                  <a:blip r:embed="rId34"/>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6" name="TextBox 175">
                  <a:extLst>
                    <a:ext uri="{FF2B5EF4-FFF2-40B4-BE49-F238E27FC236}">
                      <a16:creationId xmlns:a16="http://schemas.microsoft.com/office/drawing/2014/main" id="{DF1D3D16-4F7D-4FD0-95EB-E2360401B577}"/>
                    </a:ext>
                  </a:extLst>
                </p:cNvPr>
                <p:cNvSpPr txBox="1"/>
                <p:nvPr/>
              </p:nvSpPr>
              <p:spPr>
                <a:xfrm rot="10800000" flipV="1">
                  <a:off x="5802807" y="4473273"/>
                  <a:ext cx="495646" cy="454432"/>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𝑣</m:t>
                            </m:r>
                          </m:e>
                          <m:sub>
                            <m:r>
                              <a:rPr lang="en-IN" sz="1500" b="0" i="1" smtClean="0">
                                <a:latin typeface="Cambria Math" panose="02040503050406030204" pitchFamily="18" charset="0"/>
                              </a:rPr>
                              <m:t>3</m:t>
                            </m:r>
                          </m:sub>
                        </m:sSub>
                      </m:oMath>
                    </m:oMathPara>
                  </a14:m>
                  <a:endParaRPr lang="en-IN" sz="1500" dirty="0">
                    <a:latin typeface="Arial Narrow" panose="020B0606020202030204" pitchFamily="34" charset="0"/>
                  </a:endParaRPr>
                </a:p>
              </p:txBody>
            </p:sp>
          </mc:Choice>
          <mc:Fallback xmlns="">
            <p:sp>
              <p:nvSpPr>
                <p:cNvPr id="176" name="TextBox 175">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5802807" y="4473273"/>
                  <a:ext cx="495646" cy="454432"/>
                </a:xfrm>
                <a:prstGeom prst="ellipse">
                  <a:avLst/>
                </a:prstGeom>
                <a:blipFill>
                  <a:blip r:embed="rId35"/>
                  <a:stretch>
                    <a:fillRect/>
                  </a:stretch>
                </a:blipFill>
                <a:ln w="12700">
                  <a:solidFill>
                    <a:schemeClr val="tx1"/>
                  </a:solidFill>
                </a:ln>
              </p:spPr>
              <p:txBody>
                <a:bodyPr/>
                <a:lstStyle/>
                <a:p>
                  <a:r>
                    <a:rPr lang="en-IN">
                      <a:noFill/>
                    </a:rPr>
                    <a:t> </a:t>
                  </a:r>
                </a:p>
              </p:txBody>
            </p:sp>
          </mc:Fallback>
        </mc:AlternateContent>
        <p:cxnSp>
          <p:nvCxnSpPr>
            <p:cNvPr id="177" name="Elbow Connector 176"/>
            <p:cNvCxnSpPr>
              <a:stCxn id="167" idx="4"/>
              <a:endCxn id="176" idx="4"/>
            </p:cNvCxnSpPr>
            <p:nvPr/>
          </p:nvCxnSpPr>
          <p:spPr>
            <a:xfrm rot="5400000" flipH="1" flipV="1">
              <a:off x="4532848" y="3988055"/>
              <a:ext cx="578132" cy="2457432"/>
            </a:xfrm>
            <a:prstGeom prst="bentConnector3">
              <a:avLst>
                <a:gd name="adj1" fmla="val -3954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78" name="Elbow Connector 177"/>
            <p:cNvCxnSpPr>
              <a:stCxn id="168" idx="4"/>
              <a:endCxn id="175" idx="4"/>
            </p:cNvCxnSpPr>
            <p:nvPr/>
          </p:nvCxnSpPr>
          <p:spPr>
            <a:xfrm rot="5400000" flipH="1" flipV="1">
              <a:off x="4528978" y="3440032"/>
              <a:ext cx="574964" cy="3550308"/>
            </a:xfrm>
            <a:prstGeom prst="bentConnector3">
              <a:avLst>
                <a:gd name="adj1" fmla="val -68120"/>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79" name="Elbow Connector 178"/>
            <p:cNvCxnSpPr>
              <a:stCxn id="169" idx="4"/>
              <a:endCxn id="174" idx="4"/>
            </p:cNvCxnSpPr>
            <p:nvPr/>
          </p:nvCxnSpPr>
          <p:spPr>
            <a:xfrm rot="5400000" flipH="1" flipV="1">
              <a:off x="4531625" y="2896400"/>
              <a:ext cx="574964" cy="4637572"/>
            </a:xfrm>
            <a:prstGeom prst="bentConnector3">
              <a:avLst>
                <a:gd name="adj1" fmla="val -93567"/>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A263021F-7328-4211-909D-49F49CA28D98}"/>
                </a:ext>
              </a:extLst>
            </p:cNvPr>
            <p:cNvCxnSpPr>
              <a:stCxn id="174" idx="0"/>
              <a:endCxn id="131" idx="4"/>
            </p:cNvCxnSpPr>
            <p:nvPr/>
          </p:nvCxnSpPr>
          <p:spPr>
            <a:xfrm flipV="1">
              <a:off x="7137893" y="4346935"/>
              <a:ext cx="2417" cy="126337"/>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81" name="Straight Arrow Connector 180">
              <a:extLst>
                <a:ext uri="{FF2B5EF4-FFF2-40B4-BE49-F238E27FC236}">
                  <a16:creationId xmlns:a16="http://schemas.microsoft.com/office/drawing/2014/main" id="{48E3A579-0DB9-42B0-BAF2-784E8D2CED22}"/>
                </a:ext>
              </a:extLst>
            </p:cNvPr>
            <p:cNvCxnSpPr>
              <a:cxnSpLocks/>
              <a:stCxn id="175" idx="0"/>
              <a:endCxn id="132" idx="4"/>
            </p:cNvCxnSpPr>
            <p:nvPr/>
          </p:nvCxnSpPr>
          <p:spPr>
            <a:xfrm flipV="1">
              <a:off x="6591614" y="4346935"/>
              <a:ext cx="2418" cy="126337"/>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82" name="Straight Arrow Connector 181">
              <a:extLst>
                <a:ext uri="{FF2B5EF4-FFF2-40B4-BE49-F238E27FC236}">
                  <a16:creationId xmlns:a16="http://schemas.microsoft.com/office/drawing/2014/main" id="{C1137974-CC6B-47D3-81CF-6AC92B143B47}"/>
                </a:ext>
              </a:extLst>
            </p:cNvPr>
            <p:cNvCxnSpPr>
              <a:cxnSpLocks/>
              <a:stCxn id="176" idx="0"/>
              <a:endCxn id="133" idx="4"/>
            </p:cNvCxnSpPr>
            <p:nvPr/>
          </p:nvCxnSpPr>
          <p:spPr>
            <a:xfrm flipV="1">
              <a:off x="6050630" y="4346936"/>
              <a:ext cx="2417" cy="126337"/>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884153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96781754-C5BC-4F76-B639-69194980BAA2}"/>
              </a:ext>
            </a:extLst>
          </p:cNvPr>
          <p:cNvSpPr>
            <a:spLocks noGrp="1"/>
          </p:cNvSpPr>
          <p:nvPr>
            <p:ph type="title"/>
          </p:nvPr>
        </p:nvSpPr>
        <p:spPr>
          <a:xfrm>
            <a:off x="838200" y="572238"/>
            <a:ext cx="10515600" cy="859910"/>
          </a:xfrm>
        </p:spPr>
        <p:txBody>
          <a:bodyPr>
            <a:normAutofit/>
          </a:bodyPr>
          <a:lstStyle/>
          <a:p>
            <a:r>
              <a:rPr lang="en-US" sz="3200" dirty="0">
                <a:latin typeface="Century" panose="02040604050505020304" pitchFamily="18" charset="0"/>
              </a:rPr>
              <a:t>Query, Key, and Value Projections in Attention</a:t>
            </a:r>
            <a:endParaRPr lang="en-IN" sz="3200" dirty="0">
              <a:latin typeface="Century" panose="02040604050505020304" pitchFamily="18" charset="0"/>
            </a:endParaRPr>
          </a:p>
        </p:txBody>
      </p:sp>
      <p:sp>
        <p:nvSpPr>
          <p:cNvPr id="6" name="Content Placeholder 3">
            <a:extLst>
              <a:ext uri="{FF2B5EF4-FFF2-40B4-BE49-F238E27FC236}">
                <a16:creationId xmlns:a16="http://schemas.microsoft.com/office/drawing/2014/main" id="{7694F808-28C1-48F5-A049-6C5BE448D6DF}"/>
              </a:ext>
            </a:extLst>
          </p:cNvPr>
          <p:cNvSpPr>
            <a:spLocks noGrp="1"/>
          </p:cNvSpPr>
          <p:nvPr>
            <p:ph idx="1"/>
          </p:nvPr>
        </p:nvSpPr>
        <p:spPr>
          <a:xfrm>
            <a:off x="838200" y="1792943"/>
            <a:ext cx="11004176" cy="3917576"/>
          </a:xfrm>
        </p:spPr>
        <p:txBody>
          <a:bodyPr>
            <a:noAutofit/>
          </a:bodyPr>
          <a:lstStyle/>
          <a:p>
            <a:pPr algn="just"/>
            <a:r>
              <a:rPr lang="en-US" sz="2000" dirty="0">
                <a:latin typeface="Arial Narrow" panose="020B0606020202030204" pitchFamily="34" charset="0"/>
              </a:rPr>
              <a:t>In the attention mechanism of a Transformer, the </a:t>
            </a:r>
            <a:r>
              <a:rPr lang="en-US" sz="2000" dirty="0">
                <a:solidFill>
                  <a:srgbClr val="7030A0"/>
                </a:solidFill>
                <a:latin typeface="Arial Narrow" panose="020B0606020202030204" pitchFamily="34" charset="0"/>
              </a:rPr>
              <a:t>input vectors are initially used for both computing alignment scores and generating the attention output</a:t>
            </a:r>
            <a:r>
              <a:rPr lang="en-US" sz="2000" dirty="0">
                <a:latin typeface="Arial Narrow" panose="020B0606020202030204" pitchFamily="34" charset="0"/>
              </a:rPr>
              <a:t>.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The </a:t>
            </a:r>
            <a:r>
              <a:rPr lang="en-US" sz="2000" dirty="0">
                <a:solidFill>
                  <a:srgbClr val="7030A0"/>
                </a:solidFill>
                <a:latin typeface="Arial Narrow" panose="020B0606020202030204" pitchFamily="34" charset="0"/>
              </a:rPr>
              <a:t>alignment step determines how strongly different tokens relate to one another</a:t>
            </a:r>
            <a:r>
              <a:rPr lang="en-US" sz="2000" dirty="0">
                <a:latin typeface="Arial Narrow" panose="020B0606020202030204" pitchFamily="34" charset="0"/>
              </a:rPr>
              <a:t>, while the </a:t>
            </a:r>
            <a:r>
              <a:rPr lang="en-US" sz="2000" dirty="0">
                <a:solidFill>
                  <a:srgbClr val="7030A0"/>
                </a:solidFill>
                <a:latin typeface="Arial Narrow" panose="020B0606020202030204" pitchFamily="34" charset="0"/>
              </a:rPr>
              <a:t>attention calculation uses these relationships to produce a weighted representation</a:t>
            </a:r>
            <a:r>
              <a:rPr lang="en-US" sz="2000" dirty="0">
                <a:latin typeface="Arial Narrow" panose="020B0606020202030204" pitchFamily="34" charset="0"/>
              </a:rPr>
              <a:t>.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However, using the same representations for both purposes </a:t>
            </a:r>
            <a:r>
              <a:rPr lang="en-US" sz="2000" dirty="0">
                <a:solidFill>
                  <a:srgbClr val="7030A0"/>
                </a:solidFill>
                <a:latin typeface="Arial Narrow" panose="020B0606020202030204" pitchFamily="34" charset="0"/>
              </a:rPr>
              <a:t>can limit the model’s flexibility and expressive power</a:t>
            </a:r>
            <a:r>
              <a:rPr lang="en-US" sz="2000" dirty="0">
                <a:latin typeface="Arial Narrow" panose="020B0606020202030204" pitchFamily="34" charset="0"/>
              </a:rPr>
              <a:t>.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To address this limitation, </a:t>
            </a:r>
            <a:r>
              <a:rPr lang="en-US" sz="2000" dirty="0">
                <a:solidFill>
                  <a:srgbClr val="7030A0"/>
                </a:solidFill>
                <a:latin typeface="Arial Narrow" panose="020B0606020202030204" pitchFamily="34" charset="0"/>
              </a:rPr>
              <a:t>separate fully connected (FC) linear transformations </a:t>
            </a:r>
            <a:r>
              <a:rPr lang="en-US" sz="2000" dirty="0">
                <a:latin typeface="Arial Narrow" panose="020B0606020202030204" pitchFamily="34" charset="0"/>
              </a:rPr>
              <a:t>are applied to the input to generate three distinct representations: </a:t>
            </a:r>
            <a:r>
              <a:rPr lang="en-US" sz="2000" dirty="0">
                <a:solidFill>
                  <a:srgbClr val="00B0F0"/>
                </a:solidFill>
                <a:latin typeface="Arial Narrow" panose="020B0606020202030204" pitchFamily="34" charset="0"/>
              </a:rPr>
              <a:t>Query (Q), Key (K), and Value (V). </a:t>
            </a:r>
          </a:p>
          <a:p>
            <a:pPr algn="just"/>
            <a:endParaRPr lang="en-US" sz="1800" dirty="0">
              <a:latin typeface="Arial Narrow" panose="020B0606020202030204" pitchFamily="34" charset="0"/>
            </a:endParaRPr>
          </a:p>
        </p:txBody>
      </p:sp>
    </p:spTree>
    <p:extLst>
      <p:ext uri="{BB962C8B-B14F-4D97-AF65-F5344CB8AC3E}">
        <p14:creationId xmlns:p14="http://schemas.microsoft.com/office/powerpoint/2010/main" val="7904446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20CAE-E36B-4DA6-B797-4761CD6C4C21}"/>
              </a:ext>
            </a:extLst>
          </p:cNvPr>
          <p:cNvSpPr>
            <a:spLocks noGrp="1"/>
          </p:cNvSpPr>
          <p:nvPr>
            <p:ph type="title"/>
          </p:nvPr>
        </p:nvSpPr>
        <p:spPr/>
        <p:txBody>
          <a:bodyPr>
            <a:normAutofit/>
          </a:bodyPr>
          <a:lstStyle/>
          <a:p>
            <a:r>
              <a:rPr lang="en-US" sz="3200" dirty="0">
                <a:latin typeface="Century" panose="02040604050505020304" pitchFamily="18" charset="0"/>
              </a:rPr>
              <a:t>Query, Key, and Value Projections in Attention</a:t>
            </a:r>
            <a:endParaRPr lang="en-IN" sz="3200" dirty="0"/>
          </a:p>
        </p:txBody>
      </p:sp>
      <p:sp>
        <p:nvSpPr>
          <p:cNvPr id="3" name="Content Placeholder 2">
            <a:extLst>
              <a:ext uri="{FF2B5EF4-FFF2-40B4-BE49-F238E27FC236}">
                <a16:creationId xmlns:a16="http://schemas.microsoft.com/office/drawing/2014/main" id="{C0CDE9D1-15DC-4E1A-B4E7-BA80AD3EA997}"/>
              </a:ext>
            </a:extLst>
          </p:cNvPr>
          <p:cNvSpPr>
            <a:spLocks noGrp="1"/>
          </p:cNvSpPr>
          <p:nvPr>
            <p:ph idx="1"/>
          </p:nvPr>
        </p:nvSpPr>
        <p:spPr/>
        <p:txBody>
          <a:bodyPr>
            <a:normAutofit/>
          </a:bodyPr>
          <a:lstStyle/>
          <a:p>
            <a:pPr algn="just"/>
            <a:r>
              <a:rPr lang="en-US" sz="2200" dirty="0">
                <a:latin typeface="Arial Narrow" panose="020B0606020202030204" pitchFamily="34" charset="0"/>
              </a:rPr>
              <a:t>The </a:t>
            </a:r>
            <a:r>
              <a:rPr lang="en-US" sz="2200" dirty="0">
                <a:solidFill>
                  <a:srgbClr val="00B0F0"/>
                </a:solidFill>
                <a:latin typeface="Arial Narrow" panose="020B0606020202030204" pitchFamily="34" charset="0"/>
              </a:rPr>
              <a:t>Query</a:t>
            </a:r>
            <a:r>
              <a:rPr lang="en-US" sz="2200" dirty="0">
                <a:latin typeface="Arial Narrow" panose="020B0606020202030204" pitchFamily="34" charset="0"/>
              </a:rPr>
              <a:t> and </a:t>
            </a:r>
            <a:r>
              <a:rPr lang="en-US" sz="2200" dirty="0">
                <a:solidFill>
                  <a:srgbClr val="00B0F0"/>
                </a:solidFill>
                <a:latin typeface="Arial Narrow" panose="020B0606020202030204" pitchFamily="34" charset="0"/>
              </a:rPr>
              <a:t>Key</a:t>
            </a:r>
            <a:r>
              <a:rPr lang="en-US" sz="2200" dirty="0">
                <a:latin typeface="Arial Narrow" panose="020B0606020202030204" pitchFamily="34" charset="0"/>
              </a:rPr>
              <a:t> vectors are used to </a:t>
            </a:r>
            <a:r>
              <a:rPr lang="en-US" sz="2200" dirty="0">
                <a:solidFill>
                  <a:srgbClr val="7030A0"/>
                </a:solidFill>
                <a:latin typeface="Arial Narrow" panose="020B0606020202030204" pitchFamily="34" charset="0"/>
              </a:rPr>
              <a:t>compute alignment scores in the self-attention mechanism</a:t>
            </a:r>
            <a:r>
              <a:rPr lang="en-US" sz="2200" dirty="0">
                <a:latin typeface="Arial Narrow" panose="020B0606020202030204" pitchFamily="34" charset="0"/>
              </a:rPr>
              <a:t>, while the </a:t>
            </a:r>
            <a:r>
              <a:rPr lang="en-US" sz="2200" dirty="0">
                <a:solidFill>
                  <a:srgbClr val="00B0F0"/>
                </a:solidFill>
                <a:latin typeface="Arial Narrow" panose="020B0606020202030204" pitchFamily="34" charset="0"/>
              </a:rPr>
              <a:t>Value</a:t>
            </a:r>
            <a:r>
              <a:rPr lang="en-US" sz="2200" dirty="0">
                <a:solidFill>
                  <a:srgbClr val="7030A0"/>
                </a:solidFill>
                <a:latin typeface="Arial Narrow" panose="020B0606020202030204" pitchFamily="34" charset="0"/>
              </a:rPr>
              <a:t> vectors are used to construct the final weighted output</a:t>
            </a:r>
            <a:r>
              <a:rPr lang="en-US" sz="2200" dirty="0">
                <a:latin typeface="Arial Narrow" panose="020B0606020202030204" pitchFamily="34" charset="0"/>
              </a:rPr>
              <a:t>. </a:t>
            </a:r>
          </a:p>
          <a:p>
            <a:pPr algn="just"/>
            <a:endParaRPr lang="en-US" sz="2200" dirty="0">
              <a:latin typeface="Arial Narrow" panose="020B0606020202030204" pitchFamily="34" charset="0"/>
            </a:endParaRPr>
          </a:p>
          <a:p>
            <a:pPr algn="just"/>
            <a:r>
              <a:rPr lang="en-US" sz="2200" dirty="0">
                <a:latin typeface="Arial Narrow" panose="020B0606020202030204" pitchFamily="34" charset="0"/>
              </a:rPr>
              <a:t>Since these </a:t>
            </a:r>
            <a:r>
              <a:rPr lang="en-US" sz="2200" dirty="0">
                <a:solidFill>
                  <a:srgbClr val="7030A0"/>
                </a:solidFill>
                <a:latin typeface="Arial Narrow" panose="020B0606020202030204" pitchFamily="34" charset="0"/>
              </a:rPr>
              <a:t>FC transformations can have different dimensions, the attention mechanism can operate with different key and value representations </a:t>
            </a:r>
            <a:r>
              <a:rPr lang="en-US" sz="2200" dirty="0">
                <a:latin typeface="Arial Narrow" panose="020B0606020202030204" pitchFamily="34" charset="0"/>
              </a:rPr>
              <a:t>and </a:t>
            </a:r>
            <a:r>
              <a:rPr lang="en-US" sz="2200" dirty="0">
                <a:solidFill>
                  <a:srgbClr val="7030A0"/>
                </a:solidFill>
                <a:latin typeface="Arial Narrow" panose="020B0606020202030204" pitchFamily="34" charset="0"/>
              </a:rPr>
              <a:t>can map the input to an output space of a different dimensionality</a:t>
            </a:r>
            <a:r>
              <a:rPr lang="en-US" sz="2200" dirty="0">
                <a:latin typeface="Arial Narrow" panose="020B0606020202030204" pitchFamily="34" charset="0"/>
              </a:rPr>
              <a:t>. </a:t>
            </a:r>
          </a:p>
          <a:p>
            <a:pPr algn="just"/>
            <a:endParaRPr lang="en-US" sz="2200" dirty="0">
              <a:latin typeface="Arial Narrow" panose="020B0606020202030204" pitchFamily="34" charset="0"/>
            </a:endParaRPr>
          </a:p>
          <a:p>
            <a:pPr algn="just"/>
            <a:r>
              <a:rPr lang="en-US" sz="2200" dirty="0">
                <a:latin typeface="Arial Narrow" panose="020B0606020202030204" pitchFamily="34" charset="0"/>
              </a:rPr>
              <a:t>This added flexibility </a:t>
            </a:r>
            <a:r>
              <a:rPr lang="en-US" sz="2200" dirty="0">
                <a:solidFill>
                  <a:srgbClr val="7030A0"/>
                </a:solidFill>
                <a:latin typeface="Arial Narrow" panose="020B0606020202030204" pitchFamily="34" charset="0"/>
              </a:rPr>
              <a:t>enables the model to learn more specialized representations and capture complex relationships and dependencies within the data</a:t>
            </a:r>
            <a:r>
              <a:rPr lang="en-US" sz="2200" dirty="0">
                <a:latin typeface="Arial Narrow" panose="020B0606020202030204" pitchFamily="34" charset="0"/>
              </a:rPr>
              <a:t>.</a:t>
            </a:r>
            <a:endParaRPr lang="en-IN" sz="2200" dirty="0">
              <a:latin typeface="Arial Narrow" panose="020B0606020202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1664371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8" name="Straight Connector 57">
            <a:extLst>
              <a:ext uri="{FF2B5EF4-FFF2-40B4-BE49-F238E27FC236}">
                <a16:creationId xmlns:a16="http://schemas.microsoft.com/office/drawing/2014/main" id="{1B0BBDC5-3F7A-42D8-B1E5-54F450CE7F0A}"/>
              </a:ext>
            </a:extLst>
          </p:cNvPr>
          <p:cNvCxnSpPr/>
          <p:nvPr/>
        </p:nvCxnSpPr>
        <p:spPr>
          <a:xfrm>
            <a:off x="5581650" y="4210050"/>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814A0750-898F-4132-B31D-6BB41D3260C4}"/>
              </a:ext>
            </a:extLst>
          </p:cNvPr>
          <p:cNvSpPr txBox="1"/>
          <p:nvPr/>
        </p:nvSpPr>
        <p:spPr>
          <a:xfrm>
            <a:off x="8349499" y="5173768"/>
            <a:ext cx="3313900" cy="584775"/>
          </a:xfrm>
          <a:prstGeom prst="rect">
            <a:avLst/>
          </a:prstGeom>
          <a:noFill/>
        </p:spPr>
        <p:txBody>
          <a:bodyPr wrap="square" rtlCol="0">
            <a:spAutoFit/>
          </a:bodyPr>
          <a:lstStyle/>
          <a:p>
            <a:r>
              <a:rPr lang="en-IN" sz="1600" dirty="0">
                <a:latin typeface="Arial Narrow" panose="020B0606020202030204" pitchFamily="34" charset="0"/>
                <a:cs typeface="Times New Roman" panose="02020603050405020304" pitchFamily="18" charset="0"/>
              </a:rPr>
              <a:t>Output:</a:t>
            </a:r>
          </a:p>
          <a:p>
            <a:r>
              <a:rPr lang="en-IN" sz="1600" dirty="0">
                <a:latin typeface="Arial Narrow" panose="020B0606020202030204" pitchFamily="34" charset="0"/>
                <a:cs typeface="Times New Roman" panose="02020603050405020304" pitchFamily="18" charset="0"/>
              </a:rPr>
              <a:t>Context Vector y (Shape: </a:t>
            </a:r>
            <a:r>
              <a:rPr lang="en-IN" sz="1600" dirty="0" err="1">
                <a:latin typeface="Arial Narrow" panose="020B0606020202030204" pitchFamily="34" charset="0"/>
                <a:cs typeface="Times New Roman" panose="02020603050405020304" pitchFamily="18" charset="0"/>
              </a:rPr>
              <a:t>D</a:t>
            </a:r>
            <a:r>
              <a:rPr lang="en-IN" sz="1600" baseline="-25000" dirty="0" err="1">
                <a:latin typeface="Arial Narrow" panose="020B0606020202030204" pitchFamily="34" charset="0"/>
                <a:cs typeface="Times New Roman" panose="02020603050405020304" pitchFamily="18" charset="0"/>
              </a:rPr>
              <a:t>v</a:t>
            </a:r>
            <a:r>
              <a:rPr lang="en-IN" sz="1600" dirty="0">
                <a:latin typeface="Arial Narrow" panose="020B0606020202030204" pitchFamily="34"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086F0207-6EE0-4AC4-BD2F-4600D077A09E}"/>
                  </a:ext>
                </a:extLst>
              </p:cNvPr>
              <p:cNvSpPr txBox="1"/>
              <p:nvPr/>
            </p:nvSpPr>
            <p:spPr>
              <a:xfrm>
                <a:off x="3849046" y="2377685"/>
                <a:ext cx="5111275" cy="1153970"/>
              </a:xfrm>
              <a:prstGeom prst="rect">
                <a:avLst/>
              </a:prstGeom>
              <a:noFill/>
            </p:spPr>
            <p:txBody>
              <a:bodyPr wrap="square" rtlCol="0">
                <a:spAutoFit/>
              </a:bodyPr>
              <a:lstStyle/>
              <a:p>
                <a:r>
                  <a:rPr lang="en-IN" sz="1600" dirty="0">
                    <a:latin typeface="Arial Narrow" panose="020B0606020202030204" pitchFamily="34" charset="0"/>
                    <a:cs typeface="Times New Roman" panose="02020603050405020304" pitchFamily="18" charset="0"/>
                  </a:rPr>
                  <a:t>Operations:</a:t>
                </a:r>
              </a:p>
              <a:p>
                <a:r>
                  <a:rPr lang="en-IN" sz="1600" dirty="0">
                    <a:latin typeface="Arial Narrow" panose="020B0606020202030204" pitchFamily="34" charset="0"/>
                    <a:cs typeface="Times New Roman" panose="02020603050405020304" pitchFamily="18" charset="0"/>
                  </a:rPr>
                  <a:t>Key Vectors: k=</a:t>
                </a:r>
                <a:r>
                  <a:rPr lang="en-IN" sz="1600" dirty="0" err="1">
                    <a:latin typeface="Arial Narrow" panose="020B0606020202030204" pitchFamily="34" charset="0"/>
                    <a:cs typeface="Times New Roman" panose="02020603050405020304" pitchFamily="18" charset="0"/>
                  </a:rPr>
                  <a:t>xW</a:t>
                </a:r>
                <a:r>
                  <a:rPr lang="en-IN" sz="1600" baseline="-25000" dirty="0" err="1">
                    <a:latin typeface="Arial Narrow" panose="020B0606020202030204" pitchFamily="34" charset="0"/>
                    <a:cs typeface="Times New Roman" panose="02020603050405020304" pitchFamily="18" charset="0"/>
                  </a:rPr>
                  <a:t>k</a:t>
                </a:r>
                <a:r>
                  <a:rPr lang="en-IN" sz="1600" baseline="-25000" dirty="0">
                    <a:latin typeface="Arial Narrow" panose="020B0606020202030204" pitchFamily="34" charset="0"/>
                    <a:cs typeface="Times New Roman" panose="02020603050405020304" pitchFamily="18" charset="0"/>
                  </a:rPr>
                  <a:t> </a:t>
                </a:r>
                <a:r>
                  <a:rPr lang="en-IN" sz="1600" dirty="0">
                    <a:latin typeface="Arial Narrow" panose="020B0606020202030204" pitchFamily="34" charset="0"/>
                    <a:cs typeface="Times New Roman" panose="02020603050405020304" pitchFamily="18" charset="0"/>
                  </a:rPr>
                  <a:t> .Value Vectors: v=</a:t>
                </a:r>
                <a:r>
                  <a:rPr lang="en-IN" sz="1600" dirty="0" err="1">
                    <a:latin typeface="Arial Narrow" panose="020B0606020202030204" pitchFamily="34" charset="0"/>
                    <a:cs typeface="Times New Roman" panose="02020603050405020304" pitchFamily="18" charset="0"/>
                  </a:rPr>
                  <a:t>xW</a:t>
                </a:r>
                <a:r>
                  <a:rPr lang="en-IN" sz="1600" baseline="-25000" dirty="0" err="1">
                    <a:latin typeface="Arial Narrow" panose="020B0606020202030204" pitchFamily="34" charset="0"/>
                    <a:cs typeface="Times New Roman" panose="02020603050405020304" pitchFamily="18" charset="0"/>
                  </a:rPr>
                  <a:t>v</a:t>
                </a:r>
                <a:endParaRPr lang="en-IN" sz="1600" baseline="-25000" dirty="0">
                  <a:latin typeface="Arial Narrow" panose="020B0606020202030204" pitchFamily="34" charset="0"/>
                  <a:cs typeface="Times New Roman" panose="02020603050405020304" pitchFamily="18" charset="0"/>
                </a:endParaRPr>
              </a:p>
              <a:p>
                <a:r>
                  <a:rPr lang="en-IN" sz="1600" dirty="0">
                    <a:latin typeface="Arial Narrow" panose="020B0606020202030204" pitchFamily="34" charset="0"/>
                    <a:cs typeface="Times New Roman" panose="02020603050405020304" pitchFamily="18" charset="0"/>
                  </a:rPr>
                  <a:t>Alignment: </a:t>
                </a:r>
                <a14:m>
                  <m:oMath xmlns:m="http://schemas.openxmlformats.org/officeDocument/2006/math">
                    <m:sSub>
                      <m:sSubPr>
                        <m:ctrlPr>
                          <a:rPr lang="en-US" sz="1600" i="1" smtClean="0">
                            <a:latin typeface="Cambria Math" panose="02040503050406030204" pitchFamily="18" charset="0"/>
                            <a:cs typeface="Times New Roman" panose="02020603050405020304" pitchFamily="18" charset="0"/>
                          </a:rPr>
                        </m:ctrlPr>
                      </m:sSubPr>
                      <m:e>
                        <m:r>
                          <a:rPr lang="en-IN" sz="1600"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n-IN" sz="1600" i="1">
                            <a:latin typeface="Cambria Math" panose="02040503050406030204" pitchFamily="18" charset="0"/>
                            <a:cs typeface="Times New Roman" panose="02020603050405020304" pitchFamily="18" charset="0"/>
                          </a:rPr>
                          <m:t>𝑖</m:t>
                        </m:r>
                        <m:r>
                          <a:rPr lang="en-IN" sz="1600" b="0" i="1" smtClean="0">
                            <a:latin typeface="Cambria Math" panose="02040503050406030204" pitchFamily="18" charset="0"/>
                            <a:cs typeface="Times New Roman" panose="02020603050405020304" pitchFamily="18" charset="0"/>
                          </a:rPr>
                          <m:t>𝑗</m:t>
                        </m:r>
                      </m:sub>
                    </m:sSub>
                    <m:r>
                      <a:rPr lang="en-IN" sz="1600" i="1">
                        <a:latin typeface="Cambria Math" panose="02040503050406030204" pitchFamily="18" charset="0"/>
                        <a:cs typeface="Times New Roman" panose="02020603050405020304" pitchFamily="18" charset="0"/>
                      </a:rPr>
                      <m:t>=</m:t>
                    </m:r>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𝑞</m:t>
                        </m:r>
                      </m:e>
                      <m:sub>
                        <m:r>
                          <a:rPr lang="en-IN" sz="1600" b="0" i="1" smtClean="0">
                            <a:latin typeface="Cambria Math" panose="02040503050406030204" pitchFamily="18" charset="0"/>
                          </a:rPr>
                          <m:t>𝑗</m:t>
                        </m:r>
                      </m:sub>
                    </m:sSub>
                    <m:r>
                      <a:rPr lang="en-IN" sz="1600" b="0" i="1" smtClean="0">
                        <a:latin typeface="Cambria Math" panose="02040503050406030204" pitchFamily="18" charset="0"/>
                        <a:cs typeface="Times New Roman" panose="02020603050405020304" pitchFamily="18" charset="0"/>
                      </a:rPr>
                      <m:t>.</m:t>
                    </m:r>
                    <m:sSub>
                      <m:sSubPr>
                        <m:ctrlPr>
                          <a:rPr lang="en-IN" sz="1600" i="1" dirty="0" smtClean="0">
                            <a:latin typeface="Cambria Math" panose="02040503050406030204" pitchFamily="18" charset="0"/>
                            <a:cs typeface="Times New Roman" panose="02020603050405020304" pitchFamily="18" charset="0"/>
                          </a:rPr>
                        </m:ctrlPr>
                      </m:sSubPr>
                      <m:e>
                        <m:r>
                          <a:rPr lang="en-IN" sz="1600" b="0" i="1" dirty="0" smtClean="0">
                            <a:latin typeface="Cambria Math" panose="02040503050406030204" pitchFamily="18" charset="0"/>
                            <a:cs typeface="Times New Roman" panose="02020603050405020304" pitchFamily="18" charset="0"/>
                          </a:rPr>
                          <m:t>𝑘</m:t>
                        </m:r>
                      </m:e>
                      <m:sub>
                        <m:r>
                          <a:rPr lang="en-IN" sz="1600" b="0" i="1" dirty="0" smtClean="0">
                            <a:latin typeface="Cambria Math" panose="02040503050406030204" pitchFamily="18" charset="0"/>
                            <a:cs typeface="Times New Roman" panose="02020603050405020304" pitchFamily="18" charset="0"/>
                          </a:rPr>
                          <m:t>𝑖</m:t>
                        </m:r>
                      </m:sub>
                    </m:sSub>
                    <m:r>
                      <a:rPr lang="en-IN" sz="1600" b="0" i="1" dirty="0" smtClean="0">
                        <a:latin typeface="Cambria Math" panose="02040503050406030204" pitchFamily="18" charset="0"/>
                        <a:cs typeface="Times New Roman" panose="02020603050405020304" pitchFamily="18" charset="0"/>
                      </a:rPr>
                      <m:t>/</m:t>
                    </m:r>
                    <m:rad>
                      <m:radPr>
                        <m:degHide m:val="on"/>
                        <m:ctrlPr>
                          <a:rPr lang="en-IN" sz="1600" b="0" i="1" dirty="0" smtClean="0">
                            <a:latin typeface="Cambria Math" panose="02040503050406030204" pitchFamily="18" charset="0"/>
                            <a:cs typeface="Times New Roman" panose="02020603050405020304" pitchFamily="18" charset="0"/>
                          </a:rPr>
                        </m:ctrlPr>
                      </m:radPr>
                      <m:deg/>
                      <m:e>
                        <m:r>
                          <a:rPr lang="en-IN" sz="1600" b="0" i="1" dirty="0" smtClean="0">
                            <a:latin typeface="Cambria Math" panose="02040503050406030204" pitchFamily="18" charset="0"/>
                            <a:cs typeface="Times New Roman" panose="02020603050405020304" pitchFamily="18" charset="0"/>
                          </a:rPr>
                          <m:t>𝐷</m:t>
                        </m:r>
                      </m:e>
                    </m:rad>
                  </m:oMath>
                </a14:m>
                <a:r>
                  <a:rPr lang="en-IN" sz="1600" dirty="0">
                    <a:latin typeface="Arial Narrow" panose="020B0606020202030204" pitchFamily="34" charset="0"/>
                    <a:cs typeface="Times New Roman" panose="02020603050405020304" pitchFamily="18" charset="0"/>
                  </a:rPr>
                  <a:t> . Attention: </a:t>
                </a:r>
                <a14:m>
                  <m:oMath xmlns:m="http://schemas.openxmlformats.org/officeDocument/2006/math">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𝑎</m:t>
                    </m:r>
                    <m:r>
                      <a:rPr lang="en-IN" sz="1600" i="1">
                        <a:latin typeface="Cambria Math" panose="02040503050406030204" pitchFamily="18" charset="0"/>
                        <a:cs typeface="Times New Roman" panose="02020603050405020304" pitchFamily="18" charset="0"/>
                      </a:rPr>
                      <m:t>=</m:t>
                    </m:r>
                    <m:r>
                      <a:rPr lang="en-IN" sz="1600" i="1">
                        <a:latin typeface="Cambria Math" panose="02040503050406030204" pitchFamily="18" charset="0"/>
                        <a:cs typeface="Times New Roman" panose="02020603050405020304" pitchFamily="18" charset="0"/>
                      </a:rPr>
                      <m:t>𝑆𝑜𝑓𝑡𝑚𝑎𝑥</m:t>
                    </m:r>
                    <m:d>
                      <m:dPr>
                        <m:ctrlPr>
                          <a:rPr lang="en-IN" sz="1600" i="1">
                            <a:latin typeface="Cambria Math" panose="02040503050406030204" pitchFamily="18" charset="0"/>
                            <a:cs typeface="Times New Roman" panose="02020603050405020304" pitchFamily="18" charset="0"/>
                          </a:rPr>
                        </m:ctrlPr>
                      </m:dPr>
                      <m:e>
                        <m:r>
                          <a:rPr lang="en-IN" sz="1600" i="1" smtClean="0">
                            <a:latin typeface="Cambria Math" panose="02040503050406030204" pitchFamily="18" charset="0"/>
                            <a:ea typeface="Cambria Math" panose="02040503050406030204" pitchFamily="18" charset="0"/>
                            <a:cs typeface="Times New Roman" panose="02020603050405020304" pitchFamily="18" charset="0"/>
                          </a:rPr>
                          <m:t>𝛼</m:t>
                        </m:r>
                      </m:e>
                    </m:d>
                  </m:oMath>
                </a14:m>
                <a:r>
                  <a:rPr lang="en-IN" sz="1600" dirty="0">
                    <a:latin typeface="Arial Narrow" panose="020B0606020202030204" pitchFamily="34" charset="0"/>
                    <a:cs typeface="Times New Roman" panose="02020603050405020304" pitchFamily="18" charset="0"/>
                  </a:rPr>
                  <a:t> </a:t>
                </a:r>
              </a:p>
              <a:p>
                <a:r>
                  <a:rPr lang="en-IN" sz="1600" dirty="0">
                    <a:latin typeface="Arial Narrow" panose="020B0606020202030204" pitchFamily="34" charset="0"/>
                    <a:cs typeface="Times New Roman" panose="02020603050405020304" pitchFamily="18" charset="0"/>
                  </a:rPr>
                  <a:t>Output:</a:t>
                </a:r>
                <a14:m>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𝑦</m:t>
                        </m:r>
                      </m:e>
                      <m:sub>
                        <m:r>
                          <a:rPr lang="en-IN" sz="1600" b="0" i="1" smtClean="0">
                            <a:latin typeface="Cambria Math" panose="02040503050406030204" pitchFamily="18" charset="0"/>
                          </a:rPr>
                          <m:t>𝑗</m:t>
                        </m:r>
                      </m:sub>
                    </m:sSub>
                    <m:r>
                      <a:rPr lang="en-IN" sz="1600" i="1">
                        <a:latin typeface="Cambria Math" panose="02040503050406030204" pitchFamily="18" charset="0"/>
                        <a:cs typeface="Times New Roman" panose="02020603050405020304" pitchFamily="18" charset="0"/>
                      </a:rPr>
                      <m:t>=</m:t>
                    </m:r>
                  </m:oMath>
                </a14:m>
                <a:r>
                  <a:rPr lang="en-IN" sz="1600" dirty="0">
                    <a:latin typeface="Arial Narrow" panose="020B0606020202030204" pitchFamily="34" charset="0"/>
                    <a:cs typeface="Times New Roman" panose="02020603050405020304" pitchFamily="18" charset="0"/>
                  </a:rPr>
                  <a:t> </a:t>
                </a:r>
                <a14:m>
                  <m:oMath xmlns:m="http://schemas.openxmlformats.org/officeDocument/2006/math">
                    <m:nary>
                      <m:naryPr>
                        <m:chr m:val="∑"/>
                        <m:limLoc m:val="subSup"/>
                        <m:supHide m:val="on"/>
                        <m:ctrlPr>
                          <a:rPr lang="en-IN" sz="1600" i="1" dirty="0" smtClean="0">
                            <a:latin typeface="Cambria Math" panose="02040503050406030204" pitchFamily="18" charset="0"/>
                            <a:cs typeface="Times New Roman" panose="02020603050405020304" pitchFamily="18" charset="0"/>
                          </a:rPr>
                        </m:ctrlPr>
                      </m:naryPr>
                      <m:sub>
                        <m:r>
                          <m:rPr>
                            <m:brk m:alnAt="9"/>
                          </m:rPr>
                          <a:rPr lang="en-IN" sz="1600" b="0" i="1" dirty="0" smtClean="0">
                            <a:latin typeface="Cambria Math" panose="02040503050406030204" pitchFamily="18" charset="0"/>
                            <a:cs typeface="Times New Roman" panose="02020603050405020304" pitchFamily="18" charset="0"/>
                          </a:rPr>
                          <m:t>𝑗</m:t>
                        </m:r>
                      </m:sub>
                      <m:sup/>
                      <m:e>
                        <m:sSub>
                          <m:sSubPr>
                            <m:ctrlPr>
                              <a:rPr lang="en-IN" sz="1600" i="1" dirty="0" smtClean="0">
                                <a:latin typeface="Cambria Math" panose="02040503050406030204" pitchFamily="18" charset="0"/>
                                <a:cs typeface="Times New Roman" panose="02020603050405020304" pitchFamily="18" charset="0"/>
                              </a:rPr>
                            </m:ctrlPr>
                          </m:sSubPr>
                          <m:e>
                            <m:r>
                              <a:rPr lang="en-IN" sz="1600" b="0" i="1" dirty="0" smtClean="0">
                                <a:latin typeface="Cambria Math" panose="02040503050406030204" pitchFamily="18" charset="0"/>
                                <a:cs typeface="Times New Roman" panose="02020603050405020304" pitchFamily="18" charset="0"/>
                              </a:rPr>
                              <m:t>𝑎</m:t>
                            </m:r>
                          </m:e>
                          <m:sub>
                            <m:r>
                              <a:rPr lang="en-IN" sz="1600" b="0" i="1" dirty="0" smtClean="0">
                                <a:latin typeface="Cambria Math" panose="02040503050406030204" pitchFamily="18" charset="0"/>
                                <a:cs typeface="Times New Roman" panose="02020603050405020304" pitchFamily="18" charset="0"/>
                              </a:rPr>
                              <m:t>𝑖𝑗</m:t>
                            </m:r>
                          </m:sub>
                        </m:sSub>
                        <m:sSub>
                          <m:sSubPr>
                            <m:ctrlPr>
                              <a:rPr lang="en-IN" sz="1600" i="1" dirty="0" smtClean="0">
                                <a:latin typeface="Cambria Math" panose="02040503050406030204" pitchFamily="18" charset="0"/>
                                <a:cs typeface="Times New Roman" panose="02020603050405020304" pitchFamily="18" charset="0"/>
                              </a:rPr>
                            </m:ctrlPr>
                          </m:sSubPr>
                          <m:e>
                            <m:r>
                              <a:rPr lang="en-IN" sz="1600" b="0" i="1" dirty="0" smtClean="0">
                                <a:latin typeface="Cambria Math" panose="02040503050406030204" pitchFamily="18" charset="0"/>
                                <a:cs typeface="Times New Roman" panose="02020603050405020304" pitchFamily="18" charset="0"/>
                              </a:rPr>
                              <m:t>𝑣</m:t>
                            </m:r>
                          </m:e>
                          <m:sub>
                            <m:r>
                              <a:rPr lang="en-IN" sz="1600" b="0" i="1" dirty="0" smtClean="0">
                                <a:latin typeface="Cambria Math" panose="02040503050406030204" pitchFamily="18" charset="0"/>
                                <a:cs typeface="Times New Roman" panose="02020603050405020304" pitchFamily="18" charset="0"/>
                              </a:rPr>
                              <m:t>𝑖</m:t>
                            </m:r>
                          </m:sub>
                        </m:sSub>
                      </m:e>
                    </m:nary>
                  </m:oMath>
                </a14:m>
                <a:endParaRPr lang="en-IN" sz="1600" dirty="0">
                  <a:latin typeface="Arial Narrow" panose="020B0606020202030204" pitchFamily="34" charset="0"/>
                  <a:cs typeface="Times New Roman" panose="02020603050405020304" pitchFamily="18" charset="0"/>
                </a:endParaRPr>
              </a:p>
            </p:txBody>
          </p:sp>
        </mc:Choice>
        <mc:Fallback xmlns="">
          <p:sp>
            <p:nvSpPr>
              <p:cNvPr id="62" name="TextBox 61">
                <a:extLst>
                  <a:ext uri="{FF2B5EF4-FFF2-40B4-BE49-F238E27FC236}">
                    <a16:creationId xmlns:a16="http://schemas.microsoft.com/office/drawing/2014/main" id="{086F0207-6EE0-4AC4-BD2F-4600D077A09E}"/>
                  </a:ext>
                </a:extLst>
              </p:cNvPr>
              <p:cNvSpPr txBox="1">
                <a:spLocks noRot="1" noChangeAspect="1" noMove="1" noResize="1" noEditPoints="1" noAdjustHandles="1" noChangeArrowheads="1" noChangeShapeType="1" noTextEdit="1"/>
              </p:cNvSpPr>
              <p:nvPr/>
            </p:nvSpPr>
            <p:spPr>
              <a:xfrm>
                <a:off x="3849046" y="2377685"/>
                <a:ext cx="5111275" cy="1153970"/>
              </a:xfrm>
              <a:prstGeom prst="rect">
                <a:avLst/>
              </a:prstGeom>
              <a:blipFill>
                <a:blip r:embed="rId2"/>
                <a:stretch>
                  <a:fillRect l="-596" t="-1058" b="-47619"/>
                </a:stretch>
              </a:blipFill>
            </p:spPr>
            <p:txBody>
              <a:bodyPr/>
              <a:lstStyle/>
              <a:p>
                <a:r>
                  <a:rPr lang="en-IN">
                    <a:noFill/>
                  </a:rPr>
                  <a:t> </a:t>
                </a:r>
              </a:p>
            </p:txBody>
          </p:sp>
        </mc:Fallback>
      </mc:AlternateContent>
      <p:sp>
        <p:nvSpPr>
          <p:cNvPr id="64" name="TextBox 63">
            <a:extLst>
              <a:ext uri="{FF2B5EF4-FFF2-40B4-BE49-F238E27FC236}">
                <a16:creationId xmlns:a16="http://schemas.microsoft.com/office/drawing/2014/main" id="{42041928-98FF-4E1F-8EF9-F54454ED2806}"/>
              </a:ext>
            </a:extLst>
          </p:cNvPr>
          <p:cNvSpPr txBox="1"/>
          <p:nvPr/>
        </p:nvSpPr>
        <p:spPr>
          <a:xfrm>
            <a:off x="277932" y="2446682"/>
            <a:ext cx="2824268" cy="830997"/>
          </a:xfrm>
          <a:prstGeom prst="rect">
            <a:avLst/>
          </a:prstGeom>
          <a:noFill/>
        </p:spPr>
        <p:txBody>
          <a:bodyPr wrap="square" rtlCol="0">
            <a:spAutoFit/>
          </a:bodyPr>
          <a:lstStyle/>
          <a:p>
            <a:r>
              <a:rPr lang="en-IN" sz="1600" dirty="0">
                <a:latin typeface="Arial Narrow" panose="020B0606020202030204" pitchFamily="34" charset="0"/>
                <a:cs typeface="Times New Roman" panose="02020603050405020304" pitchFamily="18" charset="0"/>
              </a:rPr>
              <a:t>Inputs:</a:t>
            </a:r>
          </a:p>
          <a:p>
            <a:r>
              <a:rPr lang="en-IN" sz="1600" dirty="0">
                <a:latin typeface="Arial Narrow" panose="020B0606020202030204" pitchFamily="34" charset="0"/>
                <a:cs typeface="Times New Roman" panose="02020603050405020304" pitchFamily="18" charset="0"/>
              </a:rPr>
              <a:t>Input Vector X (dimension : </a:t>
            </a:r>
            <a:r>
              <a:rPr lang="en-IN" sz="1600" dirty="0" err="1">
                <a:latin typeface="Arial Narrow" panose="020B0606020202030204" pitchFamily="34" charset="0"/>
                <a:cs typeface="Times New Roman" panose="02020603050405020304" pitchFamily="18" charset="0"/>
              </a:rPr>
              <a:t>NxD</a:t>
            </a:r>
            <a:r>
              <a:rPr lang="en-IN" sz="1600" dirty="0">
                <a:latin typeface="Arial Narrow" panose="020B0606020202030204" pitchFamily="34" charset="0"/>
                <a:cs typeface="Times New Roman" panose="02020603050405020304" pitchFamily="18" charset="0"/>
              </a:rPr>
              <a:t>)</a:t>
            </a:r>
          </a:p>
          <a:p>
            <a:r>
              <a:rPr lang="en-IN" sz="1600" dirty="0">
                <a:latin typeface="Arial Narrow" panose="020B0606020202030204" pitchFamily="34" charset="0"/>
                <a:cs typeface="Times New Roman" panose="02020603050405020304" pitchFamily="18" charset="0"/>
              </a:rPr>
              <a:t>Query Vector </a:t>
            </a:r>
            <a:r>
              <a:rPr lang="en-IN" sz="1600">
                <a:latin typeface="Arial Narrow" panose="020B0606020202030204" pitchFamily="34" charset="0"/>
                <a:cs typeface="Times New Roman" panose="02020603050405020304" pitchFamily="18" charset="0"/>
              </a:rPr>
              <a:t>q (dimension </a:t>
            </a:r>
            <a:r>
              <a:rPr lang="en-IN" sz="1600" dirty="0">
                <a:latin typeface="Arial Narrow" panose="020B0606020202030204" pitchFamily="34" charset="0"/>
                <a:cs typeface="Times New Roman" panose="02020603050405020304" pitchFamily="18" charset="0"/>
              </a:rPr>
              <a:t>: </a:t>
            </a:r>
            <a:r>
              <a:rPr lang="en-IN" sz="1600" dirty="0" err="1">
                <a:latin typeface="Arial Narrow" panose="020B0606020202030204" pitchFamily="34" charset="0"/>
                <a:cs typeface="Times New Roman" panose="02020603050405020304" pitchFamily="18" charset="0"/>
              </a:rPr>
              <a:t>MxD</a:t>
            </a:r>
            <a:r>
              <a:rPr lang="en-IN" sz="1600" baseline="-25000" dirty="0" err="1">
                <a:latin typeface="Arial Narrow" panose="020B0606020202030204" pitchFamily="34" charset="0"/>
                <a:cs typeface="Times New Roman" panose="02020603050405020304" pitchFamily="18" charset="0"/>
              </a:rPr>
              <a:t>k</a:t>
            </a:r>
            <a:r>
              <a:rPr lang="en-IN" sz="1600" dirty="0">
                <a:latin typeface="Arial Narrow" panose="020B0606020202030204" pitchFamily="34" charset="0"/>
                <a:cs typeface="Times New Roman" panose="02020603050405020304" pitchFamily="18" charset="0"/>
              </a:rPr>
              <a:t>)</a:t>
            </a:r>
          </a:p>
        </p:txBody>
      </p:sp>
      <p:sp>
        <p:nvSpPr>
          <p:cNvPr id="113" name="Rectangle 112">
            <a:extLst>
              <a:ext uri="{FF2B5EF4-FFF2-40B4-BE49-F238E27FC236}">
                <a16:creationId xmlns:a16="http://schemas.microsoft.com/office/drawing/2014/main" id="{7CFAC49A-1C88-4DD7-9DB7-274196E3E572}"/>
              </a:ext>
            </a:extLst>
          </p:cNvPr>
          <p:cNvSpPr/>
          <p:nvPr/>
        </p:nvSpPr>
        <p:spPr>
          <a:xfrm>
            <a:off x="2318783" y="2982076"/>
            <a:ext cx="618757" cy="295603"/>
          </a:xfrm>
          <a:prstGeom prst="rect">
            <a:avLst/>
          </a:prstGeom>
          <a:solidFill>
            <a:schemeClr val="accent1">
              <a:lumMod val="40000"/>
              <a:lumOff val="60000"/>
              <a:alpha val="2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14" name="Rectangle 113">
            <a:extLst>
              <a:ext uri="{FF2B5EF4-FFF2-40B4-BE49-F238E27FC236}">
                <a16:creationId xmlns:a16="http://schemas.microsoft.com/office/drawing/2014/main" id="{9B4DC93C-919B-455B-BD0E-0F01490513CB}"/>
              </a:ext>
            </a:extLst>
          </p:cNvPr>
          <p:cNvSpPr/>
          <p:nvPr/>
        </p:nvSpPr>
        <p:spPr>
          <a:xfrm>
            <a:off x="9717742" y="5462940"/>
            <a:ext cx="1149332" cy="286509"/>
          </a:xfrm>
          <a:prstGeom prst="rect">
            <a:avLst/>
          </a:prstGeom>
          <a:solidFill>
            <a:schemeClr val="accent1">
              <a:lumMod val="40000"/>
              <a:lumOff val="60000"/>
              <a:alpha val="2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080D874E-B4D7-4F27-B53E-78092759AA11}"/>
                  </a:ext>
                </a:extLst>
              </p:cNvPr>
              <p:cNvSpPr/>
              <p:nvPr/>
            </p:nvSpPr>
            <p:spPr>
              <a:xfrm>
                <a:off x="4896313" y="1193461"/>
                <a:ext cx="3289444" cy="951671"/>
              </a:xfrm>
              <a:prstGeom prst="rect">
                <a:avLst/>
              </a:prstGeom>
              <a:solidFill>
                <a:schemeClr val="accent6">
                  <a:lumMod val="40000"/>
                  <a:lumOff val="60000"/>
                  <a:alpha val="52000"/>
                </a:schemeClr>
              </a:solidFill>
            </p:spPr>
            <p:txBody>
              <a:bodyPr wrap="square">
                <a:spAutoFit/>
              </a:bodyPr>
              <a:lstStyle/>
              <a:p>
                <a:r>
                  <a:rPr lang="en-US" dirty="0">
                    <a:latin typeface="Arial Narrow" panose="020B0606020202030204" pitchFamily="34" charset="0"/>
                    <a:cs typeface="Times New Roman" panose="02020603050405020304" pitchFamily="18" charset="0"/>
                  </a:rPr>
                  <a:t>Recall that the query vector was a</a:t>
                </a:r>
              </a:p>
              <a:p>
                <a:r>
                  <a:rPr lang="en-US" dirty="0">
                    <a:latin typeface="Arial Narrow" panose="020B0606020202030204" pitchFamily="34" charset="0"/>
                    <a:cs typeface="Times New Roman" panose="02020603050405020304" pitchFamily="18" charset="0"/>
                  </a:rPr>
                  <a:t>function of the input vectors</a:t>
                </a:r>
              </a:p>
              <a:p>
                <a:r>
                  <a:rPr lang="en-IN" dirty="0">
                    <a:latin typeface="Arial Narrow" panose="020B0606020202030204" pitchFamily="34" charset="0"/>
                    <a:cs typeface="Times New Roman" panose="02020603050405020304" pitchFamily="18" charset="0"/>
                  </a:rPr>
                  <a:t>Encoder: </a:t>
                </a:r>
                <a14:m>
                  <m:oMath xmlns:m="http://schemas.openxmlformats.org/officeDocument/2006/math">
                    <m:sSub>
                      <m:sSubPr>
                        <m:ctrlPr>
                          <a:rPr lang="en-IN" i="1" smtClean="0">
                            <a:latin typeface="Cambria Math" panose="02040503050406030204" pitchFamily="18" charset="0"/>
                            <a:cs typeface="Times New Roman" panose="02020603050405020304" pitchFamily="18" charset="0"/>
                          </a:rPr>
                        </m:ctrlPr>
                      </m:sSubPr>
                      <m:e>
                        <m:r>
                          <a:rPr lang="en-IN" b="0" i="1" smtClean="0">
                            <a:latin typeface="Cambria Math" panose="02040503050406030204" pitchFamily="18" charset="0"/>
                            <a:cs typeface="Times New Roman" panose="02020603050405020304" pitchFamily="18" charset="0"/>
                          </a:rPr>
                          <m:t>h</m:t>
                        </m:r>
                      </m:e>
                      <m:sub>
                        <m:r>
                          <a:rPr lang="en-IN" b="0" i="1" smtClean="0">
                            <a:latin typeface="Cambria Math" panose="02040503050406030204" pitchFamily="18" charset="0"/>
                            <a:cs typeface="Times New Roman" panose="02020603050405020304" pitchFamily="18" charset="0"/>
                          </a:rPr>
                          <m:t>𝑖</m:t>
                        </m:r>
                      </m:sub>
                    </m:sSub>
                    <m:r>
                      <a:rPr lang="en-IN" b="0" i="1" smtClean="0">
                        <a:latin typeface="Cambria Math" panose="02040503050406030204" pitchFamily="18" charset="0"/>
                        <a:cs typeface="Times New Roman" panose="02020603050405020304" pitchFamily="18" charset="0"/>
                      </a:rPr>
                      <m:t>=</m:t>
                    </m:r>
                    <m:sSubSup>
                      <m:sSubSupPr>
                        <m:ctrlPr>
                          <a:rPr lang="en-IN" b="0" i="1" smtClean="0">
                            <a:latin typeface="Cambria Math" panose="02040503050406030204" pitchFamily="18" charset="0"/>
                            <a:cs typeface="Times New Roman" panose="02020603050405020304" pitchFamily="18" charset="0"/>
                          </a:rPr>
                        </m:ctrlPr>
                      </m:sSubSupPr>
                      <m:e>
                        <m:r>
                          <a:rPr lang="en-IN" b="0" i="1" smtClean="0">
                            <a:latin typeface="Cambria Math" panose="02040503050406030204" pitchFamily="18" charset="0"/>
                            <a:cs typeface="Times New Roman" panose="02020603050405020304" pitchFamily="18" charset="0"/>
                          </a:rPr>
                          <m:t>𝑓</m:t>
                        </m:r>
                      </m:e>
                      <m:sub>
                        <m:r>
                          <a:rPr lang="en-IN" b="0" i="1" smtClean="0">
                            <a:latin typeface="Cambria Math" panose="02040503050406030204" pitchFamily="18" charset="0"/>
                            <a:cs typeface="Times New Roman" panose="02020603050405020304" pitchFamily="18" charset="0"/>
                          </a:rPr>
                          <m:t>𝑅𝑁𝑁</m:t>
                        </m:r>
                      </m:sub>
                      <m:sup>
                        <m:r>
                          <a:rPr lang="en-IN" b="0" i="1" smtClean="0">
                            <a:latin typeface="Cambria Math" panose="02040503050406030204" pitchFamily="18" charset="0"/>
                            <a:cs typeface="Times New Roman" panose="02020603050405020304" pitchFamily="18" charset="0"/>
                          </a:rPr>
                          <m:t>𝑖</m:t>
                        </m:r>
                      </m:sup>
                    </m:sSubSup>
                    <m:r>
                      <a:rPr lang="en-IN" b="0" i="1" smtClean="0">
                        <a:latin typeface="Cambria Math" panose="02040503050406030204" pitchFamily="18" charset="0"/>
                        <a:cs typeface="Times New Roman" panose="02020603050405020304" pitchFamily="18" charset="0"/>
                      </a:rPr>
                      <m:t> (</m:t>
                    </m:r>
                    <m:sSub>
                      <m:sSubPr>
                        <m:ctrlPr>
                          <a:rPr lang="en-IN" b="0" i="1" smtClean="0">
                            <a:latin typeface="Cambria Math" panose="02040503050406030204" pitchFamily="18" charset="0"/>
                            <a:cs typeface="Times New Roman" panose="02020603050405020304" pitchFamily="18" charset="0"/>
                          </a:rPr>
                        </m:ctrlPr>
                      </m:sSubPr>
                      <m:e>
                        <m:r>
                          <a:rPr lang="en-IN" b="0" i="1" smtClean="0">
                            <a:latin typeface="Cambria Math" panose="02040503050406030204" pitchFamily="18" charset="0"/>
                            <a:cs typeface="Times New Roman" panose="02020603050405020304" pitchFamily="18" charset="0"/>
                          </a:rPr>
                          <m:t>𝑥</m:t>
                        </m:r>
                      </m:e>
                      <m:sub>
                        <m:r>
                          <a:rPr lang="en-IN" b="0" i="1" smtClean="0">
                            <a:latin typeface="Cambria Math" panose="02040503050406030204" pitchFamily="18" charset="0"/>
                            <a:cs typeface="Times New Roman" panose="02020603050405020304" pitchFamily="18" charset="0"/>
                          </a:rPr>
                          <m:t>𝑖</m:t>
                        </m:r>
                      </m:sub>
                    </m:sSub>
                    <m:r>
                      <a:rPr lang="en-IN" b="0" i="1" smtClean="0">
                        <a:latin typeface="Cambria Math" panose="02040503050406030204" pitchFamily="18" charset="0"/>
                        <a:cs typeface="Times New Roman" panose="02020603050405020304" pitchFamily="18" charset="0"/>
                      </a:rPr>
                      <m:t>,</m:t>
                    </m:r>
                    <m:sSub>
                      <m:sSubPr>
                        <m:ctrlPr>
                          <a:rPr lang="en-IN" b="0" i="1" smtClean="0">
                            <a:latin typeface="Cambria Math" panose="02040503050406030204" pitchFamily="18" charset="0"/>
                            <a:cs typeface="Times New Roman" panose="02020603050405020304" pitchFamily="18" charset="0"/>
                          </a:rPr>
                        </m:ctrlPr>
                      </m:sSubPr>
                      <m:e>
                        <m:r>
                          <a:rPr lang="en-IN" b="0" i="1" smtClean="0">
                            <a:latin typeface="Cambria Math" panose="02040503050406030204" pitchFamily="18" charset="0"/>
                            <a:cs typeface="Times New Roman" panose="02020603050405020304" pitchFamily="18" charset="0"/>
                          </a:rPr>
                          <m:t>h</m:t>
                        </m:r>
                      </m:e>
                      <m:sub>
                        <m:r>
                          <a:rPr lang="en-IN" b="0" i="1" smtClean="0">
                            <a:latin typeface="Cambria Math" panose="02040503050406030204" pitchFamily="18" charset="0"/>
                            <a:cs typeface="Times New Roman" panose="02020603050405020304" pitchFamily="18" charset="0"/>
                          </a:rPr>
                          <m:t>𝑖</m:t>
                        </m:r>
                        <m:r>
                          <a:rPr lang="en-IN" b="0" i="1" smtClean="0">
                            <a:latin typeface="Cambria Math" panose="02040503050406030204" pitchFamily="18" charset="0"/>
                            <a:cs typeface="Times New Roman" panose="02020603050405020304" pitchFamily="18" charset="0"/>
                          </a:rPr>
                          <m:t>−1</m:t>
                        </m:r>
                      </m:sub>
                    </m:sSub>
                    <m:r>
                      <a:rPr lang="en-IN" b="0" i="1" smtClean="0">
                        <a:latin typeface="Cambria Math" panose="02040503050406030204" pitchFamily="18" charset="0"/>
                        <a:cs typeface="Times New Roman" panose="02020603050405020304" pitchFamily="18" charset="0"/>
                      </a:rPr>
                      <m:t>)</m:t>
                    </m:r>
                  </m:oMath>
                </a14:m>
                <a:endParaRPr lang="en-IN" dirty="0">
                  <a:latin typeface="Arial Narrow" panose="020B0606020202030204" pitchFamily="34" charset="0"/>
                  <a:cs typeface="Times New Roman" panose="02020603050405020304" pitchFamily="18" charset="0"/>
                </a:endParaRPr>
              </a:p>
            </p:txBody>
          </p:sp>
        </mc:Choice>
        <mc:Fallback xmlns="">
          <p:sp>
            <p:nvSpPr>
              <p:cNvPr id="2" name="Rectangle 1">
                <a:extLst>
                  <a:ext uri="{FF2B5EF4-FFF2-40B4-BE49-F238E27FC236}">
                    <a16:creationId xmlns:a16="http://schemas.microsoft.com/office/drawing/2014/main" id="{080D874E-B4D7-4F27-B53E-78092759AA11}"/>
                  </a:ext>
                </a:extLst>
              </p:cNvPr>
              <p:cNvSpPr>
                <a:spLocks noRot="1" noChangeAspect="1" noMove="1" noResize="1" noEditPoints="1" noAdjustHandles="1" noChangeArrowheads="1" noChangeShapeType="1" noTextEdit="1"/>
              </p:cNvSpPr>
              <p:nvPr/>
            </p:nvSpPr>
            <p:spPr>
              <a:xfrm>
                <a:off x="4896313" y="1193461"/>
                <a:ext cx="3289444" cy="951671"/>
              </a:xfrm>
              <a:prstGeom prst="rect">
                <a:avLst/>
              </a:prstGeom>
              <a:blipFill>
                <a:blip r:embed="rId3"/>
                <a:stretch>
                  <a:fillRect l="-1481" t="-3205" b="-8333"/>
                </a:stretch>
              </a:blipFill>
            </p:spPr>
            <p:txBody>
              <a:bodyPr/>
              <a:lstStyle/>
              <a:p>
                <a:r>
                  <a:rPr lang="en-IN">
                    <a:noFill/>
                  </a:rPr>
                  <a:t> </a:t>
                </a:r>
              </a:p>
            </p:txBody>
          </p:sp>
        </mc:Fallback>
      </mc:AlternateContent>
      <p:sp>
        <p:nvSpPr>
          <p:cNvPr id="116" name="Title 3">
            <a:extLst>
              <a:ext uri="{FF2B5EF4-FFF2-40B4-BE49-F238E27FC236}">
                <a16:creationId xmlns:a16="http://schemas.microsoft.com/office/drawing/2014/main" id="{F28FCD7B-C192-43CE-B0DB-5FAB60C2282F}"/>
              </a:ext>
            </a:extLst>
          </p:cNvPr>
          <p:cNvSpPr>
            <a:spLocks noGrp="1"/>
          </p:cNvSpPr>
          <p:nvPr>
            <p:ph type="title"/>
          </p:nvPr>
        </p:nvSpPr>
        <p:spPr>
          <a:xfrm>
            <a:off x="368118" y="224040"/>
            <a:ext cx="10515600" cy="859910"/>
          </a:xfrm>
        </p:spPr>
        <p:txBody>
          <a:bodyPr>
            <a:normAutofit/>
          </a:bodyPr>
          <a:lstStyle/>
          <a:p>
            <a:r>
              <a:rPr lang="en-IN" sz="3200" dirty="0">
                <a:latin typeface="Century" panose="02040604050505020304" pitchFamily="18" charset="0"/>
              </a:rPr>
              <a:t>Attention Layer</a:t>
            </a:r>
          </a:p>
        </p:txBody>
      </p:sp>
      <p:sp>
        <p:nvSpPr>
          <p:cNvPr id="97" name="TextBox 96">
            <a:extLst>
              <a:ext uri="{FF2B5EF4-FFF2-40B4-BE49-F238E27FC236}">
                <a16:creationId xmlns:a16="http://schemas.microsoft.com/office/drawing/2014/main" id="{1292807E-094E-4BBA-B62D-FB0E1BE2E388}"/>
              </a:ext>
            </a:extLst>
          </p:cNvPr>
          <p:cNvSpPr txBox="1"/>
          <p:nvPr/>
        </p:nvSpPr>
        <p:spPr>
          <a:xfrm>
            <a:off x="7198787" y="6366685"/>
            <a:ext cx="5212288" cy="307777"/>
          </a:xfrm>
          <a:prstGeom prst="rect">
            <a:avLst/>
          </a:prstGeom>
          <a:noFill/>
        </p:spPr>
        <p:txBody>
          <a:bodyPr wrap="square" rtlCol="0">
            <a:spAutoFit/>
          </a:bodyPr>
          <a:lstStyle/>
          <a:p>
            <a:r>
              <a:rPr lang="en-IN" sz="1400" dirty="0">
                <a:latin typeface="Arial Narrow" panose="020B0606020202030204" pitchFamily="34" charset="0"/>
                <a:cs typeface="Times New Roman" panose="02020603050405020304" pitchFamily="18" charset="0"/>
              </a:rPr>
              <a:t>Concept: Fei-Fei Li Attention and Transformers CS231n Stanford Lecture</a:t>
            </a:r>
          </a:p>
        </p:txBody>
      </p:sp>
      <p:grpSp>
        <p:nvGrpSpPr>
          <p:cNvPr id="184" name="Group 183"/>
          <p:cNvGrpSpPr/>
          <p:nvPr/>
        </p:nvGrpSpPr>
        <p:grpSpPr>
          <a:xfrm>
            <a:off x="1191509" y="3254013"/>
            <a:ext cx="8680135" cy="3374282"/>
            <a:chOff x="1130615" y="2552800"/>
            <a:chExt cx="8680135" cy="3374282"/>
          </a:xfrm>
        </p:grpSpPr>
        <mc:AlternateContent xmlns:mc="http://schemas.openxmlformats.org/markup-compatibility/2006" xmlns:a14="http://schemas.microsoft.com/office/drawing/2010/main">
          <mc:Choice Requires="a14">
            <p:sp>
              <p:nvSpPr>
                <p:cNvPr id="185" name="TextBox 184">
                  <a:extLst>
                    <a:ext uri="{FF2B5EF4-FFF2-40B4-BE49-F238E27FC236}">
                      <a16:creationId xmlns:a16="http://schemas.microsoft.com/office/drawing/2014/main" id="{AD6D90FF-8B08-44E6-ADD1-B975BDF15677}"/>
                    </a:ext>
                  </a:extLst>
                </p:cNvPr>
                <p:cNvSpPr txBox="1"/>
                <p:nvPr/>
              </p:nvSpPr>
              <p:spPr>
                <a:xfrm rot="10800000" flipV="1">
                  <a:off x="3342178" y="3885966"/>
                  <a:ext cx="495646" cy="468588"/>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a:latin typeface="Cambria Math" panose="02040503050406030204" pitchFamily="18" charset="0"/>
                              </a:rPr>
                            </m:ctrlPr>
                          </m:sSubPr>
                          <m:e>
                            <m:r>
                              <a:rPr lang="en-IN" sz="1500">
                                <a:latin typeface="Cambria Math" panose="02040503050406030204" pitchFamily="18" charset="0"/>
                              </a:rPr>
                              <m:t>𝛼</m:t>
                            </m:r>
                          </m:e>
                          <m:sub>
                            <m:r>
                              <a:rPr lang="en-IN" sz="1500">
                                <a:latin typeface="Cambria Math" panose="02040503050406030204" pitchFamily="18" charset="0"/>
                              </a:rPr>
                              <m:t>1,1</m:t>
                            </m:r>
                          </m:sub>
                        </m:sSub>
                      </m:oMath>
                    </m:oMathPara>
                  </a14:m>
                  <a:endParaRPr lang="en-IN" sz="1500" dirty="0">
                    <a:latin typeface="Arial Narrow" panose="020B0606020202030204" pitchFamily="34" charset="0"/>
                  </a:endParaRPr>
                </a:p>
              </p:txBody>
            </p:sp>
          </mc:Choice>
          <mc:Fallback xmlns="">
            <p:sp>
              <p:nvSpPr>
                <p:cNvPr id="185" name="TextBox 184">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3342178" y="3885966"/>
                  <a:ext cx="495646" cy="468588"/>
                </a:xfrm>
                <a:prstGeom prst="ellipse">
                  <a:avLst/>
                </a:prstGeom>
                <a:blipFill>
                  <a:blip r:embed="rId5"/>
                  <a:stretch>
                    <a:fillRect r="-1190"/>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6" name="TextBox 185">
                  <a:extLst>
                    <a:ext uri="{FF2B5EF4-FFF2-40B4-BE49-F238E27FC236}">
                      <a16:creationId xmlns:a16="http://schemas.microsoft.com/office/drawing/2014/main" id="{36F03E2E-8229-4DFD-869B-C4F6CF96084E}"/>
                    </a:ext>
                  </a:extLst>
                </p:cNvPr>
                <p:cNvSpPr txBox="1"/>
                <p:nvPr/>
              </p:nvSpPr>
              <p:spPr>
                <a:xfrm rot="10800000" flipV="1">
                  <a:off x="2795900" y="3885967"/>
                  <a:ext cx="495646" cy="468588"/>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a:latin typeface="Cambria Math" panose="02040503050406030204" pitchFamily="18" charset="0"/>
                              </a:rPr>
                            </m:ctrlPr>
                          </m:sSubPr>
                          <m:e>
                            <m:r>
                              <a:rPr lang="en-IN" sz="1500">
                                <a:latin typeface="Cambria Math" panose="02040503050406030204" pitchFamily="18" charset="0"/>
                              </a:rPr>
                              <m:t>𝛼</m:t>
                            </m:r>
                          </m:e>
                          <m:sub>
                            <m:r>
                              <a:rPr lang="en-IN" sz="1500">
                                <a:latin typeface="Cambria Math" panose="02040503050406030204" pitchFamily="18" charset="0"/>
                              </a:rPr>
                              <m:t>2,1</m:t>
                            </m:r>
                          </m:sub>
                        </m:sSub>
                      </m:oMath>
                    </m:oMathPara>
                  </a14:m>
                  <a:endParaRPr lang="en-IN" sz="1500" dirty="0">
                    <a:latin typeface="Arial Narrow" panose="020B0606020202030204" pitchFamily="34" charset="0"/>
                  </a:endParaRPr>
                </a:p>
              </p:txBody>
            </p:sp>
          </mc:Choice>
          <mc:Fallback xmlns="">
            <p:sp>
              <p:nvSpPr>
                <p:cNvPr id="186" name="TextBox 185">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2795900" y="3885967"/>
                  <a:ext cx="495646" cy="468588"/>
                </a:xfrm>
                <a:prstGeom prst="ellipse">
                  <a:avLst/>
                </a:prstGeom>
                <a:blipFill>
                  <a:blip r:embed="rId6"/>
                  <a:stretch>
                    <a:fillRect r="-2410"/>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7" name="TextBox 186">
                  <a:extLst>
                    <a:ext uri="{FF2B5EF4-FFF2-40B4-BE49-F238E27FC236}">
                      <a16:creationId xmlns:a16="http://schemas.microsoft.com/office/drawing/2014/main" id="{DF1D3D16-4F7D-4FD0-95EB-E2360401B577}"/>
                    </a:ext>
                  </a:extLst>
                </p:cNvPr>
                <p:cNvSpPr txBox="1"/>
                <p:nvPr/>
              </p:nvSpPr>
              <p:spPr>
                <a:xfrm rot="10800000" flipV="1">
                  <a:off x="2254916" y="3885426"/>
                  <a:ext cx="495646" cy="454432"/>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n-IN" sz="1500" b="0" i="1" smtClean="0">
                                <a:latin typeface="Cambria Math" panose="02040503050406030204" pitchFamily="18" charset="0"/>
                              </a:rPr>
                              <m:t>31</m:t>
                            </m:r>
                          </m:sub>
                        </m:sSub>
                      </m:oMath>
                    </m:oMathPara>
                  </a14:m>
                  <a:endParaRPr lang="en-IN" sz="1500" dirty="0">
                    <a:latin typeface="Arial Narrow" panose="020B0606020202030204" pitchFamily="34" charset="0"/>
                  </a:endParaRPr>
                </a:p>
              </p:txBody>
            </p:sp>
          </mc:Choice>
          <mc:Fallback xmlns="">
            <p:sp>
              <p:nvSpPr>
                <p:cNvPr id="187" name="TextBox 186">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2254916" y="3885426"/>
                  <a:ext cx="495646" cy="454432"/>
                </a:xfrm>
                <a:prstGeom prst="ellipse">
                  <a:avLst/>
                </a:prstGeom>
                <a:blipFill>
                  <a:blip r:embed="rId7"/>
                  <a:stretch>
                    <a:fillRect/>
                  </a:stretch>
                </a:blipFill>
                <a:ln w="12700">
                  <a:solidFill>
                    <a:schemeClr val="tx1"/>
                  </a:solidFill>
                </a:ln>
              </p:spPr>
              <p:txBody>
                <a:bodyPr/>
                <a:lstStyle/>
                <a:p>
                  <a:r>
                    <a:rPr lang="en-IN">
                      <a:noFill/>
                    </a:rPr>
                    <a:t> </a:t>
                  </a:r>
                </a:p>
              </p:txBody>
            </p:sp>
          </mc:Fallback>
        </mc:AlternateContent>
        <p:cxnSp>
          <p:nvCxnSpPr>
            <p:cNvPr id="188" name="Straight Arrow Connector 187">
              <a:extLst>
                <a:ext uri="{FF2B5EF4-FFF2-40B4-BE49-F238E27FC236}">
                  <a16:creationId xmlns:a16="http://schemas.microsoft.com/office/drawing/2014/main" id="{A263021F-7328-4211-909D-49F49CA28D98}"/>
                </a:ext>
              </a:extLst>
            </p:cNvPr>
            <p:cNvCxnSpPr>
              <a:stCxn id="232" idx="0"/>
              <a:endCxn id="185" idx="4"/>
            </p:cNvCxnSpPr>
            <p:nvPr/>
          </p:nvCxnSpPr>
          <p:spPr>
            <a:xfrm flipV="1">
              <a:off x="3587584" y="4354554"/>
              <a:ext cx="2417" cy="118717"/>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48E3A579-0DB9-42B0-BAF2-784E8D2CED22}"/>
                </a:ext>
              </a:extLst>
            </p:cNvPr>
            <p:cNvCxnSpPr>
              <a:cxnSpLocks/>
              <a:stCxn id="233" idx="0"/>
              <a:endCxn id="186" idx="4"/>
            </p:cNvCxnSpPr>
            <p:nvPr/>
          </p:nvCxnSpPr>
          <p:spPr>
            <a:xfrm flipV="1">
              <a:off x="3041306" y="4354555"/>
              <a:ext cx="2417" cy="118717"/>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90" name="Straight Arrow Connector 189">
              <a:extLst>
                <a:ext uri="{FF2B5EF4-FFF2-40B4-BE49-F238E27FC236}">
                  <a16:creationId xmlns:a16="http://schemas.microsoft.com/office/drawing/2014/main" id="{C1137974-CC6B-47D3-81CF-6AC92B143B47}"/>
                </a:ext>
              </a:extLst>
            </p:cNvPr>
            <p:cNvCxnSpPr>
              <a:cxnSpLocks/>
              <a:stCxn id="234" idx="0"/>
              <a:endCxn id="187" idx="4"/>
            </p:cNvCxnSpPr>
            <p:nvPr/>
          </p:nvCxnSpPr>
          <p:spPr>
            <a:xfrm flipV="1">
              <a:off x="2500321" y="4339858"/>
              <a:ext cx="2418" cy="133415"/>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a:extLst>
                <a:ext uri="{FF2B5EF4-FFF2-40B4-BE49-F238E27FC236}">
                  <a16:creationId xmlns:a16="http://schemas.microsoft.com/office/drawing/2014/main" id="{47F04F6C-A5DE-48AC-A93E-885D326C2D52}"/>
                </a:ext>
              </a:extLst>
            </p:cNvPr>
            <p:cNvCxnSpPr>
              <a:cxnSpLocks/>
              <a:stCxn id="199" idx="2"/>
            </p:cNvCxnSpPr>
            <p:nvPr/>
          </p:nvCxnSpPr>
          <p:spPr>
            <a:xfrm>
              <a:off x="7388133" y="4112641"/>
              <a:ext cx="613222" cy="1535"/>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92" name="Straight Arrow Connector 191">
              <a:extLst>
                <a:ext uri="{FF2B5EF4-FFF2-40B4-BE49-F238E27FC236}">
                  <a16:creationId xmlns:a16="http://schemas.microsoft.com/office/drawing/2014/main" id="{93CE584A-6224-4185-BA7F-7DBE679AAC01}"/>
                </a:ext>
              </a:extLst>
            </p:cNvPr>
            <p:cNvCxnSpPr>
              <a:cxnSpLocks/>
              <a:stCxn id="185" idx="2"/>
            </p:cNvCxnSpPr>
            <p:nvPr/>
          </p:nvCxnSpPr>
          <p:spPr>
            <a:xfrm flipV="1">
              <a:off x="3837824" y="4116970"/>
              <a:ext cx="578914" cy="3290"/>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CB478EDF-F147-4A46-ACD7-767B4A547BF2}"/>
                    </a:ext>
                  </a:extLst>
                </p:cNvPr>
                <p:cNvSpPr txBox="1"/>
                <p:nvPr/>
              </p:nvSpPr>
              <p:spPr>
                <a:xfrm rot="10800000" flipV="1">
                  <a:off x="1272735" y="3885424"/>
                  <a:ext cx="499716" cy="454432"/>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a:latin typeface="Cambria Math" panose="02040503050406030204" pitchFamily="18" charset="0"/>
                              </a:rPr>
                            </m:ctrlPr>
                          </m:sSubPr>
                          <m:e>
                            <m:r>
                              <a:rPr lang="en-IN" sz="1500" i="1">
                                <a:latin typeface="Cambria Math" panose="02040503050406030204" pitchFamily="18" charset="0"/>
                              </a:rPr>
                              <m:t>𝑞</m:t>
                            </m:r>
                          </m:e>
                          <m:sub>
                            <m:r>
                              <a:rPr lang="en-IN" sz="1500" i="1">
                                <a:latin typeface="Cambria Math" panose="02040503050406030204" pitchFamily="18" charset="0"/>
                              </a:rPr>
                              <m:t>1</m:t>
                            </m:r>
                          </m:sub>
                        </m:sSub>
                      </m:oMath>
                    </m:oMathPara>
                  </a14:m>
                  <a:endParaRPr lang="en-IN" sz="1500" dirty="0">
                    <a:latin typeface="Arial Narrow" panose="020B0606020202030204" pitchFamily="34" charset="0"/>
                  </a:endParaRPr>
                </a:p>
              </p:txBody>
            </p:sp>
          </mc:Choice>
          <mc:Fallback xmlns="">
            <p:sp>
              <p:nvSpPr>
                <p:cNvPr id="193" name="TextBox 192">
                  <a:extLst>
                    <a:ext uri="{FF2B5EF4-FFF2-40B4-BE49-F238E27FC236}">
                      <a16:creationId xmlns:a16="http://schemas.microsoft.com/office/drawing/2014/main" id="{CB478EDF-F147-4A46-ACD7-767B4A547BF2}"/>
                    </a:ext>
                  </a:extLst>
                </p:cNvPr>
                <p:cNvSpPr txBox="1">
                  <a:spLocks noRot="1" noChangeAspect="1" noMove="1" noResize="1" noEditPoints="1" noAdjustHandles="1" noChangeArrowheads="1" noChangeShapeType="1" noTextEdit="1"/>
                </p:cNvSpPr>
                <p:nvPr/>
              </p:nvSpPr>
              <p:spPr>
                <a:xfrm rot="10800000" flipV="1">
                  <a:off x="1272735" y="3885424"/>
                  <a:ext cx="499716" cy="454432"/>
                </a:xfrm>
                <a:prstGeom prst="ellipse">
                  <a:avLst/>
                </a:prstGeom>
                <a:blipFill>
                  <a:blip r:embed="rId8"/>
                  <a:stretch>
                    <a:fillRect/>
                  </a:stretch>
                </a:blipFill>
                <a:ln w="12700">
                  <a:solidFill>
                    <a:schemeClr val="tx1"/>
                  </a:solidFill>
                </a:ln>
              </p:spPr>
              <p:txBody>
                <a:bodyPr/>
                <a:lstStyle/>
                <a:p>
                  <a:r>
                    <a:rPr lang="en-IN">
                      <a:noFill/>
                    </a:rPr>
                    <a:t> </a:t>
                  </a:r>
                </a:p>
              </p:txBody>
            </p:sp>
          </mc:Fallback>
        </mc:AlternateContent>
        <p:cxnSp>
          <p:nvCxnSpPr>
            <p:cNvPr id="194" name="Straight Arrow Connector 193">
              <a:extLst>
                <a:ext uri="{FF2B5EF4-FFF2-40B4-BE49-F238E27FC236}">
                  <a16:creationId xmlns:a16="http://schemas.microsoft.com/office/drawing/2014/main" id="{20C9C6AC-19F5-4564-9E13-1B8D0A63390D}"/>
                </a:ext>
              </a:extLst>
            </p:cNvPr>
            <p:cNvCxnSpPr>
              <a:stCxn id="193" idx="2"/>
              <a:endCxn id="187" idx="6"/>
            </p:cNvCxnSpPr>
            <p:nvPr/>
          </p:nvCxnSpPr>
          <p:spPr>
            <a:xfrm>
              <a:off x="1772451" y="4112640"/>
              <a:ext cx="482465" cy="2"/>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95" name="Straight Arrow Connector 194">
              <a:extLst>
                <a:ext uri="{FF2B5EF4-FFF2-40B4-BE49-F238E27FC236}">
                  <a16:creationId xmlns:a16="http://schemas.microsoft.com/office/drawing/2014/main" id="{19A753A8-AD35-4022-B3B3-F8FBEA03A328}"/>
                </a:ext>
              </a:extLst>
            </p:cNvPr>
            <p:cNvCxnSpPr>
              <a:endCxn id="196" idx="6"/>
            </p:cNvCxnSpPr>
            <p:nvPr/>
          </p:nvCxnSpPr>
          <p:spPr>
            <a:xfrm flipV="1">
              <a:off x="8905811" y="4112641"/>
              <a:ext cx="409293" cy="1536"/>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6" name="TextBox 195">
                  <a:extLst>
                    <a:ext uri="{FF2B5EF4-FFF2-40B4-BE49-F238E27FC236}">
                      <a16:creationId xmlns:a16="http://schemas.microsoft.com/office/drawing/2014/main" id="{6803D624-9F2D-4CB6-A000-91DDACFD0A2B}"/>
                    </a:ext>
                  </a:extLst>
                </p:cNvPr>
                <p:cNvSpPr txBox="1"/>
                <p:nvPr/>
              </p:nvSpPr>
              <p:spPr>
                <a:xfrm rot="10800000" flipV="1">
                  <a:off x="9315104" y="3885425"/>
                  <a:ext cx="495646" cy="454432"/>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a:latin typeface="Cambria Math" panose="02040503050406030204" pitchFamily="18" charset="0"/>
                              </a:rPr>
                            </m:ctrlPr>
                          </m:sSubPr>
                          <m:e>
                            <m:r>
                              <a:rPr lang="en-IN" sz="1500" i="1">
                                <a:latin typeface="Cambria Math" panose="02040503050406030204" pitchFamily="18" charset="0"/>
                              </a:rPr>
                              <m:t>𝑦</m:t>
                            </m:r>
                          </m:e>
                          <m:sub>
                            <m:r>
                              <a:rPr lang="en-IN" sz="1500" i="1">
                                <a:latin typeface="Cambria Math" panose="02040503050406030204" pitchFamily="18" charset="0"/>
                              </a:rPr>
                              <m:t>1</m:t>
                            </m:r>
                          </m:sub>
                        </m:sSub>
                      </m:oMath>
                    </m:oMathPara>
                  </a14:m>
                  <a:endParaRPr lang="en-IN" sz="1500" dirty="0">
                    <a:latin typeface="Arial Narrow" panose="020B0606020202030204" pitchFamily="34" charset="0"/>
                  </a:endParaRPr>
                </a:p>
              </p:txBody>
            </p:sp>
          </mc:Choice>
          <mc:Fallback xmlns="">
            <p:sp>
              <p:nvSpPr>
                <p:cNvPr id="196" name="TextBox 195">
                  <a:extLst>
                    <a:ext uri="{FF2B5EF4-FFF2-40B4-BE49-F238E27FC236}">
                      <a16:creationId xmlns:a16="http://schemas.microsoft.com/office/drawing/2014/main" id="{6803D624-9F2D-4CB6-A000-91DDACFD0A2B}"/>
                    </a:ext>
                  </a:extLst>
                </p:cNvPr>
                <p:cNvSpPr txBox="1">
                  <a:spLocks noRot="1" noChangeAspect="1" noMove="1" noResize="1" noEditPoints="1" noAdjustHandles="1" noChangeArrowheads="1" noChangeShapeType="1" noTextEdit="1"/>
                </p:cNvSpPr>
                <p:nvPr/>
              </p:nvSpPr>
              <p:spPr>
                <a:xfrm rot="10800000" flipV="1">
                  <a:off x="9315104" y="3885425"/>
                  <a:ext cx="495646" cy="454432"/>
                </a:xfrm>
                <a:prstGeom prst="ellipse">
                  <a:avLst/>
                </a:prstGeom>
                <a:blipFill>
                  <a:blip r:embed="rId9"/>
                  <a:stretch>
                    <a:fillRect/>
                  </a:stretch>
                </a:blipFill>
                <a:ln w="12700">
                  <a:solidFill>
                    <a:schemeClr val="tx1"/>
                  </a:solidFill>
                </a:ln>
              </p:spPr>
              <p:txBody>
                <a:bodyPr/>
                <a:lstStyle/>
                <a:p>
                  <a:r>
                    <a:rPr lang="en-IN">
                      <a:noFill/>
                    </a:rPr>
                    <a:t> </a:t>
                  </a:r>
                </a:p>
              </p:txBody>
            </p:sp>
          </mc:Fallback>
        </mc:AlternateContent>
        <p:sp>
          <p:nvSpPr>
            <p:cNvPr id="197" name="TextBox 196">
              <a:extLst>
                <a:ext uri="{FF2B5EF4-FFF2-40B4-BE49-F238E27FC236}">
                  <a16:creationId xmlns:a16="http://schemas.microsoft.com/office/drawing/2014/main" id="{E17818E8-007B-45D8-AD06-1A2108924884}"/>
                </a:ext>
              </a:extLst>
            </p:cNvPr>
            <p:cNvSpPr txBox="1"/>
            <p:nvPr/>
          </p:nvSpPr>
          <p:spPr>
            <a:xfrm rot="10800000" flipV="1">
              <a:off x="2392352" y="2564564"/>
              <a:ext cx="1333204" cy="338554"/>
            </a:xfrm>
            <a:prstGeom prst="rect">
              <a:avLst/>
            </a:prstGeom>
            <a:noFill/>
          </p:spPr>
          <p:txBody>
            <a:bodyPr wrap="square" rtlCol="0">
              <a:spAutoFit/>
            </a:bodyPr>
            <a:lstStyle/>
            <a:p>
              <a:r>
                <a:rPr lang="en-IN" sz="1600" dirty="0">
                  <a:latin typeface="Arial Narrow" panose="020B0606020202030204" pitchFamily="34" charset="0"/>
                  <a:cs typeface="Times New Roman" panose="02020603050405020304" pitchFamily="18" charset="0"/>
                </a:rPr>
                <a:t>Alignment</a:t>
              </a:r>
            </a:p>
          </p:txBody>
        </p:sp>
        <p:sp>
          <p:nvSpPr>
            <p:cNvPr id="198" name="TextBox 197">
              <a:extLst>
                <a:ext uri="{FF2B5EF4-FFF2-40B4-BE49-F238E27FC236}">
                  <a16:creationId xmlns:a16="http://schemas.microsoft.com/office/drawing/2014/main" id="{A8C9EC39-2EA1-4820-AB08-8E44D249B4B8}"/>
                </a:ext>
              </a:extLst>
            </p:cNvPr>
            <p:cNvSpPr txBox="1"/>
            <p:nvPr/>
          </p:nvSpPr>
          <p:spPr>
            <a:xfrm rot="10800000" flipV="1">
              <a:off x="6054929" y="2552800"/>
              <a:ext cx="1333204" cy="338554"/>
            </a:xfrm>
            <a:prstGeom prst="rect">
              <a:avLst/>
            </a:prstGeom>
            <a:noFill/>
          </p:spPr>
          <p:txBody>
            <a:bodyPr wrap="square" rtlCol="0">
              <a:spAutoFit/>
            </a:bodyPr>
            <a:lstStyle/>
            <a:p>
              <a:r>
                <a:rPr lang="en-IN" sz="1600" dirty="0">
                  <a:latin typeface="Arial Narrow" panose="020B0606020202030204" pitchFamily="34" charset="0"/>
                  <a:cs typeface="Times New Roman" panose="02020603050405020304" pitchFamily="18" charset="0"/>
                </a:rPr>
                <a:t>Attention</a:t>
              </a:r>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AD6D90FF-8B08-44E6-ADD1-B975BDF15677}"/>
                    </a:ext>
                  </a:extLst>
                </p:cNvPr>
                <p:cNvSpPr txBox="1"/>
                <p:nvPr/>
              </p:nvSpPr>
              <p:spPr>
                <a:xfrm rot="10800000" flipV="1">
                  <a:off x="6892487" y="3878347"/>
                  <a:ext cx="495646" cy="468588"/>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𝑎</m:t>
                            </m:r>
                          </m:e>
                          <m:sub>
                            <m:r>
                              <a:rPr lang="en-IN" sz="1500">
                                <a:latin typeface="Cambria Math" panose="02040503050406030204" pitchFamily="18" charset="0"/>
                              </a:rPr>
                              <m:t>1,1</m:t>
                            </m:r>
                          </m:sub>
                        </m:sSub>
                      </m:oMath>
                    </m:oMathPara>
                  </a14:m>
                  <a:endParaRPr lang="en-IN" sz="1500" dirty="0">
                    <a:latin typeface="Arial Narrow" panose="020B0606020202030204" pitchFamily="34" charset="0"/>
                  </a:endParaRPr>
                </a:p>
              </p:txBody>
            </p:sp>
          </mc:Choice>
          <mc:Fallback xmlns="">
            <p:sp>
              <p:nvSpPr>
                <p:cNvPr id="199" name="TextBox 198">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6892487" y="3878347"/>
                  <a:ext cx="495646" cy="468588"/>
                </a:xfrm>
                <a:prstGeom prst="ellipse">
                  <a:avLst/>
                </a:prstGeom>
                <a:blipFill>
                  <a:blip r:embed="rId10"/>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0" name="TextBox 199">
                  <a:extLst>
                    <a:ext uri="{FF2B5EF4-FFF2-40B4-BE49-F238E27FC236}">
                      <a16:creationId xmlns:a16="http://schemas.microsoft.com/office/drawing/2014/main" id="{36F03E2E-8229-4DFD-869B-C4F6CF96084E}"/>
                    </a:ext>
                  </a:extLst>
                </p:cNvPr>
                <p:cNvSpPr txBox="1"/>
                <p:nvPr/>
              </p:nvSpPr>
              <p:spPr>
                <a:xfrm rot="10800000" flipV="1">
                  <a:off x="6346209" y="3878347"/>
                  <a:ext cx="495646" cy="468588"/>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𝑎</m:t>
                            </m:r>
                          </m:e>
                          <m:sub>
                            <m:r>
                              <a:rPr lang="en-IN" sz="1500">
                                <a:latin typeface="Cambria Math" panose="02040503050406030204" pitchFamily="18" charset="0"/>
                              </a:rPr>
                              <m:t>2,1</m:t>
                            </m:r>
                          </m:sub>
                        </m:sSub>
                      </m:oMath>
                    </m:oMathPara>
                  </a14:m>
                  <a:endParaRPr lang="en-IN" sz="1500" dirty="0">
                    <a:latin typeface="Arial Narrow" panose="020B0606020202030204" pitchFamily="34" charset="0"/>
                  </a:endParaRPr>
                </a:p>
              </p:txBody>
            </p:sp>
          </mc:Choice>
          <mc:Fallback xmlns="">
            <p:sp>
              <p:nvSpPr>
                <p:cNvPr id="200" name="TextBox 199">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6346209" y="3878347"/>
                  <a:ext cx="495646" cy="468588"/>
                </a:xfrm>
                <a:prstGeom prst="ellipse">
                  <a:avLst/>
                </a:prstGeom>
                <a:blipFill>
                  <a:blip r:embed="rId11"/>
                  <a:stretch>
                    <a:fillRect r="-1205"/>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1" name="TextBox 200">
                  <a:extLst>
                    <a:ext uri="{FF2B5EF4-FFF2-40B4-BE49-F238E27FC236}">
                      <a16:creationId xmlns:a16="http://schemas.microsoft.com/office/drawing/2014/main" id="{DF1D3D16-4F7D-4FD0-95EB-E2360401B577}"/>
                    </a:ext>
                  </a:extLst>
                </p:cNvPr>
                <p:cNvSpPr txBox="1"/>
                <p:nvPr/>
              </p:nvSpPr>
              <p:spPr>
                <a:xfrm rot="10800000" flipV="1">
                  <a:off x="5805224" y="3878348"/>
                  <a:ext cx="495646" cy="468588"/>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𝑎</m:t>
                            </m:r>
                          </m:e>
                          <m:sub>
                            <m:r>
                              <a:rPr lang="en-IN" sz="1500">
                                <a:latin typeface="Cambria Math" panose="02040503050406030204" pitchFamily="18" charset="0"/>
                              </a:rPr>
                              <m:t>3</m:t>
                            </m:r>
                            <m:r>
                              <a:rPr lang="en-IN" sz="1500" b="0" i="1" smtClean="0">
                                <a:latin typeface="Cambria Math" panose="02040503050406030204" pitchFamily="18" charset="0"/>
                              </a:rPr>
                              <m:t>,</m:t>
                            </m:r>
                            <m:r>
                              <a:rPr lang="en-IN" sz="1500">
                                <a:latin typeface="Cambria Math" panose="02040503050406030204" pitchFamily="18" charset="0"/>
                              </a:rPr>
                              <m:t>1</m:t>
                            </m:r>
                          </m:sub>
                        </m:sSub>
                      </m:oMath>
                    </m:oMathPara>
                  </a14:m>
                  <a:endParaRPr lang="en-IN" sz="1500" dirty="0">
                    <a:latin typeface="Arial Narrow" panose="020B0606020202030204" pitchFamily="34" charset="0"/>
                  </a:endParaRPr>
                </a:p>
              </p:txBody>
            </p:sp>
          </mc:Choice>
          <mc:Fallback xmlns="">
            <p:sp>
              <p:nvSpPr>
                <p:cNvPr id="201" name="TextBox 200">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5805224" y="3878348"/>
                  <a:ext cx="495646" cy="468588"/>
                </a:xfrm>
                <a:prstGeom prst="ellipse">
                  <a:avLst/>
                </a:prstGeom>
                <a:blipFill>
                  <a:blip r:embed="rId12"/>
                  <a:stretch>
                    <a:fillRect r="-1190"/>
                  </a:stretch>
                </a:blipFill>
                <a:ln w="12700">
                  <a:solidFill>
                    <a:schemeClr val="tx1"/>
                  </a:solidFill>
                </a:ln>
              </p:spPr>
              <p:txBody>
                <a:bodyPr/>
                <a:lstStyle/>
                <a:p>
                  <a:r>
                    <a:rPr lang="en-IN">
                      <a:noFill/>
                    </a:rPr>
                    <a:t> </a:t>
                  </a:r>
                </a:p>
              </p:txBody>
            </p:sp>
          </mc:Fallback>
        </mc:AlternateContent>
        <p:cxnSp>
          <p:nvCxnSpPr>
            <p:cNvPr id="202" name="Straight Arrow Connector 201">
              <a:extLst>
                <a:ext uri="{FF2B5EF4-FFF2-40B4-BE49-F238E27FC236}">
                  <a16:creationId xmlns:a16="http://schemas.microsoft.com/office/drawing/2014/main" id="{93CE584A-6224-4185-BA7F-7DBE679AAC01}"/>
                </a:ext>
              </a:extLst>
            </p:cNvPr>
            <p:cNvCxnSpPr>
              <a:cxnSpLocks/>
              <a:endCxn id="201" idx="6"/>
            </p:cNvCxnSpPr>
            <p:nvPr/>
          </p:nvCxnSpPr>
          <p:spPr>
            <a:xfrm>
              <a:off x="5324828" y="4109349"/>
              <a:ext cx="480396" cy="3293"/>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3" name="TextBox 202">
                  <a:extLst>
                    <a:ext uri="{FF2B5EF4-FFF2-40B4-BE49-F238E27FC236}">
                      <a16:creationId xmlns:a16="http://schemas.microsoft.com/office/drawing/2014/main" id="{AD6D90FF-8B08-44E6-ADD1-B975BDF15677}"/>
                    </a:ext>
                  </a:extLst>
                </p:cNvPr>
                <p:cNvSpPr txBox="1"/>
                <p:nvPr/>
              </p:nvSpPr>
              <p:spPr>
                <a:xfrm rot="10800000" flipV="1">
                  <a:off x="3342178" y="3396423"/>
                  <a:ext cx="495646" cy="468588"/>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a:latin typeface="Cambria Math" panose="02040503050406030204" pitchFamily="18" charset="0"/>
                              </a:rPr>
                            </m:ctrlPr>
                          </m:sSubPr>
                          <m:e>
                            <m:r>
                              <a:rPr lang="en-IN" sz="1500">
                                <a:latin typeface="Cambria Math" panose="02040503050406030204" pitchFamily="18" charset="0"/>
                              </a:rPr>
                              <m:t>𝛼</m:t>
                            </m:r>
                          </m:e>
                          <m:sub>
                            <m:r>
                              <a:rPr lang="en-IN" sz="1500">
                                <a:latin typeface="Cambria Math" panose="02040503050406030204" pitchFamily="18" charset="0"/>
                              </a:rPr>
                              <m:t>1,2</m:t>
                            </m:r>
                          </m:sub>
                        </m:sSub>
                      </m:oMath>
                    </m:oMathPara>
                  </a14:m>
                  <a:endParaRPr lang="en-IN" sz="1500" dirty="0">
                    <a:latin typeface="Arial Narrow" panose="020B0606020202030204" pitchFamily="34" charset="0"/>
                  </a:endParaRPr>
                </a:p>
              </p:txBody>
            </p:sp>
          </mc:Choice>
          <mc:Fallback xmlns="">
            <p:sp>
              <p:nvSpPr>
                <p:cNvPr id="203" name="TextBox 202">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3342178" y="3396423"/>
                  <a:ext cx="495646" cy="468588"/>
                </a:xfrm>
                <a:prstGeom prst="ellipse">
                  <a:avLst/>
                </a:prstGeom>
                <a:blipFill>
                  <a:blip r:embed="rId13"/>
                  <a:stretch>
                    <a:fillRect r="-1190"/>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6F03E2E-8229-4DFD-869B-C4F6CF96084E}"/>
                    </a:ext>
                  </a:extLst>
                </p:cNvPr>
                <p:cNvSpPr txBox="1"/>
                <p:nvPr/>
              </p:nvSpPr>
              <p:spPr>
                <a:xfrm rot="10800000" flipV="1">
                  <a:off x="2795900" y="3396423"/>
                  <a:ext cx="495646" cy="468588"/>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a:latin typeface="Cambria Math" panose="02040503050406030204" pitchFamily="18" charset="0"/>
                              </a:rPr>
                            </m:ctrlPr>
                          </m:sSubPr>
                          <m:e>
                            <m:r>
                              <a:rPr lang="en-IN" sz="1500">
                                <a:latin typeface="Cambria Math" panose="02040503050406030204" pitchFamily="18" charset="0"/>
                              </a:rPr>
                              <m:t>𝛼</m:t>
                            </m:r>
                          </m:e>
                          <m:sub>
                            <m:r>
                              <a:rPr lang="en-IN" sz="1500">
                                <a:latin typeface="Cambria Math" panose="02040503050406030204" pitchFamily="18" charset="0"/>
                              </a:rPr>
                              <m:t>2,2</m:t>
                            </m:r>
                          </m:sub>
                        </m:sSub>
                      </m:oMath>
                    </m:oMathPara>
                  </a14:m>
                  <a:endParaRPr lang="en-IN" sz="1500" dirty="0">
                    <a:latin typeface="Arial Narrow" panose="020B0606020202030204" pitchFamily="34" charset="0"/>
                  </a:endParaRPr>
                </a:p>
              </p:txBody>
            </p:sp>
          </mc:Choice>
          <mc:Fallback xmlns="">
            <p:sp>
              <p:nvSpPr>
                <p:cNvPr id="204" name="TextBox 203">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2795900" y="3396423"/>
                  <a:ext cx="495646" cy="468588"/>
                </a:xfrm>
                <a:prstGeom prst="ellipse">
                  <a:avLst/>
                </a:prstGeom>
                <a:blipFill>
                  <a:blip r:embed="rId14"/>
                  <a:stretch>
                    <a:fillRect r="-3614"/>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DF1D3D16-4F7D-4FD0-95EB-E2360401B577}"/>
                    </a:ext>
                  </a:extLst>
                </p:cNvPr>
                <p:cNvSpPr txBox="1"/>
                <p:nvPr/>
              </p:nvSpPr>
              <p:spPr>
                <a:xfrm rot="10800000" flipV="1">
                  <a:off x="2254916" y="3403502"/>
                  <a:ext cx="495646" cy="454432"/>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n-IN" sz="1500" b="0" i="1" smtClean="0">
                                <a:latin typeface="Cambria Math" panose="02040503050406030204" pitchFamily="18" charset="0"/>
                              </a:rPr>
                              <m:t>32</m:t>
                            </m:r>
                          </m:sub>
                        </m:sSub>
                      </m:oMath>
                    </m:oMathPara>
                  </a14:m>
                  <a:endParaRPr lang="en-IN" sz="1500" dirty="0">
                    <a:latin typeface="Arial Narrow" panose="020B0606020202030204" pitchFamily="34" charset="0"/>
                  </a:endParaRPr>
                </a:p>
              </p:txBody>
            </p:sp>
          </mc:Choice>
          <mc:Fallback xmlns="">
            <p:sp>
              <p:nvSpPr>
                <p:cNvPr id="205" name="TextBox 204">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2254916" y="3403502"/>
                  <a:ext cx="495646" cy="454432"/>
                </a:xfrm>
                <a:prstGeom prst="ellipse">
                  <a:avLst/>
                </a:prstGeom>
                <a:blipFill>
                  <a:blip r:embed="rId15"/>
                  <a:stretch>
                    <a:fillRect/>
                  </a:stretch>
                </a:blipFill>
                <a:ln w="12700">
                  <a:solidFill>
                    <a:schemeClr val="tx1"/>
                  </a:solidFill>
                </a:ln>
              </p:spPr>
              <p:txBody>
                <a:bodyPr/>
                <a:lstStyle/>
                <a:p>
                  <a:r>
                    <a:rPr lang="en-IN">
                      <a:noFill/>
                    </a:rPr>
                    <a:t> </a:t>
                  </a:r>
                </a:p>
              </p:txBody>
            </p:sp>
          </mc:Fallback>
        </mc:AlternateContent>
        <p:cxnSp>
          <p:nvCxnSpPr>
            <p:cNvPr id="206" name="Straight Arrow Connector 205">
              <a:extLst>
                <a:ext uri="{FF2B5EF4-FFF2-40B4-BE49-F238E27FC236}">
                  <a16:creationId xmlns:a16="http://schemas.microsoft.com/office/drawing/2014/main" id="{47F04F6C-A5DE-48AC-A93E-885D326C2D52}"/>
                </a:ext>
              </a:extLst>
            </p:cNvPr>
            <p:cNvCxnSpPr>
              <a:cxnSpLocks/>
              <a:stCxn id="213" idx="2"/>
              <a:endCxn id="211" idx="3"/>
            </p:cNvCxnSpPr>
            <p:nvPr/>
          </p:nvCxnSpPr>
          <p:spPr>
            <a:xfrm>
              <a:off x="7388133" y="3623097"/>
              <a:ext cx="613218" cy="780"/>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07" name="Straight Arrow Connector 206">
              <a:extLst>
                <a:ext uri="{FF2B5EF4-FFF2-40B4-BE49-F238E27FC236}">
                  <a16:creationId xmlns:a16="http://schemas.microsoft.com/office/drawing/2014/main" id="{93CE584A-6224-4185-BA7F-7DBE679AAC01}"/>
                </a:ext>
              </a:extLst>
            </p:cNvPr>
            <p:cNvCxnSpPr>
              <a:cxnSpLocks/>
              <a:stCxn id="203" idx="2"/>
            </p:cNvCxnSpPr>
            <p:nvPr/>
          </p:nvCxnSpPr>
          <p:spPr>
            <a:xfrm flipV="1">
              <a:off x="3837824" y="3623879"/>
              <a:ext cx="578910" cy="6838"/>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CB478EDF-F147-4A46-ACD7-767B4A547BF2}"/>
                    </a:ext>
                  </a:extLst>
                </p:cNvPr>
                <p:cNvSpPr txBox="1"/>
                <p:nvPr/>
              </p:nvSpPr>
              <p:spPr>
                <a:xfrm rot="10800000" flipV="1">
                  <a:off x="1272735" y="3403501"/>
                  <a:ext cx="499716" cy="454432"/>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i="1">
                                <a:latin typeface="Cambria Math" panose="02040503050406030204" pitchFamily="18" charset="0"/>
                              </a:rPr>
                              <m:t>𝑞</m:t>
                            </m:r>
                          </m:e>
                          <m:sub>
                            <m:r>
                              <a:rPr lang="en-IN" sz="1500" b="0" i="1" smtClean="0">
                                <a:latin typeface="Cambria Math" panose="02040503050406030204" pitchFamily="18" charset="0"/>
                              </a:rPr>
                              <m:t>2</m:t>
                            </m:r>
                          </m:sub>
                        </m:sSub>
                      </m:oMath>
                    </m:oMathPara>
                  </a14:m>
                  <a:endParaRPr lang="en-IN" sz="1500" dirty="0">
                    <a:latin typeface="Arial Narrow" panose="020B0606020202030204" pitchFamily="34" charset="0"/>
                  </a:endParaRPr>
                </a:p>
              </p:txBody>
            </p:sp>
          </mc:Choice>
          <mc:Fallback xmlns="">
            <p:sp>
              <p:nvSpPr>
                <p:cNvPr id="208" name="TextBox 207">
                  <a:extLst>
                    <a:ext uri="{FF2B5EF4-FFF2-40B4-BE49-F238E27FC236}">
                      <a16:creationId xmlns:a16="http://schemas.microsoft.com/office/drawing/2014/main" id="{CB478EDF-F147-4A46-ACD7-767B4A547BF2}"/>
                    </a:ext>
                  </a:extLst>
                </p:cNvPr>
                <p:cNvSpPr txBox="1">
                  <a:spLocks noRot="1" noChangeAspect="1" noMove="1" noResize="1" noEditPoints="1" noAdjustHandles="1" noChangeArrowheads="1" noChangeShapeType="1" noTextEdit="1"/>
                </p:cNvSpPr>
                <p:nvPr/>
              </p:nvSpPr>
              <p:spPr>
                <a:xfrm rot="10800000" flipV="1">
                  <a:off x="1272735" y="3403501"/>
                  <a:ext cx="499716" cy="454432"/>
                </a:xfrm>
                <a:prstGeom prst="ellipse">
                  <a:avLst/>
                </a:prstGeom>
                <a:blipFill>
                  <a:blip r:embed="rId16"/>
                  <a:stretch>
                    <a:fillRect/>
                  </a:stretch>
                </a:blipFill>
                <a:ln w="12700">
                  <a:solidFill>
                    <a:schemeClr val="tx1"/>
                  </a:solidFill>
                </a:ln>
              </p:spPr>
              <p:txBody>
                <a:bodyPr/>
                <a:lstStyle/>
                <a:p>
                  <a:r>
                    <a:rPr lang="en-IN">
                      <a:noFill/>
                    </a:rPr>
                    <a:t> </a:t>
                  </a:r>
                </a:p>
              </p:txBody>
            </p:sp>
          </mc:Fallback>
        </mc:AlternateContent>
        <p:cxnSp>
          <p:nvCxnSpPr>
            <p:cNvPr id="209" name="Straight Arrow Connector 208">
              <a:extLst>
                <a:ext uri="{FF2B5EF4-FFF2-40B4-BE49-F238E27FC236}">
                  <a16:creationId xmlns:a16="http://schemas.microsoft.com/office/drawing/2014/main" id="{20C9C6AC-19F5-4564-9E13-1B8D0A63390D}"/>
                </a:ext>
              </a:extLst>
            </p:cNvPr>
            <p:cNvCxnSpPr>
              <a:stCxn id="208" idx="2"/>
              <a:endCxn id="205" idx="6"/>
            </p:cNvCxnSpPr>
            <p:nvPr/>
          </p:nvCxnSpPr>
          <p:spPr>
            <a:xfrm>
              <a:off x="1772451" y="3630717"/>
              <a:ext cx="482465" cy="1"/>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10" name="Straight Arrow Connector 209">
              <a:extLst>
                <a:ext uri="{FF2B5EF4-FFF2-40B4-BE49-F238E27FC236}">
                  <a16:creationId xmlns:a16="http://schemas.microsoft.com/office/drawing/2014/main" id="{19A753A8-AD35-4022-B3B3-F8FBEA03A328}"/>
                </a:ext>
              </a:extLst>
            </p:cNvPr>
            <p:cNvCxnSpPr>
              <a:stCxn id="211" idx="1"/>
              <a:endCxn id="212" idx="6"/>
            </p:cNvCxnSpPr>
            <p:nvPr/>
          </p:nvCxnSpPr>
          <p:spPr>
            <a:xfrm>
              <a:off x="8907112" y="3623877"/>
              <a:ext cx="407992" cy="6840"/>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211" name="TextBox 210">
              <a:extLst>
                <a:ext uri="{FF2B5EF4-FFF2-40B4-BE49-F238E27FC236}">
                  <a16:creationId xmlns:a16="http://schemas.microsoft.com/office/drawing/2014/main" id="{A3B9A7C8-E18A-4216-ABA7-D4FFF52E7DCF}"/>
                </a:ext>
              </a:extLst>
            </p:cNvPr>
            <p:cNvSpPr txBox="1"/>
            <p:nvPr/>
          </p:nvSpPr>
          <p:spPr>
            <a:xfrm rot="10800000" flipV="1">
              <a:off x="8001351" y="3079423"/>
              <a:ext cx="905761" cy="1088908"/>
            </a:xfrm>
            <a:prstGeom prst="rect">
              <a:avLst/>
            </a:prstGeom>
            <a:noFill/>
            <a:ln>
              <a:solidFill>
                <a:srgbClr val="002060"/>
              </a:solidFill>
            </a:ln>
          </p:spPr>
          <p:txBody>
            <a:bodyPr wrap="square" rtlCol="0" anchor="ctr">
              <a:normAutofit fontScale="92500" lnSpcReduction="10000"/>
            </a:bodyPr>
            <a:lstStyle>
              <a:defPPr>
                <a:defRPr lang="en-US"/>
              </a:defPPr>
              <a:lvl1pPr algn="ctr">
                <a:defRPr>
                  <a:latin typeface="Times New Roman" panose="02020603050405020304" pitchFamily="18" charset="0"/>
                  <a:cs typeface="Times New Roman" panose="02020603050405020304" pitchFamily="18" charset="0"/>
                </a:defRPr>
              </a:lvl1pPr>
            </a:lstStyle>
            <a:p>
              <a:r>
                <a:rPr lang="en-IN" sz="1500" dirty="0">
                  <a:latin typeface="Arial Narrow" panose="020B0606020202030204" pitchFamily="34" charset="0"/>
                </a:rPr>
                <a:t>Mul</a:t>
              </a:r>
            </a:p>
            <a:p>
              <a:r>
                <a:rPr lang="en-IN" sz="1500" dirty="0">
                  <a:latin typeface="Arial Narrow" panose="020B0606020202030204" pitchFamily="34" charset="0"/>
                </a:rPr>
                <a:t> </a:t>
              </a:r>
            </a:p>
            <a:p>
              <a:r>
                <a:rPr lang="en-IN" sz="1500" dirty="0">
                  <a:latin typeface="Arial Narrow" panose="020B0606020202030204" pitchFamily="34" charset="0"/>
                </a:rPr>
                <a:t>+</a:t>
              </a:r>
            </a:p>
            <a:p>
              <a:r>
                <a:rPr lang="en-IN" sz="1500" dirty="0">
                  <a:latin typeface="Arial Narrow" panose="020B0606020202030204" pitchFamily="34" charset="0"/>
                </a:rPr>
                <a:t>Add</a:t>
              </a:r>
            </a:p>
            <a:p>
              <a:r>
                <a:rPr lang="en-IN" sz="1500" dirty="0">
                  <a:latin typeface="Arial Narrow" panose="020B0606020202030204" pitchFamily="34" charset="0"/>
                </a:rPr>
                <a:t>(→)</a:t>
              </a:r>
            </a:p>
          </p:txBody>
        </p:sp>
        <mc:AlternateContent xmlns:mc="http://schemas.openxmlformats.org/markup-compatibility/2006" xmlns:a14="http://schemas.microsoft.com/office/drawing/2010/main">
          <mc:Choice Requires="a14">
            <p:sp>
              <p:nvSpPr>
                <p:cNvPr id="212" name="TextBox 211">
                  <a:extLst>
                    <a:ext uri="{FF2B5EF4-FFF2-40B4-BE49-F238E27FC236}">
                      <a16:creationId xmlns:a16="http://schemas.microsoft.com/office/drawing/2014/main" id="{6803D624-9F2D-4CB6-A000-91DDACFD0A2B}"/>
                    </a:ext>
                  </a:extLst>
                </p:cNvPr>
                <p:cNvSpPr txBox="1"/>
                <p:nvPr/>
              </p:nvSpPr>
              <p:spPr>
                <a:xfrm rot="10800000" flipV="1">
                  <a:off x="9315104" y="3403501"/>
                  <a:ext cx="495646" cy="454432"/>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a:latin typeface="Cambria Math" panose="02040503050406030204" pitchFamily="18" charset="0"/>
                              </a:rPr>
                            </m:ctrlPr>
                          </m:sSubPr>
                          <m:e>
                            <m:r>
                              <a:rPr lang="en-IN" sz="1500" i="1">
                                <a:latin typeface="Cambria Math" panose="02040503050406030204" pitchFamily="18" charset="0"/>
                              </a:rPr>
                              <m:t>𝑦</m:t>
                            </m:r>
                          </m:e>
                          <m:sub>
                            <m:r>
                              <a:rPr lang="en-IN" sz="1500" i="1">
                                <a:latin typeface="Cambria Math" panose="02040503050406030204" pitchFamily="18" charset="0"/>
                              </a:rPr>
                              <m:t>2</m:t>
                            </m:r>
                          </m:sub>
                        </m:sSub>
                      </m:oMath>
                    </m:oMathPara>
                  </a14:m>
                  <a:endParaRPr lang="en-IN" sz="1500" dirty="0">
                    <a:latin typeface="Arial Narrow" panose="020B0606020202030204" pitchFamily="34" charset="0"/>
                  </a:endParaRPr>
                </a:p>
              </p:txBody>
            </p:sp>
          </mc:Choice>
          <mc:Fallback xmlns="">
            <p:sp>
              <p:nvSpPr>
                <p:cNvPr id="212" name="TextBox 211">
                  <a:extLst>
                    <a:ext uri="{FF2B5EF4-FFF2-40B4-BE49-F238E27FC236}">
                      <a16:creationId xmlns:a16="http://schemas.microsoft.com/office/drawing/2014/main" id="{6803D624-9F2D-4CB6-A000-91DDACFD0A2B}"/>
                    </a:ext>
                  </a:extLst>
                </p:cNvPr>
                <p:cNvSpPr txBox="1">
                  <a:spLocks noRot="1" noChangeAspect="1" noMove="1" noResize="1" noEditPoints="1" noAdjustHandles="1" noChangeArrowheads="1" noChangeShapeType="1" noTextEdit="1"/>
                </p:cNvSpPr>
                <p:nvPr/>
              </p:nvSpPr>
              <p:spPr>
                <a:xfrm rot="10800000" flipV="1">
                  <a:off x="9315104" y="3403501"/>
                  <a:ext cx="495646" cy="454432"/>
                </a:xfrm>
                <a:prstGeom prst="ellipse">
                  <a:avLst/>
                </a:prstGeom>
                <a:blipFill>
                  <a:blip r:embed="rId17"/>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3" name="TextBox 212">
                  <a:extLst>
                    <a:ext uri="{FF2B5EF4-FFF2-40B4-BE49-F238E27FC236}">
                      <a16:creationId xmlns:a16="http://schemas.microsoft.com/office/drawing/2014/main" id="{AD6D90FF-8B08-44E6-ADD1-B975BDF15677}"/>
                    </a:ext>
                  </a:extLst>
                </p:cNvPr>
                <p:cNvSpPr txBox="1"/>
                <p:nvPr/>
              </p:nvSpPr>
              <p:spPr>
                <a:xfrm rot="10800000" flipV="1">
                  <a:off x="6892487" y="3388803"/>
                  <a:ext cx="495646" cy="468588"/>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𝑎</m:t>
                            </m:r>
                          </m:e>
                          <m:sub>
                            <m:r>
                              <a:rPr lang="en-IN" sz="1500">
                                <a:latin typeface="Cambria Math" panose="02040503050406030204" pitchFamily="18" charset="0"/>
                              </a:rPr>
                              <m:t>1,2</m:t>
                            </m:r>
                          </m:sub>
                        </m:sSub>
                      </m:oMath>
                    </m:oMathPara>
                  </a14:m>
                  <a:endParaRPr lang="en-IN" sz="1500" dirty="0">
                    <a:latin typeface="Arial Narrow" panose="020B0606020202030204" pitchFamily="34" charset="0"/>
                  </a:endParaRPr>
                </a:p>
              </p:txBody>
            </p:sp>
          </mc:Choice>
          <mc:Fallback xmlns="">
            <p:sp>
              <p:nvSpPr>
                <p:cNvPr id="213" name="TextBox 212">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6892487" y="3388803"/>
                  <a:ext cx="495646" cy="468588"/>
                </a:xfrm>
                <a:prstGeom prst="ellipse">
                  <a:avLst/>
                </a:prstGeom>
                <a:blipFill>
                  <a:blip r:embed="rId18"/>
                  <a:stretch>
                    <a:fillRect r="-1205"/>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4" name="TextBox 213">
                  <a:extLst>
                    <a:ext uri="{FF2B5EF4-FFF2-40B4-BE49-F238E27FC236}">
                      <a16:creationId xmlns:a16="http://schemas.microsoft.com/office/drawing/2014/main" id="{36F03E2E-8229-4DFD-869B-C4F6CF96084E}"/>
                    </a:ext>
                  </a:extLst>
                </p:cNvPr>
                <p:cNvSpPr txBox="1"/>
                <p:nvPr/>
              </p:nvSpPr>
              <p:spPr>
                <a:xfrm rot="10800000" flipV="1">
                  <a:off x="6346209" y="3388803"/>
                  <a:ext cx="495646" cy="468588"/>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𝑎</m:t>
                            </m:r>
                          </m:e>
                          <m:sub>
                            <m:r>
                              <a:rPr lang="en-IN" sz="1500">
                                <a:latin typeface="Cambria Math" panose="02040503050406030204" pitchFamily="18" charset="0"/>
                              </a:rPr>
                              <m:t>2,2</m:t>
                            </m:r>
                          </m:sub>
                        </m:sSub>
                      </m:oMath>
                    </m:oMathPara>
                  </a14:m>
                  <a:endParaRPr lang="en-IN" sz="1500" dirty="0">
                    <a:latin typeface="Arial Narrow" panose="020B0606020202030204" pitchFamily="34" charset="0"/>
                  </a:endParaRPr>
                </a:p>
              </p:txBody>
            </p:sp>
          </mc:Choice>
          <mc:Fallback xmlns="">
            <p:sp>
              <p:nvSpPr>
                <p:cNvPr id="214" name="TextBox 213">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6346209" y="3388803"/>
                  <a:ext cx="495646" cy="468588"/>
                </a:xfrm>
                <a:prstGeom prst="ellipse">
                  <a:avLst/>
                </a:prstGeom>
                <a:blipFill>
                  <a:blip r:embed="rId19"/>
                  <a:stretch>
                    <a:fillRect r="-2410"/>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5" name="TextBox 214">
                  <a:extLst>
                    <a:ext uri="{FF2B5EF4-FFF2-40B4-BE49-F238E27FC236}">
                      <a16:creationId xmlns:a16="http://schemas.microsoft.com/office/drawing/2014/main" id="{DF1D3D16-4F7D-4FD0-95EB-E2360401B577}"/>
                    </a:ext>
                  </a:extLst>
                </p:cNvPr>
                <p:cNvSpPr txBox="1"/>
                <p:nvPr/>
              </p:nvSpPr>
              <p:spPr>
                <a:xfrm rot="10800000" flipV="1">
                  <a:off x="5805224" y="3388804"/>
                  <a:ext cx="495646" cy="468588"/>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𝑎</m:t>
                            </m:r>
                          </m:e>
                          <m:sub>
                            <m:r>
                              <a:rPr lang="en-IN" sz="1500">
                                <a:latin typeface="Cambria Math" panose="02040503050406030204" pitchFamily="18" charset="0"/>
                              </a:rPr>
                              <m:t>3</m:t>
                            </m:r>
                            <m:r>
                              <a:rPr lang="en-IN" sz="1500" b="0" i="1" smtClean="0">
                                <a:latin typeface="Cambria Math" panose="02040503050406030204" pitchFamily="18" charset="0"/>
                              </a:rPr>
                              <m:t>,</m:t>
                            </m:r>
                            <m:r>
                              <a:rPr lang="en-IN" sz="1500">
                                <a:latin typeface="Cambria Math" panose="02040503050406030204" pitchFamily="18" charset="0"/>
                              </a:rPr>
                              <m:t>2</m:t>
                            </m:r>
                          </m:sub>
                        </m:sSub>
                      </m:oMath>
                    </m:oMathPara>
                  </a14:m>
                  <a:endParaRPr lang="en-IN" sz="1500" dirty="0">
                    <a:latin typeface="Arial Narrow" panose="020B0606020202030204" pitchFamily="34" charset="0"/>
                  </a:endParaRPr>
                </a:p>
              </p:txBody>
            </p:sp>
          </mc:Choice>
          <mc:Fallback xmlns="">
            <p:sp>
              <p:nvSpPr>
                <p:cNvPr id="215" name="TextBox 214">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5805224" y="3388804"/>
                  <a:ext cx="495646" cy="468588"/>
                </a:xfrm>
                <a:prstGeom prst="ellipse">
                  <a:avLst/>
                </a:prstGeom>
                <a:blipFill>
                  <a:blip r:embed="rId20"/>
                  <a:stretch>
                    <a:fillRect r="-1190"/>
                  </a:stretch>
                </a:blipFill>
                <a:ln w="12700">
                  <a:solidFill>
                    <a:schemeClr val="tx1"/>
                  </a:solidFill>
                </a:ln>
              </p:spPr>
              <p:txBody>
                <a:bodyPr/>
                <a:lstStyle/>
                <a:p>
                  <a:r>
                    <a:rPr lang="en-IN">
                      <a:noFill/>
                    </a:rPr>
                    <a:t> </a:t>
                  </a:r>
                </a:p>
              </p:txBody>
            </p:sp>
          </mc:Fallback>
        </mc:AlternateContent>
        <p:cxnSp>
          <p:nvCxnSpPr>
            <p:cNvPr id="216" name="Straight Arrow Connector 215">
              <a:extLst>
                <a:ext uri="{FF2B5EF4-FFF2-40B4-BE49-F238E27FC236}">
                  <a16:creationId xmlns:a16="http://schemas.microsoft.com/office/drawing/2014/main" id="{93CE584A-6224-4185-BA7F-7DBE679AAC01}"/>
                </a:ext>
              </a:extLst>
            </p:cNvPr>
            <p:cNvCxnSpPr>
              <a:cxnSpLocks/>
              <a:stCxn id="230" idx="1"/>
              <a:endCxn id="215" idx="6"/>
            </p:cNvCxnSpPr>
            <p:nvPr/>
          </p:nvCxnSpPr>
          <p:spPr>
            <a:xfrm flipV="1">
              <a:off x="5324824" y="3623098"/>
              <a:ext cx="480400" cy="779"/>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7" name="TextBox 216">
                  <a:extLst>
                    <a:ext uri="{FF2B5EF4-FFF2-40B4-BE49-F238E27FC236}">
                      <a16:creationId xmlns:a16="http://schemas.microsoft.com/office/drawing/2014/main" id="{AD6D90FF-8B08-44E6-ADD1-B975BDF15677}"/>
                    </a:ext>
                  </a:extLst>
                </p:cNvPr>
                <p:cNvSpPr txBox="1"/>
                <p:nvPr/>
              </p:nvSpPr>
              <p:spPr>
                <a:xfrm rot="10800000" flipV="1">
                  <a:off x="3342178" y="2906878"/>
                  <a:ext cx="495646" cy="468588"/>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a:latin typeface="Cambria Math" panose="02040503050406030204" pitchFamily="18" charset="0"/>
                              </a:rPr>
                            </m:ctrlPr>
                          </m:sSubPr>
                          <m:e>
                            <m:r>
                              <a:rPr lang="en-IN" sz="1500">
                                <a:latin typeface="Cambria Math" panose="02040503050406030204" pitchFamily="18" charset="0"/>
                              </a:rPr>
                              <m:t>𝛼</m:t>
                            </m:r>
                          </m:e>
                          <m:sub>
                            <m:r>
                              <a:rPr lang="en-IN" sz="1500">
                                <a:latin typeface="Cambria Math" panose="02040503050406030204" pitchFamily="18" charset="0"/>
                              </a:rPr>
                              <m:t>1,3</m:t>
                            </m:r>
                          </m:sub>
                        </m:sSub>
                      </m:oMath>
                    </m:oMathPara>
                  </a14:m>
                  <a:endParaRPr lang="en-IN" sz="1500" dirty="0">
                    <a:latin typeface="Arial Narrow" panose="020B0606020202030204" pitchFamily="34" charset="0"/>
                  </a:endParaRPr>
                </a:p>
              </p:txBody>
            </p:sp>
          </mc:Choice>
          <mc:Fallback xmlns="">
            <p:sp>
              <p:nvSpPr>
                <p:cNvPr id="217" name="TextBox 216">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3342178" y="2906878"/>
                  <a:ext cx="495646" cy="468588"/>
                </a:xfrm>
                <a:prstGeom prst="ellipse">
                  <a:avLst/>
                </a:prstGeom>
                <a:blipFill>
                  <a:blip r:embed="rId21"/>
                  <a:stretch>
                    <a:fillRect r="-1190"/>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8" name="TextBox 217">
                  <a:extLst>
                    <a:ext uri="{FF2B5EF4-FFF2-40B4-BE49-F238E27FC236}">
                      <a16:creationId xmlns:a16="http://schemas.microsoft.com/office/drawing/2014/main" id="{36F03E2E-8229-4DFD-869B-C4F6CF96084E}"/>
                    </a:ext>
                  </a:extLst>
                </p:cNvPr>
                <p:cNvSpPr txBox="1"/>
                <p:nvPr/>
              </p:nvSpPr>
              <p:spPr>
                <a:xfrm rot="10800000" flipV="1">
                  <a:off x="2795900" y="2906878"/>
                  <a:ext cx="495646" cy="468588"/>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a:latin typeface="Cambria Math" panose="02040503050406030204" pitchFamily="18" charset="0"/>
                              </a:rPr>
                            </m:ctrlPr>
                          </m:sSubPr>
                          <m:e>
                            <m:r>
                              <a:rPr lang="en-IN" sz="1500">
                                <a:latin typeface="Cambria Math" panose="02040503050406030204" pitchFamily="18" charset="0"/>
                                <a:ea typeface="Cambria Math" panose="02040503050406030204" pitchFamily="18" charset="0"/>
                                <a:cs typeface="Times New Roman" panose="02020603050405020304" pitchFamily="18" charset="0"/>
                              </a:rPr>
                              <m:t>𝛼</m:t>
                            </m:r>
                          </m:e>
                          <m:sub>
                            <m:r>
                              <a:rPr lang="en-IN" sz="1500">
                                <a:latin typeface="Cambria Math" panose="02040503050406030204" pitchFamily="18" charset="0"/>
                              </a:rPr>
                              <m:t>2,3</m:t>
                            </m:r>
                          </m:sub>
                        </m:sSub>
                      </m:oMath>
                    </m:oMathPara>
                  </a14:m>
                  <a:endParaRPr lang="en-IN" sz="1500" dirty="0">
                    <a:latin typeface="Arial Narrow" panose="020B0606020202030204" pitchFamily="34" charset="0"/>
                  </a:endParaRPr>
                </a:p>
              </p:txBody>
            </p:sp>
          </mc:Choice>
          <mc:Fallback xmlns="">
            <p:sp>
              <p:nvSpPr>
                <p:cNvPr id="218" name="TextBox 217">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2795900" y="2906878"/>
                  <a:ext cx="495646" cy="468588"/>
                </a:xfrm>
                <a:prstGeom prst="ellipse">
                  <a:avLst/>
                </a:prstGeom>
                <a:blipFill>
                  <a:blip r:embed="rId22"/>
                  <a:stretch>
                    <a:fillRect r="-3614"/>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9" name="TextBox 218">
                  <a:extLst>
                    <a:ext uri="{FF2B5EF4-FFF2-40B4-BE49-F238E27FC236}">
                      <a16:creationId xmlns:a16="http://schemas.microsoft.com/office/drawing/2014/main" id="{DF1D3D16-4F7D-4FD0-95EB-E2360401B577}"/>
                    </a:ext>
                  </a:extLst>
                </p:cNvPr>
                <p:cNvSpPr txBox="1"/>
                <p:nvPr/>
              </p:nvSpPr>
              <p:spPr>
                <a:xfrm rot="10800000" flipV="1">
                  <a:off x="2254916" y="2921577"/>
                  <a:ext cx="495646" cy="454432"/>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n-IN" sz="1500" b="0" i="1" smtClean="0">
                                <a:latin typeface="Cambria Math" panose="02040503050406030204" pitchFamily="18" charset="0"/>
                              </a:rPr>
                              <m:t>33</m:t>
                            </m:r>
                          </m:sub>
                        </m:sSub>
                      </m:oMath>
                    </m:oMathPara>
                  </a14:m>
                  <a:endParaRPr lang="en-IN" sz="1500" dirty="0">
                    <a:latin typeface="Arial Narrow" panose="020B0606020202030204" pitchFamily="34" charset="0"/>
                  </a:endParaRPr>
                </a:p>
              </p:txBody>
            </p:sp>
          </mc:Choice>
          <mc:Fallback xmlns="">
            <p:sp>
              <p:nvSpPr>
                <p:cNvPr id="219" name="TextBox 218">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2254916" y="2921577"/>
                  <a:ext cx="495646" cy="454432"/>
                </a:xfrm>
                <a:prstGeom prst="ellipse">
                  <a:avLst/>
                </a:prstGeom>
                <a:blipFill>
                  <a:blip r:embed="rId23"/>
                  <a:stretch>
                    <a:fillRect/>
                  </a:stretch>
                </a:blipFill>
                <a:ln w="12700">
                  <a:solidFill>
                    <a:schemeClr val="tx1"/>
                  </a:solidFill>
                </a:ln>
              </p:spPr>
              <p:txBody>
                <a:bodyPr/>
                <a:lstStyle/>
                <a:p>
                  <a:r>
                    <a:rPr lang="en-IN">
                      <a:noFill/>
                    </a:rPr>
                    <a:t> </a:t>
                  </a:r>
                </a:p>
              </p:txBody>
            </p:sp>
          </mc:Fallback>
        </mc:AlternateContent>
        <p:cxnSp>
          <p:nvCxnSpPr>
            <p:cNvPr id="220" name="Straight Arrow Connector 219">
              <a:extLst>
                <a:ext uri="{FF2B5EF4-FFF2-40B4-BE49-F238E27FC236}">
                  <a16:creationId xmlns:a16="http://schemas.microsoft.com/office/drawing/2014/main" id="{47F04F6C-A5DE-48AC-A93E-885D326C2D52}"/>
                </a:ext>
              </a:extLst>
            </p:cNvPr>
            <p:cNvCxnSpPr>
              <a:cxnSpLocks/>
              <a:stCxn id="226" idx="2"/>
            </p:cNvCxnSpPr>
            <p:nvPr/>
          </p:nvCxnSpPr>
          <p:spPr>
            <a:xfrm>
              <a:off x="7388133" y="3133552"/>
              <a:ext cx="613222" cy="1535"/>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21" name="Straight Arrow Connector 220">
              <a:extLst>
                <a:ext uri="{FF2B5EF4-FFF2-40B4-BE49-F238E27FC236}">
                  <a16:creationId xmlns:a16="http://schemas.microsoft.com/office/drawing/2014/main" id="{93CE584A-6224-4185-BA7F-7DBE679AAC01}"/>
                </a:ext>
              </a:extLst>
            </p:cNvPr>
            <p:cNvCxnSpPr>
              <a:cxnSpLocks/>
              <a:stCxn id="217" idx="2"/>
            </p:cNvCxnSpPr>
            <p:nvPr/>
          </p:nvCxnSpPr>
          <p:spPr>
            <a:xfrm flipV="1">
              <a:off x="3837824" y="3137881"/>
              <a:ext cx="578914" cy="3291"/>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2" name="TextBox 221">
                  <a:extLst>
                    <a:ext uri="{FF2B5EF4-FFF2-40B4-BE49-F238E27FC236}">
                      <a16:creationId xmlns:a16="http://schemas.microsoft.com/office/drawing/2014/main" id="{CB478EDF-F147-4A46-ACD7-767B4A547BF2}"/>
                    </a:ext>
                  </a:extLst>
                </p:cNvPr>
                <p:cNvSpPr txBox="1"/>
                <p:nvPr/>
              </p:nvSpPr>
              <p:spPr>
                <a:xfrm rot="10800000" flipV="1">
                  <a:off x="1272735" y="2921576"/>
                  <a:ext cx="499716" cy="454432"/>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i="1">
                                <a:latin typeface="Cambria Math" panose="02040503050406030204" pitchFamily="18" charset="0"/>
                              </a:rPr>
                              <m:t>𝑞</m:t>
                            </m:r>
                          </m:e>
                          <m:sub>
                            <m:r>
                              <a:rPr lang="en-IN" sz="1500" b="0" i="1" smtClean="0">
                                <a:latin typeface="Cambria Math" panose="02040503050406030204" pitchFamily="18" charset="0"/>
                              </a:rPr>
                              <m:t>3</m:t>
                            </m:r>
                          </m:sub>
                        </m:sSub>
                      </m:oMath>
                    </m:oMathPara>
                  </a14:m>
                  <a:endParaRPr lang="en-IN" sz="1500" dirty="0">
                    <a:latin typeface="Arial Narrow" panose="020B0606020202030204" pitchFamily="34" charset="0"/>
                  </a:endParaRPr>
                </a:p>
              </p:txBody>
            </p:sp>
          </mc:Choice>
          <mc:Fallback xmlns="">
            <p:sp>
              <p:nvSpPr>
                <p:cNvPr id="222" name="TextBox 221">
                  <a:extLst>
                    <a:ext uri="{FF2B5EF4-FFF2-40B4-BE49-F238E27FC236}">
                      <a16:creationId xmlns:a16="http://schemas.microsoft.com/office/drawing/2014/main" id="{CB478EDF-F147-4A46-ACD7-767B4A547BF2}"/>
                    </a:ext>
                  </a:extLst>
                </p:cNvPr>
                <p:cNvSpPr txBox="1">
                  <a:spLocks noRot="1" noChangeAspect="1" noMove="1" noResize="1" noEditPoints="1" noAdjustHandles="1" noChangeArrowheads="1" noChangeShapeType="1" noTextEdit="1"/>
                </p:cNvSpPr>
                <p:nvPr/>
              </p:nvSpPr>
              <p:spPr>
                <a:xfrm rot="10800000" flipV="1">
                  <a:off x="1272735" y="2921576"/>
                  <a:ext cx="499716" cy="454432"/>
                </a:xfrm>
                <a:prstGeom prst="ellipse">
                  <a:avLst/>
                </a:prstGeom>
                <a:blipFill>
                  <a:blip r:embed="rId24"/>
                  <a:stretch>
                    <a:fillRect/>
                  </a:stretch>
                </a:blipFill>
                <a:ln w="12700">
                  <a:solidFill>
                    <a:schemeClr val="tx1"/>
                  </a:solidFill>
                </a:ln>
              </p:spPr>
              <p:txBody>
                <a:bodyPr/>
                <a:lstStyle/>
                <a:p>
                  <a:r>
                    <a:rPr lang="en-IN">
                      <a:noFill/>
                    </a:rPr>
                    <a:t> </a:t>
                  </a:r>
                </a:p>
              </p:txBody>
            </p:sp>
          </mc:Fallback>
        </mc:AlternateContent>
        <p:cxnSp>
          <p:nvCxnSpPr>
            <p:cNvPr id="223" name="Straight Arrow Connector 222">
              <a:extLst>
                <a:ext uri="{FF2B5EF4-FFF2-40B4-BE49-F238E27FC236}">
                  <a16:creationId xmlns:a16="http://schemas.microsoft.com/office/drawing/2014/main" id="{20C9C6AC-19F5-4564-9E13-1B8D0A63390D}"/>
                </a:ext>
              </a:extLst>
            </p:cNvPr>
            <p:cNvCxnSpPr>
              <a:stCxn id="222" idx="2"/>
              <a:endCxn id="219" idx="6"/>
            </p:cNvCxnSpPr>
            <p:nvPr/>
          </p:nvCxnSpPr>
          <p:spPr>
            <a:xfrm>
              <a:off x="1772451" y="3148792"/>
              <a:ext cx="482465" cy="1"/>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24" name="Straight Arrow Connector 223">
              <a:extLst>
                <a:ext uri="{FF2B5EF4-FFF2-40B4-BE49-F238E27FC236}">
                  <a16:creationId xmlns:a16="http://schemas.microsoft.com/office/drawing/2014/main" id="{19A753A8-AD35-4022-B3B3-F8FBEA03A328}"/>
                </a:ext>
              </a:extLst>
            </p:cNvPr>
            <p:cNvCxnSpPr>
              <a:endCxn id="225" idx="6"/>
            </p:cNvCxnSpPr>
            <p:nvPr/>
          </p:nvCxnSpPr>
          <p:spPr>
            <a:xfrm flipV="1">
              <a:off x="8905811" y="3148792"/>
              <a:ext cx="409293" cy="1536"/>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5" name="TextBox 224">
                  <a:extLst>
                    <a:ext uri="{FF2B5EF4-FFF2-40B4-BE49-F238E27FC236}">
                      <a16:creationId xmlns:a16="http://schemas.microsoft.com/office/drawing/2014/main" id="{6803D624-9F2D-4CB6-A000-91DDACFD0A2B}"/>
                    </a:ext>
                  </a:extLst>
                </p:cNvPr>
                <p:cNvSpPr txBox="1"/>
                <p:nvPr/>
              </p:nvSpPr>
              <p:spPr>
                <a:xfrm rot="10800000" flipV="1">
                  <a:off x="9315104" y="2921576"/>
                  <a:ext cx="495646" cy="454432"/>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a:latin typeface="Cambria Math" panose="02040503050406030204" pitchFamily="18" charset="0"/>
                              </a:rPr>
                            </m:ctrlPr>
                          </m:sSubPr>
                          <m:e>
                            <m:r>
                              <a:rPr lang="en-IN" sz="1500" i="1">
                                <a:latin typeface="Cambria Math" panose="02040503050406030204" pitchFamily="18" charset="0"/>
                              </a:rPr>
                              <m:t>𝑦</m:t>
                            </m:r>
                          </m:e>
                          <m:sub>
                            <m:r>
                              <a:rPr lang="en-IN" sz="1500" i="1">
                                <a:latin typeface="Cambria Math" panose="02040503050406030204" pitchFamily="18" charset="0"/>
                              </a:rPr>
                              <m:t>3</m:t>
                            </m:r>
                          </m:sub>
                        </m:sSub>
                      </m:oMath>
                    </m:oMathPara>
                  </a14:m>
                  <a:endParaRPr lang="en-IN" sz="1500" dirty="0">
                    <a:latin typeface="Arial Narrow" panose="020B0606020202030204" pitchFamily="34" charset="0"/>
                  </a:endParaRPr>
                </a:p>
              </p:txBody>
            </p:sp>
          </mc:Choice>
          <mc:Fallback xmlns="">
            <p:sp>
              <p:nvSpPr>
                <p:cNvPr id="225" name="TextBox 224">
                  <a:extLst>
                    <a:ext uri="{FF2B5EF4-FFF2-40B4-BE49-F238E27FC236}">
                      <a16:creationId xmlns:a16="http://schemas.microsoft.com/office/drawing/2014/main" id="{6803D624-9F2D-4CB6-A000-91DDACFD0A2B}"/>
                    </a:ext>
                  </a:extLst>
                </p:cNvPr>
                <p:cNvSpPr txBox="1">
                  <a:spLocks noRot="1" noChangeAspect="1" noMove="1" noResize="1" noEditPoints="1" noAdjustHandles="1" noChangeArrowheads="1" noChangeShapeType="1" noTextEdit="1"/>
                </p:cNvSpPr>
                <p:nvPr/>
              </p:nvSpPr>
              <p:spPr>
                <a:xfrm rot="10800000" flipV="1">
                  <a:off x="9315104" y="2921576"/>
                  <a:ext cx="495646" cy="454432"/>
                </a:xfrm>
                <a:prstGeom prst="ellipse">
                  <a:avLst/>
                </a:prstGeom>
                <a:blipFill>
                  <a:blip r:embed="rId25"/>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6" name="TextBox 225">
                  <a:extLst>
                    <a:ext uri="{FF2B5EF4-FFF2-40B4-BE49-F238E27FC236}">
                      <a16:creationId xmlns:a16="http://schemas.microsoft.com/office/drawing/2014/main" id="{AD6D90FF-8B08-44E6-ADD1-B975BDF15677}"/>
                    </a:ext>
                  </a:extLst>
                </p:cNvPr>
                <p:cNvSpPr txBox="1"/>
                <p:nvPr/>
              </p:nvSpPr>
              <p:spPr>
                <a:xfrm rot="10800000" flipV="1">
                  <a:off x="6892487" y="2899258"/>
                  <a:ext cx="495646" cy="468588"/>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𝑎</m:t>
                            </m:r>
                          </m:e>
                          <m:sub>
                            <m:r>
                              <a:rPr lang="en-IN" sz="1500">
                                <a:latin typeface="Cambria Math" panose="02040503050406030204" pitchFamily="18" charset="0"/>
                              </a:rPr>
                              <m:t>1,3</m:t>
                            </m:r>
                          </m:sub>
                        </m:sSub>
                      </m:oMath>
                    </m:oMathPara>
                  </a14:m>
                  <a:endParaRPr lang="en-IN" sz="1500" dirty="0">
                    <a:latin typeface="Arial Narrow" panose="020B0606020202030204" pitchFamily="34" charset="0"/>
                  </a:endParaRPr>
                </a:p>
              </p:txBody>
            </p:sp>
          </mc:Choice>
          <mc:Fallback xmlns="">
            <p:sp>
              <p:nvSpPr>
                <p:cNvPr id="226" name="TextBox 225">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6892487" y="2899258"/>
                  <a:ext cx="495646" cy="468588"/>
                </a:xfrm>
                <a:prstGeom prst="ellipse">
                  <a:avLst/>
                </a:prstGeom>
                <a:blipFill>
                  <a:blip r:embed="rId26"/>
                  <a:stretch>
                    <a:fillRect r="-1205"/>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7" name="TextBox 226">
                  <a:extLst>
                    <a:ext uri="{FF2B5EF4-FFF2-40B4-BE49-F238E27FC236}">
                      <a16:creationId xmlns:a16="http://schemas.microsoft.com/office/drawing/2014/main" id="{36F03E2E-8229-4DFD-869B-C4F6CF96084E}"/>
                    </a:ext>
                  </a:extLst>
                </p:cNvPr>
                <p:cNvSpPr txBox="1"/>
                <p:nvPr/>
              </p:nvSpPr>
              <p:spPr>
                <a:xfrm rot="10800000" flipV="1">
                  <a:off x="6346209" y="2899258"/>
                  <a:ext cx="495646" cy="468588"/>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𝑎</m:t>
                            </m:r>
                          </m:e>
                          <m:sub>
                            <m:r>
                              <a:rPr lang="en-IN" sz="1500">
                                <a:latin typeface="Cambria Math" panose="02040503050406030204" pitchFamily="18" charset="0"/>
                              </a:rPr>
                              <m:t>2,3</m:t>
                            </m:r>
                          </m:sub>
                        </m:sSub>
                      </m:oMath>
                    </m:oMathPara>
                  </a14:m>
                  <a:endParaRPr lang="en-IN" sz="1500" dirty="0">
                    <a:latin typeface="Arial Narrow" panose="020B0606020202030204" pitchFamily="34" charset="0"/>
                  </a:endParaRPr>
                </a:p>
              </p:txBody>
            </p:sp>
          </mc:Choice>
          <mc:Fallback xmlns="">
            <p:sp>
              <p:nvSpPr>
                <p:cNvPr id="227" name="TextBox 226">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6346209" y="2899258"/>
                  <a:ext cx="495646" cy="468588"/>
                </a:xfrm>
                <a:prstGeom prst="ellipse">
                  <a:avLst/>
                </a:prstGeom>
                <a:blipFill>
                  <a:blip r:embed="rId27"/>
                  <a:stretch>
                    <a:fillRect r="-2410"/>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8" name="TextBox 227">
                  <a:extLst>
                    <a:ext uri="{FF2B5EF4-FFF2-40B4-BE49-F238E27FC236}">
                      <a16:creationId xmlns:a16="http://schemas.microsoft.com/office/drawing/2014/main" id="{DF1D3D16-4F7D-4FD0-95EB-E2360401B577}"/>
                    </a:ext>
                  </a:extLst>
                </p:cNvPr>
                <p:cNvSpPr txBox="1"/>
                <p:nvPr/>
              </p:nvSpPr>
              <p:spPr>
                <a:xfrm rot="10800000" flipV="1">
                  <a:off x="5805224" y="2899259"/>
                  <a:ext cx="495646" cy="468588"/>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𝑎</m:t>
                            </m:r>
                          </m:e>
                          <m:sub>
                            <m:r>
                              <a:rPr lang="en-IN" sz="1500">
                                <a:latin typeface="Cambria Math" panose="02040503050406030204" pitchFamily="18" charset="0"/>
                              </a:rPr>
                              <m:t>3</m:t>
                            </m:r>
                            <m:r>
                              <a:rPr lang="en-IN" sz="1500" b="0" i="1" smtClean="0">
                                <a:latin typeface="Cambria Math" panose="02040503050406030204" pitchFamily="18" charset="0"/>
                              </a:rPr>
                              <m:t>,</m:t>
                            </m:r>
                            <m:r>
                              <a:rPr lang="en-IN" sz="1500">
                                <a:latin typeface="Cambria Math" panose="02040503050406030204" pitchFamily="18" charset="0"/>
                              </a:rPr>
                              <m:t>3</m:t>
                            </m:r>
                          </m:sub>
                        </m:sSub>
                      </m:oMath>
                    </m:oMathPara>
                  </a14:m>
                  <a:endParaRPr lang="en-IN" sz="1500" dirty="0">
                    <a:latin typeface="Arial Narrow" panose="020B0606020202030204" pitchFamily="34" charset="0"/>
                  </a:endParaRPr>
                </a:p>
              </p:txBody>
            </p:sp>
          </mc:Choice>
          <mc:Fallback xmlns="">
            <p:sp>
              <p:nvSpPr>
                <p:cNvPr id="228" name="TextBox 227">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5805224" y="2899259"/>
                  <a:ext cx="495646" cy="468588"/>
                </a:xfrm>
                <a:prstGeom prst="ellipse">
                  <a:avLst/>
                </a:prstGeom>
                <a:blipFill>
                  <a:blip r:embed="rId28"/>
                  <a:stretch>
                    <a:fillRect r="-1190"/>
                  </a:stretch>
                </a:blipFill>
                <a:ln w="12700">
                  <a:solidFill>
                    <a:schemeClr val="tx1"/>
                  </a:solidFill>
                </a:ln>
              </p:spPr>
              <p:txBody>
                <a:bodyPr/>
                <a:lstStyle/>
                <a:p>
                  <a:r>
                    <a:rPr lang="en-IN">
                      <a:noFill/>
                    </a:rPr>
                    <a:t> </a:t>
                  </a:r>
                </a:p>
              </p:txBody>
            </p:sp>
          </mc:Fallback>
        </mc:AlternateContent>
        <p:cxnSp>
          <p:nvCxnSpPr>
            <p:cNvPr id="229" name="Straight Arrow Connector 228">
              <a:extLst>
                <a:ext uri="{FF2B5EF4-FFF2-40B4-BE49-F238E27FC236}">
                  <a16:creationId xmlns:a16="http://schemas.microsoft.com/office/drawing/2014/main" id="{93CE584A-6224-4185-BA7F-7DBE679AAC01}"/>
                </a:ext>
              </a:extLst>
            </p:cNvPr>
            <p:cNvCxnSpPr>
              <a:cxnSpLocks/>
              <a:endCxn id="228" idx="6"/>
            </p:cNvCxnSpPr>
            <p:nvPr/>
          </p:nvCxnSpPr>
          <p:spPr>
            <a:xfrm>
              <a:off x="5324828" y="3130260"/>
              <a:ext cx="480396" cy="3293"/>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230" name="TextBox 229">
              <a:extLst>
                <a:ext uri="{FF2B5EF4-FFF2-40B4-BE49-F238E27FC236}">
                  <a16:creationId xmlns:a16="http://schemas.microsoft.com/office/drawing/2014/main" id="{9F7A9C69-BDD0-4A8F-93A2-06B1642E46C3}"/>
                </a:ext>
              </a:extLst>
            </p:cNvPr>
            <p:cNvSpPr txBox="1"/>
            <p:nvPr/>
          </p:nvSpPr>
          <p:spPr>
            <a:xfrm rot="10800000" flipV="1">
              <a:off x="4416734" y="3079423"/>
              <a:ext cx="908090" cy="1088908"/>
            </a:xfrm>
            <a:prstGeom prst="rect">
              <a:avLst/>
            </a:prstGeom>
            <a:noFill/>
            <a:ln>
              <a:solidFill>
                <a:srgbClr val="002060"/>
              </a:solidFill>
            </a:ln>
          </p:spPr>
          <p:txBody>
            <a:bodyPr wrap="square" rtlCol="0" anchor="t">
              <a:normAutofit/>
            </a:bodyPr>
            <a:lstStyle/>
            <a:p>
              <a:endParaRPr lang="en-IN" sz="1500" dirty="0">
                <a:latin typeface="Arial Narrow" panose="020B0606020202030204" pitchFamily="34" charset="0"/>
                <a:cs typeface="Times New Roman" panose="02020603050405020304" pitchFamily="18" charset="0"/>
              </a:endParaRPr>
            </a:p>
            <a:p>
              <a:pPr algn="ctr"/>
              <a:r>
                <a:rPr lang="en-IN" sz="1600" dirty="0" err="1">
                  <a:latin typeface="Arial Narrow" panose="020B0606020202030204" pitchFamily="34" charset="0"/>
                  <a:cs typeface="Times New Roman" panose="02020603050405020304" pitchFamily="18" charset="0"/>
                </a:rPr>
                <a:t>softmax</a:t>
              </a:r>
              <a:endParaRPr lang="en-IN" sz="1600" dirty="0">
                <a:latin typeface="Arial Narrow" panose="020B0606020202030204" pitchFamily="34" charset="0"/>
                <a:cs typeface="Times New Roman" panose="02020603050405020304" pitchFamily="18" charset="0"/>
              </a:endParaRPr>
            </a:p>
            <a:p>
              <a:pPr algn="ctr"/>
              <a:r>
                <a:rPr lang="en-IN" sz="1600" dirty="0">
                  <a:latin typeface="Arial Narrow" panose="020B0606020202030204" pitchFamily="34" charset="0"/>
                  <a:cs typeface="Times New Roman" panose="02020603050405020304" pitchFamily="18" charset="0"/>
                </a:rPr>
                <a:t>(→)</a:t>
              </a:r>
            </a:p>
            <a:p>
              <a:endParaRPr lang="en-IN" sz="1500" dirty="0">
                <a:latin typeface="Arial Narrow" panose="020B0606020202030204" pitchFamily="34" charset="0"/>
                <a:cs typeface="Times New Roman" panose="02020603050405020304" pitchFamily="18" charset="0"/>
              </a:endParaRPr>
            </a:p>
            <a:p>
              <a:pPr algn="ctr"/>
              <a:endParaRPr lang="en-IN" sz="1500" dirty="0">
                <a:latin typeface="Arial Narrow" panose="020B0606020202030204" pitchFamily="34" charset="0"/>
                <a:cs typeface="Times New Roman" panose="02020603050405020304" pitchFamily="18" charset="0"/>
              </a:endParaRPr>
            </a:p>
          </p:txBody>
        </p:sp>
        <p:sp>
          <p:nvSpPr>
            <p:cNvPr id="231" name="Rectangle 230"/>
            <p:cNvSpPr/>
            <p:nvPr/>
          </p:nvSpPr>
          <p:spPr>
            <a:xfrm rot="10800000">
              <a:off x="8260909" y="3301272"/>
              <a:ext cx="386644" cy="323165"/>
            </a:xfrm>
            <a:prstGeom prst="rect">
              <a:avLst/>
            </a:prstGeom>
          </p:spPr>
          <p:txBody>
            <a:bodyPr wrap="none">
              <a:spAutoFit/>
            </a:bodyPr>
            <a:lstStyle/>
            <a:p>
              <a:pPr algn="ctr"/>
              <a:r>
                <a:rPr lang="en-IN" sz="1500" dirty="0">
                  <a:latin typeface="Arial Narrow" panose="020B0606020202030204" pitchFamily="34"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232" name="TextBox 231">
                  <a:extLst>
                    <a:ext uri="{FF2B5EF4-FFF2-40B4-BE49-F238E27FC236}">
                      <a16:creationId xmlns:a16="http://schemas.microsoft.com/office/drawing/2014/main" id="{AD6D90FF-8B08-44E6-ADD1-B975BDF15677}"/>
                    </a:ext>
                  </a:extLst>
                </p:cNvPr>
                <p:cNvSpPr txBox="1"/>
                <p:nvPr/>
              </p:nvSpPr>
              <p:spPr>
                <a:xfrm rot="10800000" flipV="1">
                  <a:off x="3339761" y="4473271"/>
                  <a:ext cx="495646" cy="454432"/>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𝑘</m:t>
                            </m:r>
                          </m:e>
                          <m:sub>
                            <m:r>
                              <a:rPr lang="en-IN" sz="1500">
                                <a:latin typeface="Cambria Math" panose="02040503050406030204" pitchFamily="18" charset="0"/>
                              </a:rPr>
                              <m:t>1</m:t>
                            </m:r>
                          </m:sub>
                        </m:sSub>
                      </m:oMath>
                    </m:oMathPara>
                  </a14:m>
                  <a:endParaRPr lang="en-IN" sz="1500" dirty="0">
                    <a:latin typeface="Arial Narrow" panose="020B0606020202030204" pitchFamily="34" charset="0"/>
                  </a:endParaRPr>
                </a:p>
              </p:txBody>
            </p:sp>
          </mc:Choice>
          <mc:Fallback xmlns="">
            <p:sp>
              <p:nvSpPr>
                <p:cNvPr id="232" name="TextBox 231">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3339761" y="4473271"/>
                  <a:ext cx="495646" cy="454432"/>
                </a:xfrm>
                <a:prstGeom prst="ellipse">
                  <a:avLst/>
                </a:prstGeom>
                <a:blipFill>
                  <a:blip r:embed="rId29"/>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3" name="TextBox 232">
                  <a:extLst>
                    <a:ext uri="{FF2B5EF4-FFF2-40B4-BE49-F238E27FC236}">
                      <a16:creationId xmlns:a16="http://schemas.microsoft.com/office/drawing/2014/main" id="{36F03E2E-8229-4DFD-869B-C4F6CF96084E}"/>
                    </a:ext>
                  </a:extLst>
                </p:cNvPr>
                <p:cNvSpPr txBox="1"/>
                <p:nvPr/>
              </p:nvSpPr>
              <p:spPr>
                <a:xfrm rot="10800000" flipV="1">
                  <a:off x="2793483" y="4473272"/>
                  <a:ext cx="495646" cy="454432"/>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a:latin typeface="Cambria Math" panose="02040503050406030204" pitchFamily="18" charset="0"/>
                              </a:rPr>
                              <m:t>𝑘</m:t>
                            </m:r>
                          </m:e>
                          <m:sub>
                            <m:r>
                              <a:rPr lang="en-IN" sz="1500" b="0" i="1" smtClean="0">
                                <a:latin typeface="Cambria Math" panose="02040503050406030204" pitchFamily="18" charset="0"/>
                              </a:rPr>
                              <m:t>2</m:t>
                            </m:r>
                          </m:sub>
                        </m:sSub>
                      </m:oMath>
                    </m:oMathPara>
                  </a14:m>
                  <a:endParaRPr lang="en-IN" sz="1500" dirty="0">
                    <a:latin typeface="Arial Narrow" panose="020B0606020202030204" pitchFamily="34" charset="0"/>
                  </a:endParaRPr>
                </a:p>
              </p:txBody>
            </p:sp>
          </mc:Choice>
          <mc:Fallback xmlns="">
            <p:sp>
              <p:nvSpPr>
                <p:cNvPr id="233" name="TextBox 232">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2793483" y="4473272"/>
                  <a:ext cx="495646" cy="454432"/>
                </a:xfrm>
                <a:prstGeom prst="ellipse">
                  <a:avLst/>
                </a:prstGeom>
                <a:blipFill>
                  <a:blip r:embed="rId30"/>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4" name="TextBox 233">
                  <a:extLst>
                    <a:ext uri="{FF2B5EF4-FFF2-40B4-BE49-F238E27FC236}">
                      <a16:creationId xmlns:a16="http://schemas.microsoft.com/office/drawing/2014/main" id="{DF1D3D16-4F7D-4FD0-95EB-E2360401B577}"/>
                    </a:ext>
                  </a:extLst>
                </p:cNvPr>
                <p:cNvSpPr txBox="1"/>
                <p:nvPr/>
              </p:nvSpPr>
              <p:spPr>
                <a:xfrm rot="10800000" flipV="1">
                  <a:off x="2252498" y="4473273"/>
                  <a:ext cx="495646" cy="454432"/>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𝑘</m:t>
                            </m:r>
                          </m:e>
                          <m:sub>
                            <m:r>
                              <a:rPr lang="en-IN" sz="1500" b="0" i="1" smtClean="0">
                                <a:latin typeface="Cambria Math" panose="02040503050406030204" pitchFamily="18" charset="0"/>
                              </a:rPr>
                              <m:t>3</m:t>
                            </m:r>
                          </m:sub>
                        </m:sSub>
                      </m:oMath>
                    </m:oMathPara>
                  </a14:m>
                  <a:endParaRPr lang="en-IN" sz="1500" dirty="0">
                    <a:latin typeface="Arial Narrow" panose="020B0606020202030204" pitchFamily="34" charset="0"/>
                  </a:endParaRPr>
                </a:p>
              </p:txBody>
            </p:sp>
          </mc:Choice>
          <mc:Fallback xmlns="">
            <p:sp>
              <p:nvSpPr>
                <p:cNvPr id="234" name="TextBox 233">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2252498" y="4473273"/>
                  <a:ext cx="495646" cy="454432"/>
                </a:xfrm>
                <a:prstGeom prst="ellipse">
                  <a:avLst/>
                </a:prstGeom>
                <a:blipFill>
                  <a:blip r:embed="rId31"/>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5" name="TextBox 234">
                  <a:extLst>
                    <a:ext uri="{FF2B5EF4-FFF2-40B4-BE49-F238E27FC236}">
                      <a16:creationId xmlns:a16="http://schemas.microsoft.com/office/drawing/2014/main" id="{98434757-453A-49BA-B417-238E5FFE6B79}"/>
                    </a:ext>
                  </a:extLst>
                </p:cNvPr>
                <p:cNvSpPr txBox="1"/>
                <p:nvPr/>
              </p:nvSpPr>
              <p:spPr>
                <a:xfrm rot="10800000" flipV="1">
                  <a:off x="3345375" y="5051405"/>
                  <a:ext cx="495646" cy="454432"/>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𝑥</m:t>
                            </m:r>
                          </m:e>
                          <m:sub>
                            <m:r>
                              <a:rPr lang="en-IN" sz="1500" b="0" i="1" smtClean="0">
                                <a:latin typeface="Cambria Math" panose="02040503050406030204" pitchFamily="18" charset="0"/>
                              </a:rPr>
                              <m:t>1</m:t>
                            </m:r>
                          </m:sub>
                        </m:sSub>
                      </m:oMath>
                    </m:oMathPara>
                  </a14:m>
                  <a:endParaRPr lang="en-IN" sz="1500" dirty="0">
                    <a:latin typeface="Arial Narrow" panose="020B0606020202030204" pitchFamily="34" charset="0"/>
                  </a:endParaRPr>
                </a:p>
              </p:txBody>
            </p:sp>
          </mc:Choice>
          <mc:Fallback xmlns="">
            <p:sp>
              <p:nvSpPr>
                <p:cNvPr id="235" name="TextBox 234">
                  <a:extLst>
                    <a:ext uri="{FF2B5EF4-FFF2-40B4-BE49-F238E27FC236}">
                      <a16:creationId xmlns:a16="http://schemas.microsoft.com/office/drawing/2014/main" id="{98434757-453A-49BA-B417-238E5FFE6B79}"/>
                    </a:ext>
                  </a:extLst>
                </p:cNvPr>
                <p:cNvSpPr txBox="1">
                  <a:spLocks noRot="1" noChangeAspect="1" noMove="1" noResize="1" noEditPoints="1" noAdjustHandles="1" noChangeArrowheads="1" noChangeShapeType="1" noTextEdit="1"/>
                </p:cNvSpPr>
                <p:nvPr/>
              </p:nvSpPr>
              <p:spPr>
                <a:xfrm rot="10800000" flipV="1">
                  <a:off x="3345375" y="5051405"/>
                  <a:ext cx="495646" cy="454432"/>
                </a:xfrm>
                <a:prstGeom prst="ellipse">
                  <a:avLst/>
                </a:prstGeom>
                <a:blipFill>
                  <a:blip r:embed="rId32"/>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6" name="TextBox 235">
                  <a:extLst>
                    <a:ext uri="{FF2B5EF4-FFF2-40B4-BE49-F238E27FC236}">
                      <a16:creationId xmlns:a16="http://schemas.microsoft.com/office/drawing/2014/main" id="{B8E17763-565A-4B77-80A1-9B07A3DF1DA4}"/>
                    </a:ext>
                  </a:extLst>
                </p:cNvPr>
                <p:cNvSpPr txBox="1"/>
                <p:nvPr/>
              </p:nvSpPr>
              <p:spPr>
                <a:xfrm rot="10800000" flipV="1">
                  <a:off x="2793483" y="5048236"/>
                  <a:ext cx="495646" cy="454432"/>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𝑥</m:t>
                            </m:r>
                          </m:e>
                          <m:sub>
                            <m:r>
                              <a:rPr lang="en-IN" sz="1500" b="0" i="1" smtClean="0">
                                <a:latin typeface="Cambria Math" panose="02040503050406030204" pitchFamily="18" charset="0"/>
                              </a:rPr>
                              <m:t>2</m:t>
                            </m:r>
                          </m:sub>
                        </m:sSub>
                      </m:oMath>
                    </m:oMathPara>
                  </a14:m>
                  <a:endParaRPr lang="en-IN" sz="1500" dirty="0">
                    <a:latin typeface="Arial Narrow" panose="020B0606020202030204" pitchFamily="34" charset="0"/>
                  </a:endParaRPr>
                </a:p>
              </p:txBody>
            </p:sp>
          </mc:Choice>
          <mc:Fallback xmlns="">
            <p:sp>
              <p:nvSpPr>
                <p:cNvPr id="236" name="TextBox 235">
                  <a:extLst>
                    <a:ext uri="{FF2B5EF4-FFF2-40B4-BE49-F238E27FC236}">
                      <a16:creationId xmlns:a16="http://schemas.microsoft.com/office/drawing/2014/main" id="{B8E17763-565A-4B77-80A1-9B07A3DF1DA4}"/>
                    </a:ext>
                  </a:extLst>
                </p:cNvPr>
                <p:cNvSpPr txBox="1">
                  <a:spLocks noRot="1" noChangeAspect="1" noMove="1" noResize="1" noEditPoints="1" noAdjustHandles="1" noChangeArrowheads="1" noChangeShapeType="1" noTextEdit="1"/>
                </p:cNvSpPr>
                <p:nvPr/>
              </p:nvSpPr>
              <p:spPr>
                <a:xfrm rot="10800000" flipV="1">
                  <a:off x="2793483" y="5048236"/>
                  <a:ext cx="495646" cy="454432"/>
                </a:xfrm>
                <a:prstGeom prst="ellipse">
                  <a:avLst/>
                </a:prstGeom>
                <a:blipFill>
                  <a:blip r:embed="rId33"/>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7" name="TextBox 236">
                  <a:extLst>
                    <a:ext uri="{FF2B5EF4-FFF2-40B4-BE49-F238E27FC236}">
                      <a16:creationId xmlns:a16="http://schemas.microsoft.com/office/drawing/2014/main" id="{C8FC9D7E-BEDD-4715-866C-F8B1DB2EC23B}"/>
                    </a:ext>
                  </a:extLst>
                </p:cNvPr>
                <p:cNvSpPr txBox="1"/>
                <p:nvPr/>
              </p:nvSpPr>
              <p:spPr>
                <a:xfrm rot="10800000" flipV="1">
                  <a:off x="2252498" y="5048236"/>
                  <a:ext cx="495646" cy="454432"/>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𝑥</m:t>
                            </m:r>
                          </m:e>
                          <m:sub>
                            <m:r>
                              <a:rPr lang="en-IN" sz="1500" b="0" i="1" smtClean="0">
                                <a:latin typeface="Cambria Math" panose="02040503050406030204" pitchFamily="18" charset="0"/>
                              </a:rPr>
                              <m:t>3</m:t>
                            </m:r>
                          </m:sub>
                        </m:sSub>
                      </m:oMath>
                    </m:oMathPara>
                  </a14:m>
                  <a:endParaRPr lang="en-IN" sz="1500" dirty="0">
                    <a:latin typeface="Arial Narrow" panose="020B0606020202030204" pitchFamily="34" charset="0"/>
                  </a:endParaRPr>
                </a:p>
              </p:txBody>
            </p:sp>
          </mc:Choice>
          <mc:Fallback xmlns="">
            <p:sp>
              <p:nvSpPr>
                <p:cNvPr id="237" name="TextBox 236">
                  <a:extLst>
                    <a:ext uri="{FF2B5EF4-FFF2-40B4-BE49-F238E27FC236}">
                      <a16:creationId xmlns:a16="http://schemas.microsoft.com/office/drawing/2014/main" id="{C8FC9D7E-BEDD-4715-866C-F8B1DB2EC23B}"/>
                    </a:ext>
                  </a:extLst>
                </p:cNvPr>
                <p:cNvSpPr txBox="1">
                  <a:spLocks noRot="1" noChangeAspect="1" noMove="1" noResize="1" noEditPoints="1" noAdjustHandles="1" noChangeArrowheads="1" noChangeShapeType="1" noTextEdit="1"/>
                </p:cNvSpPr>
                <p:nvPr/>
              </p:nvSpPr>
              <p:spPr>
                <a:xfrm rot="10800000" flipV="1">
                  <a:off x="2252498" y="5048236"/>
                  <a:ext cx="495646" cy="454432"/>
                </a:xfrm>
                <a:prstGeom prst="ellipse">
                  <a:avLst/>
                </a:prstGeom>
                <a:blipFill>
                  <a:blip r:embed="rId34"/>
                  <a:stretch>
                    <a:fillRect/>
                  </a:stretch>
                </a:blipFill>
                <a:ln w="12700">
                  <a:solidFill>
                    <a:schemeClr val="tx1"/>
                  </a:solidFill>
                </a:ln>
              </p:spPr>
              <p:txBody>
                <a:bodyPr/>
                <a:lstStyle/>
                <a:p>
                  <a:r>
                    <a:rPr lang="en-IN">
                      <a:noFill/>
                    </a:rPr>
                    <a:t> </a:t>
                  </a:r>
                </a:p>
              </p:txBody>
            </p:sp>
          </mc:Fallback>
        </mc:AlternateContent>
        <p:cxnSp>
          <p:nvCxnSpPr>
            <p:cNvPr id="238" name="Straight Arrow Connector 237">
              <a:extLst>
                <a:ext uri="{FF2B5EF4-FFF2-40B4-BE49-F238E27FC236}">
                  <a16:creationId xmlns:a16="http://schemas.microsoft.com/office/drawing/2014/main" id="{A263021F-7328-4211-909D-49F49CA28D98}"/>
                </a:ext>
              </a:extLst>
            </p:cNvPr>
            <p:cNvCxnSpPr>
              <a:stCxn id="235" idx="0"/>
              <a:endCxn id="232" idx="4"/>
            </p:cNvCxnSpPr>
            <p:nvPr/>
          </p:nvCxnSpPr>
          <p:spPr>
            <a:xfrm flipH="1" flipV="1">
              <a:off x="3587584" y="4927703"/>
              <a:ext cx="5614" cy="123702"/>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39" name="Straight Arrow Connector 238">
              <a:extLst>
                <a:ext uri="{FF2B5EF4-FFF2-40B4-BE49-F238E27FC236}">
                  <a16:creationId xmlns:a16="http://schemas.microsoft.com/office/drawing/2014/main" id="{48E3A579-0DB9-42B0-BAF2-784E8D2CED22}"/>
                </a:ext>
              </a:extLst>
            </p:cNvPr>
            <p:cNvCxnSpPr>
              <a:cxnSpLocks/>
              <a:stCxn id="236" idx="0"/>
              <a:endCxn id="233" idx="4"/>
            </p:cNvCxnSpPr>
            <p:nvPr/>
          </p:nvCxnSpPr>
          <p:spPr>
            <a:xfrm flipV="1">
              <a:off x="3041306" y="4927704"/>
              <a:ext cx="0" cy="120532"/>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40" name="Straight Arrow Connector 239">
              <a:extLst>
                <a:ext uri="{FF2B5EF4-FFF2-40B4-BE49-F238E27FC236}">
                  <a16:creationId xmlns:a16="http://schemas.microsoft.com/office/drawing/2014/main" id="{C1137974-CC6B-47D3-81CF-6AC92B143B47}"/>
                </a:ext>
              </a:extLst>
            </p:cNvPr>
            <p:cNvCxnSpPr>
              <a:cxnSpLocks/>
              <a:stCxn id="237" idx="0"/>
              <a:endCxn id="234" idx="4"/>
            </p:cNvCxnSpPr>
            <p:nvPr/>
          </p:nvCxnSpPr>
          <p:spPr>
            <a:xfrm flipV="1">
              <a:off x="2500321" y="4927705"/>
              <a:ext cx="0" cy="120531"/>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241" name="TextBox 240">
              <a:extLst>
                <a:ext uri="{FF2B5EF4-FFF2-40B4-BE49-F238E27FC236}">
                  <a16:creationId xmlns:a16="http://schemas.microsoft.com/office/drawing/2014/main" id="{03D7A7FB-37B5-491B-9275-F91C88822728}"/>
                </a:ext>
              </a:extLst>
            </p:cNvPr>
            <p:cNvSpPr txBox="1"/>
            <p:nvPr/>
          </p:nvSpPr>
          <p:spPr>
            <a:xfrm rot="10800000" flipV="1">
              <a:off x="1130615" y="5588528"/>
              <a:ext cx="1289168" cy="338554"/>
            </a:xfrm>
            <a:prstGeom prst="rect">
              <a:avLst/>
            </a:prstGeom>
            <a:noFill/>
          </p:spPr>
          <p:txBody>
            <a:bodyPr wrap="square" rtlCol="0">
              <a:spAutoFit/>
            </a:bodyPr>
            <a:lstStyle/>
            <a:p>
              <a:r>
                <a:rPr lang="en-IN" sz="1600" dirty="0">
                  <a:latin typeface="Arial Narrow" panose="020B0606020202030204" pitchFamily="34" charset="0"/>
                  <a:cs typeface="Times New Roman" panose="02020603050405020304" pitchFamily="18" charset="0"/>
                </a:rPr>
                <a:t>Input Vectors</a:t>
              </a:r>
            </a:p>
          </p:txBody>
        </p:sp>
        <mc:AlternateContent xmlns:mc="http://schemas.openxmlformats.org/markup-compatibility/2006" xmlns:a14="http://schemas.microsoft.com/office/drawing/2010/main">
          <mc:Choice Requires="a14">
            <p:sp>
              <p:nvSpPr>
                <p:cNvPr id="242" name="TextBox 241">
                  <a:extLst>
                    <a:ext uri="{FF2B5EF4-FFF2-40B4-BE49-F238E27FC236}">
                      <a16:creationId xmlns:a16="http://schemas.microsoft.com/office/drawing/2014/main" id="{AD6D90FF-8B08-44E6-ADD1-B975BDF15677}"/>
                    </a:ext>
                  </a:extLst>
                </p:cNvPr>
                <p:cNvSpPr txBox="1"/>
                <p:nvPr/>
              </p:nvSpPr>
              <p:spPr>
                <a:xfrm rot="10800000" flipV="1">
                  <a:off x="6890070" y="4473272"/>
                  <a:ext cx="495646" cy="454432"/>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𝑣</m:t>
                            </m:r>
                          </m:e>
                          <m:sub>
                            <m:r>
                              <a:rPr lang="en-IN" sz="1500">
                                <a:latin typeface="Cambria Math" panose="02040503050406030204" pitchFamily="18" charset="0"/>
                              </a:rPr>
                              <m:t>1</m:t>
                            </m:r>
                          </m:sub>
                        </m:sSub>
                      </m:oMath>
                    </m:oMathPara>
                  </a14:m>
                  <a:endParaRPr lang="en-IN" sz="1500" dirty="0">
                    <a:latin typeface="Arial Narrow" panose="020B0606020202030204" pitchFamily="34" charset="0"/>
                  </a:endParaRPr>
                </a:p>
              </p:txBody>
            </p:sp>
          </mc:Choice>
          <mc:Fallback xmlns="">
            <p:sp>
              <p:nvSpPr>
                <p:cNvPr id="242" name="TextBox 241">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6890070" y="4473272"/>
                  <a:ext cx="495646" cy="454432"/>
                </a:xfrm>
                <a:prstGeom prst="ellipse">
                  <a:avLst/>
                </a:prstGeom>
                <a:blipFill>
                  <a:blip r:embed="rId35"/>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3" name="TextBox 242">
                  <a:extLst>
                    <a:ext uri="{FF2B5EF4-FFF2-40B4-BE49-F238E27FC236}">
                      <a16:creationId xmlns:a16="http://schemas.microsoft.com/office/drawing/2014/main" id="{36F03E2E-8229-4DFD-869B-C4F6CF96084E}"/>
                    </a:ext>
                  </a:extLst>
                </p:cNvPr>
                <p:cNvSpPr txBox="1"/>
                <p:nvPr/>
              </p:nvSpPr>
              <p:spPr>
                <a:xfrm rot="10800000" flipV="1">
                  <a:off x="6343791" y="4473272"/>
                  <a:ext cx="495646" cy="454432"/>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𝑣</m:t>
                            </m:r>
                          </m:e>
                          <m:sub>
                            <m:r>
                              <a:rPr lang="en-IN" sz="1500" b="0" i="1" smtClean="0">
                                <a:latin typeface="Cambria Math" panose="02040503050406030204" pitchFamily="18" charset="0"/>
                              </a:rPr>
                              <m:t>2</m:t>
                            </m:r>
                          </m:sub>
                        </m:sSub>
                      </m:oMath>
                    </m:oMathPara>
                  </a14:m>
                  <a:endParaRPr lang="en-IN" sz="1500" dirty="0">
                    <a:latin typeface="Arial Narrow" panose="020B0606020202030204" pitchFamily="34" charset="0"/>
                  </a:endParaRPr>
                </a:p>
              </p:txBody>
            </p:sp>
          </mc:Choice>
          <mc:Fallback xmlns="">
            <p:sp>
              <p:nvSpPr>
                <p:cNvPr id="243" name="TextBox 242">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6343791" y="4473272"/>
                  <a:ext cx="495646" cy="454432"/>
                </a:xfrm>
                <a:prstGeom prst="ellipse">
                  <a:avLst/>
                </a:prstGeom>
                <a:blipFill>
                  <a:blip r:embed="rId36"/>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4" name="TextBox 243">
                  <a:extLst>
                    <a:ext uri="{FF2B5EF4-FFF2-40B4-BE49-F238E27FC236}">
                      <a16:creationId xmlns:a16="http://schemas.microsoft.com/office/drawing/2014/main" id="{DF1D3D16-4F7D-4FD0-95EB-E2360401B577}"/>
                    </a:ext>
                  </a:extLst>
                </p:cNvPr>
                <p:cNvSpPr txBox="1"/>
                <p:nvPr/>
              </p:nvSpPr>
              <p:spPr>
                <a:xfrm rot="10800000" flipV="1">
                  <a:off x="5802807" y="4473273"/>
                  <a:ext cx="495646" cy="454432"/>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𝑣</m:t>
                            </m:r>
                          </m:e>
                          <m:sub>
                            <m:r>
                              <a:rPr lang="en-IN" sz="1500" b="0" i="1" smtClean="0">
                                <a:latin typeface="Cambria Math" panose="02040503050406030204" pitchFamily="18" charset="0"/>
                              </a:rPr>
                              <m:t>3</m:t>
                            </m:r>
                          </m:sub>
                        </m:sSub>
                      </m:oMath>
                    </m:oMathPara>
                  </a14:m>
                  <a:endParaRPr lang="en-IN" sz="1500" dirty="0">
                    <a:latin typeface="Arial Narrow" panose="020B0606020202030204" pitchFamily="34" charset="0"/>
                  </a:endParaRPr>
                </a:p>
              </p:txBody>
            </p:sp>
          </mc:Choice>
          <mc:Fallback xmlns="">
            <p:sp>
              <p:nvSpPr>
                <p:cNvPr id="244" name="TextBox 243">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5802807" y="4473273"/>
                  <a:ext cx="495646" cy="454432"/>
                </a:xfrm>
                <a:prstGeom prst="ellipse">
                  <a:avLst/>
                </a:prstGeom>
                <a:blipFill>
                  <a:blip r:embed="rId37"/>
                  <a:stretch>
                    <a:fillRect/>
                  </a:stretch>
                </a:blipFill>
                <a:ln w="12700">
                  <a:solidFill>
                    <a:schemeClr val="tx1"/>
                  </a:solidFill>
                </a:ln>
              </p:spPr>
              <p:txBody>
                <a:bodyPr/>
                <a:lstStyle/>
                <a:p>
                  <a:r>
                    <a:rPr lang="en-IN">
                      <a:noFill/>
                    </a:rPr>
                    <a:t> </a:t>
                  </a:r>
                </a:p>
              </p:txBody>
            </p:sp>
          </mc:Fallback>
        </mc:AlternateContent>
        <p:cxnSp>
          <p:nvCxnSpPr>
            <p:cNvPr id="245" name="Elbow Connector 244"/>
            <p:cNvCxnSpPr>
              <a:stCxn id="235" idx="4"/>
              <a:endCxn id="244" idx="4"/>
            </p:cNvCxnSpPr>
            <p:nvPr/>
          </p:nvCxnSpPr>
          <p:spPr>
            <a:xfrm rot="5400000" flipH="1" flipV="1">
              <a:off x="4532848" y="3988055"/>
              <a:ext cx="578132" cy="2457432"/>
            </a:xfrm>
            <a:prstGeom prst="bentConnector3">
              <a:avLst>
                <a:gd name="adj1" fmla="val -3954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46" name="Elbow Connector 245"/>
            <p:cNvCxnSpPr>
              <a:stCxn id="236" idx="4"/>
              <a:endCxn id="243" idx="4"/>
            </p:cNvCxnSpPr>
            <p:nvPr/>
          </p:nvCxnSpPr>
          <p:spPr>
            <a:xfrm rot="5400000" flipH="1" flipV="1">
              <a:off x="4528978" y="3440032"/>
              <a:ext cx="574964" cy="3550308"/>
            </a:xfrm>
            <a:prstGeom prst="bentConnector3">
              <a:avLst>
                <a:gd name="adj1" fmla="val -68120"/>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47" name="Elbow Connector 246"/>
            <p:cNvCxnSpPr>
              <a:stCxn id="237" idx="4"/>
              <a:endCxn id="242" idx="4"/>
            </p:cNvCxnSpPr>
            <p:nvPr/>
          </p:nvCxnSpPr>
          <p:spPr>
            <a:xfrm rot="5400000" flipH="1" flipV="1">
              <a:off x="4531625" y="2896400"/>
              <a:ext cx="574964" cy="4637572"/>
            </a:xfrm>
            <a:prstGeom prst="bentConnector3">
              <a:avLst>
                <a:gd name="adj1" fmla="val -93567"/>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48" name="Straight Arrow Connector 247">
              <a:extLst>
                <a:ext uri="{FF2B5EF4-FFF2-40B4-BE49-F238E27FC236}">
                  <a16:creationId xmlns:a16="http://schemas.microsoft.com/office/drawing/2014/main" id="{A263021F-7328-4211-909D-49F49CA28D98}"/>
                </a:ext>
              </a:extLst>
            </p:cNvPr>
            <p:cNvCxnSpPr>
              <a:stCxn id="242" idx="0"/>
              <a:endCxn id="199" idx="4"/>
            </p:cNvCxnSpPr>
            <p:nvPr/>
          </p:nvCxnSpPr>
          <p:spPr>
            <a:xfrm flipV="1">
              <a:off x="7137893" y="4346935"/>
              <a:ext cx="2417" cy="126337"/>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49" name="Straight Arrow Connector 248">
              <a:extLst>
                <a:ext uri="{FF2B5EF4-FFF2-40B4-BE49-F238E27FC236}">
                  <a16:creationId xmlns:a16="http://schemas.microsoft.com/office/drawing/2014/main" id="{48E3A579-0DB9-42B0-BAF2-784E8D2CED22}"/>
                </a:ext>
              </a:extLst>
            </p:cNvPr>
            <p:cNvCxnSpPr>
              <a:cxnSpLocks/>
              <a:stCxn id="243" idx="0"/>
              <a:endCxn id="200" idx="4"/>
            </p:cNvCxnSpPr>
            <p:nvPr/>
          </p:nvCxnSpPr>
          <p:spPr>
            <a:xfrm flipV="1">
              <a:off x="6591614" y="4346935"/>
              <a:ext cx="2418" cy="126337"/>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C1137974-CC6B-47D3-81CF-6AC92B143B47}"/>
                </a:ext>
              </a:extLst>
            </p:cNvPr>
            <p:cNvCxnSpPr>
              <a:cxnSpLocks/>
              <a:stCxn id="244" idx="0"/>
              <a:endCxn id="201" idx="4"/>
            </p:cNvCxnSpPr>
            <p:nvPr/>
          </p:nvCxnSpPr>
          <p:spPr>
            <a:xfrm flipV="1">
              <a:off x="6050630" y="4346936"/>
              <a:ext cx="2417" cy="126337"/>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259417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76FEB1-05DF-40CA-A995-D12A1B4E376D}"/>
              </a:ext>
            </a:extLst>
          </p:cNvPr>
          <p:cNvSpPr>
            <a:spLocks noGrp="1"/>
          </p:cNvSpPr>
          <p:nvPr>
            <p:ph type="title"/>
          </p:nvPr>
        </p:nvSpPr>
        <p:spPr>
          <a:xfrm>
            <a:off x="838200" y="517526"/>
            <a:ext cx="10515600" cy="719604"/>
          </a:xfrm>
        </p:spPr>
        <p:txBody>
          <a:bodyPr>
            <a:normAutofit/>
          </a:bodyPr>
          <a:lstStyle/>
          <a:p>
            <a:r>
              <a:rPr lang="en-GB" sz="3200" dirty="0">
                <a:latin typeface="Century" panose="02040604050505020304" pitchFamily="18" charset="0"/>
                <a:cs typeface="Times New Roman" panose="02020603050405020304" pitchFamily="18" charset="0"/>
              </a:rPr>
              <a:t>Self-attention</a:t>
            </a:r>
            <a:endParaRPr lang="en-GB" sz="3200" dirty="0">
              <a:latin typeface="Century" panose="02040604050505020304" pitchFamily="18" charset="0"/>
            </a:endParaRPr>
          </a:p>
        </p:txBody>
      </p:sp>
      <p:sp>
        <p:nvSpPr>
          <p:cNvPr id="5" name="Content Placeholder 3">
            <a:extLst>
              <a:ext uri="{FF2B5EF4-FFF2-40B4-BE49-F238E27FC236}">
                <a16:creationId xmlns:a16="http://schemas.microsoft.com/office/drawing/2014/main" id="{4D15D44D-1C6E-44BD-8F2C-2654BE4DBDEA}"/>
              </a:ext>
            </a:extLst>
          </p:cNvPr>
          <p:cNvSpPr txBox="1">
            <a:spLocks/>
          </p:cNvSpPr>
          <p:nvPr/>
        </p:nvSpPr>
        <p:spPr>
          <a:xfrm>
            <a:off x="838200" y="1463674"/>
            <a:ext cx="10515600" cy="50292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000" dirty="0">
                <a:solidFill>
                  <a:srgbClr val="7030A0"/>
                </a:solidFill>
                <a:latin typeface="Arial Narrow" panose="020B0606020202030204" pitchFamily="34" charset="0"/>
              </a:rPr>
              <a:t>Self-attention</a:t>
            </a:r>
            <a:r>
              <a:rPr lang="en-US" sz="2000" dirty="0">
                <a:latin typeface="Arial Narrow" panose="020B0606020202030204" pitchFamily="34" charset="0"/>
              </a:rPr>
              <a:t> is a fundamental mechanism in the Transformer architecture that </a:t>
            </a:r>
            <a:r>
              <a:rPr lang="en-US" sz="2000" dirty="0">
                <a:solidFill>
                  <a:srgbClr val="7030A0"/>
                </a:solidFill>
                <a:latin typeface="Arial Narrow" panose="020B0606020202030204" pitchFamily="34" charset="0"/>
              </a:rPr>
              <a:t>enables each element in a sequence to consider and weigh the importance of all other elements when generating its representation</a:t>
            </a:r>
            <a:r>
              <a:rPr lang="en-US" sz="2000" dirty="0">
                <a:latin typeface="Arial Narrow" panose="020B0606020202030204" pitchFamily="34" charset="0"/>
              </a:rPr>
              <a:t>.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The main </a:t>
            </a:r>
            <a:r>
              <a:rPr lang="en-US" sz="2000" dirty="0">
                <a:solidFill>
                  <a:srgbClr val="7030A0"/>
                </a:solidFill>
                <a:latin typeface="Arial Narrow" panose="020B0606020202030204" pitchFamily="34" charset="0"/>
              </a:rPr>
              <a:t>difference between attention and self-attention </a:t>
            </a:r>
            <a:r>
              <a:rPr lang="en-US" sz="2000" dirty="0">
                <a:latin typeface="Arial Narrow" panose="020B0606020202030204" pitchFamily="34" charset="0"/>
              </a:rPr>
              <a:t>lies in </a:t>
            </a:r>
            <a:r>
              <a:rPr lang="en-US" sz="2000" dirty="0">
                <a:solidFill>
                  <a:srgbClr val="7030A0"/>
                </a:solidFill>
                <a:latin typeface="Arial Narrow" panose="020B0606020202030204" pitchFamily="34" charset="0"/>
              </a:rPr>
              <a:t>where the Query, Key, and Value vectors come from</a:t>
            </a:r>
            <a:r>
              <a:rPr lang="en-US" sz="2000" dirty="0">
                <a:latin typeface="Arial Narrow" panose="020B0606020202030204" pitchFamily="34" charset="0"/>
              </a:rPr>
              <a:t>.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In </a:t>
            </a:r>
            <a:r>
              <a:rPr lang="en-US" sz="2000" dirty="0">
                <a:solidFill>
                  <a:srgbClr val="7030A0"/>
                </a:solidFill>
                <a:latin typeface="Arial Narrow" panose="020B0606020202030204" pitchFamily="34" charset="0"/>
              </a:rPr>
              <a:t>general attention, the Query may come from one sequence while the Key and Value vectors come from another sequence</a:t>
            </a:r>
            <a:r>
              <a:rPr lang="en-US" sz="2000" dirty="0">
                <a:latin typeface="Arial Narrow" panose="020B0606020202030204" pitchFamily="34" charset="0"/>
              </a:rPr>
              <a:t>, allowing the model to focus on </a:t>
            </a:r>
            <a:r>
              <a:rPr lang="en-US" sz="2000" dirty="0">
                <a:solidFill>
                  <a:srgbClr val="7030A0"/>
                </a:solidFill>
                <a:latin typeface="Arial Narrow" panose="020B0606020202030204" pitchFamily="34" charset="0"/>
              </a:rPr>
              <a:t>relevant information from a different source</a:t>
            </a:r>
            <a:r>
              <a:rPr lang="en-US" sz="2000" dirty="0">
                <a:latin typeface="Arial Narrow" panose="020B0606020202030204" pitchFamily="34" charset="0"/>
              </a:rPr>
              <a:t>.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In contrast, </a:t>
            </a:r>
            <a:r>
              <a:rPr lang="en-US" sz="2000" dirty="0">
                <a:solidFill>
                  <a:srgbClr val="7030A0"/>
                </a:solidFill>
                <a:latin typeface="Arial Narrow" panose="020B0606020202030204" pitchFamily="34" charset="0"/>
              </a:rPr>
              <a:t>self-attention generates the Query, Key, and Value vectors from the same input sequence</a:t>
            </a:r>
            <a:r>
              <a:rPr lang="en-US" sz="2000" dirty="0">
                <a:latin typeface="Arial Narrow" panose="020B0606020202030204" pitchFamily="34" charset="0"/>
              </a:rPr>
              <a:t>, allowing </a:t>
            </a:r>
            <a:r>
              <a:rPr lang="en-US" sz="2000" dirty="0">
                <a:solidFill>
                  <a:srgbClr val="7030A0"/>
                </a:solidFill>
                <a:latin typeface="Arial Narrow" panose="020B0606020202030204" pitchFamily="34" charset="0"/>
              </a:rPr>
              <a:t>each token to attend to other tokens within that sequence</a:t>
            </a:r>
            <a:r>
              <a:rPr lang="en-US" sz="2000" dirty="0">
                <a:latin typeface="Arial Narrow" panose="020B0606020202030204" pitchFamily="34" charset="0"/>
              </a:rPr>
              <a:t>.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Thus, </a:t>
            </a:r>
            <a:r>
              <a:rPr lang="en-US" sz="2000" dirty="0">
                <a:solidFill>
                  <a:srgbClr val="7030A0"/>
                </a:solidFill>
                <a:latin typeface="Arial Narrow" panose="020B0606020202030204" pitchFamily="34" charset="0"/>
              </a:rPr>
              <a:t>self-attention is a specific form of attention that enables the model to capture relationships and dependencies among elements of the same sequence</a:t>
            </a:r>
            <a:r>
              <a:rPr lang="en-US" sz="2000" dirty="0">
                <a:latin typeface="Arial Narrow" panose="020B0606020202030204" pitchFamily="34" charset="0"/>
              </a:rPr>
              <a:t>.</a:t>
            </a:r>
          </a:p>
          <a:p>
            <a:pPr algn="just"/>
            <a:endParaRPr lang="en-US" sz="2000" dirty="0">
              <a:latin typeface="Arial Narrow" panose="020B0606020202030204" pitchFamily="34" charset="0"/>
            </a:endParaRPr>
          </a:p>
          <a:p>
            <a:pPr algn="just"/>
            <a:endParaRPr lang="en-US" sz="2000" dirty="0">
              <a:latin typeface="Arial Narrow" panose="020B0606020202030204" pitchFamily="34" charset="0"/>
            </a:endParaRPr>
          </a:p>
        </p:txBody>
      </p:sp>
    </p:spTree>
    <p:extLst>
      <p:ext uri="{BB962C8B-B14F-4D97-AF65-F5344CB8AC3E}">
        <p14:creationId xmlns:p14="http://schemas.microsoft.com/office/powerpoint/2010/main" val="16749321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DA5E38-8C3A-4AF6-B165-AFD08090CF07}"/>
              </a:ext>
            </a:extLst>
          </p:cNvPr>
          <p:cNvSpPr>
            <a:spLocks noGrp="1"/>
          </p:cNvSpPr>
          <p:nvPr>
            <p:ph idx="1"/>
          </p:nvPr>
        </p:nvSpPr>
        <p:spPr>
          <a:xfrm>
            <a:off x="838200" y="2131873"/>
            <a:ext cx="10515600" cy="4143422"/>
          </a:xfrm>
        </p:spPr>
        <p:txBody>
          <a:bodyPr>
            <a:normAutofit fontScale="92500" lnSpcReduction="20000"/>
          </a:bodyPr>
          <a:lstStyle/>
          <a:p>
            <a:pPr algn="just"/>
            <a:r>
              <a:rPr lang="en-US" sz="2000" dirty="0">
                <a:latin typeface="Arial Narrow" panose="020B0606020202030204" pitchFamily="34" charset="0"/>
              </a:rPr>
              <a:t>In self-attention, </a:t>
            </a:r>
            <a:r>
              <a:rPr lang="en-US" sz="2000" dirty="0">
                <a:latin typeface="Arial Narrow" panose="020B0606020202030204" pitchFamily="34" charset="0"/>
                <a:cs typeface="Times New Roman" panose="02020603050405020304" pitchFamily="18" charset="0"/>
              </a:rPr>
              <a:t>the input vectors are passed through </a:t>
            </a:r>
            <a:r>
              <a:rPr lang="en-US" sz="2000" dirty="0">
                <a:solidFill>
                  <a:srgbClr val="7030A0"/>
                </a:solidFill>
                <a:latin typeface="Arial Narrow" panose="020B0606020202030204" pitchFamily="34" charset="0"/>
                <a:cs typeface="Times New Roman" panose="02020603050405020304" pitchFamily="18" charset="0"/>
              </a:rPr>
              <a:t>fully connected (FC) linear layers</a:t>
            </a:r>
            <a:r>
              <a:rPr lang="en-US" sz="2000" dirty="0">
                <a:latin typeface="Arial Narrow" panose="020B0606020202030204" pitchFamily="34" charset="0"/>
                <a:cs typeface="Times New Roman" panose="02020603050405020304" pitchFamily="18" charset="0"/>
              </a:rPr>
              <a:t> to produce three different representations: </a:t>
            </a:r>
            <a:r>
              <a:rPr lang="en-US" sz="2000" dirty="0">
                <a:solidFill>
                  <a:srgbClr val="7030A0"/>
                </a:solidFill>
                <a:latin typeface="Arial Narrow" panose="020B0606020202030204" pitchFamily="34" charset="0"/>
                <a:cs typeface="Times New Roman" panose="02020603050405020304" pitchFamily="18" charset="0"/>
              </a:rPr>
              <a:t>Query (Q), Key (K), and Value (V).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The </a:t>
            </a:r>
            <a:r>
              <a:rPr lang="en-US" sz="2000" dirty="0">
                <a:solidFill>
                  <a:srgbClr val="7030A0"/>
                </a:solidFill>
                <a:latin typeface="Arial Narrow" panose="020B0606020202030204" pitchFamily="34" charset="0"/>
              </a:rPr>
              <a:t>Query of a token is compared with the Keys of all tokens to compute attention scores</a:t>
            </a:r>
            <a:r>
              <a:rPr lang="en-US" sz="2000" dirty="0">
                <a:latin typeface="Arial Narrow" panose="020B0606020202030204" pitchFamily="34" charset="0"/>
              </a:rPr>
              <a:t>, which indicate the </a:t>
            </a:r>
            <a:r>
              <a:rPr lang="en-US" sz="2000" dirty="0">
                <a:solidFill>
                  <a:srgbClr val="7030A0"/>
                </a:solidFill>
                <a:latin typeface="Arial Narrow" panose="020B0606020202030204" pitchFamily="34" charset="0"/>
              </a:rPr>
              <a:t>relevance of each token to the current token</a:t>
            </a:r>
            <a:r>
              <a:rPr lang="en-US" sz="2000" dirty="0">
                <a:latin typeface="Arial Narrow" panose="020B0606020202030204" pitchFamily="34" charset="0"/>
              </a:rPr>
              <a:t>. </a:t>
            </a:r>
          </a:p>
          <a:p>
            <a:pPr marL="0" indent="0" algn="just">
              <a:buNone/>
            </a:pPr>
            <a:endParaRPr lang="en-US" sz="2000" dirty="0">
              <a:latin typeface="Arial Narrow" panose="020B0606020202030204" pitchFamily="34" charset="0"/>
            </a:endParaRPr>
          </a:p>
          <a:p>
            <a:pPr algn="just"/>
            <a:r>
              <a:rPr lang="en-US" sz="2000" dirty="0">
                <a:latin typeface="Arial Narrow" panose="020B0606020202030204" pitchFamily="34" charset="0"/>
              </a:rPr>
              <a:t>These </a:t>
            </a:r>
            <a:r>
              <a:rPr lang="en-US" sz="2000" dirty="0">
                <a:solidFill>
                  <a:srgbClr val="7030A0"/>
                </a:solidFill>
                <a:latin typeface="Arial Narrow" panose="020B0606020202030204" pitchFamily="34" charset="0"/>
              </a:rPr>
              <a:t>scores are normalized using the </a:t>
            </a:r>
            <a:r>
              <a:rPr lang="en-US" sz="2000" dirty="0" err="1">
                <a:solidFill>
                  <a:srgbClr val="7030A0"/>
                </a:solidFill>
                <a:latin typeface="Arial Narrow" panose="020B0606020202030204" pitchFamily="34" charset="0"/>
              </a:rPr>
              <a:t>Softmax</a:t>
            </a:r>
            <a:r>
              <a:rPr lang="en-US" sz="2000" dirty="0">
                <a:solidFill>
                  <a:srgbClr val="7030A0"/>
                </a:solidFill>
                <a:latin typeface="Arial Narrow" panose="020B0606020202030204" pitchFamily="34" charset="0"/>
              </a:rPr>
              <a:t> function </a:t>
            </a:r>
            <a:r>
              <a:rPr lang="en-US" sz="2000" dirty="0">
                <a:latin typeface="Arial Narrow" panose="020B0606020202030204" pitchFamily="34" charset="0"/>
              </a:rPr>
              <a:t>and then used to </a:t>
            </a:r>
            <a:r>
              <a:rPr lang="en-US" sz="2000" dirty="0">
                <a:solidFill>
                  <a:srgbClr val="7030A0"/>
                </a:solidFill>
                <a:latin typeface="Arial Narrow" panose="020B0606020202030204" pitchFamily="34" charset="0"/>
              </a:rPr>
              <a:t>compute a weighted sum of the Value vectors, producing a context-aware representation</a:t>
            </a:r>
            <a:r>
              <a:rPr lang="en-US" sz="2000" dirty="0">
                <a:latin typeface="Arial Narrow" panose="020B0606020202030204" pitchFamily="34" charset="0"/>
              </a:rPr>
              <a:t>.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This mechanism allows the model to </a:t>
            </a:r>
            <a:r>
              <a:rPr lang="en-US" sz="2000" dirty="0">
                <a:solidFill>
                  <a:srgbClr val="7030A0"/>
                </a:solidFill>
                <a:latin typeface="Arial Narrow" panose="020B0606020202030204" pitchFamily="34" charset="0"/>
              </a:rPr>
              <a:t>capture relationships and dependencies between tokens regardless of their distance in the image.</a:t>
            </a:r>
          </a:p>
          <a:p>
            <a:pPr marL="0" indent="0" algn="just">
              <a:buNone/>
            </a:pPr>
            <a:endParaRPr lang="en-US" sz="2000" dirty="0">
              <a:latin typeface="Arial Narrow" panose="020B0606020202030204" pitchFamily="34" charset="0"/>
            </a:endParaRPr>
          </a:p>
          <a:p>
            <a:pPr algn="just"/>
            <a:r>
              <a:rPr lang="en-US" sz="2000" dirty="0">
                <a:latin typeface="Arial Narrow" panose="020B0606020202030204" pitchFamily="34" charset="0"/>
              </a:rPr>
              <a:t>As a result, self-attention has become a core component of modern Transformer-based language models, including </a:t>
            </a:r>
            <a:r>
              <a:rPr lang="en-US" sz="2000" dirty="0">
                <a:solidFill>
                  <a:srgbClr val="7030A0"/>
                </a:solidFill>
                <a:latin typeface="Arial Narrow" panose="020B0606020202030204" pitchFamily="34" charset="0"/>
              </a:rPr>
              <a:t>BERT and GPT (Generative Pre-trained Transformer)</a:t>
            </a:r>
            <a:r>
              <a:rPr lang="en-US" sz="2000" dirty="0">
                <a:latin typeface="Arial Narrow" panose="020B0606020202030204" pitchFamily="34" charset="0"/>
              </a:rPr>
              <a:t>.</a:t>
            </a:r>
            <a:endParaRPr lang="en-GB" sz="2000" dirty="0">
              <a:latin typeface="Arial Narrow" panose="020B0606020202030204" pitchFamily="34" charset="0"/>
              <a:cs typeface="Times New Roman" panose="02020603050405020304" pitchFamily="18" charset="0"/>
            </a:endParaRPr>
          </a:p>
          <a:p>
            <a:endParaRPr lang="en-IN" dirty="0"/>
          </a:p>
        </p:txBody>
      </p:sp>
      <p:sp>
        <p:nvSpPr>
          <p:cNvPr id="4" name="Title 2">
            <a:extLst>
              <a:ext uri="{FF2B5EF4-FFF2-40B4-BE49-F238E27FC236}">
                <a16:creationId xmlns:a16="http://schemas.microsoft.com/office/drawing/2014/main" id="{623AF87F-6304-4C25-9F9D-DF8F28E85DA4}"/>
              </a:ext>
            </a:extLst>
          </p:cNvPr>
          <p:cNvSpPr>
            <a:spLocks noGrp="1"/>
          </p:cNvSpPr>
          <p:nvPr>
            <p:ph type="title"/>
          </p:nvPr>
        </p:nvSpPr>
        <p:spPr>
          <a:xfrm>
            <a:off x="775447" y="813361"/>
            <a:ext cx="10515600" cy="719604"/>
          </a:xfrm>
        </p:spPr>
        <p:txBody>
          <a:bodyPr>
            <a:normAutofit/>
          </a:bodyPr>
          <a:lstStyle/>
          <a:p>
            <a:r>
              <a:rPr lang="en-GB" sz="3200" dirty="0">
                <a:latin typeface="Century" panose="02040604050505020304" pitchFamily="18" charset="0"/>
                <a:cs typeface="Times New Roman" panose="02020603050405020304" pitchFamily="18" charset="0"/>
              </a:rPr>
              <a:t>Self-attention</a:t>
            </a:r>
            <a:endParaRPr lang="en-GB" sz="3200" dirty="0">
              <a:latin typeface="Century" panose="02040604050505020304" pitchFamily="18" charset="0"/>
            </a:endParaRPr>
          </a:p>
        </p:txBody>
      </p:sp>
    </p:spTree>
    <p:extLst>
      <p:ext uri="{BB962C8B-B14F-4D97-AF65-F5344CB8AC3E}">
        <p14:creationId xmlns:p14="http://schemas.microsoft.com/office/powerpoint/2010/main" val="27188708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8" name="Straight Connector 57">
            <a:extLst>
              <a:ext uri="{FF2B5EF4-FFF2-40B4-BE49-F238E27FC236}">
                <a16:creationId xmlns:a16="http://schemas.microsoft.com/office/drawing/2014/main" id="{1B0BBDC5-3F7A-42D8-B1E5-54F450CE7F0A}"/>
              </a:ext>
            </a:extLst>
          </p:cNvPr>
          <p:cNvCxnSpPr>
            <a:cxnSpLocks/>
          </p:cNvCxnSpPr>
          <p:nvPr/>
        </p:nvCxnSpPr>
        <p:spPr>
          <a:xfrm>
            <a:off x="5294717" y="6040964"/>
            <a:ext cx="0"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086F0207-6EE0-4AC4-BD2F-4600D077A09E}"/>
                  </a:ext>
                </a:extLst>
              </p:cNvPr>
              <p:cNvSpPr txBox="1"/>
              <p:nvPr/>
            </p:nvSpPr>
            <p:spPr>
              <a:xfrm>
                <a:off x="4590851" y="4286660"/>
                <a:ext cx="3230143" cy="2342629"/>
              </a:xfrm>
              <a:prstGeom prst="rect">
                <a:avLst/>
              </a:prstGeom>
              <a:noFill/>
            </p:spPr>
            <p:txBody>
              <a:bodyPr wrap="square" rtlCol="0">
                <a:spAutoFit/>
              </a:bodyPr>
              <a:lstStyle/>
              <a:p>
                <a:r>
                  <a:rPr lang="en-IN" sz="2000" dirty="0">
                    <a:latin typeface="Arial Narrow" panose="020B0606020202030204" pitchFamily="34" charset="0"/>
                    <a:cs typeface="Times New Roman" panose="02020603050405020304" pitchFamily="18" charset="0"/>
                  </a:rPr>
                  <a:t>Operations:</a:t>
                </a:r>
              </a:p>
              <a:p>
                <a:r>
                  <a:rPr lang="en-IN" sz="2000" dirty="0">
                    <a:latin typeface="Arial Narrow" panose="020B0606020202030204" pitchFamily="34" charset="0"/>
                    <a:cs typeface="Times New Roman" panose="02020603050405020304" pitchFamily="18" charset="0"/>
                  </a:rPr>
                  <a:t>Key Vectors: k=</a:t>
                </a:r>
                <a:r>
                  <a:rPr lang="en-IN" sz="2000" dirty="0" err="1">
                    <a:latin typeface="Arial Narrow" panose="020B0606020202030204" pitchFamily="34" charset="0"/>
                    <a:cs typeface="Times New Roman" panose="02020603050405020304" pitchFamily="18" charset="0"/>
                  </a:rPr>
                  <a:t>xW</a:t>
                </a:r>
                <a:r>
                  <a:rPr lang="en-IN" sz="2000" baseline="-25000" dirty="0" err="1">
                    <a:latin typeface="Arial Narrow" panose="020B0606020202030204" pitchFamily="34" charset="0"/>
                    <a:cs typeface="Times New Roman" panose="02020603050405020304" pitchFamily="18" charset="0"/>
                  </a:rPr>
                  <a:t>k</a:t>
                </a:r>
                <a:endParaRPr lang="en-IN" sz="2000" baseline="-25000" dirty="0">
                  <a:latin typeface="Arial Narrow" panose="020B0606020202030204" pitchFamily="34" charset="0"/>
                  <a:cs typeface="Times New Roman" panose="02020603050405020304" pitchFamily="18" charset="0"/>
                </a:endParaRPr>
              </a:p>
              <a:p>
                <a:r>
                  <a:rPr lang="en-IN" sz="2000" dirty="0">
                    <a:latin typeface="Arial Narrow" panose="020B0606020202030204" pitchFamily="34" charset="0"/>
                    <a:cs typeface="Times New Roman" panose="02020603050405020304" pitchFamily="18" charset="0"/>
                  </a:rPr>
                  <a:t>Value Vectors: v=</a:t>
                </a:r>
                <a:r>
                  <a:rPr lang="en-IN" sz="2000" dirty="0" err="1">
                    <a:latin typeface="Arial Narrow" panose="020B0606020202030204" pitchFamily="34" charset="0"/>
                    <a:cs typeface="Times New Roman" panose="02020603050405020304" pitchFamily="18" charset="0"/>
                  </a:rPr>
                  <a:t>xW</a:t>
                </a:r>
                <a:r>
                  <a:rPr lang="en-IN" sz="2000" baseline="-25000" dirty="0" err="1">
                    <a:latin typeface="Arial Narrow" panose="020B0606020202030204" pitchFamily="34" charset="0"/>
                    <a:cs typeface="Times New Roman" panose="02020603050405020304" pitchFamily="18" charset="0"/>
                  </a:rPr>
                  <a:t>v</a:t>
                </a:r>
                <a:endParaRPr lang="en-IN" sz="2000" baseline="-25000" dirty="0">
                  <a:latin typeface="Arial Narrow" panose="020B0606020202030204" pitchFamily="34" charset="0"/>
                  <a:cs typeface="Times New Roman" panose="02020603050405020304" pitchFamily="18" charset="0"/>
                </a:endParaRPr>
              </a:p>
              <a:p>
                <a:r>
                  <a:rPr lang="en-IN" sz="2000" dirty="0">
                    <a:latin typeface="Arial Narrow" panose="020B0606020202030204" pitchFamily="34" charset="0"/>
                    <a:cs typeface="Times New Roman" panose="02020603050405020304" pitchFamily="18" charset="0"/>
                  </a:rPr>
                  <a:t>Query Vector: q= </a:t>
                </a:r>
                <a:r>
                  <a:rPr lang="en-IN" sz="2000" dirty="0" err="1">
                    <a:latin typeface="Arial Narrow" panose="020B0606020202030204" pitchFamily="34" charset="0"/>
                    <a:cs typeface="Times New Roman" panose="02020603050405020304" pitchFamily="18" charset="0"/>
                  </a:rPr>
                  <a:t>xW</a:t>
                </a:r>
                <a:r>
                  <a:rPr lang="en-IN" sz="2000" baseline="-25000" dirty="0" err="1">
                    <a:latin typeface="Arial Narrow" panose="020B0606020202030204" pitchFamily="34" charset="0"/>
                    <a:cs typeface="Times New Roman" panose="02020603050405020304" pitchFamily="18" charset="0"/>
                  </a:rPr>
                  <a:t>q</a:t>
                </a:r>
                <a:endParaRPr lang="en-IN" sz="2000" dirty="0">
                  <a:latin typeface="Arial Narrow" panose="020B0606020202030204" pitchFamily="34" charset="0"/>
                  <a:cs typeface="Times New Roman" panose="02020603050405020304" pitchFamily="18" charset="0"/>
                </a:endParaRPr>
              </a:p>
              <a:p>
                <a:r>
                  <a:rPr lang="en-IN" sz="2000" dirty="0">
                    <a:latin typeface="Arial Narrow" panose="020B0606020202030204" pitchFamily="34" charset="0"/>
                    <a:cs typeface="Times New Roman" panose="02020603050405020304" pitchFamily="18" charset="0"/>
                  </a:rPr>
                  <a:t>Alignment: </a:t>
                </a:r>
                <a14:m>
                  <m:oMath xmlns:m="http://schemas.openxmlformats.org/officeDocument/2006/math">
                    <m:sSub>
                      <m:sSubPr>
                        <m:ctrlPr>
                          <a:rPr lang="en-US" sz="2000" i="1" smtClean="0">
                            <a:latin typeface="Cambria Math" panose="02040503050406030204" pitchFamily="18" charset="0"/>
                            <a:cs typeface="Times New Roman" panose="02020603050405020304" pitchFamily="18" charset="0"/>
                          </a:rPr>
                        </m:ctrlPr>
                      </m:sSubPr>
                      <m:e>
                        <m:r>
                          <a:rPr lang="en-IN" sz="2000"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n-IN" sz="2000" i="1">
                            <a:latin typeface="Cambria Math" panose="02040503050406030204" pitchFamily="18" charset="0"/>
                            <a:cs typeface="Times New Roman" panose="02020603050405020304" pitchFamily="18" charset="0"/>
                          </a:rPr>
                          <m:t>𝑖</m:t>
                        </m:r>
                        <m:r>
                          <a:rPr lang="en-IN" sz="2000" b="0" i="1" smtClean="0">
                            <a:latin typeface="Cambria Math" panose="02040503050406030204" pitchFamily="18" charset="0"/>
                            <a:cs typeface="Times New Roman" panose="02020603050405020304" pitchFamily="18" charset="0"/>
                          </a:rPr>
                          <m:t>𝑗</m:t>
                        </m:r>
                      </m:sub>
                    </m:sSub>
                    <m:r>
                      <a:rPr lang="en-IN" sz="2000" i="1">
                        <a:latin typeface="Cambria Math" panose="02040503050406030204" pitchFamily="18" charset="0"/>
                        <a:cs typeface="Times New Roman" panose="02020603050405020304" pitchFamily="18" charset="0"/>
                      </a:rPr>
                      <m:t>=</m:t>
                    </m:r>
                    <m:sSub>
                      <m:sSubPr>
                        <m:ctrlPr>
                          <a:rPr lang="en-IN" sz="2000" i="1" smtClean="0">
                            <a:latin typeface="Cambria Math" panose="02040503050406030204" pitchFamily="18" charset="0"/>
                          </a:rPr>
                        </m:ctrlPr>
                      </m:sSubPr>
                      <m:e>
                        <m:r>
                          <a:rPr lang="en-IN" sz="2000" b="0" i="1" smtClean="0">
                            <a:latin typeface="Cambria Math" panose="02040503050406030204" pitchFamily="18" charset="0"/>
                          </a:rPr>
                          <m:t>𝑞</m:t>
                        </m:r>
                      </m:e>
                      <m:sub>
                        <m:r>
                          <a:rPr lang="en-IN" sz="2000" b="0" i="1" smtClean="0">
                            <a:latin typeface="Cambria Math" panose="02040503050406030204" pitchFamily="18" charset="0"/>
                          </a:rPr>
                          <m:t>𝑗</m:t>
                        </m:r>
                      </m:sub>
                    </m:sSub>
                    <m:r>
                      <a:rPr lang="en-IN" sz="2000" b="0" i="1" smtClean="0">
                        <a:latin typeface="Cambria Math" panose="02040503050406030204" pitchFamily="18" charset="0"/>
                        <a:cs typeface="Times New Roman" panose="02020603050405020304" pitchFamily="18" charset="0"/>
                      </a:rPr>
                      <m:t>.</m:t>
                    </m:r>
                    <m:sSub>
                      <m:sSubPr>
                        <m:ctrlPr>
                          <a:rPr lang="en-IN" sz="2000" i="1" dirty="0" smtClean="0">
                            <a:latin typeface="Cambria Math" panose="02040503050406030204" pitchFamily="18" charset="0"/>
                            <a:cs typeface="Times New Roman" panose="02020603050405020304" pitchFamily="18" charset="0"/>
                          </a:rPr>
                        </m:ctrlPr>
                      </m:sSubPr>
                      <m:e>
                        <m:r>
                          <a:rPr lang="en-IN" sz="2000" b="0" i="1" dirty="0" smtClean="0">
                            <a:latin typeface="Cambria Math" panose="02040503050406030204" pitchFamily="18" charset="0"/>
                            <a:cs typeface="Times New Roman" panose="02020603050405020304" pitchFamily="18" charset="0"/>
                          </a:rPr>
                          <m:t>𝑘</m:t>
                        </m:r>
                      </m:e>
                      <m:sub>
                        <m:r>
                          <a:rPr lang="en-IN" sz="2000" b="0" i="1" dirty="0" smtClean="0">
                            <a:latin typeface="Cambria Math" panose="02040503050406030204" pitchFamily="18" charset="0"/>
                            <a:cs typeface="Times New Roman" panose="02020603050405020304" pitchFamily="18" charset="0"/>
                          </a:rPr>
                          <m:t>𝑖</m:t>
                        </m:r>
                      </m:sub>
                    </m:sSub>
                    <m:r>
                      <a:rPr lang="en-IN" sz="2000" b="0" i="1" dirty="0" smtClean="0">
                        <a:latin typeface="Cambria Math" panose="02040503050406030204" pitchFamily="18" charset="0"/>
                        <a:cs typeface="Times New Roman" panose="02020603050405020304" pitchFamily="18" charset="0"/>
                      </a:rPr>
                      <m:t>/</m:t>
                    </m:r>
                    <m:rad>
                      <m:radPr>
                        <m:degHide m:val="on"/>
                        <m:ctrlPr>
                          <a:rPr lang="en-IN" sz="2000" b="0" i="1" dirty="0" smtClean="0">
                            <a:latin typeface="Cambria Math" panose="02040503050406030204" pitchFamily="18" charset="0"/>
                            <a:cs typeface="Times New Roman" panose="02020603050405020304" pitchFamily="18" charset="0"/>
                          </a:rPr>
                        </m:ctrlPr>
                      </m:radPr>
                      <m:deg/>
                      <m:e>
                        <m:r>
                          <a:rPr lang="en-IN" sz="2000" b="0" i="1" dirty="0" smtClean="0">
                            <a:latin typeface="Cambria Math" panose="02040503050406030204" pitchFamily="18" charset="0"/>
                            <a:cs typeface="Times New Roman" panose="02020603050405020304" pitchFamily="18" charset="0"/>
                          </a:rPr>
                          <m:t>𝐷</m:t>
                        </m:r>
                      </m:e>
                    </m:rad>
                  </m:oMath>
                </a14:m>
                <a:endParaRPr lang="en-IN" sz="2000" dirty="0">
                  <a:latin typeface="Arial Narrow" panose="020B0606020202030204" pitchFamily="34" charset="0"/>
                  <a:cs typeface="Times New Roman" panose="02020603050405020304" pitchFamily="18" charset="0"/>
                </a:endParaRPr>
              </a:p>
              <a:p>
                <a:r>
                  <a:rPr lang="en-IN" sz="2000" dirty="0">
                    <a:latin typeface="Arial Narrow" panose="020B0606020202030204" pitchFamily="34" charset="0"/>
                    <a:cs typeface="Times New Roman" panose="02020603050405020304" pitchFamily="18" charset="0"/>
                  </a:rPr>
                  <a:t>Attention: </a:t>
                </a:r>
                <a14:m>
                  <m:oMath xmlns:m="http://schemas.openxmlformats.org/officeDocument/2006/math">
                    <m:r>
                      <a:rPr lang="en-IN" sz="2000" b="0" i="1" smtClean="0">
                        <a:latin typeface="Cambria Math" panose="02040503050406030204" pitchFamily="18" charset="0"/>
                        <a:ea typeface="Cambria Math" panose="02040503050406030204" pitchFamily="18" charset="0"/>
                        <a:cs typeface="Times New Roman" panose="02020603050405020304" pitchFamily="18" charset="0"/>
                      </a:rPr>
                      <m:t>𝑎</m:t>
                    </m:r>
                    <m:r>
                      <a:rPr lang="en-IN" sz="2000" i="1">
                        <a:latin typeface="Cambria Math" panose="02040503050406030204" pitchFamily="18" charset="0"/>
                        <a:cs typeface="Times New Roman" panose="02020603050405020304" pitchFamily="18" charset="0"/>
                      </a:rPr>
                      <m:t>=</m:t>
                    </m:r>
                    <m:r>
                      <a:rPr lang="en-IN" sz="2000" i="1">
                        <a:latin typeface="Cambria Math" panose="02040503050406030204" pitchFamily="18" charset="0"/>
                        <a:cs typeface="Times New Roman" panose="02020603050405020304" pitchFamily="18" charset="0"/>
                      </a:rPr>
                      <m:t>𝑆𝑜𝑓𝑡𝑚𝑎𝑥</m:t>
                    </m:r>
                    <m:d>
                      <m:dPr>
                        <m:ctrlPr>
                          <a:rPr lang="en-IN" sz="2000" i="1">
                            <a:latin typeface="Cambria Math" panose="02040503050406030204" pitchFamily="18" charset="0"/>
                            <a:cs typeface="Times New Roman" panose="02020603050405020304" pitchFamily="18" charset="0"/>
                          </a:rPr>
                        </m:ctrlPr>
                      </m:dPr>
                      <m:e>
                        <m:r>
                          <a:rPr lang="en-IN" sz="2000" i="1" smtClean="0">
                            <a:latin typeface="Cambria Math" panose="02040503050406030204" pitchFamily="18" charset="0"/>
                            <a:ea typeface="Cambria Math" panose="02040503050406030204" pitchFamily="18" charset="0"/>
                            <a:cs typeface="Times New Roman" panose="02020603050405020304" pitchFamily="18" charset="0"/>
                          </a:rPr>
                          <m:t>𝛼</m:t>
                        </m:r>
                      </m:e>
                    </m:d>
                  </m:oMath>
                </a14:m>
                <a:r>
                  <a:rPr lang="en-IN" sz="2000" dirty="0">
                    <a:latin typeface="Arial Narrow" panose="020B0606020202030204" pitchFamily="34" charset="0"/>
                    <a:cs typeface="Times New Roman" panose="02020603050405020304" pitchFamily="18" charset="0"/>
                  </a:rPr>
                  <a:t> </a:t>
                </a:r>
              </a:p>
              <a:p>
                <a:r>
                  <a:rPr lang="en-IN" sz="2000" dirty="0">
                    <a:latin typeface="Arial Narrow" panose="020B0606020202030204" pitchFamily="34" charset="0"/>
                    <a:cs typeface="Times New Roman" panose="02020603050405020304" pitchFamily="18" charset="0"/>
                  </a:rPr>
                  <a:t>Output:</a:t>
                </a:r>
                <a14:m>
                  <m:oMath xmlns:m="http://schemas.openxmlformats.org/officeDocument/2006/math">
                    <m:sSub>
                      <m:sSubPr>
                        <m:ctrlPr>
                          <a:rPr lang="en-IN" sz="2000" i="1" smtClean="0">
                            <a:latin typeface="Cambria Math" panose="02040503050406030204" pitchFamily="18" charset="0"/>
                          </a:rPr>
                        </m:ctrlPr>
                      </m:sSubPr>
                      <m:e>
                        <m:r>
                          <a:rPr lang="en-IN" sz="2000" b="0" i="1" smtClean="0">
                            <a:latin typeface="Cambria Math" panose="02040503050406030204" pitchFamily="18" charset="0"/>
                          </a:rPr>
                          <m:t>𝑦</m:t>
                        </m:r>
                      </m:e>
                      <m:sub>
                        <m:r>
                          <a:rPr lang="en-IN" sz="2000" b="0" i="1" smtClean="0">
                            <a:latin typeface="Cambria Math" panose="02040503050406030204" pitchFamily="18" charset="0"/>
                          </a:rPr>
                          <m:t>𝑗</m:t>
                        </m:r>
                      </m:sub>
                    </m:sSub>
                    <m:r>
                      <a:rPr lang="en-IN" sz="2000" i="1">
                        <a:latin typeface="Cambria Math" panose="02040503050406030204" pitchFamily="18" charset="0"/>
                        <a:cs typeface="Times New Roman" panose="02020603050405020304" pitchFamily="18" charset="0"/>
                      </a:rPr>
                      <m:t>=</m:t>
                    </m:r>
                  </m:oMath>
                </a14:m>
                <a:r>
                  <a:rPr lang="en-IN" sz="2000" dirty="0">
                    <a:latin typeface="Arial Narrow" panose="020B0606020202030204" pitchFamily="34" charset="0"/>
                    <a:cs typeface="Times New Roman" panose="02020603050405020304" pitchFamily="18" charset="0"/>
                  </a:rPr>
                  <a:t> </a:t>
                </a:r>
                <a14:m>
                  <m:oMath xmlns:m="http://schemas.openxmlformats.org/officeDocument/2006/math">
                    <m:nary>
                      <m:naryPr>
                        <m:chr m:val="∑"/>
                        <m:limLoc m:val="subSup"/>
                        <m:supHide m:val="on"/>
                        <m:ctrlPr>
                          <a:rPr lang="en-IN" sz="2000" i="1" dirty="0" smtClean="0">
                            <a:latin typeface="Cambria Math" panose="02040503050406030204" pitchFamily="18" charset="0"/>
                            <a:cs typeface="Times New Roman" panose="02020603050405020304" pitchFamily="18" charset="0"/>
                          </a:rPr>
                        </m:ctrlPr>
                      </m:naryPr>
                      <m:sub>
                        <m:r>
                          <m:rPr>
                            <m:brk m:alnAt="9"/>
                          </m:rPr>
                          <a:rPr lang="en-IN" sz="2000" b="0" i="1" dirty="0" smtClean="0">
                            <a:latin typeface="Cambria Math" panose="02040503050406030204" pitchFamily="18" charset="0"/>
                            <a:cs typeface="Times New Roman" panose="02020603050405020304" pitchFamily="18" charset="0"/>
                          </a:rPr>
                          <m:t>𝑗</m:t>
                        </m:r>
                      </m:sub>
                      <m:sup/>
                      <m:e>
                        <m:sSub>
                          <m:sSubPr>
                            <m:ctrlPr>
                              <a:rPr lang="en-IN" sz="2000" i="1" dirty="0" smtClean="0">
                                <a:latin typeface="Cambria Math" panose="02040503050406030204" pitchFamily="18" charset="0"/>
                                <a:cs typeface="Times New Roman" panose="02020603050405020304" pitchFamily="18" charset="0"/>
                              </a:rPr>
                            </m:ctrlPr>
                          </m:sSubPr>
                          <m:e>
                            <m:r>
                              <a:rPr lang="en-IN" sz="2000" b="0" i="1" dirty="0" smtClean="0">
                                <a:latin typeface="Cambria Math" panose="02040503050406030204" pitchFamily="18" charset="0"/>
                                <a:cs typeface="Times New Roman" panose="02020603050405020304" pitchFamily="18" charset="0"/>
                              </a:rPr>
                              <m:t>𝑎</m:t>
                            </m:r>
                          </m:e>
                          <m:sub>
                            <m:r>
                              <a:rPr lang="en-IN" sz="2000" b="0" i="1" dirty="0" smtClean="0">
                                <a:latin typeface="Cambria Math" panose="02040503050406030204" pitchFamily="18" charset="0"/>
                                <a:cs typeface="Times New Roman" panose="02020603050405020304" pitchFamily="18" charset="0"/>
                              </a:rPr>
                              <m:t>𝑖𝑗</m:t>
                            </m:r>
                          </m:sub>
                        </m:sSub>
                        <m:sSub>
                          <m:sSubPr>
                            <m:ctrlPr>
                              <a:rPr lang="en-IN" sz="2000" i="1" dirty="0" smtClean="0">
                                <a:latin typeface="Cambria Math" panose="02040503050406030204" pitchFamily="18" charset="0"/>
                                <a:cs typeface="Times New Roman" panose="02020603050405020304" pitchFamily="18" charset="0"/>
                              </a:rPr>
                            </m:ctrlPr>
                          </m:sSubPr>
                          <m:e>
                            <m:r>
                              <a:rPr lang="en-IN" sz="2000" b="0" i="1" dirty="0" smtClean="0">
                                <a:latin typeface="Cambria Math" panose="02040503050406030204" pitchFamily="18" charset="0"/>
                                <a:cs typeface="Times New Roman" panose="02020603050405020304" pitchFamily="18" charset="0"/>
                              </a:rPr>
                              <m:t>𝑣</m:t>
                            </m:r>
                          </m:e>
                          <m:sub>
                            <m:r>
                              <a:rPr lang="en-IN" sz="2000" b="0" i="1" dirty="0" smtClean="0">
                                <a:latin typeface="Cambria Math" panose="02040503050406030204" pitchFamily="18" charset="0"/>
                                <a:cs typeface="Times New Roman" panose="02020603050405020304" pitchFamily="18" charset="0"/>
                              </a:rPr>
                              <m:t>𝑖</m:t>
                            </m:r>
                          </m:sub>
                        </m:sSub>
                      </m:e>
                    </m:nary>
                  </m:oMath>
                </a14:m>
                <a:endParaRPr lang="en-IN" sz="2000" dirty="0">
                  <a:latin typeface="Arial Narrow" panose="020B0606020202030204" pitchFamily="34" charset="0"/>
                  <a:cs typeface="Times New Roman" panose="02020603050405020304" pitchFamily="18" charset="0"/>
                </a:endParaRPr>
              </a:p>
            </p:txBody>
          </p:sp>
        </mc:Choice>
        <mc:Fallback xmlns="">
          <p:sp>
            <p:nvSpPr>
              <p:cNvPr id="62" name="TextBox 61">
                <a:extLst>
                  <a:ext uri="{FF2B5EF4-FFF2-40B4-BE49-F238E27FC236}">
                    <a16:creationId xmlns:a16="http://schemas.microsoft.com/office/drawing/2014/main" id="{086F0207-6EE0-4AC4-BD2F-4600D077A09E}"/>
                  </a:ext>
                </a:extLst>
              </p:cNvPr>
              <p:cNvSpPr txBox="1">
                <a:spLocks noRot="1" noChangeAspect="1" noMove="1" noResize="1" noEditPoints="1" noAdjustHandles="1" noChangeArrowheads="1" noChangeShapeType="1" noTextEdit="1"/>
              </p:cNvSpPr>
              <p:nvPr/>
            </p:nvSpPr>
            <p:spPr>
              <a:xfrm>
                <a:off x="4590851" y="4286660"/>
                <a:ext cx="3230143" cy="2342629"/>
              </a:xfrm>
              <a:prstGeom prst="rect">
                <a:avLst/>
              </a:prstGeom>
              <a:blipFill>
                <a:blip r:embed="rId2"/>
                <a:stretch>
                  <a:fillRect l="-1887" t="-1302" b="-29427"/>
                </a:stretch>
              </a:blipFill>
            </p:spPr>
            <p:txBody>
              <a:bodyPr/>
              <a:lstStyle/>
              <a:p>
                <a:r>
                  <a:rPr lang="en-IN">
                    <a:noFill/>
                  </a:rPr>
                  <a:t> </a:t>
                </a:r>
              </a:p>
            </p:txBody>
          </p:sp>
        </mc:Fallback>
      </mc:AlternateContent>
      <p:sp>
        <p:nvSpPr>
          <p:cNvPr id="64" name="TextBox 63">
            <a:extLst>
              <a:ext uri="{FF2B5EF4-FFF2-40B4-BE49-F238E27FC236}">
                <a16:creationId xmlns:a16="http://schemas.microsoft.com/office/drawing/2014/main" id="{42041928-98FF-4E1F-8EF9-F54454ED2806}"/>
              </a:ext>
            </a:extLst>
          </p:cNvPr>
          <p:cNvSpPr txBox="1"/>
          <p:nvPr/>
        </p:nvSpPr>
        <p:spPr>
          <a:xfrm>
            <a:off x="1406261" y="2130832"/>
            <a:ext cx="2995009" cy="1631216"/>
          </a:xfrm>
          <a:prstGeom prst="rect">
            <a:avLst/>
          </a:prstGeom>
          <a:noFill/>
        </p:spPr>
        <p:txBody>
          <a:bodyPr wrap="square" rtlCol="0">
            <a:spAutoFit/>
          </a:bodyPr>
          <a:lstStyle/>
          <a:p>
            <a:r>
              <a:rPr lang="en-IN" sz="2000" dirty="0">
                <a:latin typeface="Arial Narrow" panose="020B0606020202030204" pitchFamily="34" charset="0"/>
                <a:cs typeface="Times New Roman" panose="02020603050405020304" pitchFamily="18" charset="0"/>
              </a:rPr>
              <a:t>Inputs:</a:t>
            </a:r>
          </a:p>
          <a:p>
            <a:r>
              <a:rPr lang="en-IN" sz="2000" dirty="0">
                <a:latin typeface="Arial Narrow" panose="020B0606020202030204" pitchFamily="34" charset="0"/>
                <a:cs typeface="Times New Roman" panose="02020603050405020304" pitchFamily="18" charset="0"/>
              </a:rPr>
              <a:t>Input Vector X </a:t>
            </a:r>
          </a:p>
          <a:p>
            <a:r>
              <a:rPr lang="en-IN" sz="2000" dirty="0">
                <a:latin typeface="Arial Narrow" panose="020B0606020202030204" pitchFamily="34" charset="0"/>
                <a:cs typeface="Times New Roman" panose="02020603050405020304" pitchFamily="18" charset="0"/>
              </a:rPr>
              <a:t>(Dimension : </a:t>
            </a:r>
            <a:r>
              <a:rPr lang="en-IN" sz="2000" dirty="0" err="1">
                <a:latin typeface="Arial Narrow" panose="020B0606020202030204" pitchFamily="34" charset="0"/>
                <a:cs typeface="Times New Roman" panose="02020603050405020304" pitchFamily="18" charset="0"/>
              </a:rPr>
              <a:t>NxD</a:t>
            </a:r>
            <a:r>
              <a:rPr lang="en-IN" sz="2000" dirty="0">
                <a:latin typeface="Arial Narrow" panose="020B0606020202030204" pitchFamily="34" charset="0"/>
                <a:cs typeface="Times New Roman" panose="02020603050405020304" pitchFamily="18" charset="0"/>
              </a:rPr>
              <a:t>)</a:t>
            </a:r>
          </a:p>
          <a:p>
            <a:r>
              <a:rPr lang="en-IN" sz="2000" strike="sngStrike" dirty="0">
                <a:solidFill>
                  <a:srgbClr val="C00000"/>
                </a:solidFill>
                <a:latin typeface="Arial Narrow" panose="020B0606020202030204" pitchFamily="34" charset="0"/>
                <a:cs typeface="Times New Roman" panose="02020603050405020304" pitchFamily="18" charset="0"/>
              </a:rPr>
              <a:t>Query Vector q (shape : </a:t>
            </a:r>
            <a:r>
              <a:rPr lang="en-IN" sz="2000" strike="sngStrike" dirty="0" err="1">
                <a:solidFill>
                  <a:srgbClr val="C00000"/>
                </a:solidFill>
                <a:latin typeface="Arial Narrow" panose="020B0606020202030204" pitchFamily="34" charset="0"/>
                <a:cs typeface="Times New Roman" panose="02020603050405020304" pitchFamily="18" charset="0"/>
              </a:rPr>
              <a:t>MxD</a:t>
            </a:r>
            <a:r>
              <a:rPr lang="en-IN" sz="2000" strike="sngStrike" baseline="-25000" dirty="0" err="1">
                <a:solidFill>
                  <a:srgbClr val="C00000"/>
                </a:solidFill>
                <a:latin typeface="Arial Narrow" panose="020B0606020202030204" pitchFamily="34" charset="0"/>
                <a:cs typeface="Times New Roman" panose="02020603050405020304" pitchFamily="18" charset="0"/>
              </a:rPr>
              <a:t>k</a:t>
            </a:r>
            <a:r>
              <a:rPr lang="en-IN" sz="2000" strike="sngStrike" dirty="0">
                <a:solidFill>
                  <a:srgbClr val="C00000"/>
                </a:solidFill>
                <a:latin typeface="Arial Narrow" panose="020B0606020202030204" pitchFamily="34" charset="0"/>
                <a:cs typeface="Times New Roman" panose="02020603050405020304" pitchFamily="18" charset="0"/>
              </a:rPr>
              <a:t>)</a:t>
            </a:r>
          </a:p>
        </p:txBody>
      </p:sp>
      <p:sp>
        <p:nvSpPr>
          <p:cNvPr id="113" name="Rectangle 112">
            <a:extLst>
              <a:ext uri="{FF2B5EF4-FFF2-40B4-BE49-F238E27FC236}">
                <a16:creationId xmlns:a16="http://schemas.microsoft.com/office/drawing/2014/main" id="{7CFAC49A-1C88-4DD7-9DB7-274196E3E572}"/>
              </a:ext>
            </a:extLst>
          </p:cNvPr>
          <p:cNvSpPr/>
          <p:nvPr/>
        </p:nvSpPr>
        <p:spPr>
          <a:xfrm>
            <a:off x="4590851" y="5930519"/>
            <a:ext cx="3087372" cy="295603"/>
          </a:xfrm>
          <a:prstGeom prst="rect">
            <a:avLst/>
          </a:prstGeom>
          <a:solidFill>
            <a:schemeClr val="accent1">
              <a:lumMod val="40000"/>
              <a:lumOff val="60000"/>
              <a:alpha val="2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16" name="Title 3">
            <a:extLst>
              <a:ext uri="{FF2B5EF4-FFF2-40B4-BE49-F238E27FC236}">
                <a16:creationId xmlns:a16="http://schemas.microsoft.com/office/drawing/2014/main" id="{F28FCD7B-C192-43CE-B0DB-5FAB60C2282F}"/>
              </a:ext>
            </a:extLst>
          </p:cNvPr>
          <p:cNvSpPr>
            <a:spLocks noGrp="1"/>
          </p:cNvSpPr>
          <p:nvPr>
            <p:ph type="title"/>
          </p:nvPr>
        </p:nvSpPr>
        <p:spPr>
          <a:xfrm>
            <a:off x="783793" y="406006"/>
            <a:ext cx="10515600" cy="501338"/>
          </a:xfrm>
        </p:spPr>
        <p:txBody>
          <a:bodyPr>
            <a:noAutofit/>
          </a:bodyPr>
          <a:lstStyle/>
          <a:p>
            <a:r>
              <a:rPr lang="en-IN" sz="3600" dirty="0">
                <a:latin typeface="Century" panose="02040604050505020304" pitchFamily="18" charset="0"/>
              </a:rPr>
              <a:t>Self Attention Layer</a:t>
            </a:r>
          </a:p>
        </p:txBody>
      </p:sp>
      <p:sp>
        <p:nvSpPr>
          <p:cNvPr id="32" name="TextBox 31">
            <a:extLst>
              <a:ext uri="{FF2B5EF4-FFF2-40B4-BE49-F238E27FC236}">
                <a16:creationId xmlns:a16="http://schemas.microsoft.com/office/drawing/2014/main" id="{B034C6E9-E7AD-4423-B922-033E498B02C2}"/>
              </a:ext>
            </a:extLst>
          </p:cNvPr>
          <p:cNvSpPr txBox="1"/>
          <p:nvPr/>
        </p:nvSpPr>
        <p:spPr>
          <a:xfrm>
            <a:off x="7157067" y="6492874"/>
            <a:ext cx="4951429" cy="307777"/>
          </a:xfrm>
          <a:prstGeom prst="rect">
            <a:avLst/>
          </a:prstGeom>
          <a:noFill/>
        </p:spPr>
        <p:txBody>
          <a:bodyPr wrap="square" rtlCol="0">
            <a:spAutoFit/>
          </a:bodyPr>
          <a:lstStyle/>
          <a:p>
            <a:r>
              <a:rPr lang="en-IN" sz="1400" dirty="0">
                <a:latin typeface="Arial Narrow" panose="020B0606020202030204" pitchFamily="34" charset="0"/>
                <a:cs typeface="Times New Roman" panose="02020603050405020304" pitchFamily="18" charset="0"/>
              </a:rPr>
              <a:t>Concept: Fei-Fei Li Attention and Transformers CS231n Stanford Lecture</a:t>
            </a:r>
          </a:p>
        </p:txBody>
      </p:sp>
      <p:grpSp>
        <p:nvGrpSpPr>
          <p:cNvPr id="34" name="Group 33"/>
          <p:cNvGrpSpPr/>
          <p:nvPr/>
        </p:nvGrpSpPr>
        <p:grpSpPr>
          <a:xfrm>
            <a:off x="126819" y="3765217"/>
            <a:ext cx="4365470" cy="2881546"/>
            <a:chOff x="661157" y="3421621"/>
            <a:chExt cx="4365470" cy="2881546"/>
          </a:xfrm>
        </p:grpSpPr>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CB478EDF-F147-4A46-ACD7-767B4A547BF2}"/>
                    </a:ext>
                  </a:extLst>
                </p:cNvPr>
                <p:cNvSpPr txBox="1"/>
                <p:nvPr/>
              </p:nvSpPr>
              <p:spPr>
                <a:xfrm rot="10800000" flipV="1">
                  <a:off x="2458341" y="4385469"/>
                  <a:ext cx="499716" cy="454432"/>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a:latin typeface="Cambria Math" panose="02040503050406030204" pitchFamily="18" charset="0"/>
                              </a:rPr>
                            </m:ctrlPr>
                          </m:sSubPr>
                          <m:e>
                            <m:r>
                              <a:rPr lang="en-IN" sz="1500" i="1">
                                <a:latin typeface="Cambria Math" panose="02040503050406030204" pitchFamily="18" charset="0"/>
                              </a:rPr>
                              <m:t>𝑞</m:t>
                            </m:r>
                          </m:e>
                          <m:sub>
                            <m:r>
                              <a:rPr lang="en-IN" sz="1500" i="1">
                                <a:latin typeface="Cambria Math" panose="02040503050406030204" pitchFamily="18" charset="0"/>
                              </a:rPr>
                              <m:t>1</m:t>
                            </m:r>
                          </m:sub>
                        </m:sSub>
                      </m:oMath>
                    </m:oMathPara>
                  </a14:m>
                  <a:endParaRPr lang="en-IN" sz="1500" dirty="0">
                    <a:latin typeface="Arial Narrow" panose="020B0606020202030204" pitchFamily="34" charset="0"/>
                  </a:endParaRPr>
                </a:p>
              </p:txBody>
            </p:sp>
          </mc:Choice>
          <mc:Fallback xmlns="">
            <p:sp>
              <p:nvSpPr>
                <p:cNvPr id="35" name="TextBox 34">
                  <a:extLst>
                    <a:ext uri="{FF2B5EF4-FFF2-40B4-BE49-F238E27FC236}">
                      <a16:creationId xmlns:a16="http://schemas.microsoft.com/office/drawing/2014/main" id="{CB478EDF-F147-4A46-ACD7-767B4A547BF2}"/>
                    </a:ext>
                  </a:extLst>
                </p:cNvPr>
                <p:cNvSpPr txBox="1">
                  <a:spLocks noRot="1" noChangeAspect="1" noMove="1" noResize="1" noEditPoints="1" noAdjustHandles="1" noChangeArrowheads="1" noChangeShapeType="1" noTextEdit="1"/>
                </p:cNvSpPr>
                <p:nvPr/>
              </p:nvSpPr>
              <p:spPr>
                <a:xfrm rot="10800000" flipV="1">
                  <a:off x="2458341" y="4385469"/>
                  <a:ext cx="499716" cy="454432"/>
                </a:xfrm>
                <a:prstGeom prst="ellipse">
                  <a:avLst/>
                </a:prstGeom>
                <a:blipFill>
                  <a:blip r:embed="rId3"/>
                  <a:stretch>
                    <a:fillRect/>
                  </a:stretch>
                </a:blipFill>
                <a:ln w="12700">
                  <a:solidFill>
                    <a:schemeClr val="tx1"/>
                  </a:solidFill>
                </a:ln>
              </p:spPr>
              <p:txBody>
                <a:bodyPr/>
                <a:lstStyle/>
                <a:p>
                  <a:r>
                    <a:rPr lang="en-IN">
                      <a:noFill/>
                    </a:rPr>
                    <a:t> </a:t>
                  </a:r>
                </a:p>
              </p:txBody>
            </p:sp>
          </mc:Fallback>
        </mc:AlternateContent>
        <p:cxnSp>
          <p:nvCxnSpPr>
            <p:cNvPr id="37" name="Straight Arrow Connector 36">
              <a:extLst>
                <a:ext uri="{FF2B5EF4-FFF2-40B4-BE49-F238E27FC236}">
                  <a16:creationId xmlns:a16="http://schemas.microsoft.com/office/drawing/2014/main" id="{20C9C6AC-19F5-4564-9E13-1B8D0A63390D}"/>
                </a:ext>
              </a:extLst>
            </p:cNvPr>
            <p:cNvCxnSpPr>
              <a:stCxn id="35" idx="2"/>
            </p:cNvCxnSpPr>
            <p:nvPr/>
          </p:nvCxnSpPr>
          <p:spPr>
            <a:xfrm>
              <a:off x="2958057" y="4612685"/>
              <a:ext cx="482465" cy="2"/>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CB478EDF-F147-4A46-ACD7-767B4A547BF2}"/>
                    </a:ext>
                  </a:extLst>
                </p:cNvPr>
                <p:cNvSpPr txBox="1"/>
                <p:nvPr/>
              </p:nvSpPr>
              <p:spPr>
                <a:xfrm rot="10800000" flipV="1">
                  <a:off x="2458341" y="3903546"/>
                  <a:ext cx="499716" cy="454432"/>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i="1">
                                <a:latin typeface="Cambria Math" panose="02040503050406030204" pitchFamily="18" charset="0"/>
                              </a:rPr>
                              <m:t>𝑞</m:t>
                            </m:r>
                          </m:e>
                          <m:sub>
                            <m:r>
                              <a:rPr lang="en-IN" sz="1500" b="0" i="1" smtClean="0">
                                <a:latin typeface="Cambria Math" panose="02040503050406030204" pitchFamily="18" charset="0"/>
                              </a:rPr>
                              <m:t>2</m:t>
                            </m:r>
                          </m:sub>
                        </m:sSub>
                      </m:oMath>
                    </m:oMathPara>
                  </a14:m>
                  <a:endParaRPr lang="en-IN" sz="1500" dirty="0">
                    <a:latin typeface="Arial Narrow" panose="020B0606020202030204" pitchFamily="34" charset="0"/>
                  </a:endParaRPr>
                </a:p>
              </p:txBody>
            </p:sp>
          </mc:Choice>
          <mc:Fallback xmlns="">
            <p:sp>
              <p:nvSpPr>
                <p:cNvPr id="39" name="TextBox 38">
                  <a:extLst>
                    <a:ext uri="{FF2B5EF4-FFF2-40B4-BE49-F238E27FC236}">
                      <a16:creationId xmlns:a16="http://schemas.microsoft.com/office/drawing/2014/main" id="{CB478EDF-F147-4A46-ACD7-767B4A547BF2}"/>
                    </a:ext>
                  </a:extLst>
                </p:cNvPr>
                <p:cNvSpPr txBox="1">
                  <a:spLocks noRot="1" noChangeAspect="1" noMove="1" noResize="1" noEditPoints="1" noAdjustHandles="1" noChangeArrowheads="1" noChangeShapeType="1" noTextEdit="1"/>
                </p:cNvSpPr>
                <p:nvPr/>
              </p:nvSpPr>
              <p:spPr>
                <a:xfrm rot="10800000" flipV="1">
                  <a:off x="2458341" y="3903546"/>
                  <a:ext cx="499716" cy="454432"/>
                </a:xfrm>
                <a:prstGeom prst="ellipse">
                  <a:avLst/>
                </a:prstGeom>
                <a:blipFill>
                  <a:blip r:embed="rId4"/>
                  <a:stretch>
                    <a:fillRect/>
                  </a:stretch>
                </a:blipFill>
                <a:ln w="12700">
                  <a:solidFill>
                    <a:schemeClr val="tx1"/>
                  </a:solidFill>
                </a:ln>
              </p:spPr>
              <p:txBody>
                <a:bodyPr/>
                <a:lstStyle/>
                <a:p>
                  <a:r>
                    <a:rPr lang="en-IN">
                      <a:noFill/>
                    </a:rPr>
                    <a:t> </a:t>
                  </a:r>
                </a:p>
              </p:txBody>
            </p:sp>
          </mc:Fallback>
        </mc:AlternateContent>
        <p:cxnSp>
          <p:nvCxnSpPr>
            <p:cNvPr id="40" name="Straight Arrow Connector 39">
              <a:extLst>
                <a:ext uri="{FF2B5EF4-FFF2-40B4-BE49-F238E27FC236}">
                  <a16:creationId xmlns:a16="http://schemas.microsoft.com/office/drawing/2014/main" id="{20C9C6AC-19F5-4564-9E13-1B8D0A63390D}"/>
                </a:ext>
              </a:extLst>
            </p:cNvPr>
            <p:cNvCxnSpPr>
              <a:stCxn id="39" idx="2"/>
            </p:cNvCxnSpPr>
            <p:nvPr/>
          </p:nvCxnSpPr>
          <p:spPr>
            <a:xfrm>
              <a:off x="2958057" y="4130762"/>
              <a:ext cx="482465" cy="1"/>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CB478EDF-F147-4A46-ACD7-767B4A547BF2}"/>
                    </a:ext>
                  </a:extLst>
                </p:cNvPr>
                <p:cNvSpPr txBox="1"/>
                <p:nvPr/>
              </p:nvSpPr>
              <p:spPr>
                <a:xfrm rot="10800000" flipV="1">
                  <a:off x="2458341" y="3421621"/>
                  <a:ext cx="499716" cy="454432"/>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i="1">
                                <a:latin typeface="Cambria Math" panose="02040503050406030204" pitchFamily="18" charset="0"/>
                              </a:rPr>
                              <m:t>𝑞</m:t>
                            </m:r>
                          </m:e>
                          <m:sub>
                            <m:r>
                              <a:rPr lang="en-IN" sz="1500" b="0" i="1" smtClean="0">
                                <a:latin typeface="Cambria Math" panose="02040503050406030204" pitchFamily="18" charset="0"/>
                              </a:rPr>
                              <m:t>3</m:t>
                            </m:r>
                          </m:sub>
                        </m:sSub>
                      </m:oMath>
                    </m:oMathPara>
                  </a14:m>
                  <a:endParaRPr lang="en-IN" sz="1500" dirty="0">
                    <a:latin typeface="Arial Narrow" panose="020B0606020202030204" pitchFamily="34" charset="0"/>
                  </a:endParaRPr>
                </a:p>
              </p:txBody>
            </p:sp>
          </mc:Choice>
          <mc:Fallback xmlns="">
            <p:sp>
              <p:nvSpPr>
                <p:cNvPr id="41" name="TextBox 40">
                  <a:extLst>
                    <a:ext uri="{FF2B5EF4-FFF2-40B4-BE49-F238E27FC236}">
                      <a16:creationId xmlns:a16="http://schemas.microsoft.com/office/drawing/2014/main" id="{CB478EDF-F147-4A46-ACD7-767B4A547BF2}"/>
                    </a:ext>
                  </a:extLst>
                </p:cNvPr>
                <p:cNvSpPr txBox="1">
                  <a:spLocks noRot="1" noChangeAspect="1" noMove="1" noResize="1" noEditPoints="1" noAdjustHandles="1" noChangeArrowheads="1" noChangeShapeType="1" noTextEdit="1"/>
                </p:cNvSpPr>
                <p:nvPr/>
              </p:nvSpPr>
              <p:spPr>
                <a:xfrm rot="10800000" flipV="1">
                  <a:off x="2458341" y="3421621"/>
                  <a:ext cx="499716" cy="454432"/>
                </a:xfrm>
                <a:prstGeom prst="ellipse">
                  <a:avLst/>
                </a:prstGeom>
                <a:blipFill>
                  <a:blip r:embed="rId5"/>
                  <a:stretch>
                    <a:fillRect/>
                  </a:stretch>
                </a:blipFill>
                <a:ln w="12700">
                  <a:solidFill>
                    <a:schemeClr val="tx1"/>
                  </a:solidFill>
                </a:ln>
              </p:spPr>
              <p:txBody>
                <a:bodyPr/>
                <a:lstStyle/>
                <a:p>
                  <a:r>
                    <a:rPr lang="en-IN">
                      <a:noFill/>
                    </a:rPr>
                    <a:t> </a:t>
                  </a:r>
                </a:p>
              </p:txBody>
            </p:sp>
          </mc:Fallback>
        </mc:AlternateContent>
        <p:cxnSp>
          <p:nvCxnSpPr>
            <p:cNvPr id="42" name="Straight Arrow Connector 41">
              <a:extLst>
                <a:ext uri="{FF2B5EF4-FFF2-40B4-BE49-F238E27FC236}">
                  <a16:creationId xmlns:a16="http://schemas.microsoft.com/office/drawing/2014/main" id="{20C9C6AC-19F5-4564-9E13-1B8D0A63390D}"/>
                </a:ext>
              </a:extLst>
            </p:cNvPr>
            <p:cNvCxnSpPr>
              <a:stCxn id="41" idx="2"/>
            </p:cNvCxnSpPr>
            <p:nvPr/>
          </p:nvCxnSpPr>
          <p:spPr>
            <a:xfrm>
              <a:off x="2958057" y="3648837"/>
              <a:ext cx="482465" cy="1"/>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98434757-453A-49BA-B417-238E5FFE6B79}"/>
                    </a:ext>
                  </a:extLst>
                </p:cNvPr>
                <p:cNvSpPr txBox="1"/>
                <p:nvPr/>
              </p:nvSpPr>
              <p:spPr>
                <a:xfrm rot="10800000" flipV="1">
                  <a:off x="4530981" y="5267986"/>
                  <a:ext cx="495646" cy="454432"/>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𝑥</m:t>
                            </m:r>
                          </m:e>
                          <m:sub>
                            <m:r>
                              <a:rPr lang="en-IN" sz="1500" b="0" i="1" smtClean="0">
                                <a:latin typeface="Cambria Math" panose="02040503050406030204" pitchFamily="18" charset="0"/>
                              </a:rPr>
                              <m:t>1</m:t>
                            </m:r>
                          </m:sub>
                        </m:sSub>
                      </m:oMath>
                    </m:oMathPara>
                  </a14:m>
                  <a:endParaRPr lang="en-IN" sz="1500" dirty="0">
                    <a:latin typeface="Arial Narrow" panose="020B0606020202030204" pitchFamily="34" charset="0"/>
                  </a:endParaRPr>
                </a:p>
              </p:txBody>
            </p:sp>
          </mc:Choice>
          <mc:Fallback xmlns="">
            <p:sp>
              <p:nvSpPr>
                <p:cNvPr id="43" name="TextBox 42">
                  <a:extLst>
                    <a:ext uri="{FF2B5EF4-FFF2-40B4-BE49-F238E27FC236}">
                      <a16:creationId xmlns:a16="http://schemas.microsoft.com/office/drawing/2014/main" id="{98434757-453A-49BA-B417-238E5FFE6B79}"/>
                    </a:ext>
                  </a:extLst>
                </p:cNvPr>
                <p:cNvSpPr txBox="1">
                  <a:spLocks noRot="1" noChangeAspect="1" noMove="1" noResize="1" noEditPoints="1" noAdjustHandles="1" noChangeArrowheads="1" noChangeShapeType="1" noTextEdit="1"/>
                </p:cNvSpPr>
                <p:nvPr/>
              </p:nvSpPr>
              <p:spPr>
                <a:xfrm rot="10800000" flipV="1">
                  <a:off x="4530981" y="5267986"/>
                  <a:ext cx="495646" cy="454432"/>
                </a:xfrm>
                <a:prstGeom prst="ellipse">
                  <a:avLst/>
                </a:prstGeom>
                <a:blipFill>
                  <a:blip r:embed="rId6"/>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B8E17763-565A-4B77-80A1-9B07A3DF1DA4}"/>
                    </a:ext>
                  </a:extLst>
                </p:cNvPr>
                <p:cNvSpPr txBox="1"/>
                <p:nvPr/>
              </p:nvSpPr>
              <p:spPr>
                <a:xfrm rot="10800000" flipV="1">
                  <a:off x="3979089" y="5264817"/>
                  <a:ext cx="495646" cy="454432"/>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𝑥</m:t>
                            </m:r>
                          </m:e>
                          <m:sub>
                            <m:r>
                              <a:rPr lang="en-IN" sz="1500" b="0" i="1" smtClean="0">
                                <a:latin typeface="Cambria Math" panose="02040503050406030204" pitchFamily="18" charset="0"/>
                              </a:rPr>
                              <m:t>2</m:t>
                            </m:r>
                          </m:sub>
                        </m:sSub>
                      </m:oMath>
                    </m:oMathPara>
                  </a14:m>
                  <a:endParaRPr lang="en-IN" sz="1500" dirty="0">
                    <a:latin typeface="Arial Narrow" panose="020B0606020202030204" pitchFamily="34" charset="0"/>
                  </a:endParaRPr>
                </a:p>
              </p:txBody>
            </p:sp>
          </mc:Choice>
          <mc:Fallback xmlns="">
            <p:sp>
              <p:nvSpPr>
                <p:cNvPr id="44" name="TextBox 43">
                  <a:extLst>
                    <a:ext uri="{FF2B5EF4-FFF2-40B4-BE49-F238E27FC236}">
                      <a16:creationId xmlns:a16="http://schemas.microsoft.com/office/drawing/2014/main" id="{B8E17763-565A-4B77-80A1-9B07A3DF1DA4}"/>
                    </a:ext>
                  </a:extLst>
                </p:cNvPr>
                <p:cNvSpPr txBox="1">
                  <a:spLocks noRot="1" noChangeAspect="1" noMove="1" noResize="1" noEditPoints="1" noAdjustHandles="1" noChangeArrowheads="1" noChangeShapeType="1" noTextEdit="1"/>
                </p:cNvSpPr>
                <p:nvPr/>
              </p:nvSpPr>
              <p:spPr>
                <a:xfrm rot="10800000" flipV="1">
                  <a:off x="3979089" y="5264817"/>
                  <a:ext cx="495646" cy="454432"/>
                </a:xfrm>
                <a:prstGeom prst="ellipse">
                  <a:avLst/>
                </a:prstGeom>
                <a:blipFill>
                  <a:blip r:embed="rId7"/>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C8FC9D7E-BEDD-4715-866C-F8B1DB2EC23B}"/>
                    </a:ext>
                  </a:extLst>
                </p:cNvPr>
                <p:cNvSpPr txBox="1"/>
                <p:nvPr/>
              </p:nvSpPr>
              <p:spPr>
                <a:xfrm rot="10800000" flipV="1">
                  <a:off x="3438104" y="5264817"/>
                  <a:ext cx="495646" cy="454432"/>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𝑥</m:t>
                            </m:r>
                          </m:e>
                          <m:sub>
                            <m:r>
                              <a:rPr lang="en-IN" sz="1500" b="0" i="1" smtClean="0">
                                <a:latin typeface="Cambria Math" panose="02040503050406030204" pitchFamily="18" charset="0"/>
                              </a:rPr>
                              <m:t>3</m:t>
                            </m:r>
                          </m:sub>
                        </m:sSub>
                      </m:oMath>
                    </m:oMathPara>
                  </a14:m>
                  <a:endParaRPr lang="en-IN" sz="1500" dirty="0">
                    <a:latin typeface="Arial Narrow" panose="020B0606020202030204" pitchFamily="34" charset="0"/>
                  </a:endParaRPr>
                </a:p>
              </p:txBody>
            </p:sp>
          </mc:Choice>
          <mc:Fallback xmlns="">
            <p:sp>
              <p:nvSpPr>
                <p:cNvPr id="45" name="TextBox 44">
                  <a:extLst>
                    <a:ext uri="{FF2B5EF4-FFF2-40B4-BE49-F238E27FC236}">
                      <a16:creationId xmlns:a16="http://schemas.microsoft.com/office/drawing/2014/main" id="{C8FC9D7E-BEDD-4715-866C-F8B1DB2EC23B}"/>
                    </a:ext>
                  </a:extLst>
                </p:cNvPr>
                <p:cNvSpPr txBox="1">
                  <a:spLocks noRot="1" noChangeAspect="1" noMove="1" noResize="1" noEditPoints="1" noAdjustHandles="1" noChangeArrowheads="1" noChangeShapeType="1" noTextEdit="1"/>
                </p:cNvSpPr>
                <p:nvPr/>
              </p:nvSpPr>
              <p:spPr>
                <a:xfrm rot="10800000" flipV="1">
                  <a:off x="3438104" y="5264817"/>
                  <a:ext cx="495646" cy="454432"/>
                </a:xfrm>
                <a:prstGeom prst="ellipse">
                  <a:avLst/>
                </a:prstGeom>
                <a:blipFill>
                  <a:blip r:embed="rId8"/>
                  <a:stretch>
                    <a:fillRect/>
                  </a:stretch>
                </a:blipFill>
                <a:ln w="12700">
                  <a:solidFill>
                    <a:schemeClr val="tx1"/>
                  </a:solidFill>
                </a:ln>
              </p:spPr>
              <p:txBody>
                <a:bodyPr/>
                <a:lstStyle/>
                <a:p>
                  <a:r>
                    <a:rPr lang="en-IN">
                      <a:noFill/>
                    </a:rPr>
                    <a:t> </a:t>
                  </a:r>
                </a:p>
              </p:txBody>
            </p:sp>
          </mc:Fallback>
        </mc:AlternateContent>
        <p:sp>
          <p:nvSpPr>
            <p:cNvPr id="46" name="TextBox 45">
              <a:extLst>
                <a:ext uri="{FF2B5EF4-FFF2-40B4-BE49-F238E27FC236}">
                  <a16:creationId xmlns:a16="http://schemas.microsoft.com/office/drawing/2014/main" id="{03D7A7FB-37B5-491B-9275-F91C88822728}"/>
                </a:ext>
              </a:extLst>
            </p:cNvPr>
            <p:cNvSpPr txBox="1"/>
            <p:nvPr/>
          </p:nvSpPr>
          <p:spPr>
            <a:xfrm rot="10800000" flipV="1">
              <a:off x="661157" y="5964613"/>
              <a:ext cx="1313947" cy="338554"/>
            </a:xfrm>
            <a:prstGeom prst="rect">
              <a:avLst/>
            </a:prstGeom>
            <a:noFill/>
          </p:spPr>
          <p:txBody>
            <a:bodyPr wrap="square" rtlCol="0">
              <a:spAutoFit/>
            </a:bodyPr>
            <a:lstStyle/>
            <a:p>
              <a:r>
                <a:rPr lang="en-IN" sz="1600" dirty="0">
                  <a:latin typeface="Arial Narrow" panose="020B0606020202030204" pitchFamily="34" charset="0"/>
                  <a:cs typeface="Times New Roman" panose="02020603050405020304" pitchFamily="18" charset="0"/>
                </a:rPr>
                <a:t>Input Vectors</a:t>
              </a:r>
            </a:p>
          </p:txBody>
        </p:sp>
        <p:cxnSp>
          <p:nvCxnSpPr>
            <p:cNvPr id="47" name="Elbow Connector 46"/>
            <p:cNvCxnSpPr>
              <a:stCxn id="45" idx="4"/>
              <a:endCxn id="41" idx="6"/>
            </p:cNvCxnSpPr>
            <p:nvPr/>
          </p:nvCxnSpPr>
          <p:spPr>
            <a:xfrm rot="5400000" flipH="1">
              <a:off x="2036928" y="4070250"/>
              <a:ext cx="2070412" cy="1227586"/>
            </a:xfrm>
            <a:prstGeom prst="bentConnector4">
              <a:avLst>
                <a:gd name="adj1" fmla="val -35331"/>
                <a:gd name="adj2" fmla="val 143948"/>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Elbow Connector 47"/>
            <p:cNvCxnSpPr>
              <a:stCxn id="44" idx="4"/>
              <a:endCxn id="39" idx="6"/>
            </p:cNvCxnSpPr>
            <p:nvPr/>
          </p:nvCxnSpPr>
          <p:spPr>
            <a:xfrm rot="5400000" flipH="1">
              <a:off x="2548383" y="4040721"/>
              <a:ext cx="1588487" cy="1768571"/>
            </a:xfrm>
            <a:prstGeom prst="bentConnector4">
              <a:avLst>
                <a:gd name="adj1" fmla="val -31661"/>
                <a:gd name="adj2" fmla="val 119647"/>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49" name="Elbow Connector 48"/>
            <p:cNvCxnSpPr>
              <a:stCxn id="43" idx="4"/>
              <a:endCxn id="35" idx="6"/>
            </p:cNvCxnSpPr>
            <p:nvPr/>
          </p:nvCxnSpPr>
          <p:spPr>
            <a:xfrm rot="5400000" flipH="1">
              <a:off x="3063706" y="4007321"/>
              <a:ext cx="1109733" cy="2320463"/>
            </a:xfrm>
            <a:prstGeom prst="bentConnector4">
              <a:avLst>
                <a:gd name="adj1" fmla="val -22248"/>
                <a:gd name="adj2" fmla="val 108668"/>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768400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0B3CC24-ADD5-46AD-B700-625EFC651221}"/>
              </a:ext>
            </a:extLst>
          </p:cNvPr>
          <p:cNvSpPr>
            <a:spLocks noGrp="1"/>
          </p:cNvSpPr>
          <p:nvPr>
            <p:ph idx="1"/>
          </p:nvPr>
        </p:nvSpPr>
        <p:spPr/>
        <p:txBody>
          <a:bodyPr/>
          <a:lstStyle/>
          <a:p>
            <a:pPr algn="just"/>
            <a:r>
              <a:rPr lang="en-US" sz="2000" dirty="0">
                <a:latin typeface="Arial Narrow" panose="020B0606020202030204" pitchFamily="34" charset="0"/>
              </a:rPr>
              <a:t>In this setup, the Query vectors are generated through a learned fully connected (FC) linear transformation of the input, eliminating the need for separate or external query inputs.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The resulting Queries are compared with the Key vectors to compute attention scores, which determine the relevance of each element in the sequence to the others.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These attention scores are then applied to the Value vectors to produce the final context-aware representation.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This design enables the model to learn relationships and dependencies among elements within the same sequence efficiently and allows each element to dynamically incorporate relevant information from the entire sequence.</a:t>
            </a:r>
            <a:endParaRPr lang="en-US" sz="2000" dirty="0">
              <a:latin typeface="Arial Narrow" panose="020B0606020202030204" pitchFamily="34" charset="0"/>
              <a:cs typeface="Times New Roman" panose="02020603050405020304" pitchFamily="18" charset="0"/>
            </a:endParaRPr>
          </a:p>
          <a:p>
            <a:endParaRPr lang="en-IN" dirty="0"/>
          </a:p>
        </p:txBody>
      </p:sp>
      <p:sp>
        <p:nvSpPr>
          <p:cNvPr id="5" name="Title 3">
            <a:extLst>
              <a:ext uri="{FF2B5EF4-FFF2-40B4-BE49-F238E27FC236}">
                <a16:creationId xmlns:a16="http://schemas.microsoft.com/office/drawing/2014/main" id="{CF11CA96-81EA-4B59-B3B8-BC7B3B3A2865}"/>
              </a:ext>
            </a:extLst>
          </p:cNvPr>
          <p:cNvSpPr>
            <a:spLocks noGrp="1"/>
          </p:cNvSpPr>
          <p:nvPr>
            <p:ph type="title"/>
          </p:nvPr>
        </p:nvSpPr>
        <p:spPr>
          <a:xfrm>
            <a:off x="838200" y="365125"/>
            <a:ext cx="10515600" cy="1325563"/>
          </a:xfrm>
        </p:spPr>
        <p:txBody>
          <a:bodyPr>
            <a:noAutofit/>
          </a:bodyPr>
          <a:lstStyle/>
          <a:p>
            <a:r>
              <a:rPr lang="en-IN" sz="3600" dirty="0">
                <a:latin typeface="Century" panose="02040604050505020304" pitchFamily="18" charset="0"/>
              </a:rPr>
              <a:t>Self Attention Layer</a:t>
            </a:r>
          </a:p>
        </p:txBody>
      </p:sp>
    </p:spTree>
    <p:extLst>
      <p:ext uri="{BB962C8B-B14F-4D97-AF65-F5344CB8AC3E}">
        <p14:creationId xmlns:p14="http://schemas.microsoft.com/office/powerpoint/2010/main" val="308752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Rectangle 192">
            <a:extLst>
              <a:ext uri="{FF2B5EF4-FFF2-40B4-BE49-F238E27FC236}">
                <a16:creationId xmlns:a16="http://schemas.microsoft.com/office/drawing/2014/main" id="{94841180-53C1-4479-ACBD-E0ADA58C8C3B}"/>
              </a:ext>
            </a:extLst>
          </p:cNvPr>
          <p:cNvSpPr/>
          <p:nvPr/>
        </p:nvSpPr>
        <p:spPr>
          <a:xfrm>
            <a:off x="2152684" y="3004953"/>
            <a:ext cx="8548382" cy="2404462"/>
          </a:xfrm>
          <a:prstGeom prst="rect">
            <a:avLst/>
          </a:prstGeom>
          <a:solidFill>
            <a:schemeClr val="accent2">
              <a:lumMod val="40000"/>
              <a:lumOff val="60000"/>
              <a:alpha val="2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cxnSp>
        <p:nvCxnSpPr>
          <p:cNvPr id="58" name="Straight Connector 57">
            <a:extLst>
              <a:ext uri="{FF2B5EF4-FFF2-40B4-BE49-F238E27FC236}">
                <a16:creationId xmlns:a16="http://schemas.microsoft.com/office/drawing/2014/main" id="{1B0BBDC5-3F7A-42D8-B1E5-54F450CE7F0A}"/>
              </a:ext>
            </a:extLst>
          </p:cNvPr>
          <p:cNvCxnSpPr/>
          <p:nvPr/>
        </p:nvCxnSpPr>
        <p:spPr>
          <a:xfrm>
            <a:off x="5846810" y="3807013"/>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814A0750-898F-4132-B31D-6BB41D3260C4}"/>
              </a:ext>
            </a:extLst>
          </p:cNvPr>
          <p:cNvSpPr txBox="1"/>
          <p:nvPr/>
        </p:nvSpPr>
        <p:spPr>
          <a:xfrm>
            <a:off x="9417389" y="5409415"/>
            <a:ext cx="2696016" cy="584775"/>
          </a:xfrm>
          <a:prstGeom prst="rect">
            <a:avLst/>
          </a:prstGeom>
          <a:noFill/>
        </p:spPr>
        <p:txBody>
          <a:bodyPr wrap="square" rtlCol="0">
            <a:spAutoFit/>
          </a:bodyPr>
          <a:lstStyle/>
          <a:p>
            <a:r>
              <a:rPr lang="en-IN" sz="1600" dirty="0">
                <a:latin typeface="Arial Narrow" panose="020B0606020202030204" pitchFamily="34" charset="0"/>
                <a:cs typeface="Times New Roman" panose="02020603050405020304" pitchFamily="18" charset="0"/>
              </a:rPr>
              <a:t>Output:</a:t>
            </a:r>
          </a:p>
          <a:p>
            <a:r>
              <a:rPr lang="en-IN" sz="1600" dirty="0">
                <a:latin typeface="Arial Narrow" panose="020B0606020202030204" pitchFamily="34" charset="0"/>
                <a:cs typeface="Times New Roman" panose="02020603050405020304" pitchFamily="18" charset="0"/>
              </a:rPr>
              <a:t>Context Vector y (Dimension : </a:t>
            </a:r>
            <a:r>
              <a:rPr lang="en-IN" sz="1600" dirty="0" err="1">
                <a:latin typeface="Arial Narrow" panose="020B0606020202030204" pitchFamily="34" charset="0"/>
                <a:cs typeface="Times New Roman" panose="02020603050405020304" pitchFamily="18" charset="0"/>
              </a:rPr>
              <a:t>D</a:t>
            </a:r>
            <a:r>
              <a:rPr lang="en-IN" sz="1600" baseline="-25000" dirty="0" err="1">
                <a:latin typeface="Arial Narrow" panose="020B0606020202030204" pitchFamily="34" charset="0"/>
                <a:cs typeface="Times New Roman" panose="02020603050405020304" pitchFamily="18" charset="0"/>
              </a:rPr>
              <a:t>v</a:t>
            </a:r>
            <a:r>
              <a:rPr lang="en-IN" sz="1600" dirty="0">
                <a:latin typeface="Arial Narrow" panose="020B0606020202030204" pitchFamily="34"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086F0207-6EE0-4AC4-BD2F-4600D077A09E}"/>
                  </a:ext>
                </a:extLst>
              </p:cNvPr>
              <p:cNvSpPr txBox="1"/>
              <p:nvPr/>
            </p:nvSpPr>
            <p:spPr>
              <a:xfrm>
                <a:off x="7327314" y="1127104"/>
                <a:ext cx="2671558" cy="1892634"/>
              </a:xfrm>
              <a:prstGeom prst="rect">
                <a:avLst/>
              </a:prstGeom>
              <a:noFill/>
            </p:spPr>
            <p:txBody>
              <a:bodyPr wrap="square" rtlCol="0">
                <a:spAutoFit/>
              </a:bodyPr>
              <a:lstStyle/>
              <a:p>
                <a:r>
                  <a:rPr lang="en-IN" sz="1600" dirty="0">
                    <a:latin typeface="Arial Narrow" panose="020B0606020202030204" pitchFamily="34" charset="0"/>
                    <a:cs typeface="Times New Roman" panose="02020603050405020304" pitchFamily="18" charset="0"/>
                  </a:rPr>
                  <a:t>Operations:</a:t>
                </a:r>
              </a:p>
              <a:p>
                <a:r>
                  <a:rPr lang="en-IN" sz="1600" dirty="0">
                    <a:latin typeface="Arial Narrow" panose="020B0606020202030204" pitchFamily="34" charset="0"/>
                    <a:cs typeface="Times New Roman" panose="02020603050405020304" pitchFamily="18" charset="0"/>
                  </a:rPr>
                  <a:t>Key Vectors: </a:t>
                </a:r>
                <a:r>
                  <a:rPr lang="en-IN" sz="1600" b="1" dirty="0">
                    <a:solidFill>
                      <a:srgbClr val="00B050"/>
                    </a:solidFill>
                    <a:latin typeface="Arial Narrow" panose="020B0606020202030204" pitchFamily="34" charset="0"/>
                    <a:cs typeface="Times New Roman" panose="02020603050405020304" pitchFamily="18" charset="0"/>
                  </a:rPr>
                  <a:t>k</a:t>
                </a:r>
                <a:r>
                  <a:rPr lang="en-IN" sz="1600" b="1" dirty="0">
                    <a:latin typeface="Arial Narrow" panose="020B0606020202030204" pitchFamily="34" charset="0"/>
                    <a:cs typeface="Times New Roman" panose="02020603050405020304" pitchFamily="18" charset="0"/>
                  </a:rPr>
                  <a:t>=</a:t>
                </a:r>
                <a:r>
                  <a:rPr lang="en-IN" sz="1600" b="1" dirty="0" err="1">
                    <a:latin typeface="Arial Narrow" panose="020B0606020202030204" pitchFamily="34" charset="0"/>
                    <a:cs typeface="Times New Roman" panose="02020603050405020304" pitchFamily="18" charset="0"/>
                  </a:rPr>
                  <a:t>x</a:t>
                </a:r>
                <a:r>
                  <a:rPr lang="en-IN" sz="1600" b="1" dirty="0" err="1">
                    <a:solidFill>
                      <a:srgbClr val="00B050"/>
                    </a:solidFill>
                    <a:latin typeface="Arial Narrow" panose="020B0606020202030204" pitchFamily="34" charset="0"/>
                    <a:cs typeface="Times New Roman" panose="02020603050405020304" pitchFamily="18" charset="0"/>
                  </a:rPr>
                  <a:t>W</a:t>
                </a:r>
                <a:r>
                  <a:rPr lang="en-IN" sz="1600" b="1" baseline="-25000" dirty="0" err="1">
                    <a:solidFill>
                      <a:srgbClr val="00B050"/>
                    </a:solidFill>
                    <a:latin typeface="Arial Narrow" panose="020B0606020202030204" pitchFamily="34" charset="0"/>
                    <a:cs typeface="Times New Roman" panose="02020603050405020304" pitchFamily="18" charset="0"/>
                  </a:rPr>
                  <a:t>k</a:t>
                </a:r>
                <a:endParaRPr lang="en-IN" sz="1600" b="1" baseline="-25000" dirty="0">
                  <a:solidFill>
                    <a:srgbClr val="00B050"/>
                  </a:solidFill>
                  <a:latin typeface="Arial Narrow" panose="020B0606020202030204" pitchFamily="34" charset="0"/>
                  <a:cs typeface="Times New Roman" panose="02020603050405020304" pitchFamily="18" charset="0"/>
                </a:endParaRPr>
              </a:p>
              <a:p>
                <a:r>
                  <a:rPr lang="en-IN" sz="1600" dirty="0">
                    <a:latin typeface="Arial Narrow" panose="020B0606020202030204" pitchFamily="34" charset="0"/>
                    <a:cs typeface="Times New Roman" panose="02020603050405020304" pitchFamily="18" charset="0"/>
                  </a:rPr>
                  <a:t>Value Vectors: </a:t>
                </a:r>
                <a:r>
                  <a:rPr lang="en-IN" sz="1600" b="1" dirty="0">
                    <a:solidFill>
                      <a:srgbClr val="C00000"/>
                    </a:solidFill>
                    <a:latin typeface="Arial Narrow" panose="020B0606020202030204" pitchFamily="34" charset="0"/>
                    <a:cs typeface="Times New Roman" panose="02020603050405020304" pitchFamily="18" charset="0"/>
                  </a:rPr>
                  <a:t>v</a:t>
                </a:r>
                <a:r>
                  <a:rPr lang="en-IN" sz="1600" b="1" dirty="0">
                    <a:latin typeface="Arial Narrow" panose="020B0606020202030204" pitchFamily="34" charset="0"/>
                    <a:cs typeface="Times New Roman" panose="02020603050405020304" pitchFamily="18" charset="0"/>
                  </a:rPr>
                  <a:t>=</a:t>
                </a:r>
                <a:r>
                  <a:rPr lang="en-IN" sz="1600" b="1" dirty="0" err="1">
                    <a:latin typeface="Arial Narrow" panose="020B0606020202030204" pitchFamily="34" charset="0"/>
                    <a:cs typeface="Times New Roman" panose="02020603050405020304" pitchFamily="18" charset="0"/>
                  </a:rPr>
                  <a:t>x</a:t>
                </a:r>
                <a:r>
                  <a:rPr lang="en-IN" sz="1600" b="1" dirty="0" err="1">
                    <a:solidFill>
                      <a:srgbClr val="C00000"/>
                    </a:solidFill>
                    <a:latin typeface="Arial Narrow" panose="020B0606020202030204" pitchFamily="34" charset="0"/>
                    <a:cs typeface="Times New Roman" panose="02020603050405020304" pitchFamily="18" charset="0"/>
                  </a:rPr>
                  <a:t>W</a:t>
                </a:r>
                <a:r>
                  <a:rPr lang="en-IN" sz="1600" b="1" baseline="-25000" dirty="0" err="1">
                    <a:solidFill>
                      <a:srgbClr val="C00000"/>
                    </a:solidFill>
                    <a:latin typeface="Arial Narrow" panose="020B0606020202030204" pitchFamily="34" charset="0"/>
                    <a:cs typeface="Times New Roman" panose="02020603050405020304" pitchFamily="18" charset="0"/>
                  </a:rPr>
                  <a:t>v</a:t>
                </a:r>
                <a:endParaRPr lang="en-IN" sz="1600" b="1" baseline="-25000" dirty="0">
                  <a:solidFill>
                    <a:srgbClr val="C00000"/>
                  </a:solidFill>
                  <a:latin typeface="Arial Narrow" panose="020B0606020202030204" pitchFamily="34" charset="0"/>
                  <a:cs typeface="Times New Roman" panose="02020603050405020304" pitchFamily="18" charset="0"/>
                </a:endParaRPr>
              </a:p>
              <a:p>
                <a:r>
                  <a:rPr lang="en-IN" sz="1600" dirty="0">
                    <a:latin typeface="Arial Narrow" panose="020B0606020202030204" pitchFamily="34" charset="0"/>
                    <a:cs typeface="Times New Roman" panose="02020603050405020304" pitchFamily="18" charset="0"/>
                  </a:rPr>
                  <a:t>Query Vector: </a:t>
                </a:r>
                <a:r>
                  <a:rPr lang="en-IN" sz="1600" b="1" dirty="0">
                    <a:solidFill>
                      <a:srgbClr val="7030A0"/>
                    </a:solidFill>
                    <a:latin typeface="Arial Narrow" panose="020B0606020202030204" pitchFamily="34" charset="0"/>
                    <a:cs typeface="Times New Roman" panose="02020603050405020304" pitchFamily="18" charset="0"/>
                  </a:rPr>
                  <a:t>q</a:t>
                </a:r>
                <a:r>
                  <a:rPr lang="en-IN" sz="1600" b="1" dirty="0">
                    <a:latin typeface="Arial Narrow" panose="020B0606020202030204" pitchFamily="34" charset="0"/>
                    <a:cs typeface="Times New Roman" panose="02020603050405020304" pitchFamily="18" charset="0"/>
                  </a:rPr>
                  <a:t>= </a:t>
                </a:r>
                <a:r>
                  <a:rPr lang="en-IN" sz="1600" b="1" dirty="0" err="1">
                    <a:latin typeface="Arial Narrow" panose="020B0606020202030204" pitchFamily="34" charset="0"/>
                    <a:cs typeface="Times New Roman" panose="02020603050405020304" pitchFamily="18" charset="0"/>
                  </a:rPr>
                  <a:t>x</a:t>
                </a:r>
                <a:r>
                  <a:rPr lang="en-IN" sz="1600" b="1" dirty="0" err="1">
                    <a:solidFill>
                      <a:srgbClr val="7030A0"/>
                    </a:solidFill>
                    <a:latin typeface="Arial Narrow" panose="020B0606020202030204" pitchFamily="34" charset="0"/>
                    <a:cs typeface="Times New Roman" panose="02020603050405020304" pitchFamily="18" charset="0"/>
                  </a:rPr>
                  <a:t>W</a:t>
                </a:r>
                <a:r>
                  <a:rPr lang="en-IN" sz="1600" b="1" baseline="-25000" dirty="0" err="1">
                    <a:solidFill>
                      <a:srgbClr val="7030A0"/>
                    </a:solidFill>
                    <a:latin typeface="Arial Narrow" panose="020B0606020202030204" pitchFamily="34" charset="0"/>
                    <a:cs typeface="Times New Roman" panose="02020603050405020304" pitchFamily="18" charset="0"/>
                  </a:rPr>
                  <a:t>q</a:t>
                </a:r>
                <a:endParaRPr lang="en-IN" sz="1600" b="1" dirty="0">
                  <a:solidFill>
                    <a:srgbClr val="7030A0"/>
                  </a:solidFill>
                  <a:latin typeface="Arial Narrow" panose="020B0606020202030204" pitchFamily="34" charset="0"/>
                  <a:cs typeface="Times New Roman" panose="02020603050405020304" pitchFamily="18" charset="0"/>
                </a:endParaRPr>
              </a:p>
              <a:p>
                <a:r>
                  <a:rPr lang="en-IN" sz="1600" dirty="0">
                    <a:latin typeface="Arial Narrow" panose="020B0606020202030204" pitchFamily="34" charset="0"/>
                    <a:cs typeface="Times New Roman" panose="02020603050405020304" pitchFamily="18" charset="0"/>
                  </a:rPr>
                  <a:t>Alignment: </a:t>
                </a:r>
                <a14:m>
                  <m:oMath xmlns:m="http://schemas.openxmlformats.org/officeDocument/2006/math">
                    <m:sSub>
                      <m:sSubPr>
                        <m:ctrlPr>
                          <a:rPr lang="en-US" sz="1600" i="1" smtClean="0">
                            <a:latin typeface="Cambria Math" panose="02040503050406030204" pitchFamily="18" charset="0"/>
                            <a:cs typeface="Times New Roman" panose="02020603050405020304" pitchFamily="18" charset="0"/>
                          </a:rPr>
                        </m:ctrlPr>
                      </m:sSubPr>
                      <m:e>
                        <m:r>
                          <a:rPr lang="en-IN" sz="1600"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n-IN" sz="1600" i="1">
                            <a:latin typeface="Cambria Math" panose="02040503050406030204" pitchFamily="18" charset="0"/>
                            <a:cs typeface="Times New Roman" panose="02020603050405020304" pitchFamily="18" charset="0"/>
                          </a:rPr>
                          <m:t>𝑖</m:t>
                        </m:r>
                        <m:r>
                          <a:rPr lang="en-IN" sz="1600" b="0" i="1" smtClean="0">
                            <a:latin typeface="Cambria Math" panose="02040503050406030204" pitchFamily="18" charset="0"/>
                            <a:cs typeface="Times New Roman" panose="02020603050405020304" pitchFamily="18" charset="0"/>
                          </a:rPr>
                          <m:t>𝑗</m:t>
                        </m:r>
                      </m:sub>
                    </m:sSub>
                    <m:r>
                      <a:rPr lang="en-IN" sz="1600" i="1">
                        <a:latin typeface="Cambria Math" panose="02040503050406030204" pitchFamily="18" charset="0"/>
                        <a:cs typeface="Times New Roman" panose="02020603050405020304" pitchFamily="18" charset="0"/>
                      </a:rPr>
                      <m:t>=</m:t>
                    </m:r>
                    <m:sSub>
                      <m:sSubPr>
                        <m:ctrlPr>
                          <a:rPr lang="en-IN" sz="1600" i="1" smtClean="0">
                            <a:solidFill>
                              <a:srgbClr val="7030A0"/>
                            </a:solidFill>
                            <a:latin typeface="Cambria Math" panose="02040503050406030204" pitchFamily="18" charset="0"/>
                          </a:rPr>
                        </m:ctrlPr>
                      </m:sSubPr>
                      <m:e>
                        <m:r>
                          <a:rPr lang="en-IN" sz="1600" b="0" i="1" smtClean="0">
                            <a:solidFill>
                              <a:srgbClr val="7030A0"/>
                            </a:solidFill>
                            <a:latin typeface="Cambria Math" panose="02040503050406030204" pitchFamily="18" charset="0"/>
                          </a:rPr>
                          <m:t>𝑞</m:t>
                        </m:r>
                      </m:e>
                      <m:sub>
                        <m:r>
                          <a:rPr lang="en-IN" sz="1600" b="0" i="1" smtClean="0">
                            <a:solidFill>
                              <a:srgbClr val="7030A0"/>
                            </a:solidFill>
                            <a:latin typeface="Cambria Math" panose="02040503050406030204" pitchFamily="18" charset="0"/>
                          </a:rPr>
                          <m:t>𝑗</m:t>
                        </m:r>
                      </m:sub>
                    </m:sSub>
                    <m:r>
                      <a:rPr lang="en-IN" sz="1600" b="0" i="1" smtClean="0">
                        <a:latin typeface="Cambria Math" panose="02040503050406030204" pitchFamily="18" charset="0"/>
                        <a:cs typeface="Times New Roman" panose="02020603050405020304" pitchFamily="18" charset="0"/>
                      </a:rPr>
                      <m:t>.</m:t>
                    </m:r>
                    <m:sSub>
                      <m:sSubPr>
                        <m:ctrlPr>
                          <a:rPr lang="en-IN" sz="1600" i="1" dirty="0" smtClean="0">
                            <a:solidFill>
                              <a:srgbClr val="00B050"/>
                            </a:solidFill>
                            <a:latin typeface="Cambria Math" panose="02040503050406030204" pitchFamily="18" charset="0"/>
                            <a:cs typeface="Times New Roman" panose="02020603050405020304" pitchFamily="18" charset="0"/>
                          </a:rPr>
                        </m:ctrlPr>
                      </m:sSubPr>
                      <m:e>
                        <m:r>
                          <a:rPr lang="en-IN" sz="1600" b="0" i="1" dirty="0" smtClean="0">
                            <a:solidFill>
                              <a:srgbClr val="00B050"/>
                            </a:solidFill>
                            <a:latin typeface="Cambria Math" panose="02040503050406030204" pitchFamily="18" charset="0"/>
                            <a:cs typeface="Times New Roman" panose="02020603050405020304" pitchFamily="18" charset="0"/>
                          </a:rPr>
                          <m:t>𝑘</m:t>
                        </m:r>
                      </m:e>
                      <m:sub>
                        <m:r>
                          <a:rPr lang="en-IN" sz="1600" b="0" i="1" dirty="0" smtClean="0">
                            <a:solidFill>
                              <a:srgbClr val="00B050"/>
                            </a:solidFill>
                            <a:latin typeface="Cambria Math" panose="02040503050406030204" pitchFamily="18" charset="0"/>
                            <a:cs typeface="Times New Roman" panose="02020603050405020304" pitchFamily="18" charset="0"/>
                          </a:rPr>
                          <m:t>𝑖</m:t>
                        </m:r>
                      </m:sub>
                    </m:sSub>
                    <m:r>
                      <a:rPr lang="en-IN" sz="1600" b="0" i="1" dirty="0" smtClean="0">
                        <a:latin typeface="Cambria Math" panose="02040503050406030204" pitchFamily="18" charset="0"/>
                        <a:cs typeface="Times New Roman" panose="02020603050405020304" pitchFamily="18" charset="0"/>
                      </a:rPr>
                      <m:t>/</m:t>
                    </m:r>
                    <m:rad>
                      <m:radPr>
                        <m:degHide m:val="on"/>
                        <m:ctrlPr>
                          <a:rPr lang="en-IN" sz="1600" b="0" i="1" dirty="0" smtClean="0">
                            <a:latin typeface="Cambria Math" panose="02040503050406030204" pitchFamily="18" charset="0"/>
                            <a:cs typeface="Times New Roman" panose="02020603050405020304" pitchFamily="18" charset="0"/>
                          </a:rPr>
                        </m:ctrlPr>
                      </m:radPr>
                      <m:deg/>
                      <m:e>
                        <m:r>
                          <a:rPr lang="en-IN" sz="1600" b="0" i="1" dirty="0" smtClean="0">
                            <a:latin typeface="Cambria Math" panose="02040503050406030204" pitchFamily="18" charset="0"/>
                            <a:cs typeface="Times New Roman" panose="02020603050405020304" pitchFamily="18" charset="0"/>
                          </a:rPr>
                          <m:t>𝐷</m:t>
                        </m:r>
                      </m:e>
                    </m:rad>
                  </m:oMath>
                </a14:m>
                <a:endParaRPr lang="en-IN" sz="1600" dirty="0">
                  <a:latin typeface="Arial Narrow" panose="020B0606020202030204" pitchFamily="34" charset="0"/>
                  <a:cs typeface="Times New Roman" panose="02020603050405020304" pitchFamily="18" charset="0"/>
                </a:endParaRPr>
              </a:p>
              <a:p>
                <a:r>
                  <a:rPr lang="en-IN" sz="1600" dirty="0">
                    <a:latin typeface="Arial Narrow" panose="020B0606020202030204" pitchFamily="34" charset="0"/>
                    <a:cs typeface="Times New Roman" panose="02020603050405020304" pitchFamily="18" charset="0"/>
                  </a:rPr>
                  <a:t>Attention: </a:t>
                </a:r>
                <a14:m>
                  <m:oMath xmlns:m="http://schemas.openxmlformats.org/officeDocument/2006/math">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𝑎</m:t>
                    </m:r>
                    <m:r>
                      <a:rPr lang="en-IN" sz="1600" i="1">
                        <a:latin typeface="Cambria Math" panose="02040503050406030204" pitchFamily="18" charset="0"/>
                        <a:cs typeface="Times New Roman" panose="02020603050405020304" pitchFamily="18" charset="0"/>
                      </a:rPr>
                      <m:t>=</m:t>
                    </m:r>
                    <m:r>
                      <a:rPr lang="en-IN" sz="1600" i="1">
                        <a:latin typeface="Cambria Math" panose="02040503050406030204" pitchFamily="18" charset="0"/>
                        <a:cs typeface="Times New Roman" panose="02020603050405020304" pitchFamily="18" charset="0"/>
                      </a:rPr>
                      <m:t>𝑆𝑜𝑓𝑡𝑚𝑎𝑥</m:t>
                    </m:r>
                    <m:d>
                      <m:dPr>
                        <m:ctrlPr>
                          <a:rPr lang="en-IN" sz="1600" i="1">
                            <a:latin typeface="Cambria Math" panose="02040503050406030204" pitchFamily="18" charset="0"/>
                            <a:cs typeface="Times New Roman" panose="02020603050405020304" pitchFamily="18" charset="0"/>
                          </a:rPr>
                        </m:ctrlPr>
                      </m:dPr>
                      <m:e>
                        <m:r>
                          <a:rPr lang="en-IN" sz="1600" i="1" smtClean="0">
                            <a:latin typeface="Cambria Math" panose="02040503050406030204" pitchFamily="18" charset="0"/>
                            <a:ea typeface="Cambria Math" panose="02040503050406030204" pitchFamily="18" charset="0"/>
                            <a:cs typeface="Times New Roman" panose="02020603050405020304" pitchFamily="18" charset="0"/>
                          </a:rPr>
                          <m:t>𝛼</m:t>
                        </m:r>
                      </m:e>
                    </m:d>
                  </m:oMath>
                </a14:m>
                <a:r>
                  <a:rPr lang="en-IN" sz="1600" dirty="0">
                    <a:latin typeface="Arial Narrow" panose="020B0606020202030204" pitchFamily="34" charset="0"/>
                    <a:cs typeface="Times New Roman" panose="02020603050405020304" pitchFamily="18" charset="0"/>
                  </a:rPr>
                  <a:t> </a:t>
                </a:r>
              </a:p>
              <a:p>
                <a:r>
                  <a:rPr lang="en-IN" sz="1600" dirty="0">
                    <a:latin typeface="Arial Narrow" panose="020B0606020202030204" pitchFamily="34" charset="0"/>
                    <a:cs typeface="Times New Roman" panose="02020603050405020304" pitchFamily="18" charset="0"/>
                  </a:rPr>
                  <a:t>Output:</a:t>
                </a:r>
                <a14:m>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𝑦</m:t>
                        </m:r>
                      </m:e>
                      <m:sub>
                        <m:r>
                          <a:rPr lang="en-IN" sz="1600" b="0" i="1" smtClean="0">
                            <a:latin typeface="Cambria Math" panose="02040503050406030204" pitchFamily="18" charset="0"/>
                          </a:rPr>
                          <m:t>𝑗</m:t>
                        </m:r>
                      </m:sub>
                    </m:sSub>
                    <m:r>
                      <a:rPr lang="en-IN" sz="1600" i="1">
                        <a:latin typeface="Cambria Math" panose="02040503050406030204" pitchFamily="18" charset="0"/>
                        <a:cs typeface="Times New Roman" panose="02020603050405020304" pitchFamily="18" charset="0"/>
                      </a:rPr>
                      <m:t>=</m:t>
                    </m:r>
                  </m:oMath>
                </a14:m>
                <a:r>
                  <a:rPr lang="en-IN" sz="1600" dirty="0">
                    <a:latin typeface="Arial Narrow" panose="020B0606020202030204" pitchFamily="34" charset="0"/>
                    <a:cs typeface="Times New Roman" panose="02020603050405020304" pitchFamily="18" charset="0"/>
                  </a:rPr>
                  <a:t> </a:t>
                </a:r>
                <a14:m>
                  <m:oMath xmlns:m="http://schemas.openxmlformats.org/officeDocument/2006/math">
                    <m:nary>
                      <m:naryPr>
                        <m:chr m:val="∑"/>
                        <m:limLoc m:val="subSup"/>
                        <m:supHide m:val="on"/>
                        <m:ctrlPr>
                          <a:rPr lang="en-IN" sz="1600" i="1" dirty="0" smtClean="0">
                            <a:latin typeface="Cambria Math" panose="02040503050406030204" pitchFamily="18" charset="0"/>
                            <a:cs typeface="Times New Roman" panose="02020603050405020304" pitchFamily="18" charset="0"/>
                          </a:rPr>
                        </m:ctrlPr>
                      </m:naryPr>
                      <m:sub>
                        <m:r>
                          <m:rPr>
                            <m:brk m:alnAt="9"/>
                          </m:rPr>
                          <a:rPr lang="en-IN" sz="1600" b="0" i="1" dirty="0" smtClean="0">
                            <a:latin typeface="Cambria Math" panose="02040503050406030204" pitchFamily="18" charset="0"/>
                            <a:cs typeface="Times New Roman" panose="02020603050405020304" pitchFamily="18" charset="0"/>
                          </a:rPr>
                          <m:t>𝑗</m:t>
                        </m:r>
                      </m:sub>
                      <m:sup/>
                      <m:e>
                        <m:sSub>
                          <m:sSubPr>
                            <m:ctrlPr>
                              <a:rPr lang="en-IN" sz="1600" i="1" dirty="0" smtClean="0">
                                <a:latin typeface="Cambria Math" panose="02040503050406030204" pitchFamily="18" charset="0"/>
                                <a:cs typeface="Times New Roman" panose="02020603050405020304" pitchFamily="18" charset="0"/>
                              </a:rPr>
                            </m:ctrlPr>
                          </m:sSubPr>
                          <m:e>
                            <m:r>
                              <a:rPr lang="en-IN" sz="1600" b="0" i="1" dirty="0" smtClean="0">
                                <a:latin typeface="Cambria Math" panose="02040503050406030204" pitchFamily="18" charset="0"/>
                                <a:cs typeface="Times New Roman" panose="02020603050405020304" pitchFamily="18" charset="0"/>
                              </a:rPr>
                              <m:t>𝑎</m:t>
                            </m:r>
                          </m:e>
                          <m:sub>
                            <m:r>
                              <a:rPr lang="en-IN" sz="1600" b="0" i="1" dirty="0" smtClean="0">
                                <a:latin typeface="Cambria Math" panose="02040503050406030204" pitchFamily="18" charset="0"/>
                                <a:cs typeface="Times New Roman" panose="02020603050405020304" pitchFamily="18" charset="0"/>
                              </a:rPr>
                              <m:t>𝑖𝑗</m:t>
                            </m:r>
                          </m:sub>
                        </m:sSub>
                        <m:sSub>
                          <m:sSubPr>
                            <m:ctrlPr>
                              <a:rPr lang="en-IN" sz="1600" i="1" dirty="0" smtClean="0">
                                <a:solidFill>
                                  <a:schemeClr val="accent2"/>
                                </a:solidFill>
                                <a:latin typeface="Cambria Math" panose="02040503050406030204" pitchFamily="18" charset="0"/>
                                <a:cs typeface="Times New Roman" panose="02020603050405020304" pitchFamily="18" charset="0"/>
                              </a:rPr>
                            </m:ctrlPr>
                          </m:sSubPr>
                          <m:e>
                            <m:r>
                              <a:rPr lang="en-IN" sz="1600" b="0" i="1" dirty="0" smtClean="0">
                                <a:solidFill>
                                  <a:schemeClr val="accent2"/>
                                </a:solidFill>
                                <a:latin typeface="Cambria Math" panose="02040503050406030204" pitchFamily="18" charset="0"/>
                                <a:cs typeface="Times New Roman" panose="02020603050405020304" pitchFamily="18" charset="0"/>
                              </a:rPr>
                              <m:t>𝑣</m:t>
                            </m:r>
                          </m:e>
                          <m:sub>
                            <m:r>
                              <a:rPr lang="en-IN" sz="1600" b="0" i="1" dirty="0" smtClean="0">
                                <a:solidFill>
                                  <a:schemeClr val="accent2"/>
                                </a:solidFill>
                                <a:latin typeface="Cambria Math" panose="02040503050406030204" pitchFamily="18" charset="0"/>
                                <a:cs typeface="Times New Roman" panose="02020603050405020304" pitchFamily="18" charset="0"/>
                              </a:rPr>
                              <m:t>𝑖</m:t>
                            </m:r>
                          </m:sub>
                        </m:sSub>
                      </m:e>
                    </m:nary>
                  </m:oMath>
                </a14:m>
                <a:endParaRPr lang="en-IN" sz="1600" dirty="0">
                  <a:latin typeface="Arial Narrow" panose="020B0606020202030204" pitchFamily="34" charset="0"/>
                  <a:cs typeface="Times New Roman" panose="02020603050405020304" pitchFamily="18" charset="0"/>
                </a:endParaRPr>
              </a:p>
            </p:txBody>
          </p:sp>
        </mc:Choice>
        <mc:Fallback xmlns="">
          <p:sp>
            <p:nvSpPr>
              <p:cNvPr id="62" name="TextBox 61">
                <a:extLst>
                  <a:ext uri="{FF2B5EF4-FFF2-40B4-BE49-F238E27FC236}">
                    <a16:creationId xmlns:a16="http://schemas.microsoft.com/office/drawing/2014/main" id="{086F0207-6EE0-4AC4-BD2F-4600D077A09E}"/>
                  </a:ext>
                </a:extLst>
              </p:cNvPr>
              <p:cNvSpPr txBox="1">
                <a:spLocks noRot="1" noChangeAspect="1" noMove="1" noResize="1" noEditPoints="1" noAdjustHandles="1" noChangeArrowheads="1" noChangeShapeType="1" noTextEdit="1"/>
              </p:cNvSpPr>
              <p:nvPr/>
            </p:nvSpPr>
            <p:spPr>
              <a:xfrm>
                <a:off x="7327314" y="1127104"/>
                <a:ext cx="2671558" cy="1892634"/>
              </a:xfrm>
              <a:prstGeom prst="rect">
                <a:avLst/>
              </a:prstGeom>
              <a:blipFill>
                <a:blip r:embed="rId2"/>
                <a:stretch>
                  <a:fillRect l="-1370" t="-645" b="-28710"/>
                </a:stretch>
              </a:blipFill>
            </p:spPr>
            <p:txBody>
              <a:bodyPr/>
              <a:lstStyle/>
              <a:p>
                <a:r>
                  <a:rPr lang="en-IN">
                    <a:noFill/>
                  </a:rPr>
                  <a:t> </a:t>
                </a:r>
              </a:p>
            </p:txBody>
          </p:sp>
        </mc:Fallback>
      </mc:AlternateContent>
      <p:sp>
        <p:nvSpPr>
          <p:cNvPr id="64" name="TextBox 63">
            <a:extLst>
              <a:ext uri="{FF2B5EF4-FFF2-40B4-BE49-F238E27FC236}">
                <a16:creationId xmlns:a16="http://schemas.microsoft.com/office/drawing/2014/main" id="{42041928-98FF-4E1F-8EF9-F54454ED2806}"/>
              </a:ext>
            </a:extLst>
          </p:cNvPr>
          <p:cNvSpPr txBox="1"/>
          <p:nvPr/>
        </p:nvSpPr>
        <p:spPr>
          <a:xfrm>
            <a:off x="755815" y="5475670"/>
            <a:ext cx="1809332" cy="830997"/>
          </a:xfrm>
          <a:prstGeom prst="rect">
            <a:avLst/>
          </a:prstGeom>
          <a:noFill/>
        </p:spPr>
        <p:txBody>
          <a:bodyPr wrap="square" rtlCol="0">
            <a:spAutoFit/>
          </a:bodyPr>
          <a:lstStyle/>
          <a:p>
            <a:r>
              <a:rPr lang="en-IN" sz="1600" dirty="0">
                <a:latin typeface="Arial Narrow" panose="020B0606020202030204" pitchFamily="34" charset="0"/>
                <a:cs typeface="Times New Roman" panose="02020603050405020304" pitchFamily="18" charset="0"/>
              </a:rPr>
              <a:t>Inputs:</a:t>
            </a:r>
          </a:p>
          <a:p>
            <a:r>
              <a:rPr lang="en-IN" sz="1600" dirty="0">
                <a:latin typeface="Arial Narrow" panose="020B0606020202030204" pitchFamily="34" charset="0"/>
                <a:cs typeface="Times New Roman" panose="02020603050405020304" pitchFamily="18" charset="0"/>
              </a:rPr>
              <a:t>Input Vector X </a:t>
            </a:r>
          </a:p>
          <a:p>
            <a:r>
              <a:rPr lang="en-IN" sz="1600" dirty="0">
                <a:latin typeface="Arial Narrow" panose="020B0606020202030204" pitchFamily="34" charset="0"/>
                <a:cs typeface="Times New Roman" panose="02020603050405020304" pitchFamily="18" charset="0"/>
              </a:rPr>
              <a:t>(Dimension : </a:t>
            </a:r>
            <a:r>
              <a:rPr lang="en-IN" sz="1600" dirty="0" err="1">
                <a:latin typeface="Arial Narrow" panose="020B0606020202030204" pitchFamily="34" charset="0"/>
                <a:cs typeface="Times New Roman" panose="02020603050405020304" pitchFamily="18" charset="0"/>
              </a:rPr>
              <a:t>NxD</a:t>
            </a:r>
            <a:r>
              <a:rPr lang="en-IN" sz="1600" dirty="0">
                <a:latin typeface="Arial Narrow" panose="020B0606020202030204" pitchFamily="34" charset="0"/>
                <a:cs typeface="Times New Roman" panose="02020603050405020304" pitchFamily="18" charset="0"/>
              </a:rPr>
              <a:t>)</a:t>
            </a:r>
          </a:p>
        </p:txBody>
      </p:sp>
      <p:sp>
        <p:nvSpPr>
          <p:cNvPr id="116" name="Title 3">
            <a:extLst>
              <a:ext uri="{FF2B5EF4-FFF2-40B4-BE49-F238E27FC236}">
                <a16:creationId xmlns:a16="http://schemas.microsoft.com/office/drawing/2014/main" id="{F28FCD7B-C192-43CE-B0DB-5FAB60C2282F}"/>
              </a:ext>
            </a:extLst>
          </p:cNvPr>
          <p:cNvSpPr>
            <a:spLocks noGrp="1"/>
          </p:cNvSpPr>
          <p:nvPr>
            <p:ph type="title"/>
          </p:nvPr>
        </p:nvSpPr>
        <p:spPr>
          <a:xfrm>
            <a:off x="838200" y="195720"/>
            <a:ext cx="10515600" cy="501338"/>
          </a:xfrm>
        </p:spPr>
        <p:txBody>
          <a:bodyPr>
            <a:noAutofit/>
          </a:bodyPr>
          <a:lstStyle/>
          <a:p>
            <a:r>
              <a:rPr lang="en-IN" sz="3200" dirty="0">
                <a:latin typeface="Century" panose="02040604050505020304" pitchFamily="18" charset="0"/>
              </a:rPr>
              <a:t>Self Attention Layer</a:t>
            </a:r>
          </a:p>
        </p:txBody>
      </p:sp>
      <p:grpSp>
        <p:nvGrpSpPr>
          <p:cNvPr id="3" name="Group 2">
            <a:extLst>
              <a:ext uri="{FF2B5EF4-FFF2-40B4-BE49-F238E27FC236}">
                <a16:creationId xmlns:a16="http://schemas.microsoft.com/office/drawing/2014/main" id="{2C088109-E321-41FA-978B-4E06294D7A08}"/>
              </a:ext>
            </a:extLst>
          </p:cNvPr>
          <p:cNvGrpSpPr/>
          <p:nvPr/>
        </p:nvGrpSpPr>
        <p:grpSpPr>
          <a:xfrm>
            <a:off x="180365" y="946757"/>
            <a:ext cx="1852897" cy="2344229"/>
            <a:chOff x="8238405" y="702397"/>
            <a:chExt cx="1852897" cy="2344229"/>
          </a:xfrm>
        </p:grpSpPr>
        <mc:AlternateContent xmlns:mc="http://schemas.openxmlformats.org/markup-compatibility/2006" xmlns:a14="http://schemas.microsoft.com/office/drawing/2010/main">
          <mc:Choice Requires="a14">
            <p:sp>
              <p:nvSpPr>
                <p:cNvPr id="117" name="TextBox 116">
                  <a:extLst>
                    <a:ext uri="{FF2B5EF4-FFF2-40B4-BE49-F238E27FC236}">
                      <a16:creationId xmlns:a16="http://schemas.microsoft.com/office/drawing/2014/main" id="{44431B36-6064-45D5-9553-B3ABAA917457}"/>
                    </a:ext>
                  </a:extLst>
                </p:cNvPr>
                <p:cNvSpPr txBox="1"/>
                <p:nvPr/>
              </p:nvSpPr>
              <p:spPr>
                <a:xfrm>
                  <a:off x="8382213" y="2554086"/>
                  <a:ext cx="493059" cy="369332"/>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oMath>
                    </m:oMathPara>
                  </a14:m>
                  <a:endParaRPr lang="en-IN" dirty="0">
                    <a:latin typeface="Arial Narrow" panose="020B0606020202030204" pitchFamily="34" charset="0"/>
                  </a:endParaRPr>
                </a:p>
              </p:txBody>
            </p:sp>
          </mc:Choice>
          <mc:Fallback xmlns="">
            <p:sp>
              <p:nvSpPr>
                <p:cNvPr id="117" name="TextBox 116">
                  <a:extLst>
                    <a:ext uri="{FF2B5EF4-FFF2-40B4-BE49-F238E27FC236}">
                      <a16:creationId xmlns:a16="http://schemas.microsoft.com/office/drawing/2014/main" id="{44431B36-6064-45D5-9553-B3ABAA917457}"/>
                    </a:ext>
                  </a:extLst>
                </p:cNvPr>
                <p:cNvSpPr txBox="1">
                  <a:spLocks noRot="1" noChangeAspect="1" noMove="1" noResize="1" noEditPoints="1" noAdjustHandles="1" noChangeArrowheads="1" noChangeShapeType="1" noTextEdit="1"/>
                </p:cNvSpPr>
                <p:nvPr/>
              </p:nvSpPr>
              <p:spPr>
                <a:xfrm>
                  <a:off x="8382213" y="2554086"/>
                  <a:ext cx="493059" cy="369332"/>
                </a:xfrm>
                <a:prstGeom prst="rect">
                  <a:avLst/>
                </a:prstGeom>
                <a:blipFill>
                  <a:blip r:embed="rId3"/>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8" name="TextBox 117">
                  <a:extLst>
                    <a:ext uri="{FF2B5EF4-FFF2-40B4-BE49-F238E27FC236}">
                      <a16:creationId xmlns:a16="http://schemas.microsoft.com/office/drawing/2014/main" id="{3E9F3EF3-EA4A-4A2F-B63E-7E07A4C0B5D8}"/>
                    </a:ext>
                  </a:extLst>
                </p:cNvPr>
                <p:cNvSpPr txBox="1"/>
                <p:nvPr/>
              </p:nvSpPr>
              <p:spPr>
                <a:xfrm>
                  <a:off x="8941390" y="2554086"/>
                  <a:ext cx="493059" cy="369332"/>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2</m:t>
                            </m:r>
                          </m:sub>
                        </m:sSub>
                      </m:oMath>
                    </m:oMathPara>
                  </a14:m>
                  <a:endParaRPr lang="en-IN" dirty="0">
                    <a:latin typeface="Arial Narrow" panose="020B0606020202030204" pitchFamily="34" charset="0"/>
                  </a:endParaRPr>
                </a:p>
              </p:txBody>
            </p:sp>
          </mc:Choice>
          <mc:Fallback xmlns="">
            <p:sp>
              <p:nvSpPr>
                <p:cNvPr id="118" name="TextBox 117">
                  <a:extLst>
                    <a:ext uri="{FF2B5EF4-FFF2-40B4-BE49-F238E27FC236}">
                      <a16:creationId xmlns:a16="http://schemas.microsoft.com/office/drawing/2014/main" id="{3E9F3EF3-EA4A-4A2F-B63E-7E07A4C0B5D8}"/>
                    </a:ext>
                  </a:extLst>
                </p:cNvPr>
                <p:cNvSpPr txBox="1">
                  <a:spLocks noRot="1" noChangeAspect="1" noMove="1" noResize="1" noEditPoints="1" noAdjustHandles="1" noChangeArrowheads="1" noChangeShapeType="1" noTextEdit="1"/>
                </p:cNvSpPr>
                <p:nvPr/>
              </p:nvSpPr>
              <p:spPr>
                <a:xfrm>
                  <a:off x="8941390" y="2554086"/>
                  <a:ext cx="493059" cy="369332"/>
                </a:xfrm>
                <a:prstGeom prst="rect">
                  <a:avLst/>
                </a:prstGeom>
                <a:blipFill>
                  <a:blip r:embed="rId4"/>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9" name="TextBox 118">
                  <a:extLst>
                    <a:ext uri="{FF2B5EF4-FFF2-40B4-BE49-F238E27FC236}">
                      <a16:creationId xmlns:a16="http://schemas.microsoft.com/office/drawing/2014/main" id="{2A977C93-608F-4518-980F-5CE23E91A5C9}"/>
                    </a:ext>
                  </a:extLst>
                </p:cNvPr>
                <p:cNvSpPr txBox="1"/>
                <p:nvPr/>
              </p:nvSpPr>
              <p:spPr>
                <a:xfrm>
                  <a:off x="9500567" y="2554086"/>
                  <a:ext cx="493059" cy="369332"/>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3</m:t>
                            </m:r>
                          </m:sub>
                        </m:sSub>
                      </m:oMath>
                    </m:oMathPara>
                  </a14:m>
                  <a:endParaRPr lang="en-IN" dirty="0">
                    <a:latin typeface="Arial Narrow" panose="020B0606020202030204" pitchFamily="34" charset="0"/>
                  </a:endParaRPr>
                </a:p>
              </p:txBody>
            </p:sp>
          </mc:Choice>
          <mc:Fallback xmlns="">
            <p:sp>
              <p:nvSpPr>
                <p:cNvPr id="119" name="TextBox 118">
                  <a:extLst>
                    <a:ext uri="{FF2B5EF4-FFF2-40B4-BE49-F238E27FC236}">
                      <a16:creationId xmlns:a16="http://schemas.microsoft.com/office/drawing/2014/main" id="{2A977C93-608F-4518-980F-5CE23E91A5C9}"/>
                    </a:ext>
                  </a:extLst>
                </p:cNvPr>
                <p:cNvSpPr txBox="1">
                  <a:spLocks noRot="1" noChangeAspect="1" noMove="1" noResize="1" noEditPoints="1" noAdjustHandles="1" noChangeArrowheads="1" noChangeShapeType="1" noTextEdit="1"/>
                </p:cNvSpPr>
                <p:nvPr/>
              </p:nvSpPr>
              <p:spPr>
                <a:xfrm>
                  <a:off x="9500567" y="2554086"/>
                  <a:ext cx="493059" cy="369332"/>
                </a:xfrm>
                <a:prstGeom prst="rect">
                  <a:avLst/>
                </a:prstGeom>
                <a:blipFill>
                  <a:blip r:embed="rId5"/>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0" name="TextBox 119">
                  <a:extLst>
                    <a:ext uri="{FF2B5EF4-FFF2-40B4-BE49-F238E27FC236}">
                      <a16:creationId xmlns:a16="http://schemas.microsoft.com/office/drawing/2014/main" id="{6EFC5458-BA6A-4E56-A82B-F57DD77C38A0}"/>
                    </a:ext>
                  </a:extLst>
                </p:cNvPr>
                <p:cNvSpPr txBox="1"/>
                <p:nvPr/>
              </p:nvSpPr>
              <p:spPr>
                <a:xfrm>
                  <a:off x="8353638" y="817876"/>
                  <a:ext cx="493059" cy="369332"/>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𝑦</m:t>
                            </m:r>
                          </m:e>
                          <m:sub>
                            <m:r>
                              <a:rPr lang="en-IN" b="0" i="1" smtClean="0">
                                <a:latin typeface="Cambria Math" panose="02040503050406030204" pitchFamily="18" charset="0"/>
                              </a:rPr>
                              <m:t>1</m:t>
                            </m:r>
                          </m:sub>
                        </m:sSub>
                      </m:oMath>
                    </m:oMathPara>
                  </a14:m>
                  <a:endParaRPr lang="en-IN" dirty="0">
                    <a:latin typeface="Arial Narrow" panose="020B0606020202030204" pitchFamily="34" charset="0"/>
                  </a:endParaRPr>
                </a:p>
              </p:txBody>
            </p:sp>
          </mc:Choice>
          <mc:Fallback xmlns="">
            <p:sp>
              <p:nvSpPr>
                <p:cNvPr id="120" name="TextBox 119">
                  <a:extLst>
                    <a:ext uri="{FF2B5EF4-FFF2-40B4-BE49-F238E27FC236}">
                      <a16:creationId xmlns:a16="http://schemas.microsoft.com/office/drawing/2014/main" id="{6EFC5458-BA6A-4E56-A82B-F57DD77C38A0}"/>
                    </a:ext>
                  </a:extLst>
                </p:cNvPr>
                <p:cNvSpPr txBox="1">
                  <a:spLocks noRot="1" noChangeAspect="1" noMove="1" noResize="1" noEditPoints="1" noAdjustHandles="1" noChangeArrowheads="1" noChangeShapeType="1" noTextEdit="1"/>
                </p:cNvSpPr>
                <p:nvPr/>
              </p:nvSpPr>
              <p:spPr>
                <a:xfrm>
                  <a:off x="8353638" y="817876"/>
                  <a:ext cx="493059" cy="369332"/>
                </a:xfrm>
                <a:prstGeom prst="rect">
                  <a:avLst/>
                </a:prstGeom>
                <a:blipFill>
                  <a:blip r:embed="rId6"/>
                  <a:stretch>
                    <a:fillRect b="-7937"/>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1" name="TextBox 120">
                  <a:extLst>
                    <a:ext uri="{FF2B5EF4-FFF2-40B4-BE49-F238E27FC236}">
                      <a16:creationId xmlns:a16="http://schemas.microsoft.com/office/drawing/2014/main" id="{378D2AC7-BC1D-495B-BBCE-9EB8B0DA7E47}"/>
                    </a:ext>
                  </a:extLst>
                </p:cNvPr>
                <p:cNvSpPr txBox="1"/>
                <p:nvPr/>
              </p:nvSpPr>
              <p:spPr>
                <a:xfrm>
                  <a:off x="8912815" y="817876"/>
                  <a:ext cx="493059" cy="369332"/>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𝑦</m:t>
                            </m:r>
                          </m:e>
                          <m:sub>
                            <m:r>
                              <a:rPr lang="en-IN" b="0" i="1" smtClean="0">
                                <a:latin typeface="Cambria Math" panose="02040503050406030204" pitchFamily="18" charset="0"/>
                              </a:rPr>
                              <m:t>2</m:t>
                            </m:r>
                          </m:sub>
                        </m:sSub>
                      </m:oMath>
                    </m:oMathPara>
                  </a14:m>
                  <a:endParaRPr lang="en-IN" dirty="0">
                    <a:latin typeface="Arial Narrow" panose="020B0606020202030204" pitchFamily="34" charset="0"/>
                  </a:endParaRPr>
                </a:p>
              </p:txBody>
            </p:sp>
          </mc:Choice>
          <mc:Fallback xmlns="">
            <p:sp>
              <p:nvSpPr>
                <p:cNvPr id="121" name="TextBox 120">
                  <a:extLst>
                    <a:ext uri="{FF2B5EF4-FFF2-40B4-BE49-F238E27FC236}">
                      <a16:creationId xmlns:a16="http://schemas.microsoft.com/office/drawing/2014/main" id="{378D2AC7-BC1D-495B-BBCE-9EB8B0DA7E47}"/>
                    </a:ext>
                  </a:extLst>
                </p:cNvPr>
                <p:cNvSpPr txBox="1">
                  <a:spLocks noRot="1" noChangeAspect="1" noMove="1" noResize="1" noEditPoints="1" noAdjustHandles="1" noChangeArrowheads="1" noChangeShapeType="1" noTextEdit="1"/>
                </p:cNvSpPr>
                <p:nvPr/>
              </p:nvSpPr>
              <p:spPr>
                <a:xfrm>
                  <a:off x="8912815" y="817876"/>
                  <a:ext cx="493059" cy="369332"/>
                </a:xfrm>
                <a:prstGeom prst="rect">
                  <a:avLst/>
                </a:prstGeom>
                <a:blipFill>
                  <a:blip r:embed="rId7"/>
                  <a:stretch>
                    <a:fillRect b="-7937"/>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2" name="TextBox 121">
                  <a:extLst>
                    <a:ext uri="{FF2B5EF4-FFF2-40B4-BE49-F238E27FC236}">
                      <a16:creationId xmlns:a16="http://schemas.microsoft.com/office/drawing/2014/main" id="{7ECF2F4F-AD49-4C3D-8275-3FAF1E79D94A}"/>
                    </a:ext>
                  </a:extLst>
                </p:cNvPr>
                <p:cNvSpPr txBox="1"/>
                <p:nvPr/>
              </p:nvSpPr>
              <p:spPr>
                <a:xfrm>
                  <a:off x="9471992" y="817876"/>
                  <a:ext cx="493059" cy="369332"/>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𝑦</m:t>
                            </m:r>
                          </m:e>
                          <m:sub>
                            <m:r>
                              <a:rPr lang="en-IN" b="0" i="1" smtClean="0">
                                <a:latin typeface="Cambria Math" panose="02040503050406030204" pitchFamily="18" charset="0"/>
                              </a:rPr>
                              <m:t>3</m:t>
                            </m:r>
                          </m:sub>
                        </m:sSub>
                      </m:oMath>
                    </m:oMathPara>
                  </a14:m>
                  <a:endParaRPr lang="en-IN" dirty="0">
                    <a:latin typeface="Arial Narrow" panose="020B0606020202030204" pitchFamily="34" charset="0"/>
                  </a:endParaRPr>
                </a:p>
              </p:txBody>
            </p:sp>
          </mc:Choice>
          <mc:Fallback xmlns="">
            <p:sp>
              <p:nvSpPr>
                <p:cNvPr id="122" name="TextBox 121">
                  <a:extLst>
                    <a:ext uri="{FF2B5EF4-FFF2-40B4-BE49-F238E27FC236}">
                      <a16:creationId xmlns:a16="http://schemas.microsoft.com/office/drawing/2014/main" id="{7ECF2F4F-AD49-4C3D-8275-3FAF1E79D94A}"/>
                    </a:ext>
                  </a:extLst>
                </p:cNvPr>
                <p:cNvSpPr txBox="1">
                  <a:spLocks noRot="1" noChangeAspect="1" noMove="1" noResize="1" noEditPoints="1" noAdjustHandles="1" noChangeArrowheads="1" noChangeShapeType="1" noTextEdit="1"/>
                </p:cNvSpPr>
                <p:nvPr/>
              </p:nvSpPr>
              <p:spPr>
                <a:xfrm>
                  <a:off x="9471992" y="817876"/>
                  <a:ext cx="493059" cy="369332"/>
                </a:xfrm>
                <a:prstGeom prst="rect">
                  <a:avLst/>
                </a:prstGeom>
                <a:blipFill>
                  <a:blip r:embed="rId8"/>
                  <a:stretch>
                    <a:fillRect b="-7937"/>
                  </a:stretch>
                </a:blipFill>
                <a:ln w="12700">
                  <a:solidFill>
                    <a:schemeClr val="tx1"/>
                  </a:solidFill>
                </a:ln>
              </p:spPr>
              <p:txBody>
                <a:bodyPr/>
                <a:lstStyle/>
                <a:p>
                  <a:r>
                    <a:rPr lang="en-IN">
                      <a:noFill/>
                    </a:rPr>
                    <a:t> </a:t>
                  </a:r>
                </a:p>
              </p:txBody>
            </p:sp>
          </mc:Fallback>
        </mc:AlternateContent>
        <p:sp>
          <p:nvSpPr>
            <p:cNvPr id="43" name="Rectangle 42">
              <a:extLst>
                <a:ext uri="{FF2B5EF4-FFF2-40B4-BE49-F238E27FC236}">
                  <a16:creationId xmlns:a16="http://schemas.microsoft.com/office/drawing/2014/main" id="{C8933F42-4359-44D5-B47D-11A40BB0665F}"/>
                </a:ext>
              </a:extLst>
            </p:cNvPr>
            <p:cNvSpPr/>
            <p:nvPr/>
          </p:nvSpPr>
          <p:spPr>
            <a:xfrm>
              <a:off x="8266981" y="2446337"/>
              <a:ext cx="1824321" cy="600289"/>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23" name="Rectangle 122">
              <a:extLst>
                <a:ext uri="{FF2B5EF4-FFF2-40B4-BE49-F238E27FC236}">
                  <a16:creationId xmlns:a16="http://schemas.microsoft.com/office/drawing/2014/main" id="{ADB11FE4-B467-45B8-A712-A36EBEDCE445}"/>
                </a:ext>
              </a:extLst>
            </p:cNvPr>
            <p:cNvSpPr/>
            <p:nvPr/>
          </p:nvSpPr>
          <p:spPr>
            <a:xfrm>
              <a:off x="8238405" y="702397"/>
              <a:ext cx="1824321" cy="600289"/>
            </a:xfrm>
            <a:prstGeom prst="rect">
              <a:avLst/>
            </a:prstGeom>
            <a:solidFill>
              <a:schemeClr val="accent4">
                <a:lumMod val="60000"/>
                <a:lumOff val="40000"/>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47" name="TextBox 46">
              <a:extLst>
                <a:ext uri="{FF2B5EF4-FFF2-40B4-BE49-F238E27FC236}">
                  <a16:creationId xmlns:a16="http://schemas.microsoft.com/office/drawing/2014/main" id="{B1C132E9-21BE-48BE-BA18-FEBF2CB368FC}"/>
                </a:ext>
              </a:extLst>
            </p:cNvPr>
            <p:cNvSpPr txBox="1"/>
            <p:nvPr/>
          </p:nvSpPr>
          <p:spPr>
            <a:xfrm>
              <a:off x="8266980" y="1697137"/>
              <a:ext cx="1824321" cy="369332"/>
            </a:xfrm>
            <a:prstGeom prst="rect">
              <a:avLst/>
            </a:prstGeom>
            <a:solidFill>
              <a:schemeClr val="accent2">
                <a:alpha val="25000"/>
              </a:schemeClr>
            </a:solidFill>
            <a:ln w="12700">
              <a:solidFill>
                <a:schemeClr val="tx1"/>
              </a:solidFill>
            </a:ln>
          </p:spPr>
          <p:txBody>
            <a:bodyPr wrap="square" rtlCol="0">
              <a:spAutoFit/>
            </a:bodyPr>
            <a:lstStyle/>
            <a:p>
              <a:pPr algn="ctr"/>
              <a:r>
                <a:rPr lang="en-IN" dirty="0">
                  <a:latin typeface="Arial Narrow" panose="020B0606020202030204" pitchFamily="34" charset="0"/>
                  <a:cs typeface="Times New Roman" panose="02020603050405020304" pitchFamily="18" charset="0"/>
                </a:rPr>
                <a:t>Self Attention</a:t>
              </a:r>
            </a:p>
          </p:txBody>
        </p:sp>
        <p:cxnSp>
          <p:nvCxnSpPr>
            <p:cNvPr id="51" name="Straight Arrow Connector 50">
              <a:extLst>
                <a:ext uri="{FF2B5EF4-FFF2-40B4-BE49-F238E27FC236}">
                  <a16:creationId xmlns:a16="http://schemas.microsoft.com/office/drawing/2014/main" id="{762D2EEC-6F38-42B1-88FA-BD008407EC09}"/>
                </a:ext>
              </a:extLst>
            </p:cNvPr>
            <p:cNvCxnSpPr>
              <a:stCxn id="43" idx="0"/>
              <a:endCxn id="47" idx="2"/>
            </p:cNvCxnSpPr>
            <p:nvPr/>
          </p:nvCxnSpPr>
          <p:spPr>
            <a:xfrm flipH="1" flipV="1">
              <a:off x="9179141" y="2066469"/>
              <a:ext cx="1" cy="3798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4" name="Straight Arrow Connector 123">
              <a:extLst>
                <a:ext uri="{FF2B5EF4-FFF2-40B4-BE49-F238E27FC236}">
                  <a16:creationId xmlns:a16="http://schemas.microsoft.com/office/drawing/2014/main" id="{22B43447-788D-4224-B4D9-1CEC6E07F8E9}"/>
                </a:ext>
              </a:extLst>
            </p:cNvPr>
            <p:cNvCxnSpPr/>
            <p:nvPr/>
          </p:nvCxnSpPr>
          <p:spPr>
            <a:xfrm flipH="1" flipV="1">
              <a:off x="9155418" y="1314697"/>
              <a:ext cx="1" cy="3798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13" name="TextBox 112">
            <a:extLst>
              <a:ext uri="{FF2B5EF4-FFF2-40B4-BE49-F238E27FC236}">
                <a16:creationId xmlns:a16="http://schemas.microsoft.com/office/drawing/2014/main" id="{5E46296A-7977-4CFF-B7BC-9E9D6656FD07}"/>
              </a:ext>
            </a:extLst>
          </p:cNvPr>
          <p:cNvSpPr txBox="1"/>
          <p:nvPr/>
        </p:nvSpPr>
        <p:spPr>
          <a:xfrm>
            <a:off x="6846935" y="6511193"/>
            <a:ext cx="5610225" cy="307777"/>
          </a:xfrm>
          <a:prstGeom prst="rect">
            <a:avLst/>
          </a:prstGeom>
          <a:noFill/>
        </p:spPr>
        <p:txBody>
          <a:bodyPr wrap="square" rtlCol="0">
            <a:spAutoFit/>
          </a:bodyPr>
          <a:lstStyle/>
          <a:p>
            <a:r>
              <a:rPr lang="en-IN" sz="1400" dirty="0">
                <a:latin typeface="Arial Narrow" panose="020B0606020202030204" pitchFamily="34" charset="0"/>
                <a:cs typeface="Times New Roman" panose="02020603050405020304" pitchFamily="18" charset="0"/>
              </a:rPr>
              <a:t>Concept: Fei-Fei Li Attention and Transformers CS231n Stanford Lecture</a:t>
            </a:r>
          </a:p>
        </p:txBody>
      </p:sp>
      <p:grpSp>
        <p:nvGrpSpPr>
          <p:cNvPr id="114" name="Group 113"/>
          <p:cNvGrpSpPr/>
          <p:nvPr/>
        </p:nvGrpSpPr>
        <p:grpSpPr>
          <a:xfrm>
            <a:off x="3006964" y="2952432"/>
            <a:ext cx="8538016" cy="3886547"/>
            <a:chOff x="1333628" y="2961913"/>
            <a:chExt cx="8538016" cy="3886547"/>
          </a:xfrm>
        </p:grpSpPr>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AD6D90FF-8B08-44E6-ADD1-B975BDF15677}"/>
                    </a:ext>
                  </a:extLst>
                </p:cNvPr>
                <p:cNvSpPr txBox="1"/>
                <p:nvPr/>
              </p:nvSpPr>
              <p:spPr>
                <a:xfrm rot="10800000" flipV="1">
                  <a:off x="3403072" y="4295079"/>
                  <a:ext cx="495646" cy="468588"/>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a:latin typeface="Cambria Math" panose="02040503050406030204" pitchFamily="18" charset="0"/>
                              </a:rPr>
                            </m:ctrlPr>
                          </m:sSubPr>
                          <m:e>
                            <m:r>
                              <a:rPr lang="en-IN" sz="1500">
                                <a:latin typeface="Cambria Math" panose="02040503050406030204" pitchFamily="18" charset="0"/>
                              </a:rPr>
                              <m:t>𝛼</m:t>
                            </m:r>
                          </m:e>
                          <m:sub>
                            <m:r>
                              <a:rPr lang="en-IN" sz="1500">
                                <a:latin typeface="Cambria Math" panose="02040503050406030204" pitchFamily="18" charset="0"/>
                              </a:rPr>
                              <m:t>1,1</m:t>
                            </m:r>
                          </m:sub>
                        </m:sSub>
                      </m:oMath>
                    </m:oMathPara>
                  </a14:m>
                  <a:endParaRPr lang="en-IN" sz="1500" dirty="0">
                    <a:latin typeface="Arial Narrow" panose="020B0606020202030204" pitchFamily="34" charset="0"/>
                  </a:endParaRPr>
                </a:p>
              </p:txBody>
            </p:sp>
          </mc:Choice>
          <mc:Fallback xmlns="">
            <p:sp>
              <p:nvSpPr>
                <p:cNvPr id="115" name="TextBox 114">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3403072" y="4295079"/>
                  <a:ext cx="495646" cy="468588"/>
                </a:xfrm>
                <a:prstGeom prst="ellipse">
                  <a:avLst/>
                </a:prstGeom>
                <a:blipFill>
                  <a:blip r:embed="rId9"/>
                  <a:stretch>
                    <a:fillRect r="-1190"/>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5" name="TextBox 124">
                  <a:extLst>
                    <a:ext uri="{FF2B5EF4-FFF2-40B4-BE49-F238E27FC236}">
                      <a16:creationId xmlns:a16="http://schemas.microsoft.com/office/drawing/2014/main" id="{36F03E2E-8229-4DFD-869B-C4F6CF96084E}"/>
                    </a:ext>
                  </a:extLst>
                </p:cNvPr>
                <p:cNvSpPr txBox="1"/>
                <p:nvPr/>
              </p:nvSpPr>
              <p:spPr>
                <a:xfrm rot="10800000" flipV="1">
                  <a:off x="2856794" y="4295080"/>
                  <a:ext cx="495646" cy="468588"/>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a:latin typeface="Cambria Math" panose="02040503050406030204" pitchFamily="18" charset="0"/>
                              </a:rPr>
                            </m:ctrlPr>
                          </m:sSubPr>
                          <m:e>
                            <m:r>
                              <a:rPr lang="en-IN" sz="1500">
                                <a:latin typeface="Cambria Math" panose="02040503050406030204" pitchFamily="18" charset="0"/>
                              </a:rPr>
                              <m:t>𝛼</m:t>
                            </m:r>
                          </m:e>
                          <m:sub>
                            <m:r>
                              <a:rPr lang="en-IN" sz="1500">
                                <a:latin typeface="Cambria Math" panose="02040503050406030204" pitchFamily="18" charset="0"/>
                              </a:rPr>
                              <m:t>2,1</m:t>
                            </m:r>
                          </m:sub>
                        </m:sSub>
                      </m:oMath>
                    </m:oMathPara>
                  </a14:m>
                  <a:endParaRPr lang="en-IN" sz="1500" dirty="0">
                    <a:latin typeface="Arial Narrow" panose="020B0606020202030204" pitchFamily="34" charset="0"/>
                  </a:endParaRPr>
                </a:p>
              </p:txBody>
            </p:sp>
          </mc:Choice>
          <mc:Fallback xmlns="">
            <p:sp>
              <p:nvSpPr>
                <p:cNvPr id="125" name="TextBox 124">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2856794" y="4295080"/>
                  <a:ext cx="495646" cy="468588"/>
                </a:xfrm>
                <a:prstGeom prst="ellipse">
                  <a:avLst/>
                </a:prstGeom>
                <a:blipFill>
                  <a:blip r:embed="rId10"/>
                  <a:stretch>
                    <a:fillRect r="-2410"/>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6" name="TextBox 125">
                  <a:extLst>
                    <a:ext uri="{FF2B5EF4-FFF2-40B4-BE49-F238E27FC236}">
                      <a16:creationId xmlns:a16="http://schemas.microsoft.com/office/drawing/2014/main" id="{DF1D3D16-4F7D-4FD0-95EB-E2360401B577}"/>
                    </a:ext>
                  </a:extLst>
                </p:cNvPr>
                <p:cNvSpPr txBox="1"/>
                <p:nvPr/>
              </p:nvSpPr>
              <p:spPr>
                <a:xfrm rot="10800000" flipV="1">
                  <a:off x="2315810" y="4294539"/>
                  <a:ext cx="495646" cy="454432"/>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n-IN" sz="1500" b="0" i="1" smtClean="0">
                                <a:latin typeface="Cambria Math" panose="02040503050406030204" pitchFamily="18" charset="0"/>
                              </a:rPr>
                              <m:t>31</m:t>
                            </m:r>
                          </m:sub>
                        </m:sSub>
                      </m:oMath>
                    </m:oMathPara>
                  </a14:m>
                  <a:endParaRPr lang="en-IN" sz="1500" dirty="0">
                    <a:latin typeface="Arial Narrow" panose="020B0606020202030204" pitchFamily="34" charset="0"/>
                  </a:endParaRPr>
                </a:p>
              </p:txBody>
            </p:sp>
          </mc:Choice>
          <mc:Fallback xmlns="">
            <p:sp>
              <p:nvSpPr>
                <p:cNvPr id="126" name="TextBox 125">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2315810" y="4294539"/>
                  <a:ext cx="495646" cy="454432"/>
                </a:xfrm>
                <a:prstGeom prst="ellipse">
                  <a:avLst/>
                </a:prstGeom>
                <a:blipFill>
                  <a:blip r:embed="rId11"/>
                  <a:stretch>
                    <a:fillRect/>
                  </a:stretch>
                </a:blipFill>
                <a:ln w="12700">
                  <a:solidFill>
                    <a:schemeClr val="tx1"/>
                  </a:solidFill>
                </a:ln>
              </p:spPr>
              <p:txBody>
                <a:bodyPr/>
                <a:lstStyle/>
                <a:p>
                  <a:r>
                    <a:rPr lang="en-IN">
                      <a:noFill/>
                    </a:rPr>
                    <a:t> </a:t>
                  </a:r>
                </a:p>
              </p:txBody>
            </p:sp>
          </mc:Fallback>
        </mc:AlternateContent>
        <p:cxnSp>
          <p:nvCxnSpPr>
            <p:cNvPr id="127" name="Straight Arrow Connector 126">
              <a:extLst>
                <a:ext uri="{FF2B5EF4-FFF2-40B4-BE49-F238E27FC236}">
                  <a16:creationId xmlns:a16="http://schemas.microsoft.com/office/drawing/2014/main" id="{A263021F-7328-4211-909D-49F49CA28D98}"/>
                </a:ext>
              </a:extLst>
            </p:cNvPr>
            <p:cNvCxnSpPr>
              <a:stCxn id="171" idx="0"/>
              <a:endCxn id="115" idx="4"/>
            </p:cNvCxnSpPr>
            <p:nvPr/>
          </p:nvCxnSpPr>
          <p:spPr>
            <a:xfrm flipV="1">
              <a:off x="3648478" y="4763667"/>
              <a:ext cx="2417" cy="118717"/>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48E3A579-0DB9-42B0-BAF2-784E8D2CED22}"/>
                </a:ext>
              </a:extLst>
            </p:cNvPr>
            <p:cNvCxnSpPr>
              <a:cxnSpLocks/>
              <a:stCxn id="172" idx="0"/>
              <a:endCxn id="125" idx="4"/>
            </p:cNvCxnSpPr>
            <p:nvPr/>
          </p:nvCxnSpPr>
          <p:spPr>
            <a:xfrm flipV="1">
              <a:off x="3102200" y="4763668"/>
              <a:ext cx="2417" cy="118717"/>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29" name="Straight Arrow Connector 128">
              <a:extLst>
                <a:ext uri="{FF2B5EF4-FFF2-40B4-BE49-F238E27FC236}">
                  <a16:creationId xmlns:a16="http://schemas.microsoft.com/office/drawing/2014/main" id="{C1137974-CC6B-47D3-81CF-6AC92B143B47}"/>
                </a:ext>
              </a:extLst>
            </p:cNvPr>
            <p:cNvCxnSpPr>
              <a:cxnSpLocks/>
              <a:stCxn id="173" idx="0"/>
              <a:endCxn id="126" idx="4"/>
            </p:cNvCxnSpPr>
            <p:nvPr/>
          </p:nvCxnSpPr>
          <p:spPr>
            <a:xfrm flipV="1">
              <a:off x="2561215" y="4748971"/>
              <a:ext cx="2418" cy="133415"/>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47F04F6C-A5DE-48AC-A93E-885D326C2D52}"/>
                </a:ext>
              </a:extLst>
            </p:cNvPr>
            <p:cNvCxnSpPr>
              <a:cxnSpLocks/>
              <a:stCxn id="138" idx="2"/>
            </p:cNvCxnSpPr>
            <p:nvPr/>
          </p:nvCxnSpPr>
          <p:spPr>
            <a:xfrm>
              <a:off x="7449027" y="4521754"/>
              <a:ext cx="613222" cy="1535"/>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93CE584A-6224-4185-BA7F-7DBE679AAC01}"/>
                </a:ext>
              </a:extLst>
            </p:cNvPr>
            <p:cNvCxnSpPr>
              <a:cxnSpLocks/>
              <a:stCxn id="115" idx="2"/>
            </p:cNvCxnSpPr>
            <p:nvPr/>
          </p:nvCxnSpPr>
          <p:spPr>
            <a:xfrm flipV="1">
              <a:off x="3898718" y="4526083"/>
              <a:ext cx="578914" cy="3290"/>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2" name="TextBox 131">
                  <a:extLst>
                    <a:ext uri="{FF2B5EF4-FFF2-40B4-BE49-F238E27FC236}">
                      <a16:creationId xmlns:a16="http://schemas.microsoft.com/office/drawing/2014/main" id="{CB478EDF-F147-4A46-ACD7-767B4A547BF2}"/>
                    </a:ext>
                  </a:extLst>
                </p:cNvPr>
                <p:cNvSpPr txBox="1"/>
                <p:nvPr/>
              </p:nvSpPr>
              <p:spPr>
                <a:xfrm rot="10800000" flipV="1">
                  <a:off x="1333629" y="4294537"/>
                  <a:ext cx="499716" cy="454432"/>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a:latin typeface="Cambria Math" panose="02040503050406030204" pitchFamily="18" charset="0"/>
                              </a:rPr>
                            </m:ctrlPr>
                          </m:sSubPr>
                          <m:e>
                            <m:r>
                              <a:rPr lang="en-IN" sz="1500" i="1">
                                <a:latin typeface="Cambria Math" panose="02040503050406030204" pitchFamily="18" charset="0"/>
                              </a:rPr>
                              <m:t>𝑞</m:t>
                            </m:r>
                          </m:e>
                          <m:sub>
                            <m:r>
                              <a:rPr lang="en-IN" sz="1500" i="1">
                                <a:latin typeface="Cambria Math" panose="02040503050406030204" pitchFamily="18" charset="0"/>
                              </a:rPr>
                              <m:t>1</m:t>
                            </m:r>
                          </m:sub>
                        </m:sSub>
                      </m:oMath>
                    </m:oMathPara>
                  </a14:m>
                  <a:endParaRPr lang="en-IN" sz="1500" dirty="0">
                    <a:latin typeface="Arial Narrow" panose="020B0606020202030204" pitchFamily="34" charset="0"/>
                  </a:endParaRPr>
                </a:p>
              </p:txBody>
            </p:sp>
          </mc:Choice>
          <mc:Fallback xmlns="">
            <p:sp>
              <p:nvSpPr>
                <p:cNvPr id="132" name="TextBox 131">
                  <a:extLst>
                    <a:ext uri="{FF2B5EF4-FFF2-40B4-BE49-F238E27FC236}">
                      <a16:creationId xmlns:a16="http://schemas.microsoft.com/office/drawing/2014/main" id="{CB478EDF-F147-4A46-ACD7-767B4A547BF2}"/>
                    </a:ext>
                  </a:extLst>
                </p:cNvPr>
                <p:cNvSpPr txBox="1">
                  <a:spLocks noRot="1" noChangeAspect="1" noMove="1" noResize="1" noEditPoints="1" noAdjustHandles="1" noChangeArrowheads="1" noChangeShapeType="1" noTextEdit="1"/>
                </p:cNvSpPr>
                <p:nvPr/>
              </p:nvSpPr>
              <p:spPr>
                <a:xfrm rot="10800000" flipV="1">
                  <a:off x="1333629" y="4294537"/>
                  <a:ext cx="499716" cy="454432"/>
                </a:xfrm>
                <a:prstGeom prst="ellipse">
                  <a:avLst/>
                </a:prstGeom>
                <a:blipFill>
                  <a:blip r:embed="rId12"/>
                  <a:stretch>
                    <a:fillRect/>
                  </a:stretch>
                </a:blipFill>
                <a:ln w="12700">
                  <a:solidFill>
                    <a:schemeClr val="tx1"/>
                  </a:solidFill>
                </a:ln>
              </p:spPr>
              <p:txBody>
                <a:bodyPr/>
                <a:lstStyle/>
                <a:p>
                  <a:r>
                    <a:rPr lang="en-IN">
                      <a:noFill/>
                    </a:rPr>
                    <a:t> </a:t>
                  </a:r>
                </a:p>
              </p:txBody>
            </p:sp>
          </mc:Fallback>
        </mc:AlternateContent>
        <p:cxnSp>
          <p:nvCxnSpPr>
            <p:cNvPr id="133" name="Straight Arrow Connector 132">
              <a:extLst>
                <a:ext uri="{FF2B5EF4-FFF2-40B4-BE49-F238E27FC236}">
                  <a16:creationId xmlns:a16="http://schemas.microsoft.com/office/drawing/2014/main" id="{20C9C6AC-19F5-4564-9E13-1B8D0A63390D}"/>
                </a:ext>
              </a:extLst>
            </p:cNvPr>
            <p:cNvCxnSpPr>
              <a:stCxn id="132" idx="2"/>
              <a:endCxn id="126" idx="6"/>
            </p:cNvCxnSpPr>
            <p:nvPr/>
          </p:nvCxnSpPr>
          <p:spPr>
            <a:xfrm>
              <a:off x="1833345" y="4521753"/>
              <a:ext cx="482465" cy="2"/>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19A753A8-AD35-4022-B3B3-F8FBEA03A328}"/>
                </a:ext>
              </a:extLst>
            </p:cNvPr>
            <p:cNvCxnSpPr>
              <a:endCxn id="135" idx="6"/>
            </p:cNvCxnSpPr>
            <p:nvPr/>
          </p:nvCxnSpPr>
          <p:spPr>
            <a:xfrm flipV="1">
              <a:off x="8966705" y="4521754"/>
              <a:ext cx="409293" cy="1536"/>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5" name="TextBox 134">
                  <a:extLst>
                    <a:ext uri="{FF2B5EF4-FFF2-40B4-BE49-F238E27FC236}">
                      <a16:creationId xmlns:a16="http://schemas.microsoft.com/office/drawing/2014/main" id="{6803D624-9F2D-4CB6-A000-91DDACFD0A2B}"/>
                    </a:ext>
                  </a:extLst>
                </p:cNvPr>
                <p:cNvSpPr txBox="1"/>
                <p:nvPr/>
              </p:nvSpPr>
              <p:spPr>
                <a:xfrm rot="10800000" flipV="1">
                  <a:off x="9375998" y="4294538"/>
                  <a:ext cx="495646" cy="454432"/>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a:latin typeface="Cambria Math" panose="02040503050406030204" pitchFamily="18" charset="0"/>
                              </a:rPr>
                            </m:ctrlPr>
                          </m:sSubPr>
                          <m:e>
                            <m:r>
                              <a:rPr lang="en-IN" sz="1500" i="1">
                                <a:latin typeface="Cambria Math" panose="02040503050406030204" pitchFamily="18" charset="0"/>
                              </a:rPr>
                              <m:t>𝑦</m:t>
                            </m:r>
                          </m:e>
                          <m:sub>
                            <m:r>
                              <a:rPr lang="en-IN" sz="1500" i="1">
                                <a:latin typeface="Cambria Math" panose="02040503050406030204" pitchFamily="18" charset="0"/>
                              </a:rPr>
                              <m:t>1</m:t>
                            </m:r>
                          </m:sub>
                        </m:sSub>
                      </m:oMath>
                    </m:oMathPara>
                  </a14:m>
                  <a:endParaRPr lang="en-IN" sz="1500" dirty="0">
                    <a:latin typeface="Arial Narrow" panose="020B0606020202030204" pitchFamily="34" charset="0"/>
                  </a:endParaRPr>
                </a:p>
              </p:txBody>
            </p:sp>
          </mc:Choice>
          <mc:Fallback xmlns="">
            <p:sp>
              <p:nvSpPr>
                <p:cNvPr id="135" name="TextBox 134">
                  <a:extLst>
                    <a:ext uri="{FF2B5EF4-FFF2-40B4-BE49-F238E27FC236}">
                      <a16:creationId xmlns:a16="http://schemas.microsoft.com/office/drawing/2014/main" id="{6803D624-9F2D-4CB6-A000-91DDACFD0A2B}"/>
                    </a:ext>
                  </a:extLst>
                </p:cNvPr>
                <p:cNvSpPr txBox="1">
                  <a:spLocks noRot="1" noChangeAspect="1" noMove="1" noResize="1" noEditPoints="1" noAdjustHandles="1" noChangeArrowheads="1" noChangeShapeType="1" noTextEdit="1"/>
                </p:cNvSpPr>
                <p:nvPr/>
              </p:nvSpPr>
              <p:spPr>
                <a:xfrm rot="10800000" flipV="1">
                  <a:off x="9375998" y="4294538"/>
                  <a:ext cx="495646" cy="454432"/>
                </a:xfrm>
                <a:prstGeom prst="ellipse">
                  <a:avLst/>
                </a:prstGeom>
                <a:blipFill>
                  <a:blip r:embed="rId13"/>
                  <a:stretch>
                    <a:fillRect/>
                  </a:stretch>
                </a:blipFill>
                <a:ln w="12700">
                  <a:solidFill>
                    <a:schemeClr val="tx1"/>
                  </a:solidFill>
                </a:ln>
              </p:spPr>
              <p:txBody>
                <a:bodyPr/>
                <a:lstStyle/>
                <a:p>
                  <a:r>
                    <a:rPr lang="en-IN">
                      <a:noFill/>
                    </a:rPr>
                    <a:t> </a:t>
                  </a:r>
                </a:p>
              </p:txBody>
            </p:sp>
          </mc:Fallback>
        </mc:AlternateContent>
        <p:sp>
          <p:nvSpPr>
            <p:cNvPr id="136" name="TextBox 135">
              <a:extLst>
                <a:ext uri="{FF2B5EF4-FFF2-40B4-BE49-F238E27FC236}">
                  <a16:creationId xmlns:a16="http://schemas.microsoft.com/office/drawing/2014/main" id="{E17818E8-007B-45D8-AD06-1A2108924884}"/>
                </a:ext>
              </a:extLst>
            </p:cNvPr>
            <p:cNvSpPr txBox="1"/>
            <p:nvPr/>
          </p:nvSpPr>
          <p:spPr>
            <a:xfrm rot="10800000" flipV="1">
              <a:off x="2453246" y="2973677"/>
              <a:ext cx="1333204" cy="338554"/>
            </a:xfrm>
            <a:prstGeom prst="rect">
              <a:avLst/>
            </a:prstGeom>
            <a:noFill/>
          </p:spPr>
          <p:txBody>
            <a:bodyPr wrap="square" rtlCol="0">
              <a:spAutoFit/>
            </a:bodyPr>
            <a:lstStyle/>
            <a:p>
              <a:r>
                <a:rPr lang="en-IN" sz="1600" dirty="0">
                  <a:latin typeface="Arial Narrow" panose="020B0606020202030204" pitchFamily="34" charset="0"/>
                  <a:cs typeface="Times New Roman" panose="02020603050405020304" pitchFamily="18" charset="0"/>
                </a:rPr>
                <a:t>Alignment</a:t>
              </a:r>
            </a:p>
          </p:txBody>
        </p:sp>
        <p:sp>
          <p:nvSpPr>
            <p:cNvPr id="137" name="TextBox 136">
              <a:extLst>
                <a:ext uri="{FF2B5EF4-FFF2-40B4-BE49-F238E27FC236}">
                  <a16:creationId xmlns:a16="http://schemas.microsoft.com/office/drawing/2014/main" id="{A8C9EC39-2EA1-4820-AB08-8E44D249B4B8}"/>
                </a:ext>
              </a:extLst>
            </p:cNvPr>
            <p:cNvSpPr txBox="1"/>
            <p:nvPr/>
          </p:nvSpPr>
          <p:spPr>
            <a:xfrm rot="10800000" flipV="1">
              <a:off x="6115823" y="2961913"/>
              <a:ext cx="1333204" cy="338554"/>
            </a:xfrm>
            <a:prstGeom prst="rect">
              <a:avLst/>
            </a:prstGeom>
            <a:noFill/>
          </p:spPr>
          <p:txBody>
            <a:bodyPr wrap="square" rtlCol="0">
              <a:spAutoFit/>
            </a:bodyPr>
            <a:lstStyle/>
            <a:p>
              <a:r>
                <a:rPr lang="en-IN" sz="1600" dirty="0">
                  <a:latin typeface="Arial Narrow" panose="020B0606020202030204" pitchFamily="34" charset="0"/>
                  <a:cs typeface="Times New Roman" panose="02020603050405020304" pitchFamily="18" charset="0"/>
                </a:rPr>
                <a:t>Attention</a:t>
              </a:r>
            </a:p>
          </p:txBody>
        </p:sp>
        <mc:AlternateContent xmlns:mc="http://schemas.openxmlformats.org/markup-compatibility/2006" xmlns:a14="http://schemas.microsoft.com/office/drawing/2010/main">
          <mc:Choice Requires="a14">
            <p:sp>
              <p:nvSpPr>
                <p:cNvPr id="138" name="TextBox 137">
                  <a:extLst>
                    <a:ext uri="{FF2B5EF4-FFF2-40B4-BE49-F238E27FC236}">
                      <a16:creationId xmlns:a16="http://schemas.microsoft.com/office/drawing/2014/main" id="{AD6D90FF-8B08-44E6-ADD1-B975BDF15677}"/>
                    </a:ext>
                  </a:extLst>
                </p:cNvPr>
                <p:cNvSpPr txBox="1"/>
                <p:nvPr/>
              </p:nvSpPr>
              <p:spPr>
                <a:xfrm rot="10800000" flipV="1">
                  <a:off x="6953381" y="4287460"/>
                  <a:ext cx="495646" cy="468588"/>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𝑎</m:t>
                            </m:r>
                          </m:e>
                          <m:sub>
                            <m:r>
                              <a:rPr lang="en-IN" sz="1500">
                                <a:latin typeface="Cambria Math" panose="02040503050406030204" pitchFamily="18" charset="0"/>
                              </a:rPr>
                              <m:t>1,1</m:t>
                            </m:r>
                          </m:sub>
                        </m:sSub>
                      </m:oMath>
                    </m:oMathPara>
                  </a14:m>
                  <a:endParaRPr lang="en-IN" sz="1500" dirty="0">
                    <a:latin typeface="Arial Narrow" panose="020B0606020202030204" pitchFamily="34" charset="0"/>
                  </a:endParaRPr>
                </a:p>
              </p:txBody>
            </p:sp>
          </mc:Choice>
          <mc:Fallback xmlns="">
            <p:sp>
              <p:nvSpPr>
                <p:cNvPr id="138" name="TextBox 137">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6953381" y="4287460"/>
                  <a:ext cx="495646" cy="468588"/>
                </a:xfrm>
                <a:prstGeom prst="ellipse">
                  <a:avLst/>
                </a:prstGeom>
                <a:blipFill>
                  <a:blip r:embed="rId14"/>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9" name="TextBox 138">
                  <a:extLst>
                    <a:ext uri="{FF2B5EF4-FFF2-40B4-BE49-F238E27FC236}">
                      <a16:creationId xmlns:a16="http://schemas.microsoft.com/office/drawing/2014/main" id="{36F03E2E-8229-4DFD-869B-C4F6CF96084E}"/>
                    </a:ext>
                  </a:extLst>
                </p:cNvPr>
                <p:cNvSpPr txBox="1"/>
                <p:nvPr/>
              </p:nvSpPr>
              <p:spPr>
                <a:xfrm rot="10800000" flipV="1">
                  <a:off x="6407103" y="4287460"/>
                  <a:ext cx="495646" cy="468588"/>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𝑎</m:t>
                            </m:r>
                          </m:e>
                          <m:sub>
                            <m:r>
                              <a:rPr lang="en-IN" sz="1500">
                                <a:latin typeface="Cambria Math" panose="02040503050406030204" pitchFamily="18" charset="0"/>
                              </a:rPr>
                              <m:t>2,1</m:t>
                            </m:r>
                          </m:sub>
                        </m:sSub>
                      </m:oMath>
                    </m:oMathPara>
                  </a14:m>
                  <a:endParaRPr lang="en-IN" sz="1500" dirty="0">
                    <a:latin typeface="Arial Narrow" panose="020B0606020202030204" pitchFamily="34" charset="0"/>
                  </a:endParaRPr>
                </a:p>
              </p:txBody>
            </p:sp>
          </mc:Choice>
          <mc:Fallback xmlns="">
            <p:sp>
              <p:nvSpPr>
                <p:cNvPr id="139" name="TextBox 138">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6407103" y="4287460"/>
                  <a:ext cx="495646" cy="468588"/>
                </a:xfrm>
                <a:prstGeom prst="ellipse">
                  <a:avLst/>
                </a:prstGeom>
                <a:blipFill>
                  <a:blip r:embed="rId15"/>
                  <a:stretch>
                    <a:fillRect r="-1205"/>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0" name="TextBox 139">
                  <a:extLst>
                    <a:ext uri="{FF2B5EF4-FFF2-40B4-BE49-F238E27FC236}">
                      <a16:creationId xmlns:a16="http://schemas.microsoft.com/office/drawing/2014/main" id="{DF1D3D16-4F7D-4FD0-95EB-E2360401B577}"/>
                    </a:ext>
                  </a:extLst>
                </p:cNvPr>
                <p:cNvSpPr txBox="1"/>
                <p:nvPr/>
              </p:nvSpPr>
              <p:spPr>
                <a:xfrm rot="10800000" flipV="1">
                  <a:off x="5866118" y="4287461"/>
                  <a:ext cx="495646" cy="468588"/>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𝑎</m:t>
                            </m:r>
                          </m:e>
                          <m:sub>
                            <m:r>
                              <a:rPr lang="en-IN" sz="1500">
                                <a:latin typeface="Cambria Math" panose="02040503050406030204" pitchFamily="18" charset="0"/>
                              </a:rPr>
                              <m:t>3</m:t>
                            </m:r>
                            <m:r>
                              <a:rPr lang="en-IN" sz="1500" b="0" i="1" smtClean="0">
                                <a:latin typeface="Cambria Math" panose="02040503050406030204" pitchFamily="18" charset="0"/>
                              </a:rPr>
                              <m:t>,</m:t>
                            </m:r>
                            <m:r>
                              <a:rPr lang="en-IN" sz="1500">
                                <a:latin typeface="Cambria Math" panose="02040503050406030204" pitchFamily="18" charset="0"/>
                              </a:rPr>
                              <m:t>1</m:t>
                            </m:r>
                          </m:sub>
                        </m:sSub>
                      </m:oMath>
                    </m:oMathPara>
                  </a14:m>
                  <a:endParaRPr lang="en-IN" sz="1500" dirty="0">
                    <a:latin typeface="Arial Narrow" panose="020B0606020202030204" pitchFamily="34" charset="0"/>
                  </a:endParaRPr>
                </a:p>
              </p:txBody>
            </p:sp>
          </mc:Choice>
          <mc:Fallback xmlns="">
            <p:sp>
              <p:nvSpPr>
                <p:cNvPr id="140" name="TextBox 139">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5866118" y="4287461"/>
                  <a:ext cx="495646" cy="468588"/>
                </a:xfrm>
                <a:prstGeom prst="ellipse">
                  <a:avLst/>
                </a:prstGeom>
                <a:blipFill>
                  <a:blip r:embed="rId16"/>
                  <a:stretch>
                    <a:fillRect r="-1190"/>
                  </a:stretch>
                </a:blipFill>
                <a:ln w="12700">
                  <a:solidFill>
                    <a:schemeClr val="tx1"/>
                  </a:solidFill>
                </a:ln>
              </p:spPr>
              <p:txBody>
                <a:bodyPr/>
                <a:lstStyle/>
                <a:p>
                  <a:r>
                    <a:rPr lang="en-IN">
                      <a:noFill/>
                    </a:rPr>
                    <a:t> </a:t>
                  </a:r>
                </a:p>
              </p:txBody>
            </p:sp>
          </mc:Fallback>
        </mc:AlternateContent>
        <p:cxnSp>
          <p:nvCxnSpPr>
            <p:cNvPr id="141" name="Straight Arrow Connector 140">
              <a:extLst>
                <a:ext uri="{FF2B5EF4-FFF2-40B4-BE49-F238E27FC236}">
                  <a16:creationId xmlns:a16="http://schemas.microsoft.com/office/drawing/2014/main" id="{93CE584A-6224-4185-BA7F-7DBE679AAC01}"/>
                </a:ext>
              </a:extLst>
            </p:cNvPr>
            <p:cNvCxnSpPr>
              <a:cxnSpLocks/>
              <a:endCxn id="140" idx="6"/>
            </p:cNvCxnSpPr>
            <p:nvPr/>
          </p:nvCxnSpPr>
          <p:spPr>
            <a:xfrm>
              <a:off x="5385722" y="4518462"/>
              <a:ext cx="480396" cy="3293"/>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2" name="TextBox 141">
                  <a:extLst>
                    <a:ext uri="{FF2B5EF4-FFF2-40B4-BE49-F238E27FC236}">
                      <a16:creationId xmlns:a16="http://schemas.microsoft.com/office/drawing/2014/main" id="{AD6D90FF-8B08-44E6-ADD1-B975BDF15677}"/>
                    </a:ext>
                  </a:extLst>
                </p:cNvPr>
                <p:cNvSpPr txBox="1"/>
                <p:nvPr/>
              </p:nvSpPr>
              <p:spPr>
                <a:xfrm rot="10800000" flipV="1">
                  <a:off x="3403072" y="3805536"/>
                  <a:ext cx="495646" cy="468588"/>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a:latin typeface="Cambria Math" panose="02040503050406030204" pitchFamily="18" charset="0"/>
                              </a:rPr>
                            </m:ctrlPr>
                          </m:sSubPr>
                          <m:e>
                            <m:r>
                              <a:rPr lang="en-IN" sz="1500">
                                <a:latin typeface="Cambria Math" panose="02040503050406030204" pitchFamily="18" charset="0"/>
                              </a:rPr>
                              <m:t>𝛼</m:t>
                            </m:r>
                          </m:e>
                          <m:sub>
                            <m:r>
                              <a:rPr lang="en-IN" sz="1500">
                                <a:latin typeface="Cambria Math" panose="02040503050406030204" pitchFamily="18" charset="0"/>
                              </a:rPr>
                              <m:t>1,2</m:t>
                            </m:r>
                          </m:sub>
                        </m:sSub>
                      </m:oMath>
                    </m:oMathPara>
                  </a14:m>
                  <a:endParaRPr lang="en-IN" sz="1500" dirty="0">
                    <a:latin typeface="Arial Narrow" panose="020B0606020202030204" pitchFamily="34" charset="0"/>
                  </a:endParaRPr>
                </a:p>
              </p:txBody>
            </p:sp>
          </mc:Choice>
          <mc:Fallback xmlns="">
            <p:sp>
              <p:nvSpPr>
                <p:cNvPr id="142" name="TextBox 141">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3403072" y="3805536"/>
                  <a:ext cx="495646" cy="468588"/>
                </a:xfrm>
                <a:prstGeom prst="ellipse">
                  <a:avLst/>
                </a:prstGeom>
                <a:blipFill>
                  <a:blip r:embed="rId17"/>
                  <a:stretch>
                    <a:fillRect r="-1190"/>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3" name="TextBox 142">
                  <a:extLst>
                    <a:ext uri="{FF2B5EF4-FFF2-40B4-BE49-F238E27FC236}">
                      <a16:creationId xmlns:a16="http://schemas.microsoft.com/office/drawing/2014/main" id="{36F03E2E-8229-4DFD-869B-C4F6CF96084E}"/>
                    </a:ext>
                  </a:extLst>
                </p:cNvPr>
                <p:cNvSpPr txBox="1"/>
                <p:nvPr/>
              </p:nvSpPr>
              <p:spPr>
                <a:xfrm rot="10800000" flipV="1">
                  <a:off x="2856794" y="3805536"/>
                  <a:ext cx="495646" cy="468588"/>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a:latin typeface="Cambria Math" panose="02040503050406030204" pitchFamily="18" charset="0"/>
                              </a:rPr>
                            </m:ctrlPr>
                          </m:sSubPr>
                          <m:e>
                            <m:r>
                              <a:rPr lang="en-IN" sz="1500">
                                <a:latin typeface="Cambria Math" panose="02040503050406030204" pitchFamily="18" charset="0"/>
                              </a:rPr>
                              <m:t>𝛼</m:t>
                            </m:r>
                          </m:e>
                          <m:sub>
                            <m:r>
                              <a:rPr lang="en-IN" sz="1500">
                                <a:latin typeface="Cambria Math" panose="02040503050406030204" pitchFamily="18" charset="0"/>
                              </a:rPr>
                              <m:t>2,2</m:t>
                            </m:r>
                          </m:sub>
                        </m:sSub>
                      </m:oMath>
                    </m:oMathPara>
                  </a14:m>
                  <a:endParaRPr lang="en-IN" sz="1500" dirty="0">
                    <a:latin typeface="Arial Narrow" panose="020B0606020202030204" pitchFamily="34" charset="0"/>
                  </a:endParaRPr>
                </a:p>
              </p:txBody>
            </p:sp>
          </mc:Choice>
          <mc:Fallback xmlns="">
            <p:sp>
              <p:nvSpPr>
                <p:cNvPr id="143" name="TextBox 142">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2856794" y="3805536"/>
                  <a:ext cx="495646" cy="468588"/>
                </a:xfrm>
                <a:prstGeom prst="ellipse">
                  <a:avLst/>
                </a:prstGeom>
                <a:blipFill>
                  <a:blip r:embed="rId18"/>
                  <a:stretch>
                    <a:fillRect r="-3614"/>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4" name="TextBox 143">
                  <a:extLst>
                    <a:ext uri="{FF2B5EF4-FFF2-40B4-BE49-F238E27FC236}">
                      <a16:creationId xmlns:a16="http://schemas.microsoft.com/office/drawing/2014/main" id="{DF1D3D16-4F7D-4FD0-95EB-E2360401B577}"/>
                    </a:ext>
                  </a:extLst>
                </p:cNvPr>
                <p:cNvSpPr txBox="1"/>
                <p:nvPr/>
              </p:nvSpPr>
              <p:spPr>
                <a:xfrm rot="10800000" flipV="1">
                  <a:off x="2315810" y="3812615"/>
                  <a:ext cx="495646" cy="454432"/>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n-IN" sz="1500" b="0" i="1" smtClean="0">
                                <a:latin typeface="Cambria Math" panose="02040503050406030204" pitchFamily="18" charset="0"/>
                              </a:rPr>
                              <m:t>32</m:t>
                            </m:r>
                          </m:sub>
                        </m:sSub>
                      </m:oMath>
                    </m:oMathPara>
                  </a14:m>
                  <a:endParaRPr lang="en-IN" sz="1500" dirty="0">
                    <a:latin typeface="Arial Narrow" panose="020B0606020202030204" pitchFamily="34" charset="0"/>
                  </a:endParaRPr>
                </a:p>
              </p:txBody>
            </p:sp>
          </mc:Choice>
          <mc:Fallback xmlns="">
            <p:sp>
              <p:nvSpPr>
                <p:cNvPr id="144" name="TextBox 143">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2315810" y="3812615"/>
                  <a:ext cx="495646" cy="454432"/>
                </a:xfrm>
                <a:prstGeom prst="ellipse">
                  <a:avLst/>
                </a:prstGeom>
                <a:blipFill>
                  <a:blip r:embed="rId19"/>
                  <a:stretch>
                    <a:fillRect/>
                  </a:stretch>
                </a:blipFill>
                <a:ln w="12700">
                  <a:solidFill>
                    <a:schemeClr val="tx1"/>
                  </a:solidFill>
                </a:ln>
              </p:spPr>
              <p:txBody>
                <a:bodyPr/>
                <a:lstStyle/>
                <a:p>
                  <a:r>
                    <a:rPr lang="en-IN">
                      <a:noFill/>
                    </a:rPr>
                    <a:t> </a:t>
                  </a:r>
                </a:p>
              </p:txBody>
            </p:sp>
          </mc:Fallback>
        </mc:AlternateContent>
        <p:cxnSp>
          <p:nvCxnSpPr>
            <p:cNvPr id="145" name="Straight Arrow Connector 144">
              <a:extLst>
                <a:ext uri="{FF2B5EF4-FFF2-40B4-BE49-F238E27FC236}">
                  <a16:creationId xmlns:a16="http://schemas.microsoft.com/office/drawing/2014/main" id="{47F04F6C-A5DE-48AC-A93E-885D326C2D52}"/>
                </a:ext>
              </a:extLst>
            </p:cNvPr>
            <p:cNvCxnSpPr>
              <a:cxnSpLocks/>
              <a:stCxn id="152" idx="2"/>
              <a:endCxn id="150" idx="3"/>
            </p:cNvCxnSpPr>
            <p:nvPr/>
          </p:nvCxnSpPr>
          <p:spPr>
            <a:xfrm>
              <a:off x="7449027" y="4032210"/>
              <a:ext cx="613218" cy="780"/>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46" name="Straight Arrow Connector 145">
              <a:extLst>
                <a:ext uri="{FF2B5EF4-FFF2-40B4-BE49-F238E27FC236}">
                  <a16:creationId xmlns:a16="http://schemas.microsoft.com/office/drawing/2014/main" id="{93CE584A-6224-4185-BA7F-7DBE679AAC01}"/>
                </a:ext>
              </a:extLst>
            </p:cNvPr>
            <p:cNvCxnSpPr>
              <a:cxnSpLocks/>
              <a:stCxn id="142" idx="2"/>
            </p:cNvCxnSpPr>
            <p:nvPr/>
          </p:nvCxnSpPr>
          <p:spPr>
            <a:xfrm flipV="1">
              <a:off x="3898718" y="4032992"/>
              <a:ext cx="578910" cy="6838"/>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7" name="TextBox 146">
                  <a:extLst>
                    <a:ext uri="{FF2B5EF4-FFF2-40B4-BE49-F238E27FC236}">
                      <a16:creationId xmlns:a16="http://schemas.microsoft.com/office/drawing/2014/main" id="{CB478EDF-F147-4A46-ACD7-767B4A547BF2}"/>
                    </a:ext>
                  </a:extLst>
                </p:cNvPr>
                <p:cNvSpPr txBox="1"/>
                <p:nvPr/>
              </p:nvSpPr>
              <p:spPr>
                <a:xfrm rot="10800000" flipV="1">
                  <a:off x="1333629" y="3812614"/>
                  <a:ext cx="499716" cy="454432"/>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i="1">
                                <a:latin typeface="Cambria Math" panose="02040503050406030204" pitchFamily="18" charset="0"/>
                              </a:rPr>
                              <m:t>𝑞</m:t>
                            </m:r>
                          </m:e>
                          <m:sub>
                            <m:r>
                              <a:rPr lang="en-IN" sz="1500" b="0" i="1" smtClean="0">
                                <a:latin typeface="Cambria Math" panose="02040503050406030204" pitchFamily="18" charset="0"/>
                              </a:rPr>
                              <m:t>2</m:t>
                            </m:r>
                          </m:sub>
                        </m:sSub>
                      </m:oMath>
                    </m:oMathPara>
                  </a14:m>
                  <a:endParaRPr lang="en-IN" sz="1500" dirty="0">
                    <a:latin typeface="Arial Narrow" panose="020B0606020202030204" pitchFamily="34" charset="0"/>
                  </a:endParaRPr>
                </a:p>
              </p:txBody>
            </p:sp>
          </mc:Choice>
          <mc:Fallback xmlns="">
            <p:sp>
              <p:nvSpPr>
                <p:cNvPr id="147" name="TextBox 146">
                  <a:extLst>
                    <a:ext uri="{FF2B5EF4-FFF2-40B4-BE49-F238E27FC236}">
                      <a16:creationId xmlns:a16="http://schemas.microsoft.com/office/drawing/2014/main" id="{CB478EDF-F147-4A46-ACD7-767B4A547BF2}"/>
                    </a:ext>
                  </a:extLst>
                </p:cNvPr>
                <p:cNvSpPr txBox="1">
                  <a:spLocks noRot="1" noChangeAspect="1" noMove="1" noResize="1" noEditPoints="1" noAdjustHandles="1" noChangeArrowheads="1" noChangeShapeType="1" noTextEdit="1"/>
                </p:cNvSpPr>
                <p:nvPr/>
              </p:nvSpPr>
              <p:spPr>
                <a:xfrm rot="10800000" flipV="1">
                  <a:off x="1333629" y="3812614"/>
                  <a:ext cx="499716" cy="454432"/>
                </a:xfrm>
                <a:prstGeom prst="ellipse">
                  <a:avLst/>
                </a:prstGeom>
                <a:blipFill>
                  <a:blip r:embed="rId20"/>
                  <a:stretch>
                    <a:fillRect/>
                  </a:stretch>
                </a:blipFill>
                <a:ln w="12700">
                  <a:solidFill>
                    <a:schemeClr val="tx1"/>
                  </a:solidFill>
                </a:ln>
              </p:spPr>
              <p:txBody>
                <a:bodyPr/>
                <a:lstStyle/>
                <a:p>
                  <a:r>
                    <a:rPr lang="en-IN">
                      <a:noFill/>
                    </a:rPr>
                    <a:t> </a:t>
                  </a:r>
                </a:p>
              </p:txBody>
            </p:sp>
          </mc:Fallback>
        </mc:AlternateContent>
        <p:cxnSp>
          <p:nvCxnSpPr>
            <p:cNvPr id="148" name="Straight Arrow Connector 147">
              <a:extLst>
                <a:ext uri="{FF2B5EF4-FFF2-40B4-BE49-F238E27FC236}">
                  <a16:creationId xmlns:a16="http://schemas.microsoft.com/office/drawing/2014/main" id="{20C9C6AC-19F5-4564-9E13-1B8D0A63390D}"/>
                </a:ext>
              </a:extLst>
            </p:cNvPr>
            <p:cNvCxnSpPr>
              <a:stCxn id="147" idx="2"/>
              <a:endCxn id="144" idx="6"/>
            </p:cNvCxnSpPr>
            <p:nvPr/>
          </p:nvCxnSpPr>
          <p:spPr>
            <a:xfrm>
              <a:off x="1833345" y="4039830"/>
              <a:ext cx="482465" cy="1"/>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49" name="Straight Arrow Connector 148">
              <a:extLst>
                <a:ext uri="{FF2B5EF4-FFF2-40B4-BE49-F238E27FC236}">
                  <a16:creationId xmlns:a16="http://schemas.microsoft.com/office/drawing/2014/main" id="{19A753A8-AD35-4022-B3B3-F8FBEA03A328}"/>
                </a:ext>
              </a:extLst>
            </p:cNvPr>
            <p:cNvCxnSpPr>
              <a:stCxn id="150" idx="1"/>
              <a:endCxn id="151" idx="6"/>
            </p:cNvCxnSpPr>
            <p:nvPr/>
          </p:nvCxnSpPr>
          <p:spPr>
            <a:xfrm>
              <a:off x="8968006" y="4032990"/>
              <a:ext cx="407992" cy="6840"/>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50" name="TextBox 149">
              <a:extLst>
                <a:ext uri="{FF2B5EF4-FFF2-40B4-BE49-F238E27FC236}">
                  <a16:creationId xmlns:a16="http://schemas.microsoft.com/office/drawing/2014/main" id="{A3B9A7C8-E18A-4216-ABA7-D4FFF52E7DCF}"/>
                </a:ext>
              </a:extLst>
            </p:cNvPr>
            <p:cNvSpPr txBox="1"/>
            <p:nvPr/>
          </p:nvSpPr>
          <p:spPr>
            <a:xfrm rot="10800000" flipV="1">
              <a:off x="8062245" y="3488536"/>
              <a:ext cx="905761" cy="1088908"/>
            </a:xfrm>
            <a:prstGeom prst="rect">
              <a:avLst/>
            </a:prstGeom>
            <a:noFill/>
            <a:ln>
              <a:solidFill>
                <a:srgbClr val="002060"/>
              </a:solidFill>
            </a:ln>
          </p:spPr>
          <p:txBody>
            <a:bodyPr wrap="square" rtlCol="0" anchor="ctr">
              <a:normAutofit fontScale="92500" lnSpcReduction="10000"/>
            </a:bodyPr>
            <a:lstStyle>
              <a:defPPr>
                <a:defRPr lang="en-US"/>
              </a:defPPr>
              <a:lvl1pPr algn="ctr">
                <a:defRPr>
                  <a:latin typeface="Times New Roman" panose="02020603050405020304" pitchFamily="18" charset="0"/>
                  <a:cs typeface="Times New Roman" panose="02020603050405020304" pitchFamily="18" charset="0"/>
                </a:defRPr>
              </a:lvl1pPr>
            </a:lstStyle>
            <a:p>
              <a:r>
                <a:rPr lang="en-IN" sz="1500" dirty="0">
                  <a:latin typeface="Arial Narrow" panose="020B0606020202030204" pitchFamily="34" charset="0"/>
                </a:rPr>
                <a:t>Mul</a:t>
              </a:r>
            </a:p>
            <a:p>
              <a:r>
                <a:rPr lang="en-IN" sz="1500" dirty="0">
                  <a:latin typeface="Arial Narrow" panose="020B0606020202030204" pitchFamily="34" charset="0"/>
                </a:rPr>
                <a:t> </a:t>
              </a:r>
            </a:p>
            <a:p>
              <a:r>
                <a:rPr lang="en-IN" sz="1500" dirty="0">
                  <a:latin typeface="Arial Narrow" panose="020B0606020202030204" pitchFamily="34" charset="0"/>
                </a:rPr>
                <a:t>+</a:t>
              </a:r>
            </a:p>
            <a:p>
              <a:r>
                <a:rPr lang="en-IN" sz="1500" dirty="0">
                  <a:latin typeface="Arial Narrow" panose="020B0606020202030204" pitchFamily="34" charset="0"/>
                </a:rPr>
                <a:t>Add</a:t>
              </a:r>
            </a:p>
            <a:p>
              <a:r>
                <a:rPr lang="en-IN" sz="1500" dirty="0">
                  <a:latin typeface="Arial Narrow" panose="020B0606020202030204" pitchFamily="34" charset="0"/>
                </a:rPr>
                <a:t>(→)</a:t>
              </a:r>
            </a:p>
          </p:txBody>
        </p:sp>
        <mc:AlternateContent xmlns:mc="http://schemas.openxmlformats.org/markup-compatibility/2006" xmlns:a14="http://schemas.microsoft.com/office/drawing/2010/main">
          <mc:Choice Requires="a14">
            <p:sp>
              <p:nvSpPr>
                <p:cNvPr id="151" name="TextBox 150">
                  <a:extLst>
                    <a:ext uri="{FF2B5EF4-FFF2-40B4-BE49-F238E27FC236}">
                      <a16:creationId xmlns:a16="http://schemas.microsoft.com/office/drawing/2014/main" id="{6803D624-9F2D-4CB6-A000-91DDACFD0A2B}"/>
                    </a:ext>
                  </a:extLst>
                </p:cNvPr>
                <p:cNvSpPr txBox="1"/>
                <p:nvPr/>
              </p:nvSpPr>
              <p:spPr>
                <a:xfrm rot="10800000" flipV="1">
                  <a:off x="9375998" y="3812614"/>
                  <a:ext cx="495646" cy="454432"/>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a:latin typeface="Cambria Math" panose="02040503050406030204" pitchFamily="18" charset="0"/>
                              </a:rPr>
                            </m:ctrlPr>
                          </m:sSubPr>
                          <m:e>
                            <m:r>
                              <a:rPr lang="en-IN" sz="1500" i="1">
                                <a:latin typeface="Cambria Math" panose="02040503050406030204" pitchFamily="18" charset="0"/>
                              </a:rPr>
                              <m:t>𝑦</m:t>
                            </m:r>
                          </m:e>
                          <m:sub>
                            <m:r>
                              <a:rPr lang="en-IN" sz="1500" i="1">
                                <a:latin typeface="Cambria Math" panose="02040503050406030204" pitchFamily="18" charset="0"/>
                              </a:rPr>
                              <m:t>2</m:t>
                            </m:r>
                          </m:sub>
                        </m:sSub>
                      </m:oMath>
                    </m:oMathPara>
                  </a14:m>
                  <a:endParaRPr lang="en-IN" sz="1500" dirty="0">
                    <a:latin typeface="Arial Narrow" panose="020B0606020202030204" pitchFamily="34" charset="0"/>
                  </a:endParaRPr>
                </a:p>
              </p:txBody>
            </p:sp>
          </mc:Choice>
          <mc:Fallback xmlns="">
            <p:sp>
              <p:nvSpPr>
                <p:cNvPr id="151" name="TextBox 150">
                  <a:extLst>
                    <a:ext uri="{FF2B5EF4-FFF2-40B4-BE49-F238E27FC236}">
                      <a16:creationId xmlns:a16="http://schemas.microsoft.com/office/drawing/2014/main" id="{6803D624-9F2D-4CB6-A000-91DDACFD0A2B}"/>
                    </a:ext>
                  </a:extLst>
                </p:cNvPr>
                <p:cNvSpPr txBox="1">
                  <a:spLocks noRot="1" noChangeAspect="1" noMove="1" noResize="1" noEditPoints="1" noAdjustHandles="1" noChangeArrowheads="1" noChangeShapeType="1" noTextEdit="1"/>
                </p:cNvSpPr>
                <p:nvPr/>
              </p:nvSpPr>
              <p:spPr>
                <a:xfrm rot="10800000" flipV="1">
                  <a:off x="9375998" y="3812614"/>
                  <a:ext cx="495646" cy="454432"/>
                </a:xfrm>
                <a:prstGeom prst="ellipse">
                  <a:avLst/>
                </a:prstGeom>
                <a:blipFill>
                  <a:blip r:embed="rId21"/>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2" name="TextBox 151">
                  <a:extLst>
                    <a:ext uri="{FF2B5EF4-FFF2-40B4-BE49-F238E27FC236}">
                      <a16:creationId xmlns:a16="http://schemas.microsoft.com/office/drawing/2014/main" id="{AD6D90FF-8B08-44E6-ADD1-B975BDF15677}"/>
                    </a:ext>
                  </a:extLst>
                </p:cNvPr>
                <p:cNvSpPr txBox="1"/>
                <p:nvPr/>
              </p:nvSpPr>
              <p:spPr>
                <a:xfrm rot="10800000" flipV="1">
                  <a:off x="6953381" y="3797916"/>
                  <a:ext cx="495646" cy="468588"/>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𝑎</m:t>
                            </m:r>
                          </m:e>
                          <m:sub>
                            <m:r>
                              <a:rPr lang="en-IN" sz="1500">
                                <a:latin typeface="Cambria Math" panose="02040503050406030204" pitchFamily="18" charset="0"/>
                              </a:rPr>
                              <m:t>1,2</m:t>
                            </m:r>
                          </m:sub>
                        </m:sSub>
                      </m:oMath>
                    </m:oMathPara>
                  </a14:m>
                  <a:endParaRPr lang="en-IN" sz="1500" dirty="0">
                    <a:latin typeface="Arial Narrow" panose="020B0606020202030204" pitchFamily="34" charset="0"/>
                  </a:endParaRPr>
                </a:p>
              </p:txBody>
            </p:sp>
          </mc:Choice>
          <mc:Fallback xmlns="">
            <p:sp>
              <p:nvSpPr>
                <p:cNvPr id="152" name="TextBox 151">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6953381" y="3797916"/>
                  <a:ext cx="495646" cy="468588"/>
                </a:xfrm>
                <a:prstGeom prst="ellipse">
                  <a:avLst/>
                </a:prstGeom>
                <a:blipFill>
                  <a:blip r:embed="rId22"/>
                  <a:stretch>
                    <a:fillRect r="-1205"/>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3" name="TextBox 152">
                  <a:extLst>
                    <a:ext uri="{FF2B5EF4-FFF2-40B4-BE49-F238E27FC236}">
                      <a16:creationId xmlns:a16="http://schemas.microsoft.com/office/drawing/2014/main" id="{36F03E2E-8229-4DFD-869B-C4F6CF96084E}"/>
                    </a:ext>
                  </a:extLst>
                </p:cNvPr>
                <p:cNvSpPr txBox="1"/>
                <p:nvPr/>
              </p:nvSpPr>
              <p:spPr>
                <a:xfrm rot="10800000" flipV="1">
                  <a:off x="6407103" y="3797916"/>
                  <a:ext cx="495646" cy="468588"/>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𝑎</m:t>
                            </m:r>
                          </m:e>
                          <m:sub>
                            <m:r>
                              <a:rPr lang="en-IN" sz="1500">
                                <a:latin typeface="Cambria Math" panose="02040503050406030204" pitchFamily="18" charset="0"/>
                              </a:rPr>
                              <m:t>2,2</m:t>
                            </m:r>
                          </m:sub>
                        </m:sSub>
                      </m:oMath>
                    </m:oMathPara>
                  </a14:m>
                  <a:endParaRPr lang="en-IN" sz="1500" dirty="0">
                    <a:latin typeface="Arial Narrow" panose="020B0606020202030204" pitchFamily="34" charset="0"/>
                  </a:endParaRPr>
                </a:p>
              </p:txBody>
            </p:sp>
          </mc:Choice>
          <mc:Fallback xmlns="">
            <p:sp>
              <p:nvSpPr>
                <p:cNvPr id="153" name="TextBox 152">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6407103" y="3797916"/>
                  <a:ext cx="495646" cy="468588"/>
                </a:xfrm>
                <a:prstGeom prst="ellipse">
                  <a:avLst/>
                </a:prstGeom>
                <a:blipFill>
                  <a:blip r:embed="rId23"/>
                  <a:stretch>
                    <a:fillRect r="-2410"/>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4" name="TextBox 153">
                  <a:extLst>
                    <a:ext uri="{FF2B5EF4-FFF2-40B4-BE49-F238E27FC236}">
                      <a16:creationId xmlns:a16="http://schemas.microsoft.com/office/drawing/2014/main" id="{DF1D3D16-4F7D-4FD0-95EB-E2360401B577}"/>
                    </a:ext>
                  </a:extLst>
                </p:cNvPr>
                <p:cNvSpPr txBox="1"/>
                <p:nvPr/>
              </p:nvSpPr>
              <p:spPr>
                <a:xfrm rot="10800000" flipV="1">
                  <a:off x="5866118" y="3797917"/>
                  <a:ext cx="495646" cy="468588"/>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𝑎</m:t>
                            </m:r>
                          </m:e>
                          <m:sub>
                            <m:r>
                              <a:rPr lang="en-IN" sz="1500">
                                <a:latin typeface="Cambria Math" panose="02040503050406030204" pitchFamily="18" charset="0"/>
                              </a:rPr>
                              <m:t>3</m:t>
                            </m:r>
                            <m:r>
                              <a:rPr lang="en-IN" sz="1500" b="0" i="1" smtClean="0">
                                <a:latin typeface="Cambria Math" panose="02040503050406030204" pitchFamily="18" charset="0"/>
                              </a:rPr>
                              <m:t>,</m:t>
                            </m:r>
                            <m:r>
                              <a:rPr lang="en-IN" sz="1500">
                                <a:latin typeface="Cambria Math" panose="02040503050406030204" pitchFamily="18" charset="0"/>
                              </a:rPr>
                              <m:t>2</m:t>
                            </m:r>
                          </m:sub>
                        </m:sSub>
                      </m:oMath>
                    </m:oMathPara>
                  </a14:m>
                  <a:endParaRPr lang="en-IN" sz="1500" dirty="0">
                    <a:latin typeface="Arial Narrow" panose="020B0606020202030204" pitchFamily="34" charset="0"/>
                  </a:endParaRPr>
                </a:p>
              </p:txBody>
            </p:sp>
          </mc:Choice>
          <mc:Fallback xmlns="">
            <p:sp>
              <p:nvSpPr>
                <p:cNvPr id="154" name="TextBox 153">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5866118" y="3797917"/>
                  <a:ext cx="495646" cy="468588"/>
                </a:xfrm>
                <a:prstGeom prst="ellipse">
                  <a:avLst/>
                </a:prstGeom>
                <a:blipFill>
                  <a:blip r:embed="rId24"/>
                  <a:stretch>
                    <a:fillRect r="-1190"/>
                  </a:stretch>
                </a:blipFill>
                <a:ln w="12700">
                  <a:solidFill>
                    <a:schemeClr val="tx1"/>
                  </a:solidFill>
                </a:ln>
              </p:spPr>
              <p:txBody>
                <a:bodyPr/>
                <a:lstStyle/>
                <a:p>
                  <a:r>
                    <a:rPr lang="en-IN">
                      <a:noFill/>
                    </a:rPr>
                    <a:t> </a:t>
                  </a:r>
                </a:p>
              </p:txBody>
            </p:sp>
          </mc:Fallback>
        </mc:AlternateContent>
        <p:cxnSp>
          <p:nvCxnSpPr>
            <p:cNvPr id="155" name="Straight Arrow Connector 154">
              <a:extLst>
                <a:ext uri="{FF2B5EF4-FFF2-40B4-BE49-F238E27FC236}">
                  <a16:creationId xmlns:a16="http://schemas.microsoft.com/office/drawing/2014/main" id="{93CE584A-6224-4185-BA7F-7DBE679AAC01}"/>
                </a:ext>
              </a:extLst>
            </p:cNvPr>
            <p:cNvCxnSpPr>
              <a:cxnSpLocks/>
              <a:stCxn id="169" idx="1"/>
              <a:endCxn id="154" idx="6"/>
            </p:cNvCxnSpPr>
            <p:nvPr/>
          </p:nvCxnSpPr>
          <p:spPr>
            <a:xfrm flipV="1">
              <a:off x="5385718" y="4032211"/>
              <a:ext cx="480400" cy="779"/>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6" name="TextBox 155">
                  <a:extLst>
                    <a:ext uri="{FF2B5EF4-FFF2-40B4-BE49-F238E27FC236}">
                      <a16:creationId xmlns:a16="http://schemas.microsoft.com/office/drawing/2014/main" id="{AD6D90FF-8B08-44E6-ADD1-B975BDF15677}"/>
                    </a:ext>
                  </a:extLst>
                </p:cNvPr>
                <p:cNvSpPr txBox="1"/>
                <p:nvPr/>
              </p:nvSpPr>
              <p:spPr>
                <a:xfrm rot="10800000" flipV="1">
                  <a:off x="3403072" y="3315991"/>
                  <a:ext cx="495646" cy="468588"/>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a:latin typeface="Cambria Math" panose="02040503050406030204" pitchFamily="18" charset="0"/>
                              </a:rPr>
                            </m:ctrlPr>
                          </m:sSubPr>
                          <m:e>
                            <m:r>
                              <a:rPr lang="en-IN" sz="1500">
                                <a:latin typeface="Cambria Math" panose="02040503050406030204" pitchFamily="18" charset="0"/>
                              </a:rPr>
                              <m:t>𝛼</m:t>
                            </m:r>
                          </m:e>
                          <m:sub>
                            <m:r>
                              <a:rPr lang="en-IN" sz="1500">
                                <a:latin typeface="Cambria Math" panose="02040503050406030204" pitchFamily="18" charset="0"/>
                              </a:rPr>
                              <m:t>1,3</m:t>
                            </m:r>
                          </m:sub>
                        </m:sSub>
                      </m:oMath>
                    </m:oMathPara>
                  </a14:m>
                  <a:endParaRPr lang="en-IN" sz="1500" dirty="0">
                    <a:latin typeface="Arial Narrow" panose="020B0606020202030204" pitchFamily="34" charset="0"/>
                  </a:endParaRPr>
                </a:p>
              </p:txBody>
            </p:sp>
          </mc:Choice>
          <mc:Fallback xmlns="">
            <p:sp>
              <p:nvSpPr>
                <p:cNvPr id="156" name="TextBox 155">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3403072" y="3315991"/>
                  <a:ext cx="495646" cy="468588"/>
                </a:xfrm>
                <a:prstGeom prst="ellipse">
                  <a:avLst/>
                </a:prstGeom>
                <a:blipFill>
                  <a:blip r:embed="rId25"/>
                  <a:stretch>
                    <a:fillRect r="-1190"/>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7" name="TextBox 156">
                  <a:extLst>
                    <a:ext uri="{FF2B5EF4-FFF2-40B4-BE49-F238E27FC236}">
                      <a16:creationId xmlns:a16="http://schemas.microsoft.com/office/drawing/2014/main" id="{36F03E2E-8229-4DFD-869B-C4F6CF96084E}"/>
                    </a:ext>
                  </a:extLst>
                </p:cNvPr>
                <p:cNvSpPr txBox="1"/>
                <p:nvPr/>
              </p:nvSpPr>
              <p:spPr>
                <a:xfrm rot="10800000" flipV="1">
                  <a:off x="2856794" y="3315991"/>
                  <a:ext cx="495646" cy="468588"/>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a:latin typeface="Cambria Math" panose="02040503050406030204" pitchFamily="18" charset="0"/>
                              </a:rPr>
                            </m:ctrlPr>
                          </m:sSubPr>
                          <m:e>
                            <m:r>
                              <a:rPr lang="en-IN" sz="1500">
                                <a:latin typeface="Cambria Math" panose="02040503050406030204" pitchFamily="18" charset="0"/>
                                <a:ea typeface="Cambria Math" panose="02040503050406030204" pitchFamily="18" charset="0"/>
                                <a:cs typeface="Times New Roman" panose="02020603050405020304" pitchFamily="18" charset="0"/>
                              </a:rPr>
                              <m:t>𝛼</m:t>
                            </m:r>
                          </m:e>
                          <m:sub>
                            <m:r>
                              <a:rPr lang="en-IN" sz="1500">
                                <a:latin typeface="Cambria Math" panose="02040503050406030204" pitchFamily="18" charset="0"/>
                              </a:rPr>
                              <m:t>2,3</m:t>
                            </m:r>
                          </m:sub>
                        </m:sSub>
                      </m:oMath>
                    </m:oMathPara>
                  </a14:m>
                  <a:endParaRPr lang="en-IN" sz="1500" dirty="0">
                    <a:latin typeface="Arial Narrow" panose="020B0606020202030204" pitchFamily="34" charset="0"/>
                  </a:endParaRPr>
                </a:p>
              </p:txBody>
            </p:sp>
          </mc:Choice>
          <mc:Fallback xmlns="">
            <p:sp>
              <p:nvSpPr>
                <p:cNvPr id="157" name="TextBox 156">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2856794" y="3315991"/>
                  <a:ext cx="495646" cy="468588"/>
                </a:xfrm>
                <a:prstGeom prst="ellipse">
                  <a:avLst/>
                </a:prstGeom>
                <a:blipFill>
                  <a:blip r:embed="rId26"/>
                  <a:stretch>
                    <a:fillRect r="-3614"/>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8" name="TextBox 157">
                  <a:extLst>
                    <a:ext uri="{FF2B5EF4-FFF2-40B4-BE49-F238E27FC236}">
                      <a16:creationId xmlns:a16="http://schemas.microsoft.com/office/drawing/2014/main" id="{DF1D3D16-4F7D-4FD0-95EB-E2360401B577}"/>
                    </a:ext>
                  </a:extLst>
                </p:cNvPr>
                <p:cNvSpPr txBox="1"/>
                <p:nvPr/>
              </p:nvSpPr>
              <p:spPr>
                <a:xfrm rot="10800000" flipV="1">
                  <a:off x="2315810" y="3330690"/>
                  <a:ext cx="495646" cy="454432"/>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n-IN" sz="1500" b="0" i="1" smtClean="0">
                                <a:latin typeface="Cambria Math" panose="02040503050406030204" pitchFamily="18" charset="0"/>
                              </a:rPr>
                              <m:t>33</m:t>
                            </m:r>
                          </m:sub>
                        </m:sSub>
                      </m:oMath>
                    </m:oMathPara>
                  </a14:m>
                  <a:endParaRPr lang="en-IN" sz="1500" dirty="0">
                    <a:latin typeface="Arial Narrow" panose="020B0606020202030204" pitchFamily="34" charset="0"/>
                  </a:endParaRPr>
                </a:p>
              </p:txBody>
            </p:sp>
          </mc:Choice>
          <mc:Fallback xmlns="">
            <p:sp>
              <p:nvSpPr>
                <p:cNvPr id="158" name="TextBox 157">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2315810" y="3330690"/>
                  <a:ext cx="495646" cy="454432"/>
                </a:xfrm>
                <a:prstGeom prst="ellipse">
                  <a:avLst/>
                </a:prstGeom>
                <a:blipFill>
                  <a:blip r:embed="rId27"/>
                  <a:stretch>
                    <a:fillRect/>
                  </a:stretch>
                </a:blipFill>
                <a:ln w="12700">
                  <a:solidFill>
                    <a:schemeClr val="tx1"/>
                  </a:solidFill>
                </a:ln>
              </p:spPr>
              <p:txBody>
                <a:bodyPr/>
                <a:lstStyle/>
                <a:p>
                  <a:r>
                    <a:rPr lang="en-IN">
                      <a:noFill/>
                    </a:rPr>
                    <a:t> </a:t>
                  </a:r>
                </a:p>
              </p:txBody>
            </p:sp>
          </mc:Fallback>
        </mc:AlternateContent>
        <p:cxnSp>
          <p:nvCxnSpPr>
            <p:cNvPr id="159" name="Straight Arrow Connector 158">
              <a:extLst>
                <a:ext uri="{FF2B5EF4-FFF2-40B4-BE49-F238E27FC236}">
                  <a16:creationId xmlns:a16="http://schemas.microsoft.com/office/drawing/2014/main" id="{47F04F6C-A5DE-48AC-A93E-885D326C2D52}"/>
                </a:ext>
              </a:extLst>
            </p:cNvPr>
            <p:cNvCxnSpPr>
              <a:cxnSpLocks/>
              <a:stCxn id="165" idx="2"/>
            </p:cNvCxnSpPr>
            <p:nvPr/>
          </p:nvCxnSpPr>
          <p:spPr>
            <a:xfrm>
              <a:off x="7449027" y="3542665"/>
              <a:ext cx="613222" cy="1535"/>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60" name="Straight Arrow Connector 159">
              <a:extLst>
                <a:ext uri="{FF2B5EF4-FFF2-40B4-BE49-F238E27FC236}">
                  <a16:creationId xmlns:a16="http://schemas.microsoft.com/office/drawing/2014/main" id="{93CE584A-6224-4185-BA7F-7DBE679AAC01}"/>
                </a:ext>
              </a:extLst>
            </p:cNvPr>
            <p:cNvCxnSpPr>
              <a:cxnSpLocks/>
              <a:stCxn id="156" idx="2"/>
            </p:cNvCxnSpPr>
            <p:nvPr/>
          </p:nvCxnSpPr>
          <p:spPr>
            <a:xfrm flipV="1">
              <a:off x="3898718" y="3546994"/>
              <a:ext cx="578914" cy="3291"/>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1" name="TextBox 160">
                  <a:extLst>
                    <a:ext uri="{FF2B5EF4-FFF2-40B4-BE49-F238E27FC236}">
                      <a16:creationId xmlns:a16="http://schemas.microsoft.com/office/drawing/2014/main" id="{CB478EDF-F147-4A46-ACD7-767B4A547BF2}"/>
                    </a:ext>
                  </a:extLst>
                </p:cNvPr>
                <p:cNvSpPr txBox="1"/>
                <p:nvPr/>
              </p:nvSpPr>
              <p:spPr>
                <a:xfrm rot="10800000" flipV="1">
                  <a:off x="1333629" y="3330689"/>
                  <a:ext cx="499716" cy="454432"/>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i="1">
                                <a:latin typeface="Cambria Math" panose="02040503050406030204" pitchFamily="18" charset="0"/>
                              </a:rPr>
                              <m:t>𝑞</m:t>
                            </m:r>
                          </m:e>
                          <m:sub>
                            <m:r>
                              <a:rPr lang="en-IN" sz="1500" b="0" i="1" smtClean="0">
                                <a:latin typeface="Cambria Math" panose="02040503050406030204" pitchFamily="18" charset="0"/>
                              </a:rPr>
                              <m:t>3</m:t>
                            </m:r>
                          </m:sub>
                        </m:sSub>
                      </m:oMath>
                    </m:oMathPara>
                  </a14:m>
                  <a:endParaRPr lang="en-IN" sz="1500" dirty="0">
                    <a:latin typeface="Arial Narrow" panose="020B0606020202030204" pitchFamily="34" charset="0"/>
                  </a:endParaRPr>
                </a:p>
              </p:txBody>
            </p:sp>
          </mc:Choice>
          <mc:Fallback xmlns="">
            <p:sp>
              <p:nvSpPr>
                <p:cNvPr id="161" name="TextBox 160">
                  <a:extLst>
                    <a:ext uri="{FF2B5EF4-FFF2-40B4-BE49-F238E27FC236}">
                      <a16:creationId xmlns:a16="http://schemas.microsoft.com/office/drawing/2014/main" id="{CB478EDF-F147-4A46-ACD7-767B4A547BF2}"/>
                    </a:ext>
                  </a:extLst>
                </p:cNvPr>
                <p:cNvSpPr txBox="1">
                  <a:spLocks noRot="1" noChangeAspect="1" noMove="1" noResize="1" noEditPoints="1" noAdjustHandles="1" noChangeArrowheads="1" noChangeShapeType="1" noTextEdit="1"/>
                </p:cNvSpPr>
                <p:nvPr/>
              </p:nvSpPr>
              <p:spPr>
                <a:xfrm rot="10800000" flipV="1">
                  <a:off x="1333629" y="3330689"/>
                  <a:ext cx="499716" cy="454432"/>
                </a:xfrm>
                <a:prstGeom prst="ellipse">
                  <a:avLst/>
                </a:prstGeom>
                <a:blipFill>
                  <a:blip r:embed="rId28"/>
                  <a:stretch>
                    <a:fillRect/>
                  </a:stretch>
                </a:blipFill>
                <a:ln w="12700">
                  <a:solidFill>
                    <a:schemeClr val="tx1"/>
                  </a:solidFill>
                </a:ln>
              </p:spPr>
              <p:txBody>
                <a:bodyPr/>
                <a:lstStyle/>
                <a:p>
                  <a:r>
                    <a:rPr lang="en-IN">
                      <a:noFill/>
                    </a:rPr>
                    <a:t> </a:t>
                  </a:r>
                </a:p>
              </p:txBody>
            </p:sp>
          </mc:Fallback>
        </mc:AlternateContent>
        <p:cxnSp>
          <p:nvCxnSpPr>
            <p:cNvPr id="162" name="Straight Arrow Connector 161">
              <a:extLst>
                <a:ext uri="{FF2B5EF4-FFF2-40B4-BE49-F238E27FC236}">
                  <a16:creationId xmlns:a16="http://schemas.microsoft.com/office/drawing/2014/main" id="{20C9C6AC-19F5-4564-9E13-1B8D0A63390D}"/>
                </a:ext>
              </a:extLst>
            </p:cNvPr>
            <p:cNvCxnSpPr>
              <a:stCxn id="161" idx="2"/>
              <a:endCxn id="158" idx="6"/>
            </p:cNvCxnSpPr>
            <p:nvPr/>
          </p:nvCxnSpPr>
          <p:spPr>
            <a:xfrm>
              <a:off x="1833345" y="3557905"/>
              <a:ext cx="482465" cy="1"/>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63" name="Straight Arrow Connector 162">
              <a:extLst>
                <a:ext uri="{FF2B5EF4-FFF2-40B4-BE49-F238E27FC236}">
                  <a16:creationId xmlns:a16="http://schemas.microsoft.com/office/drawing/2014/main" id="{19A753A8-AD35-4022-B3B3-F8FBEA03A328}"/>
                </a:ext>
              </a:extLst>
            </p:cNvPr>
            <p:cNvCxnSpPr>
              <a:endCxn id="164" idx="6"/>
            </p:cNvCxnSpPr>
            <p:nvPr/>
          </p:nvCxnSpPr>
          <p:spPr>
            <a:xfrm flipV="1">
              <a:off x="8966705" y="3557905"/>
              <a:ext cx="409293" cy="1536"/>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4" name="TextBox 163">
                  <a:extLst>
                    <a:ext uri="{FF2B5EF4-FFF2-40B4-BE49-F238E27FC236}">
                      <a16:creationId xmlns:a16="http://schemas.microsoft.com/office/drawing/2014/main" id="{6803D624-9F2D-4CB6-A000-91DDACFD0A2B}"/>
                    </a:ext>
                  </a:extLst>
                </p:cNvPr>
                <p:cNvSpPr txBox="1"/>
                <p:nvPr/>
              </p:nvSpPr>
              <p:spPr>
                <a:xfrm rot="10800000" flipV="1">
                  <a:off x="9375998" y="3330689"/>
                  <a:ext cx="495646" cy="454432"/>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a:latin typeface="Cambria Math" panose="02040503050406030204" pitchFamily="18" charset="0"/>
                              </a:rPr>
                            </m:ctrlPr>
                          </m:sSubPr>
                          <m:e>
                            <m:r>
                              <a:rPr lang="en-IN" sz="1500" i="1">
                                <a:latin typeface="Cambria Math" panose="02040503050406030204" pitchFamily="18" charset="0"/>
                              </a:rPr>
                              <m:t>𝑦</m:t>
                            </m:r>
                          </m:e>
                          <m:sub>
                            <m:r>
                              <a:rPr lang="en-IN" sz="1500" i="1">
                                <a:latin typeface="Cambria Math" panose="02040503050406030204" pitchFamily="18" charset="0"/>
                              </a:rPr>
                              <m:t>3</m:t>
                            </m:r>
                          </m:sub>
                        </m:sSub>
                      </m:oMath>
                    </m:oMathPara>
                  </a14:m>
                  <a:endParaRPr lang="en-IN" sz="1500" dirty="0">
                    <a:latin typeface="Arial Narrow" panose="020B0606020202030204" pitchFamily="34" charset="0"/>
                  </a:endParaRPr>
                </a:p>
              </p:txBody>
            </p:sp>
          </mc:Choice>
          <mc:Fallback xmlns="">
            <p:sp>
              <p:nvSpPr>
                <p:cNvPr id="164" name="TextBox 163">
                  <a:extLst>
                    <a:ext uri="{FF2B5EF4-FFF2-40B4-BE49-F238E27FC236}">
                      <a16:creationId xmlns:a16="http://schemas.microsoft.com/office/drawing/2014/main" id="{6803D624-9F2D-4CB6-A000-91DDACFD0A2B}"/>
                    </a:ext>
                  </a:extLst>
                </p:cNvPr>
                <p:cNvSpPr txBox="1">
                  <a:spLocks noRot="1" noChangeAspect="1" noMove="1" noResize="1" noEditPoints="1" noAdjustHandles="1" noChangeArrowheads="1" noChangeShapeType="1" noTextEdit="1"/>
                </p:cNvSpPr>
                <p:nvPr/>
              </p:nvSpPr>
              <p:spPr>
                <a:xfrm rot="10800000" flipV="1">
                  <a:off x="9375998" y="3330689"/>
                  <a:ext cx="495646" cy="454432"/>
                </a:xfrm>
                <a:prstGeom prst="ellipse">
                  <a:avLst/>
                </a:prstGeom>
                <a:blipFill>
                  <a:blip r:embed="rId29"/>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5" name="TextBox 164">
                  <a:extLst>
                    <a:ext uri="{FF2B5EF4-FFF2-40B4-BE49-F238E27FC236}">
                      <a16:creationId xmlns:a16="http://schemas.microsoft.com/office/drawing/2014/main" id="{AD6D90FF-8B08-44E6-ADD1-B975BDF15677}"/>
                    </a:ext>
                  </a:extLst>
                </p:cNvPr>
                <p:cNvSpPr txBox="1"/>
                <p:nvPr/>
              </p:nvSpPr>
              <p:spPr>
                <a:xfrm rot="10800000" flipV="1">
                  <a:off x="6953381" y="3308371"/>
                  <a:ext cx="495646" cy="468588"/>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𝑎</m:t>
                            </m:r>
                          </m:e>
                          <m:sub>
                            <m:r>
                              <a:rPr lang="en-IN" sz="1500">
                                <a:latin typeface="Cambria Math" panose="02040503050406030204" pitchFamily="18" charset="0"/>
                              </a:rPr>
                              <m:t>1,3</m:t>
                            </m:r>
                          </m:sub>
                        </m:sSub>
                      </m:oMath>
                    </m:oMathPara>
                  </a14:m>
                  <a:endParaRPr lang="en-IN" sz="1500" dirty="0">
                    <a:latin typeface="Arial Narrow" panose="020B0606020202030204" pitchFamily="34" charset="0"/>
                  </a:endParaRPr>
                </a:p>
              </p:txBody>
            </p:sp>
          </mc:Choice>
          <mc:Fallback xmlns="">
            <p:sp>
              <p:nvSpPr>
                <p:cNvPr id="165" name="TextBox 164">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6953381" y="3308371"/>
                  <a:ext cx="495646" cy="468588"/>
                </a:xfrm>
                <a:prstGeom prst="ellipse">
                  <a:avLst/>
                </a:prstGeom>
                <a:blipFill>
                  <a:blip r:embed="rId30"/>
                  <a:stretch>
                    <a:fillRect r="-1205"/>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6" name="TextBox 165">
                  <a:extLst>
                    <a:ext uri="{FF2B5EF4-FFF2-40B4-BE49-F238E27FC236}">
                      <a16:creationId xmlns:a16="http://schemas.microsoft.com/office/drawing/2014/main" id="{36F03E2E-8229-4DFD-869B-C4F6CF96084E}"/>
                    </a:ext>
                  </a:extLst>
                </p:cNvPr>
                <p:cNvSpPr txBox="1"/>
                <p:nvPr/>
              </p:nvSpPr>
              <p:spPr>
                <a:xfrm rot="10800000" flipV="1">
                  <a:off x="6407103" y="3308371"/>
                  <a:ext cx="495646" cy="468588"/>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𝑎</m:t>
                            </m:r>
                          </m:e>
                          <m:sub>
                            <m:r>
                              <a:rPr lang="en-IN" sz="1500">
                                <a:latin typeface="Cambria Math" panose="02040503050406030204" pitchFamily="18" charset="0"/>
                              </a:rPr>
                              <m:t>2,3</m:t>
                            </m:r>
                          </m:sub>
                        </m:sSub>
                      </m:oMath>
                    </m:oMathPara>
                  </a14:m>
                  <a:endParaRPr lang="en-IN" sz="1500" dirty="0">
                    <a:latin typeface="Arial Narrow" panose="020B0606020202030204" pitchFamily="34" charset="0"/>
                  </a:endParaRPr>
                </a:p>
              </p:txBody>
            </p:sp>
          </mc:Choice>
          <mc:Fallback xmlns="">
            <p:sp>
              <p:nvSpPr>
                <p:cNvPr id="166" name="TextBox 165">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6407103" y="3308371"/>
                  <a:ext cx="495646" cy="468588"/>
                </a:xfrm>
                <a:prstGeom prst="ellipse">
                  <a:avLst/>
                </a:prstGeom>
                <a:blipFill>
                  <a:blip r:embed="rId31"/>
                  <a:stretch>
                    <a:fillRect r="-2410"/>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7" name="TextBox 166">
                  <a:extLst>
                    <a:ext uri="{FF2B5EF4-FFF2-40B4-BE49-F238E27FC236}">
                      <a16:creationId xmlns:a16="http://schemas.microsoft.com/office/drawing/2014/main" id="{DF1D3D16-4F7D-4FD0-95EB-E2360401B577}"/>
                    </a:ext>
                  </a:extLst>
                </p:cNvPr>
                <p:cNvSpPr txBox="1"/>
                <p:nvPr/>
              </p:nvSpPr>
              <p:spPr>
                <a:xfrm rot="10800000" flipV="1">
                  <a:off x="5866118" y="3308372"/>
                  <a:ext cx="495646" cy="468588"/>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𝑎</m:t>
                            </m:r>
                          </m:e>
                          <m:sub>
                            <m:r>
                              <a:rPr lang="en-IN" sz="1500">
                                <a:latin typeface="Cambria Math" panose="02040503050406030204" pitchFamily="18" charset="0"/>
                              </a:rPr>
                              <m:t>3</m:t>
                            </m:r>
                            <m:r>
                              <a:rPr lang="en-IN" sz="1500" b="0" i="1" smtClean="0">
                                <a:latin typeface="Cambria Math" panose="02040503050406030204" pitchFamily="18" charset="0"/>
                              </a:rPr>
                              <m:t>,</m:t>
                            </m:r>
                            <m:r>
                              <a:rPr lang="en-IN" sz="1500">
                                <a:latin typeface="Cambria Math" panose="02040503050406030204" pitchFamily="18" charset="0"/>
                              </a:rPr>
                              <m:t>3</m:t>
                            </m:r>
                          </m:sub>
                        </m:sSub>
                      </m:oMath>
                    </m:oMathPara>
                  </a14:m>
                  <a:endParaRPr lang="en-IN" sz="1500" dirty="0">
                    <a:latin typeface="Arial Narrow" panose="020B0606020202030204" pitchFamily="34" charset="0"/>
                  </a:endParaRPr>
                </a:p>
              </p:txBody>
            </p:sp>
          </mc:Choice>
          <mc:Fallback xmlns="">
            <p:sp>
              <p:nvSpPr>
                <p:cNvPr id="167" name="TextBox 166">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5866118" y="3308372"/>
                  <a:ext cx="495646" cy="468588"/>
                </a:xfrm>
                <a:prstGeom prst="ellipse">
                  <a:avLst/>
                </a:prstGeom>
                <a:blipFill>
                  <a:blip r:embed="rId32"/>
                  <a:stretch>
                    <a:fillRect r="-1190"/>
                  </a:stretch>
                </a:blipFill>
                <a:ln w="12700">
                  <a:solidFill>
                    <a:schemeClr val="tx1"/>
                  </a:solidFill>
                </a:ln>
              </p:spPr>
              <p:txBody>
                <a:bodyPr/>
                <a:lstStyle/>
                <a:p>
                  <a:r>
                    <a:rPr lang="en-IN">
                      <a:noFill/>
                    </a:rPr>
                    <a:t> </a:t>
                  </a:r>
                </a:p>
              </p:txBody>
            </p:sp>
          </mc:Fallback>
        </mc:AlternateContent>
        <p:cxnSp>
          <p:nvCxnSpPr>
            <p:cNvPr id="168" name="Straight Arrow Connector 167">
              <a:extLst>
                <a:ext uri="{FF2B5EF4-FFF2-40B4-BE49-F238E27FC236}">
                  <a16:creationId xmlns:a16="http://schemas.microsoft.com/office/drawing/2014/main" id="{93CE584A-6224-4185-BA7F-7DBE679AAC01}"/>
                </a:ext>
              </a:extLst>
            </p:cNvPr>
            <p:cNvCxnSpPr>
              <a:cxnSpLocks/>
              <a:endCxn id="167" idx="6"/>
            </p:cNvCxnSpPr>
            <p:nvPr/>
          </p:nvCxnSpPr>
          <p:spPr>
            <a:xfrm>
              <a:off x="5385722" y="3539373"/>
              <a:ext cx="480396" cy="3293"/>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69" name="TextBox 168">
              <a:extLst>
                <a:ext uri="{FF2B5EF4-FFF2-40B4-BE49-F238E27FC236}">
                  <a16:creationId xmlns:a16="http://schemas.microsoft.com/office/drawing/2014/main" id="{9F7A9C69-BDD0-4A8F-93A2-06B1642E46C3}"/>
                </a:ext>
              </a:extLst>
            </p:cNvPr>
            <p:cNvSpPr txBox="1"/>
            <p:nvPr/>
          </p:nvSpPr>
          <p:spPr>
            <a:xfrm rot="10800000" flipV="1">
              <a:off x="4477628" y="3488536"/>
              <a:ext cx="908090" cy="1088908"/>
            </a:xfrm>
            <a:prstGeom prst="rect">
              <a:avLst/>
            </a:prstGeom>
            <a:noFill/>
            <a:ln w="12700">
              <a:solidFill>
                <a:srgbClr val="002060"/>
              </a:solidFill>
            </a:ln>
          </p:spPr>
          <p:txBody>
            <a:bodyPr wrap="square" rtlCol="0" anchor="t">
              <a:normAutofit/>
            </a:bodyPr>
            <a:lstStyle/>
            <a:p>
              <a:endParaRPr lang="en-IN" sz="1500" dirty="0">
                <a:latin typeface="Arial Narrow" panose="020B0606020202030204" pitchFamily="34" charset="0"/>
                <a:cs typeface="Times New Roman" panose="02020603050405020304" pitchFamily="18" charset="0"/>
              </a:endParaRPr>
            </a:p>
            <a:p>
              <a:pPr algn="ctr"/>
              <a:r>
                <a:rPr lang="en-IN" sz="1600" dirty="0" err="1">
                  <a:latin typeface="Arial Narrow" panose="020B0606020202030204" pitchFamily="34" charset="0"/>
                  <a:cs typeface="Times New Roman" panose="02020603050405020304" pitchFamily="18" charset="0"/>
                </a:rPr>
                <a:t>softmax</a:t>
              </a:r>
              <a:endParaRPr lang="en-IN" sz="1600" dirty="0">
                <a:latin typeface="Arial Narrow" panose="020B0606020202030204" pitchFamily="34" charset="0"/>
                <a:cs typeface="Times New Roman" panose="02020603050405020304" pitchFamily="18" charset="0"/>
              </a:endParaRPr>
            </a:p>
            <a:p>
              <a:pPr algn="ctr"/>
              <a:r>
                <a:rPr lang="en-IN" sz="1600" dirty="0">
                  <a:latin typeface="Arial Narrow" panose="020B0606020202030204" pitchFamily="34" charset="0"/>
                  <a:cs typeface="Times New Roman" panose="02020603050405020304" pitchFamily="18" charset="0"/>
                </a:rPr>
                <a:t>(→)</a:t>
              </a:r>
            </a:p>
            <a:p>
              <a:endParaRPr lang="en-IN" sz="1500" dirty="0">
                <a:latin typeface="Arial Narrow" panose="020B0606020202030204" pitchFamily="34" charset="0"/>
                <a:cs typeface="Times New Roman" panose="02020603050405020304" pitchFamily="18" charset="0"/>
              </a:endParaRPr>
            </a:p>
            <a:p>
              <a:pPr algn="ctr"/>
              <a:endParaRPr lang="en-IN" sz="1500" dirty="0">
                <a:latin typeface="Arial Narrow" panose="020B0606020202030204" pitchFamily="34" charset="0"/>
                <a:cs typeface="Times New Roman" panose="02020603050405020304" pitchFamily="18" charset="0"/>
              </a:endParaRPr>
            </a:p>
          </p:txBody>
        </p:sp>
        <p:sp>
          <p:nvSpPr>
            <p:cNvPr id="170" name="Rectangle 169"/>
            <p:cNvSpPr/>
            <p:nvPr/>
          </p:nvSpPr>
          <p:spPr>
            <a:xfrm rot="10800000">
              <a:off x="8321803" y="3710385"/>
              <a:ext cx="386644" cy="323165"/>
            </a:xfrm>
            <a:prstGeom prst="rect">
              <a:avLst/>
            </a:prstGeom>
          </p:spPr>
          <p:txBody>
            <a:bodyPr wrap="none">
              <a:spAutoFit/>
            </a:bodyPr>
            <a:lstStyle/>
            <a:p>
              <a:pPr algn="ctr"/>
              <a:r>
                <a:rPr lang="en-IN" sz="1500" dirty="0">
                  <a:latin typeface="Arial Narrow" panose="020B0606020202030204" pitchFamily="34"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171" name="TextBox 170">
                  <a:extLst>
                    <a:ext uri="{FF2B5EF4-FFF2-40B4-BE49-F238E27FC236}">
                      <a16:creationId xmlns:a16="http://schemas.microsoft.com/office/drawing/2014/main" id="{AD6D90FF-8B08-44E6-ADD1-B975BDF15677}"/>
                    </a:ext>
                  </a:extLst>
                </p:cNvPr>
                <p:cNvSpPr txBox="1"/>
                <p:nvPr/>
              </p:nvSpPr>
              <p:spPr>
                <a:xfrm rot="10800000" flipV="1">
                  <a:off x="3400655" y="4882384"/>
                  <a:ext cx="495646" cy="454432"/>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𝑘</m:t>
                            </m:r>
                          </m:e>
                          <m:sub>
                            <m:r>
                              <a:rPr lang="en-IN" sz="1500">
                                <a:latin typeface="Cambria Math" panose="02040503050406030204" pitchFamily="18" charset="0"/>
                              </a:rPr>
                              <m:t>1</m:t>
                            </m:r>
                          </m:sub>
                        </m:sSub>
                      </m:oMath>
                    </m:oMathPara>
                  </a14:m>
                  <a:endParaRPr lang="en-IN" sz="1500" dirty="0">
                    <a:latin typeface="Arial Narrow" panose="020B0606020202030204" pitchFamily="34" charset="0"/>
                  </a:endParaRPr>
                </a:p>
              </p:txBody>
            </p:sp>
          </mc:Choice>
          <mc:Fallback xmlns="">
            <p:sp>
              <p:nvSpPr>
                <p:cNvPr id="171" name="TextBox 170">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3400655" y="4882384"/>
                  <a:ext cx="495646" cy="454432"/>
                </a:xfrm>
                <a:prstGeom prst="ellipse">
                  <a:avLst/>
                </a:prstGeom>
                <a:blipFill>
                  <a:blip r:embed="rId33"/>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2" name="TextBox 171">
                  <a:extLst>
                    <a:ext uri="{FF2B5EF4-FFF2-40B4-BE49-F238E27FC236}">
                      <a16:creationId xmlns:a16="http://schemas.microsoft.com/office/drawing/2014/main" id="{36F03E2E-8229-4DFD-869B-C4F6CF96084E}"/>
                    </a:ext>
                  </a:extLst>
                </p:cNvPr>
                <p:cNvSpPr txBox="1"/>
                <p:nvPr/>
              </p:nvSpPr>
              <p:spPr>
                <a:xfrm rot="10800000" flipV="1">
                  <a:off x="2854377" y="4882385"/>
                  <a:ext cx="495646" cy="454432"/>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a:latin typeface="Cambria Math" panose="02040503050406030204" pitchFamily="18" charset="0"/>
                              </a:rPr>
                              <m:t>𝑘</m:t>
                            </m:r>
                          </m:e>
                          <m:sub>
                            <m:r>
                              <a:rPr lang="en-IN" sz="1500" b="0" i="1" smtClean="0">
                                <a:latin typeface="Cambria Math" panose="02040503050406030204" pitchFamily="18" charset="0"/>
                              </a:rPr>
                              <m:t>2</m:t>
                            </m:r>
                          </m:sub>
                        </m:sSub>
                      </m:oMath>
                    </m:oMathPara>
                  </a14:m>
                  <a:endParaRPr lang="en-IN" sz="1500" dirty="0">
                    <a:latin typeface="Arial Narrow" panose="020B0606020202030204" pitchFamily="34" charset="0"/>
                  </a:endParaRPr>
                </a:p>
              </p:txBody>
            </p:sp>
          </mc:Choice>
          <mc:Fallback xmlns="">
            <p:sp>
              <p:nvSpPr>
                <p:cNvPr id="172" name="TextBox 171">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2854377" y="4882385"/>
                  <a:ext cx="495646" cy="454432"/>
                </a:xfrm>
                <a:prstGeom prst="ellipse">
                  <a:avLst/>
                </a:prstGeom>
                <a:blipFill>
                  <a:blip r:embed="rId34"/>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3" name="TextBox 172">
                  <a:extLst>
                    <a:ext uri="{FF2B5EF4-FFF2-40B4-BE49-F238E27FC236}">
                      <a16:creationId xmlns:a16="http://schemas.microsoft.com/office/drawing/2014/main" id="{DF1D3D16-4F7D-4FD0-95EB-E2360401B577}"/>
                    </a:ext>
                  </a:extLst>
                </p:cNvPr>
                <p:cNvSpPr txBox="1"/>
                <p:nvPr/>
              </p:nvSpPr>
              <p:spPr>
                <a:xfrm rot="10800000" flipV="1">
                  <a:off x="2313392" y="4882386"/>
                  <a:ext cx="495646" cy="454432"/>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𝑘</m:t>
                            </m:r>
                          </m:e>
                          <m:sub>
                            <m:r>
                              <a:rPr lang="en-IN" sz="1500" b="0" i="1" smtClean="0">
                                <a:latin typeface="Cambria Math" panose="02040503050406030204" pitchFamily="18" charset="0"/>
                              </a:rPr>
                              <m:t>3</m:t>
                            </m:r>
                          </m:sub>
                        </m:sSub>
                      </m:oMath>
                    </m:oMathPara>
                  </a14:m>
                  <a:endParaRPr lang="en-IN" sz="1500" dirty="0">
                    <a:latin typeface="Arial Narrow" panose="020B0606020202030204" pitchFamily="34" charset="0"/>
                  </a:endParaRPr>
                </a:p>
              </p:txBody>
            </p:sp>
          </mc:Choice>
          <mc:Fallback xmlns="">
            <p:sp>
              <p:nvSpPr>
                <p:cNvPr id="173" name="TextBox 172">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2313392" y="4882386"/>
                  <a:ext cx="495646" cy="454432"/>
                </a:xfrm>
                <a:prstGeom prst="ellipse">
                  <a:avLst/>
                </a:prstGeom>
                <a:blipFill>
                  <a:blip r:embed="rId35"/>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4" name="TextBox 173">
                  <a:extLst>
                    <a:ext uri="{FF2B5EF4-FFF2-40B4-BE49-F238E27FC236}">
                      <a16:creationId xmlns:a16="http://schemas.microsoft.com/office/drawing/2014/main" id="{98434757-453A-49BA-B417-238E5FFE6B79}"/>
                    </a:ext>
                  </a:extLst>
                </p:cNvPr>
                <p:cNvSpPr txBox="1"/>
                <p:nvPr/>
              </p:nvSpPr>
              <p:spPr>
                <a:xfrm rot="10800000" flipV="1">
                  <a:off x="3406269" y="5460518"/>
                  <a:ext cx="495646" cy="454432"/>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𝑥</m:t>
                            </m:r>
                          </m:e>
                          <m:sub>
                            <m:r>
                              <a:rPr lang="en-IN" sz="1500" b="0" i="1" smtClean="0">
                                <a:latin typeface="Cambria Math" panose="02040503050406030204" pitchFamily="18" charset="0"/>
                              </a:rPr>
                              <m:t>1</m:t>
                            </m:r>
                          </m:sub>
                        </m:sSub>
                      </m:oMath>
                    </m:oMathPara>
                  </a14:m>
                  <a:endParaRPr lang="en-IN" sz="1500" dirty="0">
                    <a:latin typeface="Arial Narrow" panose="020B0606020202030204" pitchFamily="34" charset="0"/>
                  </a:endParaRPr>
                </a:p>
              </p:txBody>
            </p:sp>
          </mc:Choice>
          <mc:Fallback xmlns="">
            <p:sp>
              <p:nvSpPr>
                <p:cNvPr id="174" name="TextBox 173">
                  <a:extLst>
                    <a:ext uri="{FF2B5EF4-FFF2-40B4-BE49-F238E27FC236}">
                      <a16:creationId xmlns:a16="http://schemas.microsoft.com/office/drawing/2014/main" id="{98434757-453A-49BA-B417-238E5FFE6B79}"/>
                    </a:ext>
                  </a:extLst>
                </p:cNvPr>
                <p:cNvSpPr txBox="1">
                  <a:spLocks noRot="1" noChangeAspect="1" noMove="1" noResize="1" noEditPoints="1" noAdjustHandles="1" noChangeArrowheads="1" noChangeShapeType="1" noTextEdit="1"/>
                </p:cNvSpPr>
                <p:nvPr/>
              </p:nvSpPr>
              <p:spPr>
                <a:xfrm rot="10800000" flipV="1">
                  <a:off x="3406269" y="5460518"/>
                  <a:ext cx="495646" cy="454432"/>
                </a:xfrm>
                <a:prstGeom prst="ellipse">
                  <a:avLst/>
                </a:prstGeom>
                <a:blipFill>
                  <a:blip r:embed="rId36"/>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5" name="TextBox 174">
                  <a:extLst>
                    <a:ext uri="{FF2B5EF4-FFF2-40B4-BE49-F238E27FC236}">
                      <a16:creationId xmlns:a16="http://schemas.microsoft.com/office/drawing/2014/main" id="{B8E17763-565A-4B77-80A1-9B07A3DF1DA4}"/>
                    </a:ext>
                  </a:extLst>
                </p:cNvPr>
                <p:cNvSpPr txBox="1"/>
                <p:nvPr/>
              </p:nvSpPr>
              <p:spPr>
                <a:xfrm rot="10800000" flipV="1">
                  <a:off x="2854377" y="5457349"/>
                  <a:ext cx="495646" cy="454432"/>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𝑥</m:t>
                            </m:r>
                          </m:e>
                          <m:sub>
                            <m:r>
                              <a:rPr lang="en-IN" sz="1500" b="0" i="1" smtClean="0">
                                <a:latin typeface="Cambria Math" panose="02040503050406030204" pitchFamily="18" charset="0"/>
                              </a:rPr>
                              <m:t>2</m:t>
                            </m:r>
                          </m:sub>
                        </m:sSub>
                      </m:oMath>
                    </m:oMathPara>
                  </a14:m>
                  <a:endParaRPr lang="en-IN" sz="1500" dirty="0">
                    <a:latin typeface="Arial Narrow" panose="020B0606020202030204" pitchFamily="34" charset="0"/>
                  </a:endParaRPr>
                </a:p>
              </p:txBody>
            </p:sp>
          </mc:Choice>
          <mc:Fallback xmlns="">
            <p:sp>
              <p:nvSpPr>
                <p:cNvPr id="175" name="TextBox 174">
                  <a:extLst>
                    <a:ext uri="{FF2B5EF4-FFF2-40B4-BE49-F238E27FC236}">
                      <a16:creationId xmlns:a16="http://schemas.microsoft.com/office/drawing/2014/main" id="{B8E17763-565A-4B77-80A1-9B07A3DF1DA4}"/>
                    </a:ext>
                  </a:extLst>
                </p:cNvPr>
                <p:cNvSpPr txBox="1">
                  <a:spLocks noRot="1" noChangeAspect="1" noMove="1" noResize="1" noEditPoints="1" noAdjustHandles="1" noChangeArrowheads="1" noChangeShapeType="1" noTextEdit="1"/>
                </p:cNvSpPr>
                <p:nvPr/>
              </p:nvSpPr>
              <p:spPr>
                <a:xfrm rot="10800000" flipV="1">
                  <a:off x="2854377" y="5457349"/>
                  <a:ext cx="495646" cy="454432"/>
                </a:xfrm>
                <a:prstGeom prst="ellipse">
                  <a:avLst/>
                </a:prstGeom>
                <a:blipFill>
                  <a:blip r:embed="rId37"/>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6" name="TextBox 175">
                  <a:extLst>
                    <a:ext uri="{FF2B5EF4-FFF2-40B4-BE49-F238E27FC236}">
                      <a16:creationId xmlns:a16="http://schemas.microsoft.com/office/drawing/2014/main" id="{C8FC9D7E-BEDD-4715-866C-F8B1DB2EC23B}"/>
                    </a:ext>
                  </a:extLst>
                </p:cNvPr>
                <p:cNvSpPr txBox="1"/>
                <p:nvPr/>
              </p:nvSpPr>
              <p:spPr>
                <a:xfrm rot="10800000" flipV="1">
                  <a:off x="2313392" y="5457349"/>
                  <a:ext cx="495646" cy="454432"/>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𝑥</m:t>
                            </m:r>
                          </m:e>
                          <m:sub>
                            <m:r>
                              <a:rPr lang="en-IN" sz="1500" b="0" i="1" smtClean="0">
                                <a:latin typeface="Cambria Math" panose="02040503050406030204" pitchFamily="18" charset="0"/>
                              </a:rPr>
                              <m:t>3</m:t>
                            </m:r>
                          </m:sub>
                        </m:sSub>
                      </m:oMath>
                    </m:oMathPara>
                  </a14:m>
                  <a:endParaRPr lang="en-IN" sz="1500" dirty="0">
                    <a:latin typeface="Arial Narrow" panose="020B0606020202030204" pitchFamily="34" charset="0"/>
                  </a:endParaRPr>
                </a:p>
              </p:txBody>
            </p:sp>
          </mc:Choice>
          <mc:Fallback xmlns="">
            <p:sp>
              <p:nvSpPr>
                <p:cNvPr id="176" name="TextBox 175">
                  <a:extLst>
                    <a:ext uri="{FF2B5EF4-FFF2-40B4-BE49-F238E27FC236}">
                      <a16:creationId xmlns:a16="http://schemas.microsoft.com/office/drawing/2014/main" id="{C8FC9D7E-BEDD-4715-866C-F8B1DB2EC23B}"/>
                    </a:ext>
                  </a:extLst>
                </p:cNvPr>
                <p:cNvSpPr txBox="1">
                  <a:spLocks noRot="1" noChangeAspect="1" noMove="1" noResize="1" noEditPoints="1" noAdjustHandles="1" noChangeArrowheads="1" noChangeShapeType="1" noTextEdit="1"/>
                </p:cNvSpPr>
                <p:nvPr/>
              </p:nvSpPr>
              <p:spPr>
                <a:xfrm rot="10800000" flipV="1">
                  <a:off x="2313392" y="5457349"/>
                  <a:ext cx="495646" cy="454432"/>
                </a:xfrm>
                <a:prstGeom prst="ellipse">
                  <a:avLst/>
                </a:prstGeom>
                <a:blipFill>
                  <a:blip r:embed="rId38"/>
                  <a:stretch>
                    <a:fillRect/>
                  </a:stretch>
                </a:blipFill>
                <a:ln w="12700">
                  <a:solidFill>
                    <a:schemeClr val="tx1"/>
                  </a:solidFill>
                </a:ln>
              </p:spPr>
              <p:txBody>
                <a:bodyPr/>
                <a:lstStyle/>
                <a:p>
                  <a:r>
                    <a:rPr lang="en-IN">
                      <a:noFill/>
                    </a:rPr>
                    <a:t> </a:t>
                  </a:r>
                </a:p>
              </p:txBody>
            </p:sp>
          </mc:Fallback>
        </mc:AlternateContent>
        <p:cxnSp>
          <p:nvCxnSpPr>
            <p:cNvPr id="177" name="Straight Arrow Connector 176">
              <a:extLst>
                <a:ext uri="{FF2B5EF4-FFF2-40B4-BE49-F238E27FC236}">
                  <a16:creationId xmlns:a16="http://schemas.microsoft.com/office/drawing/2014/main" id="{A263021F-7328-4211-909D-49F49CA28D98}"/>
                </a:ext>
              </a:extLst>
            </p:cNvPr>
            <p:cNvCxnSpPr>
              <a:stCxn id="174" idx="0"/>
              <a:endCxn id="171" idx="4"/>
            </p:cNvCxnSpPr>
            <p:nvPr/>
          </p:nvCxnSpPr>
          <p:spPr>
            <a:xfrm flipH="1" flipV="1">
              <a:off x="3648478" y="5336816"/>
              <a:ext cx="5614" cy="123702"/>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78" name="Straight Arrow Connector 177">
              <a:extLst>
                <a:ext uri="{FF2B5EF4-FFF2-40B4-BE49-F238E27FC236}">
                  <a16:creationId xmlns:a16="http://schemas.microsoft.com/office/drawing/2014/main" id="{48E3A579-0DB9-42B0-BAF2-784E8D2CED22}"/>
                </a:ext>
              </a:extLst>
            </p:cNvPr>
            <p:cNvCxnSpPr>
              <a:cxnSpLocks/>
              <a:stCxn id="175" idx="0"/>
              <a:endCxn id="172" idx="4"/>
            </p:cNvCxnSpPr>
            <p:nvPr/>
          </p:nvCxnSpPr>
          <p:spPr>
            <a:xfrm flipV="1">
              <a:off x="3102200" y="5336817"/>
              <a:ext cx="0" cy="120532"/>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79" name="Straight Arrow Connector 178">
              <a:extLst>
                <a:ext uri="{FF2B5EF4-FFF2-40B4-BE49-F238E27FC236}">
                  <a16:creationId xmlns:a16="http://schemas.microsoft.com/office/drawing/2014/main" id="{C1137974-CC6B-47D3-81CF-6AC92B143B47}"/>
                </a:ext>
              </a:extLst>
            </p:cNvPr>
            <p:cNvCxnSpPr>
              <a:cxnSpLocks/>
              <a:stCxn id="176" idx="0"/>
              <a:endCxn id="173" idx="4"/>
            </p:cNvCxnSpPr>
            <p:nvPr/>
          </p:nvCxnSpPr>
          <p:spPr>
            <a:xfrm flipV="1">
              <a:off x="2561215" y="5336818"/>
              <a:ext cx="0" cy="120531"/>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80" name="TextBox 179">
              <a:extLst>
                <a:ext uri="{FF2B5EF4-FFF2-40B4-BE49-F238E27FC236}">
                  <a16:creationId xmlns:a16="http://schemas.microsoft.com/office/drawing/2014/main" id="{03D7A7FB-37B5-491B-9275-F91C88822728}"/>
                </a:ext>
              </a:extLst>
            </p:cNvPr>
            <p:cNvSpPr txBox="1"/>
            <p:nvPr/>
          </p:nvSpPr>
          <p:spPr>
            <a:xfrm rot="10800000" flipV="1">
              <a:off x="1519870" y="6509906"/>
              <a:ext cx="1289168" cy="338554"/>
            </a:xfrm>
            <a:prstGeom prst="rect">
              <a:avLst/>
            </a:prstGeom>
            <a:noFill/>
          </p:spPr>
          <p:txBody>
            <a:bodyPr wrap="square" rtlCol="0">
              <a:spAutoFit/>
            </a:bodyPr>
            <a:lstStyle/>
            <a:p>
              <a:r>
                <a:rPr lang="en-IN" sz="1600" dirty="0">
                  <a:latin typeface="Arial Narrow" panose="020B0606020202030204" pitchFamily="34" charset="0"/>
                  <a:cs typeface="Times New Roman" panose="02020603050405020304" pitchFamily="18" charset="0"/>
                </a:rPr>
                <a:t>Input Vectors</a:t>
              </a:r>
            </a:p>
          </p:txBody>
        </p:sp>
        <mc:AlternateContent xmlns:mc="http://schemas.openxmlformats.org/markup-compatibility/2006" xmlns:a14="http://schemas.microsoft.com/office/drawing/2010/main">
          <mc:Choice Requires="a14">
            <p:sp>
              <p:nvSpPr>
                <p:cNvPr id="181" name="TextBox 180">
                  <a:extLst>
                    <a:ext uri="{FF2B5EF4-FFF2-40B4-BE49-F238E27FC236}">
                      <a16:creationId xmlns:a16="http://schemas.microsoft.com/office/drawing/2014/main" id="{AD6D90FF-8B08-44E6-ADD1-B975BDF15677}"/>
                    </a:ext>
                  </a:extLst>
                </p:cNvPr>
                <p:cNvSpPr txBox="1"/>
                <p:nvPr/>
              </p:nvSpPr>
              <p:spPr>
                <a:xfrm rot="10800000" flipV="1">
                  <a:off x="6950964" y="4882385"/>
                  <a:ext cx="495646" cy="454432"/>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𝑣</m:t>
                            </m:r>
                          </m:e>
                          <m:sub>
                            <m:r>
                              <a:rPr lang="en-IN" sz="1500">
                                <a:latin typeface="Cambria Math" panose="02040503050406030204" pitchFamily="18" charset="0"/>
                              </a:rPr>
                              <m:t>1</m:t>
                            </m:r>
                          </m:sub>
                        </m:sSub>
                      </m:oMath>
                    </m:oMathPara>
                  </a14:m>
                  <a:endParaRPr lang="en-IN" sz="1500" dirty="0">
                    <a:latin typeface="Arial Narrow" panose="020B0606020202030204" pitchFamily="34" charset="0"/>
                  </a:endParaRPr>
                </a:p>
              </p:txBody>
            </p:sp>
          </mc:Choice>
          <mc:Fallback xmlns="">
            <p:sp>
              <p:nvSpPr>
                <p:cNvPr id="181" name="TextBox 180">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6950964" y="4882385"/>
                  <a:ext cx="495646" cy="454432"/>
                </a:xfrm>
                <a:prstGeom prst="ellipse">
                  <a:avLst/>
                </a:prstGeom>
                <a:blipFill>
                  <a:blip r:embed="rId39"/>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2" name="TextBox 181">
                  <a:extLst>
                    <a:ext uri="{FF2B5EF4-FFF2-40B4-BE49-F238E27FC236}">
                      <a16:creationId xmlns:a16="http://schemas.microsoft.com/office/drawing/2014/main" id="{36F03E2E-8229-4DFD-869B-C4F6CF96084E}"/>
                    </a:ext>
                  </a:extLst>
                </p:cNvPr>
                <p:cNvSpPr txBox="1"/>
                <p:nvPr/>
              </p:nvSpPr>
              <p:spPr>
                <a:xfrm rot="10800000" flipV="1">
                  <a:off x="6404685" y="4882385"/>
                  <a:ext cx="495646" cy="454432"/>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𝑣</m:t>
                            </m:r>
                          </m:e>
                          <m:sub>
                            <m:r>
                              <a:rPr lang="en-IN" sz="1500" b="0" i="1" smtClean="0">
                                <a:latin typeface="Cambria Math" panose="02040503050406030204" pitchFamily="18" charset="0"/>
                              </a:rPr>
                              <m:t>2</m:t>
                            </m:r>
                          </m:sub>
                        </m:sSub>
                      </m:oMath>
                    </m:oMathPara>
                  </a14:m>
                  <a:endParaRPr lang="en-IN" sz="1500" dirty="0">
                    <a:latin typeface="Arial Narrow" panose="020B0606020202030204" pitchFamily="34" charset="0"/>
                  </a:endParaRPr>
                </a:p>
              </p:txBody>
            </p:sp>
          </mc:Choice>
          <mc:Fallback xmlns="">
            <p:sp>
              <p:nvSpPr>
                <p:cNvPr id="182" name="TextBox 181">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6404685" y="4882385"/>
                  <a:ext cx="495646" cy="454432"/>
                </a:xfrm>
                <a:prstGeom prst="ellipse">
                  <a:avLst/>
                </a:prstGeom>
                <a:blipFill>
                  <a:blip r:embed="rId40"/>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3" name="TextBox 182">
                  <a:extLst>
                    <a:ext uri="{FF2B5EF4-FFF2-40B4-BE49-F238E27FC236}">
                      <a16:creationId xmlns:a16="http://schemas.microsoft.com/office/drawing/2014/main" id="{DF1D3D16-4F7D-4FD0-95EB-E2360401B577}"/>
                    </a:ext>
                  </a:extLst>
                </p:cNvPr>
                <p:cNvSpPr txBox="1"/>
                <p:nvPr/>
              </p:nvSpPr>
              <p:spPr>
                <a:xfrm rot="10800000" flipV="1">
                  <a:off x="5863701" y="4882386"/>
                  <a:ext cx="495646" cy="454432"/>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𝑣</m:t>
                            </m:r>
                          </m:e>
                          <m:sub>
                            <m:r>
                              <a:rPr lang="en-IN" sz="1500" b="0" i="1" smtClean="0">
                                <a:latin typeface="Cambria Math" panose="02040503050406030204" pitchFamily="18" charset="0"/>
                              </a:rPr>
                              <m:t>3</m:t>
                            </m:r>
                          </m:sub>
                        </m:sSub>
                      </m:oMath>
                    </m:oMathPara>
                  </a14:m>
                  <a:endParaRPr lang="en-IN" sz="1500" dirty="0">
                    <a:latin typeface="Arial Narrow" panose="020B0606020202030204" pitchFamily="34" charset="0"/>
                  </a:endParaRPr>
                </a:p>
              </p:txBody>
            </p:sp>
          </mc:Choice>
          <mc:Fallback xmlns="">
            <p:sp>
              <p:nvSpPr>
                <p:cNvPr id="183" name="TextBox 182">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5863701" y="4882386"/>
                  <a:ext cx="495646" cy="454432"/>
                </a:xfrm>
                <a:prstGeom prst="ellipse">
                  <a:avLst/>
                </a:prstGeom>
                <a:blipFill>
                  <a:blip r:embed="rId41"/>
                  <a:stretch>
                    <a:fillRect/>
                  </a:stretch>
                </a:blipFill>
                <a:ln w="12700">
                  <a:solidFill>
                    <a:schemeClr val="tx1"/>
                  </a:solidFill>
                </a:ln>
              </p:spPr>
              <p:txBody>
                <a:bodyPr/>
                <a:lstStyle/>
                <a:p>
                  <a:r>
                    <a:rPr lang="en-IN">
                      <a:noFill/>
                    </a:rPr>
                    <a:t> </a:t>
                  </a:r>
                </a:p>
              </p:txBody>
            </p:sp>
          </mc:Fallback>
        </mc:AlternateContent>
        <p:cxnSp>
          <p:nvCxnSpPr>
            <p:cNvPr id="184" name="Elbow Connector 183"/>
            <p:cNvCxnSpPr>
              <a:stCxn id="132" idx="6"/>
              <a:endCxn id="183" idx="4"/>
            </p:cNvCxnSpPr>
            <p:nvPr/>
          </p:nvCxnSpPr>
          <p:spPr>
            <a:xfrm rot="10800000" flipH="1" flipV="1">
              <a:off x="1333628" y="4521752"/>
              <a:ext cx="4777895" cy="815065"/>
            </a:xfrm>
            <a:prstGeom prst="bentConnector4">
              <a:avLst>
                <a:gd name="adj1" fmla="val -4785"/>
                <a:gd name="adj2" fmla="val 203213"/>
              </a:avLst>
            </a:prstGeom>
            <a:ln w="12700">
              <a:solidFill>
                <a:srgbClr val="7030A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5" name="Elbow Connector 184"/>
            <p:cNvCxnSpPr>
              <a:stCxn id="147" idx="6"/>
              <a:endCxn id="182" idx="4"/>
            </p:cNvCxnSpPr>
            <p:nvPr/>
          </p:nvCxnSpPr>
          <p:spPr>
            <a:xfrm rot="10800000" flipH="1" flipV="1">
              <a:off x="1333628" y="4039829"/>
              <a:ext cx="5318879" cy="1296987"/>
            </a:xfrm>
            <a:prstGeom prst="bentConnector4">
              <a:avLst>
                <a:gd name="adj1" fmla="val -8596"/>
                <a:gd name="adj2" fmla="val 177552"/>
              </a:avLst>
            </a:prstGeom>
            <a:ln w="12700">
              <a:solidFill>
                <a:srgbClr val="7030A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6" name="Elbow Connector 185"/>
            <p:cNvCxnSpPr>
              <a:stCxn id="161" idx="6"/>
              <a:endCxn id="181" idx="4"/>
            </p:cNvCxnSpPr>
            <p:nvPr/>
          </p:nvCxnSpPr>
          <p:spPr>
            <a:xfrm rot="10800000" flipH="1" flipV="1">
              <a:off x="1333629" y="3557905"/>
              <a:ext cx="5865158" cy="1778912"/>
            </a:xfrm>
            <a:prstGeom prst="bentConnector4">
              <a:avLst>
                <a:gd name="adj1" fmla="val -12161"/>
                <a:gd name="adj2" fmla="val 165795"/>
              </a:avLst>
            </a:prstGeom>
            <a:ln w="12700">
              <a:solidFill>
                <a:srgbClr val="7030A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7" name="Straight Arrow Connector 186">
              <a:extLst>
                <a:ext uri="{FF2B5EF4-FFF2-40B4-BE49-F238E27FC236}">
                  <a16:creationId xmlns:a16="http://schemas.microsoft.com/office/drawing/2014/main" id="{A263021F-7328-4211-909D-49F49CA28D98}"/>
                </a:ext>
              </a:extLst>
            </p:cNvPr>
            <p:cNvCxnSpPr>
              <a:stCxn id="181" idx="0"/>
              <a:endCxn id="138" idx="4"/>
            </p:cNvCxnSpPr>
            <p:nvPr/>
          </p:nvCxnSpPr>
          <p:spPr>
            <a:xfrm flipV="1">
              <a:off x="7198787" y="4756048"/>
              <a:ext cx="2417" cy="126337"/>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88" name="Straight Arrow Connector 187">
              <a:extLst>
                <a:ext uri="{FF2B5EF4-FFF2-40B4-BE49-F238E27FC236}">
                  <a16:creationId xmlns:a16="http://schemas.microsoft.com/office/drawing/2014/main" id="{48E3A579-0DB9-42B0-BAF2-784E8D2CED22}"/>
                </a:ext>
              </a:extLst>
            </p:cNvPr>
            <p:cNvCxnSpPr>
              <a:cxnSpLocks/>
              <a:stCxn id="182" idx="0"/>
              <a:endCxn id="139" idx="4"/>
            </p:cNvCxnSpPr>
            <p:nvPr/>
          </p:nvCxnSpPr>
          <p:spPr>
            <a:xfrm flipV="1">
              <a:off x="6652508" y="4756048"/>
              <a:ext cx="2418" cy="126337"/>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C1137974-CC6B-47D3-81CF-6AC92B143B47}"/>
                </a:ext>
              </a:extLst>
            </p:cNvPr>
            <p:cNvCxnSpPr>
              <a:cxnSpLocks/>
              <a:stCxn id="183" idx="0"/>
              <a:endCxn id="140" idx="4"/>
            </p:cNvCxnSpPr>
            <p:nvPr/>
          </p:nvCxnSpPr>
          <p:spPr>
            <a:xfrm flipV="1">
              <a:off x="6111524" y="4756049"/>
              <a:ext cx="2417" cy="126337"/>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90" name="Straight Connector 189"/>
            <p:cNvCxnSpPr>
              <a:stCxn id="176" idx="4"/>
            </p:cNvCxnSpPr>
            <p:nvPr/>
          </p:nvCxnSpPr>
          <p:spPr>
            <a:xfrm flipH="1">
              <a:off x="2561214" y="5911781"/>
              <a:ext cx="1" cy="604113"/>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91" name="Straight Connector 190"/>
            <p:cNvCxnSpPr>
              <a:stCxn id="175" idx="4"/>
            </p:cNvCxnSpPr>
            <p:nvPr/>
          </p:nvCxnSpPr>
          <p:spPr>
            <a:xfrm flipH="1">
              <a:off x="3102199" y="5911781"/>
              <a:ext cx="1" cy="432663"/>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p:cNvCxnSpPr/>
            <p:nvPr/>
          </p:nvCxnSpPr>
          <p:spPr>
            <a:xfrm>
              <a:off x="3648477" y="5916227"/>
              <a:ext cx="0" cy="259464"/>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964882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9C97B-EEC1-4A75-B213-0E44010C5DD3}"/>
              </a:ext>
            </a:extLst>
          </p:cNvPr>
          <p:cNvSpPr>
            <a:spLocks noGrp="1"/>
          </p:cNvSpPr>
          <p:nvPr>
            <p:ph type="title"/>
          </p:nvPr>
        </p:nvSpPr>
        <p:spPr/>
        <p:txBody>
          <a:bodyPr>
            <a:normAutofit/>
          </a:bodyPr>
          <a:lstStyle/>
          <a:p>
            <a:r>
              <a:rPr lang="en-IN" sz="3600" dirty="0">
                <a:latin typeface="Century" panose="02040604050505020304" pitchFamily="18" charset="0"/>
              </a:rPr>
              <a:t>Masked Self-Attention Layer</a:t>
            </a:r>
          </a:p>
        </p:txBody>
      </p:sp>
      <p:sp>
        <p:nvSpPr>
          <p:cNvPr id="3" name="Content Placeholder 2">
            <a:extLst>
              <a:ext uri="{FF2B5EF4-FFF2-40B4-BE49-F238E27FC236}">
                <a16:creationId xmlns:a16="http://schemas.microsoft.com/office/drawing/2014/main" id="{9322083B-DA12-4059-B704-0F4B5EB4FB29}"/>
              </a:ext>
            </a:extLst>
          </p:cNvPr>
          <p:cNvSpPr>
            <a:spLocks noGrp="1"/>
          </p:cNvSpPr>
          <p:nvPr>
            <p:ph idx="1"/>
          </p:nvPr>
        </p:nvSpPr>
        <p:spPr>
          <a:xfrm>
            <a:off x="838200" y="1484965"/>
            <a:ext cx="10515600" cy="5007909"/>
          </a:xfrm>
        </p:spPr>
        <p:txBody>
          <a:bodyPr>
            <a:normAutofit/>
          </a:bodyPr>
          <a:lstStyle/>
          <a:p>
            <a:pPr algn="just"/>
            <a:r>
              <a:rPr lang="en-US" sz="2000" dirty="0">
                <a:latin typeface="Arial Narrow" panose="020B0606020202030204" pitchFamily="34" charset="0"/>
              </a:rPr>
              <a:t>A masked self-attention layer is a </a:t>
            </a:r>
            <a:r>
              <a:rPr lang="en-US" sz="2000" dirty="0">
                <a:solidFill>
                  <a:srgbClr val="7030A0"/>
                </a:solidFill>
                <a:latin typeface="Arial Narrow" panose="020B0606020202030204" pitchFamily="34" charset="0"/>
              </a:rPr>
              <a:t>variant of self-attention </a:t>
            </a:r>
            <a:r>
              <a:rPr lang="en-US" sz="2000" dirty="0">
                <a:latin typeface="Arial Narrow" panose="020B0606020202030204" pitchFamily="34" charset="0"/>
              </a:rPr>
              <a:t>commonly used in </a:t>
            </a:r>
            <a:r>
              <a:rPr lang="en-US" sz="2000" dirty="0">
                <a:solidFill>
                  <a:srgbClr val="7030A0"/>
                </a:solidFill>
                <a:latin typeface="Arial Narrow" panose="020B0606020202030204" pitchFamily="34" charset="0"/>
              </a:rPr>
              <a:t>autoregressive Transformer models</a:t>
            </a:r>
            <a:r>
              <a:rPr lang="en-US" sz="2000" dirty="0">
                <a:latin typeface="Arial Narrow" panose="020B0606020202030204" pitchFamily="34" charset="0"/>
              </a:rPr>
              <a:t> to ensure that </a:t>
            </a:r>
            <a:r>
              <a:rPr lang="en-US" sz="2000" dirty="0">
                <a:solidFill>
                  <a:srgbClr val="7030A0"/>
                </a:solidFill>
                <a:latin typeface="Arial Narrow" panose="020B0606020202030204" pitchFamily="34" charset="0"/>
              </a:rPr>
              <a:t>each token can attend only to itself and the tokens that appear before it in the sequence</a:t>
            </a:r>
            <a:r>
              <a:rPr lang="en-US" sz="2000" dirty="0">
                <a:latin typeface="Arial Narrow" panose="020B0606020202030204" pitchFamily="34" charset="0"/>
              </a:rPr>
              <a:t>. </a:t>
            </a:r>
          </a:p>
          <a:p>
            <a:pPr algn="just"/>
            <a:endParaRPr lang="en-US" sz="2000" dirty="0">
              <a:latin typeface="Arial Narrow" panose="020B0606020202030204" pitchFamily="34" charset="0"/>
            </a:endParaRPr>
          </a:p>
          <a:p>
            <a:pPr algn="just"/>
            <a:r>
              <a:rPr lang="en-US" sz="2000" dirty="0">
                <a:solidFill>
                  <a:srgbClr val="7030A0"/>
                </a:solidFill>
                <a:latin typeface="Arial Narrow" panose="020B0606020202030204" pitchFamily="34" charset="0"/>
              </a:rPr>
              <a:t>A mask is applied to the attention scores to prevent a token from accessing future tokens during training</a:t>
            </a:r>
            <a:r>
              <a:rPr lang="en-US" sz="2000" dirty="0">
                <a:latin typeface="Arial Narrow" panose="020B0606020202030204" pitchFamily="34" charset="0"/>
              </a:rPr>
              <a:t>.</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Typically, the scores corresponding to future positions are set to a </a:t>
            </a:r>
            <a:r>
              <a:rPr lang="en-US" sz="2000" dirty="0">
                <a:solidFill>
                  <a:srgbClr val="7030A0"/>
                </a:solidFill>
                <a:latin typeface="Arial Narrow" panose="020B0606020202030204" pitchFamily="34" charset="0"/>
              </a:rPr>
              <a:t>very large negative value</a:t>
            </a:r>
            <a:r>
              <a:rPr lang="en-US" sz="2000" dirty="0">
                <a:latin typeface="Arial Narrow" panose="020B0606020202030204" pitchFamily="34" charset="0"/>
              </a:rPr>
              <a:t> before applying the </a:t>
            </a:r>
            <a:r>
              <a:rPr lang="en-US" sz="2000" dirty="0" err="1">
                <a:latin typeface="Arial Narrow" panose="020B0606020202030204" pitchFamily="34" charset="0"/>
              </a:rPr>
              <a:t>Softmax</a:t>
            </a:r>
            <a:r>
              <a:rPr lang="en-US" sz="2000" dirty="0">
                <a:latin typeface="Arial Narrow" panose="020B0606020202030204" pitchFamily="34" charset="0"/>
              </a:rPr>
              <a:t> function, </a:t>
            </a:r>
            <a:r>
              <a:rPr lang="en-US" sz="2000" dirty="0">
                <a:solidFill>
                  <a:srgbClr val="7030A0"/>
                </a:solidFill>
                <a:latin typeface="Arial Narrow" panose="020B0606020202030204" pitchFamily="34" charset="0"/>
              </a:rPr>
              <a:t>causing their attention weights to become effectively zero</a:t>
            </a:r>
            <a:r>
              <a:rPr lang="en-US" sz="2000" dirty="0">
                <a:latin typeface="Arial Narrow" panose="020B0606020202030204" pitchFamily="34" charset="0"/>
              </a:rPr>
              <a:t>.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This prevents information from future tokens from leaking into the current prediction and </a:t>
            </a:r>
            <a:r>
              <a:rPr lang="en-US" sz="2000" dirty="0">
                <a:solidFill>
                  <a:srgbClr val="7030A0"/>
                </a:solidFill>
                <a:latin typeface="Arial Narrow" panose="020B0606020202030204" pitchFamily="34" charset="0"/>
              </a:rPr>
              <a:t>ensures that the model learns to generate or predict tokens sequentially</a:t>
            </a:r>
            <a:r>
              <a:rPr lang="en-US" sz="2000" dirty="0">
                <a:latin typeface="Arial Narrow" panose="020B0606020202030204" pitchFamily="34" charset="0"/>
              </a:rPr>
              <a:t>. </a:t>
            </a:r>
          </a:p>
          <a:p>
            <a:pPr marL="0" indent="0" algn="just">
              <a:buNone/>
            </a:pPr>
            <a:endParaRPr lang="en-US" sz="2000" dirty="0">
              <a:latin typeface="Arial Narrow" panose="020B0606020202030204" pitchFamily="34" charset="0"/>
            </a:endParaRPr>
          </a:p>
          <a:p>
            <a:pPr algn="just"/>
            <a:r>
              <a:rPr lang="en-US" sz="2000" dirty="0">
                <a:latin typeface="Arial Narrow" panose="020B0606020202030204" pitchFamily="34" charset="0"/>
              </a:rPr>
              <a:t>Masked self-attention is therefore </a:t>
            </a:r>
            <a:r>
              <a:rPr lang="en-US" sz="2000" dirty="0">
                <a:solidFill>
                  <a:srgbClr val="7030A0"/>
                </a:solidFill>
                <a:latin typeface="Arial Narrow" panose="020B0606020202030204" pitchFamily="34" charset="0"/>
              </a:rPr>
              <a:t>essential in decoder-based architectures such as GPT</a:t>
            </a:r>
            <a:r>
              <a:rPr lang="en-US" sz="2000" dirty="0">
                <a:latin typeface="Arial Narrow" panose="020B0606020202030204" pitchFamily="34" charset="0"/>
              </a:rPr>
              <a:t>, where </a:t>
            </a:r>
            <a:r>
              <a:rPr lang="en-US" sz="2000" dirty="0">
                <a:solidFill>
                  <a:srgbClr val="7030A0"/>
                </a:solidFill>
                <a:latin typeface="Arial Narrow" panose="020B0606020202030204" pitchFamily="34" charset="0"/>
              </a:rPr>
              <a:t>predictions must depend only on previously available information</a:t>
            </a:r>
            <a:r>
              <a:rPr lang="en-US" sz="2000" dirty="0">
                <a:latin typeface="Arial Narrow" panose="020B0606020202030204" pitchFamily="34" charset="0"/>
              </a:rPr>
              <a:t>.</a:t>
            </a:r>
            <a:endParaRPr lang="en-IN" sz="2000" dirty="0">
              <a:latin typeface="Arial Narrow" panose="020B0606020202030204" pitchFamily="34" charset="0"/>
            </a:endParaRPr>
          </a:p>
        </p:txBody>
      </p:sp>
    </p:spTree>
    <p:extLst>
      <p:ext uri="{BB962C8B-B14F-4D97-AF65-F5344CB8AC3E}">
        <p14:creationId xmlns:p14="http://schemas.microsoft.com/office/powerpoint/2010/main" val="36155820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8" name="Straight Connector 57">
            <a:extLst>
              <a:ext uri="{FF2B5EF4-FFF2-40B4-BE49-F238E27FC236}">
                <a16:creationId xmlns:a16="http://schemas.microsoft.com/office/drawing/2014/main" id="{1B0BBDC5-3F7A-42D8-B1E5-54F450CE7F0A}"/>
              </a:ext>
            </a:extLst>
          </p:cNvPr>
          <p:cNvCxnSpPr/>
          <p:nvPr/>
        </p:nvCxnSpPr>
        <p:spPr>
          <a:xfrm>
            <a:off x="5581650" y="3788695"/>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814A0750-898F-4132-B31D-6BB41D3260C4}"/>
              </a:ext>
            </a:extLst>
          </p:cNvPr>
          <p:cNvSpPr txBox="1"/>
          <p:nvPr/>
        </p:nvSpPr>
        <p:spPr>
          <a:xfrm>
            <a:off x="8734206" y="5061792"/>
            <a:ext cx="3313900" cy="584775"/>
          </a:xfrm>
          <a:prstGeom prst="rect">
            <a:avLst/>
          </a:prstGeom>
          <a:noFill/>
        </p:spPr>
        <p:txBody>
          <a:bodyPr wrap="square" rtlCol="0">
            <a:spAutoFit/>
          </a:bodyPr>
          <a:lstStyle/>
          <a:p>
            <a:r>
              <a:rPr lang="en-IN" sz="1600" dirty="0">
                <a:latin typeface="Arial Narrow" panose="020B0606020202030204" pitchFamily="34" charset="0"/>
                <a:cs typeface="Times New Roman" panose="02020603050405020304" pitchFamily="18" charset="0"/>
              </a:rPr>
              <a:t>Output:</a:t>
            </a:r>
          </a:p>
          <a:p>
            <a:r>
              <a:rPr lang="en-IN" sz="1600" dirty="0">
                <a:latin typeface="Arial Narrow" panose="020B0606020202030204" pitchFamily="34" charset="0"/>
                <a:cs typeface="Times New Roman" panose="02020603050405020304" pitchFamily="18" charset="0"/>
              </a:rPr>
              <a:t>Context Vector y (Dimension: </a:t>
            </a:r>
            <a:r>
              <a:rPr lang="en-IN" sz="1600" b="1" dirty="0" err="1">
                <a:solidFill>
                  <a:schemeClr val="accent2"/>
                </a:solidFill>
                <a:latin typeface="Arial Narrow" panose="020B0606020202030204" pitchFamily="34" charset="0"/>
                <a:cs typeface="Times New Roman" panose="02020603050405020304" pitchFamily="18" charset="0"/>
              </a:rPr>
              <a:t>D</a:t>
            </a:r>
            <a:r>
              <a:rPr lang="en-IN" sz="1600" b="1" baseline="-25000" dirty="0" err="1">
                <a:solidFill>
                  <a:schemeClr val="accent2"/>
                </a:solidFill>
                <a:latin typeface="Arial Narrow" panose="020B0606020202030204" pitchFamily="34" charset="0"/>
                <a:cs typeface="Times New Roman" panose="02020603050405020304" pitchFamily="18" charset="0"/>
              </a:rPr>
              <a:t>v</a:t>
            </a:r>
            <a:r>
              <a:rPr lang="en-IN" sz="1600" dirty="0">
                <a:latin typeface="Arial Narrow" panose="020B0606020202030204" pitchFamily="34"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086F0207-6EE0-4AC4-BD2F-4600D077A09E}"/>
                  </a:ext>
                </a:extLst>
              </p:cNvPr>
              <p:cNvSpPr txBox="1"/>
              <p:nvPr/>
            </p:nvSpPr>
            <p:spPr>
              <a:xfrm>
                <a:off x="6882940" y="1015137"/>
                <a:ext cx="2607358" cy="1892634"/>
              </a:xfrm>
              <a:prstGeom prst="rect">
                <a:avLst/>
              </a:prstGeom>
              <a:solidFill>
                <a:schemeClr val="bg1"/>
              </a:solidFill>
            </p:spPr>
            <p:txBody>
              <a:bodyPr wrap="square" rtlCol="0">
                <a:spAutoFit/>
              </a:bodyPr>
              <a:lstStyle/>
              <a:p>
                <a:r>
                  <a:rPr lang="en-IN" sz="1600" dirty="0">
                    <a:latin typeface="Arial Narrow" panose="020B0606020202030204" pitchFamily="34" charset="0"/>
                    <a:cs typeface="Times New Roman" panose="02020603050405020304" pitchFamily="18" charset="0"/>
                  </a:rPr>
                  <a:t>Operations:</a:t>
                </a:r>
              </a:p>
              <a:p>
                <a:r>
                  <a:rPr lang="en-IN" sz="1600" dirty="0">
                    <a:latin typeface="Arial Narrow" panose="020B0606020202030204" pitchFamily="34" charset="0"/>
                    <a:cs typeface="Times New Roman" panose="02020603050405020304" pitchFamily="18" charset="0"/>
                  </a:rPr>
                  <a:t>Key Vectors: </a:t>
                </a:r>
                <a:r>
                  <a:rPr lang="en-IN" sz="1600" b="1" dirty="0">
                    <a:solidFill>
                      <a:srgbClr val="00B050"/>
                    </a:solidFill>
                    <a:latin typeface="Arial Narrow" panose="020B0606020202030204" pitchFamily="34" charset="0"/>
                    <a:cs typeface="Times New Roman" panose="02020603050405020304" pitchFamily="18" charset="0"/>
                  </a:rPr>
                  <a:t>k</a:t>
                </a:r>
                <a:r>
                  <a:rPr lang="en-IN" sz="1600" b="1" dirty="0">
                    <a:latin typeface="Arial Narrow" panose="020B0606020202030204" pitchFamily="34" charset="0"/>
                    <a:cs typeface="Times New Roman" panose="02020603050405020304" pitchFamily="18" charset="0"/>
                  </a:rPr>
                  <a:t>=</a:t>
                </a:r>
                <a:r>
                  <a:rPr lang="en-IN" sz="1600" b="1" dirty="0" err="1">
                    <a:latin typeface="Arial Narrow" panose="020B0606020202030204" pitchFamily="34" charset="0"/>
                    <a:cs typeface="Times New Roman" panose="02020603050405020304" pitchFamily="18" charset="0"/>
                  </a:rPr>
                  <a:t>x</a:t>
                </a:r>
                <a:r>
                  <a:rPr lang="en-IN" sz="1600" b="1" dirty="0" err="1">
                    <a:solidFill>
                      <a:srgbClr val="00B050"/>
                    </a:solidFill>
                    <a:latin typeface="Arial Narrow" panose="020B0606020202030204" pitchFamily="34" charset="0"/>
                    <a:cs typeface="Times New Roman" panose="02020603050405020304" pitchFamily="18" charset="0"/>
                  </a:rPr>
                  <a:t>W</a:t>
                </a:r>
                <a:r>
                  <a:rPr lang="en-IN" sz="1600" b="1" baseline="-25000" dirty="0" err="1">
                    <a:solidFill>
                      <a:srgbClr val="00B050"/>
                    </a:solidFill>
                    <a:latin typeface="Arial Narrow" panose="020B0606020202030204" pitchFamily="34" charset="0"/>
                    <a:cs typeface="Times New Roman" panose="02020603050405020304" pitchFamily="18" charset="0"/>
                  </a:rPr>
                  <a:t>k</a:t>
                </a:r>
                <a:endParaRPr lang="en-IN" sz="1600" b="1" baseline="-25000" dirty="0">
                  <a:solidFill>
                    <a:srgbClr val="00B050"/>
                  </a:solidFill>
                  <a:latin typeface="Arial Narrow" panose="020B0606020202030204" pitchFamily="34" charset="0"/>
                  <a:cs typeface="Times New Roman" panose="02020603050405020304" pitchFamily="18" charset="0"/>
                </a:endParaRPr>
              </a:p>
              <a:p>
                <a:r>
                  <a:rPr lang="en-IN" sz="1600" dirty="0">
                    <a:latin typeface="Arial Narrow" panose="020B0606020202030204" pitchFamily="34" charset="0"/>
                    <a:cs typeface="Times New Roman" panose="02020603050405020304" pitchFamily="18" charset="0"/>
                  </a:rPr>
                  <a:t>Value Vectors: </a:t>
                </a:r>
                <a:r>
                  <a:rPr lang="en-IN" sz="1600" b="1" dirty="0">
                    <a:solidFill>
                      <a:srgbClr val="C00000"/>
                    </a:solidFill>
                    <a:latin typeface="Arial Narrow" panose="020B0606020202030204" pitchFamily="34" charset="0"/>
                    <a:cs typeface="Times New Roman" panose="02020603050405020304" pitchFamily="18" charset="0"/>
                  </a:rPr>
                  <a:t>v</a:t>
                </a:r>
                <a:r>
                  <a:rPr lang="en-IN" sz="1600" b="1" dirty="0">
                    <a:latin typeface="Arial Narrow" panose="020B0606020202030204" pitchFamily="34" charset="0"/>
                    <a:cs typeface="Times New Roman" panose="02020603050405020304" pitchFamily="18" charset="0"/>
                  </a:rPr>
                  <a:t>=</a:t>
                </a:r>
                <a:r>
                  <a:rPr lang="en-IN" sz="1600" b="1" dirty="0" err="1">
                    <a:latin typeface="Arial Narrow" panose="020B0606020202030204" pitchFamily="34" charset="0"/>
                    <a:cs typeface="Times New Roman" panose="02020603050405020304" pitchFamily="18" charset="0"/>
                  </a:rPr>
                  <a:t>x</a:t>
                </a:r>
                <a:r>
                  <a:rPr lang="en-IN" sz="1600" b="1" dirty="0" err="1">
                    <a:solidFill>
                      <a:srgbClr val="C00000"/>
                    </a:solidFill>
                    <a:latin typeface="Arial Narrow" panose="020B0606020202030204" pitchFamily="34" charset="0"/>
                    <a:cs typeface="Times New Roman" panose="02020603050405020304" pitchFamily="18" charset="0"/>
                  </a:rPr>
                  <a:t>W</a:t>
                </a:r>
                <a:r>
                  <a:rPr lang="en-IN" sz="1600" b="1" baseline="-25000" dirty="0" err="1">
                    <a:solidFill>
                      <a:srgbClr val="C00000"/>
                    </a:solidFill>
                    <a:latin typeface="Arial Narrow" panose="020B0606020202030204" pitchFamily="34" charset="0"/>
                    <a:cs typeface="Times New Roman" panose="02020603050405020304" pitchFamily="18" charset="0"/>
                  </a:rPr>
                  <a:t>v</a:t>
                </a:r>
                <a:endParaRPr lang="en-IN" sz="1600" b="1" baseline="-25000" dirty="0">
                  <a:solidFill>
                    <a:srgbClr val="C00000"/>
                  </a:solidFill>
                  <a:latin typeface="Arial Narrow" panose="020B0606020202030204" pitchFamily="34" charset="0"/>
                  <a:cs typeface="Times New Roman" panose="02020603050405020304" pitchFamily="18" charset="0"/>
                </a:endParaRPr>
              </a:p>
              <a:p>
                <a:r>
                  <a:rPr lang="en-IN" sz="1600" dirty="0">
                    <a:latin typeface="Arial Narrow" panose="020B0606020202030204" pitchFamily="34" charset="0"/>
                    <a:cs typeface="Times New Roman" panose="02020603050405020304" pitchFamily="18" charset="0"/>
                  </a:rPr>
                  <a:t>Query Vector: </a:t>
                </a:r>
                <a:r>
                  <a:rPr lang="en-IN" sz="1600" b="1" dirty="0">
                    <a:solidFill>
                      <a:srgbClr val="7030A0"/>
                    </a:solidFill>
                    <a:latin typeface="Arial Narrow" panose="020B0606020202030204" pitchFamily="34" charset="0"/>
                    <a:cs typeface="Times New Roman" panose="02020603050405020304" pitchFamily="18" charset="0"/>
                  </a:rPr>
                  <a:t>q</a:t>
                </a:r>
                <a:r>
                  <a:rPr lang="en-IN" sz="1600" b="1" dirty="0">
                    <a:latin typeface="Arial Narrow" panose="020B0606020202030204" pitchFamily="34" charset="0"/>
                    <a:cs typeface="Times New Roman" panose="02020603050405020304" pitchFamily="18" charset="0"/>
                  </a:rPr>
                  <a:t>= </a:t>
                </a:r>
                <a:r>
                  <a:rPr lang="en-IN" sz="1600" b="1" dirty="0" err="1">
                    <a:latin typeface="Arial Narrow" panose="020B0606020202030204" pitchFamily="34" charset="0"/>
                    <a:cs typeface="Times New Roman" panose="02020603050405020304" pitchFamily="18" charset="0"/>
                  </a:rPr>
                  <a:t>x</a:t>
                </a:r>
                <a:r>
                  <a:rPr lang="en-IN" sz="1600" b="1" dirty="0" err="1">
                    <a:solidFill>
                      <a:srgbClr val="7030A0"/>
                    </a:solidFill>
                    <a:latin typeface="Arial Narrow" panose="020B0606020202030204" pitchFamily="34" charset="0"/>
                    <a:cs typeface="Times New Roman" panose="02020603050405020304" pitchFamily="18" charset="0"/>
                  </a:rPr>
                  <a:t>W</a:t>
                </a:r>
                <a:r>
                  <a:rPr lang="en-IN" sz="1600" b="1" baseline="-25000" dirty="0" err="1">
                    <a:solidFill>
                      <a:srgbClr val="7030A0"/>
                    </a:solidFill>
                    <a:latin typeface="Arial Narrow" panose="020B0606020202030204" pitchFamily="34" charset="0"/>
                    <a:cs typeface="Times New Roman" panose="02020603050405020304" pitchFamily="18" charset="0"/>
                  </a:rPr>
                  <a:t>q</a:t>
                </a:r>
                <a:endParaRPr lang="en-IN" sz="1600" b="1" dirty="0">
                  <a:solidFill>
                    <a:srgbClr val="7030A0"/>
                  </a:solidFill>
                  <a:latin typeface="Arial Narrow" panose="020B0606020202030204" pitchFamily="34" charset="0"/>
                  <a:cs typeface="Times New Roman" panose="02020603050405020304" pitchFamily="18" charset="0"/>
                </a:endParaRPr>
              </a:p>
              <a:p>
                <a:r>
                  <a:rPr lang="en-IN" sz="1600" dirty="0">
                    <a:latin typeface="Arial Narrow" panose="020B0606020202030204" pitchFamily="34" charset="0"/>
                    <a:cs typeface="Times New Roman" panose="02020603050405020304" pitchFamily="18" charset="0"/>
                  </a:rPr>
                  <a:t>Alignment: </a:t>
                </a:r>
                <a14:m>
                  <m:oMath xmlns:m="http://schemas.openxmlformats.org/officeDocument/2006/math">
                    <m:sSub>
                      <m:sSubPr>
                        <m:ctrlPr>
                          <a:rPr lang="en-US" sz="1600" i="1" smtClean="0">
                            <a:latin typeface="Cambria Math" panose="02040503050406030204" pitchFamily="18" charset="0"/>
                            <a:cs typeface="Times New Roman" panose="02020603050405020304" pitchFamily="18" charset="0"/>
                          </a:rPr>
                        </m:ctrlPr>
                      </m:sSubPr>
                      <m:e>
                        <m:r>
                          <a:rPr lang="en-IN" sz="1600"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n-IN" sz="1600" i="1">
                            <a:latin typeface="Cambria Math" panose="02040503050406030204" pitchFamily="18" charset="0"/>
                            <a:cs typeface="Times New Roman" panose="02020603050405020304" pitchFamily="18" charset="0"/>
                          </a:rPr>
                          <m:t>𝑖</m:t>
                        </m:r>
                        <m:r>
                          <a:rPr lang="en-IN" sz="1600" b="0" i="1" smtClean="0">
                            <a:latin typeface="Cambria Math" panose="02040503050406030204" pitchFamily="18" charset="0"/>
                            <a:cs typeface="Times New Roman" panose="02020603050405020304" pitchFamily="18" charset="0"/>
                          </a:rPr>
                          <m:t>𝑗</m:t>
                        </m:r>
                      </m:sub>
                    </m:sSub>
                    <m:r>
                      <a:rPr lang="en-IN" sz="1600" i="1">
                        <a:latin typeface="Cambria Math" panose="02040503050406030204" pitchFamily="18" charset="0"/>
                        <a:cs typeface="Times New Roman" panose="02020603050405020304" pitchFamily="18" charset="0"/>
                      </a:rPr>
                      <m:t>=</m:t>
                    </m:r>
                    <m:sSub>
                      <m:sSubPr>
                        <m:ctrlPr>
                          <a:rPr lang="en-IN" sz="1600" i="1" smtClean="0">
                            <a:solidFill>
                              <a:srgbClr val="7030A0"/>
                            </a:solidFill>
                            <a:latin typeface="Cambria Math" panose="02040503050406030204" pitchFamily="18" charset="0"/>
                          </a:rPr>
                        </m:ctrlPr>
                      </m:sSubPr>
                      <m:e>
                        <m:r>
                          <a:rPr lang="en-IN" sz="1600" b="0" i="1" smtClean="0">
                            <a:solidFill>
                              <a:srgbClr val="7030A0"/>
                            </a:solidFill>
                            <a:latin typeface="Cambria Math" panose="02040503050406030204" pitchFamily="18" charset="0"/>
                          </a:rPr>
                          <m:t>𝑞</m:t>
                        </m:r>
                      </m:e>
                      <m:sub>
                        <m:r>
                          <a:rPr lang="en-IN" sz="1600" b="0" i="1" smtClean="0">
                            <a:solidFill>
                              <a:srgbClr val="7030A0"/>
                            </a:solidFill>
                            <a:latin typeface="Cambria Math" panose="02040503050406030204" pitchFamily="18" charset="0"/>
                          </a:rPr>
                          <m:t>𝑗</m:t>
                        </m:r>
                      </m:sub>
                    </m:sSub>
                    <m:r>
                      <a:rPr lang="en-IN" sz="1600" b="0" i="1" smtClean="0">
                        <a:latin typeface="Cambria Math" panose="02040503050406030204" pitchFamily="18" charset="0"/>
                        <a:cs typeface="Times New Roman" panose="02020603050405020304" pitchFamily="18" charset="0"/>
                      </a:rPr>
                      <m:t>.</m:t>
                    </m:r>
                    <m:sSub>
                      <m:sSubPr>
                        <m:ctrlPr>
                          <a:rPr lang="en-IN" sz="1600" i="1" dirty="0" smtClean="0">
                            <a:solidFill>
                              <a:srgbClr val="00B050"/>
                            </a:solidFill>
                            <a:latin typeface="Cambria Math" panose="02040503050406030204" pitchFamily="18" charset="0"/>
                            <a:cs typeface="Times New Roman" panose="02020603050405020304" pitchFamily="18" charset="0"/>
                          </a:rPr>
                        </m:ctrlPr>
                      </m:sSubPr>
                      <m:e>
                        <m:r>
                          <a:rPr lang="en-IN" sz="1600" b="0" i="1" dirty="0" smtClean="0">
                            <a:solidFill>
                              <a:srgbClr val="00B050"/>
                            </a:solidFill>
                            <a:latin typeface="Cambria Math" panose="02040503050406030204" pitchFamily="18" charset="0"/>
                            <a:cs typeface="Times New Roman" panose="02020603050405020304" pitchFamily="18" charset="0"/>
                          </a:rPr>
                          <m:t>𝑘</m:t>
                        </m:r>
                      </m:e>
                      <m:sub>
                        <m:r>
                          <a:rPr lang="en-IN" sz="1600" b="0" i="1" dirty="0" smtClean="0">
                            <a:solidFill>
                              <a:srgbClr val="00B050"/>
                            </a:solidFill>
                            <a:latin typeface="Cambria Math" panose="02040503050406030204" pitchFamily="18" charset="0"/>
                            <a:cs typeface="Times New Roman" panose="02020603050405020304" pitchFamily="18" charset="0"/>
                          </a:rPr>
                          <m:t>𝑖</m:t>
                        </m:r>
                      </m:sub>
                    </m:sSub>
                    <m:r>
                      <a:rPr lang="en-IN" sz="1600" b="0" i="1" dirty="0" smtClean="0">
                        <a:latin typeface="Cambria Math" panose="02040503050406030204" pitchFamily="18" charset="0"/>
                        <a:cs typeface="Times New Roman" panose="02020603050405020304" pitchFamily="18" charset="0"/>
                      </a:rPr>
                      <m:t>/</m:t>
                    </m:r>
                    <m:rad>
                      <m:radPr>
                        <m:degHide m:val="on"/>
                        <m:ctrlPr>
                          <a:rPr lang="en-IN" sz="1600" b="0" i="1" dirty="0" smtClean="0">
                            <a:latin typeface="Cambria Math" panose="02040503050406030204" pitchFamily="18" charset="0"/>
                            <a:cs typeface="Times New Roman" panose="02020603050405020304" pitchFamily="18" charset="0"/>
                          </a:rPr>
                        </m:ctrlPr>
                      </m:radPr>
                      <m:deg/>
                      <m:e>
                        <m:r>
                          <a:rPr lang="en-IN" sz="1600" b="0" i="1" dirty="0" smtClean="0">
                            <a:latin typeface="Cambria Math" panose="02040503050406030204" pitchFamily="18" charset="0"/>
                            <a:cs typeface="Times New Roman" panose="02020603050405020304" pitchFamily="18" charset="0"/>
                          </a:rPr>
                          <m:t>𝐷</m:t>
                        </m:r>
                      </m:e>
                    </m:rad>
                  </m:oMath>
                </a14:m>
                <a:endParaRPr lang="en-IN" sz="1600" dirty="0">
                  <a:latin typeface="Arial Narrow" panose="020B0606020202030204" pitchFamily="34" charset="0"/>
                  <a:cs typeface="Times New Roman" panose="02020603050405020304" pitchFamily="18" charset="0"/>
                </a:endParaRPr>
              </a:p>
              <a:p>
                <a:r>
                  <a:rPr lang="en-IN" sz="1600" dirty="0">
                    <a:latin typeface="Arial Narrow" panose="020B0606020202030204" pitchFamily="34" charset="0"/>
                    <a:cs typeface="Times New Roman" panose="02020603050405020304" pitchFamily="18" charset="0"/>
                  </a:rPr>
                  <a:t>Attention: </a:t>
                </a:r>
                <a14:m>
                  <m:oMath xmlns:m="http://schemas.openxmlformats.org/officeDocument/2006/math">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𝑎</m:t>
                    </m:r>
                    <m:r>
                      <a:rPr lang="en-IN" sz="1600" i="1">
                        <a:latin typeface="Cambria Math" panose="02040503050406030204" pitchFamily="18" charset="0"/>
                        <a:cs typeface="Times New Roman" panose="02020603050405020304" pitchFamily="18" charset="0"/>
                      </a:rPr>
                      <m:t>=</m:t>
                    </m:r>
                    <m:r>
                      <a:rPr lang="en-IN" sz="1600" i="1">
                        <a:latin typeface="Cambria Math" panose="02040503050406030204" pitchFamily="18" charset="0"/>
                        <a:cs typeface="Times New Roman" panose="02020603050405020304" pitchFamily="18" charset="0"/>
                      </a:rPr>
                      <m:t>𝑆𝑜𝑓𝑡𝑚𝑎𝑥</m:t>
                    </m:r>
                    <m:d>
                      <m:dPr>
                        <m:ctrlPr>
                          <a:rPr lang="en-IN" sz="1600" i="1">
                            <a:latin typeface="Cambria Math" panose="02040503050406030204" pitchFamily="18" charset="0"/>
                            <a:cs typeface="Times New Roman" panose="02020603050405020304" pitchFamily="18" charset="0"/>
                          </a:rPr>
                        </m:ctrlPr>
                      </m:dPr>
                      <m:e>
                        <m:r>
                          <a:rPr lang="en-IN" sz="1600" i="1" smtClean="0">
                            <a:latin typeface="Cambria Math" panose="02040503050406030204" pitchFamily="18" charset="0"/>
                            <a:ea typeface="Cambria Math" panose="02040503050406030204" pitchFamily="18" charset="0"/>
                            <a:cs typeface="Times New Roman" panose="02020603050405020304" pitchFamily="18" charset="0"/>
                          </a:rPr>
                          <m:t>𝛼</m:t>
                        </m:r>
                      </m:e>
                    </m:d>
                  </m:oMath>
                </a14:m>
                <a:r>
                  <a:rPr lang="en-IN" sz="1600" dirty="0">
                    <a:latin typeface="Arial Narrow" panose="020B0606020202030204" pitchFamily="34" charset="0"/>
                    <a:cs typeface="Times New Roman" panose="02020603050405020304" pitchFamily="18" charset="0"/>
                  </a:rPr>
                  <a:t> </a:t>
                </a:r>
              </a:p>
              <a:p>
                <a:r>
                  <a:rPr lang="en-IN" sz="1600" dirty="0">
                    <a:latin typeface="Arial Narrow" panose="020B0606020202030204" pitchFamily="34" charset="0"/>
                    <a:cs typeface="Times New Roman" panose="02020603050405020304" pitchFamily="18" charset="0"/>
                  </a:rPr>
                  <a:t>Output:</a:t>
                </a:r>
                <a14:m>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𝑦</m:t>
                        </m:r>
                      </m:e>
                      <m:sub>
                        <m:r>
                          <a:rPr lang="en-IN" sz="1600" b="0" i="1" smtClean="0">
                            <a:latin typeface="Cambria Math" panose="02040503050406030204" pitchFamily="18" charset="0"/>
                          </a:rPr>
                          <m:t>𝑗</m:t>
                        </m:r>
                      </m:sub>
                    </m:sSub>
                    <m:r>
                      <a:rPr lang="en-IN" sz="1600" i="1">
                        <a:latin typeface="Cambria Math" panose="02040503050406030204" pitchFamily="18" charset="0"/>
                        <a:cs typeface="Times New Roman" panose="02020603050405020304" pitchFamily="18" charset="0"/>
                      </a:rPr>
                      <m:t>=</m:t>
                    </m:r>
                  </m:oMath>
                </a14:m>
                <a:r>
                  <a:rPr lang="en-IN" sz="1600" dirty="0">
                    <a:latin typeface="Arial Narrow" panose="020B0606020202030204" pitchFamily="34" charset="0"/>
                    <a:cs typeface="Times New Roman" panose="02020603050405020304" pitchFamily="18" charset="0"/>
                  </a:rPr>
                  <a:t> </a:t>
                </a:r>
                <a14:m>
                  <m:oMath xmlns:m="http://schemas.openxmlformats.org/officeDocument/2006/math">
                    <m:nary>
                      <m:naryPr>
                        <m:chr m:val="∑"/>
                        <m:limLoc m:val="subSup"/>
                        <m:supHide m:val="on"/>
                        <m:ctrlPr>
                          <a:rPr lang="en-IN" sz="1600" i="1" dirty="0" smtClean="0">
                            <a:latin typeface="Cambria Math" panose="02040503050406030204" pitchFamily="18" charset="0"/>
                            <a:cs typeface="Times New Roman" panose="02020603050405020304" pitchFamily="18" charset="0"/>
                          </a:rPr>
                        </m:ctrlPr>
                      </m:naryPr>
                      <m:sub>
                        <m:r>
                          <m:rPr>
                            <m:brk m:alnAt="9"/>
                          </m:rPr>
                          <a:rPr lang="en-IN" sz="1600" b="0" i="1" dirty="0" smtClean="0">
                            <a:latin typeface="Cambria Math" panose="02040503050406030204" pitchFamily="18" charset="0"/>
                            <a:cs typeface="Times New Roman" panose="02020603050405020304" pitchFamily="18" charset="0"/>
                          </a:rPr>
                          <m:t>𝑗</m:t>
                        </m:r>
                      </m:sub>
                      <m:sup/>
                      <m:e>
                        <m:sSub>
                          <m:sSubPr>
                            <m:ctrlPr>
                              <a:rPr lang="en-IN" sz="1600" i="1" dirty="0" smtClean="0">
                                <a:latin typeface="Cambria Math" panose="02040503050406030204" pitchFamily="18" charset="0"/>
                                <a:cs typeface="Times New Roman" panose="02020603050405020304" pitchFamily="18" charset="0"/>
                              </a:rPr>
                            </m:ctrlPr>
                          </m:sSubPr>
                          <m:e>
                            <m:r>
                              <a:rPr lang="en-IN" sz="1600" b="0" i="1" dirty="0" smtClean="0">
                                <a:latin typeface="Cambria Math" panose="02040503050406030204" pitchFamily="18" charset="0"/>
                                <a:cs typeface="Times New Roman" panose="02020603050405020304" pitchFamily="18" charset="0"/>
                              </a:rPr>
                              <m:t>𝑎</m:t>
                            </m:r>
                          </m:e>
                          <m:sub>
                            <m:r>
                              <a:rPr lang="en-IN" sz="1600" b="0" i="1" dirty="0" smtClean="0">
                                <a:latin typeface="Cambria Math" panose="02040503050406030204" pitchFamily="18" charset="0"/>
                                <a:cs typeface="Times New Roman" panose="02020603050405020304" pitchFamily="18" charset="0"/>
                              </a:rPr>
                              <m:t>𝑖𝑗</m:t>
                            </m:r>
                          </m:sub>
                        </m:sSub>
                        <m:sSub>
                          <m:sSubPr>
                            <m:ctrlPr>
                              <a:rPr lang="en-IN" sz="1600" i="1" dirty="0" smtClean="0">
                                <a:solidFill>
                                  <a:schemeClr val="accent2"/>
                                </a:solidFill>
                                <a:latin typeface="Cambria Math" panose="02040503050406030204" pitchFamily="18" charset="0"/>
                                <a:cs typeface="Times New Roman" panose="02020603050405020304" pitchFamily="18" charset="0"/>
                              </a:rPr>
                            </m:ctrlPr>
                          </m:sSubPr>
                          <m:e>
                            <m:r>
                              <a:rPr lang="en-IN" sz="1600" b="0" i="1" dirty="0" smtClean="0">
                                <a:solidFill>
                                  <a:schemeClr val="accent2"/>
                                </a:solidFill>
                                <a:latin typeface="Cambria Math" panose="02040503050406030204" pitchFamily="18" charset="0"/>
                                <a:cs typeface="Times New Roman" panose="02020603050405020304" pitchFamily="18" charset="0"/>
                              </a:rPr>
                              <m:t>𝑣</m:t>
                            </m:r>
                          </m:e>
                          <m:sub>
                            <m:r>
                              <a:rPr lang="en-IN" sz="1600" b="0" i="1" dirty="0" smtClean="0">
                                <a:solidFill>
                                  <a:schemeClr val="accent2"/>
                                </a:solidFill>
                                <a:latin typeface="Cambria Math" panose="02040503050406030204" pitchFamily="18" charset="0"/>
                                <a:cs typeface="Times New Roman" panose="02020603050405020304" pitchFamily="18" charset="0"/>
                              </a:rPr>
                              <m:t>𝑖</m:t>
                            </m:r>
                          </m:sub>
                        </m:sSub>
                      </m:e>
                    </m:nary>
                  </m:oMath>
                </a14:m>
                <a:endParaRPr lang="en-IN" sz="1600" dirty="0">
                  <a:latin typeface="Arial Narrow" panose="020B0606020202030204" pitchFamily="34" charset="0"/>
                  <a:cs typeface="Times New Roman" panose="02020603050405020304" pitchFamily="18" charset="0"/>
                </a:endParaRPr>
              </a:p>
            </p:txBody>
          </p:sp>
        </mc:Choice>
        <mc:Fallback xmlns="">
          <p:sp>
            <p:nvSpPr>
              <p:cNvPr id="62" name="TextBox 61">
                <a:extLst>
                  <a:ext uri="{FF2B5EF4-FFF2-40B4-BE49-F238E27FC236}">
                    <a16:creationId xmlns:a16="http://schemas.microsoft.com/office/drawing/2014/main" id="{086F0207-6EE0-4AC4-BD2F-4600D077A09E}"/>
                  </a:ext>
                </a:extLst>
              </p:cNvPr>
              <p:cNvSpPr txBox="1">
                <a:spLocks noRot="1" noChangeAspect="1" noMove="1" noResize="1" noEditPoints="1" noAdjustHandles="1" noChangeArrowheads="1" noChangeShapeType="1" noTextEdit="1"/>
              </p:cNvSpPr>
              <p:nvPr/>
            </p:nvSpPr>
            <p:spPr>
              <a:xfrm>
                <a:off x="6882940" y="1015137"/>
                <a:ext cx="2607358" cy="1892634"/>
              </a:xfrm>
              <a:prstGeom prst="rect">
                <a:avLst/>
              </a:prstGeom>
              <a:blipFill>
                <a:blip r:embed="rId2"/>
                <a:stretch>
                  <a:fillRect l="-1168" t="-645" b="-28710"/>
                </a:stretch>
              </a:blipFill>
            </p:spPr>
            <p:txBody>
              <a:bodyPr/>
              <a:lstStyle/>
              <a:p>
                <a:r>
                  <a:rPr lang="en-IN">
                    <a:noFill/>
                  </a:rPr>
                  <a:t> </a:t>
                </a:r>
              </a:p>
            </p:txBody>
          </p:sp>
        </mc:Fallback>
      </mc:AlternateContent>
      <p:sp>
        <p:nvSpPr>
          <p:cNvPr id="64" name="TextBox 63">
            <a:extLst>
              <a:ext uri="{FF2B5EF4-FFF2-40B4-BE49-F238E27FC236}">
                <a16:creationId xmlns:a16="http://schemas.microsoft.com/office/drawing/2014/main" id="{42041928-98FF-4E1F-8EF9-F54454ED2806}"/>
              </a:ext>
            </a:extLst>
          </p:cNvPr>
          <p:cNvSpPr txBox="1"/>
          <p:nvPr/>
        </p:nvSpPr>
        <p:spPr>
          <a:xfrm>
            <a:off x="930496" y="2619585"/>
            <a:ext cx="3313909" cy="584775"/>
          </a:xfrm>
          <a:prstGeom prst="rect">
            <a:avLst/>
          </a:prstGeom>
          <a:noFill/>
        </p:spPr>
        <p:txBody>
          <a:bodyPr wrap="square" rtlCol="0">
            <a:spAutoFit/>
          </a:bodyPr>
          <a:lstStyle/>
          <a:p>
            <a:r>
              <a:rPr lang="en-IN" sz="1600" dirty="0">
                <a:latin typeface="Arial Narrow" panose="020B0606020202030204" pitchFamily="34" charset="0"/>
                <a:cs typeface="Times New Roman" panose="02020603050405020304" pitchFamily="18" charset="0"/>
              </a:rPr>
              <a:t>Inputs:</a:t>
            </a:r>
          </a:p>
          <a:p>
            <a:r>
              <a:rPr lang="en-IN" sz="1600" dirty="0">
                <a:latin typeface="Arial Narrow" panose="020B0606020202030204" pitchFamily="34" charset="0"/>
                <a:cs typeface="Times New Roman" panose="02020603050405020304" pitchFamily="18" charset="0"/>
              </a:rPr>
              <a:t>Input Vector X (Dimension : </a:t>
            </a:r>
            <a:r>
              <a:rPr lang="en-IN" sz="1600" dirty="0" err="1">
                <a:latin typeface="Arial Narrow" panose="020B0606020202030204" pitchFamily="34" charset="0"/>
                <a:cs typeface="Times New Roman" panose="02020603050405020304" pitchFamily="18" charset="0"/>
              </a:rPr>
              <a:t>NxD</a:t>
            </a:r>
            <a:r>
              <a:rPr lang="en-IN" sz="1600" dirty="0">
                <a:latin typeface="Arial Narrow" panose="020B0606020202030204" pitchFamily="34" charset="0"/>
                <a:cs typeface="Times New Roman" panose="02020603050405020304" pitchFamily="18" charset="0"/>
              </a:rPr>
              <a:t>)</a:t>
            </a:r>
          </a:p>
        </p:txBody>
      </p:sp>
      <p:sp>
        <p:nvSpPr>
          <p:cNvPr id="116" name="Title 3">
            <a:extLst>
              <a:ext uri="{FF2B5EF4-FFF2-40B4-BE49-F238E27FC236}">
                <a16:creationId xmlns:a16="http://schemas.microsoft.com/office/drawing/2014/main" id="{F28FCD7B-C192-43CE-B0DB-5FAB60C2282F}"/>
              </a:ext>
            </a:extLst>
          </p:cNvPr>
          <p:cNvSpPr>
            <a:spLocks noGrp="1"/>
          </p:cNvSpPr>
          <p:nvPr>
            <p:ph type="title"/>
          </p:nvPr>
        </p:nvSpPr>
        <p:spPr>
          <a:xfrm>
            <a:off x="930496" y="328167"/>
            <a:ext cx="10515600" cy="501338"/>
          </a:xfrm>
        </p:spPr>
        <p:txBody>
          <a:bodyPr>
            <a:noAutofit/>
          </a:bodyPr>
          <a:lstStyle/>
          <a:p>
            <a:r>
              <a:rPr lang="en-IN" sz="3200" dirty="0">
                <a:latin typeface="Century" panose="02040604050505020304" pitchFamily="18" charset="0"/>
              </a:rPr>
              <a:t>Masked self-attention layer</a:t>
            </a:r>
          </a:p>
        </p:txBody>
      </p:sp>
      <p:sp>
        <p:nvSpPr>
          <p:cNvPr id="27" name="Rectangle 26">
            <a:extLst>
              <a:ext uri="{FF2B5EF4-FFF2-40B4-BE49-F238E27FC236}">
                <a16:creationId xmlns:a16="http://schemas.microsoft.com/office/drawing/2014/main" id="{513C163E-824E-4906-AD83-E57220F3475D}"/>
              </a:ext>
            </a:extLst>
          </p:cNvPr>
          <p:cNvSpPr/>
          <p:nvPr/>
        </p:nvSpPr>
        <p:spPr>
          <a:xfrm>
            <a:off x="949704" y="1180768"/>
            <a:ext cx="5657240" cy="1015663"/>
          </a:xfrm>
          <a:prstGeom prst="rect">
            <a:avLst/>
          </a:prstGeom>
        </p:spPr>
        <p:txBody>
          <a:bodyPr wrap="square">
            <a:spAutoFit/>
          </a:bodyPr>
          <a:lstStyle/>
          <a:p>
            <a:pPr marL="342900" indent="-342900" algn="just">
              <a:buFont typeface="Arial" panose="020B0604020202020204" pitchFamily="34" charset="0"/>
              <a:buChar char="•"/>
            </a:pPr>
            <a:r>
              <a:rPr lang="en-IN" sz="2000" dirty="0">
                <a:latin typeface="Arial Narrow" panose="020B0606020202030204" pitchFamily="34" charset="0"/>
                <a:cs typeface="Times New Roman" panose="02020603050405020304" pitchFamily="18" charset="0"/>
              </a:rPr>
              <a:t>This layer prevents vectors from looking at future vectors.</a:t>
            </a:r>
          </a:p>
          <a:p>
            <a:pPr marL="800100" lvl="1" indent="-342900" algn="just">
              <a:buFont typeface="Arial" panose="020B0604020202020204" pitchFamily="34" charset="0"/>
              <a:buChar char="•"/>
            </a:pPr>
            <a:r>
              <a:rPr lang="en-IN" sz="2000" dirty="0">
                <a:latin typeface="Arial Narrow" panose="020B0606020202030204" pitchFamily="34" charset="0"/>
                <a:cs typeface="Times New Roman" panose="02020603050405020304" pitchFamily="18" charset="0"/>
              </a:rPr>
              <a:t>Alignment scores is set to minus infinity</a:t>
            </a:r>
          </a:p>
        </p:txBody>
      </p:sp>
      <p:sp>
        <p:nvSpPr>
          <p:cNvPr id="117" name="TextBox 116">
            <a:extLst>
              <a:ext uri="{FF2B5EF4-FFF2-40B4-BE49-F238E27FC236}">
                <a16:creationId xmlns:a16="http://schemas.microsoft.com/office/drawing/2014/main" id="{A1B8AE89-4825-47E2-8D96-FFDA5619ECD4}"/>
              </a:ext>
            </a:extLst>
          </p:cNvPr>
          <p:cNvSpPr txBox="1"/>
          <p:nvPr/>
        </p:nvSpPr>
        <p:spPr>
          <a:xfrm>
            <a:off x="6581775" y="6492875"/>
            <a:ext cx="5610225" cy="307777"/>
          </a:xfrm>
          <a:prstGeom prst="rect">
            <a:avLst/>
          </a:prstGeom>
          <a:noFill/>
        </p:spPr>
        <p:txBody>
          <a:bodyPr wrap="square" rtlCol="0">
            <a:spAutoFit/>
          </a:bodyPr>
          <a:lstStyle/>
          <a:p>
            <a:r>
              <a:rPr lang="en-IN" sz="1400" dirty="0">
                <a:latin typeface="Arial Narrow" panose="020B0606020202030204" pitchFamily="34" charset="0"/>
                <a:cs typeface="Times New Roman" panose="02020603050405020304" pitchFamily="18" charset="0"/>
              </a:rPr>
              <a:t>Concept: Fei-Fei Li Attention and Transformers CS231n Stanford Lecture</a:t>
            </a:r>
          </a:p>
        </p:txBody>
      </p:sp>
      <mc:AlternateContent xmlns:mc="http://schemas.openxmlformats.org/markup-compatibility/2006" xmlns:a14="http://schemas.microsoft.com/office/drawing/2010/main">
        <mc:Choice Requires="a14">
          <p:sp>
            <p:nvSpPr>
              <p:cNvPr id="120" name="TextBox 119">
                <a:extLst>
                  <a:ext uri="{FF2B5EF4-FFF2-40B4-BE49-F238E27FC236}">
                    <a16:creationId xmlns:a16="http://schemas.microsoft.com/office/drawing/2014/main" id="{AD6D90FF-8B08-44E6-ADD1-B975BDF15677}"/>
                  </a:ext>
                </a:extLst>
              </p:cNvPr>
              <p:cNvSpPr txBox="1"/>
              <p:nvPr/>
            </p:nvSpPr>
            <p:spPr>
              <a:xfrm rot="10800000" flipV="1">
                <a:off x="4507972" y="4247271"/>
                <a:ext cx="495646" cy="468588"/>
              </a:xfrm>
              <a:prstGeom prst="ellipse">
                <a:avLst/>
              </a:prstGeom>
              <a:solidFill>
                <a:schemeClr val="accent2">
                  <a:lumMod val="75000"/>
                  <a:alpha val="48000"/>
                </a:schemeClr>
              </a:solid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a:latin typeface="Cambria Math" panose="02040503050406030204" pitchFamily="18" charset="0"/>
                            </a:rPr>
                          </m:ctrlPr>
                        </m:sSubPr>
                        <m:e>
                          <m:r>
                            <a:rPr lang="en-IN" sz="1500">
                              <a:latin typeface="Cambria Math" panose="02040503050406030204" pitchFamily="18" charset="0"/>
                            </a:rPr>
                            <m:t>𝛼</m:t>
                          </m:r>
                        </m:e>
                        <m:sub>
                          <m:r>
                            <a:rPr lang="en-IN" sz="1500">
                              <a:latin typeface="Cambria Math" panose="02040503050406030204" pitchFamily="18" charset="0"/>
                            </a:rPr>
                            <m:t>1,1</m:t>
                          </m:r>
                        </m:sub>
                      </m:sSub>
                    </m:oMath>
                  </m:oMathPara>
                </a14:m>
                <a:endParaRPr lang="en-IN" sz="1500" dirty="0">
                  <a:latin typeface="Arial Narrow" panose="020B0606020202030204" pitchFamily="34" charset="0"/>
                </a:endParaRPr>
              </a:p>
            </p:txBody>
          </p:sp>
        </mc:Choice>
        <mc:Fallback xmlns="">
          <p:sp>
            <p:nvSpPr>
              <p:cNvPr id="120" name="TextBox 119">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4507972" y="4247271"/>
                <a:ext cx="495646" cy="468588"/>
              </a:xfrm>
              <a:prstGeom prst="ellipse">
                <a:avLst/>
              </a:prstGeom>
              <a:blipFill>
                <a:blip r:embed="rId3"/>
                <a:stretch>
                  <a:fillRect r="-1190"/>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1" name="TextBox 120">
                <a:extLst>
                  <a:ext uri="{FF2B5EF4-FFF2-40B4-BE49-F238E27FC236}">
                    <a16:creationId xmlns:a16="http://schemas.microsoft.com/office/drawing/2014/main" id="{36F03E2E-8229-4DFD-869B-C4F6CF96084E}"/>
                  </a:ext>
                </a:extLst>
              </p:cNvPr>
              <p:cNvSpPr txBox="1"/>
              <p:nvPr/>
            </p:nvSpPr>
            <p:spPr>
              <a:xfrm rot="10800000" flipV="1">
                <a:off x="3961694" y="4247272"/>
                <a:ext cx="495646" cy="468588"/>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en-IN" sz="1500">
                          <a:latin typeface="Cambria Math" panose="02040503050406030204" pitchFamily="18" charset="0"/>
                        </a:rPr>
                        <m:t>−</m:t>
                      </m:r>
                      <m:r>
                        <a:rPr lang="en-IN" sz="1500">
                          <a:latin typeface="Cambria Math" panose="02040503050406030204" pitchFamily="18" charset="0"/>
                          <a:ea typeface="Cambria Math" panose="02040503050406030204" pitchFamily="18" charset="0"/>
                        </a:rPr>
                        <m:t>∞</m:t>
                      </m:r>
                    </m:oMath>
                  </m:oMathPara>
                </a14:m>
                <a:endParaRPr lang="en-IN" sz="1500" dirty="0">
                  <a:latin typeface="Arial Narrow" panose="020B0606020202030204" pitchFamily="34" charset="0"/>
                </a:endParaRPr>
              </a:p>
            </p:txBody>
          </p:sp>
        </mc:Choice>
        <mc:Fallback xmlns="">
          <p:sp>
            <p:nvSpPr>
              <p:cNvPr id="121" name="TextBox 120">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3961694" y="4247272"/>
                <a:ext cx="495646" cy="468588"/>
              </a:xfrm>
              <a:prstGeom prst="ellipse">
                <a:avLst/>
              </a:prstGeom>
              <a:blipFill>
                <a:blip r:embed="rId4"/>
                <a:stretch>
                  <a:fillRect r="-2410"/>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2" name="TextBox 121">
                <a:extLst>
                  <a:ext uri="{FF2B5EF4-FFF2-40B4-BE49-F238E27FC236}">
                    <a16:creationId xmlns:a16="http://schemas.microsoft.com/office/drawing/2014/main" id="{DF1D3D16-4F7D-4FD0-95EB-E2360401B577}"/>
                  </a:ext>
                </a:extLst>
              </p:cNvPr>
              <p:cNvSpPr txBox="1"/>
              <p:nvPr/>
            </p:nvSpPr>
            <p:spPr>
              <a:xfrm rot="10800000" flipV="1">
                <a:off x="3420710" y="4246731"/>
                <a:ext cx="495646" cy="454432"/>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IN" sz="1500" i="1">
                          <a:latin typeface="Cambria Math" panose="02040503050406030204" pitchFamily="18" charset="0"/>
                        </a:rPr>
                        <m:t>−</m:t>
                      </m:r>
                      <m:r>
                        <a:rPr lang="en-IN" sz="1500" i="1">
                          <a:latin typeface="Cambria Math" panose="02040503050406030204" pitchFamily="18" charset="0"/>
                          <a:ea typeface="Cambria Math" panose="02040503050406030204" pitchFamily="18" charset="0"/>
                        </a:rPr>
                        <m:t>∞</m:t>
                      </m:r>
                    </m:oMath>
                  </m:oMathPara>
                </a14:m>
                <a:endParaRPr lang="en-IN" sz="1500" dirty="0">
                  <a:latin typeface="Arial Narrow" panose="020B0606020202030204" pitchFamily="34" charset="0"/>
                </a:endParaRPr>
              </a:p>
            </p:txBody>
          </p:sp>
        </mc:Choice>
        <mc:Fallback xmlns="">
          <p:sp>
            <p:nvSpPr>
              <p:cNvPr id="122" name="TextBox 121">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3420710" y="4246731"/>
                <a:ext cx="495646" cy="454432"/>
              </a:xfrm>
              <a:prstGeom prst="ellipse">
                <a:avLst/>
              </a:prstGeom>
              <a:blipFill>
                <a:blip r:embed="rId5"/>
                <a:stretch>
                  <a:fillRect r="-3614"/>
                </a:stretch>
              </a:blipFill>
              <a:ln w="12700">
                <a:solidFill>
                  <a:schemeClr val="tx1"/>
                </a:solidFill>
              </a:ln>
            </p:spPr>
            <p:txBody>
              <a:bodyPr/>
              <a:lstStyle/>
              <a:p>
                <a:r>
                  <a:rPr lang="en-IN">
                    <a:noFill/>
                  </a:rPr>
                  <a:t> </a:t>
                </a:r>
              </a:p>
            </p:txBody>
          </p:sp>
        </mc:Fallback>
      </mc:AlternateContent>
      <p:cxnSp>
        <p:nvCxnSpPr>
          <p:cNvPr id="123" name="Straight Arrow Connector 122">
            <a:extLst>
              <a:ext uri="{FF2B5EF4-FFF2-40B4-BE49-F238E27FC236}">
                <a16:creationId xmlns:a16="http://schemas.microsoft.com/office/drawing/2014/main" id="{A263021F-7328-4211-909D-49F49CA28D98}"/>
              </a:ext>
            </a:extLst>
          </p:cNvPr>
          <p:cNvCxnSpPr>
            <a:stCxn id="177" idx="0"/>
            <a:endCxn id="120" idx="4"/>
          </p:cNvCxnSpPr>
          <p:nvPr/>
        </p:nvCxnSpPr>
        <p:spPr>
          <a:xfrm flipV="1">
            <a:off x="4753378" y="4715859"/>
            <a:ext cx="2417" cy="118717"/>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Straight Arrow Connector 123">
            <a:extLst>
              <a:ext uri="{FF2B5EF4-FFF2-40B4-BE49-F238E27FC236}">
                <a16:creationId xmlns:a16="http://schemas.microsoft.com/office/drawing/2014/main" id="{48E3A579-0DB9-42B0-BAF2-784E8D2CED22}"/>
              </a:ext>
            </a:extLst>
          </p:cNvPr>
          <p:cNvCxnSpPr>
            <a:cxnSpLocks/>
            <a:stCxn id="178" idx="0"/>
            <a:endCxn id="121" idx="4"/>
          </p:cNvCxnSpPr>
          <p:nvPr/>
        </p:nvCxnSpPr>
        <p:spPr>
          <a:xfrm flipV="1">
            <a:off x="4207100" y="4715860"/>
            <a:ext cx="2417" cy="118717"/>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35" name="Straight Arrow Connector 134">
            <a:extLst>
              <a:ext uri="{FF2B5EF4-FFF2-40B4-BE49-F238E27FC236}">
                <a16:creationId xmlns:a16="http://schemas.microsoft.com/office/drawing/2014/main" id="{C1137974-CC6B-47D3-81CF-6AC92B143B47}"/>
              </a:ext>
            </a:extLst>
          </p:cNvPr>
          <p:cNvCxnSpPr>
            <a:cxnSpLocks/>
            <a:stCxn id="179" idx="0"/>
            <a:endCxn id="122" idx="4"/>
          </p:cNvCxnSpPr>
          <p:nvPr/>
        </p:nvCxnSpPr>
        <p:spPr>
          <a:xfrm flipV="1">
            <a:off x="3666115" y="4701163"/>
            <a:ext cx="2418" cy="133415"/>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36" name="Straight Arrow Connector 135">
            <a:extLst>
              <a:ext uri="{FF2B5EF4-FFF2-40B4-BE49-F238E27FC236}">
                <a16:creationId xmlns:a16="http://schemas.microsoft.com/office/drawing/2014/main" id="{47F04F6C-A5DE-48AC-A93E-885D326C2D52}"/>
              </a:ext>
            </a:extLst>
          </p:cNvPr>
          <p:cNvCxnSpPr>
            <a:cxnSpLocks/>
            <a:stCxn id="144" idx="2"/>
          </p:cNvCxnSpPr>
          <p:nvPr/>
        </p:nvCxnSpPr>
        <p:spPr>
          <a:xfrm>
            <a:off x="8553927" y="4473946"/>
            <a:ext cx="613222" cy="1535"/>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37" name="Straight Arrow Connector 136">
            <a:extLst>
              <a:ext uri="{FF2B5EF4-FFF2-40B4-BE49-F238E27FC236}">
                <a16:creationId xmlns:a16="http://schemas.microsoft.com/office/drawing/2014/main" id="{93CE584A-6224-4185-BA7F-7DBE679AAC01}"/>
              </a:ext>
            </a:extLst>
          </p:cNvPr>
          <p:cNvCxnSpPr>
            <a:cxnSpLocks/>
            <a:stCxn id="120" idx="2"/>
          </p:cNvCxnSpPr>
          <p:nvPr/>
        </p:nvCxnSpPr>
        <p:spPr>
          <a:xfrm flipV="1">
            <a:off x="5003618" y="4478275"/>
            <a:ext cx="578914" cy="3290"/>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8" name="TextBox 137">
                <a:extLst>
                  <a:ext uri="{FF2B5EF4-FFF2-40B4-BE49-F238E27FC236}">
                    <a16:creationId xmlns:a16="http://schemas.microsoft.com/office/drawing/2014/main" id="{CB478EDF-F147-4A46-ACD7-767B4A547BF2}"/>
                  </a:ext>
                </a:extLst>
              </p:cNvPr>
              <p:cNvSpPr txBox="1"/>
              <p:nvPr/>
            </p:nvSpPr>
            <p:spPr>
              <a:xfrm rot="10800000" flipV="1">
                <a:off x="2438529" y="4246729"/>
                <a:ext cx="499716" cy="454432"/>
              </a:xfrm>
              <a:prstGeom prst="ellipse">
                <a:avLst/>
              </a:prstGeom>
              <a:solidFill>
                <a:srgbClr val="FF0000">
                  <a:alpha val="65000"/>
                </a:srgbClr>
              </a:solid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a:latin typeface="Cambria Math" panose="02040503050406030204" pitchFamily="18" charset="0"/>
                            </a:rPr>
                          </m:ctrlPr>
                        </m:sSubPr>
                        <m:e>
                          <m:r>
                            <a:rPr lang="en-IN" sz="1500" i="1">
                              <a:latin typeface="Cambria Math" panose="02040503050406030204" pitchFamily="18" charset="0"/>
                            </a:rPr>
                            <m:t>𝑞</m:t>
                          </m:r>
                        </m:e>
                        <m:sub>
                          <m:r>
                            <a:rPr lang="en-IN" sz="1500" i="1">
                              <a:latin typeface="Cambria Math" panose="02040503050406030204" pitchFamily="18" charset="0"/>
                            </a:rPr>
                            <m:t>1</m:t>
                          </m:r>
                        </m:sub>
                      </m:sSub>
                    </m:oMath>
                  </m:oMathPara>
                </a14:m>
                <a:endParaRPr lang="en-IN" sz="1500" dirty="0">
                  <a:latin typeface="Arial Narrow" panose="020B0606020202030204" pitchFamily="34" charset="0"/>
                </a:endParaRPr>
              </a:p>
            </p:txBody>
          </p:sp>
        </mc:Choice>
        <mc:Fallback xmlns="">
          <p:sp>
            <p:nvSpPr>
              <p:cNvPr id="138" name="TextBox 137">
                <a:extLst>
                  <a:ext uri="{FF2B5EF4-FFF2-40B4-BE49-F238E27FC236}">
                    <a16:creationId xmlns:a16="http://schemas.microsoft.com/office/drawing/2014/main" id="{CB478EDF-F147-4A46-ACD7-767B4A547BF2}"/>
                  </a:ext>
                </a:extLst>
              </p:cNvPr>
              <p:cNvSpPr txBox="1">
                <a:spLocks noRot="1" noChangeAspect="1" noMove="1" noResize="1" noEditPoints="1" noAdjustHandles="1" noChangeArrowheads="1" noChangeShapeType="1" noTextEdit="1"/>
              </p:cNvSpPr>
              <p:nvPr/>
            </p:nvSpPr>
            <p:spPr>
              <a:xfrm rot="10800000" flipV="1">
                <a:off x="2438529" y="4246729"/>
                <a:ext cx="499716" cy="454432"/>
              </a:xfrm>
              <a:prstGeom prst="ellipse">
                <a:avLst/>
              </a:prstGeom>
              <a:blipFill>
                <a:blip r:embed="rId6"/>
                <a:stretch>
                  <a:fillRect/>
                </a:stretch>
              </a:blipFill>
              <a:ln w="12700">
                <a:solidFill>
                  <a:schemeClr val="tx1"/>
                </a:solidFill>
              </a:ln>
            </p:spPr>
            <p:txBody>
              <a:bodyPr/>
              <a:lstStyle/>
              <a:p>
                <a:r>
                  <a:rPr lang="en-IN">
                    <a:noFill/>
                  </a:rPr>
                  <a:t> </a:t>
                </a:r>
              </a:p>
            </p:txBody>
          </p:sp>
        </mc:Fallback>
      </mc:AlternateContent>
      <p:cxnSp>
        <p:nvCxnSpPr>
          <p:cNvPr id="139" name="Straight Arrow Connector 138">
            <a:extLst>
              <a:ext uri="{FF2B5EF4-FFF2-40B4-BE49-F238E27FC236}">
                <a16:creationId xmlns:a16="http://schemas.microsoft.com/office/drawing/2014/main" id="{20C9C6AC-19F5-4564-9E13-1B8D0A63390D}"/>
              </a:ext>
            </a:extLst>
          </p:cNvPr>
          <p:cNvCxnSpPr>
            <a:stCxn id="138" idx="2"/>
            <a:endCxn id="122" idx="6"/>
          </p:cNvCxnSpPr>
          <p:nvPr/>
        </p:nvCxnSpPr>
        <p:spPr>
          <a:xfrm>
            <a:off x="2938245" y="4473945"/>
            <a:ext cx="482465" cy="2"/>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40" name="Straight Arrow Connector 139">
            <a:extLst>
              <a:ext uri="{FF2B5EF4-FFF2-40B4-BE49-F238E27FC236}">
                <a16:creationId xmlns:a16="http://schemas.microsoft.com/office/drawing/2014/main" id="{19A753A8-AD35-4022-B3B3-F8FBEA03A328}"/>
              </a:ext>
            </a:extLst>
          </p:cNvPr>
          <p:cNvCxnSpPr>
            <a:endCxn id="141" idx="6"/>
          </p:cNvCxnSpPr>
          <p:nvPr/>
        </p:nvCxnSpPr>
        <p:spPr>
          <a:xfrm flipV="1">
            <a:off x="10071605" y="4473946"/>
            <a:ext cx="409293" cy="1536"/>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1" name="TextBox 140">
                <a:extLst>
                  <a:ext uri="{FF2B5EF4-FFF2-40B4-BE49-F238E27FC236}">
                    <a16:creationId xmlns:a16="http://schemas.microsoft.com/office/drawing/2014/main" id="{6803D624-9F2D-4CB6-A000-91DDACFD0A2B}"/>
                  </a:ext>
                </a:extLst>
              </p:cNvPr>
              <p:cNvSpPr txBox="1"/>
              <p:nvPr/>
            </p:nvSpPr>
            <p:spPr>
              <a:xfrm rot="10800000" flipV="1">
                <a:off x="10480898" y="4246730"/>
                <a:ext cx="495646" cy="454432"/>
              </a:xfrm>
              <a:prstGeom prst="ellipse">
                <a:avLst/>
              </a:prstGeom>
              <a:solidFill>
                <a:srgbClr val="00B050">
                  <a:alpha val="59000"/>
                </a:srgbClr>
              </a:solid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a:latin typeface="Cambria Math" panose="02040503050406030204" pitchFamily="18" charset="0"/>
                            </a:rPr>
                          </m:ctrlPr>
                        </m:sSubPr>
                        <m:e>
                          <m:r>
                            <a:rPr lang="en-IN" sz="1500" i="1">
                              <a:latin typeface="Cambria Math" panose="02040503050406030204" pitchFamily="18" charset="0"/>
                            </a:rPr>
                            <m:t>𝑦</m:t>
                          </m:r>
                        </m:e>
                        <m:sub>
                          <m:r>
                            <a:rPr lang="en-IN" sz="1500" i="1">
                              <a:latin typeface="Cambria Math" panose="02040503050406030204" pitchFamily="18" charset="0"/>
                            </a:rPr>
                            <m:t>1</m:t>
                          </m:r>
                        </m:sub>
                      </m:sSub>
                    </m:oMath>
                  </m:oMathPara>
                </a14:m>
                <a:endParaRPr lang="en-IN" sz="1500" dirty="0">
                  <a:latin typeface="Arial Narrow" panose="020B0606020202030204" pitchFamily="34" charset="0"/>
                </a:endParaRPr>
              </a:p>
            </p:txBody>
          </p:sp>
        </mc:Choice>
        <mc:Fallback xmlns="">
          <p:sp>
            <p:nvSpPr>
              <p:cNvPr id="141" name="TextBox 140">
                <a:extLst>
                  <a:ext uri="{FF2B5EF4-FFF2-40B4-BE49-F238E27FC236}">
                    <a16:creationId xmlns:a16="http://schemas.microsoft.com/office/drawing/2014/main" id="{6803D624-9F2D-4CB6-A000-91DDACFD0A2B}"/>
                  </a:ext>
                </a:extLst>
              </p:cNvPr>
              <p:cNvSpPr txBox="1">
                <a:spLocks noRot="1" noChangeAspect="1" noMove="1" noResize="1" noEditPoints="1" noAdjustHandles="1" noChangeArrowheads="1" noChangeShapeType="1" noTextEdit="1"/>
              </p:cNvSpPr>
              <p:nvPr/>
            </p:nvSpPr>
            <p:spPr>
              <a:xfrm rot="10800000" flipV="1">
                <a:off x="10480898" y="4246730"/>
                <a:ext cx="495646" cy="454432"/>
              </a:xfrm>
              <a:prstGeom prst="ellipse">
                <a:avLst/>
              </a:prstGeom>
              <a:blipFill>
                <a:blip r:embed="rId7"/>
                <a:stretch>
                  <a:fillRect/>
                </a:stretch>
              </a:blipFill>
              <a:ln w="12700">
                <a:solidFill>
                  <a:schemeClr val="tx1"/>
                </a:solidFill>
              </a:ln>
            </p:spPr>
            <p:txBody>
              <a:bodyPr/>
              <a:lstStyle/>
              <a:p>
                <a:r>
                  <a:rPr lang="en-IN">
                    <a:noFill/>
                  </a:rPr>
                  <a:t> </a:t>
                </a:r>
              </a:p>
            </p:txBody>
          </p:sp>
        </mc:Fallback>
      </mc:AlternateContent>
      <p:sp>
        <p:nvSpPr>
          <p:cNvPr id="142" name="TextBox 141">
            <a:extLst>
              <a:ext uri="{FF2B5EF4-FFF2-40B4-BE49-F238E27FC236}">
                <a16:creationId xmlns:a16="http://schemas.microsoft.com/office/drawing/2014/main" id="{E17818E8-007B-45D8-AD06-1A2108924884}"/>
              </a:ext>
            </a:extLst>
          </p:cNvPr>
          <p:cNvSpPr txBox="1"/>
          <p:nvPr/>
        </p:nvSpPr>
        <p:spPr>
          <a:xfrm rot="10800000" flipV="1">
            <a:off x="3558146" y="2925869"/>
            <a:ext cx="1333204" cy="338554"/>
          </a:xfrm>
          <a:prstGeom prst="rect">
            <a:avLst/>
          </a:prstGeom>
          <a:noFill/>
        </p:spPr>
        <p:txBody>
          <a:bodyPr wrap="square" rtlCol="0">
            <a:spAutoFit/>
          </a:bodyPr>
          <a:lstStyle/>
          <a:p>
            <a:r>
              <a:rPr lang="en-IN" sz="1600" dirty="0">
                <a:latin typeface="Arial Narrow" panose="020B0606020202030204" pitchFamily="34" charset="0"/>
                <a:cs typeface="Times New Roman" panose="02020603050405020304" pitchFamily="18" charset="0"/>
              </a:rPr>
              <a:t>Alignment</a:t>
            </a:r>
          </a:p>
        </p:txBody>
      </p:sp>
      <p:sp>
        <p:nvSpPr>
          <p:cNvPr id="143" name="TextBox 142">
            <a:extLst>
              <a:ext uri="{FF2B5EF4-FFF2-40B4-BE49-F238E27FC236}">
                <a16:creationId xmlns:a16="http://schemas.microsoft.com/office/drawing/2014/main" id="{A8C9EC39-2EA1-4820-AB08-8E44D249B4B8}"/>
              </a:ext>
            </a:extLst>
          </p:cNvPr>
          <p:cNvSpPr txBox="1"/>
          <p:nvPr/>
        </p:nvSpPr>
        <p:spPr>
          <a:xfrm rot="10800000" flipV="1">
            <a:off x="7220723" y="2914105"/>
            <a:ext cx="1333204" cy="338554"/>
          </a:xfrm>
          <a:prstGeom prst="rect">
            <a:avLst/>
          </a:prstGeom>
          <a:noFill/>
        </p:spPr>
        <p:txBody>
          <a:bodyPr wrap="square" rtlCol="0">
            <a:spAutoFit/>
          </a:bodyPr>
          <a:lstStyle/>
          <a:p>
            <a:r>
              <a:rPr lang="en-IN" sz="1600" dirty="0">
                <a:latin typeface="Arial Narrow" panose="020B0606020202030204" pitchFamily="34" charset="0"/>
                <a:cs typeface="Times New Roman" panose="02020603050405020304" pitchFamily="18" charset="0"/>
              </a:rPr>
              <a:t>Attention</a:t>
            </a:r>
          </a:p>
        </p:txBody>
      </p:sp>
      <mc:AlternateContent xmlns:mc="http://schemas.openxmlformats.org/markup-compatibility/2006" xmlns:a14="http://schemas.microsoft.com/office/drawing/2010/main">
        <mc:Choice Requires="a14">
          <p:sp>
            <p:nvSpPr>
              <p:cNvPr id="144" name="TextBox 143">
                <a:extLst>
                  <a:ext uri="{FF2B5EF4-FFF2-40B4-BE49-F238E27FC236}">
                    <a16:creationId xmlns:a16="http://schemas.microsoft.com/office/drawing/2014/main" id="{AD6D90FF-8B08-44E6-ADD1-B975BDF15677}"/>
                  </a:ext>
                </a:extLst>
              </p:cNvPr>
              <p:cNvSpPr txBox="1"/>
              <p:nvPr/>
            </p:nvSpPr>
            <p:spPr>
              <a:xfrm rot="10800000" flipV="1">
                <a:off x="8058281" y="4239652"/>
                <a:ext cx="495646" cy="468588"/>
              </a:xfrm>
              <a:prstGeom prst="ellipse">
                <a:avLst/>
              </a:prstGeom>
              <a:solidFill>
                <a:srgbClr val="00B0F0">
                  <a:alpha val="57000"/>
                </a:srgbClr>
              </a:solid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𝑎</m:t>
                          </m:r>
                        </m:e>
                        <m:sub>
                          <m:r>
                            <a:rPr lang="en-IN" sz="1500">
                              <a:latin typeface="Cambria Math" panose="02040503050406030204" pitchFamily="18" charset="0"/>
                            </a:rPr>
                            <m:t>1,1</m:t>
                          </m:r>
                        </m:sub>
                      </m:sSub>
                    </m:oMath>
                  </m:oMathPara>
                </a14:m>
                <a:endParaRPr lang="en-IN" sz="1500" dirty="0">
                  <a:latin typeface="Arial Narrow" panose="020B0606020202030204" pitchFamily="34" charset="0"/>
                </a:endParaRPr>
              </a:p>
            </p:txBody>
          </p:sp>
        </mc:Choice>
        <mc:Fallback xmlns="">
          <p:sp>
            <p:nvSpPr>
              <p:cNvPr id="144" name="TextBox 143">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8058281" y="4239652"/>
                <a:ext cx="495646" cy="468588"/>
              </a:xfrm>
              <a:prstGeom prst="ellipse">
                <a:avLst/>
              </a:prstGeom>
              <a:blipFill>
                <a:blip r:embed="rId8"/>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5" name="TextBox 144">
                <a:extLst>
                  <a:ext uri="{FF2B5EF4-FFF2-40B4-BE49-F238E27FC236}">
                    <a16:creationId xmlns:a16="http://schemas.microsoft.com/office/drawing/2014/main" id="{36F03E2E-8229-4DFD-869B-C4F6CF96084E}"/>
                  </a:ext>
                </a:extLst>
              </p:cNvPr>
              <p:cNvSpPr txBox="1"/>
              <p:nvPr/>
            </p:nvSpPr>
            <p:spPr>
              <a:xfrm rot="10800000" flipV="1">
                <a:off x="7512003" y="4235911"/>
                <a:ext cx="495646" cy="476071"/>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rPr>
                        <m:t>0</m:t>
                      </m:r>
                    </m:oMath>
                  </m:oMathPara>
                </a14:m>
                <a:endParaRPr lang="en-IN" dirty="0">
                  <a:latin typeface="Arial Narrow" panose="020B0606020202030204" pitchFamily="34" charset="0"/>
                </a:endParaRPr>
              </a:p>
            </p:txBody>
          </p:sp>
        </mc:Choice>
        <mc:Fallback xmlns="">
          <p:sp>
            <p:nvSpPr>
              <p:cNvPr id="145" name="TextBox 144">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7512003" y="4235911"/>
                <a:ext cx="495646" cy="476071"/>
              </a:xfrm>
              <a:prstGeom prst="ellipse">
                <a:avLst/>
              </a:prstGeom>
              <a:blipFill>
                <a:blip r:embed="rId9"/>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6" name="TextBox 145">
                <a:extLst>
                  <a:ext uri="{FF2B5EF4-FFF2-40B4-BE49-F238E27FC236}">
                    <a16:creationId xmlns:a16="http://schemas.microsoft.com/office/drawing/2014/main" id="{DF1D3D16-4F7D-4FD0-95EB-E2360401B577}"/>
                  </a:ext>
                </a:extLst>
              </p:cNvPr>
              <p:cNvSpPr txBox="1"/>
              <p:nvPr/>
            </p:nvSpPr>
            <p:spPr>
              <a:xfrm rot="10800000" flipV="1">
                <a:off x="6971018" y="4235912"/>
                <a:ext cx="495646" cy="476071"/>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rPr>
                        <m:t>0</m:t>
                      </m:r>
                    </m:oMath>
                  </m:oMathPara>
                </a14:m>
                <a:endParaRPr lang="en-IN" dirty="0">
                  <a:latin typeface="Arial Narrow" panose="020B0606020202030204" pitchFamily="34" charset="0"/>
                </a:endParaRPr>
              </a:p>
            </p:txBody>
          </p:sp>
        </mc:Choice>
        <mc:Fallback xmlns="">
          <p:sp>
            <p:nvSpPr>
              <p:cNvPr id="146" name="TextBox 145">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6971018" y="4235912"/>
                <a:ext cx="495646" cy="476071"/>
              </a:xfrm>
              <a:prstGeom prst="ellipse">
                <a:avLst/>
              </a:prstGeom>
              <a:blipFill>
                <a:blip r:embed="rId10"/>
                <a:stretch>
                  <a:fillRect/>
                </a:stretch>
              </a:blipFill>
              <a:ln w="12700">
                <a:solidFill>
                  <a:schemeClr val="tx1"/>
                </a:solidFill>
              </a:ln>
            </p:spPr>
            <p:txBody>
              <a:bodyPr/>
              <a:lstStyle/>
              <a:p>
                <a:r>
                  <a:rPr lang="en-IN">
                    <a:noFill/>
                  </a:rPr>
                  <a:t> </a:t>
                </a:r>
              </a:p>
            </p:txBody>
          </p:sp>
        </mc:Fallback>
      </mc:AlternateContent>
      <p:cxnSp>
        <p:nvCxnSpPr>
          <p:cNvPr id="147" name="Straight Arrow Connector 146">
            <a:extLst>
              <a:ext uri="{FF2B5EF4-FFF2-40B4-BE49-F238E27FC236}">
                <a16:creationId xmlns:a16="http://schemas.microsoft.com/office/drawing/2014/main" id="{93CE584A-6224-4185-BA7F-7DBE679AAC01}"/>
              </a:ext>
            </a:extLst>
          </p:cNvPr>
          <p:cNvCxnSpPr>
            <a:cxnSpLocks/>
            <a:endCxn id="146" idx="6"/>
          </p:cNvCxnSpPr>
          <p:nvPr/>
        </p:nvCxnSpPr>
        <p:spPr>
          <a:xfrm>
            <a:off x="6490622" y="4470654"/>
            <a:ext cx="480396" cy="3294"/>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8" name="TextBox 147">
                <a:extLst>
                  <a:ext uri="{FF2B5EF4-FFF2-40B4-BE49-F238E27FC236}">
                    <a16:creationId xmlns:a16="http://schemas.microsoft.com/office/drawing/2014/main" id="{AD6D90FF-8B08-44E6-ADD1-B975BDF15677}"/>
                  </a:ext>
                </a:extLst>
              </p:cNvPr>
              <p:cNvSpPr txBox="1"/>
              <p:nvPr/>
            </p:nvSpPr>
            <p:spPr>
              <a:xfrm rot="10800000" flipV="1">
                <a:off x="4507972" y="3757728"/>
                <a:ext cx="495646" cy="468588"/>
              </a:xfrm>
              <a:prstGeom prst="ellipse">
                <a:avLst/>
              </a:prstGeom>
              <a:solidFill>
                <a:schemeClr val="accent2">
                  <a:lumMod val="75000"/>
                  <a:alpha val="48000"/>
                </a:schemeClr>
              </a:solid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a:latin typeface="Cambria Math" panose="02040503050406030204" pitchFamily="18" charset="0"/>
                            </a:rPr>
                          </m:ctrlPr>
                        </m:sSubPr>
                        <m:e>
                          <m:r>
                            <a:rPr lang="en-IN" sz="1500">
                              <a:latin typeface="Cambria Math" panose="02040503050406030204" pitchFamily="18" charset="0"/>
                            </a:rPr>
                            <m:t>𝛼</m:t>
                          </m:r>
                        </m:e>
                        <m:sub>
                          <m:r>
                            <a:rPr lang="en-IN" sz="1500">
                              <a:latin typeface="Cambria Math" panose="02040503050406030204" pitchFamily="18" charset="0"/>
                            </a:rPr>
                            <m:t>1,2</m:t>
                          </m:r>
                        </m:sub>
                      </m:sSub>
                    </m:oMath>
                  </m:oMathPara>
                </a14:m>
                <a:endParaRPr lang="en-IN" sz="1500" dirty="0">
                  <a:latin typeface="Arial Narrow" panose="020B0606020202030204" pitchFamily="34" charset="0"/>
                </a:endParaRPr>
              </a:p>
            </p:txBody>
          </p:sp>
        </mc:Choice>
        <mc:Fallback xmlns="">
          <p:sp>
            <p:nvSpPr>
              <p:cNvPr id="148" name="TextBox 147">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4507972" y="3757728"/>
                <a:ext cx="495646" cy="468588"/>
              </a:xfrm>
              <a:prstGeom prst="ellipse">
                <a:avLst/>
              </a:prstGeom>
              <a:blipFill>
                <a:blip r:embed="rId11"/>
                <a:stretch>
                  <a:fillRect r="-1190"/>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9" name="TextBox 148">
                <a:extLst>
                  <a:ext uri="{FF2B5EF4-FFF2-40B4-BE49-F238E27FC236}">
                    <a16:creationId xmlns:a16="http://schemas.microsoft.com/office/drawing/2014/main" id="{36F03E2E-8229-4DFD-869B-C4F6CF96084E}"/>
                  </a:ext>
                </a:extLst>
              </p:cNvPr>
              <p:cNvSpPr txBox="1"/>
              <p:nvPr/>
            </p:nvSpPr>
            <p:spPr>
              <a:xfrm rot="10800000" flipV="1">
                <a:off x="3961694" y="3757728"/>
                <a:ext cx="495646" cy="468588"/>
              </a:xfrm>
              <a:prstGeom prst="ellipse">
                <a:avLst/>
              </a:prstGeom>
              <a:solidFill>
                <a:schemeClr val="accent2">
                  <a:lumMod val="75000"/>
                  <a:alpha val="48000"/>
                </a:schemeClr>
              </a:solid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a:latin typeface="Cambria Math" panose="02040503050406030204" pitchFamily="18" charset="0"/>
                            </a:rPr>
                          </m:ctrlPr>
                        </m:sSubPr>
                        <m:e>
                          <m:r>
                            <a:rPr lang="en-IN" sz="1500">
                              <a:latin typeface="Cambria Math" panose="02040503050406030204" pitchFamily="18" charset="0"/>
                            </a:rPr>
                            <m:t>𝛼</m:t>
                          </m:r>
                        </m:e>
                        <m:sub>
                          <m:r>
                            <a:rPr lang="en-IN" sz="1500">
                              <a:latin typeface="Cambria Math" panose="02040503050406030204" pitchFamily="18" charset="0"/>
                            </a:rPr>
                            <m:t>2,2</m:t>
                          </m:r>
                        </m:sub>
                      </m:sSub>
                    </m:oMath>
                  </m:oMathPara>
                </a14:m>
                <a:endParaRPr lang="en-IN" sz="1500" dirty="0">
                  <a:latin typeface="Arial Narrow" panose="020B0606020202030204" pitchFamily="34" charset="0"/>
                </a:endParaRPr>
              </a:p>
            </p:txBody>
          </p:sp>
        </mc:Choice>
        <mc:Fallback xmlns="">
          <p:sp>
            <p:nvSpPr>
              <p:cNvPr id="149" name="TextBox 148">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3961694" y="3757728"/>
                <a:ext cx="495646" cy="468588"/>
              </a:xfrm>
              <a:prstGeom prst="ellipse">
                <a:avLst/>
              </a:prstGeom>
              <a:blipFill>
                <a:blip r:embed="rId12"/>
                <a:stretch>
                  <a:fillRect r="-3614"/>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0" name="TextBox 149">
                <a:extLst>
                  <a:ext uri="{FF2B5EF4-FFF2-40B4-BE49-F238E27FC236}">
                    <a16:creationId xmlns:a16="http://schemas.microsoft.com/office/drawing/2014/main" id="{DF1D3D16-4F7D-4FD0-95EB-E2360401B577}"/>
                  </a:ext>
                </a:extLst>
              </p:cNvPr>
              <p:cNvSpPr txBox="1"/>
              <p:nvPr/>
            </p:nvSpPr>
            <p:spPr>
              <a:xfrm rot="10800000" flipV="1">
                <a:off x="3420710" y="3764807"/>
                <a:ext cx="495646" cy="454432"/>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IN" sz="1500" i="1" smtClean="0">
                          <a:latin typeface="Cambria Math" panose="02040503050406030204" pitchFamily="18" charset="0"/>
                        </a:rPr>
                        <m:t>−</m:t>
                      </m:r>
                      <m:r>
                        <a:rPr lang="en-IN" sz="1500" i="1" smtClean="0">
                          <a:latin typeface="Cambria Math" panose="02040503050406030204" pitchFamily="18" charset="0"/>
                          <a:ea typeface="Cambria Math" panose="02040503050406030204" pitchFamily="18" charset="0"/>
                        </a:rPr>
                        <m:t>∞</m:t>
                      </m:r>
                    </m:oMath>
                  </m:oMathPara>
                </a14:m>
                <a:endParaRPr lang="en-IN" sz="1500" dirty="0">
                  <a:latin typeface="Arial Narrow" panose="020B0606020202030204" pitchFamily="34" charset="0"/>
                </a:endParaRPr>
              </a:p>
            </p:txBody>
          </p:sp>
        </mc:Choice>
        <mc:Fallback xmlns="">
          <p:sp>
            <p:nvSpPr>
              <p:cNvPr id="150" name="TextBox 149">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3420710" y="3764807"/>
                <a:ext cx="495646" cy="454432"/>
              </a:xfrm>
              <a:prstGeom prst="ellipse">
                <a:avLst/>
              </a:prstGeom>
              <a:blipFill>
                <a:blip r:embed="rId13"/>
                <a:stretch>
                  <a:fillRect r="-3614"/>
                </a:stretch>
              </a:blipFill>
              <a:ln w="12700">
                <a:solidFill>
                  <a:schemeClr val="tx1"/>
                </a:solidFill>
              </a:ln>
            </p:spPr>
            <p:txBody>
              <a:bodyPr/>
              <a:lstStyle/>
              <a:p>
                <a:r>
                  <a:rPr lang="en-IN">
                    <a:noFill/>
                  </a:rPr>
                  <a:t> </a:t>
                </a:r>
              </a:p>
            </p:txBody>
          </p:sp>
        </mc:Fallback>
      </mc:AlternateContent>
      <p:cxnSp>
        <p:nvCxnSpPr>
          <p:cNvPr id="151" name="Straight Arrow Connector 150">
            <a:extLst>
              <a:ext uri="{FF2B5EF4-FFF2-40B4-BE49-F238E27FC236}">
                <a16:creationId xmlns:a16="http://schemas.microsoft.com/office/drawing/2014/main" id="{47F04F6C-A5DE-48AC-A93E-885D326C2D52}"/>
              </a:ext>
            </a:extLst>
          </p:cNvPr>
          <p:cNvCxnSpPr>
            <a:cxnSpLocks/>
            <a:stCxn id="158" idx="2"/>
            <a:endCxn id="156" idx="3"/>
          </p:cNvCxnSpPr>
          <p:nvPr/>
        </p:nvCxnSpPr>
        <p:spPr>
          <a:xfrm>
            <a:off x="8553927" y="3984402"/>
            <a:ext cx="613218" cy="780"/>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52" name="Straight Arrow Connector 151">
            <a:extLst>
              <a:ext uri="{FF2B5EF4-FFF2-40B4-BE49-F238E27FC236}">
                <a16:creationId xmlns:a16="http://schemas.microsoft.com/office/drawing/2014/main" id="{93CE584A-6224-4185-BA7F-7DBE679AAC01}"/>
              </a:ext>
            </a:extLst>
          </p:cNvPr>
          <p:cNvCxnSpPr>
            <a:cxnSpLocks/>
            <a:stCxn id="148" idx="2"/>
          </p:cNvCxnSpPr>
          <p:nvPr/>
        </p:nvCxnSpPr>
        <p:spPr>
          <a:xfrm flipV="1">
            <a:off x="5003618" y="3985184"/>
            <a:ext cx="578910" cy="6838"/>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3" name="TextBox 152">
                <a:extLst>
                  <a:ext uri="{FF2B5EF4-FFF2-40B4-BE49-F238E27FC236}">
                    <a16:creationId xmlns:a16="http://schemas.microsoft.com/office/drawing/2014/main" id="{CB478EDF-F147-4A46-ACD7-767B4A547BF2}"/>
                  </a:ext>
                </a:extLst>
              </p:cNvPr>
              <p:cNvSpPr txBox="1"/>
              <p:nvPr/>
            </p:nvSpPr>
            <p:spPr>
              <a:xfrm rot="10800000" flipV="1">
                <a:off x="2438529" y="3764806"/>
                <a:ext cx="499716" cy="454432"/>
              </a:xfrm>
              <a:prstGeom prst="ellipse">
                <a:avLst/>
              </a:prstGeom>
              <a:solidFill>
                <a:srgbClr val="FF0000">
                  <a:alpha val="65000"/>
                </a:srgbClr>
              </a:solid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i="1">
                              <a:latin typeface="Cambria Math" panose="02040503050406030204" pitchFamily="18" charset="0"/>
                            </a:rPr>
                            <m:t>𝑞</m:t>
                          </m:r>
                        </m:e>
                        <m:sub>
                          <m:r>
                            <a:rPr lang="en-IN" sz="1500" b="0" i="1" smtClean="0">
                              <a:latin typeface="Cambria Math" panose="02040503050406030204" pitchFamily="18" charset="0"/>
                            </a:rPr>
                            <m:t>2</m:t>
                          </m:r>
                        </m:sub>
                      </m:sSub>
                    </m:oMath>
                  </m:oMathPara>
                </a14:m>
                <a:endParaRPr lang="en-IN" sz="1500" dirty="0">
                  <a:latin typeface="Arial Narrow" panose="020B0606020202030204" pitchFamily="34" charset="0"/>
                </a:endParaRPr>
              </a:p>
            </p:txBody>
          </p:sp>
        </mc:Choice>
        <mc:Fallback xmlns="">
          <p:sp>
            <p:nvSpPr>
              <p:cNvPr id="153" name="TextBox 152">
                <a:extLst>
                  <a:ext uri="{FF2B5EF4-FFF2-40B4-BE49-F238E27FC236}">
                    <a16:creationId xmlns:a16="http://schemas.microsoft.com/office/drawing/2014/main" id="{CB478EDF-F147-4A46-ACD7-767B4A547BF2}"/>
                  </a:ext>
                </a:extLst>
              </p:cNvPr>
              <p:cNvSpPr txBox="1">
                <a:spLocks noRot="1" noChangeAspect="1" noMove="1" noResize="1" noEditPoints="1" noAdjustHandles="1" noChangeArrowheads="1" noChangeShapeType="1" noTextEdit="1"/>
              </p:cNvSpPr>
              <p:nvPr/>
            </p:nvSpPr>
            <p:spPr>
              <a:xfrm rot="10800000" flipV="1">
                <a:off x="2438529" y="3764806"/>
                <a:ext cx="499716" cy="454432"/>
              </a:xfrm>
              <a:prstGeom prst="ellipse">
                <a:avLst/>
              </a:prstGeom>
              <a:blipFill>
                <a:blip r:embed="rId14"/>
                <a:stretch>
                  <a:fillRect/>
                </a:stretch>
              </a:blipFill>
              <a:ln w="12700">
                <a:solidFill>
                  <a:schemeClr val="tx1"/>
                </a:solidFill>
              </a:ln>
            </p:spPr>
            <p:txBody>
              <a:bodyPr/>
              <a:lstStyle/>
              <a:p>
                <a:r>
                  <a:rPr lang="en-IN">
                    <a:noFill/>
                  </a:rPr>
                  <a:t> </a:t>
                </a:r>
              </a:p>
            </p:txBody>
          </p:sp>
        </mc:Fallback>
      </mc:AlternateContent>
      <p:cxnSp>
        <p:nvCxnSpPr>
          <p:cNvPr id="154" name="Straight Arrow Connector 153">
            <a:extLst>
              <a:ext uri="{FF2B5EF4-FFF2-40B4-BE49-F238E27FC236}">
                <a16:creationId xmlns:a16="http://schemas.microsoft.com/office/drawing/2014/main" id="{20C9C6AC-19F5-4564-9E13-1B8D0A63390D}"/>
              </a:ext>
            </a:extLst>
          </p:cNvPr>
          <p:cNvCxnSpPr>
            <a:stCxn id="153" idx="2"/>
            <a:endCxn id="150" idx="6"/>
          </p:cNvCxnSpPr>
          <p:nvPr/>
        </p:nvCxnSpPr>
        <p:spPr>
          <a:xfrm>
            <a:off x="2938245" y="3992022"/>
            <a:ext cx="482465" cy="1"/>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55" name="Straight Arrow Connector 154">
            <a:extLst>
              <a:ext uri="{FF2B5EF4-FFF2-40B4-BE49-F238E27FC236}">
                <a16:creationId xmlns:a16="http://schemas.microsoft.com/office/drawing/2014/main" id="{19A753A8-AD35-4022-B3B3-F8FBEA03A328}"/>
              </a:ext>
            </a:extLst>
          </p:cNvPr>
          <p:cNvCxnSpPr>
            <a:stCxn id="156" idx="1"/>
            <a:endCxn id="157" idx="6"/>
          </p:cNvCxnSpPr>
          <p:nvPr/>
        </p:nvCxnSpPr>
        <p:spPr>
          <a:xfrm>
            <a:off x="10072906" y="3985182"/>
            <a:ext cx="407992" cy="6840"/>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56" name="TextBox 155">
            <a:extLst>
              <a:ext uri="{FF2B5EF4-FFF2-40B4-BE49-F238E27FC236}">
                <a16:creationId xmlns:a16="http://schemas.microsoft.com/office/drawing/2014/main" id="{A3B9A7C8-E18A-4216-ABA7-D4FFF52E7DCF}"/>
              </a:ext>
            </a:extLst>
          </p:cNvPr>
          <p:cNvSpPr txBox="1"/>
          <p:nvPr/>
        </p:nvSpPr>
        <p:spPr>
          <a:xfrm rot="10800000" flipV="1">
            <a:off x="9167145" y="3440728"/>
            <a:ext cx="905761" cy="1088908"/>
          </a:xfrm>
          <a:prstGeom prst="rect">
            <a:avLst/>
          </a:prstGeom>
          <a:noFill/>
          <a:ln>
            <a:solidFill>
              <a:srgbClr val="002060"/>
            </a:solidFill>
          </a:ln>
        </p:spPr>
        <p:txBody>
          <a:bodyPr wrap="square" rtlCol="0" anchor="ctr">
            <a:normAutofit fontScale="92500" lnSpcReduction="10000"/>
          </a:bodyPr>
          <a:lstStyle>
            <a:defPPr>
              <a:defRPr lang="en-US"/>
            </a:defPPr>
            <a:lvl1pPr algn="ctr">
              <a:defRPr>
                <a:latin typeface="Times New Roman" panose="02020603050405020304" pitchFamily="18" charset="0"/>
                <a:cs typeface="Times New Roman" panose="02020603050405020304" pitchFamily="18" charset="0"/>
              </a:defRPr>
            </a:lvl1pPr>
          </a:lstStyle>
          <a:p>
            <a:r>
              <a:rPr lang="en-IN" sz="1500" dirty="0">
                <a:latin typeface="Arial Narrow" panose="020B0606020202030204" pitchFamily="34" charset="0"/>
              </a:rPr>
              <a:t>Mul</a:t>
            </a:r>
          </a:p>
          <a:p>
            <a:r>
              <a:rPr lang="en-IN" sz="1500" dirty="0">
                <a:latin typeface="Arial Narrow" panose="020B0606020202030204" pitchFamily="34" charset="0"/>
              </a:rPr>
              <a:t> </a:t>
            </a:r>
          </a:p>
          <a:p>
            <a:r>
              <a:rPr lang="en-IN" sz="1500" dirty="0">
                <a:latin typeface="Arial Narrow" panose="020B0606020202030204" pitchFamily="34" charset="0"/>
              </a:rPr>
              <a:t>+</a:t>
            </a:r>
          </a:p>
          <a:p>
            <a:r>
              <a:rPr lang="en-IN" sz="1500" dirty="0">
                <a:latin typeface="Arial Narrow" panose="020B0606020202030204" pitchFamily="34" charset="0"/>
              </a:rPr>
              <a:t>Add</a:t>
            </a:r>
          </a:p>
          <a:p>
            <a:r>
              <a:rPr lang="en-IN" sz="1500" dirty="0">
                <a:latin typeface="Arial Narrow" panose="020B0606020202030204" pitchFamily="34" charset="0"/>
              </a:rPr>
              <a:t>(→)</a:t>
            </a:r>
          </a:p>
        </p:txBody>
      </p:sp>
      <mc:AlternateContent xmlns:mc="http://schemas.openxmlformats.org/markup-compatibility/2006" xmlns:a14="http://schemas.microsoft.com/office/drawing/2010/main">
        <mc:Choice Requires="a14">
          <p:sp>
            <p:nvSpPr>
              <p:cNvPr id="157" name="TextBox 156">
                <a:extLst>
                  <a:ext uri="{FF2B5EF4-FFF2-40B4-BE49-F238E27FC236}">
                    <a16:creationId xmlns:a16="http://schemas.microsoft.com/office/drawing/2014/main" id="{6803D624-9F2D-4CB6-A000-91DDACFD0A2B}"/>
                  </a:ext>
                </a:extLst>
              </p:cNvPr>
              <p:cNvSpPr txBox="1"/>
              <p:nvPr/>
            </p:nvSpPr>
            <p:spPr>
              <a:xfrm rot="10800000" flipV="1">
                <a:off x="10480898" y="3764806"/>
                <a:ext cx="495646" cy="454432"/>
              </a:xfrm>
              <a:prstGeom prst="ellipse">
                <a:avLst/>
              </a:prstGeom>
              <a:solidFill>
                <a:srgbClr val="00B050">
                  <a:alpha val="59000"/>
                </a:srgbClr>
              </a:solid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a:latin typeface="Cambria Math" panose="02040503050406030204" pitchFamily="18" charset="0"/>
                            </a:rPr>
                          </m:ctrlPr>
                        </m:sSubPr>
                        <m:e>
                          <m:r>
                            <a:rPr lang="en-IN" sz="1500" i="1">
                              <a:latin typeface="Cambria Math" panose="02040503050406030204" pitchFamily="18" charset="0"/>
                            </a:rPr>
                            <m:t>𝑦</m:t>
                          </m:r>
                        </m:e>
                        <m:sub>
                          <m:r>
                            <a:rPr lang="en-IN" sz="1500" i="1">
                              <a:latin typeface="Cambria Math" panose="02040503050406030204" pitchFamily="18" charset="0"/>
                            </a:rPr>
                            <m:t>2</m:t>
                          </m:r>
                        </m:sub>
                      </m:sSub>
                    </m:oMath>
                  </m:oMathPara>
                </a14:m>
                <a:endParaRPr lang="en-IN" sz="1500" dirty="0">
                  <a:latin typeface="Arial Narrow" panose="020B0606020202030204" pitchFamily="34" charset="0"/>
                </a:endParaRPr>
              </a:p>
            </p:txBody>
          </p:sp>
        </mc:Choice>
        <mc:Fallback xmlns="">
          <p:sp>
            <p:nvSpPr>
              <p:cNvPr id="157" name="TextBox 156">
                <a:extLst>
                  <a:ext uri="{FF2B5EF4-FFF2-40B4-BE49-F238E27FC236}">
                    <a16:creationId xmlns:a16="http://schemas.microsoft.com/office/drawing/2014/main" id="{6803D624-9F2D-4CB6-A000-91DDACFD0A2B}"/>
                  </a:ext>
                </a:extLst>
              </p:cNvPr>
              <p:cNvSpPr txBox="1">
                <a:spLocks noRot="1" noChangeAspect="1" noMove="1" noResize="1" noEditPoints="1" noAdjustHandles="1" noChangeArrowheads="1" noChangeShapeType="1" noTextEdit="1"/>
              </p:cNvSpPr>
              <p:nvPr/>
            </p:nvSpPr>
            <p:spPr>
              <a:xfrm rot="10800000" flipV="1">
                <a:off x="10480898" y="3764806"/>
                <a:ext cx="495646" cy="454432"/>
              </a:xfrm>
              <a:prstGeom prst="ellipse">
                <a:avLst/>
              </a:prstGeom>
              <a:blipFill>
                <a:blip r:embed="rId15"/>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8" name="TextBox 157">
                <a:extLst>
                  <a:ext uri="{FF2B5EF4-FFF2-40B4-BE49-F238E27FC236}">
                    <a16:creationId xmlns:a16="http://schemas.microsoft.com/office/drawing/2014/main" id="{AD6D90FF-8B08-44E6-ADD1-B975BDF15677}"/>
                  </a:ext>
                </a:extLst>
              </p:cNvPr>
              <p:cNvSpPr txBox="1"/>
              <p:nvPr/>
            </p:nvSpPr>
            <p:spPr>
              <a:xfrm rot="10800000" flipV="1">
                <a:off x="8058281" y="3750108"/>
                <a:ext cx="495646" cy="468588"/>
              </a:xfrm>
              <a:prstGeom prst="ellipse">
                <a:avLst/>
              </a:prstGeom>
              <a:solidFill>
                <a:srgbClr val="00B0F0">
                  <a:alpha val="57000"/>
                </a:srgbClr>
              </a:solid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𝑎</m:t>
                          </m:r>
                        </m:e>
                        <m:sub>
                          <m:r>
                            <a:rPr lang="en-IN" sz="1500">
                              <a:latin typeface="Cambria Math" panose="02040503050406030204" pitchFamily="18" charset="0"/>
                            </a:rPr>
                            <m:t>1,2</m:t>
                          </m:r>
                        </m:sub>
                      </m:sSub>
                    </m:oMath>
                  </m:oMathPara>
                </a14:m>
                <a:endParaRPr lang="en-IN" sz="1500" dirty="0">
                  <a:latin typeface="Arial Narrow" panose="020B0606020202030204" pitchFamily="34" charset="0"/>
                </a:endParaRPr>
              </a:p>
            </p:txBody>
          </p:sp>
        </mc:Choice>
        <mc:Fallback xmlns="">
          <p:sp>
            <p:nvSpPr>
              <p:cNvPr id="158" name="TextBox 157">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8058281" y="3750108"/>
                <a:ext cx="495646" cy="468588"/>
              </a:xfrm>
              <a:prstGeom prst="ellipse">
                <a:avLst/>
              </a:prstGeom>
              <a:blipFill>
                <a:blip r:embed="rId16"/>
                <a:stretch>
                  <a:fillRect r="-1205"/>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9" name="TextBox 158">
                <a:extLst>
                  <a:ext uri="{FF2B5EF4-FFF2-40B4-BE49-F238E27FC236}">
                    <a16:creationId xmlns:a16="http://schemas.microsoft.com/office/drawing/2014/main" id="{36F03E2E-8229-4DFD-869B-C4F6CF96084E}"/>
                  </a:ext>
                </a:extLst>
              </p:cNvPr>
              <p:cNvSpPr txBox="1"/>
              <p:nvPr/>
            </p:nvSpPr>
            <p:spPr>
              <a:xfrm rot="10800000" flipV="1">
                <a:off x="7512003" y="3750108"/>
                <a:ext cx="495646" cy="468588"/>
              </a:xfrm>
              <a:prstGeom prst="ellipse">
                <a:avLst/>
              </a:prstGeom>
              <a:solidFill>
                <a:srgbClr val="00B0F0">
                  <a:alpha val="57000"/>
                </a:srgbClr>
              </a:solid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𝑎</m:t>
                          </m:r>
                        </m:e>
                        <m:sub>
                          <m:r>
                            <a:rPr lang="en-IN" sz="1500">
                              <a:latin typeface="Cambria Math" panose="02040503050406030204" pitchFamily="18" charset="0"/>
                            </a:rPr>
                            <m:t>2,2</m:t>
                          </m:r>
                        </m:sub>
                      </m:sSub>
                    </m:oMath>
                  </m:oMathPara>
                </a14:m>
                <a:endParaRPr lang="en-IN" sz="1500" dirty="0">
                  <a:latin typeface="Arial Narrow" panose="020B0606020202030204" pitchFamily="34" charset="0"/>
                </a:endParaRPr>
              </a:p>
            </p:txBody>
          </p:sp>
        </mc:Choice>
        <mc:Fallback xmlns="">
          <p:sp>
            <p:nvSpPr>
              <p:cNvPr id="159" name="TextBox 158">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7512003" y="3750108"/>
                <a:ext cx="495646" cy="468588"/>
              </a:xfrm>
              <a:prstGeom prst="ellipse">
                <a:avLst/>
              </a:prstGeom>
              <a:blipFill>
                <a:blip r:embed="rId17"/>
                <a:stretch>
                  <a:fillRect r="-1190"/>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0" name="TextBox 159">
                <a:extLst>
                  <a:ext uri="{FF2B5EF4-FFF2-40B4-BE49-F238E27FC236}">
                    <a16:creationId xmlns:a16="http://schemas.microsoft.com/office/drawing/2014/main" id="{DF1D3D16-4F7D-4FD0-95EB-E2360401B577}"/>
                  </a:ext>
                </a:extLst>
              </p:cNvPr>
              <p:cNvSpPr txBox="1"/>
              <p:nvPr/>
            </p:nvSpPr>
            <p:spPr>
              <a:xfrm rot="10800000" flipV="1">
                <a:off x="6971018" y="3746368"/>
                <a:ext cx="495646" cy="476071"/>
              </a:xfrm>
              <a:prstGeom prst="ellipse">
                <a:avLst/>
              </a:prstGeom>
              <a:no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rPr>
                        <m:t>0</m:t>
                      </m:r>
                    </m:oMath>
                  </m:oMathPara>
                </a14:m>
                <a:endParaRPr lang="en-IN" dirty="0">
                  <a:latin typeface="Arial Narrow" panose="020B0606020202030204" pitchFamily="34" charset="0"/>
                </a:endParaRPr>
              </a:p>
            </p:txBody>
          </p:sp>
        </mc:Choice>
        <mc:Fallback xmlns="">
          <p:sp>
            <p:nvSpPr>
              <p:cNvPr id="160" name="TextBox 159">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6971018" y="3746368"/>
                <a:ext cx="495646" cy="476071"/>
              </a:xfrm>
              <a:prstGeom prst="ellipse">
                <a:avLst/>
              </a:prstGeom>
              <a:blipFill>
                <a:blip r:embed="rId18"/>
                <a:stretch>
                  <a:fillRect/>
                </a:stretch>
              </a:blipFill>
              <a:ln w="12700">
                <a:solidFill>
                  <a:schemeClr val="tx1"/>
                </a:solidFill>
              </a:ln>
            </p:spPr>
            <p:txBody>
              <a:bodyPr/>
              <a:lstStyle/>
              <a:p>
                <a:r>
                  <a:rPr lang="en-IN">
                    <a:noFill/>
                  </a:rPr>
                  <a:t> </a:t>
                </a:r>
              </a:p>
            </p:txBody>
          </p:sp>
        </mc:Fallback>
      </mc:AlternateContent>
      <p:cxnSp>
        <p:nvCxnSpPr>
          <p:cNvPr id="161" name="Straight Arrow Connector 160">
            <a:extLst>
              <a:ext uri="{FF2B5EF4-FFF2-40B4-BE49-F238E27FC236}">
                <a16:creationId xmlns:a16="http://schemas.microsoft.com/office/drawing/2014/main" id="{93CE584A-6224-4185-BA7F-7DBE679AAC01}"/>
              </a:ext>
            </a:extLst>
          </p:cNvPr>
          <p:cNvCxnSpPr>
            <a:cxnSpLocks/>
            <a:stCxn id="175" idx="1"/>
            <a:endCxn id="160" idx="6"/>
          </p:cNvCxnSpPr>
          <p:nvPr/>
        </p:nvCxnSpPr>
        <p:spPr>
          <a:xfrm flipV="1">
            <a:off x="6490618" y="3984404"/>
            <a:ext cx="480400" cy="778"/>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2" name="TextBox 161">
                <a:extLst>
                  <a:ext uri="{FF2B5EF4-FFF2-40B4-BE49-F238E27FC236}">
                    <a16:creationId xmlns:a16="http://schemas.microsoft.com/office/drawing/2014/main" id="{AD6D90FF-8B08-44E6-ADD1-B975BDF15677}"/>
                  </a:ext>
                </a:extLst>
              </p:cNvPr>
              <p:cNvSpPr txBox="1"/>
              <p:nvPr/>
            </p:nvSpPr>
            <p:spPr>
              <a:xfrm rot="10800000" flipV="1">
                <a:off x="4507972" y="3268183"/>
                <a:ext cx="495646" cy="468588"/>
              </a:xfrm>
              <a:prstGeom prst="ellipse">
                <a:avLst/>
              </a:prstGeom>
              <a:solidFill>
                <a:schemeClr val="accent2">
                  <a:lumMod val="75000"/>
                  <a:alpha val="48000"/>
                </a:schemeClr>
              </a:solid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a:latin typeface="Cambria Math" panose="02040503050406030204" pitchFamily="18" charset="0"/>
                            </a:rPr>
                          </m:ctrlPr>
                        </m:sSubPr>
                        <m:e>
                          <m:r>
                            <a:rPr lang="en-IN" sz="1500">
                              <a:latin typeface="Cambria Math" panose="02040503050406030204" pitchFamily="18" charset="0"/>
                            </a:rPr>
                            <m:t>𝛼</m:t>
                          </m:r>
                        </m:e>
                        <m:sub>
                          <m:r>
                            <a:rPr lang="en-IN" sz="1500">
                              <a:latin typeface="Cambria Math" panose="02040503050406030204" pitchFamily="18" charset="0"/>
                            </a:rPr>
                            <m:t>1,3</m:t>
                          </m:r>
                        </m:sub>
                      </m:sSub>
                    </m:oMath>
                  </m:oMathPara>
                </a14:m>
                <a:endParaRPr lang="en-IN" sz="1500" dirty="0">
                  <a:latin typeface="Arial Narrow" panose="020B0606020202030204" pitchFamily="34" charset="0"/>
                </a:endParaRPr>
              </a:p>
            </p:txBody>
          </p:sp>
        </mc:Choice>
        <mc:Fallback xmlns="">
          <p:sp>
            <p:nvSpPr>
              <p:cNvPr id="162" name="TextBox 161">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4507972" y="3268183"/>
                <a:ext cx="495646" cy="468588"/>
              </a:xfrm>
              <a:prstGeom prst="ellipse">
                <a:avLst/>
              </a:prstGeom>
              <a:blipFill>
                <a:blip r:embed="rId19"/>
                <a:stretch>
                  <a:fillRect r="-1190"/>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3" name="TextBox 162">
                <a:extLst>
                  <a:ext uri="{FF2B5EF4-FFF2-40B4-BE49-F238E27FC236}">
                    <a16:creationId xmlns:a16="http://schemas.microsoft.com/office/drawing/2014/main" id="{36F03E2E-8229-4DFD-869B-C4F6CF96084E}"/>
                  </a:ext>
                </a:extLst>
              </p:cNvPr>
              <p:cNvSpPr txBox="1"/>
              <p:nvPr/>
            </p:nvSpPr>
            <p:spPr>
              <a:xfrm rot="10800000" flipV="1">
                <a:off x="3961694" y="3268183"/>
                <a:ext cx="495646" cy="468588"/>
              </a:xfrm>
              <a:prstGeom prst="ellipse">
                <a:avLst/>
              </a:prstGeom>
              <a:solidFill>
                <a:schemeClr val="accent2">
                  <a:lumMod val="75000"/>
                  <a:alpha val="48000"/>
                </a:schemeClr>
              </a:solid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a:latin typeface="Cambria Math" panose="02040503050406030204" pitchFamily="18" charset="0"/>
                            </a:rPr>
                          </m:ctrlPr>
                        </m:sSubPr>
                        <m:e>
                          <m:r>
                            <a:rPr lang="en-IN" sz="1500">
                              <a:latin typeface="Cambria Math" panose="02040503050406030204" pitchFamily="18" charset="0"/>
                              <a:ea typeface="Cambria Math" panose="02040503050406030204" pitchFamily="18" charset="0"/>
                              <a:cs typeface="Times New Roman" panose="02020603050405020304" pitchFamily="18" charset="0"/>
                            </a:rPr>
                            <m:t>𝛼</m:t>
                          </m:r>
                        </m:e>
                        <m:sub>
                          <m:r>
                            <a:rPr lang="en-IN" sz="1500">
                              <a:latin typeface="Cambria Math" panose="02040503050406030204" pitchFamily="18" charset="0"/>
                            </a:rPr>
                            <m:t>2,3</m:t>
                          </m:r>
                        </m:sub>
                      </m:sSub>
                    </m:oMath>
                  </m:oMathPara>
                </a14:m>
                <a:endParaRPr lang="en-IN" sz="1500" dirty="0">
                  <a:latin typeface="Arial Narrow" panose="020B0606020202030204" pitchFamily="34" charset="0"/>
                </a:endParaRPr>
              </a:p>
            </p:txBody>
          </p:sp>
        </mc:Choice>
        <mc:Fallback xmlns="">
          <p:sp>
            <p:nvSpPr>
              <p:cNvPr id="163" name="TextBox 162">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3961694" y="3268183"/>
                <a:ext cx="495646" cy="468588"/>
              </a:xfrm>
              <a:prstGeom prst="ellipse">
                <a:avLst/>
              </a:prstGeom>
              <a:blipFill>
                <a:blip r:embed="rId20"/>
                <a:stretch>
                  <a:fillRect r="-3614"/>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4" name="TextBox 163">
                <a:extLst>
                  <a:ext uri="{FF2B5EF4-FFF2-40B4-BE49-F238E27FC236}">
                    <a16:creationId xmlns:a16="http://schemas.microsoft.com/office/drawing/2014/main" id="{DF1D3D16-4F7D-4FD0-95EB-E2360401B577}"/>
                  </a:ext>
                </a:extLst>
              </p:cNvPr>
              <p:cNvSpPr txBox="1"/>
              <p:nvPr/>
            </p:nvSpPr>
            <p:spPr>
              <a:xfrm rot="10800000" flipV="1">
                <a:off x="3420710" y="3282882"/>
                <a:ext cx="495646" cy="454432"/>
              </a:xfrm>
              <a:prstGeom prst="ellipse">
                <a:avLst/>
              </a:prstGeom>
              <a:solidFill>
                <a:schemeClr val="accent2">
                  <a:lumMod val="75000"/>
                  <a:alpha val="48000"/>
                </a:schemeClr>
              </a:solid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n-IN" sz="1500" b="0" i="1" smtClean="0">
                              <a:latin typeface="Cambria Math" panose="02040503050406030204" pitchFamily="18" charset="0"/>
                            </a:rPr>
                            <m:t>33</m:t>
                          </m:r>
                        </m:sub>
                      </m:sSub>
                    </m:oMath>
                  </m:oMathPara>
                </a14:m>
                <a:endParaRPr lang="en-IN" sz="1500" dirty="0">
                  <a:latin typeface="Arial Narrow" panose="020B0606020202030204" pitchFamily="34" charset="0"/>
                </a:endParaRPr>
              </a:p>
            </p:txBody>
          </p:sp>
        </mc:Choice>
        <mc:Fallback xmlns="">
          <p:sp>
            <p:nvSpPr>
              <p:cNvPr id="164" name="TextBox 163">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3420710" y="3282882"/>
                <a:ext cx="495646" cy="454432"/>
              </a:xfrm>
              <a:prstGeom prst="ellipse">
                <a:avLst/>
              </a:prstGeom>
              <a:blipFill>
                <a:blip r:embed="rId21"/>
                <a:stretch>
                  <a:fillRect/>
                </a:stretch>
              </a:blipFill>
              <a:ln w="12700">
                <a:solidFill>
                  <a:schemeClr val="tx1"/>
                </a:solidFill>
              </a:ln>
            </p:spPr>
            <p:txBody>
              <a:bodyPr/>
              <a:lstStyle/>
              <a:p>
                <a:r>
                  <a:rPr lang="en-IN">
                    <a:noFill/>
                  </a:rPr>
                  <a:t> </a:t>
                </a:r>
              </a:p>
            </p:txBody>
          </p:sp>
        </mc:Fallback>
      </mc:AlternateContent>
      <p:cxnSp>
        <p:nvCxnSpPr>
          <p:cNvPr id="165" name="Straight Arrow Connector 164">
            <a:extLst>
              <a:ext uri="{FF2B5EF4-FFF2-40B4-BE49-F238E27FC236}">
                <a16:creationId xmlns:a16="http://schemas.microsoft.com/office/drawing/2014/main" id="{47F04F6C-A5DE-48AC-A93E-885D326C2D52}"/>
              </a:ext>
            </a:extLst>
          </p:cNvPr>
          <p:cNvCxnSpPr>
            <a:cxnSpLocks/>
            <a:stCxn id="171" idx="2"/>
          </p:cNvCxnSpPr>
          <p:nvPr/>
        </p:nvCxnSpPr>
        <p:spPr>
          <a:xfrm>
            <a:off x="8553927" y="3494857"/>
            <a:ext cx="613222" cy="1535"/>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66" name="Straight Arrow Connector 165">
            <a:extLst>
              <a:ext uri="{FF2B5EF4-FFF2-40B4-BE49-F238E27FC236}">
                <a16:creationId xmlns:a16="http://schemas.microsoft.com/office/drawing/2014/main" id="{93CE584A-6224-4185-BA7F-7DBE679AAC01}"/>
              </a:ext>
            </a:extLst>
          </p:cNvPr>
          <p:cNvCxnSpPr>
            <a:cxnSpLocks/>
            <a:stCxn id="162" idx="2"/>
          </p:cNvCxnSpPr>
          <p:nvPr/>
        </p:nvCxnSpPr>
        <p:spPr>
          <a:xfrm flipV="1">
            <a:off x="5003618" y="3499186"/>
            <a:ext cx="578914" cy="3291"/>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7" name="TextBox 166">
                <a:extLst>
                  <a:ext uri="{FF2B5EF4-FFF2-40B4-BE49-F238E27FC236}">
                    <a16:creationId xmlns:a16="http://schemas.microsoft.com/office/drawing/2014/main" id="{CB478EDF-F147-4A46-ACD7-767B4A547BF2}"/>
                  </a:ext>
                </a:extLst>
              </p:cNvPr>
              <p:cNvSpPr txBox="1"/>
              <p:nvPr/>
            </p:nvSpPr>
            <p:spPr>
              <a:xfrm rot="10800000" flipV="1">
                <a:off x="2438529" y="3282881"/>
                <a:ext cx="499716" cy="454432"/>
              </a:xfrm>
              <a:prstGeom prst="ellipse">
                <a:avLst/>
              </a:prstGeom>
              <a:solidFill>
                <a:srgbClr val="FF0000">
                  <a:alpha val="65000"/>
                </a:srgbClr>
              </a:solid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i="1">
                              <a:latin typeface="Cambria Math" panose="02040503050406030204" pitchFamily="18" charset="0"/>
                            </a:rPr>
                            <m:t>𝑞</m:t>
                          </m:r>
                        </m:e>
                        <m:sub>
                          <m:r>
                            <a:rPr lang="en-IN" sz="1500" b="0" i="1" smtClean="0">
                              <a:latin typeface="Cambria Math" panose="02040503050406030204" pitchFamily="18" charset="0"/>
                            </a:rPr>
                            <m:t>3</m:t>
                          </m:r>
                        </m:sub>
                      </m:sSub>
                    </m:oMath>
                  </m:oMathPara>
                </a14:m>
                <a:endParaRPr lang="en-IN" sz="1500" dirty="0">
                  <a:latin typeface="Arial Narrow" panose="020B0606020202030204" pitchFamily="34" charset="0"/>
                </a:endParaRPr>
              </a:p>
            </p:txBody>
          </p:sp>
        </mc:Choice>
        <mc:Fallback xmlns="">
          <p:sp>
            <p:nvSpPr>
              <p:cNvPr id="167" name="TextBox 166">
                <a:extLst>
                  <a:ext uri="{FF2B5EF4-FFF2-40B4-BE49-F238E27FC236}">
                    <a16:creationId xmlns:a16="http://schemas.microsoft.com/office/drawing/2014/main" id="{CB478EDF-F147-4A46-ACD7-767B4A547BF2}"/>
                  </a:ext>
                </a:extLst>
              </p:cNvPr>
              <p:cNvSpPr txBox="1">
                <a:spLocks noRot="1" noChangeAspect="1" noMove="1" noResize="1" noEditPoints="1" noAdjustHandles="1" noChangeArrowheads="1" noChangeShapeType="1" noTextEdit="1"/>
              </p:cNvSpPr>
              <p:nvPr/>
            </p:nvSpPr>
            <p:spPr>
              <a:xfrm rot="10800000" flipV="1">
                <a:off x="2438529" y="3282881"/>
                <a:ext cx="499716" cy="454432"/>
              </a:xfrm>
              <a:prstGeom prst="ellipse">
                <a:avLst/>
              </a:prstGeom>
              <a:blipFill>
                <a:blip r:embed="rId22"/>
                <a:stretch>
                  <a:fillRect/>
                </a:stretch>
              </a:blipFill>
              <a:ln w="12700">
                <a:solidFill>
                  <a:schemeClr val="tx1"/>
                </a:solidFill>
              </a:ln>
            </p:spPr>
            <p:txBody>
              <a:bodyPr/>
              <a:lstStyle/>
              <a:p>
                <a:r>
                  <a:rPr lang="en-IN">
                    <a:noFill/>
                  </a:rPr>
                  <a:t> </a:t>
                </a:r>
              </a:p>
            </p:txBody>
          </p:sp>
        </mc:Fallback>
      </mc:AlternateContent>
      <p:cxnSp>
        <p:nvCxnSpPr>
          <p:cNvPr id="168" name="Straight Arrow Connector 167">
            <a:extLst>
              <a:ext uri="{FF2B5EF4-FFF2-40B4-BE49-F238E27FC236}">
                <a16:creationId xmlns:a16="http://schemas.microsoft.com/office/drawing/2014/main" id="{20C9C6AC-19F5-4564-9E13-1B8D0A63390D}"/>
              </a:ext>
            </a:extLst>
          </p:cNvPr>
          <p:cNvCxnSpPr>
            <a:stCxn id="167" idx="2"/>
            <a:endCxn id="164" idx="6"/>
          </p:cNvCxnSpPr>
          <p:nvPr/>
        </p:nvCxnSpPr>
        <p:spPr>
          <a:xfrm>
            <a:off x="2938245" y="3510097"/>
            <a:ext cx="482465" cy="1"/>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69" name="Straight Arrow Connector 168">
            <a:extLst>
              <a:ext uri="{FF2B5EF4-FFF2-40B4-BE49-F238E27FC236}">
                <a16:creationId xmlns:a16="http://schemas.microsoft.com/office/drawing/2014/main" id="{19A753A8-AD35-4022-B3B3-F8FBEA03A328}"/>
              </a:ext>
            </a:extLst>
          </p:cNvPr>
          <p:cNvCxnSpPr>
            <a:endCxn id="170" idx="6"/>
          </p:cNvCxnSpPr>
          <p:nvPr/>
        </p:nvCxnSpPr>
        <p:spPr>
          <a:xfrm flipV="1">
            <a:off x="10071605" y="3510097"/>
            <a:ext cx="409293" cy="1536"/>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0" name="TextBox 169">
                <a:extLst>
                  <a:ext uri="{FF2B5EF4-FFF2-40B4-BE49-F238E27FC236}">
                    <a16:creationId xmlns:a16="http://schemas.microsoft.com/office/drawing/2014/main" id="{6803D624-9F2D-4CB6-A000-91DDACFD0A2B}"/>
                  </a:ext>
                </a:extLst>
              </p:cNvPr>
              <p:cNvSpPr txBox="1"/>
              <p:nvPr/>
            </p:nvSpPr>
            <p:spPr>
              <a:xfrm rot="10800000" flipV="1">
                <a:off x="10480898" y="3282881"/>
                <a:ext cx="495646" cy="454432"/>
              </a:xfrm>
              <a:prstGeom prst="ellipse">
                <a:avLst/>
              </a:prstGeom>
              <a:solidFill>
                <a:srgbClr val="00B050">
                  <a:alpha val="59000"/>
                </a:srgbClr>
              </a:solid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a:latin typeface="Cambria Math" panose="02040503050406030204" pitchFamily="18" charset="0"/>
                            </a:rPr>
                          </m:ctrlPr>
                        </m:sSubPr>
                        <m:e>
                          <m:r>
                            <a:rPr lang="en-IN" sz="1500" i="1">
                              <a:latin typeface="Cambria Math" panose="02040503050406030204" pitchFamily="18" charset="0"/>
                            </a:rPr>
                            <m:t>𝑦</m:t>
                          </m:r>
                        </m:e>
                        <m:sub>
                          <m:r>
                            <a:rPr lang="en-IN" sz="1500" i="1">
                              <a:latin typeface="Cambria Math" panose="02040503050406030204" pitchFamily="18" charset="0"/>
                            </a:rPr>
                            <m:t>3</m:t>
                          </m:r>
                        </m:sub>
                      </m:sSub>
                    </m:oMath>
                  </m:oMathPara>
                </a14:m>
                <a:endParaRPr lang="en-IN" sz="1500" dirty="0">
                  <a:latin typeface="Arial Narrow" panose="020B0606020202030204" pitchFamily="34" charset="0"/>
                </a:endParaRPr>
              </a:p>
            </p:txBody>
          </p:sp>
        </mc:Choice>
        <mc:Fallback xmlns="">
          <p:sp>
            <p:nvSpPr>
              <p:cNvPr id="170" name="TextBox 169">
                <a:extLst>
                  <a:ext uri="{FF2B5EF4-FFF2-40B4-BE49-F238E27FC236}">
                    <a16:creationId xmlns:a16="http://schemas.microsoft.com/office/drawing/2014/main" id="{6803D624-9F2D-4CB6-A000-91DDACFD0A2B}"/>
                  </a:ext>
                </a:extLst>
              </p:cNvPr>
              <p:cNvSpPr txBox="1">
                <a:spLocks noRot="1" noChangeAspect="1" noMove="1" noResize="1" noEditPoints="1" noAdjustHandles="1" noChangeArrowheads="1" noChangeShapeType="1" noTextEdit="1"/>
              </p:cNvSpPr>
              <p:nvPr/>
            </p:nvSpPr>
            <p:spPr>
              <a:xfrm rot="10800000" flipV="1">
                <a:off x="10480898" y="3282881"/>
                <a:ext cx="495646" cy="454432"/>
              </a:xfrm>
              <a:prstGeom prst="ellipse">
                <a:avLst/>
              </a:prstGeom>
              <a:blipFill>
                <a:blip r:embed="rId23"/>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1" name="TextBox 170">
                <a:extLst>
                  <a:ext uri="{FF2B5EF4-FFF2-40B4-BE49-F238E27FC236}">
                    <a16:creationId xmlns:a16="http://schemas.microsoft.com/office/drawing/2014/main" id="{AD6D90FF-8B08-44E6-ADD1-B975BDF15677}"/>
                  </a:ext>
                </a:extLst>
              </p:cNvPr>
              <p:cNvSpPr txBox="1"/>
              <p:nvPr/>
            </p:nvSpPr>
            <p:spPr>
              <a:xfrm rot="10800000" flipV="1">
                <a:off x="8058281" y="3260563"/>
                <a:ext cx="495646" cy="468588"/>
              </a:xfrm>
              <a:prstGeom prst="ellipse">
                <a:avLst/>
              </a:prstGeom>
              <a:solidFill>
                <a:srgbClr val="00B0F0">
                  <a:alpha val="57000"/>
                </a:srgbClr>
              </a:solid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𝑎</m:t>
                          </m:r>
                        </m:e>
                        <m:sub>
                          <m:r>
                            <a:rPr lang="en-IN" sz="1500">
                              <a:latin typeface="Cambria Math" panose="02040503050406030204" pitchFamily="18" charset="0"/>
                            </a:rPr>
                            <m:t>1,3</m:t>
                          </m:r>
                        </m:sub>
                      </m:sSub>
                    </m:oMath>
                  </m:oMathPara>
                </a14:m>
                <a:endParaRPr lang="en-IN" sz="1500" dirty="0">
                  <a:latin typeface="Arial Narrow" panose="020B0606020202030204" pitchFamily="34" charset="0"/>
                </a:endParaRPr>
              </a:p>
            </p:txBody>
          </p:sp>
        </mc:Choice>
        <mc:Fallback xmlns="">
          <p:sp>
            <p:nvSpPr>
              <p:cNvPr id="171" name="TextBox 170">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8058281" y="3260563"/>
                <a:ext cx="495646" cy="468588"/>
              </a:xfrm>
              <a:prstGeom prst="ellipse">
                <a:avLst/>
              </a:prstGeom>
              <a:blipFill>
                <a:blip r:embed="rId24"/>
                <a:stretch>
                  <a:fillRect r="-1205"/>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2" name="TextBox 171">
                <a:extLst>
                  <a:ext uri="{FF2B5EF4-FFF2-40B4-BE49-F238E27FC236}">
                    <a16:creationId xmlns:a16="http://schemas.microsoft.com/office/drawing/2014/main" id="{36F03E2E-8229-4DFD-869B-C4F6CF96084E}"/>
                  </a:ext>
                </a:extLst>
              </p:cNvPr>
              <p:cNvSpPr txBox="1"/>
              <p:nvPr/>
            </p:nvSpPr>
            <p:spPr>
              <a:xfrm rot="10800000" flipV="1">
                <a:off x="7512003" y="3260563"/>
                <a:ext cx="495646" cy="468588"/>
              </a:xfrm>
              <a:prstGeom prst="ellipse">
                <a:avLst/>
              </a:prstGeom>
              <a:solidFill>
                <a:srgbClr val="00B0F0">
                  <a:alpha val="57000"/>
                </a:srgbClr>
              </a:solid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𝑎</m:t>
                          </m:r>
                        </m:e>
                        <m:sub>
                          <m:r>
                            <a:rPr lang="en-IN" sz="1500">
                              <a:latin typeface="Cambria Math" panose="02040503050406030204" pitchFamily="18" charset="0"/>
                            </a:rPr>
                            <m:t>2,3</m:t>
                          </m:r>
                        </m:sub>
                      </m:sSub>
                    </m:oMath>
                  </m:oMathPara>
                </a14:m>
                <a:endParaRPr lang="en-IN" sz="1500" dirty="0">
                  <a:latin typeface="Arial Narrow" panose="020B0606020202030204" pitchFamily="34" charset="0"/>
                </a:endParaRPr>
              </a:p>
            </p:txBody>
          </p:sp>
        </mc:Choice>
        <mc:Fallback xmlns="">
          <p:sp>
            <p:nvSpPr>
              <p:cNvPr id="172" name="TextBox 171">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7512003" y="3260563"/>
                <a:ext cx="495646" cy="468588"/>
              </a:xfrm>
              <a:prstGeom prst="ellipse">
                <a:avLst/>
              </a:prstGeom>
              <a:blipFill>
                <a:blip r:embed="rId25"/>
                <a:stretch>
                  <a:fillRect r="-1190"/>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3" name="TextBox 172">
                <a:extLst>
                  <a:ext uri="{FF2B5EF4-FFF2-40B4-BE49-F238E27FC236}">
                    <a16:creationId xmlns:a16="http://schemas.microsoft.com/office/drawing/2014/main" id="{DF1D3D16-4F7D-4FD0-95EB-E2360401B577}"/>
                  </a:ext>
                </a:extLst>
              </p:cNvPr>
              <p:cNvSpPr txBox="1"/>
              <p:nvPr/>
            </p:nvSpPr>
            <p:spPr>
              <a:xfrm rot="10800000" flipV="1">
                <a:off x="6971018" y="3260564"/>
                <a:ext cx="495646" cy="468588"/>
              </a:xfrm>
              <a:prstGeom prst="ellipse">
                <a:avLst/>
              </a:prstGeom>
              <a:solidFill>
                <a:srgbClr val="00B0F0">
                  <a:alpha val="57000"/>
                </a:srgbClr>
              </a:solid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𝑎</m:t>
                          </m:r>
                        </m:e>
                        <m:sub>
                          <m:r>
                            <a:rPr lang="en-IN" sz="1500">
                              <a:latin typeface="Cambria Math" panose="02040503050406030204" pitchFamily="18" charset="0"/>
                            </a:rPr>
                            <m:t>3</m:t>
                          </m:r>
                          <m:r>
                            <a:rPr lang="en-IN" sz="1500" b="0" i="1" smtClean="0">
                              <a:latin typeface="Cambria Math" panose="02040503050406030204" pitchFamily="18" charset="0"/>
                            </a:rPr>
                            <m:t>,</m:t>
                          </m:r>
                          <m:r>
                            <a:rPr lang="en-IN" sz="1500">
                              <a:latin typeface="Cambria Math" panose="02040503050406030204" pitchFamily="18" charset="0"/>
                            </a:rPr>
                            <m:t>3</m:t>
                          </m:r>
                        </m:sub>
                      </m:sSub>
                    </m:oMath>
                  </m:oMathPara>
                </a14:m>
                <a:endParaRPr lang="en-IN" sz="1500" dirty="0">
                  <a:latin typeface="Arial Narrow" panose="020B0606020202030204" pitchFamily="34" charset="0"/>
                </a:endParaRPr>
              </a:p>
            </p:txBody>
          </p:sp>
        </mc:Choice>
        <mc:Fallback xmlns="">
          <p:sp>
            <p:nvSpPr>
              <p:cNvPr id="173" name="TextBox 172">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6971018" y="3260564"/>
                <a:ext cx="495646" cy="468588"/>
              </a:xfrm>
              <a:prstGeom prst="ellipse">
                <a:avLst/>
              </a:prstGeom>
              <a:blipFill>
                <a:blip r:embed="rId26"/>
                <a:stretch>
                  <a:fillRect r="-1205"/>
                </a:stretch>
              </a:blipFill>
              <a:ln w="12700">
                <a:solidFill>
                  <a:schemeClr val="tx1"/>
                </a:solidFill>
              </a:ln>
            </p:spPr>
            <p:txBody>
              <a:bodyPr/>
              <a:lstStyle/>
              <a:p>
                <a:r>
                  <a:rPr lang="en-IN">
                    <a:noFill/>
                  </a:rPr>
                  <a:t> </a:t>
                </a:r>
              </a:p>
            </p:txBody>
          </p:sp>
        </mc:Fallback>
      </mc:AlternateContent>
      <p:cxnSp>
        <p:nvCxnSpPr>
          <p:cNvPr id="174" name="Straight Arrow Connector 173">
            <a:extLst>
              <a:ext uri="{FF2B5EF4-FFF2-40B4-BE49-F238E27FC236}">
                <a16:creationId xmlns:a16="http://schemas.microsoft.com/office/drawing/2014/main" id="{93CE584A-6224-4185-BA7F-7DBE679AAC01}"/>
              </a:ext>
            </a:extLst>
          </p:cNvPr>
          <p:cNvCxnSpPr>
            <a:cxnSpLocks/>
            <a:endCxn id="173" idx="6"/>
          </p:cNvCxnSpPr>
          <p:nvPr/>
        </p:nvCxnSpPr>
        <p:spPr>
          <a:xfrm>
            <a:off x="6490622" y="3491565"/>
            <a:ext cx="480396" cy="3293"/>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75" name="TextBox 174">
            <a:extLst>
              <a:ext uri="{FF2B5EF4-FFF2-40B4-BE49-F238E27FC236}">
                <a16:creationId xmlns:a16="http://schemas.microsoft.com/office/drawing/2014/main" id="{9F7A9C69-BDD0-4A8F-93A2-06B1642E46C3}"/>
              </a:ext>
            </a:extLst>
          </p:cNvPr>
          <p:cNvSpPr txBox="1"/>
          <p:nvPr/>
        </p:nvSpPr>
        <p:spPr>
          <a:xfrm rot="10800000" flipV="1">
            <a:off x="5582528" y="3440728"/>
            <a:ext cx="908090" cy="1088908"/>
          </a:xfrm>
          <a:prstGeom prst="rect">
            <a:avLst/>
          </a:prstGeom>
          <a:noFill/>
          <a:ln w="12700">
            <a:solidFill>
              <a:srgbClr val="002060"/>
            </a:solidFill>
          </a:ln>
        </p:spPr>
        <p:txBody>
          <a:bodyPr wrap="square" rtlCol="0" anchor="t">
            <a:normAutofit/>
          </a:bodyPr>
          <a:lstStyle/>
          <a:p>
            <a:endParaRPr lang="en-IN" sz="1500" dirty="0">
              <a:latin typeface="Arial Narrow" panose="020B0606020202030204" pitchFamily="34" charset="0"/>
              <a:cs typeface="Times New Roman" panose="02020603050405020304" pitchFamily="18" charset="0"/>
            </a:endParaRPr>
          </a:p>
          <a:p>
            <a:pPr algn="ctr"/>
            <a:r>
              <a:rPr lang="en-IN" sz="1600" dirty="0" err="1">
                <a:latin typeface="Arial Narrow" panose="020B0606020202030204" pitchFamily="34" charset="0"/>
                <a:cs typeface="Times New Roman" panose="02020603050405020304" pitchFamily="18" charset="0"/>
              </a:rPr>
              <a:t>softmax</a:t>
            </a:r>
            <a:endParaRPr lang="en-IN" sz="1600" dirty="0">
              <a:latin typeface="Arial Narrow" panose="020B0606020202030204" pitchFamily="34" charset="0"/>
              <a:cs typeface="Times New Roman" panose="02020603050405020304" pitchFamily="18" charset="0"/>
            </a:endParaRPr>
          </a:p>
          <a:p>
            <a:pPr algn="ctr"/>
            <a:r>
              <a:rPr lang="en-IN" dirty="0">
                <a:latin typeface="Arial Narrow" panose="020B0606020202030204" pitchFamily="34" charset="0"/>
                <a:cs typeface="Times New Roman" panose="02020603050405020304" pitchFamily="18" charset="0"/>
              </a:rPr>
              <a:t>(→)</a:t>
            </a:r>
          </a:p>
          <a:p>
            <a:endParaRPr lang="en-IN" sz="1500" dirty="0">
              <a:latin typeface="Arial Narrow" panose="020B0606020202030204" pitchFamily="34" charset="0"/>
              <a:cs typeface="Times New Roman" panose="02020603050405020304" pitchFamily="18" charset="0"/>
            </a:endParaRPr>
          </a:p>
          <a:p>
            <a:pPr algn="ctr"/>
            <a:endParaRPr lang="en-IN" sz="1500" dirty="0">
              <a:latin typeface="Arial Narrow" panose="020B0606020202030204" pitchFamily="34" charset="0"/>
              <a:cs typeface="Times New Roman" panose="02020603050405020304" pitchFamily="18" charset="0"/>
            </a:endParaRPr>
          </a:p>
        </p:txBody>
      </p:sp>
      <p:sp>
        <p:nvSpPr>
          <p:cNvPr id="176" name="Rectangle 175"/>
          <p:cNvSpPr/>
          <p:nvPr/>
        </p:nvSpPr>
        <p:spPr>
          <a:xfrm rot="10800000">
            <a:off x="9426703" y="3662577"/>
            <a:ext cx="386644" cy="323165"/>
          </a:xfrm>
          <a:prstGeom prst="rect">
            <a:avLst/>
          </a:prstGeom>
        </p:spPr>
        <p:txBody>
          <a:bodyPr wrap="none">
            <a:spAutoFit/>
          </a:bodyPr>
          <a:lstStyle/>
          <a:p>
            <a:pPr algn="ctr"/>
            <a:r>
              <a:rPr lang="en-IN" sz="1500" dirty="0">
                <a:latin typeface="Arial Narrow" panose="020B0606020202030204" pitchFamily="34"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177" name="TextBox 176">
                <a:extLst>
                  <a:ext uri="{FF2B5EF4-FFF2-40B4-BE49-F238E27FC236}">
                    <a16:creationId xmlns:a16="http://schemas.microsoft.com/office/drawing/2014/main" id="{AD6D90FF-8B08-44E6-ADD1-B975BDF15677}"/>
                  </a:ext>
                </a:extLst>
              </p:cNvPr>
              <p:cNvSpPr txBox="1"/>
              <p:nvPr/>
            </p:nvSpPr>
            <p:spPr>
              <a:xfrm rot="10800000" flipV="1">
                <a:off x="4505555" y="4834576"/>
                <a:ext cx="495646" cy="454432"/>
              </a:xfrm>
              <a:prstGeom prst="ellipse">
                <a:avLst/>
              </a:prstGeom>
              <a:solidFill>
                <a:srgbClr val="92D050">
                  <a:alpha val="39000"/>
                </a:srgbClr>
              </a:solid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𝑘</m:t>
                          </m:r>
                        </m:e>
                        <m:sub>
                          <m:r>
                            <a:rPr lang="en-IN" sz="1500">
                              <a:latin typeface="Cambria Math" panose="02040503050406030204" pitchFamily="18" charset="0"/>
                            </a:rPr>
                            <m:t>1</m:t>
                          </m:r>
                        </m:sub>
                      </m:sSub>
                    </m:oMath>
                  </m:oMathPara>
                </a14:m>
                <a:endParaRPr lang="en-IN" sz="1500" dirty="0">
                  <a:latin typeface="Arial Narrow" panose="020B0606020202030204" pitchFamily="34" charset="0"/>
                </a:endParaRPr>
              </a:p>
            </p:txBody>
          </p:sp>
        </mc:Choice>
        <mc:Fallback xmlns="">
          <p:sp>
            <p:nvSpPr>
              <p:cNvPr id="177" name="TextBox 176">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4505555" y="4834576"/>
                <a:ext cx="495646" cy="454432"/>
              </a:xfrm>
              <a:prstGeom prst="ellipse">
                <a:avLst/>
              </a:prstGeom>
              <a:blipFill>
                <a:blip r:embed="rId27"/>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8" name="TextBox 177">
                <a:extLst>
                  <a:ext uri="{FF2B5EF4-FFF2-40B4-BE49-F238E27FC236}">
                    <a16:creationId xmlns:a16="http://schemas.microsoft.com/office/drawing/2014/main" id="{36F03E2E-8229-4DFD-869B-C4F6CF96084E}"/>
                  </a:ext>
                </a:extLst>
              </p:cNvPr>
              <p:cNvSpPr txBox="1"/>
              <p:nvPr/>
            </p:nvSpPr>
            <p:spPr>
              <a:xfrm rot="10800000" flipV="1">
                <a:off x="3959277" y="4834577"/>
                <a:ext cx="495646" cy="454432"/>
              </a:xfrm>
              <a:prstGeom prst="ellipse">
                <a:avLst/>
              </a:prstGeom>
              <a:solidFill>
                <a:srgbClr val="92D050">
                  <a:alpha val="39000"/>
                </a:srgbClr>
              </a:solid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a:latin typeface="Cambria Math" panose="02040503050406030204" pitchFamily="18" charset="0"/>
                            </a:rPr>
                            <m:t>𝑘</m:t>
                          </m:r>
                        </m:e>
                        <m:sub>
                          <m:r>
                            <a:rPr lang="en-IN" sz="1500" b="0" i="1" smtClean="0">
                              <a:latin typeface="Cambria Math" panose="02040503050406030204" pitchFamily="18" charset="0"/>
                            </a:rPr>
                            <m:t>2</m:t>
                          </m:r>
                        </m:sub>
                      </m:sSub>
                    </m:oMath>
                  </m:oMathPara>
                </a14:m>
                <a:endParaRPr lang="en-IN" sz="1500" dirty="0">
                  <a:latin typeface="Arial Narrow" panose="020B0606020202030204" pitchFamily="34" charset="0"/>
                </a:endParaRPr>
              </a:p>
            </p:txBody>
          </p:sp>
        </mc:Choice>
        <mc:Fallback xmlns="">
          <p:sp>
            <p:nvSpPr>
              <p:cNvPr id="178" name="TextBox 177">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3959277" y="4834577"/>
                <a:ext cx="495646" cy="454432"/>
              </a:xfrm>
              <a:prstGeom prst="ellipse">
                <a:avLst/>
              </a:prstGeom>
              <a:blipFill>
                <a:blip r:embed="rId28"/>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9" name="TextBox 178">
                <a:extLst>
                  <a:ext uri="{FF2B5EF4-FFF2-40B4-BE49-F238E27FC236}">
                    <a16:creationId xmlns:a16="http://schemas.microsoft.com/office/drawing/2014/main" id="{DF1D3D16-4F7D-4FD0-95EB-E2360401B577}"/>
                  </a:ext>
                </a:extLst>
              </p:cNvPr>
              <p:cNvSpPr txBox="1"/>
              <p:nvPr/>
            </p:nvSpPr>
            <p:spPr>
              <a:xfrm rot="10800000" flipV="1">
                <a:off x="3418292" y="4834578"/>
                <a:ext cx="495646" cy="454432"/>
              </a:xfrm>
              <a:prstGeom prst="ellipse">
                <a:avLst/>
              </a:prstGeom>
              <a:solidFill>
                <a:srgbClr val="92D050">
                  <a:alpha val="39000"/>
                </a:srgbClr>
              </a:solid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𝑘</m:t>
                          </m:r>
                        </m:e>
                        <m:sub>
                          <m:r>
                            <a:rPr lang="en-IN" sz="1500" b="0" i="1" smtClean="0">
                              <a:latin typeface="Cambria Math" panose="02040503050406030204" pitchFamily="18" charset="0"/>
                            </a:rPr>
                            <m:t>3</m:t>
                          </m:r>
                        </m:sub>
                      </m:sSub>
                    </m:oMath>
                  </m:oMathPara>
                </a14:m>
                <a:endParaRPr lang="en-IN" sz="1500" dirty="0">
                  <a:latin typeface="Arial Narrow" panose="020B0606020202030204" pitchFamily="34" charset="0"/>
                </a:endParaRPr>
              </a:p>
            </p:txBody>
          </p:sp>
        </mc:Choice>
        <mc:Fallback xmlns="">
          <p:sp>
            <p:nvSpPr>
              <p:cNvPr id="179" name="TextBox 178">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3418292" y="4834578"/>
                <a:ext cx="495646" cy="454432"/>
              </a:xfrm>
              <a:prstGeom prst="ellipse">
                <a:avLst/>
              </a:prstGeom>
              <a:blipFill>
                <a:blip r:embed="rId29"/>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0" name="TextBox 179">
                <a:extLst>
                  <a:ext uri="{FF2B5EF4-FFF2-40B4-BE49-F238E27FC236}">
                    <a16:creationId xmlns:a16="http://schemas.microsoft.com/office/drawing/2014/main" id="{98434757-453A-49BA-B417-238E5FFE6B79}"/>
                  </a:ext>
                </a:extLst>
              </p:cNvPr>
              <p:cNvSpPr txBox="1"/>
              <p:nvPr/>
            </p:nvSpPr>
            <p:spPr>
              <a:xfrm rot="10800000" flipV="1">
                <a:off x="4511169" y="5412710"/>
                <a:ext cx="495646" cy="454432"/>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𝑥</m:t>
                          </m:r>
                        </m:e>
                        <m:sub>
                          <m:r>
                            <a:rPr lang="en-IN" sz="1500" b="0" i="1" smtClean="0">
                              <a:latin typeface="Cambria Math" panose="02040503050406030204" pitchFamily="18" charset="0"/>
                            </a:rPr>
                            <m:t>1</m:t>
                          </m:r>
                        </m:sub>
                      </m:sSub>
                    </m:oMath>
                  </m:oMathPara>
                </a14:m>
                <a:endParaRPr lang="en-IN" sz="1500" dirty="0">
                  <a:latin typeface="Arial Narrow" panose="020B0606020202030204" pitchFamily="34" charset="0"/>
                </a:endParaRPr>
              </a:p>
            </p:txBody>
          </p:sp>
        </mc:Choice>
        <mc:Fallback xmlns="">
          <p:sp>
            <p:nvSpPr>
              <p:cNvPr id="180" name="TextBox 179">
                <a:extLst>
                  <a:ext uri="{FF2B5EF4-FFF2-40B4-BE49-F238E27FC236}">
                    <a16:creationId xmlns:a16="http://schemas.microsoft.com/office/drawing/2014/main" id="{98434757-453A-49BA-B417-238E5FFE6B79}"/>
                  </a:ext>
                </a:extLst>
              </p:cNvPr>
              <p:cNvSpPr txBox="1">
                <a:spLocks noRot="1" noChangeAspect="1" noMove="1" noResize="1" noEditPoints="1" noAdjustHandles="1" noChangeArrowheads="1" noChangeShapeType="1" noTextEdit="1"/>
              </p:cNvSpPr>
              <p:nvPr/>
            </p:nvSpPr>
            <p:spPr>
              <a:xfrm rot="10800000" flipV="1">
                <a:off x="4511169" y="5412710"/>
                <a:ext cx="495646" cy="454432"/>
              </a:xfrm>
              <a:prstGeom prst="ellipse">
                <a:avLst/>
              </a:prstGeom>
              <a:blipFill>
                <a:blip r:embed="rId30"/>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1" name="TextBox 180">
                <a:extLst>
                  <a:ext uri="{FF2B5EF4-FFF2-40B4-BE49-F238E27FC236}">
                    <a16:creationId xmlns:a16="http://schemas.microsoft.com/office/drawing/2014/main" id="{B8E17763-565A-4B77-80A1-9B07A3DF1DA4}"/>
                  </a:ext>
                </a:extLst>
              </p:cNvPr>
              <p:cNvSpPr txBox="1"/>
              <p:nvPr/>
            </p:nvSpPr>
            <p:spPr>
              <a:xfrm rot="10800000" flipV="1">
                <a:off x="3959277" y="5409541"/>
                <a:ext cx="495646" cy="454432"/>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𝑥</m:t>
                          </m:r>
                        </m:e>
                        <m:sub>
                          <m:r>
                            <a:rPr lang="en-IN" sz="1500" b="0" i="1" smtClean="0">
                              <a:latin typeface="Cambria Math" panose="02040503050406030204" pitchFamily="18" charset="0"/>
                            </a:rPr>
                            <m:t>2</m:t>
                          </m:r>
                        </m:sub>
                      </m:sSub>
                    </m:oMath>
                  </m:oMathPara>
                </a14:m>
                <a:endParaRPr lang="en-IN" sz="1500" dirty="0">
                  <a:latin typeface="Arial Narrow" panose="020B0606020202030204" pitchFamily="34" charset="0"/>
                </a:endParaRPr>
              </a:p>
            </p:txBody>
          </p:sp>
        </mc:Choice>
        <mc:Fallback xmlns="">
          <p:sp>
            <p:nvSpPr>
              <p:cNvPr id="181" name="TextBox 180">
                <a:extLst>
                  <a:ext uri="{FF2B5EF4-FFF2-40B4-BE49-F238E27FC236}">
                    <a16:creationId xmlns:a16="http://schemas.microsoft.com/office/drawing/2014/main" id="{B8E17763-565A-4B77-80A1-9B07A3DF1DA4}"/>
                  </a:ext>
                </a:extLst>
              </p:cNvPr>
              <p:cNvSpPr txBox="1">
                <a:spLocks noRot="1" noChangeAspect="1" noMove="1" noResize="1" noEditPoints="1" noAdjustHandles="1" noChangeArrowheads="1" noChangeShapeType="1" noTextEdit="1"/>
              </p:cNvSpPr>
              <p:nvPr/>
            </p:nvSpPr>
            <p:spPr>
              <a:xfrm rot="10800000" flipV="1">
                <a:off x="3959277" y="5409541"/>
                <a:ext cx="495646" cy="454432"/>
              </a:xfrm>
              <a:prstGeom prst="ellipse">
                <a:avLst/>
              </a:prstGeom>
              <a:blipFill>
                <a:blip r:embed="rId31"/>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2" name="TextBox 181">
                <a:extLst>
                  <a:ext uri="{FF2B5EF4-FFF2-40B4-BE49-F238E27FC236}">
                    <a16:creationId xmlns:a16="http://schemas.microsoft.com/office/drawing/2014/main" id="{C8FC9D7E-BEDD-4715-866C-F8B1DB2EC23B}"/>
                  </a:ext>
                </a:extLst>
              </p:cNvPr>
              <p:cNvSpPr txBox="1"/>
              <p:nvPr/>
            </p:nvSpPr>
            <p:spPr>
              <a:xfrm rot="10800000" flipV="1">
                <a:off x="3418292" y="5409541"/>
                <a:ext cx="495646" cy="454432"/>
              </a:xfrm>
              <a:prstGeom prst="ellipse">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𝑥</m:t>
                          </m:r>
                        </m:e>
                        <m:sub>
                          <m:r>
                            <a:rPr lang="en-IN" sz="1500" b="0" i="1" smtClean="0">
                              <a:latin typeface="Cambria Math" panose="02040503050406030204" pitchFamily="18" charset="0"/>
                            </a:rPr>
                            <m:t>3</m:t>
                          </m:r>
                        </m:sub>
                      </m:sSub>
                    </m:oMath>
                  </m:oMathPara>
                </a14:m>
                <a:endParaRPr lang="en-IN" sz="1500" dirty="0">
                  <a:latin typeface="Arial Narrow" panose="020B0606020202030204" pitchFamily="34" charset="0"/>
                </a:endParaRPr>
              </a:p>
            </p:txBody>
          </p:sp>
        </mc:Choice>
        <mc:Fallback xmlns="">
          <p:sp>
            <p:nvSpPr>
              <p:cNvPr id="182" name="TextBox 181">
                <a:extLst>
                  <a:ext uri="{FF2B5EF4-FFF2-40B4-BE49-F238E27FC236}">
                    <a16:creationId xmlns:a16="http://schemas.microsoft.com/office/drawing/2014/main" id="{C8FC9D7E-BEDD-4715-866C-F8B1DB2EC23B}"/>
                  </a:ext>
                </a:extLst>
              </p:cNvPr>
              <p:cNvSpPr txBox="1">
                <a:spLocks noRot="1" noChangeAspect="1" noMove="1" noResize="1" noEditPoints="1" noAdjustHandles="1" noChangeArrowheads="1" noChangeShapeType="1" noTextEdit="1"/>
              </p:cNvSpPr>
              <p:nvPr/>
            </p:nvSpPr>
            <p:spPr>
              <a:xfrm rot="10800000" flipV="1">
                <a:off x="3418292" y="5409541"/>
                <a:ext cx="495646" cy="454432"/>
              </a:xfrm>
              <a:prstGeom prst="ellipse">
                <a:avLst/>
              </a:prstGeom>
              <a:blipFill>
                <a:blip r:embed="rId32"/>
                <a:stretch>
                  <a:fillRect/>
                </a:stretch>
              </a:blipFill>
              <a:ln w="12700">
                <a:solidFill>
                  <a:schemeClr val="tx1"/>
                </a:solidFill>
              </a:ln>
            </p:spPr>
            <p:txBody>
              <a:bodyPr/>
              <a:lstStyle/>
              <a:p>
                <a:r>
                  <a:rPr lang="en-IN">
                    <a:noFill/>
                  </a:rPr>
                  <a:t> </a:t>
                </a:r>
              </a:p>
            </p:txBody>
          </p:sp>
        </mc:Fallback>
      </mc:AlternateContent>
      <p:cxnSp>
        <p:nvCxnSpPr>
          <p:cNvPr id="183" name="Straight Arrow Connector 182">
            <a:extLst>
              <a:ext uri="{FF2B5EF4-FFF2-40B4-BE49-F238E27FC236}">
                <a16:creationId xmlns:a16="http://schemas.microsoft.com/office/drawing/2014/main" id="{A263021F-7328-4211-909D-49F49CA28D98}"/>
              </a:ext>
            </a:extLst>
          </p:cNvPr>
          <p:cNvCxnSpPr>
            <a:stCxn id="180" idx="0"/>
            <a:endCxn id="177" idx="4"/>
          </p:cNvCxnSpPr>
          <p:nvPr/>
        </p:nvCxnSpPr>
        <p:spPr>
          <a:xfrm flipH="1" flipV="1">
            <a:off x="4753378" y="5289008"/>
            <a:ext cx="5614" cy="123702"/>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84" name="Straight Arrow Connector 183">
            <a:extLst>
              <a:ext uri="{FF2B5EF4-FFF2-40B4-BE49-F238E27FC236}">
                <a16:creationId xmlns:a16="http://schemas.microsoft.com/office/drawing/2014/main" id="{48E3A579-0DB9-42B0-BAF2-784E8D2CED22}"/>
              </a:ext>
            </a:extLst>
          </p:cNvPr>
          <p:cNvCxnSpPr>
            <a:cxnSpLocks/>
            <a:stCxn id="181" idx="0"/>
            <a:endCxn id="178" idx="4"/>
          </p:cNvCxnSpPr>
          <p:nvPr/>
        </p:nvCxnSpPr>
        <p:spPr>
          <a:xfrm flipV="1">
            <a:off x="4207100" y="5289009"/>
            <a:ext cx="0" cy="120532"/>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85" name="Straight Arrow Connector 184">
            <a:extLst>
              <a:ext uri="{FF2B5EF4-FFF2-40B4-BE49-F238E27FC236}">
                <a16:creationId xmlns:a16="http://schemas.microsoft.com/office/drawing/2014/main" id="{C1137974-CC6B-47D3-81CF-6AC92B143B47}"/>
              </a:ext>
            </a:extLst>
          </p:cNvPr>
          <p:cNvCxnSpPr>
            <a:cxnSpLocks/>
            <a:stCxn id="182" idx="0"/>
            <a:endCxn id="179" idx="4"/>
          </p:cNvCxnSpPr>
          <p:nvPr/>
        </p:nvCxnSpPr>
        <p:spPr>
          <a:xfrm flipV="1">
            <a:off x="3666115" y="5289010"/>
            <a:ext cx="0" cy="120531"/>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03D7A7FB-37B5-491B-9275-F91C88822728}"/>
              </a:ext>
            </a:extLst>
          </p:cNvPr>
          <p:cNvSpPr txBox="1"/>
          <p:nvPr/>
        </p:nvSpPr>
        <p:spPr>
          <a:xfrm rot="10800000" flipV="1">
            <a:off x="2624770" y="6462098"/>
            <a:ext cx="1289168" cy="338554"/>
          </a:xfrm>
          <a:prstGeom prst="rect">
            <a:avLst/>
          </a:prstGeom>
          <a:noFill/>
        </p:spPr>
        <p:txBody>
          <a:bodyPr wrap="square" rtlCol="0">
            <a:spAutoFit/>
          </a:bodyPr>
          <a:lstStyle/>
          <a:p>
            <a:r>
              <a:rPr lang="en-IN" sz="1600" dirty="0">
                <a:latin typeface="Arial Narrow" panose="020B0606020202030204" pitchFamily="34" charset="0"/>
                <a:cs typeface="Times New Roman" panose="02020603050405020304" pitchFamily="18" charset="0"/>
              </a:rPr>
              <a:t>Input Vectors</a:t>
            </a:r>
          </a:p>
        </p:txBody>
      </p:sp>
      <mc:AlternateContent xmlns:mc="http://schemas.openxmlformats.org/markup-compatibility/2006" xmlns:a14="http://schemas.microsoft.com/office/drawing/2010/main">
        <mc:Choice Requires="a14">
          <p:sp>
            <p:nvSpPr>
              <p:cNvPr id="187" name="TextBox 186">
                <a:extLst>
                  <a:ext uri="{FF2B5EF4-FFF2-40B4-BE49-F238E27FC236}">
                    <a16:creationId xmlns:a16="http://schemas.microsoft.com/office/drawing/2014/main" id="{AD6D90FF-8B08-44E6-ADD1-B975BDF15677}"/>
                  </a:ext>
                </a:extLst>
              </p:cNvPr>
              <p:cNvSpPr txBox="1"/>
              <p:nvPr/>
            </p:nvSpPr>
            <p:spPr>
              <a:xfrm rot="10800000" flipV="1">
                <a:off x="8055864" y="4834577"/>
                <a:ext cx="495646" cy="454432"/>
              </a:xfrm>
              <a:prstGeom prst="ellipse">
                <a:avLst/>
              </a:prstGeom>
              <a:solidFill>
                <a:schemeClr val="tx2">
                  <a:lumMod val="60000"/>
                  <a:lumOff val="40000"/>
                  <a:alpha val="46000"/>
                </a:schemeClr>
              </a:solid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𝑣</m:t>
                          </m:r>
                        </m:e>
                        <m:sub>
                          <m:r>
                            <a:rPr lang="en-IN" sz="1500">
                              <a:latin typeface="Cambria Math" panose="02040503050406030204" pitchFamily="18" charset="0"/>
                            </a:rPr>
                            <m:t>1</m:t>
                          </m:r>
                        </m:sub>
                      </m:sSub>
                    </m:oMath>
                  </m:oMathPara>
                </a14:m>
                <a:endParaRPr lang="en-IN" sz="1500" dirty="0">
                  <a:latin typeface="Arial Narrow" panose="020B0606020202030204" pitchFamily="34" charset="0"/>
                </a:endParaRPr>
              </a:p>
            </p:txBody>
          </p:sp>
        </mc:Choice>
        <mc:Fallback xmlns="">
          <p:sp>
            <p:nvSpPr>
              <p:cNvPr id="187" name="TextBox 186">
                <a:extLst>
                  <a:ext uri="{FF2B5EF4-FFF2-40B4-BE49-F238E27FC236}">
                    <a16:creationId xmlns:a16="http://schemas.microsoft.com/office/drawing/2014/main" id="{AD6D90FF-8B08-44E6-ADD1-B975BDF15677}"/>
                  </a:ext>
                </a:extLst>
              </p:cNvPr>
              <p:cNvSpPr txBox="1">
                <a:spLocks noRot="1" noChangeAspect="1" noMove="1" noResize="1" noEditPoints="1" noAdjustHandles="1" noChangeArrowheads="1" noChangeShapeType="1" noTextEdit="1"/>
              </p:cNvSpPr>
              <p:nvPr/>
            </p:nvSpPr>
            <p:spPr>
              <a:xfrm rot="10800000" flipV="1">
                <a:off x="8055864" y="4834577"/>
                <a:ext cx="495646" cy="454432"/>
              </a:xfrm>
              <a:prstGeom prst="ellipse">
                <a:avLst/>
              </a:prstGeom>
              <a:blipFill>
                <a:blip r:embed="rId33"/>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8" name="TextBox 187">
                <a:extLst>
                  <a:ext uri="{FF2B5EF4-FFF2-40B4-BE49-F238E27FC236}">
                    <a16:creationId xmlns:a16="http://schemas.microsoft.com/office/drawing/2014/main" id="{36F03E2E-8229-4DFD-869B-C4F6CF96084E}"/>
                  </a:ext>
                </a:extLst>
              </p:cNvPr>
              <p:cNvSpPr txBox="1"/>
              <p:nvPr/>
            </p:nvSpPr>
            <p:spPr>
              <a:xfrm rot="10800000" flipV="1">
                <a:off x="7509585" y="4834577"/>
                <a:ext cx="495646" cy="454432"/>
              </a:xfrm>
              <a:prstGeom prst="ellipse">
                <a:avLst/>
              </a:prstGeom>
              <a:solidFill>
                <a:schemeClr val="tx2">
                  <a:lumMod val="60000"/>
                  <a:lumOff val="40000"/>
                  <a:alpha val="46000"/>
                </a:schemeClr>
              </a:solid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𝑣</m:t>
                          </m:r>
                        </m:e>
                        <m:sub>
                          <m:r>
                            <a:rPr lang="en-IN" sz="1500" b="0" i="1" smtClean="0">
                              <a:latin typeface="Cambria Math" panose="02040503050406030204" pitchFamily="18" charset="0"/>
                            </a:rPr>
                            <m:t>2</m:t>
                          </m:r>
                        </m:sub>
                      </m:sSub>
                    </m:oMath>
                  </m:oMathPara>
                </a14:m>
                <a:endParaRPr lang="en-IN" sz="1500" dirty="0">
                  <a:latin typeface="Arial Narrow" panose="020B0606020202030204" pitchFamily="34" charset="0"/>
                </a:endParaRPr>
              </a:p>
            </p:txBody>
          </p:sp>
        </mc:Choice>
        <mc:Fallback xmlns="">
          <p:sp>
            <p:nvSpPr>
              <p:cNvPr id="188" name="TextBox 187">
                <a:extLst>
                  <a:ext uri="{FF2B5EF4-FFF2-40B4-BE49-F238E27FC236}">
                    <a16:creationId xmlns:a16="http://schemas.microsoft.com/office/drawing/2014/main" id="{36F03E2E-8229-4DFD-869B-C4F6CF96084E}"/>
                  </a:ext>
                </a:extLst>
              </p:cNvPr>
              <p:cNvSpPr txBox="1">
                <a:spLocks noRot="1" noChangeAspect="1" noMove="1" noResize="1" noEditPoints="1" noAdjustHandles="1" noChangeArrowheads="1" noChangeShapeType="1" noTextEdit="1"/>
              </p:cNvSpPr>
              <p:nvPr/>
            </p:nvSpPr>
            <p:spPr>
              <a:xfrm rot="10800000" flipV="1">
                <a:off x="7509585" y="4834577"/>
                <a:ext cx="495646" cy="454432"/>
              </a:xfrm>
              <a:prstGeom prst="ellipse">
                <a:avLst/>
              </a:prstGeom>
              <a:blipFill>
                <a:blip r:embed="rId34"/>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9" name="TextBox 188">
                <a:extLst>
                  <a:ext uri="{FF2B5EF4-FFF2-40B4-BE49-F238E27FC236}">
                    <a16:creationId xmlns:a16="http://schemas.microsoft.com/office/drawing/2014/main" id="{DF1D3D16-4F7D-4FD0-95EB-E2360401B577}"/>
                  </a:ext>
                </a:extLst>
              </p:cNvPr>
              <p:cNvSpPr txBox="1"/>
              <p:nvPr/>
            </p:nvSpPr>
            <p:spPr>
              <a:xfrm rot="10800000" flipV="1">
                <a:off x="6968601" y="4834578"/>
                <a:ext cx="495646" cy="454432"/>
              </a:xfrm>
              <a:prstGeom prst="ellipse">
                <a:avLst/>
              </a:prstGeom>
              <a:solidFill>
                <a:schemeClr val="tx2">
                  <a:lumMod val="60000"/>
                  <a:lumOff val="40000"/>
                  <a:alpha val="46000"/>
                </a:schemeClr>
              </a:solidFill>
              <a:ln w="12700">
                <a:solidFill>
                  <a:schemeClr val="tx1"/>
                </a:solidFill>
              </a:ln>
            </p:spPr>
            <p:txBody>
              <a:bodyPr wrap="square" rtlCol="0">
                <a:spAutoFit/>
              </a:bodyPr>
              <a:lstStyle>
                <a:defPPr>
                  <a:defRPr lang="en-US"/>
                </a:defPPr>
                <a:lvl1pPr>
                  <a:defRPr sz="16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sz="1500" i="1" smtClean="0">
                              <a:latin typeface="Cambria Math" panose="02040503050406030204" pitchFamily="18" charset="0"/>
                            </a:rPr>
                          </m:ctrlPr>
                        </m:sSubPr>
                        <m:e>
                          <m:r>
                            <a:rPr lang="en-IN" sz="1500" b="0" i="1" smtClean="0">
                              <a:latin typeface="Cambria Math" panose="02040503050406030204" pitchFamily="18" charset="0"/>
                            </a:rPr>
                            <m:t>𝑣</m:t>
                          </m:r>
                        </m:e>
                        <m:sub>
                          <m:r>
                            <a:rPr lang="en-IN" sz="1500" b="0" i="1" smtClean="0">
                              <a:latin typeface="Cambria Math" panose="02040503050406030204" pitchFamily="18" charset="0"/>
                            </a:rPr>
                            <m:t>3</m:t>
                          </m:r>
                        </m:sub>
                      </m:sSub>
                    </m:oMath>
                  </m:oMathPara>
                </a14:m>
                <a:endParaRPr lang="en-IN" sz="1500" dirty="0">
                  <a:latin typeface="Arial Narrow" panose="020B0606020202030204" pitchFamily="34" charset="0"/>
                </a:endParaRPr>
              </a:p>
            </p:txBody>
          </p:sp>
        </mc:Choice>
        <mc:Fallback xmlns="">
          <p:sp>
            <p:nvSpPr>
              <p:cNvPr id="189" name="TextBox 188">
                <a:extLst>
                  <a:ext uri="{FF2B5EF4-FFF2-40B4-BE49-F238E27FC236}">
                    <a16:creationId xmlns:a16="http://schemas.microsoft.com/office/drawing/2014/main" id="{DF1D3D16-4F7D-4FD0-95EB-E2360401B577}"/>
                  </a:ext>
                </a:extLst>
              </p:cNvPr>
              <p:cNvSpPr txBox="1">
                <a:spLocks noRot="1" noChangeAspect="1" noMove="1" noResize="1" noEditPoints="1" noAdjustHandles="1" noChangeArrowheads="1" noChangeShapeType="1" noTextEdit="1"/>
              </p:cNvSpPr>
              <p:nvPr/>
            </p:nvSpPr>
            <p:spPr>
              <a:xfrm rot="10800000" flipV="1">
                <a:off x="6968601" y="4834578"/>
                <a:ext cx="495646" cy="454432"/>
              </a:xfrm>
              <a:prstGeom prst="ellipse">
                <a:avLst/>
              </a:prstGeom>
              <a:blipFill>
                <a:blip r:embed="rId35"/>
                <a:stretch>
                  <a:fillRect/>
                </a:stretch>
              </a:blipFill>
              <a:ln w="12700">
                <a:solidFill>
                  <a:schemeClr val="tx1"/>
                </a:solidFill>
              </a:ln>
            </p:spPr>
            <p:txBody>
              <a:bodyPr/>
              <a:lstStyle/>
              <a:p>
                <a:r>
                  <a:rPr lang="en-IN">
                    <a:noFill/>
                  </a:rPr>
                  <a:t> </a:t>
                </a:r>
              </a:p>
            </p:txBody>
          </p:sp>
        </mc:Fallback>
      </mc:AlternateContent>
      <p:cxnSp>
        <p:nvCxnSpPr>
          <p:cNvPr id="190" name="Elbow Connector 189"/>
          <p:cNvCxnSpPr>
            <a:stCxn id="138" idx="6"/>
            <a:endCxn id="189" idx="4"/>
          </p:cNvCxnSpPr>
          <p:nvPr/>
        </p:nvCxnSpPr>
        <p:spPr>
          <a:xfrm rot="10800000" flipH="1" flipV="1">
            <a:off x="2438528" y="4473944"/>
            <a:ext cx="4777895" cy="815065"/>
          </a:xfrm>
          <a:prstGeom prst="bentConnector4">
            <a:avLst>
              <a:gd name="adj1" fmla="val -4785"/>
              <a:gd name="adj2" fmla="val 203213"/>
            </a:avLst>
          </a:prstGeom>
          <a:ln w="12700">
            <a:solidFill>
              <a:srgbClr val="7030A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1" name="Elbow Connector 190"/>
          <p:cNvCxnSpPr>
            <a:stCxn id="153" idx="6"/>
            <a:endCxn id="188" idx="4"/>
          </p:cNvCxnSpPr>
          <p:nvPr/>
        </p:nvCxnSpPr>
        <p:spPr>
          <a:xfrm rot="10800000" flipH="1" flipV="1">
            <a:off x="2438528" y="3992021"/>
            <a:ext cx="5318879" cy="1296987"/>
          </a:xfrm>
          <a:prstGeom prst="bentConnector4">
            <a:avLst>
              <a:gd name="adj1" fmla="val -8596"/>
              <a:gd name="adj2" fmla="val 177552"/>
            </a:avLst>
          </a:prstGeom>
          <a:ln w="12700">
            <a:solidFill>
              <a:srgbClr val="7030A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2" name="Elbow Connector 191"/>
          <p:cNvCxnSpPr>
            <a:stCxn id="167" idx="6"/>
            <a:endCxn id="187" idx="4"/>
          </p:cNvCxnSpPr>
          <p:nvPr/>
        </p:nvCxnSpPr>
        <p:spPr>
          <a:xfrm rot="10800000" flipH="1" flipV="1">
            <a:off x="2438529" y="3510097"/>
            <a:ext cx="5865158" cy="1778912"/>
          </a:xfrm>
          <a:prstGeom prst="bentConnector4">
            <a:avLst>
              <a:gd name="adj1" fmla="val -12161"/>
              <a:gd name="adj2" fmla="val 165795"/>
            </a:avLst>
          </a:prstGeom>
          <a:ln w="12700">
            <a:solidFill>
              <a:srgbClr val="7030A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3" name="Straight Arrow Connector 192">
            <a:extLst>
              <a:ext uri="{FF2B5EF4-FFF2-40B4-BE49-F238E27FC236}">
                <a16:creationId xmlns:a16="http://schemas.microsoft.com/office/drawing/2014/main" id="{A263021F-7328-4211-909D-49F49CA28D98}"/>
              </a:ext>
            </a:extLst>
          </p:cNvPr>
          <p:cNvCxnSpPr>
            <a:stCxn id="187" idx="0"/>
            <a:endCxn id="144" idx="4"/>
          </p:cNvCxnSpPr>
          <p:nvPr/>
        </p:nvCxnSpPr>
        <p:spPr>
          <a:xfrm flipV="1">
            <a:off x="8303687" y="4708240"/>
            <a:ext cx="2417" cy="126337"/>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48E3A579-0DB9-42B0-BAF2-784E8D2CED22}"/>
              </a:ext>
            </a:extLst>
          </p:cNvPr>
          <p:cNvCxnSpPr>
            <a:cxnSpLocks/>
            <a:stCxn id="188" idx="0"/>
            <a:endCxn id="145" idx="4"/>
          </p:cNvCxnSpPr>
          <p:nvPr/>
        </p:nvCxnSpPr>
        <p:spPr>
          <a:xfrm flipV="1">
            <a:off x="7757408" y="4711982"/>
            <a:ext cx="2418" cy="122595"/>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95" name="Straight Arrow Connector 194">
            <a:extLst>
              <a:ext uri="{FF2B5EF4-FFF2-40B4-BE49-F238E27FC236}">
                <a16:creationId xmlns:a16="http://schemas.microsoft.com/office/drawing/2014/main" id="{C1137974-CC6B-47D3-81CF-6AC92B143B47}"/>
              </a:ext>
            </a:extLst>
          </p:cNvPr>
          <p:cNvCxnSpPr>
            <a:cxnSpLocks/>
            <a:stCxn id="189" idx="0"/>
            <a:endCxn id="146" idx="4"/>
          </p:cNvCxnSpPr>
          <p:nvPr/>
        </p:nvCxnSpPr>
        <p:spPr>
          <a:xfrm flipV="1">
            <a:off x="7216424" y="4711983"/>
            <a:ext cx="2417" cy="122595"/>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96" name="Straight Connector 195"/>
          <p:cNvCxnSpPr>
            <a:stCxn id="182" idx="4"/>
          </p:cNvCxnSpPr>
          <p:nvPr/>
        </p:nvCxnSpPr>
        <p:spPr>
          <a:xfrm flipH="1">
            <a:off x="3666114" y="5863973"/>
            <a:ext cx="1" cy="604113"/>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p:cNvCxnSpPr>
            <a:stCxn id="181" idx="4"/>
          </p:cNvCxnSpPr>
          <p:nvPr/>
        </p:nvCxnSpPr>
        <p:spPr>
          <a:xfrm flipH="1">
            <a:off x="4207099" y="5863973"/>
            <a:ext cx="1" cy="432663"/>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p:cNvCxnSpPr/>
          <p:nvPr/>
        </p:nvCxnSpPr>
        <p:spPr>
          <a:xfrm>
            <a:off x="4753377" y="5868419"/>
            <a:ext cx="0" cy="259464"/>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A56061FB-452E-4DA7-AB6A-AA205C92DF42}"/>
              </a:ext>
            </a:extLst>
          </p:cNvPr>
          <p:cNvCxnSpPr>
            <a:cxnSpLocks/>
          </p:cNvCxnSpPr>
          <p:nvPr/>
        </p:nvCxnSpPr>
        <p:spPr>
          <a:xfrm flipV="1">
            <a:off x="3090230" y="3996783"/>
            <a:ext cx="423985" cy="2890"/>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4BF4DFEA-9AE9-4511-877A-9E4DDB1F1528}"/>
              </a:ext>
            </a:extLst>
          </p:cNvPr>
          <p:cNvCxnSpPr>
            <a:cxnSpLocks/>
          </p:cNvCxnSpPr>
          <p:nvPr/>
        </p:nvCxnSpPr>
        <p:spPr>
          <a:xfrm flipV="1">
            <a:off x="3242630" y="4149183"/>
            <a:ext cx="423985" cy="2890"/>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96559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349B6E-77D9-41E9-9A9C-D87B21CCA451}"/>
              </a:ext>
            </a:extLst>
          </p:cNvPr>
          <p:cNvSpPr>
            <a:spLocks noGrp="1"/>
          </p:cNvSpPr>
          <p:nvPr>
            <p:ph type="title"/>
          </p:nvPr>
        </p:nvSpPr>
        <p:spPr/>
        <p:txBody>
          <a:bodyPr>
            <a:normAutofit/>
          </a:bodyPr>
          <a:lstStyle/>
          <a:p>
            <a:r>
              <a:rPr lang="en-IN" sz="3600" dirty="0">
                <a:latin typeface="Century" panose="02040604050505020304" pitchFamily="18" charset="0"/>
              </a:rPr>
              <a:t>Multi-head Self-attention Layer</a:t>
            </a:r>
            <a:endParaRPr lang="en-IN" sz="3600" dirty="0"/>
          </a:p>
        </p:txBody>
      </p:sp>
      <p:sp>
        <p:nvSpPr>
          <p:cNvPr id="4" name="Content Placeholder 3">
            <a:extLst>
              <a:ext uri="{FF2B5EF4-FFF2-40B4-BE49-F238E27FC236}">
                <a16:creationId xmlns:a16="http://schemas.microsoft.com/office/drawing/2014/main" id="{F2A9045C-4D75-430F-9E37-1464F6A45C6E}"/>
              </a:ext>
            </a:extLst>
          </p:cNvPr>
          <p:cNvSpPr>
            <a:spLocks noGrp="1"/>
          </p:cNvSpPr>
          <p:nvPr>
            <p:ph idx="1"/>
          </p:nvPr>
        </p:nvSpPr>
        <p:spPr/>
        <p:txBody>
          <a:bodyPr>
            <a:normAutofit lnSpcReduction="10000"/>
          </a:bodyPr>
          <a:lstStyle/>
          <a:p>
            <a:pPr algn="just"/>
            <a:r>
              <a:rPr lang="en-US" sz="2000" dirty="0">
                <a:latin typeface="Arial Narrow" panose="020B0606020202030204" pitchFamily="34" charset="0"/>
              </a:rPr>
              <a:t>The Multi-Head Self-Attention layer is a key component of the Transformer architecture that allows the model to focus on different parts of an input sequence simultaneously.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It works by transforming the input into three representations called </a:t>
            </a:r>
            <a:r>
              <a:rPr lang="en-US" sz="2000" b="1" dirty="0">
                <a:latin typeface="Arial Narrow" panose="020B0606020202030204" pitchFamily="34" charset="0"/>
              </a:rPr>
              <a:t>Query (Q), Key (K), and Value (V)</a:t>
            </a:r>
            <a:r>
              <a:rPr lang="en-US" sz="2000" dirty="0">
                <a:latin typeface="Arial Narrow" panose="020B0606020202030204" pitchFamily="34" charset="0"/>
              </a:rPr>
              <a:t> and calculating attention scores to determine how strongly each word should attend to other words in the sequence.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In multi-head attention, this process is performed across multiple attention heads, allowing the model to capture different types of relationships and contextual information at the same time. The outputs from all the attention heads are then combined and passed through a linear transformation.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This mechanism enables Transformers to understand long-range dependencies and the relationships between words efficiently, making it essential for tasks such as machine translation, text generation, and language understanding.</a:t>
            </a:r>
            <a:endParaRPr lang="en-IN" sz="2000" dirty="0">
              <a:latin typeface="Arial Narrow" panose="020B0606020202030204" pitchFamily="34" charset="0"/>
            </a:endParaRPr>
          </a:p>
        </p:txBody>
      </p:sp>
    </p:spTree>
    <p:extLst>
      <p:ext uri="{BB962C8B-B14F-4D97-AF65-F5344CB8AC3E}">
        <p14:creationId xmlns:p14="http://schemas.microsoft.com/office/powerpoint/2010/main" val="29756761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C0F3B0-D241-411D-8F05-E958784E2EBF}"/>
              </a:ext>
            </a:extLst>
          </p:cNvPr>
          <p:cNvSpPr>
            <a:spLocks noGrp="1"/>
          </p:cNvSpPr>
          <p:nvPr>
            <p:ph idx="1"/>
          </p:nvPr>
        </p:nvSpPr>
        <p:spPr/>
        <p:txBody>
          <a:bodyPr>
            <a:normAutofit/>
          </a:bodyPr>
          <a:lstStyle/>
          <a:p>
            <a:r>
              <a:rPr lang="en-IN" sz="2000" dirty="0">
                <a:latin typeface="Arial Narrow" panose="020B0606020202030204" pitchFamily="34" charset="0"/>
              </a:rPr>
              <a:t>Consider the sentence:</a:t>
            </a:r>
          </a:p>
          <a:p>
            <a:endParaRPr lang="en-IN" sz="2000" dirty="0">
              <a:latin typeface="Arial Narrow" panose="020B0606020202030204" pitchFamily="34" charset="0"/>
            </a:endParaRPr>
          </a:p>
          <a:p>
            <a:r>
              <a:rPr lang="en-IN" sz="2000" dirty="0">
                <a:latin typeface="Arial Narrow" panose="020B0606020202030204" pitchFamily="34" charset="0"/>
              </a:rPr>
              <a:t>“</a:t>
            </a:r>
            <a:r>
              <a:rPr lang="en-IN" sz="2000" i="1" dirty="0">
                <a:solidFill>
                  <a:srgbClr val="7030A0"/>
                </a:solidFill>
                <a:latin typeface="Arial Narrow" panose="020B0606020202030204" pitchFamily="34" charset="0"/>
              </a:rPr>
              <a:t>The cat sat on the mat because it was tired</a:t>
            </a:r>
            <a:r>
              <a:rPr lang="en-IN" sz="2000" dirty="0">
                <a:latin typeface="Arial Narrow" panose="020B0606020202030204" pitchFamily="34" charset="0"/>
              </a:rPr>
              <a:t>.”</a:t>
            </a:r>
          </a:p>
          <a:p>
            <a:endParaRPr lang="en-IN" sz="2000" dirty="0">
              <a:latin typeface="Arial Narrow" panose="020B0606020202030204" pitchFamily="34" charset="0"/>
            </a:endParaRPr>
          </a:p>
          <a:p>
            <a:r>
              <a:rPr lang="en-IN" sz="2000" dirty="0">
                <a:latin typeface="Arial Narrow" panose="020B0606020202030204" pitchFamily="34" charset="0"/>
              </a:rPr>
              <a:t> The word “</a:t>
            </a:r>
            <a:r>
              <a:rPr lang="en-IN" sz="2000" dirty="0">
                <a:solidFill>
                  <a:srgbClr val="7030A0"/>
                </a:solidFill>
                <a:latin typeface="Arial Narrow" panose="020B0606020202030204" pitchFamily="34" charset="0"/>
              </a:rPr>
              <a:t>it</a:t>
            </a:r>
            <a:r>
              <a:rPr lang="en-IN" sz="2000" dirty="0">
                <a:latin typeface="Arial Narrow" panose="020B0606020202030204" pitchFamily="34" charset="0"/>
              </a:rPr>
              <a:t>” refers to “</a:t>
            </a:r>
            <a:r>
              <a:rPr lang="en-IN" sz="2000" dirty="0">
                <a:solidFill>
                  <a:srgbClr val="7030A0"/>
                </a:solidFill>
                <a:latin typeface="Arial Narrow" panose="020B0606020202030204" pitchFamily="34" charset="0"/>
              </a:rPr>
              <a:t>the cat.</a:t>
            </a:r>
            <a:r>
              <a:rPr lang="en-IN" sz="2000" dirty="0">
                <a:latin typeface="Arial Narrow" panose="020B0606020202030204" pitchFamily="34" charset="0"/>
              </a:rPr>
              <a:t>” A Transformer needs to understand this relationship.</a:t>
            </a:r>
          </a:p>
          <a:p>
            <a:endParaRPr lang="en-IN" sz="2000" dirty="0">
              <a:latin typeface="Arial Narrow" panose="020B0606020202030204" pitchFamily="34" charset="0"/>
            </a:endParaRPr>
          </a:p>
          <a:p>
            <a:r>
              <a:rPr lang="en-IN" sz="2000" dirty="0">
                <a:latin typeface="Arial Narrow" panose="020B0606020202030204" pitchFamily="34" charset="0"/>
              </a:rPr>
              <a:t>In self-attention, each word looks at all the other words in the sentence and determines which ones are important for understanding its meaning. </a:t>
            </a:r>
          </a:p>
          <a:p>
            <a:endParaRPr lang="en-IN" sz="2000" dirty="0">
              <a:latin typeface="Arial Narrow" panose="020B0606020202030204" pitchFamily="34" charset="0"/>
            </a:endParaRPr>
          </a:p>
          <a:p>
            <a:r>
              <a:rPr lang="en-IN" sz="2000" dirty="0">
                <a:latin typeface="Arial Narrow" panose="020B0606020202030204" pitchFamily="34" charset="0"/>
              </a:rPr>
              <a:t>For example, when processing “</a:t>
            </a:r>
            <a:r>
              <a:rPr lang="en-IN" sz="2000" dirty="0">
                <a:solidFill>
                  <a:srgbClr val="7030A0"/>
                </a:solidFill>
                <a:latin typeface="Arial Narrow" panose="020B0606020202030204" pitchFamily="34" charset="0"/>
              </a:rPr>
              <a:t>it</a:t>
            </a:r>
            <a:r>
              <a:rPr lang="en-IN" sz="2000" dirty="0">
                <a:latin typeface="Arial Narrow" panose="020B0606020202030204" pitchFamily="34" charset="0"/>
              </a:rPr>
              <a:t>,” the model may give a high attention score to “</a:t>
            </a:r>
            <a:r>
              <a:rPr lang="en-IN" sz="2000" dirty="0">
                <a:solidFill>
                  <a:srgbClr val="7030A0"/>
                </a:solidFill>
                <a:latin typeface="Arial Narrow" panose="020B0606020202030204" pitchFamily="34" charset="0"/>
              </a:rPr>
              <a:t>cat</a:t>
            </a:r>
            <a:r>
              <a:rPr lang="en-IN" sz="2000" dirty="0">
                <a:latin typeface="Arial Narrow" panose="020B0606020202030204" pitchFamily="34" charset="0"/>
              </a:rPr>
              <a:t>” because they are related.</a:t>
            </a:r>
          </a:p>
          <a:p>
            <a:pPr marL="0" indent="0">
              <a:buNone/>
            </a:pPr>
            <a:endParaRPr lang="en-IN" dirty="0"/>
          </a:p>
        </p:txBody>
      </p:sp>
      <p:sp>
        <p:nvSpPr>
          <p:cNvPr id="6" name="Title 2">
            <a:extLst>
              <a:ext uri="{FF2B5EF4-FFF2-40B4-BE49-F238E27FC236}">
                <a16:creationId xmlns:a16="http://schemas.microsoft.com/office/drawing/2014/main" id="{ED007B2F-268F-4EDC-A3C7-620BCDC5903B}"/>
              </a:ext>
            </a:extLst>
          </p:cNvPr>
          <p:cNvSpPr>
            <a:spLocks noGrp="1"/>
          </p:cNvSpPr>
          <p:nvPr>
            <p:ph type="title"/>
          </p:nvPr>
        </p:nvSpPr>
        <p:spPr>
          <a:xfrm>
            <a:off x="838200" y="365125"/>
            <a:ext cx="10515600" cy="1325563"/>
          </a:xfrm>
        </p:spPr>
        <p:txBody>
          <a:bodyPr>
            <a:normAutofit/>
          </a:bodyPr>
          <a:lstStyle/>
          <a:p>
            <a:r>
              <a:rPr lang="en-IN" sz="3600" dirty="0">
                <a:latin typeface="Century" panose="02040604050505020304" pitchFamily="18" charset="0"/>
              </a:rPr>
              <a:t>Multi-head Self-attention Layer</a:t>
            </a:r>
            <a:endParaRPr lang="en-IN" sz="3600" dirty="0"/>
          </a:p>
        </p:txBody>
      </p:sp>
    </p:spTree>
    <p:extLst>
      <p:ext uri="{BB962C8B-B14F-4D97-AF65-F5344CB8AC3E}">
        <p14:creationId xmlns:p14="http://schemas.microsoft.com/office/powerpoint/2010/main" val="679840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CF228E-8F0E-47C6-8B53-E758812C1ECB}"/>
              </a:ext>
            </a:extLst>
          </p:cNvPr>
          <p:cNvSpPr>
            <a:spLocks noGrp="1"/>
          </p:cNvSpPr>
          <p:nvPr>
            <p:ph idx="1"/>
          </p:nvPr>
        </p:nvSpPr>
        <p:spPr/>
        <p:txBody>
          <a:bodyPr/>
          <a:lstStyle/>
          <a:p>
            <a:pPr algn="just"/>
            <a:r>
              <a:rPr lang="en-US" sz="2000" dirty="0">
                <a:latin typeface="Arial Narrow" panose="020B0606020202030204" pitchFamily="34" charset="0"/>
              </a:rPr>
              <a:t>Multi-head self-attention means that this process is performed by several attention heads simultaneously. Each head can learn a different type of relationship. </a:t>
            </a:r>
          </a:p>
          <a:p>
            <a:pPr algn="just"/>
            <a:r>
              <a:rPr lang="en-US" sz="2000" dirty="0">
                <a:latin typeface="Arial Narrow" panose="020B0606020202030204" pitchFamily="34" charset="0"/>
              </a:rPr>
              <a:t>For example:</a:t>
            </a:r>
          </a:p>
          <a:p>
            <a:pPr lvl="1" algn="just"/>
            <a:r>
              <a:rPr lang="en-US" sz="2000" dirty="0">
                <a:latin typeface="Arial Narrow" panose="020B0606020202030204" pitchFamily="34" charset="0"/>
              </a:rPr>
              <a:t>Head 1: focuses on </a:t>
            </a:r>
            <a:r>
              <a:rPr lang="en-US" sz="2000" dirty="0">
                <a:solidFill>
                  <a:srgbClr val="7030A0"/>
                </a:solidFill>
                <a:latin typeface="Arial Narrow" panose="020B0606020202030204" pitchFamily="34" charset="0"/>
              </a:rPr>
              <a:t>grammatical relationships</a:t>
            </a:r>
            <a:r>
              <a:rPr lang="en-US" sz="2000" dirty="0">
                <a:latin typeface="Arial Narrow" panose="020B0606020202030204" pitchFamily="34" charset="0"/>
              </a:rPr>
              <a:t>, such as “</a:t>
            </a:r>
            <a:r>
              <a:rPr lang="en-US" sz="2000" dirty="0">
                <a:solidFill>
                  <a:srgbClr val="7030A0"/>
                </a:solidFill>
                <a:latin typeface="Arial Narrow" panose="020B0606020202030204" pitchFamily="34" charset="0"/>
              </a:rPr>
              <a:t>it” → “cat</a:t>
            </a:r>
            <a:r>
              <a:rPr lang="en-US" sz="2000" dirty="0">
                <a:latin typeface="Arial Narrow" panose="020B0606020202030204" pitchFamily="34" charset="0"/>
              </a:rPr>
              <a:t>.”</a:t>
            </a:r>
          </a:p>
          <a:p>
            <a:pPr lvl="1" algn="just"/>
            <a:r>
              <a:rPr lang="en-US" sz="2000" dirty="0">
                <a:latin typeface="Arial Narrow" panose="020B0606020202030204" pitchFamily="34" charset="0"/>
              </a:rPr>
              <a:t>Head 2: focuses on </a:t>
            </a:r>
            <a:r>
              <a:rPr lang="en-US" sz="2000" dirty="0">
                <a:solidFill>
                  <a:srgbClr val="7030A0"/>
                </a:solidFill>
                <a:latin typeface="Arial Narrow" panose="020B0606020202030204" pitchFamily="34" charset="0"/>
              </a:rPr>
              <a:t>positional relationships</a:t>
            </a:r>
            <a:r>
              <a:rPr lang="en-US" sz="2000" dirty="0">
                <a:latin typeface="Arial Narrow" panose="020B0606020202030204" pitchFamily="34" charset="0"/>
              </a:rPr>
              <a:t>, such as </a:t>
            </a:r>
            <a:r>
              <a:rPr lang="en-US" sz="2000" dirty="0">
                <a:solidFill>
                  <a:srgbClr val="7030A0"/>
                </a:solidFill>
                <a:latin typeface="Arial Narrow" panose="020B0606020202030204" pitchFamily="34" charset="0"/>
              </a:rPr>
              <a:t>nearby words</a:t>
            </a:r>
            <a:r>
              <a:rPr lang="en-US" sz="2000" dirty="0">
                <a:latin typeface="Arial Narrow" panose="020B0606020202030204" pitchFamily="34" charset="0"/>
              </a:rPr>
              <a:t>.</a:t>
            </a:r>
          </a:p>
          <a:p>
            <a:pPr lvl="1" algn="just"/>
            <a:r>
              <a:rPr lang="en-US" sz="2000" dirty="0">
                <a:latin typeface="Arial Narrow" panose="020B0606020202030204" pitchFamily="34" charset="0"/>
              </a:rPr>
              <a:t>Head 3: focuses on </a:t>
            </a:r>
            <a:r>
              <a:rPr lang="en-US" sz="2000" dirty="0">
                <a:solidFill>
                  <a:srgbClr val="7030A0"/>
                </a:solidFill>
                <a:latin typeface="Arial Narrow" panose="020B0606020202030204" pitchFamily="34" charset="0"/>
              </a:rPr>
              <a:t>semantic relationships</a:t>
            </a:r>
            <a:r>
              <a:rPr lang="en-US" sz="2000" dirty="0">
                <a:latin typeface="Arial Narrow" panose="020B0606020202030204" pitchFamily="34" charset="0"/>
              </a:rPr>
              <a:t>, such as </a:t>
            </a:r>
            <a:r>
              <a:rPr lang="en-US" sz="2000" dirty="0">
                <a:solidFill>
                  <a:srgbClr val="7030A0"/>
                </a:solidFill>
                <a:latin typeface="Arial Narrow" panose="020B0606020202030204" pitchFamily="34" charset="0"/>
              </a:rPr>
              <a:t>“tired” </a:t>
            </a:r>
            <a:r>
              <a:rPr lang="en-US" sz="2000" dirty="0">
                <a:latin typeface="Arial Narrow" panose="020B0606020202030204" pitchFamily="34" charset="0"/>
              </a:rPr>
              <a:t>being related to </a:t>
            </a:r>
            <a:r>
              <a:rPr lang="en-US" sz="2000" dirty="0">
                <a:solidFill>
                  <a:srgbClr val="7030A0"/>
                </a:solidFill>
                <a:latin typeface="Arial Narrow" panose="020B0606020202030204" pitchFamily="34" charset="0"/>
              </a:rPr>
              <a:t>“cat.”</a:t>
            </a:r>
          </a:p>
          <a:p>
            <a:pPr lvl="1" algn="just"/>
            <a:r>
              <a:rPr lang="en-US" sz="2000" dirty="0">
                <a:latin typeface="Arial Narrow" panose="020B0606020202030204" pitchFamily="34" charset="0"/>
              </a:rPr>
              <a:t>Head 4: may focus on </a:t>
            </a:r>
            <a:r>
              <a:rPr lang="en-US" sz="2000" dirty="0">
                <a:solidFill>
                  <a:srgbClr val="7030A0"/>
                </a:solidFill>
                <a:latin typeface="Arial Narrow" panose="020B0606020202030204" pitchFamily="34" charset="0"/>
              </a:rPr>
              <a:t>relationships between verbs and their subjects</a:t>
            </a:r>
            <a:r>
              <a:rPr lang="en-US" sz="2000" dirty="0">
                <a:latin typeface="Arial Narrow" panose="020B0606020202030204" pitchFamily="34" charset="0"/>
              </a:rPr>
              <a:t>.</a:t>
            </a:r>
          </a:p>
          <a:p>
            <a:pPr algn="just"/>
            <a:r>
              <a:rPr lang="en-US" sz="2000" dirty="0">
                <a:latin typeface="Arial Narrow" panose="020B0606020202030204" pitchFamily="34" charset="0"/>
              </a:rPr>
              <a:t>Each attention head produces its own output. </a:t>
            </a:r>
          </a:p>
          <a:p>
            <a:pPr algn="just"/>
            <a:r>
              <a:rPr lang="en-US" sz="2000" dirty="0">
                <a:latin typeface="Arial Narrow" panose="020B0606020202030204" pitchFamily="34" charset="0"/>
              </a:rPr>
              <a:t>These outputs are then concatenated and passed through a linear layer to produce the final representation.</a:t>
            </a:r>
          </a:p>
          <a:p>
            <a:pPr algn="just"/>
            <a:r>
              <a:rPr lang="en-US" sz="2000" dirty="0">
                <a:latin typeface="Arial Narrow" panose="020B0606020202030204" pitchFamily="34" charset="0"/>
              </a:rPr>
              <a:t>In simple terms, </a:t>
            </a:r>
            <a:r>
              <a:rPr lang="en-US" sz="2000" dirty="0">
                <a:solidFill>
                  <a:srgbClr val="7030A0"/>
                </a:solidFill>
                <a:latin typeface="Arial Narrow" panose="020B0606020202030204" pitchFamily="34" charset="0"/>
              </a:rPr>
              <a:t>multi-head self-attention </a:t>
            </a:r>
            <a:r>
              <a:rPr lang="en-US" sz="2000" dirty="0">
                <a:latin typeface="Arial Narrow" panose="020B0606020202030204" pitchFamily="34" charset="0"/>
              </a:rPr>
              <a:t>allows the Transformer to </a:t>
            </a:r>
            <a:r>
              <a:rPr lang="en-US" sz="2000" dirty="0">
                <a:solidFill>
                  <a:srgbClr val="7030A0"/>
                </a:solidFill>
                <a:latin typeface="Arial Narrow" panose="020B0606020202030204" pitchFamily="34" charset="0"/>
              </a:rPr>
              <a:t>look at the same sentence from multiple perspectives at the same time</a:t>
            </a:r>
            <a:r>
              <a:rPr lang="en-US" sz="2000" dirty="0">
                <a:latin typeface="Arial Narrow" panose="020B0606020202030204" pitchFamily="34" charset="0"/>
              </a:rPr>
              <a:t>, helping it understand both the </a:t>
            </a:r>
            <a:r>
              <a:rPr lang="en-US" sz="2000" dirty="0">
                <a:solidFill>
                  <a:srgbClr val="7030A0"/>
                </a:solidFill>
                <a:latin typeface="Arial Narrow" panose="020B0606020202030204" pitchFamily="34" charset="0"/>
              </a:rPr>
              <a:t>meaning of individual words and their relationships with other words</a:t>
            </a:r>
            <a:r>
              <a:rPr lang="en-US" sz="2000" dirty="0">
                <a:latin typeface="Arial Narrow" panose="020B0606020202030204" pitchFamily="34" charset="0"/>
              </a:rPr>
              <a:t>.</a:t>
            </a:r>
          </a:p>
          <a:p>
            <a:endParaRPr lang="en-IN" sz="2000" dirty="0">
              <a:latin typeface="Arial Narrow" panose="020B0606020202030204" pitchFamily="34" charset="0"/>
            </a:endParaRPr>
          </a:p>
          <a:p>
            <a:endParaRPr lang="en-IN" dirty="0"/>
          </a:p>
        </p:txBody>
      </p:sp>
      <p:sp>
        <p:nvSpPr>
          <p:cNvPr id="4" name="Title 2">
            <a:extLst>
              <a:ext uri="{FF2B5EF4-FFF2-40B4-BE49-F238E27FC236}">
                <a16:creationId xmlns:a16="http://schemas.microsoft.com/office/drawing/2014/main" id="{A807CCE5-A330-4F44-B307-D5E385E71D6B}"/>
              </a:ext>
            </a:extLst>
          </p:cNvPr>
          <p:cNvSpPr>
            <a:spLocks noGrp="1"/>
          </p:cNvSpPr>
          <p:nvPr>
            <p:ph type="title"/>
          </p:nvPr>
        </p:nvSpPr>
        <p:spPr>
          <a:xfrm>
            <a:off x="838200" y="365125"/>
            <a:ext cx="10515600" cy="1325563"/>
          </a:xfrm>
        </p:spPr>
        <p:txBody>
          <a:bodyPr>
            <a:normAutofit/>
          </a:bodyPr>
          <a:lstStyle/>
          <a:p>
            <a:r>
              <a:rPr lang="en-IN" sz="3600" dirty="0">
                <a:latin typeface="Century" panose="02040604050505020304" pitchFamily="18" charset="0"/>
              </a:rPr>
              <a:t>Multi-head Self-attention Layer</a:t>
            </a:r>
            <a:endParaRPr lang="en-IN" sz="3600" dirty="0"/>
          </a:p>
        </p:txBody>
      </p:sp>
    </p:spTree>
    <p:extLst>
      <p:ext uri="{BB962C8B-B14F-4D97-AF65-F5344CB8AC3E}">
        <p14:creationId xmlns:p14="http://schemas.microsoft.com/office/powerpoint/2010/main" val="5258126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63" name="TextBox 262">
                <a:extLst>
                  <a:ext uri="{FF2B5EF4-FFF2-40B4-BE49-F238E27FC236}">
                    <a16:creationId xmlns:a16="http://schemas.microsoft.com/office/drawing/2014/main" id="{677F8782-1613-4C1C-8BB8-6FFA94172DB3}"/>
                  </a:ext>
                </a:extLst>
              </p:cNvPr>
              <p:cNvSpPr txBox="1"/>
              <p:nvPr/>
            </p:nvSpPr>
            <p:spPr>
              <a:xfrm>
                <a:off x="10126127" y="3134043"/>
                <a:ext cx="493059" cy="400110"/>
              </a:xfrm>
              <a:prstGeom prst="rect">
                <a:avLst/>
              </a:prstGeom>
              <a:solidFill>
                <a:schemeClr val="bg1"/>
              </a:solidFill>
              <a:ln w="12700">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000" i="1" smtClean="0">
                              <a:latin typeface="Cambria Math" panose="02040503050406030204" pitchFamily="18" charset="0"/>
                            </a:rPr>
                          </m:ctrlPr>
                        </m:sSubPr>
                        <m:e>
                          <m:r>
                            <a:rPr lang="en-IN" sz="2000" b="0" i="1" smtClean="0">
                              <a:latin typeface="Cambria Math" panose="02040503050406030204" pitchFamily="18" charset="0"/>
                            </a:rPr>
                            <m:t>𝑦</m:t>
                          </m:r>
                        </m:e>
                        <m:sub>
                          <m:r>
                            <a:rPr lang="en-IN" sz="2000" b="0" i="1" smtClean="0">
                              <a:latin typeface="Cambria Math" panose="02040503050406030204" pitchFamily="18" charset="0"/>
                            </a:rPr>
                            <m:t>1</m:t>
                          </m:r>
                        </m:sub>
                      </m:sSub>
                    </m:oMath>
                  </m:oMathPara>
                </a14:m>
                <a:endParaRPr lang="en-IN" sz="2000" dirty="0"/>
              </a:p>
            </p:txBody>
          </p:sp>
        </mc:Choice>
        <mc:Fallback xmlns="">
          <p:sp>
            <p:nvSpPr>
              <p:cNvPr id="263" name="TextBox 262">
                <a:extLst>
                  <a:ext uri="{FF2B5EF4-FFF2-40B4-BE49-F238E27FC236}">
                    <a16:creationId xmlns:a16="http://schemas.microsoft.com/office/drawing/2014/main" id="{677F8782-1613-4C1C-8BB8-6FFA94172DB3}"/>
                  </a:ext>
                </a:extLst>
              </p:cNvPr>
              <p:cNvSpPr txBox="1">
                <a:spLocks noRot="1" noChangeAspect="1" noMove="1" noResize="1" noEditPoints="1" noAdjustHandles="1" noChangeArrowheads="1" noChangeShapeType="1" noTextEdit="1"/>
              </p:cNvSpPr>
              <p:nvPr/>
            </p:nvSpPr>
            <p:spPr>
              <a:xfrm>
                <a:off x="10126127" y="3134043"/>
                <a:ext cx="493059" cy="400110"/>
              </a:xfrm>
              <a:prstGeom prst="rect">
                <a:avLst/>
              </a:prstGeom>
              <a:blipFill>
                <a:blip r:embed="rId2"/>
                <a:stretch>
                  <a:fillRect b="-7576"/>
                </a:stretch>
              </a:blipFill>
              <a:ln w="1270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4" name="TextBox 263">
                <a:extLst>
                  <a:ext uri="{FF2B5EF4-FFF2-40B4-BE49-F238E27FC236}">
                    <a16:creationId xmlns:a16="http://schemas.microsoft.com/office/drawing/2014/main" id="{6332A9C5-DA97-480E-BC04-8B4CF24F795A}"/>
                  </a:ext>
                </a:extLst>
              </p:cNvPr>
              <p:cNvSpPr txBox="1"/>
              <p:nvPr/>
            </p:nvSpPr>
            <p:spPr>
              <a:xfrm>
                <a:off x="10126128" y="3702255"/>
                <a:ext cx="493059" cy="400110"/>
              </a:xfrm>
              <a:prstGeom prst="rect">
                <a:avLst/>
              </a:prstGeom>
              <a:solidFill>
                <a:schemeClr val="bg1"/>
              </a:solidFill>
              <a:ln w="12700">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000" i="1" smtClean="0">
                              <a:latin typeface="Cambria Math" panose="02040503050406030204" pitchFamily="18" charset="0"/>
                            </a:rPr>
                          </m:ctrlPr>
                        </m:sSubPr>
                        <m:e>
                          <m:r>
                            <a:rPr lang="en-IN" sz="2000" b="0" i="1" smtClean="0">
                              <a:latin typeface="Cambria Math" panose="02040503050406030204" pitchFamily="18" charset="0"/>
                            </a:rPr>
                            <m:t>𝑦</m:t>
                          </m:r>
                        </m:e>
                        <m:sub>
                          <m:r>
                            <a:rPr lang="en-IN" sz="2000" b="0" i="1" smtClean="0">
                              <a:latin typeface="Cambria Math" panose="02040503050406030204" pitchFamily="18" charset="0"/>
                            </a:rPr>
                            <m:t>2</m:t>
                          </m:r>
                        </m:sub>
                      </m:sSub>
                    </m:oMath>
                  </m:oMathPara>
                </a14:m>
                <a:endParaRPr lang="en-IN" sz="2000" dirty="0"/>
              </a:p>
            </p:txBody>
          </p:sp>
        </mc:Choice>
        <mc:Fallback xmlns="">
          <p:sp>
            <p:nvSpPr>
              <p:cNvPr id="264" name="TextBox 263">
                <a:extLst>
                  <a:ext uri="{FF2B5EF4-FFF2-40B4-BE49-F238E27FC236}">
                    <a16:creationId xmlns:a16="http://schemas.microsoft.com/office/drawing/2014/main" id="{6332A9C5-DA97-480E-BC04-8B4CF24F795A}"/>
                  </a:ext>
                </a:extLst>
              </p:cNvPr>
              <p:cNvSpPr txBox="1">
                <a:spLocks noRot="1" noChangeAspect="1" noMove="1" noResize="1" noEditPoints="1" noAdjustHandles="1" noChangeArrowheads="1" noChangeShapeType="1" noTextEdit="1"/>
              </p:cNvSpPr>
              <p:nvPr/>
            </p:nvSpPr>
            <p:spPr>
              <a:xfrm>
                <a:off x="10126128" y="3702255"/>
                <a:ext cx="493059" cy="400110"/>
              </a:xfrm>
              <a:prstGeom prst="rect">
                <a:avLst/>
              </a:prstGeom>
              <a:blipFill>
                <a:blip r:embed="rId3"/>
                <a:stretch>
                  <a:fillRect b="-7576"/>
                </a:stretch>
              </a:blipFill>
              <a:ln w="1270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5" name="TextBox 264">
                <a:extLst>
                  <a:ext uri="{FF2B5EF4-FFF2-40B4-BE49-F238E27FC236}">
                    <a16:creationId xmlns:a16="http://schemas.microsoft.com/office/drawing/2014/main" id="{394CBD96-0DFE-4A79-8DBD-5483DD684121}"/>
                  </a:ext>
                </a:extLst>
              </p:cNvPr>
              <p:cNvSpPr txBox="1"/>
              <p:nvPr/>
            </p:nvSpPr>
            <p:spPr>
              <a:xfrm>
                <a:off x="10126126" y="4292024"/>
                <a:ext cx="493059" cy="400110"/>
              </a:xfrm>
              <a:prstGeom prst="rect">
                <a:avLst/>
              </a:prstGeom>
              <a:solidFill>
                <a:schemeClr val="bg1"/>
              </a:solidFill>
              <a:ln w="12700">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000" i="1" smtClean="0">
                              <a:latin typeface="Cambria Math" panose="02040503050406030204" pitchFamily="18" charset="0"/>
                            </a:rPr>
                          </m:ctrlPr>
                        </m:sSubPr>
                        <m:e>
                          <m:r>
                            <a:rPr lang="en-IN" sz="2000" b="0" i="1" smtClean="0">
                              <a:latin typeface="Cambria Math" panose="02040503050406030204" pitchFamily="18" charset="0"/>
                            </a:rPr>
                            <m:t>𝑦</m:t>
                          </m:r>
                        </m:e>
                        <m:sub>
                          <m:r>
                            <a:rPr lang="en-IN" sz="2000" b="0" i="1" smtClean="0">
                              <a:latin typeface="Cambria Math" panose="02040503050406030204" pitchFamily="18" charset="0"/>
                            </a:rPr>
                            <m:t>3</m:t>
                          </m:r>
                        </m:sub>
                      </m:sSub>
                    </m:oMath>
                  </m:oMathPara>
                </a14:m>
                <a:endParaRPr lang="en-IN" sz="2000" dirty="0"/>
              </a:p>
            </p:txBody>
          </p:sp>
        </mc:Choice>
        <mc:Fallback xmlns="">
          <p:sp>
            <p:nvSpPr>
              <p:cNvPr id="265" name="TextBox 264">
                <a:extLst>
                  <a:ext uri="{FF2B5EF4-FFF2-40B4-BE49-F238E27FC236}">
                    <a16:creationId xmlns:a16="http://schemas.microsoft.com/office/drawing/2014/main" id="{394CBD96-0DFE-4A79-8DBD-5483DD684121}"/>
                  </a:ext>
                </a:extLst>
              </p:cNvPr>
              <p:cNvSpPr txBox="1">
                <a:spLocks noRot="1" noChangeAspect="1" noMove="1" noResize="1" noEditPoints="1" noAdjustHandles="1" noChangeArrowheads="1" noChangeShapeType="1" noTextEdit="1"/>
              </p:cNvSpPr>
              <p:nvPr/>
            </p:nvSpPr>
            <p:spPr>
              <a:xfrm>
                <a:off x="10126126" y="4292024"/>
                <a:ext cx="493059" cy="400110"/>
              </a:xfrm>
              <a:prstGeom prst="rect">
                <a:avLst/>
              </a:prstGeom>
              <a:blipFill>
                <a:blip r:embed="rId4"/>
                <a:stretch>
                  <a:fillRect b="-7576"/>
                </a:stretch>
              </a:blipFill>
              <a:ln w="12700">
                <a:noFill/>
              </a:ln>
            </p:spPr>
            <p:txBody>
              <a:bodyPr/>
              <a:lstStyle/>
              <a:p>
                <a:r>
                  <a:rPr lang="en-IN">
                    <a:noFill/>
                  </a:rPr>
                  <a:t> </a:t>
                </a:r>
              </a:p>
            </p:txBody>
          </p:sp>
        </mc:Fallback>
      </mc:AlternateContent>
      <p:sp>
        <p:nvSpPr>
          <p:cNvPr id="266" name="Rounded Rectangle 265"/>
          <p:cNvSpPr/>
          <p:nvPr/>
        </p:nvSpPr>
        <p:spPr>
          <a:xfrm>
            <a:off x="10089058" y="3090781"/>
            <a:ext cx="548148" cy="532121"/>
          </a:xfrm>
          <a:prstGeom prst="roundRect">
            <a:avLst/>
          </a:prstGeom>
          <a:solidFill>
            <a:srgbClr val="00B0F0">
              <a:alpha val="34000"/>
            </a:srgbClr>
          </a:solidFill>
          <a:ln w="158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7" name="Rounded Rectangle 266"/>
          <p:cNvSpPr/>
          <p:nvPr/>
        </p:nvSpPr>
        <p:spPr>
          <a:xfrm>
            <a:off x="10091058" y="3668727"/>
            <a:ext cx="548148" cy="532121"/>
          </a:xfrm>
          <a:prstGeom prst="roundRect">
            <a:avLst/>
          </a:prstGeom>
          <a:solidFill>
            <a:srgbClr val="00B0F0">
              <a:alpha val="34000"/>
            </a:srgbClr>
          </a:solidFill>
          <a:ln w="158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8" name="Rounded Rectangle 267"/>
          <p:cNvSpPr/>
          <p:nvPr/>
        </p:nvSpPr>
        <p:spPr>
          <a:xfrm>
            <a:off x="10089058" y="4269417"/>
            <a:ext cx="548148" cy="532121"/>
          </a:xfrm>
          <a:prstGeom prst="roundRect">
            <a:avLst/>
          </a:prstGeom>
          <a:solidFill>
            <a:srgbClr val="00B0F0">
              <a:alpha val="34000"/>
            </a:srgbClr>
          </a:solidFill>
          <a:ln w="158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17615514-B781-4EDA-A899-4674BFED655E}"/>
              </a:ext>
            </a:extLst>
          </p:cNvPr>
          <p:cNvSpPr>
            <a:spLocks noGrp="1"/>
          </p:cNvSpPr>
          <p:nvPr>
            <p:ph type="title"/>
          </p:nvPr>
        </p:nvSpPr>
        <p:spPr>
          <a:xfrm>
            <a:off x="632447" y="90800"/>
            <a:ext cx="10515600" cy="1125932"/>
          </a:xfrm>
        </p:spPr>
        <p:txBody>
          <a:bodyPr anchor="t">
            <a:normAutofit/>
          </a:bodyPr>
          <a:lstStyle/>
          <a:p>
            <a:r>
              <a:rPr lang="en-IN" sz="3200" dirty="0">
                <a:solidFill>
                  <a:srgbClr val="C00000"/>
                </a:solidFill>
                <a:latin typeface="Century" panose="02040604050505020304" pitchFamily="18" charset="0"/>
              </a:rPr>
              <a:t>Multi-head self attention layer</a:t>
            </a:r>
            <a:br>
              <a:rPr lang="en-IN" sz="3200" dirty="0">
                <a:latin typeface="Century" panose="02040604050505020304" pitchFamily="18" charset="0"/>
              </a:rPr>
            </a:br>
            <a:r>
              <a:rPr lang="en-US" sz="2400" dirty="0">
                <a:solidFill>
                  <a:srgbClr val="00B050"/>
                </a:solidFill>
                <a:latin typeface="Century" panose="02040604050505020304" pitchFamily="18" charset="0"/>
              </a:rPr>
              <a:t>Multiple self-attention heads in parallel</a:t>
            </a:r>
            <a:endParaRPr lang="en-IN" sz="2400" b="1" dirty="0">
              <a:solidFill>
                <a:srgbClr val="00B050"/>
              </a:solidFill>
              <a:latin typeface="Century" panose="02040604050505020304" pitchFamily="18" charset="0"/>
            </a:endParaRPr>
          </a:p>
        </p:txBody>
      </p:sp>
      <p:sp>
        <p:nvSpPr>
          <p:cNvPr id="112" name="TextBox 111">
            <a:extLst>
              <a:ext uri="{FF2B5EF4-FFF2-40B4-BE49-F238E27FC236}">
                <a16:creationId xmlns:a16="http://schemas.microsoft.com/office/drawing/2014/main" id="{37E7CDE0-A5E0-4DE8-937A-AC03F8CF592C}"/>
              </a:ext>
            </a:extLst>
          </p:cNvPr>
          <p:cNvSpPr txBox="1"/>
          <p:nvPr/>
        </p:nvSpPr>
        <p:spPr>
          <a:xfrm>
            <a:off x="5188053" y="966353"/>
            <a:ext cx="1411009" cy="400110"/>
          </a:xfrm>
          <a:prstGeom prst="rect">
            <a:avLst/>
          </a:prstGeom>
          <a:noFill/>
        </p:spPr>
        <p:txBody>
          <a:bodyPr wrap="square" rtlCol="0">
            <a:spAutoFit/>
          </a:bodyPr>
          <a:lstStyle/>
          <a:p>
            <a:pPr algn="ctr"/>
            <a:r>
              <a:rPr lang="en-IN" sz="2000" dirty="0">
                <a:solidFill>
                  <a:srgbClr val="7030A0"/>
                </a:solidFill>
                <a:latin typeface="Arial Narrow" panose="020B0606020202030204" pitchFamily="34" charset="0"/>
                <a:cs typeface="Times New Roman" panose="02020603050405020304" pitchFamily="18" charset="0"/>
              </a:rPr>
              <a:t>Head 1</a:t>
            </a:r>
          </a:p>
        </p:txBody>
      </p:sp>
      <mc:AlternateContent xmlns:mc="http://schemas.openxmlformats.org/markup-compatibility/2006" xmlns:a14="http://schemas.microsoft.com/office/drawing/2010/main">
        <mc:Choice Requires="a14">
          <p:sp>
            <p:nvSpPr>
              <p:cNvPr id="117" name="TextBox 116">
                <a:extLst>
                  <a:ext uri="{FF2B5EF4-FFF2-40B4-BE49-F238E27FC236}">
                    <a16:creationId xmlns:a16="http://schemas.microsoft.com/office/drawing/2014/main" id="{677F8782-1613-4C1C-8BB8-6FFA94172DB3}"/>
                  </a:ext>
                </a:extLst>
              </p:cNvPr>
              <p:cNvSpPr txBox="1"/>
              <p:nvPr/>
            </p:nvSpPr>
            <p:spPr>
              <a:xfrm>
                <a:off x="1383903" y="3134043"/>
                <a:ext cx="493059" cy="400110"/>
              </a:xfrm>
              <a:prstGeom prst="rect">
                <a:avLst/>
              </a:prstGeom>
              <a:solidFill>
                <a:schemeClr val="bg1"/>
              </a:solidFill>
              <a:ln w="12700">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000" i="1" smtClean="0">
                              <a:latin typeface="Cambria Math" panose="02040503050406030204" pitchFamily="18" charset="0"/>
                            </a:rPr>
                          </m:ctrlPr>
                        </m:sSubPr>
                        <m:e>
                          <m:r>
                            <a:rPr lang="en-IN" sz="2000" b="0" i="1" smtClean="0">
                              <a:latin typeface="Cambria Math" panose="02040503050406030204" pitchFamily="18" charset="0"/>
                            </a:rPr>
                            <m:t>𝑥</m:t>
                          </m:r>
                        </m:e>
                        <m:sub>
                          <m:r>
                            <a:rPr lang="en-IN" sz="2000" b="0" i="1" smtClean="0">
                              <a:latin typeface="Cambria Math" panose="02040503050406030204" pitchFamily="18" charset="0"/>
                            </a:rPr>
                            <m:t>1</m:t>
                          </m:r>
                        </m:sub>
                      </m:sSub>
                    </m:oMath>
                  </m:oMathPara>
                </a14:m>
                <a:endParaRPr lang="en-IN" sz="2000" dirty="0"/>
              </a:p>
            </p:txBody>
          </p:sp>
        </mc:Choice>
        <mc:Fallback xmlns="">
          <p:sp>
            <p:nvSpPr>
              <p:cNvPr id="117" name="TextBox 116">
                <a:extLst>
                  <a:ext uri="{FF2B5EF4-FFF2-40B4-BE49-F238E27FC236}">
                    <a16:creationId xmlns:a16="http://schemas.microsoft.com/office/drawing/2014/main" id="{677F8782-1613-4C1C-8BB8-6FFA94172DB3}"/>
                  </a:ext>
                </a:extLst>
              </p:cNvPr>
              <p:cNvSpPr txBox="1">
                <a:spLocks noRot="1" noChangeAspect="1" noMove="1" noResize="1" noEditPoints="1" noAdjustHandles="1" noChangeArrowheads="1" noChangeShapeType="1" noTextEdit="1"/>
              </p:cNvSpPr>
              <p:nvPr/>
            </p:nvSpPr>
            <p:spPr>
              <a:xfrm>
                <a:off x="1383903" y="3134043"/>
                <a:ext cx="493059" cy="400110"/>
              </a:xfrm>
              <a:prstGeom prst="rect">
                <a:avLst/>
              </a:prstGeom>
              <a:blipFill>
                <a:blip r:embed="rId5"/>
                <a:stretch>
                  <a:fillRect/>
                </a:stretch>
              </a:blipFill>
              <a:ln w="1270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8" name="TextBox 117">
                <a:extLst>
                  <a:ext uri="{FF2B5EF4-FFF2-40B4-BE49-F238E27FC236}">
                    <a16:creationId xmlns:a16="http://schemas.microsoft.com/office/drawing/2014/main" id="{6332A9C5-DA97-480E-BC04-8B4CF24F795A}"/>
                  </a:ext>
                </a:extLst>
              </p:cNvPr>
              <p:cNvSpPr txBox="1"/>
              <p:nvPr/>
            </p:nvSpPr>
            <p:spPr>
              <a:xfrm>
                <a:off x="1383904" y="3702255"/>
                <a:ext cx="493059" cy="400110"/>
              </a:xfrm>
              <a:prstGeom prst="rect">
                <a:avLst/>
              </a:prstGeom>
              <a:solidFill>
                <a:schemeClr val="bg1"/>
              </a:solidFill>
              <a:ln w="12700">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000" i="1" smtClean="0">
                              <a:latin typeface="Cambria Math" panose="02040503050406030204" pitchFamily="18" charset="0"/>
                            </a:rPr>
                          </m:ctrlPr>
                        </m:sSubPr>
                        <m:e>
                          <m:r>
                            <a:rPr lang="en-IN" sz="2000" b="0" i="1" smtClean="0">
                              <a:latin typeface="Cambria Math" panose="02040503050406030204" pitchFamily="18" charset="0"/>
                            </a:rPr>
                            <m:t>𝑥</m:t>
                          </m:r>
                        </m:e>
                        <m:sub>
                          <m:r>
                            <a:rPr lang="en-IN" sz="2000" b="0" i="1" smtClean="0">
                              <a:latin typeface="Cambria Math" panose="02040503050406030204" pitchFamily="18" charset="0"/>
                            </a:rPr>
                            <m:t>2</m:t>
                          </m:r>
                        </m:sub>
                      </m:sSub>
                    </m:oMath>
                  </m:oMathPara>
                </a14:m>
                <a:endParaRPr lang="en-IN" sz="2000" dirty="0"/>
              </a:p>
            </p:txBody>
          </p:sp>
        </mc:Choice>
        <mc:Fallback xmlns="">
          <p:sp>
            <p:nvSpPr>
              <p:cNvPr id="118" name="TextBox 117">
                <a:extLst>
                  <a:ext uri="{FF2B5EF4-FFF2-40B4-BE49-F238E27FC236}">
                    <a16:creationId xmlns:a16="http://schemas.microsoft.com/office/drawing/2014/main" id="{6332A9C5-DA97-480E-BC04-8B4CF24F795A}"/>
                  </a:ext>
                </a:extLst>
              </p:cNvPr>
              <p:cNvSpPr txBox="1">
                <a:spLocks noRot="1" noChangeAspect="1" noMove="1" noResize="1" noEditPoints="1" noAdjustHandles="1" noChangeArrowheads="1" noChangeShapeType="1" noTextEdit="1"/>
              </p:cNvSpPr>
              <p:nvPr/>
            </p:nvSpPr>
            <p:spPr>
              <a:xfrm>
                <a:off x="1383904" y="3702255"/>
                <a:ext cx="493059" cy="400110"/>
              </a:xfrm>
              <a:prstGeom prst="rect">
                <a:avLst/>
              </a:prstGeom>
              <a:blipFill>
                <a:blip r:embed="rId6"/>
                <a:stretch>
                  <a:fillRect/>
                </a:stretch>
              </a:blipFill>
              <a:ln w="1270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9" name="TextBox 118">
                <a:extLst>
                  <a:ext uri="{FF2B5EF4-FFF2-40B4-BE49-F238E27FC236}">
                    <a16:creationId xmlns:a16="http://schemas.microsoft.com/office/drawing/2014/main" id="{394CBD96-0DFE-4A79-8DBD-5483DD684121}"/>
                  </a:ext>
                </a:extLst>
              </p:cNvPr>
              <p:cNvSpPr txBox="1"/>
              <p:nvPr/>
            </p:nvSpPr>
            <p:spPr>
              <a:xfrm>
                <a:off x="1383902" y="4292024"/>
                <a:ext cx="493059" cy="400110"/>
              </a:xfrm>
              <a:prstGeom prst="rect">
                <a:avLst/>
              </a:prstGeom>
              <a:solidFill>
                <a:schemeClr val="bg1"/>
              </a:solidFill>
              <a:ln w="12700">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000" i="1" smtClean="0">
                              <a:latin typeface="Cambria Math" panose="02040503050406030204" pitchFamily="18" charset="0"/>
                            </a:rPr>
                          </m:ctrlPr>
                        </m:sSubPr>
                        <m:e>
                          <m:r>
                            <a:rPr lang="en-IN" sz="2000" b="0" i="1" smtClean="0">
                              <a:latin typeface="Cambria Math" panose="02040503050406030204" pitchFamily="18" charset="0"/>
                            </a:rPr>
                            <m:t>𝑥</m:t>
                          </m:r>
                        </m:e>
                        <m:sub>
                          <m:r>
                            <a:rPr lang="en-IN" sz="2000" b="0" i="1" smtClean="0">
                              <a:latin typeface="Cambria Math" panose="02040503050406030204" pitchFamily="18" charset="0"/>
                            </a:rPr>
                            <m:t>3</m:t>
                          </m:r>
                        </m:sub>
                      </m:sSub>
                    </m:oMath>
                  </m:oMathPara>
                </a14:m>
                <a:endParaRPr lang="en-IN" sz="2000" dirty="0"/>
              </a:p>
            </p:txBody>
          </p:sp>
        </mc:Choice>
        <mc:Fallback xmlns="">
          <p:sp>
            <p:nvSpPr>
              <p:cNvPr id="119" name="TextBox 118">
                <a:extLst>
                  <a:ext uri="{FF2B5EF4-FFF2-40B4-BE49-F238E27FC236}">
                    <a16:creationId xmlns:a16="http://schemas.microsoft.com/office/drawing/2014/main" id="{394CBD96-0DFE-4A79-8DBD-5483DD684121}"/>
                  </a:ext>
                </a:extLst>
              </p:cNvPr>
              <p:cNvSpPr txBox="1">
                <a:spLocks noRot="1" noChangeAspect="1" noMove="1" noResize="1" noEditPoints="1" noAdjustHandles="1" noChangeArrowheads="1" noChangeShapeType="1" noTextEdit="1"/>
              </p:cNvSpPr>
              <p:nvPr/>
            </p:nvSpPr>
            <p:spPr>
              <a:xfrm>
                <a:off x="1383902" y="4292024"/>
                <a:ext cx="493059" cy="400110"/>
              </a:xfrm>
              <a:prstGeom prst="rect">
                <a:avLst/>
              </a:prstGeom>
              <a:blipFill>
                <a:blip r:embed="rId7"/>
                <a:stretch>
                  <a:fillRect/>
                </a:stretch>
              </a:blipFill>
              <a:ln w="12700">
                <a:noFill/>
              </a:ln>
            </p:spPr>
            <p:txBody>
              <a:bodyPr/>
              <a:lstStyle/>
              <a:p>
                <a:r>
                  <a:rPr lang="en-IN">
                    <a:noFill/>
                  </a:rPr>
                  <a:t> </a:t>
                </a:r>
              </a:p>
            </p:txBody>
          </p:sp>
        </mc:Fallback>
      </mc:AlternateContent>
      <p:sp>
        <p:nvSpPr>
          <p:cNvPr id="82" name="TextBox 81">
            <a:extLst>
              <a:ext uri="{FF2B5EF4-FFF2-40B4-BE49-F238E27FC236}">
                <a16:creationId xmlns:a16="http://schemas.microsoft.com/office/drawing/2014/main" id="{35520053-0814-4C5B-9BF1-A8734AFDFCC0}"/>
              </a:ext>
            </a:extLst>
          </p:cNvPr>
          <p:cNvSpPr txBox="1"/>
          <p:nvPr/>
        </p:nvSpPr>
        <p:spPr>
          <a:xfrm>
            <a:off x="5406665" y="1622364"/>
            <a:ext cx="1178158" cy="715089"/>
          </a:xfrm>
          <a:prstGeom prst="roundRect">
            <a:avLst/>
          </a:prstGeom>
          <a:noFill/>
          <a:ln w="12700">
            <a:noFill/>
          </a:ln>
        </p:spPr>
        <p:txBody>
          <a:bodyPr wrap="square" rtlCol="0">
            <a:spAutoFit/>
          </a:bodyPr>
          <a:lstStyle/>
          <a:p>
            <a:pPr algn="ctr"/>
            <a:r>
              <a:rPr lang="en-IN" dirty="0">
                <a:latin typeface="Arial Narrow" panose="020B0606020202030204" pitchFamily="34" charset="0"/>
                <a:cs typeface="Times New Roman" panose="02020603050405020304" pitchFamily="18" charset="0"/>
              </a:rPr>
              <a:t>Self </a:t>
            </a:r>
          </a:p>
          <a:p>
            <a:pPr algn="ctr"/>
            <a:r>
              <a:rPr lang="en-IN" dirty="0">
                <a:latin typeface="Arial Narrow" panose="020B0606020202030204" pitchFamily="34" charset="0"/>
                <a:cs typeface="Times New Roman" panose="02020603050405020304" pitchFamily="18" charset="0"/>
              </a:rPr>
              <a:t>Attention</a:t>
            </a:r>
          </a:p>
        </p:txBody>
      </p:sp>
      <p:sp>
        <p:nvSpPr>
          <p:cNvPr id="50" name="Oval 49"/>
          <p:cNvSpPr/>
          <p:nvPr/>
        </p:nvSpPr>
        <p:spPr>
          <a:xfrm>
            <a:off x="5476897" y="1585762"/>
            <a:ext cx="1037694" cy="855972"/>
          </a:xfrm>
          <a:prstGeom prst="ellipse">
            <a:avLst/>
          </a:prstGeom>
          <a:solidFill>
            <a:schemeClr val="accent2">
              <a:lumMod val="20000"/>
              <a:lumOff val="80000"/>
              <a:alpha val="20000"/>
            </a:schemeClr>
          </a:solid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6" name="Straight Arrow Connector 55"/>
          <p:cNvCxnSpPr>
            <a:stCxn id="40" idx="3"/>
            <a:endCxn id="50" idx="2"/>
          </p:cNvCxnSpPr>
          <p:nvPr/>
        </p:nvCxnSpPr>
        <p:spPr>
          <a:xfrm>
            <a:off x="5069275" y="2013176"/>
            <a:ext cx="407622" cy="572"/>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50" idx="6"/>
          </p:cNvCxnSpPr>
          <p:nvPr/>
        </p:nvCxnSpPr>
        <p:spPr>
          <a:xfrm>
            <a:off x="6514591" y="2013748"/>
            <a:ext cx="373510" cy="584"/>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60" name="Rectangle 59"/>
          <p:cNvSpPr/>
          <p:nvPr/>
        </p:nvSpPr>
        <p:spPr>
          <a:xfrm>
            <a:off x="4394781" y="1398393"/>
            <a:ext cx="3165036" cy="1231509"/>
          </a:xfrm>
          <a:prstGeom prst="rect">
            <a:avLst/>
          </a:prstGeom>
          <a:noFill/>
          <a:ln w="25400">
            <a:solidFill>
              <a:srgbClr val="66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92" name="Group 191"/>
          <p:cNvGrpSpPr/>
          <p:nvPr/>
        </p:nvGrpSpPr>
        <p:grpSpPr>
          <a:xfrm>
            <a:off x="4524450" y="1432162"/>
            <a:ext cx="544825" cy="1144433"/>
            <a:chOff x="4930845" y="1210497"/>
            <a:chExt cx="544825" cy="1144433"/>
          </a:xfrm>
        </p:grpSpPr>
        <p:sp>
          <p:nvSpPr>
            <p:cNvPr id="188" name="Oval 187"/>
            <p:cNvSpPr/>
            <p:nvPr/>
          </p:nvSpPr>
          <p:spPr>
            <a:xfrm>
              <a:off x="5034553" y="1991447"/>
              <a:ext cx="358273" cy="333299"/>
            </a:xfrm>
            <a:prstGeom prst="ellipse">
              <a:avLst/>
            </a:prstGeom>
            <a:solidFill>
              <a:schemeClr val="tx2">
                <a:lumMod val="20000"/>
                <a:lumOff val="80000"/>
                <a:alpha val="2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Oval 38"/>
            <p:cNvSpPr/>
            <p:nvPr/>
          </p:nvSpPr>
          <p:spPr>
            <a:xfrm>
              <a:off x="5029702" y="1259390"/>
              <a:ext cx="358273" cy="333299"/>
            </a:xfrm>
            <a:prstGeom prst="ellipse">
              <a:avLst/>
            </a:prstGeom>
            <a:solidFill>
              <a:schemeClr val="tx2">
                <a:lumMod val="20000"/>
                <a:lumOff val="80000"/>
                <a:alpha val="2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3894205A-4EAD-4807-B10F-F1A489470349}"/>
                    </a:ext>
                  </a:extLst>
                </p:cNvPr>
                <p:cNvSpPr txBox="1"/>
                <p:nvPr/>
              </p:nvSpPr>
              <p:spPr>
                <a:xfrm>
                  <a:off x="4977651" y="1210497"/>
                  <a:ext cx="493059" cy="374571"/>
                </a:xfrm>
                <a:prstGeom prst="roundRect">
                  <a:avLst/>
                </a:prstGeom>
                <a:noFill/>
                <a:ln w="12700">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𝑥</m:t>
                            </m:r>
                          </m:e>
                          <m:sub>
                            <m:r>
                              <a:rPr lang="en-IN" sz="1600" b="0" i="1" smtClean="0">
                                <a:latin typeface="Cambria Math" panose="02040503050406030204" pitchFamily="18" charset="0"/>
                              </a:rPr>
                              <m:t>1</m:t>
                            </m:r>
                          </m:sub>
                        </m:sSub>
                      </m:oMath>
                    </m:oMathPara>
                  </a14:m>
                  <a:endParaRPr lang="en-IN" sz="1600" dirty="0"/>
                </a:p>
              </p:txBody>
            </p:sp>
          </mc:Choice>
          <mc:Fallback xmlns="">
            <p:sp>
              <p:nvSpPr>
                <p:cNvPr id="66" name="TextBox 65">
                  <a:extLst>
                    <a:ext uri="{FF2B5EF4-FFF2-40B4-BE49-F238E27FC236}">
                      <a16:creationId xmlns:a16="http://schemas.microsoft.com/office/drawing/2014/main" id="{3894205A-4EAD-4807-B10F-F1A489470349}"/>
                    </a:ext>
                  </a:extLst>
                </p:cNvPr>
                <p:cNvSpPr txBox="1">
                  <a:spLocks noRot="1" noChangeAspect="1" noMove="1" noResize="1" noEditPoints="1" noAdjustHandles="1" noChangeArrowheads="1" noChangeShapeType="1" noTextEdit="1"/>
                </p:cNvSpPr>
                <p:nvPr/>
              </p:nvSpPr>
              <p:spPr>
                <a:xfrm>
                  <a:off x="4977651" y="1210497"/>
                  <a:ext cx="493059" cy="374571"/>
                </a:xfrm>
                <a:prstGeom prst="roundRect">
                  <a:avLst/>
                </a:prstGeom>
                <a:blipFill>
                  <a:blip r:embed="rId8"/>
                  <a:stretch>
                    <a:fillRect/>
                  </a:stretch>
                </a:blipFill>
                <a:ln w="1270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3B07518F-BC48-4576-825F-0DE371F2FB92}"/>
                    </a:ext>
                  </a:extLst>
                </p:cNvPr>
                <p:cNvSpPr txBox="1"/>
                <p:nvPr/>
              </p:nvSpPr>
              <p:spPr>
                <a:xfrm>
                  <a:off x="4977651" y="1565292"/>
                  <a:ext cx="493059" cy="374571"/>
                </a:xfrm>
                <a:prstGeom prst="roundRect">
                  <a:avLst/>
                </a:prstGeom>
                <a:noFill/>
                <a:ln w="12700">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𝑥</m:t>
                            </m:r>
                          </m:e>
                          <m:sub>
                            <m:r>
                              <a:rPr lang="en-IN" sz="1600" b="0" i="1" smtClean="0">
                                <a:latin typeface="Cambria Math" panose="02040503050406030204" pitchFamily="18" charset="0"/>
                              </a:rPr>
                              <m:t>2</m:t>
                            </m:r>
                          </m:sub>
                        </m:sSub>
                      </m:oMath>
                    </m:oMathPara>
                  </a14:m>
                  <a:endParaRPr lang="en-IN" sz="1600" dirty="0"/>
                </a:p>
              </p:txBody>
            </p:sp>
          </mc:Choice>
          <mc:Fallback xmlns="">
            <p:sp>
              <p:nvSpPr>
                <p:cNvPr id="67" name="TextBox 66">
                  <a:extLst>
                    <a:ext uri="{FF2B5EF4-FFF2-40B4-BE49-F238E27FC236}">
                      <a16:creationId xmlns:a16="http://schemas.microsoft.com/office/drawing/2014/main" id="{3B07518F-BC48-4576-825F-0DE371F2FB92}"/>
                    </a:ext>
                  </a:extLst>
                </p:cNvPr>
                <p:cNvSpPr txBox="1">
                  <a:spLocks noRot="1" noChangeAspect="1" noMove="1" noResize="1" noEditPoints="1" noAdjustHandles="1" noChangeArrowheads="1" noChangeShapeType="1" noTextEdit="1"/>
                </p:cNvSpPr>
                <p:nvPr/>
              </p:nvSpPr>
              <p:spPr>
                <a:xfrm>
                  <a:off x="4977651" y="1565292"/>
                  <a:ext cx="493059" cy="374571"/>
                </a:xfrm>
                <a:prstGeom prst="roundRect">
                  <a:avLst/>
                </a:prstGeom>
                <a:blipFill>
                  <a:blip r:embed="rId9"/>
                  <a:stretch>
                    <a:fillRect/>
                  </a:stretch>
                </a:blipFill>
                <a:ln w="1270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4A3480DD-2E86-4C65-8EBE-5625126408D6}"/>
                    </a:ext>
                  </a:extLst>
                </p:cNvPr>
                <p:cNvSpPr txBox="1"/>
                <p:nvPr/>
              </p:nvSpPr>
              <p:spPr>
                <a:xfrm>
                  <a:off x="4967539" y="1935376"/>
                  <a:ext cx="493059" cy="374571"/>
                </a:xfrm>
                <a:prstGeom prst="roundRect">
                  <a:avLst/>
                </a:prstGeom>
                <a:noFill/>
                <a:ln w="12700">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𝑥</m:t>
                            </m:r>
                          </m:e>
                          <m:sub>
                            <m:r>
                              <a:rPr lang="en-IN" sz="1600" b="0" i="1" smtClean="0">
                                <a:latin typeface="Cambria Math" panose="02040503050406030204" pitchFamily="18" charset="0"/>
                              </a:rPr>
                              <m:t>3</m:t>
                            </m:r>
                          </m:sub>
                        </m:sSub>
                      </m:oMath>
                    </m:oMathPara>
                  </a14:m>
                  <a:endParaRPr lang="en-IN" sz="1600" dirty="0"/>
                </a:p>
              </p:txBody>
            </p:sp>
          </mc:Choice>
          <mc:Fallback xmlns="">
            <p:sp>
              <p:nvSpPr>
                <p:cNvPr id="68" name="TextBox 67">
                  <a:extLst>
                    <a:ext uri="{FF2B5EF4-FFF2-40B4-BE49-F238E27FC236}">
                      <a16:creationId xmlns:a16="http://schemas.microsoft.com/office/drawing/2014/main" id="{4A3480DD-2E86-4C65-8EBE-5625126408D6}"/>
                    </a:ext>
                  </a:extLst>
                </p:cNvPr>
                <p:cNvSpPr txBox="1">
                  <a:spLocks noRot="1" noChangeAspect="1" noMove="1" noResize="1" noEditPoints="1" noAdjustHandles="1" noChangeArrowheads="1" noChangeShapeType="1" noTextEdit="1"/>
                </p:cNvSpPr>
                <p:nvPr/>
              </p:nvSpPr>
              <p:spPr>
                <a:xfrm>
                  <a:off x="4967539" y="1935376"/>
                  <a:ext cx="493059" cy="374571"/>
                </a:xfrm>
                <a:prstGeom prst="roundRect">
                  <a:avLst/>
                </a:prstGeom>
                <a:blipFill>
                  <a:blip r:embed="rId10"/>
                  <a:stretch>
                    <a:fillRect/>
                  </a:stretch>
                </a:blipFill>
                <a:ln w="12700">
                  <a:noFill/>
                </a:ln>
              </p:spPr>
              <p:txBody>
                <a:bodyPr/>
                <a:lstStyle/>
                <a:p>
                  <a:r>
                    <a:rPr lang="en-IN">
                      <a:noFill/>
                    </a:rPr>
                    <a:t> </a:t>
                  </a:r>
                </a:p>
              </p:txBody>
            </p:sp>
          </mc:Fallback>
        </mc:AlternateContent>
        <p:sp>
          <p:nvSpPr>
            <p:cNvPr id="187" name="Oval 186"/>
            <p:cNvSpPr/>
            <p:nvPr/>
          </p:nvSpPr>
          <p:spPr>
            <a:xfrm>
              <a:off x="5029702" y="1626778"/>
              <a:ext cx="358273" cy="333299"/>
            </a:xfrm>
            <a:prstGeom prst="ellipse">
              <a:avLst/>
            </a:prstGeom>
            <a:solidFill>
              <a:schemeClr val="tx2">
                <a:lumMod val="20000"/>
                <a:lumOff val="80000"/>
                <a:alpha val="2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Rounded Rectangle 39"/>
            <p:cNvSpPr/>
            <p:nvPr/>
          </p:nvSpPr>
          <p:spPr>
            <a:xfrm>
              <a:off x="4930845" y="1228091"/>
              <a:ext cx="544825" cy="1126839"/>
            </a:xfrm>
            <a:prstGeom prst="roundRect">
              <a:avLst/>
            </a:prstGeom>
            <a:solidFill>
              <a:schemeClr val="accent5">
                <a:lumMod val="40000"/>
                <a:lumOff val="60000"/>
                <a:alpha val="22000"/>
              </a:schemeClr>
            </a:solid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201" name="Group 200"/>
          <p:cNvGrpSpPr/>
          <p:nvPr/>
        </p:nvGrpSpPr>
        <p:grpSpPr>
          <a:xfrm>
            <a:off x="6900792" y="1432162"/>
            <a:ext cx="544825" cy="1144433"/>
            <a:chOff x="8035806" y="1395251"/>
            <a:chExt cx="544825" cy="1144433"/>
          </a:xfrm>
        </p:grpSpPr>
        <p:sp>
          <p:nvSpPr>
            <p:cNvPr id="200" name="Rounded Rectangle 199"/>
            <p:cNvSpPr/>
            <p:nvPr/>
          </p:nvSpPr>
          <p:spPr>
            <a:xfrm>
              <a:off x="8035806" y="1412845"/>
              <a:ext cx="544825" cy="1126839"/>
            </a:xfrm>
            <a:prstGeom prst="roundRect">
              <a:avLst/>
            </a:prstGeom>
            <a:solidFill>
              <a:schemeClr val="accent4">
                <a:lumMod val="40000"/>
                <a:lumOff val="60000"/>
                <a:alpha val="25000"/>
              </a:schemeClr>
            </a:solidFill>
            <a:ln w="1905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196" name="TextBox 195">
                  <a:extLst>
                    <a:ext uri="{FF2B5EF4-FFF2-40B4-BE49-F238E27FC236}">
                      <a16:creationId xmlns:a16="http://schemas.microsoft.com/office/drawing/2014/main" id="{3894205A-4EAD-4807-B10F-F1A489470349}"/>
                    </a:ext>
                  </a:extLst>
                </p:cNvPr>
                <p:cNvSpPr txBox="1"/>
                <p:nvPr/>
              </p:nvSpPr>
              <p:spPr>
                <a:xfrm>
                  <a:off x="8082612" y="1395251"/>
                  <a:ext cx="493059" cy="374571"/>
                </a:xfrm>
                <a:prstGeom prst="roundRect">
                  <a:avLst/>
                </a:prstGeom>
                <a:noFill/>
                <a:ln w="12700">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𝑦</m:t>
                            </m:r>
                          </m:e>
                          <m:sub>
                            <m:r>
                              <a:rPr lang="en-IN" sz="1600" b="0" i="1" smtClean="0">
                                <a:latin typeface="Cambria Math" panose="02040503050406030204" pitchFamily="18" charset="0"/>
                              </a:rPr>
                              <m:t>1</m:t>
                            </m:r>
                          </m:sub>
                        </m:sSub>
                      </m:oMath>
                    </m:oMathPara>
                  </a14:m>
                  <a:endParaRPr lang="en-IN" sz="1600" dirty="0"/>
                </a:p>
              </p:txBody>
            </p:sp>
          </mc:Choice>
          <mc:Fallback xmlns="">
            <p:sp>
              <p:nvSpPr>
                <p:cNvPr id="196" name="TextBox 195">
                  <a:extLst>
                    <a:ext uri="{FF2B5EF4-FFF2-40B4-BE49-F238E27FC236}">
                      <a16:creationId xmlns:a16="http://schemas.microsoft.com/office/drawing/2014/main" id="{3894205A-4EAD-4807-B10F-F1A489470349}"/>
                    </a:ext>
                  </a:extLst>
                </p:cNvPr>
                <p:cNvSpPr txBox="1">
                  <a:spLocks noRot="1" noChangeAspect="1" noMove="1" noResize="1" noEditPoints="1" noAdjustHandles="1" noChangeArrowheads="1" noChangeShapeType="1" noTextEdit="1"/>
                </p:cNvSpPr>
                <p:nvPr/>
              </p:nvSpPr>
              <p:spPr>
                <a:xfrm>
                  <a:off x="8082612" y="1395251"/>
                  <a:ext cx="493059" cy="374571"/>
                </a:xfrm>
                <a:prstGeom prst="roundRect">
                  <a:avLst/>
                </a:prstGeom>
                <a:blipFill>
                  <a:blip r:embed="rId11"/>
                  <a:stretch>
                    <a:fillRect/>
                  </a:stretch>
                </a:blipFill>
                <a:ln w="1270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7" name="TextBox 196">
                  <a:extLst>
                    <a:ext uri="{FF2B5EF4-FFF2-40B4-BE49-F238E27FC236}">
                      <a16:creationId xmlns:a16="http://schemas.microsoft.com/office/drawing/2014/main" id="{3B07518F-BC48-4576-825F-0DE371F2FB92}"/>
                    </a:ext>
                  </a:extLst>
                </p:cNvPr>
                <p:cNvSpPr txBox="1"/>
                <p:nvPr/>
              </p:nvSpPr>
              <p:spPr>
                <a:xfrm>
                  <a:off x="8082612" y="1750046"/>
                  <a:ext cx="493059" cy="374571"/>
                </a:xfrm>
                <a:prstGeom prst="roundRect">
                  <a:avLst/>
                </a:prstGeom>
                <a:noFill/>
                <a:ln w="12700">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𝑦</m:t>
                            </m:r>
                          </m:e>
                          <m:sub>
                            <m:r>
                              <a:rPr lang="en-IN" sz="1600" b="0" i="1" smtClean="0">
                                <a:latin typeface="Cambria Math" panose="02040503050406030204" pitchFamily="18" charset="0"/>
                              </a:rPr>
                              <m:t>2</m:t>
                            </m:r>
                          </m:sub>
                        </m:sSub>
                      </m:oMath>
                    </m:oMathPara>
                  </a14:m>
                  <a:endParaRPr lang="en-IN" sz="1600" dirty="0"/>
                </a:p>
              </p:txBody>
            </p:sp>
          </mc:Choice>
          <mc:Fallback xmlns="">
            <p:sp>
              <p:nvSpPr>
                <p:cNvPr id="197" name="TextBox 196">
                  <a:extLst>
                    <a:ext uri="{FF2B5EF4-FFF2-40B4-BE49-F238E27FC236}">
                      <a16:creationId xmlns:a16="http://schemas.microsoft.com/office/drawing/2014/main" id="{3B07518F-BC48-4576-825F-0DE371F2FB92}"/>
                    </a:ext>
                  </a:extLst>
                </p:cNvPr>
                <p:cNvSpPr txBox="1">
                  <a:spLocks noRot="1" noChangeAspect="1" noMove="1" noResize="1" noEditPoints="1" noAdjustHandles="1" noChangeArrowheads="1" noChangeShapeType="1" noTextEdit="1"/>
                </p:cNvSpPr>
                <p:nvPr/>
              </p:nvSpPr>
              <p:spPr>
                <a:xfrm>
                  <a:off x="8082612" y="1750046"/>
                  <a:ext cx="493059" cy="374571"/>
                </a:xfrm>
                <a:prstGeom prst="roundRect">
                  <a:avLst/>
                </a:prstGeom>
                <a:blipFill>
                  <a:blip r:embed="rId12"/>
                  <a:stretch>
                    <a:fillRect/>
                  </a:stretch>
                </a:blipFill>
                <a:ln w="1270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8" name="TextBox 197">
                  <a:extLst>
                    <a:ext uri="{FF2B5EF4-FFF2-40B4-BE49-F238E27FC236}">
                      <a16:creationId xmlns:a16="http://schemas.microsoft.com/office/drawing/2014/main" id="{4A3480DD-2E86-4C65-8EBE-5625126408D6}"/>
                    </a:ext>
                  </a:extLst>
                </p:cNvPr>
                <p:cNvSpPr txBox="1"/>
                <p:nvPr/>
              </p:nvSpPr>
              <p:spPr>
                <a:xfrm>
                  <a:off x="8072500" y="2120130"/>
                  <a:ext cx="493059" cy="374571"/>
                </a:xfrm>
                <a:prstGeom prst="roundRect">
                  <a:avLst/>
                </a:prstGeom>
                <a:noFill/>
                <a:ln w="12700">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𝑦</m:t>
                            </m:r>
                          </m:e>
                          <m:sub>
                            <m:r>
                              <a:rPr lang="en-IN" sz="1600" b="0" i="1" smtClean="0">
                                <a:latin typeface="Cambria Math" panose="02040503050406030204" pitchFamily="18" charset="0"/>
                              </a:rPr>
                              <m:t>3</m:t>
                            </m:r>
                          </m:sub>
                        </m:sSub>
                      </m:oMath>
                    </m:oMathPara>
                  </a14:m>
                  <a:endParaRPr lang="en-IN" sz="1600" dirty="0"/>
                </a:p>
              </p:txBody>
            </p:sp>
          </mc:Choice>
          <mc:Fallback xmlns="">
            <p:sp>
              <p:nvSpPr>
                <p:cNvPr id="198" name="TextBox 197">
                  <a:extLst>
                    <a:ext uri="{FF2B5EF4-FFF2-40B4-BE49-F238E27FC236}">
                      <a16:creationId xmlns:a16="http://schemas.microsoft.com/office/drawing/2014/main" id="{4A3480DD-2E86-4C65-8EBE-5625126408D6}"/>
                    </a:ext>
                  </a:extLst>
                </p:cNvPr>
                <p:cNvSpPr txBox="1">
                  <a:spLocks noRot="1" noChangeAspect="1" noMove="1" noResize="1" noEditPoints="1" noAdjustHandles="1" noChangeArrowheads="1" noChangeShapeType="1" noTextEdit="1"/>
                </p:cNvSpPr>
                <p:nvPr/>
              </p:nvSpPr>
              <p:spPr>
                <a:xfrm>
                  <a:off x="8072500" y="2120130"/>
                  <a:ext cx="493059" cy="374571"/>
                </a:xfrm>
                <a:prstGeom prst="roundRect">
                  <a:avLst/>
                </a:prstGeom>
                <a:blipFill>
                  <a:blip r:embed="rId13"/>
                  <a:stretch>
                    <a:fillRect/>
                  </a:stretch>
                </a:blipFill>
                <a:ln w="12700">
                  <a:noFill/>
                </a:ln>
              </p:spPr>
              <p:txBody>
                <a:bodyPr/>
                <a:lstStyle/>
                <a:p>
                  <a:r>
                    <a:rPr lang="en-IN">
                      <a:noFill/>
                    </a:rPr>
                    <a:t> </a:t>
                  </a:r>
                </a:p>
              </p:txBody>
            </p:sp>
          </mc:Fallback>
        </mc:AlternateContent>
        <p:sp>
          <p:nvSpPr>
            <p:cNvPr id="199" name="Oval 198"/>
            <p:cNvSpPr/>
            <p:nvPr/>
          </p:nvSpPr>
          <p:spPr>
            <a:xfrm>
              <a:off x="8134663" y="1811532"/>
              <a:ext cx="358273" cy="333299"/>
            </a:xfrm>
            <a:prstGeom prst="ellipse">
              <a:avLst/>
            </a:prstGeom>
            <a:solidFill>
              <a:schemeClr val="tx2">
                <a:lumMod val="20000"/>
                <a:lumOff val="80000"/>
                <a:alpha val="2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4" name="Oval 193"/>
            <p:cNvSpPr/>
            <p:nvPr/>
          </p:nvSpPr>
          <p:spPr>
            <a:xfrm>
              <a:off x="8139514" y="2176201"/>
              <a:ext cx="358273" cy="333299"/>
            </a:xfrm>
            <a:prstGeom prst="ellipse">
              <a:avLst/>
            </a:prstGeom>
            <a:solidFill>
              <a:schemeClr val="tx2">
                <a:lumMod val="20000"/>
                <a:lumOff val="80000"/>
                <a:alpha val="2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5" name="Oval 194"/>
            <p:cNvSpPr/>
            <p:nvPr/>
          </p:nvSpPr>
          <p:spPr>
            <a:xfrm>
              <a:off x="8134663" y="1444144"/>
              <a:ext cx="358273" cy="333299"/>
            </a:xfrm>
            <a:prstGeom prst="ellipse">
              <a:avLst/>
            </a:prstGeom>
            <a:solidFill>
              <a:schemeClr val="tx2">
                <a:lumMod val="20000"/>
                <a:lumOff val="80000"/>
                <a:alpha val="2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06" name="TextBox 205">
            <a:extLst>
              <a:ext uri="{FF2B5EF4-FFF2-40B4-BE49-F238E27FC236}">
                <a16:creationId xmlns:a16="http://schemas.microsoft.com/office/drawing/2014/main" id="{37E7CDE0-A5E0-4DE8-937A-AC03F8CF592C}"/>
              </a:ext>
            </a:extLst>
          </p:cNvPr>
          <p:cNvSpPr txBox="1"/>
          <p:nvPr/>
        </p:nvSpPr>
        <p:spPr>
          <a:xfrm>
            <a:off x="5317722" y="2725467"/>
            <a:ext cx="1411009" cy="400110"/>
          </a:xfrm>
          <a:prstGeom prst="rect">
            <a:avLst/>
          </a:prstGeom>
          <a:noFill/>
        </p:spPr>
        <p:txBody>
          <a:bodyPr wrap="square" rtlCol="0">
            <a:spAutoFit/>
          </a:bodyPr>
          <a:lstStyle/>
          <a:p>
            <a:pPr algn="ctr"/>
            <a:r>
              <a:rPr lang="en-IN" sz="2000" dirty="0">
                <a:solidFill>
                  <a:srgbClr val="7030A0"/>
                </a:solidFill>
                <a:latin typeface="Arial Narrow" panose="020B0606020202030204" pitchFamily="34" charset="0"/>
                <a:cs typeface="Times New Roman" panose="02020603050405020304" pitchFamily="18" charset="0"/>
              </a:rPr>
              <a:t>Head 2</a:t>
            </a:r>
          </a:p>
        </p:txBody>
      </p:sp>
      <p:sp>
        <p:nvSpPr>
          <p:cNvPr id="207" name="TextBox 206">
            <a:extLst>
              <a:ext uri="{FF2B5EF4-FFF2-40B4-BE49-F238E27FC236}">
                <a16:creationId xmlns:a16="http://schemas.microsoft.com/office/drawing/2014/main" id="{35520053-0814-4C5B-9BF1-A8734AFDFCC0}"/>
              </a:ext>
            </a:extLst>
          </p:cNvPr>
          <p:cNvSpPr txBox="1"/>
          <p:nvPr/>
        </p:nvSpPr>
        <p:spPr>
          <a:xfrm>
            <a:off x="5403355" y="3361395"/>
            <a:ext cx="1178158" cy="715089"/>
          </a:xfrm>
          <a:prstGeom prst="roundRect">
            <a:avLst/>
          </a:prstGeom>
          <a:noFill/>
          <a:ln w="12700">
            <a:noFill/>
          </a:ln>
        </p:spPr>
        <p:txBody>
          <a:bodyPr wrap="square" rtlCol="0">
            <a:spAutoFit/>
          </a:bodyPr>
          <a:lstStyle/>
          <a:p>
            <a:pPr algn="ctr"/>
            <a:r>
              <a:rPr lang="en-IN" dirty="0">
                <a:latin typeface="Arial Narrow" panose="020B0606020202030204" pitchFamily="34" charset="0"/>
                <a:cs typeface="Times New Roman" panose="02020603050405020304" pitchFamily="18" charset="0"/>
              </a:rPr>
              <a:t>Self </a:t>
            </a:r>
          </a:p>
          <a:p>
            <a:pPr algn="ctr"/>
            <a:r>
              <a:rPr lang="en-IN" dirty="0">
                <a:latin typeface="Arial Narrow" panose="020B0606020202030204" pitchFamily="34" charset="0"/>
                <a:cs typeface="Times New Roman" panose="02020603050405020304" pitchFamily="18" charset="0"/>
              </a:rPr>
              <a:t>Attention</a:t>
            </a:r>
          </a:p>
        </p:txBody>
      </p:sp>
      <p:sp>
        <p:nvSpPr>
          <p:cNvPr id="208" name="Oval 207"/>
          <p:cNvSpPr/>
          <p:nvPr/>
        </p:nvSpPr>
        <p:spPr>
          <a:xfrm>
            <a:off x="5473587" y="3324793"/>
            <a:ext cx="1037694" cy="855972"/>
          </a:xfrm>
          <a:prstGeom prst="ellipse">
            <a:avLst/>
          </a:prstGeom>
          <a:solidFill>
            <a:schemeClr val="accent2">
              <a:lumMod val="20000"/>
              <a:lumOff val="80000"/>
              <a:alpha val="20000"/>
            </a:schemeClr>
          </a:solid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09" name="Straight Arrow Connector 208"/>
          <p:cNvCxnSpPr>
            <a:stCxn id="219" idx="3"/>
            <a:endCxn id="208" idx="2"/>
          </p:cNvCxnSpPr>
          <p:nvPr/>
        </p:nvCxnSpPr>
        <p:spPr>
          <a:xfrm>
            <a:off x="5065965" y="3752207"/>
            <a:ext cx="407622" cy="572"/>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10" name="Straight Arrow Connector 209"/>
          <p:cNvCxnSpPr>
            <a:stCxn id="208" idx="6"/>
          </p:cNvCxnSpPr>
          <p:nvPr/>
        </p:nvCxnSpPr>
        <p:spPr>
          <a:xfrm>
            <a:off x="6511281" y="3752779"/>
            <a:ext cx="373510" cy="584"/>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211" name="Rectangle 210"/>
          <p:cNvSpPr/>
          <p:nvPr/>
        </p:nvSpPr>
        <p:spPr>
          <a:xfrm>
            <a:off x="4391471" y="3137424"/>
            <a:ext cx="3165036" cy="1231509"/>
          </a:xfrm>
          <a:prstGeom prst="rect">
            <a:avLst/>
          </a:prstGeom>
          <a:noFill/>
          <a:ln w="25400">
            <a:solidFill>
              <a:srgbClr val="66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12" name="Group 211"/>
          <p:cNvGrpSpPr/>
          <p:nvPr/>
        </p:nvGrpSpPr>
        <p:grpSpPr>
          <a:xfrm>
            <a:off x="4521140" y="3171193"/>
            <a:ext cx="544825" cy="1144433"/>
            <a:chOff x="4930845" y="1210497"/>
            <a:chExt cx="544825" cy="1144433"/>
          </a:xfrm>
        </p:grpSpPr>
        <p:sp>
          <p:nvSpPr>
            <p:cNvPr id="213" name="Oval 212"/>
            <p:cNvSpPr/>
            <p:nvPr/>
          </p:nvSpPr>
          <p:spPr>
            <a:xfrm>
              <a:off x="5034553" y="1991447"/>
              <a:ext cx="358273" cy="333299"/>
            </a:xfrm>
            <a:prstGeom prst="ellipse">
              <a:avLst/>
            </a:prstGeom>
            <a:solidFill>
              <a:schemeClr val="tx2">
                <a:lumMod val="20000"/>
                <a:lumOff val="80000"/>
                <a:alpha val="2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4" name="Oval 213"/>
            <p:cNvSpPr/>
            <p:nvPr/>
          </p:nvSpPr>
          <p:spPr>
            <a:xfrm>
              <a:off x="5029702" y="1259390"/>
              <a:ext cx="358273" cy="333299"/>
            </a:xfrm>
            <a:prstGeom prst="ellipse">
              <a:avLst/>
            </a:prstGeom>
            <a:solidFill>
              <a:schemeClr val="tx2">
                <a:lumMod val="20000"/>
                <a:lumOff val="80000"/>
                <a:alpha val="2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215" name="TextBox 214">
                  <a:extLst>
                    <a:ext uri="{FF2B5EF4-FFF2-40B4-BE49-F238E27FC236}">
                      <a16:creationId xmlns:a16="http://schemas.microsoft.com/office/drawing/2014/main" id="{3894205A-4EAD-4807-B10F-F1A489470349}"/>
                    </a:ext>
                  </a:extLst>
                </p:cNvPr>
                <p:cNvSpPr txBox="1"/>
                <p:nvPr/>
              </p:nvSpPr>
              <p:spPr>
                <a:xfrm>
                  <a:off x="4977651" y="1210497"/>
                  <a:ext cx="493059" cy="374571"/>
                </a:xfrm>
                <a:prstGeom prst="roundRect">
                  <a:avLst/>
                </a:prstGeom>
                <a:noFill/>
                <a:ln w="12700">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𝑥</m:t>
                            </m:r>
                          </m:e>
                          <m:sub>
                            <m:r>
                              <a:rPr lang="en-IN" sz="1600" b="0" i="1" smtClean="0">
                                <a:latin typeface="Cambria Math" panose="02040503050406030204" pitchFamily="18" charset="0"/>
                              </a:rPr>
                              <m:t>1</m:t>
                            </m:r>
                          </m:sub>
                        </m:sSub>
                      </m:oMath>
                    </m:oMathPara>
                  </a14:m>
                  <a:endParaRPr lang="en-IN" sz="1600" dirty="0"/>
                </a:p>
              </p:txBody>
            </p:sp>
          </mc:Choice>
          <mc:Fallback xmlns="">
            <p:sp>
              <p:nvSpPr>
                <p:cNvPr id="215" name="TextBox 214">
                  <a:extLst>
                    <a:ext uri="{FF2B5EF4-FFF2-40B4-BE49-F238E27FC236}">
                      <a16:creationId xmlns:a16="http://schemas.microsoft.com/office/drawing/2014/main" id="{3894205A-4EAD-4807-B10F-F1A489470349}"/>
                    </a:ext>
                  </a:extLst>
                </p:cNvPr>
                <p:cNvSpPr txBox="1">
                  <a:spLocks noRot="1" noChangeAspect="1" noMove="1" noResize="1" noEditPoints="1" noAdjustHandles="1" noChangeArrowheads="1" noChangeShapeType="1" noTextEdit="1"/>
                </p:cNvSpPr>
                <p:nvPr/>
              </p:nvSpPr>
              <p:spPr>
                <a:xfrm>
                  <a:off x="4977651" y="1210497"/>
                  <a:ext cx="493059" cy="374571"/>
                </a:xfrm>
                <a:prstGeom prst="roundRect">
                  <a:avLst/>
                </a:prstGeom>
                <a:blipFill>
                  <a:blip r:embed="rId14"/>
                  <a:stretch>
                    <a:fillRect/>
                  </a:stretch>
                </a:blipFill>
                <a:ln w="1270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6" name="TextBox 215">
                  <a:extLst>
                    <a:ext uri="{FF2B5EF4-FFF2-40B4-BE49-F238E27FC236}">
                      <a16:creationId xmlns:a16="http://schemas.microsoft.com/office/drawing/2014/main" id="{3B07518F-BC48-4576-825F-0DE371F2FB92}"/>
                    </a:ext>
                  </a:extLst>
                </p:cNvPr>
                <p:cNvSpPr txBox="1"/>
                <p:nvPr/>
              </p:nvSpPr>
              <p:spPr>
                <a:xfrm>
                  <a:off x="4977651" y="1565292"/>
                  <a:ext cx="493059" cy="374571"/>
                </a:xfrm>
                <a:prstGeom prst="roundRect">
                  <a:avLst/>
                </a:prstGeom>
                <a:noFill/>
                <a:ln w="12700">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𝑥</m:t>
                            </m:r>
                          </m:e>
                          <m:sub>
                            <m:r>
                              <a:rPr lang="en-IN" sz="1600" b="0" i="1" smtClean="0">
                                <a:latin typeface="Cambria Math" panose="02040503050406030204" pitchFamily="18" charset="0"/>
                              </a:rPr>
                              <m:t>2</m:t>
                            </m:r>
                          </m:sub>
                        </m:sSub>
                      </m:oMath>
                    </m:oMathPara>
                  </a14:m>
                  <a:endParaRPr lang="en-IN" sz="1600" dirty="0"/>
                </a:p>
              </p:txBody>
            </p:sp>
          </mc:Choice>
          <mc:Fallback xmlns="">
            <p:sp>
              <p:nvSpPr>
                <p:cNvPr id="216" name="TextBox 215">
                  <a:extLst>
                    <a:ext uri="{FF2B5EF4-FFF2-40B4-BE49-F238E27FC236}">
                      <a16:creationId xmlns:a16="http://schemas.microsoft.com/office/drawing/2014/main" id="{3B07518F-BC48-4576-825F-0DE371F2FB92}"/>
                    </a:ext>
                  </a:extLst>
                </p:cNvPr>
                <p:cNvSpPr txBox="1">
                  <a:spLocks noRot="1" noChangeAspect="1" noMove="1" noResize="1" noEditPoints="1" noAdjustHandles="1" noChangeArrowheads="1" noChangeShapeType="1" noTextEdit="1"/>
                </p:cNvSpPr>
                <p:nvPr/>
              </p:nvSpPr>
              <p:spPr>
                <a:xfrm>
                  <a:off x="4977651" y="1565292"/>
                  <a:ext cx="493059" cy="374571"/>
                </a:xfrm>
                <a:prstGeom prst="roundRect">
                  <a:avLst/>
                </a:prstGeom>
                <a:blipFill>
                  <a:blip r:embed="rId15"/>
                  <a:stretch>
                    <a:fillRect/>
                  </a:stretch>
                </a:blipFill>
                <a:ln w="1270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7" name="TextBox 216">
                  <a:extLst>
                    <a:ext uri="{FF2B5EF4-FFF2-40B4-BE49-F238E27FC236}">
                      <a16:creationId xmlns:a16="http://schemas.microsoft.com/office/drawing/2014/main" id="{4A3480DD-2E86-4C65-8EBE-5625126408D6}"/>
                    </a:ext>
                  </a:extLst>
                </p:cNvPr>
                <p:cNvSpPr txBox="1"/>
                <p:nvPr/>
              </p:nvSpPr>
              <p:spPr>
                <a:xfrm>
                  <a:off x="4967539" y="1935376"/>
                  <a:ext cx="493059" cy="374571"/>
                </a:xfrm>
                <a:prstGeom prst="roundRect">
                  <a:avLst/>
                </a:prstGeom>
                <a:noFill/>
                <a:ln w="12700">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𝑥</m:t>
                            </m:r>
                          </m:e>
                          <m:sub>
                            <m:r>
                              <a:rPr lang="en-IN" sz="1600" b="0" i="1" smtClean="0">
                                <a:latin typeface="Cambria Math" panose="02040503050406030204" pitchFamily="18" charset="0"/>
                              </a:rPr>
                              <m:t>3</m:t>
                            </m:r>
                          </m:sub>
                        </m:sSub>
                      </m:oMath>
                    </m:oMathPara>
                  </a14:m>
                  <a:endParaRPr lang="en-IN" sz="1600" dirty="0"/>
                </a:p>
              </p:txBody>
            </p:sp>
          </mc:Choice>
          <mc:Fallback xmlns="">
            <p:sp>
              <p:nvSpPr>
                <p:cNvPr id="217" name="TextBox 216">
                  <a:extLst>
                    <a:ext uri="{FF2B5EF4-FFF2-40B4-BE49-F238E27FC236}">
                      <a16:creationId xmlns:a16="http://schemas.microsoft.com/office/drawing/2014/main" id="{4A3480DD-2E86-4C65-8EBE-5625126408D6}"/>
                    </a:ext>
                  </a:extLst>
                </p:cNvPr>
                <p:cNvSpPr txBox="1">
                  <a:spLocks noRot="1" noChangeAspect="1" noMove="1" noResize="1" noEditPoints="1" noAdjustHandles="1" noChangeArrowheads="1" noChangeShapeType="1" noTextEdit="1"/>
                </p:cNvSpPr>
                <p:nvPr/>
              </p:nvSpPr>
              <p:spPr>
                <a:xfrm>
                  <a:off x="4967539" y="1935376"/>
                  <a:ext cx="493059" cy="374571"/>
                </a:xfrm>
                <a:prstGeom prst="roundRect">
                  <a:avLst/>
                </a:prstGeom>
                <a:blipFill>
                  <a:blip r:embed="rId16"/>
                  <a:stretch>
                    <a:fillRect/>
                  </a:stretch>
                </a:blipFill>
                <a:ln w="12700">
                  <a:noFill/>
                </a:ln>
              </p:spPr>
              <p:txBody>
                <a:bodyPr/>
                <a:lstStyle/>
                <a:p>
                  <a:r>
                    <a:rPr lang="en-IN">
                      <a:noFill/>
                    </a:rPr>
                    <a:t> </a:t>
                  </a:r>
                </a:p>
              </p:txBody>
            </p:sp>
          </mc:Fallback>
        </mc:AlternateContent>
        <p:sp>
          <p:nvSpPr>
            <p:cNvPr id="218" name="Oval 217"/>
            <p:cNvSpPr/>
            <p:nvPr/>
          </p:nvSpPr>
          <p:spPr>
            <a:xfrm>
              <a:off x="5029702" y="1626778"/>
              <a:ext cx="358273" cy="333299"/>
            </a:xfrm>
            <a:prstGeom prst="ellipse">
              <a:avLst/>
            </a:prstGeom>
            <a:solidFill>
              <a:schemeClr val="tx2">
                <a:lumMod val="20000"/>
                <a:lumOff val="80000"/>
                <a:alpha val="2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9" name="Rounded Rectangle 218"/>
            <p:cNvSpPr/>
            <p:nvPr/>
          </p:nvSpPr>
          <p:spPr>
            <a:xfrm>
              <a:off x="4930845" y="1228091"/>
              <a:ext cx="544825" cy="1126839"/>
            </a:xfrm>
            <a:prstGeom prst="roundRect">
              <a:avLst/>
            </a:prstGeom>
            <a:solidFill>
              <a:schemeClr val="accent5">
                <a:lumMod val="40000"/>
                <a:lumOff val="60000"/>
                <a:alpha val="18000"/>
              </a:schemeClr>
            </a:solid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220" name="Group 219"/>
          <p:cNvGrpSpPr/>
          <p:nvPr/>
        </p:nvGrpSpPr>
        <p:grpSpPr>
          <a:xfrm>
            <a:off x="6897482" y="3171193"/>
            <a:ext cx="544825" cy="1144433"/>
            <a:chOff x="8035806" y="1395251"/>
            <a:chExt cx="544825" cy="1144433"/>
          </a:xfrm>
        </p:grpSpPr>
        <p:sp>
          <p:nvSpPr>
            <p:cNvPr id="221" name="Rounded Rectangle 220"/>
            <p:cNvSpPr/>
            <p:nvPr/>
          </p:nvSpPr>
          <p:spPr>
            <a:xfrm>
              <a:off x="8035806" y="1412845"/>
              <a:ext cx="544825" cy="1126839"/>
            </a:xfrm>
            <a:prstGeom prst="roundRect">
              <a:avLst/>
            </a:prstGeom>
            <a:solidFill>
              <a:schemeClr val="accent4">
                <a:lumMod val="40000"/>
                <a:lumOff val="60000"/>
                <a:alpha val="25000"/>
              </a:schemeClr>
            </a:solidFill>
            <a:ln w="1905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222" name="TextBox 221">
                  <a:extLst>
                    <a:ext uri="{FF2B5EF4-FFF2-40B4-BE49-F238E27FC236}">
                      <a16:creationId xmlns:a16="http://schemas.microsoft.com/office/drawing/2014/main" id="{3894205A-4EAD-4807-B10F-F1A489470349}"/>
                    </a:ext>
                  </a:extLst>
                </p:cNvPr>
                <p:cNvSpPr txBox="1"/>
                <p:nvPr/>
              </p:nvSpPr>
              <p:spPr>
                <a:xfrm>
                  <a:off x="8082612" y="1395251"/>
                  <a:ext cx="493059" cy="374571"/>
                </a:xfrm>
                <a:prstGeom prst="roundRect">
                  <a:avLst/>
                </a:prstGeom>
                <a:noFill/>
                <a:ln w="12700">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𝑦</m:t>
                            </m:r>
                          </m:e>
                          <m:sub>
                            <m:r>
                              <a:rPr lang="en-IN" sz="1600" b="0" i="1" smtClean="0">
                                <a:latin typeface="Cambria Math" panose="02040503050406030204" pitchFamily="18" charset="0"/>
                              </a:rPr>
                              <m:t>1</m:t>
                            </m:r>
                          </m:sub>
                        </m:sSub>
                      </m:oMath>
                    </m:oMathPara>
                  </a14:m>
                  <a:endParaRPr lang="en-IN" sz="1600" dirty="0"/>
                </a:p>
              </p:txBody>
            </p:sp>
          </mc:Choice>
          <mc:Fallback xmlns="">
            <p:sp>
              <p:nvSpPr>
                <p:cNvPr id="222" name="TextBox 221">
                  <a:extLst>
                    <a:ext uri="{FF2B5EF4-FFF2-40B4-BE49-F238E27FC236}">
                      <a16:creationId xmlns:a16="http://schemas.microsoft.com/office/drawing/2014/main" id="{3894205A-4EAD-4807-B10F-F1A489470349}"/>
                    </a:ext>
                  </a:extLst>
                </p:cNvPr>
                <p:cNvSpPr txBox="1">
                  <a:spLocks noRot="1" noChangeAspect="1" noMove="1" noResize="1" noEditPoints="1" noAdjustHandles="1" noChangeArrowheads="1" noChangeShapeType="1" noTextEdit="1"/>
                </p:cNvSpPr>
                <p:nvPr/>
              </p:nvSpPr>
              <p:spPr>
                <a:xfrm>
                  <a:off x="8082612" y="1395251"/>
                  <a:ext cx="493059" cy="374571"/>
                </a:xfrm>
                <a:prstGeom prst="roundRect">
                  <a:avLst/>
                </a:prstGeom>
                <a:blipFill>
                  <a:blip r:embed="rId17"/>
                  <a:stretch>
                    <a:fillRect/>
                  </a:stretch>
                </a:blipFill>
                <a:ln w="1270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3" name="TextBox 222">
                  <a:extLst>
                    <a:ext uri="{FF2B5EF4-FFF2-40B4-BE49-F238E27FC236}">
                      <a16:creationId xmlns:a16="http://schemas.microsoft.com/office/drawing/2014/main" id="{3B07518F-BC48-4576-825F-0DE371F2FB92}"/>
                    </a:ext>
                  </a:extLst>
                </p:cNvPr>
                <p:cNvSpPr txBox="1"/>
                <p:nvPr/>
              </p:nvSpPr>
              <p:spPr>
                <a:xfrm>
                  <a:off x="8082612" y="1750046"/>
                  <a:ext cx="493059" cy="374571"/>
                </a:xfrm>
                <a:prstGeom prst="roundRect">
                  <a:avLst/>
                </a:prstGeom>
                <a:noFill/>
                <a:ln w="12700">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𝑦</m:t>
                            </m:r>
                          </m:e>
                          <m:sub>
                            <m:r>
                              <a:rPr lang="en-IN" sz="1600" b="0" i="1" smtClean="0">
                                <a:latin typeface="Cambria Math" panose="02040503050406030204" pitchFamily="18" charset="0"/>
                              </a:rPr>
                              <m:t>2</m:t>
                            </m:r>
                          </m:sub>
                        </m:sSub>
                      </m:oMath>
                    </m:oMathPara>
                  </a14:m>
                  <a:endParaRPr lang="en-IN" sz="1600" dirty="0"/>
                </a:p>
              </p:txBody>
            </p:sp>
          </mc:Choice>
          <mc:Fallback xmlns="">
            <p:sp>
              <p:nvSpPr>
                <p:cNvPr id="223" name="TextBox 222">
                  <a:extLst>
                    <a:ext uri="{FF2B5EF4-FFF2-40B4-BE49-F238E27FC236}">
                      <a16:creationId xmlns:a16="http://schemas.microsoft.com/office/drawing/2014/main" id="{3B07518F-BC48-4576-825F-0DE371F2FB92}"/>
                    </a:ext>
                  </a:extLst>
                </p:cNvPr>
                <p:cNvSpPr txBox="1">
                  <a:spLocks noRot="1" noChangeAspect="1" noMove="1" noResize="1" noEditPoints="1" noAdjustHandles="1" noChangeArrowheads="1" noChangeShapeType="1" noTextEdit="1"/>
                </p:cNvSpPr>
                <p:nvPr/>
              </p:nvSpPr>
              <p:spPr>
                <a:xfrm>
                  <a:off x="8082612" y="1750046"/>
                  <a:ext cx="493059" cy="374571"/>
                </a:xfrm>
                <a:prstGeom prst="roundRect">
                  <a:avLst/>
                </a:prstGeom>
                <a:blipFill>
                  <a:blip r:embed="rId18"/>
                  <a:stretch>
                    <a:fillRect/>
                  </a:stretch>
                </a:blipFill>
                <a:ln w="1270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4" name="TextBox 223">
                  <a:extLst>
                    <a:ext uri="{FF2B5EF4-FFF2-40B4-BE49-F238E27FC236}">
                      <a16:creationId xmlns:a16="http://schemas.microsoft.com/office/drawing/2014/main" id="{4A3480DD-2E86-4C65-8EBE-5625126408D6}"/>
                    </a:ext>
                  </a:extLst>
                </p:cNvPr>
                <p:cNvSpPr txBox="1"/>
                <p:nvPr/>
              </p:nvSpPr>
              <p:spPr>
                <a:xfrm>
                  <a:off x="8072500" y="2120130"/>
                  <a:ext cx="493059" cy="374571"/>
                </a:xfrm>
                <a:prstGeom prst="roundRect">
                  <a:avLst/>
                </a:prstGeom>
                <a:noFill/>
                <a:ln w="12700">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𝑦</m:t>
                            </m:r>
                          </m:e>
                          <m:sub>
                            <m:r>
                              <a:rPr lang="en-IN" sz="1600" b="0" i="1" smtClean="0">
                                <a:latin typeface="Cambria Math" panose="02040503050406030204" pitchFamily="18" charset="0"/>
                              </a:rPr>
                              <m:t>3</m:t>
                            </m:r>
                          </m:sub>
                        </m:sSub>
                      </m:oMath>
                    </m:oMathPara>
                  </a14:m>
                  <a:endParaRPr lang="en-IN" sz="1600" dirty="0"/>
                </a:p>
              </p:txBody>
            </p:sp>
          </mc:Choice>
          <mc:Fallback xmlns="">
            <p:sp>
              <p:nvSpPr>
                <p:cNvPr id="224" name="TextBox 223">
                  <a:extLst>
                    <a:ext uri="{FF2B5EF4-FFF2-40B4-BE49-F238E27FC236}">
                      <a16:creationId xmlns:a16="http://schemas.microsoft.com/office/drawing/2014/main" id="{4A3480DD-2E86-4C65-8EBE-5625126408D6}"/>
                    </a:ext>
                  </a:extLst>
                </p:cNvPr>
                <p:cNvSpPr txBox="1">
                  <a:spLocks noRot="1" noChangeAspect="1" noMove="1" noResize="1" noEditPoints="1" noAdjustHandles="1" noChangeArrowheads="1" noChangeShapeType="1" noTextEdit="1"/>
                </p:cNvSpPr>
                <p:nvPr/>
              </p:nvSpPr>
              <p:spPr>
                <a:xfrm>
                  <a:off x="8072500" y="2120130"/>
                  <a:ext cx="493059" cy="374571"/>
                </a:xfrm>
                <a:prstGeom prst="roundRect">
                  <a:avLst/>
                </a:prstGeom>
                <a:blipFill>
                  <a:blip r:embed="rId19"/>
                  <a:stretch>
                    <a:fillRect/>
                  </a:stretch>
                </a:blipFill>
                <a:ln w="12700">
                  <a:noFill/>
                </a:ln>
              </p:spPr>
              <p:txBody>
                <a:bodyPr/>
                <a:lstStyle/>
                <a:p>
                  <a:r>
                    <a:rPr lang="en-IN">
                      <a:noFill/>
                    </a:rPr>
                    <a:t> </a:t>
                  </a:r>
                </a:p>
              </p:txBody>
            </p:sp>
          </mc:Fallback>
        </mc:AlternateContent>
        <p:sp>
          <p:nvSpPr>
            <p:cNvPr id="225" name="Oval 224"/>
            <p:cNvSpPr/>
            <p:nvPr/>
          </p:nvSpPr>
          <p:spPr>
            <a:xfrm>
              <a:off x="8134663" y="1811532"/>
              <a:ext cx="358273" cy="333299"/>
            </a:xfrm>
            <a:prstGeom prst="ellipse">
              <a:avLst/>
            </a:prstGeom>
            <a:solidFill>
              <a:schemeClr val="tx2">
                <a:lumMod val="20000"/>
                <a:lumOff val="80000"/>
                <a:alpha val="2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6" name="Oval 225"/>
            <p:cNvSpPr/>
            <p:nvPr/>
          </p:nvSpPr>
          <p:spPr>
            <a:xfrm>
              <a:off x="8139514" y="2176201"/>
              <a:ext cx="358273" cy="333299"/>
            </a:xfrm>
            <a:prstGeom prst="ellipse">
              <a:avLst/>
            </a:prstGeom>
            <a:solidFill>
              <a:schemeClr val="tx2">
                <a:lumMod val="20000"/>
                <a:lumOff val="80000"/>
                <a:alpha val="2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7" name="Oval 226"/>
            <p:cNvSpPr/>
            <p:nvPr/>
          </p:nvSpPr>
          <p:spPr>
            <a:xfrm>
              <a:off x="8134663" y="1444144"/>
              <a:ext cx="358273" cy="333299"/>
            </a:xfrm>
            <a:prstGeom prst="ellipse">
              <a:avLst/>
            </a:prstGeom>
            <a:solidFill>
              <a:schemeClr val="tx2">
                <a:lumMod val="20000"/>
                <a:lumOff val="80000"/>
                <a:alpha val="2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28" name="TextBox 227">
            <a:extLst>
              <a:ext uri="{FF2B5EF4-FFF2-40B4-BE49-F238E27FC236}">
                <a16:creationId xmlns:a16="http://schemas.microsoft.com/office/drawing/2014/main" id="{37E7CDE0-A5E0-4DE8-937A-AC03F8CF592C}"/>
              </a:ext>
            </a:extLst>
          </p:cNvPr>
          <p:cNvSpPr txBox="1"/>
          <p:nvPr/>
        </p:nvSpPr>
        <p:spPr>
          <a:xfrm>
            <a:off x="5184743" y="5090938"/>
            <a:ext cx="1411009" cy="400110"/>
          </a:xfrm>
          <a:prstGeom prst="rect">
            <a:avLst/>
          </a:prstGeom>
          <a:noFill/>
        </p:spPr>
        <p:txBody>
          <a:bodyPr wrap="square" rtlCol="0">
            <a:spAutoFit/>
          </a:bodyPr>
          <a:lstStyle/>
          <a:p>
            <a:pPr algn="ctr"/>
            <a:r>
              <a:rPr lang="en-IN" sz="2000" dirty="0">
                <a:solidFill>
                  <a:srgbClr val="7030A0"/>
                </a:solidFill>
                <a:latin typeface="Arial Narrow" panose="020B0606020202030204" pitchFamily="34" charset="0"/>
                <a:cs typeface="Times New Roman" panose="02020603050405020304" pitchFamily="18" charset="0"/>
              </a:rPr>
              <a:t>Head h</a:t>
            </a:r>
          </a:p>
        </p:txBody>
      </p:sp>
      <p:sp>
        <p:nvSpPr>
          <p:cNvPr id="229" name="TextBox 228">
            <a:extLst>
              <a:ext uri="{FF2B5EF4-FFF2-40B4-BE49-F238E27FC236}">
                <a16:creationId xmlns:a16="http://schemas.microsoft.com/office/drawing/2014/main" id="{35520053-0814-4C5B-9BF1-A8734AFDFCC0}"/>
              </a:ext>
            </a:extLst>
          </p:cNvPr>
          <p:cNvSpPr txBox="1"/>
          <p:nvPr/>
        </p:nvSpPr>
        <p:spPr>
          <a:xfrm>
            <a:off x="5403355" y="5746949"/>
            <a:ext cx="1178158" cy="715089"/>
          </a:xfrm>
          <a:prstGeom prst="roundRect">
            <a:avLst/>
          </a:prstGeom>
          <a:noFill/>
          <a:ln w="12700">
            <a:noFill/>
          </a:ln>
        </p:spPr>
        <p:txBody>
          <a:bodyPr wrap="square" rtlCol="0">
            <a:spAutoFit/>
          </a:bodyPr>
          <a:lstStyle/>
          <a:p>
            <a:pPr algn="ctr"/>
            <a:r>
              <a:rPr lang="en-IN" dirty="0">
                <a:latin typeface="Arial Narrow" panose="020B0606020202030204" pitchFamily="34" charset="0"/>
                <a:cs typeface="Times New Roman" panose="02020603050405020304" pitchFamily="18" charset="0"/>
              </a:rPr>
              <a:t>Self </a:t>
            </a:r>
          </a:p>
          <a:p>
            <a:pPr algn="ctr"/>
            <a:r>
              <a:rPr lang="en-IN" dirty="0">
                <a:latin typeface="Arial Narrow" panose="020B0606020202030204" pitchFamily="34" charset="0"/>
                <a:cs typeface="Times New Roman" panose="02020603050405020304" pitchFamily="18" charset="0"/>
              </a:rPr>
              <a:t>Attention</a:t>
            </a:r>
          </a:p>
        </p:txBody>
      </p:sp>
      <p:sp>
        <p:nvSpPr>
          <p:cNvPr id="230" name="Oval 229"/>
          <p:cNvSpPr/>
          <p:nvPr/>
        </p:nvSpPr>
        <p:spPr>
          <a:xfrm>
            <a:off x="5473587" y="5710347"/>
            <a:ext cx="1037694" cy="855972"/>
          </a:xfrm>
          <a:prstGeom prst="ellipse">
            <a:avLst/>
          </a:prstGeom>
          <a:solidFill>
            <a:schemeClr val="accent2">
              <a:lumMod val="20000"/>
              <a:lumOff val="80000"/>
              <a:alpha val="20000"/>
            </a:schemeClr>
          </a:solid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31" name="Straight Arrow Connector 230"/>
          <p:cNvCxnSpPr>
            <a:stCxn id="241" idx="3"/>
            <a:endCxn id="230" idx="2"/>
          </p:cNvCxnSpPr>
          <p:nvPr/>
        </p:nvCxnSpPr>
        <p:spPr>
          <a:xfrm>
            <a:off x="5065965" y="6137761"/>
            <a:ext cx="407622" cy="572"/>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32" name="Straight Arrow Connector 231"/>
          <p:cNvCxnSpPr>
            <a:stCxn id="230" idx="6"/>
          </p:cNvCxnSpPr>
          <p:nvPr/>
        </p:nvCxnSpPr>
        <p:spPr>
          <a:xfrm>
            <a:off x="6511281" y="6138333"/>
            <a:ext cx="373510" cy="584"/>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233" name="Rectangle 232"/>
          <p:cNvSpPr/>
          <p:nvPr/>
        </p:nvSpPr>
        <p:spPr>
          <a:xfrm>
            <a:off x="4391471" y="5522978"/>
            <a:ext cx="3165036" cy="1231509"/>
          </a:xfrm>
          <a:prstGeom prst="rect">
            <a:avLst/>
          </a:prstGeom>
          <a:noFill/>
          <a:ln w="25400">
            <a:solidFill>
              <a:srgbClr val="66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34" name="Group 233"/>
          <p:cNvGrpSpPr/>
          <p:nvPr/>
        </p:nvGrpSpPr>
        <p:grpSpPr>
          <a:xfrm>
            <a:off x="4521140" y="5556747"/>
            <a:ext cx="544825" cy="1144433"/>
            <a:chOff x="4930845" y="1210497"/>
            <a:chExt cx="544825" cy="1144433"/>
          </a:xfrm>
        </p:grpSpPr>
        <p:sp>
          <p:nvSpPr>
            <p:cNvPr id="235" name="Oval 234"/>
            <p:cNvSpPr/>
            <p:nvPr/>
          </p:nvSpPr>
          <p:spPr>
            <a:xfrm>
              <a:off x="5034553" y="1991447"/>
              <a:ext cx="358273" cy="333299"/>
            </a:xfrm>
            <a:prstGeom prst="ellipse">
              <a:avLst/>
            </a:prstGeom>
            <a:solidFill>
              <a:schemeClr val="tx2">
                <a:lumMod val="20000"/>
                <a:lumOff val="80000"/>
                <a:alpha val="2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6" name="Oval 235"/>
            <p:cNvSpPr/>
            <p:nvPr/>
          </p:nvSpPr>
          <p:spPr>
            <a:xfrm>
              <a:off x="5029702" y="1259390"/>
              <a:ext cx="358273" cy="333299"/>
            </a:xfrm>
            <a:prstGeom prst="ellipse">
              <a:avLst/>
            </a:prstGeom>
            <a:solidFill>
              <a:schemeClr val="tx2">
                <a:lumMod val="20000"/>
                <a:lumOff val="80000"/>
                <a:alpha val="2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237" name="TextBox 236">
                  <a:extLst>
                    <a:ext uri="{FF2B5EF4-FFF2-40B4-BE49-F238E27FC236}">
                      <a16:creationId xmlns:a16="http://schemas.microsoft.com/office/drawing/2014/main" id="{3894205A-4EAD-4807-B10F-F1A489470349}"/>
                    </a:ext>
                  </a:extLst>
                </p:cNvPr>
                <p:cNvSpPr txBox="1"/>
                <p:nvPr/>
              </p:nvSpPr>
              <p:spPr>
                <a:xfrm>
                  <a:off x="4977651" y="1210497"/>
                  <a:ext cx="493059" cy="374571"/>
                </a:xfrm>
                <a:prstGeom prst="roundRect">
                  <a:avLst/>
                </a:prstGeom>
                <a:noFill/>
                <a:ln w="12700">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𝑥</m:t>
                            </m:r>
                          </m:e>
                          <m:sub>
                            <m:r>
                              <a:rPr lang="en-IN" sz="1600" b="0" i="1" smtClean="0">
                                <a:latin typeface="Cambria Math" panose="02040503050406030204" pitchFamily="18" charset="0"/>
                              </a:rPr>
                              <m:t>1</m:t>
                            </m:r>
                          </m:sub>
                        </m:sSub>
                      </m:oMath>
                    </m:oMathPara>
                  </a14:m>
                  <a:endParaRPr lang="en-IN" sz="1600" dirty="0"/>
                </a:p>
              </p:txBody>
            </p:sp>
          </mc:Choice>
          <mc:Fallback xmlns="">
            <p:sp>
              <p:nvSpPr>
                <p:cNvPr id="237" name="TextBox 236">
                  <a:extLst>
                    <a:ext uri="{FF2B5EF4-FFF2-40B4-BE49-F238E27FC236}">
                      <a16:creationId xmlns:a16="http://schemas.microsoft.com/office/drawing/2014/main" id="{3894205A-4EAD-4807-B10F-F1A489470349}"/>
                    </a:ext>
                  </a:extLst>
                </p:cNvPr>
                <p:cNvSpPr txBox="1">
                  <a:spLocks noRot="1" noChangeAspect="1" noMove="1" noResize="1" noEditPoints="1" noAdjustHandles="1" noChangeArrowheads="1" noChangeShapeType="1" noTextEdit="1"/>
                </p:cNvSpPr>
                <p:nvPr/>
              </p:nvSpPr>
              <p:spPr>
                <a:xfrm>
                  <a:off x="4977651" y="1210497"/>
                  <a:ext cx="493059" cy="374571"/>
                </a:xfrm>
                <a:prstGeom prst="roundRect">
                  <a:avLst/>
                </a:prstGeom>
                <a:blipFill>
                  <a:blip r:embed="rId20"/>
                  <a:stretch>
                    <a:fillRect/>
                  </a:stretch>
                </a:blipFill>
                <a:ln w="1270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8" name="TextBox 237">
                  <a:extLst>
                    <a:ext uri="{FF2B5EF4-FFF2-40B4-BE49-F238E27FC236}">
                      <a16:creationId xmlns:a16="http://schemas.microsoft.com/office/drawing/2014/main" id="{3B07518F-BC48-4576-825F-0DE371F2FB92}"/>
                    </a:ext>
                  </a:extLst>
                </p:cNvPr>
                <p:cNvSpPr txBox="1"/>
                <p:nvPr/>
              </p:nvSpPr>
              <p:spPr>
                <a:xfrm>
                  <a:off x="4977651" y="1565292"/>
                  <a:ext cx="493059" cy="374571"/>
                </a:xfrm>
                <a:prstGeom prst="roundRect">
                  <a:avLst/>
                </a:prstGeom>
                <a:noFill/>
                <a:ln w="12700">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𝑥</m:t>
                            </m:r>
                          </m:e>
                          <m:sub>
                            <m:r>
                              <a:rPr lang="en-IN" sz="1600" b="0" i="1" smtClean="0">
                                <a:latin typeface="Cambria Math" panose="02040503050406030204" pitchFamily="18" charset="0"/>
                              </a:rPr>
                              <m:t>2</m:t>
                            </m:r>
                          </m:sub>
                        </m:sSub>
                      </m:oMath>
                    </m:oMathPara>
                  </a14:m>
                  <a:endParaRPr lang="en-IN" sz="1600" dirty="0"/>
                </a:p>
              </p:txBody>
            </p:sp>
          </mc:Choice>
          <mc:Fallback xmlns="">
            <p:sp>
              <p:nvSpPr>
                <p:cNvPr id="238" name="TextBox 237">
                  <a:extLst>
                    <a:ext uri="{FF2B5EF4-FFF2-40B4-BE49-F238E27FC236}">
                      <a16:creationId xmlns:a16="http://schemas.microsoft.com/office/drawing/2014/main" id="{3B07518F-BC48-4576-825F-0DE371F2FB92}"/>
                    </a:ext>
                  </a:extLst>
                </p:cNvPr>
                <p:cNvSpPr txBox="1">
                  <a:spLocks noRot="1" noChangeAspect="1" noMove="1" noResize="1" noEditPoints="1" noAdjustHandles="1" noChangeArrowheads="1" noChangeShapeType="1" noTextEdit="1"/>
                </p:cNvSpPr>
                <p:nvPr/>
              </p:nvSpPr>
              <p:spPr>
                <a:xfrm>
                  <a:off x="4977651" y="1565292"/>
                  <a:ext cx="493059" cy="374571"/>
                </a:xfrm>
                <a:prstGeom prst="roundRect">
                  <a:avLst/>
                </a:prstGeom>
                <a:blipFill>
                  <a:blip r:embed="rId21"/>
                  <a:stretch>
                    <a:fillRect/>
                  </a:stretch>
                </a:blipFill>
                <a:ln w="1270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9" name="TextBox 238">
                  <a:extLst>
                    <a:ext uri="{FF2B5EF4-FFF2-40B4-BE49-F238E27FC236}">
                      <a16:creationId xmlns:a16="http://schemas.microsoft.com/office/drawing/2014/main" id="{4A3480DD-2E86-4C65-8EBE-5625126408D6}"/>
                    </a:ext>
                  </a:extLst>
                </p:cNvPr>
                <p:cNvSpPr txBox="1"/>
                <p:nvPr/>
              </p:nvSpPr>
              <p:spPr>
                <a:xfrm>
                  <a:off x="4967539" y="1935376"/>
                  <a:ext cx="493059" cy="374571"/>
                </a:xfrm>
                <a:prstGeom prst="roundRect">
                  <a:avLst/>
                </a:prstGeom>
                <a:noFill/>
                <a:ln w="12700">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𝑥</m:t>
                            </m:r>
                          </m:e>
                          <m:sub>
                            <m:r>
                              <a:rPr lang="en-IN" sz="1600" b="0" i="1" smtClean="0">
                                <a:latin typeface="Cambria Math" panose="02040503050406030204" pitchFamily="18" charset="0"/>
                              </a:rPr>
                              <m:t>3</m:t>
                            </m:r>
                          </m:sub>
                        </m:sSub>
                      </m:oMath>
                    </m:oMathPara>
                  </a14:m>
                  <a:endParaRPr lang="en-IN" sz="1600" dirty="0"/>
                </a:p>
              </p:txBody>
            </p:sp>
          </mc:Choice>
          <mc:Fallback xmlns="">
            <p:sp>
              <p:nvSpPr>
                <p:cNvPr id="239" name="TextBox 238">
                  <a:extLst>
                    <a:ext uri="{FF2B5EF4-FFF2-40B4-BE49-F238E27FC236}">
                      <a16:creationId xmlns:a16="http://schemas.microsoft.com/office/drawing/2014/main" id="{4A3480DD-2E86-4C65-8EBE-5625126408D6}"/>
                    </a:ext>
                  </a:extLst>
                </p:cNvPr>
                <p:cNvSpPr txBox="1">
                  <a:spLocks noRot="1" noChangeAspect="1" noMove="1" noResize="1" noEditPoints="1" noAdjustHandles="1" noChangeArrowheads="1" noChangeShapeType="1" noTextEdit="1"/>
                </p:cNvSpPr>
                <p:nvPr/>
              </p:nvSpPr>
              <p:spPr>
                <a:xfrm>
                  <a:off x="4967539" y="1935376"/>
                  <a:ext cx="493059" cy="374571"/>
                </a:xfrm>
                <a:prstGeom prst="roundRect">
                  <a:avLst/>
                </a:prstGeom>
                <a:blipFill>
                  <a:blip r:embed="rId22"/>
                  <a:stretch>
                    <a:fillRect/>
                  </a:stretch>
                </a:blipFill>
                <a:ln w="12700">
                  <a:noFill/>
                </a:ln>
              </p:spPr>
              <p:txBody>
                <a:bodyPr/>
                <a:lstStyle/>
                <a:p>
                  <a:r>
                    <a:rPr lang="en-IN">
                      <a:noFill/>
                    </a:rPr>
                    <a:t> </a:t>
                  </a:r>
                </a:p>
              </p:txBody>
            </p:sp>
          </mc:Fallback>
        </mc:AlternateContent>
        <p:sp>
          <p:nvSpPr>
            <p:cNvPr id="240" name="Oval 239"/>
            <p:cNvSpPr/>
            <p:nvPr/>
          </p:nvSpPr>
          <p:spPr>
            <a:xfrm>
              <a:off x="5029702" y="1626778"/>
              <a:ext cx="358273" cy="333299"/>
            </a:xfrm>
            <a:prstGeom prst="ellipse">
              <a:avLst/>
            </a:prstGeom>
            <a:solidFill>
              <a:schemeClr val="tx2">
                <a:lumMod val="20000"/>
                <a:lumOff val="80000"/>
                <a:alpha val="2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1" name="Rounded Rectangle 240"/>
            <p:cNvSpPr/>
            <p:nvPr/>
          </p:nvSpPr>
          <p:spPr>
            <a:xfrm>
              <a:off x="4930845" y="1228091"/>
              <a:ext cx="544825" cy="1126839"/>
            </a:xfrm>
            <a:prstGeom prst="roundRect">
              <a:avLst/>
            </a:prstGeom>
            <a:solidFill>
              <a:schemeClr val="accent5">
                <a:lumMod val="40000"/>
                <a:lumOff val="60000"/>
                <a:alpha val="21000"/>
              </a:schemeClr>
            </a:solid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242" name="Group 241"/>
          <p:cNvGrpSpPr/>
          <p:nvPr/>
        </p:nvGrpSpPr>
        <p:grpSpPr>
          <a:xfrm>
            <a:off x="6897482" y="5556747"/>
            <a:ext cx="544825" cy="1144433"/>
            <a:chOff x="8035806" y="1395251"/>
            <a:chExt cx="544825" cy="1144433"/>
          </a:xfrm>
        </p:grpSpPr>
        <p:sp>
          <p:nvSpPr>
            <p:cNvPr id="243" name="Rounded Rectangle 242"/>
            <p:cNvSpPr/>
            <p:nvPr/>
          </p:nvSpPr>
          <p:spPr>
            <a:xfrm>
              <a:off x="8035806" y="1412845"/>
              <a:ext cx="544825" cy="1126839"/>
            </a:xfrm>
            <a:prstGeom prst="roundRect">
              <a:avLst/>
            </a:prstGeom>
            <a:solidFill>
              <a:schemeClr val="accent4">
                <a:lumMod val="40000"/>
                <a:lumOff val="60000"/>
                <a:alpha val="25000"/>
              </a:schemeClr>
            </a:solidFill>
            <a:ln w="1905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244" name="TextBox 243">
                  <a:extLst>
                    <a:ext uri="{FF2B5EF4-FFF2-40B4-BE49-F238E27FC236}">
                      <a16:creationId xmlns:a16="http://schemas.microsoft.com/office/drawing/2014/main" id="{3894205A-4EAD-4807-B10F-F1A489470349}"/>
                    </a:ext>
                  </a:extLst>
                </p:cNvPr>
                <p:cNvSpPr txBox="1"/>
                <p:nvPr/>
              </p:nvSpPr>
              <p:spPr>
                <a:xfrm>
                  <a:off x="8082612" y="1395251"/>
                  <a:ext cx="493059" cy="374571"/>
                </a:xfrm>
                <a:prstGeom prst="roundRect">
                  <a:avLst/>
                </a:prstGeom>
                <a:noFill/>
                <a:ln w="12700">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𝑦</m:t>
                            </m:r>
                          </m:e>
                          <m:sub>
                            <m:r>
                              <a:rPr lang="en-IN" sz="1600" b="0" i="1" smtClean="0">
                                <a:latin typeface="Cambria Math" panose="02040503050406030204" pitchFamily="18" charset="0"/>
                              </a:rPr>
                              <m:t>1</m:t>
                            </m:r>
                          </m:sub>
                        </m:sSub>
                      </m:oMath>
                    </m:oMathPara>
                  </a14:m>
                  <a:endParaRPr lang="en-IN" sz="1600" dirty="0"/>
                </a:p>
              </p:txBody>
            </p:sp>
          </mc:Choice>
          <mc:Fallback xmlns="">
            <p:sp>
              <p:nvSpPr>
                <p:cNvPr id="244" name="TextBox 243">
                  <a:extLst>
                    <a:ext uri="{FF2B5EF4-FFF2-40B4-BE49-F238E27FC236}">
                      <a16:creationId xmlns:a16="http://schemas.microsoft.com/office/drawing/2014/main" id="{3894205A-4EAD-4807-B10F-F1A489470349}"/>
                    </a:ext>
                  </a:extLst>
                </p:cNvPr>
                <p:cNvSpPr txBox="1">
                  <a:spLocks noRot="1" noChangeAspect="1" noMove="1" noResize="1" noEditPoints="1" noAdjustHandles="1" noChangeArrowheads="1" noChangeShapeType="1" noTextEdit="1"/>
                </p:cNvSpPr>
                <p:nvPr/>
              </p:nvSpPr>
              <p:spPr>
                <a:xfrm>
                  <a:off x="8082612" y="1395251"/>
                  <a:ext cx="493059" cy="374571"/>
                </a:xfrm>
                <a:prstGeom prst="roundRect">
                  <a:avLst/>
                </a:prstGeom>
                <a:blipFill>
                  <a:blip r:embed="rId23"/>
                  <a:stretch>
                    <a:fillRect/>
                  </a:stretch>
                </a:blipFill>
                <a:ln w="1270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5" name="TextBox 244">
                  <a:extLst>
                    <a:ext uri="{FF2B5EF4-FFF2-40B4-BE49-F238E27FC236}">
                      <a16:creationId xmlns:a16="http://schemas.microsoft.com/office/drawing/2014/main" id="{3B07518F-BC48-4576-825F-0DE371F2FB92}"/>
                    </a:ext>
                  </a:extLst>
                </p:cNvPr>
                <p:cNvSpPr txBox="1"/>
                <p:nvPr/>
              </p:nvSpPr>
              <p:spPr>
                <a:xfrm>
                  <a:off x="8082612" y="1750046"/>
                  <a:ext cx="493059" cy="374571"/>
                </a:xfrm>
                <a:prstGeom prst="roundRect">
                  <a:avLst/>
                </a:prstGeom>
                <a:noFill/>
                <a:ln w="12700">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𝑦</m:t>
                            </m:r>
                          </m:e>
                          <m:sub>
                            <m:r>
                              <a:rPr lang="en-IN" sz="1600" b="0" i="1" smtClean="0">
                                <a:latin typeface="Cambria Math" panose="02040503050406030204" pitchFamily="18" charset="0"/>
                              </a:rPr>
                              <m:t>2</m:t>
                            </m:r>
                          </m:sub>
                        </m:sSub>
                      </m:oMath>
                    </m:oMathPara>
                  </a14:m>
                  <a:endParaRPr lang="en-IN" sz="1600" dirty="0"/>
                </a:p>
              </p:txBody>
            </p:sp>
          </mc:Choice>
          <mc:Fallback xmlns="">
            <p:sp>
              <p:nvSpPr>
                <p:cNvPr id="245" name="TextBox 244">
                  <a:extLst>
                    <a:ext uri="{FF2B5EF4-FFF2-40B4-BE49-F238E27FC236}">
                      <a16:creationId xmlns:a16="http://schemas.microsoft.com/office/drawing/2014/main" id="{3B07518F-BC48-4576-825F-0DE371F2FB92}"/>
                    </a:ext>
                  </a:extLst>
                </p:cNvPr>
                <p:cNvSpPr txBox="1">
                  <a:spLocks noRot="1" noChangeAspect="1" noMove="1" noResize="1" noEditPoints="1" noAdjustHandles="1" noChangeArrowheads="1" noChangeShapeType="1" noTextEdit="1"/>
                </p:cNvSpPr>
                <p:nvPr/>
              </p:nvSpPr>
              <p:spPr>
                <a:xfrm>
                  <a:off x="8082612" y="1750046"/>
                  <a:ext cx="493059" cy="374571"/>
                </a:xfrm>
                <a:prstGeom prst="roundRect">
                  <a:avLst/>
                </a:prstGeom>
                <a:blipFill>
                  <a:blip r:embed="rId24"/>
                  <a:stretch>
                    <a:fillRect/>
                  </a:stretch>
                </a:blipFill>
                <a:ln w="1270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6" name="TextBox 245">
                  <a:extLst>
                    <a:ext uri="{FF2B5EF4-FFF2-40B4-BE49-F238E27FC236}">
                      <a16:creationId xmlns:a16="http://schemas.microsoft.com/office/drawing/2014/main" id="{4A3480DD-2E86-4C65-8EBE-5625126408D6}"/>
                    </a:ext>
                  </a:extLst>
                </p:cNvPr>
                <p:cNvSpPr txBox="1"/>
                <p:nvPr/>
              </p:nvSpPr>
              <p:spPr>
                <a:xfrm>
                  <a:off x="8072500" y="2120130"/>
                  <a:ext cx="493059" cy="374571"/>
                </a:xfrm>
                <a:prstGeom prst="roundRect">
                  <a:avLst/>
                </a:prstGeom>
                <a:noFill/>
                <a:ln w="12700">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𝑦</m:t>
                            </m:r>
                          </m:e>
                          <m:sub>
                            <m:r>
                              <a:rPr lang="en-IN" sz="1600" b="0" i="1" smtClean="0">
                                <a:latin typeface="Cambria Math" panose="02040503050406030204" pitchFamily="18" charset="0"/>
                              </a:rPr>
                              <m:t>3</m:t>
                            </m:r>
                          </m:sub>
                        </m:sSub>
                      </m:oMath>
                    </m:oMathPara>
                  </a14:m>
                  <a:endParaRPr lang="en-IN" sz="1600" dirty="0"/>
                </a:p>
              </p:txBody>
            </p:sp>
          </mc:Choice>
          <mc:Fallback xmlns="">
            <p:sp>
              <p:nvSpPr>
                <p:cNvPr id="246" name="TextBox 245">
                  <a:extLst>
                    <a:ext uri="{FF2B5EF4-FFF2-40B4-BE49-F238E27FC236}">
                      <a16:creationId xmlns:a16="http://schemas.microsoft.com/office/drawing/2014/main" id="{4A3480DD-2E86-4C65-8EBE-5625126408D6}"/>
                    </a:ext>
                  </a:extLst>
                </p:cNvPr>
                <p:cNvSpPr txBox="1">
                  <a:spLocks noRot="1" noChangeAspect="1" noMove="1" noResize="1" noEditPoints="1" noAdjustHandles="1" noChangeArrowheads="1" noChangeShapeType="1" noTextEdit="1"/>
                </p:cNvSpPr>
                <p:nvPr/>
              </p:nvSpPr>
              <p:spPr>
                <a:xfrm>
                  <a:off x="8072500" y="2120130"/>
                  <a:ext cx="493059" cy="374571"/>
                </a:xfrm>
                <a:prstGeom prst="roundRect">
                  <a:avLst/>
                </a:prstGeom>
                <a:blipFill>
                  <a:blip r:embed="rId25"/>
                  <a:stretch>
                    <a:fillRect/>
                  </a:stretch>
                </a:blipFill>
                <a:ln w="12700">
                  <a:noFill/>
                </a:ln>
              </p:spPr>
              <p:txBody>
                <a:bodyPr/>
                <a:lstStyle/>
                <a:p>
                  <a:r>
                    <a:rPr lang="en-IN">
                      <a:noFill/>
                    </a:rPr>
                    <a:t> </a:t>
                  </a:r>
                </a:p>
              </p:txBody>
            </p:sp>
          </mc:Fallback>
        </mc:AlternateContent>
        <p:sp>
          <p:nvSpPr>
            <p:cNvPr id="247" name="Oval 246"/>
            <p:cNvSpPr/>
            <p:nvPr/>
          </p:nvSpPr>
          <p:spPr>
            <a:xfrm>
              <a:off x="8134663" y="1811532"/>
              <a:ext cx="358273" cy="333299"/>
            </a:xfrm>
            <a:prstGeom prst="ellipse">
              <a:avLst/>
            </a:prstGeom>
            <a:solidFill>
              <a:schemeClr val="tx2">
                <a:lumMod val="20000"/>
                <a:lumOff val="80000"/>
                <a:alpha val="2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8" name="Oval 247"/>
            <p:cNvSpPr/>
            <p:nvPr/>
          </p:nvSpPr>
          <p:spPr>
            <a:xfrm>
              <a:off x="8139514" y="2176201"/>
              <a:ext cx="358273" cy="333299"/>
            </a:xfrm>
            <a:prstGeom prst="ellipse">
              <a:avLst/>
            </a:prstGeom>
            <a:solidFill>
              <a:schemeClr val="tx2">
                <a:lumMod val="20000"/>
                <a:lumOff val="80000"/>
                <a:alpha val="2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9" name="Oval 248"/>
            <p:cNvSpPr/>
            <p:nvPr/>
          </p:nvSpPr>
          <p:spPr>
            <a:xfrm>
              <a:off x="8134663" y="1444144"/>
              <a:ext cx="358273" cy="333299"/>
            </a:xfrm>
            <a:prstGeom prst="ellipse">
              <a:avLst/>
            </a:prstGeom>
            <a:solidFill>
              <a:schemeClr val="tx2">
                <a:lumMod val="20000"/>
                <a:lumOff val="80000"/>
                <a:alpha val="2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50" name="Rounded Rectangle 249"/>
          <p:cNvSpPr/>
          <p:nvPr/>
        </p:nvSpPr>
        <p:spPr>
          <a:xfrm>
            <a:off x="1346834" y="3090781"/>
            <a:ext cx="548148" cy="532121"/>
          </a:xfrm>
          <a:prstGeom prst="roundRect">
            <a:avLst/>
          </a:prstGeom>
          <a:solidFill>
            <a:srgbClr val="00B0F0">
              <a:alpha val="34000"/>
            </a:srgbClr>
          </a:solidFill>
          <a:ln w="158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1" name="Rounded Rectangle 250"/>
          <p:cNvSpPr/>
          <p:nvPr/>
        </p:nvSpPr>
        <p:spPr>
          <a:xfrm>
            <a:off x="1348834" y="3668727"/>
            <a:ext cx="548148" cy="532121"/>
          </a:xfrm>
          <a:prstGeom prst="roundRect">
            <a:avLst/>
          </a:prstGeom>
          <a:solidFill>
            <a:srgbClr val="00B0F0">
              <a:alpha val="34000"/>
            </a:srgbClr>
          </a:solidFill>
          <a:ln w="158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2" name="Rounded Rectangle 251"/>
          <p:cNvSpPr/>
          <p:nvPr/>
        </p:nvSpPr>
        <p:spPr>
          <a:xfrm>
            <a:off x="1346834" y="4269417"/>
            <a:ext cx="548148" cy="532121"/>
          </a:xfrm>
          <a:prstGeom prst="roundRect">
            <a:avLst/>
          </a:prstGeom>
          <a:solidFill>
            <a:srgbClr val="00B0F0">
              <a:alpha val="34000"/>
            </a:srgbClr>
          </a:solidFill>
          <a:ln w="158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54" name="Elbow Connector 253"/>
          <p:cNvCxnSpPr>
            <a:stCxn id="251" idx="3"/>
            <a:endCxn id="60" idx="1"/>
          </p:cNvCxnSpPr>
          <p:nvPr/>
        </p:nvCxnSpPr>
        <p:spPr>
          <a:xfrm flipV="1">
            <a:off x="1896982" y="2014148"/>
            <a:ext cx="2497799" cy="1920640"/>
          </a:xfrm>
          <a:prstGeom prst="bentConnector3">
            <a:avLst>
              <a:gd name="adj1" fmla="val 50000"/>
            </a:avLst>
          </a:prstGeom>
          <a:ln w="15875">
            <a:solidFill>
              <a:schemeClr val="accent6">
                <a:lumMod val="75000"/>
              </a:schemeClr>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57" name="Elbow Connector 256"/>
          <p:cNvCxnSpPr>
            <a:stCxn id="251" idx="3"/>
            <a:endCxn id="233" idx="1"/>
          </p:cNvCxnSpPr>
          <p:nvPr/>
        </p:nvCxnSpPr>
        <p:spPr>
          <a:xfrm>
            <a:off x="1896982" y="3934788"/>
            <a:ext cx="2494489" cy="2203945"/>
          </a:xfrm>
          <a:prstGeom prst="bentConnector3">
            <a:avLst/>
          </a:prstGeom>
          <a:ln w="1587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0" name="Straight Arrow Connector 259"/>
          <p:cNvCxnSpPr>
            <a:endCxn id="211" idx="1"/>
          </p:cNvCxnSpPr>
          <p:nvPr/>
        </p:nvCxnSpPr>
        <p:spPr>
          <a:xfrm>
            <a:off x="3144226" y="3752206"/>
            <a:ext cx="1247245" cy="973"/>
          </a:xfrm>
          <a:prstGeom prst="straightConnector1">
            <a:avLst/>
          </a:prstGeom>
          <a:ln w="15875">
            <a:solidFill>
              <a:schemeClr val="accent6">
                <a:lumMod val="75000"/>
              </a:schemeClr>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70" name="Elbow Connector 269"/>
          <p:cNvCxnSpPr>
            <a:stCxn id="267" idx="1"/>
            <a:endCxn id="60" idx="3"/>
          </p:cNvCxnSpPr>
          <p:nvPr/>
        </p:nvCxnSpPr>
        <p:spPr>
          <a:xfrm rot="10800000">
            <a:off x="7559818" y="2014148"/>
            <a:ext cx="2531241" cy="1920640"/>
          </a:xfrm>
          <a:prstGeom prst="bentConnector3">
            <a:avLst>
              <a:gd name="adj1" fmla="val 50000"/>
            </a:avLst>
          </a:prstGeom>
          <a:ln w="15875">
            <a:solidFill>
              <a:schemeClr val="accent6">
                <a:lumMod val="75000"/>
              </a:schemeClr>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72" name="Elbow Connector 271"/>
          <p:cNvCxnSpPr>
            <a:stCxn id="267" idx="1"/>
            <a:endCxn id="233" idx="3"/>
          </p:cNvCxnSpPr>
          <p:nvPr/>
        </p:nvCxnSpPr>
        <p:spPr>
          <a:xfrm rot="10800000" flipV="1">
            <a:off x="7556508" y="3934787"/>
            <a:ext cx="2534551" cy="2203945"/>
          </a:xfrm>
          <a:prstGeom prst="bentConnector3">
            <a:avLst>
              <a:gd name="adj1" fmla="val 50000"/>
            </a:avLst>
          </a:prstGeom>
          <a:ln w="15875">
            <a:solidFill>
              <a:schemeClr val="accent6">
                <a:lumMod val="75000"/>
              </a:schemeClr>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283" name="TextBox 282"/>
          <p:cNvSpPr txBox="1"/>
          <p:nvPr/>
        </p:nvSpPr>
        <p:spPr>
          <a:xfrm>
            <a:off x="2570198" y="2936758"/>
            <a:ext cx="593432" cy="400110"/>
          </a:xfrm>
          <a:prstGeom prst="rect">
            <a:avLst/>
          </a:prstGeom>
          <a:noFill/>
        </p:spPr>
        <p:txBody>
          <a:bodyPr wrap="none" rtlCol="0">
            <a:spAutoFit/>
          </a:bodyPr>
          <a:lstStyle/>
          <a:p>
            <a:r>
              <a:rPr lang="en-IN" sz="2000" dirty="0">
                <a:solidFill>
                  <a:srgbClr val="7030A0"/>
                </a:solidFill>
                <a:latin typeface="Arial Narrow" panose="020B0606020202030204" pitchFamily="34" charset="0"/>
              </a:rPr>
              <a:t>Split</a:t>
            </a:r>
          </a:p>
        </p:txBody>
      </p:sp>
      <p:sp>
        <p:nvSpPr>
          <p:cNvPr id="284" name="TextBox 283"/>
          <p:cNvSpPr txBox="1"/>
          <p:nvPr/>
        </p:nvSpPr>
        <p:spPr>
          <a:xfrm>
            <a:off x="8814461" y="2536648"/>
            <a:ext cx="1377300" cy="400110"/>
          </a:xfrm>
          <a:prstGeom prst="rect">
            <a:avLst/>
          </a:prstGeom>
          <a:noFill/>
        </p:spPr>
        <p:txBody>
          <a:bodyPr wrap="none" rtlCol="0">
            <a:spAutoFit/>
          </a:bodyPr>
          <a:lstStyle/>
          <a:p>
            <a:r>
              <a:rPr lang="en-IN" sz="2000" dirty="0">
                <a:solidFill>
                  <a:srgbClr val="7030A0"/>
                </a:solidFill>
                <a:latin typeface="Arial Narrow" panose="020B0606020202030204" pitchFamily="34" charset="0"/>
              </a:rPr>
              <a:t>Concatenate</a:t>
            </a:r>
          </a:p>
        </p:txBody>
      </p:sp>
      <p:sp>
        <p:nvSpPr>
          <p:cNvPr id="285" name="TextBox 284">
            <a:extLst>
              <a:ext uri="{FF2B5EF4-FFF2-40B4-BE49-F238E27FC236}">
                <a16:creationId xmlns:a16="http://schemas.microsoft.com/office/drawing/2014/main" id="{111F9827-3C35-4C1D-B234-252B7B0FC041}"/>
              </a:ext>
            </a:extLst>
          </p:cNvPr>
          <p:cNvSpPr txBox="1"/>
          <p:nvPr/>
        </p:nvSpPr>
        <p:spPr>
          <a:xfrm>
            <a:off x="7737905" y="6490201"/>
            <a:ext cx="4626182" cy="276999"/>
          </a:xfrm>
          <a:prstGeom prst="rect">
            <a:avLst/>
          </a:prstGeom>
          <a:noFill/>
        </p:spPr>
        <p:txBody>
          <a:bodyPr wrap="square" rtlCol="0">
            <a:spAutoFit/>
          </a:bodyPr>
          <a:lstStyle/>
          <a:p>
            <a:r>
              <a:rPr lang="en-IN" sz="1200" dirty="0">
                <a:latin typeface="Arial Narrow" panose="020B0606020202030204" pitchFamily="34" charset="0"/>
                <a:cs typeface="Times New Roman" panose="02020603050405020304" pitchFamily="18" charset="0"/>
              </a:rPr>
              <a:t>Concept: Fei-Fei Li Attention and Transformers CS231n Stanford Lecture</a:t>
            </a:r>
          </a:p>
        </p:txBody>
      </p:sp>
      <p:sp>
        <p:nvSpPr>
          <p:cNvPr id="286" name="TextBox 285"/>
          <p:cNvSpPr txBox="1"/>
          <p:nvPr/>
        </p:nvSpPr>
        <p:spPr>
          <a:xfrm>
            <a:off x="5787947" y="4342671"/>
            <a:ext cx="301686" cy="757130"/>
          </a:xfrm>
          <a:prstGeom prst="rect">
            <a:avLst/>
          </a:prstGeom>
          <a:noFill/>
        </p:spPr>
        <p:txBody>
          <a:bodyPr wrap="none" rtlCol="0">
            <a:spAutoFit/>
          </a:bodyPr>
          <a:lstStyle/>
          <a:p>
            <a:pPr>
              <a:lnSpc>
                <a:spcPct val="40000"/>
              </a:lnSpc>
            </a:pPr>
            <a:r>
              <a:rPr lang="en-IN" sz="3600" dirty="0">
                <a:solidFill>
                  <a:srgbClr val="FF0000"/>
                </a:solidFill>
              </a:rPr>
              <a:t>.</a:t>
            </a:r>
          </a:p>
          <a:p>
            <a:pPr>
              <a:lnSpc>
                <a:spcPct val="40000"/>
              </a:lnSpc>
            </a:pPr>
            <a:r>
              <a:rPr lang="en-IN" sz="3600" dirty="0">
                <a:solidFill>
                  <a:srgbClr val="FF0000"/>
                </a:solidFill>
              </a:rPr>
              <a:t>.</a:t>
            </a:r>
          </a:p>
          <a:p>
            <a:pPr>
              <a:lnSpc>
                <a:spcPct val="40000"/>
              </a:lnSpc>
            </a:pPr>
            <a:r>
              <a:rPr lang="en-IN" sz="3600" dirty="0">
                <a:solidFill>
                  <a:srgbClr val="FF0000"/>
                </a:solidFill>
              </a:rPr>
              <a:t>.</a:t>
            </a:r>
          </a:p>
        </p:txBody>
      </p:sp>
      <p:cxnSp>
        <p:nvCxnSpPr>
          <p:cNvPr id="6" name="Straight Connector 5">
            <a:extLst>
              <a:ext uri="{FF2B5EF4-FFF2-40B4-BE49-F238E27FC236}">
                <a16:creationId xmlns:a16="http://schemas.microsoft.com/office/drawing/2014/main" id="{19C4F36D-6D4D-4A60-AA06-47CA3C473692}"/>
              </a:ext>
            </a:extLst>
          </p:cNvPr>
          <p:cNvCxnSpPr>
            <a:stCxn id="211" idx="3"/>
          </p:cNvCxnSpPr>
          <p:nvPr/>
        </p:nvCxnSpPr>
        <p:spPr>
          <a:xfrm flipV="1">
            <a:off x="7556507" y="3752206"/>
            <a:ext cx="1257954" cy="973"/>
          </a:xfrm>
          <a:prstGeom prst="line">
            <a:avLst/>
          </a:prstGeom>
          <a:ln w="158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27208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dirty="0">
                <a:latin typeface="Century" panose="02040604050505020304" pitchFamily="18" charset="0"/>
              </a:rPr>
              <a:t>Summary</a:t>
            </a:r>
          </a:p>
        </p:txBody>
      </p:sp>
      <p:sp>
        <p:nvSpPr>
          <p:cNvPr id="3" name="Content Placeholder 2"/>
          <p:cNvSpPr>
            <a:spLocks noGrp="1"/>
          </p:cNvSpPr>
          <p:nvPr>
            <p:ph idx="1"/>
          </p:nvPr>
        </p:nvSpPr>
        <p:spPr>
          <a:xfrm>
            <a:off x="838200" y="1690687"/>
            <a:ext cx="10515600" cy="4239057"/>
          </a:xfrm>
        </p:spPr>
        <p:txBody>
          <a:bodyPr>
            <a:normAutofit/>
          </a:bodyPr>
          <a:lstStyle/>
          <a:p>
            <a:pPr marL="457200" indent="-457200">
              <a:lnSpc>
                <a:spcPct val="150000"/>
              </a:lnSpc>
            </a:pPr>
            <a:r>
              <a:rPr lang="en-US" dirty="0">
                <a:latin typeface="Arial Narrow" panose="020B0606020202030204" pitchFamily="34" charset="0"/>
                <a:cs typeface="Times New Roman" panose="02020603050405020304" pitchFamily="18" charset="0"/>
              </a:rPr>
              <a:t>How Attention is computed?</a:t>
            </a:r>
          </a:p>
          <a:p>
            <a:pPr marL="457200" indent="-457200">
              <a:lnSpc>
                <a:spcPct val="150000"/>
              </a:lnSpc>
            </a:pPr>
            <a:r>
              <a:rPr lang="en-US" dirty="0">
                <a:latin typeface="Arial Narrow" panose="020B0606020202030204" pitchFamily="34" charset="0"/>
                <a:cs typeface="Times New Roman" panose="02020603050405020304" pitchFamily="18" charset="0"/>
              </a:rPr>
              <a:t>Self attention</a:t>
            </a:r>
          </a:p>
          <a:p>
            <a:pPr marL="457200" indent="-457200">
              <a:lnSpc>
                <a:spcPct val="150000"/>
              </a:lnSpc>
            </a:pPr>
            <a:r>
              <a:rPr lang="en-US" dirty="0">
                <a:latin typeface="Arial Narrow" panose="020B0606020202030204" pitchFamily="34" charset="0"/>
                <a:cs typeface="Times New Roman" panose="02020603050405020304" pitchFamily="18" charset="0"/>
              </a:rPr>
              <a:t>Masked Self Attention</a:t>
            </a:r>
          </a:p>
          <a:p>
            <a:pPr marL="457200" indent="-457200">
              <a:lnSpc>
                <a:spcPct val="150000"/>
              </a:lnSpc>
            </a:pPr>
            <a:r>
              <a:rPr lang="en-US" dirty="0">
                <a:latin typeface="Arial Narrow" panose="020B0606020202030204" pitchFamily="34" charset="0"/>
                <a:cs typeface="Times New Roman" panose="02020603050405020304" pitchFamily="18" charset="0"/>
              </a:rPr>
              <a:t>Multi-head Self-attention</a:t>
            </a:r>
          </a:p>
          <a:p>
            <a:pPr marL="0" indent="0">
              <a:lnSpc>
                <a:spcPct val="150000"/>
              </a:lnSpc>
              <a:buNone/>
            </a:pPr>
            <a:endParaRPr lang="en-US" dirty="0">
              <a:latin typeface="Arial Narrow" panose="020B0606020202030204" pitchFamily="34" charset="0"/>
              <a:cs typeface="Times New Roman" panose="02020603050405020304" pitchFamily="18" charset="0"/>
            </a:endParaRPr>
          </a:p>
        </p:txBody>
      </p:sp>
    </p:spTree>
    <p:extLst>
      <p:ext uri="{BB962C8B-B14F-4D97-AF65-F5344CB8AC3E}">
        <p14:creationId xmlns:p14="http://schemas.microsoft.com/office/powerpoint/2010/main" val="15773932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D1312-3FC0-4078-A2B9-78735F9B2C94}"/>
              </a:ext>
            </a:extLst>
          </p:cNvPr>
          <p:cNvSpPr>
            <a:spLocks noGrp="1"/>
          </p:cNvSpPr>
          <p:nvPr>
            <p:ph type="ctrTitle"/>
          </p:nvPr>
        </p:nvSpPr>
        <p:spPr>
          <a:xfrm>
            <a:off x="1361661" y="1742339"/>
            <a:ext cx="9144000" cy="2387600"/>
          </a:xfrm>
        </p:spPr>
        <p:txBody>
          <a:bodyPr>
            <a:normAutofit/>
          </a:bodyPr>
          <a:lstStyle/>
          <a:p>
            <a:r>
              <a:rPr lang="en-US" sz="4000" dirty="0">
                <a:solidFill>
                  <a:srgbClr val="002060"/>
                </a:solidFill>
                <a:latin typeface="Arial Narrow" panose="020B0606020202030204" pitchFamily="34" charset="0"/>
              </a:rPr>
              <a:t>Transformers - III</a:t>
            </a:r>
            <a:br>
              <a:rPr lang="en-IN" sz="4000" dirty="0">
                <a:solidFill>
                  <a:srgbClr val="002060"/>
                </a:solidFill>
                <a:latin typeface="Arial Narrow" panose="020B0606020202030204" pitchFamily="34" charset="0"/>
              </a:rPr>
            </a:br>
            <a:endParaRPr lang="en-IN" sz="4000" dirty="0"/>
          </a:p>
        </p:txBody>
      </p:sp>
      <p:sp>
        <p:nvSpPr>
          <p:cNvPr id="3" name="Subtitle 2">
            <a:extLst>
              <a:ext uri="{FF2B5EF4-FFF2-40B4-BE49-F238E27FC236}">
                <a16:creationId xmlns:a16="http://schemas.microsoft.com/office/drawing/2014/main" id="{14B6BD41-65D8-4E39-9EB8-873E6D591764}"/>
              </a:ext>
            </a:extLst>
          </p:cNvPr>
          <p:cNvSpPr>
            <a:spLocks noGrp="1"/>
          </p:cNvSpPr>
          <p:nvPr>
            <p:ph type="subTitle" idx="1"/>
          </p:nvPr>
        </p:nvSpPr>
        <p:spPr>
          <a:xfrm>
            <a:off x="1524000" y="4129939"/>
            <a:ext cx="9144000" cy="1655762"/>
          </a:xfrm>
        </p:spPr>
        <p:txBody>
          <a:bodyPr>
            <a:normAutofit/>
          </a:bodyPr>
          <a:lstStyle/>
          <a:p>
            <a:r>
              <a:rPr lang="en-US" sz="3600" dirty="0">
                <a:solidFill>
                  <a:srgbClr val="00B050"/>
                </a:solidFill>
                <a:latin typeface="Book Antiqua" panose="02040602050305030304" pitchFamily="18" charset="0"/>
              </a:rPr>
              <a:t>Generative AI for Computer Vision</a:t>
            </a:r>
            <a:endParaRPr lang="en-IN" sz="3600" dirty="0">
              <a:solidFill>
                <a:srgbClr val="002060"/>
              </a:solidFill>
              <a:latin typeface="Arial Narrow" panose="020B0606020202030204" pitchFamily="34" charset="0"/>
            </a:endParaRPr>
          </a:p>
        </p:txBody>
      </p:sp>
      <p:sp>
        <p:nvSpPr>
          <p:cNvPr id="4" name="TextBox 3">
            <a:extLst>
              <a:ext uri="{FF2B5EF4-FFF2-40B4-BE49-F238E27FC236}">
                <a16:creationId xmlns:a16="http://schemas.microsoft.com/office/drawing/2014/main" id="{8A279711-0489-4234-BC9E-AEC0ED47B657}"/>
              </a:ext>
            </a:extLst>
          </p:cNvPr>
          <p:cNvSpPr txBox="1"/>
          <p:nvPr/>
        </p:nvSpPr>
        <p:spPr>
          <a:xfrm>
            <a:off x="4035287" y="860753"/>
            <a:ext cx="3796748" cy="1384995"/>
          </a:xfrm>
          <a:prstGeom prst="rect">
            <a:avLst/>
          </a:prstGeom>
          <a:noFill/>
        </p:spPr>
        <p:txBody>
          <a:bodyPr wrap="square" rtlCol="0">
            <a:spAutoFit/>
          </a:bodyPr>
          <a:lstStyle/>
          <a:p>
            <a:pPr algn="ctr"/>
            <a:r>
              <a:rPr lang="en-IN" sz="2800" dirty="0">
                <a:latin typeface="Arial Narrow" panose="020B0606020202030204" pitchFamily="34" charset="0"/>
              </a:rPr>
              <a:t>Next</a:t>
            </a:r>
          </a:p>
          <a:p>
            <a:pPr algn="ctr"/>
            <a:endParaRPr lang="en-IN" sz="2800" dirty="0">
              <a:latin typeface="Arial Narrow" panose="020B0606020202030204" pitchFamily="34" charset="0"/>
            </a:endParaRPr>
          </a:p>
          <a:p>
            <a:pPr algn="ctr"/>
            <a:r>
              <a:rPr lang="en-IN" sz="2800" dirty="0">
                <a:latin typeface="Arial Narrow" panose="020B0606020202030204" pitchFamily="34" charset="0"/>
              </a:rPr>
              <a:t>Lecture 8: Part 5</a:t>
            </a:r>
          </a:p>
        </p:txBody>
      </p:sp>
    </p:spTree>
    <p:extLst>
      <p:ext uri="{BB962C8B-B14F-4D97-AF65-F5344CB8AC3E}">
        <p14:creationId xmlns:p14="http://schemas.microsoft.com/office/powerpoint/2010/main" val="7572812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1311</TotalTime>
  <Words>3430</Words>
  <Application>Microsoft Office PowerPoint</Application>
  <PresentationFormat>Widescreen</PresentationFormat>
  <Paragraphs>773</Paragraphs>
  <Slides>30</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30</vt:i4>
      </vt:variant>
    </vt:vector>
  </HeadingPairs>
  <TitlesOfParts>
    <vt:vector size="39" baseType="lpstr">
      <vt:lpstr>Arial</vt:lpstr>
      <vt:lpstr>Arial Narrow</vt:lpstr>
      <vt:lpstr>Book Antiqua</vt:lpstr>
      <vt:lpstr>Calibri</vt:lpstr>
      <vt:lpstr>Calibri Light</vt:lpstr>
      <vt:lpstr>Cambria Math</vt:lpstr>
      <vt:lpstr>Century</vt:lpstr>
      <vt:lpstr>Times New Roman</vt:lpstr>
      <vt:lpstr>Office Theme</vt:lpstr>
      <vt:lpstr>  Transformers - II</vt:lpstr>
      <vt:lpstr>Content</vt:lpstr>
      <vt:lpstr>How attention is computed in Image Captioning?</vt:lpstr>
      <vt:lpstr>How attention is computed in Image Captioning?</vt:lpstr>
      <vt:lpstr>How attention is computed in Image Captioning?</vt:lpstr>
      <vt:lpstr>How attention is computed in Image Captioning?</vt:lpstr>
      <vt:lpstr>Attention Layer</vt:lpstr>
      <vt:lpstr>Attention Layer</vt:lpstr>
      <vt:lpstr>Attention Layer</vt:lpstr>
      <vt:lpstr>Attention Layer</vt:lpstr>
      <vt:lpstr>Attention Layer</vt:lpstr>
      <vt:lpstr>Attention Layer</vt:lpstr>
      <vt:lpstr>Attention Layer</vt:lpstr>
      <vt:lpstr>Attention Layer</vt:lpstr>
      <vt:lpstr>Query, Key, and Value Projections in Attention</vt:lpstr>
      <vt:lpstr>Query, Key, and Value Projections in Attention</vt:lpstr>
      <vt:lpstr>Attention Layer</vt:lpstr>
      <vt:lpstr>Self-attention</vt:lpstr>
      <vt:lpstr>Self-attention</vt:lpstr>
      <vt:lpstr>Self Attention Layer</vt:lpstr>
      <vt:lpstr>Self Attention Layer</vt:lpstr>
      <vt:lpstr>Self Attention Layer</vt:lpstr>
      <vt:lpstr>Masked Self-Attention Layer</vt:lpstr>
      <vt:lpstr>Masked self-attention layer</vt:lpstr>
      <vt:lpstr>Multi-head Self-attention Layer</vt:lpstr>
      <vt:lpstr>Multi-head Self-attention Layer</vt:lpstr>
      <vt:lpstr>Multi-head Self-attention Layer</vt:lpstr>
      <vt:lpstr>Multi-head self attention layer Multiple self-attention heads in parallel</vt:lpstr>
      <vt:lpstr>Summary</vt:lpstr>
      <vt:lpstr>Transformers - III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Transformers - II</dc:title>
  <dc:creator>HP</dc:creator>
  <cp:lastModifiedBy>HP</cp:lastModifiedBy>
  <cp:revision>27</cp:revision>
  <dcterms:created xsi:type="dcterms:W3CDTF">2026-08-23T16:22:06Z</dcterms:created>
  <dcterms:modified xsi:type="dcterms:W3CDTF">2026-08-28T07:14:17Z</dcterms:modified>
</cp:coreProperties>
</file>