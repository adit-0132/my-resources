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8" r:id="rId2"/>
    <p:sldId id="258" r:id="rId3"/>
    <p:sldId id="259" r:id="rId4"/>
    <p:sldId id="355" r:id="rId5"/>
    <p:sldId id="356" r:id="rId6"/>
    <p:sldId id="35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0ADF5-A7A2-4386-963B-C61731D0758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E550F-1338-4546-9897-83585DA4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757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E550F-1338-4546-9897-83585DA4274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8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23B5-D854-4A61-B8F4-BADF9E3B9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CCD60-D4F4-44D0-A572-58B1271A1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67A40-B457-49F8-8B44-CF1416000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DC451-A28B-4E91-B290-3A4FD760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432C4-50A5-48CB-A0C1-44F86150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66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941F-6A9B-4F00-A309-48EAABB1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2C4B6-040C-4516-A451-B865CF8C5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10B1E-009D-4722-B927-9A6D07D6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85E9E-0F59-4686-AC0D-9DB82AEC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88FE3-EF3D-4E6D-83FA-7F7FD643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803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D07D-8B1C-4ED7-910A-28C25137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6AD21-00DA-444C-BEB5-6D560662C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97E95-8475-4B1C-B486-9F7ABB6C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43233-F5CD-4201-A9EA-9AC7D496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F888F-D275-43FB-9117-9D9D4B43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179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FBA1-EA52-4B03-BE09-60A6A660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C0052-4DFD-44C3-A4FF-59722C378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16F97-7248-4BE4-A28F-104957F51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D2A54-35AD-486C-A72D-6B9F06B9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F57F4-D89F-4B7C-A4C1-BFD772AF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EE391-E479-4448-AECB-93F4B0D5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81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BBBF-BD97-4845-A211-E5A31CD6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64FBC-53A9-413D-B266-454452306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26863-45B7-4088-B8B4-116876C68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AC7D4-BBAF-426B-9B8C-29C48199F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784A1-299D-4165-9718-999432323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6B0CE-DA4D-4D8A-AB9D-E2BE67B9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D4E3F-2323-49AA-9E52-31970312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8C5DB-9EF1-417B-A7A3-9F64192A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68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3D2A-6C62-498F-A37D-0DFD19A8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5466D-32B6-431A-B726-3A1039C77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1B598-48F4-4DE8-AD0A-BF4423CC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DFB86-EB05-4C34-B39E-0866E756B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74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D3512-9CC6-4D97-ABA6-0F59479F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49215-EEAE-4EED-AE60-E89963736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5C466-7947-4A59-8824-66C3FFBE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696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80E6-6484-4F68-B6F3-AD4B1B94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9150B-C253-4DEF-B74A-DDC09466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1E9FA-0B61-47D4-9EFC-FA3814FFC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9754C-5918-4989-A103-BFDCA106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7231A-C960-43E2-BB23-E428CD99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36F23-CF1B-4711-AC1D-9233CB58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2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DDBB-E488-4D20-9CBB-6C533868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6B244-0727-42B4-B9B6-973A98EC9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3CE8B-AD3F-4CA9-9322-59950822B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2B52E-5C00-4212-BCDF-03549764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5E1DA-1A79-49BD-AC24-0F2885C8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E0293-F7EA-46C9-8D48-E59059DA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1217-67F1-409F-9A6C-C0B0531B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55BC1-1EF6-4737-9DD1-164EE6F03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64573-1ECF-455E-A928-65FF3DB4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7960C-B7C0-46D8-8E7C-91E870AD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68760-A895-4461-851C-B698AD37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21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F25F1-C195-4C04-840E-D735EA4E5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42F23-1AC8-4BBC-9206-1D023D72B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08611-5578-466B-8C9C-DC078A18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B2B3D-C86F-45F0-B70F-CCD6EC7B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1DD46-8EEF-4AD1-8EDD-21C85B2D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20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3F25D-0E52-4EBF-9D15-BBC94301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8D3D2-FE37-4AAB-857F-B8C1F60DE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32531-2E3F-4E14-933E-CCE868DB7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BADF8-B364-4D0A-952D-92E23B5E84F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7B9F5-9BCF-4FE1-84D1-C22A93937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5466C-20A0-4944-AC0D-770169FEC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DF076-CD70-406E-9D68-EAE3D35EE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35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Introduction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1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 Narrow" panose="020B0606020202030204" pitchFamily="34" charset="0"/>
                <a:ea typeface="+mn-lt"/>
                <a:cs typeface="+mn-lt"/>
              </a:rPr>
              <a:t>Computer Vision</a:t>
            </a:r>
          </a:p>
          <a:p>
            <a:endParaRPr lang="en-US" dirty="0">
              <a:latin typeface="Arial Narrow" panose="020B0606020202030204" pitchFamily="34" charset="0"/>
              <a:ea typeface="+mn-lt"/>
              <a:cs typeface="+mn-lt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Generative AI for Computer Vision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Challenges of Synthetic Data Generation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Applications of Generative AI for Vision</a:t>
            </a:r>
          </a:p>
          <a:p>
            <a:endParaRPr lang="en-US" dirty="0">
              <a:latin typeface="Arial Narrow" panose="020B0606020202030204" pitchFamily="34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06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1DC580-39A7-45DF-99D0-6FC46D00738C}"/>
              </a:ext>
            </a:extLst>
          </p:cNvPr>
          <p:cNvSpPr txBox="1"/>
          <p:nvPr/>
        </p:nvSpPr>
        <p:spPr>
          <a:xfrm>
            <a:off x="7636444" y="3087252"/>
            <a:ext cx="4456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itchFamily="18" charset="0"/>
              </a:rPr>
              <a:t>Interpretation: </a:t>
            </a:r>
          </a:p>
          <a:p>
            <a:pPr algn="ctr"/>
            <a:r>
              <a:rPr lang="en-IN" sz="24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itchFamily="18" charset="0"/>
              </a:rPr>
              <a:t>Colour Image, Human, Lady, </a:t>
            </a:r>
          </a:p>
          <a:p>
            <a:pPr algn="ctr"/>
            <a:r>
              <a:rPr lang="en-IN" sz="24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itchFamily="18" charset="0"/>
              </a:rPr>
              <a:t>Monalisa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CA133-DD26-4208-B1D5-9C332839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720" y="1768810"/>
            <a:ext cx="1247949" cy="1276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F53CCD-E252-459F-A23E-EFBBEF5BB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797" y="3045338"/>
            <a:ext cx="1247949" cy="1845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652A4-73E1-48E1-8308-44CC06DB5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7" y="4389560"/>
            <a:ext cx="1343212" cy="1409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7C9FF4-5DE4-42DA-A556-96B5C17A4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8001" y="1916468"/>
            <a:ext cx="1571844" cy="981212"/>
          </a:xfrm>
          <a:prstGeom prst="rect">
            <a:avLst/>
          </a:prstGeom>
        </p:spPr>
      </p:pic>
      <p:pic>
        <p:nvPicPr>
          <p:cNvPr id="9" name="Picture 8" descr="robot.jpeg">
            <a:extLst>
              <a:ext uri="{FF2B5EF4-FFF2-40B4-BE49-F238E27FC236}">
                <a16:creationId xmlns:a16="http://schemas.microsoft.com/office/drawing/2014/main" id="{BA147DF6-C431-4832-8CB5-B46075F7B11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24212" y="4251195"/>
            <a:ext cx="1604963" cy="160496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8C9211-3800-401A-92F5-7416CFD955E4}"/>
              </a:ext>
            </a:extLst>
          </p:cNvPr>
          <p:cNvCxnSpPr/>
          <p:nvPr/>
        </p:nvCxnSpPr>
        <p:spPr>
          <a:xfrm flipV="1">
            <a:off x="2566652" y="2633972"/>
            <a:ext cx="641349" cy="304657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C9965B-0DD0-45E8-9506-5834D8F741C7}"/>
              </a:ext>
            </a:extLst>
          </p:cNvPr>
          <p:cNvCxnSpPr/>
          <p:nvPr/>
        </p:nvCxnSpPr>
        <p:spPr>
          <a:xfrm>
            <a:off x="4932780" y="2407074"/>
            <a:ext cx="74619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ABF304-6617-4EF0-806F-9018334DFFCA}"/>
              </a:ext>
            </a:extLst>
          </p:cNvPr>
          <p:cNvCxnSpPr/>
          <p:nvPr/>
        </p:nvCxnSpPr>
        <p:spPr>
          <a:xfrm>
            <a:off x="2472384" y="4774932"/>
            <a:ext cx="735617" cy="297738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D64B3F-4152-454D-B6C2-39CF2057B3AB}"/>
              </a:ext>
            </a:extLst>
          </p:cNvPr>
          <p:cNvCxnSpPr/>
          <p:nvPr/>
        </p:nvCxnSpPr>
        <p:spPr>
          <a:xfrm>
            <a:off x="4863932" y="5094508"/>
            <a:ext cx="815038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B65BD8-BC65-4889-B327-C45AB6145F58}"/>
              </a:ext>
            </a:extLst>
          </p:cNvPr>
          <p:cNvCxnSpPr/>
          <p:nvPr/>
        </p:nvCxnSpPr>
        <p:spPr>
          <a:xfrm>
            <a:off x="7329175" y="2515443"/>
            <a:ext cx="978400" cy="63826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A126B0-26A6-4710-8DAC-23374AEAA22A}"/>
              </a:ext>
            </a:extLst>
          </p:cNvPr>
          <p:cNvCxnSpPr/>
          <p:nvPr/>
        </p:nvCxnSpPr>
        <p:spPr>
          <a:xfrm flipV="1">
            <a:off x="7324169" y="4251194"/>
            <a:ext cx="1059255" cy="788572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21D3DBF8-35C4-476C-9ED7-BCEC37B2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  <a:cs typeface="Arial" panose="020B0604020202020204" pitchFamily="34" charset="0"/>
              </a:rPr>
              <a:t>What is Computer Vision?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A59C85-0625-4041-A9A7-6EF2B94CEBD9}"/>
              </a:ext>
            </a:extLst>
          </p:cNvPr>
          <p:cNvSpPr txBox="1"/>
          <p:nvPr/>
        </p:nvSpPr>
        <p:spPr>
          <a:xfrm>
            <a:off x="9852991" y="6413362"/>
            <a:ext cx="2339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Source: Internet</a:t>
            </a:r>
          </a:p>
        </p:txBody>
      </p:sp>
    </p:spTree>
    <p:extLst>
      <p:ext uri="{BB962C8B-B14F-4D97-AF65-F5344CB8AC3E}">
        <p14:creationId xmlns:p14="http://schemas.microsoft.com/office/powerpoint/2010/main" val="240635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EA9C-4CCD-496E-94B5-E2CCB7F2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Generative AI: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B3CCC-982C-41A2-AFEB-48AD64AB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290"/>
            <a:ext cx="10515600" cy="477240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spcAft>
                <a:spcPts val="1200"/>
              </a:spcAft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Generative AI</a:t>
            </a:r>
          </a:p>
          <a:p>
            <a:pPr marL="742950" lvl="1" indent="-285750" algn="just">
              <a:spcAft>
                <a:spcPts val="1200"/>
              </a:spcAft>
            </a:pP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Generative AI (</a:t>
            </a:r>
            <a:r>
              <a:rPr lang="en-GB" sz="2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GenAI</a:t>
            </a: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) is a subset of artificial intelligence that </a:t>
            </a:r>
            <a:r>
              <a:rPr lang="en-GB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creates new, original content</a:t>
            </a: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—including </a:t>
            </a:r>
            <a:r>
              <a:rPr lang="en-GB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text, images, code, audio, and video</a:t>
            </a: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—by learning patterns from large amounts of existing data. </a:t>
            </a:r>
          </a:p>
          <a:p>
            <a:pPr marL="742950" lvl="1" indent="-285750" algn="just">
              <a:spcAft>
                <a:spcPts val="1200"/>
              </a:spcAft>
            </a:pP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Unlike traditional rule-based AI, Generative AI uses foundation models to generate </a:t>
            </a:r>
            <a:r>
              <a:rPr lang="en-GB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human-like content</a:t>
            </a: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, solve problems, and respond to user prompts. </a:t>
            </a:r>
          </a:p>
          <a:p>
            <a:pPr marL="742950" lvl="1" indent="-285750" algn="just">
              <a:spcAft>
                <a:spcPts val="1200"/>
              </a:spcAft>
            </a:pP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Its core technologies include </a:t>
            </a:r>
            <a:r>
              <a:rPr lang="en-GB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Generative Adversarial Networks (GANs), Variational Autoencoders (VAEs), Large Language Models (LLMs), and diffusion models</a:t>
            </a:r>
            <a:r>
              <a:rPr lang="en-GB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, which enable the creation of realistic and contextually relevant outputs.</a:t>
            </a:r>
          </a:p>
          <a:p>
            <a:pPr marL="285750" indent="-285750" algn="just">
              <a:spcAft>
                <a:spcPts val="1200"/>
              </a:spcAft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Generative Modelling</a:t>
            </a:r>
          </a:p>
          <a:p>
            <a:pPr marL="742950" lvl="1" indent="-285750" algn="just">
              <a:spcAft>
                <a:spcPts val="1200"/>
              </a:spcAft>
            </a:pPr>
            <a:r>
              <a:rPr 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Generative modeling is an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unsupervised learning task</a:t>
            </a:r>
            <a:r>
              <a:rPr 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spcAft>
                <a:spcPts val="1200"/>
              </a:spcAft>
            </a:pPr>
            <a:r>
              <a:rPr 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Learns the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patterns of input data from a given distribution </a:t>
            </a:r>
            <a:r>
              <a:rPr 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generate new examples </a:t>
            </a:r>
            <a:r>
              <a:rPr 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which belong to the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similar distribution</a:t>
            </a:r>
            <a:r>
              <a:rPr lang="en-US" sz="2200" dirty="0"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83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7AC4-3295-4CDD-8709-88885E6B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Why Gen AI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6123-C9FA-4E03-BD44-F1A35D46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542"/>
            <a:ext cx="10923494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 present day,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deep learning </a:t>
            </a: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has achieved a significant success in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Supervised classification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9E39B-F445-4129-85D6-AC275F259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816" y="2514255"/>
            <a:ext cx="8222184" cy="3449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24400F-DA4D-4C20-BE86-99AF75E6AF8D}"/>
              </a:ext>
            </a:extLst>
          </p:cNvPr>
          <p:cNvSpPr txBox="1"/>
          <p:nvPr/>
        </p:nvSpPr>
        <p:spPr>
          <a:xfrm>
            <a:off x="1683816" y="5963690"/>
            <a:ext cx="804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Figure: Top-5 classification error in test set - results from ImageNet challenge [1]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07B1A-BCBD-4961-8696-7AC9AD078453}"/>
              </a:ext>
            </a:extLst>
          </p:cNvPr>
          <p:cNvSpPr txBox="1"/>
          <p:nvPr/>
        </p:nvSpPr>
        <p:spPr>
          <a:xfrm>
            <a:off x="240060" y="6478281"/>
            <a:ext cx="11243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[1] Sze, Vivienne, et al. "Efficient processing of deep neural networks: A tutorial and survey." Proceedings of the IEEE </a:t>
            </a:r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105.12 (2017): 2295-2329.</a:t>
            </a:r>
          </a:p>
        </p:txBody>
      </p:sp>
    </p:spTree>
    <p:extLst>
      <p:ext uri="{BB962C8B-B14F-4D97-AF65-F5344CB8AC3E}">
        <p14:creationId xmlns:p14="http://schemas.microsoft.com/office/powerpoint/2010/main" val="2373738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3D2F-6E13-4944-875C-E0B39D4B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Synthetic Data Generation using Gen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54DA2-22F1-492F-AACC-D8A1F071B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6196" cy="435133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It has been observed in the recent literature</a:t>
            </a:r>
          </a:p>
          <a:p>
            <a:pPr lvl="1"/>
            <a:r>
              <a:rPr lang="en-GB" sz="2000" dirty="0">
                <a:latin typeface="Arial Narrow" panose="020B0606020202030204" pitchFamily="34" charset="0"/>
              </a:rPr>
              <a:t>Deep learning models require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large volumes of accurately annotated data </a:t>
            </a:r>
            <a:r>
              <a:rPr lang="en-GB" sz="2000" dirty="0">
                <a:latin typeface="Arial Narrow" panose="020B0606020202030204" pitchFamily="34" charset="0"/>
              </a:rPr>
              <a:t>for effective supervised learning.</a:t>
            </a:r>
          </a:p>
          <a:p>
            <a:pPr lvl="1"/>
            <a:r>
              <a:rPr lang="en-GB" sz="2000" dirty="0">
                <a:latin typeface="Arial Narrow" panose="020B0606020202030204" pitchFamily="34" charset="0"/>
              </a:rPr>
              <a:t>Model performance generally improves as the size, quality, and diversity of the annotated dataset increase.</a:t>
            </a:r>
          </a:p>
          <a:p>
            <a:pPr lvl="1"/>
            <a:endParaRPr lang="en-GB" sz="1600" dirty="0">
              <a:latin typeface="Arial Narrow" panose="020B0606020202030204" pitchFamily="34" charset="0"/>
            </a:endParaRPr>
          </a:p>
          <a:p>
            <a:r>
              <a:rPr lang="en-GB" sz="2000" dirty="0">
                <a:solidFill>
                  <a:srgbClr val="C00000"/>
                </a:solidFill>
                <a:latin typeface="Arial Narrow" panose="020B0606020202030204" pitchFamily="34" charset="0"/>
              </a:rPr>
              <a:t>Problem</a:t>
            </a:r>
            <a:r>
              <a:rPr lang="en-GB" sz="2000" dirty="0">
                <a:latin typeface="Arial Narrow" panose="020B0606020202030204" pitchFamily="34" charset="0"/>
              </a:rPr>
              <a:t>: Collecting and accurately labelling such large datasets is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expensive, time-consuming, and often impractical</a:t>
            </a:r>
            <a:r>
              <a:rPr lang="en-GB" sz="2000" dirty="0">
                <a:latin typeface="Arial Narrow" panose="020B0606020202030204" pitchFamily="34" charset="0"/>
              </a:rPr>
              <a:t> for many real-world applications.</a:t>
            </a:r>
          </a:p>
          <a:p>
            <a:endParaRPr lang="en-GB" sz="2000" dirty="0">
              <a:latin typeface="Arial Narrow" panose="020B0606020202030204" pitchFamily="34" charset="0"/>
            </a:endParaRPr>
          </a:p>
          <a:p>
            <a:r>
              <a:rPr lang="en-GB" sz="2000" dirty="0">
                <a:solidFill>
                  <a:srgbClr val="00B050"/>
                </a:solidFill>
                <a:latin typeface="Arial Narrow" panose="020B0606020202030204" pitchFamily="34" charset="0"/>
              </a:rPr>
              <a:t>Solution</a:t>
            </a:r>
            <a:r>
              <a:rPr lang="en-GB" sz="2000" dirty="0">
                <a:latin typeface="Arial Narrow" panose="020B0606020202030204" pitchFamily="34" charset="0"/>
              </a:rPr>
              <a:t>: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Synthetic data generation</a:t>
            </a:r>
            <a:r>
              <a:rPr lang="en-GB" sz="2000" dirty="0">
                <a:latin typeface="Arial Narrow" panose="020B0606020202030204" pitchFamily="34" charset="0"/>
              </a:rPr>
              <a:t>, powered by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Generative AI </a:t>
            </a:r>
            <a:r>
              <a:rPr lang="en-GB" sz="2000" dirty="0">
                <a:latin typeface="Arial Narrow" panose="020B0606020202030204" pitchFamily="34" charset="0"/>
              </a:rPr>
              <a:t>(</a:t>
            </a:r>
            <a:r>
              <a:rPr lang="en-GB" sz="2000" dirty="0" err="1">
                <a:latin typeface="Arial Narrow" panose="020B0606020202030204" pitchFamily="34" charset="0"/>
              </a:rPr>
              <a:t>GenAI</a:t>
            </a:r>
            <a:r>
              <a:rPr lang="en-GB" sz="2000" dirty="0">
                <a:latin typeface="Arial Narrow" panose="020B0606020202030204" pitchFamily="34" charset="0"/>
              </a:rPr>
              <a:t>), is an emerging solution that creates realistic, labelled data at scale. </a:t>
            </a:r>
          </a:p>
          <a:p>
            <a:pPr marL="0" indent="0">
              <a:buNone/>
            </a:pPr>
            <a:endParaRPr lang="en-GB" sz="2000" dirty="0">
              <a:latin typeface="Arial Narrow" panose="020B0606020202030204" pitchFamily="34" charset="0"/>
            </a:endParaRPr>
          </a:p>
          <a:p>
            <a:r>
              <a:rPr lang="en-GB" sz="2000" dirty="0">
                <a:latin typeface="Arial Narrow" panose="020B0606020202030204" pitchFamily="34" charset="0"/>
              </a:rPr>
              <a:t>This reduces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dependence on manual data collection </a:t>
            </a:r>
            <a:r>
              <a:rPr lang="en-GB" sz="2000" dirty="0">
                <a:latin typeface="Arial Narrow" panose="020B0606020202030204" pitchFamily="34" charset="0"/>
              </a:rPr>
              <a:t>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annotation</a:t>
            </a:r>
            <a:r>
              <a:rPr lang="en-GB" sz="2000" dirty="0">
                <a:latin typeface="Arial Narrow" panose="020B0606020202030204" pitchFamily="34" charset="0"/>
              </a:rPr>
              <a:t> while improving model training and performance.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31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42032F-CBDA-4219-8FCF-1942A5F4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Generative AI for Computer Vision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91319-CB5A-40B8-8FF1-7B0F06247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Generative AI for computer vision is a rapidly advancing field that enables machines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not only to analyze visual data </a:t>
            </a:r>
            <a:r>
              <a:rPr lang="en-US" sz="2400" dirty="0">
                <a:latin typeface="Arial Narrow" panose="020B0606020202030204" pitchFamily="34" charset="0"/>
              </a:rPr>
              <a:t>but also to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create new images, videos, and visual content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Using deep learning models such as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Generative Adversarial Networks (GANs), Variational Autoencoders (VAEs), and diffusion models</a:t>
            </a:r>
            <a:r>
              <a:rPr lang="en-US" sz="2400" dirty="0">
                <a:latin typeface="Arial Narrow" panose="020B0606020202030204" pitchFamily="34" charset="0"/>
              </a:rPr>
              <a:t>, generative AI can generate realistic images, enhance image quality, perform image-to-image translation, and fill in missing visual information. </a:t>
            </a:r>
          </a:p>
          <a:p>
            <a:pPr marL="0" indent="0" algn="just"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In computer vision applications, it is used for tasks such as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data augmentation, image synthesis, super-resolution, object generation, and medical image reconstruction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27727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105-2846-42EF-AD72-D7B751A1B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Generative AI for Computer Vision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B22C-5CB3-4DE8-A121-9EDC9625A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By creating high-quality synthetic data, generative AI helps improve 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accuracy and robustness </a:t>
            </a:r>
            <a:r>
              <a:rPr lang="en-US" dirty="0">
                <a:latin typeface="Arial Narrow" panose="020B0606020202030204" pitchFamily="34" charset="0"/>
              </a:rPr>
              <a:t>of vision systems while reducing the need for large labeled datasets. </a:t>
            </a:r>
          </a:p>
          <a:p>
            <a:pPr marL="0" indent="0" algn="just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Its growing capabilities are transforming industries such as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healthcare, autonomous driving, entertainment, and surveillance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IN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46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C26D-0921-4A6C-A4DD-176D60DB6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Challenges of Synthetic Data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9406C-3B52-43E8-969A-0F5C53C76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latin typeface="Arial Narrow" panose="020B0606020202030204" pitchFamily="34" charset="0"/>
              </a:rPr>
              <a:t>Generating realistic synthetic images remains a challenging task despite significant advances in generative AI.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One major challenge is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achieving high visual fidelity </a:t>
            </a:r>
            <a:r>
              <a:rPr lang="en-US" sz="2200" dirty="0">
                <a:latin typeface="Arial Narrow" panose="020B0606020202030204" pitchFamily="34" charset="0"/>
              </a:rPr>
              <a:t>while preserving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fine details, textures, and natural lighting conditions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Models may produce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artifacts, distortions, or unrealistic features</a:t>
            </a:r>
            <a:r>
              <a:rPr lang="en-US" sz="2200" dirty="0">
                <a:latin typeface="Arial Narrow" panose="020B0606020202030204" pitchFamily="34" charset="0"/>
              </a:rPr>
              <a:t> that reduce image quality.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Ensuring diversity </a:t>
            </a:r>
            <a:r>
              <a:rPr lang="en-US" sz="2200" dirty="0">
                <a:latin typeface="Arial Narrow" panose="020B0606020202030204" pitchFamily="34" charset="0"/>
              </a:rPr>
              <a:t>in generated images is another difficulty, as models can suffer from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mode collapse</a:t>
            </a:r>
            <a:r>
              <a:rPr lang="en-US" sz="2200" dirty="0">
                <a:latin typeface="Arial Narrow" panose="020B0606020202030204" pitchFamily="34" charset="0"/>
              </a:rPr>
              <a:t>, where they generate limited variations of outputs. </a:t>
            </a:r>
          </a:p>
        </p:txBody>
      </p:sp>
    </p:spTree>
    <p:extLst>
      <p:ext uri="{BB962C8B-B14F-4D97-AF65-F5344CB8AC3E}">
        <p14:creationId xmlns:p14="http://schemas.microsoft.com/office/powerpoint/2010/main" val="397794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64E9-3100-4F5F-A124-DA3DC38E8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200" dirty="0">
                <a:latin typeface="Arial Narrow" panose="020B0606020202030204" pitchFamily="34" charset="0"/>
              </a:rPr>
              <a:t>Maintaining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consistency in complex scenes</a:t>
            </a:r>
            <a:r>
              <a:rPr lang="en-US" sz="2200" dirty="0">
                <a:latin typeface="Arial Narrow" panose="020B0606020202030204" pitchFamily="34" charset="0"/>
              </a:rPr>
              <a:t>, including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object relationships, backgrounds, and perspectives</a:t>
            </a:r>
            <a:r>
              <a:rPr lang="en-US" sz="2200" dirty="0">
                <a:latin typeface="Arial Narrow" panose="020B0606020202030204" pitchFamily="34" charset="0"/>
              </a:rPr>
              <a:t>, is also challenging.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Additionally, creating synthetic images that accurately represent real-world data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without introducing bias</a:t>
            </a:r>
            <a:r>
              <a:rPr lang="en-US" sz="2200" dirty="0">
                <a:latin typeface="Arial Narrow" panose="020B0606020202030204" pitchFamily="34" charset="0"/>
              </a:rPr>
              <a:t> requires large and diverse training datasets.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High computational costs, extensive training time, and concerns about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ethical misuse</a:t>
            </a:r>
            <a:r>
              <a:rPr lang="en-US" sz="2200" dirty="0">
                <a:latin typeface="Arial Narrow" panose="020B0606020202030204" pitchFamily="34" charset="0"/>
              </a:rPr>
              <a:t>, such as </a:t>
            </a:r>
            <a:r>
              <a:rPr lang="en-US" sz="2200" dirty="0" err="1">
                <a:latin typeface="Arial Narrow" panose="020B0606020202030204" pitchFamily="34" charset="0"/>
              </a:rPr>
              <a:t>deepfakes</a:t>
            </a:r>
            <a:r>
              <a:rPr lang="en-US" sz="2200" dirty="0">
                <a:latin typeface="Arial Narrow" panose="020B0606020202030204" pitchFamily="34" charset="0"/>
              </a:rPr>
              <a:t> and misinformation, further complicate the development and deployment of realistic image generation systems.</a:t>
            </a:r>
            <a:endParaRPr lang="en-IN" sz="22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F34693-9747-4C3E-BE40-EFB628AC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Challenges of Synthetic Data Generation</a:t>
            </a:r>
          </a:p>
        </p:txBody>
      </p:sp>
    </p:spTree>
    <p:extLst>
      <p:ext uri="{BB962C8B-B14F-4D97-AF65-F5344CB8AC3E}">
        <p14:creationId xmlns:p14="http://schemas.microsoft.com/office/powerpoint/2010/main" val="1152356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4046-EBD6-456B-84B5-5A67D5E3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Applications of Generative AI for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1E89D-20BC-4328-8C79-82EFC2467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latin typeface="Arial Narrow" panose="020B0606020202030204" pitchFamily="34" charset="0"/>
              </a:rPr>
              <a:t>Generative AI has numerous applications in computer vision across various industries.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It is widely used for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image synthesis, enabling the creation of realistic images from text descriptions or existing visual inputs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In healthcare, generative models assist in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medical image reconstruction, enhancement, and the generation of synthetic medical data for training diagnostic systems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Data augmentation </a:t>
            </a:r>
            <a:r>
              <a:rPr lang="en-US" sz="2200" dirty="0">
                <a:latin typeface="Arial Narrow" panose="020B0606020202030204" pitchFamily="34" charset="0"/>
              </a:rPr>
              <a:t>is another important application, where artificial images are created to improve the performance and robustness of computer vision models. </a:t>
            </a:r>
          </a:p>
        </p:txBody>
      </p:sp>
    </p:spTree>
    <p:extLst>
      <p:ext uri="{BB962C8B-B14F-4D97-AF65-F5344CB8AC3E}">
        <p14:creationId xmlns:p14="http://schemas.microsoft.com/office/powerpoint/2010/main" val="4163039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0C347-E60C-49B0-8A9C-6E81E1766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090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Generative AI is also used for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image restoration </a:t>
            </a:r>
            <a:r>
              <a:rPr lang="en-US" sz="2400" dirty="0">
                <a:latin typeface="Arial Narrow" panose="020B0606020202030204" pitchFamily="34" charset="0"/>
              </a:rPr>
              <a:t>tasks such as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super-resolution, denoising, colorization, and inpainting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In the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entertainment and gaming industries</a:t>
            </a:r>
            <a:r>
              <a:rPr lang="en-US" sz="2400" dirty="0">
                <a:latin typeface="Arial Narrow" panose="020B0606020202030204" pitchFamily="34" charset="0"/>
              </a:rPr>
              <a:t>, it helps generate realistic characters, environments, and visual effects.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Autonomous vehicles </a:t>
            </a:r>
            <a:r>
              <a:rPr lang="en-US" sz="2400" dirty="0">
                <a:latin typeface="Arial Narrow" panose="020B0606020202030204" pitchFamily="34" charset="0"/>
              </a:rPr>
              <a:t>utilize synthetic data generation to train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perception systems under diverse driving conditions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Additionally, applications such as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facial recognition </a:t>
            </a:r>
            <a:r>
              <a:rPr lang="en-US" sz="2400" dirty="0">
                <a:latin typeface="Arial Narrow" panose="020B0606020202030204" pitchFamily="34" charset="0"/>
              </a:rPr>
              <a:t>improvement,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virtual try-on systems</a:t>
            </a:r>
            <a:r>
              <a:rPr lang="en-US" sz="2400" dirty="0">
                <a:latin typeface="Arial Narrow" panose="020B0606020202030204" pitchFamily="34" charset="0"/>
              </a:rPr>
              <a:t>, content creation, and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digital twin development </a:t>
            </a:r>
            <a:r>
              <a:rPr lang="en-US" sz="2400" dirty="0">
                <a:latin typeface="Arial Narrow" panose="020B0606020202030204" pitchFamily="34" charset="0"/>
              </a:rPr>
              <a:t>demonstrate the growing impact of generative AI in computer vision.</a:t>
            </a:r>
            <a:endParaRPr lang="en-IN" sz="24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9FC4A2-96E3-4927-BAD0-0A30D885D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Applications of Generative AI for Vision</a:t>
            </a:r>
          </a:p>
        </p:txBody>
      </p:sp>
    </p:spTree>
    <p:extLst>
      <p:ext uri="{BB962C8B-B14F-4D97-AF65-F5344CB8AC3E}">
        <p14:creationId xmlns:p14="http://schemas.microsoft.com/office/powerpoint/2010/main" val="2968989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 Narrow" panose="020B0606020202030204" pitchFamily="34" charset="0"/>
                <a:ea typeface="+mn-lt"/>
                <a:cs typeface="+mn-lt"/>
              </a:rPr>
              <a:t>Computer Vision</a:t>
            </a:r>
          </a:p>
          <a:p>
            <a:endParaRPr lang="en-US" dirty="0">
              <a:latin typeface="Arial Narrow" panose="020B0606020202030204" pitchFamily="34" charset="0"/>
              <a:ea typeface="+mn-lt"/>
              <a:cs typeface="+mn-lt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Generative AI for Computer Vision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Challenges of Synthetic Data Generation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Applications of Generative AI for Vision</a:t>
            </a:r>
          </a:p>
          <a:p>
            <a:endParaRPr lang="en-US" dirty="0">
              <a:latin typeface="Arial Narrow" panose="020B0606020202030204" pitchFamily="34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9435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Discriminative vs. Generative Learning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1:Part 2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13418</TotalTime>
  <Words>897</Words>
  <Application>Microsoft Office PowerPoint</Application>
  <PresentationFormat>Widescreen</PresentationFormat>
  <Paragraphs>94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Narrow</vt:lpstr>
      <vt:lpstr>Book Antiqua</vt:lpstr>
      <vt:lpstr>Calibri</vt:lpstr>
      <vt:lpstr>Calibri Light</vt:lpstr>
      <vt:lpstr>Century</vt:lpstr>
      <vt:lpstr>Times New Roman</vt:lpstr>
      <vt:lpstr>Office Theme</vt:lpstr>
      <vt:lpstr>Introduction </vt:lpstr>
      <vt:lpstr>Content</vt:lpstr>
      <vt:lpstr>What is Computer Vision?</vt:lpstr>
      <vt:lpstr>Generative AI: Definition</vt:lpstr>
      <vt:lpstr>Why Gen AI is important?</vt:lpstr>
      <vt:lpstr>Synthetic Data Generation using Gen AI</vt:lpstr>
      <vt:lpstr>Generative AI for Computer Vision</vt:lpstr>
      <vt:lpstr>Generative AI for Computer Vision</vt:lpstr>
      <vt:lpstr>Challenges of Synthetic Data Generation</vt:lpstr>
      <vt:lpstr>Challenges of Synthetic Data Generation</vt:lpstr>
      <vt:lpstr>Applications of Generative AI for Vision</vt:lpstr>
      <vt:lpstr>Applications of Generative AI for Vision</vt:lpstr>
      <vt:lpstr>Summary</vt:lpstr>
      <vt:lpstr>Discriminative vs. Generative Learning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</dc:title>
  <dc:creator>IITG</dc:creator>
  <cp:lastModifiedBy>HP</cp:lastModifiedBy>
  <cp:revision>20</cp:revision>
  <dcterms:created xsi:type="dcterms:W3CDTF">2026-06-03T09:51:49Z</dcterms:created>
  <dcterms:modified xsi:type="dcterms:W3CDTF">2026-07-08T09:02:09Z</dcterms:modified>
</cp:coreProperties>
</file>