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58" r:id="rId3"/>
    <p:sldId id="381" r:id="rId4"/>
    <p:sldId id="382" r:id="rId5"/>
    <p:sldId id="383" r:id="rId6"/>
    <p:sldId id="390" r:id="rId7"/>
    <p:sldId id="391" r:id="rId8"/>
    <p:sldId id="392" r:id="rId9"/>
    <p:sldId id="393" r:id="rId10"/>
    <p:sldId id="362" r:id="rId11"/>
    <p:sldId id="394" r:id="rId12"/>
    <p:sldId id="395" r:id="rId13"/>
    <p:sldId id="396" r:id="rId14"/>
    <p:sldId id="375" r:id="rId15"/>
    <p:sldId id="369" r:id="rId16"/>
    <p:sldId id="384" r:id="rId17"/>
    <p:sldId id="385" r:id="rId18"/>
    <p:sldId id="386" r:id="rId19"/>
    <p:sldId id="387" r:id="rId20"/>
    <p:sldId id="376" r:id="rId21"/>
    <p:sldId id="377" r:id="rId22"/>
    <p:sldId id="388" r:id="rId23"/>
    <p:sldId id="389" r:id="rId24"/>
    <p:sldId id="378" r:id="rId25"/>
    <p:sldId id="379" r:id="rId26"/>
    <p:sldId id="380" r:id="rId27"/>
    <p:sldId id="26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10048-D80B-487A-B569-D91B48317A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EAF8EB-49EC-4736-9DFB-2941F6456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B95DA8-8B0E-471F-8245-F265CA9A967E}"/>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5" name="Footer Placeholder 4">
            <a:extLst>
              <a:ext uri="{FF2B5EF4-FFF2-40B4-BE49-F238E27FC236}">
                <a16:creationId xmlns:a16="http://schemas.microsoft.com/office/drawing/2014/main" id="{5F9D9D2D-018F-4B24-91B2-CB52375C33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2D04F-6A27-4AAF-86C7-D24176ACF2C0}"/>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369607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DEEDE-83CC-4FB7-AD43-10DAE08C3A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5E9ECF-4C90-4082-A89B-032CC2E0BD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C866E9-1A3D-4693-A999-B1AB07CBB573}"/>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5" name="Footer Placeholder 4">
            <a:extLst>
              <a:ext uri="{FF2B5EF4-FFF2-40B4-BE49-F238E27FC236}">
                <a16:creationId xmlns:a16="http://schemas.microsoft.com/office/drawing/2014/main" id="{3ADB33EF-5831-49B6-A871-813EF83F46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D6B77F-B671-41A1-B718-6A1EF29D88F9}"/>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213349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7045-9B1F-40B6-A577-C9F5CCEB9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CD21F0-567B-4C8B-B421-0956CF0F6C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5F831DB-41C4-42C5-AB99-0A265A554CEC}"/>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5" name="Footer Placeholder 4">
            <a:extLst>
              <a:ext uri="{FF2B5EF4-FFF2-40B4-BE49-F238E27FC236}">
                <a16:creationId xmlns:a16="http://schemas.microsoft.com/office/drawing/2014/main" id="{F9F00D4E-2E25-4EFA-84F9-E01A7A8F02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90F0D2-96BA-4547-9F02-3963A435892D}"/>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285877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CFE70-4181-49EF-836C-FA07ECE0FD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5A2D93-945B-4920-B2E6-E6FB4AD41AB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405D509-18F8-4B2D-AA14-6EEF0624941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876F21-BD6B-4EF5-A306-156883EC5F4E}"/>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6" name="Footer Placeholder 5">
            <a:extLst>
              <a:ext uri="{FF2B5EF4-FFF2-40B4-BE49-F238E27FC236}">
                <a16:creationId xmlns:a16="http://schemas.microsoft.com/office/drawing/2014/main" id="{8B900D7F-8A1D-46D8-8FAD-81A4D2658B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855B53-7ADA-4AEA-BFE8-45F7ACDC8478}"/>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3242692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C4B9-62BD-439A-A20F-557813D21B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B649AB-10D1-4DDE-ABA2-66125DD2E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FD163D9-B853-4061-9CC2-3C115F8BA4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92E2AE-51D7-47B1-B806-B0885B67A7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E943E2C-92A1-4910-BB3C-3D2920FF88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2757B8-C74A-4B88-AE35-33AD0534DF85}"/>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8" name="Footer Placeholder 7">
            <a:extLst>
              <a:ext uri="{FF2B5EF4-FFF2-40B4-BE49-F238E27FC236}">
                <a16:creationId xmlns:a16="http://schemas.microsoft.com/office/drawing/2014/main" id="{63E43D25-5206-4C50-A567-B1028F6227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B75142-1D93-4A64-AB1E-027A80665F49}"/>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1027219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EC8C1-27B7-4C59-990B-1261E2C7C1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8AD69D-53A5-4EAE-BAC0-E35357BF04BF}"/>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4" name="Footer Placeholder 3">
            <a:extLst>
              <a:ext uri="{FF2B5EF4-FFF2-40B4-BE49-F238E27FC236}">
                <a16:creationId xmlns:a16="http://schemas.microsoft.com/office/drawing/2014/main" id="{443CDE37-D054-4E80-967C-294F673412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8873A6-9D3A-4302-A5E1-117EBAAE6963}"/>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4150112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09CE2C-6538-4833-89B5-10C475B23D1D}"/>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3" name="Footer Placeholder 2">
            <a:extLst>
              <a:ext uri="{FF2B5EF4-FFF2-40B4-BE49-F238E27FC236}">
                <a16:creationId xmlns:a16="http://schemas.microsoft.com/office/drawing/2014/main" id="{E32FDC56-30FC-4819-9BEE-73E4332778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56BCF3-30E7-4B25-B898-988D01948827}"/>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1740080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E4847-E335-4F8E-A5E8-F737E8A86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55396B-5120-4DC0-8B67-154256C75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2D91AB-5E10-463C-A3BD-CD9D2CB348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A70619-0366-4E9E-9C40-F73061BC810A}"/>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6" name="Footer Placeholder 5">
            <a:extLst>
              <a:ext uri="{FF2B5EF4-FFF2-40B4-BE49-F238E27FC236}">
                <a16:creationId xmlns:a16="http://schemas.microsoft.com/office/drawing/2014/main" id="{151690F2-E016-4009-930C-437936E0D2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935FBE-ECD2-4308-9DAE-9798368D6515}"/>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49029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661B-D643-46B3-80B6-1EE1639EBE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164C4A-5B33-4E85-9F97-CEE44C226F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7F5F41-2453-4092-B1BD-183F684F78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B46E84F-29EC-4BD8-BE2A-941293DE45E8}"/>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6" name="Footer Placeholder 5">
            <a:extLst>
              <a:ext uri="{FF2B5EF4-FFF2-40B4-BE49-F238E27FC236}">
                <a16:creationId xmlns:a16="http://schemas.microsoft.com/office/drawing/2014/main" id="{AA05F905-F399-4A6E-8728-03057A2C75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DB756D-568E-4383-B475-8FEA1A9F5767}"/>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1465805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28759-5DFD-4CB1-96DC-7AF71AB3DD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A2FB86-AA72-40C3-AB5A-72DA1E30A62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0D5845-0AC2-495D-9B02-C538F586BFCA}"/>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5" name="Footer Placeholder 4">
            <a:extLst>
              <a:ext uri="{FF2B5EF4-FFF2-40B4-BE49-F238E27FC236}">
                <a16:creationId xmlns:a16="http://schemas.microsoft.com/office/drawing/2014/main" id="{34345339-51B7-4C8F-8E14-94D1EF9D92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FF686C-BF6F-4D41-8F41-3375403EFCDA}"/>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179587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717A13-13EB-486A-8DAA-F5CDAD9A7A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3EAEA8-6B12-4462-99F4-AC639F27D0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ED4519-D506-4D50-BA28-202774320CDE}"/>
              </a:ext>
            </a:extLst>
          </p:cNvPr>
          <p:cNvSpPr>
            <a:spLocks noGrp="1"/>
          </p:cNvSpPr>
          <p:nvPr>
            <p:ph type="dt" sz="half" idx="10"/>
          </p:nvPr>
        </p:nvSpPr>
        <p:spPr/>
        <p:txBody>
          <a:bodyPr/>
          <a:lstStyle/>
          <a:p>
            <a:fld id="{07A2DD48-6DFE-45E9-A13B-87EC29196F1B}" type="datetimeFigureOut">
              <a:rPr lang="en-IN" smtClean="0"/>
              <a:t>20-08-2026</a:t>
            </a:fld>
            <a:endParaRPr lang="en-IN"/>
          </a:p>
        </p:txBody>
      </p:sp>
      <p:sp>
        <p:nvSpPr>
          <p:cNvPr id="5" name="Footer Placeholder 4">
            <a:extLst>
              <a:ext uri="{FF2B5EF4-FFF2-40B4-BE49-F238E27FC236}">
                <a16:creationId xmlns:a16="http://schemas.microsoft.com/office/drawing/2014/main" id="{0A035DC5-39D9-4328-9B0C-7C643BFCE4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4A786B-62C5-499A-A2B8-212451589BC0}"/>
              </a:ext>
            </a:extLst>
          </p:cNvPr>
          <p:cNvSpPr>
            <a:spLocks noGrp="1"/>
          </p:cNvSpPr>
          <p:nvPr>
            <p:ph type="sldNum" sz="quarter" idx="12"/>
          </p:nvPr>
        </p:nvSpPr>
        <p:spPr/>
        <p:txBody>
          <a:bodyPr/>
          <a:lstStyle/>
          <a:p>
            <a:fld id="{F5AD86B7-346C-46F9-8002-5A11AEF0AEFB}" type="slidenum">
              <a:rPr lang="en-IN" smtClean="0"/>
              <a:t>‹#›</a:t>
            </a:fld>
            <a:endParaRPr lang="en-IN"/>
          </a:p>
        </p:txBody>
      </p:sp>
    </p:spTree>
    <p:extLst>
      <p:ext uri="{BB962C8B-B14F-4D97-AF65-F5344CB8AC3E}">
        <p14:creationId xmlns:p14="http://schemas.microsoft.com/office/powerpoint/2010/main" val="1134994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B511B9-E111-4F8C-8BDF-D681A29942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41A96B-06B3-4E32-B642-35CFAC86B1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F366CE-58F9-4459-9B04-C951A8BD7A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A2DD48-6DFE-45E9-A13B-87EC29196F1B}" type="datetimeFigureOut">
              <a:rPr lang="en-IN" smtClean="0"/>
              <a:t>20-08-2026</a:t>
            </a:fld>
            <a:endParaRPr lang="en-IN"/>
          </a:p>
        </p:txBody>
      </p:sp>
      <p:sp>
        <p:nvSpPr>
          <p:cNvPr id="5" name="Footer Placeholder 4">
            <a:extLst>
              <a:ext uri="{FF2B5EF4-FFF2-40B4-BE49-F238E27FC236}">
                <a16:creationId xmlns:a16="http://schemas.microsoft.com/office/drawing/2014/main" id="{FD7A5BE9-CE26-415F-A20B-649805554A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9A0010-7BDE-41B2-A5E4-1F95B59945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AD86B7-346C-46F9-8002-5A11AEF0AEFB}" type="slidenum">
              <a:rPr lang="en-IN" smtClean="0"/>
              <a:t>‹#›</a:t>
            </a:fld>
            <a:endParaRPr lang="en-IN"/>
          </a:p>
        </p:txBody>
      </p:sp>
    </p:spTree>
    <p:extLst>
      <p:ext uri="{BB962C8B-B14F-4D97-AF65-F5344CB8AC3E}">
        <p14:creationId xmlns:p14="http://schemas.microsoft.com/office/powerpoint/2010/main" val="314535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2856321"/>
            <a:ext cx="9144000" cy="942001"/>
          </a:xfrm>
        </p:spPr>
        <p:txBody>
          <a:bodyPr>
            <a:normAutofit fontScale="90000"/>
          </a:bodyPr>
          <a:lstStyle/>
          <a:p>
            <a:br>
              <a:rPr lang="en-IN" sz="4000" dirty="0">
                <a:solidFill>
                  <a:srgbClr val="002060"/>
                </a:solidFill>
                <a:latin typeface="Arial Narrow" panose="020B0606020202030204" pitchFamily="34" charset="0"/>
              </a:rPr>
            </a:br>
            <a:br>
              <a:rPr lang="en-IN" sz="4000" dirty="0">
                <a:solidFill>
                  <a:srgbClr val="002060"/>
                </a:solidFill>
                <a:latin typeface="Arial Narrow" panose="020B0606020202030204" pitchFamily="34" charset="0"/>
              </a:rPr>
            </a:br>
            <a:r>
              <a:rPr lang="en-US" sz="4000" dirty="0">
                <a:solidFill>
                  <a:srgbClr val="002060"/>
                </a:solidFill>
                <a:latin typeface="Arial Narrow" panose="020B0606020202030204" pitchFamily="34" charset="0"/>
                <a:cs typeface="Times New Roman" panose="02020603050405020304" pitchFamily="18" charset="0"/>
              </a:rPr>
              <a:t>Generative Modelling</a:t>
            </a: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582425"/>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8</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1</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Century" panose="02040604050505020304" pitchFamily="18" charset="0"/>
              </a:rPr>
              <a:t>Content</a:t>
            </a:r>
          </a:p>
        </p:txBody>
      </p:sp>
      <p:sp>
        <p:nvSpPr>
          <p:cNvPr id="3" name="Content Placeholder 2"/>
          <p:cNvSpPr>
            <a:spLocks noGrp="1"/>
          </p:cNvSpPr>
          <p:nvPr>
            <p:ph idx="1"/>
          </p:nvPr>
        </p:nvSpPr>
        <p:spPr>
          <a:xfrm>
            <a:off x="838200" y="1690687"/>
            <a:ext cx="10515600" cy="4239057"/>
          </a:xfrm>
        </p:spPr>
        <p:txBody>
          <a:bodyPr>
            <a:normAutofit/>
          </a:bodyPr>
          <a:lstStyle/>
          <a:p>
            <a:pPr marL="457200" indent="-457200">
              <a:lnSpc>
                <a:spcPct val="150000"/>
              </a:lnSpc>
            </a:pPr>
            <a:r>
              <a:rPr lang="en-US" dirty="0">
                <a:latin typeface="Arial Narrow" panose="020B0606020202030204" pitchFamily="34" charset="0"/>
                <a:cs typeface="Times New Roman" panose="02020603050405020304" pitchFamily="18" charset="0"/>
              </a:rPr>
              <a:t>Generative Learning Models</a:t>
            </a:r>
          </a:p>
          <a:p>
            <a:pPr marL="457200" indent="-457200">
              <a:lnSpc>
                <a:spcPct val="150000"/>
              </a:lnSpc>
            </a:pPr>
            <a:r>
              <a:rPr lang="en-US" dirty="0">
                <a:latin typeface="Arial Narrow" panose="020B0606020202030204" pitchFamily="34" charset="0"/>
                <a:cs typeface="Times New Roman" panose="02020603050405020304" pitchFamily="18" charset="0"/>
              </a:rPr>
              <a:t>Statistical Understanding </a:t>
            </a:r>
          </a:p>
          <a:p>
            <a:pPr marL="457200" indent="-457200">
              <a:lnSpc>
                <a:spcPct val="150000"/>
              </a:lnSpc>
            </a:pPr>
            <a:r>
              <a:rPr lang="en-US" dirty="0">
                <a:latin typeface="Arial Narrow" panose="020B0606020202030204" pitchFamily="34" charset="0"/>
                <a:cs typeface="Times New Roman" panose="02020603050405020304" pitchFamily="18" charset="0"/>
              </a:rPr>
              <a:t>Maximum Likelihood</a:t>
            </a:r>
          </a:p>
          <a:p>
            <a:pPr marL="457200" indent="-457200">
              <a:lnSpc>
                <a:spcPct val="150000"/>
              </a:lnSpc>
            </a:pPr>
            <a:r>
              <a:rPr lang="en-US" dirty="0">
                <a:latin typeface="Arial Narrow" panose="020B0606020202030204" pitchFamily="34" charset="0"/>
                <a:cs typeface="Times New Roman" panose="02020603050405020304" pitchFamily="18" charset="0"/>
              </a:rPr>
              <a:t>Density Estimation</a:t>
            </a:r>
          </a:p>
          <a:p>
            <a:pPr marL="457200" indent="-457200">
              <a:lnSpc>
                <a:spcPct val="150000"/>
              </a:lnSpc>
            </a:pPr>
            <a:r>
              <a:rPr lang="en-US" dirty="0">
                <a:latin typeface="Arial Narrow" panose="020B0606020202030204" pitchFamily="34" charset="0"/>
                <a:cs typeface="Times New Roman" panose="02020603050405020304" pitchFamily="18" charset="0"/>
              </a:rPr>
              <a:t>Different Generative Models</a:t>
            </a:r>
          </a:p>
        </p:txBody>
      </p:sp>
    </p:spTree>
    <p:extLst>
      <p:ext uri="{BB962C8B-B14F-4D97-AF65-F5344CB8AC3E}">
        <p14:creationId xmlns:p14="http://schemas.microsoft.com/office/powerpoint/2010/main" val="222108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ounded Rectangle 71"/>
          <p:cNvSpPr/>
          <p:nvPr/>
        </p:nvSpPr>
        <p:spPr>
          <a:xfrm>
            <a:off x="8131347" y="1713134"/>
            <a:ext cx="2231232" cy="554832"/>
          </a:xfrm>
          <a:prstGeom prst="roundRect">
            <a:avLst/>
          </a:prstGeom>
          <a:solidFill>
            <a:schemeClr val="accent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 name="Text Placeholder 93">
                <a:extLst>
                  <a:ext uri="{FF2B5EF4-FFF2-40B4-BE49-F238E27FC236}">
                    <a16:creationId xmlns:a16="http://schemas.microsoft.com/office/drawing/2014/main" id="{135D2CAE-C272-470D-A9B5-2E1B6D46935E}"/>
                  </a:ext>
                </a:extLst>
              </p:cNvPr>
              <p:cNvSpPr txBox="1">
                <a:spLocks/>
              </p:cNvSpPr>
              <p:nvPr/>
            </p:nvSpPr>
            <p:spPr>
              <a:xfrm>
                <a:off x="356028" y="1560856"/>
                <a:ext cx="6297786" cy="38783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solidFill>
                      <a:srgbClr val="7030A0"/>
                    </a:solidFill>
                    <a:latin typeface="Arial Narrow" panose="020B0606020202030204" pitchFamily="34" charset="0"/>
                  </a:rPr>
                  <a:t>Generative modeling </a:t>
                </a:r>
                <a:r>
                  <a:rPr lang="en-US" sz="2000" dirty="0">
                    <a:latin typeface="Arial Narrow" panose="020B0606020202030204" pitchFamily="34" charset="0"/>
                  </a:rPr>
                  <a:t>is a class of machine-learning approaches that aims to learn the </a:t>
                </a:r>
                <a:r>
                  <a:rPr lang="en-US" sz="2000" dirty="0">
                    <a:solidFill>
                      <a:srgbClr val="7030A0"/>
                    </a:solidFill>
                    <a:latin typeface="Arial Narrow" panose="020B0606020202030204" pitchFamily="34" charset="0"/>
                  </a:rPr>
                  <a:t>underlying probability distribution </a:t>
                </a:r>
                <a:r>
                  <a:rPr lang="en-US" sz="2000" dirty="0">
                    <a:latin typeface="Arial Narrow" panose="020B0606020202030204" pitchFamily="34" charset="0"/>
                  </a:rPr>
                  <a:t>of a given dataset and </a:t>
                </a:r>
                <a:r>
                  <a:rPr lang="en-US" sz="2000" dirty="0">
                    <a:solidFill>
                      <a:srgbClr val="7030A0"/>
                    </a:solidFill>
                    <a:latin typeface="Arial Narrow" panose="020B0606020202030204" pitchFamily="34" charset="0"/>
                  </a:rPr>
                  <a:t>subsequently generate new samples </a:t>
                </a:r>
                <a:r>
                  <a:rPr lang="en-US" sz="2000" dirty="0">
                    <a:latin typeface="Arial Narrow" panose="020B0606020202030204" pitchFamily="34" charset="0"/>
                  </a:rPr>
                  <a:t>that are </a:t>
                </a:r>
                <a:r>
                  <a:rPr lang="en-US" sz="2000" dirty="0">
                    <a:solidFill>
                      <a:srgbClr val="7030A0"/>
                    </a:solidFill>
                    <a:latin typeface="Arial Narrow" panose="020B0606020202030204" pitchFamily="34" charset="0"/>
                  </a:rPr>
                  <a:t>statistically consistent with the observed data</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Let the training samples be drawn from an unknown data distribution </a:t>
                </a:r>
                <a14:m>
                  <m:oMath xmlns:m="http://schemas.openxmlformats.org/officeDocument/2006/math">
                    <m:r>
                      <a:rPr lang="en-US" sz="2000" i="1" dirty="0" smtClean="0">
                        <a:solidFill>
                          <a:srgbClr val="00B0F0"/>
                        </a:solidFill>
                        <a:latin typeface="Cambria Math" panose="02040503050406030204" pitchFamily="18" charset="0"/>
                      </a:rPr>
                      <m:t>𝐷</m:t>
                    </m:r>
                  </m:oMath>
                </a14:m>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A generative model learns a </a:t>
                </a:r>
                <a:r>
                  <a:rPr lang="en-US" sz="2000" dirty="0">
                    <a:solidFill>
                      <a:srgbClr val="7030A0"/>
                    </a:solidFill>
                    <a:latin typeface="Arial Narrow" panose="020B0606020202030204" pitchFamily="34" charset="0"/>
                  </a:rPr>
                  <a:t>parameterized approximation</a:t>
                </a:r>
                <a:r>
                  <a:rPr lang="en-US" sz="2000" dirty="0">
                    <a:latin typeface="Arial Narrow" panose="020B0606020202030204" pitchFamily="34" charset="0"/>
                  </a:rPr>
                  <a:t> </a:t>
                </a:r>
                <a14:m>
                  <m:oMath xmlns:m="http://schemas.openxmlformats.org/officeDocument/2006/math">
                    <m:r>
                      <a:rPr lang="en-US" sz="2000" i="1" dirty="0" smtClean="0">
                        <a:solidFill>
                          <a:srgbClr val="00B0F0"/>
                        </a:solidFill>
                        <a:latin typeface="Cambria Math" panose="02040503050406030204" pitchFamily="18" charset="0"/>
                      </a:rPr>
                      <m:t>𝐷</m:t>
                    </m:r>
                    <m:r>
                      <a:rPr lang="en-US" sz="2000" i="1" dirty="0" smtClean="0">
                        <a:solidFill>
                          <a:srgbClr val="00B0F0"/>
                        </a:solidFill>
                        <a:latin typeface="Cambria Math" panose="02040503050406030204" pitchFamily="18" charset="0"/>
                      </a:rPr>
                      <m:t>′</m:t>
                    </m:r>
                  </m:oMath>
                </a14:m>
                <a:r>
                  <a:rPr lang="en-US" sz="2000" dirty="0">
                    <a:latin typeface="Arial Narrow" panose="020B0606020202030204" pitchFamily="34" charset="0"/>
                  </a:rPr>
                  <a:t> to this distribution by mapping samples from a simple latent distribution, typically random noise </a:t>
                </a:r>
                <a14:m>
                  <m:oMath xmlns:m="http://schemas.openxmlformats.org/officeDocument/2006/math">
                    <m:r>
                      <a:rPr lang="en-US" sz="2000" i="1" dirty="0" smtClean="0">
                        <a:solidFill>
                          <a:srgbClr val="00B0F0"/>
                        </a:solidFill>
                        <a:latin typeface="Cambria Math" panose="02040503050406030204" pitchFamily="18" charset="0"/>
                      </a:rPr>
                      <m:t>𝑍</m:t>
                    </m:r>
                  </m:oMath>
                </a14:m>
                <a:r>
                  <a:rPr lang="en-US" sz="2000" dirty="0">
                    <a:latin typeface="Arial Narrow" panose="020B0606020202030204" pitchFamily="34" charset="0"/>
                  </a:rPr>
                  <a:t>, to the data space through a neural network. </a:t>
                </a:r>
              </a:p>
              <a:p>
                <a:endParaRPr lang="en-US" sz="1400" dirty="0"/>
              </a:p>
            </p:txBody>
          </p:sp>
        </mc:Choice>
        <mc:Fallback xmlns="">
          <p:sp>
            <p:nvSpPr>
              <p:cNvPr id="2" name="Text Placeholder 93">
                <a:extLst>
                  <a:ext uri="{FF2B5EF4-FFF2-40B4-BE49-F238E27FC236}">
                    <a16:creationId xmlns:a16="http://schemas.microsoft.com/office/drawing/2014/main" id="{135D2CAE-C272-470D-A9B5-2E1B6D46935E}"/>
                  </a:ext>
                </a:extLst>
              </p:cNvPr>
              <p:cNvSpPr txBox="1">
                <a:spLocks noRot="1" noChangeAspect="1" noMove="1" noResize="1" noEditPoints="1" noAdjustHandles="1" noChangeArrowheads="1" noChangeShapeType="1" noTextEdit="1"/>
              </p:cNvSpPr>
              <p:nvPr/>
            </p:nvSpPr>
            <p:spPr>
              <a:xfrm>
                <a:off x="356028" y="1560856"/>
                <a:ext cx="6297786" cy="3878369"/>
              </a:xfrm>
              <a:prstGeom prst="rect">
                <a:avLst/>
              </a:prstGeom>
              <a:blipFill>
                <a:blip r:embed="rId2"/>
                <a:stretch>
                  <a:fillRect l="-870" t="-1572" r="-967" b="-3145"/>
                </a:stretch>
              </a:blipFill>
            </p:spPr>
            <p:txBody>
              <a:bodyPr/>
              <a:lstStyle/>
              <a:p>
                <a:r>
                  <a:rPr lang="en-IN">
                    <a:noFill/>
                  </a:rPr>
                  <a:t> </a:t>
                </a:r>
              </a:p>
            </p:txBody>
          </p:sp>
        </mc:Fallback>
      </mc:AlternateContent>
      <p:sp>
        <p:nvSpPr>
          <p:cNvPr id="65" name="Title 3">
            <a:extLst>
              <a:ext uri="{FF2B5EF4-FFF2-40B4-BE49-F238E27FC236}">
                <a16:creationId xmlns:a16="http://schemas.microsoft.com/office/drawing/2014/main" id="{8909A904-ACD9-4210-8F42-5393F1960092}"/>
              </a:ext>
            </a:extLst>
          </p:cNvPr>
          <p:cNvSpPr txBox="1">
            <a:spLocks/>
          </p:cNvSpPr>
          <p:nvPr/>
        </p:nvSpPr>
        <p:spPr>
          <a:xfrm>
            <a:off x="356028" y="513647"/>
            <a:ext cx="8229600" cy="57442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dirty="0">
                <a:latin typeface="Century" panose="02040604050505020304" pitchFamily="18" charset="0"/>
                <a:cs typeface="Times New Roman" panose="02020603050405020304" pitchFamily="18" charset="0"/>
              </a:rPr>
              <a:t>Generative Modelling</a:t>
            </a:r>
          </a:p>
        </p:txBody>
      </p:sp>
      <p:pic>
        <p:nvPicPr>
          <p:cNvPr id="66" name="Picture 65"/>
          <p:cNvPicPr>
            <a:picLocks noChangeAspect="1"/>
          </p:cNvPicPr>
          <p:nvPr/>
        </p:nvPicPr>
        <p:blipFill>
          <a:blip r:embed="rId3"/>
          <a:stretch>
            <a:fillRect/>
          </a:stretch>
        </p:blipFill>
        <p:spPr>
          <a:xfrm>
            <a:off x="8589189" y="374739"/>
            <a:ext cx="1368866" cy="1010850"/>
          </a:xfrm>
          <a:prstGeom prst="rect">
            <a:avLst/>
          </a:prstGeom>
        </p:spPr>
      </p:pic>
      <p:sp>
        <p:nvSpPr>
          <p:cNvPr id="70" name="Oval 69"/>
          <p:cNvSpPr/>
          <p:nvPr/>
        </p:nvSpPr>
        <p:spPr>
          <a:xfrm>
            <a:off x="9390306" y="1880714"/>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Oval 70"/>
          <p:cNvSpPr/>
          <p:nvPr/>
        </p:nvSpPr>
        <p:spPr>
          <a:xfrm>
            <a:off x="9928628" y="1874149"/>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Oval 72"/>
          <p:cNvSpPr/>
          <p:nvPr/>
        </p:nvSpPr>
        <p:spPr>
          <a:xfrm>
            <a:off x="8325051" y="1874149"/>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Oval 73"/>
          <p:cNvSpPr/>
          <p:nvPr/>
        </p:nvSpPr>
        <p:spPr>
          <a:xfrm>
            <a:off x="8857810" y="1876907"/>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ounded Rectangle 74"/>
          <p:cNvSpPr/>
          <p:nvPr/>
        </p:nvSpPr>
        <p:spPr>
          <a:xfrm>
            <a:off x="8131347" y="2540495"/>
            <a:ext cx="2231232" cy="554832"/>
          </a:xfrm>
          <a:prstGeom prst="round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p:cNvSpPr/>
          <p:nvPr/>
        </p:nvSpPr>
        <p:spPr>
          <a:xfrm>
            <a:off x="9390306" y="2708075"/>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p:cNvSpPr/>
          <p:nvPr/>
        </p:nvSpPr>
        <p:spPr>
          <a:xfrm>
            <a:off x="9928628" y="2701510"/>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p:cNvSpPr/>
          <p:nvPr/>
        </p:nvSpPr>
        <p:spPr>
          <a:xfrm>
            <a:off x="8325051" y="2701510"/>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p:cNvSpPr/>
          <p:nvPr/>
        </p:nvSpPr>
        <p:spPr>
          <a:xfrm>
            <a:off x="8857810" y="2704268"/>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Rounded Rectangle 79"/>
          <p:cNvSpPr/>
          <p:nvPr/>
        </p:nvSpPr>
        <p:spPr>
          <a:xfrm>
            <a:off x="8131347" y="3425022"/>
            <a:ext cx="2231232" cy="554832"/>
          </a:xfrm>
          <a:prstGeom prst="roundRect">
            <a:avLst/>
          </a:prstGeom>
          <a:solidFill>
            <a:srgbClr val="00B05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p:cNvSpPr/>
          <p:nvPr/>
        </p:nvSpPr>
        <p:spPr>
          <a:xfrm>
            <a:off x="9390306" y="3592602"/>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Oval 81"/>
          <p:cNvSpPr/>
          <p:nvPr/>
        </p:nvSpPr>
        <p:spPr>
          <a:xfrm>
            <a:off x="9885029" y="3586037"/>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p:cNvSpPr/>
          <p:nvPr/>
        </p:nvSpPr>
        <p:spPr>
          <a:xfrm>
            <a:off x="8325051" y="3586037"/>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Oval 83"/>
          <p:cNvSpPr/>
          <p:nvPr/>
        </p:nvSpPr>
        <p:spPr>
          <a:xfrm>
            <a:off x="8857810" y="3588795"/>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8" name="Straight Arrow Connector 87"/>
          <p:cNvCxnSpPr>
            <a:stCxn id="72" idx="2"/>
            <a:endCxn id="75" idx="0"/>
          </p:cNvCxnSpPr>
          <p:nvPr/>
        </p:nvCxnSpPr>
        <p:spPr>
          <a:xfrm>
            <a:off x="9246963" y="2267966"/>
            <a:ext cx="0" cy="272529"/>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8467478" y="2265424"/>
            <a:ext cx="0" cy="269721"/>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10045198" y="2260075"/>
            <a:ext cx="0" cy="280420"/>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flipH="1">
            <a:off x="8467478" y="3095327"/>
            <a:ext cx="1"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75" idx="2"/>
            <a:endCxn id="80" idx="0"/>
          </p:cNvCxnSpPr>
          <p:nvPr/>
        </p:nvCxnSpPr>
        <p:spPr>
          <a:xfrm>
            <a:off x="9246963" y="3095327"/>
            <a:ext cx="0"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10045198" y="3095327"/>
            <a:ext cx="0"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7" name="Down Arrow 126"/>
          <p:cNvSpPr/>
          <p:nvPr/>
        </p:nvSpPr>
        <p:spPr>
          <a:xfrm>
            <a:off x="9131076" y="1382963"/>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Down Arrow 127"/>
          <p:cNvSpPr/>
          <p:nvPr/>
        </p:nvSpPr>
        <p:spPr>
          <a:xfrm>
            <a:off x="9131075" y="3995224"/>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Cloud 129"/>
          <p:cNvSpPr/>
          <p:nvPr/>
        </p:nvSpPr>
        <p:spPr>
          <a:xfrm>
            <a:off x="8691993" y="4272605"/>
            <a:ext cx="1193036" cy="1052265"/>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8446 w 43256"/>
              <a:gd name="connsiteY3" fmla="*/ 33281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16514 w 43256"/>
              <a:gd name="connsiteY2" fmla="*/ 38949 h 43219"/>
              <a:gd name="connsiteX3" fmla="*/ 15846 w 43256"/>
              <a:gd name="connsiteY3" fmla="*/ 37209 h 43219"/>
              <a:gd name="connsiteX4" fmla="*/ 28863 w 43256"/>
              <a:gd name="connsiteY4" fmla="*/ 34610 h 43219"/>
              <a:gd name="connsiteX5" fmla="*/ 28596 w 43256"/>
              <a:gd name="connsiteY5" fmla="*/ 36519 h 43219"/>
              <a:gd name="connsiteX6" fmla="*/ 34165 w 43256"/>
              <a:gd name="connsiteY6" fmla="*/ 22813 h 43219"/>
              <a:gd name="connsiteX7" fmla="*/ 37416 w 43256"/>
              <a:gd name="connsiteY7" fmla="*/ 2994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29114 w 43256"/>
              <a:gd name="connsiteY12" fmla="*/ 3811 h 43219"/>
              <a:gd name="connsiteX13" fmla="*/ 29856 w 43256"/>
              <a:gd name="connsiteY13" fmla="*/ 219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4165 w 43256"/>
              <a:gd name="connsiteY4" fmla="*/ 22813 h 43219"/>
              <a:gd name="connsiteX5" fmla="*/ 37416 w 43256"/>
              <a:gd name="connsiteY5" fmla="*/ 29949 h 43219"/>
              <a:gd name="connsiteX6" fmla="*/ 41834 w 43256"/>
              <a:gd name="connsiteY6" fmla="*/ 15213 h 43219"/>
              <a:gd name="connsiteX7" fmla="*/ 40386 w 43256"/>
              <a:gd name="connsiteY7" fmla="*/ 17889 h 43219"/>
              <a:gd name="connsiteX8" fmla="*/ 38360 w 43256"/>
              <a:gd name="connsiteY8" fmla="*/ 5285 h 43219"/>
              <a:gd name="connsiteX9" fmla="*/ 38436 w 43256"/>
              <a:gd name="connsiteY9" fmla="*/ 6549 h 43219"/>
              <a:gd name="connsiteX10" fmla="*/ 29114 w 43256"/>
              <a:gd name="connsiteY10" fmla="*/ 3811 h 43219"/>
              <a:gd name="connsiteX11" fmla="*/ 29856 w 43256"/>
              <a:gd name="connsiteY11" fmla="*/ 2199 h 43219"/>
              <a:gd name="connsiteX12" fmla="*/ 22177 w 43256"/>
              <a:gd name="connsiteY12" fmla="*/ 4579 h 43219"/>
              <a:gd name="connsiteX13" fmla="*/ 22536 w 43256"/>
              <a:gd name="connsiteY13" fmla="*/ 318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41834 w 43256"/>
              <a:gd name="connsiteY4" fmla="*/ 15213 h 43219"/>
              <a:gd name="connsiteX5" fmla="*/ 40386 w 43256"/>
              <a:gd name="connsiteY5" fmla="*/ 17889 h 43219"/>
              <a:gd name="connsiteX6" fmla="*/ 38360 w 43256"/>
              <a:gd name="connsiteY6" fmla="*/ 5285 h 43219"/>
              <a:gd name="connsiteX7" fmla="*/ 38436 w 43256"/>
              <a:gd name="connsiteY7" fmla="*/ 6549 h 43219"/>
              <a:gd name="connsiteX8" fmla="*/ 29114 w 43256"/>
              <a:gd name="connsiteY8" fmla="*/ 3811 h 43219"/>
              <a:gd name="connsiteX9" fmla="*/ 29856 w 43256"/>
              <a:gd name="connsiteY9" fmla="*/ 2199 h 43219"/>
              <a:gd name="connsiteX10" fmla="*/ 22177 w 43256"/>
              <a:gd name="connsiteY10" fmla="*/ 4579 h 43219"/>
              <a:gd name="connsiteX11" fmla="*/ 22536 w 43256"/>
              <a:gd name="connsiteY11" fmla="*/ 3189 h 43219"/>
              <a:gd name="connsiteX12" fmla="*/ 14036 w 43256"/>
              <a:gd name="connsiteY12" fmla="*/ 5051 h 43219"/>
              <a:gd name="connsiteX13" fmla="*/ 15336 w 43256"/>
              <a:gd name="connsiteY13" fmla="*/ 639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22177 w 43256"/>
              <a:gd name="connsiteY8" fmla="*/ 4579 h 43219"/>
              <a:gd name="connsiteX9" fmla="*/ 22536 w 43256"/>
              <a:gd name="connsiteY9" fmla="*/ 3189 h 43219"/>
              <a:gd name="connsiteX10" fmla="*/ 14036 w 43256"/>
              <a:gd name="connsiteY10" fmla="*/ 5051 h 43219"/>
              <a:gd name="connsiteX11" fmla="*/ 15336 w 43256"/>
              <a:gd name="connsiteY11" fmla="*/ 639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14036 w 43256"/>
              <a:gd name="connsiteY8" fmla="*/ 5051 h 43219"/>
              <a:gd name="connsiteX9" fmla="*/ 15336 w 43256"/>
              <a:gd name="connsiteY9" fmla="*/ 6399 h 43219"/>
              <a:gd name="connsiteX10" fmla="*/ 4163 w 43256"/>
              <a:gd name="connsiteY10" fmla="*/ 15648 h 43219"/>
              <a:gd name="connsiteX11" fmla="*/ 3936 w 43256"/>
              <a:gd name="connsiteY1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28863" y="34610"/>
                </a:moveTo>
                <a:cubicBezTo>
                  <a:pt x="28824" y="35257"/>
                  <a:pt x="28734" y="35897"/>
                  <a:pt x="28596" y="36519"/>
                </a:cubicBezTo>
                <a:moveTo>
                  <a:pt x="38360" y="5285"/>
                </a:moveTo>
                <a:cubicBezTo>
                  <a:pt x="38415" y="5702"/>
                  <a:pt x="38441" y="6125"/>
                  <a:pt x="38436" y="6549"/>
                </a:cubicBezTo>
                <a:moveTo>
                  <a:pt x="29114" y="3811"/>
                </a:moveTo>
                <a:cubicBezTo>
                  <a:pt x="29303" y="3228"/>
                  <a:pt x="29552" y="2685"/>
                  <a:pt x="29856" y="219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Isosceles Triangle 130"/>
          <p:cNvSpPr/>
          <p:nvPr/>
        </p:nvSpPr>
        <p:spPr>
          <a:xfrm>
            <a:off x="8959911" y="4682590"/>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Isosceles Triangle 131"/>
          <p:cNvSpPr/>
          <p:nvPr/>
        </p:nvSpPr>
        <p:spPr>
          <a:xfrm>
            <a:off x="9313268" y="4511459"/>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Isosceles Triangle 132"/>
          <p:cNvSpPr/>
          <p:nvPr/>
        </p:nvSpPr>
        <p:spPr>
          <a:xfrm>
            <a:off x="9734427" y="4630202"/>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Isosceles Triangle 133"/>
          <p:cNvSpPr/>
          <p:nvPr/>
        </p:nvSpPr>
        <p:spPr>
          <a:xfrm>
            <a:off x="8996531" y="5016172"/>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Isosceles Triangle 134"/>
          <p:cNvSpPr/>
          <p:nvPr/>
        </p:nvSpPr>
        <p:spPr>
          <a:xfrm>
            <a:off x="9100612" y="4503996"/>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Isosceles Triangle 135"/>
          <p:cNvSpPr/>
          <p:nvPr/>
        </p:nvSpPr>
        <p:spPr>
          <a:xfrm>
            <a:off x="9419201" y="4949497"/>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7" name="Isosceles Triangle 136"/>
          <p:cNvSpPr/>
          <p:nvPr/>
        </p:nvSpPr>
        <p:spPr>
          <a:xfrm>
            <a:off x="9465668" y="4663859"/>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Isosceles Triangle 137"/>
          <p:cNvSpPr/>
          <p:nvPr/>
        </p:nvSpPr>
        <p:spPr>
          <a:xfrm>
            <a:off x="9251891" y="5082847"/>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9" name="Isosceles Triangle 138"/>
          <p:cNvSpPr/>
          <p:nvPr/>
        </p:nvSpPr>
        <p:spPr>
          <a:xfrm>
            <a:off x="9562252" y="4488626"/>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Isosceles Triangle 139"/>
          <p:cNvSpPr/>
          <p:nvPr/>
        </p:nvSpPr>
        <p:spPr>
          <a:xfrm>
            <a:off x="9111274" y="4857494"/>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TextBox 140">
            <a:extLst>
              <a:ext uri="{FF2B5EF4-FFF2-40B4-BE49-F238E27FC236}">
                <a16:creationId xmlns:a16="http://schemas.microsoft.com/office/drawing/2014/main" id="{215D5D96-E306-4D49-9059-2B636A775398}"/>
              </a:ext>
            </a:extLst>
          </p:cNvPr>
          <p:cNvSpPr txBox="1"/>
          <p:nvPr/>
        </p:nvSpPr>
        <p:spPr>
          <a:xfrm>
            <a:off x="7890599" y="5677393"/>
            <a:ext cx="2869064" cy="584775"/>
          </a:xfrm>
          <a:prstGeom prst="rect">
            <a:avLst/>
          </a:prstGeom>
          <a:solidFill>
            <a:schemeClr val="accent6">
              <a:lumMod val="60000"/>
              <a:lumOff val="40000"/>
            </a:schemeClr>
          </a:solidFill>
          <a:ln w="25400">
            <a:noFill/>
          </a:ln>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Loss (Statistical Distance between D and D’ distributions)</a:t>
            </a:r>
          </a:p>
        </p:txBody>
      </p:sp>
      <p:sp>
        <p:nvSpPr>
          <p:cNvPr id="142" name="Down Arrow 141"/>
          <p:cNvSpPr/>
          <p:nvPr/>
        </p:nvSpPr>
        <p:spPr>
          <a:xfrm>
            <a:off x="9131075" y="5343969"/>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Cloud 129"/>
          <p:cNvSpPr/>
          <p:nvPr/>
        </p:nvSpPr>
        <p:spPr>
          <a:xfrm>
            <a:off x="5753296" y="5491323"/>
            <a:ext cx="1301733" cy="1056989"/>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8446 w 43256"/>
              <a:gd name="connsiteY3" fmla="*/ 33281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16514 w 43256"/>
              <a:gd name="connsiteY2" fmla="*/ 38949 h 43219"/>
              <a:gd name="connsiteX3" fmla="*/ 15846 w 43256"/>
              <a:gd name="connsiteY3" fmla="*/ 37209 h 43219"/>
              <a:gd name="connsiteX4" fmla="*/ 28863 w 43256"/>
              <a:gd name="connsiteY4" fmla="*/ 34610 h 43219"/>
              <a:gd name="connsiteX5" fmla="*/ 28596 w 43256"/>
              <a:gd name="connsiteY5" fmla="*/ 36519 h 43219"/>
              <a:gd name="connsiteX6" fmla="*/ 34165 w 43256"/>
              <a:gd name="connsiteY6" fmla="*/ 22813 h 43219"/>
              <a:gd name="connsiteX7" fmla="*/ 37416 w 43256"/>
              <a:gd name="connsiteY7" fmla="*/ 2994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29114 w 43256"/>
              <a:gd name="connsiteY12" fmla="*/ 3811 h 43219"/>
              <a:gd name="connsiteX13" fmla="*/ 29856 w 43256"/>
              <a:gd name="connsiteY13" fmla="*/ 219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4165 w 43256"/>
              <a:gd name="connsiteY4" fmla="*/ 22813 h 43219"/>
              <a:gd name="connsiteX5" fmla="*/ 37416 w 43256"/>
              <a:gd name="connsiteY5" fmla="*/ 29949 h 43219"/>
              <a:gd name="connsiteX6" fmla="*/ 41834 w 43256"/>
              <a:gd name="connsiteY6" fmla="*/ 15213 h 43219"/>
              <a:gd name="connsiteX7" fmla="*/ 40386 w 43256"/>
              <a:gd name="connsiteY7" fmla="*/ 17889 h 43219"/>
              <a:gd name="connsiteX8" fmla="*/ 38360 w 43256"/>
              <a:gd name="connsiteY8" fmla="*/ 5285 h 43219"/>
              <a:gd name="connsiteX9" fmla="*/ 38436 w 43256"/>
              <a:gd name="connsiteY9" fmla="*/ 6549 h 43219"/>
              <a:gd name="connsiteX10" fmla="*/ 29114 w 43256"/>
              <a:gd name="connsiteY10" fmla="*/ 3811 h 43219"/>
              <a:gd name="connsiteX11" fmla="*/ 29856 w 43256"/>
              <a:gd name="connsiteY11" fmla="*/ 2199 h 43219"/>
              <a:gd name="connsiteX12" fmla="*/ 22177 w 43256"/>
              <a:gd name="connsiteY12" fmla="*/ 4579 h 43219"/>
              <a:gd name="connsiteX13" fmla="*/ 22536 w 43256"/>
              <a:gd name="connsiteY13" fmla="*/ 318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41834 w 43256"/>
              <a:gd name="connsiteY4" fmla="*/ 15213 h 43219"/>
              <a:gd name="connsiteX5" fmla="*/ 40386 w 43256"/>
              <a:gd name="connsiteY5" fmla="*/ 17889 h 43219"/>
              <a:gd name="connsiteX6" fmla="*/ 38360 w 43256"/>
              <a:gd name="connsiteY6" fmla="*/ 5285 h 43219"/>
              <a:gd name="connsiteX7" fmla="*/ 38436 w 43256"/>
              <a:gd name="connsiteY7" fmla="*/ 6549 h 43219"/>
              <a:gd name="connsiteX8" fmla="*/ 29114 w 43256"/>
              <a:gd name="connsiteY8" fmla="*/ 3811 h 43219"/>
              <a:gd name="connsiteX9" fmla="*/ 29856 w 43256"/>
              <a:gd name="connsiteY9" fmla="*/ 2199 h 43219"/>
              <a:gd name="connsiteX10" fmla="*/ 22177 w 43256"/>
              <a:gd name="connsiteY10" fmla="*/ 4579 h 43219"/>
              <a:gd name="connsiteX11" fmla="*/ 22536 w 43256"/>
              <a:gd name="connsiteY11" fmla="*/ 3189 h 43219"/>
              <a:gd name="connsiteX12" fmla="*/ 14036 w 43256"/>
              <a:gd name="connsiteY12" fmla="*/ 5051 h 43219"/>
              <a:gd name="connsiteX13" fmla="*/ 15336 w 43256"/>
              <a:gd name="connsiteY13" fmla="*/ 639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22177 w 43256"/>
              <a:gd name="connsiteY8" fmla="*/ 4579 h 43219"/>
              <a:gd name="connsiteX9" fmla="*/ 22536 w 43256"/>
              <a:gd name="connsiteY9" fmla="*/ 3189 h 43219"/>
              <a:gd name="connsiteX10" fmla="*/ 14036 w 43256"/>
              <a:gd name="connsiteY10" fmla="*/ 5051 h 43219"/>
              <a:gd name="connsiteX11" fmla="*/ 15336 w 43256"/>
              <a:gd name="connsiteY11" fmla="*/ 639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14036 w 43256"/>
              <a:gd name="connsiteY8" fmla="*/ 5051 h 43219"/>
              <a:gd name="connsiteX9" fmla="*/ 15336 w 43256"/>
              <a:gd name="connsiteY9" fmla="*/ 639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38360 w 43256"/>
              <a:gd name="connsiteY2" fmla="*/ 5285 h 43219"/>
              <a:gd name="connsiteX3" fmla="*/ 38436 w 43256"/>
              <a:gd name="connsiteY3" fmla="*/ 6549 h 43219"/>
              <a:gd name="connsiteX4" fmla="*/ 29114 w 43256"/>
              <a:gd name="connsiteY4" fmla="*/ 3811 h 43219"/>
              <a:gd name="connsiteX5" fmla="*/ 29856 w 43256"/>
              <a:gd name="connsiteY5" fmla="*/ 2199 h 43219"/>
              <a:gd name="connsiteX6" fmla="*/ 14036 w 43256"/>
              <a:gd name="connsiteY6" fmla="*/ 5051 h 43219"/>
              <a:gd name="connsiteX7" fmla="*/ 15336 w 43256"/>
              <a:gd name="connsiteY7" fmla="*/ 6399 h 43219"/>
              <a:gd name="connsiteX8" fmla="*/ 4163 w 43256"/>
              <a:gd name="connsiteY8" fmla="*/ 15648 h 43219"/>
              <a:gd name="connsiteX9" fmla="*/ 3936 w 43256"/>
              <a:gd name="connsiteY9" fmla="*/ 14229 h 43219"/>
              <a:gd name="connsiteX0" fmla="*/ 3936 w 43256"/>
              <a:gd name="connsiteY0" fmla="*/ 14229 h 42968"/>
              <a:gd name="connsiteX1" fmla="*/ 5659 w 43256"/>
              <a:gd name="connsiteY1" fmla="*/ 6766 h 42968"/>
              <a:gd name="connsiteX2" fmla="*/ 14041 w 43256"/>
              <a:gd name="connsiteY2" fmla="*/ 5061 h 42968"/>
              <a:gd name="connsiteX3" fmla="*/ 22492 w 43256"/>
              <a:gd name="connsiteY3" fmla="*/ 3291 h 42968"/>
              <a:gd name="connsiteX4" fmla="*/ 25785 w 43256"/>
              <a:gd name="connsiteY4" fmla="*/ 59 h 42968"/>
              <a:gd name="connsiteX5" fmla="*/ 29869 w 43256"/>
              <a:gd name="connsiteY5" fmla="*/ 2340 h 42968"/>
              <a:gd name="connsiteX6" fmla="*/ 35499 w 43256"/>
              <a:gd name="connsiteY6" fmla="*/ 549 h 42968"/>
              <a:gd name="connsiteX7" fmla="*/ 38354 w 43256"/>
              <a:gd name="connsiteY7" fmla="*/ 5435 h 42968"/>
              <a:gd name="connsiteX8" fmla="*/ 42018 w 43256"/>
              <a:gd name="connsiteY8" fmla="*/ 10177 h 42968"/>
              <a:gd name="connsiteX9" fmla="*/ 41854 w 43256"/>
              <a:gd name="connsiteY9" fmla="*/ 15319 h 42968"/>
              <a:gd name="connsiteX10" fmla="*/ 43052 w 43256"/>
              <a:gd name="connsiteY10" fmla="*/ 23181 h 42968"/>
              <a:gd name="connsiteX11" fmla="*/ 37440 w 43256"/>
              <a:gd name="connsiteY11" fmla="*/ 30063 h 42968"/>
              <a:gd name="connsiteX12" fmla="*/ 35431 w 43256"/>
              <a:gd name="connsiteY12" fmla="*/ 35960 h 42968"/>
              <a:gd name="connsiteX13" fmla="*/ 30088 w 43256"/>
              <a:gd name="connsiteY13" fmla="*/ 39412 h 42968"/>
              <a:gd name="connsiteX14" fmla="*/ 23703 w 43256"/>
              <a:gd name="connsiteY14" fmla="*/ 42965 h 42968"/>
              <a:gd name="connsiteX15" fmla="*/ 16516 w 43256"/>
              <a:gd name="connsiteY15" fmla="*/ 39125 h 42968"/>
              <a:gd name="connsiteX16" fmla="*/ 5840 w 43256"/>
              <a:gd name="connsiteY16" fmla="*/ 35331 h 42968"/>
              <a:gd name="connsiteX17" fmla="*/ 1146 w 43256"/>
              <a:gd name="connsiteY17" fmla="*/ 31109 h 42968"/>
              <a:gd name="connsiteX18" fmla="*/ 2149 w 43256"/>
              <a:gd name="connsiteY18" fmla="*/ 25410 h 42968"/>
              <a:gd name="connsiteX19" fmla="*/ 31 w 43256"/>
              <a:gd name="connsiteY19" fmla="*/ 19563 h 42968"/>
              <a:gd name="connsiteX20" fmla="*/ 3899 w 43256"/>
              <a:gd name="connsiteY20" fmla="*/ 14366 h 42968"/>
              <a:gd name="connsiteX21" fmla="*/ 3936 w 43256"/>
              <a:gd name="connsiteY21" fmla="*/ 14229 h 42968"/>
              <a:gd name="connsiteX0" fmla="*/ 4729 w 43256"/>
              <a:gd name="connsiteY0" fmla="*/ 26036 h 42968"/>
              <a:gd name="connsiteX1" fmla="*/ 2196 w 43256"/>
              <a:gd name="connsiteY1" fmla="*/ 25239 h 42968"/>
              <a:gd name="connsiteX2" fmla="*/ 38360 w 43256"/>
              <a:gd name="connsiteY2" fmla="*/ 5285 h 42968"/>
              <a:gd name="connsiteX3" fmla="*/ 38436 w 43256"/>
              <a:gd name="connsiteY3" fmla="*/ 6549 h 42968"/>
              <a:gd name="connsiteX4" fmla="*/ 29114 w 43256"/>
              <a:gd name="connsiteY4" fmla="*/ 3811 h 42968"/>
              <a:gd name="connsiteX5" fmla="*/ 29856 w 43256"/>
              <a:gd name="connsiteY5" fmla="*/ 2199 h 42968"/>
              <a:gd name="connsiteX6" fmla="*/ 14036 w 43256"/>
              <a:gd name="connsiteY6" fmla="*/ 5051 h 42968"/>
              <a:gd name="connsiteX7" fmla="*/ 15336 w 43256"/>
              <a:gd name="connsiteY7" fmla="*/ 6399 h 42968"/>
              <a:gd name="connsiteX8" fmla="*/ 4163 w 43256"/>
              <a:gd name="connsiteY8" fmla="*/ 15648 h 42968"/>
              <a:gd name="connsiteX9" fmla="*/ 3936 w 43256"/>
              <a:gd name="connsiteY9" fmla="*/ 14229 h 42968"/>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4729 w 43256"/>
              <a:gd name="connsiteY0" fmla="*/ 26036 h 43413"/>
              <a:gd name="connsiteX1" fmla="*/ 2196 w 43256"/>
              <a:gd name="connsiteY1" fmla="*/ 25239 h 43413"/>
              <a:gd name="connsiteX2" fmla="*/ 38360 w 43256"/>
              <a:gd name="connsiteY2" fmla="*/ 5285 h 43413"/>
              <a:gd name="connsiteX3" fmla="*/ 38436 w 43256"/>
              <a:gd name="connsiteY3" fmla="*/ 6549 h 43413"/>
              <a:gd name="connsiteX4" fmla="*/ 29114 w 43256"/>
              <a:gd name="connsiteY4" fmla="*/ 3811 h 43413"/>
              <a:gd name="connsiteX5" fmla="*/ 29856 w 43256"/>
              <a:gd name="connsiteY5" fmla="*/ 2199 h 43413"/>
              <a:gd name="connsiteX6" fmla="*/ 14036 w 43256"/>
              <a:gd name="connsiteY6" fmla="*/ 5051 h 43413"/>
              <a:gd name="connsiteX7" fmla="*/ 15336 w 43256"/>
              <a:gd name="connsiteY7" fmla="*/ 6399 h 43413"/>
              <a:gd name="connsiteX8" fmla="*/ 4163 w 43256"/>
              <a:gd name="connsiteY8" fmla="*/ 15648 h 43413"/>
              <a:gd name="connsiteX9" fmla="*/ 3936 w 43256"/>
              <a:gd name="connsiteY9" fmla="*/ 14229 h 43413"/>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6" fmla="*/ 4163 w 43256"/>
              <a:gd name="connsiteY6" fmla="*/ 15648 h 43413"/>
              <a:gd name="connsiteX7" fmla="*/ 3936 w 43256"/>
              <a:gd name="connsiteY7" fmla="*/ 14229 h 43413"/>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0" fmla="*/ 1979 w 43256"/>
              <a:gd name="connsiteY0" fmla="*/ 10838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1979 w 43256"/>
              <a:gd name="connsiteY21" fmla="*/ 10838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0" fmla="*/ 1979 w 47234"/>
              <a:gd name="connsiteY0" fmla="*/ 10838 h 43413"/>
              <a:gd name="connsiteX1" fmla="*/ 5659 w 47234"/>
              <a:gd name="connsiteY1" fmla="*/ 6766 h 43413"/>
              <a:gd name="connsiteX2" fmla="*/ 14041 w 47234"/>
              <a:gd name="connsiteY2" fmla="*/ 5061 h 43413"/>
              <a:gd name="connsiteX3" fmla="*/ 22492 w 47234"/>
              <a:gd name="connsiteY3" fmla="*/ 3291 h 43413"/>
              <a:gd name="connsiteX4" fmla="*/ 25785 w 47234"/>
              <a:gd name="connsiteY4" fmla="*/ 59 h 43413"/>
              <a:gd name="connsiteX5" fmla="*/ 29869 w 47234"/>
              <a:gd name="connsiteY5" fmla="*/ 2340 h 43413"/>
              <a:gd name="connsiteX6" fmla="*/ 35499 w 47234"/>
              <a:gd name="connsiteY6" fmla="*/ 549 h 43413"/>
              <a:gd name="connsiteX7" fmla="*/ 38354 w 47234"/>
              <a:gd name="connsiteY7" fmla="*/ 5435 h 43413"/>
              <a:gd name="connsiteX8" fmla="*/ 42018 w 47234"/>
              <a:gd name="connsiteY8" fmla="*/ 10177 h 43413"/>
              <a:gd name="connsiteX9" fmla="*/ 41854 w 47234"/>
              <a:gd name="connsiteY9" fmla="*/ 15319 h 43413"/>
              <a:gd name="connsiteX10" fmla="*/ 47196 w 47234"/>
              <a:gd name="connsiteY10" fmla="*/ 26180 h 43413"/>
              <a:gd name="connsiteX11" fmla="*/ 37440 w 47234"/>
              <a:gd name="connsiteY11" fmla="*/ 30063 h 43413"/>
              <a:gd name="connsiteX12" fmla="*/ 35431 w 47234"/>
              <a:gd name="connsiteY12" fmla="*/ 35960 h 43413"/>
              <a:gd name="connsiteX13" fmla="*/ 30088 w 47234"/>
              <a:gd name="connsiteY13" fmla="*/ 39412 h 43413"/>
              <a:gd name="connsiteX14" fmla="*/ 23703 w 47234"/>
              <a:gd name="connsiteY14" fmla="*/ 42965 h 43413"/>
              <a:gd name="connsiteX15" fmla="*/ 15710 w 47234"/>
              <a:gd name="connsiteY15" fmla="*/ 41211 h 43413"/>
              <a:gd name="connsiteX16" fmla="*/ 5840 w 47234"/>
              <a:gd name="connsiteY16" fmla="*/ 35331 h 43413"/>
              <a:gd name="connsiteX17" fmla="*/ 1146 w 47234"/>
              <a:gd name="connsiteY17" fmla="*/ 31109 h 43413"/>
              <a:gd name="connsiteX18" fmla="*/ 2149 w 47234"/>
              <a:gd name="connsiteY18" fmla="*/ 25410 h 43413"/>
              <a:gd name="connsiteX19" fmla="*/ 31 w 47234"/>
              <a:gd name="connsiteY19" fmla="*/ 19563 h 43413"/>
              <a:gd name="connsiteX20" fmla="*/ 3899 w 47234"/>
              <a:gd name="connsiteY20" fmla="*/ 14366 h 43413"/>
              <a:gd name="connsiteX21" fmla="*/ 1979 w 47234"/>
              <a:gd name="connsiteY21" fmla="*/ 10838 h 43413"/>
              <a:gd name="connsiteX0" fmla="*/ 38360 w 47234"/>
              <a:gd name="connsiteY0" fmla="*/ 5285 h 43413"/>
              <a:gd name="connsiteX1" fmla="*/ 38436 w 47234"/>
              <a:gd name="connsiteY1" fmla="*/ 6549 h 43413"/>
              <a:gd name="connsiteX2" fmla="*/ 29114 w 47234"/>
              <a:gd name="connsiteY2" fmla="*/ 3811 h 43413"/>
              <a:gd name="connsiteX3" fmla="*/ 29856 w 47234"/>
              <a:gd name="connsiteY3" fmla="*/ 2199 h 43413"/>
              <a:gd name="connsiteX4" fmla="*/ 14036 w 47234"/>
              <a:gd name="connsiteY4" fmla="*/ 5051 h 43413"/>
              <a:gd name="connsiteX5" fmla="*/ 15336 w 47234"/>
              <a:gd name="connsiteY5" fmla="*/ 6399 h 43413"/>
              <a:gd name="connsiteX0" fmla="*/ 1979 w 47197"/>
              <a:gd name="connsiteY0" fmla="*/ 10838 h 43413"/>
              <a:gd name="connsiteX1" fmla="*/ 5659 w 47197"/>
              <a:gd name="connsiteY1" fmla="*/ 6766 h 43413"/>
              <a:gd name="connsiteX2" fmla="*/ 14041 w 47197"/>
              <a:gd name="connsiteY2" fmla="*/ 5061 h 43413"/>
              <a:gd name="connsiteX3" fmla="*/ 22492 w 47197"/>
              <a:gd name="connsiteY3" fmla="*/ 3291 h 43413"/>
              <a:gd name="connsiteX4" fmla="*/ 25785 w 47197"/>
              <a:gd name="connsiteY4" fmla="*/ 59 h 43413"/>
              <a:gd name="connsiteX5" fmla="*/ 29869 w 47197"/>
              <a:gd name="connsiteY5" fmla="*/ 2340 h 43413"/>
              <a:gd name="connsiteX6" fmla="*/ 35499 w 47197"/>
              <a:gd name="connsiteY6" fmla="*/ 549 h 43413"/>
              <a:gd name="connsiteX7" fmla="*/ 38354 w 47197"/>
              <a:gd name="connsiteY7" fmla="*/ 5435 h 43413"/>
              <a:gd name="connsiteX8" fmla="*/ 42018 w 47197"/>
              <a:gd name="connsiteY8" fmla="*/ 10177 h 43413"/>
              <a:gd name="connsiteX9" fmla="*/ 41854 w 47197"/>
              <a:gd name="connsiteY9" fmla="*/ 15319 h 43413"/>
              <a:gd name="connsiteX10" fmla="*/ 47196 w 47197"/>
              <a:gd name="connsiteY10" fmla="*/ 26180 h 43413"/>
              <a:gd name="connsiteX11" fmla="*/ 41354 w 47197"/>
              <a:gd name="connsiteY11" fmla="*/ 34106 h 43413"/>
              <a:gd name="connsiteX12" fmla="*/ 35431 w 47197"/>
              <a:gd name="connsiteY12" fmla="*/ 35960 h 43413"/>
              <a:gd name="connsiteX13" fmla="*/ 30088 w 47197"/>
              <a:gd name="connsiteY13" fmla="*/ 39412 h 43413"/>
              <a:gd name="connsiteX14" fmla="*/ 23703 w 47197"/>
              <a:gd name="connsiteY14" fmla="*/ 42965 h 43413"/>
              <a:gd name="connsiteX15" fmla="*/ 15710 w 47197"/>
              <a:gd name="connsiteY15" fmla="*/ 41211 h 43413"/>
              <a:gd name="connsiteX16" fmla="*/ 5840 w 47197"/>
              <a:gd name="connsiteY16" fmla="*/ 35331 h 43413"/>
              <a:gd name="connsiteX17" fmla="*/ 1146 w 47197"/>
              <a:gd name="connsiteY17" fmla="*/ 31109 h 43413"/>
              <a:gd name="connsiteX18" fmla="*/ 2149 w 47197"/>
              <a:gd name="connsiteY18" fmla="*/ 25410 h 43413"/>
              <a:gd name="connsiteX19" fmla="*/ 31 w 47197"/>
              <a:gd name="connsiteY19" fmla="*/ 19563 h 43413"/>
              <a:gd name="connsiteX20" fmla="*/ 3899 w 47197"/>
              <a:gd name="connsiteY20" fmla="*/ 14366 h 43413"/>
              <a:gd name="connsiteX21" fmla="*/ 1979 w 47197"/>
              <a:gd name="connsiteY21" fmla="*/ 10838 h 43413"/>
              <a:gd name="connsiteX0" fmla="*/ 38360 w 47197"/>
              <a:gd name="connsiteY0" fmla="*/ 5285 h 43413"/>
              <a:gd name="connsiteX1" fmla="*/ 38436 w 47197"/>
              <a:gd name="connsiteY1" fmla="*/ 6549 h 43413"/>
              <a:gd name="connsiteX2" fmla="*/ 29114 w 47197"/>
              <a:gd name="connsiteY2" fmla="*/ 3811 h 43413"/>
              <a:gd name="connsiteX3" fmla="*/ 29856 w 47197"/>
              <a:gd name="connsiteY3" fmla="*/ 2199 h 43413"/>
              <a:gd name="connsiteX4" fmla="*/ 14036 w 47197"/>
              <a:gd name="connsiteY4" fmla="*/ 5051 h 43413"/>
              <a:gd name="connsiteX5" fmla="*/ 15336 w 47197"/>
              <a:gd name="connsiteY5" fmla="*/ 6399 h 4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 h="43413">
                <a:moveTo>
                  <a:pt x="1979" y="10838"/>
                </a:moveTo>
                <a:cubicBezTo>
                  <a:pt x="1708" y="8125"/>
                  <a:pt x="3649" y="7729"/>
                  <a:pt x="5659" y="6766"/>
                </a:cubicBezTo>
                <a:cubicBezTo>
                  <a:pt x="7669" y="5803"/>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7279" y="23049"/>
                  <a:pt x="47196" y="26180"/>
                </a:cubicBezTo>
                <a:cubicBezTo>
                  <a:pt x="47113" y="29311"/>
                  <a:pt x="44078" y="33576"/>
                  <a:pt x="41354" y="34106"/>
                </a:cubicBezTo>
                <a:cubicBezTo>
                  <a:pt x="41341" y="36373"/>
                  <a:pt x="37309" y="35076"/>
                  <a:pt x="35431" y="35960"/>
                </a:cubicBezTo>
                <a:cubicBezTo>
                  <a:pt x="33553" y="36844"/>
                  <a:pt x="32237" y="41236"/>
                  <a:pt x="30088" y="39412"/>
                </a:cubicBezTo>
                <a:cubicBezTo>
                  <a:pt x="29393" y="42545"/>
                  <a:pt x="26099" y="42665"/>
                  <a:pt x="23703" y="42965"/>
                </a:cubicBezTo>
                <a:cubicBezTo>
                  <a:pt x="21307" y="43265"/>
                  <a:pt x="17281" y="44418"/>
                  <a:pt x="15710" y="41211"/>
                </a:cubicBezTo>
                <a:cubicBezTo>
                  <a:pt x="12002" y="44255"/>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1967" y="10884"/>
                  <a:pt x="1979" y="10838"/>
                </a:cubicBezTo>
                <a:close/>
              </a:path>
              <a:path w="47197" h="43413" fill="none" extrusionOk="0">
                <a:moveTo>
                  <a:pt x="38360" y="5285"/>
                </a:moveTo>
                <a:cubicBezTo>
                  <a:pt x="38415" y="5702"/>
                  <a:pt x="38441" y="6125"/>
                  <a:pt x="38436" y="6549"/>
                </a:cubicBezTo>
                <a:moveTo>
                  <a:pt x="29114" y="3811"/>
                </a:moveTo>
                <a:cubicBezTo>
                  <a:pt x="29303" y="3228"/>
                  <a:pt x="29552" y="2685"/>
                  <a:pt x="29856" y="2199"/>
                </a:cubicBezTo>
                <a:moveTo>
                  <a:pt x="14036" y="5051"/>
                </a:moveTo>
                <a:cubicBezTo>
                  <a:pt x="14508" y="5427"/>
                  <a:pt x="14944" y="5880"/>
                  <a:pt x="15336" y="6399"/>
                </a:cubicBezTo>
              </a:path>
            </a:pathLst>
          </a:cu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Isosceles Triangle 143"/>
          <p:cNvSpPr/>
          <p:nvPr/>
        </p:nvSpPr>
        <p:spPr>
          <a:xfrm>
            <a:off x="6075563" y="5934647"/>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5" name="Isosceles Triangle 144"/>
          <p:cNvSpPr/>
          <p:nvPr/>
        </p:nvSpPr>
        <p:spPr>
          <a:xfrm>
            <a:off x="6477538" y="5720641"/>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Isosceles Triangle 145"/>
          <p:cNvSpPr/>
          <p:nvPr/>
        </p:nvSpPr>
        <p:spPr>
          <a:xfrm>
            <a:off x="6794424" y="5953142"/>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7" name="Isosceles Triangle 146"/>
          <p:cNvSpPr/>
          <p:nvPr/>
        </p:nvSpPr>
        <p:spPr>
          <a:xfrm>
            <a:off x="6112183" y="6268229"/>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Isosceles Triangle 147"/>
          <p:cNvSpPr/>
          <p:nvPr/>
        </p:nvSpPr>
        <p:spPr>
          <a:xfrm>
            <a:off x="6137033" y="574428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9" name="Isosceles Triangle 148"/>
          <p:cNvSpPr/>
          <p:nvPr/>
        </p:nvSpPr>
        <p:spPr>
          <a:xfrm>
            <a:off x="6640289" y="620155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Isosceles Triangle 149"/>
          <p:cNvSpPr/>
          <p:nvPr/>
        </p:nvSpPr>
        <p:spPr>
          <a:xfrm>
            <a:off x="6527345" y="6019818"/>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1" name="Isosceles Triangle 150"/>
          <p:cNvSpPr/>
          <p:nvPr/>
        </p:nvSpPr>
        <p:spPr>
          <a:xfrm>
            <a:off x="6367543" y="633490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Isosceles Triangle 151"/>
          <p:cNvSpPr/>
          <p:nvPr/>
        </p:nvSpPr>
        <p:spPr>
          <a:xfrm>
            <a:off x="6677904" y="574068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Isosceles Triangle 152"/>
          <p:cNvSpPr/>
          <p:nvPr/>
        </p:nvSpPr>
        <p:spPr>
          <a:xfrm>
            <a:off x="6175480" y="6101438"/>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Isosceles Triangle 153"/>
          <p:cNvSpPr/>
          <p:nvPr/>
        </p:nvSpPr>
        <p:spPr>
          <a:xfrm>
            <a:off x="6275763" y="596798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Isosceles Triangle 154"/>
          <p:cNvSpPr/>
          <p:nvPr/>
        </p:nvSpPr>
        <p:spPr>
          <a:xfrm>
            <a:off x="6380404" y="616811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6" name="Down Arrow 155"/>
          <p:cNvSpPr/>
          <p:nvPr/>
        </p:nvSpPr>
        <p:spPr>
          <a:xfrm rot="16200000">
            <a:off x="7371197" y="5620489"/>
            <a:ext cx="231775" cy="751611"/>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Curved Up Arrow 161"/>
          <p:cNvSpPr/>
          <p:nvPr/>
        </p:nvSpPr>
        <p:spPr>
          <a:xfrm rot="15900454">
            <a:off x="9787406" y="4010852"/>
            <a:ext cx="2994337" cy="1163607"/>
          </a:xfrm>
          <a:prstGeom prst="curvedUpArrow">
            <a:avLst>
              <a:gd name="adj1" fmla="val 10912"/>
              <a:gd name="adj2" fmla="val 28091"/>
              <a:gd name="adj3" fmla="val 31564"/>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3" name="TextBox 162">
            <a:extLst>
              <a:ext uri="{FF2B5EF4-FFF2-40B4-BE49-F238E27FC236}">
                <a16:creationId xmlns:a16="http://schemas.microsoft.com/office/drawing/2014/main" id="{F1135841-91AD-443B-B6D6-876E11FDBED3}"/>
              </a:ext>
            </a:extLst>
          </p:cNvPr>
          <p:cNvSpPr txBox="1"/>
          <p:nvPr/>
        </p:nvSpPr>
        <p:spPr>
          <a:xfrm>
            <a:off x="6867664" y="641779"/>
            <a:ext cx="1774815"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p(z) ~ Z</a:t>
            </a:r>
          </a:p>
          <a:p>
            <a:pPr algn="ctr"/>
            <a:r>
              <a:rPr lang="en-IN" dirty="0">
                <a:latin typeface="Times New Roman" panose="02020603050405020304" pitchFamily="18" charset="0"/>
                <a:cs typeface="Times New Roman" panose="02020603050405020304" pitchFamily="18" charset="0"/>
              </a:rPr>
              <a:t>Random noise</a:t>
            </a:r>
          </a:p>
        </p:txBody>
      </p:sp>
      <p:sp>
        <p:nvSpPr>
          <p:cNvPr id="165" name="TextBox 164">
            <a:extLst>
              <a:ext uri="{FF2B5EF4-FFF2-40B4-BE49-F238E27FC236}">
                <a16:creationId xmlns:a16="http://schemas.microsoft.com/office/drawing/2014/main" id="{27020F0A-48B8-4624-A1A5-6C5F2D84040A}"/>
              </a:ext>
            </a:extLst>
          </p:cNvPr>
          <p:cNvSpPr txBox="1"/>
          <p:nvPr/>
        </p:nvSpPr>
        <p:spPr>
          <a:xfrm rot="16200000">
            <a:off x="6383073" y="2593720"/>
            <a:ext cx="2033976"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Generative Model</a:t>
            </a:r>
          </a:p>
          <a:p>
            <a:pPr algn="ctr"/>
            <a:r>
              <a:rPr lang="en-IN" dirty="0">
                <a:latin typeface="Times New Roman" panose="02020603050405020304" pitchFamily="18" charset="0"/>
                <a:cs typeface="Times New Roman" panose="02020603050405020304" pitchFamily="18" charset="0"/>
              </a:rPr>
              <a:t>(Neural Net) G</a:t>
            </a:r>
          </a:p>
        </p:txBody>
      </p:sp>
      <p:sp>
        <p:nvSpPr>
          <p:cNvPr id="166" name="Left Brace 165"/>
          <p:cNvSpPr/>
          <p:nvPr/>
        </p:nvSpPr>
        <p:spPr>
          <a:xfrm>
            <a:off x="7760083" y="1648802"/>
            <a:ext cx="261032" cy="2378575"/>
          </a:xfrm>
          <a:prstGeom prst="leftBrac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7" name="TextBox 166">
            <a:extLst>
              <a:ext uri="{FF2B5EF4-FFF2-40B4-BE49-F238E27FC236}">
                <a16:creationId xmlns:a16="http://schemas.microsoft.com/office/drawing/2014/main" id="{43ACD3A4-4A08-4ACF-BFD5-8F3F96F4EA60}"/>
              </a:ext>
            </a:extLst>
          </p:cNvPr>
          <p:cNvSpPr txBox="1"/>
          <p:nvPr/>
        </p:nvSpPr>
        <p:spPr>
          <a:xfrm>
            <a:off x="6951900" y="4388070"/>
            <a:ext cx="1963855"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Generated data </a:t>
            </a:r>
          </a:p>
          <a:p>
            <a:pPr algn="ctr"/>
            <a:r>
              <a:rPr lang="en-IN" dirty="0">
                <a:latin typeface="Times New Roman" panose="02020603050405020304" pitchFamily="18" charset="0"/>
                <a:cs typeface="Times New Roman" panose="02020603050405020304" pitchFamily="18" charset="0"/>
              </a:rPr>
              <a:t>distribution </a:t>
            </a:r>
          </a:p>
          <a:p>
            <a:pPr algn="ctr"/>
            <a:r>
              <a:rPr lang="en-IN" dirty="0">
                <a:latin typeface="Times New Roman" panose="02020603050405020304" pitchFamily="18" charset="0"/>
                <a:cs typeface="Times New Roman" panose="02020603050405020304" pitchFamily="18" charset="0"/>
              </a:rPr>
              <a:t>D’=G(Z)=I’(x)</a:t>
            </a:r>
          </a:p>
        </p:txBody>
      </p:sp>
      <p:sp>
        <p:nvSpPr>
          <p:cNvPr id="168" name="TextBox 167">
            <a:extLst>
              <a:ext uri="{FF2B5EF4-FFF2-40B4-BE49-F238E27FC236}">
                <a16:creationId xmlns:a16="http://schemas.microsoft.com/office/drawing/2014/main" id="{9DBD2560-2866-45BE-9F86-DB1EE5AA861D}"/>
              </a:ext>
            </a:extLst>
          </p:cNvPr>
          <p:cNvSpPr txBox="1"/>
          <p:nvPr/>
        </p:nvSpPr>
        <p:spPr>
          <a:xfrm>
            <a:off x="3377580" y="5711493"/>
            <a:ext cx="2510618"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Real data distribution </a:t>
            </a:r>
          </a:p>
          <a:p>
            <a:pPr algn="ctr"/>
            <a:r>
              <a:rPr lang="en-IN" dirty="0">
                <a:latin typeface="Times New Roman" panose="02020603050405020304" pitchFamily="18" charset="0"/>
                <a:cs typeface="Times New Roman" panose="02020603050405020304" pitchFamily="18" charset="0"/>
              </a:rPr>
              <a:t>D=I(x)</a:t>
            </a:r>
          </a:p>
        </p:txBody>
      </p:sp>
    </p:spTree>
    <p:extLst>
      <p:ext uri="{BB962C8B-B14F-4D97-AF65-F5344CB8AC3E}">
        <p14:creationId xmlns:p14="http://schemas.microsoft.com/office/powerpoint/2010/main" val="375885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Cloud 129">
            <a:extLst>
              <a:ext uri="{FF2B5EF4-FFF2-40B4-BE49-F238E27FC236}">
                <a16:creationId xmlns:a16="http://schemas.microsoft.com/office/drawing/2014/main" id="{F58DE36C-F89B-4108-80E4-40FA51BC08A6}"/>
              </a:ext>
            </a:extLst>
          </p:cNvPr>
          <p:cNvSpPr/>
          <p:nvPr/>
        </p:nvSpPr>
        <p:spPr>
          <a:xfrm>
            <a:off x="8691993" y="4272605"/>
            <a:ext cx="1193036" cy="1052265"/>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8446 w 43256"/>
              <a:gd name="connsiteY3" fmla="*/ 33281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16514 w 43256"/>
              <a:gd name="connsiteY2" fmla="*/ 38949 h 43219"/>
              <a:gd name="connsiteX3" fmla="*/ 15846 w 43256"/>
              <a:gd name="connsiteY3" fmla="*/ 37209 h 43219"/>
              <a:gd name="connsiteX4" fmla="*/ 28863 w 43256"/>
              <a:gd name="connsiteY4" fmla="*/ 34610 h 43219"/>
              <a:gd name="connsiteX5" fmla="*/ 28596 w 43256"/>
              <a:gd name="connsiteY5" fmla="*/ 36519 h 43219"/>
              <a:gd name="connsiteX6" fmla="*/ 34165 w 43256"/>
              <a:gd name="connsiteY6" fmla="*/ 22813 h 43219"/>
              <a:gd name="connsiteX7" fmla="*/ 37416 w 43256"/>
              <a:gd name="connsiteY7" fmla="*/ 2994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29114 w 43256"/>
              <a:gd name="connsiteY12" fmla="*/ 3811 h 43219"/>
              <a:gd name="connsiteX13" fmla="*/ 29856 w 43256"/>
              <a:gd name="connsiteY13" fmla="*/ 219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4165 w 43256"/>
              <a:gd name="connsiteY4" fmla="*/ 22813 h 43219"/>
              <a:gd name="connsiteX5" fmla="*/ 37416 w 43256"/>
              <a:gd name="connsiteY5" fmla="*/ 29949 h 43219"/>
              <a:gd name="connsiteX6" fmla="*/ 41834 w 43256"/>
              <a:gd name="connsiteY6" fmla="*/ 15213 h 43219"/>
              <a:gd name="connsiteX7" fmla="*/ 40386 w 43256"/>
              <a:gd name="connsiteY7" fmla="*/ 17889 h 43219"/>
              <a:gd name="connsiteX8" fmla="*/ 38360 w 43256"/>
              <a:gd name="connsiteY8" fmla="*/ 5285 h 43219"/>
              <a:gd name="connsiteX9" fmla="*/ 38436 w 43256"/>
              <a:gd name="connsiteY9" fmla="*/ 6549 h 43219"/>
              <a:gd name="connsiteX10" fmla="*/ 29114 w 43256"/>
              <a:gd name="connsiteY10" fmla="*/ 3811 h 43219"/>
              <a:gd name="connsiteX11" fmla="*/ 29856 w 43256"/>
              <a:gd name="connsiteY11" fmla="*/ 2199 h 43219"/>
              <a:gd name="connsiteX12" fmla="*/ 22177 w 43256"/>
              <a:gd name="connsiteY12" fmla="*/ 4579 h 43219"/>
              <a:gd name="connsiteX13" fmla="*/ 22536 w 43256"/>
              <a:gd name="connsiteY13" fmla="*/ 318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41834 w 43256"/>
              <a:gd name="connsiteY4" fmla="*/ 15213 h 43219"/>
              <a:gd name="connsiteX5" fmla="*/ 40386 w 43256"/>
              <a:gd name="connsiteY5" fmla="*/ 17889 h 43219"/>
              <a:gd name="connsiteX6" fmla="*/ 38360 w 43256"/>
              <a:gd name="connsiteY6" fmla="*/ 5285 h 43219"/>
              <a:gd name="connsiteX7" fmla="*/ 38436 w 43256"/>
              <a:gd name="connsiteY7" fmla="*/ 6549 h 43219"/>
              <a:gd name="connsiteX8" fmla="*/ 29114 w 43256"/>
              <a:gd name="connsiteY8" fmla="*/ 3811 h 43219"/>
              <a:gd name="connsiteX9" fmla="*/ 29856 w 43256"/>
              <a:gd name="connsiteY9" fmla="*/ 2199 h 43219"/>
              <a:gd name="connsiteX10" fmla="*/ 22177 w 43256"/>
              <a:gd name="connsiteY10" fmla="*/ 4579 h 43219"/>
              <a:gd name="connsiteX11" fmla="*/ 22536 w 43256"/>
              <a:gd name="connsiteY11" fmla="*/ 3189 h 43219"/>
              <a:gd name="connsiteX12" fmla="*/ 14036 w 43256"/>
              <a:gd name="connsiteY12" fmla="*/ 5051 h 43219"/>
              <a:gd name="connsiteX13" fmla="*/ 15336 w 43256"/>
              <a:gd name="connsiteY13" fmla="*/ 639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22177 w 43256"/>
              <a:gd name="connsiteY8" fmla="*/ 4579 h 43219"/>
              <a:gd name="connsiteX9" fmla="*/ 22536 w 43256"/>
              <a:gd name="connsiteY9" fmla="*/ 3189 h 43219"/>
              <a:gd name="connsiteX10" fmla="*/ 14036 w 43256"/>
              <a:gd name="connsiteY10" fmla="*/ 5051 h 43219"/>
              <a:gd name="connsiteX11" fmla="*/ 15336 w 43256"/>
              <a:gd name="connsiteY11" fmla="*/ 639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14036 w 43256"/>
              <a:gd name="connsiteY8" fmla="*/ 5051 h 43219"/>
              <a:gd name="connsiteX9" fmla="*/ 15336 w 43256"/>
              <a:gd name="connsiteY9" fmla="*/ 6399 h 43219"/>
              <a:gd name="connsiteX10" fmla="*/ 4163 w 43256"/>
              <a:gd name="connsiteY10" fmla="*/ 15648 h 43219"/>
              <a:gd name="connsiteX11" fmla="*/ 3936 w 43256"/>
              <a:gd name="connsiteY1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28863" y="34610"/>
                </a:moveTo>
                <a:cubicBezTo>
                  <a:pt x="28824" y="35257"/>
                  <a:pt x="28734" y="35897"/>
                  <a:pt x="28596" y="36519"/>
                </a:cubicBezTo>
                <a:moveTo>
                  <a:pt x="38360" y="5285"/>
                </a:moveTo>
                <a:cubicBezTo>
                  <a:pt x="38415" y="5702"/>
                  <a:pt x="38441" y="6125"/>
                  <a:pt x="38436" y="6549"/>
                </a:cubicBezTo>
                <a:moveTo>
                  <a:pt x="29114" y="3811"/>
                </a:moveTo>
                <a:cubicBezTo>
                  <a:pt x="29303" y="3228"/>
                  <a:pt x="29552" y="2685"/>
                  <a:pt x="29856" y="219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Rounded Rectangle 123"/>
          <p:cNvSpPr/>
          <p:nvPr/>
        </p:nvSpPr>
        <p:spPr>
          <a:xfrm>
            <a:off x="8131347" y="1713134"/>
            <a:ext cx="2231232" cy="554832"/>
          </a:xfrm>
          <a:prstGeom prst="roundRect">
            <a:avLst/>
          </a:prstGeom>
          <a:solidFill>
            <a:schemeClr val="accent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5" name="Picture 124"/>
          <p:cNvPicPr>
            <a:picLocks noChangeAspect="1"/>
          </p:cNvPicPr>
          <p:nvPr/>
        </p:nvPicPr>
        <p:blipFill>
          <a:blip r:embed="rId2"/>
          <a:stretch>
            <a:fillRect/>
          </a:stretch>
        </p:blipFill>
        <p:spPr>
          <a:xfrm>
            <a:off x="8589189" y="374739"/>
            <a:ext cx="1368866" cy="1010850"/>
          </a:xfrm>
          <a:prstGeom prst="rect">
            <a:avLst/>
          </a:prstGeom>
        </p:spPr>
      </p:pic>
      <p:sp>
        <p:nvSpPr>
          <p:cNvPr id="126" name="Oval 125"/>
          <p:cNvSpPr/>
          <p:nvPr/>
        </p:nvSpPr>
        <p:spPr>
          <a:xfrm>
            <a:off x="9390306" y="1880714"/>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9928628" y="1874149"/>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a:off x="8325051" y="1874149"/>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8857810" y="1876907"/>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Rounded Rectangle 129"/>
          <p:cNvSpPr/>
          <p:nvPr/>
        </p:nvSpPr>
        <p:spPr>
          <a:xfrm>
            <a:off x="8131347" y="2540495"/>
            <a:ext cx="2231232" cy="554832"/>
          </a:xfrm>
          <a:prstGeom prst="round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Oval 130"/>
          <p:cNvSpPr/>
          <p:nvPr/>
        </p:nvSpPr>
        <p:spPr>
          <a:xfrm>
            <a:off x="9390306" y="2708075"/>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Oval 131"/>
          <p:cNvSpPr/>
          <p:nvPr/>
        </p:nvSpPr>
        <p:spPr>
          <a:xfrm>
            <a:off x="9928628" y="2701510"/>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Oval 132"/>
          <p:cNvSpPr/>
          <p:nvPr/>
        </p:nvSpPr>
        <p:spPr>
          <a:xfrm>
            <a:off x="8325051" y="2701510"/>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Oval 133"/>
          <p:cNvSpPr/>
          <p:nvPr/>
        </p:nvSpPr>
        <p:spPr>
          <a:xfrm>
            <a:off x="8857810" y="2704268"/>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Rounded Rectangle 134"/>
          <p:cNvSpPr/>
          <p:nvPr/>
        </p:nvSpPr>
        <p:spPr>
          <a:xfrm>
            <a:off x="8131347" y="3425022"/>
            <a:ext cx="2231232" cy="554832"/>
          </a:xfrm>
          <a:prstGeom prst="roundRect">
            <a:avLst/>
          </a:prstGeom>
          <a:solidFill>
            <a:srgbClr val="00B05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Oval 135"/>
          <p:cNvSpPr/>
          <p:nvPr/>
        </p:nvSpPr>
        <p:spPr>
          <a:xfrm>
            <a:off x="9390306" y="3592602"/>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7" name="Oval 136"/>
          <p:cNvSpPr/>
          <p:nvPr/>
        </p:nvSpPr>
        <p:spPr>
          <a:xfrm>
            <a:off x="9885029" y="3586037"/>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Oval 137"/>
          <p:cNvSpPr/>
          <p:nvPr/>
        </p:nvSpPr>
        <p:spPr>
          <a:xfrm>
            <a:off x="8325051" y="3586037"/>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9" name="Oval 138"/>
          <p:cNvSpPr/>
          <p:nvPr/>
        </p:nvSpPr>
        <p:spPr>
          <a:xfrm>
            <a:off x="8857810" y="3588795"/>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0" name="Straight Arrow Connector 139"/>
          <p:cNvCxnSpPr>
            <a:stCxn id="124" idx="2"/>
            <a:endCxn id="130" idx="0"/>
          </p:cNvCxnSpPr>
          <p:nvPr/>
        </p:nvCxnSpPr>
        <p:spPr>
          <a:xfrm>
            <a:off x="9246963" y="2267966"/>
            <a:ext cx="0" cy="272529"/>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a:off x="8467478" y="2265424"/>
            <a:ext cx="0" cy="269721"/>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p:nvPr/>
        </p:nvCxnSpPr>
        <p:spPr>
          <a:xfrm>
            <a:off x="10045198" y="2260075"/>
            <a:ext cx="0" cy="280420"/>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flipH="1">
            <a:off x="8467478" y="3095327"/>
            <a:ext cx="1"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130" idx="2"/>
            <a:endCxn id="135" idx="0"/>
          </p:cNvCxnSpPr>
          <p:nvPr/>
        </p:nvCxnSpPr>
        <p:spPr>
          <a:xfrm>
            <a:off x="9246963" y="3095327"/>
            <a:ext cx="0"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p:nvPr/>
        </p:nvCxnSpPr>
        <p:spPr>
          <a:xfrm>
            <a:off x="10045198" y="3095327"/>
            <a:ext cx="0"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6" name="Down Arrow 145"/>
          <p:cNvSpPr/>
          <p:nvPr/>
        </p:nvSpPr>
        <p:spPr>
          <a:xfrm>
            <a:off x="9131076" y="1382963"/>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7" name="Down Arrow 146"/>
          <p:cNvSpPr/>
          <p:nvPr/>
        </p:nvSpPr>
        <p:spPr>
          <a:xfrm>
            <a:off x="9131075" y="3995224"/>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9" name="Isosceles Triangle 148"/>
          <p:cNvSpPr/>
          <p:nvPr/>
        </p:nvSpPr>
        <p:spPr>
          <a:xfrm>
            <a:off x="8959911" y="4682590"/>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Isosceles Triangle 149"/>
          <p:cNvSpPr/>
          <p:nvPr/>
        </p:nvSpPr>
        <p:spPr>
          <a:xfrm>
            <a:off x="9313268" y="4511459"/>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1" name="Isosceles Triangle 150"/>
          <p:cNvSpPr/>
          <p:nvPr/>
        </p:nvSpPr>
        <p:spPr>
          <a:xfrm>
            <a:off x="9734427" y="4630202"/>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Isosceles Triangle 151"/>
          <p:cNvSpPr/>
          <p:nvPr/>
        </p:nvSpPr>
        <p:spPr>
          <a:xfrm>
            <a:off x="8996531" y="5016172"/>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Isosceles Triangle 152"/>
          <p:cNvSpPr/>
          <p:nvPr/>
        </p:nvSpPr>
        <p:spPr>
          <a:xfrm>
            <a:off x="9100612" y="4503996"/>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Isosceles Triangle 153"/>
          <p:cNvSpPr/>
          <p:nvPr/>
        </p:nvSpPr>
        <p:spPr>
          <a:xfrm>
            <a:off x="9419201" y="4949497"/>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Isosceles Triangle 154"/>
          <p:cNvSpPr/>
          <p:nvPr/>
        </p:nvSpPr>
        <p:spPr>
          <a:xfrm>
            <a:off x="9465668" y="4663859"/>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6" name="Isosceles Triangle 155"/>
          <p:cNvSpPr/>
          <p:nvPr/>
        </p:nvSpPr>
        <p:spPr>
          <a:xfrm>
            <a:off x="9251891" y="5082847"/>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7" name="Isosceles Triangle 156"/>
          <p:cNvSpPr/>
          <p:nvPr/>
        </p:nvSpPr>
        <p:spPr>
          <a:xfrm>
            <a:off x="9562252" y="4488626"/>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8" name="Isosceles Triangle 157"/>
          <p:cNvSpPr/>
          <p:nvPr/>
        </p:nvSpPr>
        <p:spPr>
          <a:xfrm>
            <a:off x="9111274" y="4857494"/>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9" name="TextBox 158">
            <a:extLst>
              <a:ext uri="{FF2B5EF4-FFF2-40B4-BE49-F238E27FC236}">
                <a16:creationId xmlns:a16="http://schemas.microsoft.com/office/drawing/2014/main" id="{215D5D96-E306-4D49-9059-2B636A775398}"/>
              </a:ext>
            </a:extLst>
          </p:cNvPr>
          <p:cNvSpPr txBox="1"/>
          <p:nvPr/>
        </p:nvSpPr>
        <p:spPr>
          <a:xfrm>
            <a:off x="7890599" y="5677393"/>
            <a:ext cx="2869064" cy="584775"/>
          </a:xfrm>
          <a:prstGeom prst="rect">
            <a:avLst/>
          </a:prstGeom>
          <a:solidFill>
            <a:schemeClr val="accent6">
              <a:lumMod val="60000"/>
              <a:lumOff val="40000"/>
            </a:schemeClr>
          </a:solidFill>
          <a:ln w="25400">
            <a:noFill/>
          </a:ln>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Loss (Statistical Distance between D and D’ distributions)</a:t>
            </a:r>
          </a:p>
        </p:txBody>
      </p:sp>
      <p:sp>
        <p:nvSpPr>
          <p:cNvPr id="160" name="Down Arrow 159"/>
          <p:cNvSpPr/>
          <p:nvPr/>
        </p:nvSpPr>
        <p:spPr>
          <a:xfrm>
            <a:off x="9131075" y="5343969"/>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1" name="Cloud 129"/>
          <p:cNvSpPr/>
          <p:nvPr/>
        </p:nvSpPr>
        <p:spPr>
          <a:xfrm>
            <a:off x="5753296" y="5445143"/>
            <a:ext cx="1301733" cy="1056989"/>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8446 w 43256"/>
              <a:gd name="connsiteY3" fmla="*/ 33281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16514 w 43256"/>
              <a:gd name="connsiteY2" fmla="*/ 38949 h 43219"/>
              <a:gd name="connsiteX3" fmla="*/ 15846 w 43256"/>
              <a:gd name="connsiteY3" fmla="*/ 37209 h 43219"/>
              <a:gd name="connsiteX4" fmla="*/ 28863 w 43256"/>
              <a:gd name="connsiteY4" fmla="*/ 34610 h 43219"/>
              <a:gd name="connsiteX5" fmla="*/ 28596 w 43256"/>
              <a:gd name="connsiteY5" fmla="*/ 36519 h 43219"/>
              <a:gd name="connsiteX6" fmla="*/ 34165 w 43256"/>
              <a:gd name="connsiteY6" fmla="*/ 22813 h 43219"/>
              <a:gd name="connsiteX7" fmla="*/ 37416 w 43256"/>
              <a:gd name="connsiteY7" fmla="*/ 2994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29114 w 43256"/>
              <a:gd name="connsiteY12" fmla="*/ 3811 h 43219"/>
              <a:gd name="connsiteX13" fmla="*/ 29856 w 43256"/>
              <a:gd name="connsiteY13" fmla="*/ 219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4165 w 43256"/>
              <a:gd name="connsiteY4" fmla="*/ 22813 h 43219"/>
              <a:gd name="connsiteX5" fmla="*/ 37416 w 43256"/>
              <a:gd name="connsiteY5" fmla="*/ 29949 h 43219"/>
              <a:gd name="connsiteX6" fmla="*/ 41834 w 43256"/>
              <a:gd name="connsiteY6" fmla="*/ 15213 h 43219"/>
              <a:gd name="connsiteX7" fmla="*/ 40386 w 43256"/>
              <a:gd name="connsiteY7" fmla="*/ 17889 h 43219"/>
              <a:gd name="connsiteX8" fmla="*/ 38360 w 43256"/>
              <a:gd name="connsiteY8" fmla="*/ 5285 h 43219"/>
              <a:gd name="connsiteX9" fmla="*/ 38436 w 43256"/>
              <a:gd name="connsiteY9" fmla="*/ 6549 h 43219"/>
              <a:gd name="connsiteX10" fmla="*/ 29114 w 43256"/>
              <a:gd name="connsiteY10" fmla="*/ 3811 h 43219"/>
              <a:gd name="connsiteX11" fmla="*/ 29856 w 43256"/>
              <a:gd name="connsiteY11" fmla="*/ 2199 h 43219"/>
              <a:gd name="connsiteX12" fmla="*/ 22177 w 43256"/>
              <a:gd name="connsiteY12" fmla="*/ 4579 h 43219"/>
              <a:gd name="connsiteX13" fmla="*/ 22536 w 43256"/>
              <a:gd name="connsiteY13" fmla="*/ 318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41834 w 43256"/>
              <a:gd name="connsiteY4" fmla="*/ 15213 h 43219"/>
              <a:gd name="connsiteX5" fmla="*/ 40386 w 43256"/>
              <a:gd name="connsiteY5" fmla="*/ 17889 h 43219"/>
              <a:gd name="connsiteX6" fmla="*/ 38360 w 43256"/>
              <a:gd name="connsiteY6" fmla="*/ 5285 h 43219"/>
              <a:gd name="connsiteX7" fmla="*/ 38436 w 43256"/>
              <a:gd name="connsiteY7" fmla="*/ 6549 h 43219"/>
              <a:gd name="connsiteX8" fmla="*/ 29114 w 43256"/>
              <a:gd name="connsiteY8" fmla="*/ 3811 h 43219"/>
              <a:gd name="connsiteX9" fmla="*/ 29856 w 43256"/>
              <a:gd name="connsiteY9" fmla="*/ 2199 h 43219"/>
              <a:gd name="connsiteX10" fmla="*/ 22177 w 43256"/>
              <a:gd name="connsiteY10" fmla="*/ 4579 h 43219"/>
              <a:gd name="connsiteX11" fmla="*/ 22536 w 43256"/>
              <a:gd name="connsiteY11" fmla="*/ 3189 h 43219"/>
              <a:gd name="connsiteX12" fmla="*/ 14036 w 43256"/>
              <a:gd name="connsiteY12" fmla="*/ 5051 h 43219"/>
              <a:gd name="connsiteX13" fmla="*/ 15336 w 43256"/>
              <a:gd name="connsiteY13" fmla="*/ 639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22177 w 43256"/>
              <a:gd name="connsiteY8" fmla="*/ 4579 h 43219"/>
              <a:gd name="connsiteX9" fmla="*/ 22536 w 43256"/>
              <a:gd name="connsiteY9" fmla="*/ 3189 h 43219"/>
              <a:gd name="connsiteX10" fmla="*/ 14036 w 43256"/>
              <a:gd name="connsiteY10" fmla="*/ 5051 h 43219"/>
              <a:gd name="connsiteX11" fmla="*/ 15336 w 43256"/>
              <a:gd name="connsiteY11" fmla="*/ 639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14036 w 43256"/>
              <a:gd name="connsiteY8" fmla="*/ 5051 h 43219"/>
              <a:gd name="connsiteX9" fmla="*/ 15336 w 43256"/>
              <a:gd name="connsiteY9" fmla="*/ 639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38360 w 43256"/>
              <a:gd name="connsiteY2" fmla="*/ 5285 h 43219"/>
              <a:gd name="connsiteX3" fmla="*/ 38436 w 43256"/>
              <a:gd name="connsiteY3" fmla="*/ 6549 h 43219"/>
              <a:gd name="connsiteX4" fmla="*/ 29114 w 43256"/>
              <a:gd name="connsiteY4" fmla="*/ 3811 h 43219"/>
              <a:gd name="connsiteX5" fmla="*/ 29856 w 43256"/>
              <a:gd name="connsiteY5" fmla="*/ 2199 h 43219"/>
              <a:gd name="connsiteX6" fmla="*/ 14036 w 43256"/>
              <a:gd name="connsiteY6" fmla="*/ 5051 h 43219"/>
              <a:gd name="connsiteX7" fmla="*/ 15336 w 43256"/>
              <a:gd name="connsiteY7" fmla="*/ 6399 h 43219"/>
              <a:gd name="connsiteX8" fmla="*/ 4163 w 43256"/>
              <a:gd name="connsiteY8" fmla="*/ 15648 h 43219"/>
              <a:gd name="connsiteX9" fmla="*/ 3936 w 43256"/>
              <a:gd name="connsiteY9" fmla="*/ 14229 h 43219"/>
              <a:gd name="connsiteX0" fmla="*/ 3936 w 43256"/>
              <a:gd name="connsiteY0" fmla="*/ 14229 h 42968"/>
              <a:gd name="connsiteX1" fmla="*/ 5659 w 43256"/>
              <a:gd name="connsiteY1" fmla="*/ 6766 h 42968"/>
              <a:gd name="connsiteX2" fmla="*/ 14041 w 43256"/>
              <a:gd name="connsiteY2" fmla="*/ 5061 h 42968"/>
              <a:gd name="connsiteX3" fmla="*/ 22492 w 43256"/>
              <a:gd name="connsiteY3" fmla="*/ 3291 h 42968"/>
              <a:gd name="connsiteX4" fmla="*/ 25785 w 43256"/>
              <a:gd name="connsiteY4" fmla="*/ 59 h 42968"/>
              <a:gd name="connsiteX5" fmla="*/ 29869 w 43256"/>
              <a:gd name="connsiteY5" fmla="*/ 2340 h 42968"/>
              <a:gd name="connsiteX6" fmla="*/ 35499 w 43256"/>
              <a:gd name="connsiteY6" fmla="*/ 549 h 42968"/>
              <a:gd name="connsiteX7" fmla="*/ 38354 w 43256"/>
              <a:gd name="connsiteY7" fmla="*/ 5435 h 42968"/>
              <a:gd name="connsiteX8" fmla="*/ 42018 w 43256"/>
              <a:gd name="connsiteY8" fmla="*/ 10177 h 42968"/>
              <a:gd name="connsiteX9" fmla="*/ 41854 w 43256"/>
              <a:gd name="connsiteY9" fmla="*/ 15319 h 42968"/>
              <a:gd name="connsiteX10" fmla="*/ 43052 w 43256"/>
              <a:gd name="connsiteY10" fmla="*/ 23181 h 42968"/>
              <a:gd name="connsiteX11" fmla="*/ 37440 w 43256"/>
              <a:gd name="connsiteY11" fmla="*/ 30063 h 42968"/>
              <a:gd name="connsiteX12" fmla="*/ 35431 w 43256"/>
              <a:gd name="connsiteY12" fmla="*/ 35960 h 42968"/>
              <a:gd name="connsiteX13" fmla="*/ 30088 w 43256"/>
              <a:gd name="connsiteY13" fmla="*/ 39412 h 42968"/>
              <a:gd name="connsiteX14" fmla="*/ 23703 w 43256"/>
              <a:gd name="connsiteY14" fmla="*/ 42965 h 42968"/>
              <a:gd name="connsiteX15" fmla="*/ 16516 w 43256"/>
              <a:gd name="connsiteY15" fmla="*/ 39125 h 42968"/>
              <a:gd name="connsiteX16" fmla="*/ 5840 w 43256"/>
              <a:gd name="connsiteY16" fmla="*/ 35331 h 42968"/>
              <a:gd name="connsiteX17" fmla="*/ 1146 w 43256"/>
              <a:gd name="connsiteY17" fmla="*/ 31109 h 42968"/>
              <a:gd name="connsiteX18" fmla="*/ 2149 w 43256"/>
              <a:gd name="connsiteY18" fmla="*/ 25410 h 42968"/>
              <a:gd name="connsiteX19" fmla="*/ 31 w 43256"/>
              <a:gd name="connsiteY19" fmla="*/ 19563 h 42968"/>
              <a:gd name="connsiteX20" fmla="*/ 3899 w 43256"/>
              <a:gd name="connsiteY20" fmla="*/ 14366 h 42968"/>
              <a:gd name="connsiteX21" fmla="*/ 3936 w 43256"/>
              <a:gd name="connsiteY21" fmla="*/ 14229 h 42968"/>
              <a:gd name="connsiteX0" fmla="*/ 4729 w 43256"/>
              <a:gd name="connsiteY0" fmla="*/ 26036 h 42968"/>
              <a:gd name="connsiteX1" fmla="*/ 2196 w 43256"/>
              <a:gd name="connsiteY1" fmla="*/ 25239 h 42968"/>
              <a:gd name="connsiteX2" fmla="*/ 38360 w 43256"/>
              <a:gd name="connsiteY2" fmla="*/ 5285 h 42968"/>
              <a:gd name="connsiteX3" fmla="*/ 38436 w 43256"/>
              <a:gd name="connsiteY3" fmla="*/ 6549 h 42968"/>
              <a:gd name="connsiteX4" fmla="*/ 29114 w 43256"/>
              <a:gd name="connsiteY4" fmla="*/ 3811 h 42968"/>
              <a:gd name="connsiteX5" fmla="*/ 29856 w 43256"/>
              <a:gd name="connsiteY5" fmla="*/ 2199 h 42968"/>
              <a:gd name="connsiteX6" fmla="*/ 14036 w 43256"/>
              <a:gd name="connsiteY6" fmla="*/ 5051 h 42968"/>
              <a:gd name="connsiteX7" fmla="*/ 15336 w 43256"/>
              <a:gd name="connsiteY7" fmla="*/ 6399 h 42968"/>
              <a:gd name="connsiteX8" fmla="*/ 4163 w 43256"/>
              <a:gd name="connsiteY8" fmla="*/ 15648 h 42968"/>
              <a:gd name="connsiteX9" fmla="*/ 3936 w 43256"/>
              <a:gd name="connsiteY9" fmla="*/ 14229 h 42968"/>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4729 w 43256"/>
              <a:gd name="connsiteY0" fmla="*/ 26036 h 43413"/>
              <a:gd name="connsiteX1" fmla="*/ 2196 w 43256"/>
              <a:gd name="connsiteY1" fmla="*/ 25239 h 43413"/>
              <a:gd name="connsiteX2" fmla="*/ 38360 w 43256"/>
              <a:gd name="connsiteY2" fmla="*/ 5285 h 43413"/>
              <a:gd name="connsiteX3" fmla="*/ 38436 w 43256"/>
              <a:gd name="connsiteY3" fmla="*/ 6549 h 43413"/>
              <a:gd name="connsiteX4" fmla="*/ 29114 w 43256"/>
              <a:gd name="connsiteY4" fmla="*/ 3811 h 43413"/>
              <a:gd name="connsiteX5" fmla="*/ 29856 w 43256"/>
              <a:gd name="connsiteY5" fmla="*/ 2199 h 43413"/>
              <a:gd name="connsiteX6" fmla="*/ 14036 w 43256"/>
              <a:gd name="connsiteY6" fmla="*/ 5051 h 43413"/>
              <a:gd name="connsiteX7" fmla="*/ 15336 w 43256"/>
              <a:gd name="connsiteY7" fmla="*/ 6399 h 43413"/>
              <a:gd name="connsiteX8" fmla="*/ 4163 w 43256"/>
              <a:gd name="connsiteY8" fmla="*/ 15648 h 43413"/>
              <a:gd name="connsiteX9" fmla="*/ 3936 w 43256"/>
              <a:gd name="connsiteY9" fmla="*/ 14229 h 43413"/>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6" fmla="*/ 4163 w 43256"/>
              <a:gd name="connsiteY6" fmla="*/ 15648 h 43413"/>
              <a:gd name="connsiteX7" fmla="*/ 3936 w 43256"/>
              <a:gd name="connsiteY7" fmla="*/ 14229 h 43413"/>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0" fmla="*/ 1979 w 43256"/>
              <a:gd name="connsiteY0" fmla="*/ 10838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1979 w 43256"/>
              <a:gd name="connsiteY21" fmla="*/ 10838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0" fmla="*/ 1979 w 47234"/>
              <a:gd name="connsiteY0" fmla="*/ 10838 h 43413"/>
              <a:gd name="connsiteX1" fmla="*/ 5659 w 47234"/>
              <a:gd name="connsiteY1" fmla="*/ 6766 h 43413"/>
              <a:gd name="connsiteX2" fmla="*/ 14041 w 47234"/>
              <a:gd name="connsiteY2" fmla="*/ 5061 h 43413"/>
              <a:gd name="connsiteX3" fmla="*/ 22492 w 47234"/>
              <a:gd name="connsiteY3" fmla="*/ 3291 h 43413"/>
              <a:gd name="connsiteX4" fmla="*/ 25785 w 47234"/>
              <a:gd name="connsiteY4" fmla="*/ 59 h 43413"/>
              <a:gd name="connsiteX5" fmla="*/ 29869 w 47234"/>
              <a:gd name="connsiteY5" fmla="*/ 2340 h 43413"/>
              <a:gd name="connsiteX6" fmla="*/ 35499 w 47234"/>
              <a:gd name="connsiteY6" fmla="*/ 549 h 43413"/>
              <a:gd name="connsiteX7" fmla="*/ 38354 w 47234"/>
              <a:gd name="connsiteY7" fmla="*/ 5435 h 43413"/>
              <a:gd name="connsiteX8" fmla="*/ 42018 w 47234"/>
              <a:gd name="connsiteY8" fmla="*/ 10177 h 43413"/>
              <a:gd name="connsiteX9" fmla="*/ 41854 w 47234"/>
              <a:gd name="connsiteY9" fmla="*/ 15319 h 43413"/>
              <a:gd name="connsiteX10" fmla="*/ 47196 w 47234"/>
              <a:gd name="connsiteY10" fmla="*/ 26180 h 43413"/>
              <a:gd name="connsiteX11" fmla="*/ 37440 w 47234"/>
              <a:gd name="connsiteY11" fmla="*/ 30063 h 43413"/>
              <a:gd name="connsiteX12" fmla="*/ 35431 w 47234"/>
              <a:gd name="connsiteY12" fmla="*/ 35960 h 43413"/>
              <a:gd name="connsiteX13" fmla="*/ 30088 w 47234"/>
              <a:gd name="connsiteY13" fmla="*/ 39412 h 43413"/>
              <a:gd name="connsiteX14" fmla="*/ 23703 w 47234"/>
              <a:gd name="connsiteY14" fmla="*/ 42965 h 43413"/>
              <a:gd name="connsiteX15" fmla="*/ 15710 w 47234"/>
              <a:gd name="connsiteY15" fmla="*/ 41211 h 43413"/>
              <a:gd name="connsiteX16" fmla="*/ 5840 w 47234"/>
              <a:gd name="connsiteY16" fmla="*/ 35331 h 43413"/>
              <a:gd name="connsiteX17" fmla="*/ 1146 w 47234"/>
              <a:gd name="connsiteY17" fmla="*/ 31109 h 43413"/>
              <a:gd name="connsiteX18" fmla="*/ 2149 w 47234"/>
              <a:gd name="connsiteY18" fmla="*/ 25410 h 43413"/>
              <a:gd name="connsiteX19" fmla="*/ 31 w 47234"/>
              <a:gd name="connsiteY19" fmla="*/ 19563 h 43413"/>
              <a:gd name="connsiteX20" fmla="*/ 3899 w 47234"/>
              <a:gd name="connsiteY20" fmla="*/ 14366 h 43413"/>
              <a:gd name="connsiteX21" fmla="*/ 1979 w 47234"/>
              <a:gd name="connsiteY21" fmla="*/ 10838 h 43413"/>
              <a:gd name="connsiteX0" fmla="*/ 38360 w 47234"/>
              <a:gd name="connsiteY0" fmla="*/ 5285 h 43413"/>
              <a:gd name="connsiteX1" fmla="*/ 38436 w 47234"/>
              <a:gd name="connsiteY1" fmla="*/ 6549 h 43413"/>
              <a:gd name="connsiteX2" fmla="*/ 29114 w 47234"/>
              <a:gd name="connsiteY2" fmla="*/ 3811 h 43413"/>
              <a:gd name="connsiteX3" fmla="*/ 29856 w 47234"/>
              <a:gd name="connsiteY3" fmla="*/ 2199 h 43413"/>
              <a:gd name="connsiteX4" fmla="*/ 14036 w 47234"/>
              <a:gd name="connsiteY4" fmla="*/ 5051 h 43413"/>
              <a:gd name="connsiteX5" fmla="*/ 15336 w 47234"/>
              <a:gd name="connsiteY5" fmla="*/ 6399 h 43413"/>
              <a:gd name="connsiteX0" fmla="*/ 1979 w 47197"/>
              <a:gd name="connsiteY0" fmla="*/ 10838 h 43413"/>
              <a:gd name="connsiteX1" fmla="*/ 5659 w 47197"/>
              <a:gd name="connsiteY1" fmla="*/ 6766 h 43413"/>
              <a:gd name="connsiteX2" fmla="*/ 14041 w 47197"/>
              <a:gd name="connsiteY2" fmla="*/ 5061 h 43413"/>
              <a:gd name="connsiteX3" fmla="*/ 22492 w 47197"/>
              <a:gd name="connsiteY3" fmla="*/ 3291 h 43413"/>
              <a:gd name="connsiteX4" fmla="*/ 25785 w 47197"/>
              <a:gd name="connsiteY4" fmla="*/ 59 h 43413"/>
              <a:gd name="connsiteX5" fmla="*/ 29869 w 47197"/>
              <a:gd name="connsiteY5" fmla="*/ 2340 h 43413"/>
              <a:gd name="connsiteX6" fmla="*/ 35499 w 47197"/>
              <a:gd name="connsiteY6" fmla="*/ 549 h 43413"/>
              <a:gd name="connsiteX7" fmla="*/ 38354 w 47197"/>
              <a:gd name="connsiteY7" fmla="*/ 5435 h 43413"/>
              <a:gd name="connsiteX8" fmla="*/ 42018 w 47197"/>
              <a:gd name="connsiteY8" fmla="*/ 10177 h 43413"/>
              <a:gd name="connsiteX9" fmla="*/ 41854 w 47197"/>
              <a:gd name="connsiteY9" fmla="*/ 15319 h 43413"/>
              <a:gd name="connsiteX10" fmla="*/ 47196 w 47197"/>
              <a:gd name="connsiteY10" fmla="*/ 26180 h 43413"/>
              <a:gd name="connsiteX11" fmla="*/ 41354 w 47197"/>
              <a:gd name="connsiteY11" fmla="*/ 34106 h 43413"/>
              <a:gd name="connsiteX12" fmla="*/ 35431 w 47197"/>
              <a:gd name="connsiteY12" fmla="*/ 35960 h 43413"/>
              <a:gd name="connsiteX13" fmla="*/ 30088 w 47197"/>
              <a:gd name="connsiteY13" fmla="*/ 39412 h 43413"/>
              <a:gd name="connsiteX14" fmla="*/ 23703 w 47197"/>
              <a:gd name="connsiteY14" fmla="*/ 42965 h 43413"/>
              <a:gd name="connsiteX15" fmla="*/ 15710 w 47197"/>
              <a:gd name="connsiteY15" fmla="*/ 41211 h 43413"/>
              <a:gd name="connsiteX16" fmla="*/ 5840 w 47197"/>
              <a:gd name="connsiteY16" fmla="*/ 35331 h 43413"/>
              <a:gd name="connsiteX17" fmla="*/ 1146 w 47197"/>
              <a:gd name="connsiteY17" fmla="*/ 31109 h 43413"/>
              <a:gd name="connsiteX18" fmla="*/ 2149 w 47197"/>
              <a:gd name="connsiteY18" fmla="*/ 25410 h 43413"/>
              <a:gd name="connsiteX19" fmla="*/ 31 w 47197"/>
              <a:gd name="connsiteY19" fmla="*/ 19563 h 43413"/>
              <a:gd name="connsiteX20" fmla="*/ 3899 w 47197"/>
              <a:gd name="connsiteY20" fmla="*/ 14366 h 43413"/>
              <a:gd name="connsiteX21" fmla="*/ 1979 w 47197"/>
              <a:gd name="connsiteY21" fmla="*/ 10838 h 43413"/>
              <a:gd name="connsiteX0" fmla="*/ 38360 w 47197"/>
              <a:gd name="connsiteY0" fmla="*/ 5285 h 43413"/>
              <a:gd name="connsiteX1" fmla="*/ 38436 w 47197"/>
              <a:gd name="connsiteY1" fmla="*/ 6549 h 43413"/>
              <a:gd name="connsiteX2" fmla="*/ 29114 w 47197"/>
              <a:gd name="connsiteY2" fmla="*/ 3811 h 43413"/>
              <a:gd name="connsiteX3" fmla="*/ 29856 w 47197"/>
              <a:gd name="connsiteY3" fmla="*/ 2199 h 43413"/>
              <a:gd name="connsiteX4" fmla="*/ 14036 w 47197"/>
              <a:gd name="connsiteY4" fmla="*/ 5051 h 43413"/>
              <a:gd name="connsiteX5" fmla="*/ 15336 w 47197"/>
              <a:gd name="connsiteY5" fmla="*/ 6399 h 4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 h="43413">
                <a:moveTo>
                  <a:pt x="1979" y="10838"/>
                </a:moveTo>
                <a:cubicBezTo>
                  <a:pt x="1708" y="8125"/>
                  <a:pt x="3649" y="7729"/>
                  <a:pt x="5659" y="6766"/>
                </a:cubicBezTo>
                <a:cubicBezTo>
                  <a:pt x="7669" y="5803"/>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7279" y="23049"/>
                  <a:pt x="47196" y="26180"/>
                </a:cubicBezTo>
                <a:cubicBezTo>
                  <a:pt x="47113" y="29311"/>
                  <a:pt x="44078" y="33576"/>
                  <a:pt x="41354" y="34106"/>
                </a:cubicBezTo>
                <a:cubicBezTo>
                  <a:pt x="41341" y="36373"/>
                  <a:pt x="37309" y="35076"/>
                  <a:pt x="35431" y="35960"/>
                </a:cubicBezTo>
                <a:cubicBezTo>
                  <a:pt x="33553" y="36844"/>
                  <a:pt x="32237" y="41236"/>
                  <a:pt x="30088" y="39412"/>
                </a:cubicBezTo>
                <a:cubicBezTo>
                  <a:pt x="29393" y="42545"/>
                  <a:pt x="26099" y="42665"/>
                  <a:pt x="23703" y="42965"/>
                </a:cubicBezTo>
                <a:cubicBezTo>
                  <a:pt x="21307" y="43265"/>
                  <a:pt x="17281" y="44418"/>
                  <a:pt x="15710" y="41211"/>
                </a:cubicBezTo>
                <a:cubicBezTo>
                  <a:pt x="12002" y="44255"/>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1967" y="10884"/>
                  <a:pt x="1979" y="10838"/>
                </a:cubicBezTo>
                <a:close/>
              </a:path>
              <a:path w="47197" h="43413" fill="none" extrusionOk="0">
                <a:moveTo>
                  <a:pt x="38360" y="5285"/>
                </a:moveTo>
                <a:cubicBezTo>
                  <a:pt x="38415" y="5702"/>
                  <a:pt x="38441" y="6125"/>
                  <a:pt x="38436" y="6549"/>
                </a:cubicBezTo>
                <a:moveTo>
                  <a:pt x="29114" y="3811"/>
                </a:moveTo>
                <a:cubicBezTo>
                  <a:pt x="29303" y="3228"/>
                  <a:pt x="29552" y="2685"/>
                  <a:pt x="29856" y="2199"/>
                </a:cubicBezTo>
                <a:moveTo>
                  <a:pt x="14036" y="5051"/>
                </a:moveTo>
                <a:cubicBezTo>
                  <a:pt x="14508" y="5427"/>
                  <a:pt x="14944" y="5880"/>
                  <a:pt x="15336" y="6399"/>
                </a:cubicBezTo>
              </a:path>
            </a:pathLst>
          </a:custGeom>
          <a:solidFill>
            <a:schemeClr val="accent4">
              <a:lumMod val="60000"/>
              <a:lumOff val="4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Isosceles Triangle 161"/>
          <p:cNvSpPr/>
          <p:nvPr/>
        </p:nvSpPr>
        <p:spPr>
          <a:xfrm>
            <a:off x="6075563" y="5888467"/>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3" name="Isosceles Triangle 162"/>
          <p:cNvSpPr/>
          <p:nvPr/>
        </p:nvSpPr>
        <p:spPr>
          <a:xfrm>
            <a:off x="6477538" y="5674461"/>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4" name="Isosceles Triangle 163"/>
          <p:cNvSpPr/>
          <p:nvPr/>
        </p:nvSpPr>
        <p:spPr>
          <a:xfrm>
            <a:off x="6794424" y="5906962"/>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5" name="Isosceles Triangle 164"/>
          <p:cNvSpPr/>
          <p:nvPr/>
        </p:nvSpPr>
        <p:spPr>
          <a:xfrm>
            <a:off x="6112183" y="6222049"/>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6" name="Isosceles Triangle 165"/>
          <p:cNvSpPr/>
          <p:nvPr/>
        </p:nvSpPr>
        <p:spPr>
          <a:xfrm>
            <a:off x="6137033" y="569810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7" name="Isosceles Triangle 166"/>
          <p:cNvSpPr/>
          <p:nvPr/>
        </p:nvSpPr>
        <p:spPr>
          <a:xfrm>
            <a:off x="6640289" y="615537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8" name="Isosceles Triangle 167"/>
          <p:cNvSpPr/>
          <p:nvPr/>
        </p:nvSpPr>
        <p:spPr>
          <a:xfrm>
            <a:off x="6527345" y="5973638"/>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Isosceles Triangle 168"/>
          <p:cNvSpPr/>
          <p:nvPr/>
        </p:nvSpPr>
        <p:spPr>
          <a:xfrm>
            <a:off x="6367543" y="628872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Isosceles Triangle 169"/>
          <p:cNvSpPr/>
          <p:nvPr/>
        </p:nvSpPr>
        <p:spPr>
          <a:xfrm>
            <a:off x="6677904" y="569450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 name="Isosceles Triangle 170"/>
          <p:cNvSpPr/>
          <p:nvPr/>
        </p:nvSpPr>
        <p:spPr>
          <a:xfrm>
            <a:off x="6175480" y="6055258"/>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Isosceles Triangle 171"/>
          <p:cNvSpPr/>
          <p:nvPr/>
        </p:nvSpPr>
        <p:spPr>
          <a:xfrm>
            <a:off x="6275763" y="592180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Isosceles Triangle 172"/>
          <p:cNvSpPr/>
          <p:nvPr/>
        </p:nvSpPr>
        <p:spPr>
          <a:xfrm>
            <a:off x="6380404" y="612193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Down Arrow 173"/>
          <p:cNvSpPr/>
          <p:nvPr/>
        </p:nvSpPr>
        <p:spPr>
          <a:xfrm rot="16200000">
            <a:off x="7371197" y="5620489"/>
            <a:ext cx="231775" cy="751611"/>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Curved Up Arrow 174"/>
          <p:cNvSpPr/>
          <p:nvPr/>
        </p:nvSpPr>
        <p:spPr>
          <a:xfrm rot="15900454">
            <a:off x="9787406" y="4010852"/>
            <a:ext cx="2994337" cy="1163607"/>
          </a:xfrm>
          <a:prstGeom prst="curvedUpArrow">
            <a:avLst>
              <a:gd name="adj1" fmla="val 10912"/>
              <a:gd name="adj2" fmla="val 28091"/>
              <a:gd name="adj3" fmla="val 31564"/>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6" name="TextBox 175">
            <a:extLst>
              <a:ext uri="{FF2B5EF4-FFF2-40B4-BE49-F238E27FC236}">
                <a16:creationId xmlns:a16="http://schemas.microsoft.com/office/drawing/2014/main" id="{F1135841-91AD-443B-B6D6-876E11FDBED3}"/>
              </a:ext>
            </a:extLst>
          </p:cNvPr>
          <p:cNvSpPr txBox="1"/>
          <p:nvPr/>
        </p:nvSpPr>
        <p:spPr>
          <a:xfrm>
            <a:off x="6867664" y="641779"/>
            <a:ext cx="1774815"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p(z) ~ Z</a:t>
            </a:r>
          </a:p>
          <a:p>
            <a:pPr algn="ctr"/>
            <a:r>
              <a:rPr lang="en-IN" dirty="0">
                <a:latin typeface="Times New Roman" panose="02020603050405020304" pitchFamily="18" charset="0"/>
                <a:cs typeface="Times New Roman" panose="02020603050405020304" pitchFamily="18" charset="0"/>
              </a:rPr>
              <a:t>Random noise</a:t>
            </a:r>
          </a:p>
        </p:txBody>
      </p:sp>
      <p:sp>
        <p:nvSpPr>
          <p:cNvPr id="177" name="TextBox 176">
            <a:extLst>
              <a:ext uri="{FF2B5EF4-FFF2-40B4-BE49-F238E27FC236}">
                <a16:creationId xmlns:a16="http://schemas.microsoft.com/office/drawing/2014/main" id="{27020F0A-48B8-4624-A1A5-6C5F2D84040A}"/>
              </a:ext>
            </a:extLst>
          </p:cNvPr>
          <p:cNvSpPr txBox="1"/>
          <p:nvPr/>
        </p:nvSpPr>
        <p:spPr>
          <a:xfrm rot="16200000">
            <a:off x="6383073" y="2593720"/>
            <a:ext cx="2033976"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Generative Model</a:t>
            </a:r>
          </a:p>
          <a:p>
            <a:pPr algn="ctr"/>
            <a:r>
              <a:rPr lang="en-IN" dirty="0">
                <a:latin typeface="Times New Roman" panose="02020603050405020304" pitchFamily="18" charset="0"/>
                <a:cs typeface="Times New Roman" panose="02020603050405020304" pitchFamily="18" charset="0"/>
              </a:rPr>
              <a:t>(Neural Net) G</a:t>
            </a:r>
          </a:p>
        </p:txBody>
      </p:sp>
      <p:sp>
        <p:nvSpPr>
          <p:cNvPr id="178" name="Left Brace 177"/>
          <p:cNvSpPr/>
          <p:nvPr/>
        </p:nvSpPr>
        <p:spPr>
          <a:xfrm>
            <a:off x="7760083" y="1648802"/>
            <a:ext cx="261032" cy="2378575"/>
          </a:xfrm>
          <a:prstGeom prst="leftBrac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9" name="TextBox 178">
            <a:extLst>
              <a:ext uri="{FF2B5EF4-FFF2-40B4-BE49-F238E27FC236}">
                <a16:creationId xmlns:a16="http://schemas.microsoft.com/office/drawing/2014/main" id="{43ACD3A4-4A08-4ACF-BFD5-8F3F96F4EA60}"/>
              </a:ext>
            </a:extLst>
          </p:cNvPr>
          <p:cNvSpPr txBox="1"/>
          <p:nvPr/>
        </p:nvSpPr>
        <p:spPr>
          <a:xfrm>
            <a:off x="6951900" y="4388070"/>
            <a:ext cx="1963855"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Generated data </a:t>
            </a:r>
          </a:p>
          <a:p>
            <a:pPr algn="ctr"/>
            <a:r>
              <a:rPr lang="en-IN" dirty="0">
                <a:latin typeface="Times New Roman" panose="02020603050405020304" pitchFamily="18" charset="0"/>
                <a:cs typeface="Times New Roman" panose="02020603050405020304" pitchFamily="18" charset="0"/>
              </a:rPr>
              <a:t>distribution </a:t>
            </a:r>
          </a:p>
          <a:p>
            <a:pPr algn="ctr"/>
            <a:r>
              <a:rPr lang="en-IN" dirty="0">
                <a:latin typeface="Times New Roman" panose="02020603050405020304" pitchFamily="18" charset="0"/>
                <a:cs typeface="Times New Roman" panose="02020603050405020304" pitchFamily="18" charset="0"/>
              </a:rPr>
              <a:t>D’=G(Z)=I’(x)</a:t>
            </a:r>
          </a:p>
        </p:txBody>
      </p:sp>
      <p:sp>
        <p:nvSpPr>
          <p:cNvPr id="180" name="TextBox 179">
            <a:extLst>
              <a:ext uri="{FF2B5EF4-FFF2-40B4-BE49-F238E27FC236}">
                <a16:creationId xmlns:a16="http://schemas.microsoft.com/office/drawing/2014/main" id="{9DBD2560-2866-45BE-9F86-DB1EE5AA861D}"/>
              </a:ext>
            </a:extLst>
          </p:cNvPr>
          <p:cNvSpPr txBox="1"/>
          <p:nvPr/>
        </p:nvSpPr>
        <p:spPr>
          <a:xfrm>
            <a:off x="3392600" y="5709068"/>
            <a:ext cx="2510618"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Real data distribution </a:t>
            </a:r>
          </a:p>
          <a:p>
            <a:pPr algn="ctr"/>
            <a:r>
              <a:rPr lang="en-IN" dirty="0">
                <a:latin typeface="Times New Roman" panose="02020603050405020304" pitchFamily="18" charset="0"/>
                <a:cs typeface="Times New Roman" panose="02020603050405020304" pitchFamily="18" charset="0"/>
              </a:rPr>
              <a:t>D=I(x)</a:t>
            </a:r>
          </a:p>
        </p:txBody>
      </p:sp>
      <mc:AlternateContent xmlns:mc="http://schemas.openxmlformats.org/markup-compatibility/2006" xmlns:a14="http://schemas.microsoft.com/office/drawing/2010/main">
        <mc:Choice Requires="a14">
          <p:sp>
            <p:nvSpPr>
              <p:cNvPr id="181" name="Text Placeholder 2">
                <a:extLst>
                  <a:ext uri="{FF2B5EF4-FFF2-40B4-BE49-F238E27FC236}">
                    <a16:creationId xmlns:a16="http://schemas.microsoft.com/office/drawing/2014/main" id="{A31DED5C-2A48-44DC-9D88-635B3ECA448A}"/>
                  </a:ext>
                </a:extLst>
              </p:cNvPr>
              <p:cNvSpPr txBox="1">
                <a:spLocks/>
              </p:cNvSpPr>
              <p:nvPr/>
            </p:nvSpPr>
            <p:spPr>
              <a:xfrm>
                <a:off x="343196" y="1385589"/>
                <a:ext cx="6586626" cy="3952754"/>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200" dirty="0">
                    <a:latin typeface="Arial Narrow" panose="020B0606020202030204" pitchFamily="34" charset="0"/>
                  </a:rPr>
                  <a:t>During training, the </a:t>
                </a:r>
                <a:r>
                  <a:rPr lang="en-US" sz="2200" dirty="0">
                    <a:solidFill>
                      <a:srgbClr val="7030A0"/>
                    </a:solidFill>
                    <a:latin typeface="Arial Narrow" panose="020B0606020202030204" pitchFamily="34" charset="0"/>
                  </a:rPr>
                  <a:t>model parameters are optimized </a:t>
                </a:r>
                <a:r>
                  <a:rPr lang="en-US" sz="2200" dirty="0">
                    <a:latin typeface="Arial Narrow" panose="020B0606020202030204" pitchFamily="34" charset="0"/>
                  </a:rPr>
                  <a:t>to minimize a suitable divergence or statistical distance between the </a:t>
                </a:r>
                <a:r>
                  <a:rPr lang="en-US" sz="2200" dirty="0">
                    <a:solidFill>
                      <a:srgbClr val="7030A0"/>
                    </a:solidFill>
                    <a:latin typeface="Arial Narrow" panose="020B0606020202030204" pitchFamily="34" charset="0"/>
                  </a:rPr>
                  <a:t>real-data distribution </a:t>
                </a:r>
                <a14:m>
                  <m:oMath xmlns:m="http://schemas.openxmlformats.org/officeDocument/2006/math">
                    <m:r>
                      <a:rPr lang="en-US" sz="2200" i="1" dirty="0" smtClean="0">
                        <a:solidFill>
                          <a:srgbClr val="00B0F0"/>
                        </a:solidFill>
                        <a:latin typeface="Cambria Math" panose="02040503050406030204" pitchFamily="18" charset="0"/>
                      </a:rPr>
                      <m:t>𝐷</m:t>
                    </m:r>
                  </m:oMath>
                </a14:m>
                <a:r>
                  <a:rPr lang="en-US" sz="2200" dirty="0">
                    <a:solidFill>
                      <a:srgbClr val="7030A0"/>
                    </a:solidFill>
                    <a:latin typeface="Arial Narrow" panose="020B0606020202030204" pitchFamily="34" charset="0"/>
                  </a:rPr>
                  <a:t> and the generated distribution </a:t>
                </a:r>
                <a14:m>
                  <m:oMath xmlns:m="http://schemas.openxmlformats.org/officeDocument/2006/math">
                    <m:r>
                      <a:rPr lang="en-US" sz="2200" i="1" dirty="0" smtClean="0">
                        <a:solidFill>
                          <a:srgbClr val="00B0F0"/>
                        </a:solidFill>
                        <a:latin typeface="Cambria Math" panose="02040503050406030204" pitchFamily="18" charset="0"/>
                      </a:rPr>
                      <m:t>𝐷</m:t>
                    </m:r>
                    <m:r>
                      <a:rPr lang="en-US" sz="2200" i="1" dirty="0" smtClean="0">
                        <a:solidFill>
                          <a:srgbClr val="00B0F0"/>
                        </a:solidFill>
                        <a:latin typeface="Cambria Math" panose="02040503050406030204" pitchFamily="18" charset="0"/>
                      </a:rPr>
                      <m:t>′</m:t>
                    </m:r>
                  </m:oMath>
                </a14:m>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Depending on the modeling framework, this discrepancy may be quantified using measures such as the </a:t>
                </a:r>
                <a:r>
                  <a:rPr lang="en-US" sz="2200" dirty="0">
                    <a:solidFill>
                      <a:srgbClr val="7030A0"/>
                    </a:solidFill>
                    <a:latin typeface="Arial Narrow" panose="020B0606020202030204" pitchFamily="34" charset="0"/>
                  </a:rPr>
                  <a:t>L1 or L2 distance, </a:t>
                </a:r>
                <a:r>
                  <a:rPr lang="en-US" sz="2200" dirty="0" err="1">
                    <a:solidFill>
                      <a:srgbClr val="7030A0"/>
                    </a:solidFill>
                    <a:latin typeface="Arial Narrow" panose="020B0606020202030204" pitchFamily="34" charset="0"/>
                  </a:rPr>
                  <a:t>Kullback</a:t>
                </a:r>
                <a:r>
                  <a:rPr lang="en-US" sz="2200" dirty="0">
                    <a:solidFill>
                      <a:srgbClr val="7030A0"/>
                    </a:solidFill>
                    <a:latin typeface="Arial Narrow" panose="020B0606020202030204" pitchFamily="34" charset="0"/>
                  </a:rPr>
                  <a:t>–</a:t>
                </a:r>
                <a:r>
                  <a:rPr lang="en-US" sz="2200" dirty="0" err="1">
                    <a:solidFill>
                      <a:srgbClr val="7030A0"/>
                    </a:solidFill>
                    <a:latin typeface="Arial Narrow" panose="020B0606020202030204" pitchFamily="34" charset="0"/>
                  </a:rPr>
                  <a:t>Leibler</a:t>
                </a:r>
                <a:r>
                  <a:rPr lang="en-US" sz="2200" dirty="0">
                    <a:solidFill>
                      <a:srgbClr val="7030A0"/>
                    </a:solidFill>
                    <a:latin typeface="Arial Narrow" panose="020B0606020202030204" pitchFamily="34" charset="0"/>
                  </a:rPr>
                  <a:t> divergence, Jensen–Shannon divergence, or other distributional distance measures</a:t>
                </a:r>
                <a:r>
                  <a:rPr lang="en-US" sz="2200" dirty="0">
                    <a:latin typeface="Arial Narrow" panose="020B0606020202030204" pitchFamily="34" charset="0"/>
                  </a:rPr>
                  <a:t>. </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As training progresses, the generator learns the </a:t>
                </a:r>
                <a:r>
                  <a:rPr lang="en-US" sz="2200" dirty="0">
                    <a:solidFill>
                      <a:srgbClr val="7030A0"/>
                    </a:solidFill>
                    <a:latin typeface="Arial Narrow" panose="020B0606020202030204" pitchFamily="34" charset="0"/>
                  </a:rPr>
                  <a:t>complex structural and statistical characteristics of the underlying data distribution</a:t>
                </a:r>
                <a:r>
                  <a:rPr lang="en-US" sz="2200" dirty="0">
                    <a:latin typeface="Arial Narrow" panose="020B0606020202030204" pitchFamily="34" charset="0"/>
                  </a:rPr>
                  <a:t>. </a:t>
                </a:r>
              </a:p>
              <a:p>
                <a:pPr algn="just"/>
                <a:endParaRPr lang="en-US" sz="2400" dirty="0">
                  <a:latin typeface="Arial Narrow" panose="020B0606020202030204" pitchFamily="34" charset="0"/>
                </a:endParaRPr>
              </a:p>
            </p:txBody>
          </p:sp>
        </mc:Choice>
        <mc:Fallback xmlns="">
          <p:sp>
            <p:nvSpPr>
              <p:cNvPr id="181" name="Text Placeholder 2">
                <a:extLst>
                  <a:ext uri="{FF2B5EF4-FFF2-40B4-BE49-F238E27FC236}">
                    <a16:creationId xmlns:a16="http://schemas.microsoft.com/office/drawing/2014/main" id="{A31DED5C-2A48-44DC-9D88-635B3ECA448A}"/>
                  </a:ext>
                </a:extLst>
              </p:cNvPr>
              <p:cNvSpPr txBox="1">
                <a:spLocks noRot="1" noChangeAspect="1" noMove="1" noResize="1" noEditPoints="1" noAdjustHandles="1" noChangeArrowheads="1" noChangeShapeType="1" noTextEdit="1"/>
              </p:cNvSpPr>
              <p:nvPr/>
            </p:nvSpPr>
            <p:spPr>
              <a:xfrm>
                <a:off x="343196" y="1385589"/>
                <a:ext cx="6586626" cy="3952754"/>
              </a:xfrm>
              <a:prstGeom prst="rect">
                <a:avLst/>
              </a:prstGeom>
              <a:blipFill>
                <a:blip r:embed="rId3"/>
                <a:stretch>
                  <a:fillRect l="-833" t="-1541" r="-925"/>
                </a:stretch>
              </a:blipFill>
            </p:spPr>
            <p:txBody>
              <a:bodyPr/>
              <a:lstStyle/>
              <a:p>
                <a:r>
                  <a:rPr lang="en-IN">
                    <a:noFill/>
                  </a:rPr>
                  <a:t> </a:t>
                </a:r>
              </a:p>
            </p:txBody>
          </p:sp>
        </mc:Fallback>
      </mc:AlternateContent>
      <p:sp>
        <p:nvSpPr>
          <p:cNvPr id="62" name="Title 3">
            <a:extLst>
              <a:ext uri="{FF2B5EF4-FFF2-40B4-BE49-F238E27FC236}">
                <a16:creationId xmlns:a16="http://schemas.microsoft.com/office/drawing/2014/main" id="{D5AC1F2D-44A3-49BA-8BD4-08359C850B80}"/>
              </a:ext>
            </a:extLst>
          </p:cNvPr>
          <p:cNvSpPr txBox="1">
            <a:spLocks/>
          </p:cNvSpPr>
          <p:nvPr/>
        </p:nvSpPr>
        <p:spPr>
          <a:xfrm>
            <a:off x="356028" y="513647"/>
            <a:ext cx="8229600" cy="57442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dirty="0">
                <a:latin typeface="Century" panose="02040604050505020304" pitchFamily="18" charset="0"/>
                <a:cs typeface="Times New Roman" panose="02020603050405020304" pitchFamily="18" charset="0"/>
              </a:rPr>
              <a:t>Generative Modelling</a:t>
            </a:r>
          </a:p>
        </p:txBody>
      </p:sp>
    </p:spTree>
    <p:extLst>
      <p:ext uri="{BB962C8B-B14F-4D97-AF65-F5344CB8AC3E}">
        <p14:creationId xmlns:p14="http://schemas.microsoft.com/office/powerpoint/2010/main" val="97217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EEDC6-FFD1-4A52-B7EB-6544A126F159}"/>
              </a:ext>
            </a:extLst>
          </p:cNvPr>
          <p:cNvSpPr>
            <a:spLocks noGrp="1"/>
          </p:cNvSpPr>
          <p:nvPr>
            <p:ph idx="1"/>
          </p:nvPr>
        </p:nvSpPr>
        <p:spPr>
          <a:xfrm>
            <a:off x="360145" y="1697288"/>
            <a:ext cx="5899974" cy="4351338"/>
          </a:xfrm>
        </p:spPr>
        <p:txBody>
          <a:bodyPr>
            <a:normAutofit/>
          </a:bodyPr>
          <a:lstStyle/>
          <a:p>
            <a:pPr algn="just"/>
            <a:r>
              <a:rPr lang="en-US" sz="2000" dirty="0">
                <a:latin typeface="Arial Narrow" panose="020B0606020202030204" pitchFamily="34" charset="0"/>
              </a:rPr>
              <a:t>Once adequately trained, the model can transform </a:t>
            </a:r>
            <a:r>
              <a:rPr lang="en-US" sz="2000" dirty="0">
                <a:solidFill>
                  <a:srgbClr val="7030A0"/>
                </a:solidFill>
                <a:latin typeface="Arial Narrow" panose="020B0606020202030204" pitchFamily="34" charset="0"/>
              </a:rPr>
              <a:t>previously unseen random noise vectors into novel synthetic samples that closely approximate the characteristics of the original dataset</a:t>
            </a:r>
            <a:r>
              <a:rPr lang="en-US" sz="2000" dirty="0">
                <a:latin typeface="Arial Narrow" panose="020B0606020202030204" pitchFamily="34" charset="0"/>
              </a:rPr>
              <a:t> while remaining distinct from the observed training samples.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Thus, generative modeling provides a powerful framework for </a:t>
            </a:r>
            <a:r>
              <a:rPr lang="en-US" sz="2000" dirty="0">
                <a:solidFill>
                  <a:srgbClr val="7030A0"/>
                </a:solidFill>
                <a:latin typeface="Arial Narrow" panose="020B0606020202030204" pitchFamily="34" charset="0"/>
              </a:rPr>
              <a:t>learning complex data distributions </a:t>
            </a:r>
            <a:r>
              <a:rPr lang="en-US" sz="2000" dirty="0">
                <a:latin typeface="Arial Narrow" panose="020B0606020202030204" pitchFamily="34" charset="0"/>
              </a:rPr>
              <a:t>and </a:t>
            </a:r>
            <a:r>
              <a:rPr lang="en-US" sz="2000" dirty="0">
                <a:solidFill>
                  <a:srgbClr val="7030A0"/>
                </a:solidFill>
                <a:latin typeface="Arial Narrow" panose="020B0606020202030204" pitchFamily="34" charset="0"/>
              </a:rPr>
              <a:t>generating realistic, diverse, and statistically representative synthetic data</a:t>
            </a:r>
            <a:r>
              <a:rPr lang="en-US" sz="2000" dirty="0">
                <a:latin typeface="Arial Narrow" panose="020B0606020202030204" pitchFamily="34" charset="0"/>
              </a:rPr>
              <a:t>.</a:t>
            </a:r>
            <a:endParaRPr lang="en-IN" sz="2000" dirty="0">
              <a:latin typeface="Arial Narrow" panose="020B0606020202030204" pitchFamily="34" charset="0"/>
              <a:cs typeface="Times New Roman" panose="02020603050405020304" pitchFamily="18" charset="0"/>
            </a:endParaRPr>
          </a:p>
        </p:txBody>
      </p:sp>
      <p:sp>
        <p:nvSpPr>
          <p:cNvPr id="4" name="Cloud 129">
            <a:extLst>
              <a:ext uri="{FF2B5EF4-FFF2-40B4-BE49-F238E27FC236}">
                <a16:creationId xmlns:a16="http://schemas.microsoft.com/office/drawing/2014/main" id="{8A4BFE88-4142-4C60-BCBC-3A9E6E070C31}"/>
              </a:ext>
            </a:extLst>
          </p:cNvPr>
          <p:cNvSpPr/>
          <p:nvPr/>
        </p:nvSpPr>
        <p:spPr>
          <a:xfrm>
            <a:off x="8691993" y="4272605"/>
            <a:ext cx="1193036" cy="1052265"/>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8446 w 43256"/>
              <a:gd name="connsiteY3" fmla="*/ 33281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16514 w 43256"/>
              <a:gd name="connsiteY2" fmla="*/ 38949 h 43219"/>
              <a:gd name="connsiteX3" fmla="*/ 15846 w 43256"/>
              <a:gd name="connsiteY3" fmla="*/ 37209 h 43219"/>
              <a:gd name="connsiteX4" fmla="*/ 28863 w 43256"/>
              <a:gd name="connsiteY4" fmla="*/ 34610 h 43219"/>
              <a:gd name="connsiteX5" fmla="*/ 28596 w 43256"/>
              <a:gd name="connsiteY5" fmla="*/ 36519 h 43219"/>
              <a:gd name="connsiteX6" fmla="*/ 34165 w 43256"/>
              <a:gd name="connsiteY6" fmla="*/ 22813 h 43219"/>
              <a:gd name="connsiteX7" fmla="*/ 37416 w 43256"/>
              <a:gd name="connsiteY7" fmla="*/ 2994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29114 w 43256"/>
              <a:gd name="connsiteY12" fmla="*/ 3811 h 43219"/>
              <a:gd name="connsiteX13" fmla="*/ 29856 w 43256"/>
              <a:gd name="connsiteY13" fmla="*/ 219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4165 w 43256"/>
              <a:gd name="connsiteY4" fmla="*/ 22813 h 43219"/>
              <a:gd name="connsiteX5" fmla="*/ 37416 w 43256"/>
              <a:gd name="connsiteY5" fmla="*/ 29949 h 43219"/>
              <a:gd name="connsiteX6" fmla="*/ 41834 w 43256"/>
              <a:gd name="connsiteY6" fmla="*/ 15213 h 43219"/>
              <a:gd name="connsiteX7" fmla="*/ 40386 w 43256"/>
              <a:gd name="connsiteY7" fmla="*/ 17889 h 43219"/>
              <a:gd name="connsiteX8" fmla="*/ 38360 w 43256"/>
              <a:gd name="connsiteY8" fmla="*/ 5285 h 43219"/>
              <a:gd name="connsiteX9" fmla="*/ 38436 w 43256"/>
              <a:gd name="connsiteY9" fmla="*/ 6549 h 43219"/>
              <a:gd name="connsiteX10" fmla="*/ 29114 w 43256"/>
              <a:gd name="connsiteY10" fmla="*/ 3811 h 43219"/>
              <a:gd name="connsiteX11" fmla="*/ 29856 w 43256"/>
              <a:gd name="connsiteY11" fmla="*/ 2199 h 43219"/>
              <a:gd name="connsiteX12" fmla="*/ 22177 w 43256"/>
              <a:gd name="connsiteY12" fmla="*/ 4579 h 43219"/>
              <a:gd name="connsiteX13" fmla="*/ 22536 w 43256"/>
              <a:gd name="connsiteY13" fmla="*/ 318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41834 w 43256"/>
              <a:gd name="connsiteY4" fmla="*/ 15213 h 43219"/>
              <a:gd name="connsiteX5" fmla="*/ 40386 w 43256"/>
              <a:gd name="connsiteY5" fmla="*/ 17889 h 43219"/>
              <a:gd name="connsiteX6" fmla="*/ 38360 w 43256"/>
              <a:gd name="connsiteY6" fmla="*/ 5285 h 43219"/>
              <a:gd name="connsiteX7" fmla="*/ 38436 w 43256"/>
              <a:gd name="connsiteY7" fmla="*/ 6549 h 43219"/>
              <a:gd name="connsiteX8" fmla="*/ 29114 w 43256"/>
              <a:gd name="connsiteY8" fmla="*/ 3811 h 43219"/>
              <a:gd name="connsiteX9" fmla="*/ 29856 w 43256"/>
              <a:gd name="connsiteY9" fmla="*/ 2199 h 43219"/>
              <a:gd name="connsiteX10" fmla="*/ 22177 w 43256"/>
              <a:gd name="connsiteY10" fmla="*/ 4579 h 43219"/>
              <a:gd name="connsiteX11" fmla="*/ 22536 w 43256"/>
              <a:gd name="connsiteY11" fmla="*/ 3189 h 43219"/>
              <a:gd name="connsiteX12" fmla="*/ 14036 w 43256"/>
              <a:gd name="connsiteY12" fmla="*/ 5051 h 43219"/>
              <a:gd name="connsiteX13" fmla="*/ 15336 w 43256"/>
              <a:gd name="connsiteY13" fmla="*/ 639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22177 w 43256"/>
              <a:gd name="connsiteY8" fmla="*/ 4579 h 43219"/>
              <a:gd name="connsiteX9" fmla="*/ 22536 w 43256"/>
              <a:gd name="connsiteY9" fmla="*/ 3189 h 43219"/>
              <a:gd name="connsiteX10" fmla="*/ 14036 w 43256"/>
              <a:gd name="connsiteY10" fmla="*/ 5051 h 43219"/>
              <a:gd name="connsiteX11" fmla="*/ 15336 w 43256"/>
              <a:gd name="connsiteY11" fmla="*/ 639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14036 w 43256"/>
              <a:gd name="connsiteY8" fmla="*/ 5051 h 43219"/>
              <a:gd name="connsiteX9" fmla="*/ 15336 w 43256"/>
              <a:gd name="connsiteY9" fmla="*/ 6399 h 43219"/>
              <a:gd name="connsiteX10" fmla="*/ 4163 w 43256"/>
              <a:gd name="connsiteY10" fmla="*/ 15648 h 43219"/>
              <a:gd name="connsiteX11" fmla="*/ 3936 w 43256"/>
              <a:gd name="connsiteY11" fmla="*/ 14229 h 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4729" y="26036"/>
                </a:moveTo>
                <a:cubicBezTo>
                  <a:pt x="3845" y="26130"/>
                  <a:pt x="2961" y="25852"/>
                  <a:pt x="2196" y="25239"/>
                </a:cubicBezTo>
                <a:moveTo>
                  <a:pt x="28863" y="34610"/>
                </a:moveTo>
                <a:cubicBezTo>
                  <a:pt x="28824" y="35257"/>
                  <a:pt x="28734" y="35897"/>
                  <a:pt x="28596" y="36519"/>
                </a:cubicBezTo>
                <a:moveTo>
                  <a:pt x="38360" y="5285"/>
                </a:moveTo>
                <a:cubicBezTo>
                  <a:pt x="38415" y="5702"/>
                  <a:pt x="38441" y="6125"/>
                  <a:pt x="38436" y="6549"/>
                </a:cubicBezTo>
                <a:moveTo>
                  <a:pt x="29114" y="3811"/>
                </a:moveTo>
                <a:cubicBezTo>
                  <a:pt x="29303" y="3228"/>
                  <a:pt x="29552" y="2685"/>
                  <a:pt x="29856" y="2199"/>
                </a:cubicBezTo>
                <a:moveTo>
                  <a:pt x="14036" y="5051"/>
                </a:moveTo>
                <a:cubicBezTo>
                  <a:pt x="14508" y="5427"/>
                  <a:pt x="14944" y="5880"/>
                  <a:pt x="15336" y="6399"/>
                </a:cubicBezTo>
                <a:moveTo>
                  <a:pt x="4163" y="15648"/>
                </a:moveTo>
                <a:cubicBezTo>
                  <a:pt x="4060" y="15184"/>
                  <a:pt x="3984" y="14710"/>
                  <a:pt x="3936" y="14229"/>
                </a:cubicBezTo>
              </a:path>
            </a:pathLst>
          </a:cu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ounded Rectangle 123">
            <a:extLst>
              <a:ext uri="{FF2B5EF4-FFF2-40B4-BE49-F238E27FC236}">
                <a16:creationId xmlns:a16="http://schemas.microsoft.com/office/drawing/2014/main" id="{C1872D98-FBD0-425A-8D30-BD43200BEF4C}"/>
              </a:ext>
            </a:extLst>
          </p:cNvPr>
          <p:cNvSpPr/>
          <p:nvPr/>
        </p:nvSpPr>
        <p:spPr>
          <a:xfrm>
            <a:off x="8131347" y="1713134"/>
            <a:ext cx="2231232" cy="554832"/>
          </a:xfrm>
          <a:prstGeom prst="roundRect">
            <a:avLst/>
          </a:prstGeom>
          <a:solidFill>
            <a:schemeClr val="accent2">
              <a:lumMod val="40000"/>
              <a:lumOff val="6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A87E7556-83E0-4B8C-BE08-7F9329EF077A}"/>
              </a:ext>
            </a:extLst>
          </p:cNvPr>
          <p:cNvPicPr>
            <a:picLocks noChangeAspect="1"/>
          </p:cNvPicPr>
          <p:nvPr/>
        </p:nvPicPr>
        <p:blipFill>
          <a:blip r:embed="rId2"/>
          <a:stretch>
            <a:fillRect/>
          </a:stretch>
        </p:blipFill>
        <p:spPr>
          <a:xfrm>
            <a:off x="8589189" y="374739"/>
            <a:ext cx="1368866" cy="1010850"/>
          </a:xfrm>
          <a:prstGeom prst="rect">
            <a:avLst/>
          </a:prstGeom>
        </p:spPr>
      </p:pic>
      <p:sp>
        <p:nvSpPr>
          <p:cNvPr id="7" name="Oval 6">
            <a:extLst>
              <a:ext uri="{FF2B5EF4-FFF2-40B4-BE49-F238E27FC236}">
                <a16:creationId xmlns:a16="http://schemas.microsoft.com/office/drawing/2014/main" id="{EB7CC911-87EB-4867-84F6-0B4558EC71BD}"/>
              </a:ext>
            </a:extLst>
          </p:cNvPr>
          <p:cNvSpPr/>
          <p:nvPr/>
        </p:nvSpPr>
        <p:spPr>
          <a:xfrm>
            <a:off x="9390306" y="1880714"/>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581E65D0-19D3-4A2E-8310-335188FAF8DB}"/>
              </a:ext>
            </a:extLst>
          </p:cNvPr>
          <p:cNvSpPr/>
          <p:nvPr/>
        </p:nvSpPr>
        <p:spPr>
          <a:xfrm>
            <a:off x="9928628" y="1874149"/>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D404D4A8-93F6-449F-B528-F61D46D94542}"/>
              </a:ext>
            </a:extLst>
          </p:cNvPr>
          <p:cNvSpPr/>
          <p:nvPr/>
        </p:nvSpPr>
        <p:spPr>
          <a:xfrm>
            <a:off x="8325051" y="1874149"/>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1161C21-C741-4E42-BF89-66F837D052AB}"/>
              </a:ext>
            </a:extLst>
          </p:cNvPr>
          <p:cNvSpPr/>
          <p:nvPr/>
        </p:nvSpPr>
        <p:spPr>
          <a:xfrm>
            <a:off x="8857810" y="1876907"/>
            <a:ext cx="304392" cy="21537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ounded Rectangle 129">
            <a:extLst>
              <a:ext uri="{FF2B5EF4-FFF2-40B4-BE49-F238E27FC236}">
                <a16:creationId xmlns:a16="http://schemas.microsoft.com/office/drawing/2014/main" id="{3861347C-6B9C-40FA-B6AD-C0948014AB42}"/>
              </a:ext>
            </a:extLst>
          </p:cNvPr>
          <p:cNvSpPr/>
          <p:nvPr/>
        </p:nvSpPr>
        <p:spPr>
          <a:xfrm>
            <a:off x="8131347" y="2540495"/>
            <a:ext cx="2231232" cy="554832"/>
          </a:xfrm>
          <a:prstGeom prst="roundRect">
            <a:avLst/>
          </a:prstGeom>
          <a:solidFill>
            <a:srgbClr val="FF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7EB9B09-DBE2-4FA0-9F90-1B87FFA8748B}"/>
              </a:ext>
            </a:extLst>
          </p:cNvPr>
          <p:cNvSpPr/>
          <p:nvPr/>
        </p:nvSpPr>
        <p:spPr>
          <a:xfrm>
            <a:off x="9390306" y="2708075"/>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7151EAB0-547A-4551-9DBD-442E32BCE0F9}"/>
              </a:ext>
            </a:extLst>
          </p:cNvPr>
          <p:cNvSpPr/>
          <p:nvPr/>
        </p:nvSpPr>
        <p:spPr>
          <a:xfrm>
            <a:off x="9928628" y="2701510"/>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49265E73-6AFB-4B38-B47F-4465345C88D0}"/>
              </a:ext>
            </a:extLst>
          </p:cNvPr>
          <p:cNvSpPr/>
          <p:nvPr/>
        </p:nvSpPr>
        <p:spPr>
          <a:xfrm>
            <a:off x="8325051" y="2701510"/>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7AB532D3-01B4-403F-AD1D-47130054A7B7}"/>
              </a:ext>
            </a:extLst>
          </p:cNvPr>
          <p:cNvSpPr/>
          <p:nvPr/>
        </p:nvSpPr>
        <p:spPr>
          <a:xfrm>
            <a:off x="8857810" y="2704268"/>
            <a:ext cx="304392" cy="215376"/>
          </a:xfrm>
          <a:prstGeom prst="ellips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ounded Rectangle 134">
            <a:extLst>
              <a:ext uri="{FF2B5EF4-FFF2-40B4-BE49-F238E27FC236}">
                <a16:creationId xmlns:a16="http://schemas.microsoft.com/office/drawing/2014/main" id="{5CFA6DCF-F56E-4F2E-A683-D61BF88AC8FF}"/>
              </a:ext>
            </a:extLst>
          </p:cNvPr>
          <p:cNvSpPr/>
          <p:nvPr/>
        </p:nvSpPr>
        <p:spPr>
          <a:xfrm>
            <a:off x="8131347" y="3425022"/>
            <a:ext cx="2231232" cy="554832"/>
          </a:xfrm>
          <a:prstGeom prst="roundRect">
            <a:avLst/>
          </a:prstGeom>
          <a:solidFill>
            <a:srgbClr val="00B05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CDA5971-75AD-4054-8AED-13F03A2A7835}"/>
              </a:ext>
            </a:extLst>
          </p:cNvPr>
          <p:cNvSpPr/>
          <p:nvPr/>
        </p:nvSpPr>
        <p:spPr>
          <a:xfrm>
            <a:off x="9390306" y="3592602"/>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07CDC38E-CF3C-4948-BE10-5389511573A7}"/>
              </a:ext>
            </a:extLst>
          </p:cNvPr>
          <p:cNvSpPr/>
          <p:nvPr/>
        </p:nvSpPr>
        <p:spPr>
          <a:xfrm>
            <a:off x="9885029" y="3586037"/>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3F391DBF-204B-4A26-9D8F-AA61AD3FA45B}"/>
              </a:ext>
            </a:extLst>
          </p:cNvPr>
          <p:cNvSpPr/>
          <p:nvPr/>
        </p:nvSpPr>
        <p:spPr>
          <a:xfrm>
            <a:off x="8325051" y="3586037"/>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DA05FB7E-F704-4F90-9D5D-653A093BB5EE}"/>
              </a:ext>
            </a:extLst>
          </p:cNvPr>
          <p:cNvSpPr/>
          <p:nvPr/>
        </p:nvSpPr>
        <p:spPr>
          <a:xfrm>
            <a:off x="8857810" y="3588795"/>
            <a:ext cx="304392" cy="215376"/>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3E377C30-0928-42CA-8F4D-1A31812CEB1A}"/>
              </a:ext>
            </a:extLst>
          </p:cNvPr>
          <p:cNvCxnSpPr>
            <a:stCxn id="5" idx="2"/>
            <a:endCxn id="11" idx="0"/>
          </p:cNvCxnSpPr>
          <p:nvPr/>
        </p:nvCxnSpPr>
        <p:spPr>
          <a:xfrm>
            <a:off x="9246963" y="2267966"/>
            <a:ext cx="0" cy="272529"/>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2E3B140-9327-4584-945D-6C8ED6328CFC}"/>
              </a:ext>
            </a:extLst>
          </p:cNvPr>
          <p:cNvCxnSpPr/>
          <p:nvPr/>
        </p:nvCxnSpPr>
        <p:spPr>
          <a:xfrm>
            <a:off x="8467478" y="2265424"/>
            <a:ext cx="0" cy="269721"/>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EBE7191-3E00-4E3D-99D6-CA70711F1510}"/>
              </a:ext>
            </a:extLst>
          </p:cNvPr>
          <p:cNvCxnSpPr/>
          <p:nvPr/>
        </p:nvCxnSpPr>
        <p:spPr>
          <a:xfrm>
            <a:off x="10045198" y="2260075"/>
            <a:ext cx="0" cy="280420"/>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020E563-7C5E-44B4-B1E9-CFA9CE4164F6}"/>
              </a:ext>
            </a:extLst>
          </p:cNvPr>
          <p:cNvCxnSpPr/>
          <p:nvPr/>
        </p:nvCxnSpPr>
        <p:spPr>
          <a:xfrm flipH="1">
            <a:off x="8467478" y="3095327"/>
            <a:ext cx="1"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806B2EF-FB57-440B-A69D-73D590812DAB}"/>
              </a:ext>
            </a:extLst>
          </p:cNvPr>
          <p:cNvCxnSpPr>
            <a:stCxn id="11" idx="2"/>
            <a:endCxn id="16" idx="0"/>
          </p:cNvCxnSpPr>
          <p:nvPr/>
        </p:nvCxnSpPr>
        <p:spPr>
          <a:xfrm>
            <a:off x="9246963" y="3095327"/>
            <a:ext cx="0"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16CF719-A93C-433A-804D-E9478E8AE047}"/>
              </a:ext>
            </a:extLst>
          </p:cNvPr>
          <p:cNvCxnSpPr/>
          <p:nvPr/>
        </p:nvCxnSpPr>
        <p:spPr>
          <a:xfrm>
            <a:off x="10045198" y="3095327"/>
            <a:ext cx="0" cy="329695"/>
          </a:xfrm>
          <a:prstGeom prst="straightConnector1">
            <a:avLst/>
          </a:prstGeom>
          <a:ln w="158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Down Arrow 145">
            <a:extLst>
              <a:ext uri="{FF2B5EF4-FFF2-40B4-BE49-F238E27FC236}">
                <a16:creationId xmlns:a16="http://schemas.microsoft.com/office/drawing/2014/main" id="{FB0D513D-F6A7-41C7-884D-27276CAC38B4}"/>
              </a:ext>
            </a:extLst>
          </p:cNvPr>
          <p:cNvSpPr/>
          <p:nvPr/>
        </p:nvSpPr>
        <p:spPr>
          <a:xfrm>
            <a:off x="9131076" y="1382963"/>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Down Arrow 146">
            <a:extLst>
              <a:ext uri="{FF2B5EF4-FFF2-40B4-BE49-F238E27FC236}">
                <a16:creationId xmlns:a16="http://schemas.microsoft.com/office/drawing/2014/main" id="{AC5BDD90-5094-4D47-9E71-87772B63FAD3}"/>
              </a:ext>
            </a:extLst>
          </p:cNvPr>
          <p:cNvSpPr/>
          <p:nvPr/>
        </p:nvSpPr>
        <p:spPr>
          <a:xfrm>
            <a:off x="9131075" y="3995224"/>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Isosceles Triangle 28">
            <a:extLst>
              <a:ext uri="{FF2B5EF4-FFF2-40B4-BE49-F238E27FC236}">
                <a16:creationId xmlns:a16="http://schemas.microsoft.com/office/drawing/2014/main" id="{DB621431-AE85-4EC0-9028-0911E4D57660}"/>
              </a:ext>
            </a:extLst>
          </p:cNvPr>
          <p:cNvSpPr/>
          <p:nvPr/>
        </p:nvSpPr>
        <p:spPr>
          <a:xfrm>
            <a:off x="8959911" y="4682590"/>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Isosceles Triangle 29">
            <a:extLst>
              <a:ext uri="{FF2B5EF4-FFF2-40B4-BE49-F238E27FC236}">
                <a16:creationId xmlns:a16="http://schemas.microsoft.com/office/drawing/2014/main" id="{DCACC400-ED21-49DF-9073-35798E4DC3B8}"/>
              </a:ext>
            </a:extLst>
          </p:cNvPr>
          <p:cNvSpPr/>
          <p:nvPr/>
        </p:nvSpPr>
        <p:spPr>
          <a:xfrm>
            <a:off x="9313268" y="4511459"/>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Isosceles Triangle 30">
            <a:extLst>
              <a:ext uri="{FF2B5EF4-FFF2-40B4-BE49-F238E27FC236}">
                <a16:creationId xmlns:a16="http://schemas.microsoft.com/office/drawing/2014/main" id="{865D8EE9-77A1-4633-9C0D-7D4C6B06B047}"/>
              </a:ext>
            </a:extLst>
          </p:cNvPr>
          <p:cNvSpPr/>
          <p:nvPr/>
        </p:nvSpPr>
        <p:spPr>
          <a:xfrm>
            <a:off x="9734427" y="4630202"/>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Isosceles Triangle 31">
            <a:extLst>
              <a:ext uri="{FF2B5EF4-FFF2-40B4-BE49-F238E27FC236}">
                <a16:creationId xmlns:a16="http://schemas.microsoft.com/office/drawing/2014/main" id="{2B86BAED-8309-4C34-978D-D1B4EB061D7B}"/>
              </a:ext>
            </a:extLst>
          </p:cNvPr>
          <p:cNvSpPr/>
          <p:nvPr/>
        </p:nvSpPr>
        <p:spPr>
          <a:xfrm>
            <a:off x="8996531" y="5016172"/>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Isosceles Triangle 32">
            <a:extLst>
              <a:ext uri="{FF2B5EF4-FFF2-40B4-BE49-F238E27FC236}">
                <a16:creationId xmlns:a16="http://schemas.microsoft.com/office/drawing/2014/main" id="{C95E18CD-5E3A-4A76-A0C4-BFB3DCBDDDBA}"/>
              </a:ext>
            </a:extLst>
          </p:cNvPr>
          <p:cNvSpPr/>
          <p:nvPr/>
        </p:nvSpPr>
        <p:spPr>
          <a:xfrm>
            <a:off x="9100612" y="4503996"/>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Isosceles Triangle 33">
            <a:extLst>
              <a:ext uri="{FF2B5EF4-FFF2-40B4-BE49-F238E27FC236}">
                <a16:creationId xmlns:a16="http://schemas.microsoft.com/office/drawing/2014/main" id="{1B965774-B925-4900-8B84-F708DA61BF06}"/>
              </a:ext>
            </a:extLst>
          </p:cNvPr>
          <p:cNvSpPr/>
          <p:nvPr/>
        </p:nvSpPr>
        <p:spPr>
          <a:xfrm>
            <a:off x="9419201" y="4949497"/>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Isosceles Triangle 34">
            <a:extLst>
              <a:ext uri="{FF2B5EF4-FFF2-40B4-BE49-F238E27FC236}">
                <a16:creationId xmlns:a16="http://schemas.microsoft.com/office/drawing/2014/main" id="{C40A99FA-0138-4014-91DA-7BD5D2AA05B5}"/>
              </a:ext>
            </a:extLst>
          </p:cNvPr>
          <p:cNvSpPr/>
          <p:nvPr/>
        </p:nvSpPr>
        <p:spPr>
          <a:xfrm>
            <a:off x="9465668" y="4663859"/>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Isosceles Triangle 35">
            <a:extLst>
              <a:ext uri="{FF2B5EF4-FFF2-40B4-BE49-F238E27FC236}">
                <a16:creationId xmlns:a16="http://schemas.microsoft.com/office/drawing/2014/main" id="{84BBB0C8-7F0A-4C5D-B1E2-580750803C60}"/>
              </a:ext>
            </a:extLst>
          </p:cNvPr>
          <p:cNvSpPr/>
          <p:nvPr/>
        </p:nvSpPr>
        <p:spPr>
          <a:xfrm>
            <a:off x="9251891" y="5082847"/>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Isosceles Triangle 36">
            <a:extLst>
              <a:ext uri="{FF2B5EF4-FFF2-40B4-BE49-F238E27FC236}">
                <a16:creationId xmlns:a16="http://schemas.microsoft.com/office/drawing/2014/main" id="{EEB823A2-8738-4A55-A4AC-FCFEC6BC3CDF}"/>
              </a:ext>
            </a:extLst>
          </p:cNvPr>
          <p:cNvSpPr/>
          <p:nvPr/>
        </p:nvSpPr>
        <p:spPr>
          <a:xfrm>
            <a:off x="9562252" y="4488626"/>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Isosceles Triangle 37">
            <a:extLst>
              <a:ext uri="{FF2B5EF4-FFF2-40B4-BE49-F238E27FC236}">
                <a16:creationId xmlns:a16="http://schemas.microsoft.com/office/drawing/2014/main" id="{CC907F52-D08F-46DB-834A-9202532C1B0A}"/>
              </a:ext>
            </a:extLst>
          </p:cNvPr>
          <p:cNvSpPr/>
          <p:nvPr/>
        </p:nvSpPr>
        <p:spPr>
          <a:xfrm>
            <a:off x="9111274" y="4857494"/>
            <a:ext cx="73240" cy="66675"/>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6C4477B0-58F1-40DD-9CED-C4797167BA22}"/>
              </a:ext>
            </a:extLst>
          </p:cNvPr>
          <p:cNvSpPr txBox="1"/>
          <p:nvPr/>
        </p:nvSpPr>
        <p:spPr>
          <a:xfrm>
            <a:off x="7890599" y="5677393"/>
            <a:ext cx="2869064" cy="584775"/>
          </a:xfrm>
          <a:prstGeom prst="rect">
            <a:avLst/>
          </a:prstGeom>
          <a:solidFill>
            <a:schemeClr val="accent6">
              <a:lumMod val="60000"/>
              <a:lumOff val="40000"/>
            </a:schemeClr>
          </a:solidFill>
          <a:ln w="25400">
            <a:noFill/>
          </a:ln>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Loss (Statistical Distance between D and D’ distributions)</a:t>
            </a:r>
          </a:p>
        </p:txBody>
      </p:sp>
      <p:sp>
        <p:nvSpPr>
          <p:cNvPr id="40" name="Down Arrow 159">
            <a:extLst>
              <a:ext uri="{FF2B5EF4-FFF2-40B4-BE49-F238E27FC236}">
                <a16:creationId xmlns:a16="http://schemas.microsoft.com/office/drawing/2014/main" id="{6741E9FE-6F99-4ECF-8818-34CB8376EE66}"/>
              </a:ext>
            </a:extLst>
          </p:cNvPr>
          <p:cNvSpPr/>
          <p:nvPr/>
        </p:nvSpPr>
        <p:spPr>
          <a:xfrm>
            <a:off x="9131075" y="5343969"/>
            <a:ext cx="231775" cy="314325"/>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Cloud 129">
            <a:extLst>
              <a:ext uri="{FF2B5EF4-FFF2-40B4-BE49-F238E27FC236}">
                <a16:creationId xmlns:a16="http://schemas.microsoft.com/office/drawing/2014/main" id="{D5583707-B855-4D32-8ECF-A9FE82573B2C}"/>
              </a:ext>
            </a:extLst>
          </p:cNvPr>
          <p:cNvSpPr/>
          <p:nvPr/>
        </p:nvSpPr>
        <p:spPr>
          <a:xfrm>
            <a:off x="5753296" y="5445143"/>
            <a:ext cx="1301733" cy="1056989"/>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8446 w 43256"/>
              <a:gd name="connsiteY3" fmla="*/ 33281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9114 w 43256"/>
              <a:gd name="connsiteY14" fmla="*/ 3811 h 43219"/>
              <a:gd name="connsiteX15" fmla="*/ 29856 w 43256"/>
              <a:gd name="connsiteY15" fmla="*/ 2199 h 43219"/>
              <a:gd name="connsiteX16" fmla="*/ 22177 w 43256"/>
              <a:gd name="connsiteY16" fmla="*/ 4579 h 43219"/>
              <a:gd name="connsiteX17" fmla="*/ 22536 w 43256"/>
              <a:gd name="connsiteY17" fmla="*/ 3189 h 43219"/>
              <a:gd name="connsiteX18" fmla="*/ 14036 w 43256"/>
              <a:gd name="connsiteY18" fmla="*/ 5051 h 43219"/>
              <a:gd name="connsiteX19" fmla="*/ 15336 w 43256"/>
              <a:gd name="connsiteY19" fmla="*/ 6399 h 43219"/>
              <a:gd name="connsiteX20" fmla="*/ 4163 w 43256"/>
              <a:gd name="connsiteY20" fmla="*/ 15648 h 43219"/>
              <a:gd name="connsiteX21" fmla="*/ 3936 w 43256"/>
              <a:gd name="connsiteY2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16514 w 43256"/>
              <a:gd name="connsiteY2" fmla="*/ 38949 h 43219"/>
              <a:gd name="connsiteX3" fmla="*/ 15846 w 43256"/>
              <a:gd name="connsiteY3" fmla="*/ 37209 h 43219"/>
              <a:gd name="connsiteX4" fmla="*/ 28863 w 43256"/>
              <a:gd name="connsiteY4" fmla="*/ 34610 h 43219"/>
              <a:gd name="connsiteX5" fmla="*/ 28596 w 43256"/>
              <a:gd name="connsiteY5" fmla="*/ 36519 h 43219"/>
              <a:gd name="connsiteX6" fmla="*/ 34165 w 43256"/>
              <a:gd name="connsiteY6" fmla="*/ 22813 h 43219"/>
              <a:gd name="connsiteX7" fmla="*/ 37416 w 43256"/>
              <a:gd name="connsiteY7" fmla="*/ 2994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29114 w 43256"/>
              <a:gd name="connsiteY12" fmla="*/ 3811 h 43219"/>
              <a:gd name="connsiteX13" fmla="*/ 29856 w 43256"/>
              <a:gd name="connsiteY13" fmla="*/ 219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4165 w 43256"/>
              <a:gd name="connsiteY4" fmla="*/ 22813 h 43219"/>
              <a:gd name="connsiteX5" fmla="*/ 37416 w 43256"/>
              <a:gd name="connsiteY5" fmla="*/ 29949 h 43219"/>
              <a:gd name="connsiteX6" fmla="*/ 41834 w 43256"/>
              <a:gd name="connsiteY6" fmla="*/ 15213 h 43219"/>
              <a:gd name="connsiteX7" fmla="*/ 40386 w 43256"/>
              <a:gd name="connsiteY7" fmla="*/ 17889 h 43219"/>
              <a:gd name="connsiteX8" fmla="*/ 38360 w 43256"/>
              <a:gd name="connsiteY8" fmla="*/ 5285 h 43219"/>
              <a:gd name="connsiteX9" fmla="*/ 38436 w 43256"/>
              <a:gd name="connsiteY9" fmla="*/ 6549 h 43219"/>
              <a:gd name="connsiteX10" fmla="*/ 29114 w 43256"/>
              <a:gd name="connsiteY10" fmla="*/ 3811 h 43219"/>
              <a:gd name="connsiteX11" fmla="*/ 29856 w 43256"/>
              <a:gd name="connsiteY11" fmla="*/ 2199 h 43219"/>
              <a:gd name="connsiteX12" fmla="*/ 22177 w 43256"/>
              <a:gd name="connsiteY12" fmla="*/ 4579 h 43219"/>
              <a:gd name="connsiteX13" fmla="*/ 22536 w 43256"/>
              <a:gd name="connsiteY13" fmla="*/ 318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41834 w 43256"/>
              <a:gd name="connsiteY4" fmla="*/ 15213 h 43219"/>
              <a:gd name="connsiteX5" fmla="*/ 40386 w 43256"/>
              <a:gd name="connsiteY5" fmla="*/ 17889 h 43219"/>
              <a:gd name="connsiteX6" fmla="*/ 38360 w 43256"/>
              <a:gd name="connsiteY6" fmla="*/ 5285 h 43219"/>
              <a:gd name="connsiteX7" fmla="*/ 38436 w 43256"/>
              <a:gd name="connsiteY7" fmla="*/ 6549 h 43219"/>
              <a:gd name="connsiteX8" fmla="*/ 29114 w 43256"/>
              <a:gd name="connsiteY8" fmla="*/ 3811 h 43219"/>
              <a:gd name="connsiteX9" fmla="*/ 29856 w 43256"/>
              <a:gd name="connsiteY9" fmla="*/ 2199 h 43219"/>
              <a:gd name="connsiteX10" fmla="*/ 22177 w 43256"/>
              <a:gd name="connsiteY10" fmla="*/ 4579 h 43219"/>
              <a:gd name="connsiteX11" fmla="*/ 22536 w 43256"/>
              <a:gd name="connsiteY11" fmla="*/ 3189 h 43219"/>
              <a:gd name="connsiteX12" fmla="*/ 14036 w 43256"/>
              <a:gd name="connsiteY12" fmla="*/ 5051 h 43219"/>
              <a:gd name="connsiteX13" fmla="*/ 15336 w 43256"/>
              <a:gd name="connsiteY13" fmla="*/ 639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22177 w 43256"/>
              <a:gd name="connsiteY8" fmla="*/ 4579 h 43219"/>
              <a:gd name="connsiteX9" fmla="*/ 22536 w 43256"/>
              <a:gd name="connsiteY9" fmla="*/ 3189 h 43219"/>
              <a:gd name="connsiteX10" fmla="*/ 14036 w 43256"/>
              <a:gd name="connsiteY10" fmla="*/ 5051 h 43219"/>
              <a:gd name="connsiteX11" fmla="*/ 15336 w 43256"/>
              <a:gd name="connsiteY11" fmla="*/ 639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29114 w 43256"/>
              <a:gd name="connsiteY6" fmla="*/ 3811 h 43219"/>
              <a:gd name="connsiteX7" fmla="*/ 29856 w 43256"/>
              <a:gd name="connsiteY7" fmla="*/ 2199 h 43219"/>
              <a:gd name="connsiteX8" fmla="*/ 14036 w 43256"/>
              <a:gd name="connsiteY8" fmla="*/ 5051 h 43219"/>
              <a:gd name="connsiteX9" fmla="*/ 15336 w 43256"/>
              <a:gd name="connsiteY9" fmla="*/ 639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38360 w 43256"/>
              <a:gd name="connsiteY2" fmla="*/ 5285 h 43219"/>
              <a:gd name="connsiteX3" fmla="*/ 38436 w 43256"/>
              <a:gd name="connsiteY3" fmla="*/ 6549 h 43219"/>
              <a:gd name="connsiteX4" fmla="*/ 29114 w 43256"/>
              <a:gd name="connsiteY4" fmla="*/ 3811 h 43219"/>
              <a:gd name="connsiteX5" fmla="*/ 29856 w 43256"/>
              <a:gd name="connsiteY5" fmla="*/ 2199 h 43219"/>
              <a:gd name="connsiteX6" fmla="*/ 14036 w 43256"/>
              <a:gd name="connsiteY6" fmla="*/ 5051 h 43219"/>
              <a:gd name="connsiteX7" fmla="*/ 15336 w 43256"/>
              <a:gd name="connsiteY7" fmla="*/ 6399 h 43219"/>
              <a:gd name="connsiteX8" fmla="*/ 4163 w 43256"/>
              <a:gd name="connsiteY8" fmla="*/ 15648 h 43219"/>
              <a:gd name="connsiteX9" fmla="*/ 3936 w 43256"/>
              <a:gd name="connsiteY9" fmla="*/ 14229 h 43219"/>
              <a:gd name="connsiteX0" fmla="*/ 3936 w 43256"/>
              <a:gd name="connsiteY0" fmla="*/ 14229 h 42968"/>
              <a:gd name="connsiteX1" fmla="*/ 5659 w 43256"/>
              <a:gd name="connsiteY1" fmla="*/ 6766 h 42968"/>
              <a:gd name="connsiteX2" fmla="*/ 14041 w 43256"/>
              <a:gd name="connsiteY2" fmla="*/ 5061 h 42968"/>
              <a:gd name="connsiteX3" fmla="*/ 22492 w 43256"/>
              <a:gd name="connsiteY3" fmla="*/ 3291 h 42968"/>
              <a:gd name="connsiteX4" fmla="*/ 25785 w 43256"/>
              <a:gd name="connsiteY4" fmla="*/ 59 h 42968"/>
              <a:gd name="connsiteX5" fmla="*/ 29869 w 43256"/>
              <a:gd name="connsiteY5" fmla="*/ 2340 h 42968"/>
              <a:gd name="connsiteX6" fmla="*/ 35499 w 43256"/>
              <a:gd name="connsiteY6" fmla="*/ 549 h 42968"/>
              <a:gd name="connsiteX7" fmla="*/ 38354 w 43256"/>
              <a:gd name="connsiteY7" fmla="*/ 5435 h 42968"/>
              <a:gd name="connsiteX8" fmla="*/ 42018 w 43256"/>
              <a:gd name="connsiteY8" fmla="*/ 10177 h 42968"/>
              <a:gd name="connsiteX9" fmla="*/ 41854 w 43256"/>
              <a:gd name="connsiteY9" fmla="*/ 15319 h 42968"/>
              <a:gd name="connsiteX10" fmla="*/ 43052 w 43256"/>
              <a:gd name="connsiteY10" fmla="*/ 23181 h 42968"/>
              <a:gd name="connsiteX11" fmla="*/ 37440 w 43256"/>
              <a:gd name="connsiteY11" fmla="*/ 30063 h 42968"/>
              <a:gd name="connsiteX12" fmla="*/ 35431 w 43256"/>
              <a:gd name="connsiteY12" fmla="*/ 35960 h 42968"/>
              <a:gd name="connsiteX13" fmla="*/ 30088 w 43256"/>
              <a:gd name="connsiteY13" fmla="*/ 39412 h 42968"/>
              <a:gd name="connsiteX14" fmla="*/ 23703 w 43256"/>
              <a:gd name="connsiteY14" fmla="*/ 42965 h 42968"/>
              <a:gd name="connsiteX15" fmla="*/ 16516 w 43256"/>
              <a:gd name="connsiteY15" fmla="*/ 39125 h 42968"/>
              <a:gd name="connsiteX16" fmla="*/ 5840 w 43256"/>
              <a:gd name="connsiteY16" fmla="*/ 35331 h 42968"/>
              <a:gd name="connsiteX17" fmla="*/ 1146 w 43256"/>
              <a:gd name="connsiteY17" fmla="*/ 31109 h 42968"/>
              <a:gd name="connsiteX18" fmla="*/ 2149 w 43256"/>
              <a:gd name="connsiteY18" fmla="*/ 25410 h 42968"/>
              <a:gd name="connsiteX19" fmla="*/ 31 w 43256"/>
              <a:gd name="connsiteY19" fmla="*/ 19563 h 42968"/>
              <a:gd name="connsiteX20" fmla="*/ 3899 w 43256"/>
              <a:gd name="connsiteY20" fmla="*/ 14366 h 42968"/>
              <a:gd name="connsiteX21" fmla="*/ 3936 w 43256"/>
              <a:gd name="connsiteY21" fmla="*/ 14229 h 42968"/>
              <a:gd name="connsiteX0" fmla="*/ 4729 w 43256"/>
              <a:gd name="connsiteY0" fmla="*/ 26036 h 42968"/>
              <a:gd name="connsiteX1" fmla="*/ 2196 w 43256"/>
              <a:gd name="connsiteY1" fmla="*/ 25239 h 42968"/>
              <a:gd name="connsiteX2" fmla="*/ 38360 w 43256"/>
              <a:gd name="connsiteY2" fmla="*/ 5285 h 42968"/>
              <a:gd name="connsiteX3" fmla="*/ 38436 w 43256"/>
              <a:gd name="connsiteY3" fmla="*/ 6549 h 42968"/>
              <a:gd name="connsiteX4" fmla="*/ 29114 w 43256"/>
              <a:gd name="connsiteY4" fmla="*/ 3811 h 42968"/>
              <a:gd name="connsiteX5" fmla="*/ 29856 w 43256"/>
              <a:gd name="connsiteY5" fmla="*/ 2199 h 42968"/>
              <a:gd name="connsiteX6" fmla="*/ 14036 w 43256"/>
              <a:gd name="connsiteY6" fmla="*/ 5051 h 42968"/>
              <a:gd name="connsiteX7" fmla="*/ 15336 w 43256"/>
              <a:gd name="connsiteY7" fmla="*/ 6399 h 42968"/>
              <a:gd name="connsiteX8" fmla="*/ 4163 w 43256"/>
              <a:gd name="connsiteY8" fmla="*/ 15648 h 42968"/>
              <a:gd name="connsiteX9" fmla="*/ 3936 w 43256"/>
              <a:gd name="connsiteY9" fmla="*/ 14229 h 42968"/>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4729 w 43256"/>
              <a:gd name="connsiteY0" fmla="*/ 26036 h 43413"/>
              <a:gd name="connsiteX1" fmla="*/ 2196 w 43256"/>
              <a:gd name="connsiteY1" fmla="*/ 25239 h 43413"/>
              <a:gd name="connsiteX2" fmla="*/ 38360 w 43256"/>
              <a:gd name="connsiteY2" fmla="*/ 5285 h 43413"/>
              <a:gd name="connsiteX3" fmla="*/ 38436 w 43256"/>
              <a:gd name="connsiteY3" fmla="*/ 6549 h 43413"/>
              <a:gd name="connsiteX4" fmla="*/ 29114 w 43256"/>
              <a:gd name="connsiteY4" fmla="*/ 3811 h 43413"/>
              <a:gd name="connsiteX5" fmla="*/ 29856 w 43256"/>
              <a:gd name="connsiteY5" fmla="*/ 2199 h 43413"/>
              <a:gd name="connsiteX6" fmla="*/ 14036 w 43256"/>
              <a:gd name="connsiteY6" fmla="*/ 5051 h 43413"/>
              <a:gd name="connsiteX7" fmla="*/ 15336 w 43256"/>
              <a:gd name="connsiteY7" fmla="*/ 6399 h 43413"/>
              <a:gd name="connsiteX8" fmla="*/ 4163 w 43256"/>
              <a:gd name="connsiteY8" fmla="*/ 15648 h 43413"/>
              <a:gd name="connsiteX9" fmla="*/ 3936 w 43256"/>
              <a:gd name="connsiteY9" fmla="*/ 14229 h 43413"/>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6" fmla="*/ 4163 w 43256"/>
              <a:gd name="connsiteY6" fmla="*/ 15648 h 43413"/>
              <a:gd name="connsiteX7" fmla="*/ 3936 w 43256"/>
              <a:gd name="connsiteY7" fmla="*/ 14229 h 43413"/>
              <a:gd name="connsiteX0" fmla="*/ 3936 w 43256"/>
              <a:gd name="connsiteY0" fmla="*/ 14229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3936 w 43256"/>
              <a:gd name="connsiteY21" fmla="*/ 14229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0" fmla="*/ 1979 w 43256"/>
              <a:gd name="connsiteY0" fmla="*/ 10838 h 43413"/>
              <a:gd name="connsiteX1" fmla="*/ 5659 w 43256"/>
              <a:gd name="connsiteY1" fmla="*/ 6766 h 43413"/>
              <a:gd name="connsiteX2" fmla="*/ 14041 w 43256"/>
              <a:gd name="connsiteY2" fmla="*/ 5061 h 43413"/>
              <a:gd name="connsiteX3" fmla="*/ 22492 w 43256"/>
              <a:gd name="connsiteY3" fmla="*/ 3291 h 43413"/>
              <a:gd name="connsiteX4" fmla="*/ 25785 w 43256"/>
              <a:gd name="connsiteY4" fmla="*/ 59 h 43413"/>
              <a:gd name="connsiteX5" fmla="*/ 29869 w 43256"/>
              <a:gd name="connsiteY5" fmla="*/ 2340 h 43413"/>
              <a:gd name="connsiteX6" fmla="*/ 35499 w 43256"/>
              <a:gd name="connsiteY6" fmla="*/ 549 h 43413"/>
              <a:gd name="connsiteX7" fmla="*/ 38354 w 43256"/>
              <a:gd name="connsiteY7" fmla="*/ 5435 h 43413"/>
              <a:gd name="connsiteX8" fmla="*/ 42018 w 43256"/>
              <a:gd name="connsiteY8" fmla="*/ 10177 h 43413"/>
              <a:gd name="connsiteX9" fmla="*/ 41854 w 43256"/>
              <a:gd name="connsiteY9" fmla="*/ 15319 h 43413"/>
              <a:gd name="connsiteX10" fmla="*/ 43052 w 43256"/>
              <a:gd name="connsiteY10" fmla="*/ 23181 h 43413"/>
              <a:gd name="connsiteX11" fmla="*/ 37440 w 43256"/>
              <a:gd name="connsiteY11" fmla="*/ 30063 h 43413"/>
              <a:gd name="connsiteX12" fmla="*/ 35431 w 43256"/>
              <a:gd name="connsiteY12" fmla="*/ 35960 h 43413"/>
              <a:gd name="connsiteX13" fmla="*/ 30088 w 43256"/>
              <a:gd name="connsiteY13" fmla="*/ 39412 h 43413"/>
              <a:gd name="connsiteX14" fmla="*/ 23703 w 43256"/>
              <a:gd name="connsiteY14" fmla="*/ 42965 h 43413"/>
              <a:gd name="connsiteX15" fmla="*/ 15710 w 43256"/>
              <a:gd name="connsiteY15" fmla="*/ 41211 h 43413"/>
              <a:gd name="connsiteX16" fmla="*/ 5840 w 43256"/>
              <a:gd name="connsiteY16" fmla="*/ 35331 h 43413"/>
              <a:gd name="connsiteX17" fmla="*/ 1146 w 43256"/>
              <a:gd name="connsiteY17" fmla="*/ 31109 h 43413"/>
              <a:gd name="connsiteX18" fmla="*/ 2149 w 43256"/>
              <a:gd name="connsiteY18" fmla="*/ 25410 h 43413"/>
              <a:gd name="connsiteX19" fmla="*/ 31 w 43256"/>
              <a:gd name="connsiteY19" fmla="*/ 19563 h 43413"/>
              <a:gd name="connsiteX20" fmla="*/ 3899 w 43256"/>
              <a:gd name="connsiteY20" fmla="*/ 14366 h 43413"/>
              <a:gd name="connsiteX21" fmla="*/ 1979 w 43256"/>
              <a:gd name="connsiteY21" fmla="*/ 10838 h 43413"/>
              <a:gd name="connsiteX0" fmla="*/ 38360 w 43256"/>
              <a:gd name="connsiteY0" fmla="*/ 5285 h 43413"/>
              <a:gd name="connsiteX1" fmla="*/ 38436 w 43256"/>
              <a:gd name="connsiteY1" fmla="*/ 6549 h 43413"/>
              <a:gd name="connsiteX2" fmla="*/ 29114 w 43256"/>
              <a:gd name="connsiteY2" fmla="*/ 3811 h 43413"/>
              <a:gd name="connsiteX3" fmla="*/ 29856 w 43256"/>
              <a:gd name="connsiteY3" fmla="*/ 2199 h 43413"/>
              <a:gd name="connsiteX4" fmla="*/ 14036 w 43256"/>
              <a:gd name="connsiteY4" fmla="*/ 5051 h 43413"/>
              <a:gd name="connsiteX5" fmla="*/ 15336 w 43256"/>
              <a:gd name="connsiteY5" fmla="*/ 6399 h 43413"/>
              <a:gd name="connsiteX0" fmla="*/ 1979 w 47234"/>
              <a:gd name="connsiteY0" fmla="*/ 10838 h 43413"/>
              <a:gd name="connsiteX1" fmla="*/ 5659 w 47234"/>
              <a:gd name="connsiteY1" fmla="*/ 6766 h 43413"/>
              <a:gd name="connsiteX2" fmla="*/ 14041 w 47234"/>
              <a:gd name="connsiteY2" fmla="*/ 5061 h 43413"/>
              <a:gd name="connsiteX3" fmla="*/ 22492 w 47234"/>
              <a:gd name="connsiteY3" fmla="*/ 3291 h 43413"/>
              <a:gd name="connsiteX4" fmla="*/ 25785 w 47234"/>
              <a:gd name="connsiteY4" fmla="*/ 59 h 43413"/>
              <a:gd name="connsiteX5" fmla="*/ 29869 w 47234"/>
              <a:gd name="connsiteY5" fmla="*/ 2340 h 43413"/>
              <a:gd name="connsiteX6" fmla="*/ 35499 w 47234"/>
              <a:gd name="connsiteY6" fmla="*/ 549 h 43413"/>
              <a:gd name="connsiteX7" fmla="*/ 38354 w 47234"/>
              <a:gd name="connsiteY7" fmla="*/ 5435 h 43413"/>
              <a:gd name="connsiteX8" fmla="*/ 42018 w 47234"/>
              <a:gd name="connsiteY8" fmla="*/ 10177 h 43413"/>
              <a:gd name="connsiteX9" fmla="*/ 41854 w 47234"/>
              <a:gd name="connsiteY9" fmla="*/ 15319 h 43413"/>
              <a:gd name="connsiteX10" fmla="*/ 47196 w 47234"/>
              <a:gd name="connsiteY10" fmla="*/ 26180 h 43413"/>
              <a:gd name="connsiteX11" fmla="*/ 37440 w 47234"/>
              <a:gd name="connsiteY11" fmla="*/ 30063 h 43413"/>
              <a:gd name="connsiteX12" fmla="*/ 35431 w 47234"/>
              <a:gd name="connsiteY12" fmla="*/ 35960 h 43413"/>
              <a:gd name="connsiteX13" fmla="*/ 30088 w 47234"/>
              <a:gd name="connsiteY13" fmla="*/ 39412 h 43413"/>
              <a:gd name="connsiteX14" fmla="*/ 23703 w 47234"/>
              <a:gd name="connsiteY14" fmla="*/ 42965 h 43413"/>
              <a:gd name="connsiteX15" fmla="*/ 15710 w 47234"/>
              <a:gd name="connsiteY15" fmla="*/ 41211 h 43413"/>
              <a:gd name="connsiteX16" fmla="*/ 5840 w 47234"/>
              <a:gd name="connsiteY16" fmla="*/ 35331 h 43413"/>
              <a:gd name="connsiteX17" fmla="*/ 1146 w 47234"/>
              <a:gd name="connsiteY17" fmla="*/ 31109 h 43413"/>
              <a:gd name="connsiteX18" fmla="*/ 2149 w 47234"/>
              <a:gd name="connsiteY18" fmla="*/ 25410 h 43413"/>
              <a:gd name="connsiteX19" fmla="*/ 31 w 47234"/>
              <a:gd name="connsiteY19" fmla="*/ 19563 h 43413"/>
              <a:gd name="connsiteX20" fmla="*/ 3899 w 47234"/>
              <a:gd name="connsiteY20" fmla="*/ 14366 h 43413"/>
              <a:gd name="connsiteX21" fmla="*/ 1979 w 47234"/>
              <a:gd name="connsiteY21" fmla="*/ 10838 h 43413"/>
              <a:gd name="connsiteX0" fmla="*/ 38360 w 47234"/>
              <a:gd name="connsiteY0" fmla="*/ 5285 h 43413"/>
              <a:gd name="connsiteX1" fmla="*/ 38436 w 47234"/>
              <a:gd name="connsiteY1" fmla="*/ 6549 h 43413"/>
              <a:gd name="connsiteX2" fmla="*/ 29114 w 47234"/>
              <a:gd name="connsiteY2" fmla="*/ 3811 h 43413"/>
              <a:gd name="connsiteX3" fmla="*/ 29856 w 47234"/>
              <a:gd name="connsiteY3" fmla="*/ 2199 h 43413"/>
              <a:gd name="connsiteX4" fmla="*/ 14036 w 47234"/>
              <a:gd name="connsiteY4" fmla="*/ 5051 h 43413"/>
              <a:gd name="connsiteX5" fmla="*/ 15336 w 47234"/>
              <a:gd name="connsiteY5" fmla="*/ 6399 h 43413"/>
              <a:gd name="connsiteX0" fmla="*/ 1979 w 47197"/>
              <a:gd name="connsiteY0" fmla="*/ 10838 h 43413"/>
              <a:gd name="connsiteX1" fmla="*/ 5659 w 47197"/>
              <a:gd name="connsiteY1" fmla="*/ 6766 h 43413"/>
              <a:gd name="connsiteX2" fmla="*/ 14041 w 47197"/>
              <a:gd name="connsiteY2" fmla="*/ 5061 h 43413"/>
              <a:gd name="connsiteX3" fmla="*/ 22492 w 47197"/>
              <a:gd name="connsiteY3" fmla="*/ 3291 h 43413"/>
              <a:gd name="connsiteX4" fmla="*/ 25785 w 47197"/>
              <a:gd name="connsiteY4" fmla="*/ 59 h 43413"/>
              <a:gd name="connsiteX5" fmla="*/ 29869 w 47197"/>
              <a:gd name="connsiteY5" fmla="*/ 2340 h 43413"/>
              <a:gd name="connsiteX6" fmla="*/ 35499 w 47197"/>
              <a:gd name="connsiteY6" fmla="*/ 549 h 43413"/>
              <a:gd name="connsiteX7" fmla="*/ 38354 w 47197"/>
              <a:gd name="connsiteY7" fmla="*/ 5435 h 43413"/>
              <a:gd name="connsiteX8" fmla="*/ 42018 w 47197"/>
              <a:gd name="connsiteY8" fmla="*/ 10177 h 43413"/>
              <a:gd name="connsiteX9" fmla="*/ 41854 w 47197"/>
              <a:gd name="connsiteY9" fmla="*/ 15319 h 43413"/>
              <a:gd name="connsiteX10" fmla="*/ 47196 w 47197"/>
              <a:gd name="connsiteY10" fmla="*/ 26180 h 43413"/>
              <a:gd name="connsiteX11" fmla="*/ 41354 w 47197"/>
              <a:gd name="connsiteY11" fmla="*/ 34106 h 43413"/>
              <a:gd name="connsiteX12" fmla="*/ 35431 w 47197"/>
              <a:gd name="connsiteY12" fmla="*/ 35960 h 43413"/>
              <a:gd name="connsiteX13" fmla="*/ 30088 w 47197"/>
              <a:gd name="connsiteY13" fmla="*/ 39412 h 43413"/>
              <a:gd name="connsiteX14" fmla="*/ 23703 w 47197"/>
              <a:gd name="connsiteY14" fmla="*/ 42965 h 43413"/>
              <a:gd name="connsiteX15" fmla="*/ 15710 w 47197"/>
              <a:gd name="connsiteY15" fmla="*/ 41211 h 43413"/>
              <a:gd name="connsiteX16" fmla="*/ 5840 w 47197"/>
              <a:gd name="connsiteY16" fmla="*/ 35331 h 43413"/>
              <a:gd name="connsiteX17" fmla="*/ 1146 w 47197"/>
              <a:gd name="connsiteY17" fmla="*/ 31109 h 43413"/>
              <a:gd name="connsiteX18" fmla="*/ 2149 w 47197"/>
              <a:gd name="connsiteY18" fmla="*/ 25410 h 43413"/>
              <a:gd name="connsiteX19" fmla="*/ 31 w 47197"/>
              <a:gd name="connsiteY19" fmla="*/ 19563 h 43413"/>
              <a:gd name="connsiteX20" fmla="*/ 3899 w 47197"/>
              <a:gd name="connsiteY20" fmla="*/ 14366 h 43413"/>
              <a:gd name="connsiteX21" fmla="*/ 1979 w 47197"/>
              <a:gd name="connsiteY21" fmla="*/ 10838 h 43413"/>
              <a:gd name="connsiteX0" fmla="*/ 38360 w 47197"/>
              <a:gd name="connsiteY0" fmla="*/ 5285 h 43413"/>
              <a:gd name="connsiteX1" fmla="*/ 38436 w 47197"/>
              <a:gd name="connsiteY1" fmla="*/ 6549 h 43413"/>
              <a:gd name="connsiteX2" fmla="*/ 29114 w 47197"/>
              <a:gd name="connsiteY2" fmla="*/ 3811 h 43413"/>
              <a:gd name="connsiteX3" fmla="*/ 29856 w 47197"/>
              <a:gd name="connsiteY3" fmla="*/ 2199 h 43413"/>
              <a:gd name="connsiteX4" fmla="*/ 14036 w 47197"/>
              <a:gd name="connsiteY4" fmla="*/ 5051 h 43413"/>
              <a:gd name="connsiteX5" fmla="*/ 15336 w 47197"/>
              <a:gd name="connsiteY5" fmla="*/ 6399 h 4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 h="43413">
                <a:moveTo>
                  <a:pt x="1979" y="10838"/>
                </a:moveTo>
                <a:cubicBezTo>
                  <a:pt x="1708" y="8125"/>
                  <a:pt x="3649" y="7729"/>
                  <a:pt x="5659" y="6766"/>
                </a:cubicBezTo>
                <a:cubicBezTo>
                  <a:pt x="7669" y="5803"/>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7279" y="23049"/>
                  <a:pt x="47196" y="26180"/>
                </a:cubicBezTo>
                <a:cubicBezTo>
                  <a:pt x="47113" y="29311"/>
                  <a:pt x="44078" y="33576"/>
                  <a:pt x="41354" y="34106"/>
                </a:cubicBezTo>
                <a:cubicBezTo>
                  <a:pt x="41341" y="36373"/>
                  <a:pt x="37309" y="35076"/>
                  <a:pt x="35431" y="35960"/>
                </a:cubicBezTo>
                <a:cubicBezTo>
                  <a:pt x="33553" y="36844"/>
                  <a:pt x="32237" y="41236"/>
                  <a:pt x="30088" y="39412"/>
                </a:cubicBezTo>
                <a:cubicBezTo>
                  <a:pt x="29393" y="42545"/>
                  <a:pt x="26099" y="42665"/>
                  <a:pt x="23703" y="42965"/>
                </a:cubicBezTo>
                <a:cubicBezTo>
                  <a:pt x="21307" y="43265"/>
                  <a:pt x="17281" y="44418"/>
                  <a:pt x="15710" y="41211"/>
                </a:cubicBezTo>
                <a:cubicBezTo>
                  <a:pt x="12002" y="44255"/>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1967" y="10884"/>
                  <a:pt x="1979" y="10838"/>
                </a:cubicBezTo>
                <a:close/>
              </a:path>
              <a:path w="47197" h="43413" fill="none" extrusionOk="0">
                <a:moveTo>
                  <a:pt x="38360" y="5285"/>
                </a:moveTo>
                <a:cubicBezTo>
                  <a:pt x="38415" y="5702"/>
                  <a:pt x="38441" y="6125"/>
                  <a:pt x="38436" y="6549"/>
                </a:cubicBezTo>
                <a:moveTo>
                  <a:pt x="29114" y="3811"/>
                </a:moveTo>
                <a:cubicBezTo>
                  <a:pt x="29303" y="3228"/>
                  <a:pt x="29552" y="2685"/>
                  <a:pt x="29856" y="2199"/>
                </a:cubicBezTo>
                <a:moveTo>
                  <a:pt x="14036" y="5051"/>
                </a:moveTo>
                <a:cubicBezTo>
                  <a:pt x="14508" y="5427"/>
                  <a:pt x="14944" y="5880"/>
                  <a:pt x="15336" y="6399"/>
                </a:cubicBezTo>
              </a:path>
            </a:pathLst>
          </a:custGeom>
          <a:solidFill>
            <a:schemeClr val="accent4">
              <a:lumMod val="60000"/>
              <a:lumOff val="40000"/>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Isosceles Triangle 41">
            <a:extLst>
              <a:ext uri="{FF2B5EF4-FFF2-40B4-BE49-F238E27FC236}">
                <a16:creationId xmlns:a16="http://schemas.microsoft.com/office/drawing/2014/main" id="{8FF3D9B3-18D0-4B2C-B0AD-026CBEDB426F}"/>
              </a:ext>
            </a:extLst>
          </p:cNvPr>
          <p:cNvSpPr/>
          <p:nvPr/>
        </p:nvSpPr>
        <p:spPr>
          <a:xfrm>
            <a:off x="6075563" y="5888467"/>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Isosceles Triangle 42">
            <a:extLst>
              <a:ext uri="{FF2B5EF4-FFF2-40B4-BE49-F238E27FC236}">
                <a16:creationId xmlns:a16="http://schemas.microsoft.com/office/drawing/2014/main" id="{2AC6784E-C154-4956-BC69-BA0546703D86}"/>
              </a:ext>
            </a:extLst>
          </p:cNvPr>
          <p:cNvSpPr/>
          <p:nvPr/>
        </p:nvSpPr>
        <p:spPr>
          <a:xfrm>
            <a:off x="6477538" y="5674461"/>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Isosceles Triangle 43">
            <a:extLst>
              <a:ext uri="{FF2B5EF4-FFF2-40B4-BE49-F238E27FC236}">
                <a16:creationId xmlns:a16="http://schemas.microsoft.com/office/drawing/2014/main" id="{65E78348-A236-4425-81AF-C110F8886ECC}"/>
              </a:ext>
            </a:extLst>
          </p:cNvPr>
          <p:cNvSpPr/>
          <p:nvPr/>
        </p:nvSpPr>
        <p:spPr>
          <a:xfrm>
            <a:off x="6794424" y="5906962"/>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Isosceles Triangle 44">
            <a:extLst>
              <a:ext uri="{FF2B5EF4-FFF2-40B4-BE49-F238E27FC236}">
                <a16:creationId xmlns:a16="http://schemas.microsoft.com/office/drawing/2014/main" id="{FD995DA2-5C72-4A7D-B514-62E6A86E6575}"/>
              </a:ext>
            </a:extLst>
          </p:cNvPr>
          <p:cNvSpPr/>
          <p:nvPr/>
        </p:nvSpPr>
        <p:spPr>
          <a:xfrm>
            <a:off x="6112183" y="6222049"/>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8B0FD227-55D7-4CAF-B505-79BF6C922291}"/>
              </a:ext>
            </a:extLst>
          </p:cNvPr>
          <p:cNvSpPr/>
          <p:nvPr/>
        </p:nvSpPr>
        <p:spPr>
          <a:xfrm>
            <a:off x="6137033" y="569810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783F4426-2A6C-4191-B161-FFA285D4F581}"/>
              </a:ext>
            </a:extLst>
          </p:cNvPr>
          <p:cNvSpPr/>
          <p:nvPr/>
        </p:nvSpPr>
        <p:spPr>
          <a:xfrm>
            <a:off x="6640289" y="615537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D80E7AD0-08EA-4C23-A450-0EB8DCFFB27A}"/>
              </a:ext>
            </a:extLst>
          </p:cNvPr>
          <p:cNvSpPr/>
          <p:nvPr/>
        </p:nvSpPr>
        <p:spPr>
          <a:xfrm>
            <a:off x="6527345" y="5973638"/>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B6D69B42-6236-4168-AC5E-3B3D2AB52B92}"/>
              </a:ext>
            </a:extLst>
          </p:cNvPr>
          <p:cNvSpPr/>
          <p:nvPr/>
        </p:nvSpPr>
        <p:spPr>
          <a:xfrm>
            <a:off x="6367543" y="628872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Isosceles Triangle 49">
            <a:extLst>
              <a:ext uri="{FF2B5EF4-FFF2-40B4-BE49-F238E27FC236}">
                <a16:creationId xmlns:a16="http://schemas.microsoft.com/office/drawing/2014/main" id="{4C1547B9-2BB4-43BD-A3D9-398803FDBD95}"/>
              </a:ext>
            </a:extLst>
          </p:cNvPr>
          <p:cNvSpPr/>
          <p:nvPr/>
        </p:nvSpPr>
        <p:spPr>
          <a:xfrm>
            <a:off x="6677904" y="569450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Isosceles Triangle 50">
            <a:extLst>
              <a:ext uri="{FF2B5EF4-FFF2-40B4-BE49-F238E27FC236}">
                <a16:creationId xmlns:a16="http://schemas.microsoft.com/office/drawing/2014/main" id="{E1C4D8BE-B58E-4B15-97DD-6384FD926664}"/>
              </a:ext>
            </a:extLst>
          </p:cNvPr>
          <p:cNvSpPr/>
          <p:nvPr/>
        </p:nvSpPr>
        <p:spPr>
          <a:xfrm>
            <a:off x="6175480" y="6055258"/>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Isosceles Triangle 51">
            <a:extLst>
              <a:ext uri="{FF2B5EF4-FFF2-40B4-BE49-F238E27FC236}">
                <a16:creationId xmlns:a16="http://schemas.microsoft.com/office/drawing/2014/main" id="{0D4F6115-4D08-407F-B3E9-870CAC1F3668}"/>
              </a:ext>
            </a:extLst>
          </p:cNvPr>
          <p:cNvSpPr/>
          <p:nvPr/>
        </p:nvSpPr>
        <p:spPr>
          <a:xfrm>
            <a:off x="6275763" y="5921804"/>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Isosceles Triangle 52">
            <a:extLst>
              <a:ext uri="{FF2B5EF4-FFF2-40B4-BE49-F238E27FC236}">
                <a16:creationId xmlns:a16="http://schemas.microsoft.com/office/drawing/2014/main" id="{4B80E2C2-D93C-4319-B4A7-1E0BC3C72A5D}"/>
              </a:ext>
            </a:extLst>
          </p:cNvPr>
          <p:cNvSpPr/>
          <p:nvPr/>
        </p:nvSpPr>
        <p:spPr>
          <a:xfrm>
            <a:off x="6380404" y="6121933"/>
            <a:ext cx="73240" cy="66675"/>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Down Arrow 173">
            <a:extLst>
              <a:ext uri="{FF2B5EF4-FFF2-40B4-BE49-F238E27FC236}">
                <a16:creationId xmlns:a16="http://schemas.microsoft.com/office/drawing/2014/main" id="{8D36A771-CF4D-4CBF-B125-933AB7F6F306}"/>
              </a:ext>
            </a:extLst>
          </p:cNvPr>
          <p:cNvSpPr/>
          <p:nvPr/>
        </p:nvSpPr>
        <p:spPr>
          <a:xfrm rot="16200000">
            <a:off x="7371197" y="5620489"/>
            <a:ext cx="231775" cy="751611"/>
          </a:xfrm>
          <a:prstGeom prst="downArrow">
            <a:avLst>
              <a:gd name="adj1" fmla="val 41781"/>
              <a:gd name="adj2" fmla="val 4041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Curved Up Arrow 174">
            <a:extLst>
              <a:ext uri="{FF2B5EF4-FFF2-40B4-BE49-F238E27FC236}">
                <a16:creationId xmlns:a16="http://schemas.microsoft.com/office/drawing/2014/main" id="{7FD0E2FC-9DE1-4845-A9C6-483D0127329B}"/>
              </a:ext>
            </a:extLst>
          </p:cNvPr>
          <p:cNvSpPr/>
          <p:nvPr/>
        </p:nvSpPr>
        <p:spPr>
          <a:xfrm rot="15900454">
            <a:off x="9787406" y="4010852"/>
            <a:ext cx="2994337" cy="1163607"/>
          </a:xfrm>
          <a:prstGeom prst="curvedUpArrow">
            <a:avLst>
              <a:gd name="adj1" fmla="val 10912"/>
              <a:gd name="adj2" fmla="val 28091"/>
              <a:gd name="adj3" fmla="val 31564"/>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6" name="TextBox 55">
            <a:extLst>
              <a:ext uri="{FF2B5EF4-FFF2-40B4-BE49-F238E27FC236}">
                <a16:creationId xmlns:a16="http://schemas.microsoft.com/office/drawing/2014/main" id="{4A3F88C7-5EB6-40B9-9319-23E9D8B80A59}"/>
              </a:ext>
            </a:extLst>
          </p:cNvPr>
          <p:cNvSpPr txBox="1"/>
          <p:nvPr/>
        </p:nvSpPr>
        <p:spPr>
          <a:xfrm>
            <a:off x="6867664" y="641779"/>
            <a:ext cx="1774815"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p(z) ~ Z</a:t>
            </a:r>
          </a:p>
          <a:p>
            <a:pPr algn="ctr"/>
            <a:r>
              <a:rPr lang="en-IN" dirty="0">
                <a:latin typeface="Times New Roman" panose="02020603050405020304" pitchFamily="18" charset="0"/>
                <a:cs typeface="Times New Roman" panose="02020603050405020304" pitchFamily="18" charset="0"/>
              </a:rPr>
              <a:t>Random noise</a:t>
            </a:r>
          </a:p>
        </p:txBody>
      </p:sp>
      <p:sp>
        <p:nvSpPr>
          <p:cNvPr id="57" name="TextBox 56">
            <a:extLst>
              <a:ext uri="{FF2B5EF4-FFF2-40B4-BE49-F238E27FC236}">
                <a16:creationId xmlns:a16="http://schemas.microsoft.com/office/drawing/2014/main" id="{D19413B4-9C20-4B85-99E6-81EEB9A43D03}"/>
              </a:ext>
            </a:extLst>
          </p:cNvPr>
          <p:cNvSpPr txBox="1"/>
          <p:nvPr/>
        </p:nvSpPr>
        <p:spPr>
          <a:xfrm rot="16200000">
            <a:off x="6383073" y="2593720"/>
            <a:ext cx="2033976"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Generative Model</a:t>
            </a:r>
          </a:p>
          <a:p>
            <a:pPr algn="ctr"/>
            <a:r>
              <a:rPr lang="en-IN" dirty="0">
                <a:latin typeface="Times New Roman" panose="02020603050405020304" pitchFamily="18" charset="0"/>
                <a:cs typeface="Times New Roman" panose="02020603050405020304" pitchFamily="18" charset="0"/>
              </a:rPr>
              <a:t>(Neural Net) G</a:t>
            </a:r>
          </a:p>
        </p:txBody>
      </p:sp>
      <p:sp>
        <p:nvSpPr>
          <p:cNvPr id="58" name="Left Brace 57">
            <a:extLst>
              <a:ext uri="{FF2B5EF4-FFF2-40B4-BE49-F238E27FC236}">
                <a16:creationId xmlns:a16="http://schemas.microsoft.com/office/drawing/2014/main" id="{095A07C4-3AE4-4EB3-9445-E073DD6AC80B}"/>
              </a:ext>
            </a:extLst>
          </p:cNvPr>
          <p:cNvSpPr/>
          <p:nvPr/>
        </p:nvSpPr>
        <p:spPr>
          <a:xfrm>
            <a:off x="7760083" y="1648802"/>
            <a:ext cx="261032" cy="2378575"/>
          </a:xfrm>
          <a:prstGeom prst="leftBrac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9" name="TextBox 58">
            <a:extLst>
              <a:ext uri="{FF2B5EF4-FFF2-40B4-BE49-F238E27FC236}">
                <a16:creationId xmlns:a16="http://schemas.microsoft.com/office/drawing/2014/main" id="{6B8C1977-83B9-46BC-9A18-309AD54E66C9}"/>
              </a:ext>
            </a:extLst>
          </p:cNvPr>
          <p:cNvSpPr txBox="1"/>
          <p:nvPr/>
        </p:nvSpPr>
        <p:spPr>
          <a:xfrm>
            <a:off x="6951900" y="4388070"/>
            <a:ext cx="1963855"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Generated data </a:t>
            </a:r>
          </a:p>
          <a:p>
            <a:pPr algn="ctr"/>
            <a:r>
              <a:rPr lang="en-IN" dirty="0">
                <a:latin typeface="Times New Roman" panose="02020603050405020304" pitchFamily="18" charset="0"/>
                <a:cs typeface="Times New Roman" panose="02020603050405020304" pitchFamily="18" charset="0"/>
              </a:rPr>
              <a:t>distribution </a:t>
            </a:r>
          </a:p>
          <a:p>
            <a:pPr algn="ctr"/>
            <a:r>
              <a:rPr lang="en-IN" dirty="0">
                <a:latin typeface="Times New Roman" panose="02020603050405020304" pitchFamily="18" charset="0"/>
                <a:cs typeface="Times New Roman" panose="02020603050405020304" pitchFamily="18" charset="0"/>
              </a:rPr>
              <a:t>D’=G(Z)=I’(x)</a:t>
            </a:r>
          </a:p>
        </p:txBody>
      </p:sp>
      <p:sp>
        <p:nvSpPr>
          <p:cNvPr id="60" name="TextBox 59">
            <a:extLst>
              <a:ext uri="{FF2B5EF4-FFF2-40B4-BE49-F238E27FC236}">
                <a16:creationId xmlns:a16="http://schemas.microsoft.com/office/drawing/2014/main" id="{86DDDCD5-C4C7-4D40-B0B6-D1BCF93D4310}"/>
              </a:ext>
            </a:extLst>
          </p:cNvPr>
          <p:cNvSpPr txBox="1"/>
          <p:nvPr/>
        </p:nvSpPr>
        <p:spPr>
          <a:xfrm>
            <a:off x="3392600" y="5709068"/>
            <a:ext cx="2510618"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Real data distribution </a:t>
            </a:r>
          </a:p>
          <a:p>
            <a:pPr algn="ctr"/>
            <a:r>
              <a:rPr lang="en-IN" dirty="0">
                <a:latin typeface="Times New Roman" panose="02020603050405020304" pitchFamily="18" charset="0"/>
                <a:cs typeface="Times New Roman" panose="02020603050405020304" pitchFamily="18" charset="0"/>
              </a:rPr>
              <a:t>D=I(x)</a:t>
            </a:r>
          </a:p>
        </p:txBody>
      </p:sp>
      <p:sp>
        <p:nvSpPr>
          <p:cNvPr id="61" name="Title 3">
            <a:extLst>
              <a:ext uri="{FF2B5EF4-FFF2-40B4-BE49-F238E27FC236}">
                <a16:creationId xmlns:a16="http://schemas.microsoft.com/office/drawing/2014/main" id="{3F7F2E9A-7E63-4969-ADD5-CBC867165DA6}"/>
              </a:ext>
            </a:extLst>
          </p:cNvPr>
          <p:cNvSpPr txBox="1">
            <a:spLocks/>
          </p:cNvSpPr>
          <p:nvPr/>
        </p:nvSpPr>
        <p:spPr>
          <a:xfrm>
            <a:off x="356028" y="513647"/>
            <a:ext cx="5819452" cy="57442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dirty="0">
                <a:latin typeface="Century" panose="02040604050505020304" pitchFamily="18" charset="0"/>
                <a:cs typeface="Times New Roman" panose="02020603050405020304" pitchFamily="18" charset="0"/>
              </a:rPr>
              <a:t>Generative Modelling</a:t>
            </a:r>
          </a:p>
        </p:txBody>
      </p:sp>
    </p:spTree>
    <p:extLst>
      <p:ext uri="{BB962C8B-B14F-4D97-AF65-F5344CB8AC3E}">
        <p14:creationId xmlns:p14="http://schemas.microsoft.com/office/powerpoint/2010/main" val="1945679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FBF2-FD43-40CC-BADB-7D25A04DAA70}"/>
              </a:ext>
            </a:extLst>
          </p:cNvPr>
          <p:cNvSpPr>
            <a:spLocks noGrp="1"/>
          </p:cNvSpPr>
          <p:nvPr>
            <p:ph type="title"/>
          </p:nvPr>
        </p:nvSpPr>
        <p:spPr/>
        <p:txBody>
          <a:bodyPr>
            <a:normAutofit/>
          </a:bodyPr>
          <a:lstStyle/>
          <a:p>
            <a:r>
              <a:rPr lang="en-IN" sz="3600" dirty="0">
                <a:latin typeface="Century" panose="02040604050505020304" pitchFamily="18" charset="0"/>
              </a:rPr>
              <a:t>How Generative Model Works?</a:t>
            </a:r>
            <a:br>
              <a:rPr lang="en-IN" sz="3600" dirty="0">
                <a:latin typeface="Century" panose="02040604050505020304" pitchFamily="18" charset="0"/>
              </a:rPr>
            </a:br>
            <a:r>
              <a:rPr lang="en-IN" sz="2800" dirty="0">
                <a:latin typeface="Century" panose="02040604050505020304" pitchFamily="18" charset="0"/>
              </a:rPr>
              <a:t>A statistical Understanding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56D343-5B95-43DA-AE1A-EC8DA33F449D}"/>
                  </a:ext>
                </a:extLst>
              </p:cNvPr>
              <p:cNvSpPr>
                <a:spLocks noGrp="1"/>
              </p:cNvSpPr>
              <p:nvPr>
                <p:ph idx="1"/>
              </p:nvPr>
            </p:nvSpPr>
            <p:spPr/>
            <p:txBody>
              <a:bodyPr>
                <a:normAutofit/>
              </a:bodyPr>
              <a:lstStyle/>
              <a:p>
                <a:pPr algn="just"/>
                <a:r>
                  <a:rPr lang="en-US" sz="2000" dirty="0">
                    <a:latin typeface="Arial Narrow" panose="020B0606020202030204" pitchFamily="34" charset="0"/>
                  </a:rPr>
                  <a:t>Generative models </a:t>
                </a:r>
                <a:r>
                  <a:rPr lang="en-US" sz="2000" dirty="0">
                    <a:solidFill>
                      <a:srgbClr val="7030A0"/>
                    </a:solidFill>
                    <a:latin typeface="Arial Narrow" panose="020B0606020202030204" pitchFamily="34" charset="0"/>
                  </a:rPr>
                  <a:t>statistically characterize </a:t>
                </a:r>
                <a:r>
                  <a:rPr lang="en-US" sz="2000" dirty="0">
                    <a:latin typeface="Arial Narrow" panose="020B0606020202030204" pitchFamily="34" charset="0"/>
                  </a:rPr>
                  <a:t>the underlying data-generating process by learning the </a:t>
                </a:r>
                <a:r>
                  <a:rPr lang="en-US" sz="2000" dirty="0">
                    <a:solidFill>
                      <a:srgbClr val="7030A0"/>
                    </a:solidFill>
                    <a:latin typeface="Arial Narrow" panose="020B0606020202030204" pitchFamily="34" charset="0"/>
                  </a:rPr>
                  <a:t>joint probability distribution</a:t>
                </a:r>
                <a:r>
                  <a:rPr lang="en-US" sz="2000" dirty="0">
                    <a:latin typeface="Arial Narrow" panose="020B0606020202030204" pitchFamily="34" charset="0"/>
                  </a:rPr>
                  <a:t> of the observed features </a:t>
                </a:r>
                <a14:m>
                  <m:oMath xmlns:m="http://schemas.openxmlformats.org/officeDocument/2006/math">
                    <m:r>
                      <a:rPr lang="en-IN" sz="2000" i="1" dirty="0">
                        <a:solidFill>
                          <a:srgbClr val="00B0F0"/>
                        </a:solidFill>
                        <a:latin typeface="Cambria Math" panose="02040503050406030204" pitchFamily="18" charset="0"/>
                      </a:rPr>
                      <m:t>𝑥</m:t>
                    </m:r>
                  </m:oMath>
                </a14:m>
                <a:r>
                  <a:rPr lang="en-IN" sz="2000" dirty="0">
                    <a:latin typeface="Arial Narrow" panose="020B0606020202030204" pitchFamily="34" charset="0"/>
                  </a:rPr>
                  <a:t> </a:t>
                </a:r>
                <a:r>
                  <a:rPr lang="en-US" sz="2000" dirty="0">
                    <a:latin typeface="Arial Narrow" panose="020B0606020202030204" pitchFamily="34" charset="0"/>
                  </a:rPr>
                  <a:t>and their corresponding class labels </a:t>
                </a:r>
                <a14:m>
                  <m:oMath xmlns:m="http://schemas.openxmlformats.org/officeDocument/2006/math">
                    <m:r>
                      <a:rPr lang="en-IN" sz="2000" b="0" i="1" dirty="0" smtClean="0">
                        <a:solidFill>
                          <a:srgbClr val="00B0F0"/>
                        </a:solidFill>
                        <a:latin typeface="Cambria Math" panose="02040503050406030204" pitchFamily="18" charset="0"/>
                      </a:rPr>
                      <m:t>𝑦</m:t>
                    </m:r>
                  </m:oMath>
                </a14:m>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Let the training observations be independently drawn from an unknown true distribution:</a:t>
                </a:r>
              </a:p>
              <a:p>
                <a:pPr algn="just"/>
                <a:endParaRPr lang="en-US" sz="2000" dirty="0">
                  <a:latin typeface="Arial Narrow" panose="020B060602020203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m:t>
                      </m:r>
                      <m:r>
                        <a:rPr lang="en-IN" sz="2000" i="1">
                          <a:latin typeface="Cambria Math" panose="02040503050406030204" pitchFamily="18" charset="0"/>
                        </a:rPr>
                        <m:t>𝑥</m:t>
                      </m:r>
                      <m:r>
                        <a:rPr lang="en-IN" sz="2000" i="1">
                          <a:latin typeface="Cambria Math" panose="02040503050406030204" pitchFamily="18" charset="0"/>
                        </a:rPr>
                        <m:t>,</m:t>
                      </m:r>
                      <m:r>
                        <a:rPr lang="en-IN" sz="2000" i="1">
                          <a:latin typeface="Cambria Math" panose="02040503050406030204" pitchFamily="18" charset="0"/>
                        </a:rPr>
                        <m:t>𝑦</m:t>
                      </m:r>
                      <m:r>
                        <a:rPr lang="en-IN" sz="2000" i="1">
                          <a:latin typeface="Cambria Math" panose="020405030504060302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𝑑𝑎𝑡𝑎</m:t>
                          </m:r>
                        </m:sub>
                      </m:sSub>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𝑥</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𝑦</m:t>
                      </m:r>
                      <m:r>
                        <a:rPr lang="en-IN" sz="2000" i="1">
                          <a:latin typeface="Cambria Math" panose="02040503050406030204" pitchFamily="18" charset="0"/>
                          <a:ea typeface="Cambria Math" panose="02040503050406030204" pitchFamily="18" charset="0"/>
                        </a:rPr>
                        <m:t>)</m:t>
                      </m:r>
                    </m:oMath>
                  </m:oMathPara>
                </a14:m>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r>
                  <a:rPr lang="en-US" sz="2000" dirty="0">
                    <a:latin typeface="Arial Narrow" panose="020B0606020202030204" pitchFamily="34" charset="0"/>
                  </a:rPr>
                  <a:t>           where </a:t>
                </a:r>
                <a14:m>
                  <m:oMath xmlns:m="http://schemas.openxmlformats.org/officeDocument/2006/math">
                    <m:r>
                      <a:rPr lang="en-IN" sz="2000" i="1" dirty="0">
                        <a:solidFill>
                          <a:srgbClr val="00B0F0"/>
                        </a:solidFill>
                        <a:latin typeface="Cambria Math" panose="02040503050406030204" pitchFamily="18" charset="0"/>
                      </a:rPr>
                      <m:t>𝑥</m:t>
                    </m:r>
                  </m:oMath>
                </a14:m>
                <a:r>
                  <a:rPr lang="en-US" sz="2000" dirty="0">
                    <a:latin typeface="Arial Narrow" panose="020B0606020202030204" pitchFamily="34" charset="0"/>
                  </a:rPr>
                  <a:t> represents the </a:t>
                </a:r>
                <a:r>
                  <a:rPr lang="en-US" sz="2000" dirty="0">
                    <a:solidFill>
                      <a:srgbClr val="7030A0"/>
                    </a:solidFill>
                    <a:latin typeface="Arial Narrow" panose="020B0606020202030204" pitchFamily="34" charset="0"/>
                  </a:rPr>
                  <a:t>observed feature vector </a:t>
                </a:r>
                <a:r>
                  <a:rPr lang="en-US" sz="2000" dirty="0">
                    <a:latin typeface="Arial Narrow" panose="020B0606020202030204" pitchFamily="34" charset="0"/>
                  </a:rPr>
                  <a:t>and </a:t>
                </a:r>
                <a14:m>
                  <m:oMath xmlns:m="http://schemas.openxmlformats.org/officeDocument/2006/math">
                    <m:r>
                      <a:rPr lang="en-IN" sz="2000" i="1" dirty="0">
                        <a:solidFill>
                          <a:srgbClr val="00B0F0"/>
                        </a:solidFill>
                        <a:latin typeface="Cambria Math" panose="02040503050406030204" pitchFamily="18" charset="0"/>
                      </a:rPr>
                      <m:t>𝑦</m:t>
                    </m:r>
                  </m:oMath>
                </a14:m>
                <a:r>
                  <a:rPr lang="en-US" sz="2000" dirty="0">
                    <a:latin typeface="Arial Narrow" panose="020B0606020202030204" pitchFamily="34" charset="0"/>
                  </a:rPr>
                  <a:t> represents the </a:t>
                </a:r>
                <a:r>
                  <a:rPr lang="en-US" sz="2000" dirty="0">
                    <a:solidFill>
                      <a:srgbClr val="7030A0"/>
                    </a:solidFill>
                    <a:latin typeface="Arial Narrow" panose="020B0606020202030204" pitchFamily="34" charset="0"/>
                  </a:rPr>
                  <a:t>associated class or outcome</a:t>
                </a:r>
                <a:r>
                  <a:rPr lang="en-US" sz="2000" dirty="0">
                    <a:latin typeface="Arial Narrow" panose="020B0606020202030204" pitchFamily="34" charset="0"/>
                  </a:rPr>
                  <a:t>. </a:t>
                </a:r>
              </a:p>
              <a:p>
                <a:pPr algn="just"/>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5456D343-5B95-43DA-AE1A-EC8DA33F449D}"/>
                  </a:ext>
                </a:extLst>
              </p:cNvPr>
              <p:cNvSpPr>
                <a:spLocks noGrp="1" noRot="1" noChangeAspect="1" noMove="1" noResize="1" noEditPoints="1" noAdjustHandles="1" noChangeArrowheads="1" noChangeShapeType="1" noTextEdit="1"/>
              </p:cNvSpPr>
              <p:nvPr>
                <p:ph idx="1"/>
              </p:nvPr>
            </p:nvSpPr>
            <p:spPr>
              <a:blipFill>
                <a:blip r:embed="rId2"/>
                <a:stretch>
                  <a:fillRect l="-522" t="-1401" r="-580"/>
                </a:stretch>
              </a:blipFill>
            </p:spPr>
            <p:txBody>
              <a:bodyPr/>
              <a:lstStyle/>
              <a:p>
                <a:r>
                  <a:rPr lang="en-IN">
                    <a:noFill/>
                  </a:rPr>
                  <a:t> </a:t>
                </a:r>
              </a:p>
            </p:txBody>
          </p:sp>
        </mc:Fallback>
      </mc:AlternateContent>
    </p:spTree>
    <p:extLst>
      <p:ext uri="{BB962C8B-B14F-4D97-AF65-F5344CB8AC3E}">
        <p14:creationId xmlns:p14="http://schemas.microsoft.com/office/powerpoint/2010/main" val="804941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E1F027-E02B-4794-BD0E-FD4C94C5C039}"/>
                  </a:ext>
                </a:extLst>
              </p:cNvPr>
              <p:cNvSpPr>
                <a:spLocks noGrp="1"/>
              </p:cNvSpPr>
              <p:nvPr>
                <p:ph idx="1"/>
              </p:nvPr>
            </p:nvSpPr>
            <p:spPr>
              <a:xfrm>
                <a:off x="838200" y="1825624"/>
                <a:ext cx="10515600" cy="4467599"/>
              </a:xfrm>
            </p:spPr>
            <p:txBody>
              <a:bodyPr>
                <a:normAutofit lnSpcReduction="10000"/>
              </a:bodyPr>
              <a:lstStyle/>
              <a:p>
                <a:pPr algn="just"/>
                <a:r>
                  <a:rPr lang="en-US" sz="2000" dirty="0">
                    <a:latin typeface="Arial Narrow" panose="020B0606020202030204" pitchFamily="34" charset="0"/>
                  </a:rPr>
                  <a:t>Since the </a:t>
                </a:r>
                <a:r>
                  <a:rPr lang="en-US" sz="2000" dirty="0">
                    <a:solidFill>
                      <a:srgbClr val="7030A0"/>
                    </a:solidFill>
                    <a:latin typeface="Arial Narrow" panose="020B0606020202030204" pitchFamily="34" charset="0"/>
                  </a:rPr>
                  <a:t>true data-generating distribution is unknown</a:t>
                </a:r>
                <a:r>
                  <a:rPr lang="en-US" sz="2000" dirty="0">
                    <a:latin typeface="Arial Narrow" panose="020B0606020202030204" pitchFamily="34" charset="0"/>
                  </a:rPr>
                  <a:t>, a generative learning algorithm estimates a parameterized distribution </a:t>
                </a:r>
                <a14:m>
                  <m:oMath xmlns:m="http://schemas.openxmlformats.org/officeDocument/2006/math">
                    <m:sSub>
                      <m:sSubPr>
                        <m:ctrlPr>
                          <a:rPr lang="en-IN" sz="2000" i="1" smtClean="0">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IN" sz="2000" i="1">
                            <a:solidFill>
                              <a:srgbClr val="00B0F0"/>
                            </a:solidFill>
                            <a:latin typeface="Cambria Math" panose="02040503050406030204" pitchFamily="18" charset="0"/>
                            <a:ea typeface="Cambria Math" panose="02040503050406030204" pitchFamily="18" charset="0"/>
                          </a:rPr>
                          <m:t>𝜃</m:t>
                        </m:r>
                      </m:sub>
                    </m:sSub>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ea typeface="Cambria Math" panose="02040503050406030204" pitchFamily="18" charset="0"/>
                      </a:rPr>
                      <m:t>𝑥</m:t>
                    </m:r>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ea typeface="Cambria Math" panose="02040503050406030204" pitchFamily="18" charset="0"/>
                      </a:rPr>
                      <m:t>𝑦</m:t>
                    </m:r>
                    <m:r>
                      <a:rPr lang="en-IN" sz="2000" i="1">
                        <a:solidFill>
                          <a:srgbClr val="00B0F0"/>
                        </a:solidFill>
                        <a:latin typeface="Cambria Math" panose="02040503050406030204" pitchFamily="18" charset="0"/>
                        <a:ea typeface="Cambria Math" panose="02040503050406030204" pitchFamily="18" charset="0"/>
                      </a:rPr>
                      <m:t>)</m:t>
                    </m:r>
                  </m:oMath>
                </a14:m>
                <a:r>
                  <a:rPr lang="en-IN" sz="2000" dirty="0">
                    <a:solidFill>
                      <a:srgbClr val="00B0F0"/>
                    </a:solidFill>
                    <a:latin typeface="Times New Roman" panose="02020603050405020304" pitchFamily="18" charset="0"/>
                    <a:cs typeface="Times New Roman" panose="02020603050405020304" pitchFamily="18" charset="0"/>
                  </a:rPr>
                  <a:t> </a:t>
                </a:r>
                <a:r>
                  <a:rPr lang="en-US" sz="2000" dirty="0">
                    <a:latin typeface="Arial Narrow" panose="020B0606020202030204" pitchFamily="34" charset="0"/>
                    <a:cs typeface="Times New Roman" panose="02020603050405020304" pitchFamily="18" charset="0"/>
                  </a:rPr>
                  <a:t>where </a:t>
                </a:r>
                <a14:m>
                  <m:oMath xmlns:m="http://schemas.openxmlformats.org/officeDocument/2006/math">
                    <m:r>
                      <a:rPr lang="en-IN" sz="2000" i="1" smtClean="0">
                        <a:solidFill>
                          <a:srgbClr val="00B0F0"/>
                        </a:solidFill>
                        <a:latin typeface="Cambria Math" panose="02040503050406030204" pitchFamily="18" charset="0"/>
                        <a:ea typeface="Cambria Math" panose="02040503050406030204" pitchFamily="18" charset="0"/>
                      </a:rPr>
                      <m:t>𝜃</m:t>
                    </m:r>
                  </m:oMath>
                </a14:m>
                <a:r>
                  <a:rPr lang="en-US" sz="2000" dirty="0">
                    <a:latin typeface="Arial Narrow" panose="020B0606020202030204" pitchFamily="34" charset="0"/>
                    <a:cs typeface="Times New Roman" panose="02020603050405020304" pitchFamily="18" charset="0"/>
                  </a:rPr>
                  <a:t> denotes the model parameters, such that</a:t>
                </a: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i="1" dirty="0">
                  <a:solidFill>
                    <a:srgbClr val="00B0F0"/>
                  </a:solidFill>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US" sz="2000" i="1" dirty="0">
                              <a:solidFill>
                                <a:srgbClr val="00B0F0"/>
                              </a:solidFill>
                              <a:latin typeface="Cambria Math" panose="02040503050406030204" pitchFamily="18" charset="0"/>
                              <a:ea typeface="Cambria Math" panose="02040503050406030204" pitchFamily="18" charset="0"/>
                            </a:rPr>
                            <m:t>𝜃</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𝑦</m:t>
                      </m:r>
                      <m:r>
                        <a:rPr lang="en-IN" sz="2000" i="1" dirty="0">
                          <a:solidFill>
                            <a:srgbClr val="00B0F0"/>
                          </a:solidFill>
                          <a:latin typeface="Cambria Math" panose="02040503050406030204" pitchFamily="18" charset="0"/>
                        </a:rPr>
                        <m:t>)≈</m:t>
                      </m:r>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IN" sz="2000" i="1" dirty="0">
                              <a:solidFill>
                                <a:srgbClr val="00B0F0"/>
                              </a:solidFill>
                              <a:latin typeface="Cambria Math" panose="02040503050406030204" pitchFamily="18" charset="0"/>
                            </a:rPr>
                            <m:t>𝑑𝑎𝑡𝑎</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𝑦</m:t>
                      </m:r>
                      <m:r>
                        <a:rPr lang="en-IN" sz="2000" i="1" dirty="0">
                          <a:solidFill>
                            <a:srgbClr val="00B0F0"/>
                          </a:solidFill>
                          <a:latin typeface="Cambria Math" panose="02040503050406030204" pitchFamily="18" charset="0"/>
                        </a:rPr>
                        <m:t>)</m:t>
                      </m:r>
                    </m:oMath>
                  </m:oMathPara>
                </a14:m>
                <a:endParaRPr lang="en-IN" sz="2000" dirty="0">
                  <a:solidFill>
                    <a:srgbClr val="00B0F0"/>
                  </a:solidFill>
                  <a:latin typeface="Arial Narrow" panose="020B0606020202030204" pitchFamily="34" charset="0"/>
                </a:endParaRPr>
              </a:p>
              <a:p>
                <a:pPr marL="0" indent="0" algn="just">
                  <a:buNone/>
                </a:pPr>
                <a:endParaRPr lang="en-IN" sz="2000" dirty="0">
                  <a:solidFill>
                    <a:srgbClr val="00B0F0"/>
                  </a:solidFill>
                  <a:latin typeface="Arial Narrow" panose="020B0606020202030204" pitchFamily="34" charset="0"/>
                </a:endParaRPr>
              </a:p>
              <a:p>
                <a:pPr algn="just"/>
                <a:r>
                  <a:rPr lang="en-US" sz="2000" dirty="0">
                    <a:latin typeface="Arial Narrow" panose="020B0606020202030204" pitchFamily="34" charset="0"/>
                  </a:rPr>
                  <a:t>The joint distribution can be factorized as  </a:t>
                </a:r>
              </a:p>
              <a:p>
                <a:pPr marL="0" indent="0" algn="just">
                  <a:buNone/>
                </a:pPr>
                <a:endParaRPr lang="en-IN" sz="2000" i="1" dirty="0">
                  <a:solidFill>
                    <a:srgbClr val="00B0F0"/>
                  </a:solidFill>
                  <a:latin typeface="Cambria Math" panose="02040503050406030204" pitchFamily="18" charset="0"/>
                  <a:ea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rPr>
                          </m:ctrlPr>
                        </m:dPr>
                        <m:e>
                          <m:r>
                            <a:rPr lang="en-IN" sz="2000" i="1">
                              <a:solidFill>
                                <a:srgbClr val="00B0F0"/>
                              </a:solidFill>
                              <a:latin typeface="Cambria Math" panose="02040503050406030204" pitchFamily="18" charset="0"/>
                              <a:ea typeface="Cambria Math" panose="02040503050406030204" pitchFamily="18" charset="0"/>
                            </a:rPr>
                            <m:t>𝑥</m:t>
                          </m:r>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ea typeface="Cambria Math" panose="02040503050406030204" pitchFamily="18" charset="0"/>
                            </a:rPr>
                            <m:t>𝑦</m:t>
                          </m:r>
                        </m:e>
                      </m:d>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e>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m:oMathPara>
                </a14:m>
                <a:endParaRPr lang="en-IN" sz="2000" dirty="0">
                  <a:latin typeface="Arial Narrow" panose="020B0606020202030204" pitchFamily="34" charset="0"/>
                </a:endParaRPr>
              </a:p>
              <a:p>
                <a:pPr marL="0" indent="0" algn="just">
                  <a:buNone/>
                </a:pPr>
                <a:r>
                  <a:rPr lang="en-IN" sz="2000" dirty="0">
                    <a:latin typeface="Arial Narrow" panose="020B0606020202030204" pitchFamily="34" charset="0"/>
                  </a:rPr>
                  <a:t>where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a14:m>
                <a:r>
                  <a:rPr lang="en-IN" sz="2000" dirty="0">
                    <a:latin typeface="Arial Narrow" panose="020B0606020202030204" pitchFamily="34" charset="0"/>
                  </a:rPr>
                  <a:t> </a:t>
                </a:r>
                <a:r>
                  <a:rPr lang="en-US" sz="2000" dirty="0">
                    <a:latin typeface="Arial Narrow" panose="020B0606020202030204" pitchFamily="34" charset="0"/>
                  </a:rPr>
                  <a:t>represents the </a:t>
                </a:r>
                <a:r>
                  <a:rPr lang="en-US" sz="2000" dirty="0">
                    <a:solidFill>
                      <a:srgbClr val="7030A0"/>
                    </a:solidFill>
                    <a:latin typeface="Arial Narrow" panose="020B0606020202030204" pitchFamily="34" charset="0"/>
                  </a:rPr>
                  <a:t>class-prior probability</a:t>
                </a:r>
                <a:r>
                  <a:rPr lang="en-US" sz="2000" dirty="0">
                    <a:latin typeface="Arial Narrow" panose="020B0606020202030204" pitchFamily="34" charset="0"/>
                  </a:rPr>
                  <a:t>, indicating the </a:t>
                </a:r>
                <a:r>
                  <a:rPr lang="en-US" sz="2000" dirty="0">
                    <a:solidFill>
                      <a:srgbClr val="7030A0"/>
                    </a:solidFill>
                    <a:latin typeface="Arial Narrow" panose="020B0606020202030204" pitchFamily="34" charset="0"/>
                  </a:rPr>
                  <a:t>probability of observing a particular class</a:t>
                </a:r>
                <a:r>
                  <a:rPr lang="en-US" sz="2000" dirty="0">
                    <a:latin typeface="Arial Narrow" panose="020B0606020202030204" pitchFamily="34" charset="0"/>
                  </a:rPr>
                  <a:t>,  and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e>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a14:m>
                <a:r>
                  <a:rPr lang="en-IN" sz="2000" dirty="0">
                    <a:latin typeface="Arial Narrow" panose="020B0606020202030204" pitchFamily="34" charset="0"/>
                  </a:rPr>
                  <a:t> </a:t>
                </a:r>
                <a:r>
                  <a:rPr lang="en-US" sz="2000" dirty="0">
                    <a:latin typeface="Arial Narrow" panose="020B0606020202030204" pitchFamily="34" charset="0"/>
                  </a:rPr>
                  <a:t>represents the </a:t>
                </a:r>
                <a:r>
                  <a:rPr lang="en-US" sz="2000" dirty="0">
                    <a:solidFill>
                      <a:srgbClr val="7030A0"/>
                    </a:solidFill>
                    <a:latin typeface="Arial Narrow" panose="020B0606020202030204" pitchFamily="34" charset="0"/>
                  </a:rPr>
                  <a:t>class-conditional probability density</a:t>
                </a:r>
                <a:r>
                  <a:rPr lang="en-US" sz="2000" dirty="0">
                    <a:latin typeface="Arial Narrow" panose="020B0606020202030204" pitchFamily="34" charset="0"/>
                  </a:rPr>
                  <a:t>, describing the </a:t>
                </a:r>
                <a:r>
                  <a:rPr lang="en-US" sz="2000" dirty="0">
                    <a:solidFill>
                      <a:srgbClr val="7030A0"/>
                    </a:solidFill>
                    <a:latin typeface="Arial Narrow" panose="020B0606020202030204" pitchFamily="34" charset="0"/>
                  </a:rPr>
                  <a:t>distribution of feature vectors within that class</a:t>
                </a:r>
                <a:r>
                  <a:rPr lang="en-US" sz="2000" dirty="0">
                    <a:latin typeface="Arial Narrow" panose="020B0606020202030204" pitchFamily="34" charset="0"/>
                  </a:rPr>
                  <a:t>.</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During training, the </a:t>
                </a:r>
                <a:r>
                  <a:rPr lang="en-US" sz="2000" dirty="0">
                    <a:solidFill>
                      <a:srgbClr val="7030A0"/>
                    </a:solidFill>
                    <a:latin typeface="Arial Narrow" panose="020B0606020202030204" pitchFamily="34" charset="0"/>
                  </a:rPr>
                  <a:t>model estimates these distributions from the available observations </a:t>
                </a:r>
                <a:r>
                  <a:rPr lang="en-US" sz="2000" dirty="0">
                    <a:latin typeface="Arial Narrow" panose="020B0606020202030204" pitchFamily="34" charset="0"/>
                  </a:rPr>
                  <a:t>and </a:t>
                </a:r>
                <a:r>
                  <a:rPr lang="en-US" sz="2000" dirty="0">
                    <a:solidFill>
                      <a:srgbClr val="7030A0"/>
                    </a:solidFill>
                    <a:latin typeface="Arial Narrow" panose="020B0606020202030204" pitchFamily="34" charset="0"/>
                  </a:rPr>
                  <a:t>adjusts its parameters to obtain the best statistical representation of the underlying population</a:t>
                </a:r>
                <a:r>
                  <a:rPr lang="en-US" sz="2000" dirty="0">
                    <a:latin typeface="Arial Narrow" panose="020B0606020202030204" pitchFamily="34" charset="0"/>
                  </a:rPr>
                  <a:t>. </a:t>
                </a:r>
              </a:p>
              <a:p>
                <a:pPr algn="just"/>
                <a:endParaRPr lang="en-IN" sz="2000" dirty="0">
                  <a:latin typeface="Arial Narrow" panose="020B0606020202030204" pitchFamily="34" charset="0"/>
                </a:endParaRPr>
              </a:p>
              <a:p>
                <a:endParaRPr lang="en-IN" dirty="0"/>
              </a:p>
            </p:txBody>
          </p:sp>
        </mc:Choice>
        <mc:Fallback xmlns="">
          <p:sp>
            <p:nvSpPr>
              <p:cNvPr id="3" name="Content Placeholder 2">
                <a:extLst>
                  <a:ext uri="{FF2B5EF4-FFF2-40B4-BE49-F238E27FC236}">
                    <a16:creationId xmlns:a16="http://schemas.microsoft.com/office/drawing/2014/main" id="{40E1F027-E02B-4794-BD0E-FD4C94C5C039}"/>
                  </a:ext>
                </a:extLst>
              </p:cNvPr>
              <p:cNvSpPr>
                <a:spLocks noGrp="1" noRot="1" noChangeAspect="1" noMove="1" noResize="1" noEditPoints="1" noAdjustHandles="1" noChangeArrowheads="1" noChangeShapeType="1" noTextEdit="1"/>
              </p:cNvSpPr>
              <p:nvPr>
                <p:ph idx="1"/>
              </p:nvPr>
            </p:nvSpPr>
            <p:spPr>
              <a:xfrm>
                <a:off x="838200" y="1825624"/>
                <a:ext cx="10515600" cy="4467599"/>
              </a:xfrm>
              <a:blipFill>
                <a:blip r:embed="rId2"/>
                <a:stretch>
                  <a:fillRect l="-638" t="-2046" r="-580" b="-2183"/>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C262D5CA-D520-4D71-B286-8DA1639CEF63}"/>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How Generative Model Works?</a:t>
            </a:r>
            <a:br>
              <a:rPr lang="en-IN" sz="3600" dirty="0">
                <a:latin typeface="Century" panose="02040604050505020304" pitchFamily="18" charset="0"/>
              </a:rPr>
            </a:br>
            <a:r>
              <a:rPr lang="en-IN" sz="2800" dirty="0">
                <a:latin typeface="Century" panose="02040604050505020304" pitchFamily="18" charset="0"/>
              </a:rPr>
              <a:t>A statistical Understanding</a:t>
            </a:r>
          </a:p>
        </p:txBody>
      </p:sp>
    </p:spTree>
    <p:extLst>
      <p:ext uri="{BB962C8B-B14F-4D97-AF65-F5344CB8AC3E}">
        <p14:creationId xmlns:p14="http://schemas.microsoft.com/office/powerpoint/2010/main" val="136114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D0FF3C-B4D1-47BD-9CE3-2DE369C1B9C7}"/>
                  </a:ext>
                </a:extLst>
              </p:cNvPr>
              <p:cNvSpPr>
                <a:spLocks noGrp="1"/>
              </p:cNvSpPr>
              <p:nvPr>
                <p:ph idx="1"/>
              </p:nvPr>
            </p:nvSpPr>
            <p:spPr>
              <a:xfrm>
                <a:off x="838200" y="1690688"/>
                <a:ext cx="10797988" cy="4667250"/>
              </a:xfrm>
            </p:spPr>
            <p:txBody>
              <a:bodyPr>
                <a:noAutofit/>
              </a:bodyPr>
              <a:lstStyle/>
              <a:p>
                <a:pPr algn="just"/>
                <a:r>
                  <a:rPr lang="en-US" sz="2000" dirty="0">
                    <a:latin typeface="Arial Narrow" panose="020B0606020202030204" pitchFamily="34" charset="0"/>
                  </a:rPr>
                  <a:t>In </a:t>
                </a:r>
                <a:r>
                  <a:rPr lang="en-US" sz="2000" dirty="0">
                    <a:solidFill>
                      <a:srgbClr val="7030A0"/>
                    </a:solidFill>
                    <a:latin typeface="Arial Narrow" panose="020B0606020202030204" pitchFamily="34" charset="0"/>
                  </a:rPr>
                  <a:t>likelihood-based generative learning</a:t>
                </a:r>
                <a:r>
                  <a:rPr lang="en-US" sz="2000" dirty="0">
                    <a:latin typeface="Arial Narrow" panose="020B0606020202030204" pitchFamily="34" charset="0"/>
                  </a:rPr>
                  <a:t>, this is commonly achieved by maximizing the joint </a:t>
                </a:r>
                <a:r>
                  <a:rPr lang="en-US" sz="2000" dirty="0">
                    <a:solidFill>
                      <a:srgbClr val="7030A0"/>
                    </a:solidFill>
                    <a:latin typeface="Arial Narrow" panose="020B0606020202030204" pitchFamily="34" charset="0"/>
                  </a:rPr>
                  <a:t>log-likelihood </a:t>
                </a:r>
                <a:r>
                  <a:rPr lang="en-US" sz="2000" dirty="0">
                    <a:latin typeface="Arial Narrow" panose="020B0606020202030204" pitchFamily="34" charset="0"/>
                  </a:rPr>
                  <a:t>of the training data:</a:t>
                </a:r>
                <a:r>
                  <a:rPr lang="en-IN" sz="2000" dirty="0"/>
                  <a:t>                                                             </a:t>
                </a:r>
                <a:endParaRPr lang="en-IN" sz="2000" dirty="0">
                  <a:latin typeface="Arial Narrow" panose="020B0606020202030204" pitchFamily="34" charset="0"/>
                </a:endParaRPr>
              </a:p>
              <a:p>
                <a:pPr marL="0" indent="0" algn="just">
                  <a:buNone/>
                </a:pPr>
                <a14:m>
                  <m:oMathPara xmlns:m="http://schemas.openxmlformats.org/officeDocument/2006/math">
                    <m:oMathParaPr>
                      <m:jc m:val="centerGroup"/>
                    </m:oMathParaPr>
                    <m:oMath xmlns:m="http://schemas.openxmlformats.org/officeDocument/2006/math">
                      <m:sSup>
                        <m:sSupPr>
                          <m:ctrlPr>
                            <a:rPr lang="en-IN" sz="2000" i="1" smtClean="0">
                              <a:solidFill>
                                <a:srgbClr val="00B0F0"/>
                              </a:solidFill>
                              <a:latin typeface="Cambria Math" panose="02040503050406030204" pitchFamily="18" charset="0"/>
                            </a:rPr>
                          </m:ctrlPr>
                        </m:sSupPr>
                        <m:e>
                          <m:r>
                            <a:rPr lang="en-IN" sz="2000" i="1">
                              <a:solidFill>
                                <a:srgbClr val="00B0F0"/>
                              </a:solidFill>
                              <a:latin typeface="Cambria Math" panose="02040503050406030204" pitchFamily="18" charset="0"/>
                              <a:ea typeface="Cambria Math" panose="02040503050406030204" pitchFamily="18" charset="0"/>
                            </a:rPr>
                            <m:t>𝜃</m:t>
                          </m:r>
                        </m:e>
                        <m:sup>
                          <m:r>
                            <a:rPr lang="en-IN" sz="2000" i="1">
                              <a:solidFill>
                                <a:srgbClr val="00B0F0"/>
                              </a:solidFill>
                              <a:latin typeface="Cambria Math" panose="02040503050406030204" pitchFamily="18" charset="0"/>
                            </a:rPr>
                            <m:t>∗</m:t>
                          </m:r>
                        </m:sup>
                      </m:sSup>
                      <m:r>
                        <a:rPr lang="en-IN" sz="2000" i="1">
                          <a:solidFill>
                            <a:srgbClr val="00B0F0"/>
                          </a:solidFill>
                          <a:latin typeface="Cambria Math" panose="02040503050406030204" pitchFamily="18" charset="0"/>
                        </a:rPr>
                        <m:t>=</m:t>
                      </m:r>
                      <m:m>
                        <m:mPr>
                          <m:mcs>
                            <m:mc>
                              <m:mcPr>
                                <m:count m:val="1"/>
                                <m:mcJc m:val="center"/>
                              </m:mcPr>
                            </m:mc>
                          </m:mcs>
                          <m:ctrlPr>
                            <a:rPr lang="en-IN" sz="2000" i="1">
                              <a:solidFill>
                                <a:srgbClr val="00B0F0"/>
                              </a:solidFill>
                              <a:latin typeface="Cambria Math" panose="02040503050406030204" pitchFamily="18" charset="0"/>
                            </a:rPr>
                          </m:ctrlPr>
                        </m:mPr>
                        <m:mr>
                          <m:e>
                            <m:r>
                              <m:rPr>
                                <m:brk m:alnAt="7"/>
                              </m:rPr>
                              <a:rPr lang="en-IN" sz="2000" i="1">
                                <a:solidFill>
                                  <a:srgbClr val="00B0F0"/>
                                </a:solidFill>
                                <a:latin typeface="Cambria Math" panose="02040503050406030204" pitchFamily="18" charset="0"/>
                              </a:rPr>
                              <m:t>𝑎</m:t>
                            </m:r>
                            <m:r>
                              <a:rPr lang="en-IN" sz="2000" i="1">
                                <a:solidFill>
                                  <a:srgbClr val="00B0F0"/>
                                </a:solidFill>
                                <a:latin typeface="Cambria Math" panose="02040503050406030204" pitchFamily="18" charset="0"/>
                              </a:rPr>
                              <m:t>𝑟𝑔𝑚𝑎𝑥</m:t>
                            </m:r>
                          </m:e>
                        </m:mr>
                        <m:mr>
                          <m:e>
                            <m:r>
                              <a:rPr lang="en-IN" sz="2000" i="1">
                                <a:solidFill>
                                  <a:srgbClr val="00B0F0"/>
                                </a:solidFill>
                                <a:latin typeface="Cambria Math" panose="02040503050406030204" pitchFamily="18" charset="0"/>
                                <a:ea typeface="Cambria Math" panose="02040503050406030204" pitchFamily="18" charset="0"/>
                              </a:rPr>
                              <m:t>𝜃</m:t>
                            </m:r>
                          </m:e>
                        </m:mr>
                      </m:m>
                      <m:nary>
                        <m:naryPr>
                          <m:chr m:val="∑"/>
                          <m:ctrlPr>
                            <a:rPr lang="en-IN" sz="2000" i="1">
                              <a:solidFill>
                                <a:srgbClr val="00B0F0"/>
                              </a:solidFill>
                              <a:latin typeface="Cambria Math" panose="02040503050406030204" pitchFamily="18" charset="0"/>
                            </a:rPr>
                          </m:ctrlPr>
                        </m:naryPr>
                        <m:sub>
                          <m:r>
                            <m:rPr>
                              <m:brk m:alnAt="23"/>
                            </m:rPr>
                            <a:rPr lang="en-IN" sz="2000" i="1">
                              <a:solidFill>
                                <a:srgbClr val="00B0F0"/>
                              </a:solidFill>
                              <a:latin typeface="Cambria Math" panose="02040503050406030204" pitchFamily="18" charset="0"/>
                            </a:rPr>
                            <m:t>𝑖</m:t>
                          </m:r>
                          <m:r>
                            <a:rPr lang="en-IN" sz="2000" i="1">
                              <a:solidFill>
                                <a:srgbClr val="00B0F0"/>
                              </a:solidFill>
                              <a:latin typeface="Cambria Math" panose="02040503050406030204" pitchFamily="18" charset="0"/>
                            </a:rPr>
                            <m:t>=1</m:t>
                          </m:r>
                        </m:sub>
                        <m:sup>
                          <m:r>
                            <a:rPr lang="en-IN" sz="2000" i="1">
                              <a:solidFill>
                                <a:srgbClr val="00B0F0"/>
                              </a:solidFill>
                              <a:latin typeface="Cambria Math" panose="02040503050406030204" pitchFamily="18" charset="0"/>
                            </a:rPr>
                            <m:t>𝑁</m:t>
                          </m:r>
                        </m:sup>
                        <m:e>
                          <m:func>
                            <m:funcPr>
                              <m:ctrlPr>
                                <a:rPr lang="en-IN" sz="2000" i="1">
                                  <a:solidFill>
                                    <a:srgbClr val="00B0F0"/>
                                  </a:solidFill>
                                  <a:latin typeface="Cambria Math" panose="02040503050406030204" pitchFamily="18" charset="0"/>
                                </a:rPr>
                              </m:ctrlPr>
                            </m:funcPr>
                            <m:fName>
                              <m:r>
                                <m:rPr>
                                  <m:sty m:val="p"/>
                                </m:rPr>
                                <a:rPr lang="en-IN" sz="2000">
                                  <a:solidFill>
                                    <a:srgbClr val="00B0F0"/>
                                  </a:solidFill>
                                  <a:latin typeface="Cambria Math" panose="02040503050406030204" pitchFamily="18" charset="0"/>
                                </a:rPr>
                                <m:t>log</m:t>
                              </m:r>
                            </m:fName>
                            <m:e>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𝑝</m:t>
                                  </m:r>
                                </m:e>
                                <m:sub>
                                  <m:r>
                                    <a:rPr lang="en-IN" sz="2000" i="1">
                                      <a:solidFill>
                                        <a:srgbClr val="00B0F0"/>
                                      </a:solidFill>
                                      <a:latin typeface="Cambria Math" panose="02040503050406030204" pitchFamily="18" charset="0"/>
                                      <a:ea typeface="Cambria Math" panose="02040503050406030204" pitchFamily="18" charset="0"/>
                                    </a:rPr>
                                    <m:t>𝜃</m:t>
                                  </m:r>
                                </m:sub>
                              </m:sSub>
                              <m:r>
                                <a:rPr lang="en-IN" sz="2000" i="1">
                                  <a:solidFill>
                                    <a:srgbClr val="00B0F0"/>
                                  </a:solidFill>
                                  <a:latin typeface="Cambria Math" panose="02040503050406030204" pitchFamily="18" charset="0"/>
                                </a:rPr>
                                <m:t>(</m:t>
                              </m:r>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𝑥</m:t>
                                  </m:r>
                                </m:e>
                                <m:sub>
                                  <m:r>
                                    <a:rPr lang="en-IN" sz="2000" i="1">
                                      <a:solidFill>
                                        <a:srgbClr val="00B0F0"/>
                                      </a:solidFill>
                                      <a:latin typeface="Cambria Math" panose="02040503050406030204" pitchFamily="18" charset="0"/>
                                    </a:rPr>
                                    <m:t>𝑖</m:t>
                                  </m:r>
                                </m:sub>
                              </m:sSub>
                              <m:r>
                                <a:rPr lang="en-GB" sz="2000" b="0" i="1" smtClean="0">
                                  <a:solidFill>
                                    <a:srgbClr val="00B0F0"/>
                                  </a:solidFill>
                                  <a:latin typeface="Cambria Math" panose="02040503050406030204" pitchFamily="18" charset="0"/>
                                </a:rPr>
                                <m:t>,</m:t>
                              </m:r>
                              <m:sSub>
                                <m:sSubPr>
                                  <m:ctrlPr>
                                    <a:rPr lang="en-IN" sz="2000" i="1">
                                      <a:solidFill>
                                        <a:srgbClr val="00B0F0"/>
                                      </a:solidFill>
                                      <a:latin typeface="Cambria Math" panose="02040503050406030204" pitchFamily="18" charset="0"/>
                                    </a:rPr>
                                  </m:ctrlPr>
                                </m:sSubPr>
                                <m:e>
                                  <m:r>
                                    <a:rPr lang="en-GB" sz="2000" b="0" i="1" smtClean="0">
                                      <a:solidFill>
                                        <a:srgbClr val="00B0F0"/>
                                      </a:solidFill>
                                      <a:latin typeface="Cambria Math" panose="02040503050406030204" pitchFamily="18" charset="0"/>
                                    </a:rPr>
                                    <m:t>𝑦</m:t>
                                  </m:r>
                                </m:e>
                                <m:sub>
                                  <m:r>
                                    <a:rPr lang="en-IN" sz="2000" i="1">
                                      <a:solidFill>
                                        <a:srgbClr val="00B0F0"/>
                                      </a:solidFill>
                                      <a:latin typeface="Cambria Math" panose="02040503050406030204" pitchFamily="18" charset="0"/>
                                    </a:rPr>
                                    <m:t>𝑖</m:t>
                                  </m:r>
                                </m:sub>
                              </m:sSub>
                              <m:r>
                                <a:rPr lang="en-IN" sz="2000" i="1">
                                  <a:solidFill>
                                    <a:srgbClr val="00B0F0"/>
                                  </a:solidFill>
                                  <a:latin typeface="Cambria Math" panose="02040503050406030204" pitchFamily="18" charset="0"/>
                                </a:rPr>
                                <m:t>)</m:t>
                              </m:r>
                            </m:e>
                          </m:func>
                        </m:e>
                      </m:nary>
                    </m:oMath>
                  </m:oMathPara>
                </a14:m>
                <a:endParaRPr lang="en-IN" sz="2000" dirty="0">
                  <a:latin typeface="Arial Narrow" panose="020B0606020202030204" pitchFamily="34" charset="0"/>
                </a:endParaRPr>
              </a:p>
              <a:p>
                <a:pPr algn="just"/>
                <a:r>
                  <a:rPr lang="en-US" sz="2000" dirty="0">
                    <a:latin typeface="Arial Narrow" panose="020B0606020202030204" pitchFamily="34" charset="0"/>
                  </a:rPr>
                  <a:t>Using the factorized form, the objective can be expressed as</a:t>
                </a:r>
                <a:r>
                  <a:rPr lang="en-IN" sz="2000" dirty="0">
                    <a:solidFill>
                      <a:srgbClr val="00B0F0"/>
                    </a:solidFill>
                  </a:rPr>
                  <a:t>                                                        </a:t>
                </a:r>
                <a:endParaRPr lang="en-IN" sz="2000" dirty="0">
                  <a:latin typeface="Arial Narrow" panose="020B0606020202030204" pitchFamily="34" charset="0"/>
                </a:endParaRPr>
              </a:p>
              <a:p>
                <a:pPr marL="0" indent="0" algn="just">
                  <a:buNone/>
                </a:pPr>
                <a14:m>
                  <m:oMathPara xmlns:m="http://schemas.openxmlformats.org/officeDocument/2006/math">
                    <m:oMathParaPr>
                      <m:jc m:val="centerGroup"/>
                    </m:oMathParaPr>
                    <m:oMath xmlns:m="http://schemas.openxmlformats.org/officeDocument/2006/math">
                      <m:sSup>
                        <m:sSupPr>
                          <m:ctrlPr>
                            <a:rPr lang="en-IN" sz="2000" i="1" smtClean="0">
                              <a:solidFill>
                                <a:srgbClr val="00B0F0"/>
                              </a:solidFill>
                              <a:latin typeface="Cambria Math" panose="02040503050406030204" pitchFamily="18" charset="0"/>
                            </a:rPr>
                          </m:ctrlPr>
                        </m:sSupPr>
                        <m:e>
                          <m:r>
                            <a:rPr lang="en-IN" sz="2000" i="1">
                              <a:solidFill>
                                <a:srgbClr val="00B0F0"/>
                              </a:solidFill>
                              <a:latin typeface="Cambria Math" panose="02040503050406030204" pitchFamily="18" charset="0"/>
                              <a:ea typeface="Cambria Math" panose="02040503050406030204" pitchFamily="18" charset="0"/>
                            </a:rPr>
                            <m:t>𝜃</m:t>
                          </m:r>
                        </m:e>
                        <m:sup>
                          <m:r>
                            <a:rPr lang="en-IN" sz="2000" i="1">
                              <a:solidFill>
                                <a:srgbClr val="00B0F0"/>
                              </a:solidFill>
                              <a:latin typeface="Cambria Math" panose="02040503050406030204" pitchFamily="18" charset="0"/>
                            </a:rPr>
                            <m:t>∗</m:t>
                          </m:r>
                        </m:sup>
                      </m:sSup>
                      <m:r>
                        <a:rPr lang="en-IN" sz="2000" i="1">
                          <a:solidFill>
                            <a:srgbClr val="00B0F0"/>
                          </a:solidFill>
                          <a:latin typeface="Cambria Math" panose="02040503050406030204" pitchFamily="18" charset="0"/>
                        </a:rPr>
                        <m:t>=</m:t>
                      </m:r>
                      <m:m>
                        <m:mPr>
                          <m:mcs>
                            <m:mc>
                              <m:mcPr>
                                <m:count m:val="1"/>
                                <m:mcJc m:val="center"/>
                              </m:mcPr>
                            </m:mc>
                          </m:mcs>
                          <m:ctrlPr>
                            <a:rPr lang="en-IN" sz="2000" i="1">
                              <a:solidFill>
                                <a:srgbClr val="00B0F0"/>
                              </a:solidFill>
                              <a:latin typeface="Cambria Math" panose="02040503050406030204" pitchFamily="18" charset="0"/>
                            </a:rPr>
                          </m:ctrlPr>
                        </m:mPr>
                        <m:mr>
                          <m:e>
                            <m:r>
                              <m:rPr>
                                <m:brk m:alnAt="7"/>
                              </m:rPr>
                              <a:rPr lang="en-IN" sz="2000" i="1">
                                <a:solidFill>
                                  <a:srgbClr val="00B0F0"/>
                                </a:solidFill>
                                <a:latin typeface="Cambria Math" panose="02040503050406030204" pitchFamily="18" charset="0"/>
                              </a:rPr>
                              <m:t>𝑎</m:t>
                            </m:r>
                            <m:r>
                              <a:rPr lang="en-IN" sz="2000" i="1">
                                <a:solidFill>
                                  <a:srgbClr val="00B0F0"/>
                                </a:solidFill>
                                <a:latin typeface="Cambria Math" panose="02040503050406030204" pitchFamily="18" charset="0"/>
                              </a:rPr>
                              <m:t>𝑟𝑔𝑚𝑎𝑥</m:t>
                            </m:r>
                          </m:e>
                        </m:mr>
                        <m:mr>
                          <m:e>
                            <m:r>
                              <a:rPr lang="en-IN" sz="2000" i="1">
                                <a:solidFill>
                                  <a:srgbClr val="00B0F0"/>
                                </a:solidFill>
                                <a:latin typeface="Cambria Math" panose="02040503050406030204" pitchFamily="18" charset="0"/>
                                <a:ea typeface="Cambria Math" panose="02040503050406030204" pitchFamily="18" charset="0"/>
                              </a:rPr>
                              <m:t>𝜃</m:t>
                            </m:r>
                          </m:e>
                        </m:mr>
                      </m:m>
                      <m:nary>
                        <m:naryPr>
                          <m:chr m:val="∑"/>
                          <m:ctrlPr>
                            <a:rPr lang="en-IN" sz="2000" i="1">
                              <a:solidFill>
                                <a:srgbClr val="00B0F0"/>
                              </a:solidFill>
                              <a:latin typeface="Cambria Math" panose="02040503050406030204" pitchFamily="18" charset="0"/>
                            </a:rPr>
                          </m:ctrlPr>
                        </m:naryPr>
                        <m:sub>
                          <m:r>
                            <m:rPr>
                              <m:brk m:alnAt="23"/>
                            </m:rPr>
                            <a:rPr lang="en-IN" sz="2000" i="1">
                              <a:solidFill>
                                <a:srgbClr val="00B0F0"/>
                              </a:solidFill>
                              <a:latin typeface="Cambria Math" panose="02040503050406030204" pitchFamily="18" charset="0"/>
                            </a:rPr>
                            <m:t>𝑖</m:t>
                          </m:r>
                          <m:r>
                            <a:rPr lang="en-IN" sz="2000" i="1">
                              <a:solidFill>
                                <a:srgbClr val="00B0F0"/>
                              </a:solidFill>
                              <a:latin typeface="Cambria Math" panose="02040503050406030204" pitchFamily="18" charset="0"/>
                            </a:rPr>
                            <m:t>=1</m:t>
                          </m:r>
                        </m:sub>
                        <m:sup>
                          <m:r>
                            <a:rPr lang="en-IN" sz="2000" i="1">
                              <a:solidFill>
                                <a:srgbClr val="00B0F0"/>
                              </a:solidFill>
                              <a:latin typeface="Cambria Math" panose="02040503050406030204" pitchFamily="18" charset="0"/>
                            </a:rPr>
                            <m:t>𝑁</m:t>
                          </m:r>
                        </m:sup>
                        <m:e>
                          <m:func>
                            <m:funcPr>
                              <m:ctrlPr>
                                <a:rPr lang="en-IN" sz="2000" i="1">
                                  <a:solidFill>
                                    <a:srgbClr val="00B0F0"/>
                                  </a:solidFill>
                                  <a:latin typeface="Cambria Math" panose="02040503050406030204" pitchFamily="18" charset="0"/>
                                </a:rPr>
                              </m:ctrlPr>
                            </m:funcPr>
                            <m:fName>
                              <m:r>
                                <a:rPr lang="en-IN" sz="2000" i="1">
                                  <a:solidFill>
                                    <a:srgbClr val="00B0F0"/>
                                  </a:solidFill>
                                  <a:latin typeface="Cambria Math" panose="02040503050406030204" pitchFamily="18" charset="0"/>
                                </a:rPr>
                                <m:t>[</m:t>
                              </m:r>
                              <m:func>
                                <m:funcPr>
                                  <m:ctrlPr>
                                    <a:rPr lang="en-IN" sz="2000" i="1">
                                      <a:solidFill>
                                        <a:srgbClr val="00B0F0"/>
                                      </a:solidFill>
                                      <a:latin typeface="Cambria Math" panose="02040503050406030204" pitchFamily="18" charset="0"/>
                                    </a:rPr>
                                  </m:ctrlPr>
                                </m:funcPr>
                                <m:fName>
                                  <m:r>
                                    <m:rPr>
                                      <m:sty m:val="p"/>
                                    </m:rPr>
                                    <a:rPr lang="en-IN" sz="2000">
                                      <a:solidFill>
                                        <a:srgbClr val="00B0F0"/>
                                      </a:solidFill>
                                      <a:latin typeface="Cambria Math" panose="02040503050406030204" pitchFamily="18" charset="0"/>
                                    </a:rPr>
                                    <m:t>log</m:t>
                                  </m:r>
                                </m:fName>
                                <m:e>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𝑝</m:t>
                                      </m:r>
                                    </m:e>
                                    <m:sub>
                                      <m:r>
                                        <a:rPr lang="en-IN" sz="2000" i="1">
                                          <a:solidFill>
                                            <a:srgbClr val="00B0F0"/>
                                          </a:solidFill>
                                          <a:latin typeface="Cambria Math" panose="02040503050406030204" pitchFamily="18" charset="0"/>
                                          <a:ea typeface="Cambria Math" panose="02040503050406030204" pitchFamily="18" charset="0"/>
                                        </a:rPr>
                                        <m:t>𝜃</m:t>
                                      </m:r>
                                    </m:sub>
                                  </m:sSub>
                                  <m:r>
                                    <a:rPr lang="en-IN" sz="2000" i="1">
                                      <a:solidFill>
                                        <a:srgbClr val="00B0F0"/>
                                      </a:solidFill>
                                      <a:latin typeface="Cambria Math" panose="02040503050406030204" pitchFamily="18" charset="0"/>
                                    </a:rPr>
                                    <m:t>(</m:t>
                                  </m:r>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𝑦</m:t>
                                      </m:r>
                                    </m:e>
                                    <m:sub>
                                      <m:r>
                                        <a:rPr lang="en-IN" sz="2000" i="1">
                                          <a:solidFill>
                                            <a:srgbClr val="00B0F0"/>
                                          </a:solidFill>
                                          <a:latin typeface="Cambria Math" panose="02040503050406030204" pitchFamily="18" charset="0"/>
                                        </a:rPr>
                                        <m:t>𝑖</m:t>
                                      </m:r>
                                    </m:sub>
                                  </m:sSub>
                                  <m:r>
                                    <a:rPr lang="en-IN" sz="2000" i="1">
                                      <a:solidFill>
                                        <a:srgbClr val="00B0F0"/>
                                      </a:solidFill>
                                      <a:latin typeface="Cambria Math" panose="02040503050406030204" pitchFamily="18" charset="0"/>
                                    </a:rPr>
                                    <m:t>)</m:t>
                                  </m:r>
                                </m:e>
                              </m:func>
                              <m:r>
                                <a:rPr lang="en-IN" sz="2000">
                                  <a:solidFill>
                                    <a:srgbClr val="00B0F0"/>
                                  </a:solidFill>
                                  <a:latin typeface="Cambria Math" panose="02040503050406030204" pitchFamily="18" charset="0"/>
                                </a:rPr>
                                <m:t>+</m:t>
                              </m:r>
                              <m:r>
                                <m:rPr>
                                  <m:sty m:val="p"/>
                                </m:rPr>
                                <a:rPr lang="en-IN" sz="2000">
                                  <a:solidFill>
                                    <a:srgbClr val="00B0F0"/>
                                  </a:solidFill>
                                  <a:latin typeface="Cambria Math" panose="02040503050406030204" pitchFamily="18" charset="0"/>
                                </a:rPr>
                                <m:t>log</m:t>
                              </m:r>
                            </m:fName>
                            <m:e>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𝑝</m:t>
                                  </m:r>
                                </m:e>
                                <m:sub>
                                  <m:r>
                                    <a:rPr lang="en-IN" sz="2000" i="1">
                                      <a:solidFill>
                                        <a:srgbClr val="00B0F0"/>
                                      </a:solidFill>
                                      <a:latin typeface="Cambria Math" panose="02040503050406030204" pitchFamily="18" charset="0"/>
                                      <a:ea typeface="Cambria Math" panose="02040503050406030204" pitchFamily="18" charset="0"/>
                                    </a:rPr>
                                    <m:t>𝜃</m:t>
                                  </m:r>
                                </m:sub>
                              </m:sSub>
                              <m:r>
                                <a:rPr lang="en-IN" sz="2000" i="1">
                                  <a:solidFill>
                                    <a:srgbClr val="00B0F0"/>
                                  </a:solidFill>
                                  <a:latin typeface="Cambria Math" panose="02040503050406030204" pitchFamily="18" charset="0"/>
                                </a:rPr>
                                <m:t>(</m:t>
                              </m:r>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𝑥</m:t>
                                  </m:r>
                                </m:e>
                                <m:sub>
                                  <m:r>
                                    <a:rPr lang="en-IN" sz="2000" i="1">
                                      <a:solidFill>
                                        <a:srgbClr val="00B0F0"/>
                                      </a:solidFill>
                                      <a:latin typeface="Cambria Math" panose="02040503050406030204" pitchFamily="18" charset="0"/>
                                    </a:rPr>
                                    <m:t>𝑖</m:t>
                                  </m:r>
                                </m:sub>
                              </m:sSub>
                              <m:r>
                                <a:rPr lang="en-IN" sz="2000" i="1">
                                  <a:solidFill>
                                    <a:srgbClr val="00B0F0"/>
                                  </a:solidFill>
                                  <a:latin typeface="Cambria Math" panose="02040503050406030204" pitchFamily="18" charset="0"/>
                                </a:rPr>
                                <m:t>|</m:t>
                              </m:r>
                              <m:sSub>
                                <m:sSubPr>
                                  <m:ctrlPr>
                                    <a:rPr lang="en-IN" sz="2000" i="1">
                                      <a:solidFill>
                                        <a:srgbClr val="00B0F0"/>
                                      </a:solidFill>
                                      <a:latin typeface="Cambria Math" panose="02040503050406030204" pitchFamily="18" charset="0"/>
                                    </a:rPr>
                                  </m:ctrlPr>
                                </m:sSubPr>
                                <m:e>
                                  <m:r>
                                    <a:rPr lang="en-IN" sz="2000" i="1">
                                      <a:solidFill>
                                        <a:srgbClr val="00B0F0"/>
                                      </a:solidFill>
                                      <a:latin typeface="Cambria Math" panose="02040503050406030204" pitchFamily="18" charset="0"/>
                                    </a:rPr>
                                    <m:t>𝑦</m:t>
                                  </m:r>
                                </m:e>
                                <m:sub>
                                  <m:r>
                                    <a:rPr lang="en-IN" sz="2000" i="1">
                                      <a:solidFill>
                                        <a:srgbClr val="00B0F0"/>
                                      </a:solidFill>
                                      <a:latin typeface="Cambria Math" panose="02040503050406030204" pitchFamily="18" charset="0"/>
                                    </a:rPr>
                                    <m:t>𝑖</m:t>
                                  </m:r>
                                </m:sub>
                              </m:sSub>
                              <m:r>
                                <a:rPr lang="en-IN" sz="2000" i="1">
                                  <a:solidFill>
                                    <a:srgbClr val="00B0F0"/>
                                  </a:solidFill>
                                  <a:latin typeface="Cambria Math" panose="02040503050406030204" pitchFamily="18" charset="0"/>
                                </a:rPr>
                                <m:t>)</m:t>
                              </m:r>
                              <m:r>
                                <a:rPr lang="en-IN" sz="2000" i="1">
                                  <a:solidFill>
                                    <a:srgbClr val="00B0F0"/>
                                  </a:solidFill>
                                  <a:latin typeface="Cambria Math" panose="02040503050406030204" pitchFamily="18" charset="0"/>
                                </a:rPr>
                                <m:t>]</m:t>
                              </m:r>
                            </m:e>
                          </m:func>
                        </m:e>
                      </m:nary>
                    </m:oMath>
                  </m:oMathPara>
                </a14:m>
                <a:endParaRPr lang="en-IN" sz="2000" dirty="0">
                  <a:latin typeface="Arial Narrow" panose="020B0606020202030204" pitchFamily="34" charset="0"/>
                </a:endParaRPr>
              </a:p>
              <a:p>
                <a:pPr algn="just"/>
                <a:r>
                  <a:rPr lang="en-US" sz="2000" dirty="0">
                    <a:latin typeface="Arial Narrow" panose="020B0606020202030204" pitchFamily="34" charset="0"/>
                  </a:rPr>
                  <a:t>Thus, the model learns both </a:t>
                </a:r>
                <a:r>
                  <a:rPr lang="en-US" sz="2000" dirty="0">
                    <a:solidFill>
                      <a:srgbClr val="7030A0"/>
                    </a:solidFill>
                    <a:latin typeface="Arial Narrow" panose="020B0606020202030204" pitchFamily="34" charset="0"/>
                  </a:rPr>
                  <a:t>how frequently each class occurs </a:t>
                </a:r>
                <a:r>
                  <a:rPr lang="en-US" sz="2000" dirty="0">
                    <a:latin typeface="Arial Narrow" panose="020B0606020202030204" pitchFamily="34" charset="0"/>
                  </a:rPr>
                  <a:t>and </a:t>
                </a:r>
                <a:r>
                  <a:rPr lang="en-US" sz="2000" dirty="0">
                    <a:solidFill>
                      <a:srgbClr val="7030A0"/>
                    </a:solidFill>
                    <a:latin typeface="Arial Narrow" panose="020B0606020202030204" pitchFamily="34" charset="0"/>
                  </a:rPr>
                  <a:t>how the feature values are statistically distributed </a:t>
                </a:r>
                <a:r>
                  <a:rPr lang="en-US" sz="2000" dirty="0">
                    <a:latin typeface="Arial Narrow" panose="020B0606020202030204" pitchFamily="34" charset="0"/>
                  </a:rPr>
                  <a:t>within each class.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Once these distributions have been learned, they can be used for both </a:t>
                </a:r>
                <a:r>
                  <a:rPr lang="en-US" sz="2000" dirty="0">
                    <a:solidFill>
                      <a:srgbClr val="7030A0"/>
                    </a:solidFill>
                    <a:latin typeface="Arial Narrow" panose="020B0606020202030204" pitchFamily="34" charset="0"/>
                  </a:rPr>
                  <a:t>generation and classification</a:t>
                </a:r>
                <a:r>
                  <a:rPr lang="en-US" sz="2000" dirty="0">
                    <a:latin typeface="Arial Narrow" panose="020B0606020202030204" pitchFamily="34" charset="0"/>
                  </a:rPr>
                  <a:t>.</a:t>
                </a:r>
                <a:endParaRPr lang="en-IN" sz="2000" dirty="0">
                  <a:latin typeface="Arial Narrow" panose="020B0606020202030204" pitchFamily="34" charset="0"/>
                </a:endParaRPr>
              </a:p>
            </p:txBody>
          </p:sp>
        </mc:Choice>
        <mc:Fallback>
          <p:sp>
            <p:nvSpPr>
              <p:cNvPr id="3" name="Content Placeholder 2">
                <a:extLst>
                  <a:ext uri="{FF2B5EF4-FFF2-40B4-BE49-F238E27FC236}">
                    <a16:creationId xmlns:a16="http://schemas.microsoft.com/office/drawing/2014/main" id="{62D0FF3C-B4D1-47BD-9CE3-2DE369C1B9C7}"/>
                  </a:ext>
                </a:extLst>
              </p:cNvPr>
              <p:cNvSpPr>
                <a:spLocks noGrp="1" noRot="1" noChangeAspect="1" noMove="1" noResize="1" noEditPoints="1" noAdjustHandles="1" noChangeArrowheads="1" noChangeShapeType="1" noTextEdit="1"/>
              </p:cNvSpPr>
              <p:nvPr>
                <p:ph idx="1"/>
              </p:nvPr>
            </p:nvSpPr>
            <p:spPr>
              <a:xfrm>
                <a:off x="838200" y="1690688"/>
                <a:ext cx="10797988" cy="4667250"/>
              </a:xfrm>
              <a:blipFill>
                <a:blip r:embed="rId2"/>
                <a:stretch>
                  <a:fillRect l="-508" t="-1305" r="-565"/>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24686463-7423-4B1E-BB0A-82DBACD9A00A}"/>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How Generative Model Works?</a:t>
            </a:r>
            <a:br>
              <a:rPr lang="en-IN" sz="3600" dirty="0">
                <a:latin typeface="Century" panose="02040604050505020304" pitchFamily="18" charset="0"/>
              </a:rPr>
            </a:br>
            <a:r>
              <a:rPr lang="en-IN" sz="2800" dirty="0">
                <a:latin typeface="Century" panose="02040604050505020304" pitchFamily="18" charset="0"/>
              </a:rPr>
              <a:t>A statistical Understanding</a:t>
            </a:r>
          </a:p>
        </p:txBody>
      </p:sp>
    </p:spTree>
    <p:extLst>
      <p:ext uri="{BB962C8B-B14F-4D97-AF65-F5344CB8AC3E}">
        <p14:creationId xmlns:p14="http://schemas.microsoft.com/office/powerpoint/2010/main" val="958620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A74F92-5242-488D-9F69-F7FB66AA564B}"/>
                  </a:ext>
                </a:extLst>
              </p:cNvPr>
              <p:cNvSpPr>
                <a:spLocks noGrp="1"/>
              </p:cNvSpPr>
              <p:nvPr>
                <p:ph idx="1"/>
              </p:nvPr>
            </p:nvSpPr>
            <p:spPr/>
            <p:txBody>
              <a:bodyPr>
                <a:normAutofit/>
              </a:bodyPr>
              <a:lstStyle/>
              <a:p>
                <a:pPr algn="just"/>
                <a:r>
                  <a:rPr lang="en-US" sz="2000" dirty="0">
                    <a:latin typeface="Arial Narrow" panose="020B0606020202030204" pitchFamily="34" charset="0"/>
                  </a:rPr>
                  <a:t>For a given class </a:t>
                </a:r>
                <a14:m>
                  <m:oMath xmlns:m="http://schemas.openxmlformats.org/officeDocument/2006/math">
                    <m:r>
                      <a:rPr lang="en-IN" sz="2000" i="1">
                        <a:solidFill>
                          <a:srgbClr val="00B0F0"/>
                        </a:solidFill>
                        <a:latin typeface="Cambria Math" panose="02040503050406030204" pitchFamily="18" charset="0"/>
                        <a:ea typeface="Cambria Math" panose="02040503050406030204" pitchFamily="18" charset="0"/>
                      </a:rPr>
                      <m:t>𝑦</m:t>
                    </m:r>
                  </m:oMath>
                </a14:m>
                <a:r>
                  <a:rPr lang="en-US" sz="2000" dirty="0">
                    <a:latin typeface="Arial Narrow" panose="020B0606020202030204" pitchFamily="34" charset="0"/>
                  </a:rPr>
                  <a:t>, new feature vectors can be generated by first sampling a class according to </a:t>
                </a:r>
                <a:r>
                  <a:rPr lang="en-IN" sz="2000" dirty="0">
                    <a:solidFill>
                      <a:srgbClr val="00B0F0"/>
                    </a:solidFill>
                    <a:ea typeface="Cambria Math" panose="02040503050406030204" pitchFamily="18" charset="0"/>
                  </a:rPr>
                  <a:t>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000" dirty="0">
                    <a:latin typeface="Arial Narrow" panose="020B0606020202030204" pitchFamily="34" charset="0"/>
                  </a:rPr>
                  <a:t> and then sampling a feature vector from the corresponding conditional distribution </a:t>
                </a:r>
                <a:r>
                  <a:rPr lang="en-IN" sz="2000" dirty="0">
                    <a:solidFill>
                      <a:srgbClr val="00B0F0"/>
                    </a:solidFill>
                    <a:ea typeface="Cambria Math" panose="02040503050406030204" pitchFamily="18" charset="0"/>
                  </a:rPr>
                  <a:t>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a14:m>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Conversely, for an observed feature vector </a:t>
                </a:r>
                <a14:m>
                  <m:oMath xmlns:m="http://schemas.openxmlformats.org/officeDocument/2006/math">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oMath>
                </a14:m>
                <a:r>
                  <a:rPr lang="en-US" sz="2000" dirty="0">
                    <a:latin typeface="Arial Narrow" panose="020B0606020202030204" pitchFamily="34" charset="0"/>
                  </a:rPr>
                  <a:t>, the learned distributions can be used to determine the most probable class through Bayes' theorem:</a:t>
                </a:r>
              </a:p>
              <a:p>
                <a:pPr marL="0" indent="0" algn="just">
                  <a:buNone/>
                </a:pPr>
                <a14:m>
                  <m:oMathPara xmlns:m="http://schemas.openxmlformats.org/officeDocument/2006/math">
                    <m:oMathParaPr>
                      <m:jc m:val="centerGroup"/>
                    </m:oMathParaPr>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GB"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GB"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e>
                      </m:d>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num>
                        <m:den>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e>
                          </m:d>
                        </m:den>
                      </m:f>
                    </m:oMath>
                  </m:oMathPara>
                </a14:m>
                <a:endParaRPr lang="en-IN" sz="2000" dirty="0">
                  <a:latin typeface="Arial Narrow" panose="020B0606020202030204" pitchFamily="34" charset="0"/>
                </a:endParaRPr>
              </a:p>
              <a:p>
                <a:pPr algn="just"/>
                <a:r>
                  <a:rPr lang="en-US" sz="2000" dirty="0">
                    <a:latin typeface="Arial Narrow" panose="020B0606020202030204" pitchFamily="34" charset="0"/>
                  </a:rPr>
                  <a:t>Therefore, from a statistical perspective, generative learning estimates the joint distribution </a:t>
                </a:r>
                <a14:m>
                  <m:oMath xmlns:m="http://schemas.openxmlformats.org/officeDocument/2006/math">
                    <m:r>
                      <a:rPr lang="en-IN" sz="2000" i="1">
                        <a:solidFill>
                          <a:srgbClr val="00B0F0"/>
                        </a:solidFill>
                        <a:latin typeface="Cambria Math" panose="02040503050406030204" pitchFamily="18" charset="0"/>
                      </a:rPr>
                      <m:t>𝑝</m:t>
                    </m:r>
                    <m:d>
                      <m:dPr>
                        <m:ctrlPr>
                          <a:rPr lang="en-IN" sz="2000" i="1">
                            <a:solidFill>
                              <a:srgbClr val="00B0F0"/>
                            </a:solidFill>
                            <a:latin typeface="Cambria Math" panose="02040503050406030204" pitchFamily="18" charset="0"/>
                          </a:rPr>
                        </m:ctrlPr>
                      </m:dPr>
                      <m:e>
                        <m:r>
                          <a:rPr lang="en-IN" sz="2000" i="1">
                            <a:solidFill>
                              <a:srgbClr val="00B0F0"/>
                            </a:solidFill>
                            <a:latin typeface="Cambria Math" panose="02040503050406030204" pitchFamily="18" charset="0"/>
                          </a:rPr>
                          <m:t>𝑥</m:t>
                        </m:r>
                        <m:r>
                          <a:rPr lang="en-IN" sz="2000" i="1">
                            <a:solidFill>
                              <a:srgbClr val="00B0F0"/>
                            </a:solidFill>
                            <a:latin typeface="Cambria Math" panose="02040503050406030204" pitchFamily="18" charset="0"/>
                          </a:rPr>
                          <m:t>,</m:t>
                        </m:r>
                        <m:r>
                          <a:rPr lang="en-IN" sz="2000" i="1">
                            <a:solidFill>
                              <a:srgbClr val="00B0F0"/>
                            </a:solidFill>
                            <a:latin typeface="Cambria Math" panose="02040503050406030204" pitchFamily="18" charset="0"/>
                          </a:rPr>
                          <m:t>𝑦</m:t>
                        </m:r>
                      </m:e>
                    </m:d>
                    <m:r>
                      <a:rPr lang="en-IN" sz="2000" b="0" i="0" smtClean="0">
                        <a:solidFill>
                          <a:srgbClr val="00B0F0"/>
                        </a:solidFill>
                        <a:latin typeface="Cambria Math" panose="02040503050406030204" pitchFamily="18" charset="0"/>
                      </a:rPr>
                      <m:t>,</m:t>
                    </m:r>
                  </m:oMath>
                </a14:m>
                <a:r>
                  <a:rPr lang="en-IN" sz="2000" dirty="0">
                    <a:latin typeface="Arial Narrow" panose="020B0606020202030204" pitchFamily="34" charset="0"/>
                  </a:rPr>
                  <a:t> </a:t>
                </a:r>
                <a:r>
                  <a:rPr lang="en-US" sz="2000" dirty="0">
                    <a:latin typeface="Arial Narrow" panose="020B0606020202030204" pitchFamily="34" charset="0"/>
                  </a:rPr>
                  <a:t>decomposes it into </a:t>
                </a:r>
                <a:r>
                  <a:rPr lang="en-US" sz="2000" dirty="0">
                    <a:solidFill>
                      <a:srgbClr val="7030A0"/>
                    </a:solidFill>
                    <a:latin typeface="Arial Narrow" panose="020B0606020202030204" pitchFamily="34" charset="0"/>
                  </a:rPr>
                  <a:t>class priors </a:t>
                </a:r>
                <a:r>
                  <a:rPr lang="en-US" sz="2000" dirty="0">
                    <a:latin typeface="Arial Narrow" panose="020B0606020202030204" pitchFamily="34" charset="0"/>
                  </a:rPr>
                  <a:t>and </a:t>
                </a:r>
                <a:r>
                  <a:rPr lang="en-US" sz="2000" dirty="0">
                    <a:solidFill>
                      <a:srgbClr val="7030A0"/>
                    </a:solidFill>
                    <a:latin typeface="Arial Narrow" panose="020B0606020202030204" pitchFamily="34" charset="0"/>
                  </a:rPr>
                  <a:t>class-conditional densities</a:t>
                </a:r>
                <a:r>
                  <a:rPr lang="en-US" sz="2000" dirty="0">
                    <a:latin typeface="Arial Narrow" panose="020B0606020202030204" pitchFamily="34" charset="0"/>
                  </a:rPr>
                  <a:t>, and uses the learned probability structure to generate new observations and infer class membership. </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This provides a unified probabilistic framework in which the variability and relationships present in the training data are captured rather than merely learning a direct mapping from </a:t>
                </a:r>
                <a14:m>
                  <m:oMath xmlns:m="http://schemas.openxmlformats.org/officeDocument/2006/math">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oMath>
                </a14:m>
                <a:r>
                  <a:rPr lang="en-US" sz="2000" dirty="0">
                    <a:latin typeface="Arial Narrow" panose="020B0606020202030204" pitchFamily="34" charset="0"/>
                  </a:rPr>
                  <a:t> to </a:t>
                </a:r>
                <a14:m>
                  <m:oMath xmlns:m="http://schemas.openxmlformats.org/officeDocument/2006/math">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oMath>
                </a14:m>
                <a:r>
                  <a:rPr lang="en-US" sz="2000" dirty="0">
                    <a:latin typeface="Arial Narrow" panose="020B0606020202030204" pitchFamily="34" charset="0"/>
                  </a:rPr>
                  <a:t>.</a:t>
                </a:r>
                <a:endParaRPr lang="en-IN" sz="2000" dirty="0">
                  <a:latin typeface="Arial Narrow" panose="020B0606020202030204" pitchFamily="34" charset="0"/>
                </a:endParaRPr>
              </a:p>
            </p:txBody>
          </p:sp>
        </mc:Choice>
        <mc:Fallback>
          <p:sp>
            <p:nvSpPr>
              <p:cNvPr id="3" name="Content Placeholder 2">
                <a:extLst>
                  <a:ext uri="{FF2B5EF4-FFF2-40B4-BE49-F238E27FC236}">
                    <a16:creationId xmlns:a16="http://schemas.microsoft.com/office/drawing/2014/main" id="{DFA74F92-5242-488D-9F69-F7FB66AA564B}"/>
                  </a:ext>
                </a:extLst>
              </p:cNvPr>
              <p:cNvSpPr>
                <a:spLocks noGrp="1" noRot="1" noChangeAspect="1" noMove="1" noResize="1" noEditPoints="1" noAdjustHandles="1" noChangeArrowheads="1" noChangeShapeType="1" noTextEdit="1"/>
              </p:cNvSpPr>
              <p:nvPr>
                <p:ph idx="1"/>
              </p:nvPr>
            </p:nvSpPr>
            <p:spPr>
              <a:blipFill>
                <a:blip r:embed="rId2"/>
                <a:stretch>
                  <a:fillRect l="-522" t="-1681" r="-580" b="-1821"/>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568CE496-C0FF-4D63-B069-11CE5E0ACDEB}"/>
              </a:ext>
            </a:extLst>
          </p:cNvPr>
          <p:cNvSpPr>
            <a:spLocks noGrp="1"/>
          </p:cNvSpPr>
          <p:nvPr>
            <p:ph type="title"/>
          </p:nvPr>
        </p:nvSpPr>
        <p:spPr>
          <a:xfrm>
            <a:off x="838200" y="365125"/>
            <a:ext cx="10515600" cy="1325563"/>
          </a:xfrm>
        </p:spPr>
        <p:txBody>
          <a:bodyPr>
            <a:normAutofit/>
          </a:bodyPr>
          <a:lstStyle/>
          <a:p>
            <a:r>
              <a:rPr lang="en-IN" sz="3600" dirty="0">
                <a:latin typeface="Century" panose="02040604050505020304" pitchFamily="18" charset="0"/>
              </a:rPr>
              <a:t>How Generative Model Works?</a:t>
            </a:r>
            <a:br>
              <a:rPr lang="en-IN" sz="3600" dirty="0">
                <a:latin typeface="Century" panose="02040604050505020304" pitchFamily="18" charset="0"/>
              </a:rPr>
            </a:br>
            <a:r>
              <a:rPr lang="en-IN" sz="2800" dirty="0">
                <a:latin typeface="Century" panose="02040604050505020304" pitchFamily="18" charset="0"/>
              </a:rPr>
              <a:t>A statistical Understanding</a:t>
            </a:r>
          </a:p>
        </p:txBody>
      </p:sp>
    </p:spTree>
    <p:extLst>
      <p:ext uri="{BB962C8B-B14F-4D97-AF65-F5344CB8AC3E}">
        <p14:creationId xmlns:p14="http://schemas.microsoft.com/office/powerpoint/2010/main" val="2601892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9F08B2-9F18-4631-B48E-98961072A535}"/>
              </a:ext>
            </a:extLst>
          </p:cNvPr>
          <p:cNvSpPr>
            <a:spLocks noGrp="1"/>
          </p:cNvSpPr>
          <p:nvPr>
            <p:ph type="title"/>
          </p:nvPr>
        </p:nvSpPr>
        <p:spPr/>
        <p:txBody>
          <a:bodyPr>
            <a:normAutofit/>
          </a:bodyPr>
          <a:lstStyle/>
          <a:p>
            <a:r>
              <a:rPr lang="en-US" sz="3600" dirty="0">
                <a:latin typeface="Century" panose="02040604050505020304" pitchFamily="18" charset="0"/>
              </a:rPr>
              <a:t>MLE in Generative Modeling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9BB21CE-A492-486C-A460-89290FFA905D}"/>
                  </a:ext>
                </a:extLst>
              </p:cNvPr>
              <p:cNvSpPr>
                <a:spLocks noGrp="1"/>
              </p:cNvSpPr>
              <p:nvPr>
                <p:ph idx="1"/>
              </p:nvPr>
            </p:nvSpPr>
            <p:spPr>
              <a:xfrm>
                <a:off x="838199" y="1556683"/>
                <a:ext cx="10833847" cy="5014445"/>
              </a:xfrm>
            </p:spPr>
            <p:txBody>
              <a:bodyPr>
                <a:normAutofit/>
              </a:bodyPr>
              <a:lstStyle/>
              <a:p>
                <a:pPr algn="just"/>
                <a:r>
                  <a:rPr lang="en-US" sz="2400" dirty="0">
                    <a:solidFill>
                      <a:srgbClr val="7030A0"/>
                    </a:solidFill>
                    <a:latin typeface="Arial Narrow" panose="020B0606020202030204" pitchFamily="34" charset="0"/>
                    <a:cs typeface="Times New Roman" panose="02020603050405020304" pitchFamily="18" charset="0"/>
                  </a:rPr>
                  <a:t>Maximum Likelihood Estimation (MLE) </a:t>
                </a:r>
                <a:r>
                  <a:rPr lang="en-US" sz="2400" dirty="0">
                    <a:latin typeface="Arial Narrow" panose="020B0606020202030204" pitchFamily="34" charset="0"/>
                    <a:cs typeface="Times New Roman" panose="02020603050405020304" pitchFamily="18" charset="0"/>
                  </a:rPr>
                  <a:t>is a fundamental statistical method used to estimate the parameters of a generative model. The central idea is to determine the model parameters that make the observed training data as probable as possible under the assumed probability distribution.</a:t>
                </a:r>
              </a:p>
              <a:p>
                <a:pPr algn="just"/>
                <a:endParaRPr lang="en-US" sz="2400"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cs typeface="Times New Roman" panose="02020603050405020304" pitchFamily="18" charset="0"/>
                  </a:rPr>
                  <a:t>MLE answer the following question: </a:t>
                </a:r>
              </a:p>
              <a:p>
                <a:pPr marL="0" indent="0">
                  <a:buNone/>
                </a:pPr>
                <a:r>
                  <a:rPr lang="en-US" sz="2400" dirty="0">
                    <a:latin typeface="Arial Narrow" panose="020B0606020202030204" pitchFamily="34" charset="0"/>
                    <a:cs typeface="Times New Roman" panose="02020603050405020304" pitchFamily="18" charset="0"/>
                  </a:rPr>
                  <a:t>         “</a:t>
                </a:r>
                <a:r>
                  <a:rPr lang="en-US" sz="2400" i="1" dirty="0">
                    <a:solidFill>
                      <a:srgbClr val="7030A0"/>
                    </a:solidFill>
                    <a:latin typeface="Arial Narrow" panose="020B0606020202030204" pitchFamily="34" charset="0"/>
                    <a:cs typeface="Times New Roman" panose="02020603050405020304" pitchFamily="18" charset="0"/>
                  </a:rPr>
                  <a:t>What parameters make the observed data most probable under my model</a:t>
                </a:r>
                <a:r>
                  <a:rPr lang="en-US" sz="2400" dirty="0">
                    <a:solidFill>
                      <a:srgbClr val="7030A0"/>
                    </a:solidFill>
                    <a:latin typeface="Arial Narrow" panose="020B0606020202030204" pitchFamily="34" charset="0"/>
                    <a:cs typeface="Times New Roman" panose="02020603050405020304" pitchFamily="18" charset="0"/>
                  </a:rPr>
                  <a:t>?</a:t>
                </a:r>
                <a:r>
                  <a:rPr lang="en-US" sz="2400" dirty="0">
                    <a:latin typeface="Arial Narrow" panose="020B0606020202030204" pitchFamily="34" charset="0"/>
                    <a:cs typeface="Times New Roman" panose="02020603050405020304" pitchFamily="18" charset="0"/>
                  </a:rPr>
                  <a:t>”</a:t>
                </a:r>
              </a:p>
              <a:p>
                <a:pPr marL="0" indent="0">
                  <a:buNone/>
                </a:pPr>
                <a:endParaRPr lang="en-US" sz="2400"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cs typeface="Times New Roman" panose="02020603050405020304" pitchFamily="18" charset="0"/>
                  </a:rPr>
                  <a:t>Suppose the observed training data consist of </a:t>
                </a:r>
                <a14:m>
                  <m:oMath xmlns:m="http://schemas.openxmlformats.org/officeDocument/2006/math">
                    <m:r>
                      <a:rPr lang="en-IN" sz="2400" i="1">
                        <a:solidFill>
                          <a:srgbClr val="00B0F0"/>
                        </a:solidFill>
                        <a:latin typeface="Cambria Math" panose="02040503050406030204" pitchFamily="18" charset="0"/>
                        <a:ea typeface="Cambria Math" panose="02040503050406030204" pitchFamily="18" charset="0"/>
                      </a:rPr>
                      <m:t>𝑁</m:t>
                    </m:r>
                  </m:oMath>
                </a14:m>
                <a:r>
                  <a:rPr lang="en-US" sz="2400" dirty="0">
                    <a:latin typeface="Arial Narrow" panose="020B0606020202030204" pitchFamily="34" charset="0"/>
                    <a:cs typeface="Times New Roman" panose="02020603050405020304" pitchFamily="18" charset="0"/>
                  </a:rPr>
                  <a:t> independent samples:</a:t>
                </a:r>
              </a:p>
              <a:p>
                <a:pPr marL="0" indent="0">
                  <a:buNone/>
                </a:pPr>
                <a14:m>
                  <m:oMathPara xmlns:m="http://schemas.openxmlformats.org/officeDocument/2006/math">
                    <m:oMathParaPr>
                      <m:jc m:val="centerGroup"/>
                    </m:oMathParaPr>
                    <m:oMath xmlns:m="http://schemas.openxmlformats.org/officeDocument/2006/math">
                      <m:r>
                        <a:rPr lang="en-IN" sz="2400" b="0" i="1" smtClean="0">
                          <a:solidFill>
                            <a:srgbClr val="00B0F0"/>
                          </a:solidFill>
                          <a:latin typeface="Cambria Math" panose="02040503050406030204" pitchFamily="18" charset="0"/>
                          <a:cs typeface="Times New Roman" panose="02020603050405020304" pitchFamily="18" charset="0"/>
                        </a:rPr>
                        <m:t>𝐷</m:t>
                      </m:r>
                      <m:r>
                        <a:rPr lang="en-IN" sz="2400" b="0" i="1" smtClean="0">
                          <a:solidFill>
                            <a:srgbClr val="00B0F0"/>
                          </a:solidFill>
                          <a:latin typeface="Cambria Math" panose="02040503050406030204" pitchFamily="18" charset="0"/>
                          <a:cs typeface="Times New Roman" panose="02020603050405020304" pitchFamily="18" charset="0"/>
                        </a:rPr>
                        <m:t>=</m:t>
                      </m:r>
                      <m:sSubSup>
                        <m:sSubSupPr>
                          <m:ctrlPr>
                            <a:rPr lang="en-IN" sz="2400" b="0" i="1" smtClean="0">
                              <a:solidFill>
                                <a:srgbClr val="00B0F0"/>
                              </a:solidFill>
                              <a:latin typeface="Cambria Math" panose="02040503050406030204" pitchFamily="18" charset="0"/>
                              <a:cs typeface="Times New Roman" panose="02020603050405020304" pitchFamily="18" charset="0"/>
                            </a:rPr>
                          </m:ctrlPr>
                        </m:sSubSupPr>
                        <m:e>
                          <m:r>
                            <a:rPr lang="en-IN" sz="2400" b="0" i="1" smtClean="0">
                              <a:solidFill>
                                <a:srgbClr val="00B0F0"/>
                              </a:solidFill>
                              <a:latin typeface="Cambria Math" panose="02040503050406030204" pitchFamily="18" charset="0"/>
                              <a:cs typeface="Times New Roman" panose="02020603050405020304" pitchFamily="18" charset="0"/>
                            </a:rPr>
                            <m:t>{</m:t>
                          </m:r>
                          <m:d>
                            <m:dPr>
                              <m:ctrlPr>
                                <a:rPr lang="en-IN" sz="2400" b="0" i="1" smtClean="0">
                                  <a:solidFill>
                                    <a:srgbClr val="00B0F0"/>
                                  </a:solidFill>
                                  <a:latin typeface="Cambria Math" panose="02040503050406030204" pitchFamily="18" charset="0"/>
                                  <a:cs typeface="Times New Roman" panose="02020603050405020304" pitchFamily="18" charset="0"/>
                                </a:rPr>
                              </m:ctrlPr>
                            </m:dPr>
                            <m:e>
                              <m:sSub>
                                <m:sSubPr>
                                  <m:ctrlPr>
                                    <a:rPr lang="en-IN" sz="2400" b="0" i="1" smtClean="0">
                                      <a:solidFill>
                                        <a:srgbClr val="00B0F0"/>
                                      </a:solidFill>
                                      <a:latin typeface="Cambria Math" panose="02040503050406030204" pitchFamily="18" charset="0"/>
                                      <a:cs typeface="Times New Roman" panose="02020603050405020304" pitchFamily="18" charset="0"/>
                                    </a:rPr>
                                  </m:ctrlPr>
                                </m:sSubPr>
                                <m:e>
                                  <m:r>
                                    <a:rPr lang="en-IN" sz="2400" b="0" i="1" smtClean="0">
                                      <a:solidFill>
                                        <a:srgbClr val="00B0F0"/>
                                      </a:solidFill>
                                      <a:latin typeface="Cambria Math" panose="02040503050406030204" pitchFamily="18" charset="0"/>
                                      <a:cs typeface="Times New Roman" panose="02020603050405020304" pitchFamily="18" charset="0"/>
                                    </a:rPr>
                                    <m:t>𝑥</m:t>
                                  </m:r>
                                </m:e>
                                <m:sub>
                                  <m:r>
                                    <a:rPr lang="en-IN" sz="2400" b="0" i="1" smtClean="0">
                                      <a:solidFill>
                                        <a:srgbClr val="00B0F0"/>
                                      </a:solidFill>
                                      <a:latin typeface="Cambria Math" panose="02040503050406030204" pitchFamily="18" charset="0"/>
                                      <a:cs typeface="Times New Roman" panose="02020603050405020304" pitchFamily="18" charset="0"/>
                                    </a:rPr>
                                    <m:t>𝑖</m:t>
                                  </m:r>
                                </m:sub>
                              </m:sSub>
                              <m:r>
                                <a:rPr lang="en-IN" sz="2400" b="0" i="1" smtClean="0">
                                  <a:solidFill>
                                    <a:srgbClr val="00B0F0"/>
                                  </a:solidFill>
                                  <a:latin typeface="Cambria Math" panose="02040503050406030204" pitchFamily="18" charset="0"/>
                                  <a:cs typeface="Times New Roman" panose="02020603050405020304" pitchFamily="18" charset="0"/>
                                </a:rPr>
                                <m:t>,</m:t>
                              </m:r>
                              <m:sSub>
                                <m:sSubPr>
                                  <m:ctrlPr>
                                    <a:rPr lang="en-IN" sz="2400" b="0" i="1" smtClean="0">
                                      <a:solidFill>
                                        <a:srgbClr val="00B0F0"/>
                                      </a:solidFill>
                                      <a:latin typeface="Cambria Math" panose="02040503050406030204" pitchFamily="18" charset="0"/>
                                      <a:cs typeface="Times New Roman" panose="02020603050405020304" pitchFamily="18" charset="0"/>
                                    </a:rPr>
                                  </m:ctrlPr>
                                </m:sSubPr>
                                <m:e>
                                  <m:r>
                                    <a:rPr lang="en-IN" sz="2400" b="0" i="1" smtClean="0">
                                      <a:solidFill>
                                        <a:srgbClr val="00B0F0"/>
                                      </a:solidFill>
                                      <a:latin typeface="Cambria Math" panose="02040503050406030204" pitchFamily="18" charset="0"/>
                                      <a:cs typeface="Times New Roman" panose="02020603050405020304" pitchFamily="18" charset="0"/>
                                    </a:rPr>
                                    <m:t>𝑦</m:t>
                                  </m:r>
                                </m:e>
                                <m:sub>
                                  <m:r>
                                    <a:rPr lang="en-IN" sz="2400" b="0" i="1" smtClean="0">
                                      <a:solidFill>
                                        <a:srgbClr val="00B0F0"/>
                                      </a:solidFill>
                                      <a:latin typeface="Cambria Math" panose="02040503050406030204" pitchFamily="18" charset="0"/>
                                      <a:cs typeface="Times New Roman" panose="02020603050405020304" pitchFamily="18" charset="0"/>
                                    </a:rPr>
                                    <m:t>𝑖</m:t>
                                  </m:r>
                                </m:sub>
                              </m:sSub>
                            </m:e>
                          </m:d>
                          <m:r>
                            <a:rPr lang="en-IN" sz="2400" b="0" i="1" smtClean="0">
                              <a:solidFill>
                                <a:srgbClr val="00B0F0"/>
                              </a:solidFill>
                              <a:latin typeface="Cambria Math" panose="02040503050406030204" pitchFamily="18" charset="0"/>
                              <a:cs typeface="Times New Roman" panose="02020603050405020304" pitchFamily="18" charset="0"/>
                            </a:rPr>
                            <m:t>}</m:t>
                          </m:r>
                        </m:e>
                        <m:sub>
                          <m:r>
                            <a:rPr lang="en-IN" sz="2400" b="0" i="1" smtClean="0">
                              <a:solidFill>
                                <a:srgbClr val="00B0F0"/>
                              </a:solidFill>
                              <a:latin typeface="Cambria Math" panose="02040503050406030204" pitchFamily="18" charset="0"/>
                              <a:cs typeface="Times New Roman" panose="02020603050405020304" pitchFamily="18" charset="0"/>
                            </a:rPr>
                            <m:t>𝑖</m:t>
                          </m:r>
                          <m:r>
                            <a:rPr lang="en-IN" sz="2400" b="0" i="1" smtClean="0">
                              <a:solidFill>
                                <a:srgbClr val="00B0F0"/>
                              </a:solidFill>
                              <a:latin typeface="Cambria Math" panose="02040503050406030204" pitchFamily="18" charset="0"/>
                              <a:cs typeface="Times New Roman" panose="02020603050405020304" pitchFamily="18" charset="0"/>
                            </a:rPr>
                            <m:t>=1</m:t>
                          </m:r>
                        </m:sub>
                        <m:sup>
                          <m:r>
                            <a:rPr lang="en-IN" sz="2400" b="0" i="1" smtClean="0">
                              <a:solidFill>
                                <a:srgbClr val="00B0F0"/>
                              </a:solidFill>
                              <a:latin typeface="Cambria Math" panose="02040503050406030204" pitchFamily="18" charset="0"/>
                              <a:cs typeface="Times New Roman" panose="02020603050405020304" pitchFamily="18" charset="0"/>
                            </a:rPr>
                            <m:t>𝑁</m:t>
                          </m:r>
                        </m:sup>
                      </m:sSubSup>
                    </m:oMath>
                  </m:oMathPara>
                </a14:m>
                <a:endParaRPr lang="en-US" sz="2400" dirty="0">
                  <a:latin typeface="Arial Narrow" panose="020B0606020202030204" pitchFamily="34" charset="0"/>
                  <a:cs typeface="Times New Roman" panose="02020603050405020304" pitchFamily="18" charset="0"/>
                </a:endParaRPr>
              </a:p>
              <a:p>
                <a:pPr marL="0" indent="0">
                  <a:buNone/>
                </a:pPr>
                <a:r>
                  <a:rPr lang="en-US" sz="2400" dirty="0">
                    <a:latin typeface="Arial Narrow" panose="020B0606020202030204" pitchFamily="34" charset="0"/>
                    <a:cs typeface="Times New Roman" panose="02020603050405020304" pitchFamily="18" charset="0"/>
                  </a:rPr>
                  <a:t> where the samples are assumed to be drawn from an unknown true distribution </a:t>
                </a:r>
                <a14:m>
                  <m:oMath xmlns:m="http://schemas.openxmlformats.org/officeDocument/2006/math">
                    <m:sSub>
                      <m:sSubPr>
                        <m:ctrlPr>
                          <a:rPr lang="en-US" sz="2400" i="1" dirty="0">
                            <a:solidFill>
                              <a:srgbClr val="00B0F0"/>
                            </a:solidFill>
                            <a:latin typeface="Cambria Math" panose="02040503050406030204" pitchFamily="18" charset="0"/>
                          </a:rPr>
                        </m:ctrlPr>
                      </m:sSubPr>
                      <m:e>
                        <m:r>
                          <a:rPr lang="en-IN" sz="2400" i="1" dirty="0">
                            <a:solidFill>
                              <a:srgbClr val="00B0F0"/>
                            </a:solidFill>
                            <a:latin typeface="Cambria Math" panose="02040503050406030204" pitchFamily="18" charset="0"/>
                          </a:rPr>
                          <m:t>𝑝</m:t>
                        </m:r>
                      </m:e>
                      <m:sub>
                        <m:r>
                          <a:rPr lang="en-IN" sz="2400" i="1" dirty="0">
                            <a:solidFill>
                              <a:srgbClr val="00B0F0"/>
                            </a:solidFill>
                            <a:latin typeface="Cambria Math" panose="02040503050406030204" pitchFamily="18" charset="0"/>
                          </a:rPr>
                          <m:t>𝑑𝑎𝑡𝑎</m:t>
                        </m:r>
                      </m:sub>
                    </m:sSub>
                    <m:r>
                      <a:rPr lang="en-IN" sz="2400" i="1" dirty="0">
                        <a:solidFill>
                          <a:srgbClr val="00B0F0"/>
                        </a:solidFill>
                        <a:latin typeface="Cambria Math" panose="02040503050406030204" pitchFamily="18" charset="0"/>
                      </a:rPr>
                      <m:t>(</m:t>
                    </m:r>
                    <m:r>
                      <a:rPr lang="en-IN" sz="2400" i="1" dirty="0">
                        <a:solidFill>
                          <a:srgbClr val="00B0F0"/>
                        </a:solidFill>
                        <a:latin typeface="Cambria Math" panose="02040503050406030204" pitchFamily="18" charset="0"/>
                      </a:rPr>
                      <m:t>𝑥</m:t>
                    </m:r>
                    <m:r>
                      <a:rPr lang="en-IN" sz="2400" i="1" dirty="0">
                        <a:solidFill>
                          <a:srgbClr val="00B0F0"/>
                        </a:solidFill>
                        <a:latin typeface="Cambria Math" panose="02040503050406030204" pitchFamily="18" charset="0"/>
                      </a:rPr>
                      <m:t>,</m:t>
                    </m:r>
                    <m:r>
                      <a:rPr lang="en-IN" sz="2400" i="1" dirty="0">
                        <a:solidFill>
                          <a:srgbClr val="00B0F0"/>
                        </a:solidFill>
                        <a:latin typeface="Cambria Math" panose="02040503050406030204" pitchFamily="18" charset="0"/>
                      </a:rPr>
                      <m:t>𝑦</m:t>
                    </m:r>
                    <m:r>
                      <a:rPr lang="en-IN" sz="2400" i="1" dirty="0">
                        <a:solidFill>
                          <a:srgbClr val="00B0F0"/>
                        </a:solidFill>
                        <a:latin typeface="Cambria Math" panose="02040503050406030204" pitchFamily="18" charset="0"/>
                      </a:rPr>
                      <m:t>)</m:t>
                    </m:r>
                  </m:oMath>
                </a14:m>
                <a:endParaRPr lang="en-IN" sz="2400" dirty="0">
                  <a:solidFill>
                    <a:srgbClr val="00B0F0"/>
                  </a:solidFill>
                  <a:latin typeface="Arial Narrow" panose="020B0606020202030204" pitchFamily="34" charset="0"/>
                </a:endParaRPr>
              </a:p>
              <a:p>
                <a:pPr marL="0" indent="0">
                  <a:buNone/>
                </a:pPr>
                <a:r>
                  <a:rPr lang="en-US" sz="2400" dirty="0">
                    <a:latin typeface="Arial Narrow" panose="020B0606020202030204" pitchFamily="34" charset="0"/>
                    <a:cs typeface="Times New Roman" panose="02020603050405020304" pitchFamily="18" charset="0"/>
                  </a:rPr>
                  <a:t> </a:t>
                </a:r>
              </a:p>
              <a:p>
                <a:endParaRPr lang="en-US" sz="2400" dirty="0">
                  <a:latin typeface="Arial Narrow" panose="020B0606020202030204" pitchFamily="34" charset="0"/>
                  <a:cs typeface="Times New Roman" panose="02020603050405020304" pitchFamily="18" charset="0"/>
                </a:endParaRPr>
              </a:p>
              <a:p>
                <a:pPr marL="0" indent="0">
                  <a:buNone/>
                </a:pPr>
                <a:endParaRPr lang="en-US" sz="2400" dirty="0">
                  <a:latin typeface="Arial Narrow" panose="020B0606020202030204" pitchFamily="34"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9BB21CE-A492-486C-A460-89290FFA905D}"/>
                  </a:ext>
                </a:extLst>
              </p:cNvPr>
              <p:cNvSpPr>
                <a:spLocks noGrp="1" noRot="1" noChangeAspect="1" noMove="1" noResize="1" noEditPoints="1" noAdjustHandles="1" noChangeArrowheads="1" noChangeShapeType="1" noTextEdit="1"/>
              </p:cNvSpPr>
              <p:nvPr>
                <p:ph idx="1"/>
              </p:nvPr>
            </p:nvSpPr>
            <p:spPr>
              <a:xfrm>
                <a:off x="838199" y="1556683"/>
                <a:ext cx="10833847" cy="5014445"/>
              </a:xfrm>
              <a:blipFill>
                <a:blip r:embed="rId2"/>
                <a:stretch>
                  <a:fillRect l="-731" t="-1580" r="-844"/>
                </a:stretch>
              </a:blipFill>
            </p:spPr>
            <p:txBody>
              <a:bodyPr/>
              <a:lstStyle/>
              <a:p>
                <a:r>
                  <a:rPr lang="en-IN">
                    <a:noFill/>
                  </a:rPr>
                  <a:t> </a:t>
                </a:r>
              </a:p>
            </p:txBody>
          </p:sp>
        </mc:Fallback>
      </mc:AlternateContent>
    </p:spTree>
    <p:extLst>
      <p:ext uri="{BB962C8B-B14F-4D97-AF65-F5344CB8AC3E}">
        <p14:creationId xmlns:p14="http://schemas.microsoft.com/office/powerpoint/2010/main" val="3218760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9F08B2-9F18-4631-B48E-98961072A535}"/>
              </a:ext>
            </a:extLst>
          </p:cNvPr>
          <p:cNvSpPr>
            <a:spLocks noGrp="1"/>
          </p:cNvSpPr>
          <p:nvPr>
            <p:ph type="title"/>
          </p:nvPr>
        </p:nvSpPr>
        <p:spPr/>
        <p:txBody>
          <a:bodyPr>
            <a:normAutofit/>
          </a:bodyPr>
          <a:lstStyle/>
          <a:p>
            <a:r>
              <a:rPr lang="en-US" sz="3600" dirty="0">
                <a:latin typeface="Century" panose="02040604050505020304" pitchFamily="18" charset="0"/>
              </a:rPr>
              <a:t>MLE in Generative Modeling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9BB21CE-A492-486C-A460-89290FFA905D}"/>
                  </a:ext>
                </a:extLst>
              </p:cNvPr>
              <p:cNvSpPr>
                <a:spLocks noGrp="1"/>
              </p:cNvSpPr>
              <p:nvPr>
                <p:ph idx="1"/>
              </p:nvPr>
            </p:nvSpPr>
            <p:spPr>
              <a:xfrm>
                <a:off x="838199" y="1556683"/>
                <a:ext cx="10833847" cy="5014445"/>
              </a:xfrm>
            </p:spPr>
            <p:txBody>
              <a:bodyPr>
                <a:normAutofit/>
              </a:bodyPr>
              <a:lstStyle/>
              <a:p>
                <a:r>
                  <a:rPr lang="en-US" sz="2400" dirty="0">
                    <a:latin typeface="Arial Narrow" panose="020B0606020202030204" pitchFamily="34" charset="0"/>
                    <a:cs typeface="Times New Roman" panose="02020603050405020304" pitchFamily="18" charset="0"/>
                  </a:rPr>
                  <a:t>A generative model defines a parameterized distribution </a:t>
                </a:r>
                <a14:m>
                  <m:oMath xmlns:m="http://schemas.openxmlformats.org/officeDocument/2006/math">
                    <m:sSub>
                      <m:sSubPr>
                        <m:ctrlPr>
                          <a:rPr lang="en-IN" sz="2400" i="1">
                            <a:solidFill>
                              <a:srgbClr val="00B0F0"/>
                            </a:solidFill>
                            <a:latin typeface="Cambria Math" panose="02040503050406030204" pitchFamily="18" charset="0"/>
                            <a:ea typeface="Cambria Math" panose="02040503050406030204" pitchFamily="18" charset="0"/>
                          </a:rPr>
                        </m:ctrlPr>
                      </m:sSubPr>
                      <m:e>
                        <m:r>
                          <a:rPr lang="en-IN" sz="2400" i="1">
                            <a:solidFill>
                              <a:srgbClr val="00B0F0"/>
                            </a:solidFill>
                            <a:latin typeface="Cambria Math" panose="02040503050406030204" pitchFamily="18" charset="0"/>
                            <a:ea typeface="Cambria Math" panose="02040503050406030204" pitchFamily="18" charset="0"/>
                          </a:rPr>
                          <m:t>𝑝</m:t>
                        </m:r>
                      </m:e>
                      <m:sub>
                        <m:r>
                          <a:rPr lang="en-US" sz="2400" i="1">
                            <a:solidFill>
                              <a:srgbClr val="00B0F0"/>
                            </a:solidFill>
                            <a:latin typeface="Cambria Math" panose="02040503050406030204" pitchFamily="18" charset="0"/>
                            <a:ea typeface="Cambria Math" panose="02040503050406030204" pitchFamily="18" charset="0"/>
                          </a:rPr>
                          <m:t>𝜃</m:t>
                        </m:r>
                      </m:sub>
                    </m:sSub>
                    <m:d>
                      <m:dPr>
                        <m:ctrlPr>
                          <a:rPr lang="en-IN" sz="2400" i="1">
                            <a:solidFill>
                              <a:srgbClr val="00B0F0"/>
                            </a:solidFill>
                            <a:latin typeface="Cambria Math" panose="02040503050406030204" pitchFamily="18" charset="0"/>
                            <a:ea typeface="Cambria Math" panose="02040503050406030204" pitchFamily="18" charset="0"/>
                          </a:rPr>
                        </m:ctrlPr>
                      </m:dPr>
                      <m:e>
                        <m:r>
                          <a:rPr lang="en-IN" sz="2400" i="1">
                            <a:solidFill>
                              <a:srgbClr val="00B0F0"/>
                            </a:solidFill>
                            <a:latin typeface="Cambria Math" panose="02040503050406030204" pitchFamily="18" charset="0"/>
                            <a:ea typeface="Cambria Math" panose="02040503050406030204" pitchFamily="18" charset="0"/>
                          </a:rPr>
                          <m:t>𝑥</m:t>
                        </m:r>
                        <m:r>
                          <a:rPr lang="en-IN" sz="2400" i="1">
                            <a:solidFill>
                              <a:srgbClr val="00B0F0"/>
                            </a:solidFill>
                            <a:latin typeface="Cambria Math" panose="02040503050406030204" pitchFamily="18" charset="0"/>
                            <a:ea typeface="Cambria Math" panose="02040503050406030204" pitchFamily="18" charset="0"/>
                          </a:rPr>
                          <m:t>,</m:t>
                        </m:r>
                        <m:r>
                          <a:rPr lang="en-IN" sz="2400" i="1">
                            <a:solidFill>
                              <a:srgbClr val="00B0F0"/>
                            </a:solidFill>
                            <a:latin typeface="Cambria Math" panose="02040503050406030204" pitchFamily="18" charset="0"/>
                            <a:ea typeface="Cambria Math" panose="02040503050406030204" pitchFamily="18" charset="0"/>
                          </a:rPr>
                          <m:t>𝑦</m:t>
                        </m:r>
                      </m:e>
                    </m:d>
                  </m:oMath>
                </a14:m>
                <a:endParaRPr lang="en-US" sz="2400" dirty="0">
                  <a:latin typeface="Arial Narrow" panose="020B0606020202030204" pitchFamily="34" charset="0"/>
                  <a:cs typeface="Times New Roman" panose="02020603050405020304" pitchFamily="18" charset="0"/>
                </a:endParaRPr>
              </a:p>
              <a:p>
                <a:endParaRPr lang="en-US" sz="2400"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cs typeface="Times New Roman" panose="02020603050405020304" pitchFamily="18" charset="0"/>
                  </a:rPr>
                  <a:t>where </a:t>
                </a:r>
                <a14:m>
                  <m:oMath xmlns:m="http://schemas.openxmlformats.org/officeDocument/2006/math">
                    <m:r>
                      <a:rPr lang="en-US" sz="2400" i="1">
                        <a:solidFill>
                          <a:srgbClr val="00B0F0"/>
                        </a:solidFill>
                        <a:latin typeface="Cambria Math" panose="02040503050406030204" pitchFamily="18" charset="0"/>
                        <a:ea typeface="Cambria Math" panose="02040503050406030204" pitchFamily="18" charset="0"/>
                      </a:rPr>
                      <m:t>𝜃</m:t>
                    </m:r>
                  </m:oMath>
                </a14:m>
                <a:r>
                  <a:rPr lang="en-US" sz="2400" dirty="0">
                    <a:latin typeface="Arial Narrow" panose="020B0606020202030204" pitchFamily="34" charset="0"/>
                    <a:cs typeface="Times New Roman" panose="02020603050405020304" pitchFamily="18" charset="0"/>
                  </a:rPr>
                  <a:t> denotes the model parameters. The objective of MLE is to find the parameter values </a:t>
                </a:r>
                <a14:m>
                  <m:oMath xmlns:m="http://schemas.openxmlformats.org/officeDocument/2006/math">
                    <m:sSup>
                      <m:sSupPr>
                        <m:ctrlPr>
                          <a:rPr lang="en-IN" sz="2400" i="1">
                            <a:solidFill>
                              <a:srgbClr val="00B0F0"/>
                            </a:solidFill>
                            <a:latin typeface="Cambria Math" panose="02040503050406030204" pitchFamily="18" charset="0"/>
                          </a:rPr>
                        </m:ctrlPr>
                      </m:sSupPr>
                      <m:e>
                        <m:r>
                          <a:rPr lang="en-IN" sz="2400" i="1">
                            <a:solidFill>
                              <a:srgbClr val="00B0F0"/>
                            </a:solidFill>
                            <a:latin typeface="Cambria Math" panose="02040503050406030204" pitchFamily="18" charset="0"/>
                            <a:ea typeface="Cambria Math" panose="02040503050406030204" pitchFamily="18" charset="0"/>
                          </a:rPr>
                          <m:t>𝜃</m:t>
                        </m:r>
                      </m:e>
                      <m:sup>
                        <m:r>
                          <a:rPr lang="en-IN" sz="2400" i="1">
                            <a:solidFill>
                              <a:srgbClr val="00B0F0"/>
                            </a:solidFill>
                            <a:latin typeface="Cambria Math" panose="02040503050406030204" pitchFamily="18" charset="0"/>
                          </a:rPr>
                          <m:t>∗</m:t>
                        </m:r>
                      </m:sup>
                    </m:sSup>
                  </m:oMath>
                </a14:m>
                <a:r>
                  <a:rPr lang="en-US" sz="2400" dirty="0">
                    <a:latin typeface="Arial Narrow" panose="020B0606020202030204" pitchFamily="34" charset="0"/>
                    <a:cs typeface="Times New Roman" panose="02020603050405020304" pitchFamily="18" charset="0"/>
                  </a:rPr>
                  <a:t> that maximize the probability of observing the available training data:</a:t>
                </a:r>
              </a:p>
              <a:p>
                <a:endParaRPr lang="en-US" sz="2400" dirty="0">
                  <a:latin typeface="Arial Narrow" panose="020B0606020202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IN" sz="2400" i="1">
                              <a:solidFill>
                                <a:srgbClr val="00B0F0"/>
                              </a:solidFill>
                              <a:latin typeface="Cambria Math" panose="02040503050406030204" pitchFamily="18" charset="0"/>
                            </a:rPr>
                          </m:ctrlPr>
                        </m:sSupPr>
                        <m:e>
                          <m:r>
                            <a:rPr lang="en-IN" sz="2400" i="1">
                              <a:solidFill>
                                <a:srgbClr val="00B0F0"/>
                              </a:solidFill>
                              <a:latin typeface="Cambria Math" panose="02040503050406030204" pitchFamily="18" charset="0"/>
                              <a:ea typeface="Cambria Math" panose="02040503050406030204" pitchFamily="18" charset="0"/>
                            </a:rPr>
                            <m:t>𝜃</m:t>
                          </m:r>
                        </m:e>
                        <m:sup>
                          <m:r>
                            <a:rPr lang="en-IN" sz="2400" i="1">
                              <a:solidFill>
                                <a:srgbClr val="00B0F0"/>
                              </a:solidFill>
                              <a:latin typeface="Cambria Math" panose="02040503050406030204" pitchFamily="18" charset="0"/>
                            </a:rPr>
                            <m:t>∗</m:t>
                          </m:r>
                        </m:sup>
                      </m:sSup>
                      <m:r>
                        <a:rPr lang="en-IN" sz="2400" i="1">
                          <a:solidFill>
                            <a:srgbClr val="00B0F0"/>
                          </a:solidFill>
                          <a:latin typeface="Cambria Math" panose="02040503050406030204" pitchFamily="18" charset="0"/>
                        </a:rPr>
                        <m:t>=</m:t>
                      </m:r>
                      <m:m>
                        <m:mPr>
                          <m:mcs>
                            <m:mc>
                              <m:mcPr>
                                <m:count m:val="1"/>
                                <m:mcJc m:val="center"/>
                              </m:mcPr>
                            </m:mc>
                          </m:mcs>
                          <m:ctrlPr>
                            <a:rPr lang="en-IN" sz="2400" i="1">
                              <a:solidFill>
                                <a:srgbClr val="00B0F0"/>
                              </a:solidFill>
                              <a:latin typeface="Cambria Math" panose="02040503050406030204" pitchFamily="18" charset="0"/>
                            </a:rPr>
                          </m:ctrlPr>
                        </m:mPr>
                        <m:mr>
                          <m:e>
                            <m:r>
                              <m:rPr>
                                <m:brk m:alnAt="7"/>
                              </m:rPr>
                              <a:rPr lang="en-IN" sz="2400" i="1">
                                <a:solidFill>
                                  <a:srgbClr val="00B0F0"/>
                                </a:solidFill>
                                <a:latin typeface="Cambria Math" panose="02040503050406030204" pitchFamily="18" charset="0"/>
                              </a:rPr>
                              <m:t>𝑎</m:t>
                            </m:r>
                            <m:r>
                              <a:rPr lang="en-IN" sz="2400" i="1">
                                <a:solidFill>
                                  <a:srgbClr val="00B0F0"/>
                                </a:solidFill>
                                <a:latin typeface="Cambria Math" panose="02040503050406030204" pitchFamily="18" charset="0"/>
                              </a:rPr>
                              <m:t>𝑟𝑔𝑚𝑎𝑥</m:t>
                            </m:r>
                          </m:e>
                        </m:mr>
                        <m:mr>
                          <m:e>
                            <m:r>
                              <a:rPr lang="en-IN" sz="2400" i="1">
                                <a:solidFill>
                                  <a:srgbClr val="00B0F0"/>
                                </a:solidFill>
                                <a:latin typeface="Cambria Math" panose="02040503050406030204" pitchFamily="18" charset="0"/>
                                <a:ea typeface="Cambria Math" panose="02040503050406030204" pitchFamily="18" charset="0"/>
                              </a:rPr>
                              <m:t>𝜃</m:t>
                            </m:r>
                          </m:e>
                        </m:mr>
                      </m:m>
                      <m:nary>
                        <m:naryPr>
                          <m:chr m:val="∏"/>
                          <m:ctrlPr>
                            <a:rPr lang="en-IN" sz="2400" i="1" smtClean="0">
                              <a:solidFill>
                                <a:srgbClr val="00B0F0"/>
                              </a:solidFill>
                              <a:latin typeface="Cambria Math" panose="02040503050406030204" pitchFamily="18" charset="0"/>
                              <a:ea typeface="Cambria Math" panose="02040503050406030204" pitchFamily="18" charset="0"/>
                            </a:rPr>
                          </m:ctrlPr>
                        </m:naryPr>
                        <m:sub>
                          <m:r>
                            <m:rPr>
                              <m:brk m:alnAt="23"/>
                            </m:rPr>
                            <a:rPr lang="en-IN" sz="2400" b="0" i="1" smtClean="0">
                              <a:solidFill>
                                <a:srgbClr val="00B0F0"/>
                              </a:solidFill>
                              <a:latin typeface="Cambria Math" panose="02040503050406030204" pitchFamily="18" charset="0"/>
                              <a:ea typeface="Cambria Math" panose="02040503050406030204" pitchFamily="18" charset="0"/>
                            </a:rPr>
                            <m:t>𝑖</m:t>
                          </m:r>
                          <m:r>
                            <a:rPr lang="en-IN" sz="2400" b="0" i="1" smtClean="0">
                              <a:solidFill>
                                <a:srgbClr val="00B0F0"/>
                              </a:solidFill>
                              <a:latin typeface="Cambria Math" panose="02040503050406030204" pitchFamily="18" charset="0"/>
                              <a:ea typeface="Cambria Math" panose="02040503050406030204" pitchFamily="18" charset="0"/>
                            </a:rPr>
                            <m:t>=1</m:t>
                          </m:r>
                        </m:sub>
                        <m:sup>
                          <m:r>
                            <a:rPr lang="en-IN" sz="2400" b="0" i="1" smtClean="0">
                              <a:solidFill>
                                <a:srgbClr val="00B0F0"/>
                              </a:solidFill>
                              <a:latin typeface="Cambria Math" panose="02040503050406030204" pitchFamily="18" charset="0"/>
                              <a:ea typeface="Cambria Math" panose="02040503050406030204" pitchFamily="18" charset="0"/>
                            </a:rPr>
                            <m:t>𝑁</m:t>
                          </m:r>
                        </m:sup>
                        <m:e>
                          <m:sSub>
                            <m:sSubPr>
                              <m:ctrlPr>
                                <a:rPr lang="en-IN" sz="2400" i="1">
                                  <a:solidFill>
                                    <a:srgbClr val="00B0F0"/>
                                  </a:solidFill>
                                  <a:latin typeface="Cambria Math" panose="02040503050406030204" pitchFamily="18" charset="0"/>
                                  <a:ea typeface="Cambria Math" panose="02040503050406030204" pitchFamily="18" charset="0"/>
                                </a:rPr>
                              </m:ctrlPr>
                            </m:sSubPr>
                            <m:e>
                              <m:r>
                                <a:rPr lang="en-IN" sz="2400" i="1">
                                  <a:solidFill>
                                    <a:srgbClr val="00B0F0"/>
                                  </a:solidFill>
                                  <a:latin typeface="Cambria Math" panose="02040503050406030204" pitchFamily="18" charset="0"/>
                                  <a:ea typeface="Cambria Math" panose="02040503050406030204" pitchFamily="18" charset="0"/>
                                </a:rPr>
                                <m:t>𝑝</m:t>
                              </m:r>
                            </m:e>
                            <m:sub>
                              <m:r>
                                <a:rPr lang="en-US" sz="2400" i="1">
                                  <a:solidFill>
                                    <a:srgbClr val="00B0F0"/>
                                  </a:solidFill>
                                  <a:latin typeface="Cambria Math" panose="02040503050406030204" pitchFamily="18" charset="0"/>
                                  <a:ea typeface="Cambria Math" panose="02040503050406030204" pitchFamily="18" charset="0"/>
                                </a:rPr>
                                <m:t>𝜃</m:t>
                              </m:r>
                            </m:sub>
                          </m:sSub>
                          <m:r>
                            <a:rPr lang="en-IN" sz="2400" i="0" smtClean="0">
                              <a:solidFill>
                                <a:srgbClr val="00B0F0"/>
                              </a:solidFill>
                              <a:latin typeface="Cambria Math" panose="02040503050406030204" pitchFamily="18" charset="0"/>
                              <a:ea typeface="Cambria Math" panose="02040503050406030204" pitchFamily="18" charset="0"/>
                            </a:rPr>
                            <m:t>(</m:t>
                          </m:r>
                          <m:sSub>
                            <m:sSubPr>
                              <m:ctrlPr>
                                <a:rPr lang="en-IN" sz="2400" i="1" smtClean="0">
                                  <a:solidFill>
                                    <a:srgbClr val="00B0F0"/>
                                  </a:solidFill>
                                  <a:latin typeface="Cambria Math" panose="02040503050406030204" pitchFamily="18" charset="0"/>
                                  <a:ea typeface="Cambria Math" panose="02040503050406030204" pitchFamily="18" charset="0"/>
                                </a:rPr>
                              </m:ctrlPr>
                            </m:sSubPr>
                            <m:e>
                              <m:r>
                                <a:rPr lang="en-IN" sz="2400" b="0" i="1" smtClean="0">
                                  <a:solidFill>
                                    <a:srgbClr val="00B0F0"/>
                                  </a:solidFill>
                                  <a:latin typeface="Cambria Math" panose="02040503050406030204" pitchFamily="18" charset="0"/>
                                  <a:ea typeface="Cambria Math" panose="02040503050406030204" pitchFamily="18" charset="0"/>
                                </a:rPr>
                                <m:t>𝑥</m:t>
                              </m:r>
                            </m:e>
                            <m:sub>
                              <m:r>
                                <a:rPr lang="en-IN" sz="2400" b="0" i="1" smtClean="0">
                                  <a:solidFill>
                                    <a:srgbClr val="00B0F0"/>
                                  </a:solidFill>
                                  <a:latin typeface="Cambria Math" panose="02040503050406030204" pitchFamily="18" charset="0"/>
                                  <a:ea typeface="Cambria Math" panose="02040503050406030204" pitchFamily="18" charset="0"/>
                                </a:rPr>
                                <m:t>𝑖</m:t>
                              </m:r>
                            </m:sub>
                          </m:sSub>
                          <m:r>
                            <a:rPr lang="en-IN" sz="2400" b="0" i="1" smtClean="0">
                              <a:solidFill>
                                <a:srgbClr val="00B0F0"/>
                              </a:solidFill>
                              <a:latin typeface="Cambria Math" panose="02040503050406030204" pitchFamily="18" charset="0"/>
                              <a:ea typeface="Cambria Math" panose="02040503050406030204" pitchFamily="18" charset="0"/>
                            </a:rPr>
                            <m:t>,</m:t>
                          </m:r>
                          <m:sSub>
                            <m:sSubPr>
                              <m:ctrlPr>
                                <a:rPr lang="en-IN" sz="2400" b="0" i="1" smtClean="0">
                                  <a:solidFill>
                                    <a:srgbClr val="00B0F0"/>
                                  </a:solidFill>
                                  <a:latin typeface="Cambria Math" panose="02040503050406030204" pitchFamily="18" charset="0"/>
                                  <a:ea typeface="Cambria Math" panose="02040503050406030204" pitchFamily="18" charset="0"/>
                                </a:rPr>
                              </m:ctrlPr>
                            </m:sSubPr>
                            <m:e>
                              <m:r>
                                <a:rPr lang="en-IN" sz="2400" b="0" i="1" smtClean="0">
                                  <a:solidFill>
                                    <a:srgbClr val="00B0F0"/>
                                  </a:solidFill>
                                  <a:latin typeface="Cambria Math" panose="02040503050406030204" pitchFamily="18" charset="0"/>
                                  <a:ea typeface="Cambria Math" panose="02040503050406030204" pitchFamily="18" charset="0"/>
                                </a:rPr>
                                <m:t>𝑦</m:t>
                              </m:r>
                            </m:e>
                            <m:sub>
                              <m:r>
                                <a:rPr lang="en-IN" sz="2400" b="0" i="1" smtClean="0">
                                  <a:solidFill>
                                    <a:srgbClr val="00B0F0"/>
                                  </a:solidFill>
                                  <a:latin typeface="Cambria Math" panose="02040503050406030204" pitchFamily="18" charset="0"/>
                                  <a:ea typeface="Cambria Math" panose="02040503050406030204" pitchFamily="18" charset="0"/>
                                </a:rPr>
                                <m:t>𝑖</m:t>
                              </m:r>
                            </m:sub>
                          </m:sSub>
                          <m:r>
                            <a:rPr lang="en-IN" sz="2400" i="0" smtClean="0">
                              <a:solidFill>
                                <a:srgbClr val="00B0F0"/>
                              </a:solidFill>
                              <a:latin typeface="Cambria Math" panose="02040503050406030204" pitchFamily="18" charset="0"/>
                              <a:ea typeface="Cambria Math" panose="02040503050406030204" pitchFamily="18" charset="0"/>
                            </a:rPr>
                            <m:t>)</m:t>
                          </m:r>
                        </m:e>
                      </m:nary>
                    </m:oMath>
                  </m:oMathPara>
                </a14:m>
                <a:endParaRPr lang="en-US" sz="2400" dirty="0">
                  <a:latin typeface="Arial Narrow" panose="020B0606020202030204" pitchFamily="34" charset="0"/>
                  <a:cs typeface="Times New Roman" panose="02020603050405020304" pitchFamily="18" charset="0"/>
                </a:endParaRPr>
              </a:p>
              <a:p>
                <a:pPr marL="0" indent="0">
                  <a:buNone/>
                </a:pPr>
                <a:endParaRPr lang="en-US" sz="2400" dirty="0">
                  <a:latin typeface="Arial Narrow" panose="020B0606020202030204" pitchFamily="34" charset="0"/>
                  <a:cs typeface="Times New Roman" panose="02020603050405020304" pitchFamily="18" charset="0"/>
                </a:endParaRPr>
              </a:p>
              <a:p>
                <a:r>
                  <a:rPr lang="en-US" sz="2400" dirty="0">
                    <a:latin typeface="Arial Narrow" panose="020B0606020202030204" pitchFamily="34" charset="0"/>
                    <a:cs typeface="Times New Roman" panose="02020603050405020304" pitchFamily="18" charset="0"/>
                  </a:rPr>
                  <a:t>The product of probabilities is referred to as the likelihood function:</a:t>
                </a:r>
              </a:p>
              <a:p>
                <a:pPr marL="0" indent="0">
                  <a:buNone/>
                </a:pPr>
                <a14:m>
                  <m:oMathPara xmlns:m="http://schemas.openxmlformats.org/officeDocument/2006/math">
                    <m:oMathParaPr>
                      <m:jc m:val="centerGroup"/>
                    </m:oMathParaPr>
                    <m:oMath xmlns:m="http://schemas.openxmlformats.org/officeDocument/2006/math">
                      <m:r>
                        <a:rPr lang="en-IN" sz="2400" b="0" i="1" smtClean="0">
                          <a:solidFill>
                            <a:srgbClr val="00B0F0"/>
                          </a:solidFill>
                          <a:latin typeface="Cambria Math" panose="02040503050406030204" pitchFamily="18" charset="0"/>
                        </a:rPr>
                        <m:t>𝐿</m:t>
                      </m:r>
                      <m:r>
                        <a:rPr lang="en-IN" sz="2400" b="0" i="1" smtClean="0">
                          <a:solidFill>
                            <a:srgbClr val="00B0F0"/>
                          </a:solidFill>
                          <a:latin typeface="Cambria Math" panose="02040503050406030204" pitchFamily="18" charset="0"/>
                        </a:rPr>
                        <m:t>(</m:t>
                      </m:r>
                      <m:r>
                        <a:rPr lang="en-IN" sz="2400" i="1">
                          <a:solidFill>
                            <a:srgbClr val="00B0F0"/>
                          </a:solidFill>
                          <a:latin typeface="Cambria Math" panose="02040503050406030204" pitchFamily="18" charset="0"/>
                          <a:ea typeface="Cambria Math" panose="02040503050406030204" pitchFamily="18" charset="0"/>
                        </a:rPr>
                        <m:t>𝜃</m:t>
                      </m:r>
                      <m:r>
                        <a:rPr lang="en-IN" sz="2400" b="0" i="1" smtClean="0">
                          <a:solidFill>
                            <a:srgbClr val="00B0F0"/>
                          </a:solidFill>
                          <a:latin typeface="Cambria Math" panose="02040503050406030204" pitchFamily="18" charset="0"/>
                          <a:ea typeface="Cambria Math" panose="02040503050406030204" pitchFamily="18" charset="0"/>
                        </a:rPr>
                        <m:t>|</m:t>
                      </m:r>
                      <m:r>
                        <a:rPr lang="en-IN" sz="2400" b="0" i="1" smtClean="0">
                          <a:solidFill>
                            <a:srgbClr val="00B0F0"/>
                          </a:solidFill>
                          <a:latin typeface="Cambria Math" panose="02040503050406030204" pitchFamily="18" charset="0"/>
                          <a:ea typeface="Cambria Math" panose="02040503050406030204" pitchFamily="18" charset="0"/>
                        </a:rPr>
                        <m:t>𝐷</m:t>
                      </m:r>
                      <m:r>
                        <a:rPr lang="en-IN" sz="2400" b="0" i="1" smtClean="0">
                          <a:solidFill>
                            <a:srgbClr val="00B0F0"/>
                          </a:solidFill>
                          <a:latin typeface="Cambria Math" panose="02040503050406030204" pitchFamily="18" charset="0"/>
                          <a:ea typeface="Cambria Math" panose="02040503050406030204" pitchFamily="18" charset="0"/>
                        </a:rPr>
                        <m:t>)=</m:t>
                      </m:r>
                      <m:nary>
                        <m:naryPr>
                          <m:chr m:val="∏"/>
                          <m:ctrlPr>
                            <a:rPr lang="en-IN" sz="2400" i="1">
                              <a:solidFill>
                                <a:srgbClr val="00B0F0"/>
                              </a:solidFill>
                              <a:latin typeface="Cambria Math" panose="02040503050406030204" pitchFamily="18" charset="0"/>
                              <a:ea typeface="Cambria Math" panose="02040503050406030204" pitchFamily="18" charset="0"/>
                            </a:rPr>
                          </m:ctrlPr>
                        </m:naryPr>
                        <m:sub>
                          <m:r>
                            <m:rPr>
                              <m:brk m:alnAt="23"/>
                            </m:rPr>
                            <a:rPr lang="en-IN" sz="2400" i="1">
                              <a:solidFill>
                                <a:srgbClr val="00B0F0"/>
                              </a:solidFill>
                              <a:latin typeface="Cambria Math" panose="02040503050406030204" pitchFamily="18" charset="0"/>
                              <a:ea typeface="Cambria Math" panose="02040503050406030204" pitchFamily="18" charset="0"/>
                            </a:rPr>
                            <m:t>𝑖</m:t>
                          </m:r>
                          <m:r>
                            <a:rPr lang="en-IN" sz="2400" i="1">
                              <a:solidFill>
                                <a:srgbClr val="00B0F0"/>
                              </a:solidFill>
                              <a:latin typeface="Cambria Math" panose="02040503050406030204" pitchFamily="18" charset="0"/>
                              <a:ea typeface="Cambria Math" panose="02040503050406030204" pitchFamily="18" charset="0"/>
                            </a:rPr>
                            <m:t>=1</m:t>
                          </m:r>
                        </m:sub>
                        <m:sup>
                          <m:r>
                            <a:rPr lang="en-IN" sz="2400" i="1">
                              <a:solidFill>
                                <a:srgbClr val="00B0F0"/>
                              </a:solidFill>
                              <a:latin typeface="Cambria Math" panose="02040503050406030204" pitchFamily="18" charset="0"/>
                              <a:ea typeface="Cambria Math" panose="02040503050406030204" pitchFamily="18" charset="0"/>
                            </a:rPr>
                            <m:t>𝑁</m:t>
                          </m:r>
                        </m:sup>
                        <m:e>
                          <m:sSub>
                            <m:sSubPr>
                              <m:ctrlPr>
                                <a:rPr lang="en-IN" sz="2400" i="1">
                                  <a:solidFill>
                                    <a:srgbClr val="00B0F0"/>
                                  </a:solidFill>
                                  <a:latin typeface="Cambria Math" panose="02040503050406030204" pitchFamily="18" charset="0"/>
                                  <a:ea typeface="Cambria Math" panose="02040503050406030204" pitchFamily="18" charset="0"/>
                                </a:rPr>
                              </m:ctrlPr>
                            </m:sSubPr>
                            <m:e>
                              <m:r>
                                <a:rPr lang="en-IN" sz="2400" i="1">
                                  <a:solidFill>
                                    <a:srgbClr val="00B0F0"/>
                                  </a:solidFill>
                                  <a:latin typeface="Cambria Math" panose="02040503050406030204" pitchFamily="18" charset="0"/>
                                  <a:ea typeface="Cambria Math" panose="02040503050406030204" pitchFamily="18" charset="0"/>
                                </a:rPr>
                                <m:t>𝑝</m:t>
                              </m:r>
                            </m:e>
                            <m:sub>
                              <m:r>
                                <a:rPr lang="en-US" sz="2400" i="1">
                                  <a:solidFill>
                                    <a:srgbClr val="00B0F0"/>
                                  </a:solidFill>
                                  <a:latin typeface="Cambria Math" panose="02040503050406030204" pitchFamily="18" charset="0"/>
                                  <a:ea typeface="Cambria Math" panose="02040503050406030204" pitchFamily="18" charset="0"/>
                                </a:rPr>
                                <m:t>𝜃</m:t>
                              </m:r>
                            </m:sub>
                          </m:sSub>
                          <m:r>
                            <a:rPr lang="en-IN" sz="2400">
                              <a:solidFill>
                                <a:srgbClr val="00B0F0"/>
                              </a:solidFill>
                              <a:latin typeface="Cambria Math" panose="02040503050406030204" pitchFamily="18" charset="0"/>
                              <a:ea typeface="Cambria Math" panose="02040503050406030204" pitchFamily="18" charset="0"/>
                            </a:rPr>
                            <m:t>(</m:t>
                          </m:r>
                          <m:sSub>
                            <m:sSubPr>
                              <m:ctrlPr>
                                <a:rPr lang="en-IN" sz="2400" i="1">
                                  <a:solidFill>
                                    <a:srgbClr val="00B0F0"/>
                                  </a:solidFill>
                                  <a:latin typeface="Cambria Math" panose="02040503050406030204" pitchFamily="18" charset="0"/>
                                  <a:ea typeface="Cambria Math" panose="02040503050406030204" pitchFamily="18" charset="0"/>
                                </a:rPr>
                              </m:ctrlPr>
                            </m:sSubPr>
                            <m:e>
                              <m:r>
                                <a:rPr lang="en-IN" sz="2400" i="1">
                                  <a:solidFill>
                                    <a:srgbClr val="00B0F0"/>
                                  </a:solidFill>
                                  <a:latin typeface="Cambria Math" panose="02040503050406030204" pitchFamily="18" charset="0"/>
                                  <a:ea typeface="Cambria Math" panose="02040503050406030204" pitchFamily="18" charset="0"/>
                                </a:rPr>
                                <m:t>𝑥</m:t>
                              </m:r>
                            </m:e>
                            <m:sub>
                              <m:r>
                                <a:rPr lang="en-IN" sz="2400" i="1">
                                  <a:solidFill>
                                    <a:srgbClr val="00B0F0"/>
                                  </a:solidFill>
                                  <a:latin typeface="Cambria Math" panose="02040503050406030204" pitchFamily="18" charset="0"/>
                                  <a:ea typeface="Cambria Math" panose="02040503050406030204" pitchFamily="18" charset="0"/>
                                </a:rPr>
                                <m:t>𝑖</m:t>
                              </m:r>
                            </m:sub>
                          </m:sSub>
                          <m:r>
                            <a:rPr lang="en-IN" sz="2400" i="1">
                              <a:solidFill>
                                <a:srgbClr val="00B0F0"/>
                              </a:solidFill>
                              <a:latin typeface="Cambria Math" panose="02040503050406030204" pitchFamily="18" charset="0"/>
                              <a:ea typeface="Cambria Math" panose="02040503050406030204" pitchFamily="18" charset="0"/>
                            </a:rPr>
                            <m:t>,</m:t>
                          </m:r>
                          <m:sSub>
                            <m:sSubPr>
                              <m:ctrlPr>
                                <a:rPr lang="en-IN" sz="2400" i="1">
                                  <a:solidFill>
                                    <a:srgbClr val="00B0F0"/>
                                  </a:solidFill>
                                  <a:latin typeface="Cambria Math" panose="02040503050406030204" pitchFamily="18" charset="0"/>
                                  <a:ea typeface="Cambria Math" panose="02040503050406030204" pitchFamily="18" charset="0"/>
                                </a:rPr>
                              </m:ctrlPr>
                            </m:sSubPr>
                            <m:e>
                              <m:r>
                                <a:rPr lang="en-IN" sz="2400" i="1">
                                  <a:solidFill>
                                    <a:srgbClr val="00B0F0"/>
                                  </a:solidFill>
                                  <a:latin typeface="Cambria Math" panose="02040503050406030204" pitchFamily="18" charset="0"/>
                                  <a:ea typeface="Cambria Math" panose="02040503050406030204" pitchFamily="18" charset="0"/>
                                </a:rPr>
                                <m:t>𝑦</m:t>
                              </m:r>
                            </m:e>
                            <m:sub>
                              <m:r>
                                <a:rPr lang="en-IN" sz="2400" i="1">
                                  <a:solidFill>
                                    <a:srgbClr val="00B0F0"/>
                                  </a:solidFill>
                                  <a:latin typeface="Cambria Math" panose="02040503050406030204" pitchFamily="18" charset="0"/>
                                  <a:ea typeface="Cambria Math" panose="02040503050406030204" pitchFamily="18" charset="0"/>
                                </a:rPr>
                                <m:t>𝑖</m:t>
                              </m:r>
                            </m:sub>
                          </m:sSub>
                          <m:r>
                            <a:rPr lang="en-IN" sz="2400">
                              <a:solidFill>
                                <a:srgbClr val="00B0F0"/>
                              </a:solidFill>
                              <a:latin typeface="Cambria Math" panose="02040503050406030204" pitchFamily="18" charset="0"/>
                              <a:ea typeface="Cambria Math" panose="02040503050406030204" pitchFamily="18" charset="0"/>
                            </a:rPr>
                            <m:t>)</m:t>
                          </m:r>
                        </m:e>
                      </m:nary>
                    </m:oMath>
                  </m:oMathPara>
                </a14:m>
                <a:endParaRPr lang="en-US" sz="2400" dirty="0">
                  <a:latin typeface="Arial Narrow" panose="020B0606020202030204" pitchFamily="34" charset="0"/>
                  <a:cs typeface="Times New Roman" panose="02020603050405020304" pitchFamily="18" charset="0"/>
                </a:endParaRPr>
              </a:p>
              <a:p>
                <a:pPr marL="0" indent="0">
                  <a:buNone/>
                </a:pPr>
                <a:endParaRPr lang="en-US" sz="2400" dirty="0">
                  <a:latin typeface="Arial Narrow" panose="020B0606020202030204" pitchFamily="34" charset="0"/>
                  <a:cs typeface="Times New Roman" panose="02020603050405020304" pitchFamily="18" charset="0"/>
                </a:endParaRPr>
              </a:p>
            </p:txBody>
          </p:sp>
        </mc:Choice>
        <mc:Fallback xmlns="">
          <p:sp>
            <p:nvSpPr>
              <p:cNvPr id="4" name="Content Placeholder 3">
                <a:extLst>
                  <a:ext uri="{FF2B5EF4-FFF2-40B4-BE49-F238E27FC236}">
                    <a16:creationId xmlns:a16="http://schemas.microsoft.com/office/drawing/2014/main" id="{F9BB21CE-A492-486C-A460-89290FFA905D}"/>
                  </a:ext>
                </a:extLst>
              </p:cNvPr>
              <p:cNvSpPr>
                <a:spLocks noGrp="1" noRot="1" noChangeAspect="1" noMove="1" noResize="1" noEditPoints="1" noAdjustHandles="1" noChangeArrowheads="1" noChangeShapeType="1" noTextEdit="1"/>
              </p:cNvSpPr>
              <p:nvPr>
                <p:ph idx="1"/>
              </p:nvPr>
            </p:nvSpPr>
            <p:spPr>
              <a:xfrm>
                <a:off x="838199" y="1556683"/>
                <a:ext cx="10833847" cy="5014445"/>
              </a:xfrm>
              <a:blipFill>
                <a:blip r:embed="rId2"/>
                <a:stretch>
                  <a:fillRect l="-731" t="-1580" r="-675"/>
                </a:stretch>
              </a:blipFill>
            </p:spPr>
            <p:txBody>
              <a:bodyPr/>
              <a:lstStyle/>
              <a:p>
                <a:r>
                  <a:rPr lang="en-IN">
                    <a:noFill/>
                  </a:rPr>
                  <a:t> </a:t>
                </a:r>
              </a:p>
            </p:txBody>
          </p:sp>
        </mc:Fallback>
      </mc:AlternateContent>
    </p:spTree>
    <p:extLst>
      <p:ext uri="{BB962C8B-B14F-4D97-AF65-F5344CB8AC3E}">
        <p14:creationId xmlns:p14="http://schemas.microsoft.com/office/powerpoint/2010/main" val="3251451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3966E5-F05F-4007-BF8B-674D3383ECB6}"/>
                  </a:ext>
                </a:extLst>
              </p:cNvPr>
              <p:cNvSpPr>
                <a:spLocks noGrp="1"/>
              </p:cNvSpPr>
              <p:nvPr>
                <p:ph idx="1"/>
              </p:nvPr>
            </p:nvSpPr>
            <p:spPr>
              <a:xfrm>
                <a:off x="838200" y="1592541"/>
                <a:ext cx="10515600" cy="4673787"/>
              </a:xfrm>
            </p:spPr>
            <p:txBody>
              <a:bodyPr>
                <a:normAutofit lnSpcReduction="10000"/>
              </a:bodyPr>
              <a:lstStyle/>
              <a:p>
                <a:r>
                  <a:rPr lang="en-US" sz="2000" dirty="0">
                    <a:latin typeface="Arial Narrow" panose="020B0606020202030204" pitchFamily="34" charset="0"/>
                  </a:rPr>
                  <a:t>Since multiplying a large number of probabilities can be computationally inconvenient, the logarithm of the likelihood is generally maximized instead. This gives the </a:t>
                </a:r>
                <a:r>
                  <a:rPr lang="en-US" sz="2000" dirty="0">
                    <a:solidFill>
                      <a:srgbClr val="7030A0"/>
                    </a:solidFill>
                    <a:latin typeface="Arial Narrow" panose="020B0606020202030204" pitchFamily="34" charset="0"/>
                  </a:rPr>
                  <a:t>log-likelihood objective</a:t>
                </a:r>
                <a:r>
                  <a:rPr lang="en-US" sz="2000" dirty="0">
                    <a:latin typeface="Arial Narrow" panose="020B0606020202030204" pitchFamily="34" charset="0"/>
                  </a:rPr>
                  <a:t>:</a:t>
                </a:r>
              </a:p>
              <a:p>
                <a:pPr marL="0" indent="0">
                  <a:buNone/>
                </a:pPr>
                <a14:m>
                  <m:oMathPara xmlns:m="http://schemas.openxmlformats.org/officeDocument/2006/math">
                    <m:oMathParaPr>
                      <m:jc m:val="centerGroup"/>
                    </m:oMathParaPr>
                    <m:oMath xmlns:m="http://schemas.openxmlformats.org/officeDocument/2006/math">
                      <m:sSup>
                        <m:sSupPr>
                          <m:ctrlPr>
                            <a:rPr lang="en-IN" sz="2000" i="1" smtClean="0">
                              <a:latin typeface="Cambria Math" panose="02040503050406030204" pitchFamily="18" charset="0"/>
                            </a:rPr>
                          </m:ctrlPr>
                        </m:sSupPr>
                        <m:e>
                          <m:r>
                            <a:rPr lang="en-IN" sz="2000" i="1" smtClean="0">
                              <a:latin typeface="Cambria Math" panose="02040503050406030204" pitchFamily="18" charset="0"/>
                              <a:ea typeface="Cambria Math" panose="02040503050406030204" pitchFamily="18" charset="0"/>
                            </a:rPr>
                            <m:t>𝜃</m:t>
                          </m:r>
                        </m:e>
                        <m:sup>
                          <m:r>
                            <a:rPr lang="en-IN" sz="2000" b="0" i="1" smtClean="0">
                              <a:latin typeface="Cambria Math" panose="02040503050406030204" pitchFamily="18" charset="0"/>
                            </a:rPr>
                            <m:t>∗</m:t>
                          </m:r>
                        </m:sup>
                      </m:sSup>
                      <m:r>
                        <a:rPr lang="en-IN" sz="2000" i="1">
                          <a:latin typeface="Cambria Math" panose="02040503050406030204" pitchFamily="18" charset="0"/>
                        </a:rPr>
                        <m:t>=</m:t>
                      </m:r>
                      <m:m>
                        <m:mPr>
                          <m:mcs>
                            <m:mc>
                              <m:mcPr>
                                <m:count m:val="1"/>
                                <m:mcJc m:val="center"/>
                              </m:mcPr>
                            </m:mc>
                          </m:mcs>
                          <m:ctrlPr>
                            <a:rPr lang="en-IN" sz="2000" i="1" smtClean="0">
                              <a:latin typeface="Cambria Math" panose="02040503050406030204" pitchFamily="18" charset="0"/>
                            </a:rPr>
                          </m:ctrlPr>
                        </m:mPr>
                        <m:mr>
                          <m:e>
                            <m:r>
                              <m:rPr>
                                <m:brk m:alnAt="7"/>
                              </m:rPr>
                              <a:rPr lang="en-IN" sz="2000" b="0" i="1" smtClean="0">
                                <a:latin typeface="Cambria Math" panose="02040503050406030204" pitchFamily="18" charset="0"/>
                              </a:rPr>
                              <m:t>𝑎</m:t>
                            </m:r>
                            <m:r>
                              <a:rPr lang="en-IN" sz="2000" b="0" i="1" smtClean="0">
                                <a:latin typeface="Cambria Math" panose="02040503050406030204" pitchFamily="18" charset="0"/>
                              </a:rPr>
                              <m:t>𝑟𝑔𝑚𝑎𝑥</m:t>
                            </m:r>
                          </m:e>
                        </m:mr>
                        <m:mr>
                          <m:e>
                            <m:r>
                              <a:rPr lang="en-IN" sz="2000" i="1" smtClean="0">
                                <a:latin typeface="Cambria Math" panose="02040503050406030204" pitchFamily="18" charset="0"/>
                                <a:ea typeface="Cambria Math" panose="02040503050406030204" pitchFamily="18" charset="0"/>
                              </a:rPr>
                              <m:t>𝜃</m:t>
                            </m:r>
                          </m:e>
                        </m:mr>
                      </m:m>
                      <m:nary>
                        <m:naryPr>
                          <m:chr m:val="∑"/>
                          <m:ctrlPr>
                            <a:rPr lang="en-IN" sz="2000" b="0" i="1" smtClean="0">
                              <a:latin typeface="Cambria Math" panose="02040503050406030204" pitchFamily="18" charset="0"/>
                            </a:rPr>
                          </m:ctrlPr>
                        </m:naryPr>
                        <m:sub>
                          <m:r>
                            <m:rPr>
                              <m:brk m:alnAt="23"/>
                            </m:rPr>
                            <a:rPr lang="en-IN" sz="2000" b="0" i="1" smtClean="0">
                              <a:latin typeface="Cambria Math" panose="02040503050406030204" pitchFamily="18" charset="0"/>
                            </a:rPr>
                            <m:t>𝑖</m:t>
                          </m:r>
                          <m:r>
                            <a:rPr lang="en-IN" sz="2000" b="0" i="1" smtClean="0">
                              <a:latin typeface="Cambria Math" panose="02040503050406030204" pitchFamily="18" charset="0"/>
                            </a:rPr>
                            <m:t>=1</m:t>
                          </m:r>
                        </m:sub>
                        <m:sup>
                          <m:r>
                            <a:rPr lang="en-IN" sz="2000" b="0" i="1" smtClean="0">
                              <a:latin typeface="Cambria Math" panose="02040503050406030204" pitchFamily="18" charset="0"/>
                            </a:rPr>
                            <m:t>𝑁</m:t>
                          </m:r>
                        </m:sup>
                        <m:e>
                          <m:func>
                            <m:funcPr>
                              <m:ctrlPr>
                                <a:rPr lang="en-IN" sz="2000" b="0" i="1" smtClean="0">
                                  <a:latin typeface="Cambria Math" panose="02040503050406030204" pitchFamily="18" charset="0"/>
                                </a:rPr>
                              </m:ctrlPr>
                            </m:funcPr>
                            <m:fName>
                              <m:r>
                                <m:rPr>
                                  <m:sty m:val="p"/>
                                </m:rPr>
                                <a:rPr lang="en-IN" sz="2000" b="0" i="0" smtClean="0">
                                  <a:latin typeface="Cambria Math" panose="02040503050406030204" pitchFamily="18" charset="0"/>
                                </a:rPr>
                                <m:t>log</m:t>
                              </m:r>
                            </m:fName>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𝑝</m:t>
                                  </m:r>
                                </m:e>
                                <m:sub>
                                  <m:r>
                                    <a:rPr lang="en-IN" sz="2000" b="0" i="1" smtClean="0">
                                      <a:latin typeface="Cambria Math" panose="02040503050406030204" pitchFamily="18" charset="0"/>
                                      <a:ea typeface="Cambria Math" panose="02040503050406030204" pitchFamily="18" charset="0"/>
                                    </a:rPr>
                                    <m:t>𝜃</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𝑖</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𝑖</m:t>
                                  </m:r>
                                </m:sub>
                              </m:sSub>
                              <m:r>
                                <a:rPr lang="en-IN" sz="2000" b="0" i="1" smtClean="0">
                                  <a:latin typeface="Cambria Math" panose="02040503050406030204" pitchFamily="18" charset="0"/>
                                </a:rPr>
                                <m:t>)</m:t>
                              </m:r>
                            </m:e>
                          </m:func>
                        </m:e>
                      </m:nary>
                    </m:oMath>
                  </m:oMathPara>
                </a14:m>
                <a:endParaRPr lang="en-IN" sz="2000" dirty="0">
                  <a:latin typeface="Arial Narrow" panose="020B0606020202030204" pitchFamily="34" charset="0"/>
                </a:endParaRPr>
              </a:p>
              <a:p>
                <a:pPr marL="0" indent="0">
                  <a:buNone/>
                </a:pPr>
                <a:endParaRPr lang="en-IN" sz="2000" dirty="0">
                  <a:latin typeface="Arial Narrow" panose="020B0606020202030204" pitchFamily="34" charset="0"/>
                </a:endParaRPr>
              </a:p>
              <a:p>
                <a:r>
                  <a:rPr lang="en-US" sz="2000" dirty="0">
                    <a:latin typeface="Arial Narrow" panose="020B0606020202030204" pitchFamily="34" charset="0"/>
                  </a:rPr>
                  <a:t>For a generative classifier, the joint distribution can be factorized as</a:t>
                </a:r>
              </a:p>
              <a:p>
                <a:pPr marL="0" indent="0">
                  <a:buNone/>
                </a:pPr>
                <a14:m>
                  <m:oMathPara xmlns:m="http://schemas.openxmlformats.org/officeDocument/2006/math">
                    <m:oMathParaPr>
                      <m:jc m:val="centerGroup"/>
                    </m:oMathParaPr>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rPr>
                          </m:ctrlPr>
                        </m:dPr>
                        <m:e>
                          <m:r>
                            <a:rPr lang="en-IN" sz="2000" i="1">
                              <a:solidFill>
                                <a:srgbClr val="00B0F0"/>
                              </a:solidFill>
                              <a:latin typeface="Cambria Math" panose="02040503050406030204" pitchFamily="18" charset="0"/>
                              <a:ea typeface="Cambria Math" panose="02040503050406030204" pitchFamily="18" charset="0"/>
                            </a:rPr>
                            <m:t>𝑥</m:t>
                          </m:r>
                          <m:r>
                            <a:rPr lang="en-IN" sz="2000" i="1">
                              <a:solidFill>
                                <a:srgbClr val="00B0F0"/>
                              </a:solidFill>
                              <a:latin typeface="Cambria Math" panose="02040503050406030204" pitchFamily="18" charset="0"/>
                              <a:ea typeface="Cambria Math" panose="02040503050406030204" pitchFamily="18" charset="0"/>
                            </a:rPr>
                            <m:t>,</m:t>
                          </m:r>
                          <m:r>
                            <a:rPr lang="en-IN" sz="2000" i="1">
                              <a:solidFill>
                                <a:srgbClr val="00B0F0"/>
                              </a:solidFill>
                              <a:latin typeface="Cambria Math" panose="02040503050406030204" pitchFamily="18" charset="0"/>
                              <a:ea typeface="Cambria Math" panose="02040503050406030204" pitchFamily="18" charset="0"/>
                            </a:rPr>
                            <m:t>𝑦</m:t>
                          </m:r>
                        </m:e>
                      </m:d>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e>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m:oMathPara>
                </a14:m>
                <a:endParaRPr lang="en-US" sz="2000" dirty="0">
                  <a:latin typeface="Arial Narrow" panose="020B0606020202030204" pitchFamily="34" charset="0"/>
                </a:endParaRPr>
              </a:p>
              <a:p>
                <a:r>
                  <a:rPr lang="en-US" sz="2000" dirty="0">
                    <a:latin typeface="Arial Narrow" panose="020B0606020202030204" pitchFamily="34" charset="0"/>
                  </a:rPr>
                  <a:t>Therefore, the MLE objective becomes</a:t>
                </a:r>
              </a:p>
              <a:p>
                <a:pPr marL="0" indent="0">
                  <a:buNone/>
                </a:pPr>
                <a14:m>
                  <m:oMathPara xmlns:m="http://schemas.openxmlformats.org/officeDocument/2006/math">
                    <m:oMathParaPr>
                      <m:jc m:val="centerGroup"/>
                    </m:oMathParaPr>
                    <m:oMath xmlns:m="http://schemas.openxmlformats.org/officeDocument/2006/math">
                      <m:sSup>
                        <m:sSupPr>
                          <m:ctrlPr>
                            <a:rPr lang="en-IN" sz="2000" i="1">
                              <a:latin typeface="Cambria Math" panose="02040503050406030204" pitchFamily="18" charset="0"/>
                            </a:rPr>
                          </m:ctrlPr>
                        </m:sSupPr>
                        <m:e>
                          <m:r>
                            <a:rPr lang="en-IN" sz="2000" i="1">
                              <a:latin typeface="Cambria Math" panose="02040503050406030204" pitchFamily="18" charset="0"/>
                              <a:ea typeface="Cambria Math" panose="02040503050406030204" pitchFamily="18" charset="0"/>
                            </a:rPr>
                            <m:t>𝜃</m:t>
                          </m:r>
                        </m:e>
                        <m:sup>
                          <m:r>
                            <a:rPr lang="en-IN" sz="2000" i="1">
                              <a:latin typeface="Cambria Math" panose="02040503050406030204" pitchFamily="18" charset="0"/>
                            </a:rPr>
                            <m:t>∗</m:t>
                          </m:r>
                        </m:sup>
                      </m:sSup>
                      <m:r>
                        <a:rPr lang="en-IN" sz="2000" i="1">
                          <a:latin typeface="Cambria Math" panose="02040503050406030204" pitchFamily="18" charset="0"/>
                        </a:rPr>
                        <m:t>=</m:t>
                      </m:r>
                      <m:m>
                        <m:mPr>
                          <m:mcs>
                            <m:mc>
                              <m:mcPr>
                                <m:count m:val="1"/>
                                <m:mcJc m:val="center"/>
                              </m:mcPr>
                            </m:mc>
                          </m:mcs>
                          <m:ctrlPr>
                            <a:rPr lang="en-IN" sz="2000" i="1">
                              <a:latin typeface="Cambria Math" panose="02040503050406030204" pitchFamily="18" charset="0"/>
                            </a:rPr>
                          </m:ctrlPr>
                        </m:mPr>
                        <m:mr>
                          <m:e>
                            <m:r>
                              <m:rPr>
                                <m:brk m:alnAt="7"/>
                              </m:rPr>
                              <a:rPr lang="en-IN" sz="2000" i="1">
                                <a:latin typeface="Cambria Math" panose="02040503050406030204" pitchFamily="18" charset="0"/>
                              </a:rPr>
                              <m:t>𝑎</m:t>
                            </m:r>
                            <m:r>
                              <a:rPr lang="en-IN" sz="2000" i="1">
                                <a:latin typeface="Cambria Math" panose="02040503050406030204" pitchFamily="18" charset="0"/>
                              </a:rPr>
                              <m:t>𝑟𝑔𝑚𝑎𝑥</m:t>
                            </m:r>
                          </m:e>
                        </m:mr>
                        <m:mr>
                          <m:e>
                            <m:r>
                              <a:rPr lang="en-IN" sz="2000" i="1">
                                <a:latin typeface="Cambria Math" panose="02040503050406030204" pitchFamily="18" charset="0"/>
                                <a:ea typeface="Cambria Math" panose="02040503050406030204" pitchFamily="18" charset="0"/>
                              </a:rPr>
                              <m:t>𝜃</m:t>
                            </m:r>
                          </m:e>
                        </m:mr>
                      </m:m>
                      <m:nary>
                        <m:naryPr>
                          <m:chr m:val="∑"/>
                          <m:ctrlPr>
                            <a:rPr lang="en-IN" sz="2000" i="1">
                              <a:latin typeface="Cambria Math" panose="02040503050406030204" pitchFamily="18" charset="0"/>
                            </a:rPr>
                          </m:ctrlPr>
                        </m:naryPr>
                        <m:sub>
                          <m:r>
                            <m:rPr>
                              <m:brk m:alnAt="23"/>
                            </m:rPr>
                            <a:rPr lang="en-IN" sz="2000" i="1">
                              <a:latin typeface="Cambria Math" panose="02040503050406030204" pitchFamily="18" charset="0"/>
                            </a:rPr>
                            <m:t>𝑖</m:t>
                          </m:r>
                          <m:r>
                            <a:rPr lang="en-IN" sz="2000" i="1">
                              <a:latin typeface="Cambria Math" panose="02040503050406030204" pitchFamily="18" charset="0"/>
                            </a:rPr>
                            <m:t>=1</m:t>
                          </m:r>
                        </m:sub>
                        <m:sup>
                          <m:r>
                            <a:rPr lang="en-IN" sz="2000" i="1">
                              <a:latin typeface="Cambria Math" panose="02040503050406030204" pitchFamily="18" charset="0"/>
                            </a:rPr>
                            <m:t>𝑁</m:t>
                          </m:r>
                        </m:sup>
                        <m:e>
                          <m:func>
                            <m:funcPr>
                              <m:ctrlPr>
                                <a:rPr lang="en-IN" sz="2000" i="1">
                                  <a:latin typeface="Cambria Math" panose="02040503050406030204" pitchFamily="18" charset="0"/>
                                </a:rPr>
                              </m:ctrlPr>
                            </m:funcPr>
                            <m:fName>
                              <m:r>
                                <a:rPr lang="en-IN" sz="2000" b="0" i="1" smtClean="0">
                                  <a:latin typeface="Cambria Math" panose="02040503050406030204" pitchFamily="18" charset="0"/>
                                </a:rPr>
                                <m:t>[</m:t>
                              </m:r>
                              <m:func>
                                <m:funcPr>
                                  <m:ctrlPr>
                                    <a:rPr lang="en-IN" sz="2000" i="1">
                                      <a:latin typeface="Cambria Math" panose="02040503050406030204" pitchFamily="18" charset="0"/>
                                    </a:rPr>
                                  </m:ctrlPr>
                                </m:funcPr>
                                <m:fName>
                                  <m:r>
                                    <m:rPr>
                                      <m:sty m:val="p"/>
                                    </m:rPr>
                                    <a:rPr lang="en-IN" sz="2000">
                                      <a:latin typeface="Cambria Math" panose="02040503050406030204" pitchFamily="18" charset="0"/>
                                    </a:rPr>
                                    <m:t>log</m:t>
                                  </m:r>
                                </m:fName>
                                <m:e>
                                  <m:sSub>
                                    <m:sSubPr>
                                      <m:ctrlPr>
                                        <a:rPr lang="en-IN" sz="2000" i="1">
                                          <a:latin typeface="Cambria Math" panose="02040503050406030204" pitchFamily="18" charset="0"/>
                                        </a:rPr>
                                      </m:ctrlPr>
                                    </m:sSubPr>
                                    <m:e>
                                      <m:r>
                                        <a:rPr lang="en-IN" sz="2000" i="1">
                                          <a:latin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𝜃</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𝑦</m:t>
                                      </m:r>
                                    </m:e>
                                    <m:sub>
                                      <m:r>
                                        <a:rPr lang="en-IN" sz="2000" i="1">
                                          <a:latin typeface="Cambria Math" panose="02040503050406030204" pitchFamily="18" charset="0"/>
                                        </a:rPr>
                                        <m:t>𝑖</m:t>
                                      </m:r>
                                    </m:sub>
                                  </m:sSub>
                                  <m:r>
                                    <a:rPr lang="en-IN" sz="2000" i="1">
                                      <a:latin typeface="Cambria Math" panose="02040503050406030204" pitchFamily="18" charset="0"/>
                                    </a:rPr>
                                    <m:t>)</m:t>
                                  </m:r>
                                </m:e>
                              </m:func>
                              <m:r>
                                <a:rPr lang="en-IN" sz="2000" b="0" i="0" smtClean="0">
                                  <a:latin typeface="Cambria Math" panose="02040503050406030204" pitchFamily="18" charset="0"/>
                                </a:rPr>
                                <m:t>+</m:t>
                              </m:r>
                              <m:r>
                                <m:rPr>
                                  <m:sty m:val="p"/>
                                </m:rPr>
                                <a:rPr lang="en-IN" sz="2000">
                                  <a:latin typeface="Cambria Math" panose="02040503050406030204" pitchFamily="18" charset="0"/>
                                </a:rPr>
                                <m:t>log</m:t>
                              </m:r>
                            </m:fName>
                            <m:e>
                              <m:sSub>
                                <m:sSubPr>
                                  <m:ctrlPr>
                                    <a:rPr lang="en-IN" sz="2000" i="1">
                                      <a:latin typeface="Cambria Math" panose="02040503050406030204" pitchFamily="18" charset="0"/>
                                    </a:rPr>
                                  </m:ctrlPr>
                                </m:sSubPr>
                                <m:e>
                                  <m:r>
                                    <a:rPr lang="en-IN" sz="2000" i="1">
                                      <a:latin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𝜃</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1">
                                      <a:latin typeface="Cambria Math" panose="02040503050406030204" pitchFamily="18" charset="0"/>
                                    </a:rPr>
                                    <m:t>𝑖</m:t>
                                  </m:r>
                                </m:sub>
                              </m:sSub>
                              <m:r>
                                <a:rPr lang="en-IN" sz="2000" b="0" i="1" smtClean="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𝑦</m:t>
                                  </m:r>
                                </m:e>
                                <m:sub>
                                  <m:r>
                                    <a:rPr lang="en-IN" sz="2000" i="1">
                                      <a:latin typeface="Cambria Math" panose="02040503050406030204" pitchFamily="18" charset="0"/>
                                    </a:rPr>
                                    <m:t>𝑖</m:t>
                                  </m:r>
                                </m:sub>
                              </m:sSub>
                              <m:r>
                                <a:rPr lang="en-IN" sz="2000" i="1">
                                  <a:latin typeface="Cambria Math" panose="02040503050406030204" pitchFamily="18" charset="0"/>
                                </a:rPr>
                                <m:t>)</m:t>
                              </m:r>
                              <m:r>
                                <a:rPr lang="en-IN" sz="2000" b="0" i="1" smtClean="0">
                                  <a:latin typeface="Cambria Math" panose="02040503050406030204" pitchFamily="18" charset="0"/>
                                </a:rPr>
                                <m:t>]</m:t>
                              </m:r>
                            </m:e>
                          </m:func>
                        </m:e>
                      </m:nary>
                    </m:oMath>
                  </m:oMathPara>
                </a14:m>
                <a:endParaRPr lang="en-IN" sz="2000" dirty="0">
                  <a:latin typeface="Arial Narrow" panose="020B0606020202030204" pitchFamily="34" charset="0"/>
                </a:endParaRPr>
              </a:p>
              <a:p>
                <a:pPr marL="0" indent="0">
                  <a:buNone/>
                </a:pPr>
                <a:endParaRPr lang="en-IN" sz="2000" dirty="0">
                  <a:latin typeface="Arial Narrow" panose="020B0606020202030204" pitchFamily="34" charset="0"/>
                </a:endParaRPr>
              </a:p>
              <a:p>
                <a:r>
                  <a:rPr lang="en-US" sz="2000" dirty="0">
                    <a:latin typeface="Arial Narrow" panose="020B0606020202030204" pitchFamily="34" charset="0"/>
                  </a:rPr>
                  <a:t>This means that the model learns two important statistical components: the </a:t>
                </a:r>
                <a:r>
                  <a:rPr lang="en-US" sz="2000" dirty="0">
                    <a:solidFill>
                      <a:srgbClr val="7030A0"/>
                    </a:solidFill>
                    <a:latin typeface="Arial Narrow" panose="020B0606020202030204" pitchFamily="34" charset="0"/>
                  </a:rPr>
                  <a:t>probability of each class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a14:m>
                <a:r>
                  <a:rPr lang="en-IN" sz="2000" dirty="0">
                    <a:latin typeface="Arial Narrow" panose="020B0606020202030204" pitchFamily="34" charset="0"/>
                  </a:rPr>
                  <a:t> </a:t>
                </a:r>
                <a:r>
                  <a:rPr lang="en-US" sz="2000" dirty="0">
                    <a:latin typeface="Arial Narrow" panose="020B0606020202030204" pitchFamily="34" charset="0"/>
                  </a:rPr>
                  <a:t>and the </a:t>
                </a:r>
                <a:r>
                  <a:rPr lang="en-US" sz="2000" dirty="0">
                    <a:solidFill>
                      <a:srgbClr val="7030A0"/>
                    </a:solidFill>
                    <a:latin typeface="Arial Narrow" panose="020B0606020202030204" pitchFamily="34" charset="0"/>
                  </a:rPr>
                  <a:t>distribution of features within each class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e>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a14:m>
                <a:r>
                  <a:rPr lang="en-IN" sz="2000" dirty="0">
                    <a:latin typeface="Arial Narrow" panose="020B0606020202030204" pitchFamily="34" charset="0"/>
                  </a:rPr>
                  <a:t>.</a:t>
                </a:r>
              </a:p>
            </p:txBody>
          </p:sp>
        </mc:Choice>
        <mc:Fallback xmlns="">
          <p:sp>
            <p:nvSpPr>
              <p:cNvPr id="3" name="Content Placeholder 2">
                <a:extLst>
                  <a:ext uri="{FF2B5EF4-FFF2-40B4-BE49-F238E27FC236}">
                    <a16:creationId xmlns:a16="http://schemas.microsoft.com/office/drawing/2014/main" id="{6F3966E5-F05F-4007-BF8B-674D3383ECB6}"/>
                  </a:ext>
                </a:extLst>
              </p:cNvPr>
              <p:cNvSpPr>
                <a:spLocks noGrp="1" noRot="1" noChangeAspect="1" noMove="1" noResize="1" noEditPoints="1" noAdjustHandles="1" noChangeArrowheads="1" noChangeShapeType="1" noTextEdit="1"/>
              </p:cNvSpPr>
              <p:nvPr>
                <p:ph idx="1"/>
              </p:nvPr>
            </p:nvSpPr>
            <p:spPr>
              <a:xfrm>
                <a:off x="838200" y="1592541"/>
                <a:ext cx="10515600" cy="4673787"/>
              </a:xfrm>
              <a:blipFill>
                <a:blip r:embed="rId2"/>
                <a:stretch>
                  <a:fillRect l="-522" t="-1956"/>
                </a:stretch>
              </a:blipFill>
            </p:spPr>
            <p:txBody>
              <a:bodyPr/>
              <a:lstStyle/>
              <a:p>
                <a:r>
                  <a:rPr lang="en-IN">
                    <a:noFill/>
                  </a:rPr>
                  <a:t> </a:t>
                </a:r>
              </a:p>
            </p:txBody>
          </p:sp>
        </mc:Fallback>
      </mc:AlternateContent>
      <p:sp>
        <p:nvSpPr>
          <p:cNvPr id="4" name="Title 2">
            <a:extLst>
              <a:ext uri="{FF2B5EF4-FFF2-40B4-BE49-F238E27FC236}">
                <a16:creationId xmlns:a16="http://schemas.microsoft.com/office/drawing/2014/main" id="{572B9079-56BA-4C5C-845D-E390C8000823}"/>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MLE in Generative Modeling</a:t>
            </a:r>
          </a:p>
        </p:txBody>
      </p:sp>
    </p:spTree>
    <p:extLst>
      <p:ext uri="{BB962C8B-B14F-4D97-AF65-F5344CB8AC3E}">
        <p14:creationId xmlns:p14="http://schemas.microsoft.com/office/powerpoint/2010/main" val="1191987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776890-47F3-41ED-A643-167203F1C442}"/>
                  </a:ext>
                </a:extLst>
              </p:cNvPr>
              <p:cNvSpPr>
                <a:spLocks noGrp="1"/>
              </p:cNvSpPr>
              <p:nvPr>
                <p:ph idx="1"/>
              </p:nvPr>
            </p:nvSpPr>
            <p:spPr/>
            <p:txBody>
              <a:bodyPr>
                <a:normAutofit/>
              </a:bodyPr>
              <a:lstStyle/>
              <a:p>
                <a:pPr algn="just"/>
                <a:r>
                  <a:rPr lang="en-US" sz="2000" dirty="0">
                    <a:latin typeface="Arial Narrow" panose="020B0606020202030204" pitchFamily="34" charset="0"/>
                  </a:rPr>
                  <a:t>The resulting model attempts to assign high probability to samples that are representative of the observed data distribution and low probability to observations that are statistically inconsistent with it.</a:t>
                </a:r>
                <a:endParaRPr lang="en-IN" sz="2000" dirty="0">
                  <a:latin typeface="Arial Narrow" panose="020B0606020202030204" pitchFamily="34" charset="0"/>
                </a:endParaRP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MLE can therefore be understood as finding the probability distribution that </a:t>
                </a:r>
                <a:r>
                  <a:rPr lang="en-US" sz="2000" dirty="0">
                    <a:solidFill>
                      <a:srgbClr val="7030A0"/>
                    </a:solidFill>
                    <a:latin typeface="Arial Narrow" panose="020B0606020202030204" pitchFamily="34" charset="0"/>
                  </a:rPr>
                  <a:t>best explains the observed data</a:t>
                </a:r>
                <a:r>
                  <a:rPr lang="en-US" sz="2000" dirty="0">
                    <a:latin typeface="Arial Narrow" panose="020B0606020202030204" pitchFamily="34" charset="0"/>
                  </a:rPr>
                  <a:t>.</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 With sufficient and representative training data, maximizing the likelihood encourages the learned distribution </a:t>
                </a:r>
                <a14:m>
                  <m:oMath xmlns:m="http://schemas.openxmlformats.org/officeDocument/2006/math">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d>
                      <m:dPr>
                        <m:ctrlP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ctrlPr>
                      </m:dPr>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𝑥</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e>
                      <m:e>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 </m:t>
                        </m:r>
                        <m:r>
                          <a:rPr lang="en-IN" sz="2000" i="1">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𝑦</m:t>
                        </m:r>
                      </m:e>
                    </m:d>
                  </m:oMath>
                </a14:m>
                <a:r>
                  <a:rPr lang="en-IN" sz="2000" dirty="0">
                    <a:latin typeface="Arial Narrow" panose="020B0606020202030204" pitchFamily="34" charset="0"/>
                  </a:rPr>
                  <a:t> </a:t>
                </a:r>
                <a:r>
                  <a:rPr lang="en-US" sz="2000" dirty="0">
                    <a:latin typeface="Arial Narrow" panose="020B0606020202030204" pitchFamily="34" charset="0"/>
                  </a:rPr>
                  <a:t>to approximate the underlying data-generating distribution </a:t>
                </a:r>
                <a14:m>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IN" sz="2000" i="1" dirty="0">
                            <a:solidFill>
                              <a:srgbClr val="00B0F0"/>
                            </a:solidFill>
                            <a:latin typeface="Cambria Math" panose="02040503050406030204" pitchFamily="18" charset="0"/>
                          </a:rPr>
                          <m:t>𝑑𝑎𝑡𝑎</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𝑦</m:t>
                    </m:r>
                    <m:r>
                      <a:rPr lang="en-IN" sz="2000" i="1" dirty="0">
                        <a:solidFill>
                          <a:srgbClr val="00B0F0"/>
                        </a:solidFill>
                        <a:latin typeface="Cambria Math" panose="02040503050406030204" pitchFamily="18" charset="0"/>
                      </a:rPr>
                      <m:t>)</m:t>
                    </m:r>
                  </m:oMath>
                </a14:m>
                <a:endParaRPr lang="en-IN" sz="2000" dirty="0">
                  <a:solidFill>
                    <a:srgbClr val="00B0F0"/>
                  </a:solidFill>
                  <a:latin typeface="Arial Narrow" panose="020B0606020202030204" pitchFamily="34" charset="0"/>
                </a:endParaRPr>
              </a:p>
              <a:p>
                <a:pPr algn="just"/>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BE776890-47F3-41ED-A643-167203F1C442}"/>
                  </a:ext>
                </a:extLst>
              </p:cNvPr>
              <p:cNvSpPr>
                <a:spLocks noGrp="1" noRot="1" noChangeAspect="1" noMove="1" noResize="1" noEditPoints="1" noAdjustHandles="1" noChangeArrowheads="1" noChangeShapeType="1" noTextEdit="1"/>
              </p:cNvSpPr>
              <p:nvPr>
                <p:ph idx="1"/>
              </p:nvPr>
            </p:nvSpPr>
            <p:spPr>
              <a:blipFill>
                <a:blip r:embed="rId2"/>
                <a:stretch>
                  <a:fillRect l="-522" t="-1401" r="-580"/>
                </a:stretch>
              </a:blipFill>
            </p:spPr>
            <p:txBody>
              <a:bodyPr/>
              <a:lstStyle/>
              <a:p>
                <a:r>
                  <a:rPr lang="en-IN">
                    <a:noFill/>
                  </a:rPr>
                  <a:t> </a:t>
                </a:r>
              </a:p>
            </p:txBody>
          </p:sp>
        </mc:Fallback>
      </mc:AlternateContent>
      <p:sp>
        <p:nvSpPr>
          <p:cNvPr id="4" name="Title 2">
            <a:extLst>
              <a:ext uri="{FF2B5EF4-FFF2-40B4-BE49-F238E27FC236}">
                <a16:creationId xmlns:a16="http://schemas.microsoft.com/office/drawing/2014/main" id="{D05FC572-43BF-49EA-BEFE-38D11220BD59}"/>
              </a:ext>
            </a:extLst>
          </p:cNvPr>
          <p:cNvSpPr>
            <a:spLocks noGrp="1"/>
          </p:cNvSpPr>
          <p:nvPr>
            <p:ph type="title"/>
          </p:nvPr>
        </p:nvSpPr>
        <p:spPr>
          <a:xfrm>
            <a:off x="838200" y="365125"/>
            <a:ext cx="10515600" cy="1325563"/>
          </a:xfrm>
        </p:spPr>
        <p:txBody>
          <a:bodyPr>
            <a:normAutofit/>
          </a:bodyPr>
          <a:lstStyle/>
          <a:p>
            <a:r>
              <a:rPr lang="en-US" sz="3600" dirty="0">
                <a:latin typeface="Century" panose="02040604050505020304" pitchFamily="18" charset="0"/>
              </a:rPr>
              <a:t>MLE in Generative Modeling</a:t>
            </a:r>
          </a:p>
        </p:txBody>
      </p:sp>
    </p:spTree>
    <p:extLst>
      <p:ext uri="{BB962C8B-B14F-4D97-AF65-F5344CB8AC3E}">
        <p14:creationId xmlns:p14="http://schemas.microsoft.com/office/powerpoint/2010/main" val="1299608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FBFE0-72E6-4F22-8D46-038BE12DAA23}"/>
              </a:ext>
            </a:extLst>
          </p:cNvPr>
          <p:cNvSpPr>
            <a:spLocks noGrp="1"/>
          </p:cNvSpPr>
          <p:nvPr>
            <p:ph type="title"/>
          </p:nvPr>
        </p:nvSpPr>
        <p:spPr/>
        <p:txBody>
          <a:bodyPr>
            <a:normAutofit/>
          </a:bodyPr>
          <a:lstStyle/>
          <a:p>
            <a:r>
              <a:rPr lang="en-IN" sz="3600" dirty="0">
                <a:latin typeface="Century" panose="02040604050505020304" pitchFamily="18" charset="0"/>
              </a:rPr>
              <a:t>Why it is called Generative?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CE1E72-FDF5-4E9C-95C3-5CD903EBD4E8}"/>
                  </a:ext>
                </a:extLst>
              </p:cNvPr>
              <p:cNvSpPr>
                <a:spLocks noGrp="1"/>
              </p:cNvSpPr>
              <p:nvPr>
                <p:ph idx="1"/>
              </p:nvPr>
            </p:nvSpPr>
            <p:spPr/>
            <p:txBody>
              <a:bodyPr/>
              <a:lstStyle/>
              <a:p>
                <a:r>
                  <a:rPr lang="en-IN" dirty="0">
                    <a:latin typeface="Arial Narrow" panose="020B0606020202030204" pitchFamily="34" charset="0"/>
                    <a:cs typeface="Times New Roman" panose="02020603050405020304" pitchFamily="18" charset="0"/>
                  </a:rPr>
                  <a:t>Because once </a:t>
                </a:r>
                <a14:m>
                  <m:oMath xmlns:m="http://schemas.openxmlformats.org/officeDocument/2006/math">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IN" i="1">
                            <a:latin typeface="Cambria Math" panose="02040503050406030204" pitchFamily="18" charset="0"/>
                            <a:ea typeface="Cambria Math" panose="02040503050406030204" pitchFamily="18" charset="0"/>
                          </a:rPr>
                        </m:ctrlPr>
                      </m:dPr>
                      <m:e>
                        <m:r>
                          <a:rPr lang="en-IN" i="1">
                            <a:latin typeface="Cambria Math" panose="02040503050406030204" pitchFamily="18" charset="0"/>
                            <a:ea typeface="Cambria Math" panose="02040503050406030204" pitchFamily="18" charset="0"/>
                          </a:rPr>
                          <m:t>𝑥</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𝑦</m:t>
                        </m:r>
                      </m:e>
                    </m:d>
                    <m:r>
                      <a:rPr lang="en-IN" i="1">
                        <a:latin typeface="Cambria Math" panose="02040503050406030204" pitchFamily="18" charset="0"/>
                        <a:ea typeface="Cambria Math" panose="02040503050406030204" pitchFamily="18" charset="0"/>
                      </a:rPr>
                      <m:t> </m:t>
                    </m:r>
                  </m:oMath>
                </a14:m>
                <a:r>
                  <a:rPr lang="en-IN" dirty="0">
                    <a:latin typeface="Arial Narrow" panose="020B0606020202030204" pitchFamily="34" charset="0"/>
                    <a:cs typeface="Times New Roman" panose="02020603050405020304" pitchFamily="18" charset="0"/>
                  </a:rPr>
                  <a:t>is learned, we can:</a:t>
                </a:r>
              </a:p>
              <a:p>
                <a:pPr lvl="1"/>
                <a:r>
                  <a:rPr lang="en-IN" dirty="0">
                    <a:latin typeface="Arial Narrow" panose="020B0606020202030204" pitchFamily="34" charset="0"/>
                    <a:cs typeface="Times New Roman" panose="02020603050405020304" pitchFamily="18" charset="0"/>
                  </a:rPr>
                  <a:t>Generate labels: </a:t>
                </a:r>
                <a14:m>
                  <m:oMath xmlns:m="http://schemas.openxmlformats.org/officeDocument/2006/math">
                    <m:sSub>
                      <m:sSubPr>
                        <m:ctrlPr>
                          <a:rPr lang="en-IN" i="1" smtClean="0">
                            <a:solidFill>
                              <a:srgbClr val="00B0F0"/>
                            </a:solidFill>
                            <a:latin typeface="Cambria Math" panose="02040503050406030204" pitchFamily="18" charset="0"/>
                            <a:ea typeface="Cambria Math" panose="02040503050406030204" pitchFamily="18" charset="0"/>
                          </a:rPr>
                        </m:ctrlPr>
                      </m:sSubPr>
                      <m:e>
                        <m:r>
                          <a:rPr lang="en-IN" b="0" i="1" smtClean="0">
                            <a:solidFill>
                              <a:srgbClr val="00B0F0"/>
                            </a:solidFill>
                            <a:latin typeface="Cambria Math" panose="02040503050406030204" pitchFamily="18" charset="0"/>
                            <a:ea typeface="Cambria Math" panose="02040503050406030204" pitchFamily="18" charset="0"/>
                          </a:rPr>
                          <m:t>𝑦</m:t>
                        </m:r>
                        <m:r>
                          <a:rPr lang="en-IN" b="0" i="1" smtClean="0">
                            <a:solidFill>
                              <a:srgbClr val="00B0F0"/>
                            </a:solidFill>
                            <a:latin typeface="Cambria Math" panose="02040503050406030204" pitchFamily="18" charset="0"/>
                            <a:ea typeface="Cambria Math" panose="02040503050406030204" pitchFamily="18" charset="0"/>
                          </a:rPr>
                          <m:t>~</m:t>
                        </m:r>
                        <m:r>
                          <a:rPr lang="en-IN" i="1">
                            <a:solidFill>
                              <a:srgbClr val="00B0F0"/>
                            </a:solidFill>
                            <a:latin typeface="Cambria Math" panose="02040503050406030204" pitchFamily="18" charset="0"/>
                            <a:ea typeface="Cambria Math" panose="02040503050406030204" pitchFamily="18" charset="0"/>
                          </a:rPr>
                          <m:t>𝑝</m:t>
                        </m:r>
                      </m:e>
                      <m:sub>
                        <m:r>
                          <a:rPr lang="en-US" i="1">
                            <a:solidFill>
                              <a:srgbClr val="00B0F0"/>
                            </a:solidFill>
                            <a:latin typeface="Cambria Math" panose="02040503050406030204" pitchFamily="18" charset="0"/>
                            <a:ea typeface="Cambria Math" panose="02040503050406030204" pitchFamily="18" charset="0"/>
                          </a:rPr>
                          <m:t>𝜃</m:t>
                        </m:r>
                      </m:sub>
                    </m:sSub>
                    <m:d>
                      <m:dPr>
                        <m:ctrlPr>
                          <a:rPr lang="en-IN" i="1">
                            <a:solidFill>
                              <a:srgbClr val="00B0F0"/>
                            </a:solidFill>
                            <a:latin typeface="Cambria Math" panose="02040503050406030204" pitchFamily="18" charset="0"/>
                            <a:ea typeface="Cambria Math" panose="02040503050406030204" pitchFamily="18" charset="0"/>
                          </a:rPr>
                        </m:ctrlPr>
                      </m:dPr>
                      <m:e>
                        <m:r>
                          <a:rPr lang="en-IN" b="0" i="1" smtClean="0">
                            <a:solidFill>
                              <a:srgbClr val="00B0F0"/>
                            </a:solidFill>
                            <a:latin typeface="Cambria Math" panose="02040503050406030204" pitchFamily="18" charset="0"/>
                            <a:ea typeface="Cambria Math" panose="02040503050406030204" pitchFamily="18" charset="0"/>
                          </a:rPr>
                          <m:t>𝑦</m:t>
                        </m:r>
                      </m:e>
                    </m:d>
                    <m:r>
                      <a:rPr lang="en-IN" i="1">
                        <a:solidFill>
                          <a:srgbClr val="00B0F0"/>
                        </a:solidFill>
                        <a:latin typeface="Cambria Math" panose="02040503050406030204" pitchFamily="18" charset="0"/>
                        <a:ea typeface="Cambria Math" panose="02040503050406030204" pitchFamily="18" charset="0"/>
                      </a:rPr>
                      <m:t> </m:t>
                    </m:r>
                  </m:oMath>
                </a14:m>
                <a:endParaRPr lang="en-IN" dirty="0">
                  <a:latin typeface="Arial Narrow" panose="020B0606020202030204" pitchFamily="34" charset="0"/>
                  <a:ea typeface="Cambria Math" panose="02040503050406030204" pitchFamily="18" charset="0"/>
                </a:endParaRPr>
              </a:p>
              <a:p>
                <a:pPr lvl="1"/>
                <a:r>
                  <a:rPr lang="en-IN" dirty="0">
                    <a:latin typeface="Arial Narrow" panose="020B0606020202030204" pitchFamily="34" charset="0"/>
                    <a:cs typeface="Times New Roman" panose="02020603050405020304" pitchFamily="18" charset="0"/>
                  </a:rPr>
                  <a:t>Generate data: </a:t>
                </a:r>
                <a14:m>
                  <m:oMath xmlns:m="http://schemas.openxmlformats.org/officeDocument/2006/math">
                    <m:sSub>
                      <m:sSubPr>
                        <m:ctrlPr>
                          <a:rPr lang="en-IN" i="1" smtClean="0">
                            <a:solidFill>
                              <a:srgbClr val="00B0F0"/>
                            </a:solidFill>
                            <a:latin typeface="Cambria Math" panose="02040503050406030204" pitchFamily="18" charset="0"/>
                            <a:ea typeface="Cambria Math" panose="02040503050406030204" pitchFamily="18" charset="0"/>
                          </a:rPr>
                        </m:ctrlPr>
                      </m:sSubPr>
                      <m:e>
                        <m:r>
                          <a:rPr lang="en-IN" b="0" i="1" smtClean="0">
                            <a:solidFill>
                              <a:srgbClr val="00B0F0"/>
                            </a:solidFill>
                            <a:latin typeface="Cambria Math" panose="02040503050406030204" pitchFamily="18" charset="0"/>
                            <a:ea typeface="Cambria Math" panose="02040503050406030204" pitchFamily="18" charset="0"/>
                          </a:rPr>
                          <m:t>𝑥</m:t>
                        </m:r>
                        <m:r>
                          <a:rPr lang="en-IN" b="0" i="1" smtClean="0">
                            <a:solidFill>
                              <a:srgbClr val="00B0F0"/>
                            </a:solidFill>
                            <a:latin typeface="Cambria Math" panose="02040503050406030204" pitchFamily="18" charset="0"/>
                            <a:ea typeface="Cambria Math" panose="02040503050406030204" pitchFamily="18" charset="0"/>
                          </a:rPr>
                          <m:t>~</m:t>
                        </m:r>
                        <m:r>
                          <a:rPr lang="en-IN" i="1">
                            <a:solidFill>
                              <a:srgbClr val="00B0F0"/>
                            </a:solidFill>
                            <a:latin typeface="Cambria Math" panose="02040503050406030204" pitchFamily="18" charset="0"/>
                            <a:ea typeface="Cambria Math" panose="02040503050406030204" pitchFamily="18" charset="0"/>
                          </a:rPr>
                          <m:t>𝑝</m:t>
                        </m:r>
                      </m:e>
                      <m:sub>
                        <m:r>
                          <a:rPr lang="en-US" i="1">
                            <a:solidFill>
                              <a:srgbClr val="00B0F0"/>
                            </a:solidFill>
                            <a:latin typeface="Cambria Math" panose="02040503050406030204" pitchFamily="18" charset="0"/>
                            <a:ea typeface="Cambria Math" panose="02040503050406030204" pitchFamily="18" charset="0"/>
                          </a:rPr>
                          <m:t>𝜃</m:t>
                        </m:r>
                      </m:sub>
                    </m:sSub>
                    <m:d>
                      <m:dPr>
                        <m:ctrlPr>
                          <a:rPr lang="en-IN" i="1">
                            <a:solidFill>
                              <a:srgbClr val="00B0F0"/>
                            </a:solidFill>
                            <a:latin typeface="Cambria Math" panose="02040503050406030204" pitchFamily="18" charset="0"/>
                            <a:ea typeface="Cambria Math" panose="02040503050406030204" pitchFamily="18" charset="0"/>
                          </a:rPr>
                        </m:ctrlPr>
                      </m:dPr>
                      <m:e>
                        <m:r>
                          <a:rPr lang="en-IN" i="1">
                            <a:solidFill>
                              <a:srgbClr val="00B0F0"/>
                            </a:solidFill>
                            <a:latin typeface="Cambria Math" panose="02040503050406030204" pitchFamily="18" charset="0"/>
                            <a:ea typeface="Cambria Math" panose="02040503050406030204" pitchFamily="18" charset="0"/>
                          </a:rPr>
                          <m:t>𝑥</m:t>
                        </m:r>
                        <m:r>
                          <a:rPr lang="en-IN" b="0" i="1" smtClean="0">
                            <a:solidFill>
                              <a:srgbClr val="00B0F0"/>
                            </a:solidFill>
                            <a:latin typeface="Cambria Math" panose="02040503050406030204" pitchFamily="18" charset="0"/>
                            <a:ea typeface="Cambria Math" panose="02040503050406030204" pitchFamily="18" charset="0"/>
                          </a:rPr>
                          <m:t>|</m:t>
                        </m:r>
                        <m:r>
                          <a:rPr lang="en-IN" i="1">
                            <a:solidFill>
                              <a:srgbClr val="00B0F0"/>
                            </a:solidFill>
                            <a:latin typeface="Cambria Math" panose="02040503050406030204" pitchFamily="18" charset="0"/>
                            <a:ea typeface="Cambria Math" panose="02040503050406030204" pitchFamily="18" charset="0"/>
                          </a:rPr>
                          <m:t>𝑦</m:t>
                        </m:r>
                      </m:e>
                    </m:d>
                    <m:r>
                      <a:rPr lang="en-IN" i="1">
                        <a:solidFill>
                          <a:srgbClr val="00B0F0"/>
                        </a:solidFill>
                        <a:latin typeface="Cambria Math" panose="02040503050406030204" pitchFamily="18" charset="0"/>
                        <a:ea typeface="Cambria Math" panose="02040503050406030204" pitchFamily="18" charset="0"/>
                      </a:rPr>
                      <m:t> </m:t>
                    </m:r>
                  </m:oMath>
                </a14:m>
                <a:endParaRPr lang="en-IN" dirty="0">
                  <a:latin typeface="Arial Narrow" panose="020B0606020202030204" pitchFamily="34" charset="0"/>
                  <a:ea typeface="Cambria Math" panose="02040503050406030204" pitchFamily="18" charset="0"/>
                </a:endParaRPr>
              </a:p>
              <a:p>
                <a:pPr lvl="1"/>
                <a:r>
                  <a:rPr lang="en-IN" dirty="0">
                    <a:latin typeface="Arial Narrow" panose="020B0606020202030204" pitchFamily="34" charset="0"/>
                    <a:cs typeface="Times New Roman" panose="02020603050405020304" pitchFamily="18" charset="0"/>
                  </a:rPr>
                  <a:t>Generate unconditional samples: </a:t>
                </a:r>
                <a14:m>
                  <m:oMath xmlns:m="http://schemas.openxmlformats.org/officeDocument/2006/math">
                    <m:sSub>
                      <m:sSubPr>
                        <m:ctrlPr>
                          <a:rPr lang="en-IN" i="1" smtClean="0">
                            <a:solidFill>
                              <a:srgbClr val="00B0F0"/>
                            </a:solidFill>
                            <a:latin typeface="Cambria Math" panose="02040503050406030204" pitchFamily="18" charset="0"/>
                            <a:ea typeface="Cambria Math" panose="02040503050406030204" pitchFamily="18" charset="0"/>
                          </a:rPr>
                        </m:ctrlPr>
                      </m:sSubPr>
                      <m:e>
                        <m:r>
                          <a:rPr lang="en-IN" b="0" i="1" smtClean="0">
                            <a:solidFill>
                              <a:srgbClr val="00B0F0"/>
                            </a:solidFill>
                            <a:latin typeface="Cambria Math" panose="02040503050406030204" pitchFamily="18" charset="0"/>
                            <a:ea typeface="Cambria Math" panose="02040503050406030204" pitchFamily="18" charset="0"/>
                          </a:rPr>
                          <m:t>𝑥</m:t>
                        </m:r>
                        <m:r>
                          <a:rPr lang="en-IN" b="0" i="1" smtClean="0">
                            <a:solidFill>
                              <a:srgbClr val="00B0F0"/>
                            </a:solidFill>
                            <a:latin typeface="Cambria Math" panose="02040503050406030204" pitchFamily="18" charset="0"/>
                            <a:ea typeface="Cambria Math" panose="02040503050406030204" pitchFamily="18" charset="0"/>
                          </a:rPr>
                          <m:t>~</m:t>
                        </m:r>
                        <m:r>
                          <a:rPr lang="en-IN" i="1">
                            <a:solidFill>
                              <a:srgbClr val="00B0F0"/>
                            </a:solidFill>
                            <a:latin typeface="Cambria Math" panose="02040503050406030204" pitchFamily="18" charset="0"/>
                            <a:ea typeface="Cambria Math" panose="02040503050406030204" pitchFamily="18" charset="0"/>
                          </a:rPr>
                          <m:t>𝑝</m:t>
                        </m:r>
                      </m:e>
                      <m:sub>
                        <m:r>
                          <a:rPr lang="en-US" i="1">
                            <a:solidFill>
                              <a:srgbClr val="00B0F0"/>
                            </a:solidFill>
                            <a:latin typeface="Cambria Math" panose="02040503050406030204" pitchFamily="18" charset="0"/>
                            <a:ea typeface="Cambria Math" panose="02040503050406030204" pitchFamily="18" charset="0"/>
                          </a:rPr>
                          <m:t>𝜃</m:t>
                        </m:r>
                      </m:sub>
                    </m:sSub>
                    <m:d>
                      <m:dPr>
                        <m:ctrlPr>
                          <a:rPr lang="en-IN" i="1">
                            <a:solidFill>
                              <a:srgbClr val="00B0F0"/>
                            </a:solidFill>
                            <a:latin typeface="Cambria Math" panose="02040503050406030204" pitchFamily="18" charset="0"/>
                            <a:ea typeface="Cambria Math" panose="02040503050406030204" pitchFamily="18" charset="0"/>
                          </a:rPr>
                        </m:ctrlPr>
                      </m:dPr>
                      <m:e>
                        <m:r>
                          <a:rPr lang="en-IN" i="1">
                            <a:solidFill>
                              <a:srgbClr val="00B0F0"/>
                            </a:solidFill>
                            <a:latin typeface="Cambria Math" panose="02040503050406030204" pitchFamily="18" charset="0"/>
                            <a:ea typeface="Cambria Math" panose="02040503050406030204" pitchFamily="18" charset="0"/>
                          </a:rPr>
                          <m:t>𝑥</m:t>
                        </m:r>
                      </m:e>
                    </m:d>
                    <m:r>
                      <a:rPr lang="en-IN" i="1">
                        <a:solidFill>
                          <a:srgbClr val="00B0F0"/>
                        </a:solidFill>
                        <a:latin typeface="Cambria Math" panose="02040503050406030204" pitchFamily="18" charset="0"/>
                        <a:ea typeface="Cambria Math" panose="02040503050406030204" pitchFamily="18" charset="0"/>
                      </a:rPr>
                      <m:t> </m:t>
                    </m:r>
                  </m:oMath>
                </a14:m>
                <a:endParaRPr lang="en-IN" dirty="0">
                  <a:latin typeface="Arial Narrow" panose="020B0606020202030204" pitchFamily="34" charset="0"/>
                  <a:ea typeface="Cambria Math" panose="02040503050406030204" pitchFamily="18" charset="0"/>
                </a:endParaRPr>
              </a:p>
              <a:p>
                <a:pPr lvl="1"/>
                <a:endParaRPr lang="en-IN" dirty="0">
                  <a:latin typeface="Arial Narrow" panose="020B0606020202030204" pitchFamily="34" charset="0"/>
                  <a:cs typeface="Times New Roman" panose="02020603050405020304" pitchFamily="18" charset="0"/>
                </a:endParaRPr>
              </a:p>
              <a:p>
                <a:r>
                  <a:rPr lang="en-IN" dirty="0">
                    <a:latin typeface="Arial Narrow" panose="020B0606020202030204" pitchFamily="34" charset="0"/>
                    <a:cs typeface="Times New Roman" panose="02020603050405020304" pitchFamily="18" charset="0"/>
                  </a:rPr>
                  <a:t>Thus the model is described as the </a:t>
                </a:r>
                <a:r>
                  <a:rPr lang="en-IN" dirty="0">
                    <a:solidFill>
                      <a:srgbClr val="7030A0"/>
                    </a:solidFill>
                    <a:latin typeface="Arial Narrow" panose="020B0606020202030204" pitchFamily="34" charset="0"/>
                    <a:cs typeface="Times New Roman" panose="02020603050405020304" pitchFamily="18" charset="0"/>
                  </a:rPr>
                  <a:t>data-generating process</a:t>
                </a:r>
                <a:r>
                  <a:rPr lang="en-IN" dirty="0">
                    <a:latin typeface="Arial Narrow" panose="020B0606020202030204" pitchFamily="34" charset="0"/>
                    <a:cs typeface="Times New Roman" panose="02020603050405020304" pitchFamily="18" charset="0"/>
                  </a:rPr>
                  <a:t>.</a:t>
                </a:r>
              </a:p>
              <a:p>
                <a:endParaRPr lang="en-IN" dirty="0"/>
              </a:p>
            </p:txBody>
          </p:sp>
        </mc:Choice>
        <mc:Fallback xmlns="">
          <p:sp>
            <p:nvSpPr>
              <p:cNvPr id="3" name="Content Placeholder 2">
                <a:extLst>
                  <a:ext uri="{FF2B5EF4-FFF2-40B4-BE49-F238E27FC236}">
                    <a16:creationId xmlns:a16="http://schemas.microsoft.com/office/drawing/2014/main" id="{94CE1E72-FDF5-4E9C-95C3-5CD903EBD4E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454536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3A8A0B-54AB-4CC8-999C-F21E6E0D59E5}"/>
              </a:ext>
            </a:extLst>
          </p:cNvPr>
          <p:cNvSpPr>
            <a:spLocks noGrp="1"/>
          </p:cNvSpPr>
          <p:nvPr>
            <p:ph type="title"/>
          </p:nvPr>
        </p:nvSpPr>
        <p:spPr/>
        <p:txBody>
          <a:bodyPr>
            <a:normAutofit/>
          </a:bodyPr>
          <a:lstStyle/>
          <a:p>
            <a:r>
              <a:rPr lang="en-US" sz="3600" dirty="0">
                <a:latin typeface="Century" panose="02040604050505020304" pitchFamily="18" charset="0"/>
              </a:rPr>
              <a:t>Three Main Types of Generative Models</a:t>
            </a:r>
            <a:endParaRPr lang="en-IN" sz="3600" dirty="0">
              <a:latin typeface="Century" panose="02040604050505020304" pitchFamily="18" charset="0"/>
            </a:endParaRPr>
          </a:p>
        </p:txBody>
      </p:sp>
      <p:sp>
        <p:nvSpPr>
          <p:cNvPr id="4" name="Content Placeholder 3">
            <a:extLst>
              <a:ext uri="{FF2B5EF4-FFF2-40B4-BE49-F238E27FC236}">
                <a16:creationId xmlns:a16="http://schemas.microsoft.com/office/drawing/2014/main" id="{BEC3B8A1-B2B5-43FF-A38F-3D47B2DEBECB}"/>
              </a:ext>
            </a:extLst>
          </p:cNvPr>
          <p:cNvSpPr>
            <a:spLocks noGrp="1"/>
          </p:cNvSpPr>
          <p:nvPr>
            <p:ph idx="1"/>
          </p:nvPr>
        </p:nvSpPr>
        <p:spPr>
          <a:xfrm>
            <a:off x="838200" y="1690688"/>
            <a:ext cx="10515600" cy="4486275"/>
          </a:xfrm>
        </p:spPr>
        <p:txBody>
          <a:bodyPr>
            <a:normAutofit fontScale="92500" lnSpcReduction="10000"/>
          </a:bodyPr>
          <a:lstStyle/>
          <a:p>
            <a:r>
              <a:rPr lang="en-IN" dirty="0">
                <a:solidFill>
                  <a:srgbClr val="7030A0"/>
                </a:solidFill>
                <a:latin typeface="Arial Narrow" panose="020B0606020202030204" pitchFamily="34" charset="0"/>
                <a:cs typeface="Times New Roman" panose="02020603050405020304" pitchFamily="18" charset="0"/>
              </a:rPr>
              <a:t>Explicit Density Models:</a:t>
            </a:r>
            <a:r>
              <a:rPr lang="en-IN" dirty="0">
                <a:latin typeface="Arial Narrow" panose="020B0606020202030204" pitchFamily="34" charset="0"/>
                <a:cs typeface="Times New Roman" panose="02020603050405020304" pitchFamily="18" charset="0"/>
              </a:rPr>
              <a:t> </a:t>
            </a:r>
            <a:r>
              <a:rPr lang="en-US" dirty="0">
                <a:latin typeface="Arial Narrow" panose="020B0606020202030204" pitchFamily="34" charset="0"/>
                <a:cs typeface="Times New Roman" panose="02020603050405020304" pitchFamily="18" charset="0"/>
              </a:rPr>
              <a:t>These are </a:t>
            </a:r>
            <a:r>
              <a:rPr lang="en-US" dirty="0">
                <a:solidFill>
                  <a:srgbClr val="7030A0"/>
                </a:solidFill>
                <a:latin typeface="Arial Narrow" panose="020B0606020202030204" pitchFamily="34" charset="0"/>
                <a:cs typeface="Times New Roman" panose="02020603050405020304" pitchFamily="18" charset="0"/>
              </a:rPr>
              <a:t>true density estimators</a:t>
            </a:r>
            <a:r>
              <a:rPr lang="en-US" dirty="0">
                <a:latin typeface="Arial Narrow" panose="020B0606020202030204" pitchFamily="34" charset="0"/>
                <a:cs typeface="Times New Roman" panose="02020603050405020304" pitchFamily="18" charset="0"/>
              </a:rPr>
              <a:t>.</a:t>
            </a:r>
            <a:endParaRPr lang="en-IN" dirty="0">
              <a:latin typeface="Arial Narrow" panose="020B0606020202030204" pitchFamily="34" charset="0"/>
              <a:cs typeface="Times New Roman" panose="02020603050405020304" pitchFamily="18" charset="0"/>
            </a:endParaRPr>
          </a:p>
          <a:p>
            <a:pPr lvl="1"/>
            <a:r>
              <a:rPr lang="en-IN" dirty="0">
                <a:latin typeface="Arial Narrow" panose="020B0606020202030204" pitchFamily="34" charset="0"/>
                <a:cs typeface="Times New Roman" panose="02020603050405020304" pitchFamily="18" charset="0"/>
              </a:rPr>
              <a:t>Autoregressive models</a:t>
            </a:r>
          </a:p>
          <a:p>
            <a:pPr lvl="1"/>
            <a:r>
              <a:rPr lang="en-IN" dirty="0">
                <a:latin typeface="Arial Narrow" panose="020B0606020202030204" pitchFamily="34" charset="0"/>
                <a:cs typeface="Times New Roman" panose="02020603050405020304" pitchFamily="18" charset="0"/>
              </a:rPr>
              <a:t>Normalizing Flows</a:t>
            </a:r>
          </a:p>
          <a:p>
            <a:pPr lvl="1"/>
            <a:r>
              <a:rPr lang="en-IN" dirty="0">
                <a:latin typeface="Arial Narrow" panose="020B0606020202030204" pitchFamily="34" charset="0"/>
                <a:cs typeface="Times New Roman" panose="02020603050405020304" pitchFamily="18" charset="0"/>
              </a:rPr>
              <a:t>Variational Autoencoders (VAEs)</a:t>
            </a:r>
          </a:p>
          <a:p>
            <a:pPr lvl="1"/>
            <a:endParaRPr lang="en-IN" dirty="0">
              <a:latin typeface="Arial Narrow" panose="020B0606020202030204" pitchFamily="34" charset="0"/>
              <a:cs typeface="Times New Roman" panose="02020603050405020304" pitchFamily="18" charset="0"/>
            </a:endParaRPr>
          </a:p>
          <a:p>
            <a:r>
              <a:rPr lang="en-IN" dirty="0">
                <a:solidFill>
                  <a:srgbClr val="7030A0"/>
                </a:solidFill>
                <a:latin typeface="Arial Narrow" panose="020B0606020202030204" pitchFamily="34" charset="0"/>
                <a:cs typeface="Times New Roman" panose="02020603050405020304" pitchFamily="18" charset="0"/>
              </a:rPr>
              <a:t>Implicit Density Models:</a:t>
            </a:r>
            <a:r>
              <a:rPr lang="en-IN" dirty="0">
                <a:latin typeface="Arial Narrow" panose="020B0606020202030204" pitchFamily="34" charset="0"/>
                <a:cs typeface="Times New Roman" panose="02020603050405020304" pitchFamily="18" charset="0"/>
              </a:rPr>
              <a:t> These </a:t>
            </a:r>
            <a:r>
              <a:rPr lang="en-IN" dirty="0">
                <a:solidFill>
                  <a:srgbClr val="7030A0"/>
                </a:solidFill>
                <a:latin typeface="Arial Narrow" panose="020B0606020202030204" pitchFamily="34" charset="0"/>
                <a:cs typeface="Times New Roman" panose="02020603050405020304" pitchFamily="18" charset="0"/>
              </a:rPr>
              <a:t>do NOT compute p(x) explicitly</a:t>
            </a:r>
            <a:r>
              <a:rPr lang="en-IN" dirty="0">
                <a:latin typeface="Arial Narrow" panose="020B0606020202030204" pitchFamily="34" charset="0"/>
                <a:cs typeface="Times New Roman" panose="02020603050405020304" pitchFamily="18" charset="0"/>
              </a:rPr>
              <a:t>.</a:t>
            </a:r>
          </a:p>
          <a:p>
            <a:pPr lvl="1"/>
            <a:r>
              <a:rPr lang="en-IN" dirty="0">
                <a:latin typeface="Arial Narrow" panose="020B0606020202030204" pitchFamily="34" charset="0"/>
                <a:cs typeface="Times New Roman" panose="02020603050405020304" pitchFamily="18" charset="0"/>
              </a:rPr>
              <a:t>Generative Adversarial Network (GAN)</a:t>
            </a:r>
          </a:p>
          <a:p>
            <a:pPr lvl="1"/>
            <a:endParaRPr lang="en-IN" dirty="0">
              <a:latin typeface="Arial Narrow" panose="020B0606020202030204" pitchFamily="34" charset="0"/>
              <a:cs typeface="Times New Roman" panose="02020603050405020304" pitchFamily="18" charset="0"/>
            </a:endParaRPr>
          </a:p>
          <a:p>
            <a:r>
              <a:rPr lang="en-IN" dirty="0">
                <a:solidFill>
                  <a:srgbClr val="7030A0"/>
                </a:solidFill>
                <a:latin typeface="Arial Narrow" panose="020B0606020202030204" pitchFamily="34" charset="0"/>
                <a:cs typeface="Times New Roman" panose="02020603050405020304" pitchFamily="18" charset="0"/>
              </a:rPr>
              <a:t>Score-Based / Diffusion Models:</a:t>
            </a:r>
            <a:r>
              <a:rPr lang="en-IN" dirty="0">
                <a:latin typeface="Arial Narrow" panose="020B0606020202030204" pitchFamily="34" charset="0"/>
                <a:cs typeface="Times New Roman" panose="02020603050405020304" pitchFamily="18" charset="0"/>
              </a:rPr>
              <a:t> This is an </a:t>
            </a:r>
            <a:r>
              <a:rPr lang="en-IN" dirty="0">
                <a:solidFill>
                  <a:srgbClr val="7030A0"/>
                </a:solidFill>
                <a:latin typeface="Arial Narrow" panose="020B0606020202030204" pitchFamily="34" charset="0"/>
                <a:cs typeface="Times New Roman" panose="02020603050405020304" pitchFamily="18" charset="0"/>
              </a:rPr>
              <a:t>implicit density estimation via score estimation</a:t>
            </a:r>
            <a:r>
              <a:rPr lang="en-IN" dirty="0">
                <a:latin typeface="Arial Narrow" panose="020B0606020202030204" pitchFamily="34" charset="0"/>
                <a:cs typeface="Times New Roman" panose="02020603050405020304" pitchFamily="18" charset="0"/>
              </a:rPr>
              <a:t>.</a:t>
            </a:r>
          </a:p>
          <a:p>
            <a:pPr lvl="1"/>
            <a:r>
              <a:rPr lang="en-IN" dirty="0">
                <a:latin typeface="Arial Narrow" panose="020B0606020202030204" pitchFamily="34" charset="0"/>
                <a:cs typeface="Times New Roman" panose="02020603050405020304" pitchFamily="18" charset="0"/>
              </a:rPr>
              <a:t>Denoising Diffusion Probabilistic Models (DDPM)</a:t>
            </a:r>
          </a:p>
          <a:p>
            <a:pPr lvl="1"/>
            <a:r>
              <a:rPr lang="en-IN" dirty="0">
                <a:latin typeface="Arial Narrow" panose="020B0606020202030204" pitchFamily="34" charset="0"/>
                <a:cs typeface="Times New Roman" panose="02020603050405020304" pitchFamily="18" charset="0"/>
              </a:rPr>
              <a:t>Score Matching models</a:t>
            </a:r>
          </a:p>
          <a:p>
            <a:pPr lvl="1"/>
            <a:endParaRPr lang="en-IN" dirty="0"/>
          </a:p>
          <a:p>
            <a:endParaRPr lang="en-IN" dirty="0"/>
          </a:p>
        </p:txBody>
      </p:sp>
    </p:spTree>
    <p:extLst>
      <p:ext uri="{BB962C8B-B14F-4D97-AF65-F5344CB8AC3E}">
        <p14:creationId xmlns:p14="http://schemas.microsoft.com/office/powerpoint/2010/main" val="3802510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96A47C-2412-4718-B3BA-378E157BDF89}"/>
              </a:ext>
            </a:extLst>
          </p:cNvPr>
          <p:cNvSpPr>
            <a:spLocks noGrp="1"/>
          </p:cNvSpPr>
          <p:nvPr>
            <p:ph type="title"/>
          </p:nvPr>
        </p:nvSpPr>
        <p:spPr>
          <a:xfrm>
            <a:off x="394565" y="346910"/>
            <a:ext cx="10515600" cy="810369"/>
          </a:xfrm>
        </p:spPr>
        <p:txBody>
          <a:bodyPr>
            <a:normAutofit/>
          </a:bodyPr>
          <a:lstStyle/>
          <a:p>
            <a:r>
              <a:rPr lang="en-IN" sz="3600" dirty="0">
                <a:latin typeface="Century" panose="02040604050505020304" pitchFamily="18" charset="0"/>
              </a:rPr>
              <a:t>Different Generative Models</a:t>
            </a:r>
          </a:p>
        </p:txBody>
      </p:sp>
      <p:sp>
        <p:nvSpPr>
          <p:cNvPr id="5" name="TextBox 4">
            <a:extLst>
              <a:ext uri="{FF2B5EF4-FFF2-40B4-BE49-F238E27FC236}">
                <a16:creationId xmlns:a16="http://schemas.microsoft.com/office/drawing/2014/main" id="{0AB1EC26-194F-4135-8ED3-CE5EA19EAA79}"/>
              </a:ext>
            </a:extLst>
          </p:cNvPr>
          <p:cNvSpPr txBox="1"/>
          <p:nvPr/>
        </p:nvSpPr>
        <p:spPr>
          <a:xfrm>
            <a:off x="472748" y="3771183"/>
            <a:ext cx="1636776" cy="715089"/>
          </a:xfrm>
          <a:prstGeom prst="roundRect">
            <a:avLst/>
          </a:prstGeom>
          <a:solidFill>
            <a:schemeClr val="accent4">
              <a:lumMod val="60000"/>
              <a:lumOff val="40000"/>
              <a:alpha val="71000"/>
            </a:schemeClr>
          </a:solidFill>
          <a:ln w="25400">
            <a:solidFill>
              <a:srgbClr val="FF0000"/>
            </a:solidFill>
          </a:ln>
        </p:spPr>
        <p:txBody>
          <a:bodyPr wrap="square" rtlCol="0">
            <a:spAutoFit/>
          </a:bodyPr>
          <a:lstStyle/>
          <a:p>
            <a:pPr algn="ctr"/>
            <a:r>
              <a:rPr lang="en-IN" dirty="0">
                <a:latin typeface="Times New Roman" panose="02020603050405020304" pitchFamily="18" charset="0"/>
                <a:cs typeface="Times New Roman" panose="02020603050405020304" pitchFamily="18" charset="0"/>
              </a:rPr>
              <a:t>Generative Models</a:t>
            </a:r>
          </a:p>
        </p:txBody>
      </p:sp>
      <p:sp>
        <p:nvSpPr>
          <p:cNvPr id="6" name="TextBox 5">
            <a:extLst>
              <a:ext uri="{FF2B5EF4-FFF2-40B4-BE49-F238E27FC236}">
                <a16:creationId xmlns:a16="http://schemas.microsoft.com/office/drawing/2014/main" id="{9F091886-7DC4-4D89-9055-BF2CC8F75321}"/>
              </a:ext>
            </a:extLst>
          </p:cNvPr>
          <p:cNvSpPr txBox="1"/>
          <p:nvPr/>
        </p:nvSpPr>
        <p:spPr>
          <a:xfrm>
            <a:off x="2905336" y="2418975"/>
            <a:ext cx="1304295" cy="578882"/>
          </a:xfrm>
          <a:prstGeom prst="roundRect">
            <a:avLst/>
          </a:prstGeom>
          <a:solidFill>
            <a:schemeClr val="accent1">
              <a:lumMod val="75000"/>
              <a:alpha val="79000"/>
            </a:schemeClr>
          </a:solidFill>
          <a:ln w="25400">
            <a:solidFill>
              <a:schemeClr val="accent6">
                <a:lumMod val="50000"/>
              </a:schemeClr>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Explicit Density</a:t>
            </a:r>
          </a:p>
        </p:txBody>
      </p:sp>
      <p:sp>
        <p:nvSpPr>
          <p:cNvPr id="7" name="TextBox 6">
            <a:extLst>
              <a:ext uri="{FF2B5EF4-FFF2-40B4-BE49-F238E27FC236}">
                <a16:creationId xmlns:a16="http://schemas.microsoft.com/office/drawing/2014/main" id="{CB1BA6CE-C548-44E3-B5AD-CA3915E9ADD5}"/>
              </a:ext>
            </a:extLst>
          </p:cNvPr>
          <p:cNvSpPr txBox="1"/>
          <p:nvPr/>
        </p:nvSpPr>
        <p:spPr>
          <a:xfrm>
            <a:off x="2905336" y="5309939"/>
            <a:ext cx="1304295" cy="578882"/>
          </a:xfrm>
          <a:prstGeom prst="roundRect">
            <a:avLst/>
          </a:prstGeom>
          <a:solidFill>
            <a:schemeClr val="accent1">
              <a:lumMod val="75000"/>
              <a:alpha val="79000"/>
            </a:schemeClr>
          </a:solidFill>
          <a:ln w="25400">
            <a:solidFill>
              <a:schemeClr val="accent6">
                <a:lumMod val="50000"/>
              </a:schemeClr>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Implicit Density</a:t>
            </a:r>
          </a:p>
        </p:txBody>
      </p:sp>
      <p:sp>
        <p:nvSpPr>
          <p:cNvPr id="8" name="TextBox 7">
            <a:extLst>
              <a:ext uri="{FF2B5EF4-FFF2-40B4-BE49-F238E27FC236}">
                <a16:creationId xmlns:a16="http://schemas.microsoft.com/office/drawing/2014/main" id="{79F3DBA5-C8A7-4B8D-BABA-AD5E79D4BBB2}"/>
              </a:ext>
            </a:extLst>
          </p:cNvPr>
          <p:cNvSpPr txBox="1"/>
          <p:nvPr/>
        </p:nvSpPr>
        <p:spPr>
          <a:xfrm>
            <a:off x="5707782" y="1325718"/>
            <a:ext cx="2529827" cy="374571"/>
          </a:xfrm>
          <a:prstGeom prst="roundRect">
            <a:avLst/>
          </a:prstGeom>
          <a:solidFill>
            <a:srgbClr val="FF0000">
              <a:alpha val="73000"/>
            </a:srgbClr>
          </a:solidFill>
          <a:ln w="25400">
            <a:solidFill>
              <a:schemeClr val="tx1"/>
            </a:solidFill>
          </a:ln>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Tractable Density</a:t>
            </a:r>
          </a:p>
        </p:txBody>
      </p:sp>
      <p:sp>
        <p:nvSpPr>
          <p:cNvPr id="9" name="TextBox 8">
            <a:extLst>
              <a:ext uri="{FF2B5EF4-FFF2-40B4-BE49-F238E27FC236}">
                <a16:creationId xmlns:a16="http://schemas.microsoft.com/office/drawing/2014/main" id="{DD2CFD91-4D9A-4272-B41C-09D60EECB119}"/>
              </a:ext>
            </a:extLst>
          </p:cNvPr>
          <p:cNvSpPr txBox="1"/>
          <p:nvPr/>
        </p:nvSpPr>
        <p:spPr>
          <a:xfrm>
            <a:off x="5712726" y="3794595"/>
            <a:ext cx="1915544" cy="340519"/>
          </a:xfrm>
          <a:prstGeom prst="roundRect">
            <a:avLst/>
          </a:prstGeom>
          <a:solidFill>
            <a:schemeClr val="accent6">
              <a:lumMod val="75000"/>
              <a:alpha val="78000"/>
            </a:schemeClr>
          </a:solidFill>
          <a:ln w="25400">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Approximate Density</a:t>
            </a:r>
          </a:p>
        </p:txBody>
      </p:sp>
      <p:sp>
        <p:nvSpPr>
          <p:cNvPr id="10" name="TextBox 9">
            <a:extLst>
              <a:ext uri="{FF2B5EF4-FFF2-40B4-BE49-F238E27FC236}">
                <a16:creationId xmlns:a16="http://schemas.microsoft.com/office/drawing/2014/main" id="{4B4E6BFB-2243-4E47-B366-B2B62FD26DFC}"/>
              </a:ext>
            </a:extLst>
          </p:cNvPr>
          <p:cNvSpPr txBox="1"/>
          <p:nvPr/>
        </p:nvSpPr>
        <p:spPr>
          <a:xfrm>
            <a:off x="7021326" y="5881819"/>
            <a:ext cx="1604684" cy="340519"/>
          </a:xfrm>
          <a:prstGeom prst="roundRect">
            <a:avLst/>
          </a:prstGeom>
          <a:solidFill>
            <a:schemeClr val="tx2">
              <a:lumMod val="60000"/>
              <a:lumOff val="40000"/>
            </a:schemeClr>
          </a:solidFill>
          <a:ln w="25400">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Markov Chain </a:t>
            </a:r>
          </a:p>
        </p:txBody>
      </p:sp>
      <p:sp>
        <p:nvSpPr>
          <p:cNvPr id="11" name="TextBox 10">
            <a:extLst>
              <a:ext uri="{FF2B5EF4-FFF2-40B4-BE49-F238E27FC236}">
                <a16:creationId xmlns:a16="http://schemas.microsoft.com/office/drawing/2014/main" id="{337D94B5-5AA6-44B4-81A4-59DE5221C7BC}"/>
              </a:ext>
            </a:extLst>
          </p:cNvPr>
          <p:cNvSpPr txBox="1"/>
          <p:nvPr/>
        </p:nvSpPr>
        <p:spPr>
          <a:xfrm>
            <a:off x="7024130" y="4905794"/>
            <a:ext cx="1265704" cy="340519"/>
          </a:xfrm>
          <a:prstGeom prst="roundRect">
            <a:avLst/>
          </a:prstGeom>
          <a:solidFill>
            <a:srgbClr val="00B0F0"/>
          </a:solidFill>
          <a:ln w="25400">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Direct</a:t>
            </a:r>
          </a:p>
        </p:txBody>
      </p:sp>
      <p:sp>
        <p:nvSpPr>
          <p:cNvPr id="12" name="TextBox 11">
            <a:extLst>
              <a:ext uri="{FF2B5EF4-FFF2-40B4-BE49-F238E27FC236}">
                <a16:creationId xmlns:a16="http://schemas.microsoft.com/office/drawing/2014/main" id="{F91FAE04-100F-4D67-8B4E-4C4BA4F2D7A3}"/>
              </a:ext>
            </a:extLst>
          </p:cNvPr>
          <p:cNvSpPr txBox="1"/>
          <p:nvPr/>
        </p:nvSpPr>
        <p:spPr>
          <a:xfrm>
            <a:off x="8771439" y="4385593"/>
            <a:ext cx="1197200" cy="340519"/>
          </a:xfrm>
          <a:prstGeom prst="roundRect">
            <a:avLst/>
          </a:prstGeom>
          <a:solidFill>
            <a:schemeClr val="accent2">
              <a:lumMod val="75000"/>
              <a:alpha val="84000"/>
            </a:schemeClr>
          </a:solidFill>
          <a:ln w="25400">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Variational</a:t>
            </a:r>
          </a:p>
        </p:txBody>
      </p:sp>
      <p:sp>
        <p:nvSpPr>
          <p:cNvPr id="13" name="TextBox 12">
            <a:extLst>
              <a:ext uri="{FF2B5EF4-FFF2-40B4-BE49-F238E27FC236}">
                <a16:creationId xmlns:a16="http://schemas.microsoft.com/office/drawing/2014/main" id="{349B5EFD-8A60-44E4-A557-E035017B76F8}"/>
              </a:ext>
            </a:extLst>
          </p:cNvPr>
          <p:cNvSpPr txBox="1"/>
          <p:nvPr/>
        </p:nvSpPr>
        <p:spPr>
          <a:xfrm>
            <a:off x="8771440" y="3133063"/>
            <a:ext cx="1296259" cy="340519"/>
          </a:xfrm>
          <a:prstGeom prst="roundRect">
            <a:avLst/>
          </a:prstGeom>
          <a:solidFill>
            <a:schemeClr val="accent2">
              <a:lumMod val="75000"/>
              <a:alpha val="84000"/>
            </a:schemeClr>
          </a:solidFill>
          <a:ln w="25400">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Markov Chain </a:t>
            </a:r>
          </a:p>
        </p:txBody>
      </p:sp>
      <p:sp>
        <p:nvSpPr>
          <p:cNvPr id="14" name="TextBox 13">
            <a:extLst>
              <a:ext uri="{FF2B5EF4-FFF2-40B4-BE49-F238E27FC236}">
                <a16:creationId xmlns:a16="http://schemas.microsoft.com/office/drawing/2014/main" id="{D3580FF9-659C-4D95-8A77-F9016D7BF516}"/>
              </a:ext>
            </a:extLst>
          </p:cNvPr>
          <p:cNvSpPr txBox="1"/>
          <p:nvPr/>
        </p:nvSpPr>
        <p:spPr>
          <a:xfrm>
            <a:off x="8667238" y="5866273"/>
            <a:ext cx="1604684" cy="374571"/>
          </a:xfrm>
          <a:prstGeom prst="roundRect">
            <a:avLst/>
          </a:prstGeom>
          <a:solidFill>
            <a:schemeClr val="bg2">
              <a:lumMod val="50000"/>
              <a:alpha val="23000"/>
            </a:schemeClr>
          </a:solidFill>
          <a:ln w="9525">
            <a:solidFill>
              <a:schemeClr val="tx1"/>
            </a:solidFill>
          </a:ln>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GSN</a:t>
            </a:r>
          </a:p>
        </p:txBody>
      </p:sp>
      <p:sp>
        <p:nvSpPr>
          <p:cNvPr id="15" name="TextBox 14">
            <a:extLst>
              <a:ext uri="{FF2B5EF4-FFF2-40B4-BE49-F238E27FC236}">
                <a16:creationId xmlns:a16="http://schemas.microsoft.com/office/drawing/2014/main" id="{02DD086A-A4E3-4519-B561-0AEF86035792}"/>
              </a:ext>
            </a:extLst>
          </p:cNvPr>
          <p:cNvSpPr txBox="1"/>
          <p:nvPr/>
        </p:nvSpPr>
        <p:spPr>
          <a:xfrm>
            <a:off x="9994356" y="4385593"/>
            <a:ext cx="2010522" cy="340519"/>
          </a:xfrm>
          <a:prstGeom prst="roundRect">
            <a:avLst/>
          </a:prstGeom>
          <a:solidFill>
            <a:schemeClr val="accent5">
              <a:lumMod val="60000"/>
              <a:lumOff val="40000"/>
              <a:alpha val="23000"/>
            </a:schemeClr>
          </a:solidFill>
          <a:ln>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Variational Autoencoder</a:t>
            </a:r>
          </a:p>
        </p:txBody>
      </p:sp>
      <p:sp>
        <p:nvSpPr>
          <p:cNvPr id="16" name="TextBox 15">
            <a:extLst>
              <a:ext uri="{FF2B5EF4-FFF2-40B4-BE49-F238E27FC236}">
                <a16:creationId xmlns:a16="http://schemas.microsoft.com/office/drawing/2014/main" id="{982C6B8D-9E96-435A-AB64-5684613E10BA}"/>
              </a:ext>
            </a:extLst>
          </p:cNvPr>
          <p:cNvSpPr txBox="1"/>
          <p:nvPr/>
        </p:nvSpPr>
        <p:spPr>
          <a:xfrm>
            <a:off x="7024130" y="5280085"/>
            <a:ext cx="1265704" cy="340519"/>
          </a:xfrm>
          <a:prstGeom prst="roundRect">
            <a:avLst/>
          </a:prstGeom>
          <a:solidFill>
            <a:srgbClr val="00B0F0">
              <a:alpha val="23000"/>
            </a:srgbClr>
          </a:solidFill>
          <a:ln>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GAN</a:t>
            </a:r>
          </a:p>
        </p:txBody>
      </p:sp>
      <p:sp>
        <p:nvSpPr>
          <p:cNvPr id="17" name="TextBox 16">
            <a:extLst>
              <a:ext uri="{FF2B5EF4-FFF2-40B4-BE49-F238E27FC236}">
                <a16:creationId xmlns:a16="http://schemas.microsoft.com/office/drawing/2014/main" id="{39C3B64C-13D7-48E0-9D87-0C1A7D4A43BF}"/>
              </a:ext>
            </a:extLst>
          </p:cNvPr>
          <p:cNvSpPr txBox="1"/>
          <p:nvPr/>
        </p:nvSpPr>
        <p:spPr>
          <a:xfrm>
            <a:off x="8778078" y="3506438"/>
            <a:ext cx="1797161" cy="340519"/>
          </a:xfrm>
          <a:prstGeom prst="roundRect">
            <a:avLst/>
          </a:prstGeom>
          <a:solidFill>
            <a:schemeClr val="tx2">
              <a:lumMod val="60000"/>
              <a:lumOff val="40000"/>
              <a:alpha val="23000"/>
            </a:schemeClr>
          </a:solidFill>
          <a:ln>
            <a:solidFill>
              <a:schemeClr val="tx1"/>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Boltzmann Machine</a:t>
            </a:r>
          </a:p>
        </p:txBody>
      </p:sp>
      <p:sp>
        <p:nvSpPr>
          <p:cNvPr id="18" name="TextBox 17">
            <a:extLst>
              <a:ext uri="{FF2B5EF4-FFF2-40B4-BE49-F238E27FC236}">
                <a16:creationId xmlns:a16="http://schemas.microsoft.com/office/drawing/2014/main" id="{A74E7E81-3DCC-44D9-B587-52DC8CD4B708}"/>
              </a:ext>
            </a:extLst>
          </p:cNvPr>
          <p:cNvSpPr txBox="1"/>
          <p:nvPr/>
        </p:nvSpPr>
        <p:spPr>
          <a:xfrm>
            <a:off x="5652365" y="1734111"/>
            <a:ext cx="3714290" cy="1248728"/>
          </a:xfrm>
          <a:prstGeom prst="roundRect">
            <a:avLst>
              <a:gd name="adj" fmla="val 11383"/>
            </a:avLst>
          </a:prstGeom>
          <a:solidFill>
            <a:srgbClr val="FF0000">
              <a:alpha val="18000"/>
            </a:srgbClr>
          </a:solidFill>
          <a:ln>
            <a:solidFill>
              <a:schemeClr val="tx1"/>
            </a:solidFill>
          </a:ln>
        </p:spPr>
        <p:txBody>
          <a:bodyPr wrap="square" rtlCol="0">
            <a:spAutoFit/>
          </a:bodyPr>
          <a:lstStyle/>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Fully Visible Belief Nets</a:t>
            </a: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NADE</a:t>
            </a: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MADE</a:t>
            </a: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Pixel RNN</a:t>
            </a: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Change of variable models (nonlinear ICA)</a:t>
            </a:r>
          </a:p>
        </p:txBody>
      </p:sp>
      <p:cxnSp>
        <p:nvCxnSpPr>
          <p:cNvPr id="19" name="Elbow Connector 99">
            <a:extLst>
              <a:ext uri="{FF2B5EF4-FFF2-40B4-BE49-F238E27FC236}">
                <a16:creationId xmlns:a16="http://schemas.microsoft.com/office/drawing/2014/main" id="{75B93D6F-0BD3-4BD1-8BD9-504E4746F4F4}"/>
              </a:ext>
            </a:extLst>
          </p:cNvPr>
          <p:cNvCxnSpPr>
            <a:stCxn id="5" idx="3"/>
            <a:endCxn id="6" idx="1"/>
          </p:cNvCxnSpPr>
          <p:nvPr/>
        </p:nvCxnSpPr>
        <p:spPr>
          <a:xfrm flipV="1">
            <a:off x="2109524" y="2708416"/>
            <a:ext cx="795812" cy="1420312"/>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01">
            <a:extLst>
              <a:ext uri="{FF2B5EF4-FFF2-40B4-BE49-F238E27FC236}">
                <a16:creationId xmlns:a16="http://schemas.microsoft.com/office/drawing/2014/main" id="{7D3A494A-D503-4080-8A80-1AE355EA3BDB}"/>
              </a:ext>
            </a:extLst>
          </p:cNvPr>
          <p:cNvCxnSpPr>
            <a:stCxn id="5" idx="3"/>
            <a:endCxn id="7" idx="1"/>
          </p:cNvCxnSpPr>
          <p:nvPr/>
        </p:nvCxnSpPr>
        <p:spPr>
          <a:xfrm>
            <a:off x="2109524" y="4128728"/>
            <a:ext cx="795812" cy="1470652"/>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103">
            <a:extLst>
              <a:ext uri="{FF2B5EF4-FFF2-40B4-BE49-F238E27FC236}">
                <a16:creationId xmlns:a16="http://schemas.microsoft.com/office/drawing/2014/main" id="{9853588F-26C0-43D8-B871-93335C2A45D4}"/>
              </a:ext>
            </a:extLst>
          </p:cNvPr>
          <p:cNvCxnSpPr>
            <a:stCxn id="6" idx="3"/>
            <a:endCxn id="8" idx="1"/>
          </p:cNvCxnSpPr>
          <p:nvPr/>
        </p:nvCxnSpPr>
        <p:spPr>
          <a:xfrm flipV="1">
            <a:off x="4209631" y="1513004"/>
            <a:ext cx="1498151" cy="1195412"/>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105">
            <a:extLst>
              <a:ext uri="{FF2B5EF4-FFF2-40B4-BE49-F238E27FC236}">
                <a16:creationId xmlns:a16="http://schemas.microsoft.com/office/drawing/2014/main" id="{F518D58F-E4DF-47F1-AB79-E25BC00568F6}"/>
              </a:ext>
            </a:extLst>
          </p:cNvPr>
          <p:cNvCxnSpPr>
            <a:stCxn id="6" idx="3"/>
            <a:endCxn id="9" idx="1"/>
          </p:cNvCxnSpPr>
          <p:nvPr/>
        </p:nvCxnSpPr>
        <p:spPr>
          <a:xfrm>
            <a:off x="4209631" y="2708416"/>
            <a:ext cx="1503095" cy="1256439"/>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107">
            <a:extLst>
              <a:ext uri="{FF2B5EF4-FFF2-40B4-BE49-F238E27FC236}">
                <a16:creationId xmlns:a16="http://schemas.microsoft.com/office/drawing/2014/main" id="{EF709B49-9D7C-43AD-9E9D-A83B104F337D}"/>
              </a:ext>
            </a:extLst>
          </p:cNvPr>
          <p:cNvCxnSpPr>
            <a:stCxn id="9" idx="3"/>
            <a:endCxn id="13" idx="1"/>
          </p:cNvCxnSpPr>
          <p:nvPr/>
        </p:nvCxnSpPr>
        <p:spPr>
          <a:xfrm flipV="1">
            <a:off x="7628270" y="3303323"/>
            <a:ext cx="1143170" cy="661532"/>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109">
            <a:extLst>
              <a:ext uri="{FF2B5EF4-FFF2-40B4-BE49-F238E27FC236}">
                <a16:creationId xmlns:a16="http://schemas.microsoft.com/office/drawing/2014/main" id="{98AA8C7B-1DF0-4918-8DA9-6AB866035F8A}"/>
              </a:ext>
            </a:extLst>
          </p:cNvPr>
          <p:cNvCxnSpPr>
            <a:stCxn id="9" idx="3"/>
            <a:endCxn id="12" idx="1"/>
          </p:cNvCxnSpPr>
          <p:nvPr/>
        </p:nvCxnSpPr>
        <p:spPr>
          <a:xfrm>
            <a:off x="7628270" y="3964855"/>
            <a:ext cx="1143169" cy="590998"/>
          </a:xfrm>
          <a:prstGeom prst="bentConnector3">
            <a:avLst>
              <a:gd name="adj1" fmla="val 50000"/>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111">
            <a:extLst>
              <a:ext uri="{FF2B5EF4-FFF2-40B4-BE49-F238E27FC236}">
                <a16:creationId xmlns:a16="http://schemas.microsoft.com/office/drawing/2014/main" id="{FBBB6634-A711-4F3E-A9F3-F0765E334942}"/>
              </a:ext>
            </a:extLst>
          </p:cNvPr>
          <p:cNvCxnSpPr>
            <a:stCxn id="7" idx="3"/>
            <a:endCxn id="11" idx="1"/>
          </p:cNvCxnSpPr>
          <p:nvPr/>
        </p:nvCxnSpPr>
        <p:spPr>
          <a:xfrm flipV="1">
            <a:off x="4209631" y="5076054"/>
            <a:ext cx="2814499" cy="523326"/>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113">
            <a:extLst>
              <a:ext uri="{FF2B5EF4-FFF2-40B4-BE49-F238E27FC236}">
                <a16:creationId xmlns:a16="http://schemas.microsoft.com/office/drawing/2014/main" id="{CB39A652-6E37-4FD2-B569-5D87719824D8}"/>
              </a:ext>
            </a:extLst>
          </p:cNvPr>
          <p:cNvCxnSpPr>
            <a:stCxn id="7" idx="3"/>
            <a:endCxn id="10" idx="1"/>
          </p:cNvCxnSpPr>
          <p:nvPr/>
        </p:nvCxnSpPr>
        <p:spPr>
          <a:xfrm>
            <a:off x="4209631" y="5599380"/>
            <a:ext cx="2811695" cy="452699"/>
          </a:xfrm>
          <a:prstGeom prst="bent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AB256972-9DE5-4F57-A860-99BC983CD23F}"/>
              </a:ext>
            </a:extLst>
          </p:cNvPr>
          <p:cNvSpPr/>
          <p:nvPr/>
        </p:nvSpPr>
        <p:spPr>
          <a:xfrm>
            <a:off x="3967584" y="6538696"/>
            <a:ext cx="7668604" cy="307777"/>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Figure copyright and adapted from Ian Goodfellow, Tutorial on Generative Adversarial Networks, 2017.</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09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A0D4-6480-47A5-8F9D-A44005206F0B}"/>
              </a:ext>
            </a:extLst>
          </p:cNvPr>
          <p:cNvSpPr>
            <a:spLocks noGrp="1"/>
          </p:cNvSpPr>
          <p:nvPr>
            <p:ph type="title"/>
          </p:nvPr>
        </p:nvSpPr>
        <p:spPr/>
        <p:txBody>
          <a:bodyPr>
            <a:normAutofit fontScale="90000"/>
          </a:bodyPr>
          <a:lstStyle/>
          <a:p>
            <a:br>
              <a:rPr lang="en-IN" b="1" dirty="0"/>
            </a:br>
            <a:r>
              <a:rPr lang="en-IN" sz="3600" dirty="0">
                <a:latin typeface="Century" panose="02040604050505020304" pitchFamily="18" charset="0"/>
              </a:rPr>
              <a:t>Density Estimation in Generative Modelling</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E4CE433-632F-469F-B40C-8C2CBD6A0193}"/>
                  </a:ext>
                </a:extLst>
              </p:cNvPr>
              <p:cNvSpPr>
                <a:spLocks noGrp="1"/>
              </p:cNvSpPr>
              <p:nvPr>
                <p:ph idx="1"/>
              </p:nvPr>
            </p:nvSpPr>
            <p:spPr>
              <a:xfrm>
                <a:off x="838199" y="1825625"/>
                <a:ext cx="10932459" cy="4351338"/>
              </a:xfrm>
            </p:spPr>
            <p:txBody>
              <a:bodyPr>
                <a:normAutofit/>
              </a:bodyPr>
              <a:lstStyle/>
              <a:p>
                <a:pPr algn="just"/>
                <a:r>
                  <a:rPr lang="en-US" sz="2000" dirty="0">
                    <a:solidFill>
                      <a:srgbClr val="7030A0"/>
                    </a:solidFill>
                    <a:latin typeface="Arial Narrow" panose="020B0606020202030204" pitchFamily="34" charset="0"/>
                  </a:rPr>
                  <a:t>Density estimation </a:t>
                </a:r>
                <a:r>
                  <a:rPr lang="en-US" sz="2000" dirty="0">
                    <a:latin typeface="Arial Narrow" panose="020B0606020202030204" pitchFamily="34" charset="0"/>
                  </a:rPr>
                  <a:t>is a fundamental approach in generative modeling that aims to </a:t>
                </a:r>
                <a:r>
                  <a:rPr lang="en-US" sz="2000" dirty="0">
                    <a:solidFill>
                      <a:srgbClr val="7030A0"/>
                    </a:solidFill>
                    <a:latin typeface="Arial Narrow" panose="020B0606020202030204" pitchFamily="34" charset="0"/>
                  </a:rPr>
                  <a:t>learn the underlying probability density function</a:t>
                </a:r>
                <a:r>
                  <a:rPr lang="en-US" sz="2000" dirty="0">
                    <a:latin typeface="Arial Narrow" panose="020B0606020202030204" pitchFamily="34" charset="0"/>
                  </a:rPr>
                  <a:t> of a given dataset. </a:t>
                </a:r>
              </a:p>
              <a:p>
                <a:pPr algn="just"/>
                <a:r>
                  <a:rPr lang="en-US" sz="2000" dirty="0">
                    <a:latin typeface="Arial Narrow" panose="020B0606020202030204" pitchFamily="34" charset="0"/>
                  </a:rPr>
                  <a:t>Let the observed data samples be represented by </a:t>
                </a:r>
                <a14:m>
                  <m:oMath xmlns:m="http://schemas.openxmlformats.org/officeDocument/2006/math">
                    <m:r>
                      <a:rPr lang="en-US" sz="2000" i="1" dirty="0">
                        <a:solidFill>
                          <a:srgbClr val="00B0F0"/>
                        </a:solidFill>
                        <a:latin typeface="Cambria Math" panose="02040503050406030204" pitchFamily="18" charset="0"/>
                      </a:rPr>
                      <m:t>𝑥</m:t>
                    </m:r>
                    <m:r>
                      <a:rPr lang="en-US" sz="2000" i="1" dirty="0">
                        <a:solidFill>
                          <a:srgbClr val="00B0F0"/>
                        </a:solidFill>
                        <a:latin typeface="Cambria Math" panose="02040503050406030204" pitchFamily="18" charset="0"/>
                      </a:rPr>
                      <m:t>∼</m:t>
                    </m:r>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IN" sz="2000" i="1" dirty="0">
                            <a:solidFill>
                              <a:srgbClr val="00B0F0"/>
                            </a:solidFill>
                            <a:latin typeface="Cambria Math" panose="02040503050406030204" pitchFamily="18" charset="0"/>
                          </a:rPr>
                          <m:t>𝑑𝑎𝑡𝑎</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oMath>
                </a14:m>
                <a:r>
                  <a:rPr lang="en-IN" sz="2000" dirty="0">
                    <a:latin typeface="Arial Narrow" panose="020B0606020202030204" pitchFamily="34" charset="0"/>
                  </a:rPr>
                  <a:t>.</a:t>
                </a:r>
              </a:p>
              <a:p>
                <a:pPr algn="just"/>
                <a:r>
                  <a:rPr lang="en-US" sz="2000" dirty="0">
                    <a:latin typeface="Arial Narrow" panose="020B0606020202030204" pitchFamily="34" charset="0"/>
                  </a:rPr>
                  <a:t>The objective of density estimation is to </a:t>
                </a:r>
                <a:r>
                  <a:rPr lang="en-US" sz="2000" dirty="0">
                    <a:solidFill>
                      <a:srgbClr val="7030A0"/>
                    </a:solidFill>
                    <a:latin typeface="Arial Narrow" panose="020B0606020202030204" pitchFamily="34" charset="0"/>
                  </a:rPr>
                  <a:t>learn a parameterized probability distribution </a:t>
                </a:r>
                <a14:m>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US" sz="2000" i="1" dirty="0">
                            <a:solidFill>
                              <a:srgbClr val="00B0F0"/>
                            </a:solidFill>
                            <a:latin typeface="Cambria Math" panose="02040503050406030204" pitchFamily="18" charset="0"/>
                            <a:ea typeface="Cambria Math" panose="02040503050406030204" pitchFamily="18" charset="0"/>
                          </a:rPr>
                          <m:t>𝜃</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oMath>
                </a14:m>
                <a:r>
                  <a:rPr lang="en-US" sz="2000" dirty="0">
                    <a:latin typeface="Arial Narrow" panose="020B0606020202030204" pitchFamily="34" charset="0"/>
                  </a:rPr>
                  <a:t> that provides a </a:t>
                </a:r>
                <a:r>
                  <a:rPr lang="en-US" sz="2000" dirty="0">
                    <a:solidFill>
                      <a:srgbClr val="7030A0"/>
                    </a:solidFill>
                    <a:latin typeface="Arial Narrow" panose="020B0606020202030204" pitchFamily="34" charset="0"/>
                  </a:rPr>
                  <a:t>close approximation to the unknown data distribution</a:t>
                </a:r>
                <a:r>
                  <a:rPr lang="en-US" sz="2000" dirty="0">
                    <a:latin typeface="Arial Narrow" panose="020B0606020202030204" pitchFamily="34" charset="0"/>
                  </a:rPr>
                  <a:t> i.e. </a:t>
                </a:r>
                <a14:m>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US" sz="2000" i="1" dirty="0">
                            <a:solidFill>
                              <a:srgbClr val="00B0F0"/>
                            </a:solidFill>
                            <a:latin typeface="Cambria Math" panose="02040503050406030204" pitchFamily="18" charset="0"/>
                            <a:ea typeface="Cambria Math" panose="02040503050406030204" pitchFamily="18" charset="0"/>
                          </a:rPr>
                          <m:t>𝜃</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IN" sz="2000" i="1" dirty="0">
                            <a:solidFill>
                              <a:srgbClr val="00B0F0"/>
                            </a:solidFill>
                            <a:latin typeface="Cambria Math" panose="02040503050406030204" pitchFamily="18" charset="0"/>
                          </a:rPr>
                          <m:t>𝑑𝑎𝑡𝑎</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oMath>
                </a14:m>
                <a:endParaRPr lang="en-IN" sz="2000" dirty="0">
                  <a:solidFill>
                    <a:srgbClr val="00B0F0"/>
                  </a:solidFill>
                  <a:latin typeface="Arial Narrow" panose="020B0606020202030204" pitchFamily="34" charset="0"/>
                </a:endParaRPr>
              </a:p>
              <a:p>
                <a:pPr algn="just"/>
                <a:r>
                  <a:rPr lang="en-US" sz="2000" dirty="0">
                    <a:latin typeface="Arial Narrow" panose="020B0606020202030204" pitchFamily="34" charset="0"/>
                  </a:rPr>
                  <a:t>The </a:t>
                </a:r>
                <a:r>
                  <a:rPr lang="en-US" sz="2000" dirty="0">
                    <a:solidFill>
                      <a:srgbClr val="7030A0"/>
                    </a:solidFill>
                    <a:latin typeface="Arial Narrow" panose="020B0606020202030204" pitchFamily="34" charset="0"/>
                  </a:rPr>
                  <a:t>model parameters </a:t>
                </a:r>
                <a14:m>
                  <m:oMath xmlns:m="http://schemas.openxmlformats.org/officeDocument/2006/math">
                    <m:r>
                      <a:rPr lang="en-US" sz="2000" i="1" dirty="0" smtClean="0">
                        <a:solidFill>
                          <a:srgbClr val="7030A0"/>
                        </a:solidFill>
                        <a:latin typeface="Cambria Math" panose="02040503050406030204" pitchFamily="18" charset="0"/>
                      </a:rPr>
                      <m:t>𝜃</m:t>
                    </m:r>
                  </m:oMath>
                </a14:m>
                <a:r>
                  <a:rPr lang="en-US" sz="2000" dirty="0">
                    <a:solidFill>
                      <a:srgbClr val="7030A0"/>
                    </a:solidFill>
                    <a:latin typeface="Arial Narrow" panose="020B0606020202030204" pitchFamily="34" charset="0"/>
                  </a:rPr>
                  <a:t> are optimized by maximizing the likelihood of the observed training samples</a:t>
                </a:r>
                <a:r>
                  <a:rPr lang="en-US" sz="2000" dirty="0">
                    <a:latin typeface="Arial Narrow" panose="020B0606020202030204" pitchFamily="34" charset="0"/>
                  </a:rPr>
                  <a:t>, or equivalently, by minimizing the negative log-likelihood:</a:t>
                </a:r>
              </a:p>
              <a:p>
                <a:pPr algn="just"/>
                <a:endParaRPr lang="en-US" sz="2000" dirty="0">
                  <a:latin typeface="Arial Narrow" panose="020B060602020203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n-IN" sz="2000" b="0" i="1" smtClean="0">
                          <a:solidFill>
                            <a:srgbClr val="00B0F0"/>
                          </a:solidFill>
                          <a:latin typeface="Cambria Math" panose="02040503050406030204" pitchFamily="18" charset="0"/>
                        </a:rPr>
                        <m:t>𝐿</m:t>
                      </m:r>
                      <m:d>
                        <m:dPr>
                          <m:ctrlPr>
                            <a:rPr lang="en-IN" sz="2000" b="0" i="1" smtClean="0">
                              <a:solidFill>
                                <a:srgbClr val="00B0F0"/>
                              </a:solidFill>
                              <a:latin typeface="Cambria Math" panose="02040503050406030204" pitchFamily="18" charset="0"/>
                            </a:rPr>
                          </m:ctrlPr>
                        </m:dPr>
                        <m:e>
                          <m:r>
                            <a:rPr lang="en-IN" sz="2000" b="0" i="1" smtClean="0">
                              <a:solidFill>
                                <a:srgbClr val="00B0F0"/>
                              </a:solidFill>
                              <a:latin typeface="Cambria Math" panose="02040503050406030204" pitchFamily="18" charset="0"/>
                              <a:ea typeface="Cambria Math" panose="02040503050406030204" pitchFamily="18" charset="0"/>
                            </a:rPr>
                            <m:t>𝜃</m:t>
                          </m:r>
                        </m:e>
                      </m:d>
                      <m:r>
                        <a:rPr lang="en-IN" sz="2000" b="0" i="1" smtClean="0">
                          <a:solidFill>
                            <a:srgbClr val="00B0F0"/>
                          </a:solidFill>
                          <a:latin typeface="Cambria Math" panose="02040503050406030204" pitchFamily="18" charset="0"/>
                          <a:ea typeface="Cambria Math" panose="02040503050406030204" pitchFamily="18" charset="0"/>
                        </a:rPr>
                        <m:t>=−</m:t>
                      </m:r>
                      <m:f>
                        <m:fPr>
                          <m:ctrlPr>
                            <a:rPr lang="en-IN" sz="2000" b="0" i="1" smtClean="0">
                              <a:solidFill>
                                <a:srgbClr val="00B0F0"/>
                              </a:solidFill>
                              <a:latin typeface="Cambria Math" panose="02040503050406030204" pitchFamily="18" charset="0"/>
                              <a:ea typeface="Cambria Math" panose="02040503050406030204" pitchFamily="18" charset="0"/>
                            </a:rPr>
                          </m:ctrlPr>
                        </m:fPr>
                        <m:num>
                          <m:r>
                            <a:rPr lang="en-IN" sz="2000" b="0" i="1" smtClean="0">
                              <a:solidFill>
                                <a:srgbClr val="00B0F0"/>
                              </a:solidFill>
                              <a:latin typeface="Cambria Math" panose="02040503050406030204" pitchFamily="18" charset="0"/>
                              <a:ea typeface="Cambria Math" panose="02040503050406030204" pitchFamily="18" charset="0"/>
                            </a:rPr>
                            <m:t>1</m:t>
                          </m:r>
                        </m:num>
                        <m:den>
                          <m:r>
                            <a:rPr lang="en-IN" sz="2000" b="0" i="1" smtClean="0">
                              <a:solidFill>
                                <a:srgbClr val="00B0F0"/>
                              </a:solidFill>
                              <a:latin typeface="Cambria Math" panose="02040503050406030204" pitchFamily="18" charset="0"/>
                              <a:ea typeface="Cambria Math" panose="02040503050406030204" pitchFamily="18" charset="0"/>
                            </a:rPr>
                            <m:t>𝑁</m:t>
                          </m:r>
                        </m:den>
                      </m:f>
                      <m:nary>
                        <m:naryPr>
                          <m:chr m:val="∑"/>
                          <m:ctrlPr>
                            <a:rPr lang="en-IN" sz="2000" b="0" i="1" smtClean="0">
                              <a:solidFill>
                                <a:srgbClr val="00B0F0"/>
                              </a:solidFill>
                              <a:latin typeface="Cambria Math" panose="02040503050406030204" pitchFamily="18" charset="0"/>
                              <a:ea typeface="Cambria Math" panose="02040503050406030204" pitchFamily="18" charset="0"/>
                            </a:rPr>
                          </m:ctrlPr>
                        </m:naryPr>
                        <m:sub>
                          <m:r>
                            <m:rPr>
                              <m:brk m:alnAt="23"/>
                            </m:rPr>
                            <a:rPr lang="en-IN" sz="2000" b="0" i="1" smtClean="0">
                              <a:solidFill>
                                <a:srgbClr val="00B0F0"/>
                              </a:solidFill>
                              <a:latin typeface="Cambria Math" panose="02040503050406030204" pitchFamily="18" charset="0"/>
                              <a:ea typeface="Cambria Math" panose="02040503050406030204" pitchFamily="18" charset="0"/>
                            </a:rPr>
                            <m:t>𝑖</m:t>
                          </m:r>
                          <m:r>
                            <a:rPr lang="en-IN" sz="2000" b="0" i="1" smtClean="0">
                              <a:solidFill>
                                <a:srgbClr val="00B0F0"/>
                              </a:solidFill>
                              <a:latin typeface="Cambria Math" panose="02040503050406030204" pitchFamily="18" charset="0"/>
                              <a:ea typeface="Cambria Math" panose="02040503050406030204" pitchFamily="18" charset="0"/>
                            </a:rPr>
                            <m:t>=1</m:t>
                          </m:r>
                        </m:sub>
                        <m:sup>
                          <m:r>
                            <a:rPr lang="en-IN" sz="2000" b="0" i="1" smtClean="0">
                              <a:solidFill>
                                <a:srgbClr val="00B0F0"/>
                              </a:solidFill>
                              <a:latin typeface="Cambria Math" panose="02040503050406030204" pitchFamily="18" charset="0"/>
                              <a:ea typeface="Cambria Math" panose="02040503050406030204" pitchFamily="18" charset="0"/>
                            </a:rPr>
                            <m:t>𝑁</m:t>
                          </m:r>
                        </m:sup>
                        <m:e>
                          <m:func>
                            <m:funcPr>
                              <m:ctrlPr>
                                <a:rPr lang="en-IN" sz="2000" i="1">
                                  <a:solidFill>
                                    <a:srgbClr val="00B0F0"/>
                                  </a:solidFill>
                                  <a:latin typeface="Cambria Math" panose="02040503050406030204" pitchFamily="18" charset="0"/>
                                  <a:ea typeface="Cambria Math" panose="02040503050406030204" pitchFamily="18" charset="0"/>
                                </a:rPr>
                              </m:ctrlPr>
                            </m:funcPr>
                            <m:fName>
                              <m:r>
                                <m:rPr>
                                  <m:sty m:val="p"/>
                                </m:rPr>
                                <a:rPr lang="en-IN" sz="2000">
                                  <a:solidFill>
                                    <a:srgbClr val="00B0F0"/>
                                  </a:solidFill>
                                  <a:latin typeface="Cambria Math" panose="02040503050406030204" pitchFamily="18" charset="0"/>
                                  <a:ea typeface="Cambria Math" panose="02040503050406030204" pitchFamily="18" charset="0"/>
                                </a:rPr>
                                <m:t>log</m:t>
                              </m:r>
                            </m:fName>
                            <m:e>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IN" sz="2000" i="1">
                                      <a:solidFill>
                                        <a:srgbClr val="00B0F0"/>
                                      </a:solidFill>
                                      <a:latin typeface="Cambria Math" panose="02040503050406030204" pitchFamily="18" charset="0"/>
                                      <a:ea typeface="Cambria Math" panose="02040503050406030204" pitchFamily="18" charset="0"/>
                                    </a:rPr>
                                    <m:t>𝜃</m:t>
                                  </m:r>
                                </m:sub>
                              </m:sSub>
                              <m:r>
                                <a:rPr lang="en-IN" sz="2000" i="1">
                                  <a:solidFill>
                                    <a:srgbClr val="00B0F0"/>
                                  </a:solidFill>
                                  <a:latin typeface="Cambria Math" panose="02040503050406030204" pitchFamily="18" charset="0"/>
                                  <a:ea typeface="Cambria Math" panose="02040503050406030204" pitchFamily="18" charset="0"/>
                                </a:rPr>
                                <m:t>(</m:t>
                              </m:r>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𝑥</m:t>
                                  </m:r>
                                </m:e>
                                <m:sub>
                                  <m:r>
                                    <a:rPr lang="en-IN" sz="2000" i="1">
                                      <a:solidFill>
                                        <a:srgbClr val="00B0F0"/>
                                      </a:solidFill>
                                      <a:latin typeface="Cambria Math" panose="02040503050406030204" pitchFamily="18" charset="0"/>
                                      <a:ea typeface="Cambria Math" panose="02040503050406030204" pitchFamily="18" charset="0"/>
                                    </a:rPr>
                                    <m:t>𝑖</m:t>
                                  </m:r>
                                </m:sub>
                              </m:sSub>
                              <m:r>
                                <a:rPr lang="en-IN" sz="2000" i="1">
                                  <a:solidFill>
                                    <a:srgbClr val="00B0F0"/>
                                  </a:solidFill>
                                  <a:latin typeface="Cambria Math" panose="02040503050406030204" pitchFamily="18" charset="0"/>
                                  <a:ea typeface="Cambria Math" panose="02040503050406030204" pitchFamily="18" charset="0"/>
                                </a:rPr>
                                <m:t>)</m:t>
                              </m:r>
                            </m:e>
                          </m:func>
                        </m:e>
                      </m:nary>
                    </m:oMath>
                  </m:oMathPara>
                </a14:m>
                <a:endParaRPr lang="en-IN" sz="2000" dirty="0">
                  <a:latin typeface="Arial Narrow" panose="020B0606020202030204" pitchFamily="34" charset="0"/>
                </a:endParaRPr>
              </a:p>
              <a:p>
                <a:pPr marL="0" indent="0" algn="just">
                  <a:buNone/>
                </a:pPr>
                <a:r>
                  <a:rPr lang="en-US" sz="2000" dirty="0">
                    <a:latin typeface="Arial Narrow" panose="020B0606020202030204" pitchFamily="34" charset="0"/>
                  </a:rPr>
                  <a:t>where N  is the number of training samples and </a:t>
                </a:r>
                <a14:m>
                  <m:oMath xmlns:m="http://schemas.openxmlformats.org/officeDocument/2006/math">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𝜃</m:t>
                        </m:r>
                      </m:sub>
                    </m:sSub>
                    <m:r>
                      <a:rPr lang="en-IN" sz="2000" i="1">
                        <a:latin typeface="Cambria Math" panose="02040503050406030204" pitchFamily="18" charset="0"/>
                        <a:ea typeface="Cambria Math" panose="02040503050406030204" pitchFamily="18" charset="0"/>
                      </a:rPr>
                      <m:t>(</m:t>
                    </m:r>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𝑥</m:t>
                        </m:r>
                      </m:e>
                      <m:sub>
                        <m:r>
                          <a:rPr lang="en-IN" sz="2000" i="1">
                            <a:latin typeface="Cambria Math" panose="02040503050406030204" pitchFamily="18" charset="0"/>
                            <a:ea typeface="Cambria Math" panose="02040503050406030204" pitchFamily="18" charset="0"/>
                          </a:rPr>
                          <m:t>𝑖</m:t>
                        </m:r>
                      </m:sub>
                    </m:sSub>
                    <m:r>
                      <a:rPr lang="en-IN" sz="2000" i="1">
                        <a:latin typeface="Cambria Math" panose="02040503050406030204" pitchFamily="18" charset="0"/>
                        <a:ea typeface="Cambria Math" panose="02040503050406030204" pitchFamily="18" charset="0"/>
                      </a:rPr>
                      <m:t>)</m:t>
                    </m:r>
                  </m:oMath>
                </a14:m>
                <a:r>
                  <a:rPr lang="en-IN" sz="2000" dirty="0">
                    <a:latin typeface="Arial Narrow" panose="020B0606020202030204" pitchFamily="34" charset="0"/>
                  </a:rPr>
                  <a:t> </a:t>
                </a:r>
                <a:r>
                  <a:rPr lang="en-US" sz="2000" dirty="0">
                    <a:latin typeface="Arial Narrow" panose="020B0606020202030204" pitchFamily="34" charset="0"/>
                  </a:rPr>
                  <a:t>denotes the probability assigned by the model to sample </a:t>
                </a:r>
                <a14:m>
                  <m:oMath xmlns:m="http://schemas.openxmlformats.org/officeDocument/2006/math">
                    <m:sSub>
                      <m:sSubPr>
                        <m:ctrlPr>
                          <a:rPr lang="en-IN" sz="2000" i="1">
                            <a:latin typeface="Cambria Math" panose="02040503050406030204" pitchFamily="18" charset="0"/>
                            <a:ea typeface="Cambria Math" panose="02040503050406030204" pitchFamily="18" charset="0"/>
                          </a:rPr>
                        </m:ctrlPr>
                      </m:sSubPr>
                      <m:e>
                        <m:r>
                          <a:rPr lang="en-IN" sz="2000" i="1">
                            <a:latin typeface="Cambria Math" panose="02040503050406030204" pitchFamily="18" charset="0"/>
                            <a:ea typeface="Cambria Math" panose="02040503050406030204" pitchFamily="18" charset="0"/>
                          </a:rPr>
                          <m:t>𝑥</m:t>
                        </m:r>
                      </m:e>
                      <m:sub>
                        <m:r>
                          <a:rPr lang="en-IN" sz="2000" i="1">
                            <a:latin typeface="Cambria Math" panose="02040503050406030204" pitchFamily="18" charset="0"/>
                            <a:ea typeface="Cambria Math" panose="02040503050406030204" pitchFamily="18" charset="0"/>
                          </a:rPr>
                          <m:t>𝑖</m:t>
                        </m:r>
                      </m:sub>
                    </m:sSub>
                  </m:oMath>
                </a14:m>
                <a:endParaRPr lang="en-IN" sz="2000" dirty="0">
                  <a:latin typeface="Arial Narrow" panose="020B0606020202030204" pitchFamily="34" charset="0"/>
                </a:endParaRPr>
              </a:p>
            </p:txBody>
          </p:sp>
        </mc:Choice>
        <mc:Fallback>
          <p:sp>
            <p:nvSpPr>
              <p:cNvPr id="3" name="Content Placeholder 2">
                <a:extLst>
                  <a:ext uri="{FF2B5EF4-FFF2-40B4-BE49-F238E27FC236}">
                    <a16:creationId xmlns:a16="http://schemas.microsoft.com/office/drawing/2014/main" id="{6E4CE433-632F-469F-B40C-8C2CBD6A0193}"/>
                  </a:ext>
                </a:extLst>
              </p:cNvPr>
              <p:cNvSpPr>
                <a:spLocks noGrp="1" noRot="1" noChangeAspect="1" noMove="1" noResize="1" noEditPoints="1" noAdjustHandles="1" noChangeArrowheads="1" noChangeShapeType="1" noTextEdit="1"/>
              </p:cNvSpPr>
              <p:nvPr>
                <p:ph idx="1"/>
              </p:nvPr>
            </p:nvSpPr>
            <p:spPr>
              <a:xfrm>
                <a:off x="838199" y="1825625"/>
                <a:ext cx="10932459" cy="4351338"/>
              </a:xfrm>
              <a:blipFill>
                <a:blip r:embed="rId2"/>
                <a:stretch>
                  <a:fillRect l="-557" t="-1401" r="-557"/>
                </a:stretch>
              </a:blipFill>
            </p:spPr>
            <p:txBody>
              <a:bodyPr/>
              <a:lstStyle/>
              <a:p>
                <a:r>
                  <a:rPr lang="en-GB">
                    <a:noFill/>
                  </a:rPr>
                  <a:t> </a:t>
                </a:r>
              </a:p>
            </p:txBody>
          </p:sp>
        </mc:Fallback>
      </mc:AlternateContent>
    </p:spTree>
    <p:extLst>
      <p:ext uri="{BB962C8B-B14F-4D97-AF65-F5344CB8AC3E}">
        <p14:creationId xmlns:p14="http://schemas.microsoft.com/office/powerpoint/2010/main" val="2804838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279BD7-E1AA-4DB8-8411-CCE5B66B4206}"/>
              </a:ext>
            </a:extLst>
          </p:cNvPr>
          <p:cNvSpPr>
            <a:spLocks noGrp="1"/>
          </p:cNvSpPr>
          <p:nvPr>
            <p:ph idx="1"/>
          </p:nvPr>
        </p:nvSpPr>
        <p:spPr/>
        <p:txBody>
          <a:bodyPr>
            <a:normAutofit/>
          </a:bodyPr>
          <a:lstStyle/>
          <a:p>
            <a:pPr algn="just"/>
            <a:r>
              <a:rPr lang="en-US" sz="2000" dirty="0">
                <a:latin typeface="Arial Narrow" panose="020B0606020202030204" pitchFamily="34" charset="0"/>
              </a:rPr>
              <a:t>Once the </a:t>
            </a:r>
            <a:r>
              <a:rPr lang="en-US" sz="2000" dirty="0">
                <a:solidFill>
                  <a:srgbClr val="7030A0"/>
                </a:solidFill>
                <a:latin typeface="Arial Narrow" panose="020B0606020202030204" pitchFamily="34" charset="0"/>
              </a:rPr>
              <a:t>probability density </a:t>
            </a:r>
            <a:r>
              <a:rPr lang="en-US" sz="2000" dirty="0">
                <a:latin typeface="Arial Narrow" panose="020B0606020202030204" pitchFamily="34" charset="0"/>
              </a:rPr>
              <a:t>has been learned, the model can be used </a:t>
            </a:r>
            <a:r>
              <a:rPr lang="en-US" sz="2000" dirty="0">
                <a:solidFill>
                  <a:srgbClr val="7030A0"/>
                </a:solidFill>
                <a:latin typeface="Arial Narrow" panose="020B0606020202030204" pitchFamily="34" charset="0"/>
              </a:rPr>
              <a:t>not only to estimate the likelihood of new observations</a:t>
            </a:r>
            <a:r>
              <a:rPr lang="en-US" sz="2000" dirty="0">
                <a:latin typeface="Arial Narrow" panose="020B0606020202030204" pitchFamily="34" charset="0"/>
              </a:rPr>
              <a:t> but also, depending on the generative architecture, to </a:t>
            </a:r>
            <a:r>
              <a:rPr lang="en-US" sz="2000" dirty="0">
                <a:solidFill>
                  <a:srgbClr val="7030A0"/>
                </a:solidFill>
                <a:latin typeface="Arial Narrow" panose="020B0606020202030204" pitchFamily="34" charset="0"/>
              </a:rPr>
              <a:t>generate new samples that follow the learned distribution</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Density estimation is particularly useful when the </a:t>
            </a:r>
            <a:r>
              <a:rPr lang="en-US" sz="2000" dirty="0">
                <a:solidFill>
                  <a:srgbClr val="7030A0"/>
                </a:solidFill>
                <a:latin typeface="Arial Narrow" panose="020B0606020202030204" pitchFamily="34" charset="0"/>
              </a:rPr>
              <a:t>underlying data exhibit complex, multimodal, or nonlinear characteristics that cannot be adequately represented by simple parametric distributions</a:t>
            </a:r>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Generative models such as </a:t>
            </a:r>
            <a:r>
              <a:rPr lang="en-US" sz="2000" dirty="0">
                <a:solidFill>
                  <a:srgbClr val="7030A0"/>
                </a:solidFill>
                <a:latin typeface="Arial Narrow" panose="020B0606020202030204" pitchFamily="34" charset="0"/>
              </a:rPr>
              <a:t>Gaussian Mixture Models (GMMs), Variational Autoencoders (VAEs), Normalizing Flows, and autoregressive models</a:t>
            </a:r>
            <a:r>
              <a:rPr lang="en-US" sz="2000" dirty="0">
                <a:latin typeface="Arial Narrow" panose="020B0606020202030204" pitchFamily="34" charset="0"/>
              </a:rPr>
              <a:t> employ different strategies for estimating or representing the data distribution. </a:t>
            </a:r>
            <a:endParaRPr lang="en-IN" sz="2000" dirty="0">
              <a:latin typeface="Arial Narrow" panose="020B0606020202030204" pitchFamily="34" charset="0"/>
            </a:endParaRPr>
          </a:p>
        </p:txBody>
      </p:sp>
      <p:sp>
        <p:nvSpPr>
          <p:cNvPr id="4" name="Title 1">
            <a:extLst>
              <a:ext uri="{FF2B5EF4-FFF2-40B4-BE49-F238E27FC236}">
                <a16:creationId xmlns:a16="http://schemas.microsoft.com/office/drawing/2014/main" id="{7DD1F7DE-E364-48C6-8E3C-B7C968C8BCB9}"/>
              </a:ext>
            </a:extLst>
          </p:cNvPr>
          <p:cNvSpPr>
            <a:spLocks noGrp="1"/>
          </p:cNvSpPr>
          <p:nvPr>
            <p:ph type="title"/>
          </p:nvPr>
        </p:nvSpPr>
        <p:spPr>
          <a:xfrm>
            <a:off x="838200" y="365125"/>
            <a:ext cx="10515600" cy="1325563"/>
          </a:xfrm>
        </p:spPr>
        <p:txBody>
          <a:bodyPr>
            <a:normAutofit fontScale="90000"/>
          </a:bodyPr>
          <a:lstStyle/>
          <a:p>
            <a:br>
              <a:rPr lang="en-IN" b="1" dirty="0"/>
            </a:br>
            <a:r>
              <a:rPr lang="en-IN" sz="3600" dirty="0">
                <a:latin typeface="Century" panose="02040604050505020304" pitchFamily="18" charset="0"/>
              </a:rPr>
              <a:t>Density Estimation in Generative Modelling</a:t>
            </a:r>
            <a:br>
              <a:rPr lang="en-IN" b="1" dirty="0"/>
            </a:br>
            <a:endParaRPr lang="en-IN" dirty="0"/>
          </a:p>
        </p:txBody>
      </p:sp>
    </p:spTree>
    <p:extLst>
      <p:ext uri="{BB962C8B-B14F-4D97-AF65-F5344CB8AC3E}">
        <p14:creationId xmlns:p14="http://schemas.microsoft.com/office/powerpoint/2010/main" val="2518164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8C3EF-5D6D-4777-95AD-907ED47183E4}"/>
              </a:ext>
            </a:extLst>
          </p:cNvPr>
          <p:cNvSpPr>
            <a:spLocks noGrp="1"/>
          </p:cNvSpPr>
          <p:nvPr>
            <p:ph type="title"/>
          </p:nvPr>
        </p:nvSpPr>
        <p:spPr/>
        <p:txBody>
          <a:bodyPr>
            <a:normAutofit/>
          </a:bodyPr>
          <a:lstStyle/>
          <a:p>
            <a:r>
              <a:rPr lang="en-IN" sz="3600" dirty="0">
                <a:latin typeface="Century" panose="02040604050505020304" pitchFamily="18" charset="0"/>
              </a:rPr>
              <a:t>Explicit Density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4D5239-3FE8-4758-8C01-0B1B8713790D}"/>
                  </a:ext>
                </a:extLst>
              </p:cNvPr>
              <p:cNvSpPr>
                <a:spLocks noGrp="1"/>
              </p:cNvSpPr>
              <p:nvPr>
                <p:ph idx="1"/>
              </p:nvPr>
            </p:nvSpPr>
            <p:spPr/>
            <p:txBody>
              <a:bodyPr>
                <a:normAutofit fontScale="92500" lnSpcReduction="10000"/>
              </a:bodyPr>
              <a:lstStyle/>
              <a:p>
                <a:pPr algn="just"/>
                <a:r>
                  <a:rPr lang="en-US" sz="2000" dirty="0">
                    <a:latin typeface="Arial Narrow" panose="020B0606020202030204" pitchFamily="34" charset="0"/>
                  </a:rPr>
                  <a:t>Generative models use </a:t>
                </a:r>
                <a:r>
                  <a:rPr lang="en-US" sz="2000" dirty="0">
                    <a:solidFill>
                      <a:srgbClr val="7030A0"/>
                    </a:solidFill>
                    <a:latin typeface="Arial Narrow" panose="020B0606020202030204" pitchFamily="34" charset="0"/>
                  </a:rPr>
                  <a:t>density estimation in two fundamentally different ways: explicitly and implicitly</a:t>
                </a:r>
                <a:r>
                  <a:rPr lang="en-US" sz="2000" dirty="0">
                    <a:latin typeface="Arial Narrow" panose="020B0606020202030204" pitchFamily="34" charset="0"/>
                  </a:rPr>
                  <a:t>. The distinction is whether the model directly represents or evaluates the probability density </a:t>
                </a:r>
                <a14:m>
                  <m:oMath xmlns:m="http://schemas.openxmlformats.org/officeDocument/2006/math">
                    <m:r>
                      <a:rPr lang="en-US" sz="2000" i="1" dirty="0" smtClean="0">
                        <a:latin typeface="Cambria Math" panose="02040503050406030204" pitchFamily="18" charset="0"/>
                      </a:rPr>
                      <m:t>𝑝</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latin typeface="Arial Narrow" panose="020B0606020202030204" pitchFamily="34" charset="0"/>
                  </a:rPr>
                  <a:t>. </a:t>
                </a:r>
              </a:p>
              <a:p>
                <a:pPr algn="just"/>
                <a:endParaRPr lang="en-US" sz="2000" dirty="0">
                  <a:latin typeface="Arial Narrow" panose="020B0606020202030204" pitchFamily="34" charset="0"/>
                </a:endParaRPr>
              </a:p>
              <a:p>
                <a:pPr algn="just"/>
                <a:r>
                  <a:rPr lang="en-IN" sz="2000" dirty="0">
                    <a:solidFill>
                      <a:srgbClr val="7030A0"/>
                    </a:solidFill>
                    <a:latin typeface="Arial Narrow" panose="020B0606020202030204" pitchFamily="34" charset="0"/>
                  </a:rPr>
                  <a:t>Explicit density estimation</a:t>
                </a:r>
                <a:r>
                  <a:rPr lang="en-IN" sz="2000" dirty="0">
                    <a:latin typeface="Arial Narrow" panose="020B0606020202030204" pitchFamily="34" charset="0"/>
                  </a:rPr>
                  <a:t>: </a:t>
                </a:r>
                <a:r>
                  <a:rPr lang="en-US" sz="2000" dirty="0">
                    <a:latin typeface="Arial Narrow" panose="020B0606020202030204" pitchFamily="34" charset="0"/>
                  </a:rPr>
                  <a:t>In explicit generative models, the model directly defines a probability distribution </a:t>
                </a:r>
                <a14:m>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US" sz="2000" i="1" dirty="0">
                            <a:solidFill>
                              <a:srgbClr val="00B0F0"/>
                            </a:solidFill>
                            <a:latin typeface="Cambria Math" panose="02040503050406030204" pitchFamily="18" charset="0"/>
                            <a:ea typeface="Cambria Math" panose="02040503050406030204" pitchFamily="18" charset="0"/>
                          </a:rPr>
                          <m:t>𝜃</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oMath>
                </a14:m>
                <a:r>
                  <a:rPr lang="en-IN" sz="2000" dirty="0">
                    <a:latin typeface="Arial Narrow" panose="020B0606020202030204" pitchFamily="34" charset="0"/>
                  </a:rPr>
                  <a:t> </a:t>
                </a:r>
                <a:r>
                  <a:rPr lang="en-US" sz="2000" dirty="0">
                    <a:latin typeface="Arial Narrow" panose="020B0606020202030204" pitchFamily="34" charset="0"/>
                  </a:rPr>
                  <a:t>for the observed data. The training process attempts to make this learned distribution close to the true, unknown data distribution </a:t>
                </a:r>
                <a14:m>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IN" sz="2000" i="1" dirty="0">
                            <a:solidFill>
                              <a:srgbClr val="00B0F0"/>
                            </a:solidFill>
                            <a:latin typeface="Cambria Math" panose="02040503050406030204" pitchFamily="18" charset="0"/>
                          </a:rPr>
                          <m:t>𝑑𝑎𝑡𝑎</m:t>
                        </m:r>
                      </m:sub>
                    </m:sSub>
                    <m:r>
                      <a:rPr lang="en-IN" sz="2000" i="1" dirty="0">
                        <a:solidFill>
                          <a:srgbClr val="00B0F0"/>
                        </a:solidFill>
                        <a:latin typeface="Cambria Math" panose="02040503050406030204" pitchFamily="18" charset="0"/>
                      </a:rPr>
                      <m:t>(</m:t>
                    </m:r>
                    <m:r>
                      <a:rPr lang="en-IN" sz="2000" i="1" dirty="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oMath>
                </a14:m>
                <a:r>
                  <a:rPr lang="en-IN" sz="2000" dirty="0">
                    <a:latin typeface="Arial Narrow" panose="020B0606020202030204" pitchFamily="34" charset="0"/>
                  </a:rPr>
                  <a:t>.</a:t>
                </a:r>
              </a:p>
              <a:p>
                <a:endParaRPr lang="en-IN" sz="2000" dirty="0">
                  <a:latin typeface="Arial Narrow" panose="020B0606020202030204" pitchFamily="34" charset="0"/>
                </a:endParaRPr>
              </a:p>
              <a:p>
                <a:r>
                  <a:rPr lang="en-US" sz="2000" dirty="0">
                    <a:latin typeface="Arial Narrow" panose="020B0606020202030204" pitchFamily="34" charset="0"/>
                  </a:rPr>
                  <a:t>A common objective is maximum likelihood:</a:t>
                </a:r>
              </a:p>
              <a:p>
                <a:pPr marL="0" indent="0">
                  <a:buNone/>
                </a:pPr>
                <a:r>
                  <a:rPr lang="en-IN" sz="2000" dirty="0"/>
                  <a:t>                                                           </a:t>
                </a:r>
                <a:endParaRPr lang="en-IN" sz="2000" dirty="0">
                  <a:latin typeface="Arial Narrow" panose="020B0606020202030204" pitchFamily="34" charset="0"/>
                </a:endParaRPr>
              </a:p>
              <a:p>
                <a:pPr marL="0" indent="0">
                  <a:buNone/>
                </a:pPr>
                <a14:m>
                  <m:oMathPara xmlns:m="http://schemas.openxmlformats.org/officeDocument/2006/math">
                    <m:oMathParaPr>
                      <m:jc m:val="centerGroup"/>
                    </m:oMathParaPr>
                    <m:oMath xmlns:m="http://schemas.openxmlformats.org/officeDocument/2006/math">
                      <m:sSup>
                        <m:sSupPr>
                          <m:ctrlPr>
                            <a:rPr lang="en-IN" sz="2000" i="1">
                              <a:solidFill>
                                <a:srgbClr val="00B0F0"/>
                              </a:solidFill>
                              <a:latin typeface="Cambria Math" panose="02040503050406030204" pitchFamily="18" charset="0"/>
                            </a:rPr>
                          </m:ctrlPr>
                        </m:sSupPr>
                        <m:e>
                          <m:r>
                            <a:rPr lang="en-IN" sz="2000" i="1">
                              <a:solidFill>
                                <a:srgbClr val="00B0F0"/>
                              </a:solidFill>
                              <a:latin typeface="Cambria Math" panose="02040503050406030204" pitchFamily="18" charset="0"/>
                              <a:ea typeface="Cambria Math" panose="02040503050406030204" pitchFamily="18" charset="0"/>
                            </a:rPr>
                            <m:t>𝜃</m:t>
                          </m:r>
                        </m:e>
                        <m:sup>
                          <m:r>
                            <a:rPr lang="en-IN" sz="2000" i="1">
                              <a:solidFill>
                                <a:srgbClr val="00B0F0"/>
                              </a:solidFill>
                              <a:latin typeface="Cambria Math" panose="02040503050406030204" pitchFamily="18" charset="0"/>
                            </a:rPr>
                            <m:t>∗</m:t>
                          </m:r>
                        </m:sup>
                      </m:sSup>
                      <m:r>
                        <a:rPr lang="en-IN" sz="2000" i="1">
                          <a:solidFill>
                            <a:srgbClr val="00B0F0"/>
                          </a:solidFill>
                          <a:latin typeface="Cambria Math" panose="02040503050406030204" pitchFamily="18" charset="0"/>
                        </a:rPr>
                        <m:t>=</m:t>
                      </m:r>
                      <m:m>
                        <m:mPr>
                          <m:mcs>
                            <m:mc>
                              <m:mcPr>
                                <m:count m:val="1"/>
                                <m:mcJc m:val="center"/>
                              </m:mcPr>
                            </m:mc>
                          </m:mcs>
                          <m:ctrlPr>
                            <a:rPr lang="en-IN" sz="2000" i="1">
                              <a:solidFill>
                                <a:srgbClr val="00B0F0"/>
                              </a:solidFill>
                              <a:latin typeface="Cambria Math" panose="02040503050406030204" pitchFamily="18" charset="0"/>
                            </a:rPr>
                          </m:ctrlPr>
                        </m:mPr>
                        <m:mr>
                          <m:e>
                            <m:r>
                              <m:rPr>
                                <m:brk m:alnAt="7"/>
                              </m:rPr>
                              <a:rPr lang="en-IN" sz="2000" i="1">
                                <a:solidFill>
                                  <a:srgbClr val="00B0F0"/>
                                </a:solidFill>
                                <a:latin typeface="Cambria Math" panose="02040503050406030204" pitchFamily="18" charset="0"/>
                              </a:rPr>
                              <m:t>𝑎</m:t>
                            </m:r>
                            <m:r>
                              <a:rPr lang="en-IN" sz="2000" i="1">
                                <a:solidFill>
                                  <a:srgbClr val="00B0F0"/>
                                </a:solidFill>
                                <a:latin typeface="Cambria Math" panose="02040503050406030204" pitchFamily="18" charset="0"/>
                              </a:rPr>
                              <m:t>𝑟𝑔𝑚𝑎𝑥</m:t>
                            </m:r>
                          </m:e>
                        </m:mr>
                        <m:mr>
                          <m:e>
                            <m:r>
                              <a:rPr lang="en-IN" sz="2000" i="1">
                                <a:solidFill>
                                  <a:srgbClr val="00B0F0"/>
                                </a:solidFill>
                                <a:latin typeface="Cambria Math" panose="02040503050406030204" pitchFamily="18" charset="0"/>
                                <a:ea typeface="Cambria Math" panose="02040503050406030204" pitchFamily="18" charset="0"/>
                              </a:rPr>
                              <m:t>𝜃</m:t>
                            </m:r>
                          </m:e>
                        </m:mr>
                      </m:m>
                      <m:nary>
                        <m:naryPr>
                          <m:chr m:val="∏"/>
                          <m:ctrlPr>
                            <a:rPr lang="en-IN" sz="2000" i="1">
                              <a:solidFill>
                                <a:srgbClr val="00B0F0"/>
                              </a:solidFill>
                              <a:latin typeface="Cambria Math" panose="02040503050406030204" pitchFamily="18" charset="0"/>
                              <a:ea typeface="Cambria Math" panose="02040503050406030204" pitchFamily="18" charset="0"/>
                            </a:rPr>
                          </m:ctrlPr>
                        </m:naryPr>
                        <m:sub>
                          <m:r>
                            <m:rPr>
                              <m:brk m:alnAt="23"/>
                            </m:rPr>
                            <a:rPr lang="en-IN" sz="2000" i="1">
                              <a:solidFill>
                                <a:srgbClr val="00B0F0"/>
                              </a:solidFill>
                              <a:latin typeface="Cambria Math" panose="02040503050406030204" pitchFamily="18" charset="0"/>
                              <a:ea typeface="Cambria Math" panose="02040503050406030204" pitchFamily="18" charset="0"/>
                            </a:rPr>
                            <m:t>𝑖</m:t>
                          </m:r>
                          <m:r>
                            <a:rPr lang="en-IN" sz="2000" i="1">
                              <a:solidFill>
                                <a:srgbClr val="00B0F0"/>
                              </a:solidFill>
                              <a:latin typeface="Cambria Math" panose="02040503050406030204" pitchFamily="18" charset="0"/>
                              <a:ea typeface="Cambria Math" panose="02040503050406030204" pitchFamily="18" charset="0"/>
                            </a:rPr>
                            <m:t>=1</m:t>
                          </m:r>
                        </m:sub>
                        <m:sup>
                          <m:r>
                            <a:rPr lang="en-IN" sz="2000" i="1">
                              <a:solidFill>
                                <a:srgbClr val="00B0F0"/>
                              </a:solidFill>
                              <a:latin typeface="Cambria Math" panose="02040503050406030204" pitchFamily="18" charset="0"/>
                              <a:ea typeface="Cambria Math" panose="02040503050406030204" pitchFamily="18" charset="0"/>
                            </a:rPr>
                            <m:t>𝑁</m:t>
                          </m:r>
                        </m:sup>
                        <m:e>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r>
                            <a:rPr lang="en-IN" sz="2000">
                              <a:solidFill>
                                <a:srgbClr val="00B0F0"/>
                              </a:solidFill>
                              <a:latin typeface="Cambria Math" panose="02040503050406030204" pitchFamily="18" charset="0"/>
                              <a:ea typeface="Cambria Math" panose="02040503050406030204" pitchFamily="18" charset="0"/>
                            </a:rPr>
                            <m:t>(</m:t>
                          </m:r>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𝑥</m:t>
                              </m:r>
                            </m:e>
                            <m:sub>
                              <m:r>
                                <a:rPr lang="en-IN" sz="2000" i="1">
                                  <a:solidFill>
                                    <a:srgbClr val="00B0F0"/>
                                  </a:solidFill>
                                  <a:latin typeface="Cambria Math" panose="02040503050406030204" pitchFamily="18" charset="0"/>
                                  <a:ea typeface="Cambria Math" panose="02040503050406030204" pitchFamily="18" charset="0"/>
                                </a:rPr>
                                <m:t>𝑖</m:t>
                              </m:r>
                            </m:sub>
                          </m:sSub>
                          <m:r>
                            <a:rPr lang="en-IN" sz="2000">
                              <a:solidFill>
                                <a:srgbClr val="00B0F0"/>
                              </a:solidFill>
                              <a:latin typeface="Cambria Math" panose="02040503050406030204" pitchFamily="18" charset="0"/>
                              <a:ea typeface="Cambria Math" panose="02040503050406030204" pitchFamily="18" charset="0"/>
                            </a:rPr>
                            <m:t>)</m:t>
                          </m:r>
                        </m:e>
                      </m:nary>
                    </m:oMath>
                  </m:oMathPara>
                </a14:m>
                <a:endParaRPr lang="en-IN" sz="2000" dirty="0">
                  <a:latin typeface="Arial Narrow" panose="020B0606020202030204" pitchFamily="34" charset="0"/>
                </a:endParaRPr>
              </a:p>
              <a:p>
                <a:pPr marL="0" indent="0">
                  <a:buNone/>
                </a:pPr>
                <a:endParaRPr lang="en-IN" sz="2000" dirty="0">
                  <a:latin typeface="Arial Narrow" panose="020B0606020202030204" pitchFamily="34" charset="0"/>
                </a:endParaRPr>
              </a:p>
              <a:p>
                <a:r>
                  <a:rPr lang="en-US" sz="2000" dirty="0">
                    <a:latin typeface="Arial Narrow" panose="020B0606020202030204" pitchFamily="34" charset="0"/>
                  </a:rPr>
                  <a:t>Here, the model explicitly estimates the likelihood or probability density of each training sample.</a:t>
                </a:r>
                <a:endParaRPr lang="en-IN" sz="2000" dirty="0">
                  <a:latin typeface="Arial Narrow" panose="020B0606020202030204" pitchFamily="34" charset="0"/>
                </a:endParaRPr>
              </a:p>
              <a:p>
                <a:pPr marL="0" indent="0">
                  <a:buNone/>
                </a:pPr>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E94D5239-3FE8-4758-8C01-0B1B8713790D}"/>
                  </a:ext>
                </a:extLst>
              </p:cNvPr>
              <p:cNvSpPr>
                <a:spLocks noGrp="1" noRot="1" noChangeAspect="1" noMove="1" noResize="1" noEditPoints="1" noAdjustHandles="1" noChangeArrowheads="1" noChangeShapeType="1" noTextEdit="1"/>
              </p:cNvSpPr>
              <p:nvPr>
                <p:ph idx="1"/>
              </p:nvPr>
            </p:nvSpPr>
            <p:spPr>
              <a:blipFill>
                <a:blip r:embed="rId2"/>
                <a:stretch>
                  <a:fillRect l="-464" t="-2101" r="-522" b="-280"/>
                </a:stretch>
              </a:blipFill>
            </p:spPr>
            <p:txBody>
              <a:bodyPr/>
              <a:lstStyle/>
              <a:p>
                <a:r>
                  <a:rPr lang="en-IN">
                    <a:noFill/>
                  </a:rPr>
                  <a:t> </a:t>
                </a:r>
              </a:p>
            </p:txBody>
          </p:sp>
        </mc:Fallback>
      </mc:AlternateContent>
    </p:spTree>
    <p:extLst>
      <p:ext uri="{BB962C8B-B14F-4D97-AF65-F5344CB8AC3E}">
        <p14:creationId xmlns:p14="http://schemas.microsoft.com/office/powerpoint/2010/main" val="905624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15C165-9486-48D8-AB15-CA7356C0B012}"/>
              </a:ext>
            </a:extLst>
          </p:cNvPr>
          <p:cNvSpPr>
            <a:spLocks noGrp="1"/>
          </p:cNvSpPr>
          <p:nvPr>
            <p:ph type="title"/>
          </p:nvPr>
        </p:nvSpPr>
        <p:spPr/>
        <p:txBody>
          <a:bodyPr>
            <a:normAutofit/>
          </a:bodyPr>
          <a:lstStyle/>
          <a:p>
            <a:r>
              <a:rPr lang="en-US" sz="3600" dirty="0">
                <a:latin typeface="Century" panose="02040604050505020304" pitchFamily="18" charset="0"/>
              </a:rPr>
              <a:t>Explicit Density Models</a:t>
            </a:r>
            <a:endParaRPr lang="en-IN" sz="3600" dirty="0">
              <a:latin typeface="Century" panose="020406040505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4698CA0-FF6D-47BB-9B67-AF7DB5869D8F}"/>
                  </a:ext>
                </a:extLst>
              </p:cNvPr>
              <p:cNvSpPr>
                <a:spLocks noGrp="1"/>
              </p:cNvSpPr>
              <p:nvPr>
                <p:ph idx="1"/>
              </p:nvPr>
            </p:nvSpPr>
            <p:spPr/>
            <p:txBody>
              <a:bodyPr/>
              <a:lstStyle/>
              <a:p>
                <a:r>
                  <a:rPr lang="en-US" sz="2200" dirty="0">
                    <a:latin typeface="Arial Narrow" panose="020B0606020202030204" pitchFamily="34" charset="0"/>
                    <a:cs typeface="Times New Roman" panose="02020603050405020304" pitchFamily="18" charset="0"/>
                  </a:rPr>
                  <a:t>In </a:t>
                </a:r>
                <a:r>
                  <a:rPr lang="en-US" sz="2200" dirty="0">
                    <a:solidFill>
                      <a:srgbClr val="7030A0"/>
                    </a:solidFill>
                    <a:latin typeface="Arial Narrow" panose="020B0606020202030204" pitchFamily="34" charset="0"/>
                    <a:cs typeface="Times New Roman" panose="02020603050405020304" pitchFamily="18" charset="0"/>
                  </a:rPr>
                  <a:t>explicit density models</a:t>
                </a:r>
                <a:r>
                  <a:rPr lang="en-US" sz="2200" dirty="0">
                    <a:solidFill>
                      <a:srgbClr val="00B0F0"/>
                    </a:solidFill>
                    <a:latin typeface="Arial Narrow" panose="020B0606020202030204" pitchFamily="34" charset="0"/>
                    <a:cs typeface="Times New Roman" panose="02020603050405020304" pitchFamily="18" charset="0"/>
                  </a:rPr>
                  <a:t>,</a:t>
                </a:r>
                <a:r>
                  <a:rPr lang="en-US" sz="2200" dirty="0">
                    <a:latin typeface="Arial Narrow" panose="020B0606020202030204" pitchFamily="34" charset="0"/>
                    <a:cs typeface="Times New Roman" panose="02020603050405020304" pitchFamily="18" charset="0"/>
                  </a:rPr>
                  <a:t> we directly specify and learn a probability density function </a:t>
                </a:r>
                <a14:m>
                  <m:oMath xmlns:m="http://schemas.openxmlformats.org/officeDocument/2006/math">
                    <m:sSub>
                      <m:sSubPr>
                        <m:ctrlPr>
                          <a:rPr lang="en-US" sz="2200" i="1" dirty="0" smtClean="0">
                            <a:latin typeface="Cambria Math" panose="02040503050406030204" pitchFamily="18" charset="0"/>
                          </a:rPr>
                        </m:ctrlPr>
                      </m:sSubPr>
                      <m:e>
                        <m:r>
                          <a:rPr lang="en-IN" sz="2200" b="0" i="1" dirty="0" smtClean="0">
                            <a:latin typeface="Cambria Math" panose="02040503050406030204" pitchFamily="18" charset="0"/>
                          </a:rPr>
                          <m:t>𝑝</m:t>
                        </m:r>
                      </m:e>
                      <m:sub>
                        <m:r>
                          <a:rPr lang="en-US" sz="2200" i="1" dirty="0" smtClean="0">
                            <a:latin typeface="Cambria Math" panose="02040503050406030204" pitchFamily="18" charset="0"/>
                            <a:ea typeface="Cambria Math" panose="02040503050406030204" pitchFamily="18" charset="0"/>
                          </a:rPr>
                          <m:t>𝜃</m:t>
                        </m:r>
                      </m:sub>
                    </m:sSub>
                    <m:r>
                      <a:rPr lang="en-IN" sz="2200" b="0" i="1" dirty="0" smtClean="0">
                        <a:latin typeface="Cambria Math" panose="02040503050406030204" pitchFamily="18" charset="0"/>
                      </a:rPr>
                      <m:t>(</m:t>
                    </m:r>
                    <m:r>
                      <a:rPr lang="en-IN" sz="2200" b="0" i="1" dirty="0" smtClean="0">
                        <a:latin typeface="Cambria Math" panose="02040503050406030204" pitchFamily="18" charset="0"/>
                      </a:rPr>
                      <m:t>𝑥</m:t>
                    </m:r>
                    <m:r>
                      <a:rPr lang="en-IN" sz="2200" b="0" i="1" dirty="0" smtClean="0">
                        <a:latin typeface="Cambria Math" panose="02040503050406030204" pitchFamily="18" charset="0"/>
                      </a:rPr>
                      <m:t>)</m:t>
                    </m:r>
                  </m:oMath>
                </a14:m>
                <a:r>
                  <a:rPr lang="en-US" sz="2200" dirty="0">
                    <a:latin typeface="Arial Narrow" panose="020B0606020202030204" pitchFamily="34" charset="0"/>
                    <a:cs typeface="Times New Roman" panose="02020603050405020304" pitchFamily="18" charset="0"/>
                  </a:rPr>
                  <a:t> and can </a:t>
                </a:r>
                <a:r>
                  <a:rPr lang="en-US" sz="2200" dirty="0">
                    <a:solidFill>
                      <a:srgbClr val="7030A0"/>
                    </a:solidFill>
                    <a:latin typeface="Arial Narrow" panose="020B0606020202030204" pitchFamily="34" charset="0"/>
                    <a:cs typeface="Times New Roman" panose="02020603050405020304" pitchFamily="18" charset="0"/>
                  </a:rPr>
                  <a:t>evaluate the likelihood</a:t>
                </a:r>
                <a14:m>
                  <m:oMath xmlns:m="http://schemas.openxmlformats.org/officeDocument/2006/math">
                    <m:r>
                      <a:rPr lang="en-US" sz="2200" b="0" i="1" dirty="0" smtClean="0">
                        <a:solidFill>
                          <a:srgbClr val="7030A0"/>
                        </a:solidFill>
                        <a:latin typeface="Cambria Math" panose="02040503050406030204" pitchFamily="18" charset="0"/>
                      </a:rPr>
                      <m:t> </m:t>
                    </m:r>
                    <m:sSub>
                      <m:sSubPr>
                        <m:ctrlPr>
                          <a:rPr lang="en-US" sz="2200" i="1" dirty="0" smtClean="0">
                            <a:latin typeface="Cambria Math" panose="02040503050406030204" pitchFamily="18" charset="0"/>
                          </a:rPr>
                        </m:ctrlPr>
                      </m:sSubPr>
                      <m:e>
                        <m:r>
                          <a:rPr lang="en-IN" sz="2200" b="0" i="1" dirty="0" smtClean="0">
                            <a:latin typeface="Cambria Math" panose="02040503050406030204" pitchFamily="18" charset="0"/>
                          </a:rPr>
                          <m:t>𝑝</m:t>
                        </m:r>
                      </m:e>
                      <m:sub>
                        <m:r>
                          <a:rPr lang="en-US" sz="2200" i="1" dirty="0" smtClean="0">
                            <a:latin typeface="Cambria Math" panose="02040503050406030204" pitchFamily="18" charset="0"/>
                            <a:ea typeface="Cambria Math" panose="02040503050406030204" pitchFamily="18" charset="0"/>
                          </a:rPr>
                          <m:t>𝜃</m:t>
                        </m:r>
                      </m:sub>
                    </m:sSub>
                    <m:r>
                      <a:rPr lang="en-IN" sz="2200" b="0" i="1" dirty="0" smtClean="0">
                        <a:latin typeface="Cambria Math" panose="02040503050406030204" pitchFamily="18" charset="0"/>
                      </a:rPr>
                      <m:t>(</m:t>
                    </m:r>
                    <m:r>
                      <a:rPr lang="en-IN" sz="2200" b="0" i="1" dirty="0" smtClean="0">
                        <a:latin typeface="Cambria Math" panose="02040503050406030204" pitchFamily="18" charset="0"/>
                      </a:rPr>
                      <m:t>𝑥</m:t>
                    </m:r>
                    <m:r>
                      <a:rPr lang="en-IN" sz="2200" b="0" i="1" dirty="0" smtClean="0">
                        <a:latin typeface="Cambria Math" panose="02040503050406030204" pitchFamily="18" charset="0"/>
                      </a:rPr>
                      <m:t>)</m:t>
                    </m:r>
                  </m:oMath>
                </a14:m>
                <a:r>
                  <a:rPr lang="en-US" sz="2200" dirty="0">
                    <a:latin typeface="Arial Narrow" panose="020B0606020202030204" pitchFamily="34" charset="0"/>
                    <a:cs typeface="Times New Roman" panose="02020603050405020304" pitchFamily="18" charset="0"/>
                  </a:rPr>
                  <a:t> (exactly or approximately).</a:t>
                </a:r>
              </a:p>
              <a:p>
                <a:endParaRPr lang="en-US" sz="2200" dirty="0">
                  <a:latin typeface="Arial Narrow" panose="020B0606020202030204" pitchFamily="34" charset="0"/>
                  <a:cs typeface="Times New Roman" panose="02020603050405020304" pitchFamily="18" charset="0"/>
                </a:endParaRPr>
              </a:p>
              <a:p>
                <a:r>
                  <a:rPr lang="en-US" sz="2200" dirty="0">
                    <a:latin typeface="Arial Narrow" panose="020B0606020202030204" pitchFamily="34" charset="0"/>
                    <a:cs typeface="Times New Roman" panose="02020603050405020304" pitchFamily="18" charset="0"/>
                  </a:rPr>
                  <a:t>Statistically, these models perform </a:t>
                </a:r>
                <a:r>
                  <a:rPr lang="en-US" sz="2200" dirty="0">
                    <a:solidFill>
                      <a:srgbClr val="7030A0"/>
                    </a:solidFill>
                    <a:latin typeface="Arial Narrow" panose="020B0606020202030204" pitchFamily="34" charset="0"/>
                    <a:cs typeface="Times New Roman" panose="02020603050405020304" pitchFamily="18" charset="0"/>
                  </a:rPr>
                  <a:t>density estimation </a:t>
                </a:r>
                <a:r>
                  <a:rPr lang="en-US" sz="2200" dirty="0">
                    <a:latin typeface="Arial Narrow" panose="020B0606020202030204" pitchFamily="34" charset="0"/>
                    <a:cs typeface="Times New Roman" panose="02020603050405020304" pitchFamily="18" charset="0"/>
                  </a:rPr>
                  <a:t>by optimizing</a:t>
                </a:r>
              </a:p>
              <a:p>
                <a:endParaRPr lang="en-US" sz="2200" dirty="0">
                  <a:latin typeface="Arial Narrow" panose="020B0606020202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IN" sz="2000" i="1" smtClean="0">
                              <a:solidFill>
                                <a:srgbClr val="00B0F0"/>
                              </a:solidFill>
                              <a:latin typeface="Cambria Math" panose="02040503050406030204" pitchFamily="18" charset="0"/>
                            </a:rPr>
                          </m:ctrlPr>
                        </m:sSupPr>
                        <m:e>
                          <m:r>
                            <a:rPr lang="en-IN" sz="2000" i="1">
                              <a:solidFill>
                                <a:srgbClr val="00B0F0"/>
                              </a:solidFill>
                              <a:latin typeface="Cambria Math" panose="02040503050406030204" pitchFamily="18" charset="0"/>
                              <a:ea typeface="Cambria Math" panose="02040503050406030204" pitchFamily="18" charset="0"/>
                            </a:rPr>
                            <m:t>𝜃</m:t>
                          </m:r>
                        </m:e>
                        <m:sup>
                          <m:r>
                            <a:rPr lang="en-IN" sz="2000" i="1">
                              <a:solidFill>
                                <a:srgbClr val="00B0F0"/>
                              </a:solidFill>
                              <a:latin typeface="Cambria Math" panose="02040503050406030204" pitchFamily="18" charset="0"/>
                            </a:rPr>
                            <m:t>∗</m:t>
                          </m:r>
                        </m:sup>
                      </m:sSup>
                      <m:r>
                        <a:rPr lang="en-IN" sz="2000" i="1">
                          <a:solidFill>
                            <a:srgbClr val="00B0F0"/>
                          </a:solidFill>
                          <a:latin typeface="Cambria Math" panose="02040503050406030204" pitchFamily="18" charset="0"/>
                        </a:rPr>
                        <m:t>=</m:t>
                      </m:r>
                      <m:m>
                        <m:mPr>
                          <m:mcs>
                            <m:mc>
                              <m:mcPr>
                                <m:count m:val="1"/>
                                <m:mcJc m:val="center"/>
                              </m:mcPr>
                            </m:mc>
                          </m:mcs>
                          <m:ctrlPr>
                            <a:rPr lang="en-IN" sz="2000" i="1">
                              <a:solidFill>
                                <a:srgbClr val="00B0F0"/>
                              </a:solidFill>
                              <a:latin typeface="Cambria Math" panose="02040503050406030204" pitchFamily="18" charset="0"/>
                            </a:rPr>
                          </m:ctrlPr>
                        </m:mPr>
                        <m:mr>
                          <m:e>
                            <m:r>
                              <m:rPr>
                                <m:brk m:alnAt="7"/>
                              </m:rPr>
                              <a:rPr lang="en-IN" sz="2000" i="1">
                                <a:solidFill>
                                  <a:srgbClr val="00B0F0"/>
                                </a:solidFill>
                                <a:latin typeface="Cambria Math" panose="02040503050406030204" pitchFamily="18" charset="0"/>
                              </a:rPr>
                              <m:t>𝑎</m:t>
                            </m:r>
                            <m:r>
                              <a:rPr lang="en-IN" sz="2000" i="1">
                                <a:solidFill>
                                  <a:srgbClr val="00B0F0"/>
                                </a:solidFill>
                                <a:latin typeface="Cambria Math" panose="02040503050406030204" pitchFamily="18" charset="0"/>
                              </a:rPr>
                              <m:t>𝑟𝑔𝑚𝑎𝑥</m:t>
                            </m:r>
                          </m:e>
                        </m:mr>
                        <m:mr>
                          <m:e>
                            <m:r>
                              <a:rPr lang="en-IN" sz="2000" i="1">
                                <a:solidFill>
                                  <a:srgbClr val="00B0F0"/>
                                </a:solidFill>
                                <a:latin typeface="Cambria Math" panose="02040503050406030204" pitchFamily="18" charset="0"/>
                                <a:ea typeface="Cambria Math" panose="02040503050406030204" pitchFamily="18" charset="0"/>
                              </a:rPr>
                              <m:t>𝜃</m:t>
                            </m:r>
                          </m:e>
                        </m:mr>
                      </m:m>
                      <m:nary>
                        <m:naryPr>
                          <m:chr m:val="∏"/>
                          <m:ctrlPr>
                            <a:rPr lang="en-IN" sz="2000" i="1">
                              <a:solidFill>
                                <a:srgbClr val="00B0F0"/>
                              </a:solidFill>
                              <a:latin typeface="Cambria Math" panose="02040503050406030204" pitchFamily="18" charset="0"/>
                              <a:ea typeface="Cambria Math" panose="02040503050406030204" pitchFamily="18" charset="0"/>
                            </a:rPr>
                          </m:ctrlPr>
                        </m:naryPr>
                        <m:sub>
                          <m:r>
                            <m:rPr>
                              <m:brk m:alnAt="23"/>
                            </m:rPr>
                            <a:rPr lang="en-IN" sz="2000" i="1">
                              <a:solidFill>
                                <a:srgbClr val="00B0F0"/>
                              </a:solidFill>
                              <a:latin typeface="Cambria Math" panose="02040503050406030204" pitchFamily="18" charset="0"/>
                              <a:ea typeface="Cambria Math" panose="02040503050406030204" pitchFamily="18" charset="0"/>
                            </a:rPr>
                            <m:t>𝑖</m:t>
                          </m:r>
                          <m:r>
                            <a:rPr lang="en-IN" sz="2000" i="1">
                              <a:solidFill>
                                <a:srgbClr val="00B0F0"/>
                              </a:solidFill>
                              <a:latin typeface="Cambria Math" panose="02040503050406030204" pitchFamily="18" charset="0"/>
                              <a:ea typeface="Cambria Math" panose="02040503050406030204" pitchFamily="18" charset="0"/>
                            </a:rPr>
                            <m:t>=1</m:t>
                          </m:r>
                        </m:sub>
                        <m:sup>
                          <m:r>
                            <a:rPr lang="en-IN" sz="2000" i="1">
                              <a:solidFill>
                                <a:srgbClr val="00B0F0"/>
                              </a:solidFill>
                              <a:latin typeface="Cambria Math" panose="02040503050406030204" pitchFamily="18" charset="0"/>
                              <a:ea typeface="Cambria Math" panose="02040503050406030204" pitchFamily="18" charset="0"/>
                            </a:rPr>
                            <m:t>𝑁</m:t>
                          </m:r>
                        </m:sup>
                        <m:e>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𝑝</m:t>
                              </m:r>
                            </m:e>
                            <m:sub>
                              <m:r>
                                <a:rPr lang="en-US" sz="2000" i="1">
                                  <a:solidFill>
                                    <a:srgbClr val="00B0F0"/>
                                  </a:solidFill>
                                  <a:latin typeface="Cambria Math" panose="02040503050406030204" pitchFamily="18" charset="0"/>
                                  <a:ea typeface="Cambria Math" panose="02040503050406030204" pitchFamily="18" charset="0"/>
                                </a:rPr>
                                <m:t>𝜃</m:t>
                              </m:r>
                            </m:sub>
                          </m:sSub>
                          <m:r>
                            <a:rPr lang="en-IN" sz="2000">
                              <a:solidFill>
                                <a:srgbClr val="00B0F0"/>
                              </a:solidFill>
                              <a:latin typeface="Cambria Math" panose="02040503050406030204" pitchFamily="18" charset="0"/>
                              <a:ea typeface="Cambria Math" panose="02040503050406030204" pitchFamily="18" charset="0"/>
                            </a:rPr>
                            <m:t>(</m:t>
                          </m:r>
                          <m:sSub>
                            <m:sSubPr>
                              <m:ctrlPr>
                                <a:rPr lang="en-IN" sz="2000" i="1">
                                  <a:solidFill>
                                    <a:srgbClr val="00B0F0"/>
                                  </a:solidFill>
                                  <a:latin typeface="Cambria Math" panose="02040503050406030204" pitchFamily="18" charset="0"/>
                                  <a:ea typeface="Cambria Math" panose="02040503050406030204" pitchFamily="18" charset="0"/>
                                </a:rPr>
                              </m:ctrlPr>
                            </m:sSubPr>
                            <m:e>
                              <m:r>
                                <a:rPr lang="en-IN" sz="2000" i="1">
                                  <a:solidFill>
                                    <a:srgbClr val="00B0F0"/>
                                  </a:solidFill>
                                  <a:latin typeface="Cambria Math" panose="02040503050406030204" pitchFamily="18" charset="0"/>
                                  <a:ea typeface="Cambria Math" panose="02040503050406030204" pitchFamily="18" charset="0"/>
                                </a:rPr>
                                <m:t>𝑥</m:t>
                              </m:r>
                            </m:e>
                            <m:sub>
                              <m:r>
                                <a:rPr lang="en-IN" sz="2000" i="1">
                                  <a:solidFill>
                                    <a:srgbClr val="00B0F0"/>
                                  </a:solidFill>
                                  <a:latin typeface="Cambria Math" panose="02040503050406030204" pitchFamily="18" charset="0"/>
                                  <a:ea typeface="Cambria Math" panose="02040503050406030204" pitchFamily="18" charset="0"/>
                                </a:rPr>
                                <m:t>𝑖</m:t>
                              </m:r>
                            </m:sub>
                          </m:sSub>
                          <m:r>
                            <a:rPr lang="en-IN" sz="2000">
                              <a:solidFill>
                                <a:srgbClr val="00B0F0"/>
                              </a:solidFill>
                              <a:latin typeface="Cambria Math" panose="02040503050406030204" pitchFamily="18" charset="0"/>
                              <a:ea typeface="Cambria Math" panose="02040503050406030204" pitchFamily="18" charset="0"/>
                            </a:rPr>
                            <m:t>)</m:t>
                          </m:r>
                        </m:e>
                      </m:nary>
                      <m:r>
                        <a:rPr lang="en-IN" sz="2000" b="0" i="1" smtClean="0">
                          <a:solidFill>
                            <a:srgbClr val="00B0F0"/>
                          </a:solidFill>
                          <a:latin typeface="Cambria Math" panose="02040503050406030204" pitchFamily="18" charset="0"/>
                          <a:ea typeface="Cambria Math" panose="02040503050406030204" pitchFamily="18" charset="0"/>
                        </a:rPr>
                        <m:t>=</m:t>
                      </m:r>
                      <m:m>
                        <m:mPr>
                          <m:mcs>
                            <m:mc>
                              <m:mcPr>
                                <m:count m:val="1"/>
                                <m:mcJc m:val="center"/>
                              </m:mcPr>
                            </m:mc>
                          </m:mcs>
                          <m:ctrlPr>
                            <a:rPr lang="en-US" sz="2000" i="1" smtClean="0">
                              <a:solidFill>
                                <a:srgbClr val="00B0F0"/>
                              </a:solidFill>
                              <a:latin typeface="Cambria Math" panose="02040503050406030204" pitchFamily="18" charset="0"/>
                              <a:cs typeface="Times New Roman" panose="02020603050405020304" pitchFamily="18" charset="0"/>
                            </a:rPr>
                          </m:ctrlPr>
                        </m:mPr>
                        <m:mr>
                          <m:e>
                            <m:r>
                              <m:rPr>
                                <m:brk m:alnAt="7"/>
                              </m:rPr>
                              <a:rPr lang="en-IN" sz="2000" b="0" i="1" smtClean="0">
                                <a:solidFill>
                                  <a:srgbClr val="00B0F0"/>
                                </a:solidFill>
                                <a:latin typeface="Cambria Math" panose="02040503050406030204" pitchFamily="18" charset="0"/>
                                <a:cs typeface="Times New Roman" panose="02020603050405020304" pitchFamily="18" charset="0"/>
                              </a:rPr>
                              <m:t>𝑎</m:t>
                            </m:r>
                            <m:r>
                              <a:rPr lang="en-IN" sz="2000" b="0" i="1" smtClean="0">
                                <a:solidFill>
                                  <a:srgbClr val="00B0F0"/>
                                </a:solidFill>
                                <a:latin typeface="Cambria Math" panose="02040503050406030204" pitchFamily="18" charset="0"/>
                                <a:cs typeface="Times New Roman" panose="02020603050405020304" pitchFamily="18" charset="0"/>
                              </a:rPr>
                              <m:t>𝑟𝑔𝑚𝑎𝑥</m:t>
                            </m:r>
                          </m:e>
                        </m:mr>
                        <m:mr>
                          <m:e>
                            <m:r>
                              <a:rPr lang="en-US" sz="2000" i="1" dirty="0" smtClean="0">
                                <a:solidFill>
                                  <a:srgbClr val="00B0F0"/>
                                </a:solidFill>
                                <a:latin typeface="Cambria Math" panose="02040503050406030204" pitchFamily="18" charset="0"/>
                                <a:ea typeface="Cambria Math" panose="02040503050406030204" pitchFamily="18" charset="0"/>
                              </a:rPr>
                              <m:t>𝜃</m:t>
                            </m:r>
                          </m:e>
                        </m:mr>
                      </m:m>
                      <m:nary>
                        <m:naryPr>
                          <m:chr m:val="∑"/>
                          <m:ctrlPr>
                            <a:rPr lang="en-US" sz="2000" i="1" smtClean="0">
                              <a:solidFill>
                                <a:srgbClr val="00B0F0"/>
                              </a:solidFill>
                              <a:latin typeface="Cambria Math" panose="02040503050406030204" pitchFamily="18" charset="0"/>
                              <a:cs typeface="Times New Roman" panose="02020603050405020304" pitchFamily="18" charset="0"/>
                            </a:rPr>
                          </m:ctrlPr>
                        </m:naryPr>
                        <m:sub>
                          <m:r>
                            <m:rPr>
                              <m:brk m:alnAt="23"/>
                            </m:rPr>
                            <a:rPr lang="en-IN" sz="2000" b="0" i="1" smtClean="0">
                              <a:solidFill>
                                <a:srgbClr val="00B0F0"/>
                              </a:solidFill>
                              <a:latin typeface="Cambria Math" panose="02040503050406030204" pitchFamily="18" charset="0"/>
                              <a:cs typeface="Times New Roman" panose="02020603050405020304" pitchFamily="18" charset="0"/>
                            </a:rPr>
                            <m:t>𝑖</m:t>
                          </m:r>
                          <m:r>
                            <a:rPr lang="en-IN" sz="2000" b="0" i="1" smtClean="0">
                              <a:solidFill>
                                <a:srgbClr val="00B0F0"/>
                              </a:solidFill>
                              <a:latin typeface="Cambria Math" panose="02040503050406030204" pitchFamily="18" charset="0"/>
                              <a:cs typeface="Times New Roman" panose="02020603050405020304" pitchFamily="18" charset="0"/>
                            </a:rPr>
                            <m:t>=1</m:t>
                          </m:r>
                        </m:sub>
                        <m:sup>
                          <m:r>
                            <a:rPr lang="en-IN" sz="2000" b="0" i="1" smtClean="0">
                              <a:solidFill>
                                <a:srgbClr val="00B0F0"/>
                              </a:solidFill>
                              <a:latin typeface="Cambria Math" panose="02040503050406030204" pitchFamily="18" charset="0"/>
                              <a:cs typeface="Times New Roman" panose="02020603050405020304" pitchFamily="18" charset="0"/>
                            </a:rPr>
                            <m:t>𝑁</m:t>
                          </m:r>
                        </m:sup>
                        <m:e>
                          <m:func>
                            <m:funcPr>
                              <m:ctrlPr>
                                <a:rPr lang="en-IN" sz="2000" b="0" i="1" smtClean="0">
                                  <a:solidFill>
                                    <a:srgbClr val="00B0F0"/>
                                  </a:solidFill>
                                  <a:latin typeface="Cambria Math" panose="02040503050406030204" pitchFamily="18" charset="0"/>
                                  <a:cs typeface="Times New Roman" panose="02020603050405020304" pitchFamily="18" charset="0"/>
                                </a:rPr>
                              </m:ctrlPr>
                            </m:funcPr>
                            <m:fName>
                              <m:r>
                                <m:rPr>
                                  <m:sty m:val="p"/>
                                </m:rPr>
                                <a:rPr lang="en-IN" sz="2000" b="0" i="0" smtClean="0">
                                  <a:solidFill>
                                    <a:srgbClr val="00B0F0"/>
                                  </a:solidFill>
                                  <a:latin typeface="Cambria Math" panose="02040503050406030204" pitchFamily="18" charset="0"/>
                                  <a:cs typeface="Times New Roman" panose="02020603050405020304" pitchFamily="18" charset="0"/>
                                </a:rPr>
                                <m:t>log</m:t>
                              </m:r>
                            </m:fName>
                            <m:e>
                              <m:sSub>
                                <m:sSubPr>
                                  <m:ctrlPr>
                                    <a:rPr lang="en-IN" sz="2000" b="0" i="1" smtClean="0">
                                      <a:solidFill>
                                        <a:srgbClr val="00B0F0"/>
                                      </a:solidFill>
                                      <a:latin typeface="Cambria Math" panose="02040503050406030204" pitchFamily="18" charset="0"/>
                                      <a:cs typeface="Times New Roman" panose="02020603050405020304" pitchFamily="18" charset="0"/>
                                    </a:rPr>
                                  </m:ctrlPr>
                                </m:sSubPr>
                                <m:e>
                                  <m:r>
                                    <a:rPr lang="en-IN" sz="2000" b="0" i="1" smtClean="0">
                                      <a:solidFill>
                                        <a:srgbClr val="00B0F0"/>
                                      </a:solidFill>
                                      <a:latin typeface="Cambria Math" panose="02040503050406030204" pitchFamily="18" charset="0"/>
                                      <a:cs typeface="Times New Roman" panose="02020603050405020304" pitchFamily="18" charset="0"/>
                                    </a:rPr>
                                    <m:t>𝑝</m:t>
                                  </m:r>
                                </m:e>
                                <m:sub>
                                  <m:r>
                                    <a:rPr lang="en-US" sz="2000" i="1" dirty="0" smtClean="0">
                                      <a:solidFill>
                                        <a:srgbClr val="00B0F0"/>
                                      </a:solidFill>
                                      <a:latin typeface="Cambria Math" panose="02040503050406030204" pitchFamily="18" charset="0"/>
                                      <a:ea typeface="Cambria Math" panose="02040503050406030204" pitchFamily="18" charset="0"/>
                                    </a:rPr>
                                    <m:t>𝜃</m:t>
                                  </m:r>
                                </m:sub>
                              </m:sSub>
                              <m:r>
                                <a:rPr lang="en-IN" sz="2000" b="0" i="1" smtClean="0">
                                  <a:solidFill>
                                    <a:srgbClr val="00B0F0"/>
                                  </a:solidFill>
                                  <a:latin typeface="Cambria Math" panose="02040503050406030204" pitchFamily="18" charset="0"/>
                                  <a:cs typeface="Times New Roman" panose="02020603050405020304" pitchFamily="18" charset="0"/>
                                </a:rPr>
                                <m:t>(</m:t>
                              </m:r>
                              <m:sSub>
                                <m:sSubPr>
                                  <m:ctrlPr>
                                    <a:rPr lang="en-IN" sz="2000" b="0" i="1" smtClean="0">
                                      <a:solidFill>
                                        <a:srgbClr val="00B0F0"/>
                                      </a:solidFill>
                                      <a:latin typeface="Cambria Math" panose="02040503050406030204" pitchFamily="18" charset="0"/>
                                      <a:cs typeface="Times New Roman" panose="02020603050405020304" pitchFamily="18" charset="0"/>
                                    </a:rPr>
                                  </m:ctrlPr>
                                </m:sSubPr>
                                <m:e>
                                  <m:r>
                                    <a:rPr lang="en-IN" sz="2000" b="0" i="1" smtClean="0">
                                      <a:solidFill>
                                        <a:srgbClr val="00B0F0"/>
                                      </a:solidFill>
                                      <a:latin typeface="Cambria Math" panose="02040503050406030204" pitchFamily="18" charset="0"/>
                                      <a:cs typeface="Times New Roman" panose="02020603050405020304" pitchFamily="18" charset="0"/>
                                    </a:rPr>
                                    <m:t>𝑥</m:t>
                                  </m:r>
                                </m:e>
                                <m:sub>
                                  <m:r>
                                    <a:rPr lang="en-IN" sz="2000" b="0" i="1" smtClean="0">
                                      <a:solidFill>
                                        <a:srgbClr val="00B0F0"/>
                                      </a:solidFill>
                                      <a:latin typeface="Cambria Math" panose="02040503050406030204" pitchFamily="18" charset="0"/>
                                      <a:cs typeface="Times New Roman" panose="02020603050405020304" pitchFamily="18" charset="0"/>
                                    </a:rPr>
                                    <m:t>𝑖</m:t>
                                  </m:r>
                                </m:sub>
                              </m:sSub>
                              <m:r>
                                <a:rPr lang="en-IN" sz="2000" b="0" i="1" smtClean="0">
                                  <a:solidFill>
                                    <a:srgbClr val="00B0F0"/>
                                  </a:solidFill>
                                  <a:latin typeface="Cambria Math" panose="02040503050406030204" pitchFamily="18" charset="0"/>
                                  <a:cs typeface="Times New Roman" panose="02020603050405020304" pitchFamily="18" charset="0"/>
                                </a:rPr>
                                <m:t>)</m:t>
                              </m:r>
                            </m:e>
                          </m:func>
                        </m:e>
                      </m:nary>
                    </m:oMath>
                  </m:oMathPara>
                </a14:m>
                <a:endParaRPr lang="en-US" sz="2000" dirty="0">
                  <a:latin typeface="Arial Narrow" panose="020B0606020202030204" pitchFamily="34" charset="0"/>
                  <a:cs typeface="Times New Roman" panose="02020603050405020304" pitchFamily="18" charset="0"/>
                </a:endParaRPr>
              </a:p>
              <a:p>
                <a:r>
                  <a:rPr lang="en-US" sz="2200" dirty="0">
                    <a:latin typeface="Arial Narrow" panose="020B0606020202030204" pitchFamily="34" charset="0"/>
                    <a:cs typeface="Times New Roman" panose="02020603050405020304" pitchFamily="18" charset="0"/>
                  </a:rPr>
                  <a:t>An explicit density model:</a:t>
                </a:r>
              </a:p>
              <a:p>
                <a:pPr lvl="1"/>
                <a:r>
                  <a:rPr lang="en-US" sz="2000" dirty="0">
                    <a:latin typeface="Arial Narrow" panose="020B0606020202030204" pitchFamily="34" charset="0"/>
                    <a:cs typeface="Times New Roman" panose="02020603050405020304" pitchFamily="18" charset="0"/>
                  </a:rPr>
                  <a:t>Defines a </a:t>
                </a:r>
                <a:r>
                  <a:rPr lang="en-US" sz="2000" dirty="0">
                    <a:solidFill>
                      <a:srgbClr val="7030A0"/>
                    </a:solidFill>
                    <a:latin typeface="Arial Narrow" panose="020B0606020202030204" pitchFamily="34" charset="0"/>
                    <a:cs typeface="Times New Roman" panose="02020603050405020304" pitchFamily="18" charset="0"/>
                  </a:rPr>
                  <a:t>tractable probability density function</a:t>
                </a:r>
              </a:p>
              <a:p>
                <a:pPr lvl="1"/>
                <a:r>
                  <a:rPr lang="en-US" sz="2000" dirty="0">
                    <a:latin typeface="Arial Narrow" panose="020B0606020202030204" pitchFamily="34" charset="0"/>
                    <a:cs typeface="Times New Roman" panose="02020603050405020304" pitchFamily="18" charset="0"/>
                  </a:rPr>
                  <a:t>Allows likelihood computation</a:t>
                </a:r>
              </a:p>
              <a:p>
                <a:pPr lvl="1"/>
                <a:r>
                  <a:rPr lang="en-US" sz="2000" dirty="0">
                    <a:latin typeface="Arial Narrow" panose="020B0606020202030204" pitchFamily="34" charset="0"/>
                    <a:cs typeface="Times New Roman" panose="02020603050405020304" pitchFamily="18" charset="0"/>
                  </a:rPr>
                  <a:t>Is usually trained via </a:t>
                </a:r>
                <a:r>
                  <a:rPr lang="en-US" sz="2000" dirty="0">
                    <a:solidFill>
                      <a:srgbClr val="7030A0"/>
                    </a:solidFill>
                    <a:latin typeface="Arial Narrow" panose="020B0606020202030204" pitchFamily="34" charset="0"/>
                    <a:cs typeface="Times New Roman" panose="02020603050405020304" pitchFamily="18" charset="0"/>
                  </a:rPr>
                  <a:t>maximum likelihood </a:t>
                </a:r>
                <a:r>
                  <a:rPr lang="en-US" sz="2000" dirty="0">
                    <a:latin typeface="Arial Narrow" panose="020B0606020202030204" pitchFamily="34" charset="0"/>
                    <a:cs typeface="Times New Roman" panose="02020603050405020304" pitchFamily="18" charset="0"/>
                  </a:rPr>
                  <a:t>(or a bound on it)</a:t>
                </a:r>
              </a:p>
              <a:p>
                <a:endParaRPr lang="en-US" sz="2400" dirty="0">
                  <a:latin typeface="Times New Roman" panose="02020603050405020304" pitchFamily="18" charset="0"/>
                  <a:cs typeface="Times New Roman" panose="02020603050405020304" pitchFamily="18" charset="0"/>
                </a:endParaRPr>
              </a:p>
              <a:p>
                <a:endParaRPr lang="en-IN" sz="2000" dirty="0"/>
              </a:p>
            </p:txBody>
          </p:sp>
        </mc:Choice>
        <mc:Fallback xmlns="">
          <p:sp>
            <p:nvSpPr>
              <p:cNvPr id="4" name="Content Placeholder 3">
                <a:extLst>
                  <a:ext uri="{FF2B5EF4-FFF2-40B4-BE49-F238E27FC236}">
                    <a16:creationId xmlns:a16="http://schemas.microsoft.com/office/drawing/2014/main" id="{74698CA0-FF6D-47BB-9B67-AF7DB5869D8F}"/>
                  </a:ext>
                </a:extLst>
              </p:cNvPr>
              <p:cNvSpPr>
                <a:spLocks noGrp="1" noRot="1" noChangeAspect="1" noMove="1" noResize="1" noEditPoints="1" noAdjustHandles="1" noChangeArrowheads="1" noChangeShapeType="1" noTextEdit="1"/>
              </p:cNvSpPr>
              <p:nvPr>
                <p:ph idx="1"/>
              </p:nvPr>
            </p:nvSpPr>
            <p:spPr>
              <a:blipFill>
                <a:blip r:embed="rId2"/>
                <a:stretch>
                  <a:fillRect l="-696" t="-1541"/>
                </a:stretch>
              </a:blipFill>
            </p:spPr>
            <p:txBody>
              <a:bodyPr/>
              <a:lstStyle/>
              <a:p>
                <a:r>
                  <a:rPr lang="en-IN">
                    <a:noFill/>
                  </a:rPr>
                  <a:t> </a:t>
                </a:r>
              </a:p>
            </p:txBody>
          </p:sp>
        </mc:Fallback>
      </mc:AlternateContent>
    </p:spTree>
    <p:extLst>
      <p:ext uri="{BB962C8B-B14F-4D97-AF65-F5344CB8AC3E}">
        <p14:creationId xmlns:p14="http://schemas.microsoft.com/office/powerpoint/2010/main" val="3327153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AD2F-3F45-40BD-B4B3-0B70158CFB8A}"/>
              </a:ext>
            </a:extLst>
          </p:cNvPr>
          <p:cNvSpPr>
            <a:spLocks noGrp="1"/>
          </p:cNvSpPr>
          <p:nvPr>
            <p:ph type="title"/>
          </p:nvPr>
        </p:nvSpPr>
        <p:spPr/>
        <p:txBody>
          <a:bodyPr>
            <a:normAutofit/>
          </a:bodyPr>
          <a:lstStyle/>
          <a:p>
            <a:r>
              <a:rPr lang="en-US" sz="3200" dirty="0">
                <a:latin typeface="Century" panose="02040604050505020304" pitchFamily="18" charset="0"/>
              </a:rPr>
              <a:t>Explicit Density Models</a:t>
            </a:r>
            <a:br>
              <a:rPr lang="en-US" sz="3600" dirty="0">
                <a:latin typeface="Century" panose="02040604050505020304" pitchFamily="18" charset="0"/>
              </a:rPr>
            </a:br>
            <a:r>
              <a:rPr lang="en-US" sz="2400" dirty="0">
                <a:latin typeface="Century" panose="02040604050505020304" pitchFamily="18" charset="0"/>
              </a:rPr>
              <a:t>Two main Categories</a:t>
            </a:r>
            <a:endParaRPr lang="en-IN" sz="2400" dirty="0">
              <a:latin typeface="Century" panose="020406040505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7E8542-BFCE-4487-9F42-913FF1983618}"/>
                  </a:ext>
                </a:extLst>
              </p:cNvPr>
              <p:cNvSpPr>
                <a:spLocks noGrp="1"/>
              </p:cNvSpPr>
              <p:nvPr>
                <p:ph idx="1"/>
              </p:nvPr>
            </p:nvSpPr>
            <p:spPr/>
            <p:txBody>
              <a:bodyPr/>
              <a:lstStyle/>
              <a:p>
                <a:r>
                  <a:rPr lang="en-IN" dirty="0">
                    <a:solidFill>
                      <a:srgbClr val="7030A0"/>
                    </a:solidFill>
                    <a:latin typeface="Arial Narrow" panose="020B0606020202030204" pitchFamily="34" charset="0"/>
                    <a:cs typeface="Times New Roman" panose="02020603050405020304" pitchFamily="18" charset="0"/>
                  </a:rPr>
                  <a:t>Tractable (Exact) Likelihood Models</a:t>
                </a:r>
                <a:r>
                  <a:rPr lang="en-IN" dirty="0">
                    <a:latin typeface="Arial Narrow" panose="020B0606020202030204" pitchFamily="34" charset="0"/>
                    <a:cs typeface="Times New Roman" panose="02020603050405020304" pitchFamily="18" charset="0"/>
                  </a:rPr>
                  <a:t>:</a:t>
                </a:r>
              </a:p>
              <a:p>
                <a:pPr lvl="1"/>
                <a:r>
                  <a:rPr lang="en-IN" dirty="0">
                    <a:latin typeface="Arial Narrow" panose="020B0606020202030204" pitchFamily="34" charset="0"/>
                    <a:cs typeface="Times New Roman" panose="02020603050405020304" pitchFamily="18" charset="0"/>
                  </a:rPr>
                  <a:t>Autoregressive Models: </a:t>
                </a:r>
                <a:r>
                  <a:rPr lang="en-US" dirty="0">
                    <a:latin typeface="Arial Narrow" panose="020B0606020202030204" pitchFamily="34" charset="0"/>
                    <a:cs typeface="Times New Roman" panose="02020603050405020304" pitchFamily="18" charset="0"/>
                  </a:rPr>
                  <a:t>Factorize density using the chain rule.</a:t>
                </a:r>
              </a:p>
              <a:p>
                <a:pPr marL="457200" lvl="1" indent="0">
                  <a:buNone/>
                </a:pPr>
                <a14:m>
                  <m:oMathPara xmlns:m="http://schemas.openxmlformats.org/officeDocument/2006/math">
                    <m:oMathParaPr>
                      <m:jc m:val="centerGroup"/>
                    </m:oMathParaPr>
                    <m:oMath xmlns:m="http://schemas.openxmlformats.org/officeDocument/2006/math">
                      <m:r>
                        <a:rPr lang="en-IN" b="0" i="1" smtClean="0">
                          <a:solidFill>
                            <a:srgbClr val="00B0F0"/>
                          </a:solidFill>
                          <a:latin typeface="Cambria Math" panose="02040503050406030204" pitchFamily="18" charset="0"/>
                        </a:rPr>
                        <m:t>𝑝</m:t>
                      </m:r>
                      <m:d>
                        <m:dPr>
                          <m:ctrlPr>
                            <a:rPr lang="en-IN" b="0" i="1" smtClean="0">
                              <a:solidFill>
                                <a:srgbClr val="00B0F0"/>
                              </a:solidFill>
                              <a:latin typeface="Cambria Math" panose="02040503050406030204" pitchFamily="18" charset="0"/>
                            </a:rPr>
                          </m:ctrlPr>
                        </m:dPr>
                        <m:e>
                          <m:r>
                            <a:rPr lang="en-IN" b="0" i="1" smtClean="0">
                              <a:solidFill>
                                <a:srgbClr val="00B0F0"/>
                              </a:solidFill>
                              <a:latin typeface="Cambria Math" panose="02040503050406030204" pitchFamily="18" charset="0"/>
                            </a:rPr>
                            <m:t>𝑥</m:t>
                          </m:r>
                        </m:e>
                      </m:d>
                      <m:r>
                        <a:rPr lang="en-IN" b="0" i="1" smtClean="0">
                          <a:solidFill>
                            <a:srgbClr val="00B0F0"/>
                          </a:solidFill>
                          <a:latin typeface="Cambria Math" panose="02040503050406030204" pitchFamily="18" charset="0"/>
                        </a:rPr>
                        <m:t>=</m:t>
                      </m:r>
                      <m:nary>
                        <m:naryPr>
                          <m:chr m:val="∏"/>
                          <m:ctrlPr>
                            <a:rPr lang="en-IN" b="0" i="1" smtClean="0">
                              <a:solidFill>
                                <a:srgbClr val="00B0F0"/>
                              </a:solidFill>
                              <a:latin typeface="Cambria Math" panose="02040503050406030204" pitchFamily="18" charset="0"/>
                            </a:rPr>
                          </m:ctrlPr>
                        </m:naryPr>
                        <m:sub>
                          <m:r>
                            <m:rPr>
                              <m:brk m:alnAt="23"/>
                            </m:rPr>
                            <a:rPr lang="en-IN" b="0" i="1" smtClean="0">
                              <a:solidFill>
                                <a:srgbClr val="00B0F0"/>
                              </a:solidFill>
                              <a:latin typeface="Cambria Math" panose="02040503050406030204" pitchFamily="18" charset="0"/>
                            </a:rPr>
                            <m:t>𝑖</m:t>
                          </m:r>
                          <m:r>
                            <a:rPr lang="en-IN" b="0" i="1" smtClean="0">
                              <a:solidFill>
                                <a:srgbClr val="00B0F0"/>
                              </a:solidFill>
                              <a:latin typeface="Cambria Math" panose="02040503050406030204" pitchFamily="18" charset="0"/>
                            </a:rPr>
                            <m:t>=1</m:t>
                          </m:r>
                        </m:sub>
                        <m:sup>
                          <m:r>
                            <a:rPr lang="en-IN" b="0" i="1" smtClean="0">
                              <a:solidFill>
                                <a:srgbClr val="00B0F0"/>
                              </a:solidFill>
                              <a:latin typeface="Cambria Math" panose="02040503050406030204" pitchFamily="18" charset="0"/>
                            </a:rPr>
                            <m:t>𝑑</m:t>
                          </m:r>
                        </m:sup>
                        <m:e>
                          <m:r>
                            <a:rPr lang="en-IN" b="0" i="1" smtClean="0">
                              <a:solidFill>
                                <a:srgbClr val="00B0F0"/>
                              </a:solidFill>
                              <a:latin typeface="Cambria Math" panose="02040503050406030204" pitchFamily="18" charset="0"/>
                            </a:rPr>
                            <m:t>𝑝</m:t>
                          </m:r>
                          <m:r>
                            <a:rPr lang="en-IN" b="0" i="1" smtClean="0">
                              <a:solidFill>
                                <a:srgbClr val="00B0F0"/>
                              </a:solidFill>
                              <a:latin typeface="Cambria Math" panose="02040503050406030204" pitchFamily="18" charset="0"/>
                            </a:rPr>
                            <m:t>(</m:t>
                          </m:r>
                          <m:sSub>
                            <m:sSubPr>
                              <m:ctrlPr>
                                <a:rPr lang="en-IN" b="0" i="1" smtClean="0">
                                  <a:solidFill>
                                    <a:srgbClr val="00B0F0"/>
                                  </a:solidFill>
                                  <a:latin typeface="Cambria Math" panose="02040503050406030204" pitchFamily="18" charset="0"/>
                                </a:rPr>
                              </m:ctrlPr>
                            </m:sSubPr>
                            <m:e>
                              <m:r>
                                <a:rPr lang="en-IN" b="0" i="1" smtClean="0">
                                  <a:solidFill>
                                    <a:srgbClr val="00B0F0"/>
                                  </a:solidFill>
                                  <a:latin typeface="Cambria Math" panose="02040503050406030204" pitchFamily="18" charset="0"/>
                                </a:rPr>
                                <m:t>𝑥</m:t>
                              </m:r>
                            </m:e>
                            <m:sub>
                              <m:r>
                                <a:rPr lang="en-IN" b="0" i="1" smtClean="0">
                                  <a:solidFill>
                                    <a:srgbClr val="00B0F0"/>
                                  </a:solidFill>
                                  <a:latin typeface="Cambria Math" panose="02040503050406030204" pitchFamily="18" charset="0"/>
                                </a:rPr>
                                <m:t>𝑖</m:t>
                              </m:r>
                            </m:sub>
                          </m:sSub>
                          <m:r>
                            <a:rPr lang="en-IN" b="0" i="1" smtClean="0">
                              <a:solidFill>
                                <a:srgbClr val="00B0F0"/>
                              </a:solidFill>
                              <a:latin typeface="Cambria Math" panose="02040503050406030204" pitchFamily="18" charset="0"/>
                            </a:rPr>
                            <m:t>|</m:t>
                          </m:r>
                          <m:sSub>
                            <m:sSubPr>
                              <m:ctrlPr>
                                <a:rPr lang="en-IN" b="0" i="1" smtClean="0">
                                  <a:solidFill>
                                    <a:srgbClr val="00B0F0"/>
                                  </a:solidFill>
                                  <a:latin typeface="Cambria Math" panose="02040503050406030204" pitchFamily="18" charset="0"/>
                                </a:rPr>
                              </m:ctrlPr>
                            </m:sSubPr>
                            <m:e>
                              <m:r>
                                <a:rPr lang="en-IN" b="0" i="1" smtClean="0">
                                  <a:solidFill>
                                    <a:srgbClr val="00B0F0"/>
                                  </a:solidFill>
                                  <a:latin typeface="Cambria Math" panose="02040503050406030204" pitchFamily="18" charset="0"/>
                                </a:rPr>
                                <m:t>𝑥</m:t>
                              </m:r>
                            </m:e>
                            <m:sub>
                              <m:r>
                                <a:rPr lang="en-IN" b="0" i="1" smtClean="0">
                                  <a:solidFill>
                                    <a:srgbClr val="00B0F0"/>
                                  </a:solidFill>
                                  <a:latin typeface="Cambria Math" panose="02040503050406030204" pitchFamily="18" charset="0"/>
                                </a:rPr>
                                <m:t>&lt;</m:t>
                              </m:r>
                              <m:r>
                                <a:rPr lang="en-IN" b="0" i="1" smtClean="0">
                                  <a:solidFill>
                                    <a:srgbClr val="00B0F0"/>
                                  </a:solidFill>
                                  <a:latin typeface="Cambria Math" panose="02040503050406030204" pitchFamily="18" charset="0"/>
                                </a:rPr>
                                <m:t>𝑖</m:t>
                              </m:r>
                            </m:sub>
                          </m:sSub>
                          <m:r>
                            <a:rPr lang="en-IN" b="0" i="1" smtClean="0">
                              <a:solidFill>
                                <a:srgbClr val="00B0F0"/>
                              </a:solidFill>
                              <a:latin typeface="Cambria Math" panose="02040503050406030204" pitchFamily="18" charset="0"/>
                            </a:rPr>
                            <m:t>)</m:t>
                          </m:r>
                        </m:e>
                      </m:nary>
                    </m:oMath>
                  </m:oMathPara>
                </a14:m>
                <a:endParaRPr lang="en-IN" dirty="0">
                  <a:latin typeface="Arial Narrow" panose="020B0606020202030204" pitchFamily="34" charset="0"/>
                  <a:cs typeface="Times New Roman" panose="02020603050405020304" pitchFamily="18" charset="0"/>
                </a:endParaRPr>
              </a:p>
              <a:p>
                <a:pPr lvl="1"/>
                <a:r>
                  <a:rPr lang="en-US" dirty="0">
                    <a:latin typeface="Arial Narrow" panose="020B0606020202030204" pitchFamily="34" charset="0"/>
                    <a:cs typeface="Times New Roman" panose="02020603050405020304" pitchFamily="18" charset="0"/>
                  </a:rPr>
                  <a:t>Each conditional is modeled by a neural network.</a:t>
                </a:r>
              </a:p>
              <a:p>
                <a:pPr lvl="1"/>
                <a:r>
                  <a:rPr lang="en-IN" dirty="0">
                    <a:latin typeface="Arial Narrow" panose="020B0606020202030204" pitchFamily="34" charset="0"/>
                    <a:cs typeface="Times New Roman" panose="02020603050405020304" pitchFamily="18" charset="0"/>
                  </a:rPr>
                  <a:t>Example: </a:t>
                </a:r>
                <a:r>
                  <a:rPr lang="en-IN" dirty="0" err="1">
                    <a:solidFill>
                      <a:srgbClr val="7030A0"/>
                    </a:solidFill>
                    <a:latin typeface="Arial Narrow" panose="020B0606020202030204" pitchFamily="34" charset="0"/>
                    <a:cs typeface="Times New Roman" panose="02020603050405020304" pitchFamily="18" charset="0"/>
                  </a:rPr>
                  <a:t>PixelRNN</a:t>
                </a:r>
                <a:r>
                  <a:rPr lang="en-IN" dirty="0">
                    <a:solidFill>
                      <a:srgbClr val="7030A0"/>
                    </a:solidFill>
                    <a:latin typeface="Arial Narrow" panose="020B0606020202030204" pitchFamily="34" charset="0"/>
                    <a:cs typeface="Times New Roman" panose="02020603050405020304" pitchFamily="18" charset="0"/>
                  </a:rPr>
                  <a:t>, </a:t>
                </a:r>
                <a:r>
                  <a:rPr lang="en-IN" dirty="0" err="1">
                    <a:solidFill>
                      <a:srgbClr val="7030A0"/>
                    </a:solidFill>
                    <a:latin typeface="Arial Narrow" panose="020B0606020202030204" pitchFamily="34" charset="0"/>
                    <a:cs typeface="Times New Roman" panose="02020603050405020304" pitchFamily="18" charset="0"/>
                  </a:rPr>
                  <a:t>PixelCNN</a:t>
                </a:r>
                <a:endParaRPr lang="en-IN" dirty="0">
                  <a:solidFill>
                    <a:srgbClr val="7030A0"/>
                  </a:solidFill>
                  <a:latin typeface="Arial Narrow" panose="020B0606020202030204" pitchFamily="34" charset="0"/>
                  <a:cs typeface="Times New Roman" panose="02020603050405020304" pitchFamily="18" charset="0"/>
                </a:endParaRPr>
              </a:p>
              <a:p>
                <a:pPr marL="457200" lvl="1" indent="0">
                  <a:buNone/>
                </a:pPr>
                <a:endParaRPr lang="en-IN" dirty="0">
                  <a:latin typeface="Arial Narrow" panose="020B0606020202030204" pitchFamily="34" charset="0"/>
                  <a:cs typeface="Times New Roman" panose="02020603050405020304" pitchFamily="18" charset="0"/>
                </a:endParaRPr>
              </a:p>
              <a:p>
                <a:r>
                  <a:rPr lang="en-US" dirty="0">
                    <a:solidFill>
                      <a:srgbClr val="7030A0"/>
                    </a:solidFill>
                    <a:latin typeface="Arial Narrow" panose="020B0606020202030204" pitchFamily="34" charset="0"/>
                    <a:cs typeface="Times New Roman" panose="02020603050405020304" pitchFamily="18" charset="0"/>
                  </a:rPr>
                  <a:t>Latent Variable Models (Approximate Likelihood)</a:t>
                </a:r>
                <a:r>
                  <a:rPr lang="en-US" dirty="0">
                    <a:latin typeface="Arial Narrow" panose="020B0606020202030204" pitchFamily="34" charset="0"/>
                    <a:cs typeface="Times New Roman" panose="02020603050405020304" pitchFamily="18" charset="0"/>
                  </a:rPr>
                  <a:t>:</a:t>
                </a:r>
              </a:p>
              <a:p>
                <a:pPr lvl="1"/>
                <a:r>
                  <a:rPr lang="en-US" dirty="0">
                    <a:latin typeface="Arial Narrow" panose="020B0606020202030204" pitchFamily="34" charset="0"/>
                    <a:cs typeface="Times New Roman" panose="02020603050405020304" pitchFamily="18" charset="0"/>
                  </a:rPr>
                  <a:t>Example: Variational Auto-encoder</a:t>
                </a:r>
                <a:endParaRPr lang="en-IN" dirty="0">
                  <a:latin typeface="Arial Narrow" panose="020B0606020202030204" pitchFamily="34" charset="0"/>
                  <a:cs typeface="Times New Roman" panose="02020603050405020304" pitchFamily="18" charset="0"/>
                </a:endParaRPr>
              </a:p>
              <a:p>
                <a:pPr lvl="1"/>
                <a:endParaRPr lang="en-IN" dirty="0"/>
              </a:p>
            </p:txBody>
          </p:sp>
        </mc:Choice>
        <mc:Fallback xmlns="">
          <p:sp>
            <p:nvSpPr>
              <p:cNvPr id="3" name="Content Placeholder 2">
                <a:extLst>
                  <a:ext uri="{FF2B5EF4-FFF2-40B4-BE49-F238E27FC236}">
                    <a16:creationId xmlns:a16="http://schemas.microsoft.com/office/drawing/2014/main" id="{E57E8542-BFCE-4487-9F42-913FF198361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404582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9B22-D462-49F8-B4F7-4544BA65D184}"/>
              </a:ext>
            </a:extLst>
          </p:cNvPr>
          <p:cNvSpPr>
            <a:spLocks noGrp="1"/>
          </p:cNvSpPr>
          <p:nvPr>
            <p:ph type="title"/>
          </p:nvPr>
        </p:nvSpPr>
        <p:spPr/>
        <p:txBody>
          <a:bodyPr>
            <a:normAutofit/>
          </a:bodyPr>
          <a:lstStyle/>
          <a:p>
            <a:r>
              <a:rPr lang="en-IN" sz="3600" dirty="0">
                <a:latin typeface="Century" panose="02040604050505020304" pitchFamily="18" charset="0"/>
              </a:rPr>
              <a:t>Explicit Density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616733-BB96-45D3-9934-1009083B7F64}"/>
                  </a:ext>
                </a:extLst>
              </p:cNvPr>
              <p:cNvSpPr>
                <a:spLocks noGrp="1"/>
              </p:cNvSpPr>
              <p:nvPr>
                <p:ph idx="1"/>
              </p:nvPr>
            </p:nvSpPr>
            <p:spPr>
              <a:xfrm>
                <a:off x="838200" y="1547719"/>
                <a:ext cx="10515600" cy="4835152"/>
              </a:xfrm>
            </p:spPr>
            <p:txBody>
              <a:bodyPr>
                <a:normAutofit lnSpcReduction="10000"/>
              </a:bodyPr>
              <a:lstStyle/>
              <a:p>
                <a:pPr algn="just"/>
                <a:r>
                  <a:rPr lang="en-US" sz="2000" dirty="0">
                    <a:solidFill>
                      <a:srgbClr val="7030A0"/>
                    </a:solidFill>
                    <a:latin typeface="Arial Narrow" panose="020B0606020202030204" pitchFamily="34" charset="0"/>
                  </a:rPr>
                  <a:t>Gaussian Mixture Models (GMMs)</a:t>
                </a:r>
                <a:r>
                  <a:rPr lang="en-US" sz="2000" dirty="0">
                    <a:latin typeface="Arial Narrow" panose="020B0606020202030204" pitchFamily="34" charset="0"/>
                  </a:rPr>
                  <a:t> explicitly model the data as a mixture of probability distributions.</a:t>
                </a:r>
              </a:p>
              <a:p>
                <a:pPr algn="just"/>
                <a:endParaRPr lang="en-US"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Autoregressive models</a:t>
                </a:r>
                <a:r>
                  <a:rPr lang="en-US" sz="2000" dirty="0">
                    <a:latin typeface="Arial Narrow" panose="020B0606020202030204" pitchFamily="34" charset="0"/>
                  </a:rPr>
                  <a:t> factorize the joint probability as</a:t>
                </a:r>
              </a:p>
              <a:p>
                <a:pPr marL="0" indent="0" algn="just">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𝑝</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𝑥</m:t>
                          </m:r>
                        </m:e>
                      </m:d>
                      <m:r>
                        <a:rPr lang="en-IN" sz="2000" b="0" i="1" smtClean="0">
                          <a:latin typeface="Cambria Math" panose="02040503050406030204" pitchFamily="18" charset="0"/>
                        </a:rPr>
                        <m:t>=</m:t>
                      </m:r>
                      <m:nary>
                        <m:naryPr>
                          <m:chr m:val="∏"/>
                          <m:supHide m:val="on"/>
                          <m:ctrlPr>
                            <a:rPr lang="en-IN" sz="2000" b="0" i="1" smtClean="0">
                              <a:latin typeface="Cambria Math" panose="02040503050406030204" pitchFamily="18" charset="0"/>
                            </a:rPr>
                          </m:ctrlPr>
                        </m:naryPr>
                        <m:sub>
                          <m:r>
                            <m:rPr>
                              <m:brk m:alnAt="7"/>
                            </m:rPr>
                            <a:rPr lang="en-IN" sz="2000" b="0" i="1" smtClean="0">
                              <a:latin typeface="Cambria Math" panose="02040503050406030204" pitchFamily="18" charset="0"/>
                            </a:rPr>
                            <m:t>𝑖</m:t>
                          </m:r>
                        </m:sub>
                        <m:sup/>
                        <m:e>
                          <m:r>
                            <a:rPr lang="en-IN" sz="2000" b="0" i="1" smtClean="0">
                              <a:latin typeface="Cambria Math" panose="02040503050406030204" pitchFamily="18" charset="0"/>
                            </a:rPr>
                            <m:t>𝑝</m:t>
                          </m:r>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𝑖</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&lt;</m:t>
                              </m:r>
                              <m:r>
                                <a:rPr lang="en-IN" sz="2000" b="0" i="1" smtClean="0">
                                  <a:latin typeface="Cambria Math" panose="02040503050406030204" pitchFamily="18" charset="0"/>
                                </a:rPr>
                                <m:t>𝑖</m:t>
                              </m:r>
                            </m:sub>
                          </m:sSub>
                          <m:r>
                            <a:rPr lang="en-IN" sz="2000" b="0" i="1" smtClean="0">
                              <a:latin typeface="Cambria Math" panose="02040503050406030204" pitchFamily="18" charset="0"/>
                            </a:rPr>
                            <m:t>)</m:t>
                          </m:r>
                        </m:e>
                      </m:nary>
                    </m:oMath>
                  </m:oMathPara>
                </a14:m>
                <a:endParaRPr lang="en-IN" sz="2000" dirty="0">
                  <a:latin typeface="Arial Narrow" panose="020B0606020202030204" pitchFamily="34" charset="0"/>
                </a:endParaRPr>
              </a:p>
              <a:p>
                <a:pPr marL="0" indent="0" algn="just">
                  <a:buNone/>
                </a:pPr>
                <a:endParaRPr lang="en-IN"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Normalizing Flows</a:t>
                </a:r>
                <a:r>
                  <a:rPr lang="en-US" sz="2000" dirty="0">
                    <a:latin typeface="Arial Narrow" panose="020B0606020202030204" pitchFamily="34" charset="0"/>
                  </a:rPr>
                  <a:t> explicitly calculate the probability density using an invertible transformation and the change-of-variables formula.</a:t>
                </a:r>
              </a:p>
              <a:p>
                <a:pPr algn="just"/>
                <a:endParaRPr lang="en-US"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Variational Autoencoders (VAEs)</a:t>
                </a:r>
                <a:r>
                  <a:rPr lang="en-US" sz="2000" dirty="0">
                    <a:latin typeface="Arial Narrow" panose="020B0606020202030204" pitchFamily="34" charset="0"/>
                  </a:rPr>
                  <a:t> define explicit probability distributions for the latent and data variables, although the true data likelihood is generally optimized through a variational lower bound rather than computed directly.</a:t>
                </a:r>
              </a:p>
              <a:p>
                <a:pPr marL="0" indent="0" algn="just">
                  <a:buNone/>
                </a:pPr>
                <a:endParaRPr lang="en-US" sz="2000" dirty="0">
                  <a:latin typeface="Arial Narrow" panose="020B0606020202030204" pitchFamily="34" charset="0"/>
                </a:endParaRPr>
              </a:p>
              <a:p>
                <a:pPr algn="just"/>
                <a:r>
                  <a:rPr lang="en-US" sz="2000" dirty="0">
                    <a:latin typeface="Arial Narrow" panose="020B0606020202030204" pitchFamily="34" charset="0"/>
                  </a:rPr>
                  <a:t>Thus, in explicit models, density estimation is a central part of the model formulation and training objective.</a:t>
                </a:r>
              </a:p>
              <a:p>
                <a:endParaRPr lang="en-IN" dirty="0"/>
              </a:p>
            </p:txBody>
          </p:sp>
        </mc:Choice>
        <mc:Fallback xmlns="">
          <p:sp>
            <p:nvSpPr>
              <p:cNvPr id="3" name="Content Placeholder 2">
                <a:extLst>
                  <a:ext uri="{FF2B5EF4-FFF2-40B4-BE49-F238E27FC236}">
                    <a16:creationId xmlns:a16="http://schemas.microsoft.com/office/drawing/2014/main" id="{85616733-BB96-45D3-9934-1009083B7F64}"/>
                  </a:ext>
                </a:extLst>
              </p:cNvPr>
              <p:cNvSpPr>
                <a:spLocks noGrp="1" noRot="1" noChangeAspect="1" noMove="1" noResize="1" noEditPoints="1" noAdjustHandles="1" noChangeArrowheads="1" noChangeShapeType="1" noTextEdit="1"/>
              </p:cNvSpPr>
              <p:nvPr>
                <p:ph idx="1"/>
              </p:nvPr>
            </p:nvSpPr>
            <p:spPr>
              <a:xfrm>
                <a:off x="838200" y="1547719"/>
                <a:ext cx="10515600" cy="4835152"/>
              </a:xfrm>
              <a:blipFill>
                <a:blip r:embed="rId2"/>
                <a:stretch>
                  <a:fillRect l="-522" t="-2018" r="-580"/>
                </a:stretch>
              </a:blipFill>
            </p:spPr>
            <p:txBody>
              <a:bodyPr/>
              <a:lstStyle/>
              <a:p>
                <a:r>
                  <a:rPr lang="en-IN">
                    <a:noFill/>
                  </a:rPr>
                  <a:t> </a:t>
                </a:r>
              </a:p>
            </p:txBody>
          </p:sp>
        </mc:Fallback>
      </mc:AlternateContent>
    </p:spTree>
    <p:extLst>
      <p:ext uri="{BB962C8B-B14F-4D97-AF65-F5344CB8AC3E}">
        <p14:creationId xmlns:p14="http://schemas.microsoft.com/office/powerpoint/2010/main" val="4151483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9B22-D462-49F8-B4F7-4544BA65D184}"/>
              </a:ext>
            </a:extLst>
          </p:cNvPr>
          <p:cNvSpPr>
            <a:spLocks noGrp="1"/>
          </p:cNvSpPr>
          <p:nvPr>
            <p:ph type="title"/>
          </p:nvPr>
        </p:nvSpPr>
        <p:spPr/>
        <p:txBody>
          <a:bodyPr>
            <a:normAutofit/>
          </a:bodyPr>
          <a:lstStyle/>
          <a:p>
            <a:r>
              <a:rPr lang="en-IN" sz="3600" dirty="0">
                <a:latin typeface="Century" panose="02040604050505020304" pitchFamily="18" charset="0"/>
              </a:rPr>
              <a:t>Implicit Density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616733-BB96-45D3-9934-1009083B7F64}"/>
                  </a:ext>
                </a:extLst>
              </p:cNvPr>
              <p:cNvSpPr>
                <a:spLocks noGrp="1"/>
              </p:cNvSpPr>
              <p:nvPr>
                <p:ph idx="1"/>
              </p:nvPr>
            </p:nvSpPr>
            <p:spPr>
              <a:xfrm>
                <a:off x="838200" y="1690688"/>
                <a:ext cx="10515600" cy="4486275"/>
              </a:xfrm>
            </p:spPr>
            <p:txBody>
              <a:bodyPr>
                <a:normAutofit/>
              </a:bodyPr>
              <a:lstStyle/>
              <a:p>
                <a:pPr algn="just"/>
                <a:r>
                  <a:rPr lang="en-US" sz="2000" dirty="0">
                    <a:latin typeface="Arial Narrow" panose="020B0606020202030204" pitchFamily="34" charset="0"/>
                  </a:rPr>
                  <a:t>In </a:t>
                </a:r>
                <a:r>
                  <a:rPr lang="en-US" sz="2000" dirty="0">
                    <a:solidFill>
                      <a:srgbClr val="7030A0"/>
                    </a:solidFill>
                    <a:latin typeface="Arial Narrow" panose="020B0606020202030204" pitchFamily="34" charset="0"/>
                  </a:rPr>
                  <a:t>implicit generative models</a:t>
                </a:r>
                <a:r>
                  <a:rPr lang="en-US" sz="2000" dirty="0">
                    <a:latin typeface="Arial Narrow" panose="020B0606020202030204" pitchFamily="34" charset="0"/>
                  </a:rPr>
                  <a:t>, the model does </a:t>
                </a:r>
                <a:r>
                  <a:rPr lang="en-US" sz="2000" dirty="0">
                    <a:solidFill>
                      <a:srgbClr val="7030A0"/>
                    </a:solidFill>
                    <a:latin typeface="Arial Narrow" panose="020B0606020202030204" pitchFamily="34" charset="0"/>
                  </a:rPr>
                  <a:t>not explicitly estimate or calculate the probability density p(x)</a:t>
                </a:r>
                <a:r>
                  <a:rPr lang="en-US" sz="2000" dirty="0">
                    <a:latin typeface="Arial Narrow" panose="020B0606020202030204" pitchFamily="34" charset="0"/>
                  </a:rPr>
                  <a:t>. Instead, it learns a mechanism for generating samples that follow the underlying data distribution.</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For example, a generator can transform random noise </a:t>
                </a:r>
                <a14:m>
                  <m:oMath xmlns:m="http://schemas.openxmlformats.org/officeDocument/2006/math">
                    <m:r>
                      <a:rPr lang="en-IN" sz="2000" i="1" dirty="0">
                        <a:latin typeface="Cambria Math" panose="02040503050406030204" pitchFamily="18" charset="0"/>
                      </a:rPr>
                      <m:t>𝑧</m:t>
                    </m:r>
                    <m:r>
                      <a:rPr lang="en-IN" sz="2000" b="0" i="1" dirty="0" smtClean="0">
                        <a:latin typeface="Cambria Math" panose="02040503050406030204" pitchFamily="18" charset="0"/>
                      </a:rPr>
                      <m:t>~</m:t>
                    </m:r>
                    <m:r>
                      <a:rPr lang="en-US" sz="2000" i="1" dirty="0">
                        <a:latin typeface="Cambria Math" panose="02040503050406030204" pitchFamily="18" charset="0"/>
                      </a:rPr>
                      <m:t>𝑝</m:t>
                    </m:r>
                    <m:r>
                      <a:rPr lang="en-US" sz="2000" i="1" dirty="0">
                        <a:latin typeface="Cambria Math" panose="02040503050406030204" pitchFamily="18" charset="0"/>
                      </a:rPr>
                      <m:t>(</m:t>
                    </m:r>
                    <m:r>
                      <a:rPr lang="en-IN" sz="2000" b="0" i="1" dirty="0" smtClean="0">
                        <a:latin typeface="Cambria Math" panose="02040503050406030204" pitchFamily="18" charset="0"/>
                      </a:rPr>
                      <m:t>𝑧</m:t>
                    </m:r>
                    <m:r>
                      <a:rPr lang="en-US" sz="2000" i="1" dirty="0">
                        <a:latin typeface="Cambria Math" panose="02040503050406030204" pitchFamily="18" charset="0"/>
                      </a:rPr>
                      <m:t>)</m:t>
                    </m:r>
                  </m:oMath>
                </a14:m>
                <a:r>
                  <a:rPr lang="en-US" sz="2000" dirty="0">
                    <a:latin typeface="Arial Narrow" panose="020B0606020202030204" pitchFamily="34" charset="0"/>
                  </a:rPr>
                  <a:t> into a synthetic sample </a:t>
                </a:r>
                <a14:m>
                  <m:oMath xmlns:m="http://schemas.openxmlformats.org/officeDocument/2006/math">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𝑥</m:t>
                        </m:r>
                      </m:e>
                      <m:sup>
                        <m:r>
                          <a:rPr lang="en-IN" sz="2000" b="0" i="1" smtClean="0">
                            <a:latin typeface="Cambria Math" panose="02040503050406030204" pitchFamily="18" charset="0"/>
                          </a:rPr>
                          <m:t>′</m:t>
                        </m:r>
                      </m:sup>
                    </m:sSup>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𝐺</m:t>
                        </m:r>
                      </m:e>
                      <m:sub>
                        <m:r>
                          <a:rPr lang="en-IN" sz="2000" b="0" i="1" smtClean="0">
                            <a:latin typeface="Cambria Math" panose="02040503050406030204" pitchFamily="18" charset="0"/>
                            <a:ea typeface="Cambria Math" panose="02040503050406030204" pitchFamily="18" charset="0"/>
                          </a:rPr>
                          <m:t>𝜃</m:t>
                        </m:r>
                      </m:sub>
                    </m:sSub>
                    <m:r>
                      <a:rPr lang="en-IN" sz="2000" b="0" i="1" smtClean="0">
                        <a:latin typeface="Cambria Math" panose="02040503050406030204" pitchFamily="18" charset="0"/>
                      </a:rPr>
                      <m:t>(</m:t>
                    </m:r>
                    <m:r>
                      <a:rPr lang="en-IN" sz="2000" b="0" i="1" smtClean="0">
                        <a:latin typeface="Cambria Math" panose="02040503050406030204" pitchFamily="18" charset="0"/>
                      </a:rPr>
                      <m:t>𝑧</m:t>
                    </m:r>
                    <m:r>
                      <a:rPr lang="en-IN" sz="2000" b="0" i="1" smtClean="0">
                        <a:latin typeface="Cambria Math" panose="02040503050406030204" pitchFamily="18" charset="0"/>
                      </a:rPr>
                      <m:t>)</m:t>
                    </m:r>
                  </m:oMath>
                </a14:m>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r>
                  <a:rPr lang="en-US" sz="2000" dirty="0">
                    <a:latin typeface="Arial Narrow" panose="020B0606020202030204" pitchFamily="34" charset="0"/>
                  </a:rPr>
                  <a:t>The generator is trained so that the distribution of generated samples, </a:t>
                </a:r>
                <a14:m>
                  <m:oMath xmlns:m="http://schemas.openxmlformats.org/officeDocument/2006/math">
                    <m:sSub>
                      <m:sSubPr>
                        <m:ctrlPr>
                          <a:rPr lang="en-IN" sz="2000" i="1">
                            <a:latin typeface="Cambria Math" panose="02040503050406030204" pitchFamily="18" charset="0"/>
                          </a:rPr>
                        </m:ctrlPr>
                      </m:sSubPr>
                      <m:e>
                        <m:r>
                          <a:rPr lang="en-IN" sz="2000" b="0" i="1" smtClean="0">
                            <a:latin typeface="Cambria Math" panose="02040503050406030204" pitchFamily="18" charset="0"/>
                          </a:rPr>
                          <m:t>𝑝</m:t>
                        </m:r>
                      </m:e>
                      <m:sub>
                        <m:r>
                          <a:rPr lang="en-IN" sz="2000" b="0" i="1" smtClean="0">
                            <a:latin typeface="Cambria Math" panose="02040503050406030204" pitchFamily="18" charset="0"/>
                            <a:ea typeface="Cambria Math" panose="02040503050406030204" pitchFamily="18" charset="0"/>
                          </a:rPr>
                          <m:t>𝐺</m:t>
                        </m:r>
                      </m:sub>
                    </m:sSub>
                    <m:r>
                      <a:rPr lang="en-IN" sz="2000" i="1">
                        <a:latin typeface="Cambria Math" panose="02040503050406030204" pitchFamily="18" charset="0"/>
                      </a:rPr>
                      <m:t>(</m:t>
                    </m:r>
                    <m:r>
                      <a:rPr lang="en-IN" sz="2000" b="0" i="1" smtClean="0">
                        <a:latin typeface="Cambria Math" panose="02040503050406030204" pitchFamily="18" charset="0"/>
                      </a:rPr>
                      <m:t>𝑥</m:t>
                    </m:r>
                    <m:r>
                      <a:rPr lang="en-IN" sz="2000" i="1">
                        <a:latin typeface="Cambria Math" panose="02040503050406030204" pitchFamily="18" charset="0"/>
                      </a:rPr>
                      <m:t>)</m:t>
                    </m:r>
                  </m:oMath>
                </a14:m>
                <a:r>
                  <a:rPr lang="en-US" sz="2000" dirty="0">
                    <a:latin typeface="Arial Narrow" panose="020B0606020202030204" pitchFamily="34" charset="0"/>
                  </a:rPr>
                  <a:t>, becomes similar to the real-data distribution </a:t>
                </a:r>
                <a14:m>
                  <m:oMath xmlns:m="http://schemas.openxmlformats.org/officeDocument/2006/math">
                    <m:sSub>
                      <m:sSubPr>
                        <m:ctrlPr>
                          <a:rPr lang="en-US" sz="2000" i="1" dirty="0">
                            <a:solidFill>
                              <a:srgbClr val="00B0F0"/>
                            </a:solidFill>
                            <a:latin typeface="Cambria Math" panose="02040503050406030204" pitchFamily="18" charset="0"/>
                          </a:rPr>
                        </m:ctrlPr>
                      </m:sSubPr>
                      <m:e>
                        <m:r>
                          <a:rPr lang="en-IN" sz="2000" i="1" dirty="0">
                            <a:solidFill>
                              <a:srgbClr val="00B0F0"/>
                            </a:solidFill>
                            <a:latin typeface="Cambria Math" panose="02040503050406030204" pitchFamily="18" charset="0"/>
                          </a:rPr>
                          <m:t>𝑝</m:t>
                        </m:r>
                      </m:e>
                      <m:sub>
                        <m:r>
                          <a:rPr lang="en-IN" sz="2000" i="1" dirty="0">
                            <a:solidFill>
                              <a:srgbClr val="00B0F0"/>
                            </a:solidFill>
                            <a:latin typeface="Cambria Math" panose="02040503050406030204" pitchFamily="18" charset="0"/>
                          </a:rPr>
                          <m:t>𝑑𝑎𝑡𝑎</m:t>
                        </m:r>
                      </m:sub>
                    </m:sSub>
                    <m:r>
                      <a:rPr lang="en-IN" sz="2000" i="1" dirty="0">
                        <a:solidFill>
                          <a:srgbClr val="00B0F0"/>
                        </a:solidFill>
                        <a:latin typeface="Cambria Math" panose="02040503050406030204" pitchFamily="18" charset="0"/>
                      </a:rPr>
                      <m:t>(</m:t>
                    </m:r>
                    <m:r>
                      <a:rPr lang="en-IN" sz="2000" i="1" dirty="0" smtClean="0">
                        <a:solidFill>
                          <a:srgbClr val="00B0F0"/>
                        </a:solidFill>
                        <a:latin typeface="Cambria Math" panose="02040503050406030204" pitchFamily="18" charset="0"/>
                      </a:rPr>
                      <m:t>𝑥</m:t>
                    </m:r>
                    <m:r>
                      <a:rPr lang="en-IN" sz="2000" i="1" dirty="0">
                        <a:solidFill>
                          <a:srgbClr val="00B0F0"/>
                        </a:solidFill>
                        <a:latin typeface="Cambria Math" panose="02040503050406030204" pitchFamily="18" charset="0"/>
                      </a:rPr>
                      <m:t>)</m:t>
                    </m:r>
                  </m:oMath>
                </a14:m>
                <a:r>
                  <a:rPr lang="en-US" sz="2000" dirty="0">
                    <a:latin typeface="Arial Narrow" panose="020B0606020202030204" pitchFamily="34" charset="0"/>
                  </a:rPr>
                  <a:t>. However, the model does not necessarily provide an analytical expression for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𝑝</m:t>
                        </m:r>
                      </m:e>
                      <m:sub>
                        <m:r>
                          <a:rPr lang="en-IN" sz="2000" i="1">
                            <a:latin typeface="Cambria Math" panose="02040503050406030204" pitchFamily="18" charset="0"/>
                            <a:ea typeface="Cambria Math" panose="02040503050406030204" pitchFamily="18" charset="0"/>
                          </a:rPr>
                          <m:t>𝐺</m:t>
                        </m:r>
                      </m:sub>
                    </m:sSub>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rPr>
                          <m:t>𝑥</m:t>
                        </m:r>
                      </m:e>
                    </m:d>
                    <m:r>
                      <a:rPr lang="en-IN" sz="2000" b="0" i="0" smtClean="0">
                        <a:latin typeface="Cambria Math" panose="02040503050406030204" pitchFamily="18" charset="0"/>
                      </a:rPr>
                      <m:t>.</m:t>
                    </m:r>
                  </m:oMath>
                </a14:m>
                <a:endParaRPr lang="en-US" sz="2000" dirty="0">
                  <a:latin typeface="Arial Narrow" panose="020B0606020202030204" pitchFamily="34" charset="0"/>
                </a:endParaRPr>
              </a:p>
              <a:p>
                <a:pPr algn="just"/>
                <a:endParaRPr lang="en-US" sz="2000" dirty="0">
                  <a:latin typeface="Arial Narrow" panose="020B0606020202030204" pitchFamily="34" charset="0"/>
                </a:endParaRPr>
              </a:p>
              <a:p>
                <a:pPr algn="just"/>
                <a:r>
                  <a:rPr lang="en-US" sz="2000" dirty="0">
                    <a:solidFill>
                      <a:srgbClr val="7030A0"/>
                    </a:solidFill>
                    <a:latin typeface="Arial Narrow" panose="020B0606020202030204" pitchFamily="34" charset="0"/>
                  </a:rPr>
                  <a:t>Generative Adversarial Networks (GANs) </a:t>
                </a:r>
                <a:r>
                  <a:rPr lang="en-US" sz="2000" dirty="0">
                    <a:latin typeface="Arial Narrow" panose="020B0606020202030204" pitchFamily="34" charset="0"/>
                  </a:rPr>
                  <a:t>are the classic example. The generator learns to produce samples that are indistinguishable from real samples, while the discriminator provides feedback about the difference between the real and generated distributions. Therefore, GANs </a:t>
                </a:r>
                <a:r>
                  <a:rPr lang="en-US" sz="2000" dirty="0">
                    <a:solidFill>
                      <a:srgbClr val="7030A0"/>
                    </a:solidFill>
                    <a:latin typeface="Arial Narrow" panose="020B0606020202030204" pitchFamily="34" charset="0"/>
                  </a:rPr>
                  <a:t>learn the data distribution implicitly through sample generation rather than explicitly estimating its probability density</a:t>
                </a:r>
                <a:r>
                  <a:rPr lang="en-US" sz="2000" dirty="0">
                    <a:latin typeface="Arial Narrow" panose="020B0606020202030204" pitchFamily="34" charset="0"/>
                  </a:rPr>
                  <a:t>.</a:t>
                </a:r>
              </a:p>
              <a:p>
                <a:pPr algn="just"/>
                <a:endParaRPr lang="en-US" sz="2000" dirty="0">
                  <a:latin typeface="Arial Narrow" panose="020B0606020202030204" pitchFamily="34" charset="0"/>
                </a:endParaRPr>
              </a:p>
              <a:p>
                <a:pPr algn="just"/>
                <a:endParaRPr lang="en-IN" sz="2000" dirty="0">
                  <a:latin typeface="Arial Narrow" panose="020B0606020202030204" pitchFamily="34" charset="0"/>
                </a:endParaRPr>
              </a:p>
            </p:txBody>
          </p:sp>
        </mc:Choice>
        <mc:Fallback xmlns="">
          <p:sp>
            <p:nvSpPr>
              <p:cNvPr id="3" name="Content Placeholder 2">
                <a:extLst>
                  <a:ext uri="{FF2B5EF4-FFF2-40B4-BE49-F238E27FC236}">
                    <a16:creationId xmlns:a16="http://schemas.microsoft.com/office/drawing/2014/main" id="{85616733-BB96-45D3-9934-1009083B7F64}"/>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2"/>
                <a:stretch>
                  <a:fillRect l="-522" t="-1359" r="-580" b="-951"/>
                </a:stretch>
              </a:blipFill>
            </p:spPr>
            <p:txBody>
              <a:bodyPr/>
              <a:lstStyle/>
              <a:p>
                <a:r>
                  <a:rPr lang="en-IN">
                    <a:noFill/>
                  </a:rPr>
                  <a:t> </a:t>
                </a:r>
              </a:p>
            </p:txBody>
          </p:sp>
        </mc:Fallback>
      </mc:AlternateContent>
    </p:spTree>
    <p:extLst>
      <p:ext uri="{BB962C8B-B14F-4D97-AF65-F5344CB8AC3E}">
        <p14:creationId xmlns:p14="http://schemas.microsoft.com/office/powerpoint/2010/main" val="2012237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9F08E-9CF0-4F7E-86CA-A87B3019C602}"/>
              </a:ext>
            </a:extLst>
          </p:cNvPr>
          <p:cNvSpPr>
            <a:spLocks noGrp="1"/>
          </p:cNvSpPr>
          <p:nvPr>
            <p:ph type="title"/>
          </p:nvPr>
        </p:nvSpPr>
        <p:spPr/>
        <p:txBody>
          <a:bodyPr>
            <a:normAutofit/>
          </a:bodyPr>
          <a:lstStyle/>
          <a:p>
            <a:r>
              <a:rPr lang="en-IN" sz="3600" dirty="0">
                <a:latin typeface="Century" panose="02040604050505020304" pitchFamily="18" charset="0"/>
              </a:rPr>
              <a:t>Implicit Density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70C3D-3D4E-44A0-9F8E-75E18CFE3F7A}"/>
                  </a:ext>
                </a:extLst>
              </p:cNvPr>
              <p:cNvSpPr>
                <a:spLocks noGrp="1"/>
              </p:cNvSpPr>
              <p:nvPr>
                <p:ph idx="1"/>
              </p:nvPr>
            </p:nvSpPr>
            <p:spPr/>
            <p:txBody>
              <a:bodyPr>
                <a:normAutofit/>
              </a:bodyPr>
              <a:lstStyle/>
              <a:p>
                <a:r>
                  <a:rPr lang="en-IN" dirty="0">
                    <a:latin typeface="Arial Narrow" panose="020B0606020202030204" pitchFamily="34" charset="0"/>
                    <a:cs typeface="Times New Roman" panose="02020603050405020304" pitchFamily="18" charset="0"/>
                  </a:rPr>
                  <a:t>These do </a:t>
                </a:r>
                <a:r>
                  <a:rPr lang="en-IN" dirty="0">
                    <a:solidFill>
                      <a:srgbClr val="C00000"/>
                    </a:solidFill>
                    <a:latin typeface="Arial Narrow" panose="020B0606020202030204" pitchFamily="34" charset="0"/>
                    <a:cs typeface="Times New Roman" panose="02020603050405020304" pitchFamily="18" charset="0"/>
                  </a:rPr>
                  <a:t>NOT</a:t>
                </a:r>
                <a:r>
                  <a:rPr lang="en-IN" dirty="0">
                    <a:latin typeface="Arial Narrow" panose="020B0606020202030204" pitchFamily="34" charset="0"/>
                    <a:cs typeface="Times New Roman" panose="02020603050405020304" pitchFamily="18" charset="0"/>
                  </a:rPr>
                  <a:t> </a:t>
                </a:r>
                <a:r>
                  <a:rPr lang="en-IN" dirty="0">
                    <a:solidFill>
                      <a:srgbClr val="7030A0"/>
                    </a:solidFill>
                    <a:latin typeface="Arial Narrow" panose="020B0606020202030204" pitchFamily="34" charset="0"/>
                    <a:cs typeface="Times New Roman" panose="02020603050405020304" pitchFamily="18" charset="0"/>
                  </a:rPr>
                  <a:t>compute </a:t>
                </a:r>
                <a14:m>
                  <m:oMath xmlns:m="http://schemas.openxmlformats.org/officeDocument/2006/math">
                    <m:r>
                      <a:rPr lang="en-IN" b="0" i="1" smtClean="0">
                        <a:solidFill>
                          <a:srgbClr val="7030A0"/>
                        </a:solidFill>
                        <a:latin typeface="Cambria Math" panose="02040503050406030204" pitchFamily="18" charset="0"/>
                        <a:cs typeface="Times New Roman" panose="02020603050405020304" pitchFamily="18" charset="0"/>
                      </a:rPr>
                      <m:t>𝑝</m:t>
                    </m:r>
                    <m:r>
                      <a:rPr lang="en-IN" b="0" i="1" smtClean="0">
                        <a:solidFill>
                          <a:srgbClr val="7030A0"/>
                        </a:solidFill>
                        <a:latin typeface="Cambria Math" panose="02040503050406030204" pitchFamily="18" charset="0"/>
                        <a:cs typeface="Times New Roman" panose="02020603050405020304" pitchFamily="18" charset="0"/>
                      </a:rPr>
                      <m:t>(</m:t>
                    </m:r>
                    <m:r>
                      <a:rPr lang="en-IN" b="0" i="1" smtClean="0">
                        <a:solidFill>
                          <a:srgbClr val="7030A0"/>
                        </a:solidFill>
                        <a:latin typeface="Cambria Math" panose="02040503050406030204" pitchFamily="18" charset="0"/>
                        <a:cs typeface="Times New Roman" panose="02020603050405020304" pitchFamily="18" charset="0"/>
                      </a:rPr>
                      <m:t>𝑥</m:t>
                    </m:r>
                    <m:r>
                      <a:rPr lang="en-IN" b="0" i="1" smtClean="0">
                        <a:solidFill>
                          <a:srgbClr val="7030A0"/>
                        </a:solidFill>
                        <a:latin typeface="Cambria Math" panose="02040503050406030204" pitchFamily="18" charset="0"/>
                        <a:cs typeface="Times New Roman" panose="02020603050405020304" pitchFamily="18" charset="0"/>
                      </a:rPr>
                      <m:t>)</m:t>
                    </m:r>
                  </m:oMath>
                </a14:m>
                <a:r>
                  <a:rPr lang="en-IN" dirty="0">
                    <a:solidFill>
                      <a:srgbClr val="7030A0"/>
                    </a:solidFill>
                    <a:latin typeface="Arial Narrow" panose="020B0606020202030204" pitchFamily="34" charset="0"/>
                    <a:cs typeface="Times New Roman" panose="02020603050405020304" pitchFamily="18" charset="0"/>
                  </a:rPr>
                  <a:t>explicitly</a:t>
                </a:r>
                <a:r>
                  <a:rPr lang="en-IN" dirty="0">
                    <a:latin typeface="Arial Narrow" panose="020B0606020202030204" pitchFamily="34" charset="0"/>
                    <a:cs typeface="Times New Roman" panose="02020603050405020304" pitchFamily="18" charset="0"/>
                  </a:rPr>
                  <a:t>. Rather, they:</a:t>
                </a:r>
              </a:p>
              <a:p>
                <a:pPr lvl="1"/>
                <a:r>
                  <a:rPr lang="en-IN" dirty="0">
                    <a:latin typeface="Arial Narrow" panose="020B0606020202030204" pitchFamily="34" charset="0"/>
                    <a:cs typeface="Times New Roman" panose="02020603050405020304" pitchFamily="18" charset="0"/>
                  </a:rPr>
                  <a:t>Learn a </a:t>
                </a:r>
                <a:r>
                  <a:rPr lang="en-IN" dirty="0">
                    <a:solidFill>
                      <a:srgbClr val="7030A0"/>
                    </a:solidFill>
                    <a:latin typeface="Arial Narrow" panose="020B0606020202030204" pitchFamily="34" charset="0"/>
                    <a:cs typeface="Times New Roman" panose="02020603050405020304" pitchFamily="18" charset="0"/>
                  </a:rPr>
                  <a:t>sampling procedure</a:t>
                </a:r>
              </a:p>
              <a:p>
                <a:pPr lvl="1"/>
                <a:r>
                  <a:rPr lang="en-IN" dirty="0">
                    <a:solidFill>
                      <a:srgbClr val="7030A0"/>
                    </a:solidFill>
                    <a:latin typeface="Arial Narrow" panose="020B0606020202030204" pitchFamily="34" charset="0"/>
                    <a:cs typeface="Times New Roman" panose="02020603050405020304" pitchFamily="18" charset="0"/>
                  </a:rPr>
                  <a:t>Match distributions </a:t>
                </a:r>
                <a:r>
                  <a:rPr lang="en-IN" dirty="0">
                    <a:latin typeface="Arial Narrow" panose="020B0606020202030204" pitchFamily="34" charset="0"/>
                    <a:cs typeface="Times New Roman" panose="02020603050405020304" pitchFamily="18" charset="0"/>
                  </a:rPr>
                  <a:t>indirectly</a:t>
                </a:r>
              </a:p>
              <a:p>
                <a:pPr marL="457200" lvl="1" indent="0">
                  <a:buNone/>
                </a:pPr>
                <a:endParaRPr lang="en-IN" dirty="0">
                  <a:latin typeface="Arial Narrow" panose="020B0606020202030204" pitchFamily="34" charset="0"/>
                  <a:cs typeface="Times New Roman" panose="02020603050405020304" pitchFamily="18" charset="0"/>
                </a:endParaRPr>
              </a:p>
              <a:p>
                <a:r>
                  <a:rPr lang="en-IN" dirty="0">
                    <a:latin typeface="Arial Narrow" panose="020B0606020202030204" pitchFamily="34" charset="0"/>
                    <a:cs typeface="Times New Roman" panose="02020603050405020304" pitchFamily="18" charset="0"/>
                  </a:rPr>
                  <a:t>Example: Generative Adversarial Networks (GANs)</a:t>
                </a:r>
              </a:p>
              <a:p>
                <a:pPr lvl="1"/>
                <a:r>
                  <a:rPr lang="en-IN" dirty="0">
                    <a:latin typeface="Arial Narrow" panose="020B0606020202030204" pitchFamily="34" charset="0"/>
                    <a:cs typeface="Times New Roman" panose="02020603050405020304" pitchFamily="18" charset="0"/>
                  </a:rPr>
                  <a:t>GANs define:</a:t>
                </a:r>
              </a:p>
              <a:p>
                <a:pPr marL="457200" lvl="1" indent="0">
                  <a:buNone/>
                </a:pPr>
                <a14:m>
                  <m:oMathPara xmlns:m="http://schemas.openxmlformats.org/officeDocument/2006/math">
                    <m:oMathParaPr>
                      <m:jc m:val="centerGroup"/>
                    </m:oMathParaPr>
                    <m:oMath xmlns:m="http://schemas.openxmlformats.org/officeDocument/2006/math">
                      <m:r>
                        <a:rPr lang="en-IN" b="0" i="1" smtClean="0">
                          <a:solidFill>
                            <a:srgbClr val="00B0F0"/>
                          </a:solidFill>
                          <a:latin typeface="Cambria Math" panose="02040503050406030204" pitchFamily="18" charset="0"/>
                          <a:cs typeface="Times New Roman" panose="02020603050405020304" pitchFamily="18" charset="0"/>
                        </a:rPr>
                        <m:t>𝑥</m:t>
                      </m:r>
                      <m:r>
                        <a:rPr lang="en-IN" b="0" i="1" smtClean="0">
                          <a:solidFill>
                            <a:srgbClr val="00B0F0"/>
                          </a:solidFill>
                          <a:latin typeface="Cambria Math" panose="02040503050406030204" pitchFamily="18" charset="0"/>
                          <a:cs typeface="Times New Roman" panose="02020603050405020304" pitchFamily="18" charset="0"/>
                        </a:rPr>
                        <m:t>=</m:t>
                      </m:r>
                      <m:r>
                        <a:rPr lang="en-IN" b="0" i="1" smtClean="0">
                          <a:solidFill>
                            <a:srgbClr val="00B0F0"/>
                          </a:solidFill>
                          <a:latin typeface="Cambria Math" panose="02040503050406030204" pitchFamily="18" charset="0"/>
                          <a:cs typeface="Times New Roman" panose="02020603050405020304" pitchFamily="18" charset="0"/>
                        </a:rPr>
                        <m:t>𝐺</m:t>
                      </m:r>
                      <m:d>
                        <m:dPr>
                          <m:ctrlPr>
                            <a:rPr lang="en-IN" b="0" i="1" smtClean="0">
                              <a:solidFill>
                                <a:srgbClr val="00B0F0"/>
                              </a:solidFill>
                              <a:latin typeface="Cambria Math" panose="02040503050406030204" pitchFamily="18" charset="0"/>
                              <a:cs typeface="Times New Roman" panose="02020603050405020304" pitchFamily="18" charset="0"/>
                            </a:rPr>
                          </m:ctrlPr>
                        </m:dPr>
                        <m:e>
                          <m:r>
                            <a:rPr lang="en-IN" b="0" i="1" smtClean="0">
                              <a:solidFill>
                                <a:srgbClr val="00B0F0"/>
                              </a:solidFill>
                              <a:latin typeface="Cambria Math" panose="02040503050406030204" pitchFamily="18" charset="0"/>
                              <a:cs typeface="Times New Roman" panose="02020603050405020304" pitchFamily="18" charset="0"/>
                            </a:rPr>
                            <m:t>𝑧</m:t>
                          </m:r>
                        </m:e>
                      </m:d>
                      <m:r>
                        <a:rPr lang="en-IN" b="0" i="1" smtClean="0">
                          <a:solidFill>
                            <a:srgbClr val="00B0F0"/>
                          </a:solidFill>
                          <a:latin typeface="Cambria Math" panose="02040503050406030204" pitchFamily="18" charset="0"/>
                          <a:cs typeface="Times New Roman" panose="02020603050405020304" pitchFamily="18" charset="0"/>
                        </a:rPr>
                        <m:t>         </m:t>
                      </m:r>
                      <m:r>
                        <a:rPr lang="en-IN" b="0" i="1" smtClean="0">
                          <a:solidFill>
                            <a:srgbClr val="00B0F0"/>
                          </a:solidFill>
                          <a:latin typeface="Cambria Math" panose="02040503050406030204" pitchFamily="18" charset="0"/>
                          <a:cs typeface="Times New Roman" panose="02020603050405020304" pitchFamily="18" charset="0"/>
                        </a:rPr>
                        <m:t>𝑤h𝑒𝑟𝑒</m:t>
                      </m:r>
                      <m:r>
                        <a:rPr lang="en-IN" b="0" i="1" smtClean="0">
                          <a:solidFill>
                            <a:srgbClr val="00B0F0"/>
                          </a:solidFill>
                          <a:latin typeface="Cambria Math" panose="02040503050406030204" pitchFamily="18" charset="0"/>
                          <a:cs typeface="Times New Roman" panose="02020603050405020304" pitchFamily="18" charset="0"/>
                        </a:rPr>
                        <m:t> </m:t>
                      </m:r>
                      <m:r>
                        <a:rPr lang="en-IN" b="0" i="1" smtClean="0">
                          <a:solidFill>
                            <a:srgbClr val="00B0F0"/>
                          </a:solidFill>
                          <a:latin typeface="Cambria Math" panose="02040503050406030204" pitchFamily="18" charset="0"/>
                          <a:cs typeface="Times New Roman" panose="02020603050405020304" pitchFamily="18" charset="0"/>
                        </a:rPr>
                        <m:t>𝑧</m:t>
                      </m:r>
                      <m:r>
                        <a:rPr lang="en-IN"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𝑝</m:t>
                      </m:r>
                      <m:r>
                        <a:rPr lang="en-IN"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r>
                        <a:rPr lang="en-IN"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𝑧</m:t>
                      </m:r>
                      <m:r>
                        <a:rPr lang="en-IN" b="0" i="1" smtClean="0">
                          <a:solidFill>
                            <a:srgbClr val="00B0F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IN" dirty="0">
                  <a:solidFill>
                    <a:srgbClr val="00B0F0"/>
                  </a:solidFill>
                  <a:latin typeface="Arial Narrow" panose="020B0606020202030204" pitchFamily="34" charset="0"/>
                  <a:cs typeface="Times New Roman" panose="02020603050405020304" pitchFamily="18" charset="0"/>
                </a:endParaRPr>
              </a:p>
              <a:p>
                <a:pPr lvl="1"/>
                <a:endParaRPr lang="en-IN" dirty="0">
                  <a:latin typeface="Arial Narrow" panose="020B0606020202030204" pitchFamily="34" charset="0"/>
                  <a:cs typeface="Times New Roman" panose="02020603050405020304" pitchFamily="18" charset="0"/>
                </a:endParaRPr>
              </a:p>
              <a:p>
                <a:pPr lvl="1"/>
                <a:r>
                  <a:rPr lang="en-IN" dirty="0">
                    <a:latin typeface="Arial Narrow" panose="020B0606020202030204" pitchFamily="34" charset="0"/>
                    <a:cs typeface="Times New Roman" panose="02020603050405020304" pitchFamily="18" charset="0"/>
                  </a:rPr>
                  <a:t>But they never compute </a:t>
                </a:r>
                <a14:m>
                  <m:oMath xmlns:m="http://schemas.openxmlformats.org/officeDocument/2006/math">
                    <m:r>
                      <a:rPr lang="en-IN" b="0" i="1" smtClean="0">
                        <a:solidFill>
                          <a:srgbClr val="00B0F0"/>
                        </a:solidFill>
                        <a:latin typeface="Cambria Math" panose="02040503050406030204" pitchFamily="18" charset="0"/>
                        <a:cs typeface="Times New Roman" panose="02020603050405020304" pitchFamily="18" charset="0"/>
                      </a:rPr>
                      <m:t>𝑝</m:t>
                    </m:r>
                    <m:r>
                      <a:rPr lang="en-IN" b="0" i="1" smtClean="0">
                        <a:solidFill>
                          <a:srgbClr val="00B0F0"/>
                        </a:solidFill>
                        <a:latin typeface="Cambria Math" panose="02040503050406030204" pitchFamily="18" charset="0"/>
                        <a:cs typeface="Times New Roman" panose="02020603050405020304" pitchFamily="18" charset="0"/>
                      </a:rPr>
                      <m:t>(</m:t>
                    </m:r>
                    <m:r>
                      <a:rPr lang="en-IN" b="0" i="1" smtClean="0">
                        <a:solidFill>
                          <a:srgbClr val="00B0F0"/>
                        </a:solidFill>
                        <a:latin typeface="Cambria Math" panose="02040503050406030204" pitchFamily="18" charset="0"/>
                        <a:cs typeface="Times New Roman" panose="02020603050405020304" pitchFamily="18" charset="0"/>
                      </a:rPr>
                      <m:t>𝑥</m:t>
                    </m:r>
                    <m:r>
                      <a:rPr lang="en-IN" b="0" i="1" smtClean="0">
                        <a:solidFill>
                          <a:srgbClr val="00B0F0"/>
                        </a:solidFill>
                        <a:latin typeface="Cambria Math" panose="02040503050406030204" pitchFamily="18" charset="0"/>
                        <a:cs typeface="Times New Roman" panose="02020603050405020304" pitchFamily="18" charset="0"/>
                      </a:rPr>
                      <m:t>)</m:t>
                    </m:r>
                  </m:oMath>
                </a14:m>
                <a:r>
                  <a:rPr lang="en-IN" dirty="0">
                    <a:latin typeface="Arial Narrow" panose="020B0606020202030204" pitchFamily="34" charset="0"/>
                    <a:cs typeface="Times New Roman" panose="02020603050405020304" pitchFamily="18" charset="0"/>
                  </a:rPr>
                  <a:t>. So, they are </a:t>
                </a:r>
                <a:r>
                  <a:rPr lang="en-US" dirty="0">
                    <a:latin typeface="Arial Narrow" panose="020B0606020202030204" pitchFamily="34" charset="0"/>
                    <a:cs typeface="Times New Roman" panose="02020603050405020304" pitchFamily="18" charset="0"/>
                  </a:rPr>
                  <a:t>generative models without explicit density estimation.</a:t>
                </a:r>
                <a:endParaRPr lang="en-IN" dirty="0">
                  <a:latin typeface="Arial Narrow" panose="020B0606020202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54B70C3D-3D4E-44A0-9F8E-75E18CFE3F7A}"/>
                  </a:ext>
                </a:extLst>
              </p:cNvPr>
              <p:cNvSpPr>
                <a:spLocks noGrp="1" noRot="1" noChangeAspect="1" noMove="1" noResize="1" noEditPoints="1" noAdjustHandles="1" noChangeArrowheads="1" noChangeShapeType="1" noTextEdit="1"/>
              </p:cNvSpPr>
              <p:nvPr>
                <p:ph idx="1"/>
              </p:nvPr>
            </p:nvSpPr>
            <p:spPr>
              <a:blipFill>
                <a:blip r:embed="rId2"/>
                <a:stretch>
                  <a:fillRect l="-1043" t="-2381" r="-116"/>
                </a:stretch>
              </a:blipFill>
            </p:spPr>
            <p:txBody>
              <a:bodyPr/>
              <a:lstStyle/>
              <a:p>
                <a:r>
                  <a:rPr lang="en-IN">
                    <a:noFill/>
                  </a:rPr>
                  <a:t> </a:t>
                </a:r>
              </a:p>
            </p:txBody>
          </p:sp>
        </mc:Fallback>
      </mc:AlternateContent>
    </p:spTree>
    <p:extLst>
      <p:ext uri="{BB962C8B-B14F-4D97-AF65-F5344CB8AC3E}">
        <p14:creationId xmlns:p14="http://schemas.microsoft.com/office/powerpoint/2010/main" val="1792227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37711-EBC6-45DB-A2E7-39687EDD5361}"/>
              </a:ext>
            </a:extLst>
          </p:cNvPr>
          <p:cNvSpPr>
            <a:spLocks noGrp="1"/>
          </p:cNvSpPr>
          <p:nvPr>
            <p:ph type="title"/>
          </p:nvPr>
        </p:nvSpPr>
        <p:spPr/>
        <p:txBody>
          <a:bodyPr>
            <a:normAutofit/>
          </a:bodyPr>
          <a:lstStyle/>
          <a:p>
            <a:r>
              <a:rPr lang="en-IN" sz="3600" dirty="0">
                <a:latin typeface="Century" panose="02040604050505020304" pitchFamily="18" charset="0"/>
              </a:rPr>
              <a:t>Score-Based / Diffusion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74CE3A-51E1-4B48-98FE-91E75A8652C6}"/>
                  </a:ext>
                </a:extLst>
              </p:cNvPr>
              <p:cNvSpPr>
                <a:spLocks noGrp="1"/>
              </p:cNvSpPr>
              <p:nvPr>
                <p:ph idx="1"/>
              </p:nvPr>
            </p:nvSpPr>
            <p:spPr/>
            <p:txBody>
              <a:bodyPr>
                <a:normAutofit/>
              </a:bodyPr>
              <a:lstStyle/>
              <a:p>
                <a:r>
                  <a:rPr lang="en-IN" sz="2400" dirty="0">
                    <a:latin typeface="Arial Narrow" panose="020B0606020202030204" pitchFamily="34" charset="0"/>
                    <a:cs typeface="Times New Roman" panose="02020603050405020304" pitchFamily="18" charset="0"/>
                  </a:rPr>
                  <a:t>Example: </a:t>
                </a:r>
                <a:r>
                  <a:rPr lang="en-IN" sz="2400" dirty="0">
                    <a:solidFill>
                      <a:srgbClr val="7030A0"/>
                    </a:solidFill>
                    <a:latin typeface="Arial Narrow" panose="020B0606020202030204" pitchFamily="34" charset="0"/>
                    <a:cs typeface="Times New Roman" panose="02020603050405020304" pitchFamily="18" charset="0"/>
                  </a:rPr>
                  <a:t>Denoising Diffusion Probabilistic Models (DDPM)</a:t>
                </a:r>
                <a:r>
                  <a:rPr lang="en-IN" sz="2400" dirty="0">
                    <a:latin typeface="Arial Narrow" panose="020B0606020202030204" pitchFamily="34" charset="0"/>
                    <a:cs typeface="Times New Roman" panose="02020603050405020304" pitchFamily="18" charset="0"/>
                  </a:rPr>
                  <a:t>.</a:t>
                </a:r>
              </a:p>
              <a:p>
                <a:endParaRPr lang="en-IN" sz="2400" dirty="0">
                  <a:latin typeface="Arial Narrow" panose="020B0606020202030204" pitchFamily="34" charset="0"/>
                  <a:cs typeface="Times New Roman" panose="02020603050405020304" pitchFamily="18" charset="0"/>
                </a:endParaRPr>
              </a:p>
              <a:p>
                <a:r>
                  <a:rPr lang="en-IN" sz="2400" dirty="0">
                    <a:latin typeface="Arial Narrow" panose="020B0606020202030204" pitchFamily="34" charset="0"/>
                    <a:cs typeface="Times New Roman" panose="02020603050405020304" pitchFamily="18" charset="0"/>
                  </a:rPr>
                  <a:t>Score Matching models: These estimate the score function:</a:t>
                </a:r>
              </a:p>
              <a:p>
                <a:pPr marL="0" indent="0">
                  <a:buNone/>
                </a:pPr>
                <a:r>
                  <a:rPr lang="en-IN" sz="2400" dirty="0">
                    <a:latin typeface="Arial Narrow" panose="020B0606020202030204" pitchFamily="34" charset="0"/>
                    <a:cs typeface="Times New Roman" panose="02020603050405020304" pitchFamily="18" charset="0"/>
                  </a:rPr>
                  <a:t>				</a:t>
                </a:r>
                <a14:m>
                  <m:oMath xmlns:m="http://schemas.openxmlformats.org/officeDocument/2006/math">
                    <m:r>
                      <m:rPr>
                        <m:nor/>
                      </m:rPr>
                      <a:rPr lang="en-IN" sz="240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m:t>
                    </m:r>
                    <m:r>
                      <m:rPr>
                        <m:nor/>
                      </m:rPr>
                      <a:rPr lang="en-IN" sz="240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𝑥</m:t>
                    </m:r>
                    <m:r>
                      <m:rPr>
                        <m:nor/>
                      </m:rPr>
                      <a:rPr lang="en-IN" sz="2400" b="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log</m:t>
                    </m:r>
                    <m:r>
                      <m:rPr>
                        <m:nor/>
                      </m:rPr>
                      <a:rPr lang="en-IN" sz="2400" b="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 </m:t>
                    </m:r>
                    <m:r>
                      <m:rPr>
                        <m:nor/>
                      </m:rPr>
                      <a:rPr lang="en-IN" sz="2400" b="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p</m:t>
                    </m:r>
                    <m:r>
                      <m:rPr>
                        <m:nor/>
                      </m:rPr>
                      <a:rPr lang="en-IN" sz="2400" b="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m:t>
                    </m:r>
                    <m:r>
                      <m:rPr>
                        <m:nor/>
                      </m:rPr>
                      <a:rPr lang="en-IN" sz="2400" b="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x</m:t>
                    </m:r>
                    <m:r>
                      <m:rPr>
                        <m:nor/>
                      </m:rPr>
                      <a:rPr lang="en-IN" sz="2400" b="0" dirty="0" smtClean="0">
                        <a:solidFill>
                          <a:srgbClr val="00B0F0"/>
                        </a:solidFill>
                        <a:latin typeface="Arial Narrow" panose="020B0606020202030204" pitchFamily="34" charset="0"/>
                        <a:ea typeface="Cambria Math" panose="02040503050406030204" pitchFamily="18" charset="0"/>
                        <a:cs typeface="Times New Roman" panose="02020603050405020304" pitchFamily="18" charset="0"/>
                      </a:rPr>
                      <m:t>)</m:t>
                    </m:r>
                  </m:oMath>
                </a14:m>
                <a:r>
                  <a:rPr lang="en-IN" sz="2400" dirty="0">
                    <a:solidFill>
                      <a:srgbClr val="00B0F0"/>
                    </a:solidFill>
                    <a:latin typeface="Arial Narrow" panose="020B0606020202030204" pitchFamily="34" charset="0"/>
                    <a:ea typeface="Cambria Math" panose="02040503050406030204" pitchFamily="18" charset="0"/>
                    <a:cs typeface="Times New Roman" panose="02020603050405020304" pitchFamily="18" charset="0"/>
                  </a:rPr>
                  <a:t> </a:t>
                </a:r>
                <a:endParaRPr lang="en-IN" sz="2400" dirty="0">
                  <a:latin typeface="Arial Narrow" panose="020B0606020202030204" pitchFamily="34" charset="0"/>
                  <a:ea typeface="Cambria Math" panose="02040503050406030204" pitchFamily="18" charset="0"/>
                  <a:cs typeface="Times New Roman" panose="02020603050405020304" pitchFamily="18" charset="0"/>
                </a:endParaRPr>
              </a:p>
              <a:p>
                <a:pPr marL="0" indent="0">
                  <a:buNone/>
                </a:pPr>
                <a:endParaRPr lang="en-IN" sz="2400" dirty="0">
                  <a:latin typeface="Arial Narrow" panose="020B0606020202030204" pitchFamily="34" charset="0"/>
                  <a:cs typeface="Times New Roman" panose="02020603050405020304" pitchFamily="18" charset="0"/>
                </a:endParaRPr>
              </a:p>
              <a:p>
                <a:r>
                  <a:rPr lang="en-IN" sz="2400" dirty="0">
                    <a:latin typeface="Arial Narrow" panose="020B0606020202030204" pitchFamily="34" charset="0"/>
                    <a:cs typeface="Times New Roman" panose="02020603050405020304" pitchFamily="18" charset="0"/>
                  </a:rPr>
                  <a:t>They don’t estimate the density directly, but they estimate its </a:t>
                </a:r>
                <a:r>
                  <a:rPr lang="en-IN" sz="2400" dirty="0">
                    <a:solidFill>
                      <a:srgbClr val="7030A0"/>
                    </a:solidFill>
                    <a:latin typeface="Arial Narrow" panose="020B0606020202030204" pitchFamily="34" charset="0"/>
                    <a:cs typeface="Times New Roman" panose="02020603050405020304" pitchFamily="18" charset="0"/>
                  </a:rPr>
                  <a:t>gradient</a:t>
                </a:r>
                <a:r>
                  <a:rPr lang="en-IN" sz="2400" dirty="0">
                    <a:latin typeface="Arial Narrow" panose="020B0606020202030204" pitchFamily="34" charset="0"/>
                    <a:cs typeface="Times New Roman" panose="02020603050405020304" pitchFamily="18" charset="0"/>
                  </a:rPr>
                  <a:t>.</a:t>
                </a:r>
              </a:p>
              <a:p>
                <a:endParaRPr lang="en-IN" sz="2400" dirty="0">
                  <a:latin typeface="Arial Narrow" panose="020B0606020202030204" pitchFamily="34" charset="0"/>
                  <a:cs typeface="Times New Roman" panose="02020603050405020304" pitchFamily="18" charset="0"/>
                </a:endParaRPr>
              </a:p>
              <a:p>
                <a:r>
                  <a:rPr lang="en-IN" sz="2400" dirty="0">
                    <a:latin typeface="Arial Narrow" panose="020B0606020202030204" pitchFamily="34" charset="0"/>
                    <a:cs typeface="Times New Roman" panose="02020603050405020304" pitchFamily="18" charset="0"/>
                  </a:rPr>
                  <a:t>So they perform </a:t>
                </a:r>
                <a:r>
                  <a:rPr lang="en-IN" sz="2400" dirty="0">
                    <a:solidFill>
                      <a:srgbClr val="7030A0"/>
                    </a:solidFill>
                    <a:latin typeface="Arial Narrow" panose="020B0606020202030204" pitchFamily="34" charset="0"/>
                    <a:cs typeface="Times New Roman" panose="02020603050405020304" pitchFamily="18" charset="0"/>
                  </a:rPr>
                  <a:t>implicit density estimation via score estimation</a:t>
                </a:r>
                <a:r>
                  <a:rPr lang="en-IN" sz="2400" dirty="0">
                    <a:latin typeface="Arial Narrow" panose="020B0606020202030204" pitchFamily="34" charset="0"/>
                    <a:cs typeface="Times New Roman" panose="02020603050405020304" pitchFamily="18" charset="0"/>
                  </a:rPr>
                  <a:t>.</a:t>
                </a:r>
              </a:p>
            </p:txBody>
          </p:sp>
        </mc:Choice>
        <mc:Fallback xmlns="">
          <p:sp>
            <p:nvSpPr>
              <p:cNvPr id="3" name="Content Placeholder 2">
                <a:extLst>
                  <a:ext uri="{FF2B5EF4-FFF2-40B4-BE49-F238E27FC236}">
                    <a16:creationId xmlns:a16="http://schemas.microsoft.com/office/drawing/2014/main" id="{A774CE3A-51E1-4B48-98FE-91E75A8652C6}"/>
                  </a:ext>
                </a:extLst>
              </p:cNvPr>
              <p:cNvSpPr>
                <a:spLocks noGrp="1" noRot="1" noChangeAspect="1" noMove="1" noResize="1" noEditPoints="1" noAdjustHandles="1" noChangeArrowheads="1" noChangeShapeType="1" noTextEdit="1"/>
              </p:cNvSpPr>
              <p:nvPr>
                <p:ph idx="1"/>
              </p:nvPr>
            </p:nvSpPr>
            <p:spPr>
              <a:blipFill>
                <a:blip r:embed="rId2"/>
                <a:stretch>
                  <a:fillRect l="-812" t="-1821"/>
                </a:stretch>
              </a:blipFill>
            </p:spPr>
            <p:txBody>
              <a:bodyPr/>
              <a:lstStyle/>
              <a:p>
                <a:r>
                  <a:rPr lang="en-IN">
                    <a:noFill/>
                  </a:rPr>
                  <a:t> </a:t>
                </a:r>
              </a:p>
            </p:txBody>
          </p:sp>
        </mc:Fallback>
      </mc:AlternateContent>
    </p:spTree>
    <p:extLst>
      <p:ext uri="{BB962C8B-B14F-4D97-AF65-F5344CB8AC3E}">
        <p14:creationId xmlns:p14="http://schemas.microsoft.com/office/powerpoint/2010/main" val="3774784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Century" panose="02040604050505020304" pitchFamily="18" charset="0"/>
              </a:rPr>
              <a:t>Summary</a:t>
            </a:r>
          </a:p>
        </p:txBody>
      </p:sp>
      <p:sp>
        <p:nvSpPr>
          <p:cNvPr id="3" name="Content Placeholder 2"/>
          <p:cNvSpPr>
            <a:spLocks noGrp="1"/>
          </p:cNvSpPr>
          <p:nvPr>
            <p:ph idx="1"/>
          </p:nvPr>
        </p:nvSpPr>
        <p:spPr>
          <a:xfrm>
            <a:off x="838200" y="1690687"/>
            <a:ext cx="10515600" cy="4239057"/>
          </a:xfrm>
        </p:spPr>
        <p:txBody>
          <a:bodyPr>
            <a:normAutofit/>
          </a:bodyPr>
          <a:lstStyle/>
          <a:p>
            <a:pPr marL="457200" indent="-457200">
              <a:lnSpc>
                <a:spcPct val="150000"/>
              </a:lnSpc>
            </a:pPr>
            <a:r>
              <a:rPr lang="en-US" dirty="0">
                <a:latin typeface="Arial Narrow" panose="020B0606020202030204" pitchFamily="34" charset="0"/>
                <a:cs typeface="Times New Roman" panose="02020603050405020304" pitchFamily="18" charset="0"/>
              </a:rPr>
              <a:t>Generative Learning Models</a:t>
            </a:r>
          </a:p>
          <a:p>
            <a:pPr marL="457200" indent="-457200">
              <a:lnSpc>
                <a:spcPct val="150000"/>
              </a:lnSpc>
            </a:pPr>
            <a:r>
              <a:rPr lang="en-US" dirty="0">
                <a:latin typeface="Arial Narrow" panose="020B0606020202030204" pitchFamily="34" charset="0"/>
                <a:cs typeface="Times New Roman" panose="02020603050405020304" pitchFamily="18" charset="0"/>
              </a:rPr>
              <a:t>Statistical Understanding </a:t>
            </a:r>
          </a:p>
          <a:p>
            <a:pPr marL="457200" indent="-457200">
              <a:lnSpc>
                <a:spcPct val="150000"/>
              </a:lnSpc>
            </a:pPr>
            <a:r>
              <a:rPr lang="en-US" dirty="0">
                <a:latin typeface="Arial Narrow" panose="020B0606020202030204" pitchFamily="34" charset="0"/>
                <a:cs typeface="Times New Roman" panose="02020603050405020304" pitchFamily="18" charset="0"/>
              </a:rPr>
              <a:t>Maximum Likelihood</a:t>
            </a:r>
          </a:p>
          <a:p>
            <a:pPr marL="457200" indent="-457200">
              <a:lnSpc>
                <a:spcPct val="150000"/>
              </a:lnSpc>
            </a:pPr>
            <a:r>
              <a:rPr lang="en-US" dirty="0">
                <a:latin typeface="Arial Narrow" panose="020B0606020202030204" pitchFamily="34" charset="0"/>
                <a:cs typeface="Times New Roman" panose="02020603050405020304" pitchFamily="18" charset="0"/>
              </a:rPr>
              <a:t>Density Estimation</a:t>
            </a:r>
          </a:p>
          <a:p>
            <a:pPr marL="457200" indent="-457200">
              <a:lnSpc>
                <a:spcPct val="150000"/>
              </a:lnSpc>
            </a:pPr>
            <a:r>
              <a:rPr lang="en-US" dirty="0">
                <a:latin typeface="Arial Narrow" panose="020B0606020202030204" pitchFamily="34" charset="0"/>
                <a:cs typeface="Times New Roman" panose="02020603050405020304" pitchFamily="18" charset="0"/>
              </a:rPr>
              <a:t>Different Generative Models</a:t>
            </a:r>
          </a:p>
        </p:txBody>
      </p:sp>
    </p:spTree>
    <p:extLst>
      <p:ext uri="{BB962C8B-B14F-4D97-AF65-F5344CB8AC3E}">
        <p14:creationId xmlns:p14="http://schemas.microsoft.com/office/powerpoint/2010/main" val="1799600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742339"/>
            <a:ext cx="9144000" cy="2387600"/>
          </a:xfrm>
        </p:spPr>
        <p:txBody>
          <a:bodyPr>
            <a:normAutofit/>
          </a:bodyPr>
          <a:lstStyle/>
          <a:p>
            <a:r>
              <a:rPr lang="en-US" sz="4000" dirty="0">
                <a:solidFill>
                  <a:srgbClr val="002060"/>
                </a:solidFill>
                <a:latin typeface="Arial Narrow" panose="020B0606020202030204" pitchFamily="34" charset="0"/>
              </a:rPr>
              <a:t>Auto-regressive Generative Models</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1384995"/>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Lecture 8: Part 2</a:t>
            </a:r>
          </a:p>
        </p:txBody>
      </p:sp>
    </p:spTree>
    <p:extLst>
      <p:ext uri="{BB962C8B-B14F-4D97-AF65-F5344CB8AC3E}">
        <p14:creationId xmlns:p14="http://schemas.microsoft.com/office/powerpoint/2010/main" val="757281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6515</TotalTime>
  <Words>2285</Words>
  <Application>Microsoft Office PowerPoint</Application>
  <PresentationFormat>Widescreen</PresentationFormat>
  <Paragraphs>259</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Narrow</vt:lpstr>
      <vt:lpstr>Book Antiqua</vt:lpstr>
      <vt:lpstr>Calibri</vt:lpstr>
      <vt:lpstr>Calibri Light</vt:lpstr>
      <vt:lpstr>Cambria Math</vt:lpstr>
      <vt:lpstr>Century</vt:lpstr>
      <vt:lpstr>Times New Roman</vt:lpstr>
      <vt:lpstr>Office Theme</vt:lpstr>
      <vt:lpstr>  Generative Modelling</vt:lpstr>
      <vt:lpstr>Content</vt:lpstr>
      <vt:lpstr>PowerPoint Presentation</vt:lpstr>
      <vt:lpstr>PowerPoint Presentation</vt:lpstr>
      <vt:lpstr>PowerPoint Presentation</vt:lpstr>
      <vt:lpstr>How Generative Model Works? A statistical Understanding</vt:lpstr>
      <vt:lpstr>How Generative Model Works? A statistical Understanding</vt:lpstr>
      <vt:lpstr>How Generative Model Works? A statistical Understanding</vt:lpstr>
      <vt:lpstr>How Generative Model Works? A statistical Understanding</vt:lpstr>
      <vt:lpstr>MLE in Generative Modeling</vt:lpstr>
      <vt:lpstr>MLE in Generative Modeling</vt:lpstr>
      <vt:lpstr>MLE in Generative Modeling</vt:lpstr>
      <vt:lpstr>MLE in Generative Modeling</vt:lpstr>
      <vt:lpstr>Why it is called Generative?</vt:lpstr>
      <vt:lpstr>Three Main Types of Generative Models</vt:lpstr>
      <vt:lpstr>Different Generative Models</vt:lpstr>
      <vt:lpstr> Density Estimation in Generative Modelling </vt:lpstr>
      <vt:lpstr> Density Estimation in Generative Modelling </vt:lpstr>
      <vt:lpstr>Explicit Density Estimation</vt:lpstr>
      <vt:lpstr>Explicit Density Models</vt:lpstr>
      <vt:lpstr>Explicit Density Models Two main Categories</vt:lpstr>
      <vt:lpstr>Explicit Density Estimation</vt:lpstr>
      <vt:lpstr>Implicit Density Estimation</vt:lpstr>
      <vt:lpstr>Implicit Density Models</vt:lpstr>
      <vt:lpstr>Score-Based / Diffusion Models</vt:lpstr>
      <vt:lpstr>Summary</vt:lpstr>
      <vt:lpstr>Auto-regressive Generative Models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Modelling – Part 1</dc:title>
  <dc:creator>IITG</dc:creator>
  <cp:lastModifiedBy>HP</cp:lastModifiedBy>
  <cp:revision>32</cp:revision>
  <dcterms:created xsi:type="dcterms:W3CDTF">2026-08-17T02:48:20Z</dcterms:created>
  <dcterms:modified xsi:type="dcterms:W3CDTF">2026-08-23T14:26:50Z</dcterms:modified>
</cp:coreProperties>
</file>