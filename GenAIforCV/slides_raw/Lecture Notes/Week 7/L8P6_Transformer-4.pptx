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426" r:id="rId3"/>
    <p:sldId id="417" r:id="rId4"/>
    <p:sldId id="380" r:id="rId5"/>
    <p:sldId id="419" r:id="rId6"/>
    <p:sldId id="420" r:id="rId7"/>
    <p:sldId id="383" r:id="rId8"/>
    <p:sldId id="421" r:id="rId9"/>
    <p:sldId id="422" r:id="rId10"/>
    <p:sldId id="384" r:id="rId11"/>
    <p:sldId id="412" r:id="rId12"/>
    <p:sldId id="418" r:id="rId13"/>
    <p:sldId id="385" r:id="rId14"/>
    <p:sldId id="423" r:id="rId15"/>
    <p:sldId id="424" r:id="rId16"/>
    <p:sldId id="425" r:id="rId17"/>
    <p:sldId id="386" r:id="rId18"/>
    <p:sldId id="390" r:id="rId19"/>
    <p:sldId id="387" r:id="rId20"/>
    <p:sldId id="430" r:id="rId21"/>
    <p:sldId id="388" r:id="rId22"/>
    <p:sldId id="428" r:id="rId23"/>
    <p:sldId id="429" r:id="rId24"/>
    <p:sldId id="431" r:id="rId25"/>
    <p:sldId id="432" r:id="rId26"/>
    <p:sldId id="433" r:id="rId27"/>
    <p:sldId id="434" r:id="rId28"/>
    <p:sldId id="435" r:id="rId29"/>
    <p:sldId id="338" r:id="rId30"/>
    <p:sldId id="427" r:id="rId31"/>
    <p:sldId id="26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784C8-FECD-49B1-8984-C4F018585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14CF4-87DB-49E4-8062-9009A17D4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C1A1D-8132-4A03-946E-01EF6ED29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1FD68-83AE-4723-B534-41C1CA30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53DD8-B636-4287-8D08-069C5221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956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FAD8-A553-4CF0-99B4-7CECA33D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43F0C-CDF8-46DC-B36A-596912FD1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0E66D-7270-4694-B5D4-B1F071A3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4D13B-8182-4FAE-B6A0-18693AB6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30E27-4979-4FC0-A5DE-C08D299B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88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40BD3-254E-41DF-A5AB-BC42B987E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E26AE-2FCC-4F04-8D0D-2D9348317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088B2-AA72-47F6-A249-A288AD48D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096B8-7EAC-4978-B654-08F8CBBF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C89A0-2902-4A4A-A34E-F05467DBF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75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F27A-5746-4BBD-BD6F-838CE56E6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8BFE7-BAB1-4EB0-A2B7-4C5ECFD85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6DDA9-5FC0-4AAD-8DB2-D47BB5D1E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B229C-40E4-4859-8327-E17EC278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C0A38-EF4F-4450-BEC5-A6962759B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88EDA-B3EA-4A8B-A633-251612C1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896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D186D-9981-4F7D-A583-239F2CBB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13AD5-4872-4E6D-B702-4A5961D84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89D9C-2EFD-4423-A4D0-557E45B2E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37419-347E-4F5E-89F7-5CBA280BE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8C63F1-9A2C-4773-BA99-DC7B35B42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C1C1C2-4498-4C1C-91BA-68B68E11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CFB812-CF14-4117-A081-C9152ABC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96700-8A6F-4884-8046-E7094A47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505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C7879-7B99-4AFE-8819-9B8DE26B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B4A79-5E4B-4F0F-80E5-90B1EA92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8107E-33EC-4EA1-95A5-7FA25E74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4443F9-D477-4F20-9DBB-B0A8D290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006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7EF48A-9356-48DC-901F-6CE315FF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7181D8-1E27-48CC-87FD-C8E96C96E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2B558-4421-4026-A9F1-AC29E8E3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3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74E3-DD3A-4216-AD1F-62116396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6F47B-3722-4639-B3BE-06D5B8740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F3BA0-D61B-4BA9-9E87-1CA55F085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F274A-DD9A-4A4B-B2BA-B18AAC036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B1C9D-C7C1-45B1-87C4-392A7934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75450-F214-411D-A2B4-B1C99927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00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2F7F0-8C5F-4454-A666-5AAC7B319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6B9049-8790-4DD4-85B0-5DFC28A71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8EB0A-195F-4D28-BECE-5E733FE44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0C914-9C5D-4378-BEC2-9727236D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13694-4D18-4AC1-B9AC-22E965CD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E3B31-50B4-4C88-A775-5679404A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14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3657B-DC29-440A-8C04-F91B6D4FA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E877DC-2C9C-4754-BC42-6696C6DF3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436BC-87B7-467C-A23E-7F1ACCA5E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70D01-9EF9-4245-A5D0-465E4B2F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F4ECB-1797-4014-A3F8-E7BD73440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702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C1533C-AB7C-4B37-A6FE-7C895B9B3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02C3C-0DB0-4365-BC62-4F8B12F0E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C6E0E-A6CB-4B4F-AEE6-38A67B6E4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A8029-B6AF-4A18-B801-C4CA97B17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7C241-0C6E-4220-B90A-F8329AAD3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853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AF925-96E9-4B2C-BBF1-6B887EA5A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F5ACA-6EF2-4249-B377-AB0F29047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C2DCC-F296-40DD-96FC-53114EBB6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81C6B-C6F9-4544-B1C9-D699E6E5B84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CE499-F48C-41DA-9FF5-D708EDDAF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8D966-556F-4AF4-8991-964B5326D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D5910-A3BD-47C8-87FD-8968E51C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26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1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Relationship Id="rId27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856321"/>
            <a:ext cx="9144000" cy="942001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Transformers - IV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2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8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4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E03CE7-A8E5-4994-8999-0DD16807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Content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8487B1-0776-4151-9C08-829E83A70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ial Narrow" panose="020B0606020202030204" pitchFamily="34" charset="0"/>
              </a:rPr>
              <a:t>Transformer Encoder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Self Attention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Multi-head Attention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Layer Normalization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Feed-forward Neural Network</a:t>
            </a:r>
          </a:p>
          <a:p>
            <a:r>
              <a:rPr lang="en-IN" dirty="0">
                <a:latin typeface="Arial Narrow" panose="020B0606020202030204" pitchFamily="34" charset="0"/>
              </a:rPr>
              <a:t>Transformer Decoder</a:t>
            </a:r>
          </a:p>
          <a:p>
            <a:r>
              <a:rPr lang="en-IN" dirty="0">
                <a:latin typeface="Arial Narrow" panose="020B0606020202030204" pitchFamily="34" charset="0"/>
              </a:rPr>
              <a:t>Different Types of Transformers</a:t>
            </a:r>
          </a:p>
          <a:p>
            <a:pPr lvl="1"/>
            <a:endParaRPr lang="en-IN" dirty="0">
              <a:latin typeface="Arial Narrow" panose="020B0606020202030204" pitchFamily="34" charset="0"/>
            </a:endParaRPr>
          </a:p>
          <a:p>
            <a:pPr lvl="1"/>
            <a:endParaRPr lang="en-IN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70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ounded Rectangle 241"/>
          <p:cNvSpPr/>
          <p:nvPr/>
        </p:nvSpPr>
        <p:spPr>
          <a:xfrm>
            <a:off x="2590650" y="2247761"/>
            <a:ext cx="3686579" cy="3225800"/>
          </a:xfrm>
          <a:prstGeom prst="roundRect">
            <a:avLst>
              <a:gd name="adj" fmla="val 6013"/>
            </a:avLst>
          </a:prstGeom>
          <a:solidFill>
            <a:schemeClr val="accent2">
              <a:lumMod val="40000"/>
              <a:lumOff val="60000"/>
              <a:alpha val="49000"/>
            </a:schemeClr>
          </a:solidFill>
          <a:ln w="158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552579" y="2574876"/>
            <a:ext cx="46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12884" y="2597034"/>
            <a:ext cx="525465" cy="340248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434220" y="3299004"/>
            <a:ext cx="77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86952" y="3334225"/>
            <a:ext cx="655618" cy="347133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485801" y="4806345"/>
            <a:ext cx="636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mé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20" idx="3"/>
            <a:endCxn id="43" idx="1"/>
          </p:cNvCxnSpPr>
          <p:nvPr/>
        </p:nvCxnSpPr>
        <p:spPr>
          <a:xfrm flipV="1">
            <a:off x="1038349" y="2764485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7" idx="3"/>
            <a:endCxn id="49" idx="1"/>
          </p:cNvCxnSpPr>
          <p:nvPr/>
        </p:nvCxnSpPr>
        <p:spPr>
          <a:xfrm flipV="1">
            <a:off x="1036724" y="4267978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6451" y="4190284"/>
            <a:ext cx="848621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4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léinn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2782" y="4095020"/>
            <a:ext cx="663942" cy="355719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22" idx="3"/>
            <a:endCxn id="46" idx="1"/>
          </p:cNvCxnSpPr>
          <p:nvPr/>
        </p:nvCxnSpPr>
        <p:spPr>
          <a:xfrm flipV="1">
            <a:off x="1042570" y="3502821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76006" y="4854511"/>
            <a:ext cx="560719" cy="330175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stCxn id="29" idx="3"/>
            <a:endCxn id="52" idx="1"/>
          </p:cNvCxnSpPr>
          <p:nvPr/>
        </p:nvCxnSpPr>
        <p:spPr>
          <a:xfrm flipV="1">
            <a:off x="1036724" y="5016668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356494" y="2516143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1357269" y="3254479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/>
          <p:cNvSpPr/>
          <p:nvPr/>
        </p:nvSpPr>
        <p:spPr>
          <a:xfrm>
            <a:off x="1356494" y="4019636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1356494" y="4768326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Plus 87"/>
          <p:cNvSpPr/>
          <p:nvPr/>
        </p:nvSpPr>
        <p:spPr>
          <a:xfrm>
            <a:off x="1560627" y="2680689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Plus 88"/>
          <p:cNvSpPr/>
          <p:nvPr/>
        </p:nvSpPr>
        <p:spPr>
          <a:xfrm>
            <a:off x="1556203" y="3419024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Plus 89"/>
          <p:cNvSpPr/>
          <p:nvPr/>
        </p:nvSpPr>
        <p:spPr>
          <a:xfrm>
            <a:off x="1555616" y="4155842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Plus 90"/>
          <p:cNvSpPr/>
          <p:nvPr/>
        </p:nvSpPr>
        <p:spPr>
          <a:xfrm>
            <a:off x="1558629" y="493287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 99"/>
          <p:cNvSpPr/>
          <p:nvPr/>
        </p:nvSpPr>
        <p:spPr>
          <a:xfrm>
            <a:off x="1784950" y="2516143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 100"/>
          <p:cNvSpPr/>
          <p:nvPr/>
        </p:nvSpPr>
        <p:spPr>
          <a:xfrm>
            <a:off x="1785724" y="3254479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 101"/>
          <p:cNvSpPr/>
          <p:nvPr/>
        </p:nvSpPr>
        <p:spPr>
          <a:xfrm>
            <a:off x="1784950" y="4019636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ectangle 102"/>
          <p:cNvSpPr/>
          <p:nvPr/>
        </p:nvSpPr>
        <p:spPr>
          <a:xfrm>
            <a:off x="1784950" y="4768326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2" name="Straight Arrow Connector 111"/>
          <p:cNvCxnSpPr>
            <a:endCxn id="116" idx="1"/>
          </p:cNvCxnSpPr>
          <p:nvPr/>
        </p:nvCxnSpPr>
        <p:spPr>
          <a:xfrm flipV="1">
            <a:off x="1945995" y="2769389"/>
            <a:ext cx="318146" cy="267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endCxn id="118" idx="1"/>
          </p:cNvCxnSpPr>
          <p:nvPr/>
        </p:nvCxnSpPr>
        <p:spPr>
          <a:xfrm flipV="1">
            <a:off x="1944371" y="4272882"/>
            <a:ext cx="319770" cy="490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endCxn id="117" idx="1"/>
          </p:cNvCxnSpPr>
          <p:nvPr/>
        </p:nvCxnSpPr>
        <p:spPr>
          <a:xfrm flipV="1">
            <a:off x="1950217" y="3507725"/>
            <a:ext cx="314699" cy="497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endCxn id="119" idx="1"/>
          </p:cNvCxnSpPr>
          <p:nvPr/>
        </p:nvCxnSpPr>
        <p:spPr>
          <a:xfrm flipV="1">
            <a:off x="1944371" y="5021572"/>
            <a:ext cx="319770" cy="29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2264141" y="2521047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Rectangle 116"/>
          <p:cNvSpPr/>
          <p:nvPr/>
        </p:nvSpPr>
        <p:spPr>
          <a:xfrm>
            <a:off x="2264915" y="3259383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 117"/>
          <p:cNvSpPr/>
          <p:nvPr/>
        </p:nvSpPr>
        <p:spPr>
          <a:xfrm>
            <a:off x="2264141" y="4024540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 118"/>
          <p:cNvSpPr/>
          <p:nvPr/>
        </p:nvSpPr>
        <p:spPr>
          <a:xfrm>
            <a:off x="2264141" y="4773230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 119"/>
          <p:cNvSpPr/>
          <p:nvPr/>
        </p:nvSpPr>
        <p:spPr>
          <a:xfrm>
            <a:off x="2756994" y="2597034"/>
            <a:ext cx="269818" cy="258765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</a:t>
            </a:r>
            <a:r>
              <a:rPr lang="en-IN" sz="900" dirty="0"/>
              <a:t> ATTENTION</a:t>
            </a:r>
          </a:p>
        </p:txBody>
      </p:sp>
      <p:cxnSp>
        <p:nvCxnSpPr>
          <p:cNvPr id="121" name="Straight Arrow Connector 120"/>
          <p:cNvCxnSpPr>
            <a:stCxn id="116" idx="3"/>
          </p:cNvCxnSpPr>
          <p:nvPr/>
        </p:nvCxnSpPr>
        <p:spPr>
          <a:xfrm flipV="1">
            <a:off x="2428633" y="2767099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V="1">
            <a:off x="2432122" y="4265099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117" idx="3"/>
          </p:cNvCxnSpPr>
          <p:nvPr/>
        </p:nvCxnSpPr>
        <p:spPr>
          <a:xfrm>
            <a:off x="2429407" y="3507725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119" idx="3"/>
          </p:cNvCxnSpPr>
          <p:nvPr/>
        </p:nvCxnSpPr>
        <p:spPr>
          <a:xfrm>
            <a:off x="2428633" y="5021572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cxnSpLocks/>
          </p:cNvCxnSpPr>
          <p:nvPr/>
        </p:nvCxnSpPr>
        <p:spPr>
          <a:xfrm flipV="1">
            <a:off x="3028606" y="2767416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cxnSpLocks/>
          </p:cNvCxnSpPr>
          <p:nvPr/>
        </p:nvCxnSpPr>
        <p:spPr>
          <a:xfrm flipV="1">
            <a:off x="3026982" y="4270909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cxnSpLocks/>
          </p:cNvCxnSpPr>
          <p:nvPr/>
        </p:nvCxnSpPr>
        <p:spPr>
          <a:xfrm flipV="1">
            <a:off x="3032828" y="3505752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cxnSpLocks/>
          </p:cNvCxnSpPr>
          <p:nvPr/>
        </p:nvCxnSpPr>
        <p:spPr>
          <a:xfrm flipV="1">
            <a:off x="3026982" y="5019599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2305731" y="1458733"/>
            <a:ext cx="1442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Multi-head Attention</a:t>
            </a:r>
            <a:endParaRPr lang="en-IN" sz="1600" dirty="0">
              <a:solidFill>
                <a:srgbClr val="C00000"/>
              </a:solidFill>
              <a:latin typeface="Century" panose="02040604050505020304" pitchFamily="18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1905811" y="5367441"/>
            <a:ext cx="958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to encoder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1262547" y="1823863"/>
            <a:ext cx="12059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Positional Encoding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Left Bracket 252"/>
          <p:cNvSpPr/>
          <p:nvPr/>
        </p:nvSpPr>
        <p:spPr>
          <a:xfrm rot="16200000">
            <a:off x="2276822" y="5200003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4" name="Left Bracket 253"/>
          <p:cNvSpPr/>
          <p:nvPr/>
        </p:nvSpPr>
        <p:spPr>
          <a:xfrm rot="5400000">
            <a:off x="1801814" y="2267025"/>
            <a:ext cx="130764" cy="35656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840252" y="5384575"/>
            <a:ext cx="1158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Left Bracket 255"/>
          <p:cNvSpPr/>
          <p:nvPr/>
        </p:nvSpPr>
        <p:spPr>
          <a:xfrm rot="16200000">
            <a:off x="1384972" y="5142004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A3692424-B482-40E7-9ADC-A2743B81E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881" y="912283"/>
            <a:ext cx="3803448" cy="5513294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C0DA5027-C724-4E9B-B442-34CB3CD4CD59}"/>
              </a:ext>
            </a:extLst>
          </p:cNvPr>
          <p:cNvSpPr/>
          <p:nvPr/>
        </p:nvSpPr>
        <p:spPr>
          <a:xfrm>
            <a:off x="7246336" y="2981167"/>
            <a:ext cx="1512696" cy="1973622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663BA3D-EFED-4A72-8266-5BBC954C6050}"/>
              </a:ext>
            </a:extLst>
          </p:cNvPr>
          <p:cNvSpPr txBox="1"/>
          <p:nvPr/>
        </p:nvSpPr>
        <p:spPr>
          <a:xfrm>
            <a:off x="6365811" y="6583175"/>
            <a:ext cx="575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 Source: Ashish Vaswani et. al. Attention is All You Need, NIPS 2017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5A23FB1-A273-4452-9548-79CE8E755B9B}"/>
              </a:ext>
            </a:extLst>
          </p:cNvPr>
          <p:cNvSpPr txBox="1"/>
          <p:nvPr/>
        </p:nvSpPr>
        <p:spPr>
          <a:xfrm>
            <a:off x="544835" y="219876"/>
            <a:ext cx="54615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entury" panose="02040604050505020304" pitchFamily="18" charset="0"/>
              </a:rPr>
              <a:t>Full Encoder at a glance</a:t>
            </a:r>
          </a:p>
          <a:p>
            <a:r>
              <a:rPr lang="en-US" sz="2400" dirty="0">
                <a:solidFill>
                  <a:schemeClr val="tx1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Multi-head Attention</a:t>
            </a:r>
            <a:endParaRPr lang="en-IN" sz="2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74" name="Left Bracket 73">
            <a:extLst>
              <a:ext uri="{FF2B5EF4-FFF2-40B4-BE49-F238E27FC236}">
                <a16:creationId xmlns:a16="http://schemas.microsoft.com/office/drawing/2014/main" id="{9EDC4894-E5D8-40B0-865D-BC6A083745B1}"/>
              </a:ext>
            </a:extLst>
          </p:cNvPr>
          <p:cNvSpPr/>
          <p:nvPr/>
        </p:nvSpPr>
        <p:spPr>
          <a:xfrm rot="5400000">
            <a:off x="2826521" y="1971405"/>
            <a:ext cx="130764" cy="35656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51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C28C4F5-59BB-7C2B-9E5D-3AF0CBBFDBDB}"/>
              </a:ext>
            </a:extLst>
          </p:cNvPr>
          <p:cNvSpPr txBox="1"/>
          <p:nvPr/>
        </p:nvSpPr>
        <p:spPr>
          <a:xfrm>
            <a:off x="583789" y="456163"/>
            <a:ext cx="5461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entury" panose="02040604050505020304" pitchFamily="18" charset="0"/>
              </a:rPr>
              <a:t>Self Attention</a:t>
            </a:r>
            <a:endParaRPr lang="en-IN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06765CC-8187-42FD-AE18-C69B87A97849}"/>
              </a:ext>
            </a:extLst>
          </p:cNvPr>
          <p:cNvSpPr txBox="1"/>
          <p:nvPr/>
        </p:nvSpPr>
        <p:spPr>
          <a:xfrm>
            <a:off x="6213411" y="6430775"/>
            <a:ext cx="5753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 Source: Ashish Vaswani et. al. Attention is All You Need, NIPS 2017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3875164" y="2084665"/>
            <a:ext cx="46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Is</a:t>
            </a:r>
            <a:endParaRPr lang="en-IN" baseline="-25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835469" y="2106823"/>
            <a:ext cx="525465" cy="340248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3756805" y="2808793"/>
            <a:ext cx="77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mac</a:t>
            </a:r>
            <a:endParaRPr lang="en-IN" baseline="-25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709537" y="2844014"/>
            <a:ext cx="655618" cy="347133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3808386" y="4316134"/>
            <a:ext cx="636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mé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20" idx="3"/>
            <a:endCxn id="43" idx="1"/>
          </p:cNvCxnSpPr>
          <p:nvPr/>
        </p:nvCxnSpPr>
        <p:spPr>
          <a:xfrm flipV="1">
            <a:off x="4360934" y="2274274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7" idx="3"/>
            <a:endCxn id="49" idx="1"/>
          </p:cNvCxnSpPr>
          <p:nvPr/>
        </p:nvCxnSpPr>
        <p:spPr>
          <a:xfrm flipV="1">
            <a:off x="4359309" y="3777767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09036" y="3700073"/>
            <a:ext cx="848621" cy="22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40000"/>
              </a:lnSpc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léinn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95367" y="3604809"/>
            <a:ext cx="663942" cy="355719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22" idx="3"/>
            <a:endCxn id="46" idx="1"/>
          </p:cNvCxnSpPr>
          <p:nvPr/>
        </p:nvCxnSpPr>
        <p:spPr>
          <a:xfrm flipV="1">
            <a:off x="4365155" y="3012610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798591" y="4364300"/>
            <a:ext cx="560719" cy="330175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stCxn id="29" idx="3"/>
            <a:endCxn id="52" idx="1"/>
          </p:cNvCxnSpPr>
          <p:nvPr/>
        </p:nvCxnSpPr>
        <p:spPr>
          <a:xfrm flipV="1">
            <a:off x="4359309" y="4526457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679079" y="2025932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679854" y="2764268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679079" y="3529425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679079" y="4278115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8" name="Plus 87"/>
          <p:cNvSpPr/>
          <p:nvPr/>
        </p:nvSpPr>
        <p:spPr>
          <a:xfrm>
            <a:off x="4883212" y="2190478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9" name="Plus 88"/>
          <p:cNvSpPr/>
          <p:nvPr/>
        </p:nvSpPr>
        <p:spPr>
          <a:xfrm>
            <a:off x="4878788" y="2928813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0" name="Plus 89"/>
          <p:cNvSpPr/>
          <p:nvPr/>
        </p:nvSpPr>
        <p:spPr>
          <a:xfrm>
            <a:off x="4878201" y="366563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1" name="Plus 90"/>
          <p:cNvSpPr/>
          <p:nvPr/>
        </p:nvSpPr>
        <p:spPr>
          <a:xfrm>
            <a:off x="4881214" y="4442660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5107535" y="2025932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108309" y="2764268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5107535" y="3529425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5107535" y="4278115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112" name="Straight Arrow Connector 111"/>
          <p:cNvCxnSpPr/>
          <p:nvPr/>
        </p:nvCxnSpPr>
        <p:spPr>
          <a:xfrm flipV="1">
            <a:off x="5268580" y="2279178"/>
            <a:ext cx="318146" cy="267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flipV="1">
            <a:off x="5266956" y="3782671"/>
            <a:ext cx="319770" cy="490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flipV="1">
            <a:off x="5272802" y="3017514"/>
            <a:ext cx="314699" cy="497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flipV="1">
            <a:off x="5266956" y="4531361"/>
            <a:ext cx="319770" cy="29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5252790" y="4897249"/>
            <a:ext cx="9582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 to encoder</a:t>
            </a:r>
          </a:p>
          <a:p>
            <a:pPr algn="ctr"/>
            <a:r>
              <a:rPr lang="en-US" sz="16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[1x4]</a:t>
            </a:r>
            <a:endParaRPr lang="en-IN" sz="1600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4145682" y="1501423"/>
            <a:ext cx="1991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Positional Encoding</a:t>
            </a:r>
            <a:endParaRPr lang="en-IN" sz="16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4" name="Left Bracket 253"/>
          <p:cNvSpPr/>
          <p:nvPr/>
        </p:nvSpPr>
        <p:spPr>
          <a:xfrm rot="5400000">
            <a:off x="5124399" y="1776814"/>
            <a:ext cx="130764" cy="35656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4162837" y="4903791"/>
            <a:ext cx="1158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Word Embedding</a:t>
            </a:r>
            <a:endParaRPr lang="en-IN" sz="16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6" name="Left Bracket 255"/>
          <p:cNvSpPr/>
          <p:nvPr/>
        </p:nvSpPr>
        <p:spPr>
          <a:xfrm rot="16200000">
            <a:off x="4687188" y="4642008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631176" y="1970568"/>
            <a:ext cx="164442" cy="612757"/>
            <a:chOff x="2352675" y="1645277"/>
            <a:chExt cx="126206" cy="502138"/>
          </a:xfrm>
        </p:grpSpPr>
        <p:sp>
          <p:nvSpPr>
            <p:cNvPr id="2" name="Rectangle 1"/>
            <p:cNvSpPr/>
            <p:nvPr/>
          </p:nvSpPr>
          <p:spPr>
            <a:xfrm>
              <a:off x="2352675" y="1645277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352675" y="1772518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352675" y="1898563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352675" y="2025804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631176" y="2713620"/>
            <a:ext cx="164442" cy="612757"/>
            <a:chOff x="2352675" y="1645277"/>
            <a:chExt cx="126206" cy="502138"/>
          </a:xfrm>
        </p:grpSpPr>
        <p:sp>
          <p:nvSpPr>
            <p:cNvPr id="45" name="Rectangle 44"/>
            <p:cNvSpPr/>
            <p:nvPr/>
          </p:nvSpPr>
          <p:spPr>
            <a:xfrm>
              <a:off x="2352675" y="1645277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352675" y="1772518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352675" y="1898563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352675" y="2025804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631176" y="3472098"/>
            <a:ext cx="164442" cy="612757"/>
            <a:chOff x="2352675" y="1645277"/>
            <a:chExt cx="126206" cy="502138"/>
          </a:xfrm>
        </p:grpSpPr>
        <p:sp>
          <p:nvSpPr>
            <p:cNvPr id="53" name="Rectangle 52"/>
            <p:cNvSpPr/>
            <p:nvPr/>
          </p:nvSpPr>
          <p:spPr>
            <a:xfrm>
              <a:off x="2352675" y="1645277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52675" y="1772518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2352675" y="1898563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352675" y="2025804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5631176" y="4214439"/>
            <a:ext cx="164442" cy="612757"/>
            <a:chOff x="2352675" y="1645277"/>
            <a:chExt cx="126206" cy="502138"/>
          </a:xfrm>
        </p:grpSpPr>
        <p:sp>
          <p:nvSpPr>
            <p:cNvPr id="58" name="Rectangle 57"/>
            <p:cNvSpPr/>
            <p:nvPr/>
          </p:nvSpPr>
          <p:spPr>
            <a:xfrm>
              <a:off x="2352675" y="1645277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352675" y="1772518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352675" y="1898563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352675" y="2025804"/>
              <a:ext cx="126206" cy="12161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9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sp>
        <p:nvSpPr>
          <p:cNvPr id="62" name="Left Bracket 61"/>
          <p:cNvSpPr/>
          <p:nvPr/>
        </p:nvSpPr>
        <p:spPr>
          <a:xfrm rot="16200000">
            <a:off x="5635738" y="4725140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446783" y="2116500"/>
            <a:ext cx="726565" cy="671320"/>
            <a:chOff x="2723022" y="1088700"/>
            <a:chExt cx="657944" cy="603233"/>
          </a:xfrm>
          <a:solidFill>
            <a:srgbClr val="B6852E"/>
          </a:solidFill>
        </p:grpSpPr>
        <p:sp>
          <p:nvSpPr>
            <p:cNvPr id="64" name="Rectangle 63"/>
            <p:cNvSpPr/>
            <p:nvPr/>
          </p:nvSpPr>
          <p:spPr>
            <a:xfrm>
              <a:off x="2723022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723022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723022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723022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887464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887464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887464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887464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051906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051906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051906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051906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3216524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3216524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216524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216524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6446783" y="3058552"/>
            <a:ext cx="726565" cy="671320"/>
            <a:chOff x="2723022" y="1088700"/>
            <a:chExt cx="657944" cy="603233"/>
          </a:xfrm>
          <a:solidFill>
            <a:srgbClr val="FF0000"/>
          </a:solidFill>
        </p:grpSpPr>
        <p:sp>
          <p:nvSpPr>
            <p:cNvPr id="84" name="Rectangle 83"/>
            <p:cNvSpPr/>
            <p:nvPr/>
          </p:nvSpPr>
          <p:spPr>
            <a:xfrm>
              <a:off x="2723022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23022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723022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2723022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887464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887464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2887464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887464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051906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051906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051906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3051906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3216524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3216524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3216524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216524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6446783" y="4000604"/>
            <a:ext cx="726565" cy="671320"/>
            <a:chOff x="2723022" y="1088700"/>
            <a:chExt cx="657944" cy="603233"/>
          </a:xfrm>
          <a:solidFill>
            <a:srgbClr val="00FF00"/>
          </a:solidFill>
        </p:grpSpPr>
        <p:sp>
          <p:nvSpPr>
            <p:cNvPr id="109" name="Rectangle 108"/>
            <p:cNvSpPr/>
            <p:nvPr/>
          </p:nvSpPr>
          <p:spPr>
            <a:xfrm>
              <a:off x="2723022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2723022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2723022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2723022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2887464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2887464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2887464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2887464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3051906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3051906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3051906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3051906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3216524" y="1088700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3216524" y="1241591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3216524" y="139302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3216524" y="1543532"/>
              <a:ext cx="164442" cy="148401"/>
            </a:xfrm>
            <a:prstGeom prst="rect">
              <a:avLst/>
            </a:prstGeom>
            <a:grpFill/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FF00"/>
                </a:solidFill>
                <a:latin typeface="Arial Narrow" panose="020B0606020202030204" pitchFamily="34" charset="0"/>
              </a:endParaRPr>
            </a:p>
          </p:txBody>
        </p:sp>
      </p:grpSp>
      <p:cxnSp>
        <p:nvCxnSpPr>
          <p:cNvPr id="7" name="Straight Arrow Connector 6"/>
          <p:cNvCxnSpPr/>
          <p:nvPr/>
        </p:nvCxnSpPr>
        <p:spPr>
          <a:xfrm>
            <a:off x="5798159" y="2274810"/>
            <a:ext cx="643542" cy="18332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798159" y="2274810"/>
            <a:ext cx="639954" cy="1121097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798159" y="2274810"/>
            <a:ext cx="646146" cy="206489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799429" y="2458133"/>
            <a:ext cx="642272" cy="561507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99429" y="3019640"/>
            <a:ext cx="638684" cy="376267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799429" y="3019640"/>
            <a:ext cx="644876" cy="132006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5801065" y="3412071"/>
            <a:ext cx="643743" cy="36965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 flipV="1">
            <a:off x="5801065" y="2458133"/>
            <a:ext cx="640636" cy="132359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/>
          <p:nvPr/>
        </p:nvCxnSpPr>
        <p:spPr>
          <a:xfrm>
            <a:off x="5801065" y="3781723"/>
            <a:ext cx="643240" cy="55798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/>
          <p:nvPr/>
        </p:nvCxnSpPr>
        <p:spPr>
          <a:xfrm flipV="1">
            <a:off x="5800919" y="2458133"/>
            <a:ext cx="640782" cy="206685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 flipV="1">
            <a:off x="5800919" y="3395907"/>
            <a:ext cx="637194" cy="112907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 flipV="1">
            <a:off x="5803300" y="4338250"/>
            <a:ext cx="637194" cy="18673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B711B149-1CF5-4940-BFA8-38F2B54C8112}"/>
              </a:ext>
            </a:extLst>
          </p:cNvPr>
          <p:cNvSpPr txBox="1"/>
          <p:nvPr/>
        </p:nvSpPr>
        <p:spPr>
          <a:xfrm>
            <a:off x="6583223" y="1852653"/>
            <a:ext cx="568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B6852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</a:t>
            </a:r>
            <a:r>
              <a:rPr lang="en-US" sz="1400" b="1" baseline="30000" dirty="0">
                <a:solidFill>
                  <a:srgbClr val="B6852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Q</a:t>
            </a:r>
            <a:endParaRPr lang="en-IN" sz="1400" b="1" baseline="30000" dirty="0">
              <a:solidFill>
                <a:srgbClr val="B6852E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234DA72-68A9-428B-9339-66214B88DA48}"/>
              </a:ext>
            </a:extLst>
          </p:cNvPr>
          <p:cNvSpPr txBox="1"/>
          <p:nvPr/>
        </p:nvSpPr>
        <p:spPr>
          <a:xfrm>
            <a:off x="6576423" y="2800995"/>
            <a:ext cx="568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</a:t>
            </a:r>
            <a:r>
              <a:rPr lang="en-US" sz="1400" b="1" baseline="300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</a:t>
            </a:r>
            <a:endParaRPr lang="en-IN" sz="1400" b="1" baseline="30000" dirty="0">
              <a:solidFill>
                <a:srgbClr val="FF000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7969F7F-0A3C-43D7-9F00-E1213D0397EC}"/>
              </a:ext>
            </a:extLst>
          </p:cNvPr>
          <p:cNvSpPr txBox="1"/>
          <p:nvPr/>
        </p:nvSpPr>
        <p:spPr>
          <a:xfrm>
            <a:off x="6576423" y="3734869"/>
            <a:ext cx="568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</a:t>
            </a:r>
            <a:r>
              <a:rPr lang="en-US" sz="1400" b="1" baseline="30000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K</a:t>
            </a:r>
            <a:endParaRPr lang="en-IN" sz="1400" b="1" baseline="30000" dirty="0">
              <a:solidFill>
                <a:srgbClr val="00B05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AD42901-87BD-427D-818B-0DF70CD89182}"/>
              </a:ext>
            </a:extLst>
          </p:cNvPr>
          <p:cNvSpPr txBox="1"/>
          <p:nvPr/>
        </p:nvSpPr>
        <p:spPr>
          <a:xfrm>
            <a:off x="7329081" y="2214140"/>
            <a:ext cx="178650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B6852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 q</a:t>
            </a:r>
            <a:r>
              <a:rPr lang="en-US" sz="1600" baseline="-25000" dirty="0">
                <a:solidFill>
                  <a:srgbClr val="B6852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B6852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=  X</a:t>
            </a:r>
            <a:r>
              <a:rPr lang="en-US" sz="1600" baseline="-25000" dirty="0">
                <a:solidFill>
                  <a:srgbClr val="B6852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B6852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  ×   W</a:t>
            </a:r>
            <a:r>
              <a:rPr lang="en-US" sz="1600" baseline="30000" dirty="0">
                <a:solidFill>
                  <a:srgbClr val="B6852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Q</a:t>
            </a:r>
          </a:p>
          <a:p>
            <a:r>
              <a:rPr lang="en-US" sz="1200" dirty="0">
                <a:solidFill>
                  <a:srgbClr val="B6852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(1 × 4)  (1 × 4)  ×  (4 × 4)</a:t>
            </a:r>
            <a:endParaRPr lang="en-IN" sz="1200" dirty="0">
              <a:solidFill>
                <a:srgbClr val="B6852E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74442C4-1AE5-4AA9-9FBF-120E13FA12BC}"/>
              </a:ext>
            </a:extLst>
          </p:cNvPr>
          <p:cNvSpPr txBox="1"/>
          <p:nvPr/>
        </p:nvSpPr>
        <p:spPr>
          <a:xfrm>
            <a:off x="7329081" y="3150461"/>
            <a:ext cx="178650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 </a:t>
            </a:r>
            <a:r>
              <a:rPr lang="en-US" sz="16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</a:t>
            </a:r>
            <a:r>
              <a:rPr lang="en-US" sz="1600" baseline="-250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= X</a:t>
            </a:r>
            <a:r>
              <a:rPr lang="en-US" sz="1600" baseline="-250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×   W</a:t>
            </a:r>
            <a:r>
              <a:rPr lang="en-US" sz="1600" baseline="300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</a:t>
            </a:r>
          </a:p>
          <a:p>
            <a:r>
              <a:rPr lang="en-US" sz="12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(1 × 4) (1 × 4)  ×  (4 × 3)</a:t>
            </a:r>
            <a:endParaRPr lang="en-IN" sz="1200" dirty="0">
              <a:solidFill>
                <a:srgbClr val="FF000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E6A6311-2150-42AB-AC8B-DCDD53263B15}"/>
              </a:ext>
            </a:extLst>
          </p:cNvPr>
          <p:cNvSpPr txBox="1"/>
          <p:nvPr/>
        </p:nvSpPr>
        <p:spPr>
          <a:xfrm>
            <a:off x="7392859" y="2715063"/>
            <a:ext cx="16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Query vectors</a:t>
            </a:r>
            <a:endParaRPr lang="en-IN" sz="1400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F74CDDB-1019-444B-9C41-B68677B68CD7}"/>
              </a:ext>
            </a:extLst>
          </p:cNvPr>
          <p:cNvSpPr txBox="1"/>
          <p:nvPr/>
        </p:nvSpPr>
        <p:spPr>
          <a:xfrm>
            <a:off x="7294364" y="4540586"/>
            <a:ext cx="16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Key vectors</a:t>
            </a:r>
            <a:endParaRPr lang="en-IN" sz="1400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934263E-3F57-40EC-BA84-20DACB9DF6AE}"/>
              </a:ext>
            </a:extLst>
          </p:cNvPr>
          <p:cNvSpPr txBox="1"/>
          <p:nvPr/>
        </p:nvSpPr>
        <p:spPr>
          <a:xfrm>
            <a:off x="7336072" y="3628779"/>
            <a:ext cx="16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Value vectors</a:t>
            </a:r>
            <a:endParaRPr lang="en-IN" sz="1400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388479" y="4804585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4x4 (let)</a:t>
            </a:r>
          </a:p>
        </p:txBody>
      </p:sp>
      <p:sp>
        <p:nvSpPr>
          <p:cNvPr id="163" name="Left Bracket 162"/>
          <p:cNvSpPr/>
          <p:nvPr/>
        </p:nvSpPr>
        <p:spPr>
          <a:xfrm rot="16200000">
            <a:off x="6762098" y="4327352"/>
            <a:ext cx="130764" cy="898768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9437915" y="2134832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9437915" y="2304980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9437915" y="2473503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9437915" y="2641001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710000" y="2134832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9710000" y="2304980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9710000" y="2473503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9710000" y="2641001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9986846" y="2134832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9986846" y="2304980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9986846" y="2473503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6" name="Rectangle 175"/>
          <p:cNvSpPr/>
          <p:nvPr/>
        </p:nvSpPr>
        <p:spPr>
          <a:xfrm>
            <a:off x="9986846" y="2641001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10268644" y="2134832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10268644" y="2304980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10268644" y="2473503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10268644" y="2641001"/>
            <a:ext cx="181593" cy="165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9435534" y="3058552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9435534" y="3228700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9435534" y="3397223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9435534" y="3564721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9707619" y="3058552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9707619" y="3228700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9707619" y="3397223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9707619" y="3564721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9984465" y="3058552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9984465" y="3228700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9984465" y="3397223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9984465" y="3564721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10266263" y="3058552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10266263" y="3228700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10266263" y="3397223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10266263" y="3564721"/>
            <a:ext cx="181593" cy="165151"/>
          </a:xfrm>
          <a:prstGeom prst="rect">
            <a:avLst/>
          </a:prstGeom>
          <a:solidFill>
            <a:srgbClr val="EC4065">
              <a:alpha val="81000"/>
            </a:srgb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9435534" y="4047128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9435534" y="4217276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9435534" y="4385799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0" name="Rectangle 199"/>
          <p:cNvSpPr/>
          <p:nvPr/>
        </p:nvSpPr>
        <p:spPr>
          <a:xfrm>
            <a:off x="9435534" y="4553297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9707619" y="4047128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9707619" y="4217276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9707619" y="4385799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9707619" y="4553297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9984465" y="4047128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6" name="Rectangle 205"/>
          <p:cNvSpPr/>
          <p:nvPr/>
        </p:nvSpPr>
        <p:spPr>
          <a:xfrm>
            <a:off x="9984465" y="4217276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7" name="Rectangle 206"/>
          <p:cNvSpPr/>
          <p:nvPr/>
        </p:nvSpPr>
        <p:spPr>
          <a:xfrm>
            <a:off x="9984465" y="4385799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8" name="Rectangle 207"/>
          <p:cNvSpPr/>
          <p:nvPr/>
        </p:nvSpPr>
        <p:spPr>
          <a:xfrm>
            <a:off x="9984465" y="4553297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9" name="Rectangle 208"/>
          <p:cNvSpPr/>
          <p:nvPr/>
        </p:nvSpPr>
        <p:spPr>
          <a:xfrm>
            <a:off x="10266263" y="4047128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10266263" y="4217276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1" name="Rectangle 210"/>
          <p:cNvSpPr/>
          <p:nvPr/>
        </p:nvSpPr>
        <p:spPr>
          <a:xfrm>
            <a:off x="10266263" y="4385799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10266263" y="4553297"/>
            <a:ext cx="181593" cy="1651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grpSp>
        <p:nvGrpSpPr>
          <p:cNvPr id="149" name="Group 148"/>
          <p:cNvGrpSpPr/>
          <p:nvPr/>
        </p:nvGrpSpPr>
        <p:grpSpPr>
          <a:xfrm>
            <a:off x="9338329" y="1835204"/>
            <a:ext cx="1184572" cy="310124"/>
            <a:chOff x="5968408" y="950955"/>
            <a:chExt cx="1184572" cy="31012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6794392" y="950955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B6852E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4392" y="950955"/>
                  <a:ext cx="358588" cy="307777"/>
                </a:xfrm>
                <a:prstGeom prst="rect">
                  <a:avLst/>
                </a:prstGeom>
                <a:blipFill>
                  <a:blip r:embed="rId2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6530904" y="951998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B6852E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0904" y="951998"/>
                  <a:ext cx="358588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6244062" y="953302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B6852E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4062" y="953302"/>
                  <a:ext cx="358588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5968408" y="950955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B6852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B6852E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8408" y="950955"/>
                  <a:ext cx="358588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0" name="Group 149"/>
          <p:cNvGrpSpPr/>
          <p:nvPr/>
        </p:nvGrpSpPr>
        <p:grpSpPr>
          <a:xfrm>
            <a:off x="9338329" y="2747400"/>
            <a:ext cx="1184572" cy="310124"/>
            <a:chOff x="5968408" y="1863151"/>
            <a:chExt cx="1184572" cy="31012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6794392" y="1863151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FF000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4392" y="1863151"/>
                  <a:ext cx="35858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6530904" y="1864194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FF000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0904" y="1864194"/>
                  <a:ext cx="35858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6244062" y="1865498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FF000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4062" y="1865498"/>
                  <a:ext cx="358588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5968408" y="1863151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FF000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8408" y="1863151"/>
                  <a:ext cx="358588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5" name="Group 234"/>
          <p:cNvGrpSpPr/>
          <p:nvPr/>
        </p:nvGrpSpPr>
        <p:grpSpPr>
          <a:xfrm>
            <a:off x="9338329" y="3744707"/>
            <a:ext cx="1184572" cy="310124"/>
            <a:chOff x="5968408" y="950955"/>
            <a:chExt cx="1184572" cy="31012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6794392" y="950955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00B05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4392" y="950955"/>
                  <a:ext cx="358588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6530904" y="951998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00B05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0904" y="951998"/>
                  <a:ext cx="358588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6244062" y="953302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00B05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4062" y="953302"/>
                  <a:ext cx="358588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/>
                <p:nvPr/>
              </p:nvSpPr>
              <p:spPr>
                <a:xfrm>
                  <a:off x="5968408" y="950955"/>
                  <a:ext cx="3585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rgbClr val="00B05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8AE697BE-71C7-4B1E-A409-B6091B28C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8408" y="950955"/>
                  <a:ext cx="358588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1" name="Group 240"/>
          <p:cNvGrpSpPr/>
          <p:nvPr/>
        </p:nvGrpSpPr>
        <p:grpSpPr>
          <a:xfrm>
            <a:off x="10998243" y="2116500"/>
            <a:ext cx="726565" cy="671320"/>
            <a:chOff x="2723022" y="1088700"/>
            <a:chExt cx="657944" cy="603233"/>
          </a:xfrm>
          <a:solidFill>
            <a:srgbClr val="B6852E"/>
          </a:solidFill>
        </p:grpSpPr>
        <p:sp>
          <p:nvSpPr>
            <p:cNvPr id="242" name="Rectangle 241"/>
            <p:cNvSpPr/>
            <p:nvPr/>
          </p:nvSpPr>
          <p:spPr>
            <a:xfrm>
              <a:off x="2723022" y="1088700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2723022" y="1241591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2723022" y="1393022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2723022" y="1543532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2887464" y="1088700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47" name="Rectangle 246"/>
            <p:cNvSpPr/>
            <p:nvPr/>
          </p:nvSpPr>
          <p:spPr>
            <a:xfrm>
              <a:off x="2887464" y="1241591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2887464" y="1393022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2887464" y="1543532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3051906" y="1088700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3051906" y="1241591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3051906" y="1393022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3051906" y="1543532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60" name="Rectangle 259"/>
            <p:cNvSpPr/>
            <p:nvPr/>
          </p:nvSpPr>
          <p:spPr>
            <a:xfrm>
              <a:off x="3216524" y="1088700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3216524" y="1241591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3216524" y="1393022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3216524" y="1543532"/>
              <a:ext cx="164442" cy="148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264" name="Group 263"/>
          <p:cNvGrpSpPr/>
          <p:nvPr/>
        </p:nvGrpSpPr>
        <p:grpSpPr>
          <a:xfrm>
            <a:off x="10998243" y="3058552"/>
            <a:ext cx="726565" cy="671320"/>
            <a:chOff x="2723022" y="1088700"/>
            <a:chExt cx="657944" cy="603233"/>
          </a:xfrm>
          <a:solidFill>
            <a:srgbClr val="FF0000"/>
          </a:solidFill>
        </p:grpSpPr>
        <p:sp>
          <p:nvSpPr>
            <p:cNvPr id="265" name="Rectangle 264"/>
            <p:cNvSpPr/>
            <p:nvPr/>
          </p:nvSpPr>
          <p:spPr>
            <a:xfrm>
              <a:off x="2723022" y="1088700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2723022" y="1241591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2723022" y="1393022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2723022" y="1543532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2887464" y="1088700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2887464" y="1241591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2887464" y="1393022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2887464" y="1543532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3051906" y="1088700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3051906" y="1241591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3051906" y="1393022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3051906" y="1543532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77" name="Rectangle 276"/>
            <p:cNvSpPr/>
            <p:nvPr/>
          </p:nvSpPr>
          <p:spPr>
            <a:xfrm>
              <a:off x="3216524" y="1088700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3216524" y="1241591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3216524" y="1393022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3216524" y="1543532"/>
              <a:ext cx="164442" cy="148401"/>
            </a:xfrm>
            <a:prstGeom prst="rect">
              <a:avLst/>
            </a:prstGeom>
            <a:solidFill>
              <a:srgbClr val="EC4065">
                <a:alpha val="81000"/>
              </a:srgb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281" name="Group 280"/>
          <p:cNvGrpSpPr/>
          <p:nvPr/>
        </p:nvGrpSpPr>
        <p:grpSpPr>
          <a:xfrm>
            <a:off x="10989278" y="4063359"/>
            <a:ext cx="726565" cy="671320"/>
            <a:chOff x="2723022" y="1088700"/>
            <a:chExt cx="657944" cy="603233"/>
          </a:xfrm>
          <a:solidFill>
            <a:srgbClr val="00FF00"/>
          </a:solidFill>
        </p:grpSpPr>
        <p:sp>
          <p:nvSpPr>
            <p:cNvPr id="282" name="Rectangle 281"/>
            <p:cNvSpPr/>
            <p:nvPr/>
          </p:nvSpPr>
          <p:spPr>
            <a:xfrm>
              <a:off x="2723022" y="1088700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2723022" y="1241591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2723022" y="1393022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2723022" y="1543532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2887464" y="1088700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87" name="Rectangle 286"/>
            <p:cNvSpPr/>
            <p:nvPr/>
          </p:nvSpPr>
          <p:spPr>
            <a:xfrm>
              <a:off x="2887464" y="1241591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2887464" y="1393022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2887464" y="1543532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3051906" y="1088700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91" name="Rectangle 290"/>
            <p:cNvSpPr/>
            <p:nvPr/>
          </p:nvSpPr>
          <p:spPr>
            <a:xfrm>
              <a:off x="3051906" y="1241591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3051906" y="1393022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3051906" y="1543532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3216524" y="1088700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95" name="Rectangle 294"/>
            <p:cNvSpPr/>
            <p:nvPr/>
          </p:nvSpPr>
          <p:spPr>
            <a:xfrm>
              <a:off x="3216524" y="1241591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96" name="Rectangle 295"/>
            <p:cNvSpPr/>
            <p:nvPr/>
          </p:nvSpPr>
          <p:spPr>
            <a:xfrm>
              <a:off x="3216524" y="1393022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97" name="Rectangle 296"/>
            <p:cNvSpPr/>
            <p:nvPr/>
          </p:nvSpPr>
          <p:spPr>
            <a:xfrm>
              <a:off x="3216524" y="1543532"/>
              <a:ext cx="164442" cy="1484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/>
              <p:cNvSpPr txBox="1"/>
              <p:nvPr/>
            </p:nvSpPr>
            <p:spPr>
              <a:xfrm>
                <a:off x="10733096" y="1857833"/>
                <a:ext cx="12334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Q=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sz="1200" dirty="0">
                  <a:solidFill>
                    <a:srgbClr val="7030A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2" name="TextBox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096" y="1857833"/>
                <a:ext cx="1233415" cy="276999"/>
              </a:xfrm>
              <a:prstGeom prst="rect">
                <a:avLst/>
              </a:prstGeom>
              <a:blipFill>
                <a:blip r:embed="rId14"/>
                <a:stretch>
                  <a:fillRect l="-495" t="-444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8" name="TextBox 297"/>
              <p:cNvSpPr txBox="1"/>
              <p:nvPr/>
            </p:nvSpPr>
            <p:spPr>
              <a:xfrm>
                <a:off x="10718807" y="3782893"/>
                <a:ext cx="11941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K=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sz="1200" dirty="0">
                  <a:solidFill>
                    <a:srgbClr val="7030A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8" name="TextBox 2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8807" y="3782893"/>
                <a:ext cx="1194173" cy="276999"/>
              </a:xfrm>
              <a:prstGeom prst="rect">
                <a:avLst/>
              </a:prstGeom>
              <a:blipFill>
                <a:blip r:embed="rId15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/>
              <p:cNvSpPr txBox="1"/>
              <p:nvPr/>
            </p:nvSpPr>
            <p:spPr>
              <a:xfrm>
                <a:off x="10723151" y="2786011"/>
                <a:ext cx="11752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V=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1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sz="1200" dirty="0">
                  <a:solidFill>
                    <a:srgbClr val="7030A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9" name="TextBox 2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151" y="2786011"/>
                <a:ext cx="1175258" cy="276999"/>
              </a:xfrm>
              <a:prstGeom prst="rect">
                <a:avLst/>
              </a:prstGeom>
              <a:blipFill>
                <a:blip r:embed="rId16"/>
                <a:stretch>
                  <a:fillRect t="-222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3492B3D6-943F-4C19-9B29-26D653D6B99D}"/>
                  </a:ext>
                </a:extLst>
              </p:cNvPr>
              <p:cNvSpPr txBox="1"/>
              <p:nvPr/>
            </p:nvSpPr>
            <p:spPr>
              <a:xfrm>
                <a:off x="583789" y="3768854"/>
                <a:ext cx="5033089" cy="2970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Alighnment</a:t>
                </a: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Score = Q × K</a:t>
                </a:r>
                <a:r>
                  <a:rPr lang="en-US" baseline="30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T</a:t>
                </a:r>
              </a:p>
              <a:p>
                <a:endParaRPr lang="en-US" baseline="30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Scaled Score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baseline="30000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T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sty m:val="p"/>
                              </m:rP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rad>
                      </m:den>
                    </m:f>
                  </m:oMath>
                </a14:m>
                <a:endParaRPr lang="en-IN" baseline="30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baseline="30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Softmax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Score = </a:t>
                </a:r>
                <a:r>
                  <a:rPr lang="en-IN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Softmax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baseline="30000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T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sty m:val="p"/>
                              </m:rPr>
                              <a:rPr lang="en-US" i="1" baseline="-2500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rad>
                      </m:den>
                    </m:f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rgbClr val="00B0F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Self Attention 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IN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Softmax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Score </a:t>
                </a: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×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V</a:t>
                </a:r>
              </a:p>
              <a:p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           = Softmax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baseline="30000" dirty="0">
                            <a:latin typeface="Arial Narrow" panose="020B0606020202030204" pitchFamily="34" charset="0"/>
                            <a:cs typeface="Times New Roman" panose="02020603050405020304" pitchFamily="18" charset="0"/>
                          </a:rPr>
                          <m:t>T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sty m:val="p"/>
                              </m:rPr>
                              <a:rPr lang="en-US" i="1" baseline="-2500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rad>
                      </m:den>
                    </m:f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× V</a:t>
                </a:r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3492B3D6-943F-4C19-9B29-26D653D6B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89" y="3768854"/>
                <a:ext cx="5033089" cy="2970237"/>
              </a:xfrm>
              <a:prstGeom prst="rect">
                <a:avLst/>
              </a:prstGeom>
              <a:blipFill>
                <a:blip r:embed="rId17"/>
                <a:stretch>
                  <a:fillRect l="-1091" t="-10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TextBox 299">
            <a:extLst>
              <a:ext uri="{FF2B5EF4-FFF2-40B4-BE49-F238E27FC236}">
                <a16:creationId xmlns:a16="http://schemas.microsoft.com/office/drawing/2014/main" id="{906074A8-33B8-467A-912B-5E5E14C97B21}"/>
              </a:ext>
            </a:extLst>
          </p:cNvPr>
          <p:cNvSpPr txBox="1"/>
          <p:nvPr/>
        </p:nvSpPr>
        <p:spPr>
          <a:xfrm>
            <a:off x="7336964" y="4041622"/>
            <a:ext cx="178650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 </a:t>
            </a:r>
            <a:r>
              <a:rPr lang="en-US" sz="1600" dirty="0" err="1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k</a:t>
            </a:r>
            <a:r>
              <a:rPr lang="en-US" sz="1600" baseline="-25000" dirty="0" err="1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=  X</a:t>
            </a:r>
            <a:r>
              <a:rPr lang="en-US" sz="1600" baseline="-25000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 ×  W</a:t>
            </a:r>
            <a:r>
              <a:rPr lang="en-US" sz="1600" baseline="30000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K</a:t>
            </a:r>
          </a:p>
          <a:p>
            <a:r>
              <a:rPr lang="en-US" sz="1200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(1 × 4)   (1 × 4)  ×  (4 × 4)</a:t>
            </a:r>
            <a:endParaRPr lang="en-IN" sz="1200" dirty="0">
              <a:solidFill>
                <a:srgbClr val="00B05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87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DE9747-ABF6-4482-8C92-CB08CD0FD1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3789" y="16732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2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Self-attention</a:t>
                </a:r>
                <a:r>
                  <a:rPr lang="en-US" sz="2200" dirty="0">
                    <a:latin typeface="Arial Narrow" panose="020B0606020202030204" pitchFamily="34" charset="0"/>
                  </a:rPr>
                  <a:t> is calculated using three matrices—</a:t>
                </a:r>
                <a:r>
                  <a:rPr lang="en-US" sz="22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Query (Q), Key (K), and Value (V)</a:t>
                </a:r>
                <a:r>
                  <a:rPr lang="en-US" sz="2200" dirty="0">
                    <a:latin typeface="Arial Narrow" panose="020B0606020202030204" pitchFamily="34" charset="0"/>
                  </a:rPr>
                  <a:t>—which are obtained by applying </a:t>
                </a:r>
                <a:r>
                  <a:rPr lang="en-US" sz="22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separate learned linear transformations to the input representations</a:t>
                </a:r>
                <a:r>
                  <a:rPr lang="en-US" sz="220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endParaRPr lang="en-US" sz="22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200" dirty="0">
                    <a:latin typeface="Arial Narrow" panose="020B0606020202030204" pitchFamily="34" charset="0"/>
                  </a:rPr>
                  <a:t>First, the Query matrix is multiplied by the transpose of the Key matrix to compute the similarity or alignment scores between each pair of tokens. </a:t>
                </a:r>
              </a:p>
              <a:p>
                <a:pPr algn="just"/>
                <a:endParaRPr lang="en-US" sz="22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200" dirty="0">
                    <a:latin typeface="Arial Narrow" panose="020B0606020202030204" pitchFamily="34" charset="0"/>
                  </a:rPr>
                  <a:t>These scores are then scaled by 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2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2200" dirty="0">
                    <a:latin typeface="Arial Narrow" panose="020B0606020202030204" pitchFamily="34" charset="0"/>
                  </a:rPr>
                  <a:t>, where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Arial Narrow" panose="020B0606020202030204" pitchFamily="34" charset="0"/>
                  </a:rPr>
                  <a:t>is the dimensionality of the Key vectors, to prevent the values from becoming excessively large. 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DE9747-ABF6-4482-8C92-CB08CD0FD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3789" y="1673225"/>
                <a:ext cx="10515600" cy="4351338"/>
              </a:xfrm>
              <a:blipFill>
                <a:blip r:embed="rId2"/>
                <a:stretch>
                  <a:fillRect l="-696" t="-1541" r="-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018ED0C-155A-4841-8647-92B11071FB2D}"/>
              </a:ext>
            </a:extLst>
          </p:cNvPr>
          <p:cNvSpPr txBox="1"/>
          <p:nvPr/>
        </p:nvSpPr>
        <p:spPr>
          <a:xfrm>
            <a:off x="583789" y="456163"/>
            <a:ext cx="5461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entury" panose="02040604050505020304" pitchFamily="18" charset="0"/>
              </a:rPr>
              <a:t>Self Attention</a:t>
            </a:r>
            <a:endParaRPr lang="en-IN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839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F4BE8-3B9D-4A65-9B92-7F86DE7E0E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3788" y="1493930"/>
                <a:ext cx="10926893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US" dirty="0">
                    <a:latin typeface="Arial Narrow" panose="020B0606020202030204" pitchFamily="34" charset="0"/>
                  </a:rPr>
                  <a:t>The scaled scores are passed through the </a:t>
                </a:r>
                <a:r>
                  <a:rPr lang="en-US" dirty="0" err="1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Softmax</a:t>
                </a:r>
                <a:r>
                  <a:rPr lang="en-US" dirty="0">
                    <a:latin typeface="Arial Narrow" panose="020B0606020202030204" pitchFamily="34" charset="0"/>
                  </a:rPr>
                  <a:t> function to produce normalized attention weights that indicate how much each token should attend to the others. </a:t>
                </a:r>
              </a:p>
              <a:p>
                <a:pPr algn="just"/>
                <a:endParaRPr lang="en-US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dirty="0">
                    <a:latin typeface="Arial Narrow" panose="020B0606020202030204" pitchFamily="34" charset="0"/>
                  </a:rPr>
                  <a:t>Finally, these attention weights are multiplied by the Value matrix to produce the context-aware output representations. </a:t>
                </a:r>
              </a:p>
              <a:p>
                <a:pPr algn="just"/>
                <a:endParaRPr lang="en-US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dirty="0">
                    <a:latin typeface="Arial Narrow" panose="020B0606020202030204" pitchFamily="34" charset="0"/>
                  </a:rPr>
                  <a:t>The complete operation is expressed as </a:t>
                </a:r>
              </a:p>
              <a:p>
                <a:pPr algn="just"/>
                <a:endParaRPr lang="en-US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r>
                  <a:rPr lang="en-IN" b="0" dirty="0"/>
                  <a:t>                         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I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I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I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I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I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n-IN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I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, </a:t>
                </a:r>
                <a:endParaRPr lang="en-US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latin typeface="Arial Narrow" panose="020B0606020202030204" pitchFamily="34" charset="0"/>
                  </a:rPr>
                  <a:t>             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dirty="0">
                    <a:latin typeface="Arial Narrow" panose="020B0606020202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>
                    <a:latin typeface="Arial Narrow" panose="020B0606020202030204" pitchFamily="34" charset="0"/>
                  </a:rPr>
                  <a:t> determine which tokens to attend to, 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Arial Narrow" panose="020B0606020202030204" pitchFamily="34" charset="0"/>
                  </a:rPr>
                  <a:t> provides the information that is</a:t>
                </a:r>
              </a:p>
              <a:p>
                <a:pPr marL="0" indent="0" algn="just">
                  <a:buNone/>
                </a:pPr>
                <a:r>
                  <a:rPr lang="en-US" dirty="0">
                    <a:latin typeface="Arial Narrow" panose="020B0606020202030204" pitchFamily="34" charset="0"/>
                  </a:rPr>
                  <a:t>  aggregated to form the final representation.</a:t>
                </a:r>
                <a:endParaRPr lang="en-IN" dirty="0">
                  <a:latin typeface="Arial Narrow" panose="020B0606020202030204" pitchFamily="34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F4BE8-3B9D-4A65-9B92-7F86DE7E0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3788" y="1493930"/>
                <a:ext cx="10926893" cy="4351338"/>
              </a:xfrm>
              <a:blipFill>
                <a:blip r:embed="rId2"/>
                <a:stretch>
                  <a:fillRect l="-670" t="-3081" r="-725" b="-5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4F6B641-0650-4CBB-8028-0969B06A30F9}"/>
              </a:ext>
            </a:extLst>
          </p:cNvPr>
          <p:cNvSpPr txBox="1"/>
          <p:nvPr/>
        </p:nvSpPr>
        <p:spPr>
          <a:xfrm>
            <a:off x="583789" y="456163"/>
            <a:ext cx="5461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entury" panose="02040604050505020304" pitchFamily="18" charset="0"/>
              </a:rPr>
              <a:t>Self Attention</a:t>
            </a:r>
            <a:endParaRPr lang="en-IN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560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282">
            <a:extLst>
              <a:ext uri="{FF2B5EF4-FFF2-40B4-BE49-F238E27FC236}">
                <a16:creationId xmlns:a16="http://schemas.microsoft.com/office/drawing/2014/main" id="{8638D15E-8E45-4060-A0FD-F91AEFEED1CF}"/>
              </a:ext>
            </a:extLst>
          </p:cNvPr>
          <p:cNvSpPr txBox="1"/>
          <p:nvPr/>
        </p:nvSpPr>
        <p:spPr>
          <a:xfrm>
            <a:off x="546586" y="246035"/>
            <a:ext cx="4508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Multi-head Attention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29418" y="2606441"/>
            <a:ext cx="827471" cy="646331"/>
          </a:xfrm>
          <a:prstGeom prst="rect">
            <a:avLst/>
          </a:prstGeom>
          <a:solidFill>
            <a:srgbClr val="00B050">
              <a:alpha val="69000"/>
            </a:srgbClr>
          </a:solidFill>
          <a:ln w="158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</a:p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(6x512)</a:t>
            </a:r>
          </a:p>
        </p:txBody>
      </p:sp>
      <p:cxnSp>
        <p:nvCxnSpPr>
          <p:cNvPr id="231" name="Straight Arrow Connector 230"/>
          <p:cNvCxnSpPr/>
          <p:nvPr/>
        </p:nvCxnSpPr>
        <p:spPr>
          <a:xfrm>
            <a:off x="4253537" y="4366136"/>
            <a:ext cx="242130" cy="57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/>
        </p:nvCxnSpPr>
        <p:spPr>
          <a:xfrm>
            <a:off x="4246651" y="2909530"/>
            <a:ext cx="242130" cy="57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ACACE6AC-6708-8AF5-6DA7-8F5C58CE9BA7}"/>
              </a:ext>
            </a:extLst>
          </p:cNvPr>
          <p:cNvSpPr/>
          <p:nvPr/>
        </p:nvSpPr>
        <p:spPr>
          <a:xfrm>
            <a:off x="2287599" y="1481753"/>
            <a:ext cx="380850" cy="3443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8F31938-0E99-B403-9199-E8CDB09CA940}"/>
              </a:ext>
            </a:extLst>
          </p:cNvPr>
          <p:cNvSpPr/>
          <p:nvPr/>
        </p:nvSpPr>
        <p:spPr>
          <a:xfrm>
            <a:off x="2997866" y="1478193"/>
            <a:ext cx="609472" cy="3478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W</a:t>
            </a:r>
            <a:r>
              <a:rPr lang="en-US" baseline="30000" dirty="0">
                <a:latin typeface="Arial Narrow" panose="020B0606020202030204" pitchFamily="34" charset="0"/>
                <a:cs typeface="Times New Roman" panose="02020603050405020304" pitchFamily="18" charset="0"/>
              </a:rPr>
              <a:t>Q</a:t>
            </a: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034116B-1796-5009-D7EA-F4B6E0B20521}"/>
              </a:ext>
            </a:extLst>
          </p:cNvPr>
          <p:cNvSpPr txBox="1"/>
          <p:nvPr/>
        </p:nvSpPr>
        <p:spPr>
          <a:xfrm>
            <a:off x="3849467" y="1479352"/>
            <a:ext cx="41176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Q’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8FDC0CE-D08F-375F-FD45-D69002DF2CEA}"/>
              </a:ext>
            </a:extLst>
          </p:cNvPr>
          <p:cNvSpPr txBox="1"/>
          <p:nvPr/>
        </p:nvSpPr>
        <p:spPr>
          <a:xfrm>
            <a:off x="2119814" y="1161278"/>
            <a:ext cx="684803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(6x512)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2B2E70E-E4F9-C7C4-0F64-1DAAD80D96B6}"/>
              </a:ext>
            </a:extLst>
          </p:cNvPr>
          <p:cNvSpPr txBox="1"/>
          <p:nvPr/>
        </p:nvSpPr>
        <p:spPr>
          <a:xfrm>
            <a:off x="2800610" y="1160365"/>
            <a:ext cx="1214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(512 X 512)</a:t>
            </a:r>
            <a:endParaRPr lang="en-IN" sz="1400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02C6E23-1CC8-608B-3A14-4C01172505AB}"/>
              </a:ext>
            </a:extLst>
          </p:cNvPr>
          <p:cNvSpPr txBox="1"/>
          <p:nvPr/>
        </p:nvSpPr>
        <p:spPr>
          <a:xfrm>
            <a:off x="3704913" y="1162481"/>
            <a:ext cx="684803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(6x512)</a:t>
            </a:r>
          </a:p>
        </p:txBody>
      </p:sp>
      <p:cxnSp>
        <p:nvCxnSpPr>
          <p:cNvPr id="107" name="Elbow Connector 106"/>
          <p:cNvCxnSpPr>
            <a:stCxn id="2" idx="3"/>
            <a:endCxn id="100" idx="1"/>
          </p:cNvCxnSpPr>
          <p:nvPr/>
        </p:nvCxnSpPr>
        <p:spPr>
          <a:xfrm flipV="1">
            <a:off x="1756889" y="1653913"/>
            <a:ext cx="530710" cy="1275694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2574108" y="1297865"/>
            <a:ext cx="491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rgbClr val="7030A0"/>
                </a:solidFill>
                <a:latin typeface="Arial Narrow" panose="020B0606020202030204" pitchFamily="34" charset="0"/>
              </a:rPr>
              <a:t>*</a:t>
            </a:r>
          </a:p>
        </p:txBody>
      </p:sp>
      <p:cxnSp>
        <p:nvCxnSpPr>
          <p:cNvPr id="110" name="Straight Arrow Connector 109"/>
          <p:cNvCxnSpPr>
            <a:stCxn id="101" idx="3"/>
          </p:cNvCxnSpPr>
          <p:nvPr/>
        </p:nvCxnSpPr>
        <p:spPr>
          <a:xfrm>
            <a:off x="3607337" y="1652133"/>
            <a:ext cx="242130" cy="57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CACE6AC-6708-8AF5-6DA7-8F5C58CE9BA7}"/>
              </a:ext>
            </a:extLst>
          </p:cNvPr>
          <p:cNvSpPr/>
          <p:nvPr/>
        </p:nvSpPr>
        <p:spPr>
          <a:xfrm>
            <a:off x="2287599" y="2739441"/>
            <a:ext cx="380850" cy="344320"/>
          </a:xfrm>
          <a:prstGeom prst="rect">
            <a:avLst/>
          </a:prstGeom>
          <a:solidFill>
            <a:srgbClr val="EC406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8F31938-0E99-B403-9199-E8CDB09CA940}"/>
              </a:ext>
            </a:extLst>
          </p:cNvPr>
          <p:cNvSpPr/>
          <p:nvPr/>
        </p:nvSpPr>
        <p:spPr>
          <a:xfrm>
            <a:off x="2997866" y="2735881"/>
            <a:ext cx="609472" cy="347880"/>
          </a:xfrm>
          <a:prstGeom prst="rect">
            <a:avLst/>
          </a:prstGeom>
          <a:solidFill>
            <a:srgbClr val="EC406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W</a:t>
            </a:r>
            <a:r>
              <a:rPr lang="en-US" baseline="30000" dirty="0">
                <a:latin typeface="Arial Narrow" panose="020B0606020202030204" pitchFamily="34" charset="0"/>
                <a:cs typeface="Times New Roman" panose="02020603050405020304" pitchFamily="18" charset="0"/>
              </a:rPr>
              <a:t>K</a:t>
            </a: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034116B-1796-5009-D7EA-F4B6E0B20521}"/>
              </a:ext>
            </a:extLst>
          </p:cNvPr>
          <p:cNvSpPr txBox="1"/>
          <p:nvPr/>
        </p:nvSpPr>
        <p:spPr>
          <a:xfrm>
            <a:off x="3849467" y="2737041"/>
            <a:ext cx="411760" cy="369332"/>
          </a:xfrm>
          <a:prstGeom prst="rect">
            <a:avLst/>
          </a:prstGeom>
          <a:solidFill>
            <a:srgbClr val="EC406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K’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8FDC0CE-D08F-375F-FD45-D69002DF2CEA}"/>
              </a:ext>
            </a:extLst>
          </p:cNvPr>
          <p:cNvSpPr txBox="1"/>
          <p:nvPr/>
        </p:nvSpPr>
        <p:spPr>
          <a:xfrm>
            <a:off x="2119814" y="2418966"/>
            <a:ext cx="684803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(6x512)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2B2E70E-E4F9-C7C4-0F64-1DAAD80D96B6}"/>
              </a:ext>
            </a:extLst>
          </p:cNvPr>
          <p:cNvSpPr txBox="1"/>
          <p:nvPr/>
        </p:nvSpPr>
        <p:spPr>
          <a:xfrm>
            <a:off x="2800610" y="2418054"/>
            <a:ext cx="1214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(512 X 512)</a:t>
            </a:r>
            <a:endParaRPr lang="en-IN" sz="1400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02C6E23-1CC8-608B-3A14-4C01172505AB}"/>
              </a:ext>
            </a:extLst>
          </p:cNvPr>
          <p:cNvSpPr txBox="1"/>
          <p:nvPr/>
        </p:nvSpPr>
        <p:spPr>
          <a:xfrm>
            <a:off x="3704913" y="2420170"/>
            <a:ext cx="684803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(6x512)</a:t>
            </a:r>
          </a:p>
        </p:txBody>
      </p:sp>
      <p:cxnSp>
        <p:nvCxnSpPr>
          <p:cNvPr id="117" name="Straight Arrow Connector 116"/>
          <p:cNvCxnSpPr>
            <a:stCxn id="112" idx="3"/>
          </p:cNvCxnSpPr>
          <p:nvPr/>
        </p:nvCxnSpPr>
        <p:spPr>
          <a:xfrm>
            <a:off x="3607337" y="2909821"/>
            <a:ext cx="242130" cy="57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CACE6AC-6708-8AF5-6DA7-8F5C58CE9BA7}"/>
              </a:ext>
            </a:extLst>
          </p:cNvPr>
          <p:cNvSpPr/>
          <p:nvPr/>
        </p:nvSpPr>
        <p:spPr>
          <a:xfrm>
            <a:off x="2287599" y="4199963"/>
            <a:ext cx="380850" cy="344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8F31938-0E99-B403-9199-E8CDB09CA940}"/>
              </a:ext>
            </a:extLst>
          </p:cNvPr>
          <p:cNvSpPr/>
          <p:nvPr/>
        </p:nvSpPr>
        <p:spPr>
          <a:xfrm>
            <a:off x="2997866" y="4196404"/>
            <a:ext cx="609472" cy="3478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W</a:t>
            </a:r>
            <a:r>
              <a:rPr lang="en-US" baseline="30000" dirty="0">
                <a:latin typeface="Arial Narrow" panose="020B0606020202030204" pitchFamily="34" charset="0"/>
                <a:cs typeface="Times New Roman" panose="02020603050405020304" pitchFamily="18" charset="0"/>
              </a:rPr>
              <a:t>V</a:t>
            </a: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034116B-1796-5009-D7EA-F4B6E0B20521}"/>
              </a:ext>
            </a:extLst>
          </p:cNvPr>
          <p:cNvSpPr txBox="1"/>
          <p:nvPr/>
        </p:nvSpPr>
        <p:spPr>
          <a:xfrm>
            <a:off x="3849467" y="4197563"/>
            <a:ext cx="41176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V’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8FDC0CE-D08F-375F-FD45-D69002DF2CEA}"/>
              </a:ext>
            </a:extLst>
          </p:cNvPr>
          <p:cNvSpPr txBox="1"/>
          <p:nvPr/>
        </p:nvSpPr>
        <p:spPr>
          <a:xfrm>
            <a:off x="2119814" y="3879489"/>
            <a:ext cx="684803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(6x512)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2B2E70E-E4F9-C7C4-0F64-1DAAD80D96B6}"/>
              </a:ext>
            </a:extLst>
          </p:cNvPr>
          <p:cNvSpPr txBox="1"/>
          <p:nvPr/>
        </p:nvSpPr>
        <p:spPr>
          <a:xfrm>
            <a:off x="2800610" y="3878576"/>
            <a:ext cx="1214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(512 X 512)</a:t>
            </a:r>
            <a:endParaRPr lang="en-IN" sz="1400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02C6E23-1CC8-608B-3A14-4C01172505AB}"/>
              </a:ext>
            </a:extLst>
          </p:cNvPr>
          <p:cNvSpPr txBox="1"/>
          <p:nvPr/>
        </p:nvSpPr>
        <p:spPr>
          <a:xfrm>
            <a:off x="3704913" y="3880692"/>
            <a:ext cx="684803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1440" tIns="45720" rIns="91440" bIns="45720" rtlCol="0" anchor="t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(6x512)</a:t>
            </a:r>
          </a:p>
        </p:txBody>
      </p:sp>
      <p:cxnSp>
        <p:nvCxnSpPr>
          <p:cNvPr id="124" name="Straight Arrow Connector 123"/>
          <p:cNvCxnSpPr>
            <a:stCxn id="119" idx="3"/>
          </p:cNvCxnSpPr>
          <p:nvPr/>
        </p:nvCxnSpPr>
        <p:spPr>
          <a:xfrm>
            <a:off x="3607337" y="4370344"/>
            <a:ext cx="242130" cy="57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/>
          <p:cNvCxnSpPr>
            <a:stCxn id="2" idx="3"/>
            <a:endCxn id="118" idx="1"/>
          </p:cNvCxnSpPr>
          <p:nvPr/>
        </p:nvCxnSpPr>
        <p:spPr>
          <a:xfrm>
            <a:off x="1756889" y="2929607"/>
            <a:ext cx="530710" cy="1442516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2" idx="3"/>
            <a:endCxn id="111" idx="1"/>
          </p:cNvCxnSpPr>
          <p:nvPr/>
        </p:nvCxnSpPr>
        <p:spPr>
          <a:xfrm flipV="1">
            <a:off x="1756889" y="2911601"/>
            <a:ext cx="530710" cy="1800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2574108" y="2562521"/>
            <a:ext cx="491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rgbClr val="7030A0"/>
                </a:solidFill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581310" y="4047718"/>
            <a:ext cx="491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rgbClr val="7030A0"/>
                </a:solidFill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494856" y="878598"/>
            <a:ext cx="492443" cy="40595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txBody>
          <a:bodyPr vert="vert270" wrap="square" rtlCol="0">
            <a:spAutoFit/>
          </a:bodyPr>
          <a:lstStyle/>
          <a:p>
            <a:pPr algn="ctr"/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Split into different heads</a:t>
            </a:r>
          </a:p>
        </p:txBody>
      </p:sp>
      <p:cxnSp>
        <p:nvCxnSpPr>
          <p:cNvPr id="229" name="Straight Arrow Connector 228"/>
          <p:cNvCxnSpPr/>
          <p:nvPr/>
        </p:nvCxnSpPr>
        <p:spPr>
          <a:xfrm>
            <a:off x="4256279" y="1638485"/>
            <a:ext cx="242130" cy="57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5208949" y="981864"/>
            <a:ext cx="488756" cy="2474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Q 1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208949" y="1255875"/>
            <a:ext cx="488756" cy="2474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Q 2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208949" y="1525383"/>
            <a:ext cx="488756" cy="2474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Q 3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5208949" y="1792236"/>
            <a:ext cx="488756" cy="2474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Q 4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208949" y="2391020"/>
            <a:ext cx="488756" cy="247427"/>
          </a:xfrm>
          <a:prstGeom prst="rect">
            <a:avLst/>
          </a:prstGeom>
          <a:solidFill>
            <a:srgbClr val="EC406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K 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208949" y="2665031"/>
            <a:ext cx="488756" cy="247427"/>
          </a:xfrm>
          <a:prstGeom prst="rect">
            <a:avLst/>
          </a:prstGeom>
          <a:solidFill>
            <a:srgbClr val="EC406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K 1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208949" y="2934539"/>
            <a:ext cx="488756" cy="247427"/>
          </a:xfrm>
          <a:prstGeom prst="rect">
            <a:avLst/>
          </a:prstGeom>
          <a:solidFill>
            <a:srgbClr val="EC406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K 3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208949" y="3201391"/>
            <a:ext cx="488756" cy="247427"/>
          </a:xfrm>
          <a:prstGeom prst="rect">
            <a:avLst/>
          </a:prstGeom>
          <a:solidFill>
            <a:srgbClr val="EC406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K 4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5208949" y="3805828"/>
            <a:ext cx="488756" cy="2474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V 1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5208949" y="4079839"/>
            <a:ext cx="488756" cy="2474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V 2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208949" y="4349347"/>
            <a:ext cx="488756" cy="2474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V 3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5208949" y="4623354"/>
            <a:ext cx="488756" cy="2474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IN" sz="1200" dirty="0">
                <a:latin typeface="Arial Narrow" panose="020B0606020202030204" pitchFamily="34" charset="0"/>
              </a:rPr>
              <a:t>V 4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B8A94FE-3382-EEC5-1E86-CE2D74D3F242}"/>
              </a:ext>
            </a:extLst>
          </p:cNvPr>
          <p:cNvSpPr txBox="1"/>
          <p:nvPr/>
        </p:nvSpPr>
        <p:spPr>
          <a:xfrm rot="16200000">
            <a:off x="4336804" y="1469488"/>
            <a:ext cx="1527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6x (128   128    128   128)</a:t>
            </a:r>
            <a:endParaRPr lang="en-IN" sz="1000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1B8A94FE-3382-EEC5-1E86-CE2D74D3F242}"/>
              </a:ext>
            </a:extLst>
          </p:cNvPr>
          <p:cNvSpPr txBox="1"/>
          <p:nvPr/>
        </p:nvSpPr>
        <p:spPr>
          <a:xfrm rot="16200000">
            <a:off x="4346468" y="2871558"/>
            <a:ext cx="15257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6x (128   128    128   128)</a:t>
            </a:r>
            <a:endParaRPr lang="en-IN" sz="1000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1B8A94FE-3382-EEC5-1E86-CE2D74D3F242}"/>
              </a:ext>
            </a:extLst>
          </p:cNvPr>
          <p:cNvSpPr txBox="1"/>
          <p:nvPr/>
        </p:nvSpPr>
        <p:spPr>
          <a:xfrm rot="16200000">
            <a:off x="4330486" y="4286211"/>
            <a:ext cx="1536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6x (128   128    128   128)</a:t>
            </a:r>
            <a:endParaRPr lang="en-IN" sz="1000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1" name="TextBox 260"/>
          <p:cNvSpPr txBox="1"/>
          <p:nvPr/>
        </p:nvSpPr>
        <p:spPr>
          <a:xfrm>
            <a:off x="6555450" y="934257"/>
            <a:ext cx="934871" cy="646331"/>
          </a:xfrm>
          <a:prstGeom prst="rect">
            <a:avLst/>
          </a:prstGeom>
          <a:solidFill>
            <a:schemeClr val="accent2">
              <a:lumMod val="60000"/>
              <a:lumOff val="40000"/>
              <a:alpha val="45000"/>
            </a:schemeClr>
          </a:solidFill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Self </a:t>
            </a:r>
          </a:p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6555450" y="2058927"/>
            <a:ext cx="934871" cy="646331"/>
          </a:xfrm>
          <a:prstGeom prst="rect">
            <a:avLst/>
          </a:prstGeom>
          <a:solidFill>
            <a:schemeClr val="bg2">
              <a:lumMod val="75000"/>
              <a:alpha val="45000"/>
            </a:schemeClr>
          </a:solidFill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Self </a:t>
            </a:r>
          </a:p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6555449" y="3179077"/>
            <a:ext cx="934871" cy="646331"/>
          </a:xfrm>
          <a:prstGeom prst="rect">
            <a:avLst/>
          </a:prstGeom>
          <a:solidFill>
            <a:schemeClr val="accent5">
              <a:lumMod val="20000"/>
              <a:lumOff val="80000"/>
              <a:alpha val="45000"/>
            </a:schemeClr>
          </a:solidFill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Self </a:t>
            </a:r>
          </a:p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6555449" y="4301740"/>
            <a:ext cx="934871" cy="646331"/>
          </a:xfrm>
          <a:prstGeom prst="rect">
            <a:avLst/>
          </a:prstGeom>
          <a:solidFill>
            <a:srgbClr val="00FF00">
              <a:alpha val="17000"/>
            </a:srgbClr>
          </a:solidFill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Self </a:t>
            </a:r>
          </a:p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579129" y="1086260"/>
            <a:ext cx="724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Head 1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7579131" y="2203253"/>
            <a:ext cx="724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Head 2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7579131" y="3339377"/>
            <a:ext cx="724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Head 3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7579130" y="4446066"/>
            <a:ext cx="724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Head 4</a:t>
            </a:r>
          </a:p>
        </p:txBody>
      </p:sp>
      <p:sp>
        <p:nvSpPr>
          <p:cNvPr id="269" name="Oval 268"/>
          <p:cNvSpPr/>
          <p:nvPr/>
        </p:nvSpPr>
        <p:spPr>
          <a:xfrm>
            <a:off x="8586191" y="934257"/>
            <a:ext cx="639060" cy="610574"/>
          </a:xfrm>
          <a:prstGeom prst="ellipse">
            <a:avLst/>
          </a:prstGeom>
          <a:solidFill>
            <a:schemeClr val="accent2">
              <a:lumMod val="40000"/>
              <a:lumOff val="60000"/>
              <a:alpha val="45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70" name="Oval 269"/>
          <p:cNvSpPr/>
          <p:nvPr/>
        </p:nvSpPr>
        <p:spPr>
          <a:xfrm>
            <a:off x="8589371" y="2058927"/>
            <a:ext cx="639060" cy="61057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71" name="Oval 270"/>
          <p:cNvSpPr/>
          <p:nvPr/>
        </p:nvSpPr>
        <p:spPr>
          <a:xfrm>
            <a:off x="8586191" y="3191705"/>
            <a:ext cx="639060" cy="610574"/>
          </a:xfrm>
          <a:prstGeom prst="ellipse">
            <a:avLst/>
          </a:prstGeom>
          <a:solidFill>
            <a:schemeClr val="accent5">
              <a:lumMod val="20000"/>
              <a:lumOff val="80000"/>
              <a:alpha val="45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72" name="Oval 271"/>
          <p:cNvSpPr/>
          <p:nvPr/>
        </p:nvSpPr>
        <p:spPr>
          <a:xfrm>
            <a:off x="8586189" y="4299832"/>
            <a:ext cx="639060" cy="610574"/>
          </a:xfrm>
          <a:prstGeom prst="ellipse">
            <a:avLst/>
          </a:prstGeom>
          <a:solidFill>
            <a:srgbClr val="00FF00">
              <a:alpha val="18000"/>
            </a:srgb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274" name="Straight Arrow Connector 273"/>
          <p:cNvCxnSpPr>
            <a:stCxn id="265" idx="3"/>
            <a:endCxn id="269" idx="2"/>
          </p:cNvCxnSpPr>
          <p:nvPr/>
        </p:nvCxnSpPr>
        <p:spPr>
          <a:xfrm flipV="1">
            <a:off x="8304007" y="1239544"/>
            <a:ext cx="282184" cy="1599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/>
          <p:cNvCxnSpPr>
            <a:stCxn id="266" idx="3"/>
            <a:endCxn id="270" idx="2"/>
          </p:cNvCxnSpPr>
          <p:nvPr/>
        </p:nvCxnSpPr>
        <p:spPr>
          <a:xfrm flipV="1">
            <a:off x="8304009" y="2364214"/>
            <a:ext cx="285362" cy="831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/>
          <p:cNvCxnSpPr>
            <a:stCxn id="267" idx="3"/>
            <a:endCxn id="271" idx="2"/>
          </p:cNvCxnSpPr>
          <p:nvPr/>
        </p:nvCxnSpPr>
        <p:spPr>
          <a:xfrm flipV="1">
            <a:off x="8304009" y="3496992"/>
            <a:ext cx="282182" cy="1166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/>
          <p:cNvCxnSpPr>
            <a:stCxn id="268" idx="3"/>
            <a:endCxn id="272" idx="2"/>
          </p:cNvCxnSpPr>
          <p:nvPr/>
        </p:nvCxnSpPr>
        <p:spPr>
          <a:xfrm flipV="1">
            <a:off x="8304008" y="4605119"/>
            <a:ext cx="282181" cy="10224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A2EAFC4D-7664-557F-063A-205DA34E5FF5}"/>
              </a:ext>
            </a:extLst>
          </p:cNvPr>
          <p:cNvSpPr txBox="1"/>
          <p:nvPr/>
        </p:nvSpPr>
        <p:spPr>
          <a:xfrm>
            <a:off x="9425349" y="2638447"/>
            <a:ext cx="1653559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Concatenation</a:t>
            </a: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2" name="Right Bracket 281"/>
          <p:cNvSpPr/>
          <p:nvPr/>
        </p:nvSpPr>
        <p:spPr>
          <a:xfrm>
            <a:off x="9225249" y="934257"/>
            <a:ext cx="143637" cy="3974243"/>
          </a:xfrm>
          <a:prstGeom prst="rightBracket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285" name="Straight Arrow Connector 284"/>
          <p:cNvCxnSpPr>
            <a:stCxn id="243" idx="3"/>
            <a:endCxn id="261" idx="1"/>
          </p:cNvCxnSpPr>
          <p:nvPr/>
        </p:nvCxnSpPr>
        <p:spPr>
          <a:xfrm>
            <a:off x="5697705" y="1105578"/>
            <a:ext cx="857745" cy="151845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/>
          <p:cNvCxnSpPr>
            <a:stCxn id="244" idx="3"/>
            <a:endCxn id="262" idx="1"/>
          </p:cNvCxnSpPr>
          <p:nvPr/>
        </p:nvCxnSpPr>
        <p:spPr>
          <a:xfrm>
            <a:off x="5697705" y="1379589"/>
            <a:ext cx="857745" cy="1002504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Arrow Connector 288"/>
          <p:cNvCxnSpPr>
            <a:stCxn id="245" idx="3"/>
            <a:endCxn id="263" idx="1"/>
          </p:cNvCxnSpPr>
          <p:nvPr/>
        </p:nvCxnSpPr>
        <p:spPr>
          <a:xfrm>
            <a:off x="5697705" y="1649097"/>
            <a:ext cx="857744" cy="185314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/>
          <p:cNvCxnSpPr>
            <a:stCxn id="246" idx="3"/>
            <a:endCxn id="264" idx="1"/>
          </p:cNvCxnSpPr>
          <p:nvPr/>
        </p:nvCxnSpPr>
        <p:spPr>
          <a:xfrm>
            <a:off x="5697705" y="1915950"/>
            <a:ext cx="857744" cy="270895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/>
          <p:cNvCxnSpPr>
            <a:stCxn id="247" idx="3"/>
            <a:endCxn id="261" idx="1"/>
          </p:cNvCxnSpPr>
          <p:nvPr/>
        </p:nvCxnSpPr>
        <p:spPr>
          <a:xfrm flipV="1">
            <a:off x="5697705" y="1257423"/>
            <a:ext cx="857745" cy="125731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Arrow Connector 294"/>
          <p:cNvCxnSpPr>
            <a:stCxn id="248" idx="3"/>
            <a:endCxn id="262" idx="1"/>
          </p:cNvCxnSpPr>
          <p:nvPr/>
        </p:nvCxnSpPr>
        <p:spPr>
          <a:xfrm flipV="1">
            <a:off x="5697705" y="2382093"/>
            <a:ext cx="857745" cy="40665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/>
          <p:cNvCxnSpPr>
            <a:stCxn id="249" idx="3"/>
            <a:endCxn id="263" idx="1"/>
          </p:cNvCxnSpPr>
          <p:nvPr/>
        </p:nvCxnSpPr>
        <p:spPr>
          <a:xfrm>
            <a:off x="5697705" y="3058253"/>
            <a:ext cx="857744" cy="44399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/>
          <p:cNvCxnSpPr>
            <a:stCxn id="250" idx="3"/>
            <a:endCxn id="264" idx="1"/>
          </p:cNvCxnSpPr>
          <p:nvPr/>
        </p:nvCxnSpPr>
        <p:spPr>
          <a:xfrm>
            <a:off x="5697705" y="3325105"/>
            <a:ext cx="857744" cy="129980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Arrow Connector 300"/>
          <p:cNvCxnSpPr>
            <a:stCxn id="251" idx="3"/>
            <a:endCxn id="261" idx="1"/>
          </p:cNvCxnSpPr>
          <p:nvPr/>
        </p:nvCxnSpPr>
        <p:spPr>
          <a:xfrm flipV="1">
            <a:off x="5697705" y="1257423"/>
            <a:ext cx="857745" cy="267211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/>
          <p:cNvCxnSpPr>
            <a:stCxn id="252" idx="3"/>
            <a:endCxn id="262" idx="1"/>
          </p:cNvCxnSpPr>
          <p:nvPr/>
        </p:nvCxnSpPr>
        <p:spPr>
          <a:xfrm flipV="1">
            <a:off x="5697705" y="2382093"/>
            <a:ext cx="857745" cy="182146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/>
          <p:cNvCxnSpPr>
            <a:stCxn id="253" idx="3"/>
            <a:endCxn id="263" idx="1"/>
          </p:cNvCxnSpPr>
          <p:nvPr/>
        </p:nvCxnSpPr>
        <p:spPr>
          <a:xfrm flipV="1">
            <a:off x="5697705" y="3502243"/>
            <a:ext cx="857744" cy="97081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/>
          <p:cNvCxnSpPr>
            <a:stCxn id="254" idx="3"/>
            <a:endCxn id="264" idx="1"/>
          </p:cNvCxnSpPr>
          <p:nvPr/>
        </p:nvCxnSpPr>
        <p:spPr>
          <a:xfrm flipV="1">
            <a:off x="5697705" y="4624906"/>
            <a:ext cx="857744" cy="12216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>
            <a:extLst>
              <a:ext uri="{FF2B5EF4-FFF2-40B4-BE49-F238E27FC236}">
                <a16:creationId xmlns:a16="http://schemas.microsoft.com/office/drawing/2014/main" id="{4E067698-1F74-45D2-AEAE-6EAA5C2F12AB}"/>
              </a:ext>
            </a:extLst>
          </p:cNvPr>
          <p:cNvSpPr txBox="1"/>
          <p:nvPr/>
        </p:nvSpPr>
        <p:spPr>
          <a:xfrm>
            <a:off x="290854" y="5128458"/>
            <a:ext cx="31299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latin typeface="Arial Narrow" panose="020B0606020202030204" pitchFamily="34" charset="0"/>
                <a:cs typeface="Times New Roman" panose="02020603050405020304" pitchFamily="18" charset="0"/>
              </a:rPr>
              <a:t>For clarity, in this example,</a:t>
            </a:r>
          </a:p>
          <a:p>
            <a:r>
              <a:rPr lang="en-IN" sz="1600">
                <a:latin typeface="Arial Narrow" panose="020B0606020202030204" pitchFamily="34" charset="0"/>
                <a:cs typeface="Times New Roman" panose="02020603050405020304" pitchFamily="18" charset="0"/>
              </a:rPr>
              <a:t>We assume a different dimensions:</a:t>
            </a:r>
          </a:p>
          <a:p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1600">
                <a:latin typeface="Arial Narrow" panose="020B0606020202030204" pitchFamily="34" charset="0"/>
                <a:cs typeface="Times New Roman" panose="02020603050405020304" pitchFamily="18" charset="0"/>
              </a:rPr>
              <a:t>Input: 6 words</a:t>
            </a:r>
          </a:p>
          <a:p>
            <a:r>
              <a:rPr lang="en-IN" sz="1600">
                <a:latin typeface="Arial Narrow" panose="020B0606020202030204" pitchFamily="34" charset="0"/>
                <a:cs typeface="Times New Roman" panose="02020603050405020304" pitchFamily="18" charset="0"/>
              </a:rPr>
              <a:t>Input Dimension: [6x512]</a:t>
            </a:r>
          </a:p>
          <a:p>
            <a:endParaRPr lang="en-IN" sz="16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1" name="Rectangle 310"/>
          <p:cNvSpPr/>
          <p:nvPr/>
        </p:nvSpPr>
        <p:spPr>
          <a:xfrm>
            <a:off x="4055347" y="5155477"/>
            <a:ext cx="297029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W</a:t>
            </a:r>
            <a:r>
              <a:rPr lang="en-IN" baseline="30000" dirty="0">
                <a:latin typeface="Arial Narrow" panose="020B0606020202030204" pitchFamily="34" charset="0"/>
                <a:cs typeface="Times New Roman" panose="02020603050405020304" pitchFamily="18" charset="0"/>
              </a:rPr>
              <a:t>Q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,W</a:t>
            </a:r>
            <a:r>
              <a:rPr lang="en-IN" baseline="30000" dirty="0">
                <a:latin typeface="Arial Narrow" panose="020B0606020202030204" pitchFamily="34" charset="0"/>
                <a:cs typeface="Times New Roman" panose="02020603050405020304" pitchFamily="18" charset="0"/>
              </a:rPr>
              <a:t>V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,W</a:t>
            </a:r>
            <a:r>
              <a:rPr lang="en-IN" baseline="30000" dirty="0">
                <a:latin typeface="Arial Narrow" panose="020B0606020202030204" pitchFamily="34" charset="0"/>
                <a:cs typeface="Times New Roman" panose="02020603050405020304" pitchFamily="18" charset="0"/>
              </a:rPr>
              <a:t>K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=[512x512]</a:t>
            </a:r>
          </a:p>
          <a:p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No. of Heads = 4</a:t>
            </a:r>
          </a:p>
          <a:p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Q</a:t>
            </a:r>
            <a:r>
              <a:rPr lang="en-IN" baseline="-250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,K</a:t>
            </a:r>
            <a:r>
              <a:rPr lang="en-IN" baseline="-250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,V</a:t>
            </a:r>
            <a:r>
              <a:rPr lang="en-IN" baseline="-250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= [6x128]</a:t>
            </a:r>
          </a:p>
        </p:txBody>
      </p:sp>
    </p:spTree>
    <p:extLst>
      <p:ext uri="{BB962C8B-B14F-4D97-AF65-F5344CB8AC3E}">
        <p14:creationId xmlns:p14="http://schemas.microsoft.com/office/powerpoint/2010/main" val="225458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CDC9E-0B3C-440D-A4B6-E9D78856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303" y="1431178"/>
            <a:ext cx="10515600" cy="4969622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Multi-Head Attention </a:t>
            </a:r>
            <a:r>
              <a:rPr lang="en-US" sz="2000" dirty="0">
                <a:latin typeface="Arial Narrow" panose="020B0606020202030204" pitchFamily="34" charset="0"/>
              </a:rPr>
              <a:t>is a core component of the Transformer architecture that enables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model to attend to different parts of a sequence simultaneously and capture multiple types of relationships among tokens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Instead of performing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single attention operation</a:t>
            </a:r>
            <a:r>
              <a:rPr lang="en-US" sz="2000" dirty="0">
                <a:latin typeface="Arial Narrow" panose="020B0606020202030204" pitchFamily="34" charset="0"/>
              </a:rPr>
              <a:t>,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input representations are projected into multiple sets of Query (Q), Key (K), and Value (V) matrices</a:t>
            </a:r>
            <a:r>
              <a:rPr lang="en-US" sz="2000" dirty="0">
                <a:latin typeface="Arial Narrow" panose="020B0606020202030204" pitchFamily="34" charset="0"/>
              </a:rPr>
              <a:t>, with each set corresponding to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separate attention head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Each head independently computes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scaled dot-product attention</a:t>
            </a:r>
            <a:r>
              <a:rPr lang="en-US" sz="2000" dirty="0">
                <a:latin typeface="Arial Narrow" panose="020B0606020202030204" pitchFamily="34" charset="0"/>
              </a:rPr>
              <a:t>, allowing it to focus on different aspects of the input, such as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syntactic, semantic, or positional relationships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outputs from all attention heads </a:t>
            </a:r>
            <a:r>
              <a:rPr lang="en-US" sz="2000" dirty="0">
                <a:latin typeface="Arial Narrow" panose="020B0606020202030204" pitchFamily="34" charset="0"/>
              </a:rPr>
              <a:t>are then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concatenated</a:t>
            </a:r>
            <a:r>
              <a:rPr lang="en-US" sz="2000" dirty="0">
                <a:latin typeface="Arial Narrow" panose="020B0606020202030204" pitchFamily="34" charset="0"/>
              </a:rPr>
              <a:t> and passed through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final learned linear transformation to produce the multi-head attention output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By learning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multiple attention patterns in parallel</a:t>
            </a:r>
            <a:r>
              <a:rPr lang="en-US" sz="2000" dirty="0">
                <a:latin typeface="Arial Narrow" panose="020B0606020202030204" pitchFamily="34" charset="0"/>
              </a:rPr>
              <a:t>, Multi-Head Attention increases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expressive power of the Transformer and enables it to capture complex dependencies within the input sequence more effectively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893D04-999C-4DD2-972C-D0616490A87E}"/>
              </a:ext>
            </a:extLst>
          </p:cNvPr>
          <p:cNvSpPr txBox="1"/>
          <p:nvPr/>
        </p:nvSpPr>
        <p:spPr>
          <a:xfrm>
            <a:off x="618303" y="568765"/>
            <a:ext cx="4508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Multi-head Attention</a:t>
            </a:r>
          </a:p>
        </p:txBody>
      </p:sp>
    </p:spTree>
    <p:extLst>
      <p:ext uri="{BB962C8B-B14F-4D97-AF65-F5344CB8AC3E}">
        <p14:creationId xmlns:p14="http://schemas.microsoft.com/office/powerpoint/2010/main" val="7825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86055-5595-40DC-A419-404AF9F59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303" y="1583578"/>
            <a:ext cx="10515600" cy="4351338"/>
          </a:xfrm>
        </p:spPr>
        <p:txBody>
          <a:bodyPr/>
          <a:lstStyle/>
          <a:p>
            <a:r>
              <a:rPr lang="en-IN" sz="2000" dirty="0">
                <a:latin typeface="Arial Narrow" panose="020B0606020202030204" pitchFamily="34" charset="0"/>
              </a:rPr>
              <a:t>Consider the sentence:</a:t>
            </a:r>
          </a:p>
          <a:p>
            <a:endParaRPr lang="en-IN" sz="2000" dirty="0">
              <a:latin typeface="Arial Narrow" panose="020B0606020202030204" pitchFamily="34" charset="0"/>
            </a:endParaRPr>
          </a:p>
          <a:p>
            <a:r>
              <a:rPr lang="en-IN" sz="2000" dirty="0">
                <a:latin typeface="Arial Narrow" panose="020B0606020202030204" pitchFamily="34" charset="0"/>
              </a:rPr>
              <a:t>“</a:t>
            </a:r>
            <a:r>
              <a:rPr lang="en-IN" sz="2000" i="1" dirty="0">
                <a:solidFill>
                  <a:srgbClr val="7030A0"/>
                </a:solidFill>
                <a:latin typeface="Arial Narrow" panose="020B0606020202030204" pitchFamily="34" charset="0"/>
              </a:rPr>
              <a:t>The cat sat on the mat because it was tired</a:t>
            </a:r>
            <a:r>
              <a:rPr lang="en-IN" sz="2000" dirty="0">
                <a:latin typeface="Arial Narrow" panose="020B0606020202030204" pitchFamily="34" charset="0"/>
              </a:rPr>
              <a:t>.”</a:t>
            </a:r>
          </a:p>
          <a:p>
            <a:endParaRPr lang="en-IN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For example:</a:t>
            </a:r>
          </a:p>
          <a:p>
            <a:pPr lvl="1" algn="just"/>
            <a:r>
              <a:rPr lang="en-US" sz="2000" dirty="0">
                <a:latin typeface="Arial Narrow" panose="020B0606020202030204" pitchFamily="34" charset="0"/>
              </a:rPr>
              <a:t>Head 1: focuses on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grammatical relationships</a:t>
            </a:r>
            <a:r>
              <a:rPr lang="en-US" sz="2000" dirty="0">
                <a:latin typeface="Arial Narrow" panose="020B0606020202030204" pitchFamily="34" charset="0"/>
              </a:rPr>
              <a:t>, such as “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it” → “cat</a:t>
            </a:r>
            <a:r>
              <a:rPr lang="en-US" sz="2000" dirty="0">
                <a:latin typeface="Arial Narrow" panose="020B0606020202030204" pitchFamily="34" charset="0"/>
              </a:rPr>
              <a:t>.”</a:t>
            </a:r>
          </a:p>
          <a:p>
            <a:pPr lvl="1" algn="just"/>
            <a:r>
              <a:rPr lang="en-US" sz="2000" dirty="0">
                <a:latin typeface="Arial Narrow" panose="020B0606020202030204" pitchFamily="34" charset="0"/>
              </a:rPr>
              <a:t>Head 2: focuses on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positional relationships</a:t>
            </a:r>
            <a:r>
              <a:rPr lang="en-US" sz="2000" dirty="0">
                <a:latin typeface="Arial Narrow" panose="020B0606020202030204" pitchFamily="34" charset="0"/>
              </a:rPr>
              <a:t>, such as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nearby words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lvl="1" algn="just"/>
            <a:r>
              <a:rPr lang="en-US" sz="2000" dirty="0">
                <a:latin typeface="Arial Narrow" panose="020B0606020202030204" pitchFamily="34" charset="0"/>
              </a:rPr>
              <a:t>Head 3: focuses on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semantic relationships</a:t>
            </a:r>
            <a:r>
              <a:rPr lang="en-US" sz="2000" dirty="0">
                <a:latin typeface="Arial Narrow" panose="020B0606020202030204" pitchFamily="34" charset="0"/>
              </a:rPr>
              <a:t>, such as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“tired” </a:t>
            </a:r>
            <a:r>
              <a:rPr lang="en-US" sz="2000" dirty="0">
                <a:latin typeface="Arial Narrow" panose="020B0606020202030204" pitchFamily="34" charset="0"/>
              </a:rPr>
              <a:t>being related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“cat.”</a:t>
            </a:r>
          </a:p>
          <a:p>
            <a:pPr lvl="1" algn="just"/>
            <a:r>
              <a:rPr lang="en-US" sz="2000" dirty="0">
                <a:latin typeface="Arial Narrow" panose="020B0606020202030204" pitchFamily="34" charset="0"/>
              </a:rPr>
              <a:t>Head 4: may focus on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relationships between verbs and their subjects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55D05-224F-435A-BE18-E37C18D85B13}"/>
              </a:ext>
            </a:extLst>
          </p:cNvPr>
          <p:cNvSpPr txBox="1"/>
          <p:nvPr/>
        </p:nvSpPr>
        <p:spPr>
          <a:xfrm>
            <a:off x="618303" y="568765"/>
            <a:ext cx="4508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Multi-head Attention</a:t>
            </a:r>
          </a:p>
        </p:txBody>
      </p:sp>
    </p:spTree>
    <p:extLst>
      <p:ext uri="{BB962C8B-B14F-4D97-AF65-F5344CB8AC3E}">
        <p14:creationId xmlns:p14="http://schemas.microsoft.com/office/powerpoint/2010/main" val="369817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ounded Rectangle 241"/>
          <p:cNvSpPr/>
          <p:nvPr/>
        </p:nvSpPr>
        <p:spPr>
          <a:xfrm>
            <a:off x="2526880" y="1816100"/>
            <a:ext cx="4539702" cy="3225800"/>
          </a:xfrm>
          <a:prstGeom prst="roundRect">
            <a:avLst>
              <a:gd name="adj" fmla="val 6013"/>
            </a:avLst>
          </a:prstGeom>
          <a:solidFill>
            <a:schemeClr val="accent2">
              <a:lumMod val="40000"/>
              <a:lumOff val="60000"/>
              <a:alpha val="49000"/>
            </a:schemeClr>
          </a:solidFill>
          <a:ln w="158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179" name="Elbow Connector 178"/>
          <p:cNvCxnSpPr>
            <a:stCxn id="116" idx="0"/>
            <a:endCxn id="153" idx="0"/>
          </p:cNvCxnSpPr>
          <p:nvPr/>
        </p:nvCxnSpPr>
        <p:spPr>
          <a:xfrm rot="5400000" flipH="1" flipV="1">
            <a:off x="3032732" y="1339168"/>
            <a:ext cx="104" cy="1500333"/>
          </a:xfrm>
          <a:prstGeom prst="bentConnector3">
            <a:avLst>
              <a:gd name="adj1" fmla="val 19548461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Elbow Connector 181"/>
          <p:cNvCxnSpPr>
            <a:stCxn id="117" idx="0"/>
            <a:endCxn id="154" idx="0"/>
          </p:cNvCxnSpPr>
          <p:nvPr/>
        </p:nvCxnSpPr>
        <p:spPr>
          <a:xfrm rot="5400000" flipH="1" flipV="1">
            <a:off x="3033506" y="2077504"/>
            <a:ext cx="104" cy="1500333"/>
          </a:xfrm>
          <a:prstGeom prst="bentConnector3">
            <a:avLst>
              <a:gd name="adj1" fmla="val 19548461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Elbow Connector 184"/>
          <p:cNvCxnSpPr>
            <a:stCxn id="118" idx="0"/>
            <a:endCxn id="155" idx="0"/>
          </p:cNvCxnSpPr>
          <p:nvPr/>
        </p:nvCxnSpPr>
        <p:spPr>
          <a:xfrm rot="5400000" flipH="1" flipV="1">
            <a:off x="3032732" y="2842660"/>
            <a:ext cx="104" cy="1500333"/>
          </a:xfrm>
          <a:prstGeom prst="bentConnector3">
            <a:avLst>
              <a:gd name="adj1" fmla="val 207696154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Elbow Connector 186"/>
          <p:cNvCxnSpPr>
            <a:stCxn id="119" idx="0"/>
            <a:endCxn id="156" idx="0"/>
          </p:cNvCxnSpPr>
          <p:nvPr/>
        </p:nvCxnSpPr>
        <p:spPr>
          <a:xfrm rot="5400000" flipH="1" flipV="1">
            <a:off x="3032732" y="3591350"/>
            <a:ext cx="104" cy="1500333"/>
          </a:xfrm>
          <a:prstGeom prst="bentConnector3">
            <a:avLst>
              <a:gd name="adj1" fmla="val 171061538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488809" y="2143215"/>
            <a:ext cx="46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Is</a:t>
            </a:r>
            <a:endParaRPr lang="en-IN" baseline="-25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9114" y="2165373"/>
            <a:ext cx="525465" cy="340248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370450" y="2867343"/>
            <a:ext cx="77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mac</a:t>
            </a:r>
            <a:endParaRPr lang="en-IN" baseline="-25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23182" y="2902564"/>
            <a:ext cx="655618" cy="347133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422031" y="4374684"/>
            <a:ext cx="636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mé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20" idx="3"/>
            <a:endCxn id="43" idx="1"/>
          </p:cNvCxnSpPr>
          <p:nvPr/>
        </p:nvCxnSpPr>
        <p:spPr>
          <a:xfrm flipV="1">
            <a:off x="974579" y="2332824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7" idx="3"/>
            <a:endCxn id="49" idx="1"/>
          </p:cNvCxnSpPr>
          <p:nvPr/>
        </p:nvCxnSpPr>
        <p:spPr>
          <a:xfrm flipV="1">
            <a:off x="972954" y="3836317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22681" y="3758623"/>
            <a:ext cx="848621" cy="22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40000"/>
              </a:lnSpc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léinn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9012" y="3663359"/>
            <a:ext cx="663942" cy="355719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22" idx="3"/>
            <a:endCxn id="46" idx="1"/>
          </p:cNvCxnSpPr>
          <p:nvPr/>
        </p:nvCxnSpPr>
        <p:spPr>
          <a:xfrm flipV="1">
            <a:off x="978800" y="3071160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12236" y="4422850"/>
            <a:ext cx="560719" cy="330175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stCxn id="29" idx="3"/>
            <a:endCxn id="52" idx="1"/>
          </p:cNvCxnSpPr>
          <p:nvPr/>
        </p:nvCxnSpPr>
        <p:spPr>
          <a:xfrm flipV="1">
            <a:off x="972954" y="4585007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292724" y="2084482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293499" y="2822818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292724" y="3587975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292724" y="4336665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8" name="Plus 87"/>
          <p:cNvSpPr/>
          <p:nvPr/>
        </p:nvSpPr>
        <p:spPr>
          <a:xfrm>
            <a:off x="1496857" y="2249028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9" name="Plus 88"/>
          <p:cNvSpPr/>
          <p:nvPr/>
        </p:nvSpPr>
        <p:spPr>
          <a:xfrm>
            <a:off x="1492433" y="2987363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0" name="Plus 89"/>
          <p:cNvSpPr/>
          <p:nvPr/>
        </p:nvSpPr>
        <p:spPr>
          <a:xfrm>
            <a:off x="1491846" y="372418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1" name="Plus 90"/>
          <p:cNvSpPr/>
          <p:nvPr/>
        </p:nvSpPr>
        <p:spPr>
          <a:xfrm>
            <a:off x="1494859" y="4501210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721180" y="2084482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721954" y="2822818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721180" y="3587975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721180" y="4336665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112" name="Straight Arrow Connector 111"/>
          <p:cNvCxnSpPr>
            <a:endCxn id="116" idx="1"/>
          </p:cNvCxnSpPr>
          <p:nvPr/>
        </p:nvCxnSpPr>
        <p:spPr>
          <a:xfrm flipV="1">
            <a:off x="1882225" y="2337728"/>
            <a:ext cx="318146" cy="267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endCxn id="118" idx="1"/>
          </p:cNvCxnSpPr>
          <p:nvPr/>
        </p:nvCxnSpPr>
        <p:spPr>
          <a:xfrm flipV="1">
            <a:off x="1880601" y="3841221"/>
            <a:ext cx="319770" cy="490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endCxn id="117" idx="1"/>
          </p:cNvCxnSpPr>
          <p:nvPr/>
        </p:nvCxnSpPr>
        <p:spPr>
          <a:xfrm flipV="1">
            <a:off x="1886447" y="3076064"/>
            <a:ext cx="314699" cy="497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endCxn id="119" idx="1"/>
          </p:cNvCxnSpPr>
          <p:nvPr/>
        </p:nvCxnSpPr>
        <p:spPr>
          <a:xfrm flipV="1">
            <a:off x="1880601" y="4589911"/>
            <a:ext cx="319770" cy="29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2200371" y="2089386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2201145" y="2827722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2200371" y="3592879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2200371" y="4341569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2693224" y="2165373"/>
            <a:ext cx="269818" cy="2587652"/>
          </a:xfrm>
          <a:prstGeom prst="rect">
            <a:avLst/>
          </a:prstGeom>
          <a:solidFill>
            <a:schemeClr val="accent2">
              <a:lumMod val="75000"/>
              <a:alpha val="36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1200" b="1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MULTI-HEAD</a:t>
            </a:r>
            <a:r>
              <a:rPr lang="en-IN" sz="1200" b="1" dirty="0">
                <a:solidFill>
                  <a:srgbClr val="C00000"/>
                </a:solidFill>
                <a:latin typeface="Arial Narrow" panose="020B0606020202030204" pitchFamily="34" charset="0"/>
              </a:rPr>
              <a:t> ATTENTION</a:t>
            </a:r>
          </a:p>
        </p:txBody>
      </p:sp>
      <p:cxnSp>
        <p:nvCxnSpPr>
          <p:cNvPr id="121" name="Straight Arrow Connector 120"/>
          <p:cNvCxnSpPr>
            <a:stCxn id="116" idx="3"/>
          </p:cNvCxnSpPr>
          <p:nvPr/>
        </p:nvCxnSpPr>
        <p:spPr>
          <a:xfrm flipV="1">
            <a:off x="2364863" y="2335438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V="1">
            <a:off x="2368352" y="3833438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117" idx="3"/>
          </p:cNvCxnSpPr>
          <p:nvPr/>
        </p:nvCxnSpPr>
        <p:spPr>
          <a:xfrm>
            <a:off x="2365637" y="3076064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119" idx="3"/>
          </p:cNvCxnSpPr>
          <p:nvPr/>
        </p:nvCxnSpPr>
        <p:spPr>
          <a:xfrm>
            <a:off x="2364863" y="4589911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endCxn id="141" idx="1"/>
          </p:cNvCxnSpPr>
          <p:nvPr/>
        </p:nvCxnSpPr>
        <p:spPr>
          <a:xfrm flipV="1">
            <a:off x="2964836" y="2335755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endCxn id="143" idx="1"/>
          </p:cNvCxnSpPr>
          <p:nvPr/>
        </p:nvCxnSpPr>
        <p:spPr>
          <a:xfrm flipV="1">
            <a:off x="2963212" y="3839248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endCxn id="142" idx="1"/>
          </p:cNvCxnSpPr>
          <p:nvPr/>
        </p:nvCxnSpPr>
        <p:spPr>
          <a:xfrm flipV="1">
            <a:off x="2969058" y="3074091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44" idx="1"/>
          </p:cNvCxnSpPr>
          <p:nvPr/>
        </p:nvCxnSpPr>
        <p:spPr>
          <a:xfrm flipV="1">
            <a:off x="2963212" y="4587938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3282982" y="2087413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3283756" y="2825749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3282982" y="3590905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3282982" y="4339595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5" name="Plus 144"/>
          <p:cNvSpPr/>
          <p:nvPr/>
        </p:nvSpPr>
        <p:spPr>
          <a:xfrm>
            <a:off x="3495317" y="2249028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6" name="Plus 145"/>
          <p:cNvSpPr/>
          <p:nvPr/>
        </p:nvSpPr>
        <p:spPr>
          <a:xfrm>
            <a:off x="3490892" y="2987363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7" name="Plus 146"/>
          <p:cNvSpPr/>
          <p:nvPr/>
        </p:nvSpPr>
        <p:spPr>
          <a:xfrm>
            <a:off x="3490305" y="372418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8" name="Plus 147"/>
          <p:cNvSpPr/>
          <p:nvPr/>
        </p:nvSpPr>
        <p:spPr>
          <a:xfrm>
            <a:off x="3493318" y="4501210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3700704" y="2089282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3701478" y="2827618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3700704" y="3592775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3700704" y="4341465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157" name="Straight Arrow Connector 156"/>
          <p:cNvCxnSpPr>
            <a:stCxn id="153" idx="3"/>
          </p:cNvCxnSpPr>
          <p:nvPr/>
        </p:nvCxnSpPr>
        <p:spPr>
          <a:xfrm flipV="1">
            <a:off x="3865196" y="2335334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 flipV="1">
            <a:off x="3868685" y="3846018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>
            <a:stCxn id="154" idx="3"/>
          </p:cNvCxnSpPr>
          <p:nvPr/>
        </p:nvCxnSpPr>
        <p:spPr>
          <a:xfrm>
            <a:off x="3865970" y="3075960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stCxn id="156" idx="3"/>
          </p:cNvCxnSpPr>
          <p:nvPr/>
        </p:nvCxnSpPr>
        <p:spPr>
          <a:xfrm>
            <a:off x="3865196" y="4589807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4174040" y="2165373"/>
            <a:ext cx="269818" cy="2619122"/>
          </a:xfrm>
          <a:prstGeom prst="rect">
            <a:avLst/>
          </a:prstGeom>
          <a:solidFill>
            <a:schemeClr val="accent2">
              <a:lumMod val="75000"/>
              <a:alpha val="36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1200" b="1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LAYER NORMALIZATION</a:t>
            </a:r>
            <a:endParaRPr lang="en-IN" sz="1200" b="1" dirty="0">
              <a:solidFill>
                <a:srgbClr val="C0000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91" name="Straight Arrow Connector 190"/>
          <p:cNvCxnSpPr/>
          <p:nvPr/>
        </p:nvCxnSpPr>
        <p:spPr>
          <a:xfrm flipV="1">
            <a:off x="4445482" y="2335755"/>
            <a:ext cx="318146" cy="267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 flipV="1">
            <a:off x="4443858" y="3839248"/>
            <a:ext cx="319770" cy="490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/>
          <p:nvPr/>
        </p:nvCxnSpPr>
        <p:spPr>
          <a:xfrm flipV="1">
            <a:off x="4449704" y="3074091"/>
            <a:ext cx="314699" cy="497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/>
          <p:nvPr/>
        </p:nvCxnSpPr>
        <p:spPr>
          <a:xfrm flipV="1">
            <a:off x="4443858" y="4587938"/>
            <a:ext cx="319770" cy="29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Left Bracket 243"/>
          <p:cNvSpPr/>
          <p:nvPr/>
        </p:nvSpPr>
        <p:spPr>
          <a:xfrm rot="16200000">
            <a:off x="3664602" y="4583973"/>
            <a:ext cx="184347" cy="1104351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3071628" y="5211861"/>
            <a:ext cx="1442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Add &amp; Normalization</a:t>
            </a:r>
            <a:endParaRPr lang="en-IN" sz="1400" b="1" dirty="0">
              <a:solidFill>
                <a:srgbClr val="C0000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1842041" y="4935780"/>
            <a:ext cx="958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Input to encoder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1198777" y="1392202"/>
            <a:ext cx="1205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Positional Encoding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3" name="Left Bracket 252"/>
          <p:cNvSpPr/>
          <p:nvPr/>
        </p:nvSpPr>
        <p:spPr>
          <a:xfrm rot="16200000">
            <a:off x="2213052" y="4768342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4" name="Left Bracket 253"/>
          <p:cNvSpPr/>
          <p:nvPr/>
        </p:nvSpPr>
        <p:spPr>
          <a:xfrm rot="5400000">
            <a:off x="1738044" y="1835364"/>
            <a:ext cx="130764" cy="35656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776482" y="4952914"/>
            <a:ext cx="1158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Word Embedding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6" name="Left Bracket 255"/>
          <p:cNvSpPr/>
          <p:nvPr/>
        </p:nvSpPr>
        <p:spPr>
          <a:xfrm rot="16200000">
            <a:off x="1321202" y="4710343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06765CC-8187-42FD-AE18-C69B87A97849}"/>
              </a:ext>
            </a:extLst>
          </p:cNvPr>
          <p:cNvSpPr txBox="1"/>
          <p:nvPr/>
        </p:nvSpPr>
        <p:spPr>
          <a:xfrm>
            <a:off x="201430" y="6381073"/>
            <a:ext cx="575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 Source: Ashish Vaswani et. al. Attention is All You Need, NIPS 2017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30F89F8C-7251-47D9-9711-F2D9FEE86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70" y="1176302"/>
            <a:ext cx="3803448" cy="5513294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72DD247A-6148-446E-B63E-C35D4F9EC1C3}"/>
              </a:ext>
            </a:extLst>
          </p:cNvPr>
          <p:cNvSpPr/>
          <p:nvPr/>
        </p:nvSpPr>
        <p:spPr>
          <a:xfrm>
            <a:off x="7831725" y="3245186"/>
            <a:ext cx="1512696" cy="1973622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F954B4-B41D-49EA-AA29-14F293671399}"/>
              </a:ext>
            </a:extLst>
          </p:cNvPr>
          <p:cNvSpPr txBox="1"/>
          <p:nvPr/>
        </p:nvSpPr>
        <p:spPr>
          <a:xfrm>
            <a:off x="440264" y="550445"/>
            <a:ext cx="5461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entury" panose="02040604050505020304" pitchFamily="18" charset="0"/>
              </a:rPr>
              <a:t>Encoder Architecture</a:t>
            </a:r>
            <a:endParaRPr lang="en-IN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451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C9A3-1609-45B7-9B17-787641CB3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Why ADD (SKIP Connection) is required?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88FB4-796E-4091-8D4D-0A7499ED32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6683"/>
                <a:ext cx="10515600" cy="480825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In a Transformer Encoder, 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Add &amp; Norm</a:t>
                </a:r>
                <a:r>
                  <a:rPr lang="en-US" sz="2000" dirty="0">
                    <a:latin typeface="Arial Narrow" panose="020B0606020202030204" pitchFamily="34" charset="0"/>
                  </a:rPr>
                  <a:t> refers to a 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residual (skip) connection followed by Layer Normalization</a:t>
                </a:r>
                <a:r>
                  <a:rPr lang="en-US" sz="2000" dirty="0">
                    <a:latin typeface="Arial Narrow" panose="020B0606020202030204" pitchFamily="34" charset="0"/>
                  </a:rPr>
                  <a:t>. It is applied around each major sublayer, such as Multi-Head Self-Attention and the Feed-Forward Network.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“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Add</a:t>
                </a:r>
                <a:r>
                  <a:rPr lang="en-US" sz="2000" dirty="0">
                    <a:latin typeface="Arial Narrow" panose="020B0606020202030204" pitchFamily="34" charset="0"/>
                  </a:rPr>
                  <a:t>” helps preserve information and improve gradient flow, while “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Norm</a:t>
                </a:r>
                <a:r>
                  <a:rPr lang="en-US" sz="2000" dirty="0">
                    <a:latin typeface="Arial Narrow" panose="020B0606020202030204" pitchFamily="34" charset="0"/>
                  </a:rPr>
                  <a:t>” keeps the representations numerically well-behaved and makes training more stable. 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Add operation </a:t>
                </a:r>
                <a:r>
                  <a:rPr lang="en-US" sz="2000" dirty="0">
                    <a:latin typeface="Arial Narrow" panose="020B0606020202030204" pitchFamily="34" charset="0"/>
                  </a:rPr>
                  <a:t>creates a residual connection: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000" b="0" i="1" dirty="0" smtClean="0">
                        <a:latin typeface="Cambria Math" panose="02040503050406030204" pitchFamily="18" charset="0"/>
                      </a:rPr>
                      <m:t>                                         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𝑂𝑢𝑡𝑝𝑢𝑡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𝑆𝑢𝑏𝑙𝑎𝑦𝑒𝑟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dirty="0">
                    <a:latin typeface="Arial Narrow" panose="020B0606020202030204" pitchFamily="34" charset="0"/>
                  </a:rPr>
                  <a:t>                                                          </a:t>
                </a:r>
                <a:r>
                  <a:rPr lang="en-US" sz="2000" dirty="0">
                    <a:latin typeface="Arial Narrow" panose="020B0606020202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the input to the sublayer.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Important as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Improves gradient flow</a:t>
                </a:r>
                <a:r>
                  <a:rPr lang="en-US" sz="2000" dirty="0">
                    <a:latin typeface="Arial Narrow" panose="020B0606020202030204" pitchFamily="34" charset="0"/>
                  </a:rPr>
                  <a:t>: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 </a:t>
                </a:r>
                <a:r>
                  <a:rPr lang="en-US" sz="2000" dirty="0">
                    <a:latin typeface="Arial Narrow" panose="020B0606020202030204" pitchFamily="34" charset="0"/>
                  </a:rPr>
                  <a:t>During backpropagation, gradients can pass directly through the skip connection, helping to reduce vanishing-gradient problems.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Preserves original information</a:t>
                </a:r>
                <a:r>
                  <a:rPr lang="en-US" sz="2000" b="1" dirty="0">
                    <a:latin typeface="Arial Narrow" panose="020B0606020202030204" pitchFamily="34" charset="0"/>
                  </a:rPr>
                  <a:t>:</a:t>
                </a:r>
                <a:r>
                  <a:rPr lang="en-US" sz="2000" dirty="0">
                    <a:latin typeface="Arial Narrow" panose="020B0606020202030204" pitchFamily="34" charset="0"/>
                  </a:rPr>
                  <a:t> The input representation is retained instead of forcing every sublayer to completely reconstruct it.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Makes deep Transformers easier to train</a:t>
                </a:r>
                <a:r>
                  <a:rPr lang="en-US" sz="2000" b="1" dirty="0">
                    <a:latin typeface="Arial Narrow" panose="020B0606020202030204" pitchFamily="34" charset="0"/>
                  </a:rPr>
                  <a:t>:</a:t>
                </a:r>
                <a:r>
                  <a:rPr lang="en-US" sz="2000" dirty="0">
                    <a:latin typeface="Arial Narrow" panose="020B0606020202030204" pitchFamily="34" charset="0"/>
                  </a:rPr>
                  <a:t> Multiple encoder layers can be stacked without severely degrading the information.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Allows incremental refinement</a:t>
                </a:r>
                <a:r>
                  <a:rPr lang="en-US" sz="2000" b="1" dirty="0">
                    <a:latin typeface="Arial Narrow" panose="020B0606020202030204" pitchFamily="34" charset="0"/>
                  </a:rPr>
                  <a:t>:</a:t>
                </a:r>
                <a:r>
                  <a:rPr lang="en-US" sz="2000" dirty="0">
                    <a:latin typeface="Arial Narrow" panose="020B0606020202030204" pitchFamily="34" charset="0"/>
                  </a:rPr>
                  <a:t> Each sublayer can learn a modification or refinement of the existing representation rather than learning the entire representation from scratch.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88FB4-796E-4091-8D4D-0A7499ED32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6683"/>
                <a:ext cx="10515600" cy="4808257"/>
              </a:xfrm>
              <a:blipFill>
                <a:blip r:embed="rId2"/>
                <a:stretch>
                  <a:fillRect l="-464" t="-19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388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C9A3-1609-45B7-9B17-787641CB3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Why Norm is required?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88FB4-796E-4091-8D4D-0A7499ED32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3318"/>
                <a:ext cx="10515600" cy="5145741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The Norm operation applies Layer Normalization to the resulting representation: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Add operation </a:t>
                </a:r>
                <a:r>
                  <a:rPr lang="en-US" sz="2000" dirty="0">
                    <a:latin typeface="Arial Narrow" panose="020B0606020202030204" pitchFamily="34" charset="0"/>
                  </a:rPr>
                  <a:t>creates a residual connection: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000" b="0" i="1" dirty="0" smtClean="0">
                        <a:latin typeface="Cambria Math" panose="02040503050406030204" pitchFamily="18" charset="0"/>
                      </a:rPr>
                      <m:t>                                         </m:t>
                    </m:r>
                    <m:r>
                      <a:rPr lang="en-IN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𝑂𝑢𝑡𝑝𝑢𝑡</m:t>
                    </m:r>
                    <m:r>
                      <a:rPr lang="en-IN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IN" sz="20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𝐿𝑎𝑦𝑒𝑟𝑛𝑜𝑟𝑚</m:t>
                    </m:r>
                    <m:r>
                      <a:rPr lang="en-IN" sz="20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IN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𝑆𝑢𝑏𝑙𝑎𝑦𝑒𝑟</m:t>
                    </m:r>
                    <m:r>
                      <a:rPr lang="en-IN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0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0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IN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Layer Normalization </a:t>
                </a:r>
                <a:r>
                  <a:rPr lang="en-US" sz="2000" dirty="0">
                    <a:latin typeface="Arial Narrow" panose="020B0606020202030204" pitchFamily="34" charset="0"/>
                  </a:rPr>
                  <a:t>helps keep the activations at a stable scale across the feature dimensions. This is important because the attention and feed-forward layers repeatedly transform the representations.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Important as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Stabilizes the distribution of activations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Makes optimization easier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Improves training stability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Allows deeper networks to train effectively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Reduces sensitivity to variations in the magnitude of activations</a:t>
                </a:r>
                <a:endParaRPr lang="en-US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88FB4-796E-4091-8D4D-0A7499ED32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3318"/>
                <a:ext cx="10515600" cy="5145741"/>
              </a:xfrm>
              <a:blipFill>
                <a:blip r:embed="rId2"/>
                <a:stretch>
                  <a:fillRect l="-522" t="-1303" b="-20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777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ounded Rectangle 241"/>
          <p:cNvSpPr/>
          <p:nvPr/>
        </p:nvSpPr>
        <p:spPr>
          <a:xfrm>
            <a:off x="2399030" y="2396813"/>
            <a:ext cx="4539702" cy="3225800"/>
          </a:xfrm>
          <a:prstGeom prst="roundRect">
            <a:avLst>
              <a:gd name="adj" fmla="val 6013"/>
            </a:avLst>
          </a:prstGeom>
          <a:solidFill>
            <a:schemeClr val="accent2">
              <a:lumMod val="40000"/>
              <a:lumOff val="60000"/>
              <a:alpha val="49000"/>
            </a:schemeClr>
          </a:solidFill>
          <a:ln w="158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179" name="Elbow Connector 178"/>
          <p:cNvCxnSpPr>
            <a:stCxn id="116" idx="0"/>
            <a:endCxn id="153" idx="0"/>
          </p:cNvCxnSpPr>
          <p:nvPr/>
        </p:nvCxnSpPr>
        <p:spPr>
          <a:xfrm rot="5400000" flipH="1" flipV="1">
            <a:off x="2904882" y="1919881"/>
            <a:ext cx="104" cy="1500333"/>
          </a:xfrm>
          <a:prstGeom prst="bentConnector3">
            <a:avLst>
              <a:gd name="adj1" fmla="val 19548461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Elbow Connector 181"/>
          <p:cNvCxnSpPr>
            <a:stCxn id="117" idx="0"/>
            <a:endCxn id="154" idx="0"/>
          </p:cNvCxnSpPr>
          <p:nvPr/>
        </p:nvCxnSpPr>
        <p:spPr>
          <a:xfrm rot="5400000" flipH="1" flipV="1">
            <a:off x="2905656" y="2658217"/>
            <a:ext cx="104" cy="1500333"/>
          </a:xfrm>
          <a:prstGeom prst="bentConnector3">
            <a:avLst>
              <a:gd name="adj1" fmla="val 19548461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Elbow Connector 184"/>
          <p:cNvCxnSpPr>
            <a:stCxn id="118" idx="0"/>
            <a:endCxn id="155" idx="0"/>
          </p:cNvCxnSpPr>
          <p:nvPr/>
        </p:nvCxnSpPr>
        <p:spPr>
          <a:xfrm rot="5400000" flipH="1" flipV="1">
            <a:off x="2904882" y="3423373"/>
            <a:ext cx="104" cy="1500333"/>
          </a:xfrm>
          <a:prstGeom prst="bentConnector3">
            <a:avLst>
              <a:gd name="adj1" fmla="val 207696154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Elbow Connector 186"/>
          <p:cNvCxnSpPr>
            <a:stCxn id="119" idx="0"/>
            <a:endCxn id="156" idx="0"/>
          </p:cNvCxnSpPr>
          <p:nvPr/>
        </p:nvCxnSpPr>
        <p:spPr>
          <a:xfrm rot="5400000" flipH="1" flipV="1">
            <a:off x="2904882" y="4172063"/>
            <a:ext cx="104" cy="1500333"/>
          </a:xfrm>
          <a:prstGeom prst="bentConnector3">
            <a:avLst>
              <a:gd name="adj1" fmla="val 171061538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360959" y="2723928"/>
            <a:ext cx="46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Is</a:t>
            </a:r>
            <a:endParaRPr lang="en-IN" baseline="-25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1264" y="2746086"/>
            <a:ext cx="525465" cy="340248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242600" y="3448056"/>
            <a:ext cx="77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mac</a:t>
            </a:r>
            <a:endParaRPr lang="en-IN" baseline="-25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95332" y="3483277"/>
            <a:ext cx="655618" cy="347133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294181" y="4955397"/>
            <a:ext cx="636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mé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20" idx="3"/>
            <a:endCxn id="43" idx="1"/>
          </p:cNvCxnSpPr>
          <p:nvPr/>
        </p:nvCxnSpPr>
        <p:spPr>
          <a:xfrm flipV="1">
            <a:off x="846729" y="2913537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7" idx="3"/>
            <a:endCxn id="49" idx="1"/>
          </p:cNvCxnSpPr>
          <p:nvPr/>
        </p:nvCxnSpPr>
        <p:spPr>
          <a:xfrm flipV="1">
            <a:off x="845104" y="4417030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4831" y="4339336"/>
            <a:ext cx="848621" cy="22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40000"/>
              </a:lnSpc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léinn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1162" y="4244072"/>
            <a:ext cx="663942" cy="355719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22" idx="3"/>
            <a:endCxn id="46" idx="1"/>
          </p:cNvCxnSpPr>
          <p:nvPr/>
        </p:nvCxnSpPr>
        <p:spPr>
          <a:xfrm flipV="1">
            <a:off x="850950" y="3651873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4386" y="5003563"/>
            <a:ext cx="560719" cy="330175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stCxn id="29" idx="3"/>
            <a:endCxn id="52" idx="1"/>
          </p:cNvCxnSpPr>
          <p:nvPr/>
        </p:nvCxnSpPr>
        <p:spPr>
          <a:xfrm flipV="1">
            <a:off x="845104" y="5165720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164874" y="2665195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165649" y="3403531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64874" y="4168688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64874" y="4917378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8" name="Plus 87"/>
          <p:cNvSpPr/>
          <p:nvPr/>
        </p:nvSpPr>
        <p:spPr>
          <a:xfrm>
            <a:off x="1369007" y="282974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9" name="Plus 88"/>
          <p:cNvSpPr/>
          <p:nvPr/>
        </p:nvSpPr>
        <p:spPr>
          <a:xfrm>
            <a:off x="1364583" y="3568076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0" name="Plus 89"/>
          <p:cNvSpPr/>
          <p:nvPr/>
        </p:nvSpPr>
        <p:spPr>
          <a:xfrm>
            <a:off x="1363996" y="4304894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1" name="Plus 90"/>
          <p:cNvSpPr/>
          <p:nvPr/>
        </p:nvSpPr>
        <p:spPr>
          <a:xfrm>
            <a:off x="1367009" y="5081923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593330" y="2665195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594104" y="3403531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593330" y="4168688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593330" y="4917378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112" name="Straight Arrow Connector 111"/>
          <p:cNvCxnSpPr>
            <a:endCxn id="116" idx="1"/>
          </p:cNvCxnSpPr>
          <p:nvPr/>
        </p:nvCxnSpPr>
        <p:spPr>
          <a:xfrm flipV="1">
            <a:off x="1754375" y="2918441"/>
            <a:ext cx="318146" cy="267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endCxn id="118" idx="1"/>
          </p:cNvCxnSpPr>
          <p:nvPr/>
        </p:nvCxnSpPr>
        <p:spPr>
          <a:xfrm flipV="1">
            <a:off x="1752751" y="4421934"/>
            <a:ext cx="319770" cy="490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endCxn id="117" idx="1"/>
          </p:cNvCxnSpPr>
          <p:nvPr/>
        </p:nvCxnSpPr>
        <p:spPr>
          <a:xfrm flipV="1">
            <a:off x="1758597" y="3656777"/>
            <a:ext cx="314699" cy="497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endCxn id="119" idx="1"/>
          </p:cNvCxnSpPr>
          <p:nvPr/>
        </p:nvCxnSpPr>
        <p:spPr>
          <a:xfrm flipV="1">
            <a:off x="1752751" y="5170624"/>
            <a:ext cx="319770" cy="29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2072521" y="2670099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2073295" y="3408435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2072521" y="4173592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2072521" y="4922282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2565374" y="2746086"/>
            <a:ext cx="269818" cy="2587652"/>
          </a:xfrm>
          <a:prstGeom prst="rect">
            <a:avLst/>
          </a:prstGeom>
          <a:solidFill>
            <a:schemeClr val="accent2">
              <a:lumMod val="75000"/>
              <a:alpha val="23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1200" b="1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MULTI-HEAD</a:t>
            </a:r>
            <a:r>
              <a:rPr lang="en-IN" sz="1200" b="1" dirty="0">
                <a:solidFill>
                  <a:srgbClr val="C00000"/>
                </a:solidFill>
                <a:latin typeface="Arial Narrow" panose="020B0606020202030204" pitchFamily="34" charset="0"/>
              </a:rPr>
              <a:t> ATTENTION</a:t>
            </a:r>
          </a:p>
        </p:txBody>
      </p:sp>
      <p:cxnSp>
        <p:nvCxnSpPr>
          <p:cNvPr id="121" name="Straight Arrow Connector 120"/>
          <p:cNvCxnSpPr>
            <a:stCxn id="116" idx="3"/>
          </p:cNvCxnSpPr>
          <p:nvPr/>
        </p:nvCxnSpPr>
        <p:spPr>
          <a:xfrm flipV="1">
            <a:off x="2237013" y="2916151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V="1">
            <a:off x="2240502" y="4414151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117" idx="3"/>
          </p:cNvCxnSpPr>
          <p:nvPr/>
        </p:nvCxnSpPr>
        <p:spPr>
          <a:xfrm>
            <a:off x="2237787" y="3656777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119" idx="3"/>
          </p:cNvCxnSpPr>
          <p:nvPr/>
        </p:nvCxnSpPr>
        <p:spPr>
          <a:xfrm>
            <a:off x="2237013" y="5170624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endCxn id="141" idx="1"/>
          </p:cNvCxnSpPr>
          <p:nvPr/>
        </p:nvCxnSpPr>
        <p:spPr>
          <a:xfrm flipV="1">
            <a:off x="2836986" y="2916468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endCxn id="143" idx="1"/>
          </p:cNvCxnSpPr>
          <p:nvPr/>
        </p:nvCxnSpPr>
        <p:spPr>
          <a:xfrm flipV="1">
            <a:off x="2835362" y="4419961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endCxn id="142" idx="1"/>
          </p:cNvCxnSpPr>
          <p:nvPr/>
        </p:nvCxnSpPr>
        <p:spPr>
          <a:xfrm flipV="1">
            <a:off x="2841208" y="3654804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44" idx="1"/>
          </p:cNvCxnSpPr>
          <p:nvPr/>
        </p:nvCxnSpPr>
        <p:spPr>
          <a:xfrm flipV="1">
            <a:off x="2835362" y="5168651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3155132" y="2668126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3155906" y="3406462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3155132" y="4171618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3155132" y="4920308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5" name="Plus 144"/>
          <p:cNvSpPr/>
          <p:nvPr/>
        </p:nvSpPr>
        <p:spPr>
          <a:xfrm>
            <a:off x="3367467" y="282974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6" name="Plus 145"/>
          <p:cNvSpPr/>
          <p:nvPr/>
        </p:nvSpPr>
        <p:spPr>
          <a:xfrm>
            <a:off x="3363042" y="3568076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7" name="Plus 146"/>
          <p:cNvSpPr/>
          <p:nvPr/>
        </p:nvSpPr>
        <p:spPr>
          <a:xfrm>
            <a:off x="3362455" y="4304894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8" name="Plus 147"/>
          <p:cNvSpPr/>
          <p:nvPr/>
        </p:nvSpPr>
        <p:spPr>
          <a:xfrm>
            <a:off x="3365468" y="5081923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3572854" y="2669995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3573628" y="3408331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3572854" y="4173488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3572854" y="4922178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157" name="Straight Arrow Connector 156"/>
          <p:cNvCxnSpPr>
            <a:stCxn id="153" idx="3"/>
          </p:cNvCxnSpPr>
          <p:nvPr/>
        </p:nvCxnSpPr>
        <p:spPr>
          <a:xfrm flipV="1">
            <a:off x="3737346" y="2916047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 flipV="1">
            <a:off x="3740835" y="4426731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>
            <a:stCxn id="154" idx="3"/>
          </p:cNvCxnSpPr>
          <p:nvPr/>
        </p:nvCxnSpPr>
        <p:spPr>
          <a:xfrm>
            <a:off x="3738120" y="3656673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stCxn id="156" idx="3"/>
          </p:cNvCxnSpPr>
          <p:nvPr/>
        </p:nvCxnSpPr>
        <p:spPr>
          <a:xfrm>
            <a:off x="3737346" y="5170520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4046190" y="2746086"/>
            <a:ext cx="269818" cy="2619122"/>
          </a:xfrm>
          <a:prstGeom prst="rect">
            <a:avLst/>
          </a:prstGeom>
          <a:solidFill>
            <a:schemeClr val="accent2">
              <a:lumMod val="75000"/>
              <a:alpha val="3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1200" b="1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LAYER NORMALIZATION</a:t>
            </a:r>
            <a:endParaRPr lang="en-IN" sz="1200" b="1" dirty="0">
              <a:solidFill>
                <a:srgbClr val="C0000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91" name="Straight Arrow Connector 190"/>
          <p:cNvCxnSpPr>
            <a:endCxn id="195" idx="1"/>
          </p:cNvCxnSpPr>
          <p:nvPr/>
        </p:nvCxnSpPr>
        <p:spPr>
          <a:xfrm flipV="1">
            <a:off x="4317632" y="2916468"/>
            <a:ext cx="318146" cy="267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>
            <a:endCxn id="197" idx="1"/>
          </p:cNvCxnSpPr>
          <p:nvPr/>
        </p:nvCxnSpPr>
        <p:spPr>
          <a:xfrm flipV="1">
            <a:off x="4316008" y="4419961"/>
            <a:ext cx="319770" cy="490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>
            <a:endCxn id="196" idx="1"/>
          </p:cNvCxnSpPr>
          <p:nvPr/>
        </p:nvCxnSpPr>
        <p:spPr>
          <a:xfrm flipV="1">
            <a:off x="4321854" y="3654804"/>
            <a:ext cx="314699" cy="497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endCxn id="198" idx="1"/>
          </p:cNvCxnSpPr>
          <p:nvPr/>
        </p:nvCxnSpPr>
        <p:spPr>
          <a:xfrm flipV="1">
            <a:off x="4316008" y="5168651"/>
            <a:ext cx="319770" cy="29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4635778" y="2668126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4636552" y="3406462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4635778" y="4171618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4635778" y="4920308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5128631" y="2756797"/>
            <a:ext cx="269818" cy="2587652"/>
          </a:xfrm>
          <a:prstGeom prst="rect">
            <a:avLst/>
          </a:prstGeom>
          <a:solidFill>
            <a:schemeClr val="accent2">
              <a:lumMod val="75000"/>
              <a:alpha val="23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1200" b="1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FEED FORWARD NEURAL NETWORK</a:t>
            </a:r>
            <a:endParaRPr lang="en-IN" sz="1200" b="1" dirty="0">
              <a:solidFill>
                <a:srgbClr val="C0000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200" name="Straight Arrow Connector 199"/>
          <p:cNvCxnSpPr>
            <a:stCxn id="195" idx="3"/>
          </p:cNvCxnSpPr>
          <p:nvPr/>
        </p:nvCxnSpPr>
        <p:spPr>
          <a:xfrm flipV="1">
            <a:off x="4800270" y="2914178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 flipV="1">
            <a:off x="4803759" y="4424862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/>
          <p:cNvCxnSpPr>
            <a:stCxn id="196" idx="3"/>
          </p:cNvCxnSpPr>
          <p:nvPr/>
        </p:nvCxnSpPr>
        <p:spPr>
          <a:xfrm>
            <a:off x="4801044" y="3654804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>
            <a:stCxn id="198" idx="3"/>
          </p:cNvCxnSpPr>
          <p:nvPr/>
        </p:nvCxnSpPr>
        <p:spPr>
          <a:xfrm>
            <a:off x="4800270" y="5168651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Left Bracket 243"/>
          <p:cNvSpPr/>
          <p:nvPr/>
        </p:nvSpPr>
        <p:spPr>
          <a:xfrm rot="16200000">
            <a:off x="3380950" y="5320488"/>
            <a:ext cx="130764" cy="739165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2753415" y="5712751"/>
            <a:ext cx="1442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Add &amp; Normalization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1714191" y="5516493"/>
            <a:ext cx="958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Input to encoder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1070927" y="1972915"/>
            <a:ext cx="1205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Positional Encoding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3" name="Left Bracket 252"/>
          <p:cNvSpPr/>
          <p:nvPr/>
        </p:nvSpPr>
        <p:spPr>
          <a:xfrm rot="16200000">
            <a:off x="2085202" y="5349055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4" name="Left Bracket 253"/>
          <p:cNvSpPr/>
          <p:nvPr/>
        </p:nvSpPr>
        <p:spPr>
          <a:xfrm rot="5400000">
            <a:off x="1610194" y="2416077"/>
            <a:ext cx="130764" cy="35656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648632" y="5533627"/>
            <a:ext cx="1158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Word Embedding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6" name="Left Bracket 255"/>
          <p:cNvSpPr/>
          <p:nvPr/>
        </p:nvSpPr>
        <p:spPr>
          <a:xfrm rot="16200000">
            <a:off x="1193352" y="5291056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06765CC-8187-42FD-AE18-C69B87A97849}"/>
              </a:ext>
            </a:extLst>
          </p:cNvPr>
          <p:cNvSpPr txBox="1"/>
          <p:nvPr/>
        </p:nvSpPr>
        <p:spPr>
          <a:xfrm>
            <a:off x="6213411" y="6430775"/>
            <a:ext cx="5753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 Source: Ashish </a:t>
            </a:r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Vaswani</a:t>
            </a:r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 et. al. Attention is All You Need, NIPS 2017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104D96B-3182-43C7-AB51-3D8F6088A4DD}"/>
              </a:ext>
            </a:extLst>
          </p:cNvPr>
          <p:cNvSpPr txBox="1"/>
          <p:nvPr/>
        </p:nvSpPr>
        <p:spPr>
          <a:xfrm>
            <a:off x="440264" y="550445"/>
            <a:ext cx="54615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  <a:latin typeface="Century" panose="02040604050505020304" pitchFamily="18" charset="0"/>
              </a:rPr>
              <a:t>Encoder Architecture</a:t>
            </a:r>
          </a:p>
          <a:p>
            <a:r>
              <a:rPr lang="en-US" sz="2400" dirty="0">
                <a:solidFill>
                  <a:schemeClr val="tx1"/>
                </a:solidFill>
                <a:latin typeface="Century" panose="02040604050505020304" pitchFamily="18" charset="0"/>
              </a:rPr>
              <a:t>Feed-forward Neural Network</a:t>
            </a:r>
            <a:endParaRPr lang="en-IN" sz="2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FCBC683-728C-43A5-98F2-3281BB82AAD3}"/>
              </a:ext>
            </a:extLst>
          </p:cNvPr>
          <p:cNvSpPr txBox="1"/>
          <p:nvPr/>
        </p:nvSpPr>
        <p:spPr>
          <a:xfrm>
            <a:off x="4567427" y="1634216"/>
            <a:ext cx="1442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Feed Forward Neural Network</a:t>
            </a:r>
            <a:endParaRPr lang="en-IN" sz="1600" dirty="0">
              <a:solidFill>
                <a:srgbClr val="C0000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7" name="Left Bracket 126">
            <a:extLst>
              <a:ext uri="{FF2B5EF4-FFF2-40B4-BE49-F238E27FC236}">
                <a16:creationId xmlns:a16="http://schemas.microsoft.com/office/drawing/2014/main" id="{6B077B1E-AB46-43FE-8C58-261E4F625BCB}"/>
              </a:ext>
            </a:extLst>
          </p:cNvPr>
          <p:cNvSpPr/>
          <p:nvPr/>
        </p:nvSpPr>
        <p:spPr>
          <a:xfrm rot="5400000">
            <a:off x="5198158" y="2136924"/>
            <a:ext cx="130764" cy="35656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2C38E406-0D39-47EA-A2E7-5B11B05B1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844" y="915396"/>
            <a:ext cx="3803448" cy="5513294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42DDA792-2E30-42DC-B408-9FEC767BAC9E}"/>
              </a:ext>
            </a:extLst>
          </p:cNvPr>
          <p:cNvSpPr/>
          <p:nvPr/>
        </p:nvSpPr>
        <p:spPr>
          <a:xfrm>
            <a:off x="7827902" y="2981775"/>
            <a:ext cx="1512696" cy="1973622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196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BFE6-EECB-475E-BD62-123277C2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latin typeface="Century" panose="02040604050505020304" pitchFamily="18" charset="0"/>
              </a:rPr>
            </a:br>
            <a:r>
              <a:rPr lang="en-US" sz="4000" dirty="0">
                <a:latin typeface="Century" panose="02040604050505020304" pitchFamily="18" charset="0"/>
              </a:rPr>
              <a:t>Feed-forward Neural Network</a:t>
            </a:r>
            <a:br>
              <a:rPr lang="en-IN" sz="4000" dirty="0">
                <a:latin typeface="Century" panose="02040604050505020304" pitchFamily="18" charset="0"/>
              </a:rPr>
            </a:br>
            <a:endParaRPr lang="en-IN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62AF02-FFB9-4E47-9052-3F986F1937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The 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feed-forward network (FFN)</a:t>
                </a:r>
                <a:r>
                  <a:rPr lang="en-US" sz="2000" dirty="0">
                    <a:latin typeface="Arial Narrow" panose="020B0606020202030204" pitchFamily="34" charset="0"/>
                  </a:rPr>
                  <a:t> is a fundamental component of the Transformer architecture, positioned after the multi-head self-attention layer in each Transformer block.</a:t>
                </a:r>
              </a:p>
              <a:p>
                <a:pPr marL="0" indent="0" algn="just">
                  <a:buNone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Its primary role is to perform 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non-linear transformation and feature refinement</a:t>
                </a:r>
                <a:r>
                  <a:rPr lang="en-US" sz="2000" dirty="0">
                    <a:latin typeface="Arial Narrow" panose="020B0606020202030204" pitchFamily="34" charset="0"/>
                  </a:rPr>
                  <a:t> on the contextual representations generated by the attention mechanism. 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Typically, 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FFN consists of two fully connected (linear) layers separated by a non-linear activation function such as </a:t>
                </a:r>
                <a:r>
                  <a:rPr lang="en-US" sz="2000" dirty="0" err="1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ReLU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or GELU</a:t>
                </a:r>
                <a:r>
                  <a:rPr lang="en-US" sz="2000" dirty="0">
                    <a:latin typeface="Arial Narrow" panose="020B0606020202030204" pitchFamily="34" charset="0"/>
                  </a:rPr>
                  <a:t>: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𝐹𝐹𝑁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62AF02-FFB9-4E47-9052-3F986F1937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4275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B5799-6F6B-4719-8474-698BBEEEF6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2943598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sz="2200" dirty="0">
                    <a:latin typeface="Arial Narrow" panose="020B0606020202030204" pitchFamily="34" charset="0"/>
                  </a:rPr>
                  <a:t>The </a:t>
                </a:r>
                <a:r>
                  <a:rPr lang="en-US" sz="22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first layer projects the input from the model dimension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IN" sz="22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it-IT" sz="22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to a larger intermediate dimension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𝑓𝑓</m:t>
                        </m:r>
                      </m:sub>
                    </m:sSub>
                  </m:oMath>
                </a14:m>
                <a:r>
                  <a:rPr lang="it-IT" sz="2200" dirty="0">
                    <a:latin typeface="Arial Narrow" panose="020B0606020202030204" pitchFamily="34" charset="0"/>
                  </a:rPr>
                  <a:t>  </a:t>
                </a:r>
                <a:r>
                  <a:rPr lang="en-US" sz="2200" dirty="0">
                    <a:latin typeface="Arial Narrow" panose="020B0606020202030204" pitchFamily="34" charset="0"/>
                  </a:rPr>
                  <a:t>allowing the network to learn richer feature representations, while the </a:t>
                </a:r>
                <a:r>
                  <a:rPr lang="en-US" sz="22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second layer projects it back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IN" sz="2200" dirty="0">
                    <a:latin typeface="Arial Narrow" panose="020B0606020202030204" pitchFamily="34" charset="0"/>
                  </a:rPr>
                  <a:t>.</a:t>
                </a:r>
              </a:p>
              <a:p>
                <a:pPr algn="just"/>
                <a:endParaRPr lang="en-IN" sz="22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200" dirty="0">
                    <a:latin typeface="Arial Narrow" panose="020B0606020202030204" pitchFamily="34" charset="0"/>
                  </a:rPr>
                  <a:t>Unlike self-attention, which primarily enables interaction between different tokens, the </a:t>
                </a:r>
                <a:r>
                  <a:rPr lang="en-US" sz="22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FFN operates independently on each token position, applying the same learned transformation to every token</a:t>
                </a:r>
                <a:r>
                  <a:rPr lang="en-US" sz="220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endParaRPr lang="en-US" sz="22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200" dirty="0">
                    <a:latin typeface="Arial Narrow" panose="020B0606020202030204" pitchFamily="34" charset="0"/>
                  </a:rPr>
                  <a:t>Thus, the FFN complements self-attention by </a:t>
                </a:r>
                <a:r>
                  <a:rPr lang="en-US" sz="22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introducing non-linearity, increasing representational capacity, and enabling the Transformer to learn complex patterns and higher-level features</a:t>
                </a:r>
                <a:r>
                  <a:rPr lang="en-US" sz="2200" dirty="0">
                    <a:latin typeface="Arial Narrow" panose="020B0606020202030204" pitchFamily="34" charset="0"/>
                  </a:rPr>
                  <a:t>.</a:t>
                </a:r>
                <a:endParaRPr lang="en-IN" sz="2200" dirty="0">
                  <a:latin typeface="Arial Narrow" panose="020B0606020202030204" pitchFamily="34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B5799-6F6B-4719-8474-698BBEEEF6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2943598"/>
              </a:xfrm>
              <a:blipFill>
                <a:blip r:embed="rId2"/>
                <a:stretch>
                  <a:fillRect l="-522" t="-2899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C942C30F-D989-44E8-BA35-52F29B2C3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Century" panose="02040604050505020304" pitchFamily="18" charset="0"/>
              </a:rPr>
            </a:br>
            <a:r>
              <a:rPr lang="en-US" sz="4000" dirty="0">
                <a:latin typeface="Century" panose="02040604050505020304" pitchFamily="18" charset="0"/>
              </a:rPr>
              <a:t>Feed-forward Neural Network</a:t>
            </a:r>
            <a:br>
              <a:rPr lang="en-IN" sz="4000" dirty="0">
                <a:latin typeface="Century" panose="02040604050505020304" pitchFamily="18" charset="0"/>
              </a:rPr>
            </a:b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315663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Elbow Connector 225"/>
          <p:cNvCxnSpPr>
            <a:stCxn id="196" idx="0"/>
            <a:endCxn id="217" idx="0"/>
          </p:cNvCxnSpPr>
          <p:nvPr/>
        </p:nvCxnSpPr>
        <p:spPr>
          <a:xfrm rot="16200000" flipH="1">
            <a:off x="5462675" y="2662585"/>
            <a:ext cx="12580" cy="1500333"/>
          </a:xfrm>
          <a:prstGeom prst="bentConnector3">
            <a:avLst>
              <a:gd name="adj1" fmla="val -1487024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Elbow Connector 226"/>
          <p:cNvCxnSpPr>
            <a:stCxn id="197" idx="0"/>
            <a:endCxn id="218" idx="0"/>
          </p:cNvCxnSpPr>
          <p:nvPr/>
        </p:nvCxnSpPr>
        <p:spPr>
          <a:xfrm rot="16200000" flipH="1">
            <a:off x="5461901" y="3427742"/>
            <a:ext cx="12580" cy="1500333"/>
          </a:xfrm>
          <a:prstGeom prst="bentConnector3">
            <a:avLst>
              <a:gd name="adj1" fmla="val -161304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Elbow Connector 227"/>
          <p:cNvCxnSpPr>
            <a:stCxn id="198" idx="0"/>
            <a:endCxn id="219" idx="0"/>
          </p:cNvCxnSpPr>
          <p:nvPr/>
        </p:nvCxnSpPr>
        <p:spPr>
          <a:xfrm rot="16200000" flipH="1">
            <a:off x="5461901" y="4176432"/>
            <a:ext cx="12580" cy="1500333"/>
          </a:xfrm>
          <a:prstGeom prst="bentConnector3">
            <a:avLst>
              <a:gd name="adj1" fmla="val -1587839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ounded Rectangle 241"/>
          <p:cNvSpPr/>
          <p:nvPr/>
        </p:nvSpPr>
        <p:spPr>
          <a:xfrm>
            <a:off x="2399030" y="2396813"/>
            <a:ext cx="4539702" cy="3225800"/>
          </a:xfrm>
          <a:prstGeom prst="roundRect">
            <a:avLst>
              <a:gd name="adj" fmla="val 6013"/>
            </a:avLst>
          </a:prstGeom>
          <a:solidFill>
            <a:schemeClr val="accent2">
              <a:lumMod val="40000"/>
              <a:lumOff val="60000"/>
              <a:alpha val="49000"/>
            </a:schemeClr>
          </a:solidFill>
          <a:ln w="158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179" name="Elbow Connector 178"/>
          <p:cNvCxnSpPr>
            <a:stCxn id="116" idx="0"/>
            <a:endCxn id="153" idx="0"/>
          </p:cNvCxnSpPr>
          <p:nvPr/>
        </p:nvCxnSpPr>
        <p:spPr>
          <a:xfrm rot="5400000" flipH="1" flipV="1">
            <a:off x="2904882" y="1919881"/>
            <a:ext cx="104" cy="1500333"/>
          </a:xfrm>
          <a:prstGeom prst="bentConnector3">
            <a:avLst>
              <a:gd name="adj1" fmla="val 19548461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Elbow Connector 181"/>
          <p:cNvCxnSpPr>
            <a:stCxn id="117" idx="0"/>
            <a:endCxn id="154" idx="0"/>
          </p:cNvCxnSpPr>
          <p:nvPr/>
        </p:nvCxnSpPr>
        <p:spPr>
          <a:xfrm rot="5400000" flipH="1" flipV="1">
            <a:off x="2905656" y="2658217"/>
            <a:ext cx="104" cy="1500333"/>
          </a:xfrm>
          <a:prstGeom prst="bentConnector3">
            <a:avLst>
              <a:gd name="adj1" fmla="val 19548461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Elbow Connector 184"/>
          <p:cNvCxnSpPr>
            <a:stCxn id="118" idx="0"/>
            <a:endCxn id="155" idx="0"/>
          </p:cNvCxnSpPr>
          <p:nvPr/>
        </p:nvCxnSpPr>
        <p:spPr>
          <a:xfrm rot="5400000" flipH="1" flipV="1">
            <a:off x="2904882" y="3423373"/>
            <a:ext cx="104" cy="1500333"/>
          </a:xfrm>
          <a:prstGeom prst="bentConnector3">
            <a:avLst>
              <a:gd name="adj1" fmla="val 207696154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Elbow Connector 186"/>
          <p:cNvCxnSpPr>
            <a:stCxn id="119" idx="0"/>
            <a:endCxn id="156" idx="0"/>
          </p:cNvCxnSpPr>
          <p:nvPr/>
        </p:nvCxnSpPr>
        <p:spPr>
          <a:xfrm rot="5400000" flipH="1" flipV="1">
            <a:off x="2904882" y="4172063"/>
            <a:ext cx="104" cy="1500333"/>
          </a:xfrm>
          <a:prstGeom prst="bentConnector3">
            <a:avLst>
              <a:gd name="adj1" fmla="val 171061538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lbow Connector 224"/>
          <p:cNvCxnSpPr>
            <a:stCxn id="195" idx="0"/>
            <a:endCxn id="216" idx="0"/>
          </p:cNvCxnSpPr>
          <p:nvPr/>
        </p:nvCxnSpPr>
        <p:spPr>
          <a:xfrm rot="16200000" flipH="1">
            <a:off x="5461901" y="1924249"/>
            <a:ext cx="12580" cy="1500333"/>
          </a:xfrm>
          <a:prstGeom prst="bentConnector3">
            <a:avLst>
              <a:gd name="adj1" fmla="val -1562627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360959" y="2723928"/>
            <a:ext cx="46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Is</a:t>
            </a:r>
            <a:endParaRPr lang="en-IN" baseline="-25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1264" y="2746086"/>
            <a:ext cx="525465" cy="340248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242600" y="3448056"/>
            <a:ext cx="77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mac</a:t>
            </a:r>
            <a:endParaRPr lang="en-IN" baseline="-25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95332" y="3483277"/>
            <a:ext cx="655618" cy="347133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294181" y="4955397"/>
            <a:ext cx="636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mé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20" idx="3"/>
            <a:endCxn id="43" idx="1"/>
          </p:cNvCxnSpPr>
          <p:nvPr/>
        </p:nvCxnSpPr>
        <p:spPr>
          <a:xfrm flipV="1">
            <a:off x="846729" y="2913537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7" idx="3"/>
            <a:endCxn id="49" idx="1"/>
          </p:cNvCxnSpPr>
          <p:nvPr/>
        </p:nvCxnSpPr>
        <p:spPr>
          <a:xfrm flipV="1">
            <a:off x="845104" y="4417030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4831" y="4339336"/>
            <a:ext cx="848621" cy="22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40000"/>
              </a:lnSpc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léinn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1162" y="4244072"/>
            <a:ext cx="663942" cy="355719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22" idx="3"/>
            <a:endCxn id="46" idx="1"/>
          </p:cNvCxnSpPr>
          <p:nvPr/>
        </p:nvCxnSpPr>
        <p:spPr>
          <a:xfrm flipV="1">
            <a:off x="850950" y="3651873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4386" y="5003563"/>
            <a:ext cx="560719" cy="330175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stCxn id="29" idx="3"/>
            <a:endCxn id="52" idx="1"/>
          </p:cNvCxnSpPr>
          <p:nvPr/>
        </p:nvCxnSpPr>
        <p:spPr>
          <a:xfrm flipV="1">
            <a:off x="845104" y="5165720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164874" y="2665195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165649" y="3403531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64874" y="4168688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64874" y="4917378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8" name="Plus 87"/>
          <p:cNvSpPr/>
          <p:nvPr/>
        </p:nvSpPr>
        <p:spPr>
          <a:xfrm>
            <a:off x="1369007" y="282974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9" name="Plus 88"/>
          <p:cNvSpPr/>
          <p:nvPr/>
        </p:nvSpPr>
        <p:spPr>
          <a:xfrm>
            <a:off x="1364583" y="3568076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0" name="Plus 89"/>
          <p:cNvSpPr/>
          <p:nvPr/>
        </p:nvSpPr>
        <p:spPr>
          <a:xfrm>
            <a:off x="1363996" y="4304894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1" name="Plus 90"/>
          <p:cNvSpPr/>
          <p:nvPr/>
        </p:nvSpPr>
        <p:spPr>
          <a:xfrm>
            <a:off x="1367009" y="5081923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593330" y="2665195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594104" y="3403531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593330" y="4168688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593330" y="4917378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112" name="Straight Arrow Connector 111"/>
          <p:cNvCxnSpPr>
            <a:endCxn id="116" idx="1"/>
          </p:cNvCxnSpPr>
          <p:nvPr/>
        </p:nvCxnSpPr>
        <p:spPr>
          <a:xfrm flipV="1">
            <a:off x="1754375" y="2918441"/>
            <a:ext cx="318146" cy="267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endCxn id="118" idx="1"/>
          </p:cNvCxnSpPr>
          <p:nvPr/>
        </p:nvCxnSpPr>
        <p:spPr>
          <a:xfrm flipV="1">
            <a:off x="1752751" y="4421934"/>
            <a:ext cx="319770" cy="490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endCxn id="117" idx="1"/>
          </p:cNvCxnSpPr>
          <p:nvPr/>
        </p:nvCxnSpPr>
        <p:spPr>
          <a:xfrm flipV="1">
            <a:off x="1758597" y="3656777"/>
            <a:ext cx="314699" cy="497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endCxn id="119" idx="1"/>
          </p:cNvCxnSpPr>
          <p:nvPr/>
        </p:nvCxnSpPr>
        <p:spPr>
          <a:xfrm flipV="1">
            <a:off x="1752751" y="5170624"/>
            <a:ext cx="319770" cy="29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2072521" y="2670099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2073295" y="3408435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2072521" y="4173592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2072521" y="4922282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2565374" y="2746086"/>
            <a:ext cx="269818" cy="2587652"/>
          </a:xfrm>
          <a:prstGeom prst="rect">
            <a:avLst/>
          </a:prstGeom>
          <a:solidFill>
            <a:schemeClr val="accent2">
              <a:lumMod val="75000"/>
              <a:alpha val="23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1200" b="1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MULTI-HEAD</a:t>
            </a:r>
            <a:r>
              <a:rPr lang="en-IN" sz="1200" b="1" dirty="0">
                <a:solidFill>
                  <a:srgbClr val="C00000"/>
                </a:solidFill>
                <a:latin typeface="Arial Narrow" panose="020B0606020202030204" pitchFamily="34" charset="0"/>
              </a:rPr>
              <a:t> ATTENTION</a:t>
            </a:r>
          </a:p>
        </p:txBody>
      </p:sp>
      <p:cxnSp>
        <p:nvCxnSpPr>
          <p:cNvPr id="121" name="Straight Arrow Connector 120"/>
          <p:cNvCxnSpPr>
            <a:stCxn id="116" idx="3"/>
          </p:cNvCxnSpPr>
          <p:nvPr/>
        </p:nvCxnSpPr>
        <p:spPr>
          <a:xfrm flipV="1">
            <a:off x="2237013" y="2916151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V="1">
            <a:off x="2240502" y="4414151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117" idx="3"/>
          </p:cNvCxnSpPr>
          <p:nvPr/>
        </p:nvCxnSpPr>
        <p:spPr>
          <a:xfrm>
            <a:off x="2237787" y="3656777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119" idx="3"/>
          </p:cNvCxnSpPr>
          <p:nvPr/>
        </p:nvCxnSpPr>
        <p:spPr>
          <a:xfrm>
            <a:off x="2237013" y="5170624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endCxn id="141" idx="1"/>
          </p:cNvCxnSpPr>
          <p:nvPr/>
        </p:nvCxnSpPr>
        <p:spPr>
          <a:xfrm flipV="1">
            <a:off x="2836986" y="2916468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endCxn id="143" idx="1"/>
          </p:cNvCxnSpPr>
          <p:nvPr/>
        </p:nvCxnSpPr>
        <p:spPr>
          <a:xfrm flipV="1">
            <a:off x="2835362" y="4419961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endCxn id="142" idx="1"/>
          </p:cNvCxnSpPr>
          <p:nvPr/>
        </p:nvCxnSpPr>
        <p:spPr>
          <a:xfrm flipV="1">
            <a:off x="2841208" y="3654804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44" idx="1"/>
          </p:cNvCxnSpPr>
          <p:nvPr/>
        </p:nvCxnSpPr>
        <p:spPr>
          <a:xfrm flipV="1">
            <a:off x="2835362" y="5168651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3155132" y="2668126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3155906" y="3406462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3155132" y="4171618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3155132" y="4920308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5" name="Plus 144"/>
          <p:cNvSpPr/>
          <p:nvPr/>
        </p:nvSpPr>
        <p:spPr>
          <a:xfrm>
            <a:off x="3367467" y="282974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6" name="Plus 145"/>
          <p:cNvSpPr/>
          <p:nvPr/>
        </p:nvSpPr>
        <p:spPr>
          <a:xfrm>
            <a:off x="3363042" y="3568076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7" name="Plus 146"/>
          <p:cNvSpPr/>
          <p:nvPr/>
        </p:nvSpPr>
        <p:spPr>
          <a:xfrm>
            <a:off x="3362455" y="4304894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8" name="Plus 147"/>
          <p:cNvSpPr/>
          <p:nvPr/>
        </p:nvSpPr>
        <p:spPr>
          <a:xfrm>
            <a:off x="3365468" y="5081923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3572854" y="2669995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3573628" y="3408331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3572854" y="4173488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3572854" y="4922178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157" name="Straight Arrow Connector 156"/>
          <p:cNvCxnSpPr>
            <a:stCxn id="153" idx="3"/>
          </p:cNvCxnSpPr>
          <p:nvPr/>
        </p:nvCxnSpPr>
        <p:spPr>
          <a:xfrm flipV="1">
            <a:off x="3737346" y="2916047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 flipV="1">
            <a:off x="3740835" y="4426731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>
            <a:stCxn id="154" idx="3"/>
          </p:cNvCxnSpPr>
          <p:nvPr/>
        </p:nvCxnSpPr>
        <p:spPr>
          <a:xfrm>
            <a:off x="3738120" y="3656673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stCxn id="156" idx="3"/>
          </p:cNvCxnSpPr>
          <p:nvPr/>
        </p:nvCxnSpPr>
        <p:spPr>
          <a:xfrm>
            <a:off x="3737346" y="5170520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4046190" y="2746086"/>
            <a:ext cx="269818" cy="2619122"/>
          </a:xfrm>
          <a:prstGeom prst="rect">
            <a:avLst/>
          </a:prstGeom>
          <a:solidFill>
            <a:schemeClr val="accent2">
              <a:lumMod val="75000"/>
              <a:alpha val="3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1200" b="1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LAYER NORMALIZATION</a:t>
            </a:r>
            <a:endParaRPr lang="en-IN" sz="1200" b="1" dirty="0">
              <a:solidFill>
                <a:srgbClr val="C0000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91" name="Straight Arrow Connector 190"/>
          <p:cNvCxnSpPr>
            <a:endCxn id="195" idx="1"/>
          </p:cNvCxnSpPr>
          <p:nvPr/>
        </p:nvCxnSpPr>
        <p:spPr>
          <a:xfrm flipV="1">
            <a:off x="4317632" y="2916468"/>
            <a:ext cx="318146" cy="267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>
            <a:endCxn id="197" idx="1"/>
          </p:cNvCxnSpPr>
          <p:nvPr/>
        </p:nvCxnSpPr>
        <p:spPr>
          <a:xfrm flipV="1">
            <a:off x="4316008" y="4419961"/>
            <a:ext cx="319770" cy="490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>
            <a:endCxn id="196" idx="1"/>
          </p:cNvCxnSpPr>
          <p:nvPr/>
        </p:nvCxnSpPr>
        <p:spPr>
          <a:xfrm flipV="1">
            <a:off x="4321854" y="3654804"/>
            <a:ext cx="314699" cy="497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endCxn id="198" idx="1"/>
          </p:cNvCxnSpPr>
          <p:nvPr/>
        </p:nvCxnSpPr>
        <p:spPr>
          <a:xfrm flipV="1">
            <a:off x="4316008" y="5168651"/>
            <a:ext cx="319770" cy="29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4635778" y="2668126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4636552" y="3406462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4635778" y="4171618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4635778" y="4920308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5128631" y="2756797"/>
            <a:ext cx="269818" cy="2587652"/>
          </a:xfrm>
          <a:prstGeom prst="rect">
            <a:avLst/>
          </a:prstGeom>
          <a:solidFill>
            <a:schemeClr val="accent2">
              <a:lumMod val="75000"/>
              <a:alpha val="23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1200" b="1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FEED FORWARD NEURAL NETWORK</a:t>
            </a:r>
            <a:endParaRPr lang="en-IN" sz="1200" b="1" dirty="0">
              <a:solidFill>
                <a:srgbClr val="C0000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200" name="Straight Arrow Connector 199"/>
          <p:cNvCxnSpPr>
            <a:stCxn id="195" idx="3"/>
          </p:cNvCxnSpPr>
          <p:nvPr/>
        </p:nvCxnSpPr>
        <p:spPr>
          <a:xfrm flipV="1">
            <a:off x="4800270" y="2914178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 flipV="1">
            <a:off x="4803759" y="4424862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/>
          <p:cNvCxnSpPr>
            <a:stCxn id="196" idx="3"/>
          </p:cNvCxnSpPr>
          <p:nvPr/>
        </p:nvCxnSpPr>
        <p:spPr>
          <a:xfrm>
            <a:off x="4801044" y="3654804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>
            <a:stCxn id="198" idx="3"/>
          </p:cNvCxnSpPr>
          <p:nvPr/>
        </p:nvCxnSpPr>
        <p:spPr>
          <a:xfrm>
            <a:off x="4800270" y="5168651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/>
          <p:cNvCxnSpPr>
            <a:endCxn id="208" idx="1"/>
          </p:cNvCxnSpPr>
          <p:nvPr/>
        </p:nvCxnSpPr>
        <p:spPr>
          <a:xfrm flipV="1">
            <a:off x="5400243" y="2927179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/>
          <p:cNvCxnSpPr>
            <a:endCxn id="210" idx="1"/>
          </p:cNvCxnSpPr>
          <p:nvPr/>
        </p:nvCxnSpPr>
        <p:spPr>
          <a:xfrm flipV="1">
            <a:off x="5398619" y="4430671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>
            <a:endCxn id="209" idx="1"/>
          </p:cNvCxnSpPr>
          <p:nvPr/>
        </p:nvCxnSpPr>
        <p:spPr>
          <a:xfrm flipV="1">
            <a:off x="5404465" y="3665515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>
            <a:endCxn id="211" idx="1"/>
          </p:cNvCxnSpPr>
          <p:nvPr/>
        </p:nvCxnSpPr>
        <p:spPr>
          <a:xfrm flipV="1">
            <a:off x="5398619" y="5179361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/>
          <p:cNvSpPr/>
          <p:nvPr/>
        </p:nvSpPr>
        <p:spPr>
          <a:xfrm>
            <a:off x="5718389" y="2678836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9" name="Rectangle 208"/>
          <p:cNvSpPr/>
          <p:nvPr/>
        </p:nvSpPr>
        <p:spPr>
          <a:xfrm>
            <a:off x="5719163" y="3417172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5718389" y="4182329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1" name="Rectangle 210"/>
          <p:cNvSpPr/>
          <p:nvPr/>
        </p:nvSpPr>
        <p:spPr>
          <a:xfrm>
            <a:off x="5718389" y="4931019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2" name="Plus 211"/>
          <p:cNvSpPr/>
          <p:nvPr/>
        </p:nvSpPr>
        <p:spPr>
          <a:xfrm>
            <a:off x="5930724" y="284045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3" name="Plus 212"/>
          <p:cNvSpPr/>
          <p:nvPr/>
        </p:nvSpPr>
        <p:spPr>
          <a:xfrm>
            <a:off x="5926299" y="3578787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4" name="Plus 213"/>
          <p:cNvSpPr/>
          <p:nvPr/>
        </p:nvSpPr>
        <p:spPr>
          <a:xfrm>
            <a:off x="5925712" y="4315605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5" name="Plus 214"/>
          <p:cNvSpPr/>
          <p:nvPr/>
        </p:nvSpPr>
        <p:spPr>
          <a:xfrm>
            <a:off x="5928725" y="5092634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6136111" y="2680706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7" name="Rectangle 216"/>
          <p:cNvSpPr/>
          <p:nvPr/>
        </p:nvSpPr>
        <p:spPr>
          <a:xfrm>
            <a:off x="6136885" y="3419042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6136111" y="4184199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9" name="Rectangle 218"/>
          <p:cNvSpPr/>
          <p:nvPr/>
        </p:nvSpPr>
        <p:spPr>
          <a:xfrm>
            <a:off x="6136111" y="4932888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220" name="Straight Arrow Connector 219"/>
          <p:cNvCxnSpPr>
            <a:stCxn id="216" idx="3"/>
          </p:cNvCxnSpPr>
          <p:nvPr/>
        </p:nvCxnSpPr>
        <p:spPr>
          <a:xfrm flipV="1">
            <a:off x="6300603" y="2926758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/>
          <p:cNvCxnSpPr/>
          <p:nvPr/>
        </p:nvCxnSpPr>
        <p:spPr>
          <a:xfrm flipV="1">
            <a:off x="6304092" y="4437442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/>
          <p:cNvCxnSpPr>
            <a:stCxn id="217" idx="3"/>
          </p:cNvCxnSpPr>
          <p:nvPr/>
        </p:nvCxnSpPr>
        <p:spPr>
          <a:xfrm>
            <a:off x="6301377" y="3667384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>
            <a:stCxn id="219" idx="3"/>
          </p:cNvCxnSpPr>
          <p:nvPr/>
        </p:nvCxnSpPr>
        <p:spPr>
          <a:xfrm>
            <a:off x="6300603" y="5181231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Left Bracket 243"/>
          <p:cNvSpPr/>
          <p:nvPr/>
        </p:nvSpPr>
        <p:spPr>
          <a:xfrm rot="16200000">
            <a:off x="3380950" y="5320488"/>
            <a:ext cx="130764" cy="739165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45" name="Left Bracket 244"/>
          <p:cNvSpPr/>
          <p:nvPr/>
        </p:nvSpPr>
        <p:spPr>
          <a:xfrm rot="16200000">
            <a:off x="5944207" y="5331243"/>
            <a:ext cx="130764" cy="739165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5288508" y="5722780"/>
            <a:ext cx="1442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Add &amp; Normalization</a:t>
            </a:r>
            <a:endParaRPr lang="en-IN" sz="1600" dirty="0">
              <a:solidFill>
                <a:srgbClr val="C0000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2753415" y="5712751"/>
            <a:ext cx="1442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Add &amp; Normalization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1714191" y="5516493"/>
            <a:ext cx="958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Input to encoder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1070927" y="1972915"/>
            <a:ext cx="1205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Positional Encoding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3" name="Left Bracket 252"/>
          <p:cNvSpPr/>
          <p:nvPr/>
        </p:nvSpPr>
        <p:spPr>
          <a:xfrm rot="16200000">
            <a:off x="2085202" y="5349055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4" name="Left Bracket 253"/>
          <p:cNvSpPr/>
          <p:nvPr/>
        </p:nvSpPr>
        <p:spPr>
          <a:xfrm rot="5400000">
            <a:off x="1610194" y="2416077"/>
            <a:ext cx="130764" cy="35656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648632" y="5533627"/>
            <a:ext cx="1158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Word Embedding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6" name="Left Bracket 255"/>
          <p:cNvSpPr/>
          <p:nvPr/>
        </p:nvSpPr>
        <p:spPr>
          <a:xfrm rot="16200000">
            <a:off x="1193352" y="5291056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06765CC-8187-42FD-AE18-C69B87A97849}"/>
              </a:ext>
            </a:extLst>
          </p:cNvPr>
          <p:cNvSpPr txBox="1"/>
          <p:nvPr/>
        </p:nvSpPr>
        <p:spPr>
          <a:xfrm>
            <a:off x="6213411" y="6430775"/>
            <a:ext cx="5753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 Source: Ashish </a:t>
            </a:r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Vaswani</a:t>
            </a:r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 et. al. Attention is All You Need, NIPS 2017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104D96B-3182-43C7-AB51-3D8F6088A4DD}"/>
              </a:ext>
            </a:extLst>
          </p:cNvPr>
          <p:cNvSpPr txBox="1"/>
          <p:nvPr/>
        </p:nvSpPr>
        <p:spPr>
          <a:xfrm>
            <a:off x="440264" y="550445"/>
            <a:ext cx="54615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  <a:latin typeface="Century" panose="02040604050505020304" pitchFamily="18" charset="0"/>
              </a:rPr>
              <a:t>Encoder Architecture</a:t>
            </a:r>
          </a:p>
          <a:p>
            <a:r>
              <a:rPr lang="en-US" sz="2400" dirty="0">
                <a:solidFill>
                  <a:schemeClr val="tx1"/>
                </a:solidFill>
                <a:latin typeface="Century" panose="02040604050505020304" pitchFamily="18" charset="0"/>
              </a:rPr>
              <a:t>Feed-forward Neural Network</a:t>
            </a:r>
            <a:endParaRPr lang="en-IN" sz="2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FCBC683-728C-43A5-98F2-3281BB82AAD3}"/>
              </a:ext>
            </a:extLst>
          </p:cNvPr>
          <p:cNvSpPr txBox="1"/>
          <p:nvPr/>
        </p:nvSpPr>
        <p:spPr>
          <a:xfrm>
            <a:off x="4567427" y="1634216"/>
            <a:ext cx="1442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Feed Forward Neural Network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7" name="Left Bracket 126">
            <a:extLst>
              <a:ext uri="{FF2B5EF4-FFF2-40B4-BE49-F238E27FC236}">
                <a16:creationId xmlns:a16="http://schemas.microsoft.com/office/drawing/2014/main" id="{6B077B1E-AB46-43FE-8C58-261E4F625BCB}"/>
              </a:ext>
            </a:extLst>
          </p:cNvPr>
          <p:cNvSpPr/>
          <p:nvPr/>
        </p:nvSpPr>
        <p:spPr>
          <a:xfrm rot="5400000">
            <a:off x="5198158" y="2136924"/>
            <a:ext cx="130764" cy="35656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2C38E406-0D39-47EA-A2E7-5B11B05B1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844" y="915396"/>
            <a:ext cx="3803448" cy="5513294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0E0A0FDD-F241-4A8F-A368-A39425DF2B8E}"/>
              </a:ext>
            </a:extLst>
          </p:cNvPr>
          <p:cNvSpPr/>
          <p:nvPr/>
        </p:nvSpPr>
        <p:spPr>
          <a:xfrm>
            <a:off x="7827902" y="2981775"/>
            <a:ext cx="1512696" cy="1973622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719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C28C4F5-59BB-7C2B-9E5D-3AF0CBBFDBDB}"/>
              </a:ext>
            </a:extLst>
          </p:cNvPr>
          <p:cNvSpPr txBox="1"/>
          <p:nvPr/>
        </p:nvSpPr>
        <p:spPr>
          <a:xfrm>
            <a:off x="545760" y="309292"/>
            <a:ext cx="5461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entury" panose="02040604050505020304" pitchFamily="18" charset="0"/>
              </a:rPr>
              <a:t>Full Encoder at a glance</a:t>
            </a:r>
            <a:endParaRPr lang="en-IN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242" name="Rounded Rectangle 241"/>
          <p:cNvSpPr/>
          <p:nvPr/>
        </p:nvSpPr>
        <p:spPr>
          <a:xfrm>
            <a:off x="2168742" y="1676400"/>
            <a:ext cx="4539702" cy="3225800"/>
          </a:xfrm>
          <a:prstGeom prst="roundRect">
            <a:avLst>
              <a:gd name="adj" fmla="val 6013"/>
            </a:avLst>
          </a:prstGeom>
          <a:solidFill>
            <a:schemeClr val="accent2">
              <a:lumMod val="40000"/>
              <a:lumOff val="60000"/>
              <a:alpha val="49000"/>
            </a:schemeClr>
          </a:solidFill>
          <a:ln w="158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9" name="Elbow Connector 178"/>
          <p:cNvCxnSpPr>
            <a:stCxn id="116" idx="0"/>
            <a:endCxn id="153" idx="0"/>
          </p:cNvCxnSpPr>
          <p:nvPr/>
        </p:nvCxnSpPr>
        <p:spPr>
          <a:xfrm rot="5400000" flipH="1" flipV="1">
            <a:off x="2674594" y="1199468"/>
            <a:ext cx="104" cy="1500333"/>
          </a:xfrm>
          <a:prstGeom prst="bentConnector3">
            <a:avLst>
              <a:gd name="adj1" fmla="val 19548461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Elbow Connector 181"/>
          <p:cNvCxnSpPr>
            <a:stCxn id="117" idx="0"/>
            <a:endCxn id="154" idx="0"/>
          </p:cNvCxnSpPr>
          <p:nvPr/>
        </p:nvCxnSpPr>
        <p:spPr>
          <a:xfrm rot="5400000" flipH="1" flipV="1">
            <a:off x="2675368" y="1937804"/>
            <a:ext cx="104" cy="1500333"/>
          </a:xfrm>
          <a:prstGeom prst="bentConnector3">
            <a:avLst>
              <a:gd name="adj1" fmla="val 19548461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Elbow Connector 184"/>
          <p:cNvCxnSpPr>
            <a:stCxn id="118" idx="0"/>
            <a:endCxn id="155" idx="0"/>
          </p:cNvCxnSpPr>
          <p:nvPr/>
        </p:nvCxnSpPr>
        <p:spPr>
          <a:xfrm rot="5400000" flipH="1" flipV="1">
            <a:off x="2674594" y="2702960"/>
            <a:ext cx="104" cy="1500333"/>
          </a:xfrm>
          <a:prstGeom prst="bentConnector3">
            <a:avLst>
              <a:gd name="adj1" fmla="val 207696154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Elbow Connector 186"/>
          <p:cNvCxnSpPr>
            <a:stCxn id="119" idx="0"/>
            <a:endCxn id="156" idx="0"/>
          </p:cNvCxnSpPr>
          <p:nvPr/>
        </p:nvCxnSpPr>
        <p:spPr>
          <a:xfrm rot="5400000" flipH="1" flipV="1">
            <a:off x="2674594" y="3451650"/>
            <a:ext cx="104" cy="1500333"/>
          </a:xfrm>
          <a:prstGeom prst="bentConnector3">
            <a:avLst>
              <a:gd name="adj1" fmla="val 171061538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lbow Connector 224"/>
          <p:cNvCxnSpPr>
            <a:stCxn id="195" idx="0"/>
            <a:endCxn id="216" idx="0"/>
          </p:cNvCxnSpPr>
          <p:nvPr/>
        </p:nvCxnSpPr>
        <p:spPr>
          <a:xfrm rot="16200000" flipH="1">
            <a:off x="5231613" y="1203836"/>
            <a:ext cx="12580" cy="1500333"/>
          </a:xfrm>
          <a:prstGeom prst="bentConnector3">
            <a:avLst>
              <a:gd name="adj1" fmla="val -1562627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Elbow Connector 225"/>
          <p:cNvCxnSpPr>
            <a:stCxn id="196" idx="0"/>
            <a:endCxn id="217" idx="0"/>
          </p:cNvCxnSpPr>
          <p:nvPr/>
        </p:nvCxnSpPr>
        <p:spPr>
          <a:xfrm rot="16200000" flipH="1">
            <a:off x="5232387" y="1942172"/>
            <a:ext cx="12580" cy="1500333"/>
          </a:xfrm>
          <a:prstGeom prst="bentConnector3">
            <a:avLst>
              <a:gd name="adj1" fmla="val -1487024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Elbow Connector 226"/>
          <p:cNvCxnSpPr>
            <a:stCxn id="197" idx="0"/>
            <a:endCxn id="218" idx="0"/>
          </p:cNvCxnSpPr>
          <p:nvPr/>
        </p:nvCxnSpPr>
        <p:spPr>
          <a:xfrm rot="16200000" flipH="1">
            <a:off x="5231613" y="2707329"/>
            <a:ext cx="12580" cy="1500333"/>
          </a:xfrm>
          <a:prstGeom prst="bentConnector3">
            <a:avLst>
              <a:gd name="adj1" fmla="val -161304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Elbow Connector 227"/>
          <p:cNvCxnSpPr>
            <a:stCxn id="198" idx="0"/>
            <a:endCxn id="219" idx="0"/>
          </p:cNvCxnSpPr>
          <p:nvPr/>
        </p:nvCxnSpPr>
        <p:spPr>
          <a:xfrm rot="16200000" flipH="1">
            <a:off x="5231613" y="3456019"/>
            <a:ext cx="12580" cy="1500333"/>
          </a:xfrm>
          <a:prstGeom prst="bentConnector3">
            <a:avLst>
              <a:gd name="adj1" fmla="val -1587839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130671" y="2003515"/>
            <a:ext cx="46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976" y="2025673"/>
            <a:ext cx="525465" cy="340248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12312" y="2727643"/>
            <a:ext cx="77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-34956" y="2762864"/>
            <a:ext cx="655618" cy="347133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F45905-DB18-49B6-9565-CE8D8F1375A9}"/>
              </a:ext>
            </a:extLst>
          </p:cNvPr>
          <p:cNvSpPr txBox="1"/>
          <p:nvPr/>
        </p:nvSpPr>
        <p:spPr>
          <a:xfrm>
            <a:off x="63893" y="4234984"/>
            <a:ext cx="636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mé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20" idx="3"/>
            <a:endCxn id="43" idx="1"/>
          </p:cNvCxnSpPr>
          <p:nvPr/>
        </p:nvCxnSpPr>
        <p:spPr>
          <a:xfrm flipV="1">
            <a:off x="616441" y="2193124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7" idx="3"/>
            <a:endCxn id="49" idx="1"/>
          </p:cNvCxnSpPr>
          <p:nvPr/>
        </p:nvCxnSpPr>
        <p:spPr>
          <a:xfrm flipV="1">
            <a:off x="614816" y="3696617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-35457" y="3618923"/>
            <a:ext cx="848621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4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léinn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-49126" y="3523659"/>
            <a:ext cx="663942" cy="355719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22" idx="3"/>
            <a:endCxn id="46" idx="1"/>
          </p:cNvCxnSpPr>
          <p:nvPr/>
        </p:nvCxnSpPr>
        <p:spPr>
          <a:xfrm flipV="1">
            <a:off x="620662" y="2931460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098" y="4283150"/>
            <a:ext cx="560719" cy="330175"/>
          </a:xfrm>
          <a:prstGeom prst="roundRect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stCxn id="29" idx="3"/>
            <a:endCxn id="52" idx="1"/>
          </p:cNvCxnSpPr>
          <p:nvPr/>
        </p:nvCxnSpPr>
        <p:spPr>
          <a:xfrm flipV="1">
            <a:off x="614816" y="4445307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34586" y="1944782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935361" y="2683118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/>
          <p:cNvSpPr/>
          <p:nvPr/>
        </p:nvSpPr>
        <p:spPr>
          <a:xfrm>
            <a:off x="934586" y="3448275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934586" y="4196965"/>
            <a:ext cx="164492" cy="4966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Plus 87"/>
          <p:cNvSpPr/>
          <p:nvPr/>
        </p:nvSpPr>
        <p:spPr>
          <a:xfrm>
            <a:off x="1138719" y="2109328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Plus 88"/>
          <p:cNvSpPr/>
          <p:nvPr/>
        </p:nvSpPr>
        <p:spPr>
          <a:xfrm>
            <a:off x="1134295" y="2847663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Plus 89"/>
          <p:cNvSpPr/>
          <p:nvPr/>
        </p:nvSpPr>
        <p:spPr>
          <a:xfrm>
            <a:off x="1133708" y="358448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Plus 90"/>
          <p:cNvSpPr/>
          <p:nvPr/>
        </p:nvSpPr>
        <p:spPr>
          <a:xfrm>
            <a:off x="1136721" y="4361510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 99"/>
          <p:cNvSpPr/>
          <p:nvPr/>
        </p:nvSpPr>
        <p:spPr>
          <a:xfrm>
            <a:off x="1363042" y="1944782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 100"/>
          <p:cNvSpPr/>
          <p:nvPr/>
        </p:nvSpPr>
        <p:spPr>
          <a:xfrm>
            <a:off x="1363816" y="2683118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 101"/>
          <p:cNvSpPr/>
          <p:nvPr/>
        </p:nvSpPr>
        <p:spPr>
          <a:xfrm>
            <a:off x="1363042" y="3448275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ectangle 102"/>
          <p:cNvSpPr/>
          <p:nvPr/>
        </p:nvSpPr>
        <p:spPr>
          <a:xfrm>
            <a:off x="1363042" y="4196965"/>
            <a:ext cx="164492" cy="496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2" name="Straight Arrow Connector 111"/>
          <p:cNvCxnSpPr>
            <a:endCxn id="116" idx="1"/>
          </p:cNvCxnSpPr>
          <p:nvPr/>
        </p:nvCxnSpPr>
        <p:spPr>
          <a:xfrm flipV="1">
            <a:off x="1524087" y="2198028"/>
            <a:ext cx="318146" cy="267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endCxn id="118" idx="1"/>
          </p:cNvCxnSpPr>
          <p:nvPr/>
        </p:nvCxnSpPr>
        <p:spPr>
          <a:xfrm flipV="1">
            <a:off x="1522463" y="3701521"/>
            <a:ext cx="319770" cy="490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endCxn id="117" idx="1"/>
          </p:cNvCxnSpPr>
          <p:nvPr/>
        </p:nvCxnSpPr>
        <p:spPr>
          <a:xfrm flipV="1">
            <a:off x="1528309" y="2936364"/>
            <a:ext cx="314699" cy="497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endCxn id="119" idx="1"/>
          </p:cNvCxnSpPr>
          <p:nvPr/>
        </p:nvCxnSpPr>
        <p:spPr>
          <a:xfrm flipV="1">
            <a:off x="1522463" y="4450211"/>
            <a:ext cx="319770" cy="29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1842233" y="1949686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Rectangle 116"/>
          <p:cNvSpPr/>
          <p:nvPr/>
        </p:nvSpPr>
        <p:spPr>
          <a:xfrm>
            <a:off x="1843007" y="2688022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 117"/>
          <p:cNvSpPr/>
          <p:nvPr/>
        </p:nvSpPr>
        <p:spPr>
          <a:xfrm>
            <a:off x="1842233" y="3453179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 118"/>
          <p:cNvSpPr/>
          <p:nvPr/>
        </p:nvSpPr>
        <p:spPr>
          <a:xfrm>
            <a:off x="1842233" y="4201869"/>
            <a:ext cx="164492" cy="496685"/>
          </a:xfrm>
          <a:prstGeom prst="rect">
            <a:avLst/>
          </a:prstGeom>
          <a:solidFill>
            <a:srgbClr val="92D050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 119"/>
          <p:cNvSpPr/>
          <p:nvPr/>
        </p:nvSpPr>
        <p:spPr>
          <a:xfrm>
            <a:off x="2335086" y="2025673"/>
            <a:ext cx="269818" cy="258765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</a:t>
            </a:r>
            <a:r>
              <a:rPr lang="en-IN" sz="900" dirty="0"/>
              <a:t> ATTENTION</a:t>
            </a:r>
          </a:p>
        </p:txBody>
      </p:sp>
      <p:cxnSp>
        <p:nvCxnSpPr>
          <p:cNvPr id="121" name="Straight Arrow Connector 120"/>
          <p:cNvCxnSpPr>
            <a:stCxn id="116" idx="3"/>
          </p:cNvCxnSpPr>
          <p:nvPr/>
        </p:nvCxnSpPr>
        <p:spPr>
          <a:xfrm flipV="1">
            <a:off x="2006725" y="2195738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V="1">
            <a:off x="2010214" y="3693738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117" idx="3"/>
          </p:cNvCxnSpPr>
          <p:nvPr/>
        </p:nvCxnSpPr>
        <p:spPr>
          <a:xfrm>
            <a:off x="2007499" y="2936364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119" idx="3"/>
          </p:cNvCxnSpPr>
          <p:nvPr/>
        </p:nvCxnSpPr>
        <p:spPr>
          <a:xfrm>
            <a:off x="2006725" y="4450211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endCxn id="141" idx="1"/>
          </p:cNvCxnSpPr>
          <p:nvPr/>
        </p:nvCxnSpPr>
        <p:spPr>
          <a:xfrm flipV="1">
            <a:off x="2606698" y="2196055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endCxn id="143" idx="1"/>
          </p:cNvCxnSpPr>
          <p:nvPr/>
        </p:nvCxnSpPr>
        <p:spPr>
          <a:xfrm flipV="1">
            <a:off x="2605074" y="3699548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endCxn id="142" idx="1"/>
          </p:cNvCxnSpPr>
          <p:nvPr/>
        </p:nvCxnSpPr>
        <p:spPr>
          <a:xfrm flipV="1">
            <a:off x="2610920" y="2934391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44" idx="1"/>
          </p:cNvCxnSpPr>
          <p:nvPr/>
        </p:nvCxnSpPr>
        <p:spPr>
          <a:xfrm flipV="1">
            <a:off x="2605074" y="4448238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2924844" y="1947713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Rectangle 141"/>
          <p:cNvSpPr/>
          <p:nvPr/>
        </p:nvSpPr>
        <p:spPr>
          <a:xfrm>
            <a:off x="2925618" y="2686049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Rectangle 142"/>
          <p:cNvSpPr/>
          <p:nvPr/>
        </p:nvSpPr>
        <p:spPr>
          <a:xfrm>
            <a:off x="2924844" y="3451205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Rectangle 143"/>
          <p:cNvSpPr/>
          <p:nvPr/>
        </p:nvSpPr>
        <p:spPr>
          <a:xfrm>
            <a:off x="2924844" y="4199895"/>
            <a:ext cx="164492" cy="496685"/>
          </a:xfrm>
          <a:prstGeom prst="rect">
            <a:avLst/>
          </a:prstGeom>
          <a:solidFill>
            <a:srgbClr val="0070C0">
              <a:alpha val="82000"/>
            </a:srgb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Plus 144"/>
          <p:cNvSpPr/>
          <p:nvPr/>
        </p:nvSpPr>
        <p:spPr>
          <a:xfrm>
            <a:off x="3137179" y="2109328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Plus 145"/>
          <p:cNvSpPr/>
          <p:nvPr/>
        </p:nvSpPr>
        <p:spPr>
          <a:xfrm>
            <a:off x="3132754" y="2847663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Plus 146"/>
          <p:cNvSpPr/>
          <p:nvPr/>
        </p:nvSpPr>
        <p:spPr>
          <a:xfrm>
            <a:off x="3132167" y="358448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8" name="Plus 147"/>
          <p:cNvSpPr/>
          <p:nvPr/>
        </p:nvSpPr>
        <p:spPr>
          <a:xfrm>
            <a:off x="3135180" y="4361510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Rectangle 152"/>
          <p:cNvSpPr/>
          <p:nvPr/>
        </p:nvSpPr>
        <p:spPr>
          <a:xfrm>
            <a:off x="3342566" y="1949582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" name="Rectangle 153"/>
          <p:cNvSpPr/>
          <p:nvPr/>
        </p:nvSpPr>
        <p:spPr>
          <a:xfrm>
            <a:off x="3343340" y="2687918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Rectangle 154"/>
          <p:cNvSpPr/>
          <p:nvPr/>
        </p:nvSpPr>
        <p:spPr>
          <a:xfrm>
            <a:off x="3342566" y="3453075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Rectangle 155"/>
          <p:cNvSpPr/>
          <p:nvPr/>
        </p:nvSpPr>
        <p:spPr>
          <a:xfrm>
            <a:off x="3342566" y="4201765"/>
            <a:ext cx="164492" cy="496685"/>
          </a:xfrm>
          <a:prstGeom prst="rect">
            <a:avLst/>
          </a:prstGeom>
          <a:solidFill>
            <a:srgbClr val="FF9999">
              <a:alpha val="70000"/>
            </a:srgb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7" name="Straight Arrow Connector 156"/>
          <p:cNvCxnSpPr>
            <a:stCxn id="153" idx="3"/>
          </p:cNvCxnSpPr>
          <p:nvPr/>
        </p:nvCxnSpPr>
        <p:spPr>
          <a:xfrm flipV="1">
            <a:off x="3507058" y="2195634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 flipV="1">
            <a:off x="3510547" y="3706318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>
            <a:stCxn id="154" idx="3"/>
          </p:cNvCxnSpPr>
          <p:nvPr/>
        </p:nvCxnSpPr>
        <p:spPr>
          <a:xfrm>
            <a:off x="3507832" y="2936260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stCxn id="156" idx="3"/>
          </p:cNvCxnSpPr>
          <p:nvPr/>
        </p:nvCxnSpPr>
        <p:spPr>
          <a:xfrm>
            <a:off x="3507058" y="4450107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3815902" y="2025673"/>
            <a:ext cx="269818" cy="261912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NORMALIZATION</a:t>
            </a:r>
            <a:endParaRPr lang="en-IN" sz="900" dirty="0"/>
          </a:p>
        </p:txBody>
      </p:sp>
      <p:cxnSp>
        <p:nvCxnSpPr>
          <p:cNvPr id="191" name="Straight Arrow Connector 190"/>
          <p:cNvCxnSpPr>
            <a:endCxn id="195" idx="1"/>
          </p:cNvCxnSpPr>
          <p:nvPr/>
        </p:nvCxnSpPr>
        <p:spPr>
          <a:xfrm flipV="1">
            <a:off x="4087344" y="2196055"/>
            <a:ext cx="318146" cy="267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>
            <a:endCxn id="197" idx="1"/>
          </p:cNvCxnSpPr>
          <p:nvPr/>
        </p:nvCxnSpPr>
        <p:spPr>
          <a:xfrm flipV="1">
            <a:off x="4085720" y="3699548"/>
            <a:ext cx="319770" cy="490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>
            <a:endCxn id="196" idx="1"/>
          </p:cNvCxnSpPr>
          <p:nvPr/>
        </p:nvCxnSpPr>
        <p:spPr>
          <a:xfrm flipV="1">
            <a:off x="4091566" y="2934391"/>
            <a:ext cx="314699" cy="497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endCxn id="198" idx="1"/>
          </p:cNvCxnSpPr>
          <p:nvPr/>
        </p:nvCxnSpPr>
        <p:spPr>
          <a:xfrm flipV="1">
            <a:off x="4085720" y="4448238"/>
            <a:ext cx="319770" cy="2931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4405490" y="1947713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6" name="Rectangle 195"/>
          <p:cNvSpPr/>
          <p:nvPr/>
        </p:nvSpPr>
        <p:spPr>
          <a:xfrm>
            <a:off x="4406264" y="2686049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7" name="Rectangle 196"/>
          <p:cNvSpPr/>
          <p:nvPr/>
        </p:nvSpPr>
        <p:spPr>
          <a:xfrm>
            <a:off x="4405490" y="3451205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8" name="Rectangle 197"/>
          <p:cNvSpPr/>
          <p:nvPr/>
        </p:nvSpPr>
        <p:spPr>
          <a:xfrm>
            <a:off x="4405490" y="4199895"/>
            <a:ext cx="164492" cy="49668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9" name="Rectangle 198"/>
          <p:cNvSpPr/>
          <p:nvPr/>
        </p:nvSpPr>
        <p:spPr>
          <a:xfrm>
            <a:off x="4898343" y="2036384"/>
            <a:ext cx="269818" cy="258765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 FORWARD NEURAL NETWORK</a:t>
            </a:r>
            <a:endParaRPr lang="en-IN" sz="800" dirty="0"/>
          </a:p>
        </p:txBody>
      </p:sp>
      <p:cxnSp>
        <p:nvCxnSpPr>
          <p:cNvPr id="200" name="Straight Arrow Connector 199"/>
          <p:cNvCxnSpPr>
            <a:stCxn id="195" idx="3"/>
          </p:cNvCxnSpPr>
          <p:nvPr/>
        </p:nvCxnSpPr>
        <p:spPr>
          <a:xfrm flipV="1">
            <a:off x="4569982" y="2193765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 flipV="1">
            <a:off x="4573471" y="3704449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/>
          <p:cNvCxnSpPr>
            <a:stCxn id="196" idx="3"/>
          </p:cNvCxnSpPr>
          <p:nvPr/>
        </p:nvCxnSpPr>
        <p:spPr>
          <a:xfrm>
            <a:off x="4570756" y="2934391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>
            <a:stCxn id="198" idx="3"/>
          </p:cNvCxnSpPr>
          <p:nvPr/>
        </p:nvCxnSpPr>
        <p:spPr>
          <a:xfrm>
            <a:off x="4569982" y="4448238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/>
          <p:cNvCxnSpPr>
            <a:endCxn id="208" idx="1"/>
          </p:cNvCxnSpPr>
          <p:nvPr/>
        </p:nvCxnSpPr>
        <p:spPr>
          <a:xfrm flipV="1">
            <a:off x="5169955" y="2206766"/>
            <a:ext cx="318146" cy="26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/>
          <p:cNvCxnSpPr>
            <a:endCxn id="210" idx="1"/>
          </p:cNvCxnSpPr>
          <p:nvPr/>
        </p:nvCxnSpPr>
        <p:spPr>
          <a:xfrm flipV="1">
            <a:off x="5168331" y="3710258"/>
            <a:ext cx="319770" cy="49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>
            <a:endCxn id="209" idx="1"/>
          </p:cNvCxnSpPr>
          <p:nvPr/>
        </p:nvCxnSpPr>
        <p:spPr>
          <a:xfrm flipV="1">
            <a:off x="5174177" y="2945102"/>
            <a:ext cx="314699" cy="49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>
            <a:endCxn id="211" idx="1"/>
          </p:cNvCxnSpPr>
          <p:nvPr/>
        </p:nvCxnSpPr>
        <p:spPr>
          <a:xfrm flipV="1">
            <a:off x="5168331" y="4458948"/>
            <a:ext cx="319770" cy="29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/>
          <p:cNvSpPr/>
          <p:nvPr/>
        </p:nvSpPr>
        <p:spPr>
          <a:xfrm>
            <a:off x="5488101" y="1958423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" name="Rectangle 208"/>
          <p:cNvSpPr/>
          <p:nvPr/>
        </p:nvSpPr>
        <p:spPr>
          <a:xfrm>
            <a:off x="5488875" y="2696759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0" name="Rectangle 209"/>
          <p:cNvSpPr/>
          <p:nvPr/>
        </p:nvSpPr>
        <p:spPr>
          <a:xfrm>
            <a:off x="5488101" y="3461916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1" name="Rectangle 210"/>
          <p:cNvSpPr/>
          <p:nvPr/>
        </p:nvSpPr>
        <p:spPr>
          <a:xfrm>
            <a:off x="5488101" y="4210606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2" name="Plus 211"/>
          <p:cNvSpPr/>
          <p:nvPr/>
        </p:nvSpPr>
        <p:spPr>
          <a:xfrm>
            <a:off x="5700436" y="2120038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3" name="Plus 212"/>
          <p:cNvSpPr/>
          <p:nvPr/>
        </p:nvSpPr>
        <p:spPr>
          <a:xfrm>
            <a:off x="5696011" y="2858374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4" name="Plus 213"/>
          <p:cNvSpPr/>
          <p:nvPr/>
        </p:nvSpPr>
        <p:spPr>
          <a:xfrm>
            <a:off x="5695424" y="3595192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5" name="Plus 214"/>
          <p:cNvSpPr/>
          <p:nvPr/>
        </p:nvSpPr>
        <p:spPr>
          <a:xfrm>
            <a:off x="5698437" y="4372221"/>
            <a:ext cx="167755" cy="173455"/>
          </a:xfrm>
          <a:prstGeom prst="mathPlus">
            <a:avLst>
              <a:gd name="adj1" fmla="val 477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6" name="Rectangle 215"/>
          <p:cNvSpPr/>
          <p:nvPr/>
        </p:nvSpPr>
        <p:spPr>
          <a:xfrm>
            <a:off x="5905823" y="1960293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7" name="Rectangle 216"/>
          <p:cNvSpPr/>
          <p:nvPr/>
        </p:nvSpPr>
        <p:spPr>
          <a:xfrm>
            <a:off x="5906597" y="2698629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8" name="Rectangle 217"/>
          <p:cNvSpPr/>
          <p:nvPr/>
        </p:nvSpPr>
        <p:spPr>
          <a:xfrm>
            <a:off x="5905823" y="3463786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9" name="Rectangle 218"/>
          <p:cNvSpPr/>
          <p:nvPr/>
        </p:nvSpPr>
        <p:spPr>
          <a:xfrm>
            <a:off x="5905823" y="4212475"/>
            <a:ext cx="164492" cy="49668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0" name="Straight Arrow Connector 219"/>
          <p:cNvCxnSpPr>
            <a:stCxn id="216" idx="3"/>
          </p:cNvCxnSpPr>
          <p:nvPr/>
        </p:nvCxnSpPr>
        <p:spPr>
          <a:xfrm flipV="1">
            <a:off x="6070315" y="2206345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/>
          <p:cNvCxnSpPr/>
          <p:nvPr/>
        </p:nvCxnSpPr>
        <p:spPr>
          <a:xfrm flipV="1">
            <a:off x="6073804" y="3717029"/>
            <a:ext cx="320544" cy="31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/>
          <p:cNvCxnSpPr>
            <a:stCxn id="217" idx="3"/>
          </p:cNvCxnSpPr>
          <p:nvPr/>
        </p:nvCxnSpPr>
        <p:spPr>
          <a:xfrm>
            <a:off x="6071089" y="2946971"/>
            <a:ext cx="32325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>
            <a:cxnSpLocks/>
            <a:stCxn id="219" idx="3"/>
          </p:cNvCxnSpPr>
          <p:nvPr/>
        </p:nvCxnSpPr>
        <p:spPr>
          <a:xfrm>
            <a:off x="6070315" y="4460818"/>
            <a:ext cx="324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tangle 236"/>
          <p:cNvSpPr/>
          <p:nvPr/>
        </p:nvSpPr>
        <p:spPr>
          <a:xfrm>
            <a:off x="6385014" y="1952614"/>
            <a:ext cx="164492" cy="496685"/>
          </a:xfrm>
          <a:prstGeom prst="rect">
            <a:avLst/>
          </a:prstGeom>
          <a:solidFill>
            <a:srgbClr val="A9AB4F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8" name="Rectangle 237"/>
          <p:cNvSpPr/>
          <p:nvPr/>
        </p:nvSpPr>
        <p:spPr>
          <a:xfrm>
            <a:off x="6385788" y="2690950"/>
            <a:ext cx="164492" cy="496685"/>
          </a:xfrm>
          <a:prstGeom prst="rect">
            <a:avLst/>
          </a:prstGeom>
          <a:solidFill>
            <a:srgbClr val="A9AB4F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9" name="Rectangle 238"/>
          <p:cNvSpPr/>
          <p:nvPr/>
        </p:nvSpPr>
        <p:spPr>
          <a:xfrm>
            <a:off x="6385014" y="3456107"/>
            <a:ext cx="164492" cy="496685"/>
          </a:xfrm>
          <a:prstGeom prst="rect">
            <a:avLst/>
          </a:prstGeom>
          <a:solidFill>
            <a:srgbClr val="A9AB4F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0" name="Rectangle 239"/>
          <p:cNvSpPr/>
          <p:nvPr/>
        </p:nvSpPr>
        <p:spPr>
          <a:xfrm>
            <a:off x="6385014" y="4204797"/>
            <a:ext cx="164492" cy="496685"/>
          </a:xfrm>
          <a:prstGeom prst="rect">
            <a:avLst/>
          </a:prstGeom>
          <a:solidFill>
            <a:srgbClr val="A9AB4F"/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4" name="Left Bracket 243"/>
          <p:cNvSpPr/>
          <p:nvPr/>
        </p:nvSpPr>
        <p:spPr>
          <a:xfrm rot="16200000">
            <a:off x="3150662" y="4600075"/>
            <a:ext cx="130764" cy="739165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5" name="Left Bracket 244"/>
          <p:cNvSpPr/>
          <p:nvPr/>
        </p:nvSpPr>
        <p:spPr>
          <a:xfrm rot="16200000">
            <a:off x="5713919" y="4610830"/>
            <a:ext cx="130764" cy="739165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6" name="Right Bracket 245"/>
          <p:cNvSpPr/>
          <p:nvPr/>
        </p:nvSpPr>
        <p:spPr>
          <a:xfrm>
            <a:off x="6711933" y="1879599"/>
            <a:ext cx="137160" cy="2886075"/>
          </a:xfrm>
          <a:prstGeom prst="rightBracket">
            <a:avLst>
              <a:gd name="adj" fmla="val 5463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 rot="5400000">
            <a:off x="6214910" y="3016304"/>
            <a:ext cx="2183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next encoder layer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5058220" y="5002367"/>
            <a:ext cx="1442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&amp; Normalization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2523127" y="4992338"/>
            <a:ext cx="1442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&amp; Normalization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1483903" y="4796080"/>
            <a:ext cx="958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to encoder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840639" y="1252502"/>
            <a:ext cx="1205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Positional Encoding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Left Bracket 252"/>
          <p:cNvSpPr/>
          <p:nvPr/>
        </p:nvSpPr>
        <p:spPr>
          <a:xfrm rot="16200000">
            <a:off x="1854914" y="4628642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4" name="Left Bracket 253"/>
          <p:cNvSpPr/>
          <p:nvPr/>
        </p:nvSpPr>
        <p:spPr>
          <a:xfrm rot="5400000">
            <a:off x="1379906" y="1695664"/>
            <a:ext cx="130764" cy="35656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68ABEAE-7EED-0371-3543-D8652B3854C2}"/>
              </a:ext>
            </a:extLst>
          </p:cNvPr>
          <p:cNvSpPr txBox="1"/>
          <p:nvPr/>
        </p:nvSpPr>
        <p:spPr>
          <a:xfrm>
            <a:off x="418344" y="4813214"/>
            <a:ext cx="1158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Left Bracket 255"/>
          <p:cNvSpPr/>
          <p:nvPr/>
        </p:nvSpPr>
        <p:spPr>
          <a:xfrm rot="16200000">
            <a:off x="963064" y="4570643"/>
            <a:ext cx="130764" cy="334876"/>
          </a:xfrm>
          <a:prstGeom prst="lef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102B111-DF06-40B3-8DF7-EB0C7F1BFEEA}"/>
              </a:ext>
            </a:extLst>
          </p:cNvPr>
          <p:cNvSpPr txBox="1"/>
          <p:nvPr/>
        </p:nvSpPr>
        <p:spPr>
          <a:xfrm>
            <a:off x="7668094" y="6566025"/>
            <a:ext cx="4443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 Source: Ashish Vaswani et. al. Attention is All You Need, NIPS 2017</a:t>
            </a:r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3984B8BE-935A-4CD8-BE1F-FBF38B45B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828" y="1052731"/>
            <a:ext cx="3803448" cy="5513294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</p:spPr>
      </p:pic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9539B0D-02D6-4F16-9D08-0C15F801005E}"/>
              </a:ext>
            </a:extLst>
          </p:cNvPr>
          <p:cNvCxnSpPr/>
          <p:nvPr/>
        </p:nvCxnSpPr>
        <p:spPr>
          <a:xfrm flipV="1">
            <a:off x="6851782" y="3273084"/>
            <a:ext cx="324034" cy="22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9EB8A7-CA75-44B9-89A0-070E3E9EAB58}"/>
              </a:ext>
            </a:extLst>
          </p:cNvPr>
          <p:cNvCxnSpPr>
            <a:stCxn id="237" idx="3"/>
          </p:cNvCxnSpPr>
          <p:nvPr/>
        </p:nvCxnSpPr>
        <p:spPr>
          <a:xfrm>
            <a:off x="6549506" y="2200957"/>
            <a:ext cx="312877" cy="538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C5D8D80-6737-4D17-B201-72F94A2395AD}"/>
              </a:ext>
            </a:extLst>
          </p:cNvPr>
          <p:cNvCxnSpPr/>
          <p:nvPr/>
        </p:nvCxnSpPr>
        <p:spPr>
          <a:xfrm>
            <a:off x="6539348" y="2963331"/>
            <a:ext cx="312877" cy="538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F8FF62E-3782-4A41-BDAF-58345FD91218}"/>
              </a:ext>
            </a:extLst>
          </p:cNvPr>
          <p:cNvCxnSpPr/>
          <p:nvPr/>
        </p:nvCxnSpPr>
        <p:spPr>
          <a:xfrm>
            <a:off x="6529464" y="3715159"/>
            <a:ext cx="312877" cy="538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6D36F444-8E57-4BD5-AEC6-FD0C80C2CA34}"/>
              </a:ext>
            </a:extLst>
          </p:cNvPr>
          <p:cNvCxnSpPr/>
          <p:nvPr/>
        </p:nvCxnSpPr>
        <p:spPr>
          <a:xfrm>
            <a:off x="6549506" y="4447751"/>
            <a:ext cx="312877" cy="538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16DBDD0-4850-4AB2-BDDF-38B11FD7DF63}"/>
              </a:ext>
            </a:extLst>
          </p:cNvPr>
          <p:cNvSpPr/>
          <p:nvPr/>
        </p:nvSpPr>
        <p:spPr>
          <a:xfrm>
            <a:off x="7828498" y="3087092"/>
            <a:ext cx="1512696" cy="1973622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161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F8A67-5C28-4FAF-A058-970D5CFB8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420" y="1377389"/>
            <a:ext cx="11031072" cy="5408894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A Transformer decoder block receives two primary inputs: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 sequence of input vectors</a:t>
            </a:r>
            <a:r>
              <a:rPr lang="en-US" sz="2000" dirty="0">
                <a:latin typeface="Arial Narrow" panose="020B0606020202030204" pitchFamily="34" charset="0"/>
              </a:rPr>
              <a:t> x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from the preceding decoder layer </a:t>
            </a:r>
            <a:r>
              <a:rPr lang="en-US" sz="2000" dirty="0">
                <a:latin typeface="Arial Narrow" panose="020B0606020202030204" pitchFamily="34" charset="0"/>
              </a:rPr>
              <a:t>and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set of context vectors c produced by the encoder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It generates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 sequence of output vectors y</a:t>
            </a:r>
            <a:r>
              <a:rPr lang="en-US" sz="2000" dirty="0">
                <a:latin typeface="Arial Narrow" panose="020B0606020202030204" pitchFamily="34" charset="0"/>
              </a:rPr>
              <a:t>, which are subsequently used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predict the next tokens in the target sequence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first sublayer is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masked multi-head self-attention</a:t>
            </a:r>
            <a:r>
              <a:rPr lang="en-US" sz="2000" dirty="0">
                <a:latin typeface="Arial Narrow" panose="020B0606020202030204" pitchFamily="34" charset="0"/>
              </a:rPr>
              <a:t>, in which each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position is allowed to attend only to preceding positions and is prevented from accessing future tokens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This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causal masking preserves the autoregressive nature of the decoder </a:t>
            </a:r>
            <a:r>
              <a:rPr lang="en-US" sz="2000" dirty="0">
                <a:latin typeface="Arial Narrow" panose="020B0606020202030204" pitchFamily="34" charset="0"/>
              </a:rPr>
              <a:t>and ensures that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token generation depends only on previously available information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D1803-2D8D-4378-B11A-A522AC692CC2}"/>
              </a:ext>
            </a:extLst>
          </p:cNvPr>
          <p:cNvSpPr txBox="1"/>
          <p:nvPr/>
        </p:nvSpPr>
        <p:spPr>
          <a:xfrm>
            <a:off x="463420" y="388649"/>
            <a:ext cx="5461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entury" panose="02040604050505020304" pitchFamily="18" charset="0"/>
              </a:rPr>
              <a:t>Transformer Decoder</a:t>
            </a:r>
            <a:endParaRPr lang="en-IN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808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4C5484-0F1E-4EF4-9DF2-7749C4A3D077}"/>
              </a:ext>
            </a:extLst>
          </p:cNvPr>
          <p:cNvGrpSpPr/>
          <p:nvPr/>
        </p:nvGrpSpPr>
        <p:grpSpPr>
          <a:xfrm>
            <a:off x="288206" y="2097347"/>
            <a:ext cx="7421849" cy="2663305"/>
            <a:chOff x="1879600" y="930276"/>
            <a:chExt cx="7421849" cy="2663305"/>
          </a:xfrm>
        </p:grpSpPr>
        <p:sp>
          <p:nvSpPr>
            <p:cNvPr id="181" name="Rounded Rectangle 180"/>
            <p:cNvSpPr/>
            <p:nvPr/>
          </p:nvSpPr>
          <p:spPr>
            <a:xfrm>
              <a:off x="8072724" y="1452433"/>
              <a:ext cx="1228725" cy="2139884"/>
            </a:xfrm>
            <a:prstGeom prst="roundRect">
              <a:avLst>
                <a:gd name="adj" fmla="val 10512"/>
              </a:avLst>
            </a:prstGeom>
            <a:solidFill>
              <a:schemeClr val="accent1">
                <a:lumMod val="40000"/>
                <a:lumOff val="60000"/>
                <a:alpha val="1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66" name="Rounded Rectangle 165"/>
            <p:cNvSpPr/>
            <p:nvPr/>
          </p:nvSpPr>
          <p:spPr>
            <a:xfrm>
              <a:off x="4291905" y="930276"/>
              <a:ext cx="2640648" cy="58105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  <a:alpha val="4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3442614" y="1453697"/>
              <a:ext cx="509438" cy="2139884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/>
                <p:nvPr/>
              </p:nvSpPr>
              <p:spPr>
                <a:xfrm>
                  <a:off x="3450552" y="2736975"/>
                  <a:ext cx="456681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0552" y="2736975"/>
                  <a:ext cx="456681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71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Rounded Rectangle 126"/>
            <p:cNvSpPr/>
            <p:nvPr/>
          </p:nvSpPr>
          <p:spPr>
            <a:xfrm>
              <a:off x="3505317" y="2754657"/>
              <a:ext cx="356328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1879600" y="1453697"/>
              <a:ext cx="1228725" cy="2139884"/>
            </a:xfrm>
            <a:prstGeom prst="roundRect">
              <a:avLst>
                <a:gd name="adj" fmla="val 10512"/>
              </a:avLst>
            </a:prstGeom>
            <a:solidFill>
              <a:schemeClr val="accent3">
                <a:lumMod val="60000"/>
                <a:lumOff val="40000"/>
                <a:alpha val="6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004060" y="1648061"/>
              <a:ext cx="702353" cy="2862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normAutofit fontScale="92500" lnSpcReduction="20000"/>
            </a:bodyPr>
            <a:lstStyle/>
            <a:p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&lt;start&gt;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472328" y="2079413"/>
              <a:ext cx="235962" cy="2862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normAutofit fontScale="92500" lnSpcReduction="20000"/>
            </a:bodyPr>
            <a:lstStyle/>
            <a:p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336160" y="2431564"/>
              <a:ext cx="370615" cy="2862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normAutofit fontScale="92500" lnSpcReduction="20000"/>
            </a:bodyPr>
            <a:lstStyle/>
            <a:p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am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438376" y="2796855"/>
              <a:ext cx="268399" cy="2862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normAutofit fontScale="92500" lnSpcReduction="20000"/>
            </a:bodyPr>
            <a:lstStyle/>
            <a:p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950075" y="3161244"/>
              <a:ext cx="756700" cy="2862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 anchor="ctr">
              <a:normAutofit fontScale="92500" lnSpcReduction="20000"/>
            </a:bodyPr>
            <a:lstStyle/>
            <a:p>
              <a:pPr algn="ctr"/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student</a:t>
              </a:r>
            </a:p>
          </p:txBody>
        </p:sp>
        <p:cxnSp>
          <p:nvCxnSpPr>
            <p:cNvPr id="89" name="Straight Arrow Connector 88"/>
            <p:cNvCxnSpPr>
              <a:stCxn id="72" idx="3"/>
            </p:cNvCxnSpPr>
            <p:nvPr/>
          </p:nvCxnSpPr>
          <p:spPr>
            <a:xfrm>
              <a:off x="2708290" y="2222531"/>
              <a:ext cx="217061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73" idx="3"/>
            </p:cNvCxnSpPr>
            <p:nvPr/>
          </p:nvCxnSpPr>
          <p:spPr>
            <a:xfrm>
              <a:off x="2706775" y="2574682"/>
              <a:ext cx="218576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>
              <a:stCxn id="74" idx="3"/>
            </p:cNvCxnSpPr>
            <p:nvPr/>
          </p:nvCxnSpPr>
          <p:spPr>
            <a:xfrm>
              <a:off x="2706775" y="2939973"/>
              <a:ext cx="218576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>
              <a:stCxn id="75" idx="3"/>
            </p:cNvCxnSpPr>
            <p:nvPr/>
          </p:nvCxnSpPr>
          <p:spPr>
            <a:xfrm>
              <a:off x="2706775" y="3304362"/>
              <a:ext cx="218576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>
              <a:stCxn id="71" idx="3"/>
            </p:cNvCxnSpPr>
            <p:nvPr/>
          </p:nvCxnSpPr>
          <p:spPr>
            <a:xfrm flipV="1">
              <a:off x="2706413" y="1789733"/>
              <a:ext cx="210617" cy="1446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/>
                <p:nvPr/>
              </p:nvSpPr>
              <p:spPr>
                <a:xfrm>
                  <a:off x="3461664" y="1501808"/>
                  <a:ext cx="456681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1664" y="1501808"/>
                  <a:ext cx="456681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727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Rounded Rectangle 105"/>
            <p:cNvSpPr/>
            <p:nvPr/>
          </p:nvSpPr>
          <p:spPr>
            <a:xfrm>
              <a:off x="3508295" y="2339181"/>
              <a:ext cx="356328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3514645" y="1529546"/>
              <a:ext cx="356328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p:sp>
          <p:nvSpPr>
            <p:cNvPr id="123" name="Rounded Rectangle 122"/>
            <p:cNvSpPr/>
            <p:nvPr/>
          </p:nvSpPr>
          <p:spPr>
            <a:xfrm>
              <a:off x="3508887" y="1938808"/>
              <a:ext cx="356328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/>
                <p:nvPr/>
              </p:nvSpPr>
              <p:spPr>
                <a:xfrm>
                  <a:off x="3454524" y="3161244"/>
                  <a:ext cx="456681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4524" y="3161244"/>
                  <a:ext cx="456681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71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Rounded Rectangle 125"/>
            <p:cNvSpPr/>
            <p:nvPr/>
          </p:nvSpPr>
          <p:spPr>
            <a:xfrm>
              <a:off x="3508697" y="3161244"/>
              <a:ext cx="356328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/>
                <p:nvPr/>
              </p:nvSpPr>
              <p:spPr>
                <a:xfrm>
                  <a:off x="3454122" y="1921126"/>
                  <a:ext cx="456681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4122" y="1921126"/>
                  <a:ext cx="456681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727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/>
                <p:nvPr/>
              </p:nvSpPr>
              <p:spPr>
                <a:xfrm>
                  <a:off x="3454122" y="2312706"/>
                  <a:ext cx="456681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4122" y="2312706"/>
                  <a:ext cx="456681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727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Straight Arrow Connector 129"/>
            <p:cNvCxnSpPr>
              <a:stCxn id="96" idx="3"/>
              <a:endCxn id="128" idx="1"/>
            </p:cNvCxnSpPr>
            <p:nvPr/>
          </p:nvCxnSpPr>
          <p:spPr>
            <a:xfrm>
              <a:off x="3108325" y="2523639"/>
              <a:ext cx="334289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4291905" y="1994669"/>
              <a:ext cx="380713" cy="1055417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vert" wrap="none" rtlCol="0" anchor="ctr">
              <a:noAutofit/>
            </a:bodyPr>
            <a:lstStyle/>
            <a:p>
              <a:pPr algn="ctr"/>
              <a:r>
                <a:rPr lang="en-IN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Decoder 1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4936986" y="1995981"/>
              <a:ext cx="380713" cy="1055417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vert" wrap="none" rtlCol="0" anchor="ctr">
              <a:noAutofit/>
            </a:bodyPr>
            <a:lstStyle/>
            <a:p>
              <a:pPr algn="ctr"/>
              <a:r>
                <a:rPr lang="en-IN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Decoder 2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5577304" y="2322232"/>
              <a:ext cx="698370" cy="405094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wrap="none" rtlCol="0" anchor="t">
              <a:noAutofit/>
            </a:bodyPr>
            <a:lstStyle/>
            <a:p>
              <a:pPr algn="ctr"/>
              <a:r>
                <a:rPr lang="en-IN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… …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551840" y="1994669"/>
              <a:ext cx="380713" cy="1055417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vert" wrap="none" rtlCol="0" anchor="ctr">
              <a:noAutofit/>
            </a:bodyPr>
            <a:lstStyle/>
            <a:p>
              <a:pPr algn="ctr"/>
              <a:r>
                <a:rPr lang="en-IN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Decoder N</a:t>
              </a:r>
            </a:p>
          </p:txBody>
        </p:sp>
        <p:cxnSp>
          <p:nvCxnSpPr>
            <p:cNvPr id="137" name="Straight Arrow Connector 136"/>
            <p:cNvCxnSpPr>
              <a:stCxn id="128" idx="3"/>
              <a:endCxn id="132" idx="1"/>
            </p:cNvCxnSpPr>
            <p:nvPr/>
          </p:nvCxnSpPr>
          <p:spPr>
            <a:xfrm flipV="1">
              <a:off x="3952052" y="2522378"/>
              <a:ext cx="339853" cy="1261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32" idx="3"/>
              <a:endCxn id="133" idx="1"/>
            </p:cNvCxnSpPr>
            <p:nvPr/>
          </p:nvCxnSpPr>
          <p:spPr>
            <a:xfrm>
              <a:off x="4672618" y="2522378"/>
              <a:ext cx="264368" cy="1312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133" idx="3"/>
              <a:endCxn id="134" idx="1"/>
            </p:cNvCxnSpPr>
            <p:nvPr/>
          </p:nvCxnSpPr>
          <p:spPr>
            <a:xfrm>
              <a:off x="5317699" y="2523690"/>
              <a:ext cx="259605" cy="1089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34" idx="3"/>
              <a:endCxn id="135" idx="1"/>
            </p:cNvCxnSpPr>
            <p:nvPr/>
          </p:nvCxnSpPr>
          <p:spPr>
            <a:xfrm flipV="1">
              <a:off x="6275674" y="2522378"/>
              <a:ext cx="276166" cy="2401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/>
                <p:nvPr/>
              </p:nvSpPr>
              <p:spPr>
                <a:xfrm>
                  <a:off x="4393218" y="1014236"/>
                  <a:ext cx="456681" cy="40011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2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3218" y="1014236"/>
                  <a:ext cx="456681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1493"/>
                  </a:stretch>
                </a:blipFill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/>
                <p:nvPr/>
              </p:nvSpPr>
              <p:spPr>
                <a:xfrm>
                  <a:off x="5082392" y="1014236"/>
                  <a:ext cx="456681" cy="40011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2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2392" y="1014236"/>
                  <a:ext cx="456681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2985"/>
                  </a:stretch>
                </a:blipFill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677F8782-1613-4C1C-8BB8-6FFA94172DB3}"/>
                </a:ext>
              </a:extLst>
            </p:cNvPr>
            <p:cNvSpPr txBox="1"/>
            <p:nvPr/>
          </p:nvSpPr>
          <p:spPr>
            <a:xfrm>
              <a:off x="5697700" y="1014764"/>
              <a:ext cx="456681" cy="40011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/>
                <p:nvPr/>
              </p:nvSpPr>
              <p:spPr>
                <a:xfrm>
                  <a:off x="6380622" y="1014236"/>
                  <a:ext cx="456681" cy="40011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IN" sz="20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0622" y="1014236"/>
                  <a:ext cx="45668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8" name="Elbow Connector 167"/>
            <p:cNvCxnSpPr>
              <a:stCxn id="166" idx="2"/>
              <a:endCxn id="132" idx="0"/>
            </p:cNvCxnSpPr>
            <p:nvPr/>
          </p:nvCxnSpPr>
          <p:spPr>
            <a:xfrm rot="5400000">
              <a:off x="4805579" y="1188018"/>
              <a:ext cx="483335" cy="1129967"/>
            </a:xfrm>
            <a:prstGeom prst="bentConnector3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Elbow Connector 169"/>
            <p:cNvCxnSpPr>
              <a:stCxn id="166" idx="2"/>
              <a:endCxn id="133" idx="0"/>
            </p:cNvCxnSpPr>
            <p:nvPr/>
          </p:nvCxnSpPr>
          <p:spPr>
            <a:xfrm rot="5400000">
              <a:off x="5127463" y="1511214"/>
              <a:ext cx="484647" cy="484886"/>
            </a:xfrm>
            <a:prstGeom prst="bentConnector3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Elbow Connector 171"/>
            <p:cNvCxnSpPr>
              <a:stCxn id="166" idx="2"/>
              <a:endCxn id="135" idx="0"/>
            </p:cNvCxnSpPr>
            <p:nvPr/>
          </p:nvCxnSpPr>
          <p:spPr>
            <a:xfrm rot="16200000" flipH="1">
              <a:off x="5935546" y="1188017"/>
              <a:ext cx="483335" cy="1129968"/>
            </a:xfrm>
            <a:prstGeom prst="bentConnector3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lbow Connector 173"/>
            <p:cNvCxnSpPr>
              <a:stCxn id="166" idx="2"/>
              <a:endCxn id="134" idx="0"/>
            </p:cNvCxnSpPr>
            <p:nvPr/>
          </p:nvCxnSpPr>
          <p:spPr>
            <a:xfrm rot="16200000" flipH="1">
              <a:off x="5363910" y="1759653"/>
              <a:ext cx="810898" cy="314260"/>
            </a:xfrm>
            <a:prstGeom prst="bentConnector3">
              <a:avLst>
                <a:gd name="adj1" fmla="val 29640"/>
              </a:avLst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Rectangle 177"/>
            <p:cNvSpPr/>
            <p:nvPr/>
          </p:nvSpPr>
          <p:spPr>
            <a:xfrm>
              <a:off x="7285678" y="1452436"/>
              <a:ext cx="508159" cy="2139884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/>
                <p:nvPr/>
              </p:nvSpPr>
              <p:spPr>
                <a:xfrm>
                  <a:off x="7293485" y="2735714"/>
                  <a:ext cx="455534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3485" y="2735714"/>
                  <a:ext cx="455534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71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0" name="Rounded Rectangle 179"/>
            <p:cNvSpPr/>
            <p:nvPr/>
          </p:nvSpPr>
          <p:spPr>
            <a:xfrm>
              <a:off x="7347997" y="2753396"/>
              <a:ext cx="355433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8438319" y="3180700"/>
              <a:ext cx="702353" cy="286236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normAutofit fontScale="92500" lnSpcReduction="20000"/>
            </a:bodyPr>
            <a:lstStyle/>
            <a:p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&lt;end&gt;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8438319" y="1600439"/>
              <a:ext cx="235962" cy="286236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normAutofit fontScale="92500" lnSpcReduction="20000"/>
            </a:bodyPr>
            <a:lstStyle/>
            <a:p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8443094" y="1952590"/>
              <a:ext cx="370615" cy="286236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normAutofit fontScale="92500" lnSpcReduction="20000"/>
            </a:bodyPr>
            <a:lstStyle/>
            <a:p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am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8438319" y="2340701"/>
              <a:ext cx="268399" cy="286236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normAutofit fontScale="92500" lnSpcReduction="20000"/>
            </a:bodyPr>
            <a:lstStyle/>
            <a:p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8435359" y="2740386"/>
              <a:ext cx="756700" cy="286236"/>
            </a:xfrm>
            <a:prstGeom prst="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 anchor="ctr">
              <a:normAutofit fontScale="92500" lnSpcReduction="20000"/>
            </a:bodyPr>
            <a:lstStyle/>
            <a:p>
              <a:pPr algn="ctr"/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student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/>
                <p:nvPr/>
              </p:nvSpPr>
              <p:spPr>
                <a:xfrm>
                  <a:off x="7304597" y="1500547"/>
                  <a:ext cx="455534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4597" y="1500547"/>
                  <a:ext cx="455534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727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9" name="Rounded Rectangle 198"/>
            <p:cNvSpPr/>
            <p:nvPr/>
          </p:nvSpPr>
          <p:spPr>
            <a:xfrm>
              <a:off x="7350975" y="2337920"/>
              <a:ext cx="355433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7357325" y="1528285"/>
              <a:ext cx="355433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p:sp>
          <p:nvSpPr>
            <p:cNvPr id="201" name="Rounded Rectangle 200"/>
            <p:cNvSpPr/>
            <p:nvPr/>
          </p:nvSpPr>
          <p:spPr>
            <a:xfrm>
              <a:off x="7351567" y="1937547"/>
              <a:ext cx="355433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/>
                <p:nvPr/>
              </p:nvSpPr>
              <p:spPr>
                <a:xfrm>
                  <a:off x="7297457" y="3159983"/>
                  <a:ext cx="455534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457" y="3159983"/>
                  <a:ext cx="455534" cy="338554"/>
                </a:xfrm>
                <a:prstGeom prst="rect">
                  <a:avLst/>
                </a:prstGeom>
                <a:blipFill>
                  <a:blip r:embed="rId12"/>
                  <a:stretch>
                    <a:fillRect b="-727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3" name="Rounded Rectangle 202"/>
            <p:cNvSpPr/>
            <p:nvPr/>
          </p:nvSpPr>
          <p:spPr>
            <a:xfrm>
              <a:off x="7351377" y="3159983"/>
              <a:ext cx="355433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/>
                <p:nvPr/>
              </p:nvSpPr>
              <p:spPr>
                <a:xfrm>
                  <a:off x="7297055" y="1919865"/>
                  <a:ext cx="455534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055" y="1919865"/>
                  <a:ext cx="455534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71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/>
                <p:nvPr/>
              </p:nvSpPr>
              <p:spPr>
                <a:xfrm>
                  <a:off x="7297055" y="2311445"/>
                  <a:ext cx="455534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055" y="2311445"/>
                  <a:ext cx="455534" cy="338554"/>
                </a:xfrm>
                <a:prstGeom prst="rect">
                  <a:avLst/>
                </a:prstGeom>
                <a:blipFill>
                  <a:blip r:embed="rId14"/>
                  <a:stretch>
                    <a:fillRect b="-727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1" name="Straight Arrow Connector 210"/>
            <p:cNvCxnSpPr>
              <a:cxnSpLocks/>
              <a:stCxn id="183" idx="1"/>
            </p:cNvCxnSpPr>
            <p:nvPr/>
          </p:nvCxnSpPr>
          <p:spPr>
            <a:xfrm flipH="1">
              <a:off x="8259364" y="1743557"/>
              <a:ext cx="178955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/>
            <p:cNvCxnSpPr>
              <a:cxnSpLocks/>
              <a:stCxn id="184" idx="1"/>
            </p:cNvCxnSpPr>
            <p:nvPr/>
          </p:nvCxnSpPr>
          <p:spPr>
            <a:xfrm flipH="1" flipV="1">
              <a:off x="8259364" y="2092780"/>
              <a:ext cx="183730" cy="2928"/>
            </a:xfrm>
            <a:prstGeom prst="straightConnector1">
              <a:avLst/>
            </a:prstGeom>
            <a:ln w="12700">
              <a:solidFill>
                <a:srgbClr val="00206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Arrow Connector 214"/>
            <p:cNvCxnSpPr>
              <a:cxnSpLocks/>
              <a:stCxn id="185" idx="1"/>
            </p:cNvCxnSpPr>
            <p:nvPr/>
          </p:nvCxnSpPr>
          <p:spPr>
            <a:xfrm flipH="1" flipV="1">
              <a:off x="8256977" y="2483817"/>
              <a:ext cx="181342" cy="2"/>
            </a:xfrm>
            <a:prstGeom prst="straightConnector1">
              <a:avLst/>
            </a:prstGeom>
            <a:ln w="12700">
              <a:solidFill>
                <a:srgbClr val="00206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Arrow Connector 217"/>
            <p:cNvCxnSpPr/>
            <p:nvPr/>
          </p:nvCxnSpPr>
          <p:spPr>
            <a:xfrm flipH="1" flipV="1">
              <a:off x="8256977" y="2871926"/>
              <a:ext cx="181342" cy="2"/>
            </a:xfrm>
            <a:prstGeom prst="straightConnector1">
              <a:avLst/>
            </a:prstGeom>
            <a:ln w="12700">
              <a:solidFill>
                <a:srgbClr val="00206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Arrow Connector 218"/>
            <p:cNvCxnSpPr/>
            <p:nvPr/>
          </p:nvCxnSpPr>
          <p:spPr>
            <a:xfrm flipH="1" flipV="1">
              <a:off x="8256977" y="3339909"/>
              <a:ext cx="181342" cy="2"/>
            </a:xfrm>
            <a:prstGeom prst="straightConnector1">
              <a:avLst/>
            </a:prstGeom>
            <a:ln w="12700">
              <a:solidFill>
                <a:srgbClr val="00206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Arrow Connector 220"/>
            <p:cNvCxnSpPr>
              <a:stCxn id="135" idx="3"/>
              <a:endCxn id="178" idx="1"/>
            </p:cNvCxnSpPr>
            <p:nvPr/>
          </p:nvCxnSpPr>
          <p:spPr>
            <a:xfrm>
              <a:off x="6932553" y="2522378"/>
              <a:ext cx="353125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/>
            <p:cNvCxnSpPr>
              <a:stCxn id="178" idx="3"/>
              <a:endCxn id="181" idx="1"/>
            </p:cNvCxnSpPr>
            <p:nvPr/>
          </p:nvCxnSpPr>
          <p:spPr>
            <a:xfrm flipV="1">
              <a:off x="7793837" y="2522375"/>
              <a:ext cx="278887" cy="3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54393980-8A50-4FA0-A521-C6ADF16C7E12}"/>
                </a:ext>
              </a:extLst>
            </p:cNvPr>
            <p:cNvGrpSpPr/>
            <p:nvPr/>
          </p:nvGrpSpPr>
          <p:grpSpPr>
            <a:xfrm>
              <a:off x="8175166" y="3170142"/>
              <a:ext cx="76401" cy="315092"/>
              <a:chOff x="8749527" y="2677482"/>
              <a:chExt cx="125414" cy="478479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7EF15C17-DEB7-477E-981B-D8283942F8FF}"/>
                  </a:ext>
                </a:extLst>
              </p:cNvPr>
              <p:cNvSpPr/>
              <p:nvPr/>
            </p:nvSpPr>
            <p:spPr>
              <a:xfrm>
                <a:off x="8749528" y="2677482"/>
                <a:ext cx="125413" cy="121739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418B7C1B-BDB0-4B51-BED4-C31A2F039C0F}"/>
                  </a:ext>
                </a:extLst>
              </p:cNvPr>
              <p:cNvSpPr/>
              <p:nvPr/>
            </p:nvSpPr>
            <p:spPr>
              <a:xfrm>
                <a:off x="8749528" y="2797587"/>
                <a:ext cx="125413" cy="121739"/>
              </a:xfrm>
              <a:prstGeom prst="rect">
                <a:avLst/>
              </a:prstGeom>
              <a:solidFill>
                <a:srgbClr val="0070C0">
                  <a:alpha val="50000"/>
                </a:srgb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591FA09F-48DB-40BE-A3CD-F4A3A52E6AB2}"/>
                  </a:ext>
                </a:extLst>
              </p:cNvPr>
              <p:cNvSpPr/>
              <p:nvPr/>
            </p:nvSpPr>
            <p:spPr>
              <a:xfrm>
                <a:off x="8749528" y="2917692"/>
                <a:ext cx="125413" cy="121739"/>
              </a:xfrm>
              <a:prstGeom prst="rect">
                <a:avLst/>
              </a:prstGeom>
              <a:solidFill>
                <a:srgbClr val="0070C0">
                  <a:alpha val="64000"/>
                </a:srgb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07E1358D-6C82-49EB-A349-F18ED87CF560}"/>
                  </a:ext>
                </a:extLst>
              </p:cNvPr>
              <p:cNvSpPr/>
              <p:nvPr/>
            </p:nvSpPr>
            <p:spPr>
              <a:xfrm>
                <a:off x="8749527" y="3034222"/>
                <a:ext cx="125413" cy="12173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DDC063BB-07E0-4865-BAB9-CE973E04C0C8}"/>
                </a:ext>
              </a:extLst>
            </p:cNvPr>
            <p:cNvGrpSpPr/>
            <p:nvPr/>
          </p:nvGrpSpPr>
          <p:grpSpPr>
            <a:xfrm>
              <a:off x="8174184" y="2761865"/>
              <a:ext cx="77382" cy="320384"/>
              <a:chOff x="8833376" y="3330242"/>
              <a:chExt cx="77382" cy="320384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868ECD3D-F34C-44D5-8212-AC56EEAE9C58}"/>
                  </a:ext>
                </a:extLst>
              </p:cNvPr>
              <p:cNvSpPr/>
              <p:nvPr/>
            </p:nvSpPr>
            <p:spPr>
              <a:xfrm>
                <a:off x="8833376" y="3413450"/>
                <a:ext cx="76400" cy="80169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C62A34A4-8722-4093-98DC-315007CC3BDB}"/>
                  </a:ext>
                </a:extLst>
              </p:cNvPr>
              <p:cNvSpPr/>
              <p:nvPr/>
            </p:nvSpPr>
            <p:spPr>
              <a:xfrm>
                <a:off x="8834358" y="3330242"/>
                <a:ext cx="76400" cy="80169"/>
              </a:xfrm>
              <a:prstGeom prst="rect">
                <a:avLst/>
              </a:prstGeom>
              <a:solidFill>
                <a:srgbClr val="0070C0">
                  <a:alpha val="50000"/>
                </a:srgb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5152C671-0249-472B-A456-E00D458A4B91}"/>
                  </a:ext>
                </a:extLst>
              </p:cNvPr>
              <p:cNvSpPr/>
              <p:nvPr/>
            </p:nvSpPr>
            <p:spPr>
              <a:xfrm>
                <a:off x="8833377" y="3493719"/>
                <a:ext cx="76400" cy="80169"/>
              </a:xfrm>
              <a:prstGeom prst="rect">
                <a:avLst/>
              </a:prstGeom>
              <a:solidFill>
                <a:srgbClr val="0070C0">
                  <a:alpha val="64000"/>
                </a:srgb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2E47F8AC-3F0B-48C5-9690-22A710875298}"/>
                  </a:ext>
                </a:extLst>
              </p:cNvPr>
              <p:cNvSpPr/>
              <p:nvPr/>
            </p:nvSpPr>
            <p:spPr>
              <a:xfrm>
                <a:off x="8833376" y="3570457"/>
                <a:ext cx="76400" cy="8016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2C27464D-C7D6-4F90-97CE-032A886049BD}"/>
                </a:ext>
              </a:extLst>
            </p:cNvPr>
            <p:cNvGrpSpPr/>
            <p:nvPr/>
          </p:nvGrpSpPr>
          <p:grpSpPr>
            <a:xfrm>
              <a:off x="8174183" y="2370250"/>
              <a:ext cx="76401" cy="320107"/>
              <a:chOff x="8792794" y="3326539"/>
              <a:chExt cx="76401" cy="320107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E04E949F-A1FB-4FC8-B122-15980411CB1B}"/>
                  </a:ext>
                </a:extLst>
              </p:cNvPr>
              <p:cNvSpPr/>
              <p:nvPr/>
            </p:nvSpPr>
            <p:spPr>
              <a:xfrm>
                <a:off x="8792794" y="3566477"/>
                <a:ext cx="76400" cy="80169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8438E700-F566-4F5F-8CE7-4745E9EDEFC8}"/>
                  </a:ext>
                </a:extLst>
              </p:cNvPr>
              <p:cNvSpPr/>
              <p:nvPr/>
            </p:nvSpPr>
            <p:spPr>
              <a:xfrm>
                <a:off x="8792795" y="3407097"/>
                <a:ext cx="76400" cy="80169"/>
              </a:xfrm>
              <a:prstGeom prst="rect">
                <a:avLst/>
              </a:prstGeom>
              <a:solidFill>
                <a:srgbClr val="0070C0">
                  <a:alpha val="50000"/>
                </a:srgb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8D0058D7-4968-42C9-A815-2D8C7CA336CF}"/>
                  </a:ext>
                </a:extLst>
              </p:cNvPr>
              <p:cNvSpPr/>
              <p:nvPr/>
            </p:nvSpPr>
            <p:spPr>
              <a:xfrm>
                <a:off x="8792794" y="3326539"/>
                <a:ext cx="76400" cy="80169"/>
              </a:xfrm>
              <a:prstGeom prst="rect">
                <a:avLst/>
              </a:prstGeom>
              <a:solidFill>
                <a:srgbClr val="0070C0">
                  <a:alpha val="64000"/>
                </a:srgb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D05A955C-BD72-4334-BDF3-6D81D546BBAD}"/>
                  </a:ext>
                </a:extLst>
              </p:cNvPr>
              <p:cNvSpPr/>
              <p:nvPr/>
            </p:nvSpPr>
            <p:spPr>
              <a:xfrm>
                <a:off x="8792794" y="3486989"/>
                <a:ext cx="76400" cy="8016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CBFB32E6-5ADE-4832-A803-822ABFE59030}"/>
                </a:ext>
              </a:extLst>
            </p:cNvPr>
            <p:cNvGrpSpPr/>
            <p:nvPr/>
          </p:nvGrpSpPr>
          <p:grpSpPr>
            <a:xfrm>
              <a:off x="8174182" y="1936760"/>
              <a:ext cx="76401" cy="321419"/>
              <a:chOff x="8755985" y="3299659"/>
              <a:chExt cx="76401" cy="321419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DAA95732-9388-4731-9C97-A53450292604}"/>
                  </a:ext>
                </a:extLst>
              </p:cNvPr>
              <p:cNvSpPr/>
              <p:nvPr/>
            </p:nvSpPr>
            <p:spPr>
              <a:xfrm>
                <a:off x="8755986" y="3379792"/>
                <a:ext cx="76400" cy="80169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BF2D763A-EBE8-4285-A82F-8A0284B6649D}"/>
                  </a:ext>
                </a:extLst>
              </p:cNvPr>
              <p:cNvSpPr/>
              <p:nvPr/>
            </p:nvSpPr>
            <p:spPr>
              <a:xfrm>
                <a:off x="8755985" y="3540909"/>
                <a:ext cx="76400" cy="80169"/>
              </a:xfrm>
              <a:prstGeom prst="rect">
                <a:avLst/>
              </a:prstGeom>
              <a:solidFill>
                <a:srgbClr val="0070C0">
                  <a:alpha val="50000"/>
                </a:srgb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C2CF9927-0261-40EC-8891-2955C521DB81}"/>
                  </a:ext>
                </a:extLst>
              </p:cNvPr>
              <p:cNvSpPr/>
              <p:nvPr/>
            </p:nvSpPr>
            <p:spPr>
              <a:xfrm>
                <a:off x="8755985" y="3459125"/>
                <a:ext cx="76400" cy="80169"/>
              </a:xfrm>
              <a:prstGeom prst="rect">
                <a:avLst/>
              </a:prstGeom>
              <a:solidFill>
                <a:srgbClr val="0070C0">
                  <a:alpha val="64000"/>
                </a:srgb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AD86CD5F-4104-42FF-90D8-99E748AAEBDD}"/>
                  </a:ext>
                </a:extLst>
              </p:cNvPr>
              <p:cNvSpPr/>
              <p:nvPr/>
            </p:nvSpPr>
            <p:spPr>
              <a:xfrm>
                <a:off x="8755985" y="3299659"/>
                <a:ext cx="76400" cy="8016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AF352374-0A86-4B2F-9D0E-D8C669F58964}"/>
                </a:ext>
              </a:extLst>
            </p:cNvPr>
            <p:cNvGrpSpPr/>
            <p:nvPr/>
          </p:nvGrpSpPr>
          <p:grpSpPr>
            <a:xfrm>
              <a:off x="8174182" y="1538748"/>
              <a:ext cx="76400" cy="325276"/>
              <a:chOff x="8830993" y="3402035"/>
              <a:chExt cx="76400" cy="325276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ED337C3F-D78F-4D97-81E6-8C5F1C1693C6}"/>
                  </a:ext>
                </a:extLst>
              </p:cNvPr>
              <p:cNvSpPr/>
              <p:nvPr/>
            </p:nvSpPr>
            <p:spPr>
              <a:xfrm>
                <a:off x="8830993" y="3647142"/>
                <a:ext cx="76400" cy="80169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084F697F-9110-4947-B60F-05636F90D09F}"/>
                  </a:ext>
                </a:extLst>
              </p:cNvPr>
              <p:cNvSpPr/>
              <p:nvPr/>
            </p:nvSpPr>
            <p:spPr>
              <a:xfrm>
                <a:off x="8830993" y="3402035"/>
                <a:ext cx="76400" cy="80169"/>
              </a:xfrm>
              <a:prstGeom prst="rect">
                <a:avLst/>
              </a:prstGeom>
              <a:solidFill>
                <a:srgbClr val="0070C0">
                  <a:alpha val="50000"/>
                </a:srgb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359577D6-B012-4C76-B834-069C9E95CD9C}"/>
                  </a:ext>
                </a:extLst>
              </p:cNvPr>
              <p:cNvSpPr/>
              <p:nvPr/>
            </p:nvSpPr>
            <p:spPr>
              <a:xfrm>
                <a:off x="8830993" y="3483236"/>
                <a:ext cx="76400" cy="80169"/>
              </a:xfrm>
              <a:prstGeom prst="rect">
                <a:avLst/>
              </a:prstGeom>
              <a:solidFill>
                <a:srgbClr val="0070C0">
                  <a:alpha val="64000"/>
                </a:srgb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0520A382-4161-41DD-9BB2-D4B7F49A72D0}"/>
                  </a:ext>
                </a:extLst>
              </p:cNvPr>
              <p:cNvSpPr/>
              <p:nvPr/>
            </p:nvSpPr>
            <p:spPr>
              <a:xfrm>
                <a:off x="8830993" y="3565202"/>
                <a:ext cx="76400" cy="8016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F87C3C95-72BE-47A6-BF0F-FE68EE9875A4}"/>
                </a:ext>
              </a:extLst>
            </p:cNvPr>
            <p:cNvGrpSpPr/>
            <p:nvPr/>
          </p:nvGrpSpPr>
          <p:grpSpPr>
            <a:xfrm>
              <a:off x="2959224" y="1635635"/>
              <a:ext cx="75591" cy="320858"/>
              <a:chOff x="1919286" y="1668961"/>
              <a:chExt cx="125414" cy="478479"/>
            </a:xfrm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AF976DF5-230C-4D91-AA55-1DDF7341848E}"/>
                  </a:ext>
                </a:extLst>
              </p:cNvPr>
              <p:cNvSpPr/>
              <p:nvPr/>
            </p:nvSpPr>
            <p:spPr>
              <a:xfrm>
                <a:off x="1919287" y="1668961"/>
                <a:ext cx="125413" cy="12173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4175B902-08BE-4AAE-BD90-6CD03523FA42}"/>
                  </a:ext>
                </a:extLst>
              </p:cNvPr>
              <p:cNvSpPr/>
              <p:nvPr/>
            </p:nvSpPr>
            <p:spPr>
              <a:xfrm>
                <a:off x="1919287" y="1789066"/>
                <a:ext cx="125413" cy="121739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9AD5E8C1-EB09-4517-BE3C-4BD7D9B173C9}"/>
                  </a:ext>
                </a:extLst>
              </p:cNvPr>
              <p:cNvSpPr/>
              <p:nvPr/>
            </p:nvSpPr>
            <p:spPr>
              <a:xfrm>
                <a:off x="1919287" y="1909171"/>
                <a:ext cx="125413" cy="121739"/>
              </a:xfrm>
              <a:prstGeom prst="rect">
                <a:avLst/>
              </a:prstGeom>
              <a:solidFill>
                <a:schemeClr val="accent6">
                  <a:lumMod val="75000"/>
                  <a:alpha val="92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9350ABB5-EAAC-41E2-A9B0-70280FAF4566}"/>
                  </a:ext>
                </a:extLst>
              </p:cNvPr>
              <p:cNvSpPr/>
              <p:nvPr/>
            </p:nvSpPr>
            <p:spPr>
              <a:xfrm>
                <a:off x="1919286" y="2025701"/>
                <a:ext cx="125413" cy="12173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B73D715E-BBCC-4AB3-83DC-EED34398BAE3}"/>
                </a:ext>
              </a:extLst>
            </p:cNvPr>
            <p:cNvGrpSpPr/>
            <p:nvPr/>
          </p:nvGrpSpPr>
          <p:grpSpPr>
            <a:xfrm>
              <a:off x="2958188" y="3205281"/>
              <a:ext cx="76316" cy="326181"/>
              <a:chOff x="4173754" y="3888613"/>
              <a:chExt cx="76316" cy="326181"/>
            </a:xfrm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3327BB5-2A75-4A63-A483-E1CDE1AC2C21}"/>
                  </a:ext>
                </a:extLst>
              </p:cNvPr>
              <p:cNvSpPr/>
              <p:nvPr/>
            </p:nvSpPr>
            <p:spPr>
              <a:xfrm>
                <a:off x="4173754" y="4133158"/>
                <a:ext cx="75590" cy="8163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790A061A-40F6-4488-A3E2-A8F84EE2ADE9}"/>
                  </a:ext>
                </a:extLst>
              </p:cNvPr>
              <p:cNvSpPr/>
              <p:nvPr/>
            </p:nvSpPr>
            <p:spPr>
              <a:xfrm>
                <a:off x="4173955" y="3970719"/>
                <a:ext cx="75590" cy="81636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C89C1315-41B7-4238-962B-68B77310EB35}"/>
                  </a:ext>
                </a:extLst>
              </p:cNvPr>
              <p:cNvSpPr/>
              <p:nvPr/>
            </p:nvSpPr>
            <p:spPr>
              <a:xfrm>
                <a:off x="4174480" y="3888613"/>
                <a:ext cx="75590" cy="81636"/>
              </a:xfrm>
              <a:prstGeom prst="rect">
                <a:avLst/>
              </a:prstGeom>
              <a:solidFill>
                <a:schemeClr val="accent6">
                  <a:lumMod val="75000"/>
                  <a:alpha val="92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6718DA4D-47DE-44D5-B1DA-96AF7DD0587F}"/>
                  </a:ext>
                </a:extLst>
              </p:cNvPr>
              <p:cNvSpPr/>
              <p:nvPr/>
            </p:nvSpPr>
            <p:spPr>
              <a:xfrm>
                <a:off x="4173955" y="4051522"/>
                <a:ext cx="75590" cy="81636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AF7973B8-ABDB-422A-AA9C-D157B705371B}"/>
                </a:ext>
              </a:extLst>
            </p:cNvPr>
            <p:cNvGrpSpPr/>
            <p:nvPr/>
          </p:nvGrpSpPr>
          <p:grpSpPr>
            <a:xfrm>
              <a:off x="2958815" y="2029453"/>
              <a:ext cx="76314" cy="324101"/>
              <a:chOff x="4174180" y="3970353"/>
              <a:chExt cx="76314" cy="324101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00BFB938-CD1E-4155-9669-2316FE508879}"/>
                  </a:ext>
                </a:extLst>
              </p:cNvPr>
              <p:cNvSpPr/>
              <p:nvPr/>
            </p:nvSpPr>
            <p:spPr>
              <a:xfrm>
                <a:off x="4174530" y="3970353"/>
                <a:ext cx="75590" cy="8163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DFA23D7D-5C7D-41FD-BAAF-E82CF60E9430}"/>
                  </a:ext>
                </a:extLst>
              </p:cNvPr>
              <p:cNvSpPr/>
              <p:nvPr/>
            </p:nvSpPr>
            <p:spPr>
              <a:xfrm>
                <a:off x="4174180" y="4131460"/>
                <a:ext cx="75590" cy="81636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3511C21A-4CC3-46F7-8B5B-3DDE66D43380}"/>
                  </a:ext>
                </a:extLst>
              </p:cNvPr>
              <p:cNvSpPr/>
              <p:nvPr/>
            </p:nvSpPr>
            <p:spPr>
              <a:xfrm>
                <a:off x="4174904" y="4051711"/>
                <a:ext cx="75590" cy="81636"/>
              </a:xfrm>
              <a:prstGeom prst="rect">
                <a:avLst/>
              </a:prstGeom>
              <a:solidFill>
                <a:schemeClr val="accent6">
                  <a:lumMod val="75000"/>
                  <a:alpha val="92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AF45890A-1A18-43B5-BF59-2DA1A7AE3BF8}"/>
                  </a:ext>
                </a:extLst>
              </p:cNvPr>
              <p:cNvSpPr/>
              <p:nvPr/>
            </p:nvSpPr>
            <p:spPr>
              <a:xfrm>
                <a:off x="4174904" y="4212818"/>
                <a:ext cx="75590" cy="81636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4A92216E-3F30-4F64-894B-02DD7A5477D3}"/>
                </a:ext>
              </a:extLst>
            </p:cNvPr>
            <p:cNvGrpSpPr/>
            <p:nvPr/>
          </p:nvGrpSpPr>
          <p:grpSpPr>
            <a:xfrm>
              <a:off x="2961531" y="2418980"/>
              <a:ext cx="75640" cy="339285"/>
              <a:chOff x="4174480" y="3972734"/>
              <a:chExt cx="75640" cy="339285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57FD4188-071F-474E-9986-1143F142240F}"/>
                  </a:ext>
                </a:extLst>
              </p:cNvPr>
              <p:cNvSpPr/>
              <p:nvPr/>
            </p:nvSpPr>
            <p:spPr>
              <a:xfrm>
                <a:off x="4174530" y="3972734"/>
                <a:ext cx="75590" cy="8163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A09FA2BD-84AA-4033-B5A4-F724CDD7D959}"/>
                  </a:ext>
                </a:extLst>
              </p:cNvPr>
              <p:cNvSpPr/>
              <p:nvPr/>
            </p:nvSpPr>
            <p:spPr>
              <a:xfrm>
                <a:off x="4174530" y="4059341"/>
                <a:ext cx="75590" cy="81636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585C9251-3FE4-411F-846F-E30CDDE5CEB1}"/>
                  </a:ext>
                </a:extLst>
              </p:cNvPr>
              <p:cNvSpPr/>
              <p:nvPr/>
            </p:nvSpPr>
            <p:spPr>
              <a:xfrm>
                <a:off x="4174480" y="4230383"/>
                <a:ext cx="75590" cy="81636"/>
              </a:xfrm>
              <a:prstGeom prst="rect">
                <a:avLst/>
              </a:prstGeom>
              <a:solidFill>
                <a:schemeClr val="accent6">
                  <a:lumMod val="75000"/>
                  <a:alpha val="92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FA450169-BEA4-48DC-B37C-E709E48F754C}"/>
                  </a:ext>
                </a:extLst>
              </p:cNvPr>
              <p:cNvSpPr/>
              <p:nvPr/>
            </p:nvSpPr>
            <p:spPr>
              <a:xfrm>
                <a:off x="4174480" y="4143567"/>
                <a:ext cx="75590" cy="81636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82B2E50-C28A-4408-AC6E-3CA5D4663138}"/>
                </a:ext>
              </a:extLst>
            </p:cNvPr>
            <p:cNvGrpSpPr/>
            <p:nvPr/>
          </p:nvGrpSpPr>
          <p:grpSpPr>
            <a:xfrm>
              <a:off x="2960950" y="2815920"/>
              <a:ext cx="76383" cy="328993"/>
              <a:chOff x="4326511" y="4041013"/>
              <a:chExt cx="76383" cy="328993"/>
            </a:xfrm>
          </p:grpSpPr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6B1C874B-E915-49ED-9DAD-710A61AA3290}"/>
                  </a:ext>
                </a:extLst>
              </p:cNvPr>
              <p:cNvSpPr/>
              <p:nvPr/>
            </p:nvSpPr>
            <p:spPr>
              <a:xfrm>
                <a:off x="4326930" y="4125134"/>
                <a:ext cx="75590" cy="8163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E21D2E88-AEFF-47FD-94B7-07101C88AF88}"/>
                  </a:ext>
                </a:extLst>
              </p:cNvPr>
              <p:cNvSpPr/>
              <p:nvPr/>
            </p:nvSpPr>
            <p:spPr>
              <a:xfrm>
                <a:off x="4326511" y="4288370"/>
                <a:ext cx="75590" cy="81636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041E919A-5AA2-4D6A-8307-92384B713C32}"/>
                  </a:ext>
                </a:extLst>
              </p:cNvPr>
              <p:cNvSpPr/>
              <p:nvPr/>
            </p:nvSpPr>
            <p:spPr>
              <a:xfrm>
                <a:off x="4326880" y="4041013"/>
                <a:ext cx="75590" cy="81636"/>
              </a:xfrm>
              <a:prstGeom prst="rect">
                <a:avLst/>
              </a:prstGeom>
              <a:solidFill>
                <a:schemeClr val="accent6">
                  <a:lumMod val="75000"/>
                  <a:alpha val="92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61E75A18-F53D-485C-A6E5-3454F952862F}"/>
                  </a:ext>
                </a:extLst>
              </p:cNvPr>
              <p:cNvSpPr/>
              <p:nvPr/>
            </p:nvSpPr>
            <p:spPr>
              <a:xfrm>
                <a:off x="4327304" y="4203922"/>
                <a:ext cx="75590" cy="81636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</p:grpSp>
      </p:grpSp>
      <p:sp>
        <p:nvSpPr>
          <p:cNvPr id="188" name="TextBox 187">
            <a:extLst>
              <a:ext uri="{FF2B5EF4-FFF2-40B4-BE49-F238E27FC236}">
                <a16:creationId xmlns:a16="http://schemas.microsoft.com/office/drawing/2014/main" id="{6F0F45B1-A056-465C-A86B-AD54B9693DF7}"/>
              </a:ext>
            </a:extLst>
          </p:cNvPr>
          <p:cNvSpPr txBox="1"/>
          <p:nvPr/>
        </p:nvSpPr>
        <p:spPr>
          <a:xfrm>
            <a:off x="463420" y="388649"/>
            <a:ext cx="5461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entury" panose="02040604050505020304" pitchFamily="18" charset="0"/>
              </a:rPr>
              <a:t>Transformer Decoder</a:t>
            </a:r>
            <a:endParaRPr lang="en-IN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16A94230-B6E6-4E23-BB82-648B518C9D75}"/>
              </a:ext>
            </a:extLst>
          </p:cNvPr>
          <p:cNvSpPr txBox="1"/>
          <p:nvPr/>
        </p:nvSpPr>
        <p:spPr>
          <a:xfrm>
            <a:off x="241057" y="6500559"/>
            <a:ext cx="4443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 Source: Ashish Vaswani et. al. Attention is All You Need, NIPS 2017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DE536575-0645-4545-943F-991BB7C04D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46" y="1297964"/>
            <a:ext cx="3803448" cy="5513294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</p:spPr>
      </p:pic>
      <p:sp>
        <p:nvSpPr>
          <p:cNvPr id="191" name="Rectangle 190">
            <a:extLst>
              <a:ext uri="{FF2B5EF4-FFF2-40B4-BE49-F238E27FC236}">
                <a16:creationId xmlns:a16="http://schemas.microsoft.com/office/drawing/2014/main" id="{131B681B-0AF1-4B03-82A7-2B6FFACD00A0}"/>
              </a:ext>
            </a:extLst>
          </p:cNvPr>
          <p:cNvSpPr/>
          <p:nvPr/>
        </p:nvSpPr>
        <p:spPr>
          <a:xfrm>
            <a:off x="9981502" y="2479171"/>
            <a:ext cx="1474980" cy="2870491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637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2F7A2-A485-4B19-ADB2-E48F38E63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420" y="1513308"/>
            <a:ext cx="10515600" cy="52160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200" dirty="0">
                <a:latin typeface="Arial Narrow" panose="020B0606020202030204" pitchFamily="34" charset="0"/>
              </a:rPr>
              <a:t>The resulting representations are then passed to a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multi-head cross-attention sublayer</a:t>
            </a:r>
            <a:r>
              <a:rPr lang="en-US" sz="2200" dirty="0">
                <a:latin typeface="Arial Narrow" panose="020B0606020202030204" pitchFamily="34" charset="0"/>
              </a:rPr>
              <a:t>,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which differs from self-attention because its queries originate from the decoder</a:t>
            </a:r>
            <a:r>
              <a:rPr lang="en-US" sz="2200" dirty="0">
                <a:latin typeface="Arial Narrow" panose="020B0606020202030204" pitchFamily="34" charset="0"/>
              </a:rPr>
              <a:t>, while the encoder context vectors c provide the keys and values.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This enables the decoder to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selectively attend to relevant information from the encoded input sequence when generating each target token</a:t>
            </a:r>
            <a:r>
              <a:rPr lang="en-US" sz="22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Finally, the attended representations are processed by a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position-wise feed-forward network </a:t>
            </a:r>
            <a:r>
              <a:rPr lang="en-US" sz="2200" dirty="0">
                <a:latin typeface="Arial Narrow" panose="020B0606020202030204" pitchFamily="34" charset="0"/>
              </a:rPr>
              <a:t>to produce the output representations of the decoder block.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Through this combination of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masked self-attention, cross-attention, and feed-forward processing</a:t>
            </a:r>
            <a:r>
              <a:rPr lang="en-US" sz="2200" dirty="0">
                <a:latin typeface="Arial Narrow" panose="020B0606020202030204" pitchFamily="34" charset="0"/>
              </a:rPr>
              <a:t>, the Transformer decoder can effectively model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long-range dependencies</a:t>
            </a:r>
            <a:r>
              <a:rPr lang="en-US" sz="2200" dirty="0">
                <a:latin typeface="Arial Narrow" panose="020B0606020202030204" pitchFamily="34" charset="0"/>
              </a:rPr>
              <a:t> while supporting highly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parallelizable and scalable computation during training</a:t>
            </a:r>
            <a:r>
              <a:rPr lang="en-US" sz="2200" dirty="0">
                <a:latin typeface="Arial Narrow" panose="020B0606020202030204" pitchFamily="34" charset="0"/>
              </a:rPr>
              <a:t>. </a:t>
            </a:r>
          </a:p>
          <a:p>
            <a:pPr marL="0" indent="0" algn="just">
              <a:buNone/>
            </a:pPr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However, the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quadratic computational and memory complexity of attention with respect to sequence length </a:t>
            </a:r>
            <a:r>
              <a:rPr lang="en-US" sz="2200" dirty="0">
                <a:latin typeface="Arial Narrow" panose="020B0606020202030204" pitchFamily="34" charset="0"/>
              </a:rPr>
              <a:t>can result in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substantial memory requirements for long input sequences</a:t>
            </a:r>
            <a:r>
              <a:rPr lang="en-US" sz="2200" dirty="0">
                <a:latin typeface="Arial Narrow" panose="020B0606020202030204" pitchFamily="34" charset="0"/>
              </a:rPr>
              <a:t>.</a:t>
            </a:r>
            <a:endParaRPr lang="en-IN" sz="2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F392C-DEBA-4CE2-8918-393EA03A847A}"/>
              </a:ext>
            </a:extLst>
          </p:cNvPr>
          <p:cNvSpPr txBox="1"/>
          <p:nvPr/>
        </p:nvSpPr>
        <p:spPr>
          <a:xfrm>
            <a:off x="463420" y="702414"/>
            <a:ext cx="5461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entury" panose="02040604050505020304" pitchFamily="18" charset="0"/>
              </a:rPr>
              <a:t>Transformer Decoder</a:t>
            </a:r>
            <a:endParaRPr lang="en-IN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52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ounded Rectangle 284"/>
          <p:cNvSpPr/>
          <p:nvPr/>
        </p:nvSpPr>
        <p:spPr>
          <a:xfrm>
            <a:off x="2357978" y="1270291"/>
            <a:ext cx="1228725" cy="2139884"/>
          </a:xfrm>
          <a:prstGeom prst="roundRect">
            <a:avLst>
              <a:gd name="adj" fmla="val 10512"/>
            </a:avLst>
          </a:prstGeom>
          <a:solidFill>
            <a:schemeClr val="accent3">
              <a:lumMod val="60000"/>
              <a:lumOff val="40000"/>
              <a:alpha val="6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grpSp>
        <p:nvGrpSpPr>
          <p:cNvPr id="277" name="Group 276"/>
          <p:cNvGrpSpPr/>
          <p:nvPr/>
        </p:nvGrpSpPr>
        <p:grpSpPr>
          <a:xfrm>
            <a:off x="224149" y="3714860"/>
            <a:ext cx="11424105" cy="2795378"/>
            <a:chOff x="224149" y="3714860"/>
            <a:chExt cx="11424105" cy="2795378"/>
          </a:xfrm>
        </p:grpSpPr>
        <p:sp>
          <p:nvSpPr>
            <p:cNvPr id="14" name="Rectangle 13"/>
            <p:cNvSpPr/>
            <p:nvPr/>
          </p:nvSpPr>
          <p:spPr>
            <a:xfrm>
              <a:off x="228911" y="4259196"/>
              <a:ext cx="405486" cy="202244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/>
                <p:nvPr/>
              </p:nvSpPr>
              <p:spPr>
                <a:xfrm>
                  <a:off x="224149" y="5494363"/>
                  <a:ext cx="456681" cy="307777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149" y="5494363"/>
                  <a:ext cx="456681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ounded Rectangle 15"/>
            <p:cNvSpPr/>
            <p:nvPr/>
          </p:nvSpPr>
          <p:spPr>
            <a:xfrm>
              <a:off x="282089" y="5540621"/>
              <a:ext cx="294953" cy="255056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/>
                <p:nvPr/>
              </p:nvSpPr>
              <p:spPr>
                <a:xfrm>
                  <a:off x="235261" y="4259196"/>
                  <a:ext cx="456681" cy="307777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261" y="4259196"/>
                  <a:ext cx="456681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ounded Rectangle 17"/>
            <p:cNvSpPr/>
            <p:nvPr/>
          </p:nvSpPr>
          <p:spPr>
            <a:xfrm>
              <a:off x="285067" y="5125145"/>
              <a:ext cx="294953" cy="255056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Arial Narrow" panose="020B0606020202030204" pitchFamily="34" charset="0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91417" y="4315510"/>
              <a:ext cx="294953" cy="255056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Arial Narrow" panose="020B0606020202030204" pitchFamily="34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85659" y="4724772"/>
              <a:ext cx="294953" cy="255056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/>
                <p:nvPr/>
              </p:nvSpPr>
              <p:spPr>
                <a:xfrm>
                  <a:off x="228121" y="5918632"/>
                  <a:ext cx="456681" cy="307777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121" y="5918632"/>
                  <a:ext cx="456681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ounded Rectangle 21"/>
            <p:cNvSpPr/>
            <p:nvPr/>
          </p:nvSpPr>
          <p:spPr>
            <a:xfrm>
              <a:off x="285469" y="5947208"/>
              <a:ext cx="294953" cy="255056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/>
                <p:nvPr/>
              </p:nvSpPr>
              <p:spPr>
                <a:xfrm>
                  <a:off x="270082" y="4678514"/>
                  <a:ext cx="324922" cy="307777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082" y="4678514"/>
                  <a:ext cx="324922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/>
                <p:nvPr/>
              </p:nvSpPr>
              <p:spPr>
                <a:xfrm>
                  <a:off x="245050" y="5075045"/>
                  <a:ext cx="358651" cy="307777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50" y="5075045"/>
                  <a:ext cx="35865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/>
            <p:cNvSpPr txBox="1"/>
            <p:nvPr/>
          </p:nvSpPr>
          <p:spPr>
            <a:xfrm>
              <a:off x="927944" y="5040266"/>
              <a:ext cx="766555" cy="46166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Positional </a:t>
              </a:r>
            </a:p>
            <a:p>
              <a:pPr algn="ctr"/>
              <a:r>
                <a:rPr lang="en-IN" sz="12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Encoding</a:t>
              </a:r>
            </a:p>
          </p:txBody>
        </p:sp>
        <p:cxnSp>
          <p:nvCxnSpPr>
            <p:cNvPr id="30" name="Straight Arrow Connector 29"/>
            <p:cNvCxnSpPr>
              <a:stCxn id="14" idx="3"/>
              <a:endCxn id="25" idx="1"/>
            </p:cNvCxnSpPr>
            <p:nvPr/>
          </p:nvCxnSpPr>
          <p:spPr>
            <a:xfrm>
              <a:off x="634397" y="5270417"/>
              <a:ext cx="293547" cy="682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125924" y="4946410"/>
              <a:ext cx="931152" cy="64633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Masked </a:t>
              </a:r>
            </a:p>
            <a:p>
              <a:pPr algn="ctr"/>
              <a:r>
                <a:rPr lang="en-IN" sz="12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Multi-head</a:t>
              </a:r>
            </a:p>
            <a:p>
              <a:pPr algn="ctr"/>
              <a:r>
                <a:rPr lang="en-IN" sz="12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Self Attention</a:t>
              </a:r>
            </a:p>
          </p:txBody>
        </p:sp>
        <p:cxnSp>
          <p:nvCxnSpPr>
            <p:cNvPr id="48" name="Straight Arrow Connector 47"/>
            <p:cNvCxnSpPr>
              <a:stCxn id="25" idx="3"/>
              <a:endCxn id="46" idx="1"/>
            </p:cNvCxnSpPr>
            <p:nvPr/>
          </p:nvCxnSpPr>
          <p:spPr>
            <a:xfrm flipV="1">
              <a:off x="1694499" y="5269576"/>
              <a:ext cx="431425" cy="1523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>
              <a:off x="3319951" y="5171533"/>
              <a:ext cx="202526" cy="199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5" name="Plus 54"/>
            <p:cNvSpPr/>
            <p:nvPr/>
          </p:nvSpPr>
          <p:spPr>
            <a:xfrm rot="2745158">
              <a:off x="3337336" y="5182849"/>
              <a:ext cx="167755" cy="173455"/>
            </a:xfrm>
            <a:prstGeom prst="mathPlus">
              <a:avLst>
                <a:gd name="adj1" fmla="val 4770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cxnSp>
          <p:nvCxnSpPr>
            <p:cNvPr id="59" name="Straight Arrow Connector 58"/>
            <p:cNvCxnSpPr>
              <a:stCxn id="46" idx="3"/>
              <a:endCxn id="53" idx="2"/>
            </p:cNvCxnSpPr>
            <p:nvPr/>
          </p:nvCxnSpPr>
          <p:spPr>
            <a:xfrm>
              <a:off x="3057076" y="5269576"/>
              <a:ext cx="262875" cy="1643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3856773" y="5032698"/>
              <a:ext cx="955710" cy="46166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Layer</a:t>
              </a:r>
            </a:p>
            <a:p>
              <a:pPr algn="ctr"/>
              <a:r>
                <a:rPr lang="en-IN" sz="12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Normalization</a:t>
              </a:r>
            </a:p>
          </p:txBody>
        </p:sp>
        <p:cxnSp>
          <p:nvCxnSpPr>
            <p:cNvPr id="63" name="Straight Arrow Connector 62"/>
            <p:cNvCxnSpPr>
              <a:stCxn id="53" idx="6"/>
              <a:endCxn id="61" idx="1"/>
            </p:cNvCxnSpPr>
            <p:nvPr/>
          </p:nvCxnSpPr>
          <p:spPr>
            <a:xfrm flipV="1">
              <a:off x="3522477" y="5263531"/>
              <a:ext cx="334296" cy="7688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 rot="5400000">
              <a:off x="4472718" y="5018738"/>
              <a:ext cx="1742785" cy="52322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Multi-head Attention</a:t>
              </a:r>
            </a:p>
            <a:p>
              <a:r>
                <a:rPr lang="en-IN" sz="1400" kern="1800" spc="15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 k v q</a:t>
              </a:r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3770202" y="3714860"/>
              <a:ext cx="2312596" cy="497646"/>
              <a:chOff x="3707206" y="3162007"/>
              <a:chExt cx="2312596" cy="497646"/>
            </a:xfrm>
          </p:grpSpPr>
          <p:sp>
            <p:nvSpPr>
              <p:cNvPr id="65" name="Rounded Rectangle 64"/>
              <p:cNvSpPr/>
              <p:nvPr/>
            </p:nvSpPr>
            <p:spPr>
              <a:xfrm>
                <a:off x="3707206" y="3162007"/>
                <a:ext cx="2312596" cy="497646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  <a:alpha val="44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>
                  <a:latin typeface="Arial Narrow" panose="020B0606020202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677F8782-1613-4C1C-8BB8-6FFA94172DB3}"/>
                      </a:ext>
                    </a:extLst>
                  </p:cNvPr>
                  <p:cNvSpPr txBox="1"/>
                  <p:nvPr/>
                </p:nvSpPr>
                <p:spPr>
                  <a:xfrm>
                    <a:off x="3789825" y="3243845"/>
                    <a:ext cx="456681" cy="338554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27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600" dirty="0">
                      <a:latin typeface="Arial Narrow" panose="020B0606020202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677F8782-1613-4C1C-8BB8-6FFA94172D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9825" y="3243845"/>
                    <a:ext cx="456681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677F8782-1613-4C1C-8BB8-6FFA94172DB3}"/>
                      </a:ext>
                    </a:extLst>
                  </p:cNvPr>
                  <p:cNvSpPr txBox="1"/>
                  <p:nvPr/>
                </p:nvSpPr>
                <p:spPr>
                  <a:xfrm>
                    <a:off x="4348824" y="3243845"/>
                    <a:ext cx="456681" cy="338554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27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600" dirty="0">
                      <a:latin typeface="Arial Narrow" panose="020B0606020202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677F8782-1613-4C1C-8BB8-6FFA94172D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48824" y="3243845"/>
                    <a:ext cx="456681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77F8782-1613-4C1C-8BB8-6FFA94172DB3}"/>
                  </a:ext>
                </a:extLst>
              </p:cNvPr>
              <p:cNvSpPr txBox="1"/>
              <p:nvPr/>
            </p:nvSpPr>
            <p:spPr>
              <a:xfrm>
                <a:off x="4922857" y="3247548"/>
                <a:ext cx="456681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677F8782-1613-4C1C-8BB8-6FFA94172DB3}"/>
                      </a:ext>
                    </a:extLst>
                  </p:cNvPr>
                  <p:cNvSpPr txBox="1"/>
                  <p:nvPr/>
                </p:nvSpPr>
                <p:spPr>
                  <a:xfrm>
                    <a:off x="5475604" y="3247020"/>
                    <a:ext cx="456681" cy="338554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27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IN" sz="1600" dirty="0">
                      <a:latin typeface="Arial Narrow" panose="020B0606020202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677F8782-1613-4C1C-8BB8-6FFA94172D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5604" y="3247020"/>
                    <a:ext cx="456681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7" name="Elbow Connector 76"/>
            <p:cNvCxnSpPr>
              <a:stCxn id="65" idx="2"/>
            </p:cNvCxnSpPr>
            <p:nvPr/>
          </p:nvCxnSpPr>
          <p:spPr>
            <a:xfrm rot="16200000" flipH="1">
              <a:off x="4724756" y="4414249"/>
              <a:ext cx="556780" cy="153293"/>
            </a:xfrm>
            <a:prstGeom prst="bentConnector2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lbow Connector 80"/>
            <p:cNvCxnSpPr>
              <a:stCxn id="61" idx="2"/>
            </p:cNvCxnSpPr>
            <p:nvPr/>
          </p:nvCxnSpPr>
          <p:spPr>
            <a:xfrm rot="16200000" flipH="1">
              <a:off x="4549305" y="5279685"/>
              <a:ext cx="315810" cy="745165"/>
            </a:xfrm>
            <a:prstGeom prst="bentConnector2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4" name="Group 153"/>
            <p:cNvGrpSpPr/>
            <p:nvPr/>
          </p:nvGrpSpPr>
          <p:grpSpPr>
            <a:xfrm>
              <a:off x="5916393" y="5180229"/>
              <a:ext cx="202526" cy="199372"/>
              <a:chOff x="5809046" y="4918391"/>
              <a:chExt cx="202526" cy="199372"/>
            </a:xfrm>
          </p:grpSpPr>
          <p:sp>
            <p:nvSpPr>
              <p:cNvPr id="82" name="Oval 81"/>
              <p:cNvSpPr/>
              <p:nvPr/>
            </p:nvSpPr>
            <p:spPr>
              <a:xfrm>
                <a:off x="5809046" y="4918391"/>
                <a:ext cx="202526" cy="19937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  <p:sp>
            <p:nvSpPr>
              <p:cNvPr id="83" name="Plus 82"/>
              <p:cNvSpPr/>
              <p:nvPr/>
            </p:nvSpPr>
            <p:spPr>
              <a:xfrm rot="2745158">
                <a:off x="5826431" y="4929707"/>
                <a:ext cx="167755" cy="173455"/>
              </a:xfrm>
              <a:prstGeom prst="mathPlus">
                <a:avLst>
                  <a:gd name="adj1" fmla="val 477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rial Narrow" panose="020B0606020202030204" pitchFamily="34" charset="0"/>
                </a:endParaRPr>
              </a:p>
            </p:txBody>
          </p:sp>
        </p:grpSp>
        <p:cxnSp>
          <p:nvCxnSpPr>
            <p:cNvPr id="87" name="Elbow Connector 86"/>
            <p:cNvCxnSpPr>
              <a:stCxn id="65" idx="2"/>
              <a:endCxn id="64" idx="2"/>
            </p:cNvCxnSpPr>
            <p:nvPr/>
          </p:nvCxnSpPr>
          <p:spPr>
            <a:xfrm rot="16200000" flipH="1">
              <a:off x="4470579" y="4668426"/>
              <a:ext cx="1067843" cy="156001"/>
            </a:xfrm>
            <a:prstGeom prst="bentConnector4">
              <a:avLst>
                <a:gd name="adj1" fmla="val 99743"/>
                <a:gd name="adj2" fmla="val 780"/>
              </a:avLst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>
              <a:stCxn id="64" idx="0"/>
              <a:endCxn id="82" idx="2"/>
            </p:cNvCxnSpPr>
            <p:nvPr/>
          </p:nvCxnSpPr>
          <p:spPr>
            <a:xfrm flipV="1">
              <a:off x="5605721" y="5279915"/>
              <a:ext cx="310672" cy="434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Elbow Connector 100"/>
            <p:cNvCxnSpPr>
              <a:endCxn id="82" idx="4"/>
            </p:cNvCxnSpPr>
            <p:nvPr/>
          </p:nvCxnSpPr>
          <p:spPr>
            <a:xfrm rot="5400000" flipH="1" flipV="1">
              <a:off x="5268222" y="5060739"/>
              <a:ext cx="430571" cy="1068296"/>
            </a:xfrm>
            <a:prstGeom prst="bentConnector3">
              <a:avLst>
                <a:gd name="adj1" fmla="val -99106"/>
              </a:avLst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/>
            <p:cNvSpPr txBox="1"/>
            <p:nvPr/>
          </p:nvSpPr>
          <p:spPr>
            <a:xfrm>
              <a:off x="6349314" y="5049364"/>
              <a:ext cx="955710" cy="46166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Layer</a:t>
              </a:r>
            </a:p>
            <a:p>
              <a:pPr algn="ctr"/>
              <a:r>
                <a:rPr lang="en-IN" sz="12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Normalization</a:t>
              </a:r>
            </a:p>
          </p:txBody>
        </p:sp>
        <p:cxnSp>
          <p:nvCxnSpPr>
            <p:cNvPr id="130" name="Straight Arrow Connector 129"/>
            <p:cNvCxnSpPr>
              <a:stCxn id="82" idx="6"/>
              <a:endCxn id="128" idx="1"/>
            </p:cNvCxnSpPr>
            <p:nvPr/>
          </p:nvCxnSpPr>
          <p:spPr>
            <a:xfrm>
              <a:off x="6118919" y="5279915"/>
              <a:ext cx="230395" cy="282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/>
            <p:cNvSpPr txBox="1"/>
            <p:nvPr/>
          </p:nvSpPr>
          <p:spPr>
            <a:xfrm>
              <a:off x="7684791" y="5109612"/>
              <a:ext cx="529311" cy="33855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MLP</a:t>
              </a:r>
            </a:p>
          </p:txBody>
        </p:sp>
        <p:cxnSp>
          <p:nvCxnSpPr>
            <p:cNvPr id="137" name="Straight Arrow Connector 136"/>
            <p:cNvCxnSpPr>
              <a:stCxn id="128" idx="3"/>
              <a:endCxn id="135" idx="1"/>
            </p:cNvCxnSpPr>
            <p:nvPr/>
          </p:nvCxnSpPr>
          <p:spPr>
            <a:xfrm flipV="1">
              <a:off x="7305024" y="5278889"/>
              <a:ext cx="379767" cy="1308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TextBox 148"/>
            <p:cNvSpPr txBox="1"/>
            <p:nvPr/>
          </p:nvSpPr>
          <p:spPr>
            <a:xfrm>
              <a:off x="8958587" y="5047439"/>
              <a:ext cx="955710" cy="46166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Layer</a:t>
              </a:r>
            </a:p>
            <a:p>
              <a:pPr algn="ctr"/>
              <a:r>
                <a:rPr lang="en-IN" sz="12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Normalization</a:t>
              </a:r>
            </a:p>
          </p:txBody>
        </p:sp>
        <p:sp>
          <p:nvSpPr>
            <p:cNvPr id="156" name="Oval 155"/>
            <p:cNvSpPr/>
            <p:nvPr/>
          </p:nvSpPr>
          <p:spPr>
            <a:xfrm>
              <a:off x="8500975" y="5177976"/>
              <a:ext cx="202526" cy="199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57" name="Plus 156"/>
            <p:cNvSpPr/>
            <p:nvPr/>
          </p:nvSpPr>
          <p:spPr>
            <a:xfrm rot="2745158">
              <a:off x="8518360" y="5189292"/>
              <a:ext cx="167755" cy="173455"/>
            </a:xfrm>
            <a:prstGeom prst="mathPlus">
              <a:avLst>
                <a:gd name="adj1" fmla="val 4770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cxnSp>
          <p:nvCxnSpPr>
            <p:cNvPr id="159" name="Straight Arrow Connector 158"/>
            <p:cNvCxnSpPr>
              <a:stCxn id="135" idx="3"/>
              <a:endCxn id="156" idx="2"/>
            </p:cNvCxnSpPr>
            <p:nvPr/>
          </p:nvCxnSpPr>
          <p:spPr>
            <a:xfrm flipV="1">
              <a:off x="8214102" y="5277662"/>
              <a:ext cx="286873" cy="1227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/>
            <p:cNvCxnSpPr>
              <a:stCxn id="156" idx="6"/>
              <a:endCxn id="149" idx="1"/>
            </p:cNvCxnSpPr>
            <p:nvPr/>
          </p:nvCxnSpPr>
          <p:spPr>
            <a:xfrm>
              <a:off x="8703501" y="5277662"/>
              <a:ext cx="255086" cy="61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/>
            <p:cNvSpPr txBox="1"/>
            <p:nvPr/>
          </p:nvSpPr>
          <p:spPr>
            <a:xfrm>
              <a:off x="10352471" y="5110585"/>
              <a:ext cx="409086" cy="338554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FC</a:t>
              </a:r>
            </a:p>
          </p:txBody>
        </p:sp>
        <p:cxnSp>
          <p:nvCxnSpPr>
            <p:cNvPr id="164" name="Straight Arrow Connector 163"/>
            <p:cNvCxnSpPr>
              <a:stCxn id="149" idx="3"/>
              <a:endCxn id="162" idx="1"/>
            </p:cNvCxnSpPr>
            <p:nvPr/>
          </p:nvCxnSpPr>
          <p:spPr>
            <a:xfrm>
              <a:off x="9914297" y="5278272"/>
              <a:ext cx="438174" cy="159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/>
            <p:cNvSpPr/>
            <p:nvPr/>
          </p:nvSpPr>
          <p:spPr>
            <a:xfrm>
              <a:off x="11138816" y="4213175"/>
              <a:ext cx="509438" cy="2139884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/>
                <p:nvPr/>
              </p:nvSpPr>
              <p:spPr>
                <a:xfrm>
                  <a:off x="11146754" y="5496453"/>
                  <a:ext cx="456681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6754" y="5496453"/>
                  <a:ext cx="456681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727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7" name="Rounded Rectangle 166"/>
            <p:cNvSpPr/>
            <p:nvPr/>
          </p:nvSpPr>
          <p:spPr>
            <a:xfrm>
              <a:off x="11201519" y="5514135"/>
              <a:ext cx="356328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/>
                <p:nvPr/>
              </p:nvSpPr>
              <p:spPr>
                <a:xfrm>
                  <a:off x="11157866" y="4261286"/>
                  <a:ext cx="456681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77F8782-1613-4C1C-8BB8-6FFA94172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7866" y="4261286"/>
                  <a:ext cx="456681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71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Rounded Rectangle 168"/>
            <p:cNvSpPr/>
            <p:nvPr/>
          </p:nvSpPr>
          <p:spPr>
            <a:xfrm>
              <a:off x="11204497" y="5098659"/>
              <a:ext cx="356328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p:sp>
          <p:nvSpPr>
            <p:cNvPr id="170" name="Rounded Rectangle 169"/>
            <p:cNvSpPr/>
            <p:nvPr/>
          </p:nvSpPr>
          <p:spPr>
            <a:xfrm>
              <a:off x="11210847" y="4289024"/>
              <a:ext cx="356328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p:sp>
          <p:nvSpPr>
            <p:cNvPr id="171" name="Rounded Rectangle 170"/>
            <p:cNvSpPr/>
            <p:nvPr/>
          </p:nvSpPr>
          <p:spPr>
            <a:xfrm>
              <a:off x="11205089" y="4698286"/>
              <a:ext cx="356328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/>
                <p:nvPr/>
              </p:nvSpPr>
              <p:spPr>
                <a:xfrm>
                  <a:off x="11150726" y="5920722"/>
                  <a:ext cx="456681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0726" y="5920722"/>
                  <a:ext cx="456681" cy="338554"/>
                </a:xfrm>
                <a:prstGeom prst="rect">
                  <a:avLst/>
                </a:prstGeom>
                <a:blipFill>
                  <a:blip r:embed="rId12"/>
                  <a:stretch>
                    <a:fillRect b="-71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Rounded Rectangle 172"/>
            <p:cNvSpPr/>
            <p:nvPr/>
          </p:nvSpPr>
          <p:spPr>
            <a:xfrm>
              <a:off x="11204899" y="5920722"/>
              <a:ext cx="356328" cy="312079"/>
            </a:xfrm>
            <a:prstGeom prst="roundRect">
              <a:avLst/>
            </a:prstGeom>
            <a:solidFill>
              <a:schemeClr val="accent2">
                <a:lumMod val="75000"/>
                <a:alpha val="34000"/>
              </a:schemeClr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/>
                <p:nvPr/>
              </p:nvSpPr>
              <p:spPr>
                <a:xfrm>
                  <a:off x="11150324" y="4680604"/>
                  <a:ext cx="456681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6332A9C5-DA97-480E-BC04-8B4CF24F7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0324" y="4680604"/>
                  <a:ext cx="456681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727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/>
                <p:nvPr/>
              </p:nvSpPr>
              <p:spPr>
                <a:xfrm>
                  <a:off x="11201519" y="5056274"/>
                  <a:ext cx="321014" cy="3385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6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394CBD96-0DFE-4A79-8DBD-5483DD684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1519" y="5056274"/>
                  <a:ext cx="321014" cy="338554"/>
                </a:xfrm>
                <a:prstGeom prst="rect">
                  <a:avLst/>
                </a:prstGeom>
                <a:blipFill>
                  <a:blip r:embed="rId14"/>
                  <a:stretch>
                    <a:fillRect r="-3846" b="-71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7" name="Straight Arrow Connector 176"/>
            <p:cNvCxnSpPr>
              <a:stCxn id="162" idx="3"/>
              <a:endCxn id="165" idx="1"/>
            </p:cNvCxnSpPr>
            <p:nvPr/>
          </p:nvCxnSpPr>
          <p:spPr>
            <a:xfrm>
              <a:off x="10761557" y="5279862"/>
              <a:ext cx="377259" cy="3255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Elbow Connector 184"/>
            <p:cNvCxnSpPr>
              <a:endCxn id="53" idx="0"/>
            </p:cNvCxnSpPr>
            <p:nvPr/>
          </p:nvCxnSpPr>
          <p:spPr>
            <a:xfrm flipV="1">
              <a:off x="1899776" y="5171533"/>
              <a:ext cx="1521438" cy="98804"/>
            </a:xfrm>
            <a:prstGeom prst="bentConnector4">
              <a:avLst>
                <a:gd name="adj1" fmla="val 135"/>
                <a:gd name="adj2" fmla="val 855157"/>
              </a:avLst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Elbow Connector 187"/>
            <p:cNvCxnSpPr>
              <a:endCxn id="156" idx="0"/>
            </p:cNvCxnSpPr>
            <p:nvPr/>
          </p:nvCxnSpPr>
          <p:spPr>
            <a:xfrm flipV="1">
              <a:off x="7506129" y="5177976"/>
              <a:ext cx="1096109" cy="92361"/>
            </a:xfrm>
            <a:prstGeom prst="bentConnector4">
              <a:avLst>
                <a:gd name="adj1" fmla="val -385"/>
                <a:gd name="adj2" fmla="val 929542"/>
              </a:avLst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Rectangle 194"/>
            <p:cNvSpPr/>
            <p:nvPr/>
          </p:nvSpPr>
          <p:spPr>
            <a:xfrm>
              <a:off x="763973" y="4311455"/>
              <a:ext cx="9449953" cy="2198783"/>
            </a:xfrm>
            <a:prstGeom prst="rect">
              <a:avLst/>
            </a:prstGeom>
            <a:solidFill>
              <a:srgbClr val="66FFFF">
                <a:alpha val="7000"/>
              </a:srgbClr>
            </a:solidFill>
            <a:ln w="222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cxnSp>
        <p:nvCxnSpPr>
          <p:cNvPr id="274" name="Straight Arrow Connector 273"/>
          <p:cNvCxnSpPr>
            <a:cxnSpLocks/>
          </p:cNvCxnSpPr>
          <p:nvPr/>
        </p:nvCxnSpPr>
        <p:spPr>
          <a:xfrm flipH="1">
            <a:off x="746419" y="2874590"/>
            <a:ext cx="4035765" cy="144092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/>
          <p:cNvCxnSpPr>
            <a:cxnSpLocks/>
          </p:cNvCxnSpPr>
          <p:nvPr/>
        </p:nvCxnSpPr>
        <p:spPr>
          <a:xfrm>
            <a:off x="5161783" y="2866680"/>
            <a:ext cx="5083542" cy="1454017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F084E326-2F73-4E11-A0C7-B0864F974CBA}"/>
              </a:ext>
            </a:extLst>
          </p:cNvPr>
          <p:cNvSpPr txBox="1"/>
          <p:nvPr/>
        </p:nvSpPr>
        <p:spPr>
          <a:xfrm>
            <a:off x="6743629" y="6585465"/>
            <a:ext cx="5699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8551102" y="1249992"/>
            <a:ext cx="1228725" cy="2177974"/>
          </a:xfrm>
          <a:prstGeom prst="roundRect">
            <a:avLst>
              <a:gd name="adj" fmla="val 10512"/>
            </a:avLst>
          </a:prstGeom>
          <a:solidFill>
            <a:schemeClr val="accent1">
              <a:lumMod val="40000"/>
              <a:lumOff val="60000"/>
              <a:alpha val="1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81" name="Rounded Rectangle 280"/>
          <p:cNvSpPr/>
          <p:nvPr/>
        </p:nvSpPr>
        <p:spPr>
          <a:xfrm>
            <a:off x="4770283" y="746870"/>
            <a:ext cx="2640648" cy="58105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82" name="Rectangle 281"/>
          <p:cNvSpPr/>
          <p:nvPr/>
        </p:nvSpPr>
        <p:spPr>
          <a:xfrm>
            <a:off x="3920992" y="1270291"/>
            <a:ext cx="509438" cy="2139884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6332A9C5-DA97-480E-BC04-8B4CF24F795A}"/>
                  </a:ext>
                </a:extLst>
              </p:cNvPr>
              <p:cNvSpPr txBox="1"/>
              <p:nvPr/>
            </p:nvSpPr>
            <p:spPr>
              <a:xfrm>
                <a:off x="3928930" y="2553569"/>
                <a:ext cx="456681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6332A9C5-DA97-480E-BC04-8B4CF24F7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930" y="2553569"/>
                <a:ext cx="456681" cy="338554"/>
              </a:xfrm>
              <a:prstGeom prst="rect">
                <a:avLst/>
              </a:prstGeom>
              <a:blipFill>
                <a:blip r:embed="rId15"/>
                <a:stretch>
                  <a:fillRect b="-727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4" name="Rounded Rectangle 283"/>
          <p:cNvSpPr/>
          <p:nvPr/>
        </p:nvSpPr>
        <p:spPr>
          <a:xfrm>
            <a:off x="3983695" y="2571251"/>
            <a:ext cx="356328" cy="312079"/>
          </a:xfrm>
          <a:prstGeom prst="roundRect">
            <a:avLst/>
          </a:prstGeom>
          <a:solidFill>
            <a:schemeClr val="accent2">
              <a:lumMod val="75000"/>
              <a:alpha val="34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2482438" y="1464655"/>
            <a:ext cx="702353" cy="28623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20000"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&lt;start&gt;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950706" y="1896007"/>
            <a:ext cx="235962" cy="28623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20000"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2814538" y="2248158"/>
            <a:ext cx="370615" cy="28623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20000"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am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2916754" y="2613449"/>
            <a:ext cx="268399" cy="28623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normAutofit fontScale="92500" lnSpcReduction="20000"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2428453" y="2977838"/>
            <a:ext cx="756700" cy="28623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student</a:t>
            </a:r>
          </a:p>
        </p:txBody>
      </p:sp>
      <p:grpSp>
        <p:nvGrpSpPr>
          <p:cNvPr id="291" name="Group 290"/>
          <p:cNvGrpSpPr/>
          <p:nvPr/>
        </p:nvGrpSpPr>
        <p:grpSpPr>
          <a:xfrm>
            <a:off x="3403729" y="1453322"/>
            <a:ext cx="75591" cy="320858"/>
            <a:chOff x="1919286" y="1668961"/>
            <a:chExt cx="125414" cy="478479"/>
          </a:xfrm>
        </p:grpSpPr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1919287" y="1668961"/>
              <a:ext cx="125413" cy="1217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1919287" y="1789066"/>
              <a:ext cx="125413" cy="12173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1919287" y="1909171"/>
              <a:ext cx="125413" cy="121739"/>
            </a:xfrm>
            <a:prstGeom prst="rect">
              <a:avLst/>
            </a:prstGeom>
            <a:solidFill>
              <a:schemeClr val="accent6">
                <a:lumMod val="75000"/>
                <a:alpha val="92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1919286" y="2025701"/>
              <a:ext cx="125413" cy="12173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cxnSp>
        <p:nvCxnSpPr>
          <p:cNvPr id="292" name="Straight Arrow Connector 291"/>
          <p:cNvCxnSpPr>
            <a:stCxn id="287" idx="3"/>
          </p:cNvCxnSpPr>
          <p:nvPr/>
        </p:nvCxnSpPr>
        <p:spPr>
          <a:xfrm>
            <a:off x="3186668" y="2039125"/>
            <a:ext cx="217061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/>
          <p:cNvCxnSpPr>
            <a:stCxn id="288" idx="3"/>
          </p:cNvCxnSpPr>
          <p:nvPr/>
        </p:nvCxnSpPr>
        <p:spPr>
          <a:xfrm>
            <a:off x="3185153" y="2391276"/>
            <a:ext cx="218576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stCxn id="289" idx="3"/>
          </p:cNvCxnSpPr>
          <p:nvPr/>
        </p:nvCxnSpPr>
        <p:spPr>
          <a:xfrm>
            <a:off x="3185153" y="2756567"/>
            <a:ext cx="218576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Arrow Connector 294"/>
          <p:cNvCxnSpPr>
            <a:stCxn id="290" idx="3"/>
          </p:cNvCxnSpPr>
          <p:nvPr/>
        </p:nvCxnSpPr>
        <p:spPr>
          <a:xfrm>
            <a:off x="3185153" y="3120956"/>
            <a:ext cx="218576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/>
          <p:cNvCxnSpPr>
            <a:stCxn id="286" idx="3"/>
          </p:cNvCxnSpPr>
          <p:nvPr/>
        </p:nvCxnSpPr>
        <p:spPr>
          <a:xfrm flipV="1">
            <a:off x="3184791" y="1606327"/>
            <a:ext cx="210617" cy="144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677F8782-1613-4C1C-8BB8-6FFA94172DB3}"/>
                  </a:ext>
                </a:extLst>
              </p:cNvPr>
              <p:cNvSpPr txBox="1"/>
              <p:nvPr/>
            </p:nvSpPr>
            <p:spPr>
              <a:xfrm>
                <a:off x="3940042" y="1318402"/>
                <a:ext cx="456681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677F8782-1613-4C1C-8BB8-6FFA94172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042" y="1318402"/>
                <a:ext cx="456681" cy="338554"/>
              </a:xfrm>
              <a:prstGeom prst="rect">
                <a:avLst/>
              </a:prstGeom>
              <a:blipFill>
                <a:blip r:embed="rId16"/>
                <a:stretch>
                  <a:fillRect b="-714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8" name="Rounded Rectangle 297"/>
          <p:cNvSpPr/>
          <p:nvPr/>
        </p:nvSpPr>
        <p:spPr>
          <a:xfrm>
            <a:off x="3986673" y="2155775"/>
            <a:ext cx="356328" cy="312079"/>
          </a:xfrm>
          <a:prstGeom prst="roundRect">
            <a:avLst/>
          </a:prstGeom>
          <a:solidFill>
            <a:schemeClr val="accent2">
              <a:lumMod val="75000"/>
              <a:alpha val="34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</a:endParaRPr>
          </a:p>
        </p:txBody>
      </p:sp>
      <p:sp>
        <p:nvSpPr>
          <p:cNvPr id="299" name="Rounded Rectangle 298"/>
          <p:cNvSpPr/>
          <p:nvPr/>
        </p:nvSpPr>
        <p:spPr>
          <a:xfrm>
            <a:off x="3993023" y="1346140"/>
            <a:ext cx="356328" cy="312079"/>
          </a:xfrm>
          <a:prstGeom prst="roundRect">
            <a:avLst/>
          </a:prstGeom>
          <a:solidFill>
            <a:schemeClr val="accent2">
              <a:lumMod val="75000"/>
              <a:alpha val="34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</a:endParaRPr>
          </a:p>
        </p:txBody>
      </p:sp>
      <p:sp>
        <p:nvSpPr>
          <p:cNvPr id="300" name="Rounded Rectangle 299"/>
          <p:cNvSpPr/>
          <p:nvPr/>
        </p:nvSpPr>
        <p:spPr>
          <a:xfrm>
            <a:off x="3987265" y="1755402"/>
            <a:ext cx="356328" cy="312079"/>
          </a:xfrm>
          <a:prstGeom prst="roundRect">
            <a:avLst/>
          </a:prstGeom>
          <a:solidFill>
            <a:schemeClr val="accent2">
              <a:lumMod val="75000"/>
              <a:alpha val="34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394CBD96-0DFE-4A79-8DBD-5483DD684121}"/>
                  </a:ext>
                </a:extLst>
              </p:cNvPr>
              <p:cNvSpPr txBox="1"/>
              <p:nvPr/>
            </p:nvSpPr>
            <p:spPr>
              <a:xfrm>
                <a:off x="3932902" y="2977838"/>
                <a:ext cx="456681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394CBD96-0DFE-4A79-8DBD-5483DD684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902" y="2977838"/>
                <a:ext cx="456681" cy="338554"/>
              </a:xfrm>
              <a:prstGeom prst="rect">
                <a:avLst/>
              </a:prstGeom>
              <a:blipFill>
                <a:blip r:embed="rId17"/>
                <a:stretch>
                  <a:fillRect b="-714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Rounded Rectangle 301"/>
          <p:cNvSpPr/>
          <p:nvPr/>
        </p:nvSpPr>
        <p:spPr>
          <a:xfrm>
            <a:off x="4031472" y="2976576"/>
            <a:ext cx="356328" cy="312079"/>
          </a:xfrm>
          <a:prstGeom prst="roundRect">
            <a:avLst/>
          </a:prstGeom>
          <a:solidFill>
            <a:schemeClr val="accent2">
              <a:lumMod val="75000"/>
              <a:alpha val="34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6332A9C5-DA97-480E-BC04-8B4CF24F795A}"/>
                  </a:ext>
                </a:extLst>
              </p:cNvPr>
              <p:cNvSpPr txBox="1"/>
              <p:nvPr/>
            </p:nvSpPr>
            <p:spPr>
              <a:xfrm>
                <a:off x="3932500" y="1737720"/>
                <a:ext cx="456681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6332A9C5-DA97-480E-BC04-8B4CF24F7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500" y="1737720"/>
                <a:ext cx="456681" cy="338554"/>
              </a:xfrm>
              <a:prstGeom prst="rect">
                <a:avLst/>
              </a:prstGeom>
              <a:blipFill>
                <a:blip r:embed="rId18"/>
                <a:stretch>
                  <a:fillRect b="-714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394CBD96-0DFE-4A79-8DBD-5483DD684121}"/>
                  </a:ext>
                </a:extLst>
              </p:cNvPr>
              <p:cNvSpPr txBox="1"/>
              <p:nvPr/>
            </p:nvSpPr>
            <p:spPr>
              <a:xfrm>
                <a:off x="3932500" y="2129300"/>
                <a:ext cx="456681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394CBD96-0DFE-4A79-8DBD-5483DD684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500" y="2129300"/>
                <a:ext cx="456681" cy="338554"/>
              </a:xfrm>
              <a:prstGeom prst="rect">
                <a:avLst/>
              </a:prstGeom>
              <a:blipFill>
                <a:blip r:embed="rId19"/>
                <a:stretch>
                  <a:fillRect b="-714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5" name="Straight Arrow Connector 304"/>
          <p:cNvCxnSpPr>
            <a:stCxn id="285" idx="3"/>
            <a:endCxn id="282" idx="1"/>
          </p:cNvCxnSpPr>
          <p:nvPr/>
        </p:nvCxnSpPr>
        <p:spPr>
          <a:xfrm>
            <a:off x="3586703" y="2340233"/>
            <a:ext cx="334289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TextBox 305"/>
          <p:cNvSpPr txBox="1"/>
          <p:nvPr/>
        </p:nvSpPr>
        <p:spPr>
          <a:xfrm>
            <a:off x="4770283" y="1811263"/>
            <a:ext cx="380713" cy="1055417"/>
          </a:xfrm>
          <a:prstGeom prst="rect">
            <a:avLst/>
          </a:prstGeom>
          <a:solidFill>
            <a:srgbClr val="92D050"/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vert="vert" wrap="none" rtlCol="0" anchor="ctr">
            <a:no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Decoder 1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415364" y="1812575"/>
            <a:ext cx="380713" cy="1055417"/>
          </a:xfrm>
          <a:prstGeom prst="rect">
            <a:avLst/>
          </a:prstGeom>
          <a:solidFill>
            <a:srgbClr val="92D050"/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vert="vert" wrap="none" rtlCol="0" anchor="ctr">
            <a:no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Decoder 2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6055682" y="2138826"/>
            <a:ext cx="698370" cy="405094"/>
          </a:xfrm>
          <a:prstGeom prst="rect">
            <a:avLst/>
          </a:prstGeom>
          <a:solidFill>
            <a:srgbClr val="92D050"/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vert="horz" wrap="none" rtlCol="0" anchor="t">
            <a:no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… …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7030218" y="1811263"/>
            <a:ext cx="380713" cy="1055417"/>
          </a:xfrm>
          <a:prstGeom prst="rect">
            <a:avLst/>
          </a:prstGeom>
          <a:solidFill>
            <a:srgbClr val="92D050"/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vert="vert" wrap="none" rtlCol="0" anchor="ctr">
            <a:no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Decoder N</a:t>
            </a:r>
          </a:p>
        </p:txBody>
      </p:sp>
      <p:cxnSp>
        <p:nvCxnSpPr>
          <p:cNvPr id="310" name="Straight Arrow Connector 309"/>
          <p:cNvCxnSpPr>
            <a:stCxn id="282" idx="3"/>
            <a:endCxn id="306" idx="1"/>
          </p:cNvCxnSpPr>
          <p:nvPr/>
        </p:nvCxnSpPr>
        <p:spPr>
          <a:xfrm flipV="1">
            <a:off x="4430430" y="2338972"/>
            <a:ext cx="339853" cy="126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/>
          <p:cNvCxnSpPr>
            <a:stCxn id="306" idx="3"/>
            <a:endCxn id="307" idx="1"/>
          </p:cNvCxnSpPr>
          <p:nvPr/>
        </p:nvCxnSpPr>
        <p:spPr>
          <a:xfrm>
            <a:off x="5150996" y="2338972"/>
            <a:ext cx="264368" cy="131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/>
          <p:cNvCxnSpPr>
            <a:stCxn id="307" idx="3"/>
            <a:endCxn id="308" idx="1"/>
          </p:cNvCxnSpPr>
          <p:nvPr/>
        </p:nvCxnSpPr>
        <p:spPr>
          <a:xfrm>
            <a:off x="5796077" y="2340284"/>
            <a:ext cx="259605" cy="1089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/>
          <p:cNvCxnSpPr>
            <a:stCxn id="308" idx="3"/>
            <a:endCxn id="309" idx="1"/>
          </p:cNvCxnSpPr>
          <p:nvPr/>
        </p:nvCxnSpPr>
        <p:spPr>
          <a:xfrm flipV="1">
            <a:off x="6754052" y="2338972"/>
            <a:ext cx="276166" cy="240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677F8782-1613-4C1C-8BB8-6FFA94172DB3}"/>
                  </a:ext>
                </a:extLst>
              </p:cNvPr>
              <p:cNvSpPr txBox="1"/>
              <p:nvPr/>
            </p:nvSpPr>
            <p:spPr>
              <a:xfrm>
                <a:off x="4871596" y="830830"/>
                <a:ext cx="456681" cy="40011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677F8782-1613-4C1C-8BB8-6FFA94172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596" y="830830"/>
                <a:ext cx="456681" cy="400110"/>
              </a:xfrm>
              <a:prstGeom prst="rect">
                <a:avLst/>
              </a:prstGeom>
              <a:blipFill>
                <a:blip r:embed="rId20"/>
                <a:stretch>
                  <a:fillRect b="-1471"/>
                </a:stretch>
              </a:blip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677F8782-1613-4C1C-8BB8-6FFA94172DB3}"/>
                  </a:ext>
                </a:extLst>
              </p:cNvPr>
              <p:cNvSpPr txBox="1"/>
              <p:nvPr/>
            </p:nvSpPr>
            <p:spPr>
              <a:xfrm>
                <a:off x="5560770" y="830830"/>
                <a:ext cx="456681" cy="40011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677F8782-1613-4C1C-8BB8-6FFA94172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770" y="830830"/>
                <a:ext cx="456681" cy="400110"/>
              </a:xfrm>
              <a:prstGeom prst="rect">
                <a:avLst/>
              </a:prstGeom>
              <a:blipFill>
                <a:blip r:embed="rId21"/>
                <a:stretch>
                  <a:fillRect b="-1471"/>
                </a:stretch>
              </a:blip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6" name="TextBox 315">
            <a:extLst>
              <a:ext uri="{FF2B5EF4-FFF2-40B4-BE49-F238E27FC236}">
                <a16:creationId xmlns:a16="http://schemas.microsoft.com/office/drawing/2014/main" id="{677F8782-1613-4C1C-8BB8-6FFA94172DB3}"/>
              </a:ext>
            </a:extLst>
          </p:cNvPr>
          <p:cNvSpPr txBox="1"/>
          <p:nvPr/>
        </p:nvSpPr>
        <p:spPr>
          <a:xfrm>
            <a:off x="6176078" y="831358"/>
            <a:ext cx="456681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677F8782-1613-4C1C-8BB8-6FFA94172DB3}"/>
                  </a:ext>
                </a:extLst>
              </p:cNvPr>
              <p:cNvSpPr txBox="1"/>
              <p:nvPr/>
            </p:nvSpPr>
            <p:spPr>
              <a:xfrm>
                <a:off x="6859000" y="830830"/>
                <a:ext cx="456681" cy="40011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677F8782-1613-4C1C-8BB8-6FFA94172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000" y="830830"/>
                <a:ext cx="456681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8" name="Elbow Connector 317"/>
          <p:cNvCxnSpPr>
            <a:stCxn id="281" idx="2"/>
            <a:endCxn id="306" idx="0"/>
          </p:cNvCxnSpPr>
          <p:nvPr/>
        </p:nvCxnSpPr>
        <p:spPr>
          <a:xfrm rot="5400000">
            <a:off x="5283957" y="1004612"/>
            <a:ext cx="483335" cy="1129967"/>
          </a:xfrm>
          <a:prstGeom prst="bentConnector3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Elbow Connector 318"/>
          <p:cNvCxnSpPr>
            <a:stCxn id="281" idx="2"/>
            <a:endCxn id="307" idx="0"/>
          </p:cNvCxnSpPr>
          <p:nvPr/>
        </p:nvCxnSpPr>
        <p:spPr>
          <a:xfrm rot="5400000">
            <a:off x="5605841" y="1327808"/>
            <a:ext cx="484647" cy="484886"/>
          </a:xfrm>
          <a:prstGeom prst="bentConnector3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Elbow Connector 319"/>
          <p:cNvCxnSpPr>
            <a:stCxn id="281" idx="2"/>
            <a:endCxn id="309" idx="0"/>
          </p:cNvCxnSpPr>
          <p:nvPr/>
        </p:nvCxnSpPr>
        <p:spPr>
          <a:xfrm rot="16200000" flipH="1">
            <a:off x="6413924" y="1004611"/>
            <a:ext cx="483335" cy="1129968"/>
          </a:xfrm>
          <a:prstGeom prst="bentConnector3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Elbow Connector 320"/>
          <p:cNvCxnSpPr>
            <a:stCxn id="281" idx="2"/>
            <a:endCxn id="308" idx="0"/>
          </p:cNvCxnSpPr>
          <p:nvPr/>
        </p:nvCxnSpPr>
        <p:spPr>
          <a:xfrm rot="16200000" flipH="1">
            <a:off x="5842288" y="1576247"/>
            <a:ext cx="810898" cy="314260"/>
          </a:xfrm>
          <a:prstGeom prst="bentConnector3">
            <a:avLst>
              <a:gd name="adj1" fmla="val 29640"/>
            </a:avLst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Rectangle 321"/>
          <p:cNvSpPr/>
          <p:nvPr/>
        </p:nvSpPr>
        <p:spPr>
          <a:xfrm>
            <a:off x="7764056" y="1269030"/>
            <a:ext cx="508159" cy="2139884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6332A9C5-DA97-480E-BC04-8B4CF24F795A}"/>
                  </a:ext>
                </a:extLst>
              </p:cNvPr>
              <p:cNvSpPr txBox="1"/>
              <p:nvPr/>
            </p:nvSpPr>
            <p:spPr>
              <a:xfrm>
                <a:off x="7771863" y="2552308"/>
                <a:ext cx="455534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6332A9C5-DA97-480E-BC04-8B4CF24F7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863" y="2552308"/>
                <a:ext cx="455534" cy="338554"/>
              </a:xfrm>
              <a:prstGeom prst="rect">
                <a:avLst/>
              </a:prstGeom>
              <a:blipFill>
                <a:blip r:embed="rId23"/>
                <a:stretch>
                  <a:fillRect b="-727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Rounded Rectangle 323"/>
          <p:cNvSpPr/>
          <p:nvPr/>
        </p:nvSpPr>
        <p:spPr>
          <a:xfrm>
            <a:off x="7826375" y="2569990"/>
            <a:ext cx="355433" cy="312079"/>
          </a:xfrm>
          <a:prstGeom prst="roundRect">
            <a:avLst/>
          </a:prstGeom>
          <a:solidFill>
            <a:schemeClr val="accent2">
              <a:lumMod val="75000"/>
              <a:alpha val="34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8965857" y="3035679"/>
            <a:ext cx="702353" cy="286236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normAutofit fontScale="92500" lnSpcReduction="20000"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&lt;end&gt;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8961095" y="1312541"/>
            <a:ext cx="235962" cy="286236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normAutofit fontScale="92500" lnSpcReduction="20000"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8970632" y="1714697"/>
            <a:ext cx="370615" cy="286236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normAutofit fontScale="92500" lnSpcReduction="20000"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am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8965857" y="2140910"/>
            <a:ext cx="268399" cy="286236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normAutofit fontScale="92500" lnSpcReduction="20000"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8962897" y="2595364"/>
            <a:ext cx="756700" cy="286236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student</a:t>
            </a:r>
          </a:p>
        </p:txBody>
      </p:sp>
      <p:grpSp>
        <p:nvGrpSpPr>
          <p:cNvPr id="330" name="Group 329"/>
          <p:cNvGrpSpPr/>
          <p:nvPr/>
        </p:nvGrpSpPr>
        <p:grpSpPr>
          <a:xfrm>
            <a:off x="8705739" y="3021916"/>
            <a:ext cx="76401" cy="315092"/>
            <a:chOff x="8749527" y="2677482"/>
            <a:chExt cx="125414" cy="478479"/>
          </a:xfrm>
        </p:grpSpPr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49528" y="2677482"/>
              <a:ext cx="125413" cy="12173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49528" y="2797587"/>
              <a:ext cx="125413" cy="121739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49528" y="2917692"/>
              <a:ext cx="125413" cy="121739"/>
            </a:xfrm>
            <a:prstGeom prst="rect">
              <a:avLst/>
            </a:prstGeom>
            <a:solidFill>
              <a:srgbClr val="0070C0">
                <a:alpha val="64000"/>
              </a:srgb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49527" y="3034222"/>
              <a:ext cx="125413" cy="12173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677F8782-1613-4C1C-8BB8-6FFA94172DB3}"/>
                  </a:ext>
                </a:extLst>
              </p:cNvPr>
              <p:cNvSpPr txBox="1"/>
              <p:nvPr/>
            </p:nvSpPr>
            <p:spPr>
              <a:xfrm>
                <a:off x="7782975" y="1317141"/>
                <a:ext cx="455534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677F8782-1613-4C1C-8BB8-6FFA94172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975" y="1317141"/>
                <a:ext cx="455534" cy="338554"/>
              </a:xfrm>
              <a:prstGeom prst="rect">
                <a:avLst/>
              </a:prstGeom>
              <a:blipFill>
                <a:blip r:embed="rId24"/>
                <a:stretch>
                  <a:fillRect b="-714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2" name="Rounded Rectangle 331"/>
          <p:cNvSpPr/>
          <p:nvPr/>
        </p:nvSpPr>
        <p:spPr>
          <a:xfrm>
            <a:off x="7829353" y="2154514"/>
            <a:ext cx="355433" cy="312079"/>
          </a:xfrm>
          <a:prstGeom prst="roundRect">
            <a:avLst/>
          </a:prstGeom>
          <a:solidFill>
            <a:schemeClr val="accent2">
              <a:lumMod val="75000"/>
              <a:alpha val="34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</a:endParaRPr>
          </a:p>
        </p:txBody>
      </p:sp>
      <p:sp>
        <p:nvSpPr>
          <p:cNvPr id="333" name="Rounded Rectangle 332"/>
          <p:cNvSpPr/>
          <p:nvPr/>
        </p:nvSpPr>
        <p:spPr>
          <a:xfrm>
            <a:off x="7835703" y="1344879"/>
            <a:ext cx="355433" cy="312079"/>
          </a:xfrm>
          <a:prstGeom prst="roundRect">
            <a:avLst/>
          </a:prstGeom>
          <a:solidFill>
            <a:schemeClr val="accent2">
              <a:lumMod val="75000"/>
              <a:alpha val="34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</a:endParaRPr>
          </a:p>
        </p:txBody>
      </p:sp>
      <p:sp>
        <p:nvSpPr>
          <p:cNvPr id="334" name="Rounded Rectangle 333"/>
          <p:cNvSpPr/>
          <p:nvPr/>
        </p:nvSpPr>
        <p:spPr>
          <a:xfrm>
            <a:off x="7829945" y="1754141"/>
            <a:ext cx="355433" cy="312079"/>
          </a:xfrm>
          <a:prstGeom prst="roundRect">
            <a:avLst/>
          </a:prstGeom>
          <a:solidFill>
            <a:schemeClr val="accent2">
              <a:lumMod val="75000"/>
              <a:alpha val="34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394CBD96-0DFE-4A79-8DBD-5483DD684121}"/>
                  </a:ext>
                </a:extLst>
              </p:cNvPr>
              <p:cNvSpPr txBox="1"/>
              <p:nvPr/>
            </p:nvSpPr>
            <p:spPr>
              <a:xfrm>
                <a:off x="7775835" y="2976577"/>
                <a:ext cx="455534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394CBD96-0DFE-4A79-8DBD-5483DD684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835" y="2976577"/>
                <a:ext cx="455534" cy="338554"/>
              </a:xfrm>
              <a:prstGeom prst="rect">
                <a:avLst/>
              </a:prstGeom>
              <a:blipFill>
                <a:blip r:embed="rId25"/>
                <a:stretch>
                  <a:fillRect b="-714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6" name="Rounded Rectangle 335"/>
          <p:cNvSpPr/>
          <p:nvPr/>
        </p:nvSpPr>
        <p:spPr>
          <a:xfrm>
            <a:off x="7829755" y="2976577"/>
            <a:ext cx="355433" cy="312079"/>
          </a:xfrm>
          <a:prstGeom prst="roundRect">
            <a:avLst/>
          </a:prstGeom>
          <a:solidFill>
            <a:schemeClr val="accent2">
              <a:lumMod val="75000"/>
              <a:alpha val="34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6332A9C5-DA97-480E-BC04-8B4CF24F795A}"/>
                  </a:ext>
                </a:extLst>
              </p:cNvPr>
              <p:cNvSpPr txBox="1"/>
              <p:nvPr/>
            </p:nvSpPr>
            <p:spPr>
              <a:xfrm>
                <a:off x="7775433" y="1736459"/>
                <a:ext cx="455534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6332A9C5-DA97-480E-BC04-8B4CF24F7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433" y="1736459"/>
                <a:ext cx="455534" cy="338554"/>
              </a:xfrm>
              <a:prstGeom prst="rect">
                <a:avLst/>
              </a:prstGeom>
              <a:blipFill>
                <a:blip r:embed="rId26"/>
                <a:stretch>
                  <a:fillRect b="-727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394CBD96-0DFE-4A79-8DBD-5483DD684121}"/>
                  </a:ext>
                </a:extLst>
              </p:cNvPr>
              <p:cNvSpPr txBox="1"/>
              <p:nvPr/>
            </p:nvSpPr>
            <p:spPr>
              <a:xfrm>
                <a:off x="7775433" y="2128039"/>
                <a:ext cx="455534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394CBD96-0DFE-4A79-8DBD-5483DD684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433" y="2128039"/>
                <a:ext cx="455534" cy="338554"/>
              </a:xfrm>
              <a:prstGeom prst="rect">
                <a:avLst/>
              </a:prstGeom>
              <a:blipFill>
                <a:blip r:embed="rId27"/>
                <a:stretch>
                  <a:fillRect b="-714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9" name="Straight Arrow Connector 338"/>
          <p:cNvCxnSpPr>
            <a:stCxn id="326" idx="1"/>
          </p:cNvCxnSpPr>
          <p:nvPr/>
        </p:nvCxnSpPr>
        <p:spPr>
          <a:xfrm flipH="1">
            <a:off x="8782140" y="1455659"/>
            <a:ext cx="178955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Arrow Connector 339"/>
          <p:cNvCxnSpPr>
            <a:stCxn id="327" idx="1"/>
          </p:cNvCxnSpPr>
          <p:nvPr/>
        </p:nvCxnSpPr>
        <p:spPr>
          <a:xfrm flipH="1" flipV="1">
            <a:off x="8786902" y="1854887"/>
            <a:ext cx="183730" cy="292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340"/>
          <p:cNvCxnSpPr>
            <a:stCxn id="328" idx="1"/>
          </p:cNvCxnSpPr>
          <p:nvPr/>
        </p:nvCxnSpPr>
        <p:spPr>
          <a:xfrm flipH="1" flipV="1">
            <a:off x="8784515" y="2284026"/>
            <a:ext cx="181342" cy="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/>
          <p:cNvCxnSpPr/>
          <p:nvPr/>
        </p:nvCxnSpPr>
        <p:spPr>
          <a:xfrm flipH="1" flipV="1">
            <a:off x="8784515" y="2726904"/>
            <a:ext cx="181342" cy="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Arrow Connector 342"/>
          <p:cNvCxnSpPr/>
          <p:nvPr/>
        </p:nvCxnSpPr>
        <p:spPr>
          <a:xfrm flipH="1" flipV="1">
            <a:off x="8784515" y="3194888"/>
            <a:ext cx="181342" cy="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Arrow Connector 343"/>
          <p:cNvCxnSpPr>
            <a:stCxn id="309" idx="3"/>
            <a:endCxn id="322" idx="1"/>
          </p:cNvCxnSpPr>
          <p:nvPr/>
        </p:nvCxnSpPr>
        <p:spPr>
          <a:xfrm>
            <a:off x="7410931" y="2338972"/>
            <a:ext cx="353125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Arrow Connector 344"/>
          <p:cNvCxnSpPr>
            <a:stCxn id="322" idx="3"/>
            <a:endCxn id="280" idx="1"/>
          </p:cNvCxnSpPr>
          <p:nvPr/>
        </p:nvCxnSpPr>
        <p:spPr>
          <a:xfrm>
            <a:off x="8272215" y="2338972"/>
            <a:ext cx="278887" cy="7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6" name="Group 345"/>
          <p:cNvGrpSpPr/>
          <p:nvPr/>
        </p:nvGrpSpPr>
        <p:grpSpPr>
          <a:xfrm>
            <a:off x="3402693" y="2944312"/>
            <a:ext cx="76316" cy="326181"/>
            <a:chOff x="4173754" y="3888613"/>
            <a:chExt cx="76316" cy="326181"/>
          </a:xfrm>
        </p:grpSpPr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3754" y="4133158"/>
              <a:ext cx="75590" cy="8163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3955" y="3970719"/>
              <a:ext cx="75590" cy="8163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4480" y="3888613"/>
              <a:ext cx="75590" cy="81636"/>
            </a:xfrm>
            <a:prstGeom prst="rect">
              <a:avLst/>
            </a:prstGeom>
            <a:solidFill>
              <a:schemeClr val="accent6">
                <a:lumMod val="75000"/>
                <a:alpha val="92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3955" y="4051522"/>
              <a:ext cx="75590" cy="8163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347" name="Group 346"/>
          <p:cNvGrpSpPr/>
          <p:nvPr/>
        </p:nvGrpSpPr>
        <p:grpSpPr>
          <a:xfrm>
            <a:off x="3403320" y="1866804"/>
            <a:ext cx="76314" cy="324101"/>
            <a:chOff x="4174180" y="3970353"/>
            <a:chExt cx="76314" cy="324101"/>
          </a:xfrm>
        </p:grpSpPr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4530" y="3970353"/>
              <a:ext cx="75590" cy="8163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4180" y="4131460"/>
              <a:ext cx="75590" cy="8163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4904" y="4051711"/>
              <a:ext cx="75590" cy="81636"/>
            </a:xfrm>
            <a:prstGeom prst="rect">
              <a:avLst/>
            </a:prstGeom>
            <a:solidFill>
              <a:schemeClr val="accent6">
                <a:lumMod val="75000"/>
                <a:alpha val="92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4904" y="4212818"/>
              <a:ext cx="75590" cy="8163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348" name="Group 347"/>
          <p:cNvGrpSpPr/>
          <p:nvPr/>
        </p:nvGrpSpPr>
        <p:grpSpPr>
          <a:xfrm>
            <a:off x="3406036" y="2217003"/>
            <a:ext cx="75640" cy="339285"/>
            <a:chOff x="4174480" y="3972734"/>
            <a:chExt cx="75640" cy="339285"/>
          </a:xfrm>
        </p:grpSpPr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4530" y="3972734"/>
              <a:ext cx="75590" cy="8163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4530" y="4059341"/>
              <a:ext cx="75590" cy="8163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4480" y="4230383"/>
              <a:ext cx="75590" cy="81636"/>
            </a:xfrm>
            <a:prstGeom prst="rect">
              <a:avLst/>
            </a:prstGeom>
            <a:solidFill>
              <a:schemeClr val="accent6">
                <a:lumMod val="75000"/>
                <a:alpha val="92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174480" y="4143567"/>
              <a:ext cx="75590" cy="8163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349" name="Group 348"/>
          <p:cNvGrpSpPr/>
          <p:nvPr/>
        </p:nvGrpSpPr>
        <p:grpSpPr>
          <a:xfrm>
            <a:off x="3405455" y="2594279"/>
            <a:ext cx="76383" cy="328993"/>
            <a:chOff x="4326511" y="4041013"/>
            <a:chExt cx="76383" cy="328993"/>
          </a:xfrm>
        </p:grpSpPr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326930" y="4125134"/>
              <a:ext cx="75590" cy="8163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326511" y="4288370"/>
              <a:ext cx="75590" cy="8163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326880" y="4041013"/>
              <a:ext cx="75590" cy="81636"/>
            </a:xfrm>
            <a:prstGeom prst="rect">
              <a:avLst/>
            </a:prstGeom>
            <a:solidFill>
              <a:schemeClr val="accent6">
                <a:lumMod val="75000"/>
                <a:alpha val="92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4327304" y="4203922"/>
              <a:ext cx="75590" cy="8163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350" name="Group 349"/>
          <p:cNvGrpSpPr/>
          <p:nvPr/>
        </p:nvGrpSpPr>
        <p:grpSpPr>
          <a:xfrm>
            <a:off x="8704757" y="2564479"/>
            <a:ext cx="77382" cy="320384"/>
            <a:chOff x="8833376" y="3330242"/>
            <a:chExt cx="77382" cy="320384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833376" y="3413450"/>
              <a:ext cx="76400" cy="801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834358" y="3330242"/>
              <a:ext cx="76400" cy="80169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833377" y="3493719"/>
              <a:ext cx="76400" cy="80169"/>
            </a:xfrm>
            <a:prstGeom prst="rect">
              <a:avLst/>
            </a:prstGeom>
            <a:solidFill>
              <a:srgbClr val="0070C0">
                <a:alpha val="64000"/>
              </a:srgb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833376" y="3570457"/>
              <a:ext cx="76400" cy="8016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351" name="Group 350"/>
          <p:cNvGrpSpPr/>
          <p:nvPr/>
        </p:nvGrpSpPr>
        <p:grpSpPr>
          <a:xfrm>
            <a:off x="8704756" y="2128039"/>
            <a:ext cx="76401" cy="320107"/>
            <a:chOff x="8792794" y="3326539"/>
            <a:chExt cx="76401" cy="320107"/>
          </a:xfrm>
        </p:grpSpPr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92794" y="3566477"/>
              <a:ext cx="76400" cy="801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92795" y="3407097"/>
              <a:ext cx="76400" cy="80169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92794" y="3326539"/>
              <a:ext cx="76400" cy="80169"/>
            </a:xfrm>
            <a:prstGeom prst="rect">
              <a:avLst/>
            </a:prstGeom>
            <a:solidFill>
              <a:srgbClr val="0070C0">
                <a:alpha val="64000"/>
              </a:srgb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92794" y="3486989"/>
              <a:ext cx="76400" cy="8016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352" name="Group 351"/>
          <p:cNvGrpSpPr/>
          <p:nvPr/>
        </p:nvGrpSpPr>
        <p:grpSpPr>
          <a:xfrm>
            <a:off x="8704755" y="1694549"/>
            <a:ext cx="76401" cy="321419"/>
            <a:chOff x="8755985" y="3299659"/>
            <a:chExt cx="76401" cy="321419"/>
          </a:xfrm>
        </p:grpSpPr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55986" y="3379792"/>
              <a:ext cx="76400" cy="801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55985" y="3540909"/>
              <a:ext cx="76400" cy="80169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55985" y="3459125"/>
              <a:ext cx="76400" cy="80169"/>
            </a:xfrm>
            <a:prstGeom prst="rect">
              <a:avLst/>
            </a:prstGeom>
            <a:solidFill>
              <a:srgbClr val="0070C0">
                <a:alpha val="64000"/>
              </a:srgb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755985" y="3299659"/>
              <a:ext cx="76400" cy="8016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grpSp>
        <p:nvGrpSpPr>
          <p:cNvPr id="353" name="Group 352"/>
          <p:cNvGrpSpPr/>
          <p:nvPr/>
        </p:nvGrpSpPr>
        <p:grpSpPr>
          <a:xfrm>
            <a:off x="8704755" y="1296537"/>
            <a:ext cx="76400" cy="325276"/>
            <a:chOff x="8830993" y="3402035"/>
            <a:chExt cx="76400" cy="325276"/>
          </a:xfrm>
        </p:grpSpPr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830993" y="3647142"/>
              <a:ext cx="76400" cy="8016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830993" y="3402035"/>
              <a:ext cx="76400" cy="80169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830993" y="3483236"/>
              <a:ext cx="76400" cy="80169"/>
            </a:xfrm>
            <a:prstGeom prst="rect">
              <a:avLst/>
            </a:prstGeom>
            <a:solidFill>
              <a:srgbClr val="0070C0">
                <a:alpha val="64000"/>
              </a:srgb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3CBFCDD1-8C86-47C3-AB82-364A1D43CCF6}"/>
                </a:ext>
              </a:extLst>
            </p:cNvPr>
            <p:cNvSpPr/>
            <p:nvPr/>
          </p:nvSpPr>
          <p:spPr>
            <a:xfrm>
              <a:off x="8830993" y="3565202"/>
              <a:ext cx="76400" cy="8016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24D917C7-88AB-4279-BDFA-5D20BA9DFB85}"/>
              </a:ext>
            </a:extLst>
          </p:cNvPr>
          <p:cNvSpPr txBox="1"/>
          <p:nvPr/>
        </p:nvSpPr>
        <p:spPr>
          <a:xfrm>
            <a:off x="463420" y="388649"/>
            <a:ext cx="5461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entury" panose="02040604050505020304" pitchFamily="18" charset="0"/>
              </a:rPr>
              <a:t>Transformer Decoder</a:t>
            </a:r>
            <a:endParaRPr lang="en-IN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265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5B86-E141-4EF0-B304-31DD9D23D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entury" panose="02040604050505020304" pitchFamily="18" charset="0"/>
              </a:rPr>
              <a:t>Masked multi-head self-attention</a:t>
            </a:r>
            <a:endParaRPr lang="en-IN" sz="32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5A446B-9436-4921-A669-23E0C53A16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1860"/>
                <a:ext cx="7262146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sz="24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Masked multi-head self-attention </a:t>
                </a:r>
                <a:r>
                  <a:rPr lang="en-US" sz="2400" dirty="0">
                    <a:latin typeface="Arial Narrow" panose="020B0606020202030204" pitchFamily="34" charset="0"/>
                  </a:rPr>
                  <a:t>is a fundamental component of the Transformer decoder that enables </a:t>
                </a:r>
                <a:r>
                  <a:rPr lang="en-US" sz="24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each target token to attend selectively to previously generated tokens while preventing access to future tokens</a:t>
                </a:r>
                <a:r>
                  <a:rPr lang="en-US" sz="240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endParaRPr lang="en-US" sz="24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400" dirty="0">
                    <a:latin typeface="Arial Narrow" panose="020B0606020202030204" pitchFamily="34" charset="0"/>
                  </a:rPr>
                  <a:t>Given an input sequence represented by the embedding matrix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Arial Narrow" panose="020B0606020202030204" pitchFamily="34" charset="0"/>
                  </a:rPr>
                  <a:t>, the mechanism projects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Arial Narrow" panose="020B0606020202030204" pitchFamily="34" charset="0"/>
                  </a:rPr>
                  <a:t> into query, key, and value matrices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sz="2400" dirty="0">
                    <a:latin typeface="Arial Narrow" panose="020B0606020202030204" pitchFamily="34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latin typeface="Arial Narrow" panose="020B0606020202030204" pitchFamily="34" charset="0"/>
                  </a:rPr>
                  <a:t>, respectively, and computes scaled dot-product attention as</a:t>
                </a:r>
              </a:p>
              <a:p>
                <a:pPr algn="just"/>
                <a:endParaRPr lang="en-US" sz="24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r>
                  <a:rPr lang="en-IN" sz="2400" b="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I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I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IN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I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sSup>
                              <m:sSupPr>
                                <m:ctrlPr>
                                  <a:rPr lang="en-IN" sz="2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en-IN" sz="2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a:rPr lang="en-I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IN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Arial Narrow" panose="020B0606020202030204" pitchFamily="34" charset="0"/>
                  </a:rPr>
                  <a:t>          where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rial Narrow" panose="020B0606020202030204" pitchFamily="34" charset="0"/>
                  </a:rPr>
                  <a:t>is the dimensionality of the key vectors and</a:t>
                </a:r>
                <a:r>
                  <a:rPr lang="en-IN" sz="2400" b="0" dirty="0">
                    <a:solidFill>
                      <a:srgbClr val="00B0F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rial Narrow" panose="020B0606020202030204" pitchFamily="34" charset="0"/>
                  </a:rPr>
                  <a:t>is a causal mask that assigns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sz="2400" dirty="0">
                    <a:latin typeface="Arial Narrow" panose="020B0606020202030204" pitchFamily="34" charset="0"/>
                  </a:rPr>
                  <a:t> to positions corresponding to future tokens. 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5A446B-9436-4921-A669-23E0C53A16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1860"/>
                <a:ext cx="7262146" cy="4351338"/>
              </a:xfrm>
              <a:blipFill>
                <a:blip r:embed="rId2"/>
                <a:stretch>
                  <a:fillRect l="-1092" t="-3081" r="-1008" b="-26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6C6418A-F6C3-4543-AA00-BA84CEE7D4C6}"/>
              </a:ext>
            </a:extLst>
          </p:cNvPr>
          <p:cNvSpPr txBox="1"/>
          <p:nvPr/>
        </p:nvSpPr>
        <p:spPr>
          <a:xfrm>
            <a:off x="173599" y="6492875"/>
            <a:ext cx="4443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 Source: Ashish Vaswani et. al. Attention is All You Need, NIPS 2017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C7018-4FEB-4DD7-8064-B73B91CD1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46" y="1297960"/>
            <a:ext cx="3803448" cy="5513294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9C0058-971C-47A2-B643-93E7B2AB5F36}"/>
              </a:ext>
            </a:extLst>
          </p:cNvPr>
          <p:cNvSpPr/>
          <p:nvPr/>
        </p:nvSpPr>
        <p:spPr>
          <a:xfrm>
            <a:off x="10157012" y="4428568"/>
            <a:ext cx="1030941" cy="537882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73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2E46C-817E-4B78-A25B-599A43BD6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masking operation ensures the decoder maintains the autoregressive property</a:t>
            </a:r>
            <a:r>
              <a:rPr lang="en-US" sz="2000" dirty="0">
                <a:latin typeface="Arial Narrow" panose="020B0606020202030204" pitchFamily="34" charset="0"/>
              </a:rPr>
              <a:t>, generating each token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solely from the previously observed context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Multi-head attention performs this operation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across multiple independently learned projection spaces</a:t>
            </a:r>
            <a:r>
              <a:rPr lang="en-US" sz="2000" dirty="0">
                <a:latin typeface="Arial Narrow" panose="020B0606020202030204" pitchFamily="34" charset="0"/>
              </a:rPr>
              <a:t>, allowing the model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capture different types of dependencies and contextual relationships simultaneously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outputs of all attention heads are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concatenated and passed through a learned linear projection</a:t>
            </a:r>
            <a:r>
              <a:rPr lang="en-US" sz="2000" dirty="0">
                <a:latin typeface="Arial Narrow" panose="020B0606020202030204" pitchFamily="34" charset="0"/>
              </a:rPr>
              <a:t>, providing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rich contextual representation </a:t>
            </a:r>
            <a:r>
              <a:rPr lang="en-US" sz="2000" dirty="0">
                <a:latin typeface="Arial Narrow" panose="020B0606020202030204" pitchFamily="34" charset="0"/>
              </a:rPr>
              <a:t>that is subsequently processed by the decoder's feed-forward network.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33DA12-E85C-464F-8E35-FD910E870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entury" panose="02040604050505020304" pitchFamily="18" charset="0"/>
              </a:rPr>
              <a:t>Masked multi-head self-attention</a:t>
            </a:r>
            <a:endParaRPr lang="en-IN" sz="32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668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DB4BC-613C-4137-9C0C-6D3B6B8AF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entury" panose="02040604050505020304" pitchFamily="18" charset="0"/>
              </a:rPr>
              <a:t>Multi-head cross-attention sublayer</a:t>
            </a:r>
            <a:endParaRPr lang="en-IN" sz="32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B3E4B4-3086-428E-8E57-2FE724BFBA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7185212" cy="4351338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The multi-head cross-attention sublayer in a Transformer decoder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enables the decoder to incorporate relevant information from the encoder's output while generating the target sequence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Unlike self-attention, where queries, keys, and values are derived from the same sequence, cross-attention uses the decoder's hidden representations as queries Q, while the encoder output provides the keys K and values V. </a:t>
                </a:r>
                <a:r>
                  <a:rPr lang="en-US" sz="2000" dirty="0">
                    <a:latin typeface="Arial Narrow" panose="020B0606020202030204" pitchFamily="34" charset="0"/>
                  </a:rPr>
                  <a:t>The attention operation is computed as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I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I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                       where dk denotes the dimensionality of the key vectors. 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B3E4B4-3086-428E-8E57-2FE724BFBA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7185212" cy="4351338"/>
              </a:xfrm>
              <a:blipFill>
                <a:blip r:embed="rId2"/>
                <a:stretch>
                  <a:fillRect l="-764" t="-2101" r="-8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58881E4-86BD-4888-9EC1-4CED8E86B61E}"/>
              </a:ext>
            </a:extLst>
          </p:cNvPr>
          <p:cNvSpPr txBox="1"/>
          <p:nvPr/>
        </p:nvSpPr>
        <p:spPr>
          <a:xfrm>
            <a:off x="146706" y="6492875"/>
            <a:ext cx="4443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 Source: Ashish Vaswani et. al. Attention is All You Need, NIPS 2017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29D5C-D40A-4634-8189-E9159588B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46" y="1297960"/>
            <a:ext cx="3803448" cy="5513294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FA6772-9809-407A-9F2D-E2C65EF18040}"/>
              </a:ext>
            </a:extLst>
          </p:cNvPr>
          <p:cNvSpPr/>
          <p:nvPr/>
        </p:nvSpPr>
        <p:spPr>
          <a:xfrm>
            <a:off x="10157012" y="3546177"/>
            <a:ext cx="1030941" cy="443120"/>
          </a:xfrm>
          <a:prstGeom prst="rect">
            <a:avLst/>
          </a:prstGeom>
          <a:solidFill>
            <a:schemeClr val="accent4">
              <a:lumMod val="60000"/>
              <a:lumOff val="40000"/>
              <a:alpha val="32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565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9D97C-6E64-4D4B-9600-74C3CDA96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resulting attention weights determine the extent to which each decoder position focuses on different positions in the encoded input sequence</a:t>
            </a:r>
            <a:r>
              <a:rPr lang="en-US" sz="2000" dirty="0">
                <a:latin typeface="Arial Narrow" panose="020B0606020202030204" pitchFamily="34" charset="0"/>
              </a:rPr>
              <a:t>, allowing the decoder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identify and utilize the most relevant source information for predicting each target token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 multi-head cross-attention, this process is performed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simultaneously across multiple attention heads using independent learned projections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Each head can capture different relationships between the source and target sequences</a:t>
            </a:r>
            <a:r>
              <a:rPr lang="en-US" sz="2000" dirty="0">
                <a:latin typeface="Arial Narrow" panose="020B0606020202030204" pitchFamily="34" charset="0"/>
              </a:rPr>
              <a:t>, and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their outputs are concatenated and transformed through a final linear projection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cross-attention output is typically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combined with the decoder's previous representation through a residual connection and subsequently normalized, enabling effective information flow and stable optimization within the decoder architecture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E66656-5C64-470B-9009-54BA54B8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entury" panose="02040604050505020304" pitchFamily="18" charset="0"/>
              </a:rPr>
              <a:t>Multi-head cross-attention sublayer</a:t>
            </a:r>
            <a:endParaRPr lang="en-IN" sz="32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65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C40D2-093B-41C7-BE9F-1D9461FF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entury" panose="02040604050505020304" pitchFamily="18" charset="0"/>
              </a:rPr>
              <a:t>The feed-forward network (FFN), residual connections, </a:t>
            </a:r>
            <a:br>
              <a:rPr lang="en-US" sz="2800" dirty="0">
                <a:latin typeface="Century" panose="02040604050505020304" pitchFamily="18" charset="0"/>
              </a:rPr>
            </a:br>
            <a:r>
              <a:rPr lang="en-US" sz="2800" dirty="0">
                <a:latin typeface="Century" panose="02040604050505020304" pitchFamily="18" charset="0"/>
              </a:rPr>
              <a:t>and layer normalization</a:t>
            </a:r>
            <a:endParaRPr lang="en-IN" sz="28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C4533-120E-4E9C-BA54-49BEE12430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769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The feed-forward network (FFN), residual connections, and layer normalization are essential components of a Transformer decoder block that work together to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enhance</a:t>
                </a:r>
                <a:r>
                  <a:rPr lang="en-US" sz="2000" dirty="0"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representation learning, stabilize optimization, and facilitate effective information flow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The feed-forward network applies a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position-wise nonlinear transformation </a:t>
                </a:r>
                <a:r>
                  <a:rPr lang="en-US" sz="2000" dirty="0">
                    <a:latin typeface="Arial Narrow" panose="020B0606020202030204" pitchFamily="34" charset="0"/>
                  </a:rPr>
                  <a:t>to the representations obtained from 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attention sublayers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It typically consists of two linear layers with a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nonlinear activation function </a:t>
                </a:r>
                <a:r>
                  <a:rPr lang="en-US" sz="2000" dirty="0">
                    <a:latin typeface="Arial Narrow" panose="020B0606020202030204" pitchFamily="34" charset="0"/>
                  </a:rPr>
                  <a:t>between them, expressed as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𝐹𝐹𝑁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endParaRPr lang="en-IN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It allows the decoder to learn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complex feature transformations independently at each sequence position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C4533-120E-4E9C-BA54-49BEE12430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7695"/>
                <a:ext cx="10515600" cy="4351338"/>
              </a:xfrm>
              <a:blipFill>
                <a:blip r:embed="rId2"/>
                <a:stretch>
                  <a:fillRect l="-522" t="-1543" r="-580" b="-8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735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671E3A-EB19-48A9-87D6-3B1FF00C57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44595"/>
                <a:ext cx="10515600" cy="385557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Residual connections provide a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direct pathway between the input and output of each decoder sublayer</a:t>
                </a:r>
                <a:r>
                  <a:rPr lang="en-US" sz="2000" dirty="0">
                    <a:latin typeface="Arial Narrow" panose="020B0606020202030204" pitchFamily="34" charset="0"/>
                  </a:rPr>
                  <a:t>, such that the sublayer output can be expressed as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𝑆𝑢𝑏𝑙𝑎𝑦𝑒𝑟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This helps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preserve information from earlier representations, improves gradient propagation, and reduces the difficulty of optimizing deep Transformer networks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Layer normalization then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normalizes the hidden representations across their feature dimensions, helping maintain stable activation distributions and improving training stability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671E3A-EB19-48A9-87D6-3B1FF00C57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44595"/>
                <a:ext cx="10515600" cy="3855570"/>
              </a:xfrm>
              <a:blipFill>
                <a:blip r:embed="rId2"/>
                <a:stretch>
                  <a:fillRect l="-522" t="-174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B8394D5-A76B-4E2B-A24D-2F94584DC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entury" panose="02040604050505020304" pitchFamily="18" charset="0"/>
              </a:rPr>
              <a:t>The feed-forward network (FFN), residual connections, </a:t>
            </a:r>
            <a:br>
              <a:rPr lang="en-US" sz="2800" dirty="0">
                <a:latin typeface="Century" panose="02040604050505020304" pitchFamily="18" charset="0"/>
              </a:rPr>
            </a:br>
            <a:r>
              <a:rPr lang="en-US" sz="2800" dirty="0">
                <a:latin typeface="Century" panose="02040604050505020304" pitchFamily="18" charset="0"/>
              </a:rPr>
              <a:t>and layer normalization</a:t>
            </a:r>
            <a:endParaRPr lang="en-IN" sz="28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646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F5F06-414A-48EF-A572-CEA776159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In a decoder block, these components are applied around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masked self-attention, cross-attention, and feed-forward sublayers</a:t>
            </a:r>
            <a:r>
              <a:rPr lang="en-US" sz="2000" dirty="0">
                <a:latin typeface="Arial Narrow" panose="020B0606020202030204" pitchFamily="34" charset="0"/>
              </a:rPr>
              <a:t>, enabling the network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progressively refine contextual representations while maintaining efficient information propagation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Together,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FFN provides nonlinear feature transformation</a:t>
            </a:r>
            <a:r>
              <a:rPr lang="en-US" sz="2000" dirty="0">
                <a:latin typeface="Arial Narrow" panose="020B0606020202030204" pitchFamily="34" charset="0"/>
              </a:rPr>
              <a:t>,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residual connections support information and gradient flow</a:t>
            </a:r>
            <a:r>
              <a:rPr lang="en-US" sz="2000" dirty="0">
                <a:latin typeface="Arial Narrow" panose="020B0606020202030204" pitchFamily="34" charset="0"/>
              </a:rPr>
              <a:t>, and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layer normalization promotes stable and efficient optimization</a:t>
            </a:r>
            <a:r>
              <a:rPr lang="en-US" sz="2000" dirty="0">
                <a:latin typeface="Arial Narrow" panose="020B0606020202030204" pitchFamily="34" charset="0"/>
              </a:rPr>
              <a:t>, thereby contributing to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overall effectiveness and scalability of the Transformer decoder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B4B16DA-D4AC-4386-B1E3-781128BAC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entury" panose="02040604050505020304" pitchFamily="18" charset="0"/>
              </a:rPr>
              <a:t>The feed-forward network (FFN), residual connections, </a:t>
            </a:r>
            <a:br>
              <a:rPr lang="en-US" sz="2800" dirty="0">
                <a:latin typeface="Century" panose="02040604050505020304" pitchFamily="18" charset="0"/>
              </a:rPr>
            </a:br>
            <a:r>
              <a:rPr lang="en-US" sz="2800" dirty="0">
                <a:latin typeface="Century" panose="02040604050505020304" pitchFamily="18" charset="0"/>
              </a:rPr>
              <a:t>and layer normalization</a:t>
            </a:r>
            <a:endParaRPr lang="en-IN" sz="28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281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EA230-882E-49A2-ACFF-A071DCB68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367" y="1487719"/>
            <a:ext cx="3298916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The original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Transformer model is an encoder-decoder architecture</a:t>
            </a: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that serves translation tasks well</a:t>
            </a: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Transformer based models</a:t>
            </a:r>
          </a:p>
          <a:p>
            <a:pPr lvl="1"/>
            <a:r>
              <a:rPr lang="en-IN" sz="20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Encoder-only</a:t>
            </a:r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 model </a:t>
            </a:r>
          </a:p>
          <a:p>
            <a:pPr lvl="1"/>
            <a:r>
              <a:rPr lang="en-IN" sz="20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Encoder-Decoder</a:t>
            </a:r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 model</a:t>
            </a:r>
          </a:p>
          <a:p>
            <a:pPr lvl="1"/>
            <a:r>
              <a:rPr lang="en-IN" sz="20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Decoder-only</a:t>
            </a:r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 model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99CD7D-B2DA-40F9-83EB-5A3298311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366" y="207665"/>
            <a:ext cx="6134100" cy="10969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Transformer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530D2-AFDD-4FFD-824A-3BA9CB9C1842}"/>
              </a:ext>
            </a:extLst>
          </p:cNvPr>
          <p:cNvSpPr txBox="1"/>
          <p:nvPr/>
        </p:nvSpPr>
        <p:spPr>
          <a:xfrm>
            <a:off x="0" y="6607895"/>
            <a:ext cx="12096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Figure: </a:t>
            </a:r>
            <a:r>
              <a:rPr lang="en-IN" sz="12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https://towardsdatascience.com/a-complete-guide-to-bert-with-code-9f87602e4a11/</a:t>
            </a:r>
            <a:endParaRPr lang="en-IN" sz="1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1BC3D4-31D6-4A90-91DC-B5EE411A5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64" y="1629094"/>
            <a:ext cx="1581371" cy="42487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A4572A-3B0A-4FA8-A519-18CF98C5A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678" y="1533831"/>
            <a:ext cx="3248478" cy="43440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8B910B-DC5A-4E0E-9D9D-A57BE9A6F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728" y="1889342"/>
            <a:ext cx="1428949" cy="362953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DE6F5E-1C0F-4682-8AF8-53D8BA4E5D2A}"/>
              </a:ext>
            </a:extLst>
          </p:cNvPr>
          <p:cNvSpPr/>
          <p:nvPr/>
        </p:nvSpPr>
        <p:spPr>
          <a:xfrm>
            <a:off x="3886421" y="1591320"/>
            <a:ext cx="1981251" cy="4731472"/>
          </a:xfrm>
          <a:prstGeom prst="rect">
            <a:avLst/>
          </a:prstGeom>
          <a:solidFill>
            <a:schemeClr val="accent2">
              <a:lumMod val="60000"/>
              <a:lumOff val="40000"/>
              <a:alpha val="1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68A4F7-92AC-44B8-BA4A-ED612A1A493F}"/>
              </a:ext>
            </a:extLst>
          </p:cNvPr>
          <p:cNvSpPr/>
          <p:nvPr/>
        </p:nvSpPr>
        <p:spPr>
          <a:xfrm>
            <a:off x="5988406" y="1591320"/>
            <a:ext cx="3220513" cy="4733386"/>
          </a:xfrm>
          <a:prstGeom prst="rect">
            <a:avLst/>
          </a:prstGeom>
          <a:solidFill>
            <a:schemeClr val="accent6">
              <a:lumMod val="60000"/>
              <a:lumOff val="40000"/>
              <a:alpha val="1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237BE6-8924-40D2-BD1B-64BCB1C6CC34}"/>
              </a:ext>
            </a:extLst>
          </p:cNvPr>
          <p:cNvSpPr/>
          <p:nvPr/>
        </p:nvSpPr>
        <p:spPr>
          <a:xfrm>
            <a:off x="9324789" y="1591320"/>
            <a:ext cx="2087393" cy="4733386"/>
          </a:xfrm>
          <a:prstGeom prst="rect">
            <a:avLst/>
          </a:prstGeom>
          <a:solidFill>
            <a:schemeClr val="accent5">
              <a:lumMod val="60000"/>
              <a:lumOff val="40000"/>
              <a:alpha val="1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6CC74B-6F6D-47C0-80BA-9821C22F004D}"/>
              </a:ext>
            </a:extLst>
          </p:cNvPr>
          <p:cNvSpPr txBox="1"/>
          <p:nvPr/>
        </p:nvSpPr>
        <p:spPr>
          <a:xfrm>
            <a:off x="9315062" y="5984238"/>
            <a:ext cx="2087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Decoder-Only (GPT*)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FDA765-3702-40AD-A1F3-F03215868234}"/>
              </a:ext>
            </a:extLst>
          </p:cNvPr>
          <p:cNvSpPr txBox="1"/>
          <p:nvPr/>
        </p:nvSpPr>
        <p:spPr>
          <a:xfrm>
            <a:off x="5976250" y="5969649"/>
            <a:ext cx="33485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Encoder-Decoder (Transformer)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B4A048-5E85-40D9-A940-FABE72EA8834}"/>
              </a:ext>
            </a:extLst>
          </p:cNvPr>
          <p:cNvSpPr txBox="1"/>
          <p:nvPr/>
        </p:nvSpPr>
        <p:spPr>
          <a:xfrm>
            <a:off x="3815497" y="5971913"/>
            <a:ext cx="2129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Encoder-Only (BERT*)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7D7E10-4AC0-4B08-8480-677BAB56EF3B}"/>
              </a:ext>
            </a:extLst>
          </p:cNvPr>
          <p:cNvSpPr txBox="1"/>
          <p:nvPr/>
        </p:nvSpPr>
        <p:spPr>
          <a:xfrm>
            <a:off x="6294267" y="6425068"/>
            <a:ext cx="586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*Conceptual diagram. Exact models may be slightly different</a:t>
            </a:r>
          </a:p>
        </p:txBody>
      </p:sp>
    </p:spTree>
    <p:extLst>
      <p:ext uri="{BB962C8B-B14F-4D97-AF65-F5344CB8AC3E}">
        <p14:creationId xmlns:p14="http://schemas.microsoft.com/office/powerpoint/2010/main" val="477789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E03CE7-A8E5-4994-8999-0DD16807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8487B1-0776-4151-9C08-829E83A70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ial Narrow" panose="020B0606020202030204" pitchFamily="34" charset="0"/>
              </a:rPr>
              <a:t>Transformer Encoder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Self Attention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Multi-head Attention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Layer Normalization</a:t>
            </a:r>
          </a:p>
          <a:p>
            <a:pPr lvl="1"/>
            <a:r>
              <a:rPr lang="en-IN" dirty="0">
                <a:latin typeface="Arial Narrow" panose="020B0606020202030204" pitchFamily="34" charset="0"/>
              </a:rPr>
              <a:t>Feed-forward Neural Network</a:t>
            </a:r>
          </a:p>
          <a:p>
            <a:r>
              <a:rPr lang="en-IN" dirty="0">
                <a:latin typeface="Arial Narrow" panose="020B0606020202030204" pitchFamily="34" charset="0"/>
              </a:rPr>
              <a:t>Transformer Decoder</a:t>
            </a:r>
          </a:p>
          <a:p>
            <a:r>
              <a:rPr lang="en-IN" dirty="0">
                <a:latin typeface="Arial Narrow" panose="020B0606020202030204" pitchFamily="34" charset="0"/>
              </a:rPr>
              <a:t>Different Types of Transformers</a:t>
            </a:r>
          </a:p>
          <a:p>
            <a:pPr lvl="1"/>
            <a:endParaRPr lang="en-IN" dirty="0">
              <a:latin typeface="Arial Narrow" panose="020B0606020202030204" pitchFamily="34" charset="0"/>
            </a:endParaRPr>
          </a:p>
          <a:p>
            <a:pPr lvl="1"/>
            <a:endParaRPr lang="en-IN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3055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742339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Vision Transformers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9: Part 1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3181</TotalTime>
  <Words>2699</Words>
  <Application>Microsoft Office PowerPoint</Application>
  <PresentationFormat>Widescreen</PresentationFormat>
  <Paragraphs>458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Times New Roman</vt:lpstr>
      <vt:lpstr>Office Theme</vt:lpstr>
      <vt:lpstr>  Transformers - IV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ADD (SKIP Connection) is required?</vt:lpstr>
      <vt:lpstr>Why Norm is required?</vt:lpstr>
      <vt:lpstr>PowerPoint Presentation</vt:lpstr>
      <vt:lpstr> Feed-forward Neural Network </vt:lpstr>
      <vt:lpstr> Feed-forward Neural Network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Masked multi-head self-attention</vt:lpstr>
      <vt:lpstr>Masked multi-head self-attention</vt:lpstr>
      <vt:lpstr>Multi-head cross-attention sublayer</vt:lpstr>
      <vt:lpstr>Multi-head cross-attention sublayer</vt:lpstr>
      <vt:lpstr>The feed-forward network (FFN), residual connections,  and layer normalization</vt:lpstr>
      <vt:lpstr>The feed-forward network (FFN), residual connections,  and layer normalization</vt:lpstr>
      <vt:lpstr>The feed-forward network (FFN), residual connections,  and layer normalization</vt:lpstr>
      <vt:lpstr>Transformer</vt:lpstr>
      <vt:lpstr>Summary</vt:lpstr>
      <vt:lpstr>Vision Transformers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Transformers - IV</dc:title>
  <dc:creator>IITG</dc:creator>
  <cp:lastModifiedBy>HP</cp:lastModifiedBy>
  <cp:revision>25</cp:revision>
  <dcterms:created xsi:type="dcterms:W3CDTF">2026-08-29T03:57:06Z</dcterms:created>
  <dcterms:modified xsi:type="dcterms:W3CDTF">2026-08-31T13:16:04Z</dcterms:modified>
</cp:coreProperties>
</file>