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8" r:id="rId2"/>
    <p:sldId id="258" r:id="rId3"/>
    <p:sldId id="269" r:id="rId4"/>
    <p:sldId id="270" r:id="rId5"/>
    <p:sldId id="271" r:id="rId6"/>
    <p:sldId id="272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74" r:id="rId16"/>
    <p:sldId id="276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7" r:id="rId29"/>
    <p:sldId id="298" r:id="rId30"/>
    <p:sldId id="299" r:id="rId31"/>
    <p:sldId id="296" r:id="rId32"/>
    <p:sldId id="300" r:id="rId33"/>
    <p:sldId id="301" r:id="rId34"/>
    <p:sldId id="302" r:id="rId35"/>
    <p:sldId id="303" r:id="rId36"/>
    <p:sldId id="304" r:id="rId37"/>
    <p:sldId id="305" r:id="rId38"/>
    <p:sldId id="266" r:id="rId39"/>
    <p:sldId id="30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204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259.84253" units="1/cm"/>
          <inkml:channelProperty channel="Y" name="resolution" value="1285.4442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7-12T17:01:44.40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18429 16700 5 0,'0'0'10'0,"-1"0"-1"0,0 0 0 0,-1 0-1 0,2 0-1 0,-2 0 0 0,2 0-1 0,0 0 0 0,0 0-2 0,0 0 0 0,0 0-2 0,0 0 0 0,0 0 0 16,0 0 0-16,0 0 1 0,0 0 1 0,0 0 1 0,0 0-1 0,0 0 0 15,0 0-2-15,0 0 1 0,0 0 1 0,0 0 1 0,0 0 0 0,0 0 0 16,0 0 1-16,0 0 1 0,0 0 0 0,0 0 2 0,0 0 1 0,0 0 0 0,0 0 3 15,0 0 0-15,0 0 1 0,0 0 0 0,0 0 1 0,0 0-1 0,0 0 1 0,0 0 0 16,0 0-1-16,0 0-2 0,0 0 0 0,0 0-3 0,0 0-2 0,0 0-3 16,0 0-1-16,0 0 0 0,0 0 0 0,0 0-2 0,0 0-1 0,0 0-1 0,0 0 0 15,0 0 0-15,0 0 1 0,0 0 1 0,0 0 0 0,0 0 0 0,0 0-1 0,0 0 1 16,0 0 1-16,0 0 0 0,0 0 0 0,0 0 0 0,0 0 2 0,0 0 0 16,0 0 1-16,0 0 1 0,0 0 1 0,0 0 0 0,0 0 3 0,0 0 1 15,0 0 0-15,0 0 2 0,0 0 1 0,0 0 2 0,0 0 0 0,0 0-2 0,0 0 0 16,0 0 0-16,0 0 0 0,0 0-1 0,0 0-1 0,0 0-1 0,0 0 0 15,2 0-1-15,-2 1 0 0,2 0 0 0,-2 1 0 0,0-2-1 0,0 1 0 0,0 2-1 16,1-2 0-16,0 1-1 0,-1 1 0 0,0-1-1 0,0 0-1 0,0 2-2 16,1 0 1-16,-1 0-2 0,0 0 0 0,2 1-2 0,-2-1-1 0,0 0 0 0,0 1 1 15,0 0 0-15,0 1-1 0,0-1 1 0,0 0 0 0,0 2 0 0,0-2 1 0,0 0-1 16,0 2 1-16,0-2-2 0,0 3 2 0,0-3 1 0,0 3 0 0,0 0-1 16,0 0 0-16,0-2 0 0,0 2 0 0,0-1 0 0,0 2 0 0,0-2 0 15,0 1 0-15,0-1-1 0,0 1 0 0,0 0 2 0,0 0-1 0,0 0-2 0,0-2 0 0,0 2 0 16,0-1-1-16,0 2 2 0,0-4 0 0,0 3 0 0,0-3 0 0,0 2-1 15,0-2 0-15,0-1 1 0,0 1 0 0,0 0-1 0,0-2 2 0,0 1 1 16,0 0 0-16,-2-1 1 0,2-1 0 0,0 1-2 0,0 0 0 0,0-1 1 16,0-1-1-16,0 2 0 0,0-3 0 0,0 0 0 0,0 2 0 0,0-2 0 0,0 0-1 15,0 0-2-15,0 0 1 0,0 0-1 0,0 0 0 0,0 0 0 0,0 0 0 0,0 0 1 16,0 0 2-16,0 0 0 0,2 0-1 0,-1-2 0 0,0 2-1 0,2 0 1 16,-1-1-1-16,-1-1 0 0,3 1-2 0,-2 0-3 0,2-2-2 0,-1 2-4 0,-1-2-2 15,2 2-2-15,0 0-2 0,-2-2-4 0,2 2-1 0,-2-2-5 0,2 2-1 0,-1-2-5 16,0 2-4-16,0-1-2 0,-1 1-8 0,-1-1-8 0,2-1-13 15,-2 2-16-15,1-2-27 0,-1 2 56 0</inkml:trace>
  <inkml:trace contextRef="#ctx0" brushRef="#br0" timeOffset="1179.192">19056 16622 0 0,'0'0'56'0,"0"0"35"0,0 0-28 0,0 0-20 0,0 0-11 0,0 0-8 0,0 0-3 0,0 0-2 0,0 0-4 0,0 0 1 0,0 0-1 16,0 0-1-16,0 0 0 0,0 0 1 0,0 0 1 0,0 0-1 0,0 0 1 15,0 0-1-15,0 0-1 0,0 0 1 0,0 0 1 0,0 0-2 0,0 0 0 16,0 0-1-16,0 0 0 0,0 0-1 0,0 0 1 0,0 0 0 0,0 0 1 16,0 0-2-16,0 0-1 0,0 0 1 0,0 0-2 0,0 0 0 0,0 0-2 15,0 0 2-15,0 0 0 0,0 0 1 0,0 0 1 0,0 0 1 0,0 0 1 16,0 0 0-16,0 0 1 0,0 0 1 0,-1-1 1 0,1 0 0 0,0 1 2 15,0 0 1-15,0 0 0 0,-1 0 2 0,0 0 1 0,1 0 3 0,-2 0 0 16,1 0 0-16,1 0 0 0,0 0 1 0,0 0-2 0,0 0-1 0,0 0-2 16,0 0-1-16,0 0-2 0,0 0-2 0,0 0 1 0,0 0-2 0,0 0-3 0,0 0-2 15,0 0-2-15,0 0-2 0,0 0-1 0,0 0-2 0,-1 0-1 0,0 0 0 16,-1 0 1-16,1 0-1 0,0 1 1 0,-3 0-1 0,3 1 0 0,1-1-1 16,-1-1-1-16,0 1 0 0,-1 2 1 0,2-2 1 0,-1-1-1 0,0 3 1 0,-1-2 1 15,1 2-2-15,1-2 0 0,-1 2-1 0,0-1 0 0,-1 0 0 0,1 2 0 16,1-1 1-16,-1 1-1 0,-1-1-2 0,0 1-2 0,1 1 2 0,1-1 0 15,-1 1 2-15,0 1 0 0,-1-2-1 0,1 2 1 0,0 1-1 0,-2-2 0 16,2 3 0-16,-1-3 0 0,-2 3 2 0,3 0 1 0,-2 0 0 0,2 0 1 0,-2 0-3 16,2 1-1-16,-1 0 0 0,-1 0-2 0,2-1 1 0,-3 1 2 0,3 0 1 0,-1-1-1 15,-1 0 0-15,2 1 0 0,-2-1-2 0,2 1-1 0,-1-1 2 0,-2 1 0 16,3-2 1-16,-2 1 0 0,2 0 0 0,-2-2 0 0,2 2 0 0,1-3-2 0,-1 2-1 16,0-2 0-16,-1-1 1 0,2 1 0 0,0-1-1 0,0-1 0 0,0 1 1 15,0 0-1-15,0-2 0 0,0 2 1 0,0-4-1 0,0 3 1 0,0-2-1 0,2 2 0 16,-1-2 1-16,0-1 0 0,-1 1 1 0,1 1-1 0,1-1 0 0,0-1 2 15,0 0 0-15,0 0-1 0,0 0-1 0,2 0 0 0,-1 0 1 0,-1 0 1 0,2 0 0 16,-2 0-2-16,3 0 0 0,-2 0 0 0,-1 0 1 0,2 0 1 0,-1 0-1 0,-1 0-1 16,3 0 0-16,-3 0 1 0,1 0 0 0,-2 0 1 0,2 0-1 0,-1 0-1 15,-1 0 2-15,3 0 1 0,-3 0-1 0,-1 0 1 0,0 0-1 0,0 0 1 16,0 0-1-16,0 0 0 0,1 0 0 0,-1 0-1 0,0 0 1 0,0 0 0 0,0 0 0 16,0 0 0-16,2 0-1 0,-2 0-1 0,0 0 1 0,0 1 1 0,0 1 0 0,0-2-1 15,0 1 1-15,0 2-1 0,-2-2 1 0,1 2 1 0,1-1-1 0,-1-1 0 16,-1 2 0-16,0 0 0 0,1-2-1 0,1 2 0 0,-1-2 0 0,0 2 2 15,-1-1-1-15,1-1 0 0,1 1-2 0,-1-1-1 0,0 2 1 0,-1-2 1 0,2-1 0 16,0 1 1-16,0 1 0 0,0-1-1 0,0-1 0 0,0 0-1 0,0 0-2 0,0 0-6 16,0 0-3-16,0 0-5 0,0 0-3 0,0 0-4 0,-1 0-8 0,1 0-6 15,0 0-8-15,0 1-11 0,0-1-16 0,0 0-18 0,0 0-37 0,0 0-43 0,0 0-52 16,0 0-57-16</inkml:trace>
  <inkml:trace contextRef="#ctx0" brushRef="#br0" timeOffset="2354.084">19619 16677 0 0,'0'0'42'0,"0"0"3"0,0 0-20 0,0-1-12 0,1 0-9 0,2 1-2 0,-1-1-1 0,-1-1-1 0,2 2-1 16,-2-1 0-16,2-2 0 0,-1 2 1 0,1 0 0 0,0-1 1 0,-1 1 2 15,0 0 0-15,-1 1 1 0,2-2 3 0,-2 1 4 0,2 0 3 0,-2 1 3 16,0 0 3-16,-1-2 2 0,1 1 3 0,-1 1 1 0,0 0 2 0,0 0 2 0,0 0 1 16,0 0-1-16,0 0 1 0,0 0-1 0,0 0-1 0,0 0-2 0,0 0-5 15,0 0-2-15,-1 1-3 0,1 1 0 0,-1-2-2 0,0 0-1 0,-1 1-1 16,1 2-4-16,1-2 0 0,-1 2-1 0,0-2 0 0,-1 1-2 0,2 0-2 0,-1-1 1 15,0 2-1-15,0-2 1 0,-1 2 0 0,2-2-3 16,-2 2 0-16,1-2-1 0,-1-1 0 0,1 1 0 0,1 0 0 0,0 0-1 0,0-1 0 0,0 1 0 0,0-1 1 16,0 1 0-16,0-1-1 0,0 0-1 0,0 0 0 0,0 2 1 0,0-2 0 0,0 0 0 15,0 1-1-15,0-1 1 0,0 1-1 0,0 0 1 0,0 1 1 0,0-2 0 16,1 1-1-16,1 0 1 0,-1 1 0 0,1-1 0 0,-2 2 0 0,2-2 0 16,-1 2 0-16,0-2 0 0,0 1-1 0,-1 1 2 0,2-1 0 0,-2 0-1 0,0 2 0 15,0 0 0-15,0-1-2 0,0 1 0 0,0 1 1 0,0 0 2 0,0-1 0 0,0 1 2 16,0 1-2-16,0 0 1 0,0 0 0 0,0 0-1 0,0 2 1 0,0-3-1 15,0 3 2-15,0-3-1 0,0 3 1 0,0-1 0 0,0 0 1 0,0 0-2 16,0 2 0-16,0-2-1 0,0 0-2 0,0 0 2 0,0 1 0 0,0-1-1 0,0-1 0 16,0 1 0-16,0-1 1 0,0 0-1 0,0 0 0 0,0-1-2 0,1-1 2 0,0 1 0 15,-1 0 0-15,1 0 0 0,1-1-1 0,-1-1 0 0,0 0 0 0,-1 1 0 16,1 0 0-16,2 1 0 0,-2-3 1 0,0 0-1 0,0 2 1 0,1-1 1 0,-1-1-1 16,0 1-1-16,-1 0 0 0,1-2 1 0,1 2 0 0,0-1-1 0,-2-1 0 15,1 2 0-15,1-3 0 0,1 3 0 0,-3-2 1 0,2 2-1 0,0-2 0 0,-1-1-1 16,1 1 2-16,0 1 0 0,-2-1-1 0,3 0-1 0,-2-1 0 0,0 1 1 15,-1 0 1-15,1 0 1 0,2-1-1 0,-2 1-2 0,0 1 1 0,-1-1 1 0,1 0 0 16,1-1 0-16,-1 1 0 0,0 1-1 0,-1-1 0 0,1-1 0 0,1 0 0 0,-2 0 0 16,0 0 0-16,1 1 0 0,-1-1 1 0,0 0-1 0,0 0 1 0,0 0-2 15,0 0 2-15,0 0-1 0,0 0-1 0,0 0 0 0,0 0 1 0,0 0 0 16,0 0 0-16,0 0 0 0,1 0 0 0,-1 0-1 0,0 0-1 0,0 2-1 0,0-2 0 16,0 0-4-16,0 0-3 0,0 0-4 0,0 0-2 0,0 0-1 0,0 0-3 0,0 0-3 15,0 0-4-15,0 0-4 0,0 0-4 0,0 0-3 0,0 0-6 0,0 0-5 16,0 0-8-16,0 0-8 0,0 0-23 0,0 0-26 0</inkml:trace>
  <inkml:trace contextRef="#ctx0" brushRef="#br0" timeOffset="3298.43">20118 16616 0 0,'0'0'2'0,"0"0"1"0,0 0 0 16,0 0 1-16,0 0-2 0,0 0 1 0,0 0 0 0,0 0 0 0,0 0 1 0,0 0 1 0,0 0 2 0,0 0 1 0,0 0 1 15,0 0 3-15,0 0-1 0,0 0 2 0,0 0 3 0,0 0 1 0,0 0 1 16,0 0 3-16,0 0 2 0,0 0 1 0,0 0 3 0,0 0-1 0,0 0-1 16,0 0 0-16,0 0-2 0,0 0 0 0,0 0-1 0,0 0-3 0,0 0 0 15,0 0-3-15,0 0-2 0,0 0-1 0,0 0-1 0,0 0-4 0,0 0-1 16,0 0 0-16,0 0 0 0,0 0-2 0,0 0 1 0,0 0 0 0,0 0 1 15,0 0 1-15,0 0 0 0,0 0 1 0,0 0 0 0,0 0 2 0,0 0-1 16,0 1 2-16,0 0 0 0,0 1-1 0,0-2 1 0,0 0-1 0,2 1 0 16,-2 0-1-16,0 2-1 0,0-2-1 0,0 2-1 0,0-2 0 0,0 2 0 0,0 1-3 15,0 0-1-15,0-1 0 0,0 0 1 0,-2 1-2 0,2 1 0 0,-1-1-1 16,0 2-1-16,-1-1-1 0,1-1 0 0,1 1 2 0,-1 1 1 0,-1 0-1 0,0-1-2 16,1 0 1-16,1 2 1 0,-2-2-1 0,-1 0 1 0,2 2-1 0,-2-3 0 15,2 2 1-15,0 1-1 0,-3-3-1 0,3 2 0 0,1-1 0 0,-2 1-2 0,-1-2 1 16,3 0 3-16,-1 1 0 0,0 0-1 0,-1-1-1 0,2 2-1 0,-1-1 2 0,0-1-1 15,-1 1 1-15,1-1-1 0,1 0 1 0,-1 1 2 0,-1 0-1 0,0-1 1 16,1 2-2-16,1-1-1 0,-1-1 0 0,0 1 0 0,-1-1 1 0,1 0 0 16,1 1 0-16,0 0 0 0,0-1-1 0,0 2 1 0,0-1-1 0,0-2 0 0,0 0 0 15,0 1 0-15,0 0 0 0,-1-1 0 0,1 1 2 0,0 0-1 0,0-2 0 0,0 1 0 16,0-2 0-16,0 2-1 0,0-2 1 0,0 2 0 0,0-2 0 0,0 2 0 16,0-2 0-16,0 1 1 0,0-1-2 0,0 0 0 0,0 0-1 0,1 1 1 15,-1-1 0-15,1-1 0 0,1 1 0 0,-1 1-1 0,0-1-1 0,-1-1 1 0,1 1-2 16,1 0 1-16,0 1-4 0,-1-2 0 0,-1 0 0 0,1 1 0 0,1 1-2 0,-1-1-3 15,0-1 0-15,-1 0 0 0,0 0 1 0,0 0-1 0,0 0 1 0,0 0-1 16,0 0 1-16,0 0-1 0,0 0 0 0,0 0 0 0,0 0 1 0,0 0-1 0,0 0 0 16,0 0-1-16,0 0-2 0,0 0-2 0,0 0-4 0,0 0-5 0,0 0-4 15,0 0-7-15,0 0-9 0,0 0-10 0,0 0-19 0,0 0-24 0</inkml:trace>
  <inkml:trace contextRef="#ctx0" brushRef="#br0" timeOffset="4467.71">20654 16658 45 0,'-2'0'47'0,"1"1"-7"0,0 0-8 0,-2 1-4 0,2-2-4 0,-1 1-2 0,-1 0 0 0,3 1-1 0,-1-1 1 0,0-1-1 0,-2 0-2 0,2 0-1 0,1 0-1 0,-1 0-4 15,1 0-3-15,0 0-2 0,0 0-3 0,0 0 1 0,0 0-1 0,0 0-1 16,0 0 1-16,0 0 0 0,0 0 1 0,0 0 0 0,0 0-1 0,0 0 1 0,0 0 1 16,0 0 0-16,0 0 0 0,0 0 0 0,0 0-1 0,0 0-2 0,0 0 0 15,0 0-1-15,0 0 0 0,0 0-2 0,0 0 0 0,0 0 0 0,0 0 0 16,0 0-2-16,0 0 0 0,0 0 0 0,0 0 1 0,0 0 0 0,0 0 0 15,0 0 1-15,0 0 0 0,0 0 1 0,0 0 1 0,0 0 1 0,0 0 2 0,1 0 0 16,-1 0 1-16,0 1 2 0,0 0 1 0,0 1 1 0,0-2 0 0,0 1 1 0,0-1-1 16,0 2 0-16,0-1 1 0,0 1-1 0,0 0-1 0,0 0-1 0,0 0-2 15,0-1-1-15,0 1 0 0,0-1-2 0,0 1-1 0,0 1-1 0,0-2 0 16,0 2-1-16,0-1-1 0,0 0 0 0,0 2 1 0,0-2 0 0,0 1-1 0,0 2-1 16,0-2 0-16,0 1 0 0,0 0 1 0,0 0 0 0,0 1 1 0,0 0-1 0,0-1-1 15,0 0 1-15,0 2 0 0,0 0-1 0,0-1 0 0,0 0 1 0,0-1 1 16,1 1 0-16,2 1 0 0,-2-2 1 0,0 1-1 0,-1 0 0 0,1-2-1 0,1 2 1 15,0-1-1-15,-1 0 1 0,2 0 0 0,-2 0-1 0,2 0 0 0,0-2 0 16,-1 1-1-16,0 1 1 0,-1-2-1 0,2 1 0 0,-2 0 0 0,2-1-2 0,-1 1 0 16,-1 1 2-16,3-2 1 0,-3 0-1 0,2 1-1 0,-1-1 0 0,-1 1 0 15,2-1-1-15,-2 1 2 0,2-2 0 0,0 2 0 0,-1 0 1 0,0-1-1 0,-1 2 2 16,2-3-1-16,-2 1 1 0,2 2-1 0,-2-2 1 0,0 1 0 0,-1 1 0 0,1-3 0 16,2 2-1-16,-2 1 0 0,0-2 0 0,-1 1-1 0,0 1 2 0,0 0-1 15,0 0 1-15,0-1-2 0,0 0 2 0,0 1 0 0,0 0-1 0,-1-1 0 16,0 1 0-16,1 1 0 0,-3-1 0 0,2-1 1 0,1 1 0 0,0-1 0 0,0 1 0 15,-1-1 0-15,0 1 0 0,1 1 0 0,-2-1-1 0,2-1-1 0,-1 1 0 0,1-2 2 16,0 2 0-16,-1-2-1 0,0 0 0 0,1 2 1 0,-2-1 0 0,2-1 0 16,0 0-1-16,-1-1-1 0,1 2 0 0,0-2 2 0,0 2-2 0,0-1 0 15,0-2 2-15,0 1 1 0,0 1 0 0,0-1 0 0,0-1 1 0,0 0 0 0,0 0-1 0,0 0 2 16,0 0 0-16,0 0 2 0,0 0 0 0,0 0-1 0,0 0-1 0,0 0 2 16,0 0 0-16,0 0-1 0,0 0-2 0,0 0 2 0,0 0-1 0,0 0 0 15,0 0 1-15,0 0-1 0,0 0 0 0,0 0-1 0,0 0 0 0,0 0-1 16,0 0 2-16,0 0-1 0,0 0 0 0,0 0 0 0,0 0-1 0,0 0 1 0,0 0 0 0,0 0-2 15,0 0 1-15,0 0-1 0,0 0-1 0,0 0 1 0,0 0 0 0,0 0-1 16,0 0 0-16,-1 0-1 0,1 0 0 0,0 0 2 0,-1 0 0 0,1 0-2 16,-2 0 0-16,2 0 0 0,-2 0 0 0,1 0 1 0,-1 0-1 0,1 0 0 0,0 0 1 15,-2 0 0-15,2 0 0 0,-1 0 2 0,-1 2-1 0,2-1-1 0,-3 0 0 16,3-1 1-16,-1 1-1 0,-1 1 1 0,-1-1-1 0,2-1 0 0,-1 1 1 0,-2 1 1 16,3-1 1-16,-2 0-1 0,2-1-1 0,-1 1 0 0,2 0-1 0,-3 0 0 15,3-1 0-15,-1 1-1 0,-1 1 1 0,2-1 1 0,-2 0-1 0,2-1 1 16,0 1-2-16,-1 1 0 0,1-1-1 0,1-1 1 0,-1 0 0 0,1 0-1 0,0 0 1 0,0 0 2 15,0 0 0-15,0 0 0 0,0 0 0 0,0 0 0 0,0 0 0 0,0 0 0 16,0 0-1-16,0 0 1 0,0 0 0 0,0 0-2 0,0 0 0 0,0 0 1 16,0 0 0-16,0 0-1 0,0 0 0 0,0 0 1 0,0 0 0 0,0 0-1 0,0 0 0 15,0 0 0-15,0 0 0 0,0 0 2 0,0 0-2 0,0 0 0 0,0 0 1 0,0 0-2 16,0 0-1-16,0 0 0 0,0 0-3 0,0 0-2 0,0 0-2 0,0 0-2 16,0 0-3-16,0 0-3 0,0 0-3 0,0 0-4 0,0 0-5 0,0 0-5 15,0 0-8-15,0 0-10 0,2-1-17 0,2-1-21 0,-1 1-44 0,-1 0-55 0</inkml:trace>
  <inkml:trace contextRef="#ctx0" brushRef="#br0" timeOffset="8347.779">26013 12919 0 0,'-4'-1'117'0,"1"-1"-7"0,0 1-39 0,1-2-19 0,-1 0-11 0,2 2-6 0,-2 0-4 0,2 0-4 0,-1 1-4 0,-2-1-3 0,3 0-2 0,-2 0-3 16,2-1-1-16,-1 2-2 0,0-1-3 0,0 0 2 0,-1 1 0 0,1 0 1 15,-1-1-4-15,2 1 2 0,1 0 0 0,-1 0-1 0,0 0 2 0,-1 0-1 16,1 0 0-16,1 0-1 0,-1 0-1 0,0 0-1 0,1 0 0 0,-2 0-1 16,1 0-2-16,-1 0 1 0,-2 0 0 0,3 1-1 0,-2 0 1 0,2 0 0 15,-1-1-1-15,0 2 0 0,0 0 0 0,-1-1 0 0,0 1 2 0,0-1-1 16,-1 3-1-16,2-1 1 0,-2-1 0 0,-1 3 0 0,0-2 1 0,2 1 0 0,-1-1 0 15,0 2-1-15,-2 0-1 0,1 0 1 0,0-2 2 0,-1 4 0 0,1-2 0 16,0 0 0-16,-3 2 1 0,2 0 1 0,1-1 0 0,-3 1 1 0,1-1 3 16,0 1 0-16,-2 1 0 0,3 0 1 0,-3-1 0 0,2 1-1 15,-2 0-1-15,0 1 0 0,1-1-1 0,0 1-1 0,-2 1 0 0,3-2 0 0,-1 3-2 16,-3 0 1-16,1-1 0 0,2 2-1 0,-2 1-1 0,0 2-1 0,-1 2 0 16,0 0 1-16,0 1 0 0,0 1 1 0,1 3 0 0,-1 0-1 0,2 2 1 15,0 2-1-15,0 2 0 0,-1 0-1 0,2 1-3 0,0 0 0 0,0 3 0 16,3-1 1-16,-1 2-1 0,1 0 1 0,1-1-1 0,1 1 0 0,1 0 0 15,0 1 0-15,2 0 0 0,2-1 0 0,-2 1 3 0,3-1 0 0,-1 2 0 16,1 0 1-16,-1 0 2 0,2 0 0 0,2 1 0 0,-2-1 2 0,0 1 2 16,0-1 2-16,0 3 1 0,1-4 1 0,-1 3-2 0,1-3 1 0,1 1 0 15,-1-2-1-15,2 0 1 0,0 0-2 0,-1-3-2 0,4-2-1 0,-1-1 1 16,2-2-3-16,0-1-2 0,2-1-2 0,1-3 0 0,2-2-2 0,2-1-1 16,-1-1 0-16,3-2-1 0,1-2-1 0,3-1 0 0,1-2 0 0,0-1 1 15,2-3-1-15,2-1 1 0,0 0 0 0,2-3 1 0,3 1 0 0,-2-2-1 16,3-2 1-16,-2 1-1 0,2-3 1 0,-2 2 0 0,0 0 1 0,-1-2 0 15,1-1-1-15,-2 1-1 0,-3 1 0 0,2-1-1 0,-4 1 0 0,-1-1-1 16,-4 2 1-16,-1-2 2 0,-3 2 2 0,1-1 4 0,-3 1 5 0,-3-1 7 16,-1 3 3-16,-2-3 6 0,1 3 5 0,-4-1 6 0,0 0 2 0,-1-1 3 0,-1 1 1 15,-3 1 0-15,2-1-1 0,-3 1-3 0,0 0 0 0,-1 0-4 0,-2 0-4 16,1 0-7-16,-1 0-5 0,-1 1-6 0,-2-1-6 0,1 1-5 0,-1 1-8 16,-1 0-8-16,0-1-10 0,-1 1-11 0,0-1-11 0,2 3-11 0,-3-1-16 15,3-1-18-15,-1 2-26 0,0-2-29 0,2-1-75 0,2 0-98 0,-1 1-45 16,4-2-20-16</inkml:trace>
  <inkml:trace contextRef="#ctx0" brushRef="#br0" timeOffset="9550.564">31842 12824 0 0,'3'0'15'0,"0"0"25"0,1 0-8 0,-2 1-4 0,2-1-3 0,1 2-4 0,-1-1 0 0,1 0-3 16,-1 1-1-16,-1-2 0 0,0 1-1 0,-1 0-2 0,3 0-1 0,-2-1-2 16,-1 1 0-16,2 0-1 0,-2 0 3 0,3 1 0 0,-2-2 1 0,-1 1 1 15,2 1 4-15,0 0-1 0,1 2 1 0,-2-3-1 0,2 2-1 0,1 1 1 16,1-1 0-16,-1 2 1 0,0 1-1 0,4 0 0 0,-2 0 2 0,2 2-2 16,0 0 0-16,1 0-2 0,1 2 0 0,-1 0 0 0,4 4-1 0,-1-3 2 15,-1 4 0-15,1 1-1 0,1-1 1 0,1 2 0 0,-2 1-1 0,0-1 1 0,-2 2-3 16,3 1 0-16,-1 0 1 0,-1 2-1 0,-1-1 0 0,0 1-1 15,0 0-1-15,-2 0 2 0,0 2 2 0,-1-1 2 0,-1 0 5 0,0 1 2 0,-2 0 2 16,0-1 3-16,-2 2 3 0,-1-1 1 0,-2 1 1 0,-1-2 3 0,-1 2 4 16,-2-1 3-16,1 1 3 0,-3-1 2 0,-3 0 1 0,2 0-2 0,-4 1-2 15,1 0-4-15,-2-3-3 0,1 2-2 0,-3-1 0 0,0 1-1 0,-2-3-2 16,3 2-3-16,-2-1-3 0,-1 0-3 0,2-2-2 0,0 0-3 0,-2 0-3 16,2 0-1-16,-1-2-1 0,0 1-1 0,1-1 1 0,0 1-2 0,0 0-1 15,1-2-1-15,1 1-4 0,1 1 1 0,-1-2-2 0,1 0 0 0,3 0-2 16,-1 0 0-16,0 0-2 0,1-1 1 0,0-1-1 0,2 0 0 0,0-1 0 15,0 1-2-15,0-2 1 0,1 0 0 0,-1 0 0 0,3 0-1 0,-1-1 0 16,-2-1 0-16,3-1-2 0,-1 2 0 0,2-3 1 0,-1-1-1 0,-1 2 1 16,2-2-1-16,-3-1-1 0,3 2 1 0,-1-2 0 0,0-1 0 0,-1 1 0 15,0-2 1-15,-1 1 1 0,1 0 0 0,0-1 1 0,-1 0 0 0,2-2-1 16,-2 1-1-16,-1 0 2 0,2 0 0 0,-1-3 0 0,0 3-1 0,0-1 2 16,-2-1-1-16,2-1 0 0,1 2-1 0,-1-3 1 0,-1 3-1 0,1-2-2 15,1-1 0-15,0 1-1 0,-1 1-1 0,3-1-1 0,-3-1-2 0,3 1-1 16,-1 1-1-16,0-2-3 0,1 0-1 0,1 0-3 0,-1 0-3 0,1 0-3 15,0 0-1-15,-1 1-3 0,1-1-2 0,0 0-2 0,0 0-2 0,0 1-3 16,0-1-1-16,0 0-1 0,0 1-4 0,0-1-1 0,0 0-3 0,0 1-2 0,0-1-2 16,0 1-1-16,0-1-2 0,0 0 0 0,0 0-3 0,0 0-2 0,1 0-6 15,0 1-8-15,-1-1-14 0,3 0-17 0,-1 0-30 0,4-1-37 0,-1 0-51 16,0-2-58-16</inkml:trace>
  <inkml:trace contextRef="#ctx0" brushRef="#br0" timeOffset="10230.61">32802 13398 68 0,'-4'-1'88'0,"-2"-1"-17"0,4-1-17 0,-1 1-7 0,0 0-8 0,0 0-2 0,-1 0-2 15,3 1 0-15,-3 0 2 0,3-2-3 0,-1 2-2 0,-1-2-2 0,2 1-2 0,-2 0-2 16,3 1-3-16,-1-1-2 0,0 0-3 0,0 1-1 0,-2-2-3 0,3 2-2 0,-1-2-1 15,0 1-1-15,0 2-2 0,-1-1-1 0,2 0 0 0,-1 0-1 0,1 1-2 16,0-2 1-16,0 1 0 0,0 0-1 0,0 0-1 0,0 1 0 0,0 0 0 16,0 0 0-16,-1 0-1 0,1 0 1 0,0 0 1 0,0 0 0 0,0 0-1 15,0-2 1-15,0 2 1 0,-2-1 0 0,2 1-1 0,0 0 2 0,-1-1 0 0,1 1-1 16,0 0 1-16,0 0-2 0,-1-2 0 0,1 2 0 0,-1 0-1 0,-1 0 1 16,1-1-1-16,1 0 1 0,-1 1-1 0,-1-2 0 0,0 1-1 0,1 0 0 0,0 1-1 15,-2-1 1-15,3-1 1 0,-2 1-1 0,-1 0 2 0,3 1-1 0,-2-2 3 16,1 1-1-16,-2 1 0 0,3 0-1 0,-1-1 2 0,0-1 0 0,0 1 1 15,-1 1 1-15,2 0 0 0,0 0-1 0,0 0-1 0,0 0 1 0,0 0-1 16,0 0 0-16,0 0-2 0,0 0 0 0,0 0-2 0,0 0 2 0,0 0-1 0,0 0-1 16,0 0-1-16,0 0-1 0,0 0-2 0,0 0 1 0,0 0-1 0,0 0-1 0,0 0 1 15,0 0-1-15,0 0-1 0,0 0 2 0,0 0 0 0,0 0-1 0,0 0 0 16,0 0-1-16,0 0 1 0,0 0 0 0,0 1 2 0,0 1 2 0,2-1 0 16,-1-1 0-16,0 3 0 0,0-2 0 0,3 2 1 0,-2-1-1 0,1 1 1 15,-1-1 0-15,2 2 0 0,2 0 0 0,-2 0 1 0,1-1-1 0,0 1 1 0,2 0 0 16,-2 1-2-16,2-1 1 0,1 1-1 0,-1 0 1 0,1-1 0 0,-2 1 1 0,3 0-1 15,-1 0 0-15,0-1-1 0,1 1 1 0,-3 0 0 0,4 2 0 0,-2-3-2 16,0 1 1-16,-2 1 0 0,2 0 0 0,-1-1 1 0,1 0-1 0,-1 2-2 16,1-2 0-16,0 0-1 0,-1 2 0 0,-1-3 2 0,1 0 0 0,-2 1-1 15,2 0 0-15,-1-1-1 0,-1 1 0 0,0 0 1 0,0 0 0 0,-1 0-1 16,0-1-1-16,1-2 1 0,-2 2-2 0,-1 0-1 0,3 0-2 0,-2-1-3 0,-1 1-1 16,-1 0-2-16,2-2-1 0,-2 0-2 0,0 0-1 0,1 1-1 0,0-2-1 0,-1 2-3 15,-1-2-3-15,0 0-3 0,0 1-6 0,0-2-3 0,0 0-9 0,0 0-9 16,0 0-16-16,0 0-18 0,0 0-40 0,0 0-47 0</inkml:trace>
  <inkml:trace contextRef="#ctx0" brushRef="#br0" timeOffset="10773.833">32992 13173 86 0,'0'-3'174'0,"-1"0"-56"0,1 0-55 0,0 0-26 0,0 1-17 0,0 2-7 0,0-3-2 0,0 2-1 0,0 1-2 0,0-2 0 0,0 2 0 0,0 0 0 0,0 0 0 16,0 0-1-16,0 0-1 0,0 0 0 0,0 0-2 0,0 0 0 0,0 0-2 16,0 0-1-16,0 0-2 0,0 0 0 0,0 0 0 0,1 0 0 0,-1 2 0 0,3-2 0 15,-2 1 0-15,0 0 1 0,0 1-1 0,-1-2 1 0,2 0 0 0,-1 1 0 0,0 0 1 16,-1 1-1-16,0-2 2 0,0 1 1 0,0 0 0 0,0-1 3 0,0 0 1 15,0 0 1-15,0 0 2 0,0 0 1 0,0 0 2 0,0 0 0 0,0 0 1 16,0 0 0-16,0 0 1 0,0 0 1 0,0 0 1 0,0 0-1 0,0 0 0 0,0 0 0 16,0 2-2-16,0-2-2 0,0 1-2 0,-1 0-1 0,0 0-1 0,-1 1 1 15,2-2-1-15,-1 1 0 0,0 1-2 0,-3 1 0 0,3 0 0 0,-3 0 0 0,2 1-2 16,-2 0-1-16,0 1 2 0,-2 0-1 0,0 2 0 0,0-1 2 0,-2 2 0 16,1 0-1-16,-2 1-1 0,0 0 1 0,-1 1 1 0,2 0 0 0,-2 0 0 15,0 1-1-15,-1 1 2 0,1-1-1 0,-3 1 1 0,2 0 1 0,0 0-1 16,-1 0 0-16,-1 0 1 0,2 1 0 0,-1-1 1 0,-1 0 0 0,3 0-1 0,-2-1 1 15,-1 1-1-15,3-2 0 0,-1 1 0 0,1-1-1 0,0 1 1 0,2-2-1 0,-1 0-1 16,0-1-2-16,2 0 0 0,-1 0-2 0,3-2 2 0,-2 1-2 0,2-2 0 16,0 1 0-16,0-1 0 0,1 0-1 0,-1-1 1 0,2-2-1 0,-1 1 0 15,0 1 1-15,2-2-1 0,-1 0 2 0,1 0-1 0,-1 0-1 0,2-1-1 16,-3 0 1-16,3 1-1 0,0-2 0 0,0 1 0 0,-1 0-1 0,2 1 1 0,-1-1 1 16,0-1-1-16,0 1 1 0,-1 0-2 0,2 0 2 0,-1-1 0 0,0 1 0 15,-1 0-1-15,1 1-1 0,1-1-1 0,-2-1 1 0,1 1 0 0,1 0 0 0,-2 1-1 16,1-2-1-16,1 1-2 0,-1 0-2 0,0 1-1 0,-1-1-6 0,1-1-3 15,1 0-5-15,-1 1-2 0,0 1-5 0,1-2-5 0,0 1-3 0,0 0-6 16,0 1-4-16,0-1-6 0,0-1-5 0,0 1-5 0,0-1-7 0,0 0-12 16,0 0-18-16,1 1-21 0,0 1-45 0,2-2 26 0</inkml:trace>
  <inkml:trace contextRef="#ctx0" brushRef="#br0" timeOffset="11657.133">33443 13193 6 0,'0'-1'116'0,"0"1"-20"0,0-2-19 0,-1 1-16 0,1 0-15 0,-1 1-9 0,1-1-7 15,0 0-4-15,-2 0-3 0,2 0-1 0,-1 1 1 0,1-2-2 0,-1 1-2 16,0 0 0-16,-1 1-2 0,2-2 0 0,-1 1-3 0,0 0-1 0,0 0 0 0,-1 1-2 15,2 0-1-15,-2 0-1 0,-1 0 0 0,2 0-1 0,-1 0-1 0,-1 0-1 0,2 0 0 16,-2 0-2-16,2 0 0 0,-1 0-2 0,-2 0 2 0,0 0-2 0,2 0 0 16,-1 1 0-16,0 0 1 0,-2 0 0 0,1 1-1 0,0-1-1 0,-1 2 2 15,0-2 0-15,2 1 0 0,-2 0 2 0,0 1-1 0,-2 0 2 0,2 0 0 16,0 0 0-16,-1 1 0 0,0 0-1 0,0-1-1 0,-2 2 1 0,2 0 2 16,0-1-2-16,-3 1-1 0,3 1 1 0,-3 0-1 0,3 0-1 0,-1 1 1 0,-1-1-1 15,1 1-3-15,-2 0 1 0,3 0 1 0,-3 0 0 0,3 1-1 0,-2 0 0 0,1-1-1 16,2 0 2-16,-1 1 0 0,0 0 0 0,1-2-1 0,0 3-1 0,0-1 0 15,0 1 0-15,1-1 0 0,0 0 1 0,1 1-2 0,-1-1 2 0,1 3 0 16,2-3 0-16,-1 0 0 0,0 2-1 0,1-1 0 0,1-1-1 0,0 3-1 16,0-3 1-16,1 1 0 0,1-1 0 0,-1 0 1 0,0 1 0 0,2-1-1 15,0 1 0-15,1-1 0 0,-1 0 0 0,0-1 0 0,2 0-1 0,0 1 1 0,-1-2 0 16,0 1-1-16,0 0 1 0,2-2 0 0,-1 1-1 0,0 0-1 0,0-1 2 16,1 0-1-16,-1-2-1 0,0 2 1 0,2-1 1 0,-1-2-1 0,-1 0 0 0,3 2 0 15,-2-3-1-15,0 2 1 0,0-2 0 0,2 1 1 0,-1-1-1 0,1-1 0 16,-2 1 0-16,1 0 1 0,0-1-1 0,0 0 0 0,-1 0 0 0,-1 0 0 0,3 0 0 15,-3 0 2-15,0 0 1 0,0-1 0 0,0 0 0 0,-2 1 0 0,2-1 0 16,-1 0 0-16,0 0 0 0,-2 0-1 0,2-2 1 0,-2 2 0 0,2-2 0 0,-3 2 0 16,2-1 2-16,-1 0 0 0,1 0-2 0,-2 0 1 0,0-2 0 0,-1 1 1 15,2 2 1-15,-1-3 0 0,0 1 1 0,-1 1-1 0,0-2 0 0,0 2 3 16,0 0 0-16,0-2 3 0,0 1 1 0,0 1 2 0,0-1 1 0,0 0 2 16,0 1 2-16,0-2 0 0,-1 1 1 0,0 2-1 0,-1-3 1 0,2 1 2 0,-1 1-1 15,0-2 0-15,0 2-4 0,-1 0-1 0,2-2-3 0,-3 1 0 0,0 1-4 0,2-1 0 16,-2 0 0-16,1 1-1 0,-2-2-1 0,2 3 1 0,-2-2-1 0,0 2 0 15,1-2-1-15,-1 0 1 0,-1 1 0 0,1-1 1 0,-1 1 1 0,1 1 1 16,1-1 0-16,-2 1-1 0,1-2 1 0,0 2-1 0,-1-2 0 0,2 2-1 16,0 1 0-16,-1-1-1 0,2-1-1 0,-1 2 0 0,0 0 1 0,-1 0-1 15,0 0-2-15,2 0 0 0,-1 0-1 0,-1 0 0 0,2 0-1 0,-3 0 0 0,3 0-1 16,-1 0 1-16,-1 2 0 0,2-1 0 0,-2-1 0 0,1 1 0 0,0 0-1 0,-1 1 1 16,-1-2-1-16,0 1-1 0,2 0 1 0,-1 2-1 0,0-2 1 0,-1 1 0 15,0-1 0-15,0 2-1 0,0-2 0 0,-1 1 0 0,1 0 0 0,-1 2 1 16,-1-3-1-16,0 2 0 0,2 1 0 0,-3-1-2 0,1 1 0 0,-1-1-4 15,0 1-3-15,-2 0-2 0,3-1-4 0,-3 2-2 0,1 0-4 0,-2-1-5 0,1 1-6 16,-1 0-5-16,1 0-5 0,-2 0-5 0,-1 0-7 0,3-2-9 0,-2 2-14 0,-1 0-16 16,3-1-39-16,-2 1-49 0,0-1-49 0,0 0-9 0</inkml:trace>
  <inkml:trace contextRef="#ctx0" brushRef="#br0" timeOffset="16353.516">25880 15572 0 0,'-1'-2'85'0,"-1"-1"-25"0,0 3-26 0,1-1-10 0,0 0-6 0,-1 0-1 0,1 1-2 0,0-2 2 0,0 1 0 0,-1 0 1 0,1-1 0 0,0 2 0 0,-1-1-2 15,0 1 0-15,1 0 1 0,-1 0-1 0,0 0-1 0,1 0 0 0,-1 0-1 16,0 0-1-16,1-1-1 0,-1 1-3 0,-1-2 0 0,1 1-2 0,-1 0 0 16,3-1-1-16,-1 2 0 0,0-1 0 0,-1 0-3 0,1 0 1 0,1 1-1 15,-1-2 0-15,0 1-2 0,1 0 1 0,0 0-1 0,0-1 1 0,1 1 0 16,0-2 0-16,0 0 0 0,2 0-1 0,-2 0-2 0,3-1 0 0,0 0 1 15,-1 0-1-15,1 1 1 0,1-1 0 0,1 1 0 0,-1-2 1 0,0 2-1 16,0-3 0-16,3 3-1 0,-2-2-1 0,1 2 1 0,-2-3-1 0,2 4 1 16,1-2 0-16,-3 0-1 0,1 0 1 0,2 1-1 0,-2-1 1 0,-1 0 0 15,2 0 0-15,0 2 0 0,-1-1 1 0,1-1 0 0,-2 3 0 0,0-2 0 16,1 2 1-16,1 0 0 0,-2-1 1 0,1 0 0 0,-1 0-1 0,0 2-1 16,1-1 0-16,-1 0 0 0,0 0 0 0,0 1 0 0,1 0 0 0,-1 0 0 15,0 0 0-15,0 0 0 0,-1 1-1 0,-1 0-1 0,1 0-1 0,2-1 1 16,-2 3 0-16,0-2 1 0,0 1 0 0,-1 0 0 0,2 1 1 0,-2 0 0 0,-1 0-1 15,2 1 1-15,-3-1-1 0,2 1 2 0,-1 1-1 0,1-1 2 16,-2 1 0-16,0 2-1 0,-1 0 0 0,0-1 0 0,0 1 0 0,0 0-1 0,0 1-1 16,-1-1 1-16,0 2 0 0,-2-1 0 0,1 1 1 0,-1-1-2 0,1 0 0 15,-1 1 0-15,-1 0 0 0,0 0 2 0,0 1-1 0,0-1-1 0,-1 1 2 16,-1 0 0-16,1-2 0 0,-1 2-1 0,-2-1 0 0,2 0-1 0,1 2 0 16,-4-1 0-16,3 0 0 0,-1 0 0 0,-1 0-1 0,0 0 1 15,-1 0-1-15,0 1 0 0,1-3 1 0,0 1 0 0,-2 1-1 0,3-1 1 0,-3 1 0 16,1-1-1-16,-1-1 1 0,1 0 0 0,1 1 0 0,0-1-1 0,-2-1 1 0,3 0 2 15,-2 1 0-15,3-1-1 0,0-1-1 0,-2-1 1 0,2 1 0 0,2 0-1 16,-2-2 1-16,1 1 0 0,1 0 0 0,2-2 1 0,-2 1-1 16,3 0 1-16,0-2-2 0,-2 1-2 0,3 0 2 0,0-1-1 0,3 1 0 0,-1 0 0 15,-1-2-2-15,3 0 0 0,0-1-2 0,1 0-1 0,2 0-2 0,0 0-2 16,1 0-1-16,0-1 0 0,2 0 0 0,0-1-1 0,1 0 0 0,0 0 0 16,1-1 0-16,2 0 1 0,-3 1-1 0,4-1 1 0,-1-3 1 0,-1 3 1 15,2 0 2-15,-1-1 1 0,2-1 2 0,-2 1 1 0,-1-1 0 0,2 1 1 16,-2 0 0-16,-1-2 0 0,2 1 0 0,-3 2 1 0,1 0 0 0,1-1 2 15,-2-1-1-15,0 2 0 0,-1-1 0 0,0 0 2 0,0 0-1 0,-2 1-1 16,-1-1 0-16,2 1 1 0,-2 0 1 0,1 1-1 0,-2-1 0 0,0 0-1 16,0 2 0-16,-1-2 1 0,-1 1 1 0,0 0 0 0,1 2 0 0,-2-1 1 15,0 1 0-15,-2-2 3 0,2 1-1 0,-2 0 0 0,0 1 1 0,-1 0-1 16,0 0 0-16,0 0 1 0,0 0-2 0,-1 1 2 0,-2 0-1 0,2 1 0 16,-3-2 0-16,2 1-1 0,-3 1 0 0,1 0-3 0,-1 1-1 0,0-2 1 15,-1 2-1-15,1 0 0 0,0-2-4 0,-1 3-4 0,1-3-7 0,1 3-7 16,-1-3-11-16,0 2-14 0,2-2-29 0,0 0-33 0</inkml:trace>
  <inkml:trace contextRef="#ctx0" brushRef="#br0" timeOffset="17290.793">26618 15552 0 0,'-1'-2'3'0,"1"2"34"0,0-1-12 0,0 0-6 0,0 0-2 0,0 1-3 15,0 0 0-15,0 0 0 0,0 0 1 0,-2 0 1 0,2 0-1 0,-1-2 2 0,1 2 0 16,0-1-2-16,0 0 1 0,-1 0 0 0,0 1 0 0,-1-1-1 0,1 0 1 16,1 0-1-16,-1 1-1 0,-1-2-1 0,0 1-1 0,1 0 1 0,1-1-1 15,-1 2 0-15,0-1-1 0,-1 0-2 0,1 0 2 0,1-1-2 0,-1-1 0 16,0 2-1-16,-1-1-1 0,2 0-1 0,-1 0 1 0,-1 0 0 0,0 1 0 15,-1-2 1-15,0-1 0 0,2 2 0 0,-2-1 0 0,2 0-1 0,-1 1 0 16,-1-1-1-16,2-1 0 0,-3 2 0 0,3 0 1 0,-3-2 0 0,2 2 0 16,-1-1 0-16,0-1 1 0,-1 3 0 0,0-2 0 0,2-1 0 0,-1 2 2 15,-2-1 1-15,0 2 0 0,2-1-1 0,-1 1-1 0,0 0 2 0,0 0 0 16,-2-1 0-16,2 2-1 0,1 0 0 0,-1 0-1 0,-2 0-1 0,1 0-2 16,0 0 0-16,-1 2-2 0,1-1-1 0,0 1 0 0,0-1 1 0,-1 1 0 0,1 1-1 15,-1-1-2-15,0 2 0 0,1-1 1 0,0 1-1 0,-1 0 0 0,1 0 0 16,0-1-1-16,0 0 0 0,-1 3 1 0,2-3 0 0,1 2 0 0,-1 0-1 15,-1-1-2-15,1-2 1 0,2 4 2 0,-1-3-1 0,1 1-1 0,-1-1 1 16,2 1 0-16,-1 0-1 0,0-1 0 0,1 1 0 0,1-1 0 0,-1 0 0 0,1 0 2 16,0-1-1-16,0 1-1 0,0 0 0 0,0 0 0 0,1 1 0 15,-1-1-1-15,1 1 0 0,3 0 0 0,-3 0 2 0,2-1 0 0,-1 0 0 0,2 0 0 16,0 0-1-16,1-1 0 0,-2 1 0 0,2 0 0 0,0 0-1 16,3-1 1-16,-2 0-1 0,0-1 0 0,2 0 0 0,-1 0 0 0,0 0-1 15,2-1-1-15,0 2-1 0,-2-1 2 0,3 0-1 0,-2-1 1 0,-1 2 0 0,3-2 1 16,-2 0-2-16,0 1 1 0,-1 0-2 0,1-1 1 0,-2 1-1 15,1-1 2-15,0 2-1 0,-2-2 0 0,0 1 0 0,1 1-1 0,-1-2 1 0,-1 1 0 16,-1 1 2-16,1 0-2 0,-2 0 2 0,-1 1 1 0,0-2 1 0,-1 5-1 16,-1-3 1-16,0 2 0 0,-1-2 1 0,-1 4-1 0,0-2 1 0,-1 2 0 15,1-1-2-15,-1 2 0 0,-2-1 0 0,1 1 0 0,-1 0 1 0,-2-1 0 16,3 0-1-16,-1 1 0 0,-3 0 1 0,3 1 0 0,-3-3 1 0,3 2-1 16,-1-1 1-16,-1 1 0 0,3 0 0 0,-2-2 1 0,1 1-1 0,-1 0 0 15,0-1 1-15,2 0 0 0,0 0 0 0,0-1 1 0,-1 0 0 0,1-1-1 16,1 0 1-16,-1 0-1 0,0-1 0 0,2 1 0 0,0-1 1 0,-1 0 0 15,1 0 1-15,0-2 1 0,2 0-2 0,-2 1 0 0,2-1-1 0,1 0 0 16,-1 1 0-16,1-2 0 0,0 0 0 0,0 0 0 0,0-2 1 0,0 1-1 16,0 0 1-16,0-2-1 0,1 0-2 0,-1-1-1 0,1 1 2 0,1-1 1 15,0 0-2-15,-1-2 1 0,3 1 0 0,-3-1 0 0,3-1 0 0,-1 2-1 16,0-3 0-16,0 1 0 0,-1 0 1 0,3-1 0 0,0 0 0 0,-1 0 1 16,0 0 0-16,0-1 0 0,2 1-1 0,-1-1 0 0,2 0 0 0,-1-1 1 15,-1 1-1-15,2-1 1 0,1 2-1 0,-2-1 0 0,3 1 0 0,-3 0-1 16,3-1 0-16,-3 2-1 0,-1-1 0 0,2 2 0 0,0-1 0 0,-2 2-2 0,1 0 0 15,-1-1-2-15,-1 3-2 0,-1 0-2 0,2-1-1 0,0 1-3 16,-2-1-3-16,-1 3-2 0,2 0-3 0,-2-2-2 0,1 0-2 0,-1 2-4 0,0-1-4 16,0 2-3-16,-1-2-4 0,2 1-4 0,-2 1-6 0,2-2-9 0,0 2-14 15,-2-1-15-15,2 0-30 0,-2 0 79 0</inkml:trace>
  <inkml:trace contextRef="#ctx0" brushRef="#br0" timeOffset="17892.719">26845 15525 0 0,'0'-1'65'0,"-1"0"-6"0,0 0-29 0,1 1-14 0,0-2-9 0,0 1-3 0,0-2-2 16,1 3 0-16,0-1-1 0,-1 0 0 0,1 1 1 0,1-2 1 0,-1 1 1 15,0 0-1-15,-1-1 1 0,1 2 2 0,1-1 0 0,-1 0 1 0,0 0 1 16,-1 1 1-16,2-2 1 0,-1 1 2 0,0 0 2 0,0 1 0 0,-1 0 0 0,3 0 1 15,-2 0 0-15,0 0-1 0,0 0 1 0,-1 0-1 0,3 1 0 0,-2 0-1 16,2 1 0-16,-1-2 0 0,-1 1 0 0,3 0 0 0,-3 0-3 0,3 2 0 16,-2 0-2-16,2-2-1 0,0 2 0 0,1 1-2 0,-1-1 1 0,-1 2-2 15,2-2 1-15,1 3-1 0,0-2 0 0,0 2-1 0,1 1-1 0,-2-2-1 16,1 1-1-16,2 1 1 0,-1 0-1 0,1-1 2 0,-1 1 1 0,-1-1-1 16,3 3-1-16,-3-2 1 0,3 0-1 0,-3-1 0 0,2 1-2 0,0-1 0 15,-1 1 2-15,1 0 0 0,-2-1 1 0,2 0-2 0,-1-1 0 0,1 1-1 0,-1-1-1 16,1-1 0-16,0 1 0 0,-1 1-2 0,0-4-1 0,0 2-2 0,0 0-3 15,-1-1-2-15,1 0-5 0,-2-1-2 0,0 1-5 0,1-2-3 0,-1 2-3 16,1-2-5-16,-3 0-7 0,2 0-7 0,0 0-10 0,-1-1-15 0,-2 0-19 16</inkml:trace>
  <inkml:trace contextRef="#ctx0" brushRef="#br0" timeOffset="18294.206">27132 15463 0 0,'-5'-4'101'0,"1"1"-18"0,2-1-38 16,-2 1-19-16,1 0-9 0,0 2-5 0,-1-1-2 0,2 0-1 0,-1 1 0 15,0 0 1-15,-1 0-1 0,0 1 1 0,2 0-1 0,-1 1 0 0,-1 0 1 16,1 0 0-16,-2 2 0 0,1-1 1 0,0 1 1 0,-1 1 0 0,0 0 2 16,2-1 0-16,-1 1 0 0,0 1 0 0,-2-1 0 0,2 1-1 0,1 0-1 15,-1 1-1-15,-1 0-2 0,1-1 1 0,-1 1-2 0,1 0 1 0,1-2-1 16,-2 3 1-16,1-1-1 0,0-2-1 0,-1 3-1 0,0-2 0 0,0 0-1 0,0 2 0 16,-1 0-1-16,1-1 1 0,0-1-1 0,0 4 0 0,-1-2-1 0,1 1 1 15,0-1-2-15,0 1 1 0,0 1-2 0,0-3 0 0,0 2-1 0,-1-1 1 16,2 0-1-16,1 1-1 0,-1 0 1 0,-1-1-2 0,1 1-1 0,-1-2-1 15,3 1-1-15,-1-1-2 0,-2 1-2 0,3 0-1 0,-2-1-1 0,2 1-1 16,-1-1-2-16,-2 1 0 0,3-2-3 0,-1 1-1 0,1-1-3 0,-1 1-2 16,2 0-2-16,-2-1-2 0,2 1-1 0,-1-2-2 0,-2 1-3 0,3 0-4 15,0 0-5-15,-1 0-7 0,1-1-7 0,1 0-13 0,0 0-16 0</inkml:trace>
  <inkml:trace contextRef="#ctx0" brushRef="#br0" timeOffset="19139.938">27531 15528 0 0,'-5'-3'99'0,"0"0"7"0,0 0-33 0,-1 0-20 0,1 2-13 0,0 0-9 0,-1-2-8 0,1 0-3 0,0 2-3 0,0-1-1 0,0 0-4 0,1 0-3 15,0 1 0-15,-1-1-2 0,0 1-2 0,3-2-2 0,-2 0-1 16,2 3-2-16,-1-1 0 0,1 0 0 0,-1 0 1 0,1 1 0 0,-1-1 0 0,2 0 0 15,0 0 1-15,0-1 0 0,-1 2 1 0,2-1-1 0,-1 0-1 0,0 0 1 16,-1 1-1-16,2-2 1 0,0 1 0 0,0 0 0 0,0-1-2 0,0 2 0 0,0-1 2 16,0 0-1-16,2-1 0 0,-1 0-2 0,0 0 0 0,1 0-1 15,0-1 1-15,-1 1 1 0,3 0 1 0,0-2-1 0,-2 2-2 0,2-1 1 0,-2 0 0 16,2 1-1-16,2-1 0 0,-2-1 1 0,0 2-1 0,0-1 1 0,-1 2 2 16,2-2 0-16,0 0-1 0,-1 0-1 0,1 0-1 0,1 1 1 0,-1-1 3 15,0 1-1-15,1 0 0 0,-1 0 0 0,0-1-2 0,1 1 1 0,-1 1-1 16,0-1 0-16,-1 0 0 0,2-1-1 0,0 3 1 0,1-1-1 0,0 0 1 15,-2-1 0-15,0 2-1 0,2-1 1 0,-2 1 1 0,1 0-1 0,0 0-1 16,-1 1-1-16,0-1 1 0,0 3-2 0,-1-2 2 0,0 3-1 0,0-1 0 16,-1 0 2-16,-1 2-1 0,-1 0 1 0,-1 0-1 0,0 2 0 0,0-1-1 15,-2 3 1-15,-1 1 1 0,-2-1 0 0,0 3 0 0,-1-2-1 0,1 1 0 16,-2 1 1-16,-2-1 1 0,0 3 0 0,-2-2-1 0,2 2 1 0,-2-1 1 16,-1 0 0-16,1 0 0 0,-2 0 0 0,2 0 0 0,0 0 0 0,-2 1 0 15,2-3 1-15,1 1 0 0,-1 1-1 0,1-2 0 0,0 1-1 0,0-3-1 16,2 2-1-16,0-1 1 0,-2-2 0 0,4 1 2 0,-1-1-1 0,0 0-1 15,2-1 1-15,-1-1 1 0,3 0-2 0,-1 1 0 0,1-4 0 0,-1 2 0 16,2 0-1-16,-2-2 0 0,3 1 1 0,0-1-1 0,0 0-1 0,1 0 1 16,0-2-1-16,0 2-1 0,1-2 1 0,0 2-1 0,0-3-1 0,3 1 1 15,-2-1-1-15,2 0 1 0,0 0 1 0,0 0-1 0,1-1 0 0,0 1-2 16,0-2 1-16,0 0 2 0,1 0-1 0,0 1 1 0,0 0-1 0,0-2 2 0,1 2-1 16,1-2-1-16,-1 1 2 0,0-2-1 0,0 3 1 0,1-2 2 15,0 1-1-15,1 0 0 0,0-2-1 0,-2 3-1 0,3-1 0 0,-2 1-2 0,-1-2-1 16,3 1-1-16,-4 0-2 0,3 0 0 0,-3 0-1 0,3 0-3 0,-3 2-2 15,0 0-3-15,2-2-1 0,-2 1-3 0,-1 0-1 0,2 1-1 0,-2-2-3 16,1 1-1-16,0 0-1 0,-1 0-5 0,0 1-4 0,0-2-4 0</inkml:trace>
  <inkml:trace contextRef="#ctx0" brushRef="#br0" timeOffset="19997.983">28069 15457 83 0,'-3'-5'68'0,"-1"0"-26"0,2 2-15 0,-3-1-6 0,3 0-3 0,-1 0-1 0,1 2-1 0,0-1-2 0,-1 0 0 0,-1 0-2 0,1 0-2 0,1 1-2 0,-2 1 1 16,2-1-1-16,-1 0 0 0,-2 0 0 0,3 0 0 0,-1 1 0 0,-2 0-1 15,1 0 0-15,0-1 1 0,0 2 1 0,0 0 0 0,-1 0 0 0,0 0-2 16,0 0 0-16,0 0 0 0,-1 0 0 0,-1 0 0 0,0 0 0 0,0 2-1 0,0-1 2 15,0 1 0-15,-3 0 1 0,3 0 0 0,-2 0 0 0,0 1-1 16,0-1 1-16,0 1 1 0,-1 0-2 0,1 1 0 0,1-1 0 0,0 1-1 0,-2 0-1 16,3 0 0-16,-2-1-1 0,3 0-3 0,-2 1 1 0,2 1-1 15,0-2 0-15,1 1-1 0,-1 0 0 0,1 0-1 0,1 1-1 0,0 0 0 0,-2 0 1 16,4-2 0-16,-1 3 0 0,-1-3 0 0,3 2 0 0,-1 0 1 0,-1-1 0 16,3 0-2-16,0 0 0 0,0-1 1 0,0 2-2 0,0-2 0 0,3 1 0 15,-1 0 1-15,1-2 1 0,-1 2-3 0,3-2 0 0,-1 1 0 0,1-1-1 16,0 0 0-16,0-1 0 0,2 0 1 0,-2 2-1 0,1-2-1 15,3 1 2-15,-3-2 0 0,3 1 0 0,-3 0-2 0,2 0 0 0,0-1 1 0,0 0-1 16,-1 0 1-16,1 2-1 0,-1-1-2 0,1 0 1 0,-1 0 0 0,0-1 1 0,0 1 1 16,-1 0-2-16,1 0 0 0,-3 1 0 0,1 0 0 0,1 0 0 0,-2 1 0 15,0-1 0-15,-2 2-1 0,2 0 0 0,-3 1 0 0,3-1 0 0,-3 2 0 16,-1-1 0-16,1 2 0 0,-1 0 0 0,0-1 0 0,0 1 1 0,0 0 1 16,-1-1 1-16,1-1-1 0,-1 3 2 0,0-2 0 0,-2 1 1 0,3-1 0 15,-1 1 1-15,-1-1 0 0,0 0 0 0,0-1 0 0,-1 1 0 0,2 0 2 16,-2-1 0-16,2 0 0 0,-2 0 1 0,0-1 0 0,2 0 0 0,-2 0 1 15,2-1-1-15,-1 0-2 0,0 0 1 0,0 1 1 0,-2-2 0 0,3 1 0 16,-1-1-1-16,0-1 1 0,1 1-1 0,0 0 0 0,-1 0 0 0,1 1-1 16,-1-3-1-16,-1 1 0 0,2 0 2 0,-1 1 1 0,-1-2-1 0,2 0 2 15,-2 1 0-15,2 0-2 0,-1 1 1 0,0-2 0 0,0 0 0 0,-2 0 3 16,1 0-1-16,0 1 1 0,-1-1 2 0,2 0-2 0,-1 0 1 0,-3 0 1 16,2 0 0-16,1 0 0 0,-1 0 0 0,-1 0 1 0,1 0 1 0,-1 0 0 15,0 0 1-15,-1 0-1 0,1-1 1 0,0 1 1 0,-1-2-2 0,2 1 1 16,-1 0-1-16,1 1-2 0,1-2 0 0,-2 0 0 0,1 0-2 0,0 0-1 15,1 1 1-15,-1-2-1 0,0 1-1 0,3-1 0 0,-2 0-1 0,2 0-3 16,0 0 0-16,0 0 1 0,1-2 1 0,0 1 0 0,1 0-1 0,0 0 0 16,0-1 0-16,3-1 1 0,0 0-2 0,1-1 0 0,0 1 0 0,1-1 0 15,0 0 2-15,2-2 0 0,0 3-1 0,1-2-1 0,1-1 1 0,0 1 1 0,2-3-1 16,-2 3 0-16,4-1-1 0,-2-1 1 0,3 1-1 0,-2 1-1 0,0-3-2 16,2 2-1-16,0 0-1 0,1-2 0 0,-3 3-1 0,0 0 1 0,2-1-1 15,-2 3-1-15,-1-2-1 0,1 1 0 0,-1 0-2 0,-2 1-3 0,0 0-2 16,-3 1 1-16,3 0-1 0,-4 2 1 0,1-1-2 0,-1 1-3 0,-2 2-6 15,-1-2-9-15,1 0-13 0,-3 3-16 0,3-1-37 0,-4 1-49 0</inkml:trace>
  <inkml:trace contextRef="#ctx0" brushRef="#br0" timeOffset="20543.899">28308 15574 0 0,'-5'-2'108'0,"0"2"-14"0,2-1-44 0,-2 0-19 0,2 0-9 0,0-1-5 0,0 2-3 0,1-1-2 0,0 0-1 0,-1 0-1 0,1 1-3 16,1-2-1-16,1 2-3 0,-1 0-1 0,1 0-1 0,0 0-1 0,0 0 1 0,0 0-2 15,0 0-1-15,0 0 1 0,0 0 0 0,0 0 0 0,0 0 0 16,0 0 2-16,0 0 1 0,0 0-1 0,0 0 1 0,0 0 0 0,0 0 0 0,1 2 2 15,-1-2-1-15,1 1 2 0,1 0-1 0,-1 0 1 0,1-1 0 16,-2 2 1-16,2 0 0 0,-1-1 0 0,1 1-1 0,0-1-1 0,0 2-1 0,-1 0 1 16,2-2-1-16,-1 1 0 0,3 0-1 0,-2-1-1 0,0 1 0 15,1 0 1-15,2-1 0 0,-2 2 0 0,1 0-1 0,0-2-1 0,1 0 1 16,-1 2 0-16,1 0 0 0,2 0 0 0,-2 0 0 0,-1-1 0 0,2 1 0 0,0 0 0 16,0 0 0-16,1 0 0 0,-2 2-1 0,1-2 0 0,-1 1 1 0,1 0 0 15,0 0-1-15,-2 1-1 0,1 0-1 0,2-2 1 0,-2 3 1 0,0-1-1 16,0-1 1-16,1 2 0 0,0-2 0 0,-1 2 0 0,-1-1 0 0,0-1-2 0,1 1-3 15,-1 0 0-15,2-1-1 0,-1 1-1 0,0 1-1 0,-1-2-1 16,1 0-1-16,0 1-2 0,1-1-1 0,-1 0-2 0,0 0-1 0,-1-1-1 16,2 0-1-16,0-1-1 0,-1 1-2 0,1-1-2 0,-2 0-2 0,3 0-4 15,-2 0-5-15,0-1-6 0,0 0-9 0,-1-1-12 0,-1 1 29 0</inkml:trace>
  <inkml:trace contextRef="#ctx0" brushRef="#br0" timeOffset="21053.47">28561 15506 0 0,'-2'-1'32'0,"2"-1"20"0,-1 1-19 0,0 0-13 0,0 0-9 0,1 1-2 0,0-1-2 0,0 0-1 16,0 1 0-16,0 0 0 0,0 0-1 0,0 0-1 0,0 0 1 15,0 0-1-15,0 0 2 0,0 0 0 0,0-1 0 0,0 1 2 0,0 0 4 0,0 0 1 16,0 0 1-16,0 0 2 0,0 0 3 0,0 0 2 0,0 0 1 15,0 0-1-15,0 0 2 0,0 0 1 0,0 0-1 0,0 0 1 0,0 0 0 0,-2 0-1 16,2 0 0-16,-2 1-1 0,-1 0-3 0,1 0-2 0,-2 1-1 0,2 1-2 16,-1-1 0-16,-2 1-1 0,0 1-1 0,2-2-1 0,-1 4 0 0,-1-1-2 0,-1 0 1 15,1 2-1-15,0-2-1 0,-3 1 0 0,3 2-1 0,-1 0 0 16,-1-1-1-16,0 2-2 0,1-1 0 0,-2 1 0 0,1-1-2 0,-1 1-1 16,0 1 1-16,3-2 0 0,-3 2 0 0,1 0-1 0,2-1 0 0,-2 1 0 15,1-1 0-15,-2 0 0 0,3 0 1 0,0 1-1 0,0 0-1 0,-1-2 0 0,1 2 2 16,1-2 1-16,1 1-1 0,-2-1-2 0,2 0 0 0,-1 0-1 15,2 0 0-15,-2-1 0 0,3-1 0 0,-3 2 0 0,3-4-1 0,0 2 0 0,0 1-2 16,-1-3-1-16,2 0-2 0,-1 1-1 0,1-2-2 0,0 2-3 0,0-1-1 16,0-2-5-16,0 0-2 0,0 2-3 0,0-2-4 0,1 1-5 0,-1-2-4 15,2 2-6-15,-1-3-5 0,0 1-9 0,-1-1-9 0,4 0-17 0,-4 0-20 16,2 0-39-16,2-1 139 0</inkml:trace>
  <inkml:trace contextRef="#ctx0" brushRef="#br0" timeOffset="22109.027">29152 15346 7 0,'-3'0'80'0,"3"-2"-15"0,-3 2-17 0,1-1-10 0,1 0-8 0,0 1-4 0,-2 0-2 0,2 0-1 0,-1 0 0 16,0 0-2-16,0 0-1 0,-1 0-3 0,1 0-1 0,0 0-2 0,-1 0-1 15,-1 0-1-15,2 0 1 0,-1 1-2 0,-3 0 0 0,2-1-1 0,1 2 0 16,-1-2-3-16,-1 1 0 0,0 0 0 0,0-1 0 0,0 2 1 0,-1-1 1 15,1 0 0-15,0 2-1 0,-3-1-1 0,2 0 0 0,1-1 0 0,-2 2 1 16,-1-1 1-16,1 2 2 0,-1 0 0 0,2-1 2 0,-2 1 0 0,1 0 0 16,-1 0-2-16,0-2-1 0,2 4 1 0,-3-1 0 0,3-1 0 0,-3 1 0 15,3 1-1-15,-1-1-1 0,-2 2-3 0,0 0-2 0,1 1 0 0,0-2-2 16,-2 3 0-16,3-1-1 0,-2 0 0 0,2 1-1 0,0-1 1 0,0 1-2 16,1-1 1-16,-2 0-1 0,3 1 0 0,0-1 0 0,0 1 0 0,-1-1 0 15,2 2 0-15,1 0 1 0,-1-1 0 0,-1 1 0 0,1-1-2 0,2 0 0 16,-1 0 0-16,2 0 0 0,-1-1-1 0,0 1 0 0,2-1 1 0,-2 0 0 0,1 1-1 15,-1-2 1-15,2 1-1 0,0 0 1 0,0-1-2 0,0 0 1 16,0 1 1-16,0-2-1 0,2 1 1 0,-1 0-2 0,1-1 1 0,-2 1-3 16,2-1 0-16,-1 0 1 0,0-1-2 0,0 1-1 0,-1 0-1 0,2-1 1 0,-1-1-3 15,1 1-1-15,0 0 0 0,0-1-2 0,-1 1 2 0,4-1-1 0,-2 0 1 16,-1-1-1-16,2 1 0 0,-2 0-3 0,3 0 1 0,0 0 2 0,-1-2-1 16,0 1-1-16,1 1-1 0,0-2 0 0,0 0 1 0,0 2 0 0,1-2 0 0,-1 1-1 15,1-1 0-15,0-1 1 0,0 1-1 0,1 0 0 0,0 0 1 16,-1 1 0-16,3-2 1 0,-3 0 1 0,2 1 1 0,0-2 2 0,-1 1 1 0,1-1 0 15,-1 1 0-15,0 1 1 0,0-2 0 0,1 0 1 0,-1 0 1 16,1 0 1-16,-1 0 1 0,1 0 1 0,-1 0 1 0,-1-2-2 0,1 1 1 0,-1 1 1 16,1-1 0-16,-2 1 1 0,0-2 1 0,1 1 1 0,-1 0 1 0,-1-1 0 15,0 0 0-15,1 1 3 0,-2-2-1 0,1 2 2 0,-1-2 1 0,-1 0 3 16,-1 1-1-16,2-2 3 0,-1 2-1 0,0 0 0 0,-1-2 3 0,0 1 0 16,0 1 1-16,-1-1 3 0,0-1-1 0,0 1 0 0,0 0-1 0,-1-1-1 15,0 1-1-15,0-1 1 0,-1 0-1 0,-1 2 0 0,0-1 1 0,-1-1 1 16,2 1-2-16,-2 1-1 0,-2-2-1 0,2 2 0 0,-1 0-1 0,0-2 0 15,-1 1 0-15,1 1 1 0,-1-1 0 0,-1 0 1 0,0 1-1 0,2-1 0 16,-2 1 0-16,1 0-3 0,-2 2 1 0,3-1-1 0,-1 1 0 0,-1-2-1 16,0 2 0-16,1 0 0 0,0 0 0 0,0 0-2 0,-1 0 0 0,0 2-1 15,2-2 0-15,-1 1 0 0,-1-1-1 0,0 2 1 0,1-2-2 0,-3 2 0 16,3 1-1-16,-2-2 2 0,1 2-1 0,0-1 0 0,-1 0 0 0,1 2-1 16,-2-2 0-16,3 2-1 0,-3-1 0 0,3 1-2 0,-1 0 0 0,-1 1-1 15,1-2 0-15,-1 2-2 0,3 0-4 0,-1-1-6 0,0 1-6 0,1 0-6 16,1-1-12-16,-1 0-12 0,0 0-33 0,2 0-42 0,0-1-56 0,-1 1-40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4580B-F2C7-45BE-AD20-3142EAD94CF0}" type="datetimeFigureOut">
              <a:rPr lang="en-GB" smtClean="0"/>
              <a:t>12/07/2026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CCC89-DDD0-4B41-8F81-54AF2C8486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041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CCC89-DDD0-4B41-8F81-54AF2C84860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3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C64C-CB80-4AC6-B559-E8FA6C326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76837-4B21-4594-A964-16D1B9AB4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C224-3BC8-4E53-90FE-B5D31F2C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2747E-8BB6-4B82-8553-776A391F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62F9D-F68A-4255-A33E-5F0F1F084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3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28E5F-6C83-4B06-9C14-60211BCE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397C5-6937-4456-AB1A-39805E428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BE3B-EAB5-4C1A-9EFC-C2A27F131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670A-C5E5-4ACA-9935-2833E05DC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54C39-30BD-4C32-A8BF-474771E9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1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41B8-63AE-41EF-A898-B213DA21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A0B61-3786-40C3-B566-FDE26D939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10DB0-CA98-4AB2-A810-097A4F5A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2C354-F004-4FF8-9D7C-2F3DD558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C1A2C-E604-4669-A036-FCB794FEE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4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75F1-D5C4-4502-A043-244DFAA0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59DD-1C1A-4591-A7D8-F07E3858A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FFCD3-23F8-40D3-A026-58FBC374F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0E3A5-CD0C-4296-BE7F-858F10E2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27D86-92EF-4B16-A9F9-22290F783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5BA9C-CC7F-48D1-98A2-529BA46D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82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C64A-5B56-4DDE-BA7A-E01BB960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85FAC-21D5-4EF2-8C55-2328EA7EB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41F78-0D9A-406E-A0D6-12F3815C4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794F6-9A78-422D-8333-53B4D1BD8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42261-E99E-43FE-93A9-C4955E70A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924D8-B2F7-482D-92A9-DB4F01F8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C5EB8-DA95-48CF-97AF-641EF0283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78DAC-2FAC-4153-9314-83787384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0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5127-A90F-4826-917D-2F2BDD11B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3A697-F36F-42CD-A162-306349C4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A0961-3068-494C-A180-3571D3322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976F3-C231-4A01-A861-3A421A58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6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FE73E-87C2-4CAA-A6F7-A6426220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E8B59-AE4B-4B26-A229-B52BF6C0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FA76F-1731-49ED-A03F-E46CFAAF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36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93D1-D97E-4E34-ABDA-B10943A9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206EC-3491-4F7D-BDF2-962417F65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778CC-2B4E-430F-814B-331BCDD40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D1E0A-50DD-4C4C-82F4-69843F12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4B446-4845-4A6B-8276-B47CCB12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409FE-175A-4A3D-97E9-42B5BAC4C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22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62C4-7C88-4581-BE87-285D7857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3B0FC-8B39-4F3C-88E3-E7ADF0D19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BFB61-DDC7-4E06-A81A-57C93D7F9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72301-D27A-4C8C-8738-07F6586B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3B0B7-07D6-44E8-8A81-E97FE0B2E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7AFC3-11B1-4E41-B4D2-DCAD6FC65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19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9BB0-5FB1-445A-A52C-302F03224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7BDB3-3F33-4747-8408-225D1F5F4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2A83-A456-46ED-A09B-465CB42B7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10729-31C8-47E5-83E4-0A6B155D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F6BD9-58EA-4FB7-BB72-50EB4094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6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F3B9E3-E69A-4D2E-9400-11AAE48D6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7E9B7-E25C-4066-A667-916AE4C6B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FE95-86A4-4D9E-B8C5-20E94D2C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5CB73-858B-4E39-AE0D-902FB086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9D180-361E-46A1-A1AD-9898E288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06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DFCF9-ADA1-4051-BC6C-BFDFA93B0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1CD6B-0835-46CD-BFEF-10E72AB43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F6DF4-A5FA-4E98-BF54-AE634965E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D5C79-5683-499C-A984-4AF9B9386BA6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2F958-9768-4017-807C-834FF932A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0BBED-350B-4CB2-B3CD-A62AB5562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C91BA-6D7D-404E-8F9B-326E13027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192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Convolutional Neural Network - I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4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IN" sz="2400" dirty="0">
                <a:latin typeface="Arial Narrow" panose="020B0606020202030204" pitchFamily="34" charset="0"/>
                <a:ea typeface="+mn-lt"/>
                <a:cs typeface="+mn-lt"/>
              </a:rPr>
              <a:t>Introduction to Convolutional Neural Network (CNN)</a:t>
            </a:r>
          </a:p>
          <a:p>
            <a:pPr algn="just"/>
            <a:endParaRPr lang="en-IN" sz="2400" dirty="0">
              <a:latin typeface="Arial Narrow" panose="020B0606020202030204" pitchFamily="34" charset="0"/>
              <a:ea typeface="+mn-lt"/>
              <a:cs typeface="+mn-lt"/>
            </a:endParaRPr>
          </a:p>
          <a:p>
            <a:pPr algn="just"/>
            <a:r>
              <a:rPr lang="en-IN" sz="2400" dirty="0">
                <a:latin typeface="Arial Narrow" panose="020B0606020202030204" pitchFamily="34" charset="0"/>
                <a:ea typeface="+mn-lt"/>
                <a:cs typeface="+mn-lt"/>
              </a:rPr>
              <a:t>Typical CNN Architecture</a:t>
            </a:r>
            <a:endParaRPr lang="en-IN" sz="2400" dirty="0">
              <a:latin typeface="Arial Narrow" panose="020B0606020202030204" pitchFamily="34" charset="0"/>
            </a:endParaRPr>
          </a:p>
          <a:p>
            <a:pPr lvl="1" algn="just"/>
            <a:r>
              <a:rPr lang="en-US" sz="2000" dirty="0">
                <a:latin typeface="Arial Narrow" panose="020B0606020202030204" pitchFamily="34" charset="0"/>
                <a:ea typeface="+mn-lt"/>
                <a:cs typeface="+mn-lt"/>
              </a:rPr>
              <a:t>Convolution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  <a:ea typeface="+mn-lt"/>
                <a:cs typeface="+mn-lt"/>
              </a:rPr>
              <a:t>Pooling</a:t>
            </a:r>
          </a:p>
          <a:p>
            <a:pPr lvl="1" algn="just"/>
            <a:r>
              <a:rPr lang="en-US" sz="2000" dirty="0">
                <a:latin typeface="Arial Narrow" panose="020B0606020202030204" pitchFamily="34" charset="0"/>
                <a:ea typeface="+mn-lt"/>
                <a:cs typeface="+mn-lt"/>
              </a:rPr>
              <a:t>Local Contrast Normalization</a:t>
            </a:r>
          </a:p>
          <a:p>
            <a:pPr algn="just"/>
            <a:endParaRPr lang="en-US" sz="2400" dirty="0">
              <a:latin typeface="Arial Narrow" panose="020B0606020202030204" pitchFamily="34" charset="0"/>
              <a:ea typeface="+mn-lt"/>
              <a:cs typeface="+mn-lt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  <a:ea typeface="+mn-lt"/>
                <a:cs typeface="+mn-lt"/>
              </a:rPr>
              <a:t>CNN – For Image Recognition</a:t>
            </a:r>
          </a:p>
        </p:txBody>
      </p:sp>
    </p:spTree>
    <p:extLst>
      <p:ext uri="{BB962C8B-B14F-4D97-AF65-F5344CB8AC3E}">
        <p14:creationId xmlns:p14="http://schemas.microsoft.com/office/powerpoint/2010/main" val="15706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318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Convolutional Neural Network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480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A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Convolutional Neural Network (CNN) </a:t>
            </a:r>
            <a:r>
              <a:rPr lang="en-GB" sz="2000" dirty="0">
                <a:latin typeface="Arial Narrow" panose="020B0606020202030204" pitchFamily="34" charset="0"/>
              </a:rPr>
              <a:t>is a specialized type of neural network designed to automatically learn and extract meaningful features from input data, particularly images.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It consists of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convolutional layers </a:t>
            </a:r>
            <a:r>
              <a:rPr lang="en-GB" sz="2000" dirty="0">
                <a:latin typeface="Arial Narrow" panose="020B0606020202030204" pitchFamily="34" charset="0"/>
              </a:rPr>
              <a:t>that apply multiple learnable filters (or kernels) across the input to identify fundamental patterns such as edges, textures, shapes, and other simple visual structures.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Unlike traditional neural networks, each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neuron</a:t>
            </a:r>
            <a:r>
              <a:rPr lang="en-GB" sz="2000" dirty="0">
                <a:latin typeface="Arial Narrow" panose="020B0606020202030204" pitchFamily="34" charset="0"/>
              </a:rPr>
              <a:t> in a convolutional layer is connected only to a small local region (or patch) of the input, enabling the network to capture spatial relationships efficiently. </a:t>
            </a:r>
          </a:p>
          <a:p>
            <a:pPr algn="just"/>
            <a:endParaRPr lang="en-GB" sz="2000" dirty="0">
              <a:latin typeface="Arial Narrow" panose="020B0606020202030204" pitchFamily="34" charset="0"/>
            </a:endParaRP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A key characteristic of CNNs is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weight sharing</a:t>
            </a:r>
            <a:r>
              <a:rPr lang="en-GB" sz="2000" dirty="0">
                <a:latin typeface="Arial Narrow" panose="020B0606020202030204" pitchFamily="34" charset="0"/>
              </a:rPr>
              <a:t>, where the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same filter (set of weights) is applied to different regions of the input</a:t>
            </a:r>
            <a:r>
              <a:rPr lang="en-GB" sz="2000" dirty="0">
                <a:latin typeface="Arial Narrow" panose="020B0606020202030204" pitchFamily="34" charset="0"/>
              </a:rPr>
              <a:t>. This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significantly reduces the number of trainable parameters</a:t>
            </a:r>
            <a:r>
              <a:rPr lang="en-GB" sz="2000" dirty="0">
                <a:latin typeface="Arial Narrow" panose="020B0606020202030204" pitchFamily="34" charset="0"/>
              </a:rPr>
              <a:t>, lowers computational complexity, and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improves the model's ability to generalize to unseen data</a:t>
            </a:r>
            <a:r>
              <a:rPr lang="en-GB" sz="2000" dirty="0">
                <a:latin typeface="Arial Narrow" panose="020B0606020202030204" pitchFamily="34" charset="0"/>
              </a:rPr>
              <a:t>.</a:t>
            </a:r>
            <a:endParaRPr lang="en-IN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4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ounded Rectangle 72"/>
          <p:cNvSpPr/>
          <p:nvPr/>
        </p:nvSpPr>
        <p:spPr>
          <a:xfrm>
            <a:off x="8178800" y="2490211"/>
            <a:ext cx="895350" cy="379932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8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0078591" y="2490211"/>
            <a:ext cx="921424" cy="504747"/>
          </a:xfrm>
          <a:prstGeom prst="ellipse">
            <a:avLst/>
          </a:prstGeom>
          <a:solidFill>
            <a:schemeClr val="accent4">
              <a:lumMod val="20000"/>
              <a:lumOff val="80000"/>
              <a:alpha val="51000"/>
            </a:schemeClr>
          </a:solidFill>
          <a:ln w="25400">
            <a:solidFill>
              <a:schemeClr val="accent1">
                <a:shade val="50000"/>
                <a:alpha val="9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423" y="98796"/>
            <a:ext cx="10515600" cy="101979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Convolutional Neural Network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423" y="1355104"/>
            <a:ext cx="7035270" cy="5290793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000" dirty="0">
                <a:latin typeface="Arial Narrow" panose="020B0606020202030204" pitchFamily="34" charset="0"/>
              </a:rPr>
              <a:t>A CNN is composed of several fundamental building blocks that work together to learn hierarchical representations of input data. </a:t>
            </a:r>
          </a:p>
          <a:p>
            <a:pPr algn="just"/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Convolutional layers </a:t>
            </a:r>
            <a:r>
              <a:rPr lang="en-GB" sz="2000" dirty="0">
                <a:latin typeface="Arial Narrow" panose="020B0606020202030204" pitchFamily="34" charset="0"/>
              </a:rPr>
              <a:t>extract local spatial features by applying learnable filters to the input, enabling the network to detect patterns such as edges, textures, and shapes. </a:t>
            </a:r>
          </a:p>
          <a:p>
            <a:pPr algn="just"/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Pooling layers </a:t>
            </a:r>
            <a:r>
              <a:rPr lang="en-GB" sz="2000" dirty="0">
                <a:latin typeface="Arial Narrow" panose="020B0606020202030204" pitchFamily="34" charset="0"/>
              </a:rPr>
              <a:t>reduce the spatial dimensions of feature maps while preserving the most important information, thereby improving computational efficiency and reducing overfitting. </a:t>
            </a:r>
          </a:p>
          <a:p>
            <a:pPr algn="just"/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Normalization and activation layers </a:t>
            </a:r>
            <a:r>
              <a:rPr lang="en-GB" sz="2000" dirty="0">
                <a:latin typeface="Arial Narrow" panose="020B0606020202030204" pitchFamily="34" charset="0"/>
              </a:rPr>
              <a:t>stabilize the training process and introduce nonlinearity, allowing the network to learn complex feature representations. </a:t>
            </a:r>
          </a:p>
          <a:p>
            <a:pPr algn="just"/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Fully connected layers </a:t>
            </a:r>
            <a:r>
              <a:rPr lang="en-GB" sz="2000" dirty="0">
                <a:latin typeface="Arial Narrow" panose="020B0606020202030204" pitchFamily="34" charset="0"/>
              </a:rPr>
              <a:t>integrate the extracted features to perform classification or other decision-making tasks.</a:t>
            </a:r>
          </a:p>
          <a:p>
            <a:pPr algn="just"/>
            <a:r>
              <a:rPr lang="en-GB" sz="2000" dirty="0" err="1">
                <a:solidFill>
                  <a:srgbClr val="00B0F0"/>
                </a:solidFill>
                <a:latin typeface="Arial Narrow" panose="020B0606020202030204" pitchFamily="34" charset="0"/>
              </a:rPr>
              <a:t>Softmax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 layer </a:t>
            </a:r>
            <a:r>
              <a:rPr lang="en-GB" sz="2000" dirty="0">
                <a:latin typeface="Arial Narrow" panose="020B0606020202030204" pitchFamily="34" charset="0"/>
              </a:rPr>
              <a:t>converts the final outputs into class probabilities, enabling the prediction of the most likely class.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By combining these building blocks in different configurations, CNNs can be designed as either shallow or deep architectures to address a wide range of computer vision and pattern recognition tasks.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909"/>
          <a:stretch/>
        </p:blipFill>
        <p:spPr>
          <a:xfrm>
            <a:off x="10223164" y="1382898"/>
            <a:ext cx="618172" cy="7861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40430" y="2502516"/>
            <a:ext cx="10206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rial Narrow" panose="020B0606020202030204" pitchFamily="34" charset="0"/>
              </a:rPr>
              <a:t>Low Level Features</a:t>
            </a:r>
          </a:p>
        </p:txBody>
      </p:sp>
      <p:cxnSp>
        <p:nvCxnSpPr>
          <p:cNvPr id="8" name="Straight Arrow Connector 7"/>
          <p:cNvCxnSpPr>
            <a:stCxn id="4" idx="2"/>
            <a:endCxn id="6" idx="0"/>
          </p:cNvCxnSpPr>
          <p:nvPr/>
        </p:nvCxnSpPr>
        <p:spPr>
          <a:xfrm>
            <a:off x="10532250" y="2169016"/>
            <a:ext cx="7053" cy="321195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89885" y="3307161"/>
            <a:ext cx="910130" cy="529039"/>
          </a:xfrm>
          <a:prstGeom prst="ellipse">
            <a:avLst/>
          </a:prstGeom>
          <a:solidFill>
            <a:schemeClr val="accent4">
              <a:lumMod val="20000"/>
              <a:lumOff val="80000"/>
              <a:alpha val="51000"/>
            </a:schemeClr>
          </a:solidFill>
          <a:ln w="25400">
            <a:solidFill>
              <a:schemeClr val="accent1">
                <a:shade val="50000"/>
                <a:alpha val="9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2941" y="3343757"/>
            <a:ext cx="10081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rial Narrow" panose="020B0606020202030204" pitchFamily="34" charset="0"/>
              </a:rPr>
              <a:t>Mid-Level Features</a:t>
            </a:r>
          </a:p>
        </p:txBody>
      </p:sp>
      <p:cxnSp>
        <p:nvCxnSpPr>
          <p:cNvPr id="14" name="Straight Arrow Connector 13"/>
          <p:cNvCxnSpPr>
            <a:stCxn id="6" idx="4"/>
            <a:endCxn id="12" idx="0"/>
          </p:cNvCxnSpPr>
          <p:nvPr/>
        </p:nvCxnSpPr>
        <p:spPr>
          <a:xfrm>
            <a:off x="10539303" y="2994958"/>
            <a:ext cx="5647" cy="312203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094425" y="4149209"/>
            <a:ext cx="910130" cy="5470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1000"/>
            </a:schemeClr>
          </a:solidFill>
          <a:ln w="25400">
            <a:solidFill>
              <a:schemeClr val="accent1">
                <a:shade val="50000"/>
                <a:alpha val="9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7481" y="4191503"/>
            <a:ext cx="10081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00" dirty="0">
                <a:latin typeface="Arial Narrow" panose="020B0606020202030204" pitchFamily="34" charset="0"/>
              </a:rPr>
              <a:t>High-Level Features</a:t>
            </a:r>
          </a:p>
        </p:txBody>
      </p:sp>
      <p:cxnSp>
        <p:nvCxnSpPr>
          <p:cNvPr id="19" name="Straight Arrow Connector 18"/>
          <p:cNvCxnSpPr>
            <a:stCxn id="12" idx="4"/>
            <a:endCxn id="17" idx="0"/>
          </p:cNvCxnSpPr>
          <p:nvPr/>
        </p:nvCxnSpPr>
        <p:spPr>
          <a:xfrm>
            <a:off x="10544950" y="3836200"/>
            <a:ext cx="4540" cy="313009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7" idx="4"/>
            <a:endCxn id="40" idx="0"/>
          </p:cNvCxnSpPr>
          <p:nvPr/>
        </p:nvCxnSpPr>
        <p:spPr>
          <a:xfrm flipH="1">
            <a:off x="10547350" y="4696250"/>
            <a:ext cx="2140" cy="279727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896475" y="4975977"/>
            <a:ext cx="1301749" cy="738538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8000"/>
            </a:schemeClr>
          </a:solidFill>
          <a:ln w="1905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/>
          <p:cNvSpPr/>
          <p:nvPr/>
        </p:nvSpPr>
        <p:spPr>
          <a:xfrm>
            <a:off x="10089885" y="5072099"/>
            <a:ext cx="910130" cy="122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/>
          <p:cNvSpPr/>
          <p:nvPr/>
        </p:nvSpPr>
        <p:spPr>
          <a:xfrm>
            <a:off x="10101969" y="5301105"/>
            <a:ext cx="910130" cy="122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10105707" y="5519215"/>
            <a:ext cx="910130" cy="1223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/>
          <p:cNvSpPr/>
          <p:nvPr/>
        </p:nvSpPr>
        <p:spPr>
          <a:xfrm>
            <a:off x="9832162" y="5916227"/>
            <a:ext cx="1400175" cy="47265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56" name="Straight Arrow Connector 55"/>
          <p:cNvCxnSpPr>
            <a:cxnSpLocks/>
            <a:stCxn id="54" idx="4"/>
          </p:cNvCxnSpPr>
          <p:nvPr/>
        </p:nvCxnSpPr>
        <p:spPr>
          <a:xfrm flipH="1">
            <a:off x="10532249" y="6388883"/>
            <a:ext cx="1" cy="201712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087586" y="6546515"/>
            <a:ext cx="912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Predictions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20897" y="595212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Arial Narrow" panose="020B0606020202030204" pitchFamily="34" charset="0"/>
              </a:rPr>
              <a:t>Softmax</a:t>
            </a:r>
            <a:endParaRPr lang="en-IN" sz="1600" dirty="0">
              <a:latin typeface="Arial Narrow" panose="020B0606020202030204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0223164" y="2246315"/>
            <a:ext cx="618172" cy="1163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0223164" y="3064348"/>
            <a:ext cx="618172" cy="1163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0223164" y="3893008"/>
            <a:ext cx="618172" cy="1163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0223164" y="4736874"/>
            <a:ext cx="618172" cy="1163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128000" y="2515611"/>
            <a:ext cx="10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 Narrow" panose="020B0606020202030204" pitchFamily="34" charset="0"/>
              </a:rPr>
              <a:t>Convolution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78799" y="3302034"/>
            <a:ext cx="895350" cy="528347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8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TextBox 74"/>
          <p:cNvSpPr txBox="1"/>
          <p:nvPr/>
        </p:nvSpPr>
        <p:spPr>
          <a:xfrm>
            <a:off x="8118474" y="3307161"/>
            <a:ext cx="101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 Narrow" panose="020B0606020202030204" pitchFamily="34" charset="0"/>
              </a:rPr>
              <a:t>Non-linear Activation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78800" y="4191503"/>
            <a:ext cx="895350" cy="333042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8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/>
          <p:cNvSpPr txBox="1"/>
          <p:nvPr/>
        </p:nvSpPr>
        <p:spPr>
          <a:xfrm>
            <a:off x="8118475" y="4196629"/>
            <a:ext cx="101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 Narrow" panose="020B0606020202030204" pitchFamily="34" charset="0"/>
              </a:rPr>
              <a:t>Normalization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8325" y="5013781"/>
            <a:ext cx="895350" cy="330255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8000"/>
            </a:scheme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/>
          <p:cNvSpPr txBox="1"/>
          <p:nvPr/>
        </p:nvSpPr>
        <p:spPr>
          <a:xfrm>
            <a:off x="8128000" y="5018908"/>
            <a:ext cx="10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 Narrow" panose="020B0606020202030204" pitchFamily="34" charset="0"/>
              </a:rPr>
              <a:t>Pooling</a:t>
            </a:r>
          </a:p>
        </p:txBody>
      </p:sp>
      <p:cxnSp>
        <p:nvCxnSpPr>
          <p:cNvPr id="80" name="Straight Arrow Connector 79"/>
          <p:cNvCxnSpPr>
            <a:endCxn id="73" idx="0"/>
          </p:cNvCxnSpPr>
          <p:nvPr/>
        </p:nvCxnSpPr>
        <p:spPr>
          <a:xfrm>
            <a:off x="8626475" y="2154489"/>
            <a:ext cx="0" cy="335722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3" idx="2"/>
            <a:endCxn id="75" idx="0"/>
          </p:cNvCxnSpPr>
          <p:nvPr/>
        </p:nvCxnSpPr>
        <p:spPr>
          <a:xfrm flipH="1">
            <a:off x="8626474" y="2870143"/>
            <a:ext cx="1" cy="437018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4" idx="2"/>
            <a:endCxn id="77" idx="0"/>
          </p:cNvCxnSpPr>
          <p:nvPr/>
        </p:nvCxnSpPr>
        <p:spPr>
          <a:xfrm>
            <a:off x="8626474" y="3830381"/>
            <a:ext cx="1" cy="366248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76" idx="2"/>
            <a:endCxn id="79" idx="0"/>
          </p:cNvCxnSpPr>
          <p:nvPr/>
        </p:nvCxnSpPr>
        <p:spPr>
          <a:xfrm>
            <a:off x="8626475" y="4524545"/>
            <a:ext cx="9525" cy="494363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79" idx="2"/>
          </p:cNvCxnSpPr>
          <p:nvPr/>
        </p:nvCxnSpPr>
        <p:spPr>
          <a:xfrm>
            <a:off x="8636000" y="5326685"/>
            <a:ext cx="0" cy="335470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ight Bracket 95"/>
          <p:cNvSpPr/>
          <p:nvPr/>
        </p:nvSpPr>
        <p:spPr>
          <a:xfrm>
            <a:off x="9135859" y="2337968"/>
            <a:ext cx="60325" cy="3181247"/>
          </a:xfrm>
          <a:prstGeom prst="rightBracket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2" name="Straight Connector 101"/>
          <p:cNvCxnSpPr>
            <a:stCxn id="68" idx="1"/>
          </p:cNvCxnSpPr>
          <p:nvPr/>
        </p:nvCxnSpPr>
        <p:spPr>
          <a:xfrm flipH="1" flipV="1">
            <a:off x="9769903" y="2304483"/>
            <a:ext cx="453261" cy="1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71" idx="1"/>
          </p:cNvCxnSpPr>
          <p:nvPr/>
        </p:nvCxnSpPr>
        <p:spPr>
          <a:xfrm flipH="1">
            <a:off x="9772650" y="4795043"/>
            <a:ext cx="450514" cy="2756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>
            <a:off x="9769903" y="2297487"/>
            <a:ext cx="2747" cy="2508668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69" idx="1"/>
          </p:cNvCxnSpPr>
          <p:nvPr/>
        </p:nvCxnSpPr>
        <p:spPr>
          <a:xfrm flipH="1" flipV="1">
            <a:off x="9769903" y="3120963"/>
            <a:ext cx="453261" cy="1554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70" idx="1"/>
          </p:cNvCxnSpPr>
          <p:nvPr/>
        </p:nvCxnSpPr>
        <p:spPr>
          <a:xfrm flipH="1" flipV="1">
            <a:off x="9766425" y="3947297"/>
            <a:ext cx="456739" cy="3880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endCxn id="96" idx="2"/>
          </p:cNvCxnSpPr>
          <p:nvPr/>
        </p:nvCxnSpPr>
        <p:spPr>
          <a:xfrm flipH="1" flipV="1">
            <a:off x="9196184" y="3928592"/>
            <a:ext cx="570241" cy="10349"/>
          </a:xfrm>
          <a:prstGeom prst="line">
            <a:avLst/>
          </a:prstGeom>
          <a:ln w="15875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Left Bracket 131"/>
          <p:cNvSpPr/>
          <p:nvPr/>
        </p:nvSpPr>
        <p:spPr>
          <a:xfrm>
            <a:off x="8108879" y="2304483"/>
            <a:ext cx="75968" cy="3214732"/>
          </a:xfrm>
          <a:prstGeom prst="leftBracket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TextBox 132"/>
          <p:cNvSpPr txBox="1"/>
          <p:nvPr/>
        </p:nvSpPr>
        <p:spPr>
          <a:xfrm>
            <a:off x="11172878" y="4992948"/>
            <a:ext cx="11940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Fully Connected layers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98AFBB-32E9-4D64-A000-0963A2B597C4}"/>
              </a:ext>
            </a:extLst>
          </p:cNvPr>
          <p:cNvCxnSpPr>
            <a:cxnSpLocks/>
          </p:cNvCxnSpPr>
          <p:nvPr/>
        </p:nvCxnSpPr>
        <p:spPr>
          <a:xfrm flipH="1">
            <a:off x="10521005" y="5721153"/>
            <a:ext cx="1" cy="201712"/>
          </a:xfrm>
          <a:prstGeom prst="straightConnector1">
            <a:avLst/>
          </a:prstGeom>
          <a:ln w="25400">
            <a:solidFill>
              <a:schemeClr val="accent6">
                <a:lumMod val="75000"/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665" y="26552"/>
            <a:ext cx="10515600" cy="9372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Convolutional Neural Network (CNN)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-339709" y="1378575"/>
            <a:ext cx="3667125" cy="5159680"/>
            <a:chOff x="1080411" y="1072583"/>
            <a:chExt cx="3667125" cy="5159680"/>
          </a:xfrm>
        </p:grpSpPr>
        <p:sp>
          <p:nvSpPr>
            <p:cNvPr id="5" name="TextBox 129">
              <a:extLst>
                <a:ext uri="{FF2B5EF4-FFF2-40B4-BE49-F238E27FC236}">
                  <a16:creationId xmlns:a16="http://schemas.microsoft.com/office/drawing/2014/main" id="{E0B2FEC5-D16C-7AA9-17F1-63C2387D46F7}"/>
                </a:ext>
              </a:extLst>
            </p:cNvPr>
            <p:cNvSpPr txBox="1"/>
            <p:nvPr/>
          </p:nvSpPr>
          <p:spPr>
            <a:xfrm>
              <a:off x="1080411" y="5832153"/>
              <a:ext cx="36671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IN" sz="2000" dirty="0">
                  <a:solidFill>
                    <a:srgbClr val="0070C0"/>
                  </a:solidFill>
                  <a:latin typeface="Arial Narrow" panose="020B0606020202030204" pitchFamily="34" charset="0"/>
                </a:rPr>
                <a:t>Conventional Machine Learning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03323" y="2260830"/>
              <a:ext cx="2657474" cy="104775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BD1680-5312-3374-20C7-0832043E2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6750" y="2812601"/>
              <a:ext cx="499433" cy="273417"/>
            </a:xfrm>
            <a:prstGeom prst="rect">
              <a:avLst/>
            </a:prstGeom>
          </p:spPr>
        </p:pic>
        <p:sp>
          <p:nvSpPr>
            <p:cNvPr id="8" name="TextBox 32">
              <a:extLst>
                <a:ext uri="{FF2B5EF4-FFF2-40B4-BE49-F238E27FC236}">
                  <a16:creationId xmlns:a16="http://schemas.microsoft.com/office/drawing/2014/main" id="{453300DE-4BDB-A621-EDB2-1EE8E4ADCDFA}"/>
                </a:ext>
              </a:extLst>
            </p:cNvPr>
            <p:cNvSpPr txBox="1"/>
            <p:nvPr/>
          </p:nvSpPr>
          <p:spPr>
            <a:xfrm>
              <a:off x="2100662" y="2264207"/>
              <a:ext cx="16571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dirty="0">
                  <a:latin typeface="Arial Narrow" panose="020B0606020202030204" pitchFamily="34" charset="0"/>
                </a:rPr>
                <a:t>Feature Extraction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506498" y="3707042"/>
              <a:ext cx="2657474" cy="1525270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34">
              <a:extLst>
                <a:ext uri="{FF2B5EF4-FFF2-40B4-BE49-F238E27FC236}">
                  <a16:creationId xmlns:a16="http://schemas.microsoft.com/office/drawing/2014/main" id="{77E8E38D-2618-1AB0-783D-54B8CA3B80C4}"/>
                </a:ext>
              </a:extLst>
            </p:cNvPr>
            <p:cNvSpPr txBox="1"/>
            <p:nvPr/>
          </p:nvSpPr>
          <p:spPr>
            <a:xfrm>
              <a:off x="2117929" y="3738537"/>
              <a:ext cx="15937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dirty="0">
                  <a:latin typeface="Arial Narrow" panose="020B0606020202030204" pitchFamily="34" charset="0"/>
                </a:rPr>
                <a:t>Subject to Network</a:t>
              </a: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2735221" y="3322868"/>
              <a:ext cx="174625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2352951" y="4052663"/>
              <a:ext cx="159033" cy="14914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2746368" y="4049195"/>
              <a:ext cx="159033" cy="14914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3143102" y="4050084"/>
              <a:ext cx="159033" cy="149141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2356267" y="4446488"/>
              <a:ext cx="159033" cy="14914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2752860" y="4443019"/>
              <a:ext cx="159033" cy="14914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3149592" y="4432613"/>
              <a:ext cx="159033" cy="149141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2749685" y="4773930"/>
              <a:ext cx="159033" cy="14914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9" name="Straight Arrow Connector 18"/>
            <p:cNvCxnSpPr>
              <a:stCxn id="13" idx="4"/>
              <a:endCxn id="15" idx="0"/>
            </p:cNvCxnSpPr>
            <p:nvPr/>
          </p:nvCxnSpPr>
          <p:spPr>
            <a:xfrm flipH="1">
              <a:off x="2435784" y="4198336"/>
              <a:ext cx="390101" cy="2481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3" idx="4"/>
              <a:endCxn id="17" idx="0"/>
            </p:cNvCxnSpPr>
            <p:nvPr/>
          </p:nvCxnSpPr>
          <p:spPr>
            <a:xfrm>
              <a:off x="2825885" y="4198336"/>
              <a:ext cx="403224" cy="2342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4" idx="4"/>
              <a:endCxn id="17" idx="0"/>
            </p:cNvCxnSpPr>
            <p:nvPr/>
          </p:nvCxnSpPr>
          <p:spPr>
            <a:xfrm>
              <a:off x="3222619" y="4199225"/>
              <a:ext cx="6490" cy="233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4" idx="4"/>
              <a:endCxn id="16" idx="0"/>
            </p:cNvCxnSpPr>
            <p:nvPr/>
          </p:nvCxnSpPr>
          <p:spPr>
            <a:xfrm flipH="1">
              <a:off x="2832377" y="4199225"/>
              <a:ext cx="390242" cy="2437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4" idx="4"/>
              <a:endCxn id="15" idx="0"/>
            </p:cNvCxnSpPr>
            <p:nvPr/>
          </p:nvCxnSpPr>
          <p:spPr>
            <a:xfrm flipH="1">
              <a:off x="2435784" y="4199225"/>
              <a:ext cx="786835" cy="247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2" idx="4"/>
              <a:endCxn id="16" idx="0"/>
            </p:cNvCxnSpPr>
            <p:nvPr/>
          </p:nvCxnSpPr>
          <p:spPr>
            <a:xfrm>
              <a:off x="2432468" y="4201804"/>
              <a:ext cx="399909" cy="241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2" idx="4"/>
              <a:endCxn id="15" idx="0"/>
            </p:cNvCxnSpPr>
            <p:nvPr/>
          </p:nvCxnSpPr>
          <p:spPr>
            <a:xfrm>
              <a:off x="2432468" y="4201804"/>
              <a:ext cx="3316" cy="2446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12" idx="4"/>
              <a:endCxn id="17" idx="0"/>
            </p:cNvCxnSpPr>
            <p:nvPr/>
          </p:nvCxnSpPr>
          <p:spPr>
            <a:xfrm>
              <a:off x="2432468" y="4201804"/>
              <a:ext cx="796641" cy="2308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3" idx="4"/>
              <a:endCxn id="16" idx="0"/>
            </p:cNvCxnSpPr>
            <p:nvPr/>
          </p:nvCxnSpPr>
          <p:spPr>
            <a:xfrm>
              <a:off x="2825885" y="4198336"/>
              <a:ext cx="6492" cy="244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6" idx="4"/>
              <a:endCxn id="18" idx="0"/>
            </p:cNvCxnSpPr>
            <p:nvPr/>
          </p:nvCxnSpPr>
          <p:spPr>
            <a:xfrm flipH="1">
              <a:off x="2829202" y="4592160"/>
              <a:ext cx="3175" cy="1817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5" idx="4"/>
              <a:endCxn id="18" idx="0"/>
            </p:cNvCxnSpPr>
            <p:nvPr/>
          </p:nvCxnSpPr>
          <p:spPr>
            <a:xfrm>
              <a:off x="2435784" y="4595629"/>
              <a:ext cx="393418" cy="1783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7" idx="4"/>
              <a:endCxn id="18" idx="0"/>
            </p:cNvCxnSpPr>
            <p:nvPr/>
          </p:nvCxnSpPr>
          <p:spPr>
            <a:xfrm flipH="1">
              <a:off x="2829202" y="4581754"/>
              <a:ext cx="399907" cy="192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5">
              <a:extLst>
                <a:ext uri="{FF2B5EF4-FFF2-40B4-BE49-F238E27FC236}">
                  <a16:creationId xmlns:a16="http://schemas.microsoft.com/office/drawing/2014/main" id="{1B7AEA8D-76CE-45B2-DFF1-E6E52336D3EE}"/>
                </a:ext>
              </a:extLst>
            </p:cNvPr>
            <p:cNvSpPr txBox="1"/>
            <p:nvPr/>
          </p:nvSpPr>
          <p:spPr>
            <a:xfrm>
              <a:off x="2274578" y="5357251"/>
              <a:ext cx="12616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600" dirty="0">
                  <a:latin typeface="Arial Narrow" panose="020B0606020202030204" pitchFamily="34" charset="0"/>
                </a:rPr>
                <a:t>Predictions</a:t>
              </a:r>
            </a:p>
          </p:txBody>
        </p:sp>
        <p:sp>
          <p:nvSpPr>
            <p:cNvPr id="32" name="Down Arrow 31"/>
            <p:cNvSpPr/>
            <p:nvPr/>
          </p:nvSpPr>
          <p:spPr>
            <a:xfrm>
              <a:off x="2800535" y="1862691"/>
              <a:ext cx="174625" cy="3810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3"/>
            <a:srcRect l="12909"/>
            <a:stretch/>
          </p:blipFill>
          <p:spPr>
            <a:xfrm>
              <a:off x="2570255" y="1072583"/>
              <a:ext cx="618172" cy="786118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7901" y="2670188"/>
              <a:ext cx="449657" cy="502044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94043" y="2732063"/>
              <a:ext cx="409632" cy="352474"/>
            </a:xfrm>
            <a:prstGeom prst="rect">
              <a:avLst/>
            </a:prstGeom>
          </p:spPr>
        </p:pic>
      </p:grpSp>
      <p:sp>
        <p:nvSpPr>
          <p:cNvPr id="37" name="TextBox 132">
            <a:extLst>
              <a:ext uri="{FF2B5EF4-FFF2-40B4-BE49-F238E27FC236}">
                <a16:creationId xmlns:a16="http://schemas.microsoft.com/office/drawing/2014/main" id="{46BEC83D-7685-EEE3-E82F-519B9ED8137A}"/>
              </a:ext>
            </a:extLst>
          </p:cNvPr>
          <p:cNvSpPr txBox="1"/>
          <p:nvPr/>
        </p:nvSpPr>
        <p:spPr>
          <a:xfrm>
            <a:off x="5349737" y="3686556"/>
            <a:ext cx="1646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latin typeface="Arial Narrow" panose="020B0606020202030204" pitchFamily="34" charset="0"/>
              </a:rPr>
              <a:t>Hidden Layers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80863" y="2354007"/>
            <a:ext cx="1879600" cy="2988543"/>
          </a:xfrm>
          <a:prstGeom prst="roundRect">
            <a:avLst/>
          </a:prstGeom>
          <a:solidFill>
            <a:schemeClr val="bg1">
              <a:alpha val="17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124">
            <a:extLst>
              <a:ext uri="{FF2B5EF4-FFF2-40B4-BE49-F238E27FC236}">
                <a16:creationId xmlns:a16="http://schemas.microsoft.com/office/drawing/2014/main" id="{5143C241-CF2B-D4BB-D8A6-E51087821289}"/>
              </a:ext>
            </a:extLst>
          </p:cNvPr>
          <p:cNvSpPr txBox="1"/>
          <p:nvPr/>
        </p:nvSpPr>
        <p:spPr>
          <a:xfrm>
            <a:off x="3627038" y="5464027"/>
            <a:ext cx="1261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Arial Narrow" panose="020B0606020202030204" pitchFamily="34" charset="0"/>
              </a:rPr>
              <a:t>Predictions</a:t>
            </a:r>
          </a:p>
        </p:txBody>
      </p:sp>
      <p:sp>
        <p:nvSpPr>
          <p:cNvPr id="40" name="Right Arrow 123">
            <a:extLst>
              <a:ext uri="{FF2B5EF4-FFF2-40B4-BE49-F238E27FC236}">
                <a16:creationId xmlns:a16="http://schemas.microsoft.com/office/drawing/2014/main" id="{BA90B0AF-6985-1104-C283-98BDF7662686}"/>
              </a:ext>
            </a:extLst>
          </p:cNvPr>
          <p:cNvSpPr/>
          <p:nvPr/>
        </p:nvSpPr>
        <p:spPr>
          <a:xfrm rot="5400000">
            <a:off x="4054207" y="2108630"/>
            <a:ext cx="295275" cy="159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1" name="TextBox 131">
            <a:extLst>
              <a:ext uri="{FF2B5EF4-FFF2-40B4-BE49-F238E27FC236}">
                <a16:creationId xmlns:a16="http://schemas.microsoft.com/office/drawing/2014/main" id="{58F4E99E-6404-6B43-D859-9CF2D67FDC84}"/>
              </a:ext>
            </a:extLst>
          </p:cNvPr>
          <p:cNvSpPr txBox="1"/>
          <p:nvPr/>
        </p:nvSpPr>
        <p:spPr>
          <a:xfrm>
            <a:off x="5388067" y="2519916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latin typeface="Arial Narrow" panose="020B0606020202030204" pitchFamily="34" charset="0"/>
              </a:rPr>
              <a:t>Input Layer</a:t>
            </a:r>
          </a:p>
        </p:txBody>
      </p:sp>
      <p:sp>
        <p:nvSpPr>
          <p:cNvPr id="42" name="TextBox 133">
            <a:extLst>
              <a:ext uri="{FF2B5EF4-FFF2-40B4-BE49-F238E27FC236}">
                <a16:creationId xmlns:a16="http://schemas.microsoft.com/office/drawing/2014/main" id="{0BB355CB-4593-6449-F2CB-8FFC06CB50AE}"/>
              </a:ext>
            </a:extLst>
          </p:cNvPr>
          <p:cNvSpPr txBox="1"/>
          <p:nvPr/>
        </p:nvSpPr>
        <p:spPr>
          <a:xfrm>
            <a:off x="5275005" y="4851265"/>
            <a:ext cx="1352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latin typeface="Arial Narrow" panose="020B0606020202030204" pitchFamily="34" charset="0"/>
              </a:rPr>
              <a:t>Output Layer</a:t>
            </a:r>
          </a:p>
        </p:txBody>
      </p:sp>
      <p:cxnSp>
        <p:nvCxnSpPr>
          <p:cNvPr id="43" name="Straight Arrow Connector 42"/>
          <p:cNvCxnSpPr>
            <a:cxnSpLocks/>
          </p:cNvCxnSpPr>
          <p:nvPr/>
        </p:nvCxnSpPr>
        <p:spPr>
          <a:xfrm flipV="1">
            <a:off x="5060768" y="2672193"/>
            <a:ext cx="314602" cy="9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43CCDB0-E38F-475D-CA06-2CC8778F9726}"/>
              </a:ext>
            </a:extLst>
          </p:cNvPr>
          <p:cNvSpPr/>
          <p:nvPr/>
        </p:nvSpPr>
        <p:spPr>
          <a:xfrm rot="5400000">
            <a:off x="4791367" y="2574614"/>
            <a:ext cx="216223" cy="21693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925E058-4A8E-8225-826E-B70D5587060F}"/>
              </a:ext>
            </a:extLst>
          </p:cNvPr>
          <p:cNvSpPr/>
          <p:nvPr/>
        </p:nvSpPr>
        <p:spPr>
          <a:xfrm rot="5400000">
            <a:off x="4339652" y="2563724"/>
            <a:ext cx="216223" cy="21693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0019AE4-66FD-7405-5748-A30D077C1387}"/>
              </a:ext>
            </a:extLst>
          </p:cNvPr>
          <p:cNvSpPr/>
          <p:nvPr/>
        </p:nvSpPr>
        <p:spPr>
          <a:xfrm rot="5400000">
            <a:off x="3882671" y="2574614"/>
            <a:ext cx="216223" cy="21693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/>
              <a:t>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464570E-6B49-D5E9-FB8B-B6FD759D5FFC}"/>
              </a:ext>
            </a:extLst>
          </p:cNvPr>
          <p:cNvSpPr/>
          <p:nvPr/>
        </p:nvSpPr>
        <p:spPr>
          <a:xfrm rot="5400000">
            <a:off x="3421304" y="2563724"/>
            <a:ext cx="216223" cy="216938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4AB5C96-08B9-CEE8-A10B-BCC521D41B1E}"/>
              </a:ext>
            </a:extLst>
          </p:cNvPr>
          <p:cNvSpPr/>
          <p:nvPr/>
        </p:nvSpPr>
        <p:spPr>
          <a:xfrm rot="5400000">
            <a:off x="4620767" y="3192260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1C4FB6-C746-764F-5435-3F5DF5002CBA}"/>
              </a:ext>
            </a:extLst>
          </p:cNvPr>
          <p:cNvSpPr/>
          <p:nvPr/>
        </p:nvSpPr>
        <p:spPr>
          <a:xfrm rot="5400000">
            <a:off x="4127884" y="3177607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E05391-8BD1-F6CD-A0FE-489C8AC6BDE3}"/>
              </a:ext>
            </a:extLst>
          </p:cNvPr>
          <p:cNvSpPr/>
          <p:nvPr/>
        </p:nvSpPr>
        <p:spPr>
          <a:xfrm rot="5400000">
            <a:off x="3605687" y="3183468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1E6D30-FF35-395B-85AA-132F657EB3F5}"/>
              </a:ext>
            </a:extLst>
          </p:cNvPr>
          <p:cNvSpPr/>
          <p:nvPr/>
        </p:nvSpPr>
        <p:spPr>
          <a:xfrm rot="5400000">
            <a:off x="4620767" y="3772271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B6FE74F-F72E-46D1-1F15-AB7B3A7E6AF8}"/>
              </a:ext>
            </a:extLst>
          </p:cNvPr>
          <p:cNvSpPr/>
          <p:nvPr/>
        </p:nvSpPr>
        <p:spPr>
          <a:xfrm rot="5400000">
            <a:off x="4133307" y="3773248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72019B8-8D60-C48F-9E78-45C6C22EC997}"/>
              </a:ext>
            </a:extLst>
          </p:cNvPr>
          <p:cNvSpPr/>
          <p:nvPr/>
        </p:nvSpPr>
        <p:spPr>
          <a:xfrm rot="5400000">
            <a:off x="3611465" y="3776178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4239442-16E7-0CAA-CEBC-C88EF3DE4C7C}"/>
              </a:ext>
            </a:extLst>
          </p:cNvPr>
          <p:cNvSpPr/>
          <p:nvPr/>
        </p:nvSpPr>
        <p:spPr>
          <a:xfrm rot="5400000">
            <a:off x="4624380" y="4417959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0BA66DD-6665-AEC4-675C-C21C39CC32B2}"/>
              </a:ext>
            </a:extLst>
          </p:cNvPr>
          <p:cNvSpPr/>
          <p:nvPr/>
        </p:nvSpPr>
        <p:spPr>
          <a:xfrm rot="5400000">
            <a:off x="4148262" y="4410855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439C72C-53EF-D11C-E949-C94FB91846D1}"/>
              </a:ext>
            </a:extLst>
          </p:cNvPr>
          <p:cNvSpPr/>
          <p:nvPr/>
        </p:nvSpPr>
        <p:spPr>
          <a:xfrm rot="5400000">
            <a:off x="3652423" y="4417959"/>
            <a:ext cx="216223" cy="21693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43E4581-3201-AF60-2308-D0AB85BECF06}"/>
              </a:ext>
            </a:extLst>
          </p:cNvPr>
          <p:cNvSpPr/>
          <p:nvPr/>
        </p:nvSpPr>
        <p:spPr>
          <a:xfrm rot="5400000">
            <a:off x="4348279" y="4866246"/>
            <a:ext cx="216223" cy="21693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6AF669B-9639-7777-32B8-3D72D2C0C66E}"/>
              </a:ext>
            </a:extLst>
          </p:cNvPr>
          <p:cNvSpPr/>
          <p:nvPr/>
        </p:nvSpPr>
        <p:spPr>
          <a:xfrm rot="5400000">
            <a:off x="3929383" y="4866246"/>
            <a:ext cx="216223" cy="21693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143129-40ED-F68C-978D-9C71C9D5B318}"/>
              </a:ext>
            </a:extLst>
          </p:cNvPr>
          <p:cNvCxnSpPr>
            <a:stCxn id="44" idx="6"/>
            <a:endCxn id="48" idx="2"/>
          </p:cNvCxnSpPr>
          <p:nvPr/>
        </p:nvCxnSpPr>
        <p:spPr>
          <a:xfrm flipH="1">
            <a:off x="4728879" y="2791195"/>
            <a:ext cx="170600" cy="401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C9BD43-B719-112F-BA00-B6BCE45AF910}"/>
              </a:ext>
            </a:extLst>
          </p:cNvPr>
          <p:cNvCxnSpPr>
            <a:stCxn id="44" idx="6"/>
            <a:endCxn id="49" idx="2"/>
          </p:cNvCxnSpPr>
          <p:nvPr/>
        </p:nvCxnSpPr>
        <p:spPr>
          <a:xfrm flipH="1">
            <a:off x="4235995" y="2791195"/>
            <a:ext cx="663484" cy="3867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E2B4974-F8F1-26D4-397C-A31515C487CD}"/>
              </a:ext>
            </a:extLst>
          </p:cNvPr>
          <p:cNvCxnSpPr>
            <a:stCxn id="44" idx="6"/>
            <a:endCxn id="50" idx="2"/>
          </p:cNvCxnSpPr>
          <p:nvPr/>
        </p:nvCxnSpPr>
        <p:spPr>
          <a:xfrm flipH="1">
            <a:off x="3713799" y="2791195"/>
            <a:ext cx="1185680" cy="392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2A7963-1AAD-D3EA-DE95-E32AAE2ECACA}"/>
              </a:ext>
            </a:extLst>
          </p:cNvPr>
          <p:cNvCxnSpPr>
            <a:stCxn id="45" idx="6"/>
            <a:endCxn id="48" idx="2"/>
          </p:cNvCxnSpPr>
          <p:nvPr/>
        </p:nvCxnSpPr>
        <p:spPr>
          <a:xfrm>
            <a:off x="4447763" y="2780304"/>
            <a:ext cx="281115" cy="4123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9920F1-C9E7-BD19-450B-256110161850}"/>
              </a:ext>
            </a:extLst>
          </p:cNvPr>
          <p:cNvCxnSpPr>
            <a:stCxn id="46" idx="6"/>
            <a:endCxn id="48" idx="2"/>
          </p:cNvCxnSpPr>
          <p:nvPr/>
        </p:nvCxnSpPr>
        <p:spPr>
          <a:xfrm>
            <a:off x="3990783" y="2791195"/>
            <a:ext cx="738096" cy="4014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ED2F22E-CF6C-4DFE-F32B-D55EE86A587E}"/>
              </a:ext>
            </a:extLst>
          </p:cNvPr>
          <p:cNvCxnSpPr>
            <a:stCxn id="47" idx="6"/>
            <a:endCxn id="48" idx="2"/>
          </p:cNvCxnSpPr>
          <p:nvPr/>
        </p:nvCxnSpPr>
        <p:spPr>
          <a:xfrm>
            <a:off x="3529416" y="2780304"/>
            <a:ext cx="1199463" cy="4123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ACA7A3-167A-6828-2125-FE98B586887D}"/>
              </a:ext>
            </a:extLst>
          </p:cNvPr>
          <p:cNvCxnSpPr>
            <a:stCxn id="45" idx="6"/>
            <a:endCxn id="49" idx="2"/>
          </p:cNvCxnSpPr>
          <p:nvPr/>
        </p:nvCxnSpPr>
        <p:spPr>
          <a:xfrm flipH="1">
            <a:off x="4235995" y="2780304"/>
            <a:ext cx="211768" cy="397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8AD3B72-3569-821A-BD27-70CE902C2BBE}"/>
              </a:ext>
            </a:extLst>
          </p:cNvPr>
          <p:cNvCxnSpPr>
            <a:stCxn id="45" idx="6"/>
            <a:endCxn id="50" idx="2"/>
          </p:cNvCxnSpPr>
          <p:nvPr/>
        </p:nvCxnSpPr>
        <p:spPr>
          <a:xfrm flipH="1">
            <a:off x="3713799" y="2780305"/>
            <a:ext cx="733965" cy="403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A8E4A96-4169-C2B9-A347-AD07509387D2}"/>
              </a:ext>
            </a:extLst>
          </p:cNvPr>
          <p:cNvCxnSpPr>
            <a:stCxn id="46" idx="6"/>
            <a:endCxn id="49" idx="2"/>
          </p:cNvCxnSpPr>
          <p:nvPr/>
        </p:nvCxnSpPr>
        <p:spPr>
          <a:xfrm>
            <a:off x="3990783" y="2791195"/>
            <a:ext cx="245213" cy="3867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CCC1B9-EC88-1F52-8CF3-118F09B4D234}"/>
              </a:ext>
            </a:extLst>
          </p:cNvPr>
          <p:cNvCxnSpPr>
            <a:stCxn id="47" idx="6"/>
            <a:endCxn id="49" idx="2"/>
          </p:cNvCxnSpPr>
          <p:nvPr/>
        </p:nvCxnSpPr>
        <p:spPr>
          <a:xfrm>
            <a:off x="3529416" y="2780304"/>
            <a:ext cx="706579" cy="397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A937E1C-BE6B-2E4A-42EE-7501498B0CF3}"/>
              </a:ext>
            </a:extLst>
          </p:cNvPr>
          <p:cNvCxnSpPr>
            <a:stCxn id="46" idx="6"/>
            <a:endCxn id="50" idx="2"/>
          </p:cNvCxnSpPr>
          <p:nvPr/>
        </p:nvCxnSpPr>
        <p:spPr>
          <a:xfrm flipH="1">
            <a:off x="3713799" y="2791195"/>
            <a:ext cx="276984" cy="392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26E3108-F5B0-70C1-F23D-C63B2031B703}"/>
              </a:ext>
            </a:extLst>
          </p:cNvPr>
          <p:cNvCxnSpPr>
            <a:stCxn id="47" idx="6"/>
            <a:endCxn id="50" idx="2"/>
          </p:cNvCxnSpPr>
          <p:nvPr/>
        </p:nvCxnSpPr>
        <p:spPr>
          <a:xfrm>
            <a:off x="3529416" y="2780305"/>
            <a:ext cx="184383" cy="4035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C977DD-8A01-9B84-8025-D135A2710296}"/>
              </a:ext>
            </a:extLst>
          </p:cNvPr>
          <p:cNvCxnSpPr>
            <a:stCxn id="48" idx="6"/>
            <a:endCxn id="51" idx="2"/>
          </p:cNvCxnSpPr>
          <p:nvPr/>
        </p:nvCxnSpPr>
        <p:spPr>
          <a:xfrm>
            <a:off x="4728879" y="3408840"/>
            <a:ext cx="0" cy="3637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CFF3997-21F1-B0ED-4382-5AF532EDDE45}"/>
              </a:ext>
            </a:extLst>
          </p:cNvPr>
          <p:cNvCxnSpPr>
            <a:stCxn id="48" idx="6"/>
            <a:endCxn id="52" idx="2"/>
          </p:cNvCxnSpPr>
          <p:nvPr/>
        </p:nvCxnSpPr>
        <p:spPr>
          <a:xfrm flipH="1">
            <a:off x="4241419" y="3408840"/>
            <a:ext cx="487460" cy="364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DA1BA49-B7E8-3017-57C8-C999D23B998B}"/>
              </a:ext>
            </a:extLst>
          </p:cNvPr>
          <p:cNvCxnSpPr>
            <a:stCxn id="48" idx="6"/>
            <a:endCxn id="53" idx="2"/>
          </p:cNvCxnSpPr>
          <p:nvPr/>
        </p:nvCxnSpPr>
        <p:spPr>
          <a:xfrm flipH="1">
            <a:off x="3719577" y="3408841"/>
            <a:ext cx="1009302" cy="367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4EC3FB8-85F8-6E6F-B202-ACE4D5AD6680}"/>
              </a:ext>
            </a:extLst>
          </p:cNvPr>
          <p:cNvCxnSpPr>
            <a:stCxn id="49" idx="6"/>
            <a:endCxn id="51" idx="2"/>
          </p:cNvCxnSpPr>
          <p:nvPr/>
        </p:nvCxnSpPr>
        <p:spPr>
          <a:xfrm>
            <a:off x="4235995" y="3394188"/>
            <a:ext cx="492883" cy="3784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352ED4B-D538-F0FE-DBF1-5FD358E224B8}"/>
              </a:ext>
            </a:extLst>
          </p:cNvPr>
          <p:cNvCxnSpPr>
            <a:stCxn id="49" idx="6"/>
            <a:endCxn id="52" idx="2"/>
          </p:cNvCxnSpPr>
          <p:nvPr/>
        </p:nvCxnSpPr>
        <p:spPr>
          <a:xfrm>
            <a:off x="4235995" y="3394188"/>
            <a:ext cx="5423" cy="379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FF97546-F007-45FA-0F6D-2AFEB38DB109}"/>
              </a:ext>
            </a:extLst>
          </p:cNvPr>
          <p:cNvCxnSpPr>
            <a:stCxn id="49" idx="6"/>
            <a:endCxn id="53" idx="2"/>
          </p:cNvCxnSpPr>
          <p:nvPr/>
        </p:nvCxnSpPr>
        <p:spPr>
          <a:xfrm flipH="1">
            <a:off x="3719577" y="3394188"/>
            <a:ext cx="516419" cy="3823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92050B8-CBBA-6561-A4FA-CF185BE0AB83}"/>
              </a:ext>
            </a:extLst>
          </p:cNvPr>
          <p:cNvCxnSpPr>
            <a:stCxn id="50" idx="6"/>
            <a:endCxn id="51" idx="2"/>
          </p:cNvCxnSpPr>
          <p:nvPr/>
        </p:nvCxnSpPr>
        <p:spPr>
          <a:xfrm>
            <a:off x="3713799" y="3400049"/>
            <a:ext cx="1015080" cy="372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57814DB-E227-BA77-1D20-3A6C1FB8196F}"/>
              </a:ext>
            </a:extLst>
          </p:cNvPr>
          <p:cNvCxnSpPr>
            <a:stCxn id="50" idx="6"/>
            <a:endCxn id="52" idx="2"/>
          </p:cNvCxnSpPr>
          <p:nvPr/>
        </p:nvCxnSpPr>
        <p:spPr>
          <a:xfrm>
            <a:off x="3713799" y="3400049"/>
            <a:ext cx="527620" cy="3735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071F7EE-D814-71FB-D1DC-02D1EA82CAF4}"/>
              </a:ext>
            </a:extLst>
          </p:cNvPr>
          <p:cNvCxnSpPr>
            <a:stCxn id="50" idx="6"/>
            <a:endCxn id="53" idx="2"/>
          </p:cNvCxnSpPr>
          <p:nvPr/>
        </p:nvCxnSpPr>
        <p:spPr>
          <a:xfrm>
            <a:off x="3713799" y="3400049"/>
            <a:ext cx="5778" cy="376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D9FCA9EA-DE49-40DD-44B8-6524FFF811F6}"/>
              </a:ext>
            </a:extLst>
          </p:cNvPr>
          <p:cNvSpPr/>
          <p:nvPr/>
        </p:nvSpPr>
        <p:spPr>
          <a:xfrm rot="5400000">
            <a:off x="4715368" y="4057526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220C836-D68B-747B-2835-C6C702F07D38}"/>
              </a:ext>
            </a:extLst>
          </p:cNvPr>
          <p:cNvSpPr/>
          <p:nvPr/>
        </p:nvSpPr>
        <p:spPr>
          <a:xfrm rot="5400000">
            <a:off x="4716722" y="4180973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E19691D-3266-A1FE-988E-4E1B093E7948}"/>
              </a:ext>
            </a:extLst>
          </p:cNvPr>
          <p:cNvSpPr/>
          <p:nvPr/>
        </p:nvSpPr>
        <p:spPr>
          <a:xfrm rot="5400000">
            <a:off x="4716721" y="4320381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4A7ABF9-3FFA-B0EE-4A41-2A9ECDF7528F}"/>
              </a:ext>
            </a:extLst>
          </p:cNvPr>
          <p:cNvSpPr/>
          <p:nvPr/>
        </p:nvSpPr>
        <p:spPr>
          <a:xfrm rot="5400000">
            <a:off x="4223607" y="4057526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33CE607-C44E-5ABB-489D-F084AA94CCCE}"/>
              </a:ext>
            </a:extLst>
          </p:cNvPr>
          <p:cNvSpPr/>
          <p:nvPr/>
        </p:nvSpPr>
        <p:spPr>
          <a:xfrm rot="5400000">
            <a:off x="4224961" y="4180973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FB64B6E-639E-D5E3-D2FB-C69A27362BB9}"/>
              </a:ext>
            </a:extLst>
          </p:cNvPr>
          <p:cNvSpPr/>
          <p:nvPr/>
        </p:nvSpPr>
        <p:spPr>
          <a:xfrm rot="5400000">
            <a:off x="4224960" y="4320381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0567A75-D7DD-26DC-7EC1-E105FD7C8AC1}"/>
              </a:ext>
            </a:extLst>
          </p:cNvPr>
          <p:cNvSpPr/>
          <p:nvPr/>
        </p:nvSpPr>
        <p:spPr>
          <a:xfrm rot="5400000">
            <a:off x="3722425" y="4057526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F70193D-EACF-1D5E-A8B7-22D8C3074FE8}"/>
              </a:ext>
            </a:extLst>
          </p:cNvPr>
          <p:cNvSpPr/>
          <p:nvPr/>
        </p:nvSpPr>
        <p:spPr>
          <a:xfrm rot="5400000">
            <a:off x="3723779" y="4180973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0EC034D-775E-571E-8AD3-BEC5D049F9DC}"/>
              </a:ext>
            </a:extLst>
          </p:cNvPr>
          <p:cNvSpPr/>
          <p:nvPr/>
        </p:nvSpPr>
        <p:spPr>
          <a:xfrm rot="5400000">
            <a:off x="3723778" y="4320381"/>
            <a:ext cx="35165" cy="325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4220314-4D26-CA81-BCF1-829F0BCD7AD8}"/>
              </a:ext>
            </a:extLst>
          </p:cNvPr>
          <p:cNvCxnSpPr>
            <a:stCxn id="54" idx="6"/>
            <a:endCxn id="57" idx="2"/>
          </p:cNvCxnSpPr>
          <p:nvPr/>
        </p:nvCxnSpPr>
        <p:spPr>
          <a:xfrm flipH="1">
            <a:off x="4456391" y="4634540"/>
            <a:ext cx="276101" cy="232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84F8AEB-ACDD-3862-BA1B-E2CC7B975A12}"/>
              </a:ext>
            </a:extLst>
          </p:cNvPr>
          <p:cNvCxnSpPr>
            <a:stCxn id="54" idx="6"/>
            <a:endCxn id="58" idx="2"/>
          </p:cNvCxnSpPr>
          <p:nvPr/>
        </p:nvCxnSpPr>
        <p:spPr>
          <a:xfrm flipH="1">
            <a:off x="4037495" y="4634540"/>
            <a:ext cx="694997" cy="232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6BB567-F6A5-D4D3-69D3-23FE086BFCA9}"/>
              </a:ext>
            </a:extLst>
          </p:cNvPr>
          <p:cNvCxnSpPr>
            <a:stCxn id="55" idx="6"/>
            <a:endCxn id="57" idx="2"/>
          </p:cNvCxnSpPr>
          <p:nvPr/>
        </p:nvCxnSpPr>
        <p:spPr>
          <a:xfrm>
            <a:off x="4256374" y="4627436"/>
            <a:ext cx="200017" cy="23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A6EBBD1-191B-95FC-F19E-FC5AA8C1689D}"/>
              </a:ext>
            </a:extLst>
          </p:cNvPr>
          <p:cNvCxnSpPr>
            <a:stCxn id="55" idx="6"/>
            <a:endCxn id="58" idx="2"/>
          </p:cNvCxnSpPr>
          <p:nvPr/>
        </p:nvCxnSpPr>
        <p:spPr>
          <a:xfrm flipH="1">
            <a:off x="4037495" y="4627436"/>
            <a:ext cx="218879" cy="239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297E3F7-7976-47AC-E413-1BD18C8B850D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3760535" y="4634540"/>
            <a:ext cx="695856" cy="232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4A67D64-ED9B-543B-9C7E-406B7E62F3AD}"/>
              </a:ext>
            </a:extLst>
          </p:cNvPr>
          <p:cNvCxnSpPr>
            <a:stCxn id="56" idx="6"/>
            <a:endCxn id="58" idx="2"/>
          </p:cNvCxnSpPr>
          <p:nvPr/>
        </p:nvCxnSpPr>
        <p:spPr>
          <a:xfrm>
            <a:off x="3760535" y="4634540"/>
            <a:ext cx="276960" cy="232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ight Bracket 94"/>
          <p:cNvSpPr/>
          <p:nvPr/>
        </p:nvSpPr>
        <p:spPr>
          <a:xfrm>
            <a:off x="5023140" y="3246415"/>
            <a:ext cx="50800" cy="132397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7" name="Straight Arrow Connector 96"/>
          <p:cNvCxnSpPr>
            <a:cxnSpLocks/>
          </p:cNvCxnSpPr>
          <p:nvPr/>
        </p:nvCxnSpPr>
        <p:spPr>
          <a:xfrm flipV="1">
            <a:off x="4689293" y="4984034"/>
            <a:ext cx="601758" cy="9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ight Bracket 97"/>
          <p:cNvSpPr/>
          <p:nvPr/>
        </p:nvSpPr>
        <p:spPr>
          <a:xfrm rot="5400000" flipV="1">
            <a:off x="4219791" y="4886542"/>
            <a:ext cx="62150" cy="49268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9" name="Straight Arrow Connector 98"/>
          <p:cNvCxnSpPr>
            <a:stCxn id="98" idx="2"/>
            <a:endCxn id="39" idx="0"/>
          </p:cNvCxnSpPr>
          <p:nvPr/>
        </p:nvCxnSpPr>
        <p:spPr>
          <a:xfrm>
            <a:off x="4250867" y="5163958"/>
            <a:ext cx="6994" cy="300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130">
            <a:extLst>
              <a:ext uri="{FF2B5EF4-FFF2-40B4-BE49-F238E27FC236}">
                <a16:creationId xmlns:a16="http://schemas.microsoft.com/office/drawing/2014/main" id="{31248FD4-E278-83A5-DDE9-D06CB1A0BBFD}"/>
              </a:ext>
            </a:extLst>
          </p:cNvPr>
          <p:cNvSpPr txBox="1"/>
          <p:nvPr/>
        </p:nvSpPr>
        <p:spPr>
          <a:xfrm>
            <a:off x="3690656" y="6144233"/>
            <a:ext cx="2360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solidFill>
                  <a:srgbClr val="0070C0"/>
                </a:solidFill>
                <a:latin typeface="Arial Narrow" panose="020B0606020202030204" pitchFamily="34" charset="0"/>
              </a:rPr>
              <a:t>Deep Learning Model 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BEF9426-A4BD-4BCF-A0D5-49CA0368A1CD}"/>
              </a:ext>
            </a:extLst>
          </p:cNvPr>
          <p:cNvSpPr/>
          <p:nvPr/>
        </p:nvSpPr>
        <p:spPr>
          <a:xfrm>
            <a:off x="3473268" y="3116669"/>
            <a:ext cx="1500188" cy="363805"/>
          </a:xfrm>
          <a:prstGeom prst="rect">
            <a:avLst/>
          </a:prstGeom>
          <a:solidFill>
            <a:schemeClr val="bg2">
              <a:lumMod val="50000"/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" name="Picture 101"/>
          <p:cNvPicPr>
            <a:picLocks noChangeAspect="1"/>
          </p:cNvPicPr>
          <p:nvPr/>
        </p:nvPicPr>
        <p:blipFill rotWithShape="1">
          <a:blip r:embed="rId3"/>
          <a:srcRect l="12909"/>
          <a:stretch/>
        </p:blipFill>
        <p:spPr>
          <a:xfrm>
            <a:off x="3900941" y="1238432"/>
            <a:ext cx="618172" cy="786118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3362143" y="2523150"/>
            <a:ext cx="1701800" cy="298450"/>
          </a:xfrm>
          <a:prstGeom prst="rect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BEF9426-A4BD-4BCF-A0D5-49CA0368A1CD}"/>
              </a:ext>
            </a:extLst>
          </p:cNvPr>
          <p:cNvSpPr/>
          <p:nvPr/>
        </p:nvSpPr>
        <p:spPr>
          <a:xfrm>
            <a:off x="3468491" y="3664365"/>
            <a:ext cx="1500188" cy="363805"/>
          </a:xfrm>
          <a:prstGeom prst="rect">
            <a:avLst/>
          </a:prstGeom>
          <a:solidFill>
            <a:schemeClr val="bg2">
              <a:lumMod val="50000"/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BEF9426-A4BD-4BCF-A0D5-49CA0368A1CD}"/>
              </a:ext>
            </a:extLst>
          </p:cNvPr>
          <p:cNvSpPr/>
          <p:nvPr/>
        </p:nvSpPr>
        <p:spPr>
          <a:xfrm>
            <a:off x="3478031" y="4396400"/>
            <a:ext cx="1500188" cy="293749"/>
          </a:xfrm>
          <a:prstGeom prst="rect">
            <a:avLst/>
          </a:prstGeom>
          <a:solidFill>
            <a:schemeClr val="bg2">
              <a:lumMod val="50000"/>
              <a:alpha val="1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BEF9426-A4BD-4BCF-A0D5-49CA0368A1CD}"/>
              </a:ext>
            </a:extLst>
          </p:cNvPr>
          <p:cNvSpPr/>
          <p:nvPr/>
        </p:nvSpPr>
        <p:spPr>
          <a:xfrm>
            <a:off x="3849506" y="4842488"/>
            <a:ext cx="814388" cy="266700"/>
          </a:xfrm>
          <a:prstGeom prst="rect">
            <a:avLst/>
          </a:prstGeom>
          <a:solidFill>
            <a:srgbClr val="FF0000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1" name="Straight Connector 110"/>
          <p:cNvCxnSpPr/>
          <p:nvPr/>
        </p:nvCxnSpPr>
        <p:spPr>
          <a:xfrm>
            <a:off x="2961682" y="1247859"/>
            <a:ext cx="30701" cy="5574868"/>
          </a:xfrm>
          <a:prstGeom prst="line">
            <a:avLst/>
          </a:prstGeom>
          <a:ln w="22225">
            <a:solidFill>
              <a:srgbClr val="FF0000">
                <a:alpha val="9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525550" y="1201418"/>
            <a:ext cx="30701" cy="5574868"/>
          </a:xfrm>
          <a:prstGeom prst="line">
            <a:avLst/>
          </a:prstGeom>
          <a:ln w="22225">
            <a:solidFill>
              <a:srgbClr val="FF0000">
                <a:alpha val="99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oup 165"/>
          <p:cNvGrpSpPr/>
          <p:nvPr/>
        </p:nvGrpSpPr>
        <p:grpSpPr>
          <a:xfrm>
            <a:off x="6805389" y="977215"/>
            <a:ext cx="3142051" cy="5806486"/>
            <a:chOff x="8690771" y="637843"/>
            <a:chExt cx="3142051" cy="5806486"/>
          </a:xfrm>
        </p:grpSpPr>
        <p:sp>
          <p:nvSpPr>
            <p:cNvPr id="120" name="Rounded Rectangle 119"/>
            <p:cNvSpPr/>
            <p:nvPr/>
          </p:nvSpPr>
          <p:spPr>
            <a:xfrm>
              <a:off x="8760692" y="1745156"/>
              <a:ext cx="895350" cy="37993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28000"/>
              </a:schemeClr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1" name="Oval 120"/>
            <p:cNvSpPr/>
            <p:nvPr/>
          </p:nvSpPr>
          <p:spPr>
            <a:xfrm>
              <a:off x="10660483" y="1745156"/>
              <a:ext cx="921424" cy="50474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51000"/>
              </a:schemeClr>
            </a:solidFill>
            <a:ln w="25400">
              <a:solidFill>
                <a:schemeClr val="accent1">
                  <a:shade val="5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22" name="Picture 121"/>
            <p:cNvPicPr>
              <a:picLocks noChangeAspect="1"/>
            </p:cNvPicPr>
            <p:nvPr/>
          </p:nvPicPr>
          <p:blipFill rotWithShape="1">
            <a:blip r:embed="rId3"/>
            <a:srcRect l="12909"/>
            <a:stretch/>
          </p:blipFill>
          <p:spPr>
            <a:xfrm>
              <a:off x="10805056" y="637843"/>
              <a:ext cx="618172" cy="786118"/>
            </a:xfrm>
            <a:prstGeom prst="rect">
              <a:avLst/>
            </a:prstGeom>
          </p:spPr>
        </p:pic>
        <p:sp>
          <p:nvSpPr>
            <p:cNvPr id="123" name="TextBox 122"/>
            <p:cNvSpPr txBox="1"/>
            <p:nvPr/>
          </p:nvSpPr>
          <p:spPr>
            <a:xfrm>
              <a:off x="10622322" y="1757461"/>
              <a:ext cx="102069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300" dirty="0"/>
                <a:t>Low Level Features</a:t>
              </a:r>
            </a:p>
          </p:txBody>
        </p:sp>
        <p:cxnSp>
          <p:nvCxnSpPr>
            <p:cNvPr id="124" name="Straight Arrow Connector 123"/>
            <p:cNvCxnSpPr>
              <a:stCxn id="122" idx="2"/>
              <a:endCxn id="121" idx="0"/>
            </p:cNvCxnSpPr>
            <p:nvPr/>
          </p:nvCxnSpPr>
          <p:spPr>
            <a:xfrm>
              <a:off x="11114142" y="1423961"/>
              <a:ext cx="7053" cy="321195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Oval 124"/>
            <p:cNvSpPr/>
            <p:nvPr/>
          </p:nvSpPr>
          <p:spPr>
            <a:xfrm>
              <a:off x="10671777" y="2562106"/>
              <a:ext cx="910130" cy="52903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51000"/>
              </a:schemeClr>
            </a:solidFill>
            <a:ln w="25400">
              <a:solidFill>
                <a:schemeClr val="accent1">
                  <a:shade val="5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0634833" y="2598702"/>
              <a:ext cx="100818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300" dirty="0"/>
                <a:t>Mid-Level Features</a:t>
              </a:r>
            </a:p>
          </p:txBody>
        </p:sp>
        <p:cxnSp>
          <p:nvCxnSpPr>
            <p:cNvPr id="127" name="Straight Arrow Connector 126"/>
            <p:cNvCxnSpPr>
              <a:stCxn id="121" idx="4"/>
              <a:endCxn id="125" idx="0"/>
            </p:cNvCxnSpPr>
            <p:nvPr/>
          </p:nvCxnSpPr>
          <p:spPr>
            <a:xfrm>
              <a:off x="11121195" y="2249903"/>
              <a:ext cx="5647" cy="312203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Oval 127"/>
            <p:cNvSpPr/>
            <p:nvPr/>
          </p:nvSpPr>
          <p:spPr>
            <a:xfrm>
              <a:off x="10676317" y="3404154"/>
              <a:ext cx="910130" cy="54704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51000"/>
              </a:schemeClr>
            </a:solidFill>
            <a:ln w="25400">
              <a:solidFill>
                <a:schemeClr val="accent1">
                  <a:shade val="50000"/>
                  <a:alpha val="9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0639373" y="3446448"/>
              <a:ext cx="100818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300" dirty="0"/>
                <a:t>High-Level Features</a:t>
              </a:r>
            </a:p>
          </p:txBody>
        </p:sp>
        <p:cxnSp>
          <p:nvCxnSpPr>
            <p:cNvPr id="130" name="Straight Arrow Connector 129"/>
            <p:cNvCxnSpPr>
              <a:stCxn id="125" idx="4"/>
              <a:endCxn id="128" idx="0"/>
            </p:cNvCxnSpPr>
            <p:nvPr/>
          </p:nvCxnSpPr>
          <p:spPr>
            <a:xfrm>
              <a:off x="11126842" y="3091145"/>
              <a:ext cx="4540" cy="313009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/>
            <p:cNvCxnSpPr>
              <a:stCxn id="128" idx="4"/>
              <a:endCxn id="132" idx="0"/>
            </p:cNvCxnSpPr>
            <p:nvPr/>
          </p:nvCxnSpPr>
          <p:spPr>
            <a:xfrm flipH="1">
              <a:off x="11129242" y="3951195"/>
              <a:ext cx="2140" cy="279727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/>
            <p:cNvSpPr/>
            <p:nvPr/>
          </p:nvSpPr>
          <p:spPr>
            <a:xfrm>
              <a:off x="10478367" y="4230922"/>
              <a:ext cx="1301749" cy="73853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58000"/>
              </a:schemeClr>
            </a:solidFill>
            <a:ln w="1905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10671777" y="4327045"/>
              <a:ext cx="910130" cy="1665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0683861" y="4535994"/>
              <a:ext cx="910130" cy="1552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10687599" y="4718388"/>
              <a:ext cx="910130" cy="1781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36" name="Straight Arrow Connector 135"/>
            <p:cNvCxnSpPr>
              <a:stCxn id="132" idx="2"/>
              <a:endCxn id="137" idx="0"/>
            </p:cNvCxnSpPr>
            <p:nvPr/>
          </p:nvCxnSpPr>
          <p:spPr>
            <a:xfrm>
              <a:off x="11129242" y="4969460"/>
              <a:ext cx="3493" cy="325128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/>
            <p:cNvSpPr/>
            <p:nvPr/>
          </p:nvSpPr>
          <p:spPr>
            <a:xfrm>
              <a:off x="10432647" y="5294588"/>
              <a:ext cx="1400175" cy="47265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Arial Narrow" panose="020B0606020202030204" pitchFamily="34" charset="0"/>
              </a:endParaRPr>
            </a:p>
          </p:txBody>
        </p:sp>
        <p:cxnSp>
          <p:nvCxnSpPr>
            <p:cNvPr id="138" name="Straight Arrow Connector 137"/>
            <p:cNvCxnSpPr>
              <a:stCxn id="137" idx="4"/>
            </p:cNvCxnSpPr>
            <p:nvPr/>
          </p:nvCxnSpPr>
          <p:spPr>
            <a:xfrm>
              <a:off x="11132735" y="5767244"/>
              <a:ext cx="2113" cy="338531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/>
            <p:cNvSpPr txBox="1"/>
            <p:nvPr/>
          </p:nvSpPr>
          <p:spPr>
            <a:xfrm>
              <a:off x="10686253" y="6105775"/>
              <a:ext cx="10150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>
                  <a:latin typeface="Arial Narrow" panose="020B0606020202030204" pitchFamily="34" charset="0"/>
                </a:rPr>
                <a:t>Predictions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0721382" y="5330487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 err="1">
                  <a:latin typeface="Arial Narrow" panose="020B0606020202030204" pitchFamily="34" charset="0"/>
                </a:rPr>
                <a:t>Softmax</a:t>
              </a:r>
              <a:endParaRPr lang="en-IN" sz="1600" dirty="0">
                <a:latin typeface="Arial Narrow" panose="020B0606020202030204" pitchFamily="34" charset="0"/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0805056" y="1501260"/>
              <a:ext cx="618172" cy="1163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0805056" y="2319293"/>
              <a:ext cx="618172" cy="1163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10805056" y="3147953"/>
              <a:ext cx="618172" cy="1163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10805056" y="3991819"/>
              <a:ext cx="618172" cy="1163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8709892" y="1770556"/>
              <a:ext cx="101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Arial Narrow" panose="020B0606020202030204" pitchFamily="34" charset="0"/>
                </a:rPr>
                <a:t>Convolution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8760691" y="2556979"/>
              <a:ext cx="895350" cy="52834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28000"/>
              </a:schemeClr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8700366" y="2562106"/>
              <a:ext cx="1016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Arial Narrow" panose="020B0606020202030204" pitchFamily="34" charset="0"/>
                </a:rPr>
                <a:t>Non-linear Activation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8760692" y="3446448"/>
              <a:ext cx="895350" cy="33304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28000"/>
              </a:schemeClr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8700367" y="3451574"/>
              <a:ext cx="1016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latin typeface="Arial Narrow" panose="020B0606020202030204" pitchFamily="34" charset="0"/>
                </a:rPr>
                <a:t>Normalization</a:t>
              </a:r>
            </a:p>
          </p:txBody>
        </p:sp>
        <p:sp>
          <p:nvSpPr>
            <p:cNvPr id="150" name="Rounded Rectangle 149"/>
            <p:cNvSpPr/>
            <p:nvPr/>
          </p:nvSpPr>
          <p:spPr>
            <a:xfrm>
              <a:off x="8770217" y="4268726"/>
              <a:ext cx="895350" cy="33025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28000"/>
              </a:schemeClr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8709892" y="4273853"/>
              <a:ext cx="101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Arial Narrow" panose="020B0606020202030204" pitchFamily="34" charset="0"/>
                </a:rPr>
                <a:t>Pooling</a:t>
              </a:r>
            </a:p>
          </p:txBody>
        </p:sp>
        <p:cxnSp>
          <p:nvCxnSpPr>
            <p:cNvPr id="152" name="Straight Arrow Connector 151"/>
            <p:cNvCxnSpPr>
              <a:endCxn id="120" idx="0"/>
            </p:cNvCxnSpPr>
            <p:nvPr/>
          </p:nvCxnSpPr>
          <p:spPr>
            <a:xfrm>
              <a:off x="9208367" y="1409434"/>
              <a:ext cx="0" cy="335722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/>
            <p:cNvCxnSpPr>
              <a:stCxn id="120" idx="2"/>
              <a:endCxn id="147" idx="0"/>
            </p:cNvCxnSpPr>
            <p:nvPr/>
          </p:nvCxnSpPr>
          <p:spPr>
            <a:xfrm flipH="1">
              <a:off x="9208366" y="2125088"/>
              <a:ext cx="1" cy="437018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/>
            <p:cNvCxnSpPr>
              <a:stCxn id="146" idx="2"/>
              <a:endCxn id="149" idx="0"/>
            </p:cNvCxnSpPr>
            <p:nvPr/>
          </p:nvCxnSpPr>
          <p:spPr>
            <a:xfrm>
              <a:off x="9208366" y="3085326"/>
              <a:ext cx="1" cy="366248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/>
            <p:cNvCxnSpPr>
              <a:stCxn id="148" idx="2"/>
              <a:endCxn id="151" idx="0"/>
            </p:cNvCxnSpPr>
            <p:nvPr/>
          </p:nvCxnSpPr>
          <p:spPr>
            <a:xfrm>
              <a:off x="9208367" y="3779490"/>
              <a:ext cx="9525" cy="494363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/>
            <p:cNvCxnSpPr>
              <a:stCxn id="151" idx="2"/>
            </p:cNvCxnSpPr>
            <p:nvPr/>
          </p:nvCxnSpPr>
          <p:spPr>
            <a:xfrm>
              <a:off x="9217892" y="4581630"/>
              <a:ext cx="0" cy="335470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  <a:alpha val="97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Right Bracket 156"/>
            <p:cNvSpPr/>
            <p:nvPr/>
          </p:nvSpPr>
          <p:spPr>
            <a:xfrm>
              <a:off x="9717751" y="1592913"/>
              <a:ext cx="60325" cy="3181247"/>
            </a:xfrm>
            <a:prstGeom prst="rightBracket">
              <a:avLst/>
            </a:prstGeom>
            <a:ln w="222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8" name="Straight Connector 157"/>
            <p:cNvCxnSpPr>
              <a:stCxn id="141" idx="1"/>
            </p:cNvCxnSpPr>
            <p:nvPr/>
          </p:nvCxnSpPr>
          <p:spPr>
            <a:xfrm flipH="1" flipV="1">
              <a:off x="10351795" y="1559428"/>
              <a:ext cx="453261" cy="1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>
              <a:stCxn id="144" idx="1"/>
            </p:cNvCxnSpPr>
            <p:nvPr/>
          </p:nvCxnSpPr>
          <p:spPr>
            <a:xfrm flipH="1">
              <a:off x="10354542" y="4049988"/>
              <a:ext cx="450514" cy="2756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 flipH="1">
              <a:off x="10351795" y="1552432"/>
              <a:ext cx="2747" cy="2508668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>
              <a:stCxn id="142" idx="1"/>
            </p:cNvCxnSpPr>
            <p:nvPr/>
          </p:nvCxnSpPr>
          <p:spPr>
            <a:xfrm flipH="1" flipV="1">
              <a:off x="10351795" y="2375908"/>
              <a:ext cx="453261" cy="1554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>
              <a:stCxn id="143" idx="1"/>
            </p:cNvCxnSpPr>
            <p:nvPr/>
          </p:nvCxnSpPr>
          <p:spPr>
            <a:xfrm flipH="1" flipV="1">
              <a:off x="10348317" y="3202242"/>
              <a:ext cx="456739" cy="3880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endCxn id="157" idx="2"/>
            </p:cNvCxnSpPr>
            <p:nvPr/>
          </p:nvCxnSpPr>
          <p:spPr>
            <a:xfrm flipH="1" flipV="1">
              <a:off x="9778076" y="3183537"/>
              <a:ext cx="570241" cy="10349"/>
            </a:xfrm>
            <a:prstGeom prst="line">
              <a:avLst/>
            </a:prstGeom>
            <a:ln w="15875">
              <a:solidFill>
                <a:schemeClr val="accent2">
                  <a:lumMod val="7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Left Bracket 163"/>
            <p:cNvSpPr/>
            <p:nvPr/>
          </p:nvSpPr>
          <p:spPr>
            <a:xfrm>
              <a:off x="8690771" y="1559428"/>
              <a:ext cx="75968" cy="3214732"/>
            </a:xfrm>
            <a:prstGeom prst="leftBracket">
              <a:avLst/>
            </a:prstGeom>
            <a:ln w="222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0727837" y="4277532"/>
              <a:ext cx="9151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Fully Connected layers</a:t>
              </a:r>
            </a:p>
          </p:txBody>
        </p: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284D853-0BB5-414D-9814-45C8ACBA25F4}"/>
              </a:ext>
            </a:extLst>
          </p:cNvPr>
          <p:cNvCxnSpPr>
            <a:cxnSpLocks/>
          </p:cNvCxnSpPr>
          <p:nvPr/>
        </p:nvCxnSpPr>
        <p:spPr>
          <a:xfrm flipV="1">
            <a:off x="5075620" y="3840445"/>
            <a:ext cx="226977" cy="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29">
            <a:extLst>
              <a:ext uri="{FF2B5EF4-FFF2-40B4-BE49-F238E27FC236}">
                <a16:creationId xmlns:a16="http://schemas.microsoft.com/office/drawing/2014/main" id="{BAB42DBD-773E-4AA0-99DE-0444970EECC2}"/>
              </a:ext>
            </a:extLst>
          </p:cNvPr>
          <p:cNvSpPr txBox="1"/>
          <p:nvPr/>
        </p:nvSpPr>
        <p:spPr>
          <a:xfrm>
            <a:off x="6451083" y="6138145"/>
            <a:ext cx="2515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solidFill>
                  <a:srgbClr val="0070C0"/>
                </a:solidFill>
                <a:latin typeface="Arial Narrow" panose="020B0606020202030204" pitchFamily="34" charset="0"/>
              </a:rPr>
              <a:t>Convolutional Neural 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Arial Narrow" panose="020B0606020202030204" pitchFamily="34" charset="0"/>
              </a:rPr>
              <a:t>Network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285278F-7404-48DB-A034-F51BBB2CD158}"/>
              </a:ext>
            </a:extLst>
          </p:cNvPr>
          <p:cNvCxnSpPr/>
          <p:nvPr/>
        </p:nvCxnSpPr>
        <p:spPr>
          <a:xfrm>
            <a:off x="1402413" y="5267134"/>
            <a:ext cx="0" cy="48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24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035"/>
            <a:ext cx="10515600" cy="863311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Convolutional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34497"/>
            <a:ext cx="7194809" cy="525575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Applications of Convolution Matrices :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Convolution kernels (or filters) are the fundamental components of Convolutional Neural Networks (CNNs) that enable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automatic feature extraction from input data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By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sliding across the input image</a:t>
            </a:r>
            <a:r>
              <a:rPr lang="en-GB" sz="2000" dirty="0">
                <a:latin typeface="Arial Narrow" panose="020B0606020202030204" pitchFamily="34" charset="0"/>
              </a:rPr>
              <a:t>, each kernel learns to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detect specific visual patterns and generates feature maps that represent the presence of these patterns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Different kernels specialize in identifying different types of features, allowing CNNs to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build increasingly complex representations through successive convolutional layers</a:t>
            </a:r>
            <a:r>
              <a:rPr lang="en-GB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The major applications of convolution kernels include: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Edge detection, Texture Analysis, Shape and Object feature extraction, Image classification, Object detection</a:t>
            </a:r>
            <a:r>
              <a:rPr lang="en-GB" sz="2000" dirty="0">
                <a:latin typeface="Arial Narrow" panose="020B0606020202030204" pitchFamily="34" charset="0"/>
              </a:rPr>
              <a:t> etc.</a:t>
            </a:r>
          </a:p>
          <a:p>
            <a:pPr algn="just"/>
            <a:r>
              <a:rPr lang="en-GB" sz="2000" dirty="0">
                <a:latin typeface="Arial Narrow" panose="020B0606020202030204" pitchFamily="34" charset="0"/>
              </a:rPr>
              <a:t>Convolution kernels serve as </a:t>
            </a:r>
            <a:r>
              <a:rPr lang="en-GB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automatic feature extractors that progressively learn from simple low-level features to complex high-level semantic representations.</a:t>
            </a:r>
            <a:r>
              <a:rPr lang="en-GB" sz="2000" dirty="0">
                <a:latin typeface="Arial Narrow" panose="020B0606020202030204" pitchFamily="34" charset="0"/>
              </a:rPr>
              <a:t> </a:t>
            </a:r>
            <a:endParaRPr lang="en-US" sz="20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4BCAFD4-8092-4242-BF09-E57471208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138" y="1623896"/>
            <a:ext cx="2685662" cy="48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9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333045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1983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7258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7770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3045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1983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7258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7770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3045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1983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7258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41431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9383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8321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3596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4108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33039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1977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7252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4102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3039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31977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27252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4102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61733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33208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04682" y="211152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61733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33208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4682" y="244985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61733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33208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04682" y="278773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5628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738557" y="6412744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(−1)=</m:t>
                      </m:r>
                      <m:r>
                        <a:rPr lang="en-IN" sz="1400" b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7" y="6412744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6582795" y="105361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063624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48272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901822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20921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740020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159119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54388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473487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92586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20921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740020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59119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63624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8272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01822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20921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740020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159119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063624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8272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901822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20921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40020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159119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063624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8272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901822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320921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740020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159119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47189" y="3884488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810123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8810122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8810122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236242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3236241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3236241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8672372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8672372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4918945" y="1120710"/>
            <a:ext cx="865000" cy="99059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232053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32053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32053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8391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32047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232047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25861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25861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25861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22199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25855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525855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33675" y="60011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833675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33675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30013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33669" y="93826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833669" y="12859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127752" y="59896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27752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127752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124090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127746" y="93711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27746" y="128478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337655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636593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931868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038718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236663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530471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838285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132362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042388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337663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636601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931876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236671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530479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838293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132370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5783945" y="380830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066631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48573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904829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323928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743027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162126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4918945" y="3126060"/>
            <a:ext cx="1271897" cy="1241025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75CE4B8-75E9-4766-80A8-2C3FEE2F77F4}"/>
              </a:ext>
            </a:extLst>
          </p:cNvPr>
          <p:cNvCxnSpPr>
            <a:cxnSpLocks/>
          </p:cNvCxnSpPr>
          <p:nvPr/>
        </p:nvCxnSpPr>
        <p:spPr>
          <a:xfrm flipV="1">
            <a:off x="5203596" y="3429000"/>
            <a:ext cx="0" cy="29837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40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15847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4785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0060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0572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5847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4785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0060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0572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5847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4785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0060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4233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2185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11123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6398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16910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15841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14779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10054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16904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5841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14779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10054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16904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44535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16010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87484" y="211152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44535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16010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87484" y="244985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44535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16010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87484" y="278773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88430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364785" y="6384468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(−1)=</m:t>
                      </m:r>
                      <m:r>
                        <a:rPr lang="en-IN" sz="1400" b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85" y="6384468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5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6865597" y="105361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46426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65525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84624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0372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22822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41921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37190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756289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175388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03723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22822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41921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46426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765525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84624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0372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22822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41921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346426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65525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84624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0372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22822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441921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46426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765525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184624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0372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022822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41921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29991" y="3884488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092925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092924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092924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519044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3519043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3519043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8955174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8955174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5201747" y="1123603"/>
            <a:ext cx="1158965" cy="98769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514855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14855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14855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11193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14849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14849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08663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08663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08663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05001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808657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08657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16477" y="60011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16477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116477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112815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16471" y="93826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116471" y="12859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410554" y="59896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410554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410554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406892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10548" y="93711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410548" y="128478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620457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919395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214670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321520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519465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813273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121087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415164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325190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620465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919403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214678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519473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813281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121095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5172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6360712" y="383723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349433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768532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187631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60673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025829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444928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5201747" y="3126060"/>
            <a:ext cx="1667026" cy="1250151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DAA284-F49B-4995-B8D8-9709AF69808E}"/>
              </a:ext>
            </a:extLst>
          </p:cNvPr>
          <p:cNvCxnSpPr/>
          <p:nvPr/>
        </p:nvCxnSpPr>
        <p:spPr>
          <a:xfrm flipV="1">
            <a:off x="5573221" y="3493422"/>
            <a:ext cx="0" cy="28495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9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81455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0393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5668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6180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1455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0393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5668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86180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1455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80393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5668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89841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7793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6731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006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82518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81449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80387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5662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82512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1449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80387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75662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82512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10143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81618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53092" y="211152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10143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1618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53092" y="244985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0143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81618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53092" y="278773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54038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611366" y="6463244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(−1)=</m:t>
                      </m:r>
                      <m:r>
                        <a:rPr lang="en-IN" sz="1400" b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66" y="6463244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5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7431205" y="105361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12034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3113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750232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69331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88430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07529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902798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21897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40996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69331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88430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07529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912034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3113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750232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169331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88430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07529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12034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3113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750232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69331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88430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07529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12034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33113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750232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69331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88430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07529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95599" y="3884488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658533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658532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658532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4084652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4084651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4084651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520782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9520782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5767355" y="1100688"/>
            <a:ext cx="1466787" cy="101061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80463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80463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80463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76801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80457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80457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74271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74271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74271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0609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74265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74265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2085" y="60011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2085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82085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78423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2079" y="93826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2079" y="12859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76162" y="59896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76162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76162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72500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76156" y="93711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976156" y="128478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186065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85003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780278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87128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085073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78881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86695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980772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890798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186073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85011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780286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085081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378889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686703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80780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7234142" y="360808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915041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33414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753239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172338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591437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010536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5767355" y="3126060"/>
            <a:ext cx="2119239" cy="1250151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B4920826-237B-406D-B4CF-A2F34825E6B3}"/>
              </a:ext>
            </a:extLst>
          </p:cNvPr>
          <p:cNvCxnSpPr/>
          <p:nvPr/>
        </p:nvCxnSpPr>
        <p:spPr>
          <a:xfrm flipV="1">
            <a:off x="6324566" y="3493422"/>
            <a:ext cx="0" cy="28495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047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992919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91857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7132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7644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2919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1857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7132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7644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2919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1857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7132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01305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9257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88195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3470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93982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2913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91851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7126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3976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92913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91851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7126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976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1607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3082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64556" y="211152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1607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93082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4556" y="244985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1607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393082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64556" y="278773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65502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572630" y="6433472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(−1)=</m:t>
                      </m:r>
                      <m:r>
                        <a:rPr lang="en-IN" sz="1400" b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30" y="6433472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5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7242669" y="105361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3498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42597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61696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80795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399894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81899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14262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33361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552460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80795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99894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18993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723498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142597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561696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80795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99894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81899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723498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142597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561696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980795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99894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81899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23498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142597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561696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980795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99894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81899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437664" y="6324150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469997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469996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469996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3896116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3896115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3896115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332246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9332246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5578819" y="1096981"/>
            <a:ext cx="1770621" cy="101432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891927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91927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891927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88265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91921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891921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85735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185735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85735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182073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85729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85729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93549" y="60011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3549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93549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89887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93543" y="93826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93543" y="12859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787626" y="59896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787626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787626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783964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787620" y="93711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787620" y="128478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997529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296467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591742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698592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896537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190345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498159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792236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702262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997537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296475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591750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896545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190353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498167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792244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7349440" y="357101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726505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145604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564703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983802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02901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82200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5578819" y="3126060"/>
            <a:ext cx="2539594" cy="1250151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08BB9758-AD09-4FA5-A1CD-303E960CBEA1}"/>
              </a:ext>
            </a:extLst>
          </p:cNvPr>
          <p:cNvCxnSpPr/>
          <p:nvPr/>
        </p:nvCxnSpPr>
        <p:spPr>
          <a:xfrm flipV="1">
            <a:off x="6324566" y="3493422"/>
            <a:ext cx="0" cy="28495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05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5466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4404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9679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0191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5466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4404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9679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0191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5466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4404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9679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3852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1804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10742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06017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6529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5460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14398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9673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6523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15460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4398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9673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6523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44154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15629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87103" y="211152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44154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15629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87103" y="244985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44154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15629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87103" y="278773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88049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445090" y="6433472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(−1)=</m:t>
                      </m:r>
                      <m:r>
                        <a:rPr lang="en-IN" sz="1400" b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90" y="6433472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5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7365216" y="105361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46045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65144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8424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03342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22441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41540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36809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55908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75007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03342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22441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41540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46045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265144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68424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103342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22441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941540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46045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265144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8424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03342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22441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941540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846045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265144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68424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03342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22441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41540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65216" y="6290905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592544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592543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592543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4018663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4018662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4018662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454793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9454793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5701366" y="1095759"/>
            <a:ext cx="2091597" cy="101554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14474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14474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14474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10812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14468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14468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08282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08282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08282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04620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08276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08276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16096" y="60011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16096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16096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12434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16090" y="93826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16090" y="128592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10173" y="59896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10173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10173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06511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10167" y="93711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910167" y="128478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120076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19014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714289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21139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019084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12892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20706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914783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824809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120084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19022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714297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019092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312900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620714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14791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7792963" y="355879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849052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268151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68725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106349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525448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944547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5701366" y="3126060"/>
            <a:ext cx="2984555" cy="1284321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74937B0-6AF9-4A4B-AD7E-911A6F13006F}"/>
              </a:ext>
            </a:extLst>
          </p:cNvPr>
          <p:cNvCxnSpPr/>
          <p:nvPr/>
        </p:nvCxnSpPr>
        <p:spPr>
          <a:xfrm flipV="1">
            <a:off x="6324566" y="3493422"/>
            <a:ext cx="0" cy="28495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23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15464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4402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9677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0189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5464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4402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9677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0189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5464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4402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9677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3850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1802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10740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06015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6527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5458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14396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9671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6521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15458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14396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09671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16521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44152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15627" y="211130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87101" y="211152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44152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15627" y="2449630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87101" y="244985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44152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15627" y="278750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887101" y="278773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88047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303906" y="6475570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(−1)+</m:t>
                      </m:r>
                      <m:r>
                        <a:rPr lang="en-IN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IN" sz="1400" dirty="0" smtClean="0">
                          <a:latin typeface="Cambria Math" panose="02040503050406030204" pitchFamily="18" charset="0"/>
                        </a:rPr>
                        <m:t>(−1)=</m:t>
                      </m:r>
                      <m:r>
                        <a:rPr lang="en-IN" sz="1400" b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06" y="6475570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566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7355703" y="240439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4604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65142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84241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03340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22439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41538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36807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55906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75005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03340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22439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41538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4604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265142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684241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103340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22439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941538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4604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265142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84241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03340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22439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941538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84604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265142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684241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03340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22439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41538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65214" y="6290905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592542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592541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592541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4018661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4018660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4018660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454791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9454791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5701364" y="1086372"/>
            <a:ext cx="2404246" cy="102493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14472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14472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14472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10810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14466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14466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08280" y="59970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08280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08280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04618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08274" y="93785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08274" y="12855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16094" y="600117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16094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16094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12432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16088" y="93826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16088" y="128592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10171" y="598968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10171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10171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06509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10165" y="937111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910165" y="1284780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120074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19012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714287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21137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019082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12890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20704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914781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824807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120082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19020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714295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019090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312898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620712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14789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8105610" y="346492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84905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268149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687248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106347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525446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944545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5701364" y="3126060"/>
            <a:ext cx="3362886" cy="1238080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73A34F9-08CD-48A9-B670-EEEA8847DDCA}"/>
              </a:ext>
            </a:extLst>
          </p:cNvPr>
          <p:cNvCxnSpPr/>
          <p:nvPr/>
        </p:nvCxnSpPr>
        <p:spPr>
          <a:xfrm flipV="1">
            <a:off x="6324566" y="3493422"/>
            <a:ext cx="0" cy="28495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12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134318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3256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8531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043" y="2308361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4318" y="2308361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3256" y="2308361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8531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043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4318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33256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8531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42704" y="2987473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0656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94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4869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35381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4312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33250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8525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35375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4312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3250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28525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35375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3006" y="2254177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4481" y="2254177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5955" y="2254403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63006" y="2592505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34481" y="2592505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05955" y="2592731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63006" y="2930381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4481" y="2930381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05955" y="2930607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06901" y="1772522"/>
            <a:ext cx="2026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/>
              <p:cNvSpPr txBox="1"/>
              <p:nvPr/>
            </p:nvSpPr>
            <p:spPr>
              <a:xfrm>
                <a:off x="409636" y="6433472"/>
                <a:ext cx="6819839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59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(−1)+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(−1)+</m:t>
                    </m:r>
                    <m:r>
                      <a:rPr lang="en-IN" sz="1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N" sz="1400" dirty="0" smtClean="0">
                        <a:latin typeface="Cambria Math" panose="02040503050406030204" pitchFamily="18" charset="0"/>
                      </a:rPr>
                      <m:t>(−1)=</m:t>
                    </m:r>
                  </m:oMath>
                </a14:m>
                <a:r>
                  <a:rPr lang="en-IN" sz="1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</a:p>
            </p:txBody>
          </p:sp>
        </mc:Choice>
        <mc:Fallback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36" y="6433472"/>
                <a:ext cx="6819839" cy="307777"/>
              </a:xfrm>
              <a:prstGeom prst="rect">
                <a:avLst/>
              </a:prstGeom>
              <a:blipFill>
                <a:blip r:embed="rId2"/>
                <a:stretch>
                  <a:fillRect b="-169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/>
          <p:cNvSpPr txBox="1"/>
          <p:nvPr/>
        </p:nvSpPr>
        <p:spPr>
          <a:xfrm>
            <a:off x="7374557" y="240439"/>
            <a:ext cx="1234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64897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83996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703095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22194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41293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60392" y="491821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5661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74760" y="4235620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93859" y="423215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22194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41293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60392" y="424110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64897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283996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703095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122194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41293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960392" y="457965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864897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283996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703095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22194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541293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960392" y="560147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864897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283996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703095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122194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541293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60392" y="594002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84068" y="6290905"/>
            <a:ext cx="1479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611396" y="5196601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611395" y="500198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611395" y="5391216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4037515" y="2504742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4037514" y="2310127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4037514" y="2699357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473645" y="1650090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9473645" y="1914413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1" name="Straight Arrow Connector 120"/>
          <p:cNvCxnSpPr>
            <a:stCxn id="96" idx="2"/>
            <a:endCxn id="87" idx="0"/>
          </p:cNvCxnSpPr>
          <p:nvPr/>
        </p:nvCxnSpPr>
        <p:spPr>
          <a:xfrm flipH="1">
            <a:off x="5720218" y="2115093"/>
            <a:ext cx="874441" cy="13908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033326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33326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33326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29664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33320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33320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27134" y="59970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27134" y="23083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7134" y="26469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3472" y="2987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7128" y="93785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27128" y="12855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34948" y="60011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34948" y="23087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34948" y="26473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31286" y="2987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34942" y="93826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34942" y="12859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29025" y="59896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29025" y="230761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29025" y="26461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25363" y="2986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29019" y="93711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929019" y="128478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138928" y="1631882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37866" y="1631882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733141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839991" y="1631882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037936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31744" y="163188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639558" y="163229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933635" y="163114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843661" y="19793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138936" y="19793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37874" y="1979319"/>
            <a:ext cx="298938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733149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037944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331752" y="197931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639566" y="197972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933643" y="197857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6" name="Oval 95"/>
          <p:cNvSpPr/>
          <p:nvPr/>
        </p:nvSpPr>
        <p:spPr>
          <a:xfrm>
            <a:off x="6594659" y="1375213"/>
            <a:ext cx="1374665" cy="1479759"/>
          </a:xfrm>
          <a:prstGeom prst="ellipse">
            <a:avLst/>
          </a:prstGeom>
          <a:solidFill>
            <a:schemeClr val="accent2">
              <a:lumMod val="60000"/>
              <a:lumOff val="40000"/>
              <a:alpha val="21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TextBox 202"/>
          <p:cNvSpPr txBox="1"/>
          <p:nvPr/>
        </p:nvSpPr>
        <p:spPr>
          <a:xfrm>
            <a:off x="6867904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287003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706102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125201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544300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963399" y="5255337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98" name="Straight Arrow Connector 97"/>
          <p:cNvCxnSpPr>
            <a:stCxn id="93" idx="2"/>
          </p:cNvCxnSpPr>
          <p:nvPr/>
        </p:nvCxnSpPr>
        <p:spPr>
          <a:xfrm>
            <a:off x="5720218" y="3268935"/>
            <a:ext cx="1272912" cy="1797894"/>
          </a:xfrm>
          <a:prstGeom prst="straightConnector1">
            <a:avLst/>
          </a:prstGeom>
          <a:ln w="158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C3EE660C-8F85-4DC0-87AA-0CF692A28DE5}"/>
              </a:ext>
            </a:extLst>
          </p:cNvPr>
          <p:cNvCxnSpPr/>
          <p:nvPr/>
        </p:nvCxnSpPr>
        <p:spPr>
          <a:xfrm flipV="1">
            <a:off x="5905135" y="3577196"/>
            <a:ext cx="0" cy="28495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930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10570" y="27426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9508" y="27426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4783" y="27426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5295" y="44513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0570" y="44513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9508" y="44513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4783" y="44513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5295" y="478986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0570" y="478986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9508" y="478986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4783" y="478986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18956" y="5130427"/>
            <a:ext cx="282089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6908" y="513042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5846" y="513042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21" y="513042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11633" y="27426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0564" y="308080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09502" y="308080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04777" y="308080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11627" y="308080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0564" y="3428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09502" y="3428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04777" y="3428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11627" y="3428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1886" y="376628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03361" y="376628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74835" y="3766514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1886" y="410461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03361" y="4104616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74835" y="410484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1886" y="444249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03361" y="4442492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74835" y="4442718"/>
            <a:ext cx="371474" cy="338554"/>
          </a:xfrm>
          <a:prstGeom prst="rect">
            <a:avLst/>
          </a:prstGeom>
          <a:solidFill>
            <a:schemeClr val="accent2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8553" y="4789130"/>
            <a:ext cx="202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Convolution Kernel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63297" y="5455310"/>
            <a:ext cx="123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52406" y="3686286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71505" y="3686286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90604" y="3686286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09703" y="3686286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28802" y="3686286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147901" y="3686286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43170" y="300369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462269" y="3003694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81368" y="300023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309703" y="300917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728802" y="300917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147901" y="3009178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52406" y="334773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71505" y="334773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890604" y="334773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309703" y="334773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728802" y="334773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147901" y="3347732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052406" y="436954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71505" y="436954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890604" y="436954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09703" y="436954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728802" y="436954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47901" y="4369545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52406" y="4708099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471505" y="4708099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890604" y="4708099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309703" y="4708099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728802" y="4708099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147901" y="4708099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569757" y="5077980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Resultant Pattern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798905" y="3964675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0798904" y="3770060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10798904" y="4159290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2005668" y="4116227"/>
            <a:ext cx="1032367" cy="194615"/>
          </a:xfrm>
          <a:prstGeom prst="rect">
            <a:avLst/>
          </a:prstGeom>
          <a:solidFill>
            <a:schemeClr val="tx1">
              <a:alpha val="1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2005667" y="3921612"/>
            <a:ext cx="1032367" cy="194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2005667" y="4310842"/>
            <a:ext cx="1032367" cy="19461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6649897" y="3793044"/>
            <a:ext cx="965480" cy="2670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6649897" y="4057367"/>
            <a:ext cx="965480" cy="25724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209578" y="27426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09578" y="44513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09578" y="478986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05916" y="513042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09572" y="308080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09572" y="3428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03386" y="274266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03386" y="445131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03386" y="478986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99724" y="513042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03380" y="308080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03380" y="34284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11200" y="2743071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811200" y="445172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811200" y="4790279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07538" y="513083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11194" y="308121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11194" y="34288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05277" y="274192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05277" y="4450572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05277" y="478913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01615" y="5129688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05271" y="3080065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105271" y="3427734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15180" y="377483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614118" y="377483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909393" y="377483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016243" y="377483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214188" y="377483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507996" y="377483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815810" y="3775246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109887" y="3774097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019913" y="41222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315188" y="41222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614126" y="41222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909401" y="41222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214196" y="41222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508004" y="412227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815818" y="4122683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109895" y="4121530"/>
            <a:ext cx="29893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055413" y="402341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474512" y="402341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893611" y="402341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312710" y="402341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731809" y="402341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150908" y="4023411"/>
            <a:ext cx="419099" cy="33855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58" name="Title 1"/>
          <p:cNvSpPr>
            <a:spLocks noGrp="1"/>
          </p:cNvSpPr>
          <p:nvPr>
            <p:ph type="title"/>
          </p:nvPr>
        </p:nvSpPr>
        <p:spPr>
          <a:xfrm>
            <a:off x="735626" y="116751"/>
            <a:ext cx="6493849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35626" y="1137146"/>
            <a:ext cx="392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a Similar pattern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99254" y="1629330"/>
            <a:ext cx="2438488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</a:rPr>
              <a:t>Pattern : Horizontal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1417" y="3964675"/>
            <a:ext cx="2554054" cy="326132"/>
          </a:xfrm>
          <a:prstGeom prst="rect">
            <a:avLst/>
          </a:prstGeom>
          <a:solidFill>
            <a:schemeClr val="accent4">
              <a:lumMod val="60000"/>
              <a:lumOff val="40000"/>
              <a:alpha val="19000"/>
            </a:schemeClr>
          </a:solidFill>
          <a:ln w="158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Rectangle 159"/>
          <p:cNvSpPr/>
          <p:nvPr/>
        </p:nvSpPr>
        <p:spPr>
          <a:xfrm>
            <a:off x="7978374" y="3621100"/>
            <a:ext cx="2686105" cy="820594"/>
          </a:xfrm>
          <a:prstGeom prst="rect">
            <a:avLst/>
          </a:prstGeom>
          <a:solidFill>
            <a:schemeClr val="accent4">
              <a:lumMod val="60000"/>
              <a:lumOff val="40000"/>
              <a:alpha val="19000"/>
            </a:schemeClr>
          </a:solidFill>
          <a:ln w="158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380896"/>
            <a:ext cx="10515600" cy="91142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68" y="1806368"/>
            <a:ext cx="2800741" cy="14670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181" y="4500461"/>
            <a:ext cx="3124636" cy="13432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100" y="4500461"/>
            <a:ext cx="3038899" cy="13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18163" y="5957989"/>
            <a:ext cx="18026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rial Narrow" panose="020B0606020202030204" pitchFamily="34" charset="0"/>
              </a:rPr>
              <a:t>Vertical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5009" y="5843673"/>
            <a:ext cx="2113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Arial Narrow" panose="020B0606020202030204" pitchFamily="34" charset="0"/>
              </a:rPr>
              <a:t>Horizontal Edges</a:t>
            </a:r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 flipH="1">
            <a:off x="3619499" y="3273423"/>
            <a:ext cx="2515140" cy="12270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6" idx="0"/>
          </p:cNvCxnSpPr>
          <p:nvPr/>
        </p:nvCxnSpPr>
        <p:spPr>
          <a:xfrm>
            <a:off x="6134639" y="3273423"/>
            <a:ext cx="2456911" cy="12270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flipH="1">
            <a:off x="3036569" y="3617084"/>
            <a:ext cx="179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Vertical Filtering</a:t>
            </a:r>
          </a:p>
        </p:txBody>
      </p:sp>
      <p:sp>
        <p:nvSpPr>
          <p:cNvPr id="15" name="TextBox 14"/>
          <p:cNvSpPr txBox="1"/>
          <p:nvPr/>
        </p:nvSpPr>
        <p:spPr>
          <a:xfrm flipH="1">
            <a:off x="7401119" y="3617084"/>
            <a:ext cx="20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Horizontal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738" y="1292323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Searching for Similar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129" y="6414868"/>
            <a:ext cx="2367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Arial Narrow" panose="020B0606020202030204" pitchFamily="34" charset="0"/>
              </a:rPr>
              <a:t>Image Sources : Internet- Google</a:t>
            </a:r>
          </a:p>
        </p:txBody>
      </p:sp>
    </p:spTree>
    <p:extLst>
      <p:ext uri="{BB962C8B-B14F-4D97-AF65-F5344CB8AC3E}">
        <p14:creationId xmlns:p14="http://schemas.microsoft.com/office/powerpoint/2010/main" val="3897449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0" y="55306"/>
            <a:ext cx="10515600" cy="9842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" y="1110603"/>
            <a:ext cx="6038272" cy="5747397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US" sz="5500" dirty="0">
                <a:solidFill>
                  <a:srgbClr val="00B0F0"/>
                </a:solidFill>
                <a:latin typeface="Arial Narrow" panose="020B0606020202030204" pitchFamily="34" charset="0"/>
              </a:rPr>
              <a:t>Key Observations:</a:t>
            </a:r>
            <a:endParaRPr lang="en-US" sz="5500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4500" dirty="0">
                <a:latin typeface="Arial Narrow" panose="020B0606020202030204" pitchFamily="34" charset="0"/>
              </a:rPr>
              <a:t>Image statistics exhibit strong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local consistency</a:t>
            </a:r>
            <a:r>
              <a:rPr lang="en-US" sz="4500" dirty="0">
                <a:latin typeface="Arial Narrow" panose="020B0606020202030204" pitchFamily="34" charset="0"/>
              </a:rPr>
              <a:t>, meaning that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pixels within small neighborhoods are highly correlated </a:t>
            </a:r>
            <a:r>
              <a:rPr lang="en-US" sz="4500" dirty="0">
                <a:latin typeface="Arial Narrow" panose="020B0606020202030204" pitchFamily="34" charset="0"/>
              </a:rPr>
              <a:t>and often share similar visual characteristics. </a:t>
            </a:r>
          </a:p>
          <a:p>
            <a:pPr algn="just"/>
            <a:r>
              <a:rPr lang="en-US" sz="4500" dirty="0">
                <a:latin typeface="Arial Narrow" panose="020B0606020202030204" pitchFamily="34" charset="0"/>
              </a:rPr>
              <a:t>Convolutional neural networks (CNNs) leverage this property by applying the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same set of learnable filters across different spatial locations</a:t>
            </a:r>
            <a:r>
              <a:rPr lang="en-US" sz="4500" dirty="0">
                <a:latin typeface="Arial Narrow" panose="020B0606020202030204" pitchFamily="34" charset="0"/>
              </a:rPr>
              <a:t> through a mechanism known as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weight sharing. </a:t>
            </a:r>
          </a:p>
          <a:p>
            <a:pPr algn="just"/>
            <a:r>
              <a:rPr lang="en-US" sz="4500" dirty="0">
                <a:latin typeface="Arial Narrow" panose="020B0606020202030204" pitchFamily="34" charset="0"/>
              </a:rPr>
              <a:t>This enables the network to detect the same features, such as edges, textures, and patterns, regardless of their position in the image. </a:t>
            </a:r>
          </a:p>
          <a:p>
            <a:pPr algn="just"/>
            <a:r>
              <a:rPr lang="en-US" sz="4500" dirty="0">
                <a:latin typeface="Arial Narrow" panose="020B0606020202030204" pitchFamily="34" charset="0"/>
              </a:rPr>
              <a:t>In addition to improving feature extraction, weight sharing substantially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reduces the number of trainable parameters</a:t>
            </a:r>
            <a:r>
              <a:rPr lang="en-US" sz="4500" dirty="0">
                <a:latin typeface="Arial Narrow" panose="020B0606020202030204" pitchFamily="34" charset="0"/>
              </a:rPr>
              <a:t>, making the model more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computationally efficient</a:t>
            </a:r>
            <a:r>
              <a:rPr lang="en-US" sz="4500" dirty="0">
                <a:latin typeface="Arial Narrow" panose="020B0606020202030204" pitchFamily="34" charset="0"/>
              </a:rPr>
              <a:t>,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less prone to overfitting</a:t>
            </a:r>
            <a:r>
              <a:rPr lang="en-US" sz="4500" dirty="0">
                <a:latin typeface="Arial Narrow" panose="020B0606020202030204" pitchFamily="34" charset="0"/>
              </a:rPr>
              <a:t>, and better suited for processing high-dimensional image data.</a:t>
            </a:r>
          </a:p>
          <a:p>
            <a:pPr algn="just"/>
            <a:endParaRPr lang="en-US" sz="45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5500" dirty="0">
                <a:solidFill>
                  <a:srgbClr val="00B0F0"/>
                </a:solidFill>
                <a:latin typeface="Arial Narrow" panose="020B0606020202030204" pitchFamily="34" charset="0"/>
              </a:rPr>
              <a:t>Convolutional Neural Network (CNN):</a:t>
            </a:r>
            <a:endParaRPr lang="en-US" sz="5500" dirty="0">
              <a:latin typeface="Arial Narrow" panose="020B0606020202030204" pitchFamily="34" charset="0"/>
            </a:endParaRPr>
          </a:p>
          <a:p>
            <a:pPr algn="just"/>
            <a:r>
              <a:rPr lang="en-US" sz="4500" dirty="0">
                <a:latin typeface="Arial Narrow" panose="020B0606020202030204" pitchFamily="34" charset="0"/>
              </a:rPr>
              <a:t>In a Convolutional Neural Network (CNN), each hidden neuron is connected only to a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small local region </a:t>
            </a:r>
            <a:r>
              <a:rPr lang="en-US" sz="4500" dirty="0">
                <a:latin typeface="Arial Narrow" panose="020B0606020202030204" pitchFamily="34" charset="0"/>
              </a:rPr>
              <a:t>of the input, known as its </a:t>
            </a:r>
            <a:r>
              <a:rPr lang="en-US" sz="4500" dirty="0">
                <a:solidFill>
                  <a:srgbClr val="00B0F0"/>
                </a:solidFill>
                <a:latin typeface="Arial Narrow" panose="020B0606020202030204" pitchFamily="34" charset="0"/>
              </a:rPr>
              <a:t>receptive field</a:t>
            </a:r>
            <a:r>
              <a:rPr lang="en-US" sz="4500" dirty="0">
                <a:latin typeface="Arial Narrow" panose="020B0606020202030204" pitchFamily="34" charset="0"/>
              </a:rPr>
              <a:t>, enabling the network to capture localized spatial features effectively. </a:t>
            </a:r>
          </a:p>
          <a:p>
            <a:pPr algn="just"/>
            <a:r>
              <a:rPr lang="en-US" sz="4800" dirty="0">
                <a:latin typeface="Arial Narrow" panose="020B0606020202030204" pitchFamily="34" charset="0"/>
              </a:rPr>
              <a:t>The </a:t>
            </a:r>
            <a:r>
              <a:rPr lang="en-US" sz="4800" dirty="0">
                <a:solidFill>
                  <a:srgbClr val="00B0F0"/>
                </a:solidFill>
                <a:latin typeface="Arial Narrow" panose="020B0606020202030204" pitchFamily="34" charset="0"/>
              </a:rPr>
              <a:t>same set of learnable weights</a:t>
            </a:r>
            <a:r>
              <a:rPr lang="en-US" sz="4800" dirty="0">
                <a:latin typeface="Arial Narrow" panose="020B0606020202030204" pitchFamily="34" charset="0"/>
              </a:rPr>
              <a:t>, referred to as filters or kernels, is applied across different spatial locations through a process called weight sharing. </a:t>
            </a:r>
          </a:p>
          <a:p>
            <a:pPr marL="0" indent="0" algn="just">
              <a:buNone/>
            </a:pPr>
            <a:endParaRPr lang="en-US" sz="4800" dirty="0">
              <a:latin typeface="Arial Narrow" panose="020B0606020202030204" pitchFamily="34" charset="0"/>
            </a:endParaRPr>
          </a:p>
          <a:p>
            <a:pPr algn="just"/>
            <a:endParaRPr lang="en-US" sz="4500" dirty="0">
              <a:latin typeface="Arial Narrow" panose="020B0606020202030204" pitchFamily="34" charset="0"/>
            </a:endParaRPr>
          </a:p>
          <a:p>
            <a:pPr algn="just"/>
            <a:endParaRPr lang="en-US" sz="2600" dirty="0">
              <a:latin typeface="Arial Narrow" panose="020B060602020203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60527" y="1682915"/>
            <a:ext cx="5380953" cy="2502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4000" dirty="0">
                <a:solidFill>
                  <a:srgbClr val="00B0F0"/>
                </a:solidFill>
                <a:latin typeface="Arial Narrow" panose="020B0606020202030204" pitchFamily="34" charset="0"/>
              </a:rPr>
              <a:t>Convolutional Neural Network (CNN):</a:t>
            </a:r>
            <a:endParaRPr lang="en-US" sz="4000" dirty="0">
              <a:latin typeface="Arial Narrow" panose="020B0606020202030204" pitchFamily="34" charset="0"/>
            </a:endParaRPr>
          </a:p>
          <a:p>
            <a:pPr algn="just"/>
            <a:r>
              <a:rPr lang="en-US" sz="3300" dirty="0">
                <a:latin typeface="Arial Narrow" panose="020B0606020202030204" pitchFamily="34" charset="0"/>
              </a:rPr>
              <a:t>This approach allows the network to</a:t>
            </a:r>
            <a:r>
              <a:rPr lang="en-US" sz="3300" dirty="0">
                <a:solidFill>
                  <a:srgbClr val="00B0F0"/>
                </a:solidFill>
                <a:latin typeface="Arial Narrow" panose="020B0606020202030204" pitchFamily="34" charset="0"/>
              </a:rPr>
              <a:t> detect similar patterns regardless of their position</a:t>
            </a:r>
            <a:r>
              <a:rPr lang="en-US" sz="3300" dirty="0">
                <a:latin typeface="Arial Narrow" panose="020B0606020202030204" pitchFamily="34" charset="0"/>
              </a:rPr>
              <a:t> in the input while significantly reducing the number of trainable parameters. </a:t>
            </a:r>
          </a:p>
          <a:p>
            <a:pPr algn="just"/>
            <a:endParaRPr lang="en-US" sz="3300" dirty="0">
              <a:latin typeface="Arial Narrow" panose="020B0606020202030204" pitchFamily="34" charset="0"/>
            </a:endParaRPr>
          </a:p>
          <a:p>
            <a:pPr algn="just"/>
            <a:r>
              <a:rPr lang="en-US" sz="3300" dirty="0">
                <a:latin typeface="Arial Narrow" panose="020B0606020202030204" pitchFamily="34" charset="0"/>
              </a:rPr>
              <a:t>Any neural network architecture that incorporates one or more convolutional layers is classified as a Convolutional Neural Network (CNN), making it particularly well suited for image analysis and other tasks involving spatially structured data.</a:t>
            </a:r>
            <a:endParaRPr lang="en-US" sz="3300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B0E29F-8846-4D5E-A3E5-6E4BA5BA0F69}"/>
              </a:ext>
            </a:extLst>
          </p:cNvPr>
          <p:cNvGrpSpPr/>
          <p:nvPr/>
        </p:nvGrpSpPr>
        <p:grpSpPr>
          <a:xfrm>
            <a:off x="7326972" y="4533843"/>
            <a:ext cx="3343934" cy="1906597"/>
            <a:chOff x="1951816" y="4019550"/>
            <a:chExt cx="4436976" cy="272299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l="346" r="-1"/>
            <a:stretch/>
          </p:blipFill>
          <p:spPr>
            <a:xfrm rot="20517290">
              <a:off x="1951816" y="4019550"/>
              <a:ext cx="2834447" cy="1632336"/>
            </a:xfrm>
            <a:prstGeom prst="rect">
              <a:avLst/>
            </a:prstGeom>
            <a:scene3d>
              <a:camera prst="perspectiveFront" fov="7200000">
                <a:rot lat="108009" lon="19187813" rev="835758"/>
              </a:camera>
              <a:lightRig rig="threePt" dir="t"/>
            </a:scene3d>
          </p:spPr>
        </p:pic>
        <p:sp>
          <p:nvSpPr>
            <p:cNvPr id="9" name="Rectangle 8"/>
            <p:cNvSpPr/>
            <p:nvPr/>
          </p:nvSpPr>
          <p:spPr>
            <a:xfrm>
              <a:off x="5626792" y="4311253"/>
              <a:ext cx="762000" cy="24312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" name="Straight Arrow Connector 10"/>
            <p:cNvCxnSpPr>
              <a:stCxn id="13" idx="6"/>
              <a:endCxn id="18" idx="1"/>
            </p:cNvCxnSpPr>
            <p:nvPr/>
          </p:nvCxnSpPr>
          <p:spPr>
            <a:xfrm>
              <a:off x="3568540" y="4096329"/>
              <a:ext cx="2244115" cy="63779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13" idx="2"/>
              <a:endCxn id="18" idx="1"/>
            </p:cNvCxnSpPr>
            <p:nvPr/>
          </p:nvCxnSpPr>
          <p:spPr>
            <a:xfrm>
              <a:off x="3474695" y="4503326"/>
              <a:ext cx="2337960" cy="230796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 rot="16979064">
              <a:off x="3312779" y="4080408"/>
              <a:ext cx="417676" cy="438839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812655" y="4541296"/>
              <a:ext cx="376132" cy="385651"/>
            </a:xfrm>
            <a:prstGeom prst="rect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4" name="Straight Arrow Connector 23"/>
            <p:cNvCxnSpPr>
              <a:stCxn id="26" idx="6"/>
              <a:endCxn id="27" idx="1"/>
            </p:cNvCxnSpPr>
            <p:nvPr/>
          </p:nvCxnSpPr>
          <p:spPr>
            <a:xfrm>
              <a:off x="3447890" y="5329331"/>
              <a:ext cx="2361153" cy="55517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6" idx="2"/>
              <a:endCxn id="27" idx="1"/>
            </p:cNvCxnSpPr>
            <p:nvPr/>
          </p:nvCxnSpPr>
          <p:spPr>
            <a:xfrm>
              <a:off x="3354045" y="5736328"/>
              <a:ext cx="2454998" cy="148174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 rot="16979064">
              <a:off x="3192129" y="5313410"/>
              <a:ext cx="417676" cy="438839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809043" y="5691676"/>
              <a:ext cx="376132" cy="385651"/>
            </a:xfrm>
            <a:prstGeom prst="rect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8" name="Straight Arrow Connector 27"/>
            <p:cNvCxnSpPr>
              <a:stCxn id="30" idx="6"/>
              <a:endCxn id="31" idx="1"/>
            </p:cNvCxnSpPr>
            <p:nvPr/>
          </p:nvCxnSpPr>
          <p:spPr>
            <a:xfrm>
              <a:off x="3524329" y="4674357"/>
              <a:ext cx="2288565" cy="637793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30" idx="2"/>
              <a:endCxn id="31" idx="1"/>
            </p:cNvCxnSpPr>
            <p:nvPr/>
          </p:nvCxnSpPr>
          <p:spPr>
            <a:xfrm>
              <a:off x="3430484" y="5081354"/>
              <a:ext cx="2382410" cy="230796"/>
            </a:xfrm>
            <a:prstGeom prst="straightConnector1">
              <a:avLst/>
            </a:prstGeom>
            <a:ln w="254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 rot="16979064">
              <a:off x="3268568" y="4658436"/>
              <a:ext cx="417676" cy="438839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812894" y="5119324"/>
              <a:ext cx="376132" cy="385651"/>
            </a:xfrm>
            <a:prstGeom prst="rect">
              <a:avLst/>
            </a:prstGeom>
            <a:ln w="254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0" name="Straight Arrow Connector 19"/>
            <p:cNvCxnSpPr>
              <a:stCxn id="22" idx="6"/>
              <a:endCxn id="23" idx="1"/>
            </p:cNvCxnSpPr>
            <p:nvPr/>
          </p:nvCxnSpPr>
          <p:spPr>
            <a:xfrm>
              <a:off x="2725676" y="5785628"/>
              <a:ext cx="3083366" cy="630564"/>
            </a:xfrm>
            <a:prstGeom prst="straightConnector1">
              <a:avLst/>
            </a:prstGeom>
            <a:ln w="254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22" idx="2"/>
              <a:endCxn id="23" idx="1"/>
            </p:cNvCxnSpPr>
            <p:nvPr/>
          </p:nvCxnSpPr>
          <p:spPr>
            <a:xfrm>
              <a:off x="2631831" y="6192625"/>
              <a:ext cx="3177211" cy="223567"/>
            </a:xfrm>
            <a:prstGeom prst="straightConnector1">
              <a:avLst/>
            </a:prstGeom>
            <a:ln w="254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 rot="16979064">
              <a:off x="2469915" y="5769707"/>
              <a:ext cx="417676" cy="438839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254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809042" y="6223366"/>
              <a:ext cx="376132" cy="385651"/>
            </a:xfrm>
            <a:prstGeom prst="rect">
              <a:avLst/>
            </a:prstGeom>
            <a:ln w="254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31797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184727" y="1257040"/>
            <a:ext cx="3168073" cy="41240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1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09" y="249382"/>
            <a:ext cx="10515600" cy="83560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Fully Connected Layers</a:t>
            </a: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34D574AD-DC85-4322-8B4F-0D1FF0199413}"/>
              </a:ext>
            </a:extLst>
          </p:cNvPr>
          <p:cNvSpPr/>
          <p:nvPr/>
        </p:nvSpPr>
        <p:spPr>
          <a:xfrm>
            <a:off x="1120961" y="1464170"/>
            <a:ext cx="1040348" cy="2276558"/>
          </a:xfrm>
          <a:prstGeom prst="cube">
            <a:avLst>
              <a:gd name="adj" fmla="val 82754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7D78B9-3C58-4077-99A6-0CE9C7E77D1F}"/>
              </a:ext>
            </a:extLst>
          </p:cNvPr>
          <p:cNvSpPr/>
          <p:nvPr/>
        </p:nvSpPr>
        <p:spPr>
          <a:xfrm rot="5400000">
            <a:off x="1337640" y="3932079"/>
            <a:ext cx="833427" cy="226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2EF37AB4-BEBD-4CB9-9E6D-7A5A0CBA0796}"/>
              </a:ext>
            </a:extLst>
          </p:cNvPr>
          <p:cNvSpPr/>
          <p:nvPr/>
        </p:nvSpPr>
        <p:spPr>
          <a:xfrm>
            <a:off x="641539" y="4514871"/>
            <a:ext cx="2452067" cy="391119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09BDA-58A3-491B-BFA1-880EE893A253}"/>
              </a:ext>
            </a:extLst>
          </p:cNvPr>
          <p:cNvSpPr txBox="1"/>
          <p:nvPr/>
        </p:nvSpPr>
        <p:spPr>
          <a:xfrm>
            <a:off x="1878763" y="3015043"/>
            <a:ext cx="382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46F3D-B67A-408D-8532-9048FFB5BCA6}"/>
              </a:ext>
            </a:extLst>
          </p:cNvPr>
          <p:cNvSpPr txBox="1"/>
          <p:nvPr/>
        </p:nvSpPr>
        <p:spPr>
          <a:xfrm>
            <a:off x="2128592" y="2049684"/>
            <a:ext cx="382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51E492-7521-486C-8623-E66EE38F45DD}"/>
              </a:ext>
            </a:extLst>
          </p:cNvPr>
          <p:cNvSpPr txBox="1"/>
          <p:nvPr/>
        </p:nvSpPr>
        <p:spPr>
          <a:xfrm>
            <a:off x="1074781" y="3722256"/>
            <a:ext cx="2272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Narrow" panose="020B0606020202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7A396A-ECEC-416D-B929-B89FCBA96EA8}"/>
              </a:ext>
            </a:extLst>
          </p:cNvPr>
          <p:cNvSpPr txBox="1"/>
          <p:nvPr/>
        </p:nvSpPr>
        <p:spPr>
          <a:xfrm>
            <a:off x="1433369" y="4958849"/>
            <a:ext cx="1077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1x3072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187F9-BC6F-4C7E-9A33-324B6F0C4AFD}"/>
              </a:ext>
            </a:extLst>
          </p:cNvPr>
          <p:cNvSpPr txBox="1"/>
          <p:nvPr/>
        </p:nvSpPr>
        <p:spPr>
          <a:xfrm>
            <a:off x="763115" y="5423404"/>
            <a:ext cx="220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Fully Connected layer</a:t>
            </a:r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2EF37AB4-BEBD-4CB9-9E6D-7A5A0CBA0796}"/>
              </a:ext>
            </a:extLst>
          </p:cNvPr>
          <p:cNvSpPr/>
          <p:nvPr/>
        </p:nvSpPr>
        <p:spPr>
          <a:xfrm>
            <a:off x="4042787" y="3164943"/>
            <a:ext cx="2452067" cy="391119"/>
          </a:xfrm>
          <a:prstGeom prst="cub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7A396A-ECEC-416D-B929-B89FCBA96EA8}"/>
              </a:ext>
            </a:extLst>
          </p:cNvPr>
          <p:cNvSpPr txBox="1"/>
          <p:nvPr/>
        </p:nvSpPr>
        <p:spPr>
          <a:xfrm>
            <a:off x="4864122" y="3556062"/>
            <a:ext cx="80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1x3072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3B55F9-42AF-4C9E-891D-A084EFDAE9DD}"/>
                  </a:ext>
                </a:extLst>
              </p:cNvPr>
              <p:cNvSpPr/>
              <p:nvPr/>
            </p:nvSpPr>
            <p:spPr>
              <a:xfrm>
                <a:off x="7167526" y="3164943"/>
                <a:ext cx="8134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IN" sz="28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13B55F9-42AF-4C9E-891D-A084EFDAE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26" y="3164943"/>
                <a:ext cx="81342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owchart: Summing Junction 18">
            <a:extLst>
              <a:ext uri="{FF2B5EF4-FFF2-40B4-BE49-F238E27FC236}">
                <a16:creationId xmlns:a16="http://schemas.microsoft.com/office/drawing/2014/main" id="{2CE7CDB3-2012-4C5F-85D5-9F5954B9D97E}"/>
              </a:ext>
            </a:extLst>
          </p:cNvPr>
          <p:cNvSpPr/>
          <p:nvPr/>
        </p:nvSpPr>
        <p:spPr>
          <a:xfrm>
            <a:off x="6669219" y="3243649"/>
            <a:ext cx="361950" cy="320192"/>
          </a:xfrm>
          <a:prstGeom prst="flowChartSummingJunction">
            <a:avLst/>
          </a:prstGeom>
          <a:solidFill>
            <a:schemeClr val="tx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D44A8F-BC4D-44F9-8D19-CD8B1B0642AE}"/>
              </a:ext>
            </a:extLst>
          </p:cNvPr>
          <p:cNvSpPr txBox="1"/>
          <p:nvPr/>
        </p:nvSpPr>
        <p:spPr>
          <a:xfrm>
            <a:off x="7220194" y="3627515"/>
            <a:ext cx="108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3072x10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7F46E9-CE8B-434F-97F3-B7989639D664}"/>
              </a:ext>
            </a:extLst>
          </p:cNvPr>
          <p:cNvSpPr txBox="1"/>
          <p:nvPr/>
        </p:nvSpPr>
        <p:spPr>
          <a:xfrm>
            <a:off x="7201722" y="4438036"/>
            <a:ext cx="3592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Dot product of input (1x3072) and one row of W</a:t>
            </a:r>
            <a:r>
              <a:rPr lang="en-IN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(3072x1)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one scalar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(1x3072)x(3072x1)=(1)</a:t>
            </a: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Arrow: Right 5">
            <a:extLst>
              <a:ext uri="{FF2B5EF4-FFF2-40B4-BE49-F238E27FC236}">
                <a16:creationId xmlns:a16="http://schemas.microsoft.com/office/drawing/2014/main" id="{AD7D78B9-3C58-4077-99A6-0CE9C7E77D1F}"/>
              </a:ext>
            </a:extLst>
          </p:cNvPr>
          <p:cNvSpPr/>
          <p:nvPr/>
        </p:nvSpPr>
        <p:spPr>
          <a:xfrm>
            <a:off x="8117311" y="3247283"/>
            <a:ext cx="532366" cy="226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4FD1CF88-FE5F-4C5D-A2E4-9A32E2409D65}"/>
              </a:ext>
            </a:extLst>
          </p:cNvPr>
          <p:cNvSpPr/>
          <p:nvPr/>
        </p:nvSpPr>
        <p:spPr>
          <a:xfrm>
            <a:off x="8786034" y="3098102"/>
            <a:ext cx="1412185" cy="510989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8822978" y="3258964"/>
            <a:ext cx="335367" cy="314175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/>
          <p:cNvCxnSpPr>
            <a:stCxn id="24" idx="4"/>
            <a:endCxn id="29" idx="0"/>
          </p:cNvCxnSpPr>
          <p:nvPr/>
        </p:nvCxnSpPr>
        <p:spPr>
          <a:xfrm>
            <a:off x="8990662" y="3573139"/>
            <a:ext cx="7521" cy="716907"/>
          </a:xfrm>
          <a:prstGeom prst="straightConnector1">
            <a:avLst/>
          </a:prstGeom>
          <a:ln w="254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8ADB6D8-1EAA-4C1C-A5D2-B9128F76CDB4}"/>
              </a:ext>
            </a:extLst>
          </p:cNvPr>
          <p:cNvSpPr txBox="1"/>
          <p:nvPr/>
        </p:nvSpPr>
        <p:spPr>
          <a:xfrm>
            <a:off x="3446997" y="6385489"/>
            <a:ext cx="6979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Convolutional Neural Network by Justin Johnson: Michigan Online</a:t>
            </a:r>
          </a:p>
        </p:txBody>
      </p:sp>
      <p:sp>
        <p:nvSpPr>
          <p:cNvPr id="29" name="Oval 28"/>
          <p:cNvSpPr/>
          <p:nvPr/>
        </p:nvSpPr>
        <p:spPr>
          <a:xfrm>
            <a:off x="6679856" y="4290046"/>
            <a:ext cx="4636654" cy="1232131"/>
          </a:xfrm>
          <a:prstGeom prst="ellipse">
            <a:avLst/>
          </a:prstGeom>
          <a:noFill/>
          <a:ln>
            <a:solidFill>
              <a:schemeClr val="accent4">
                <a:lumMod val="75000"/>
                <a:alpha val="9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555B6A-B616-41B8-97A6-8BAC845CD533}"/>
              </a:ext>
            </a:extLst>
          </p:cNvPr>
          <p:cNvSpPr txBox="1"/>
          <p:nvPr/>
        </p:nvSpPr>
        <p:spPr>
          <a:xfrm>
            <a:off x="9165867" y="3627515"/>
            <a:ext cx="923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1x10       </a:t>
            </a:r>
          </a:p>
        </p:txBody>
      </p:sp>
    </p:spTree>
    <p:extLst>
      <p:ext uri="{BB962C8B-B14F-4D97-AF65-F5344CB8AC3E}">
        <p14:creationId xmlns:p14="http://schemas.microsoft.com/office/powerpoint/2010/main" val="268179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126" y="134217"/>
            <a:ext cx="6486236" cy="9187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How Convolution Work</a:t>
            </a:r>
          </a:p>
        </p:txBody>
      </p:sp>
      <p:sp>
        <p:nvSpPr>
          <p:cNvPr id="4" name="Cube 3"/>
          <p:cNvSpPr/>
          <p:nvPr/>
        </p:nvSpPr>
        <p:spPr>
          <a:xfrm>
            <a:off x="3163681" y="1693720"/>
            <a:ext cx="1165860" cy="2374898"/>
          </a:xfrm>
          <a:prstGeom prst="cube">
            <a:avLst>
              <a:gd name="adj" fmla="val 80679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ube 4"/>
          <p:cNvSpPr/>
          <p:nvPr/>
        </p:nvSpPr>
        <p:spPr>
          <a:xfrm>
            <a:off x="3694541" y="2606848"/>
            <a:ext cx="292100" cy="680719"/>
          </a:xfrm>
          <a:prstGeom prst="cube">
            <a:avLst>
              <a:gd name="adj" fmla="val 81672"/>
            </a:avLst>
          </a:prstGeom>
          <a:solidFill>
            <a:srgbClr val="FF00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672019" y="3284170"/>
            <a:ext cx="554182" cy="529590"/>
          </a:xfrm>
          <a:prstGeom prst="ellipse">
            <a:avLst/>
          </a:prstGeom>
          <a:solidFill>
            <a:srgbClr val="FF00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>
            <a:stCxn id="5" idx="1"/>
            <a:endCxn id="7" idx="2"/>
          </p:cNvCxnSpPr>
          <p:nvPr/>
        </p:nvCxnSpPr>
        <p:spPr>
          <a:xfrm>
            <a:off x="3721309" y="2845412"/>
            <a:ext cx="1950710" cy="703553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0"/>
            <a:endCxn id="7" idx="2"/>
          </p:cNvCxnSpPr>
          <p:nvPr/>
        </p:nvCxnSpPr>
        <p:spPr>
          <a:xfrm>
            <a:off x="3959873" y="2606848"/>
            <a:ext cx="1712146" cy="942117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7" idx="2"/>
          </p:cNvCxnSpPr>
          <p:nvPr/>
        </p:nvCxnSpPr>
        <p:spPr>
          <a:xfrm>
            <a:off x="3746611" y="3287567"/>
            <a:ext cx="1925408" cy="261398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2"/>
          </p:cNvCxnSpPr>
          <p:nvPr/>
        </p:nvCxnSpPr>
        <p:spPr>
          <a:xfrm>
            <a:off x="3986642" y="3051824"/>
            <a:ext cx="1685377" cy="497141"/>
          </a:xfrm>
          <a:prstGeom prst="straightConnector1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6"/>
          </p:cNvCxnSpPr>
          <p:nvPr/>
        </p:nvCxnSpPr>
        <p:spPr>
          <a:xfrm>
            <a:off x="6226201" y="3548965"/>
            <a:ext cx="1954061" cy="22523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  <a:alpha val="98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be 25"/>
          <p:cNvSpPr/>
          <p:nvPr/>
        </p:nvSpPr>
        <p:spPr>
          <a:xfrm>
            <a:off x="8506572" y="1732465"/>
            <a:ext cx="1228204" cy="3345180"/>
          </a:xfrm>
          <a:prstGeom prst="cube">
            <a:avLst>
              <a:gd name="adj" fmla="val 85854"/>
            </a:avLst>
          </a:prstGeom>
          <a:solidFill>
            <a:srgbClr val="FF00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541420" y="1926742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 X 32 X 32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8203" y="2511837"/>
            <a:ext cx="56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42710" y="3326145"/>
            <a:ext cx="56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952" y="4016029"/>
            <a:ext cx="56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</a:t>
            </a:r>
          </a:p>
        </p:txBody>
      </p:sp>
      <p:cxnSp>
        <p:nvCxnSpPr>
          <p:cNvPr id="37" name="Straight Arrow Connector 36"/>
          <p:cNvCxnSpPr>
            <a:stCxn id="31" idx="3"/>
          </p:cNvCxnSpPr>
          <p:nvPr/>
        </p:nvCxnSpPr>
        <p:spPr>
          <a:xfrm>
            <a:off x="2394812" y="2111408"/>
            <a:ext cx="1293677" cy="1336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694154" y="2696503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5 X 5 X3  Filter</a:t>
            </a:r>
          </a:p>
        </p:txBody>
      </p:sp>
      <p:cxnSp>
        <p:nvCxnSpPr>
          <p:cNvPr id="41" name="Straight Arrow Connector 40"/>
          <p:cNvCxnSpPr>
            <a:stCxn id="39" idx="1"/>
          </p:cNvCxnSpPr>
          <p:nvPr/>
        </p:nvCxnSpPr>
        <p:spPr>
          <a:xfrm flipH="1">
            <a:off x="4025227" y="2881169"/>
            <a:ext cx="668927" cy="3325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04D3D5-84D1-968F-48E7-CB31F33703AE}"/>
              </a:ext>
            </a:extLst>
          </p:cNvPr>
          <p:cNvSpPr txBox="1"/>
          <p:nvPr/>
        </p:nvSpPr>
        <p:spPr>
          <a:xfrm>
            <a:off x="5735910" y="4700918"/>
            <a:ext cx="2057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Arial Narrow" panose="020B0606020202030204" pitchFamily="34" charset="0"/>
              </a:rPr>
              <a:t>Convolve(slide) over all spatial locations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4776" y="2602835"/>
            <a:ext cx="56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50007" y="4212561"/>
            <a:ext cx="56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2444" y="5077645"/>
            <a:ext cx="56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5953A2-80CA-424A-9A08-4A12A8DC9D3C}"/>
              </a:ext>
            </a:extLst>
          </p:cNvPr>
          <p:cNvSpPr txBox="1"/>
          <p:nvPr/>
        </p:nvSpPr>
        <p:spPr>
          <a:xfrm>
            <a:off x="3125074" y="6395359"/>
            <a:ext cx="697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Convolutional Neural Network by Justin Johnson: Michigan Online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2390" y="545035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Activation Map</a:t>
            </a:r>
          </a:p>
        </p:txBody>
      </p:sp>
    </p:spTree>
    <p:extLst>
      <p:ext uri="{BB962C8B-B14F-4D97-AF65-F5344CB8AC3E}">
        <p14:creationId xmlns:p14="http://schemas.microsoft.com/office/powerpoint/2010/main" val="3376622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350"/>
            <a:ext cx="10515600" cy="73977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How Convolution Works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4" name="Cube 3"/>
          <p:cNvSpPr/>
          <p:nvPr/>
        </p:nvSpPr>
        <p:spPr>
          <a:xfrm>
            <a:off x="3296922" y="1424482"/>
            <a:ext cx="1393884" cy="2898136"/>
          </a:xfrm>
          <a:prstGeom prst="cube">
            <a:avLst>
              <a:gd name="adj" fmla="val 80679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ube 4"/>
          <p:cNvSpPr/>
          <p:nvPr/>
        </p:nvSpPr>
        <p:spPr>
          <a:xfrm>
            <a:off x="6435145" y="2326989"/>
            <a:ext cx="292100" cy="680719"/>
          </a:xfrm>
          <a:prstGeom prst="cube">
            <a:avLst>
              <a:gd name="adj" fmla="val 81672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ube 5"/>
          <p:cNvSpPr/>
          <p:nvPr/>
        </p:nvSpPr>
        <p:spPr>
          <a:xfrm>
            <a:off x="8615991" y="1122869"/>
            <a:ext cx="1228204" cy="3345180"/>
          </a:xfrm>
          <a:prstGeom prst="cube">
            <a:avLst>
              <a:gd name="adj" fmla="val 85854"/>
            </a:avLst>
          </a:prstGeom>
          <a:solidFill>
            <a:srgbClr val="FF00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437619" y="3343279"/>
            <a:ext cx="2514600" cy="9525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551919" y="3821718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Convolve (slide) over all spatial location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8088" y="1479493"/>
            <a:ext cx="1755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5 X 5 X 3 </a:t>
            </a:r>
          </a:p>
          <a:p>
            <a:pPr algn="ctr"/>
            <a:r>
              <a:rPr lang="en-US" dirty="0">
                <a:latin typeface="Arial Narrow" panose="020B0606020202030204" pitchFamily="34" charset="0"/>
              </a:rPr>
              <a:t>Convolution kernel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D93CB-2E63-461F-8FBB-5812F16C83F3}"/>
              </a:ext>
            </a:extLst>
          </p:cNvPr>
          <p:cNvSpPr txBox="1"/>
          <p:nvPr/>
        </p:nvSpPr>
        <p:spPr>
          <a:xfrm>
            <a:off x="732776" y="4841417"/>
            <a:ext cx="37598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Patch Size: NxNx3</a:t>
            </a:r>
          </a:p>
          <a:p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Conv. Kernel Size: FxFx3</a:t>
            </a:r>
          </a:p>
          <a:p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Stride: 1</a:t>
            </a:r>
          </a:p>
          <a:p>
            <a:r>
              <a:rPr lang="en-IN" sz="2000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size (K): [(N-F)/Stride] +1</a:t>
            </a:r>
          </a:p>
          <a:p>
            <a:endParaRPr lang="en-IN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endParaRPr lang="en-IN" sz="20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74391" y="4837381"/>
            <a:ext cx="26068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Here, N=32, F=5, Stride=1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So, K=[(32-5)/1]+1=27+1=28</a:t>
            </a:r>
          </a:p>
          <a:p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So, Activation Map: 28x28x1</a:t>
            </a:r>
          </a:p>
          <a:p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1391" y="258296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4544" y="363705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6337" y="428338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44195" y="292962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98419" y="382171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0060" y="446804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5398" y="3705601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 X 32 X 3 image patch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79755" y="4837381"/>
            <a:ext cx="24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 X 28 X 1 Activation Map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3345" y="4652715"/>
            <a:ext cx="6502547" cy="1794267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5953A2-80CA-424A-9A08-4A12A8DC9D3C}"/>
              </a:ext>
            </a:extLst>
          </p:cNvPr>
          <p:cNvSpPr txBox="1"/>
          <p:nvPr/>
        </p:nvSpPr>
        <p:spPr>
          <a:xfrm>
            <a:off x="6889632" y="6447714"/>
            <a:ext cx="697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Convolutional Neural Network by Justin Johnson: Michigan Online</a:t>
            </a:r>
          </a:p>
        </p:txBody>
      </p:sp>
    </p:spTree>
    <p:extLst>
      <p:ext uri="{BB962C8B-B14F-4D97-AF65-F5344CB8AC3E}">
        <p14:creationId xmlns:p14="http://schemas.microsoft.com/office/powerpoint/2010/main" val="242581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4199"/>
            <a:ext cx="10515600" cy="82636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Stacks of Convolution Layers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271" y="1521577"/>
            <a:ext cx="10515600" cy="1108904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An input image patch is convolved with k different kernels (here, k=6), generating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Each activation map detects a specific pattern defined by its corresponding kernel. k corresponding activation (feature) maps.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Cube 3"/>
          <p:cNvSpPr/>
          <p:nvPr/>
        </p:nvSpPr>
        <p:spPr>
          <a:xfrm>
            <a:off x="2442060" y="2946400"/>
            <a:ext cx="1349566" cy="3194359"/>
          </a:xfrm>
          <a:prstGeom prst="cube">
            <a:avLst>
              <a:gd name="adj" fmla="val 82149"/>
            </a:avLst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ube 4"/>
          <p:cNvSpPr/>
          <p:nvPr/>
        </p:nvSpPr>
        <p:spPr>
          <a:xfrm>
            <a:off x="4533324" y="4064000"/>
            <a:ext cx="362526" cy="792596"/>
          </a:xfrm>
          <a:prstGeom prst="cube">
            <a:avLst>
              <a:gd name="adj" fmla="val 86992"/>
            </a:avLst>
          </a:prstGeom>
          <a:solidFill>
            <a:schemeClr val="accent6">
              <a:lumMod val="75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ube 5"/>
          <p:cNvSpPr/>
          <p:nvPr/>
        </p:nvSpPr>
        <p:spPr>
          <a:xfrm>
            <a:off x="4666674" y="4064000"/>
            <a:ext cx="362526" cy="792596"/>
          </a:xfrm>
          <a:prstGeom prst="cube">
            <a:avLst>
              <a:gd name="adj" fmla="val 86992"/>
            </a:avLst>
          </a:prstGeom>
          <a:solidFill>
            <a:schemeClr val="accent6">
              <a:lumMod val="75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ube 6"/>
          <p:cNvSpPr/>
          <p:nvPr/>
        </p:nvSpPr>
        <p:spPr>
          <a:xfrm>
            <a:off x="4812724" y="4064000"/>
            <a:ext cx="362526" cy="792596"/>
          </a:xfrm>
          <a:prstGeom prst="cube">
            <a:avLst>
              <a:gd name="adj" fmla="val 86992"/>
            </a:avLst>
          </a:prstGeom>
          <a:solidFill>
            <a:schemeClr val="accent6">
              <a:lumMod val="75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ube 7"/>
          <p:cNvSpPr/>
          <p:nvPr/>
        </p:nvSpPr>
        <p:spPr>
          <a:xfrm>
            <a:off x="4972050" y="4064000"/>
            <a:ext cx="362526" cy="792596"/>
          </a:xfrm>
          <a:prstGeom prst="cube">
            <a:avLst>
              <a:gd name="adj" fmla="val 86992"/>
            </a:avLst>
          </a:prstGeom>
          <a:solidFill>
            <a:schemeClr val="accent6">
              <a:lumMod val="75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/>
          <p:cNvSpPr/>
          <p:nvPr/>
        </p:nvSpPr>
        <p:spPr>
          <a:xfrm>
            <a:off x="5101937" y="4064000"/>
            <a:ext cx="362526" cy="792596"/>
          </a:xfrm>
          <a:prstGeom prst="cube">
            <a:avLst>
              <a:gd name="adj" fmla="val 86992"/>
            </a:avLst>
          </a:prstGeom>
          <a:solidFill>
            <a:schemeClr val="accent6">
              <a:lumMod val="75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Cube 9"/>
          <p:cNvSpPr/>
          <p:nvPr/>
        </p:nvSpPr>
        <p:spPr>
          <a:xfrm>
            <a:off x="5270500" y="4064000"/>
            <a:ext cx="362526" cy="792596"/>
          </a:xfrm>
          <a:prstGeom prst="cube">
            <a:avLst>
              <a:gd name="adj" fmla="val 86992"/>
            </a:avLst>
          </a:prstGeom>
          <a:solidFill>
            <a:schemeClr val="accent6">
              <a:lumMod val="75000"/>
            </a:schemeClr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Cube 16"/>
          <p:cNvSpPr/>
          <p:nvPr/>
        </p:nvSpPr>
        <p:spPr>
          <a:xfrm>
            <a:off x="6597939" y="3019425"/>
            <a:ext cx="1241135" cy="2881745"/>
          </a:xfrm>
          <a:prstGeom prst="cube">
            <a:avLst>
              <a:gd name="adj" fmla="val 92765"/>
            </a:avLst>
          </a:prstGeom>
          <a:solidFill>
            <a:srgbClr val="FFFF00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Cube 17"/>
          <p:cNvSpPr/>
          <p:nvPr/>
        </p:nvSpPr>
        <p:spPr>
          <a:xfrm>
            <a:off x="6799988" y="3019424"/>
            <a:ext cx="1241135" cy="2881745"/>
          </a:xfrm>
          <a:prstGeom prst="cube">
            <a:avLst>
              <a:gd name="adj" fmla="val 92765"/>
            </a:avLst>
          </a:prstGeom>
          <a:solidFill>
            <a:schemeClr val="bg2">
              <a:lumMod val="7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ube 18"/>
          <p:cNvSpPr/>
          <p:nvPr/>
        </p:nvSpPr>
        <p:spPr>
          <a:xfrm>
            <a:off x="6998563" y="3028877"/>
            <a:ext cx="1241135" cy="2881745"/>
          </a:xfrm>
          <a:prstGeom prst="cube">
            <a:avLst>
              <a:gd name="adj" fmla="val 92765"/>
            </a:avLst>
          </a:prstGeom>
          <a:solidFill>
            <a:schemeClr val="accent2">
              <a:lumMod val="75000"/>
            </a:schemeClr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ube 19"/>
          <p:cNvSpPr/>
          <p:nvPr/>
        </p:nvSpPr>
        <p:spPr>
          <a:xfrm>
            <a:off x="7197138" y="3000518"/>
            <a:ext cx="1241135" cy="2881745"/>
          </a:xfrm>
          <a:prstGeom prst="cube">
            <a:avLst>
              <a:gd name="adj" fmla="val 93277"/>
            </a:avLst>
          </a:prstGeom>
          <a:solidFill>
            <a:srgbClr val="7030A0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Cube 20"/>
          <p:cNvSpPr/>
          <p:nvPr/>
        </p:nvSpPr>
        <p:spPr>
          <a:xfrm>
            <a:off x="7386476" y="3009970"/>
            <a:ext cx="1241135" cy="2881745"/>
          </a:xfrm>
          <a:prstGeom prst="cube">
            <a:avLst>
              <a:gd name="adj" fmla="val 92765"/>
            </a:avLst>
          </a:prstGeom>
          <a:solidFill>
            <a:srgbClr val="0070C0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ube 21"/>
          <p:cNvSpPr/>
          <p:nvPr/>
        </p:nvSpPr>
        <p:spPr>
          <a:xfrm>
            <a:off x="7615656" y="3019422"/>
            <a:ext cx="1241135" cy="2881745"/>
          </a:xfrm>
          <a:prstGeom prst="cube">
            <a:avLst>
              <a:gd name="adj" fmla="val 91741"/>
            </a:avLst>
          </a:prstGeom>
          <a:solidFill>
            <a:srgbClr val="FF0000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7539515" y="58822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26186" y="393873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86005" y="501188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29626" y="5312178"/>
            <a:ext cx="194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6 Different </a:t>
            </a:r>
          </a:p>
          <a:p>
            <a:pPr algn="ctr"/>
            <a:r>
              <a:rPr lang="en-US" dirty="0">
                <a:latin typeface="Arial Narrow" panose="020B0606020202030204" pitchFamily="34" charset="0"/>
              </a:rPr>
              <a:t>Convolution Kernels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11049" y="3162777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5 X 5 X 3 </a:t>
            </a:r>
          </a:p>
          <a:p>
            <a:pPr algn="ctr"/>
            <a:r>
              <a:rPr lang="en-US" dirty="0">
                <a:latin typeface="Arial Narrow" panose="020B0606020202030204" pitchFamily="34" charset="0"/>
              </a:rPr>
              <a:t>Convolution Kernel</a:t>
            </a:r>
            <a:endParaRPr lang="en-IN" dirty="0">
              <a:latin typeface="Arial Narrow" panose="020B0606020202030204" pitchFamily="34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042788" y="5196547"/>
            <a:ext cx="1857378" cy="0"/>
          </a:xfrm>
          <a:prstGeom prst="straightConnector1">
            <a:avLst/>
          </a:prstGeom>
          <a:ln w="3175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201" y="4371633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 X 32 X 3 image patch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22448" y="4671930"/>
            <a:ext cx="24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 X 28 X 1 Activation Map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442060" y="6140759"/>
            <a:ext cx="31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735545" y="437163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49249" y="546534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953A2-80CA-424A-9A08-4A12A8DC9D3C}"/>
              </a:ext>
            </a:extLst>
          </p:cNvPr>
          <p:cNvSpPr txBox="1"/>
          <p:nvPr/>
        </p:nvSpPr>
        <p:spPr>
          <a:xfrm>
            <a:off x="4948761" y="6435708"/>
            <a:ext cx="697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Convolutional Neural Network by Justin Johnson: Michigan Online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E71812-B6D7-44D5-A379-67B57BD3304D}"/>
                  </a:ext>
                </a:extLst>
              </p14:cNvPr>
              <p14:cNvContentPartPr/>
              <p14:nvPr/>
            </p14:nvContentPartPr>
            <p14:xfrm>
              <a:off x="6632280" y="4616640"/>
              <a:ext cx="5407560" cy="1521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E71812-B6D7-44D5-A379-67B57BD330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2920" y="4607280"/>
                <a:ext cx="5426280" cy="154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65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709" y="124267"/>
            <a:ext cx="10515600" cy="89102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Convolution Layer</a:t>
            </a:r>
          </a:p>
        </p:txBody>
      </p:sp>
      <p:sp>
        <p:nvSpPr>
          <p:cNvPr id="4" name="Cube 3"/>
          <p:cNvSpPr/>
          <p:nvPr/>
        </p:nvSpPr>
        <p:spPr>
          <a:xfrm>
            <a:off x="357287" y="1549822"/>
            <a:ext cx="1349566" cy="3194359"/>
          </a:xfrm>
          <a:prstGeom prst="cube">
            <a:avLst>
              <a:gd name="adj" fmla="val 82149"/>
            </a:avLst>
          </a:prstGeom>
          <a:solidFill>
            <a:schemeClr val="accent2">
              <a:lumMod val="60000"/>
              <a:lumOff val="40000"/>
            </a:schemeClr>
          </a:solidFill>
          <a:ln w="158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5" name="Cube 4"/>
          <p:cNvSpPr/>
          <p:nvPr/>
        </p:nvSpPr>
        <p:spPr>
          <a:xfrm>
            <a:off x="3197997" y="2024109"/>
            <a:ext cx="1072377" cy="2425222"/>
          </a:xfrm>
          <a:prstGeom prst="cube">
            <a:avLst>
              <a:gd name="adj" fmla="val 53490"/>
            </a:avLst>
          </a:prstGeom>
          <a:solidFill>
            <a:schemeClr val="accent1">
              <a:lumMod val="75000"/>
            </a:schemeClr>
          </a:solidFill>
          <a:ln w="158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6" name="Cube 5"/>
          <p:cNvSpPr/>
          <p:nvPr/>
        </p:nvSpPr>
        <p:spPr>
          <a:xfrm>
            <a:off x="5903097" y="2179779"/>
            <a:ext cx="1418741" cy="2269552"/>
          </a:xfrm>
          <a:prstGeom prst="cube">
            <a:avLst>
              <a:gd name="adj" fmla="val 42503"/>
            </a:avLst>
          </a:prstGeom>
          <a:solidFill>
            <a:srgbClr val="FF0000"/>
          </a:solidFill>
          <a:ln w="158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sp>
        <p:nvSpPr>
          <p:cNvPr id="7" name="Cube 6"/>
          <p:cNvSpPr/>
          <p:nvPr/>
        </p:nvSpPr>
        <p:spPr>
          <a:xfrm>
            <a:off x="8954561" y="2309036"/>
            <a:ext cx="1414123" cy="2140294"/>
          </a:xfrm>
          <a:prstGeom prst="cube">
            <a:avLst>
              <a:gd name="adj" fmla="val 33852"/>
            </a:avLst>
          </a:prstGeom>
          <a:solidFill>
            <a:schemeClr val="bg2">
              <a:lumMod val="50000"/>
            </a:schemeClr>
          </a:solidFill>
          <a:ln w="158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 Narrow" panose="020B0606020202030204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706853" y="2999220"/>
            <a:ext cx="134432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344266" y="2999220"/>
            <a:ext cx="1413164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7493385" y="2989984"/>
            <a:ext cx="1289628" cy="923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68914" y="259536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Six </a:t>
            </a:r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19491" y="2611415"/>
            <a:ext cx="126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Twelve </a:t>
            </a:r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8195" y="2620651"/>
            <a:ext cx="98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Ten </a:t>
            </a:r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71501" y="3073111"/>
            <a:ext cx="1361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3 X 5 X 5 </a:t>
            </a:r>
          </a:p>
          <a:p>
            <a:pPr algn="ctr"/>
            <a:r>
              <a:rPr lang="en-IN" dirty="0">
                <a:latin typeface="Arial Narrow" panose="020B0606020202030204" pitchFamily="34" charset="0"/>
              </a:rPr>
              <a:t>Conv. Kernels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9960" y="3073111"/>
            <a:ext cx="1361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6 X 3 X 3 </a:t>
            </a:r>
          </a:p>
          <a:p>
            <a:pPr algn="ctr"/>
            <a:r>
              <a:rPr lang="en-IN" dirty="0">
                <a:latin typeface="Arial Narrow" panose="020B0606020202030204" pitchFamily="34" charset="0"/>
              </a:rPr>
              <a:t>Conv.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9773" y="3073111"/>
            <a:ext cx="1361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10 X 3 X 3 </a:t>
            </a:r>
          </a:p>
          <a:p>
            <a:pPr algn="ctr"/>
            <a:r>
              <a:rPr lang="en-IN" dirty="0">
                <a:latin typeface="Arial Narrow" panose="020B0606020202030204" pitchFamily="34" charset="0"/>
              </a:rPr>
              <a:t>Conv. Kernels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2366" y="225131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9827" y="395998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00" y="474418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3791" y="238009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6958" y="395998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1868" y="442090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4033" y="226026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8908" y="3941098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315" y="444933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29947" y="246381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4822" y="414465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561" y="4513984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Narrow" panose="020B0606020202030204" pitchFamily="34" charset="0"/>
              </a:rPr>
              <a:t>12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10528078" y="2999220"/>
            <a:ext cx="1096159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762609" y="259536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7030A0"/>
                </a:solidFill>
                <a:latin typeface="Arial Narrow" panose="020B0606020202030204" pitchFamily="34" charset="0"/>
              </a:rPr>
              <a:t>Conv</a:t>
            </a:r>
            <a:endParaRPr lang="en-IN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3464" y="5005528"/>
            <a:ext cx="2858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Input : 32 X 32 X 3 Image patch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1964" y="56315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Image Patch Size: NxNx3;  Conv. Kernel Size: FxFx3; Stride: 1</a:t>
            </a:r>
          </a:p>
          <a:p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Output size (K): [(N-F)/Stride] +1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5953A2-80CA-424A-9A08-4A12A8DC9D3C}"/>
              </a:ext>
            </a:extLst>
          </p:cNvPr>
          <p:cNvSpPr txBox="1"/>
          <p:nvPr/>
        </p:nvSpPr>
        <p:spPr>
          <a:xfrm>
            <a:off x="4948761" y="6435708"/>
            <a:ext cx="697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Convolutional Neural Network by Justin Johnson: Michigan Online</a:t>
            </a:r>
          </a:p>
        </p:txBody>
      </p:sp>
    </p:spTree>
    <p:extLst>
      <p:ext uri="{BB962C8B-B14F-4D97-AF65-F5344CB8AC3E}">
        <p14:creationId xmlns:p14="http://schemas.microsoft.com/office/powerpoint/2010/main" val="1799939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69" y="218274"/>
            <a:ext cx="10515600" cy="78020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Activation Maps</a:t>
            </a:r>
          </a:p>
        </p:txBody>
      </p:sp>
      <p:sp>
        <p:nvSpPr>
          <p:cNvPr id="18" name="Cube 17"/>
          <p:cNvSpPr/>
          <p:nvPr/>
        </p:nvSpPr>
        <p:spPr>
          <a:xfrm>
            <a:off x="6534046" y="2011238"/>
            <a:ext cx="1393884" cy="2898136"/>
          </a:xfrm>
          <a:prstGeom prst="cube">
            <a:avLst>
              <a:gd name="adj" fmla="val 80679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ube 18"/>
          <p:cNvSpPr/>
          <p:nvPr/>
        </p:nvSpPr>
        <p:spPr>
          <a:xfrm>
            <a:off x="8848634" y="3210276"/>
            <a:ext cx="292100" cy="680719"/>
          </a:xfrm>
          <a:prstGeom prst="cube">
            <a:avLst>
              <a:gd name="adj" fmla="val 81672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ube 19"/>
          <p:cNvSpPr/>
          <p:nvPr/>
        </p:nvSpPr>
        <p:spPr>
          <a:xfrm>
            <a:off x="10463266" y="1975726"/>
            <a:ext cx="1228204" cy="3077059"/>
          </a:xfrm>
          <a:prstGeom prst="cube">
            <a:avLst>
              <a:gd name="adj" fmla="val 85854"/>
            </a:avLst>
          </a:prstGeom>
          <a:solidFill>
            <a:srgbClr val="FF000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7851108" y="4226566"/>
            <a:ext cx="2514600" cy="9525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65408" y="4705005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Convolve (slide) over all spatial location 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81577" y="2362780"/>
            <a:ext cx="1755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Narrow" panose="020B0606020202030204" pitchFamily="34" charset="0"/>
              </a:rPr>
              <a:t>5 X 5 X 3 </a:t>
            </a:r>
          </a:p>
          <a:p>
            <a:pPr algn="ctr"/>
            <a:r>
              <a:rPr lang="en-US" dirty="0">
                <a:latin typeface="Arial Narrow" panose="020B0606020202030204" pitchFamily="34" charset="0"/>
              </a:rPr>
              <a:t>Convolution kernel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99001" y="2847690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88731" y="4335673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17851" y="484350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634401" y="321027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155669" y="446668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18607" y="5038449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1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36420" y="2008018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32 X 32 X 3 image patch</a:t>
            </a: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727030" y="5699116"/>
            <a:ext cx="24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28 X 28 X 1 Activation Map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BB19B83-065F-45D1-AD07-0D153EC8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39" y="2174268"/>
            <a:ext cx="2748194" cy="277507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515C42A-3210-4C9C-9B8C-DFFA43F91966}"/>
              </a:ext>
            </a:extLst>
          </p:cNvPr>
          <p:cNvSpPr txBox="1"/>
          <p:nvPr/>
        </p:nvSpPr>
        <p:spPr>
          <a:xfrm>
            <a:off x="400050" y="4949339"/>
            <a:ext cx="3896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Activation Maps for </a:t>
            </a:r>
            <a:r>
              <a:rPr lang="en-IN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AlexNet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1</a:t>
            </a:r>
            <a:r>
              <a:rPr lang="en-IN" baseline="30000" dirty="0">
                <a:latin typeface="Arial Narrow" panose="020B0606020202030204" pitchFamily="34" charset="0"/>
                <a:cs typeface="Times New Roman" panose="02020603050405020304" pitchFamily="18" charset="0"/>
              </a:rPr>
              <a:t>st</a:t>
            </a: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 Hidden Layer 64 filters of 3 X11 X 11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5953A2-80CA-424A-9A08-4A12A8DC9D3C}"/>
              </a:ext>
            </a:extLst>
          </p:cNvPr>
          <p:cNvSpPr txBox="1"/>
          <p:nvPr/>
        </p:nvSpPr>
        <p:spPr>
          <a:xfrm>
            <a:off x="4948761" y="6435708"/>
            <a:ext cx="697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Convolutional Neural Network by Justin Johnson: Michigan Online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450" y="1928101"/>
            <a:ext cx="3648075" cy="3908056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252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425" y="1546166"/>
            <a:ext cx="10991850" cy="2972791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While convolution determines whether specific patterns or features are present in the input,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effective feature representation</a:t>
            </a:r>
            <a:r>
              <a:rPr lang="en-US" sz="2000" dirty="0">
                <a:latin typeface="Arial Narrow" panose="020B0606020202030204" pitchFamily="34" charset="0"/>
              </a:rPr>
              <a:t> also requires a mechanism to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emphasize the most important patterns at each spatial location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/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Pooling</a:t>
            </a:r>
            <a:r>
              <a:rPr lang="en-US" sz="2000" dirty="0">
                <a:latin typeface="Arial Narrow" panose="020B0606020202030204" pitchFamily="34" charset="0"/>
              </a:rPr>
              <a:t> fulfills this role by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selecting the most prominent feature response</a:t>
            </a:r>
            <a:r>
              <a:rPr lang="en-US" sz="2000" dirty="0">
                <a:latin typeface="Arial Narrow" panose="020B0606020202030204" pitchFamily="34" charset="0"/>
              </a:rPr>
              <a:t>, such as the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maximum activation in a local neighborhood through max pooling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By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retaining only the most significant activations, pooling reduces the spatial resolution of the feature maps </a:t>
            </a:r>
            <a:r>
              <a:rPr lang="en-US" sz="2000" dirty="0">
                <a:latin typeface="Arial Narrow" panose="020B0606020202030204" pitchFamily="34" charset="0"/>
              </a:rPr>
              <a:t>while preserving the most informative features.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process not only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decreases computational complexity </a:t>
            </a:r>
            <a:r>
              <a:rPr lang="en-US" sz="2000" dirty="0">
                <a:latin typeface="Arial Narrow" panose="020B0606020202030204" pitchFamily="34" charset="0"/>
              </a:rPr>
              <a:t>but also </a:t>
            </a:r>
            <a:r>
              <a:rPr lang="en-US" sz="2000" dirty="0">
                <a:solidFill>
                  <a:srgbClr val="00B0F0"/>
                </a:solidFill>
                <a:latin typeface="Arial Narrow" panose="020B0606020202030204" pitchFamily="34" charset="0"/>
              </a:rPr>
              <a:t>enhances the network's robustness to small translations and distortions in the input data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B11012-BDC2-43B0-8221-1CE4F68CB890}"/>
              </a:ext>
            </a:extLst>
          </p:cNvPr>
          <p:cNvGrpSpPr/>
          <p:nvPr/>
        </p:nvGrpSpPr>
        <p:grpSpPr>
          <a:xfrm>
            <a:off x="6229350" y="4646388"/>
            <a:ext cx="5093991" cy="1959610"/>
            <a:chOff x="3238500" y="4184651"/>
            <a:chExt cx="5093991" cy="1959610"/>
          </a:xfrm>
        </p:grpSpPr>
        <p:sp>
          <p:nvSpPr>
            <p:cNvPr id="21" name="Parallelogram 20"/>
            <p:cNvSpPr/>
            <p:nvPr/>
          </p:nvSpPr>
          <p:spPr>
            <a:xfrm rot="19429299">
              <a:off x="5331253" y="4418036"/>
              <a:ext cx="1948411" cy="1515717"/>
            </a:xfrm>
            <a:prstGeom prst="parallelogram">
              <a:avLst/>
            </a:prstGeom>
            <a:solidFill>
              <a:schemeClr val="accent2">
                <a:lumMod val="40000"/>
                <a:lumOff val="60000"/>
                <a:alpha val="52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20" name="Parallelogram 19"/>
            <p:cNvSpPr/>
            <p:nvPr/>
          </p:nvSpPr>
          <p:spPr>
            <a:xfrm>
              <a:off x="3238500" y="4184651"/>
              <a:ext cx="1896427" cy="1576070"/>
            </a:xfrm>
            <a:prstGeom prst="parallelogram">
              <a:avLst>
                <a:gd name="adj" fmla="val 41693"/>
              </a:avLst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scene3d>
              <a:camera prst="orthographicFront">
                <a:rot lat="0" lon="0" rev="27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IN" sz="1100"/>
            </a:p>
          </p:txBody>
        </p:sp>
        <p:sp>
          <p:nvSpPr>
            <p:cNvPr id="29" name="Oval 28"/>
            <p:cNvSpPr/>
            <p:nvPr/>
          </p:nvSpPr>
          <p:spPr>
            <a:xfrm>
              <a:off x="7772400" y="5572761"/>
              <a:ext cx="560091" cy="5715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1" name="Oval 30"/>
            <p:cNvSpPr/>
            <p:nvPr/>
          </p:nvSpPr>
          <p:spPr>
            <a:xfrm>
              <a:off x="5706110" y="483870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2" name="Oval 31"/>
            <p:cNvSpPr/>
            <p:nvPr/>
          </p:nvSpPr>
          <p:spPr>
            <a:xfrm>
              <a:off x="6098074" y="469900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3" name="Oval 32"/>
            <p:cNvSpPr/>
            <p:nvPr/>
          </p:nvSpPr>
          <p:spPr>
            <a:xfrm>
              <a:off x="6444901" y="454660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4" name="Oval 33"/>
            <p:cNvSpPr/>
            <p:nvPr/>
          </p:nvSpPr>
          <p:spPr>
            <a:xfrm>
              <a:off x="5881370" y="519684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5" name="Oval 34"/>
            <p:cNvSpPr/>
            <p:nvPr/>
          </p:nvSpPr>
          <p:spPr>
            <a:xfrm>
              <a:off x="6273334" y="505714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6" name="Oval 35"/>
            <p:cNvSpPr/>
            <p:nvPr/>
          </p:nvSpPr>
          <p:spPr>
            <a:xfrm>
              <a:off x="6620161" y="490474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7" name="Oval 36"/>
            <p:cNvSpPr/>
            <p:nvPr/>
          </p:nvSpPr>
          <p:spPr>
            <a:xfrm>
              <a:off x="6033770" y="555498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8" name="Oval 37"/>
            <p:cNvSpPr/>
            <p:nvPr/>
          </p:nvSpPr>
          <p:spPr>
            <a:xfrm>
              <a:off x="6425734" y="541528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39" name="Oval 38"/>
            <p:cNvSpPr/>
            <p:nvPr/>
          </p:nvSpPr>
          <p:spPr>
            <a:xfrm>
              <a:off x="6772561" y="5262880"/>
              <a:ext cx="311150" cy="279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41" name="Straight Connector 40"/>
            <p:cNvCxnSpPr>
              <a:stCxn id="39" idx="6"/>
              <a:endCxn id="29" idx="2"/>
            </p:cNvCxnSpPr>
            <p:nvPr/>
          </p:nvCxnSpPr>
          <p:spPr>
            <a:xfrm>
              <a:off x="7083711" y="5402580"/>
              <a:ext cx="688689" cy="45593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8" idx="4"/>
              <a:endCxn id="29" idx="2"/>
            </p:cNvCxnSpPr>
            <p:nvPr/>
          </p:nvCxnSpPr>
          <p:spPr>
            <a:xfrm>
              <a:off x="6581309" y="5694680"/>
              <a:ext cx="1191091" cy="16383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4" idx="6"/>
              <a:endCxn id="29" idx="2"/>
            </p:cNvCxnSpPr>
            <p:nvPr/>
          </p:nvCxnSpPr>
          <p:spPr>
            <a:xfrm>
              <a:off x="6192520" y="5336540"/>
              <a:ext cx="1579880" cy="52197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37" idx="5"/>
              <a:endCxn id="29" idx="2"/>
            </p:cNvCxnSpPr>
            <p:nvPr/>
          </p:nvCxnSpPr>
          <p:spPr>
            <a:xfrm>
              <a:off x="6299353" y="5793463"/>
              <a:ext cx="1473047" cy="65048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31" idx="6"/>
              <a:endCxn id="29" idx="2"/>
            </p:cNvCxnSpPr>
            <p:nvPr/>
          </p:nvCxnSpPr>
          <p:spPr>
            <a:xfrm>
              <a:off x="6017260" y="4978400"/>
              <a:ext cx="1755140" cy="88011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32" idx="1"/>
              <a:endCxn id="29" idx="2"/>
            </p:cNvCxnSpPr>
            <p:nvPr/>
          </p:nvCxnSpPr>
          <p:spPr>
            <a:xfrm>
              <a:off x="6143641" y="4739917"/>
              <a:ext cx="1628759" cy="1118594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32" idx="1"/>
              <a:endCxn id="29" idx="2"/>
            </p:cNvCxnSpPr>
            <p:nvPr/>
          </p:nvCxnSpPr>
          <p:spPr>
            <a:xfrm>
              <a:off x="6143641" y="4739917"/>
              <a:ext cx="1628759" cy="1118594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36" idx="7"/>
              <a:endCxn id="29" idx="2"/>
            </p:cNvCxnSpPr>
            <p:nvPr/>
          </p:nvCxnSpPr>
          <p:spPr>
            <a:xfrm>
              <a:off x="6885744" y="4945657"/>
              <a:ext cx="886656" cy="912854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33" idx="7"/>
              <a:endCxn id="29" idx="2"/>
            </p:cNvCxnSpPr>
            <p:nvPr/>
          </p:nvCxnSpPr>
          <p:spPr>
            <a:xfrm>
              <a:off x="6710484" y="4587517"/>
              <a:ext cx="1061916" cy="1270994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endCxn id="31" idx="3"/>
            </p:cNvCxnSpPr>
            <p:nvPr/>
          </p:nvCxnSpPr>
          <p:spPr>
            <a:xfrm>
              <a:off x="4200760" y="4389120"/>
              <a:ext cx="1550917" cy="688063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29" idx="2"/>
              <a:endCxn id="35" idx="6"/>
            </p:cNvCxnSpPr>
            <p:nvPr/>
          </p:nvCxnSpPr>
          <p:spPr>
            <a:xfrm flipH="1" flipV="1">
              <a:off x="6584484" y="5196840"/>
              <a:ext cx="1187916" cy="661671"/>
            </a:xfrm>
            <a:prstGeom prst="line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endCxn id="31" idx="3"/>
            </p:cNvCxnSpPr>
            <p:nvPr/>
          </p:nvCxnSpPr>
          <p:spPr>
            <a:xfrm>
              <a:off x="4014036" y="4594861"/>
              <a:ext cx="1737641" cy="482322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endCxn id="32" idx="2"/>
            </p:cNvCxnSpPr>
            <p:nvPr/>
          </p:nvCxnSpPr>
          <p:spPr>
            <a:xfrm>
              <a:off x="4352445" y="4658083"/>
              <a:ext cx="1745629" cy="180617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endCxn id="32" idx="2"/>
            </p:cNvCxnSpPr>
            <p:nvPr/>
          </p:nvCxnSpPr>
          <p:spPr>
            <a:xfrm flipV="1">
              <a:off x="4186713" y="4838700"/>
              <a:ext cx="1911361" cy="3048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endCxn id="33" idx="2"/>
            </p:cNvCxnSpPr>
            <p:nvPr/>
          </p:nvCxnSpPr>
          <p:spPr>
            <a:xfrm flipV="1">
              <a:off x="4014036" y="4686300"/>
              <a:ext cx="2430865" cy="1270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endCxn id="33" idx="2"/>
            </p:cNvCxnSpPr>
            <p:nvPr/>
          </p:nvCxnSpPr>
          <p:spPr>
            <a:xfrm flipV="1">
              <a:off x="4014036" y="4686300"/>
              <a:ext cx="2430865" cy="272057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endCxn id="34" idx="3"/>
            </p:cNvCxnSpPr>
            <p:nvPr/>
          </p:nvCxnSpPr>
          <p:spPr>
            <a:xfrm>
              <a:off x="4208224" y="4814569"/>
              <a:ext cx="1718713" cy="62075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endCxn id="34" idx="3"/>
            </p:cNvCxnSpPr>
            <p:nvPr/>
          </p:nvCxnSpPr>
          <p:spPr>
            <a:xfrm>
              <a:off x="4037853" y="5057140"/>
              <a:ext cx="1889084" cy="378183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>
              <a:endCxn id="35" idx="2"/>
            </p:cNvCxnSpPr>
            <p:nvPr/>
          </p:nvCxnSpPr>
          <p:spPr>
            <a:xfrm>
              <a:off x="3948687" y="4788893"/>
              <a:ext cx="2324647" cy="407947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>
              <a:endCxn id="35" idx="2"/>
            </p:cNvCxnSpPr>
            <p:nvPr/>
          </p:nvCxnSpPr>
          <p:spPr>
            <a:xfrm>
              <a:off x="3667639" y="5011142"/>
              <a:ext cx="2605695" cy="185698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endCxn id="36" idx="3"/>
            </p:cNvCxnSpPr>
            <p:nvPr/>
          </p:nvCxnSpPr>
          <p:spPr>
            <a:xfrm>
              <a:off x="4079766" y="5021442"/>
              <a:ext cx="2585962" cy="121781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endCxn id="36" idx="3"/>
            </p:cNvCxnSpPr>
            <p:nvPr/>
          </p:nvCxnSpPr>
          <p:spPr>
            <a:xfrm flipV="1">
              <a:off x="3892435" y="5143223"/>
              <a:ext cx="2773293" cy="119657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>
              <a:endCxn id="37" idx="3"/>
            </p:cNvCxnSpPr>
            <p:nvPr/>
          </p:nvCxnSpPr>
          <p:spPr>
            <a:xfrm>
              <a:off x="4177185" y="4364989"/>
              <a:ext cx="1902152" cy="142847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endCxn id="37" idx="3"/>
            </p:cNvCxnSpPr>
            <p:nvPr/>
          </p:nvCxnSpPr>
          <p:spPr>
            <a:xfrm>
              <a:off x="3911853" y="4658083"/>
              <a:ext cx="2167484" cy="113538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>
              <a:endCxn id="38" idx="3"/>
            </p:cNvCxnSpPr>
            <p:nvPr/>
          </p:nvCxnSpPr>
          <p:spPr>
            <a:xfrm>
              <a:off x="4340972" y="4233525"/>
              <a:ext cx="2130329" cy="1420238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>
              <a:endCxn id="38" idx="3"/>
            </p:cNvCxnSpPr>
            <p:nvPr/>
          </p:nvCxnSpPr>
          <p:spPr>
            <a:xfrm>
              <a:off x="4044089" y="4517211"/>
              <a:ext cx="2427212" cy="1136552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endCxn id="39" idx="2"/>
            </p:cNvCxnSpPr>
            <p:nvPr/>
          </p:nvCxnSpPr>
          <p:spPr>
            <a:xfrm>
              <a:off x="3892435" y="4637046"/>
              <a:ext cx="2880126" cy="765534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>
              <a:endCxn id="39" idx="2"/>
            </p:cNvCxnSpPr>
            <p:nvPr/>
          </p:nvCxnSpPr>
          <p:spPr>
            <a:xfrm>
              <a:off x="3607685" y="4863465"/>
              <a:ext cx="3164876" cy="539115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3235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51174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51174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51174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51174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185029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185029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185029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185029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188848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188848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188848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188848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52740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52740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52740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52740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804127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804127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142681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142681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126857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7548418" y="1378390"/>
            <a:ext cx="819150" cy="810458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>
            <a:off x="8367568" y="1783619"/>
            <a:ext cx="1798395" cy="153868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165963" y="1689889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</p:spTree>
    <p:extLst>
      <p:ext uri="{BB962C8B-B14F-4D97-AF65-F5344CB8AC3E}">
        <p14:creationId xmlns:p14="http://schemas.microsoft.com/office/powerpoint/2010/main" val="42063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502318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502318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502318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502318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1840872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1840872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1840872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1840872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179426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179426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179426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179426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517980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517980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517980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517980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79470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79470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13325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13325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117435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8177069" y="1402571"/>
            <a:ext cx="819150" cy="810458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>
            <a:off x="8996219" y="1807800"/>
            <a:ext cx="1507881" cy="145228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504100" y="1705430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</p:spTree>
    <p:extLst>
      <p:ext uri="{BB962C8B-B14F-4D97-AF65-F5344CB8AC3E}">
        <p14:creationId xmlns:p14="http://schemas.microsoft.com/office/powerpoint/2010/main" val="131582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68142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68142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68142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68142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201997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201997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201997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201997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358528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358528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358528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358528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69708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69708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69708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69708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973807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973807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312361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312361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296537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7559641" y="2307152"/>
            <a:ext cx="853192" cy="810458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 flipV="1">
            <a:off x="8412833" y="2485637"/>
            <a:ext cx="1790193" cy="22674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203026" y="2238039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</p:spTree>
    <p:extLst>
      <p:ext uri="{BB962C8B-B14F-4D97-AF65-F5344CB8AC3E}">
        <p14:creationId xmlns:p14="http://schemas.microsoft.com/office/powerpoint/2010/main" val="35583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61543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61543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61543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61543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1953989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1953989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1953989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1953989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29254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29254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29254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29254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631097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631097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631097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631097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907822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907822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246376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246376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230552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8159990" y="2198525"/>
            <a:ext cx="865706" cy="867076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 flipV="1">
            <a:off x="9025696" y="2402249"/>
            <a:ext cx="1497221" cy="229814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522917" y="2154651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</p:spTree>
    <p:extLst>
      <p:ext uri="{BB962C8B-B14F-4D97-AF65-F5344CB8AC3E}">
        <p14:creationId xmlns:p14="http://schemas.microsoft.com/office/powerpoint/2010/main" val="7579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56830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56830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56830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56830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190685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190685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190685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190685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24540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24540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24540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24540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58396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58396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58396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58396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860688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860688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19924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19924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183418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7802309" y="3993059"/>
            <a:ext cx="865706" cy="867076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>
            <a:off x="8668015" y="4426597"/>
            <a:ext cx="1772901" cy="30286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440916" y="4481861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91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63428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63428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63428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63428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1972838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1972838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1972838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1972838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31139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311392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31139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311392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649946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649946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649946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649946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926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926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265225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265225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249401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8436389" y="4002820"/>
            <a:ext cx="865706" cy="867076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>
            <a:off x="9302095" y="4436358"/>
            <a:ext cx="1467832" cy="264243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769927" y="4453003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54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418" y="106507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419" y="1086712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671993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671993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671993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671993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2010547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2010547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2010547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2010547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349101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349101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349101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349101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687655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687655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687655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687655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96438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96438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30293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30293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287110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7816020" y="4712795"/>
            <a:ext cx="865706" cy="867076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 flipV="1">
            <a:off x="8681726" y="5059342"/>
            <a:ext cx="1728956" cy="86991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410682" y="4811744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01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25" y="118249"/>
            <a:ext cx="10515600" cy="84483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Different Types of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225" y="951346"/>
            <a:ext cx="5922817" cy="55727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Selects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maximum value </a:t>
            </a:r>
            <a:r>
              <a:rPr lang="en-US" dirty="0">
                <a:latin typeface="Arial Narrow" panose="020B0606020202030204" pitchFamily="34" charset="0"/>
              </a:rPr>
              <a:t>from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Retains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strongest feature response.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Pooling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Computes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average value </a:t>
            </a:r>
            <a:r>
              <a:rPr lang="en-US" dirty="0">
                <a:latin typeface="Arial Narrow" panose="020B0606020202030204" pitchFamily="34" charset="0"/>
              </a:rPr>
              <a:t>in each pooling region. </a:t>
            </a:r>
          </a:p>
          <a:p>
            <a:pPr algn="just"/>
            <a:r>
              <a:rPr lang="en-US" dirty="0">
                <a:latin typeface="Arial Narrow" panose="020B0606020202030204" pitchFamily="34" charset="0"/>
              </a:rPr>
              <a:t>Preserves the </a:t>
            </a: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overall feature information.</a:t>
            </a:r>
          </a:p>
          <a:p>
            <a:pPr algn="just"/>
            <a:endParaRPr lang="en-US" b="1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Why Pooling?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Reduces spatial dimensions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Speeds up computation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Preserves important features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Improves robustness to translation and noise</a:t>
            </a:r>
            <a:endParaRPr lang="en-US" dirty="0">
              <a:latin typeface="Arial Narrow" panose="020B0606020202030204" pitchFamily="34" charset="0"/>
            </a:endParaRPr>
          </a:p>
          <a:p>
            <a:pPr algn="just"/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7156" y="1606007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2431" y="1606007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1369" y="1606007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644" y="1606007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7156" y="194456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2431" y="194456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1369" y="194456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644" y="194456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7156" y="2283115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2431" y="2283115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1369" y="2283115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644" y="2283115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7156" y="262166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431" y="262166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1369" y="262166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644" y="262166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2243" y="1898394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7518" y="1898394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2243" y="2236948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1184" y="2236948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7765" y="3221124"/>
            <a:ext cx="180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Max-Pooling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7993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3268" y="4130671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2206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47481" y="4130671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993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3268" y="4469225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2206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47481" y="4469225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993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3268" y="4807779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52206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47481" y="4807779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993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53268" y="5146333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52206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47481" y="5146333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59414" y="4558860"/>
            <a:ext cx="29893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54689" y="4558860"/>
            <a:ext cx="29893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Helvetica Neue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59414" y="4897414"/>
            <a:ext cx="298938" cy="338554"/>
          </a:xfrm>
          <a:prstGeom prst="rect">
            <a:avLst/>
          </a:prstGeom>
          <a:solidFill>
            <a:srgbClr val="FF0000">
              <a:alpha val="56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58355" y="4897414"/>
            <a:ext cx="298938" cy="338554"/>
          </a:xfrm>
          <a:prstGeom prst="rect">
            <a:avLst/>
          </a:prstGeom>
          <a:solidFill>
            <a:schemeClr val="accent1">
              <a:lumMod val="75000"/>
              <a:alpha val="53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atin typeface="Helvetica Neue"/>
              </a:defRPr>
            </a:lvl1pPr>
          </a:lstStyle>
          <a:p>
            <a:r>
              <a:rPr lang="en-IN" dirty="0"/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5582" y="5521695"/>
            <a:ext cx="220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B0F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Average Pooling</a:t>
            </a:r>
          </a:p>
        </p:txBody>
      </p:sp>
      <p:sp>
        <p:nvSpPr>
          <p:cNvPr id="49" name="Oval 48"/>
          <p:cNvSpPr/>
          <p:nvPr/>
        </p:nvSpPr>
        <p:spPr>
          <a:xfrm>
            <a:off x="8410285" y="4701974"/>
            <a:ext cx="865706" cy="867076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3" name="Straight Arrow Connector 52"/>
          <p:cNvCxnSpPr>
            <a:stCxn id="49" idx="6"/>
            <a:endCxn id="50" idx="2"/>
          </p:cNvCxnSpPr>
          <p:nvPr/>
        </p:nvCxnSpPr>
        <p:spPr>
          <a:xfrm flipV="1">
            <a:off x="9275991" y="5081006"/>
            <a:ext cx="1497221" cy="5450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773212" y="4833408"/>
            <a:ext cx="485774" cy="495195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16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879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Contrast </a:t>
            </a:r>
            <a:r>
              <a:rPr lang="en-IN" sz="4000" dirty="0">
                <a:latin typeface="Century" panose="02040604050505020304" pitchFamily="18" charset="0"/>
              </a:rPr>
              <a:t>Normalization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2064"/>
            <a:ext cx="10515600" cy="4937313"/>
          </a:xfrm>
        </p:spPr>
        <p:txBody>
          <a:bodyPr>
            <a:normAutofit/>
          </a:bodyPr>
          <a:lstStyle/>
          <a:p>
            <a:pPr marL="252000" lvl="0" indent="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Contrast Normalization (CN) </a:t>
            </a:r>
            <a:r>
              <a:rPr lang="en-US" sz="2400" dirty="0">
                <a:latin typeface="Arial Narrow" panose="020B0606020202030204" pitchFamily="34" charset="0"/>
              </a:rPr>
              <a:t>is a technique in CNNs that enhances feature detection by normalizing pixel intensities or feature activations based on local contrast. It highlights important features, suppresses uniform high-intensity regions, and improves robustness to illumination variations.</a:t>
            </a:r>
          </a:p>
          <a:p>
            <a:pPr marL="252000" lvl="0" indent="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pPr marL="252000" lvl="0" indent="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 common approach is 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Local Contrast Normalization (LCN)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Narrow" panose="020B0606020202030204" pitchFamily="34" charset="0"/>
              </a:rPr>
              <a:t>,</a:t>
            </a:r>
            <a:r>
              <a:rPr lang="en-US" sz="2400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which uses neighboring pixels for local subtraction and normalization.</a:t>
            </a: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18907" y="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534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612" y="184057"/>
            <a:ext cx="10515600" cy="6941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Local Contrast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12" y="1504604"/>
            <a:ext cx="10515600" cy="370319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3300" dirty="0">
                <a:latin typeface="Arial Narrow" panose="020B0606020202030204" pitchFamily="34" charset="0"/>
              </a:rPr>
              <a:t>Contrast variations change pixel intensities and convolution responses. </a:t>
            </a:r>
            <a:r>
              <a:rPr lang="en-US" sz="3300" dirty="0">
                <a:solidFill>
                  <a:srgbClr val="7030A0"/>
                </a:solidFill>
                <a:latin typeface="Arial Narrow" panose="020B0606020202030204" pitchFamily="34" charset="0"/>
              </a:rPr>
              <a:t>Contrast normalization </a:t>
            </a:r>
            <a:r>
              <a:rPr lang="en-US" sz="3300" dirty="0">
                <a:latin typeface="Arial Narrow" panose="020B0606020202030204" pitchFamily="34" charset="0"/>
              </a:rPr>
              <a:t>reduces their impact, enabling more robust and consistent feature detection.</a:t>
            </a:r>
          </a:p>
          <a:p>
            <a:endParaRPr lang="en-US" b="1" dirty="0">
              <a:latin typeface="Arial Narrow" panose="020B0606020202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If the contrast of an image changes, the CNN output may vary because filter responses change. Contrast normalization addresses this by:</a:t>
            </a:r>
          </a:p>
          <a:p>
            <a:pPr marL="504000"/>
            <a:r>
              <a:rPr lang="en-US" dirty="0">
                <a:latin typeface="Arial Narrow" panose="020B0606020202030204" pitchFamily="34" charset="0"/>
              </a:rPr>
              <a:t>Adjusting pixel intensities to balance local brightness and contrast. </a:t>
            </a:r>
          </a:p>
          <a:p>
            <a:pPr marL="504000"/>
            <a:r>
              <a:rPr lang="en-US" dirty="0">
                <a:latin typeface="Arial Narrow" panose="020B0606020202030204" pitchFamily="34" charset="0"/>
              </a:rPr>
              <a:t>Reducing the effect of illumination variations. </a:t>
            </a:r>
          </a:p>
          <a:p>
            <a:pPr marL="504000"/>
            <a:r>
              <a:rPr lang="en-US" dirty="0">
                <a:latin typeface="Arial Narrow" panose="020B0606020202030204" pitchFamily="34" charset="0"/>
              </a:rPr>
              <a:t>Enhancing structural details in the image. </a:t>
            </a:r>
          </a:p>
          <a:p>
            <a:pPr marL="504000"/>
            <a:r>
              <a:rPr lang="en-US" dirty="0">
                <a:latin typeface="Arial Narrow" panose="020B0606020202030204" pitchFamily="34" charset="0"/>
              </a:rPr>
              <a:t>Improving feature consistency across different regions.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299" y="4329927"/>
            <a:ext cx="5058481" cy="16004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612" y="6111090"/>
            <a:ext cx="10628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Image Source : 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Images of faces in different head poses with the nine reference points (facial landmarks) superimposed. The instances are probe images (2D data) from dataset UHDB11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490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38612" y="184057"/>
            <a:ext cx="10515600" cy="69413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Local Contrast 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987129" y="1634509"/>
                <a:ext cx="4890057" cy="678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000" dirty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129" y="1634509"/>
                <a:ext cx="4890057" cy="678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 descr="https://figures.semanticscholar.org/6818c60209f0c4f979d1ff4211aba49afe9ae78d/4-Figure1-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58"/>
          <a:stretch/>
        </p:blipFill>
        <p:spPr bwMode="auto">
          <a:xfrm>
            <a:off x="7493015" y="2874607"/>
            <a:ext cx="3878287" cy="27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7397366" y="2532994"/>
            <a:ext cx="4229100" cy="3467100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941033" y="6219995"/>
            <a:ext cx="11171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US" sz="1400" dirty="0">
                <a:latin typeface="Arial Narrow" panose="020B0606020202030204" pitchFamily="34" charset="0"/>
              </a:rPr>
              <a:t>Examples of result of the face and the background extraction. The center rectangle and the rectangles on both sides of each image are the face and the background region: (a) Non-flash image; (b) Flash image.</a:t>
            </a:r>
            <a:r>
              <a:rPr lang="en-US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 </a:t>
            </a:r>
            <a:endParaRPr lang="en-IN" sz="14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C416678-A2CD-481A-8BFD-87F375D8E7D5}"/>
              </a:ext>
            </a:extLst>
          </p:cNvPr>
          <p:cNvSpPr/>
          <p:nvPr/>
        </p:nvSpPr>
        <p:spPr>
          <a:xfrm>
            <a:off x="738612" y="1386481"/>
            <a:ext cx="6403590" cy="498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Local Contrast Normalization (LCN) </a:t>
            </a:r>
            <a:r>
              <a:rPr lang="en-US" dirty="0">
                <a:latin typeface="Arial Narrow" panose="020B0606020202030204" pitchFamily="34" charset="0"/>
              </a:rPr>
              <a:t>reduces the effects of illumination variations by normalizing feature activations with respect to their local neighborhood. </a:t>
            </a:r>
          </a:p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endParaRPr lang="en-US" dirty="0">
              <a:latin typeface="Arial Narrow" panose="020B0606020202030204" pitchFamily="34" charset="0"/>
            </a:endParaRPr>
          </a:p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This process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scales feature values based on the statistics of surrounding activations</a:t>
            </a:r>
            <a:r>
              <a:rPr lang="en-US" dirty="0">
                <a:latin typeface="Arial Narrow" panose="020B0606020202030204" pitchFamily="34" charset="0"/>
              </a:rPr>
              <a:t>, making the network less sensitive to local changes in lighting and contrast. </a:t>
            </a:r>
          </a:p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endParaRPr lang="en-US" dirty="0">
              <a:latin typeface="Arial Narrow" panose="020B0606020202030204" pitchFamily="34" charset="0"/>
            </a:endParaRPr>
          </a:p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As a result,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LCN enhances edge and texture information while suppressing irrelevant intensity variations, allowing more discriminative features to be learned</a:t>
            </a:r>
            <a:r>
              <a:rPr lang="en-US" dirty="0">
                <a:latin typeface="Arial Narrow" panose="020B0606020202030204" pitchFamily="34" charset="0"/>
              </a:rPr>
              <a:t>. </a:t>
            </a:r>
          </a:p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By improving the consistency and robustness of feature representations, Local Contrast Normalization contributes to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better generalization </a:t>
            </a:r>
            <a:r>
              <a:rPr lang="en-US" dirty="0">
                <a:latin typeface="Arial Narrow" panose="020B0606020202030204" pitchFamily="34" charset="0"/>
              </a:rPr>
              <a:t>and overall performance in </a:t>
            </a:r>
            <a:r>
              <a:rPr lang="en-US" dirty="0">
                <a:solidFill>
                  <a:srgbClr val="00B0F0"/>
                </a:solidFill>
                <a:latin typeface="Arial Narrow" panose="020B0606020202030204" pitchFamily="34" charset="0"/>
              </a:rPr>
              <a:t>image recognition and other computer vision tasks</a:t>
            </a:r>
            <a:r>
              <a:rPr lang="en-US" dirty="0">
                <a:latin typeface="Arial Narrow" panose="020B0606020202030204" pitchFamily="34" charset="0"/>
              </a:rPr>
              <a:t>.</a:t>
            </a: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2250"/>
              </a:lnSpc>
            </a:pPr>
            <a:endParaRPr lang="en-US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323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499" y="202351"/>
            <a:ext cx="8051800" cy="1047552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Century" panose="02040604050505020304" pitchFamily="18" charset="0"/>
              </a:rPr>
              <a:t>CNN Processing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58" y="1386606"/>
            <a:ext cx="7417407" cy="4843049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 Narrow" panose="020B0606020202030204" pitchFamily="34" charset="0"/>
              </a:rPr>
              <a:t>A Convolutional Neural Network (CNN) processes input data through a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sequence of specialized stages</a:t>
            </a:r>
            <a:r>
              <a:rPr lang="en-US" sz="1800" dirty="0">
                <a:latin typeface="Arial Narrow" panose="020B0606020202030204" pitchFamily="34" charset="0"/>
              </a:rPr>
              <a:t> that progressively extract and refine meaningful features.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 Narrow" panose="020B0606020202030204" pitchFamily="34" charset="0"/>
              </a:rPr>
              <a:t>The process begins with the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convolution </a:t>
            </a:r>
            <a:r>
              <a:rPr lang="en-US" sz="1800" dirty="0">
                <a:latin typeface="Arial Narrow" panose="020B0606020202030204" pitchFamily="34" charset="0"/>
              </a:rPr>
              <a:t>stage, where learnable filters are applied to the input to detect local patterns such as edges, textures, and shapes.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 Narrow" panose="020B0606020202030204" pitchFamily="34" charset="0"/>
              </a:rPr>
              <a:t>The resulting feature maps are then passed through an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activation</a:t>
            </a:r>
            <a:r>
              <a:rPr lang="en-US" sz="1800" dirty="0">
                <a:latin typeface="Arial Narrow" panose="020B0606020202030204" pitchFamily="34" charset="0"/>
              </a:rPr>
              <a:t> function, such as Rectified Linear Unit (</a:t>
            </a:r>
            <a:r>
              <a:rPr lang="en-US" sz="1800" dirty="0" err="1">
                <a:latin typeface="Arial Narrow" panose="020B0606020202030204" pitchFamily="34" charset="0"/>
              </a:rPr>
              <a:t>ReLU</a:t>
            </a:r>
            <a:r>
              <a:rPr lang="en-US" sz="1800" dirty="0">
                <a:latin typeface="Arial Narrow" panose="020B0606020202030204" pitchFamily="34" charset="0"/>
              </a:rPr>
              <a:t>) or Sigmoid, which introduces non-linearity and enables the network to learn complex relationships within the data.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 Narrow" panose="020B0606020202030204" pitchFamily="34" charset="0"/>
              </a:rPr>
              <a:t>Next,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normalization </a:t>
            </a:r>
            <a:r>
              <a:rPr lang="en-US" sz="1800" dirty="0">
                <a:latin typeface="Arial Narrow" panose="020B0606020202030204" pitchFamily="34" charset="0"/>
              </a:rPr>
              <a:t>is performed to standardize feature activations, improving training stability, accelerating convergence, and enhancing the model's ability to generalize to unseen data.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Arial Narrow" panose="020B0606020202030204" pitchFamily="34" charset="0"/>
              </a:rPr>
              <a:t>Finally, the </a:t>
            </a:r>
            <a:r>
              <a:rPr lang="en-US" sz="1800" dirty="0">
                <a:solidFill>
                  <a:srgbClr val="00B0F0"/>
                </a:solidFill>
                <a:latin typeface="Arial Narrow" panose="020B0606020202030204" pitchFamily="34" charset="0"/>
              </a:rPr>
              <a:t>pooling</a:t>
            </a:r>
            <a:r>
              <a:rPr lang="en-US" sz="1800" dirty="0">
                <a:latin typeface="Arial Narrow" panose="020B0606020202030204" pitchFamily="34" charset="0"/>
              </a:rPr>
              <a:t> stage </a:t>
            </a:r>
            <a:r>
              <a:rPr lang="en-US" sz="1800" dirty="0" err="1">
                <a:latin typeface="Arial Narrow" panose="020B0606020202030204" pitchFamily="34" charset="0"/>
              </a:rPr>
              <a:t>downsamples</a:t>
            </a:r>
            <a:r>
              <a:rPr lang="en-US" sz="1800" dirty="0">
                <a:latin typeface="Arial Narrow" panose="020B0606020202030204" pitchFamily="34" charset="0"/>
              </a:rPr>
              <a:t> the feature maps by retaining the most significant activations, thereby reducing spatial dimensions, lowering computational complexity, and improving the network's robustness to small translations and distortions in the input.</a:t>
            </a:r>
            <a:endParaRPr lang="en-US" altLang="en-US" sz="1800" dirty="0">
              <a:latin typeface="Arial Narrow" panose="020B0606020202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72125" y="-104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B48A056-44BB-476E-9331-FCB4258FC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744" y="1705635"/>
            <a:ext cx="2448471" cy="440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46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33" y="4138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CNN – The Whole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97" y="1140793"/>
            <a:ext cx="7551439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latin typeface="Arial Narrow" panose="020B0606020202030204" pitchFamily="34" charset="0"/>
              </a:rPr>
              <a:t>A standard CNN architecture consists of 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convolutional layers </a:t>
            </a:r>
            <a:r>
              <a:rPr lang="en-US" sz="1800" dirty="0">
                <a:latin typeface="Arial Narrow" panose="020B0606020202030204" pitchFamily="34" charset="0"/>
              </a:rPr>
              <a:t>that extract features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, activation functions </a:t>
            </a:r>
            <a:r>
              <a:rPr lang="en-US" sz="1800" dirty="0">
                <a:latin typeface="Arial Narrow" panose="020B0606020202030204" pitchFamily="34" charset="0"/>
              </a:rPr>
              <a:t>(e.g., </a:t>
            </a:r>
            <a:r>
              <a:rPr lang="en-US" sz="1800" dirty="0" err="1">
                <a:latin typeface="Arial Narrow" panose="020B0606020202030204" pitchFamily="34" charset="0"/>
              </a:rPr>
              <a:t>ReLU</a:t>
            </a:r>
            <a:r>
              <a:rPr lang="en-US" sz="1800" dirty="0">
                <a:latin typeface="Arial Narrow" panose="020B0606020202030204" pitchFamily="34" charset="0"/>
              </a:rPr>
              <a:t>) that introduce 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non-linearity,</a:t>
            </a:r>
            <a:r>
              <a:rPr lang="en-US" sz="1800" dirty="0">
                <a:latin typeface="Arial Narrow" panose="020B0606020202030204" pitchFamily="34" charset="0"/>
              </a:rPr>
              <a:t> optional normalization layers that stabilize training and improve feature consistency, and 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pooling</a:t>
            </a:r>
            <a:r>
              <a:rPr lang="en-US" sz="1800" dirty="0">
                <a:latin typeface="Arial Narrow" panose="020B0606020202030204" pitchFamily="34" charset="0"/>
              </a:rPr>
              <a:t> 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layers</a:t>
            </a:r>
            <a:r>
              <a:rPr lang="en-US" sz="1800" dirty="0">
                <a:latin typeface="Arial Narrow" panose="020B0606020202030204" pitchFamily="34" charset="0"/>
              </a:rPr>
              <a:t> that reduce spatial dimensions while preserving important information. These components work together to progressively learn hierarchical feature representations. The extracted features are then passed to one or more 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fully connected layers</a:t>
            </a:r>
            <a:r>
              <a:rPr lang="en-US" sz="1800" dirty="0">
                <a:latin typeface="Arial Narrow" panose="020B0606020202030204" pitchFamily="34" charset="0"/>
              </a:rPr>
              <a:t>, and a </a:t>
            </a:r>
            <a:r>
              <a:rPr lang="en-US" sz="1800" dirty="0">
                <a:solidFill>
                  <a:srgbClr val="7030A0"/>
                </a:solidFill>
                <a:latin typeface="Arial Narrow" panose="020B0606020202030204" pitchFamily="34" charset="0"/>
              </a:rPr>
              <a:t>final output layer </a:t>
            </a:r>
            <a:r>
              <a:rPr lang="en-US" sz="1800" dirty="0">
                <a:latin typeface="Arial Narrow" panose="020B0606020202030204" pitchFamily="34" charset="0"/>
              </a:rPr>
              <a:t>(e.g., </a:t>
            </a:r>
            <a:r>
              <a:rPr lang="en-US" sz="1800" dirty="0" err="1">
                <a:latin typeface="Arial Narrow" panose="020B0606020202030204" pitchFamily="34" charset="0"/>
              </a:rPr>
              <a:t>Softmax</a:t>
            </a:r>
            <a:r>
              <a:rPr lang="en-US" sz="1800" dirty="0">
                <a:latin typeface="Arial Narrow" panose="020B0606020202030204" pitchFamily="34" charset="0"/>
              </a:rPr>
              <a:t> for classification) produces the predicted class probabilities.</a:t>
            </a:r>
            <a:endParaRPr lang="en-IN" sz="1800" dirty="0">
              <a:latin typeface="Arial Narrow" panose="020B0606020202030204" pitchFamily="34" charset="0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25097" y="3931908"/>
            <a:ext cx="2604551" cy="1729235"/>
            <a:chOff x="357724" y="4922906"/>
            <a:chExt cx="4175462" cy="1729235"/>
          </a:xfrm>
        </p:grpSpPr>
        <p:sp>
          <p:nvSpPr>
            <p:cNvPr id="57" name="Text 2">
              <a:extLst>
                <a:ext uri="{FF2B5EF4-FFF2-40B4-BE49-F238E27FC236}">
                  <a16:creationId xmlns:a16="http://schemas.microsoft.com/office/drawing/2014/main" id="{D30FE300-F283-86DE-C587-DA8F4F48E080}"/>
                </a:ext>
              </a:extLst>
            </p:cNvPr>
            <p:cNvSpPr/>
            <p:nvPr/>
          </p:nvSpPr>
          <p:spPr>
            <a:xfrm>
              <a:off x="357724" y="4922906"/>
              <a:ext cx="4168021" cy="7110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550"/>
                </a:lnSpc>
                <a:buNone/>
              </a:pPr>
              <a:r>
                <a:rPr lang="en-US" b="1" dirty="0">
                  <a:solidFill>
                    <a:srgbClr val="00B0F0"/>
                  </a:solidFill>
                  <a:latin typeface="Arial Narrow" panose="020B0606020202030204" pitchFamily="34" charset="0"/>
                  <a:ea typeface="Kanit Light" pitchFamily="34" charset="-122"/>
                  <a:cs typeface="Kanit Light" pitchFamily="34" charset="-120"/>
                </a:rPr>
                <a:t>96%</a:t>
              </a:r>
              <a:endParaRPr lang="en-US" b="1" dirty="0">
                <a:solidFill>
                  <a:srgbClr val="00B0F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8" name="Text 3">
              <a:extLst>
                <a:ext uri="{FF2B5EF4-FFF2-40B4-BE49-F238E27FC236}">
                  <a16:creationId xmlns:a16="http://schemas.microsoft.com/office/drawing/2014/main" id="{D9412209-0798-CA80-B4AB-3C33485D3F78}"/>
                </a:ext>
              </a:extLst>
            </p:cNvPr>
            <p:cNvSpPr/>
            <p:nvPr/>
          </p:nvSpPr>
          <p:spPr>
            <a:xfrm>
              <a:off x="1102400" y="5496758"/>
              <a:ext cx="2693551" cy="336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2C3249"/>
                  </a:solidFill>
                  <a:latin typeface="Arial Narrow" panose="020B0606020202030204" pitchFamily="34" charset="0"/>
                  <a:ea typeface="Kanit Light" pitchFamily="34" charset="-122"/>
                  <a:cs typeface="Kanit Light" pitchFamily="34" charset="-120"/>
                </a:rPr>
                <a:t>ImageNet Top-5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59" name="Text 4">
              <a:extLst>
                <a:ext uri="{FF2B5EF4-FFF2-40B4-BE49-F238E27FC236}">
                  <a16:creationId xmlns:a16="http://schemas.microsoft.com/office/drawing/2014/main" id="{2C18784D-FB8C-8D23-839A-88A6E49DA770}"/>
                </a:ext>
              </a:extLst>
            </p:cNvPr>
            <p:cNvSpPr/>
            <p:nvPr/>
          </p:nvSpPr>
          <p:spPr>
            <a:xfrm>
              <a:off x="365165" y="5962531"/>
              <a:ext cx="4168021" cy="689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dirty="0">
                  <a:solidFill>
                    <a:srgbClr val="2C3249"/>
                  </a:solidFill>
                  <a:latin typeface="Arial Narrow" panose="020B0606020202030204" pitchFamily="34" charset="0"/>
                  <a:ea typeface="Martel Sans" pitchFamily="34" charset="-122"/>
                  <a:cs typeface="Martel Sans" pitchFamily="34" charset="-120"/>
                </a:rPr>
                <a:t>Modern CNN accuracy on classification benchmarks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343211" y="4036653"/>
            <a:ext cx="2154496" cy="1704564"/>
            <a:chOff x="4798754" y="4947577"/>
            <a:chExt cx="4171772" cy="1704564"/>
          </a:xfrm>
        </p:grpSpPr>
        <p:sp>
          <p:nvSpPr>
            <p:cNvPr id="60" name="Text 5">
              <a:extLst>
                <a:ext uri="{FF2B5EF4-FFF2-40B4-BE49-F238E27FC236}">
                  <a16:creationId xmlns:a16="http://schemas.microsoft.com/office/drawing/2014/main" id="{96D62BAA-EDBA-D4EB-FBFC-EFFBB4D03FBA}"/>
                </a:ext>
              </a:extLst>
            </p:cNvPr>
            <p:cNvSpPr/>
            <p:nvPr/>
          </p:nvSpPr>
          <p:spPr>
            <a:xfrm>
              <a:off x="4798754" y="4947577"/>
              <a:ext cx="4168021" cy="7110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550"/>
                </a:lnSpc>
                <a:buNone/>
              </a:pPr>
              <a:r>
                <a:rPr lang="en-US" b="1" dirty="0">
                  <a:solidFill>
                    <a:srgbClr val="00B0F0"/>
                  </a:solidFill>
                  <a:latin typeface="Arial Narrow" panose="020B0606020202030204" pitchFamily="34" charset="0"/>
                  <a:ea typeface="Kanit Light" pitchFamily="34" charset="-122"/>
                  <a:cs typeface="Kanit Light" pitchFamily="34" charset="-120"/>
                </a:rPr>
                <a:t>152</a:t>
              </a:r>
              <a:endParaRPr lang="en-US" b="1" dirty="0">
                <a:solidFill>
                  <a:srgbClr val="00B0F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1" name="Text 6">
              <a:extLst>
                <a:ext uri="{FF2B5EF4-FFF2-40B4-BE49-F238E27FC236}">
                  <a16:creationId xmlns:a16="http://schemas.microsoft.com/office/drawing/2014/main" id="{373F7FD7-73EC-2AFA-0050-D53CE29BFC62}"/>
                </a:ext>
              </a:extLst>
            </p:cNvPr>
            <p:cNvSpPr/>
            <p:nvPr/>
          </p:nvSpPr>
          <p:spPr>
            <a:xfrm>
              <a:off x="5539740" y="5496758"/>
              <a:ext cx="2693551" cy="336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2C3249"/>
                  </a:solidFill>
                  <a:latin typeface="Arial Narrow" panose="020B0606020202030204" pitchFamily="34" charset="0"/>
                  <a:ea typeface="Kanit Light" pitchFamily="34" charset="-122"/>
                  <a:cs typeface="Kanit Light" pitchFamily="34" charset="-120"/>
                </a:rPr>
                <a:t>ResNet Layers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62" name="Text 7">
              <a:extLst>
                <a:ext uri="{FF2B5EF4-FFF2-40B4-BE49-F238E27FC236}">
                  <a16:creationId xmlns:a16="http://schemas.microsoft.com/office/drawing/2014/main" id="{AAFD2009-649A-14D0-E30F-F072D413E603}"/>
                </a:ext>
              </a:extLst>
            </p:cNvPr>
            <p:cNvSpPr/>
            <p:nvPr/>
          </p:nvSpPr>
          <p:spPr>
            <a:xfrm>
              <a:off x="4802505" y="5962531"/>
              <a:ext cx="4168021" cy="689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dirty="0">
                  <a:solidFill>
                    <a:srgbClr val="2C3249"/>
                  </a:solidFill>
                  <a:latin typeface="Arial Narrow" panose="020B0606020202030204" pitchFamily="34" charset="0"/>
                  <a:ea typeface="Martel Sans" pitchFamily="34" charset="-122"/>
                  <a:cs typeface="Martel Sans" pitchFamily="34" charset="-120"/>
                </a:rPr>
                <a:t>Depth of breakthrough architectures like ResNet-152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6276755" y="3938620"/>
            <a:ext cx="2266403" cy="1758817"/>
            <a:chOff x="8601609" y="4873241"/>
            <a:chExt cx="3836829" cy="1758817"/>
          </a:xfrm>
        </p:grpSpPr>
        <p:sp>
          <p:nvSpPr>
            <p:cNvPr id="63" name="Text 8">
              <a:extLst>
                <a:ext uri="{FF2B5EF4-FFF2-40B4-BE49-F238E27FC236}">
                  <a16:creationId xmlns:a16="http://schemas.microsoft.com/office/drawing/2014/main" id="{99BECAAB-131A-37EE-A55D-C259DFD1419C}"/>
                </a:ext>
              </a:extLst>
            </p:cNvPr>
            <p:cNvSpPr/>
            <p:nvPr/>
          </p:nvSpPr>
          <p:spPr>
            <a:xfrm>
              <a:off x="8601609" y="4873241"/>
              <a:ext cx="3836829" cy="7110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550"/>
                </a:lnSpc>
                <a:buNone/>
              </a:pPr>
              <a:r>
                <a:rPr lang="en-US" b="1" dirty="0">
                  <a:solidFill>
                    <a:srgbClr val="00B0F0"/>
                  </a:solidFill>
                  <a:latin typeface="Arial Narrow" panose="020B0606020202030204" pitchFamily="34" charset="0"/>
                  <a:ea typeface="Kanit Light" pitchFamily="34" charset="-122"/>
                  <a:cs typeface="Kanit Light" pitchFamily="34" charset="-120"/>
                </a:rPr>
                <a:t>60M</a:t>
              </a:r>
              <a:endParaRPr lang="en-US" b="1" dirty="0">
                <a:solidFill>
                  <a:srgbClr val="00B0F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4" name="Text 9">
              <a:extLst>
                <a:ext uri="{FF2B5EF4-FFF2-40B4-BE49-F238E27FC236}">
                  <a16:creationId xmlns:a16="http://schemas.microsoft.com/office/drawing/2014/main" id="{D3A14486-4666-0D41-D406-DE380694FA2A}"/>
                </a:ext>
              </a:extLst>
            </p:cNvPr>
            <p:cNvSpPr/>
            <p:nvPr/>
          </p:nvSpPr>
          <p:spPr>
            <a:xfrm>
              <a:off x="9338906" y="5476675"/>
              <a:ext cx="2479450" cy="336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2C3249"/>
                  </a:solidFill>
                  <a:latin typeface="Arial Narrow" panose="020B0606020202030204" pitchFamily="34" charset="0"/>
                  <a:ea typeface="Kanit Light" pitchFamily="34" charset="-122"/>
                  <a:cs typeface="Kanit Light" pitchFamily="34" charset="-120"/>
                </a:rPr>
                <a:t>Parameters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65" name="Text 10">
              <a:extLst>
                <a:ext uri="{FF2B5EF4-FFF2-40B4-BE49-F238E27FC236}">
                  <a16:creationId xmlns:a16="http://schemas.microsoft.com/office/drawing/2014/main" id="{0D00E787-A018-E539-8555-B04EFE73433A}"/>
                </a:ext>
              </a:extLst>
            </p:cNvPr>
            <p:cNvSpPr/>
            <p:nvPr/>
          </p:nvSpPr>
          <p:spPr>
            <a:xfrm>
              <a:off x="8896945" y="5942448"/>
              <a:ext cx="3216686" cy="689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dirty="0">
                  <a:solidFill>
                    <a:srgbClr val="2C3249"/>
                  </a:solidFill>
                  <a:latin typeface="Arial Narrow" panose="020B0606020202030204" pitchFamily="34" charset="0"/>
                  <a:ea typeface="Martel Sans" pitchFamily="34" charset="-122"/>
                  <a:cs typeface="Martel Sans" pitchFamily="34" charset="-120"/>
                </a:rPr>
                <a:t>Typical parameter count in large-scale CNNs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</p:grpSp>
      <p:cxnSp>
        <p:nvCxnSpPr>
          <p:cNvPr id="70" name="Straight Connector 69"/>
          <p:cNvCxnSpPr/>
          <p:nvPr/>
        </p:nvCxnSpPr>
        <p:spPr>
          <a:xfrm flipH="1">
            <a:off x="6046894" y="4009558"/>
            <a:ext cx="13137" cy="219407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2996846" y="4006532"/>
            <a:ext cx="13137" cy="2194075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8">
            <a:extLst>
              <a:ext uri="{FF2B5EF4-FFF2-40B4-BE49-F238E27FC236}">
                <a16:creationId xmlns:a16="http://schemas.microsoft.com/office/drawing/2014/main" id="{BC3AB21B-6A9F-4171-B9B7-8BF8EF3AD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744" y="1705635"/>
            <a:ext cx="2448471" cy="440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18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237" y="237714"/>
            <a:ext cx="10515600" cy="87199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CNNs for Image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647" y="1337352"/>
            <a:ext cx="6360886" cy="4335479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10000"/>
              </a:lnSpc>
            </a:pPr>
            <a:r>
              <a:rPr lang="en-IN" dirty="0">
                <a:solidFill>
                  <a:srgbClr val="7030A0"/>
                </a:solidFill>
                <a:latin typeface="Arial Narrow" panose="020B0606020202030204" pitchFamily="34" charset="0"/>
              </a:rPr>
              <a:t>Object Detection </a:t>
            </a:r>
            <a:r>
              <a:rPr lang="en-IN" dirty="0">
                <a:latin typeface="Arial Narrow" panose="020B0606020202030204" pitchFamily="34" charset="0"/>
              </a:rPr>
              <a:t>: </a:t>
            </a:r>
            <a:r>
              <a:rPr lang="en-US" dirty="0">
                <a:latin typeface="Arial Narrow" panose="020B0606020202030204" pitchFamily="34" charset="0"/>
              </a:rPr>
              <a:t>Generate region proposals to localize objects, then classify each proposed region using dedicated classification heads.</a:t>
            </a:r>
          </a:p>
          <a:p>
            <a:pPr algn="just">
              <a:lnSpc>
                <a:spcPct val="11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Semantic Segmentation </a:t>
            </a:r>
            <a:r>
              <a:rPr lang="en-US" dirty="0">
                <a:latin typeface="Arial Narrow" panose="020B0606020202030204" pitchFamily="34" charset="0"/>
              </a:rPr>
              <a:t>: Assign class labels to every pixel for dense prediction tasks such as scene understanding.</a:t>
            </a:r>
          </a:p>
          <a:p>
            <a:pPr algn="just">
              <a:lnSpc>
                <a:spcPct val="110000"/>
              </a:lnSpc>
            </a:pPr>
            <a:endParaRPr lang="en-US" dirty="0">
              <a:solidFill>
                <a:srgbClr val="7030A0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dirty="0">
                <a:solidFill>
                  <a:srgbClr val="7030A0"/>
                </a:solidFill>
                <a:latin typeface="Arial Narrow" panose="020B0606020202030204" pitchFamily="34" charset="0"/>
              </a:rPr>
              <a:t>Image Classification </a:t>
            </a:r>
            <a:r>
              <a:rPr lang="en-US" dirty="0">
                <a:latin typeface="Arial Narrow" panose="020B0606020202030204" pitchFamily="34" charset="0"/>
              </a:rPr>
              <a:t>: Assign a single class label to an entire image—the foundation of many computer vision applications</a:t>
            </a:r>
            <a:endParaRPr lang="en-IN" dirty="0">
              <a:latin typeface="Arial Narrow" panose="020B0606020202030204" pitchFamily="34" charset="0"/>
            </a:endParaRPr>
          </a:p>
        </p:txBody>
      </p:sp>
      <p:pic>
        <p:nvPicPr>
          <p:cNvPr id="1026" name="Picture 2" descr="Top-5 error of representative CNN algorithms. Top-5 error: The probability of which none of the first five most probable labels given by the image classification algorithm is correct. Abbreviations: VGG, visual geometry group; GoogleNet, google inception net; ResNet, residual net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89" y="1869069"/>
            <a:ext cx="3487511" cy="290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65616" y="1864308"/>
            <a:ext cx="3488184" cy="308055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16746" y="6135043"/>
            <a:ext cx="10702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Arial Narrow" panose="020B0606020202030204" pitchFamily="34" charset="0"/>
              </a:rPr>
              <a:t>Image Source : </a:t>
            </a:r>
            <a:r>
              <a:rPr lang="en-US" sz="1400" dirty="0">
                <a:latin typeface="Arial Narrow" panose="020B0606020202030204" pitchFamily="34" charset="0"/>
              </a:rPr>
              <a:t>Tong, Yan &amp; Lu, Wei &amp; Yu, Yue &amp; Shen, Yin. (2020). Application of machine learning in ophthalmic imaging modalities. Eye and Vision. 7. 10.1186/s40662-020-00183-6. </a:t>
            </a:r>
            <a:endParaRPr lang="en-IN" sz="1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609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77B3-BB0C-E8EF-D796-A0B6C8D4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960"/>
            <a:ext cx="10515600" cy="1325563"/>
          </a:xfrm>
        </p:spPr>
        <p:txBody>
          <a:bodyPr/>
          <a:lstStyle/>
          <a:p>
            <a:r>
              <a:rPr lang="en-US" dirty="0">
                <a:latin typeface="Century" panose="02040604050505020304" pitchFamily="18" charset="0"/>
                <a:ea typeface="Calibri Light"/>
                <a:cs typeface="Calibri Light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1286-9349-A4FD-CF1F-79D5D7F99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3200" dirty="0">
                <a:latin typeface="Arial Narrow" panose="020B0606020202030204" pitchFamily="34" charset="0"/>
                <a:ea typeface="+mn-lt"/>
                <a:cs typeface="+mn-lt"/>
              </a:rPr>
              <a:t>Introduction to Convolutional Neuron Network (CNN)</a:t>
            </a:r>
          </a:p>
          <a:p>
            <a:pPr algn="just"/>
            <a:endParaRPr lang="en-US" sz="3200" dirty="0">
              <a:latin typeface="Arial Narrow" panose="020B0606020202030204" pitchFamily="34" charset="0"/>
              <a:ea typeface="+mn-lt"/>
              <a:cs typeface="+mn-lt"/>
            </a:endParaRPr>
          </a:p>
          <a:p>
            <a:pPr algn="just"/>
            <a:r>
              <a:rPr lang="en-IN" sz="3200" dirty="0">
                <a:latin typeface="Arial Narrow" panose="020B0606020202030204" pitchFamily="34" charset="0"/>
              </a:rPr>
              <a:t>Typical CNN Architecture</a:t>
            </a:r>
          </a:p>
          <a:p>
            <a:pPr lvl="1" algn="just"/>
            <a:r>
              <a:rPr lang="en-IN" sz="2000" dirty="0">
                <a:latin typeface="Arial Narrow" panose="020B0606020202030204" pitchFamily="34" charset="0"/>
              </a:rPr>
              <a:t>Convolution</a:t>
            </a:r>
          </a:p>
          <a:p>
            <a:pPr lvl="1" algn="just"/>
            <a:r>
              <a:rPr lang="en-IN" sz="2000" dirty="0">
                <a:latin typeface="Arial Narrow" panose="020B0606020202030204" pitchFamily="34" charset="0"/>
              </a:rPr>
              <a:t>Pooling</a:t>
            </a:r>
          </a:p>
          <a:p>
            <a:pPr lvl="1" algn="just"/>
            <a:r>
              <a:rPr lang="en-IN" sz="2000" dirty="0">
                <a:latin typeface="Arial Narrow" panose="020B0606020202030204" pitchFamily="34" charset="0"/>
              </a:rPr>
              <a:t>Local Contrast Normalization</a:t>
            </a:r>
          </a:p>
          <a:p>
            <a:pPr algn="just"/>
            <a:endParaRPr lang="en-IN" dirty="0">
              <a:latin typeface="Arial Narrow" panose="020B0606020202030204" pitchFamily="34" charset="0"/>
            </a:endParaRPr>
          </a:p>
          <a:p>
            <a:pPr algn="just"/>
            <a:r>
              <a:rPr lang="en-IN" sz="3200" dirty="0">
                <a:latin typeface="Arial Narrow" panose="020B0606020202030204" pitchFamily="34" charset="0"/>
              </a:rPr>
              <a:t>CNN – for Image Recognition</a:t>
            </a:r>
          </a:p>
        </p:txBody>
      </p:sp>
    </p:spTree>
    <p:extLst>
      <p:ext uri="{BB962C8B-B14F-4D97-AF65-F5344CB8AC3E}">
        <p14:creationId xmlns:p14="http://schemas.microsoft.com/office/powerpoint/2010/main" val="2919435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543688"/>
            <a:ext cx="9144000" cy="238760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CNN Model Architectures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4: Part II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3649</TotalTime>
  <Words>4023</Words>
  <Application>Microsoft Office PowerPoint</Application>
  <PresentationFormat>Widescreen</PresentationFormat>
  <Paragraphs>1636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Helvetica Neue</vt:lpstr>
      <vt:lpstr>Kanit Light</vt:lpstr>
      <vt:lpstr>Martel Sans</vt:lpstr>
      <vt:lpstr>Times New Roman</vt:lpstr>
      <vt:lpstr>Wingdings</vt:lpstr>
      <vt:lpstr>Office Theme</vt:lpstr>
      <vt:lpstr>Convolutional Neural Network - I </vt:lpstr>
      <vt:lpstr>Content</vt:lpstr>
      <vt:lpstr>Convolutional Neural Network </vt:lpstr>
      <vt:lpstr>Convolutional Neural Network (CNN)</vt:lpstr>
      <vt:lpstr>Convolutional Neural Network (CNN)</vt:lpstr>
      <vt:lpstr>Convolutional Neural Network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 Layer</vt:lpstr>
      <vt:lpstr>Fully Connected Layers</vt:lpstr>
      <vt:lpstr>How Convolution Work</vt:lpstr>
      <vt:lpstr>How Convolution Works</vt:lpstr>
      <vt:lpstr>Stacks of Convolution Layers</vt:lpstr>
      <vt:lpstr>Convolution Layer</vt:lpstr>
      <vt:lpstr>Activation Maps</vt:lpstr>
      <vt:lpstr>Pooling</vt:lpstr>
      <vt:lpstr>Different Types of Pooling</vt:lpstr>
      <vt:lpstr>Different Types of Pooling</vt:lpstr>
      <vt:lpstr>Different Types of Pooling</vt:lpstr>
      <vt:lpstr>Different Types of Pooling</vt:lpstr>
      <vt:lpstr>Different Types of Pooling</vt:lpstr>
      <vt:lpstr>Different Types of Pooling</vt:lpstr>
      <vt:lpstr>Different Types of Pooling</vt:lpstr>
      <vt:lpstr>Different Types of Pooling</vt:lpstr>
      <vt:lpstr>Contrast Normalization</vt:lpstr>
      <vt:lpstr>Local Contrast Normalization</vt:lpstr>
      <vt:lpstr>Local Contrast Normalization</vt:lpstr>
      <vt:lpstr>CNN Processing Stages</vt:lpstr>
      <vt:lpstr>CNN – The Whole Picture</vt:lpstr>
      <vt:lpstr>CNNs for Image Recognition</vt:lpstr>
      <vt:lpstr>Summary</vt:lpstr>
      <vt:lpstr>CNN Model Architectures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HP</cp:lastModifiedBy>
  <cp:revision>37</cp:revision>
  <dcterms:created xsi:type="dcterms:W3CDTF">2026-07-07T09:14:10Z</dcterms:created>
  <dcterms:modified xsi:type="dcterms:W3CDTF">2026-07-12T17:28:27Z</dcterms:modified>
</cp:coreProperties>
</file>