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8" r:id="rId2"/>
    <p:sldId id="258" r:id="rId3"/>
    <p:sldId id="307" r:id="rId4"/>
    <p:sldId id="308" r:id="rId5"/>
    <p:sldId id="309" r:id="rId6"/>
    <p:sldId id="310" r:id="rId7"/>
    <p:sldId id="311" r:id="rId8"/>
    <p:sldId id="312" r:id="rId9"/>
    <p:sldId id="277" r:id="rId10"/>
    <p:sldId id="278" r:id="rId11"/>
    <p:sldId id="275" r:id="rId12"/>
    <p:sldId id="279" r:id="rId13"/>
    <p:sldId id="282" r:id="rId14"/>
    <p:sldId id="280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66" r:id="rId24"/>
    <p:sldId id="306" r:id="rId25"/>
    <p:sldId id="271" r:id="rId26"/>
    <p:sldId id="272" r:id="rId27"/>
    <p:sldId id="273" r:id="rId28"/>
    <p:sldId id="274" r:id="rId29"/>
    <p:sldId id="269" r:id="rId30"/>
    <p:sldId id="27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83FCD-C358-4C4D-97FF-25562F0CC7ED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D7982-6103-4BDC-B9C3-7AED01D21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5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6E550F-1338-4546-9897-83585DA4274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070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5725-0CB2-4DB2-B515-7FC36C0D2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0B18A-E483-4DC8-84E2-5D9C6A049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5730B-FA9B-47E7-B200-ADB3F6F2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0EF87-01BD-41F2-83F4-7BA9B2D2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AD389-ED9A-4E2B-9E22-386767B5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43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6D8D-F92D-42CC-B95C-0988A269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7BF1-F5FF-4CF5-8FA0-85F7365AF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F1A5C-FB70-427D-9FD3-2E9CF1F9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D0514-38F8-4F41-841C-1670B802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72CBE-A4A6-461E-A3DB-C33C7B23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6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2BD5-6C62-499A-9512-05EA0BB80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353BC-6DDB-43B1-B249-0B95AA3CF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CF8E4-3A85-4DF4-BF22-9369F2F1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17D47-73C8-4A42-9B6D-FB8053EC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ECE1F-11CE-41F1-8322-2D758A01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7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B7B2-D060-4C16-8061-853576C7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9314A-6206-4FAC-BEDB-95F154927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BBD9D-F27F-4C32-B61B-4B7F07F4E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DD577-375A-4EA9-8298-19FA7BA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CDB3C-3E0E-4D6C-8C4B-8DDB64C29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9AFD6-330A-4B31-B5C4-CDD449E2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71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279D-3487-4450-BB7D-93E5F7E3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CCDE8-DB14-4C3F-843A-958C81A8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142F8-DDA3-47BA-AB7F-3D95B2762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BBA171-DFDA-481B-9F21-5FC31A1A2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70C41-86CD-40CF-95A5-7826CE03B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3EC37-40DB-4022-BCC6-D0A2FD34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CF4EDA-BE8B-45DA-AC80-325AC540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972CB-CD8F-4962-B07D-0170386F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99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F889-C5A7-464C-98F1-B8E9F73B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09744-8F01-4635-BE5A-A718E325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F5B37-95A2-4704-B45B-48DE6BE6E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12484-32FE-49A7-854F-EB3E4504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3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079DC-79DC-4582-9011-081874EE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FF638-C87B-4E2E-8885-FDAC1129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7EF0-EBF4-45A8-877B-B6796467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85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0C4B-75A1-46C2-B188-2B35F0F6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B7A6C-E8A2-45EA-A834-0A1026117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F47A1-6C45-4357-9395-DDA9BA2B6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2CF23-9FAA-4796-8779-F0C91679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E3EF7-EFB8-4105-AE93-062F71D1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8C84C-562D-4CB3-BD13-0ABA353F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6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9C12-F77A-4C50-838F-62630080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22AF1-96BC-4AB2-A302-229C8DAC6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767B4-63F4-45C7-AEE9-D91D9096A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BF4A1-FD65-4F9D-A2DE-349862DC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CBD88-DE99-4B48-8A54-AFF8E10C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11478-F1DC-45D9-B094-A67EC19A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98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2017-E18B-4512-A03F-25720120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4BBEA-DF1F-41A3-81D5-13DE9EAEA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601A0-EE97-4172-9D9E-842652F3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81B7F-92E3-465C-9D09-52A47A77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56537-D728-4BBA-9D0C-A1FF1FB9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16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146EB-68E7-49C0-A7AA-9DD8DAB30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5D5EC-B1A0-4533-BF66-CF113668B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6F5A2-4FAD-476D-8797-487C8196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A8CB-3CCA-47D8-83AE-5C61B47A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014AE-130E-43DF-8F0A-0709B12A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73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EB8CCD-7972-47D6-8767-80923DC9D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28763-912A-4412-9D3C-44A1DD6C9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9D8A3-62A9-471B-9EFA-FAC9DB9F8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6897E-D7D1-4828-A3BE-305F94FBCF87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41878-DCF8-44B4-A82D-602A15A7E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7F7E-5B52-4341-8A5E-8BB4E5025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BAA1D-58FA-4A8F-92BB-1EFCEED2B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59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pn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" Type="http://schemas.openxmlformats.org/officeDocument/2006/relationships/image" Target="../media/image145.png"/><Relationship Id="rId21" Type="http://schemas.openxmlformats.org/officeDocument/2006/relationships/image" Target="../media/image163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5" Type="http://schemas.openxmlformats.org/officeDocument/2006/relationships/image" Target="../media/image167.png"/><Relationship Id="rId33" Type="http://schemas.openxmlformats.org/officeDocument/2006/relationships/image" Target="../media/image175.png"/><Relationship Id="rId2" Type="http://schemas.openxmlformats.org/officeDocument/2006/relationships/image" Target="../media/image144.png"/><Relationship Id="rId16" Type="http://schemas.openxmlformats.org/officeDocument/2006/relationships/image" Target="../media/image158.png"/><Relationship Id="rId20" Type="http://schemas.openxmlformats.org/officeDocument/2006/relationships/image" Target="../media/image162.png"/><Relationship Id="rId29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24" Type="http://schemas.openxmlformats.org/officeDocument/2006/relationships/image" Target="../media/image166.png"/><Relationship Id="rId32" Type="http://schemas.openxmlformats.org/officeDocument/2006/relationships/image" Target="../media/image174.png"/><Relationship Id="rId5" Type="http://schemas.openxmlformats.org/officeDocument/2006/relationships/image" Target="../media/image147.png"/><Relationship Id="rId15" Type="http://schemas.openxmlformats.org/officeDocument/2006/relationships/image" Target="../media/image157.png"/><Relationship Id="rId23" Type="http://schemas.openxmlformats.org/officeDocument/2006/relationships/image" Target="../media/image165.png"/><Relationship Id="rId28" Type="http://schemas.openxmlformats.org/officeDocument/2006/relationships/image" Target="../media/image170.png"/><Relationship Id="rId10" Type="http://schemas.openxmlformats.org/officeDocument/2006/relationships/image" Target="../media/image152.png"/><Relationship Id="rId19" Type="http://schemas.openxmlformats.org/officeDocument/2006/relationships/image" Target="../media/image161.png"/><Relationship Id="rId31" Type="http://schemas.openxmlformats.org/officeDocument/2006/relationships/image" Target="../media/image173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png"/><Relationship Id="rId30" Type="http://schemas.openxmlformats.org/officeDocument/2006/relationships/image" Target="../media/image172.png"/><Relationship Id="rId8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1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image" Target="../media/image43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iro.medium.com/v2/resize:fit:640/format:webp/0*COtl04hiK9wvUgs6" TargetMode="External"/><Relationship Id="rId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864199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Convolutional Neural Network – III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3200" dirty="0">
                <a:solidFill>
                  <a:srgbClr val="002060"/>
                </a:solidFill>
                <a:latin typeface="Arial Narrow" panose="020B0606020202030204" pitchFamily="34" charset="0"/>
              </a:rPr>
              <a:t>Optimization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>
                <a:latin typeface="Arial Narrow" panose="020B0606020202030204" pitchFamily="34" charset="0"/>
              </a:rPr>
              <a:t>Lecture 4</a:t>
            </a:r>
            <a:endParaRPr lang="en-IN" sz="2800" dirty="0">
              <a:latin typeface="Arial Narrow" panose="020B0606020202030204" pitchFamily="34" charset="0"/>
            </a:endParaRP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Deeper network is not always good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Problems of Deeper Network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Vanishing Gradient (VG) Problem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Activation Functions and VG Problem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Problems with 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1570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71A7-64EA-408B-93DD-2307C298A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94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Deep neural networks (deeper nets) contain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many hidden layers</a:t>
            </a:r>
            <a:r>
              <a:rPr lang="en-US" sz="2000" dirty="0">
                <a:latin typeface="Arial Narrow" panose="020B0606020202030204" pitchFamily="34" charset="0"/>
              </a:rPr>
              <a:t>, allowing them to learn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complex patterns </a:t>
            </a:r>
            <a:r>
              <a:rPr lang="en-US" sz="2000" dirty="0">
                <a:latin typeface="Arial Narrow" panose="020B0606020202030204" pitchFamily="34" charset="0"/>
              </a:rPr>
              <a:t>and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hierarchical features </a:t>
            </a:r>
            <a:r>
              <a:rPr lang="en-US" sz="2000" dirty="0">
                <a:latin typeface="Arial Narrow" panose="020B0606020202030204" pitchFamily="34" charset="0"/>
              </a:rPr>
              <a:t>from data.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They are widely used in tasks such as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image recognition, natural language processing, and speech recognition</a:t>
            </a:r>
            <a:r>
              <a:rPr lang="en-US" sz="2000" dirty="0">
                <a:latin typeface="Arial Narrow" panose="020B0606020202030204" pitchFamily="34" charset="0"/>
              </a:rPr>
              <a:t> because they can achieve high accuracy when trained with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large datasets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However, deeper networks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require more computational resources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longer training times</a:t>
            </a:r>
            <a:r>
              <a:rPr lang="en-US" sz="2000" dirty="0">
                <a:latin typeface="Arial Narrow" panose="020B0606020202030204" pitchFamily="34" charset="0"/>
              </a:rPr>
              <a:t>, and careful techniques to avoid problems such as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overfitting or vanishing gradients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 contrast, shallow neural networks (shallower nets) have only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one or a few hidden layers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They are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simpler, faster to train, and require less computational power</a:t>
            </a:r>
            <a:r>
              <a:rPr lang="en-US" sz="2000" dirty="0">
                <a:latin typeface="Arial Narrow" panose="020B0606020202030204" pitchFamily="34" charset="0"/>
              </a:rPr>
              <a:t>, making them suitable for smaller datasets and less complex tasks.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Although shallow networks are easier to implement and interpret, they may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struggle to capture intricate relationships in data that deeper networks can learn effectively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choice between deeper and shallower networks depends on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complexity of the problem, the amount of available data, and the computational resources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CD43EF-8621-4C15-913E-CD5BE6EA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6842"/>
            <a:ext cx="8638486" cy="82636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Deeper Nets vs Shallower Nets</a:t>
            </a:r>
          </a:p>
        </p:txBody>
      </p:sp>
    </p:spTree>
    <p:extLst>
      <p:ext uri="{BB962C8B-B14F-4D97-AF65-F5344CB8AC3E}">
        <p14:creationId xmlns:p14="http://schemas.microsoft.com/office/powerpoint/2010/main" val="214627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B8CF-E3B2-4117-80EB-8D157329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Deeper is not always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5B9F-EEF7-4415-9074-D5BD6AABA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3429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In principle,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adding more layers increases the network's capacity, enabling it to learn more complex and hierarchical feature representations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However, this greater capacity also raises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risk of overfitting</a:t>
            </a:r>
            <a:r>
              <a:rPr lang="en-US" sz="2000" dirty="0">
                <a:latin typeface="Arial Narrow" panose="020B0606020202030204" pitchFamily="34" charset="0"/>
              </a:rPr>
              <a:t>, particularly when training data are limited.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Also, in practice,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very deep networks often experience optimization challenges </a:t>
            </a:r>
            <a:r>
              <a:rPr lang="en-US" sz="2000" dirty="0">
                <a:latin typeface="Arial Narrow" panose="020B0606020202030204" pitchFamily="34" charset="0"/>
              </a:rPr>
              <a:t>that prevent them from fully utilizing their theoretical capacity.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4B585D-AC04-46CB-88E7-1DE58AA54581}"/>
              </a:ext>
            </a:extLst>
          </p:cNvPr>
          <p:cNvGrpSpPr/>
          <p:nvPr/>
        </p:nvGrpSpPr>
        <p:grpSpPr>
          <a:xfrm>
            <a:off x="6551630" y="1825624"/>
            <a:ext cx="5335570" cy="2859497"/>
            <a:chOff x="7756360" y="3191852"/>
            <a:chExt cx="4241800" cy="19937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CA7C2E-7672-4AD5-8880-B7D9E549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6360" y="3191852"/>
              <a:ext cx="4241800" cy="15113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D94D28-C008-4A90-9E52-906EBA52CDD2}"/>
                </a:ext>
              </a:extLst>
            </p:cNvPr>
            <p:cNvSpPr txBox="1"/>
            <p:nvPr/>
          </p:nvSpPr>
          <p:spPr>
            <a:xfrm>
              <a:off x="9466844" y="4785524"/>
              <a:ext cx="112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CIFAR-10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D6EA098-5BC8-478A-9928-1031EBAA5546}"/>
              </a:ext>
            </a:extLst>
          </p:cNvPr>
          <p:cNvSpPr txBox="1"/>
          <p:nvPr/>
        </p:nvSpPr>
        <p:spPr>
          <a:xfrm>
            <a:off x="8975292" y="6504419"/>
            <a:ext cx="2874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He, Zhang, Ren, and Sun (2015)</a:t>
            </a:r>
          </a:p>
        </p:txBody>
      </p:sp>
    </p:spTree>
    <p:extLst>
      <p:ext uri="{BB962C8B-B14F-4D97-AF65-F5344CB8AC3E}">
        <p14:creationId xmlns:p14="http://schemas.microsoft.com/office/powerpoint/2010/main" val="119139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55E6-62C3-4FA8-A538-E2CD4EC5D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80315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As depth increases,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credit-assignment problem </a:t>
            </a:r>
            <a:r>
              <a:rPr lang="en-US" sz="2000" dirty="0">
                <a:latin typeface="Arial Narrow" panose="020B0606020202030204" pitchFamily="34" charset="0"/>
              </a:rPr>
              <a:t>becomes more severe, making it difficult for gradients to propagate effectively through many layers during backpropagation.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can lead 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optimization degradation</a:t>
            </a:r>
            <a:r>
              <a:rPr lang="en-US" sz="2000" dirty="0">
                <a:latin typeface="Arial Narrow" panose="020B0606020202030204" pitchFamily="34" charset="0"/>
              </a:rPr>
              <a:t>, where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deeper models achieve higher training error than their initial counterparts despite having greater expressive power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Consequently,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simply increasing network depth does not guarantee improved performance; effective architectural designs, such as residual connections, normalization techniques, and appropriate optimization strategies, are often required to train deep networks successfully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287B7D-519D-453D-B0F7-C7CCEAF33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Deeper is not always better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B58E6A-1535-4182-9169-0B613151F4F6}"/>
              </a:ext>
            </a:extLst>
          </p:cNvPr>
          <p:cNvGrpSpPr/>
          <p:nvPr/>
        </p:nvGrpSpPr>
        <p:grpSpPr>
          <a:xfrm>
            <a:off x="8135133" y="1825625"/>
            <a:ext cx="3827481" cy="3368544"/>
            <a:chOff x="8497090" y="4484229"/>
            <a:chExt cx="3270493" cy="343649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C53B4AB-9470-4664-8F81-FD3AFEFB9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7090" y="4484229"/>
              <a:ext cx="3270493" cy="214234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820A1-0FA5-4706-82C6-AA682DA1CAEB}"/>
                </a:ext>
              </a:extLst>
            </p:cNvPr>
            <p:cNvSpPr txBox="1"/>
            <p:nvPr/>
          </p:nvSpPr>
          <p:spPr>
            <a:xfrm>
              <a:off x="10412083" y="6787753"/>
              <a:ext cx="1355500" cy="1132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 Narrow" panose="020B0606020202030204" pitchFamily="34" charset="0"/>
                </a:rPr>
                <a:t>ImageNet</a:t>
              </a:r>
            </a:p>
            <a:p>
              <a:r>
                <a:rPr lang="en-US" sz="2000" b="1" dirty="0">
                  <a:solidFill>
                    <a:schemeClr val="bg2">
                      <a:lumMod val="50000"/>
                    </a:schemeClr>
                  </a:solidFill>
                  <a:latin typeface="Arial Narrow" panose="020B0606020202030204" pitchFamily="34" charset="0"/>
                </a:rPr>
                <a:t>thin=train,</a:t>
              </a:r>
            </a:p>
            <a:p>
              <a:r>
                <a:rPr lang="en-US" sz="2000" b="1" dirty="0">
                  <a:solidFill>
                    <a:schemeClr val="bg2">
                      <a:lumMod val="50000"/>
                    </a:schemeClr>
                  </a:solidFill>
                  <a:latin typeface="Arial Narrow" panose="020B0606020202030204" pitchFamily="34" charset="0"/>
                </a:rPr>
                <a:t>thick=valid</a:t>
              </a:r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79E9E3F-70B3-4C52-8C1C-7BE10E5386C2}"/>
              </a:ext>
            </a:extLst>
          </p:cNvPr>
          <p:cNvSpPr txBox="1"/>
          <p:nvPr/>
        </p:nvSpPr>
        <p:spPr>
          <a:xfrm>
            <a:off x="8975292" y="6504419"/>
            <a:ext cx="2874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He, Zhang, Ren, and Sun (2015)</a:t>
            </a:r>
          </a:p>
        </p:txBody>
      </p:sp>
    </p:spTree>
    <p:extLst>
      <p:ext uri="{BB962C8B-B14F-4D97-AF65-F5344CB8AC3E}">
        <p14:creationId xmlns:p14="http://schemas.microsoft.com/office/powerpoint/2010/main" val="198739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0B50-C08C-4AC2-A00A-636BDCC1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The vanishing gradient problem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B500-7BEF-4FEC-8801-BD43A87BF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3207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vanishing gradient problem is a fundamental optimization challenge encountered when training deep neural networks using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gradient-based learning algorithms such as backpropagation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During backpropagation, gradients are computed by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repeatedly applying the chain rule through multiple layers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When activation functions such as the sigmoid or hyperbolic tangent (tanh) have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derivatives less than one, the repeated multiplication of these small derivatives causes the gradients to decrease exponentially </a:t>
            </a:r>
            <a:r>
              <a:rPr lang="en-US" sz="2000" dirty="0">
                <a:latin typeface="Arial Narrow" panose="020B0606020202030204" pitchFamily="34" charset="0"/>
              </a:rPr>
              <a:t>as they propagate toward the earlier layers.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D4FD9-29C6-4F84-980A-591EC1113CD8}"/>
                  </a:ext>
                </a:extLst>
              </p:cNvPr>
              <p:cNvSpPr txBox="1"/>
              <p:nvPr/>
            </p:nvSpPr>
            <p:spPr>
              <a:xfrm>
                <a:off x="9551240" y="2145648"/>
                <a:ext cx="1894685" cy="705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1D4FD9-29C6-4F84-980A-591EC111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240" y="2145648"/>
                <a:ext cx="1894685" cy="7051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D3428C-DC33-4F24-AC5D-BF699119DC5D}"/>
                  </a:ext>
                </a:extLst>
              </p:cNvPr>
              <p:cNvSpPr txBox="1"/>
              <p:nvPr/>
            </p:nvSpPr>
            <p:spPr>
              <a:xfrm>
                <a:off x="7265995" y="5790536"/>
                <a:ext cx="2506007" cy="705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mr-I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D3428C-DC33-4F24-AC5D-BF699119D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995" y="5790536"/>
                <a:ext cx="2506007" cy="7051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991D7C-63F7-4115-827E-71849F5D4C35}"/>
                  </a:ext>
                </a:extLst>
              </p:cNvPr>
              <p:cNvSpPr txBox="1"/>
              <p:nvPr/>
            </p:nvSpPr>
            <p:spPr>
              <a:xfrm>
                <a:off x="7265995" y="5192622"/>
                <a:ext cx="1575303" cy="411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991D7C-63F7-4115-827E-71849F5D4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995" y="5192622"/>
                <a:ext cx="1575303" cy="411395"/>
              </a:xfrm>
              <a:prstGeom prst="rect">
                <a:avLst/>
              </a:prstGeom>
              <a:blipFill>
                <a:blip r:embed="rId4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73352E-F349-46D8-A6DA-01617E391634}"/>
                  </a:ext>
                </a:extLst>
              </p:cNvPr>
              <p:cNvSpPr txBox="1"/>
              <p:nvPr/>
            </p:nvSpPr>
            <p:spPr>
              <a:xfrm>
                <a:off x="7322797" y="2161479"/>
                <a:ext cx="2044406" cy="690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exp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⁡(−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D73352E-F349-46D8-A6DA-01617E391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797" y="2161479"/>
                <a:ext cx="2044406" cy="6908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65C13A1-EB57-4BC8-8CF0-121399E41A94}"/>
              </a:ext>
            </a:extLst>
          </p:cNvPr>
          <p:cNvSpPr/>
          <p:nvPr/>
        </p:nvSpPr>
        <p:spPr>
          <a:xfrm>
            <a:off x="7322797" y="1815953"/>
            <a:ext cx="2851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For Sigmoid Activation Function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132E72-D9E2-49D3-87A0-26028CA2F2C5}"/>
              </a:ext>
            </a:extLst>
          </p:cNvPr>
          <p:cNvSpPr/>
          <p:nvPr/>
        </p:nvSpPr>
        <p:spPr>
          <a:xfrm>
            <a:off x="7261406" y="4934528"/>
            <a:ext cx="3485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For Hyperbolic tangent (tanh) Function 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4489AC-3DB4-4F38-AAA7-F6F86061728B}"/>
              </a:ext>
            </a:extLst>
          </p:cNvPr>
          <p:cNvGrpSpPr/>
          <p:nvPr/>
        </p:nvGrpSpPr>
        <p:grpSpPr>
          <a:xfrm>
            <a:off x="7534258" y="3878262"/>
            <a:ext cx="4021393" cy="415411"/>
            <a:chOff x="3767548" y="3618268"/>
            <a:chExt cx="5515696" cy="580102"/>
          </a:xfrm>
        </p:grpSpPr>
        <p:sp>
          <p:nvSpPr>
            <p:cNvPr id="11" name="Isosceles Triangle 8">
              <a:extLst>
                <a:ext uri="{FF2B5EF4-FFF2-40B4-BE49-F238E27FC236}">
                  <a16:creationId xmlns:a16="http://schemas.microsoft.com/office/drawing/2014/main" id="{7F7C9362-738C-4BE8-A279-7211C0A8232F}"/>
                </a:ext>
              </a:extLst>
            </p:cNvPr>
            <p:cNvSpPr/>
            <p:nvPr/>
          </p:nvSpPr>
          <p:spPr>
            <a:xfrm>
              <a:off x="4011561" y="3618268"/>
              <a:ext cx="5024281" cy="580102"/>
            </a:xfrm>
            <a:custGeom>
              <a:avLst/>
              <a:gdLst>
                <a:gd name="csX0" fmla="*/ 0 w 5024281"/>
                <a:gd name="csY0" fmla="*/ 1383885 h 1383885"/>
                <a:gd name="csX1" fmla="*/ 2453155 w 5024281"/>
                <a:gd name="csY1" fmla="*/ 0 h 1383885"/>
                <a:gd name="csX2" fmla="*/ 5024281 w 5024281"/>
                <a:gd name="csY2" fmla="*/ 1383885 h 1383885"/>
                <a:gd name="csX3" fmla="*/ 0 w 5024281"/>
                <a:gd name="csY3" fmla="*/ 1383885 h 1383885"/>
                <a:gd name="csX0" fmla="*/ 58355 w 5133963"/>
                <a:gd name="csY0" fmla="*/ 1383885 h 1383885"/>
                <a:gd name="csX1" fmla="*/ 2511510 w 5133963"/>
                <a:gd name="csY1" fmla="*/ 0 h 1383885"/>
                <a:gd name="csX2" fmla="*/ 5082636 w 5133963"/>
                <a:gd name="csY2" fmla="*/ 1383885 h 1383885"/>
                <a:gd name="csX3" fmla="*/ 58355 w 5133963"/>
                <a:gd name="csY3" fmla="*/ 1383885 h 1383885"/>
                <a:gd name="csX0" fmla="*/ 0 w 5075608"/>
                <a:gd name="csY0" fmla="*/ 1383885 h 1383885"/>
                <a:gd name="csX1" fmla="*/ 2453155 w 5075608"/>
                <a:gd name="csY1" fmla="*/ 0 h 1383885"/>
                <a:gd name="csX2" fmla="*/ 5024281 w 5075608"/>
                <a:gd name="csY2" fmla="*/ 1383885 h 1383885"/>
                <a:gd name="csX3" fmla="*/ 0 w 5075608"/>
                <a:gd name="csY3" fmla="*/ 1383885 h 1383885"/>
                <a:gd name="csX0" fmla="*/ 0 w 5075608"/>
                <a:gd name="csY0" fmla="*/ 1383885 h 1383885"/>
                <a:gd name="csX1" fmla="*/ 2453155 w 5075608"/>
                <a:gd name="csY1" fmla="*/ 0 h 1383885"/>
                <a:gd name="csX2" fmla="*/ 5024281 w 5075608"/>
                <a:gd name="csY2" fmla="*/ 1383885 h 1383885"/>
                <a:gd name="csX3" fmla="*/ 0 w 5075608"/>
                <a:gd name="csY3" fmla="*/ 1383885 h 1383885"/>
                <a:gd name="csX0" fmla="*/ 0 w 5024281"/>
                <a:gd name="csY0" fmla="*/ 1383885 h 1383885"/>
                <a:gd name="csX1" fmla="*/ 2453155 w 5024281"/>
                <a:gd name="csY1" fmla="*/ 0 h 1383885"/>
                <a:gd name="csX2" fmla="*/ 5024281 w 5024281"/>
                <a:gd name="csY2" fmla="*/ 1383885 h 1383885"/>
                <a:gd name="csX3" fmla="*/ 0 w 5024281"/>
                <a:gd name="csY3" fmla="*/ 1383885 h 1383885"/>
                <a:gd name="csX0" fmla="*/ 0 w 5024281"/>
                <a:gd name="csY0" fmla="*/ 1383885 h 1383885"/>
                <a:gd name="csX1" fmla="*/ 2453155 w 5024281"/>
                <a:gd name="csY1" fmla="*/ 0 h 1383885"/>
                <a:gd name="csX2" fmla="*/ 5024281 w 5024281"/>
                <a:gd name="csY2" fmla="*/ 1383885 h 1383885"/>
                <a:gd name="csX3" fmla="*/ 0 w 5024281"/>
                <a:gd name="csY3" fmla="*/ 1383885 h 1383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24281" h="1383885">
                  <a:moveTo>
                    <a:pt x="0" y="1383885"/>
                  </a:moveTo>
                  <a:cubicBezTo>
                    <a:pt x="1783737" y="1025419"/>
                    <a:pt x="1615775" y="0"/>
                    <a:pt x="2453155" y="0"/>
                  </a:cubicBezTo>
                  <a:cubicBezTo>
                    <a:pt x="3290535" y="0"/>
                    <a:pt x="3594507" y="1202398"/>
                    <a:pt x="5024281" y="1383885"/>
                  </a:cubicBezTo>
                  <a:lnTo>
                    <a:pt x="0" y="1383885"/>
                  </a:lnTo>
                  <a:close/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49FA41-D54A-471A-B7EA-77E5C0ABFFB2}"/>
                </a:ext>
              </a:extLst>
            </p:cNvPr>
            <p:cNvCxnSpPr>
              <a:cxnSpLocks/>
            </p:cNvCxnSpPr>
            <p:nvPr/>
          </p:nvCxnSpPr>
          <p:spPr>
            <a:xfrm>
              <a:off x="3767548" y="4198370"/>
              <a:ext cx="551569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4111E13-514D-4A3C-A7CC-F2626D348C5E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>
              <a:off x="6464716" y="3618268"/>
              <a:ext cx="4908" cy="58010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AB0B1C-D720-4F74-B339-71B9E6D9DD4B}"/>
                  </a:ext>
                </a:extLst>
              </p:cNvPr>
              <p:cNvSpPr txBox="1"/>
              <p:nvPr/>
            </p:nvSpPr>
            <p:spPr>
              <a:xfrm>
                <a:off x="7261406" y="2839857"/>
                <a:ext cx="493059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Derivative: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Max. derivative = 0.25, Near 0 or 1, derivative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AB0B1C-D720-4F74-B339-71B9E6D9D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406" y="2839857"/>
                <a:ext cx="4930593" cy="646331"/>
              </a:xfrm>
              <a:prstGeom prst="rect">
                <a:avLst/>
              </a:prstGeom>
              <a:blipFill>
                <a:blip r:embed="rId6"/>
                <a:stretch>
                  <a:fillRect l="-989" t="-566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06A01A14-4081-41C5-A22B-2E53993E22F5}"/>
              </a:ext>
            </a:extLst>
          </p:cNvPr>
          <p:cNvSpPr/>
          <p:nvPr/>
        </p:nvSpPr>
        <p:spPr>
          <a:xfrm>
            <a:off x="9249406" y="3544986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D28E36-A957-4BBB-87DF-79F4131E4E44}"/>
              </a:ext>
            </a:extLst>
          </p:cNvPr>
          <p:cNvSpPr/>
          <p:nvPr/>
        </p:nvSpPr>
        <p:spPr>
          <a:xfrm>
            <a:off x="9350673" y="426949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217635-4B42-49F5-989B-51D66BB6EA20}"/>
              </a:ext>
            </a:extLst>
          </p:cNvPr>
          <p:cNvSpPr/>
          <p:nvPr/>
        </p:nvSpPr>
        <p:spPr>
          <a:xfrm>
            <a:off x="9818130" y="426889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5912A6-F1E1-4161-8176-25B468B55096}"/>
              </a:ext>
            </a:extLst>
          </p:cNvPr>
          <p:cNvSpPr/>
          <p:nvPr/>
        </p:nvSpPr>
        <p:spPr>
          <a:xfrm>
            <a:off x="10323666" y="426889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18751C-4810-42C0-A34C-80D6C649D9F1}"/>
              </a:ext>
            </a:extLst>
          </p:cNvPr>
          <p:cNvSpPr/>
          <p:nvPr/>
        </p:nvSpPr>
        <p:spPr>
          <a:xfrm>
            <a:off x="11145843" y="426922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F2C3F-3076-4F1B-B4C9-AEA458F5B9BB}"/>
              </a:ext>
            </a:extLst>
          </p:cNvPr>
          <p:cNvSpPr/>
          <p:nvPr/>
        </p:nvSpPr>
        <p:spPr>
          <a:xfrm>
            <a:off x="8779826" y="4250309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3A162D-0AA7-4EF9-A7FD-6C3DF3E485EC}"/>
              </a:ext>
            </a:extLst>
          </p:cNvPr>
          <p:cNvSpPr/>
          <p:nvPr/>
        </p:nvSpPr>
        <p:spPr>
          <a:xfrm>
            <a:off x="8265427" y="4257617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7BB101-16DC-40BB-B756-523246E07120}"/>
              </a:ext>
            </a:extLst>
          </p:cNvPr>
          <p:cNvSpPr/>
          <p:nvPr/>
        </p:nvSpPr>
        <p:spPr>
          <a:xfrm>
            <a:off x="7490742" y="4250309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DEA2212-3882-4088-A694-E6DDA5291337}"/>
                  </a:ext>
                </a:extLst>
              </p:cNvPr>
              <p:cNvSpPr/>
              <p:nvPr/>
            </p:nvSpPr>
            <p:spPr>
              <a:xfrm>
                <a:off x="9870896" y="3643038"/>
                <a:ext cx="7521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DEA2212-3882-4088-A694-E6DDA52913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896" y="3643038"/>
                <a:ext cx="7521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693B818-EAC6-4208-81BB-16DCBE0276F1}"/>
                  </a:ext>
                </a:extLst>
              </p:cNvPr>
              <p:cNvSpPr/>
              <p:nvPr/>
            </p:nvSpPr>
            <p:spPr>
              <a:xfrm>
                <a:off x="11401229" y="4250309"/>
                <a:ext cx="379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693B818-EAC6-4208-81BB-16DCBE0276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1229" y="4250309"/>
                <a:ext cx="37946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39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9409-E5E3-4641-B60B-B19B22764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04766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As a result,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the weights in initial layers receive extremely small updates</a:t>
            </a:r>
            <a:r>
              <a:rPr lang="en-US" sz="2000" dirty="0">
                <a:latin typeface="Arial Narrow" panose="020B0606020202030204" pitchFamily="34" charset="0"/>
              </a:rPr>
              <a:t>, significantly slowing or even preventing learning.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limits the network's ability to capture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long-range dependencies </a:t>
            </a:r>
            <a:r>
              <a:rPr lang="en-US" sz="2000" dirty="0">
                <a:latin typeface="Arial Narrow" panose="020B0606020202030204" pitchFamily="34" charset="0"/>
              </a:rPr>
              <a:t>and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learn effective low-level feature representations</a:t>
            </a:r>
            <a:r>
              <a:rPr lang="en-US" sz="2000" dirty="0">
                <a:latin typeface="Arial Narrow" panose="020B0606020202030204" pitchFamily="34" charset="0"/>
              </a:rPr>
              <a:t>, leading 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poor convergence and suboptimal training performance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Although deeper networks theoretically possess greater representational capacity (expressive ability),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the vanishing gradient problem makes them difficult to optimize in practice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Modern deep learning architectures mitigate this issue through techniques such as Rectified Linear Unit (</a:t>
            </a:r>
            <a:r>
              <a:rPr lang="en-US" sz="2000" dirty="0" err="1">
                <a:latin typeface="Arial Narrow" panose="020B0606020202030204" pitchFamily="34" charset="0"/>
              </a:rPr>
              <a:t>ReLU</a:t>
            </a:r>
            <a:r>
              <a:rPr lang="en-US" sz="2000" dirty="0">
                <a:latin typeface="Arial Narrow" panose="020B0606020202030204" pitchFamily="34" charset="0"/>
              </a:rPr>
              <a:t>) activations, residual (skip) connections, batch normalization, careful weight initialization (e.g., Xavier or He initialization), and adaptive optimization algorithms, all of which facilitate more effective gradient propagation and stable training.</a:t>
            </a:r>
            <a:endParaRPr lang="en-IN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7ECC8A-924A-4BAC-ACDB-624E7579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The vanishing gradient problem</a:t>
            </a:r>
            <a:endParaRPr lang="en-IN" sz="3600" dirty="0">
              <a:latin typeface="Century" panose="02040604050505020304" pitchFamily="18" charset="0"/>
            </a:endParaRPr>
          </a:p>
        </p:txBody>
      </p:sp>
      <p:cxnSp>
        <p:nvCxnSpPr>
          <p:cNvPr id="5" name="Elbow Connector 9">
            <a:extLst>
              <a:ext uri="{FF2B5EF4-FFF2-40B4-BE49-F238E27FC236}">
                <a16:creationId xmlns:a16="http://schemas.microsoft.com/office/drawing/2014/main" id="{F984C9E5-F1D7-4737-99D4-649C5CD221BD}"/>
              </a:ext>
            </a:extLst>
          </p:cNvPr>
          <p:cNvCxnSpPr/>
          <p:nvPr/>
        </p:nvCxnSpPr>
        <p:spPr>
          <a:xfrm>
            <a:off x="8797633" y="1435178"/>
            <a:ext cx="2032289" cy="1868344"/>
          </a:xfrm>
          <a:prstGeom prst="bentConnector3">
            <a:avLst>
              <a:gd name="adj1" fmla="val 7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174074-B51C-41AE-8BC5-4A6E0E4F20F3}"/>
              </a:ext>
            </a:extLst>
          </p:cNvPr>
          <p:cNvSpPr txBox="1"/>
          <p:nvPr/>
        </p:nvSpPr>
        <p:spPr>
          <a:xfrm>
            <a:off x="8797633" y="3346602"/>
            <a:ext cx="1933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latin typeface="Arial Narrow" panose="020B0606020202030204" pitchFamily="34" charset="0"/>
              </a:rPr>
              <a:t>n       . . . .      3 2 1</a:t>
            </a:r>
          </a:p>
          <a:p>
            <a:pPr algn="ctr"/>
            <a:r>
              <a:rPr lang="en-IN" sz="2000" b="1" i="1" dirty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38685-F087-434A-981E-D0EFF73AFB13}"/>
              </a:ext>
            </a:extLst>
          </p:cNvPr>
          <p:cNvSpPr txBox="1"/>
          <p:nvPr/>
        </p:nvSpPr>
        <p:spPr>
          <a:xfrm rot="16200000">
            <a:off x="7822099" y="2296892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i="1" dirty="0">
                <a:latin typeface="Arial Narrow" panose="020B0606020202030204" pitchFamily="34" charset="0"/>
              </a:rPr>
              <a:t>Gradient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180E58-6E8F-4363-B99E-8096DAEA85F6}"/>
              </a:ext>
            </a:extLst>
          </p:cNvPr>
          <p:cNvGrpSpPr/>
          <p:nvPr/>
        </p:nvGrpSpPr>
        <p:grpSpPr>
          <a:xfrm>
            <a:off x="8134095" y="4320483"/>
            <a:ext cx="3743210" cy="1655410"/>
            <a:chOff x="3510684" y="3387147"/>
            <a:chExt cx="3743210" cy="1655410"/>
          </a:xfrm>
        </p:grpSpPr>
        <p:sp>
          <p:nvSpPr>
            <p:cNvPr id="9" name="Right Arrow 28">
              <a:extLst>
                <a:ext uri="{FF2B5EF4-FFF2-40B4-BE49-F238E27FC236}">
                  <a16:creationId xmlns:a16="http://schemas.microsoft.com/office/drawing/2014/main" id="{1EEC00C4-4322-4108-AED4-EF3AA9ADB289}"/>
                </a:ext>
              </a:extLst>
            </p:cNvPr>
            <p:cNvSpPr/>
            <p:nvPr/>
          </p:nvSpPr>
          <p:spPr>
            <a:xfrm>
              <a:off x="5643861" y="4099998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ight Arrow 29">
              <a:extLst>
                <a:ext uri="{FF2B5EF4-FFF2-40B4-BE49-F238E27FC236}">
                  <a16:creationId xmlns:a16="http://schemas.microsoft.com/office/drawing/2014/main" id="{A7C4AD18-18DC-4AD4-9B75-A3ED6550959B}"/>
                </a:ext>
              </a:extLst>
            </p:cNvPr>
            <p:cNvSpPr/>
            <p:nvPr/>
          </p:nvSpPr>
          <p:spPr>
            <a:xfrm>
              <a:off x="4816883" y="4078287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ight Arrow 30">
              <a:extLst>
                <a:ext uri="{FF2B5EF4-FFF2-40B4-BE49-F238E27FC236}">
                  <a16:creationId xmlns:a16="http://schemas.microsoft.com/office/drawing/2014/main" id="{4193BDA5-4B1E-4DC7-BBB3-3233921AB2C0}"/>
                </a:ext>
              </a:extLst>
            </p:cNvPr>
            <p:cNvSpPr/>
            <p:nvPr/>
          </p:nvSpPr>
          <p:spPr>
            <a:xfrm>
              <a:off x="3971758" y="4078287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E187CC0-D408-4B49-A89C-39D92519FFA8}"/>
                </a:ext>
              </a:extLst>
            </p:cNvPr>
            <p:cNvSpPr/>
            <p:nvPr/>
          </p:nvSpPr>
          <p:spPr>
            <a:xfrm>
              <a:off x="3603049" y="3425823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1CB80A-485A-4281-B878-053D2FF58EE1}"/>
                </a:ext>
              </a:extLst>
            </p:cNvPr>
            <p:cNvSpPr/>
            <p:nvPr/>
          </p:nvSpPr>
          <p:spPr>
            <a:xfrm>
              <a:off x="3603049" y="3834994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EF1716F-ADBE-4526-8DF1-224E86547221}"/>
                </a:ext>
              </a:extLst>
            </p:cNvPr>
            <p:cNvSpPr/>
            <p:nvPr/>
          </p:nvSpPr>
          <p:spPr>
            <a:xfrm>
              <a:off x="3603049" y="4244165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A14FEBA-029F-4872-BB92-8E9CF1BDEE06}"/>
                </a:ext>
              </a:extLst>
            </p:cNvPr>
            <p:cNvSpPr/>
            <p:nvPr/>
          </p:nvSpPr>
          <p:spPr>
            <a:xfrm>
              <a:off x="3595279" y="4667295"/>
              <a:ext cx="276344" cy="326415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3ACBFB-7CED-4FCF-9E25-CB0C62584E8B}"/>
                </a:ext>
              </a:extLst>
            </p:cNvPr>
            <p:cNvSpPr/>
            <p:nvPr/>
          </p:nvSpPr>
          <p:spPr>
            <a:xfrm>
              <a:off x="3510684" y="3387147"/>
              <a:ext cx="433187" cy="165541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E4114D5-8B6C-4190-84DA-29C35D0E2C6A}"/>
                </a:ext>
              </a:extLst>
            </p:cNvPr>
            <p:cNvSpPr/>
            <p:nvPr/>
          </p:nvSpPr>
          <p:spPr>
            <a:xfrm>
              <a:off x="4443324" y="3620881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8934C13-B3D0-4F46-BE77-6DD930F69EFD}"/>
                </a:ext>
              </a:extLst>
            </p:cNvPr>
            <p:cNvSpPr/>
            <p:nvPr/>
          </p:nvSpPr>
          <p:spPr>
            <a:xfrm>
              <a:off x="4425519" y="4525902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5DAA402-01F5-4159-A29A-5A8B976A9086}"/>
                </a:ext>
              </a:extLst>
            </p:cNvPr>
            <p:cNvSpPr/>
            <p:nvPr/>
          </p:nvSpPr>
          <p:spPr>
            <a:xfrm>
              <a:off x="4346343" y="3564370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F8CA8DA-CA51-4421-AAB3-363AE3B03A2F}"/>
                </a:ext>
              </a:extLst>
            </p:cNvPr>
            <p:cNvSpPr/>
            <p:nvPr/>
          </p:nvSpPr>
          <p:spPr>
            <a:xfrm>
              <a:off x="4418699" y="4073391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0DC1E3-926B-4724-AD3C-4D2A53DAA86C}"/>
                </a:ext>
              </a:extLst>
            </p:cNvPr>
            <p:cNvSpPr/>
            <p:nvPr/>
          </p:nvSpPr>
          <p:spPr>
            <a:xfrm>
              <a:off x="5290009" y="361588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D608B69-E0A3-43BC-AED4-EC3C47240BC8}"/>
                </a:ext>
              </a:extLst>
            </p:cNvPr>
            <p:cNvSpPr/>
            <p:nvPr/>
          </p:nvSpPr>
          <p:spPr>
            <a:xfrm>
              <a:off x="5272204" y="4520907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89B6C1-FBFF-4D95-A892-BED37B40DA59}"/>
                </a:ext>
              </a:extLst>
            </p:cNvPr>
            <p:cNvSpPr/>
            <p:nvPr/>
          </p:nvSpPr>
          <p:spPr>
            <a:xfrm>
              <a:off x="5193028" y="3559375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FA54E1E-1994-4FE2-906D-F405F31C8A8B}"/>
                </a:ext>
              </a:extLst>
            </p:cNvPr>
            <p:cNvSpPr/>
            <p:nvPr/>
          </p:nvSpPr>
          <p:spPr>
            <a:xfrm>
              <a:off x="5265384" y="406839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ight Arrow 44">
              <a:extLst>
                <a:ext uri="{FF2B5EF4-FFF2-40B4-BE49-F238E27FC236}">
                  <a16:creationId xmlns:a16="http://schemas.microsoft.com/office/drawing/2014/main" id="{C421E099-580B-4994-8E01-D4C8DC96C103}"/>
                </a:ext>
              </a:extLst>
            </p:cNvPr>
            <p:cNvSpPr/>
            <p:nvPr/>
          </p:nvSpPr>
          <p:spPr>
            <a:xfrm>
              <a:off x="6457548" y="4115063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C5382DD-51E0-40CC-8A31-FAAE62E97563}"/>
                </a:ext>
              </a:extLst>
            </p:cNvPr>
            <p:cNvSpPr/>
            <p:nvPr/>
          </p:nvSpPr>
          <p:spPr>
            <a:xfrm>
              <a:off x="6101007" y="361588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047155-1EB5-451F-876D-C94F130E627F}"/>
                </a:ext>
              </a:extLst>
            </p:cNvPr>
            <p:cNvSpPr/>
            <p:nvPr/>
          </p:nvSpPr>
          <p:spPr>
            <a:xfrm>
              <a:off x="6083202" y="4520907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D17B703-CC9F-4499-8377-DF106B64D391}"/>
                </a:ext>
              </a:extLst>
            </p:cNvPr>
            <p:cNvSpPr/>
            <p:nvPr/>
          </p:nvSpPr>
          <p:spPr>
            <a:xfrm>
              <a:off x="6004026" y="3559375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550C02-38A4-4172-8C05-3FB7C31C205C}"/>
                </a:ext>
              </a:extLst>
            </p:cNvPr>
            <p:cNvSpPr/>
            <p:nvPr/>
          </p:nvSpPr>
          <p:spPr>
            <a:xfrm>
              <a:off x="6076382" y="406839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0234DF7-A6C9-411C-9E81-8A3DFAA9C519}"/>
                </a:ext>
              </a:extLst>
            </p:cNvPr>
            <p:cNvSpPr/>
            <p:nvPr/>
          </p:nvSpPr>
          <p:spPr>
            <a:xfrm>
              <a:off x="6917688" y="361588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D3FBB0E-9ED0-460B-A6AE-E7E606269EE1}"/>
                </a:ext>
              </a:extLst>
            </p:cNvPr>
            <p:cNvSpPr/>
            <p:nvPr/>
          </p:nvSpPr>
          <p:spPr>
            <a:xfrm>
              <a:off x="6899883" y="4520907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884E82-21DC-4AE3-8AFE-6E8370ECBA32}"/>
                </a:ext>
              </a:extLst>
            </p:cNvPr>
            <p:cNvSpPr/>
            <p:nvPr/>
          </p:nvSpPr>
          <p:spPr>
            <a:xfrm>
              <a:off x="6820707" y="3559375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9B835BB-6AE5-410A-BAA5-A2D8D81AB992}"/>
                </a:ext>
              </a:extLst>
            </p:cNvPr>
            <p:cNvSpPr/>
            <p:nvPr/>
          </p:nvSpPr>
          <p:spPr>
            <a:xfrm>
              <a:off x="6893063" y="406839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4605CC9A-7E5E-4A7B-8A26-D40123720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956" y="1709812"/>
            <a:ext cx="1790950" cy="16385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3023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ounded Rectangle 51"/>
          <p:cNvSpPr/>
          <p:nvPr/>
        </p:nvSpPr>
        <p:spPr>
          <a:xfrm>
            <a:off x="4452408" y="4984491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ounded Rectangle 42"/>
          <p:cNvSpPr/>
          <p:nvPr/>
        </p:nvSpPr>
        <p:spPr>
          <a:xfrm>
            <a:off x="4412603" y="393034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4412603" y="316834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4406688" y="1120239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4406688" y="1837789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7443452" y="4530413"/>
            <a:ext cx="3800475" cy="1118394"/>
          </a:xfrm>
          <a:prstGeom prst="roundRect">
            <a:avLst/>
          </a:prstGeom>
          <a:solidFill>
            <a:schemeClr val="accent3">
              <a:lumMod val="60000"/>
              <a:lumOff val="40000"/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637" y="69562"/>
            <a:ext cx="6513945" cy="7340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Backpropagation :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4528493" y="1176482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/>
          <p:cNvSpPr/>
          <p:nvPr/>
        </p:nvSpPr>
        <p:spPr>
          <a:xfrm>
            <a:off x="5445202" y="1170130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6330161" y="1170130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5067386" y="134006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5233722" y="134006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5968856" y="132736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6135192" y="132736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/>
          <p:cNvSpPr/>
          <p:nvPr/>
        </p:nvSpPr>
        <p:spPr>
          <a:xfrm>
            <a:off x="4528493" y="1894032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5445202" y="1887680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/>
          <p:cNvSpPr/>
          <p:nvPr/>
        </p:nvSpPr>
        <p:spPr>
          <a:xfrm>
            <a:off x="6330161" y="1887680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9"/>
          <p:cNvSpPr/>
          <p:nvPr/>
        </p:nvSpPr>
        <p:spPr>
          <a:xfrm>
            <a:off x="5067386" y="205761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ounded Rectangle 30"/>
          <p:cNvSpPr/>
          <p:nvPr/>
        </p:nvSpPr>
        <p:spPr>
          <a:xfrm>
            <a:off x="5233722" y="205761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5968856" y="204491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6135192" y="2044917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Down Arrow 33"/>
          <p:cNvSpPr/>
          <p:nvPr/>
        </p:nvSpPr>
        <p:spPr>
          <a:xfrm>
            <a:off x="5519207" y="1582974"/>
            <a:ext cx="175261" cy="2463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/>
          <p:cNvSpPr/>
          <p:nvPr/>
        </p:nvSpPr>
        <p:spPr>
          <a:xfrm>
            <a:off x="4471278" y="322458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5073301" y="33881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ounded Rectangle 39"/>
          <p:cNvSpPr/>
          <p:nvPr/>
        </p:nvSpPr>
        <p:spPr>
          <a:xfrm>
            <a:off x="5239637" y="33881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ounded Rectangle 40"/>
          <p:cNvSpPr/>
          <p:nvPr/>
        </p:nvSpPr>
        <p:spPr>
          <a:xfrm>
            <a:off x="5974771" y="33754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ounded Rectangle 41"/>
          <p:cNvSpPr/>
          <p:nvPr/>
        </p:nvSpPr>
        <p:spPr>
          <a:xfrm>
            <a:off x="6141107" y="33754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ounded Rectangle 46"/>
          <p:cNvSpPr/>
          <p:nvPr/>
        </p:nvSpPr>
        <p:spPr>
          <a:xfrm>
            <a:off x="5073301" y="41501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ounded Rectangle 47"/>
          <p:cNvSpPr/>
          <p:nvPr/>
        </p:nvSpPr>
        <p:spPr>
          <a:xfrm>
            <a:off x="5239637" y="41501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ounded Rectangle 48"/>
          <p:cNvSpPr/>
          <p:nvPr/>
        </p:nvSpPr>
        <p:spPr>
          <a:xfrm>
            <a:off x="5974771" y="41374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ounded Rectangle 49"/>
          <p:cNvSpPr/>
          <p:nvPr/>
        </p:nvSpPr>
        <p:spPr>
          <a:xfrm>
            <a:off x="6141107" y="413747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Down Arrow 50"/>
          <p:cNvSpPr/>
          <p:nvPr/>
        </p:nvSpPr>
        <p:spPr>
          <a:xfrm>
            <a:off x="5540362" y="3631078"/>
            <a:ext cx="175261" cy="274264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/>
          <p:cNvSpPr/>
          <p:nvPr/>
        </p:nvSpPr>
        <p:spPr>
          <a:xfrm>
            <a:off x="4574213" y="5040734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5490922" y="5034382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375881" y="5034382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113106" y="5204319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ounded Rectangle 56"/>
          <p:cNvSpPr/>
          <p:nvPr/>
        </p:nvSpPr>
        <p:spPr>
          <a:xfrm>
            <a:off x="5279442" y="5204319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6014576" y="5191619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ounded Rectangle 58"/>
          <p:cNvSpPr/>
          <p:nvPr/>
        </p:nvSpPr>
        <p:spPr>
          <a:xfrm>
            <a:off x="6180912" y="5191619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ounded Rectangle 59"/>
          <p:cNvSpPr/>
          <p:nvPr/>
        </p:nvSpPr>
        <p:spPr>
          <a:xfrm>
            <a:off x="5578290" y="2546934"/>
            <a:ext cx="50966" cy="487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5578290" y="2698971"/>
            <a:ext cx="50966" cy="487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ounded Rectangle 61"/>
          <p:cNvSpPr/>
          <p:nvPr/>
        </p:nvSpPr>
        <p:spPr>
          <a:xfrm>
            <a:off x="5584004" y="2855552"/>
            <a:ext cx="50966" cy="487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Down Arrow 62"/>
          <p:cNvSpPr/>
          <p:nvPr/>
        </p:nvSpPr>
        <p:spPr>
          <a:xfrm>
            <a:off x="5519205" y="2293578"/>
            <a:ext cx="175261" cy="2463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Down Arrow 63"/>
          <p:cNvSpPr/>
          <p:nvPr/>
        </p:nvSpPr>
        <p:spPr>
          <a:xfrm>
            <a:off x="5520157" y="2906046"/>
            <a:ext cx="175261" cy="2463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Down Arrow 64"/>
          <p:cNvSpPr/>
          <p:nvPr/>
        </p:nvSpPr>
        <p:spPr>
          <a:xfrm>
            <a:off x="5525122" y="4391269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Down Arrow 65"/>
          <p:cNvSpPr/>
          <p:nvPr/>
        </p:nvSpPr>
        <p:spPr>
          <a:xfrm>
            <a:off x="5516142" y="707673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BCB6762-58BF-4917-90BC-12BB4CB80FF9}"/>
                  </a:ext>
                </a:extLst>
              </p:cNvPr>
              <p:cNvSpPr/>
              <p:nvPr/>
            </p:nvSpPr>
            <p:spPr>
              <a:xfrm>
                <a:off x="7269361" y="1388767"/>
                <a:ext cx="4395242" cy="57310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36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BCB6762-58BF-4917-90BC-12BB4CB80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361" y="1388767"/>
                <a:ext cx="4395242" cy="573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42FCB87-D051-4C84-A426-ABD357AD4499}"/>
                  </a:ext>
                </a:extLst>
              </p:cNvPr>
              <p:cNvSpPr/>
              <p:nvPr/>
            </p:nvSpPr>
            <p:spPr>
              <a:xfrm>
                <a:off x="7216702" y="3424171"/>
                <a:ext cx="3663054" cy="710644"/>
              </a:xfrm>
              <a:prstGeom prst="rect">
                <a:avLst/>
              </a:prstGeom>
              <a:solidFill>
                <a:srgbClr val="FFFF00">
                  <a:alpha val="51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42FCB87-D051-4C84-A426-ABD357AD44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702" y="3424171"/>
                <a:ext cx="3663054" cy="7106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871A56DB-2D74-42A1-A62D-6454818B978D}"/>
                  </a:ext>
                </a:extLst>
              </p:cNvPr>
              <p:cNvSpPr/>
              <p:nvPr/>
            </p:nvSpPr>
            <p:spPr>
              <a:xfrm>
                <a:off x="31481" y="2436768"/>
                <a:ext cx="3741537" cy="573106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  <a:alpha val="26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871A56DB-2D74-42A1-A62D-6454818B9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1" y="2436768"/>
                <a:ext cx="3741537" cy="5731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AA384B1-0617-BDFC-5F76-4C3B2DD57B62}"/>
                  </a:ext>
                </a:extLst>
              </p:cNvPr>
              <p:cNvSpPr/>
              <p:nvPr/>
            </p:nvSpPr>
            <p:spPr>
              <a:xfrm>
                <a:off x="1446966" y="4412167"/>
                <a:ext cx="2189574" cy="632417"/>
              </a:xfrm>
              <a:prstGeom prst="rect">
                <a:avLst/>
              </a:prstGeom>
              <a:solidFill>
                <a:schemeClr val="accent1">
                  <a:alpha val="58000"/>
                </a:schemeClr>
              </a:solidFill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6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6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6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600" b="1" dirty="0"/>
              </a:p>
            </p:txBody>
          </p:sp>
        </mc:Choice>
        <mc:Fallback xmlns=""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AA384B1-0617-BDFC-5F76-4C3B2DD57B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966" y="4412167"/>
                <a:ext cx="2189574" cy="6324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6681356" y="557458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356" y="5574582"/>
                <a:ext cx="600870" cy="537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Down Arrow 114"/>
          <p:cNvSpPr/>
          <p:nvPr/>
        </p:nvSpPr>
        <p:spPr>
          <a:xfrm>
            <a:off x="5561862" y="5448343"/>
            <a:ext cx="175261" cy="246380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4675962" y="553662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6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962" y="5536623"/>
                <a:ext cx="1844168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90">
            <a:extLst>
              <a:ext uri="{FF2B5EF4-FFF2-40B4-BE49-F238E27FC236}">
                <a16:creationId xmlns:a16="http://schemas.microsoft.com/office/drawing/2014/main" id="{70457DF1-0375-A88F-9692-486C3E81F8D3}"/>
              </a:ext>
            </a:extLst>
          </p:cNvPr>
          <p:cNvSpPr txBox="1"/>
          <p:nvPr/>
        </p:nvSpPr>
        <p:spPr>
          <a:xfrm>
            <a:off x="2599028" y="6250107"/>
            <a:ext cx="71232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Narrow" panose="020B0606020202030204" pitchFamily="34" charset="0"/>
              </a:rPr>
              <a:t>Weight Updation in a Backward direction (Backpropagation) using 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97">
                <a:extLst>
                  <a:ext uri="{FF2B5EF4-FFF2-40B4-BE49-F238E27FC236}">
                    <a16:creationId xmlns:a16="http://schemas.microsoft.com/office/drawing/2014/main" id="{D0720F64-0CFB-E7AE-5264-10505D1DADBE}"/>
                  </a:ext>
                </a:extLst>
              </p:cNvPr>
              <p:cNvSpPr txBox="1"/>
              <p:nvPr/>
            </p:nvSpPr>
            <p:spPr>
              <a:xfrm>
                <a:off x="7632381" y="4793566"/>
                <a:ext cx="3419269" cy="5734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𝑒𝑖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+1)=</m:t>
                      </m:r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𝑒𝑖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8" name="TextBox 97">
                <a:extLst>
                  <a:ext uri="{FF2B5EF4-FFF2-40B4-BE49-F238E27FC236}">
                    <a16:creationId xmlns:a16="http://schemas.microsoft.com/office/drawing/2014/main" id="{D0720F64-0CFB-E7AE-5264-10505D1DA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381" y="4793566"/>
                <a:ext cx="3419269" cy="5734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30833" y="1187906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833" y="1187906"/>
                <a:ext cx="380938" cy="276999"/>
              </a:xfrm>
              <a:prstGeom prst="rect">
                <a:avLst/>
              </a:prstGeom>
              <a:blipFill>
                <a:blip r:embed="rId9"/>
                <a:stretch>
                  <a:fillRect l="-15873" r="-476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5458671" y="1182168"/>
                <a:ext cx="3795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71" y="1182168"/>
                <a:ext cx="379591" cy="276999"/>
              </a:xfrm>
              <a:prstGeom prst="rect">
                <a:avLst/>
              </a:prstGeom>
              <a:blipFill>
                <a:blip r:embed="rId10"/>
                <a:stretch>
                  <a:fillRect l="-14286" r="-476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322158" y="1192070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158" y="1192070"/>
                <a:ext cx="395045" cy="276999"/>
              </a:xfrm>
              <a:prstGeom prst="rect">
                <a:avLst/>
              </a:prstGeom>
              <a:blipFill>
                <a:blip r:embed="rId11"/>
                <a:stretch>
                  <a:fillRect l="-13846" r="-615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529363" y="1902884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363" y="1902884"/>
                <a:ext cx="386260" cy="276999"/>
              </a:xfrm>
              <a:prstGeom prst="rect">
                <a:avLst/>
              </a:prstGeom>
              <a:blipFill>
                <a:blip r:embed="rId12"/>
                <a:stretch>
                  <a:fillRect l="-14286" r="-793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438057" y="1918443"/>
                <a:ext cx="3849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057" y="1918443"/>
                <a:ext cx="384914" cy="276999"/>
              </a:xfrm>
              <a:prstGeom prst="rect">
                <a:avLst/>
              </a:prstGeom>
              <a:blipFill>
                <a:blip r:embed="rId13"/>
                <a:stretch>
                  <a:fillRect l="-14286" r="-634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14565" y="1899331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565" y="1899331"/>
                <a:ext cx="400366" cy="276999"/>
              </a:xfrm>
              <a:prstGeom prst="rect">
                <a:avLst/>
              </a:prstGeom>
              <a:blipFill>
                <a:blip r:embed="rId14"/>
                <a:stretch>
                  <a:fillRect l="-13636" r="-4545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033678" y="1187906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678" y="1187906"/>
                <a:ext cx="283154" cy="276999"/>
              </a:xfrm>
              <a:prstGeom prst="rect">
                <a:avLst/>
              </a:prstGeom>
              <a:blipFill>
                <a:blip r:embed="rId15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4056627" y="1906417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627" y="1906417"/>
                <a:ext cx="288477" cy="276999"/>
              </a:xfrm>
              <a:prstGeom prst="rect">
                <a:avLst/>
              </a:prstGeom>
              <a:blipFill>
                <a:blip r:embed="rId16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917617" y="3236648"/>
                <a:ext cx="517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617" y="3236648"/>
                <a:ext cx="517834" cy="276999"/>
              </a:xfrm>
              <a:prstGeom prst="rect">
                <a:avLst/>
              </a:prstGeom>
              <a:blipFill>
                <a:blip r:embed="rId17"/>
                <a:stretch>
                  <a:fillRect l="-10588" r="-3529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Oval 92"/>
          <p:cNvSpPr/>
          <p:nvPr/>
        </p:nvSpPr>
        <p:spPr>
          <a:xfrm>
            <a:off x="6275786" y="322935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Oval 93"/>
          <p:cNvSpPr/>
          <p:nvPr/>
        </p:nvSpPr>
        <p:spPr>
          <a:xfrm>
            <a:off x="5376165" y="322458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Oval 94"/>
          <p:cNvSpPr/>
          <p:nvPr/>
        </p:nvSpPr>
        <p:spPr>
          <a:xfrm>
            <a:off x="4510690" y="3978151"/>
            <a:ext cx="50432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Oval 95"/>
          <p:cNvSpPr/>
          <p:nvPr/>
        </p:nvSpPr>
        <p:spPr>
          <a:xfrm>
            <a:off x="6270739" y="3982921"/>
            <a:ext cx="51472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Oval 96"/>
          <p:cNvSpPr/>
          <p:nvPr/>
        </p:nvSpPr>
        <p:spPr>
          <a:xfrm>
            <a:off x="5371116" y="3978151"/>
            <a:ext cx="521897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473746" y="3271336"/>
                <a:ext cx="47455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−11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746" y="3271336"/>
                <a:ext cx="474553" cy="215444"/>
              </a:xfrm>
              <a:prstGeom prst="rect">
                <a:avLst/>
              </a:prstGeom>
              <a:blipFill>
                <a:blip r:embed="rId18"/>
                <a:stretch>
                  <a:fillRect l="-8974" r="-1282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5389585" y="3271439"/>
                <a:ext cx="47371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585" y="3271439"/>
                <a:ext cx="473719" cy="215444"/>
              </a:xfrm>
              <a:prstGeom prst="rect">
                <a:avLst/>
              </a:prstGeom>
              <a:blipFill>
                <a:blip r:embed="rId19"/>
                <a:stretch>
                  <a:fillRect l="-7692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6277146" y="3284036"/>
                <a:ext cx="48641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146" y="3284036"/>
                <a:ext cx="486415" cy="215444"/>
              </a:xfrm>
              <a:prstGeom prst="rect">
                <a:avLst/>
              </a:prstGeom>
              <a:blipFill>
                <a:blip r:embed="rId20"/>
                <a:stretch>
                  <a:fillRect l="-8750" r="-1250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4098392" y="4007584"/>
                <a:ext cx="298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92" y="4007584"/>
                <a:ext cx="298222" cy="276999"/>
              </a:xfrm>
              <a:prstGeom prst="rect">
                <a:avLst/>
              </a:prstGeom>
              <a:blipFill>
                <a:blip r:embed="rId21"/>
                <a:stretch>
                  <a:fillRect l="-20408" r="-612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4570710" y="3995418"/>
                <a:ext cx="3910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710" y="3995418"/>
                <a:ext cx="391069" cy="276999"/>
              </a:xfrm>
              <a:prstGeom prst="rect">
                <a:avLst/>
              </a:prstGeom>
              <a:blipFill>
                <a:blip r:embed="rId22"/>
                <a:stretch>
                  <a:fillRect l="-14063" r="-781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5472794" y="3989528"/>
                <a:ext cx="3897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794" y="3989528"/>
                <a:ext cx="389722" cy="276999"/>
              </a:xfrm>
              <a:prstGeom prst="rect">
                <a:avLst/>
              </a:prstGeom>
              <a:blipFill>
                <a:blip r:embed="rId23"/>
                <a:stretch>
                  <a:fillRect l="-1406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6358488" y="3994978"/>
                <a:ext cx="4051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488" y="3994978"/>
                <a:ext cx="405176" cy="276999"/>
              </a:xfrm>
              <a:prstGeom prst="rect">
                <a:avLst/>
              </a:prstGeom>
              <a:blipFill>
                <a:blip r:embed="rId24"/>
                <a:stretch>
                  <a:fillRect l="-13433" r="-597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4633548" y="5060598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48" y="5060598"/>
                <a:ext cx="256480" cy="276999"/>
              </a:xfrm>
              <a:prstGeom prst="rect">
                <a:avLst/>
              </a:prstGeom>
              <a:blipFill>
                <a:blip r:embed="rId25"/>
                <a:stretch>
                  <a:fillRect l="-21429" r="-952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6437190" y="5040734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190" y="5040734"/>
                <a:ext cx="271869" cy="298415"/>
              </a:xfrm>
              <a:prstGeom prst="rect">
                <a:avLst/>
              </a:prstGeom>
              <a:blipFill>
                <a:blip r:embed="rId26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5546313" y="5066048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313" y="5066048"/>
                <a:ext cx="261802" cy="276999"/>
              </a:xfrm>
              <a:prstGeom prst="rect">
                <a:avLst/>
              </a:prstGeom>
              <a:blipFill>
                <a:blip r:embed="rId27"/>
                <a:stretch>
                  <a:fillRect l="-23256" r="-697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5808115" y="723440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115" y="723440"/>
                <a:ext cx="444352" cy="300788"/>
              </a:xfrm>
              <a:prstGeom prst="rect">
                <a:avLst/>
              </a:prstGeom>
              <a:blipFill>
                <a:blip r:embed="rId28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5822971" y="1523071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71" y="1523071"/>
                <a:ext cx="444352" cy="300788"/>
              </a:xfrm>
              <a:prstGeom prst="rect">
                <a:avLst/>
              </a:prstGeom>
              <a:blipFill>
                <a:blip r:embed="rId29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5812872" y="2256969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872" y="2256969"/>
                <a:ext cx="444352" cy="302070"/>
              </a:xfrm>
              <a:prstGeom prst="rect">
                <a:avLst/>
              </a:prstGeom>
              <a:blipFill>
                <a:blip r:embed="rId30"/>
                <a:stretch>
                  <a:fillRect l="-12500" r="-138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5772163" y="2838787"/>
                <a:ext cx="638316" cy="3030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163" y="2838787"/>
                <a:ext cx="638316" cy="303096"/>
              </a:xfrm>
              <a:prstGeom prst="rect">
                <a:avLst/>
              </a:prstGeom>
              <a:blipFill>
                <a:blip r:embed="rId31"/>
                <a:stretch>
                  <a:fillRect l="-8571" b="-18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5808115" y="3602246"/>
                <a:ext cx="452367" cy="3030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115" y="3602246"/>
                <a:ext cx="452367" cy="303096"/>
              </a:xfrm>
              <a:prstGeom prst="rect">
                <a:avLst/>
              </a:prstGeom>
              <a:blipFill>
                <a:blip r:embed="rId32"/>
                <a:stretch>
                  <a:fillRect l="-12162" r="-2703" b="-1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5877806" y="4542402"/>
                <a:ext cx="360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6" y="4542402"/>
                <a:ext cx="360932" cy="276999"/>
              </a:xfrm>
              <a:prstGeom prst="rect">
                <a:avLst/>
              </a:prstGeom>
              <a:blipFill>
                <a:blip r:embed="rId33"/>
                <a:stretch>
                  <a:fillRect l="-13559" r="-678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944388FE-1BB8-4BEB-98FA-0FD9D8991589}"/>
              </a:ext>
            </a:extLst>
          </p:cNvPr>
          <p:cNvSpPr/>
          <p:nvPr/>
        </p:nvSpPr>
        <p:spPr>
          <a:xfrm rot="16200000">
            <a:off x="3415522" y="4643866"/>
            <a:ext cx="1102852" cy="351070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urved Up 14">
            <a:extLst>
              <a:ext uri="{FF2B5EF4-FFF2-40B4-BE49-F238E27FC236}">
                <a16:creationId xmlns:a16="http://schemas.microsoft.com/office/drawing/2014/main" id="{4E766560-710B-4BC2-909A-7721E90DE976}"/>
              </a:ext>
            </a:extLst>
          </p:cNvPr>
          <p:cNvSpPr/>
          <p:nvPr/>
        </p:nvSpPr>
        <p:spPr>
          <a:xfrm rot="16200000">
            <a:off x="6460856" y="3627299"/>
            <a:ext cx="1020983" cy="269811"/>
          </a:xfrm>
          <a:prstGeom prst="curved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9" name="Arrow: Curved Down 98">
            <a:extLst>
              <a:ext uri="{FF2B5EF4-FFF2-40B4-BE49-F238E27FC236}">
                <a16:creationId xmlns:a16="http://schemas.microsoft.com/office/drawing/2014/main" id="{31B666FF-1EF6-4436-AC71-49A78928ADC0}"/>
              </a:ext>
            </a:extLst>
          </p:cNvPr>
          <p:cNvSpPr/>
          <p:nvPr/>
        </p:nvSpPr>
        <p:spPr>
          <a:xfrm rot="16200000">
            <a:off x="3397127" y="2522371"/>
            <a:ext cx="1102852" cy="351070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2" name="Arrow: Curved Up 101">
            <a:extLst>
              <a:ext uri="{FF2B5EF4-FFF2-40B4-BE49-F238E27FC236}">
                <a16:creationId xmlns:a16="http://schemas.microsoft.com/office/drawing/2014/main" id="{F7E63DEB-EE9A-465C-A4B7-327A9B21053C}"/>
              </a:ext>
            </a:extLst>
          </p:cNvPr>
          <p:cNvSpPr/>
          <p:nvPr/>
        </p:nvSpPr>
        <p:spPr>
          <a:xfrm rot="16200000">
            <a:off x="6488779" y="1574870"/>
            <a:ext cx="1020983" cy="269811"/>
          </a:xfrm>
          <a:prstGeom prst="curved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50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own Arrow 43"/>
          <p:cNvSpPr/>
          <p:nvPr/>
        </p:nvSpPr>
        <p:spPr>
          <a:xfrm>
            <a:off x="5556633" y="301892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461" y="251398"/>
            <a:ext cx="10515600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0950" y="457659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450949" y="351700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4427278" y="164402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4427278" y="255334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4549083" y="170026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5465792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6350751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5087976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5254312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5989446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6155782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4549083" y="260958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5465792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6350751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ounded Rectangle 18"/>
          <p:cNvSpPr/>
          <p:nvPr/>
        </p:nvSpPr>
        <p:spPr>
          <a:xfrm>
            <a:off x="5087976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5254312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5989446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6155782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5539797" y="210675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4509624" y="357324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5111647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5277983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6013117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6179453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/>
          <p:cNvSpPr/>
          <p:nvPr/>
        </p:nvSpPr>
        <p:spPr>
          <a:xfrm>
            <a:off x="4604765" y="463283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521474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06433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143658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ounded Rectangle 37"/>
          <p:cNvSpPr/>
          <p:nvPr/>
        </p:nvSpPr>
        <p:spPr>
          <a:xfrm>
            <a:off x="5309994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6045128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ounded Rectangle 39"/>
          <p:cNvSpPr/>
          <p:nvPr/>
        </p:nvSpPr>
        <p:spPr>
          <a:xfrm>
            <a:off x="6211464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Down Arrow 45"/>
          <p:cNvSpPr/>
          <p:nvPr/>
        </p:nvSpPr>
        <p:spPr>
          <a:xfrm>
            <a:off x="5536732" y="398337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Down Arrow 46"/>
          <p:cNvSpPr/>
          <p:nvPr/>
        </p:nvSpPr>
        <p:spPr>
          <a:xfrm>
            <a:off x="5536732" y="123145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6129" r="-483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701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06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68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636" r="-606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/>
          <p:cNvSpPr/>
          <p:nvPr/>
        </p:nvSpPr>
        <p:spPr>
          <a:xfrm>
            <a:off x="6314132" y="357801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5414511" y="357324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793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1429" r="-952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3256" r="-697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5254" r="-508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Down Arrow 80"/>
          <p:cNvSpPr/>
          <p:nvPr/>
        </p:nvSpPr>
        <p:spPr>
          <a:xfrm>
            <a:off x="5521982" y="503184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872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own Arrow 43"/>
          <p:cNvSpPr/>
          <p:nvPr/>
        </p:nvSpPr>
        <p:spPr>
          <a:xfrm>
            <a:off x="5556633" y="301892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697" y="251398"/>
            <a:ext cx="10515600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0950" y="457659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450949" y="351700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4427278" y="164402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4427278" y="255334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4549083" y="170026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5465792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6350751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5087976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5254312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5989446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6155782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4549083" y="260958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5465792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6350751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ounded Rectangle 18"/>
          <p:cNvSpPr/>
          <p:nvPr/>
        </p:nvSpPr>
        <p:spPr>
          <a:xfrm>
            <a:off x="5087976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5254312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5989446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6155782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5539797" y="210675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4509624" y="357324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5111647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5277983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6013117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6179453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/>
          <p:cNvSpPr/>
          <p:nvPr/>
        </p:nvSpPr>
        <p:spPr>
          <a:xfrm>
            <a:off x="4604765" y="463283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5521474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06433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143658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ounded Rectangle 37"/>
          <p:cNvSpPr/>
          <p:nvPr/>
        </p:nvSpPr>
        <p:spPr>
          <a:xfrm>
            <a:off x="5309994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ounded Rectangle 38"/>
          <p:cNvSpPr/>
          <p:nvPr/>
        </p:nvSpPr>
        <p:spPr>
          <a:xfrm>
            <a:off x="6045128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ounded Rectangle 39"/>
          <p:cNvSpPr/>
          <p:nvPr/>
        </p:nvSpPr>
        <p:spPr>
          <a:xfrm>
            <a:off x="6211464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Down Arrow 45"/>
          <p:cNvSpPr/>
          <p:nvPr/>
        </p:nvSpPr>
        <p:spPr>
          <a:xfrm>
            <a:off x="5536732" y="398337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Down Arrow 46"/>
          <p:cNvSpPr/>
          <p:nvPr/>
        </p:nvSpPr>
        <p:spPr>
          <a:xfrm>
            <a:off x="5536732" y="123145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6129" r="-483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701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06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68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636" r="-606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/>
          <p:cNvSpPr/>
          <p:nvPr/>
        </p:nvSpPr>
        <p:spPr>
          <a:xfrm>
            <a:off x="6314132" y="357801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5414511" y="357324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793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1429" r="-952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3256" r="-697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5254" r="-508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Down Arrow 80"/>
          <p:cNvSpPr/>
          <p:nvPr/>
        </p:nvSpPr>
        <p:spPr>
          <a:xfrm>
            <a:off x="5521982" y="503184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/>
          <p:cNvSpPr/>
          <p:nvPr/>
        </p:nvSpPr>
        <p:spPr>
          <a:xfrm>
            <a:off x="4545062" y="5396361"/>
            <a:ext cx="2183128" cy="932873"/>
          </a:xfrm>
          <a:prstGeom prst="ellipse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7344428" y="1595251"/>
                <a:ext cx="1195071" cy="698653"/>
              </a:xfrm>
              <a:prstGeom prst="rect">
                <a:avLst/>
              </a:prstGeom>
              <a:solidFill>
                <a:srgbClr val="0070C0">
                  <a:alpha val="51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IN" sz="1400" b="1" i="1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428" y="1595251"/>
                <a:ext cx="1195071" cy="69865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/>
          <p:cNvSpPr/>
          <p:nvPr/>
        </p:nvSpPr>
        <p:spPr>
          <a:xfrm>
            <a:off x="3995848" y="1382119"/>
            <a:ext cx="3098371" cy="932873"/>
          </a:xfrm>
          <a:prstGeom prst="ellipse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Up Arrow 28"/>
          <p:cNvSpPr/>
          <p:nvPr/>
        </p:nvSpPr>
        <p:spPr>
          <a:xfrm>
            <a:off x="5387837" y="2321343"/>
            <a:ext cx="516589" cy="3081369"/>
          </a:xfrm>
          <a:prstGeom prst="upArrow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14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own Arrow 52"/>
          <p:cNvSpPr/>
          <p:nvPr/>
        </p:nvSpPr>
        <p:spPr>
          <a:xfrm>
            <a:off x="5556633" y="301892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itle 1"/>
          <p:cNvSpPr>
            <a:spLocks noGrp="1"/>
          </p:cNvSpPr>
          <p:nvPr>
            <p:ph type="title"/>
          </p:nvPr>
        </p:nvSpPr>
        <p:spPr>
          <a:xfrm>
            <a:off x="221461" y="251398"/>
            <a:ext cx="10515600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50950" y="457659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ounded Rectangle 55"/>
          <p:cNvSpPr/>
          <p:nvPr/>
        </p:nvSpPr>
        <p:spPr>
          <a:xfrm>
            <a:off x="4450949" y="351700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ounded Rectangle 56"/>
          <p:cNvSpPr/>
          <p:nvPr/>
        </p:nvSpPr>
        <p:spPr>
          <a:xfrm>
            <a:off x="4427278" y="164402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ounded Rectangle 57"/>
          <p:cNvSpPr/>
          <p:nvPr/>
        </p:nvSpPr>
        <p:spPr>
          <a:xfrm>
            <a:off x="4427278" y="255334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/>
          <p:cNvSpPr/>
          <p:nvPr/>
        </p:nvSpPr>
        <p:spPr>
          <a:xfrm>
            <a:off x="4549083" y="170026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0" name="Oval 59"/>
          <p:cNvSpPr/>
          <p:nvPr/>
        </p:nvSpPr>
        <p:spPr>
          <a:xfrm>
            <a:off x="5465792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Oval 60"/>
          <p:cNvSpPr/>
          <p:nvPr/>
        </p:nvSpPr>
        <p:spPr>
          <a:xfrm>
            <a:off x="6350751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ounded Rectangle 61"/>
          <p:cNvSpPr/>
          <p:nvPr/>
        </p:nvSpPr>
        <p:spPr>
          <a:xfrm>
            <a:off x="5087976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ounded Rectangle 62"/>
          <p:cNvSpPr/>
          <p:nvPr/>
        </p:nvSpPr>
        <p:spPr>
          <a:xfrm>
            <a:off x="5254312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ounded Rectangle 63"/>
          <p:cNvSpPr/>
          <p:nvPr/>
        </p:nvSpPr>
        <p:spPr>
          <a:xfrm>
            <a:off x="5989446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ounded Rectangle 64"/>
          <p:cNvSpPr/>
          <p:nvPr/>
        </p:nvSpPr>
        <p:spPr>
          <a:xfrm>
            <a:off x="6155782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/>
          <p:cNvSpPr/>
          <p:nvPr/>
        </p:nvSpPr>
        <p:spPr>
          <a:xfrm>
            <a:off x="4549083" y="260958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/>
          <p:cNvSpPr/>
          <p:nvPr/>
        </p:nvSpPr>
        <p:spPr>
          <a:xfrm>
            <a:off x="5465792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/>
          <p:cNvSpPr/>
          <p:nvPr/>
        </p:nvSpPr>
        <p:spPr>
          <a:xfrm>
            <a:off x="6350751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ounded Rectangle 68"/>
          <p:cNvSpPr/>
          <p:nvPr/>
        </p:nvSpPr>
        <p:spPr>
          <a:xfrm>
            <a:off x="5087976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ounded Rectangle 69"/>
          <p:cNvSpPr/>
          <p:nvPr/>
        </p:nvSpPr>
        <p:spPr>
          <a:xfrm>
            <a:off x="5254312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ounded Rectangle 70"/>
          <p:cNvSpPr/>
          <p:nvPr/>
        </p:nvSpPr>
        <p:spPr>
          <a:xfrm>
            <a:off x="5989446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ounded Rectangle 71"/>
          <p:cNvSpPr/>
          <p:nvPr/>
        </p:nvSpPr>
        <p:spPr>
          <a:xfrm>
            <a:off x="6155782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Down Arrow 72"/>
          <p:cNvSpPr/>
          <p:nvPr/>
        </p:nvSpPr>
        <p:spPr>
          <a:xfrm>
            <a:off x="5539797" y="210675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/>
          <p:cNvSpPr/>
          <p:nvPr/>
        </p:nvSpPr>
        <p:spPr>
          <a:xfrm>
            <a:off x="4509624" y="357324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ounded Rectangle 74"/>
          <p:cNvSpPr/>
          <p:nvPr/>
        </p:nvSpPr>
        <p:spPr>
          <a:xfrm>
            <a:off x="5111647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ounded Rectangle 75"/>
          <p:cNvSpPr/>
          <p:nvPr/>
        </p:nvSpPr>
        <p:spPr>
          <a:xfrm>
            <a:off x="5277983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ounded Rectangle 76"/>
          <p:cNvSpPr/>
          <p:nvPr/>
        </p:nvSpPr>
        <p:spPr>
          <a:xfrm>
            <a:off x="6013117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ounded Rectangle 77"/>
          <p:cNvSpPr/>
          <p:nvPr/>
        </p:nvSpPr>
        <p:spPr>
          <a:xfrm>
            <a:off x="6179453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/>
          <p:cNvSpPr/>
          <p:nvPr/>
        </p:nvSpPr>
        <p:spPr>
          <a:xfrm>
            <a:off x="4604765" y="463283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0" name="Oval 79"/>
          <p:cNvSpPr/>
          <p:nvPr/>
        </p:nvSpPr>
        <p:spPr>
          <a:xfrm>
            <a:off x="5521474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1" name="Oval 80"/>
          <p:cNvSpPr/>
          <p:nvPr/>
        </p:nvSpPr>
        <p:spPr>
          <a:xfrm>
            <a:off x="6406433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143658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ounded Rectangle 82"/>
          <p:cNvSpPr/>
          <p:nvPr/>
        </p:nvSpPr>
        <p:spPr>
          <a:xfrm>
            <a:off x="5309994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ounded Rectangle 83"/>
          <p:cNvSpPr/>
          <p:nvPr/>
        </p:nvSpPr>
        <p:spPr>
          <a:xfrm>
            <a:off x="6045128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ounded Rectangle 84"/>
          <p:cNvSpPr/>
          <p:nvPr/>
        </p:nvSpPr>
        <p:spPr>
          <a:xfrm>
            <a:off x="6211464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Down Arrow 85"/>
          <p:cNvSpPr/>
          <p:nvPr/>
        </p:nvSpPr>
        <p:spPr>
          <a:xfrm>
            <a:off x="5536732" y="398337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Down Arrow 86"/>
          <p:cNvSpPr/>
          <p:nvPr/>
        </p:nvSpPr>
        <p:spPr>
          <a:xfrm>
            <a:off x="5536732" y="123145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89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6129" r="-483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701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06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68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636" r="-606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Oval 98"/>
          <p:cNvSpPr/>
          <p:nvPr/>
        </p:nvSpPr>
        <p:spPr>
          <a:xfrm>
            <a:off x="6314132" y="357801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/>
          <p:cNvSpPr/>
          <p:nvPr/>
        </p:nvSpPr>
        <p:spPr>
          <a:xfrm>
            <a:off x="5414511" y="357324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793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1429" r="-952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3256" r="-697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5254" r="-508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Down Arrow 110"/>
          <p:cNvSpPr/>
          <p:nvPr/>
        </p:nvSpPr>
        <p:spPr>
          <a:xfrm>
            <a:off x="5521982" y="503184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Oval 111"/>
          <p:cNvSpPr/>
          <p:nvPr/>
        </p:nvSpPr>
        <p:spPr>
          <a:xfrm>
            <a:off x="4549082" y="5396361"/>
            <a:ext cx="2190367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7413393" y="2455171"/>
                <a:ext cx="2031197" cy="545534"/>
              </a:xfrm>
              <a:prstGeom prst="rect">
                <a:avLst/>
              </a:prstGeom>
              <a:solidFill>
                <a:srgbClr val="0070C0">
                  <a:alpha val="51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dirty="0"/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i="1" dirty="0"/>
              </a:p>
            </p:txBody>
          </p:sp>
        </mc:Choice>
        <mc:Fallback xmlns=""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393" y="2455171"/>
                <a:ext cx="2031197" cy="5455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Oval 113"/>
          <p:cNvSpPr/>
          <p:nvPr/>
        </p:nvSpPr>
        <p:spPr>
          <a:xfrm>
            <a:off x="3935833" y="2382408"/>
            <a:ext cx="3377058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Up Arrow 112"/>
          <p:cNvSpPr/>
          <p:nvPr/>
        </p:nvSpPr>
        <p:spPr>
          <a:xfrm>
            <a:off x="5344577" y="3190876"/>
            <a:ext cx="634599" cy="2205486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9455941" y="2522551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Chain Rule !!</a:t>
            </a:r>
          </a:p>
        </p:txBody>
      </p:sp>
    </p:spTree>
    <p:extLst>
      <p:ext uri="{BB962C8B-B14F-4D97-AF65-F5344CB8AC3E}">
        <p14:creationId xmlns:p14="http://schemas.microsoft.com/office/powerpoint/2010/main" val="2398160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val 127"/>
          <p:cNvSpPr/>
          <p:nvPr/>
        </p:nvSpPr>
        <p:spPr>
          <a:xfrm>
            <a:off x="3848203" y="3344551"/>
            <a:ext cx="3377058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Down Arrow 66"/>
          <p:cNvSpPr/>
          <p:nvPr/>
        </p:nvSpPr>
        <p:spPr>
          <a:xfrm>
            <a:off x="5556633" y="301892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itle 1"/>
          <p:cNvSpPr>
            <a:spLocks noGrp="1"/>
          </p:cNvSpPr>
          <p:nvPr>
            <p:ph type="title"/>
          </p:nvPr>
        </p:nvSpPr>
        <p:spPr>
          <a:xfrm>
            <a:off x="221461" y="251398"/>
            <a:ext cx="10515600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50950" y="457659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ounded Rectangle 70"/>
          <p:cNvSpPr/>
          <p:nvPr/>
        </p:nvSpPr>
        <p:spPr>
          <a:xfrm>
            <a:off x="4427278" y="164402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ounded Rectangle 71"/>
          <p:cNvSpPr/>
          <p:nvPr/>
        </p:nvSpPr>
        <p:spPr>
          <a:xfrm>
            <a:off x="4427278" y="255334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Oval 72"/>
          <p:cNvSpPr/>
          <p:nvPr/>
        </p:nvSpPr>
        <p:spPr>
          <a:xfrm>
            <a:off x="4549083" y="170026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Oval 73"/>
          <p:cNvSpPr/>
          <p:nvPr/>
        </p:nvSpPr>
        <p:spPr>
          <a:xfrm>
            <a:off x="5465792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/>
          <p:cNvSpPr/>
          <p:nvPr/>
        </p:nvSpPr>
        <p:spPr>
          <a:xfrm>
            <a:off x="6350751" y="16939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ounded Rectangle 75"/>
          <p:cNvSpPr/>
          <p:nvPr/>
        </p:nvSpPr>
        <p:spPr>
          <a:xfrm>
            <a:off x="5087976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ounded Rectangle 76"/>
          <p:cNvSpPr/>
          <p:nvPr/>
        </p:nvSpPr>
        <p:spPr>
          <a:xfrm>
            <a:off x="5254312" y="18638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ounded Rectangle 77"/>
          <p:cNvSpPr/>
          <p:nvPr/>
        </p:nvSpPr>
        <p:spPr>
          <a:xfrm>
            <a:off x="5989446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ounded Rectangle 78"/>
          <p:cNvSpPr/>
          <p:nvPr/>
        </p:nvSpPr>
        <p:spPr>
          <a:xfrm>
            <a:off x="6155782" y="18511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Oval 79"/>
          <p:cNvSpPr/>
          <p:nvPr/>
        </p:nvSpPr>
        <p:spPr>
          <a:xfrm>
            <a:off x="4549083" y="260958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Oval 80"/>
          <p:cNvSpPr/>
          <p:nvPr/>
        </p:nvSpPr>
        <p:spPr>
          <a:xfrm>
            <a:off x="5465792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/>
          <p:cNvSpPr/>
          <p:nvPr/>
        </p:nvSpPr>
        <p:spPr>
          <a:xfrm>
            <a:off x="6350751" y="26032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ounded Rectangle 82"/>
          <p:cNvSpPr/>
          <p:nvPr/>
        </p:nvSpPr>
        <p:spPr>
          <a:xfrm>
            <a:off x="5087976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ounded Rectangle 83"/>
          <p:cNvSpPr/>
          <p:nvPr/>
        </p:nvSpPr>
        <p:spPr>
          <a:xfrm>
            <a:off x="5254312" y="27731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ounded Rectangle 84"/>
          <p:cNvSpPr/>
          <p:nvPr/>
        </p:nvSpPr>
        <p:spPr>
          <a:xfrm>
            <a:off x="5989446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ounded Rectangle 85"/>
          <p:cNvSpPr/>
          <p:nvPr/>
        </p:nvSpPr>
        <p:spPr>
          <a:xfrm>
            <a:off x="6155782" y="27604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Down Arrow 86"/>
          <p:cNvSpPr/>
          <p:nvPr/>
        </p:nvSpPr>
        <p:spPr>
          <a:xfrm>
            <a:off x="5539797" y="210675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Oval 87"/>
          <p:cNvSpPr/>
          <p:nvPr/>
        </p:nvSpPr>
        <p:spPr>
          <a:xfrm>
            <a:off x="4509624" y="357324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ounded Rectangle 88"/>
          <p:cNvSpPr/>
          <p:nvPr/>
        </p:nvSpPr>
        <p:spPr>
          <a:xfrm>
            <a:off x="5111647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ounded Rectangle 89"/>
          <p:cNvSpPr/>
          <p:nvPr/>
        </p:nvSpPr>
        <p:spPr>
          <a:xfrm>
            <a:off x="5277983" y="37368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ounded Rectangle 90"/>
          <p:cNvSpPr/>
          <p:nvPr/>
        </p:nvSpPr>
        <p:spPr>
          <a:xfrm>
            <a:off x="6013117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ounded Rectangle 91"/>
          <p:cNvSpPr/>
          <p:nvPr/>
        </p:nvSpPr>
        <p:spPr>
          <a:xfrm>
            <a:off x="6179453" y="37241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Oval 92"/>
          <p:cNvSpPr/>
          <p:nvPr/>
        </p:nvSpPr>
        <p:spPr>
          <a:xfrm>
            <a:off x="4604765" y="463283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4" name="Oval 93"/>
          <p:cNvSpPr/>
          <p:nvPr/>
        </p:nvSpPr>
        <p:spPr>
          <a:xfrm>
            <a:off x="5521474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5" name="Oval 94"/>
          <p:cNvSpPr/>
          <p:nvPr/>
        </p:nvSpPr>
        <p:spPr>
          <a:xfrm>
            <a:off x="6406433" y="46264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143658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ounded Rectangle 96"/>
          <p:cNvSpPr/>
          <p:nvPr/>
        </p:nvSpPr>
        <p:spPr>
          <a:xfrm>
            <a:off x="5309994" y="47964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ounded Rectangle 97"/>
          <p:cNvSpPr/>
          <p:nvPr/>
        </p:nvSpPr>
        <p:spPr>
          <a:xfrm>
            <a:off x="6045128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ounded Rectangle 98"/>
          <p:cNvSpPr/>
          <p:nvPr/>
        </p:nvSpPr>
        <p:spPr>
          <a:xfrm>
            <a:off x="6211464" y="47837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Down Arrow 99"/>
          <p:cNvSpPr/>
          <p:nvPr/>
        </p:nvSpPr>
        <p:spPr>
          <a:xfrm>
            <a:off x="5536732" y="398337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Down Arrow 100"/>
          <p:cNvSpPr/>
          <p:nvPr/>
        </p:nvSpPr>
        <p:spPr>
          <a:xfrm>
            <a:off x="5536732" y="123145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03" y="555589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3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09" y="551793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423" y="171168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6129" r="-483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61" y="170595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701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748" y="171585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953" y="261843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06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47" y="263399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68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155" y="261488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636" r="-606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68" y="171168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217" y="262197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8" y="359833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Oval 112"/>
          <p:cNvSpPr/>
          <p:nvPr/>
        </p:nvSpPr>
        <p:spPr>
          <a:xfrm>
            <a:off x="6314132" y="357801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val 113"/>
          <p:cNvSpPr/>
          <p:nvPr/>
        </p:nvSpPr>
        <p:spPr>
          <a:xfrm>
            <a:off x="5414511" y="357324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44" y="360519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793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92" y="360477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751" y="360476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100" y="465270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1429" r="-952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742" y="463283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865" y="465815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3256" r="-697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705" y="124722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52" y="213792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96" y="307025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79" y="422755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5254" r="-508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Down Arrow 124"/>
          <p:cNvSpPr/>
          <p:nvPr/>
        </p:nvSpPr>
        <p:spPr>
          <a:xfrm>
            <a:off x="5521982" y="503184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Oval 125"/>
          <p:cNvSpPr/>
          <p:nvPr/>
        </p:nvSpPr>
        <p:spPr>
          <a:xfrm>
            <a:off x="4549082" y="5396361"/>
            <a:ext cx="2190367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Up Arrow 126"/>
          <p:cNvSpPr/>
          <p:nvPr/>
        </p:nvSpPr>
        <p:spPr>
          <a:xfrm>
            <a:off x="5344577" y="4171790"/>
            <a:ext cx="634599" cy="1224572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7334085" y="3464063"/>
                <a:ext cx="3010065" cy="571182"/>
              </a:xfrm>
              <a:prstGeom prst="rect">
                <a:avLst/>
              </a:prstGeom>
              <a:solidFill>
                <a:srgbClr val="0070C0">
                  <a:alpha val="51000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dirty="0"/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IN" sz="1400" i="1" dirty="0"/>
              </a:p>
            </p:txBody>
          </p:sp>
        </mc:Choice>
        <mc:Fallback xmlns=""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085" y="3464063"/>
                <a:ext cx="3010065" cy="57118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ounded Rectangle 69"/>
          <p:cNvSpPr/>
          <p:nvPr/>
        </p:nvSpPr>
        <p:spPr>
          <a:xfrm>
            <a:off x="4450949" y="351700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/>
          <p:cNvSpPr txBox="1"/>
          <p:nvPr/>
        </p:nvSpPr>
        <p:spPr>
          <a:xfrm>
            <a:off x="8523069" y="4035245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Chain Rule !!</a:t>
            </a:r>
          </a:p>
        </p:txBody>
      </p:sp>
    </p:spTree>
    <p:extLst>
      <p:ext uri="{BB962C8B-B14F-4D97-AF65-F5344CB8AC3E}">
        <p14:creationId xmlns:p14="http://schemas.microsoft.com/office/powerpoint/2010/main" val="172808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>
            <a:off x="5556633" y="298082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1461" y="251398"/>
            <a:ext cx="10515600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0950" y="453849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4450949" y="347890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4427278" y="160592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4427278" y="251524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4549083" y="166216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/>
          <p:cNvSpPr/>
          <p:nvPr/>
        </p:nvSpPr>
        <p:spPr>
          <a:xfrm>
            <a:off x="5465792" y="16558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6350751" y="165581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5087976" y="18257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5254312" y="18257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5989446" y="18130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6155782" y="181305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4549083" y="257148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5465792" y="25651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6350751" y="256513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5087976" y="27350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5254312" y="27350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5989446" y="27223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ounded Rectangle 22"/>
          <p:cNvSpPr/>
          <p:nvPr/>
        </p:nvSpPr>
        <p:spPr>
          <a:xfrm>
            <a:off x="6155782" y="272237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own Arrow 23"/>
          <p:cNvSpPr/>
          <p:nvPr/>
        </p:nvSpPr>
        <p:spPr>
          <a:xfrm>
            <a:off x="5539797" y="206865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/>
          <p:cNvSpPr/>
          <p:nvPr/>
        </p:nvSpPr>
        <p:spPr>
          <a:xfrm>
            <a:off x="4509624" y="353514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5111647" y="36987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5277983" y="36987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6013117" y="36860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6179453" y="368603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4604765" y="459473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5521474" y="45883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06433" y="458838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143658" y="47583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5309994" y="47583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6045128" y="47456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ounded Rectangle 35"/>
          <p:cNvSpPr/>
          <p:nvPr/>
        </p:nvSpPr>
        <p:spPr>
          <a:xfrm>
            <a:off x="6211464" y="474562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Down Arrow 36"/>
          <p:cNvSpPr/>
          <p:nvPr/>
        </p:nvSpPr>
        <p:spPr>
          <a:xfrm>
            <a:off x="5536732" y="394527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Down Arrow 37"/>
          <p:cNvSpPr/>
          <p:nvPr/>
        </p:nvSpPr>
        <p:spPr>
          <a:xfrm>
            <a:off x="5536732" y="119335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6795303" y="551779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303" y="551779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4789909" y="547983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909" y="547983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551423" y="167358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423" y="167358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6129" r="-483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479261" y="166785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61" y="166785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7018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342748" y="167775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748" y="167775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549953" y="258033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953" y="258033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06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458647" y="259589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47" y="259589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689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335155" y="257678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155" y="257678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636" r="-606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054268" y="167358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68" y="167358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77217" y="258387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217" y="258387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053648" y="356023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648" y="356023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6314132" y="353991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/>
          <p:cNvSpPr/>
          <p:nvPr/>
        </p:nvSpPr>
        <p:spPr>
          <a:xfrm>
            <a:off x="5414511" y="353514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572644" y="356709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44" y="356709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793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465792" y="356667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792" y="356667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350751" y="356666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751" y="356666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664100" y="461460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100" y="461460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1429" r="-952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467742" y="459473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742" y="459473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5576865" y="462005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865" y="462005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3256" r="-6977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828705" y="120912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705" y="120912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095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822952" y="209982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952" y="209982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095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832396" y="303215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396" y="303215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232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856579" y="418945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79" y="418945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5254" r="-508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Down Arrow 61"/>
          <p:cNvSpPr/>
          <p:nvPr/>
        </p:nvSpPr>
        <p:spPr>
          <a:xfrm>
            <a:off x="5521982" y="499374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/>
          <p:cNvSpPr/>
          <p:nvPr/>
        </p:nvSpPr>
        <p:spPr>
          <a:xfrm>
            <a:off x="4481681" y="5444668"/>
            <a:ext cx="2190367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Up Arrow 63"/>
          <p:cNvSpPr/>
          <p:nvPr/>
        </p:nvSpPr>
        <p:spPr>
          <a:xfrm>
            <a:off x="5440654" y="5127779"/>
            <a:ext cx="367416" cy="332848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Oval 64"/>
          <p:cNvSpPr/>
          <p:nvPr/>
        </p:nvSpPr>
        <p:spPr>
          <a:xfrm>
            <a:off x="3955734" y="4318896"/>
            <a:ext cx="3377058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7437575" y="4368469"/>
                <a:ext cx="3547925" cy="576721"/>
              </a:xfrm>
              <a:prstGeom prst="rect">
                <a:avLst/>
              </a:prstGeom>
              <a:solidFill>
                <a:srgbClr val="0070C0">
                  <a:alpha val="51000"/>
                </a:srgbClr>
              </a:solidFill>
            </p:spPr>
            <p:txBody>
              <a:bodyPr wrap="squar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dirty="0"/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575" y="4368469"/>
                <a:ext cx="3547925" cy="57672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/>
          <p:cNvSpPr txBox="1"/>
          <p:nvPr/>
        </p:nvSpPr>
        <p:spPr>
          <a:xfrm>
            <a:off x="9211537" y="5097055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Chain Rule !!</a:t>
            </a:r>
          </a:p>
        </p:txBody>
      </p:sp>
    </p:spTree>
    <p:extLst>
      <p:ext uri="{BB962C8B-B14F-4D97-AF65-F5344CB8AC3E}">
        <p14:creationId xmlns:p14="http://schemas.microsoft.com/office/powerpoint/2010/main" val="357547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>
            <a:off x="9058658" y="303797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2293" y="251398"/>
            <a:ext cx="6561904" cy="8356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2975" y="459564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952974" y="353605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7929303" y="166307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7929303" y="257239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8051108" y="171931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/>
          <p:cNvSpPr/>
          <p:nvPr/>
        </p:nvSpPr>
        <p:spPr>
          <a:xfrm>
            <a:off x="8967817" y="171296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9852776" y="171296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8590001" y="18829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8756337" y="18829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9491471" y="18702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9657807" y="18702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8051108" y="262863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8967817" y="262228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9852776" y="262228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8590001" y="27922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8756337" y="27922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9491471" y="27795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ounded Rectangle 22"/>
          <p:cNvSpPr/>
          <p:nvPr/>
        </p:nvSpPr>
        <p:spPr>
          <a:xfrm>
            <a:off x="9657807" y="27795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own Arrow 23"/>
          <p:cNvSpPr/>
          <p:nvPr/>
        </p:nvSpPr>
        <p:spPr>
          <a:xfrm>
            <a:off x="9041822" y="212580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/>
          <p:cNvSpPr/>
          <p:nvPr/>
        </p:nvSpPr>
        <p:spPr>
          <a:xfrm>
            <a:off x="8011649" y="359229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8613672" y="37558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8780008" y="37558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9515142" y="37431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9681478" y="37431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/>
          <p:cNvSpPr/>
          <p:nvPr/>
        </p:nvSpPr>
        <p:spPr>
          <a:xfrm>
            <a:off x="8106790" y="465188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9023499" y="464553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9908458" y="464553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645683" y="48154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8812019" y="48154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9547153" y="48027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ounded Rectangle 35"/>
          <p:cNvSpPr/>
          <p:nvPr/>
        </p:nvSpPr>
        <p:spPr>
          <a:xfrm>
            <a:off x="9713489" y="48027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Down Arrow 36"/>
          <p:cNvSpPr/>
          <p:nvPr/>
        </p:nvSpPr>
        <p:spPr>
          <a:xfrm>
            <a:off x="9038757" y="400242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Down Arrow 37"/>
          <p:cNvSpPr/>
          <p:nvPr/>
        </p:nvSpPr>
        <p:spPr>
          <a:xfrm>
            <a:off x="9038757" y="125050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10297328" y="557494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328" y="557494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8291934" y="553698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0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34" y="553698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053448" y="173073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448" y="173073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5873" r="-476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981286" y="172500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286" y="172500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877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9844773" y="173490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773" y="173490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4615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051978" y="263748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978" y="263748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286" r="-634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8960672" y="265304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672" y="265304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5172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9837180" y="263393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180" y="263393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556293" y="173073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293" y="173073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739" r="-65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579242" y="264102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242" y="264102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555673" y="36173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673" y="361738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9816157" y="359706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/>
          <p:cNvSpPr/>
          <p:nvPr/>
        </p:nvSpPr>
        <p:spPr>
          <a:xfrm>
            <a:off x="8916536" y="359229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8074669" y="362424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669" y="362424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634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967817" y="362382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817" y="362382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68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9852776" y="362381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776" y="362381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636" r="-6061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8166125" y="467175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6125" y="467175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3810" r="-714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9969767" y="465188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767" y="465188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0000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9078890" y="467720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890" y="467720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0930" r="-930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9330730" y="126627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730" y="126627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324977" y="215697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4977" y="215697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232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334421" y="308930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421" y="308930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0959" b="-163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9358604" y="424660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604" y="424660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3559" r="-678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Down Arrow 61"/>
          <p:cNvSpPr/>
          <p:nvPr/>
        </p:nvSpPr>
        <p:spPr>
          <a:xfrm>
            <a:off x="9024007" y="505089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Oval 62"/>
          <p:cNvSpPr/>
          <p:nvPr/>
        </p:nvSpPr>
        <p:spPr>
          <a:xfrm>
            <a:off x="7983706" y="5501818"/>
            <a:ext cx="2190367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Up Arrow 63"/>
          <p:cNvSpPr/>
          <p:nvPr/>
        </p:nvSpPr>
        <p:spPr>
          <a:xfrm>
            <a:off x="8947901" y="5057250"/>
            <a:ext cx="367416" cy="426986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2613891" y="4851473"/>
                <a:ext cx="4745943" cy="576721"/>
              </a:xfrm>
              <a:prstGeom prst="rect">
                <a:avLst/>
              </a:prstGeom>
              <a:solidFill>
                <a:srgbClr val="0070C0">
                  <a:alpha val="51000"/>
                </a:srgbClr>
              </a:solidFill>
            </p:spPr>
            <p:txBody>
              <a:bodyPr wrap="squar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dirty="0"/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             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IN" sz="1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I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891" y="4851473"/>
                <a:ext cx="4745943" cy="57672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Content Placeholder 2"/>
          <p:cNvSpPr>
            <a:spLocks noGrp="1"/>
          </p:cNvSpPr>
          <p:nvPr>
            <p:ph idx="1"/>
          </p:nvPr>
        </p:nvSpPr>
        <p:spPr>
          <a:xfrm>
            <a:off x="382598" y="1628912"/>
            <a:ext cx="5951527" cy="128910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IN" sz="3100" dirty="0">
                <a:solidFill>
                  <a:srgbClr val="7030A0"/>
                </a:solidFill>
                <a:latin typeface="Arial Narrow" panose="020B0606020202030204" pitchFamily="34" charset="0"/>
              </a:rPr>
              <a:t>Vanishing Gradient Problem</a:t>
            </a:r>
          </a:p>
          <a:p>
            <a:pPr marL="457200" lvl="1" indent="0" algn="just">
              <a:lnSpc>
                <a:spcPct val="11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When these derivatives are small, the gradient signal progressively diminishes as it is back-propagated through the network.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929225" y="3355770"/>
            <a:ext cx="4230262" cy="400110"/>
          </a:xfrm>
          <a:prstGeom prst="rect">
            <a:avLst/>
          </a:prstGeom>
          <a:noFill/>
          <a:ln w="2222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 rtlCol="0">
            <a:norm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What happens if the derivatives are small?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516174" y="4810251"/>
            <a:ext cx="733425" cy="696481"/>
          </a:xfrm>
          <a:prstGeom prst="ellipse">
            <a:avLst/>
          </a:prstGeom>
          <a:solidFill>
            <a:schemeClr val="accent4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/>
          <p:cNvSpPr/>
          <p:nvPr/>
        </p:nvSpPr>
        <p:spPr>
          <a:xfrm>
            <a:off x="4530460" y="4747281"/>
            <a:ext cx="843502" cy="783350"/>
          </a:xfrm>
          <a:prstGeom prst="ellipse">
            <a:avLst/>
          </a:prstGeom>
          <a:solidFill>
            <a:schemeClr val="accent4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Oval 70"/>
          <p:cNvSpPr/>
          <p:nvPr/>
        </p:nvSpPr>
        <p:spPr>
          <a:xfrm>
            <a:off x="5836111" y="4773252"/>
            <a:ext cx="745513" cy="710984"/>
          </a:xfrm>
          <a:prstGeom prst="ellipse">
            <a:avLst/>
          </a:prstGeom>
          <a:solidFill>
            <a:schemeClr val="accent4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3" name="Straight Arrow Connector 72"/>
          <p:cNvCxnSpPr>
            <a:stCxn id="68" idx="2"/>
            <a:endCxn id="69" idx="0"/>
          </p:cNvCxnSpPr>
          <p:nvPr/>
        </p:nvCxnSpPr>
        <p:spPr>
          <a:xfrm flipH="1">
            <a:off x="3882887" y="3755880"/>
            <a:ext cx="1161469" cy="1054371"/>
          </a:xfrm>
          <a:prstGeom prst="straightConnector1">
            <a:avLst/>
          </a:prstGeom>
          <a:ln w="15875">
            <a:solidFill>
              <a:srgbClr val="FF0000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8" idx="2"/>
            <a:endCxn id="70" idx="0"/>
          </p:cNvCxnSpPr>
          <p:nvPr/>
        </p:nvCxnSpPr>
        <p:spPr>
          <a:xfrm flipH="1">
            <a:off x="4952211" y="3755880"/>
            <a:ext cx="92145" cy="991401"/>
          </a:xfrm>
          <a:prstGeom prst="straightConnector1">
            <a:avLst/>
          </a:prstGeom>
          <a:ln w="15875">
            <a:solidFill>
              <a:srgbClr val="FF0000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8" idx="2"/>
            <a:endCxn id="71" idx="0"/>
          </p:cNvCxnSpPr>
          <p:nvPr/>
        </p:nvCxnSpPr>
        <p:spPr>
          <a:xfrm>
            <a:off x="5044356" y="3755880"/>
            <a:ext cx="1164512" cy="1017372"/>
          </a:xfrm>
          <a:prstGeom prst="straightConnector1">
            <a:avLst/>
          </a:prstGeom>
          <a:ln w="15875">
            <a:solidFill>
              <a:srgbClr val="FF0000">
                <a:alpha val="54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Up Arrow 95"/>
          <p:cNvSpPr/>
          <p:nvPr/>
        </p:nvSpPr>
        <p:spPr>
          <a:xfrm>
            <a:off x="8960593" y="3974187"/>
            <a:ext cx="367416" cy="621458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Up Arrow 96"/>
          <p:cNvSpPr/>
          <p:nvPr/>
        </p:nvSpPr>
        <p:spPr>
          <a:xfrm>
            <a:off x="8966999" y="2991873"/>
            <a:ext cx="367416" cy="559194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Up Arrow 97"/>
          <p:cNvSpPr/>
          <p:nvPr/>
        </p:nvSpPr>
        <p:spPr>
          <a:xfrm>
            <a:off x="8942679" y="2101290"/>
            <a:ext cx="367416" cy="464733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190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300" y="120256"/>
            <a:ext cx="8417966" cy="960248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Why vanishing gradient is a problem ?</a:t>
            </a:r>
            <a:endParaRPr lang="en-IN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75" y="1511299"/>
            <a:ext cx="5619750" cy="4689475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During backpropagation, gradients are strong near the output layer but become progressively smaller toward the input layer due to repeated multiplication by values less than 1 (chain rule).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As the gradient decays during backpropagation, weight updates in the early layers become negligible. As a result, learning slows down or may stop altogether. This is known as the vanishing gradient problem.</a:t>
            </a:r>
          </a:p>
          <a:p>
            <a:pPr algn="just">
              <a:lnSpc>
                <a:spcPct val="120000"/>
              </a:lnSpc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8805550" y="2809374"/>
            <a:ext cx="175261" cy="48529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7699867" y="4367045"/>
            <a:ext cx="2400300" cy="455253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699866" y="3307453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676195" y="143447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7676195" y="2343792"/>
            <a:ext cx="2400300" cy="45525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798000" y="149071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8714709" y="148436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9599668" y="148436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8336893" y="16543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8503229" y="16543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9238363" y="16416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9404699" y="164160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7798000" y="2400035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8714709" y="239368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9599668" y="2393683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ounded Rectangle 18"/>
          <p:cNvSpPr/>
          <p:nvPr/>
        </p:nvSpPr>
        <p:spPr>
          <a:xfrm>
            <a:off x="8336893" y="25636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8503229" y="25636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9238363" y="25509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9404699" y="2550920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wn Arrow 22"/>
          <p:cNvSpPr/>
          <p:nvPr/>
        </p:nvSpPr>
        <p:spPr>
          <a:xfrm>
            <a:off x="8788714" y="1897206"/>
            <a:ext cx="175261" cy="446585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7758541" y="3363696"/>
            <a:ext cx="486654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8360564" y="35272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ounded Rectangle 25"/>
          <p:cNvSpPr/>
          <p:nvPr/>
        </p:nvSpPr>
        <p:spPr>
          <a:xfrm>
            <a:off x="8526900" y="35272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ounded Rectangle 26"/>
          <p:cNvSpPr/>
          <p:nvPr/>
        </p:nvSpPr>
        <p:spPr>
          <a:xfrm>
            <a:off x="9262034" y="35145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ounded Rectangle 27"/>
          <p:cNvSpPr/>
          <p:nvPr/>
        </p:nvSpPr>
        <p:spPr>
          <a:xfrm>
            <a:off x="9428370" y="3514581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/>
          <p:cNvSpPr/>
          <p:nvPr/>
        </p:nvSpPr>
        <p:spPr>
          <a:xfrm>
            <a:off x="7853682" y="4423288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8770391" y="441693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9655350" y="4416936"/>
            <a:ext cx="368109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392575" y="45868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8558911" y="45868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9294045" y="45741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ounded Rectangle 34"/>
          <p:cNvSpPr/>
          <p:nvPr/>
        </p:nvSpPr>
        <p:spPr>
          <a:xfrm>
            <a:off x="9460381" y="4574173"/>
            <a:ext cx="50966" cy="48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Down Arrow 35"/>
          <p:cNvSpPr/>
          <p:nvPr/>
        </p:nvSpPr>
        <p:spPr>
          <a:xfrm>
            <a:off x="8785649" y="3773823"/>
            <a:ext cx="215064" cy="593222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Down Arrow 36"/>
          <p:cNvSpPr/>
          <p:nvPr/>
        </p:nvSpPr>
        <p:spPr>
          <a:xfrm>
            <a:off x="8785649" y="1021906"/>
            <a:ext cx="175261" cy="39389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/>
              <p:nvPr/>
            </p:nvSpPr>
            <p:spPr>
              <a:xfrm>
                <a:off x="10044220" y="5346342"/>
                <a:ext cx="600870" cy="537198"/>
              </a:xfrm>
              <a:prstGeom prst="rect">
                <a:avLst/>
              </a:prstGeom>
              <a:solidFill>
                <a:srgbClr val="002060">
                  <a:alpha val="30000"/>
                </a:srgb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r>
                            <a:rPr lang="en-IN" sz="14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IN" sz="14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9ACC70-A2A1-4CE0-9268-7638B879A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220" y="5346342"/>
                <a:ext cx="600870" cy="5371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/>
              <p:nvPr/>
            </p:nvSpPr>
            <p:spPr>
              <a:xfrm>
                <a:off x="8038826" y="5400743"/>
                <a:ext cx="184416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9" name="TextBox 91">
                <a:extLst>
                  <a:ext uri="{FF2B5EF4-FFF2-40B4-BE49-F238E27FC236}">
                    <a16:creationId xmlns:a16="http://schemas.microsoft.com/office/drawing/2014/main" id="{17140076-35EE-FC9C-9B3E-EDFDB8FD6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826" y="5400743"/>
                <a:ext cx="1844168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800340" y="1502139"/>
                <a:ext cx="380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340" y="1502139"/>
                <a:ext cx="380938" cy="276999"/>
              </a:xfrm>
              <a:prstGeom prst="rect">
                <a:avLst/>
              </a:prstGeom>
              <a:blipFill>
                <a:blip r:embed="rId4"/>
                <a:stretch>
                  <a:fillRect l="-16129" r="-4839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728178" y="1496401"/>
                <a:ext cx="348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178" y="1496401"/>
                <a:ext cx="348237" cy="276999"/>
              </a:xfrm>
              <a:prstGeom prst="rect">
                <a:avLst/>
              </a:prstGeom>
              <a:blipFill>
                <a:blip r:embed="rId5"/>
                <a:stretch>
                  <a:fillRect l="-15789" r="-7018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9591665" y="1506303"/>
                <a:ext cx="3950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665" y="1506303"/>
                <a:ext cx="395045" cy="276999"/>
              </a:xfrm>
              <a:prstGeom prst="rect">
                <a:avLst/>
              </a:prstGeom>
              <a:blipFill>
                <a:blip r:embed="rId6"/>
                <a:stretch>
                  <a:fillRect l="-13846" r="-615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798870" y="240888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870" y="2408887"/>
                <a:ext cx="386260" cy="276999"/>
              </a:xfrm>
              <a:prstGeom prst="rect">
                <a:avLst/>
              </a:prstGeom>
              <a:blipFill>
                <a:blip r:embed="rId7"/>
                <a:stretch>
                  <a:fillRect l="-1406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707564" y="2424446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564" y="2424446"/>
                <a:ext cx="353558" cy="276999"/>
              </a:xfrm>
              <a:prstGeom prst="rect">
                <a:avLst/>
              </a:prstGeom>
              <a:blipFill>
                <a:blip r:embed="rId8"/>
                <a:stretch>
                  <a:fillRect l="-17241" r="-689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9584072" y="2405334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072" y="2405334"/>
                <a:ext cx="400366" cy="276999"/>
              </a:xfrm>
              <a:prstGeom prst="rect">
                <a:avLst/>
              </a:prstGeom>
              <a:blipFill>
                <a:blip r:embed="rId9"/>
                <a:stretch>
                  <a:fillRect l="-13636" r="-606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303185" y="1502139"/>
                <a:ext cx="2831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185" y="1502139"/>
                <a:ext cx="283154" cy="276999"/>
              </a:xfrm>
              <a:prstGeom prst="rect">
                <a:avLst/>
              </a:prstGeom>
              <a:blipFill>
                <a:blip r:embed="rId10"/>
                <a:stretch>
                  <a:fillRect l="-21739" r="-8696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326134" y="241242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134" y="2412420"/>
                <a:ext cx="288477" cy="276999"/>
              </a:xfrm>
              <a:prstGeom prst="rect">
                <a:avLst/>
              </a:prstGeom>
              <a:blipFill>
                <a:blip r:embed="rId11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302565" y="33887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565" y="3388781"/>
                <a:ext cx="288477" cy="276999"/>
              </a:xfrm>
              <a:prstGeom prst="rect">
                <a:avLst/>
              </a:prstGeom>
              <a:blipFill>
                <a:blip r:embed="rId12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/>
          <p:cNvSpPr/>
          <p:nvPr/>
        </p:nvSpPr>
        <p:spPr>
          <a:xfrm>
            <a:off x="9563049" y="3368466"/>
            <a:ext cx="468203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/>
          <p:cNvSpPr/>
          <p:nvPr/>
        </p:nvSpPr>
        <p:spPr>
          <a:xfrm>
            <a:off x="8663428" y="3363696"/>
            <a:ext cx="482866" cy="35680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821561" y="3395647"/>
                <a:ext cx="386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561" y="3395647"/>
                <a:ext cx="386260" cy="276999"/>
              </a:xfrm>
              <a:prstGeom prst="rect">
                <a:avLst/>
              </a:prstGeom>
              <a:blipFill>
                <a:blip r:embed="rId13"/>
                <a:stretch>
                  <a:fillRect l="-14286" r="-7937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8714709" y="3395220"/>
                <a:ext cx="3535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709" y="3395220"/>
                <a:ext cx="353558" cy="276999"/>
              </a:xfrm>
              <a:prstGeom prst="rect">
                <a:avLst/>
              </a:prstGeom>
              <a:blipFill>
                <a:blip r:embed="rId14"/>
                <a:stretch>
                  <a:fillRect l="-17241" r="-5172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9599668" y="3395219"/>
                <a:ext cx="400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668" y="3395219"/>
                <a:ext cx="400366" cy="276999"/>
              </a:xfrm>
              <a:prstGeom prst="rect">
                <a:avLst/>
              </a:prstGeom>
              <a:blipFill>
                <a:blip r:embed="rId15"/>
                <a:stretch>
                  <a:fillRect l="-13846" r="-615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913017" y="4443152"/>
                <a:ext cx="256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017" y="4443152"/>
                <a:ext cx="256480" cy="276999"/>
              </a:xfrm>
              <a:prstGeom prst="rect">
                <a:avLst/>
              </a:prstGeom>
              <a:blipFill>
                <a:blip r:embed="rId16"/>
                <a:stretch>
                  <a:fillRect l="-21429" r="-952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9716659" y="4423288"/>
                <a:ext cx="27186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659" y="4423288"/>
                <a:ext cx="271869" cy="298415"/>
              </a:xfrm>
              <a:prstGeom prst="rect">
                <a:avLst/>
              </a:prstGeom>
              <a:blipFill>
                <a:blip r:embed="rId17"/>
                <a:stretch>
                  <a:fillRect l="-22222" r="-8889" b="-20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825782" y="4448602"/>
                <a:ext cx="261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782" y="4448602"/>
                <a:ext cx="261802" cy="276999"/>
              </a:xfrm>
              <a:prstGeom prst="rect">
                <a:avLst/>
              </a:prstGeom>
              <a:blipFill>
                <a:blip r:embed="rId18"/>
                <a:stretch>
                  <a:fillRect l="-23256" r="-6977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9077622" y="1037673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22" y="1037673"/>
                <a:ext cx="444352" cy="300788"/>
              </a:xfrm>
              <a:prstGeom prst="rect">
                <a:avLst/>
              </a:prstGeom>
              <a:blipFill>
                <a:blip r:embed="rId19"/>
                <a:stretch>
                  <a:fillRect l="-1095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9071869" y="1928377"/>
                <a:ext cx="444352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869" y="1928377"/>
                <a:ext cx="444352" cy="300788"/>
              </a:xfrm>
              <a:prstGeom prst="rect">
                <a:avLst/>
              </a:prstGeom>
              <a:blipFill>
                <a:blip r:embed="rId20"/>
                <a:stretch>
                  <a:fillRect l="-1095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081313" y="2860703"/>
                <a:ext cx="444352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313" y="2860703"/>
                <a:ext cx="444352" cy="302070"/>
              </a:xfrm>
              <a:prstGeom prst="rect">
                <a:avLst/>
              </a:prstGeom>
              <a:blipFill>
                <a:blip r:embed="rId21"/>
                <a:stretch>
                  <a:fillRect l="-12329" b="-1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9105496" y="4018003"/>
                <a:ext cx="360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496" y="4018003"/>
                <a:ext cx="360933" cy="276999"/>
              </a:xfrm>
              <a:prstGeom prst="rect">
                <a:avLst/>
              </a:prstGeom>
              <a:blipFill>
                <a:blip r:embed="rId22"/>
                <a:stretch>
                  <a:fillRect l="-15254" r="-5085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Down Arrow 60"/>
          <p:cNvSpPr/>
          <p:nvPr/>
        </p:nvSpPr>
        <p:spPr>
          <a:xfrm>
            <a:off x="8770899" y="4822298"/>
            <a:ext cx="215064" cy="479733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Up Arrow 62"/>
          <p:cNvSpPr/>
          <p:nvPr/>
        </p:nvSpPr>
        <p:spPr>
          <a:xfrm>
            <a:off x="8704453" y="4805406"/>
            <a:ext cx="367416" cy="515831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Up Arrow 64"/>
          <p:cNvSpPr/>
          <p:nvPr/>
        </p:nvSpPr>
        <p:spPr>
          <a:xfrm>
            <a:off x="8704452" y="3712597"/>
            <a:ext cx="388025" cy="643331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11272663" y="2322270"/>
                <a:ext cx="678129" cy="455168"/>
              </a:xfrm>
              <a:prstGeom prst="rect">
                <a:avLst/>
              </a:prstGeom>
              <a:solidFill>
                <a:srgbClr val="92D050">
                  <a:alpha val="48000"/>
                </a:srgbClr>
              </a:solidFill>
              <a:ln>
                <a:solidFill>
                  <a:srgbClr val="7030A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2663" y="2322270"/>
                <a:ext cx="678129" cy="45516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Up Arrow 66"/>
          <p:cNvSpPr/>
          <p:nvPr/>
        </p:nvSpPr>
        <p:spPr>
          <a:xfrm rot="16200000">
            <a:off x="9988240" y="1464807"/>
            <a:ext cx="367416" cy="2198176"/>
          </a:xfrm>
          <a:prstGeom prst="upArrow">
            <a:avLst/>
          </a:prstGeom>
          <a:solidFill>
            <a:srgbClr val="92D050">
              <a:alpha val="5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Up Arrow 67"/>
          <p:cNvSpPr/>
          <p:nvPr/>
        </p:nvSpPr>
        <p:spPr>
          <a:xfrm>
            <a:off x="8693667" y="1822923"/>
            <a:ext cx="367416" cy="545327"/>
          </a:xfrm>
          <a:prstGeom prst="upArrow">
            <a:avLst/>
          </a:prstGeom>
          <a:solidFill>
            <a:srgbClr val="92D050">
              <a:alpha val="5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Up Arrow 68"/>
          <p:cNvSpPr/>
          <p:nvPr/>
        </p:nvSpPr>
        <p:spPr>
          <a:xfrm>
            <a:off x="8710206" y="2744124"/>
            <a:ext cx="367416" cy="577366"/>
          </a:xfrm>
          <a:prstGeom prst="upArrow">
            <a:avLst/>
          </a:prstGeom>
          <a:solidFill>
            <a:srgbClr val="7030A0">
              <a:alpha val="21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Oval 61"/>
          <p:cNvSpPr/>
          <p:nvPr/>
        </p:nvSpPr>
        <p:spPr>
          <a:xfrm>
            <a:off x="7761401" y="5321237"/>
            <a:ext cx="2190367" cy="820886"/>
          </a:xfrm>
          <a:prstGeom prst="ellipse">
            <a:avLst/>
          </a:prstGeom>
          <a:solidFill>
            <a:srgbClr val="7030A0">
              <a:alpha val="14000"/>
            </a:srgbClr>
          </a:solidFill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566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64" y="234977"/>
            <a:ext cx="5373277" cy="77094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Activation Functions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188822" y="5823239"/>
            <a:ext cx="2095428" cy="433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167443" y="4727864"/>
            <a:ext cx="4763" cy="1095375"/>
          </a:xfrm>
          <a:prstGeom prst="line">
            <a:avLst/>
          </a:prstGeom>
          <a:ln w="127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1260187" y="5821649"/>
            <a:ext cx="907256" cy="159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167443" y="4943764"/>
            <a:ext cx="991394" cy="87788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212812" y="5446999"/>
            <a:ext cx="269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47625" y="5090885"/>
            <a:ext cx="10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max (0,Z)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9201" y="624154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ReLU Function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437" y="4276438"/>
            <a:ext cx="4636654" cy="18749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7086238" y="5670835"/>
            <a:ext cx="2095428" cy="433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8064859" y="4575460"/>
            <a:ext cx="4763" cy="1095375"/>
          </a:xfrm>
          <a:prstGeom prst="line">
            <a:avLst/>
          </a:prstGeom>
          <a:ln w="127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117915" y="5669245"/>
            <a:ext cx="946944" cy="10448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8064859" y="4791360"/>
            <a:ext cx="991394" cy="87788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322016" y="4825274"/>
            <a:ext cx="13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max (0.1Z,Z)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3113" y="5312933"/>
            <a:ext cx="269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97726" y="4276438"/>
            <a:ext cx="4757099" cy="18749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Freeform 79"/>
          <p:cNvSpPr/>
          <p:nvPr/>
        </p:nvSpPr>
        <p:spPr>
          <a:xfrm>
            <a:off x="1416813" y="1933074"/>
            <a:ext cx="2125663" cy="1150815"/>
          </a:xfrm>
          <a:custGeom>
            <a:avLst/>
            <a:gdLst>
              <a:gd name="connsiteX0" fmla="*/ 0 w 2120900"/>
              <a:gd name="connsiteY0" fmla="*/ 1172150 h 1224972"/>
              <a:gd name="connsiteX1" fmla="*/ 6731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191249"/>
              <a:gd name="connsiteX1" fmla="*/ 685800 w 2120900"/>
              <a:gd name="connsiteY1" fmla="*/ 1108650 h 1191249"/>
              <a:gd name="connsiteX2" fmla="*/ 1339850 w 2120900"/>
              <a:gd name="connsiteY2" fmla="*/ 143450 h 1191249"/>
              <a:gd name="connsiteX3" fmla="*/ 2120900 w 2120900"/>
              <a:gd name="connsiteY3" fmla="*/ 22800 h 1191249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0644"/>
              <a:gd name="connsiteX1" fmla="*/ 685800 w 2120900"/>
              <a:gd name="connsiteY1" fmla="*/ 1108650 h 1200644"/>
              <a:gd name="connsiteX2" fmla="*/ 1339850 w 2120900"/>
              <a:gd name="connsiteY2" fmla="*/ 143450 h 1200644"/>
              <a:gd name="connsiteX3" fmla="*/ 2120900 w 2120900"/>
              <a:gd name="connsiteY3" fmla="*/ 22800 h 1200644"/>
              <a:gd name="connsiteX0" fmla="*/ 0 w 2120900"/>
              <a:gd name="connsiteY0" fmla="*/ 1172150 h 1172150"/>
              <a:gd name="connsiteX1" fmla="*/ 685800 w 2120900"/>
              <a:gd name="connsiteY1" fmla="*/ 1108650 h 1172150"/>
              <a:gd name="connsiteX2" fmla="*/ 1339850 w 2120900"/>
              <a:gd name="connsiteY2" fmla="*/ 143450 h 1172150"/>
              <a:gd name="connsiteX3" fmla="*/ 2120900 w 2120900"/>
              <a:gd name="connsiteY3" fmla="*/ 22800 h 1172150"/>
              <a:gd name="connsiteX0" fmla="*/ 0 w 2120900"/>
              <a:gd name="connsiteY0" fmla="*/ 1158317 h 1158317"/>
              <a:gd name="connsiteX1" fmla="*/ 685800 w 2120900"/>
              <a:gd name="connsiteY1" fmla="*/ 1094817 h 1158317"/>
              <a:gd name="connsiteX2" fmla="*/ 1339850 w 2120900"/>
              <a:gd name="connsiteY2" fmla="*/ 129617 h 1158317"/>
              <a:gd name="connsiteX3" fmla="*/ 2120900 w 2120900"/>
              <a:gd name="connsiteY3" fmla="*/ 8967 h 1158317"/>
              <a:gd name="connsiteX0" fmla="*/ 0 w 2125663"/>
              <a:gd name="connsiteY0" fmla="*/ 1139267 h 1178679"/>
              <a:gd name="connsiteX1" fmla="*/ 690563 w 2125663"/>
              <a:gd name="connsiteY1" fmla="*/ 1094817 h 1178679"/>
              <a:gd name="connsiteX2" fmla="*/ 1344613 w 2125663"/>
              <a:gd name="connsiteY2" fmla="*/ 129617 h 1178679"/>
              <a:gd name="connsiteX3" fmla="*/ 2125663 w 2125663"/>
              <a:gd name="connsiteY3" fmla="*/ 8967 h 1178679"/>
              <a:gd name="connsiteX0" fmla="*/ 0 w 2125663"/>
              <a:gd name="connsiteY0" fmla="*/ 1137268 h 1150815"/>
              <a:gd name="connsiteX1" fmla="*/ 762000 w 2125663"/>
              <a:gd name="connsiteY1" fmla="*/ 1049955 h 1150815"/>
              <a:gd name="connsiteX2" fmla="*/ 1344613 w 2125663"/>
              <a:gd name="connsiteY2" fmla="*/ 127618 h 1150815"/>
              <a:gd name="connsiteX3" fmla="*/ 2125663 w 2125663"/>
              <a:gd name="connsiteY3" fmla="*/ 6968 h 115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663" h="1150815">
                <a:moveTo>
                  <a:pt x="0" y="1137268"/>
                </a:moveTo>
                <a:cubicBezTo>
                  <a:pt x="212196" y="1121393"/>
                  <a:pt x="537898" y="1218230"/>
                  <a:pt x="762000" y="1049955"/>
                </a:cubicBezTo>
                <a:cubicBezTo>
                  <a:pt x="986102" y="881680"/>
                  <a:pt x="1117336" y="301449"/>
                  <a:pt x="1344613" y="127618"/>
                </a:cubicBezTo>
                <a:cubicBezTo>
                  <a:pt x="1571890" y="-46213"/>
                  <a:pt x="1836738" y="8555"/>
                  <a:pt x="2125663" y="6968"/>
                </a:cubicBezTo>
              </a:path>
            </a:pathLst>
          </a:cu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1" name="Straight Connector 80"/>
          <p:cNvCxnSpPr/>
          <p:nvPr/>
        </p:nvCxnSpPr>
        <p:spPr>
          <a:xfrm flipV="1">
            <a:off x="1260187" y="3071205"/>
            <a:ext cx="2443681" cy="387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2515625" y="1822078"/>
            <a:ext cx="5672" cy="1245232"/>
          </a:xfrm>
          <a:prstGeom prst="line">
            <a:avLst/>
          </a:prstGeom>
          <a:ln w="127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147250" y="6187053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Leaky ReLU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/>
              <p:nvPr/>
            </p:nvSpPr>
            <p:spPr>
              <a:xfrm>
                <a:off x="881036" y="2955374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-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94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36" y="2955374"/>
                <a:ext cx="745112" cy="446444"/>
              </a:xfrm>
              <a:prstGeom prst="rect">
                <a:avLst/>
              </a:prstGeom>
              <a:blipFill>
                <a:blip r:embed="rId2"/>
                <a:stretch>
                  <a:fillRect l="-820" t="-27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31">
            <a:extLst>
              <a:ext uri="{FF2B5EF4-FFF2-40B4-BE49-F238E27FC236}">
                <a16:creationId xmlns:a16="http://schemas.microsoft.com/office/drawing/2014/main" id="{0F6D0303-45B8-4F46-AA09-3CF9E5225ADB}"/>
              </a:ext>
            </a:extLst>
          </p:cNvPr>
          <p:cNvSpPr txBox="1"/>
          <p:nvPr/>
        </p:nvSpPr>
        <p:spPr>
          <a:xfrm>
            <a:off x="1959234" y="2160733"/>
            <a:ext cx="745112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0.5</a:t>
            </a:r>
          </a:p>
        </p:txBody>
      </p:sp>
      <p:sp>
        <p:nvSpPr>
          <p:cNvPr id="96" name="TextBox 32">
            <a:extLst>
              <a:ext uri="{FF2B5EF4-FFF2-40B4-BE49-F238E27FC236}">
                <a16:creationId xmlns:a16="http://schemas.microsoft.com/office/drawing/2014/main" id="{6A8F6AED-76ED-4329-ACC5-C3FE4CE27245}"/>
              </a:ext>
            </a:extLst>
          </p:cNvPr>
          <p:cNvSpPr txBox="1"/>
          <p:nvPr/>
        </p:nvSpPr>
        <p:spPr>
          <a:xfrm>
            <a:off x="2108302" y="1488487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1</a:t>
            </a:r>
          </a:p>
        </p:txBody>
      </p:sp>
      <p:sp>
        <p:nvSpPr>
          <p:cNvPr id="97" name="TextBox 33">
            <a:extLst>
              <a:ext uri="{FF2B5EF4-FFF2-40B4-BE49-F238E27FC236}">
                <a16:creationId xmlns:a16="http://schemas.microsoft.com/office/drawing/2014/main" id="{66C7ADBC-2522-41D5-AD69-E7420650223B}"/>
              </a:ext>
            </a:extLst>
          </p:cNvPr>
          <p:cNvSpPr txBox="1"/>
          <p:nvPr/>
        </p:nvSpPr>
        <p:spPr>
          <a:xfrm>
            <a:off x="2311931" y="3022857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0</a:t>
            </a:r>
          </a:p>
        </p:txBody>
      </p:sp>
      <p:sp>
        <p:nvSpPr>
          <p:cNvPr id="98" name="TextBox 34">
            <a:extLst>
              <a:ext uri="{FF2B5EF4-FFF2-40B4-BE49-F238E27FC236}">
                <a16:creationId xmlns:a16="http://schemas.microsoft.com/office/drawing/2014/main" id="{891CB1FE-79B6-486D-9715-54BCFE85F0A4}"/>
              </a:ext>
            </a:extLst>
          </p:cNvPr>
          <p:cNvSpPr txBox="1"/>
          <p:nvPr/>
        </p:nvSpPr>
        <p:spPr>
          <a:xfrm>
            <a:off x="3643502" y="2744416"/>
            <a:ext cx="40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/>
              <p:nvPr/>
            </p:nvSpPr>
            <p:spPr>
              <a:xfrm>
                <a:off x="3703867" y="2971625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99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67" y="2971625"/>
                <a:ext cx="745112" cy="446444"/>
              </a:xfrm>
              <a:prstGeom prst="rect">
                <a:avLst/>
              </a:prstGeom>
              <a:blipFill>
                <a:blip r:embed="rId3"/>
                <a:stretch>
                  <a:fillRect l="-820" t="-13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12">
                <a:extLst>
                  <a:ext uri="{FF2B5EF4-FFF2-40B4-BE49-F238E27FC236}">
                    <a16:creationId xmlns:a16="http://schemas.microsoft.com/office/drawing/2014/main" id="{2E011296-1CA9-4AD3-B2FD-7920E9672910}"/>
                  </a:ext>
                </a:extLst>
              </p:cNvPr>
              <p:cNvSpPr txBox="1"/>
              <p:nvPr/>
            </p:nvSpPr>
            <p:spPr>
              <a:xfrm>
                <a:off x="3615345" y="1895054"/>
                <a:ext cx="1841337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b="1">
                    <a:solidFill>
                      <a:srgbClr val="7030A0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IN" b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0" name="TextBox 12">
                <a:extLst>
                  <a:ext uri="{FF2B5EF4-FFF2-40B4-BE49-F238E27FC236}">
                    <a16:creationId xmlns:a16="http://schemas.microsoft.com/office/drawing/2014/main" id="{2E011296-1CA9-4AD3-B2FD-7920E9672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345" y="1895054"/>
                <a:ext cx="1841337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ectangle 100"/>
          <p:cNvSpPr/>
          <p:nvPr/>
        </p:nvSpPr>
        <p:spPr>
          <a:xfrm>
            <a:off x="812636" y="1432603"/>
            <a:ext cx="4622566" cy="18749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/>
          <p:cNvSpPr txBox="1"/>
          <p:nvPr/>
        </p:nvSpPr>
        <p:spPr>
          <a:xfrm>
            <a:off x="2257387" y="3355933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Sigmoid Function</a:t>
            </a:r>
          </a:p>
        </p:txBody>
      </p:sp>
      <p:cxnSp>
        <p:nvCxnSpPr>
          <p:cNvPr id="103" name="Straight Connector 102"/>
          <p:cNvCxnSpPr/>
          <p:nvPr/>
        </p:nvCxnSpPr>
        <p:spPr>
          <a:xfrm>
            <a:off x="7086238" y="2227898"/>
            <a:ext cx="3353162" cy="7619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rot="16200000" flipV="1">
            <a:off x="7596543" y="2139911"/>
            <a:ext cx="2443681" cy="387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7442838" y="1539147"/>
            <a:ext cx="2741873" cy="1329161"/>
          </a:xfrm>
          <a:custGeom>
            <a:avLst/>
            <a:gdLst>
              <a:gd name="connsiteX0" fmla="*/ 0 w 2120900"/>
              <a:gd name="connsiteY0" fmla="*/ 1172150 h 1224972"/>
              <a:gd name="connsiteX1" fmla="*/ 6731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191249"/>
              <a:gd name="connsiteX1" fmla="*/ 685800 w 2120900"/>
              <a:gd name="connsiteY1" fmla="*/ 1108650 h 1191249"/>
              <a:gd name="connsiteX2" fmla="*/ 1339850 w 2120900"/>
              <a:gd name="connsiteY2" fmla="*/ 143450 h 1191249"/>
              <a:gd name="connsiteX3" fmla="*/ 2120900 w 2120900"/>
              <a:gd name="connsiteY3" fmla="*/ 22800 h 1191249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0644"/>
              <a:gd name="connsiteX1" fmla="*/ 685800 w 2120900"/>
              <a:gd name="connsiteY1" fmla="*/ 1108650 h 1200644"/>
              <a:gd name="connsiteX2" fmla="*/ 1339850 w 2120900"/>
              <a:gd name="connsiteY2" fmla="*/ 143450 h 1200644"/>
              <a:gd name="connsiteX3" fmla="*/ 2120900 w 2120900"/>
              <a:gd name="connsiteY3" fmla="*/ 22800 h 1200644"/>
              <a:gd name="connsiteX0" fmla="*/ 0 w 2120900"/>
              <a:gd name="connsiteY0" fmla="*/ 1172150 h 1172150"/>
              <a:gd name="connsiteX1" fmla="*/ 685800 w 2120900"/>
              <a:gd name="connsiteY1" fmla="*/ 1108650 h 1172150"/>
              <a:gd name="connsiteX2" fmla="*/ 1339850 w 2120900"/>
              <a:gd name="connsiteY2" fmla="*/ 143450 h 1172150"/>
              <a:gd name="connsiteX3" fmla="*/ 2120900 w 2120900"/>
              <a:gd name="connsiteY3" fmla="*/ 22800 h 1172150"/>
              <a:gd name="connsiteX0" fmla="*/ 0 w 2120900"/>
              <a:gd name="connsiteY0" fmla="*/ 1158317 h 1158317"/>
              <a:gd name="connsiteX1" fmla="*/ 685800 w 2120900"/>
              <a:gd name="connsiteY1" fmla="*/ 1094817 h 1158317"/>
              <a:gd name="connsiteX2" fmla="*/ 1339850 w 2120900"/>
              <a:gd name="connsiteY2" fmla="*/ 129617 h 1158317"/>
              <a:gd name="connsiteX3" fmla="*/ 2120900 w 2120900"/>
              <a:gd name="connsiteY3" fmla="*/ 8967 h 1158317"/>
              <a:gd name="connsiteX0" fmla="*/ 0 w 2120900"/>
              <a:gd name="connsiteY0" fmla="*/ 1158317 h 1158317"/>
              <a:gd name="connsiteX1" fmla="*/ 685800 w 2120900"/>
              <a:gd name="connsiteY1" fmla="*/ 1094817 h 1158317"/>
              <a:gd name="connsiteX2" fmla="*/ 1339850 w 2120900"/>
              <a:gd name="connsiteY2" fmla="*/ 129617 h 1158317"/>
              <a:gd name="connsiteX3" fmla="*/ 2120900 w 2120900"/>
              <a:gd name="connsiteY3" fmla="*/ 8967 h 1158317"/>
              <a:gd name="connsiteX0" fmla="*/ 0 w 2120900"/>
              <a:gd name="connsiteY0" fmla="*/ 1134504 h 1176789"/>
              <a:gd name="connsiteX1" fmla="*/ 685800 w 2120900"/>
              <a:gd name="connsiteY1" fmla="*/ 1094817 h 1176789"/>
              <a:gd name="connsiteX2" fmla="*/ 1339850 w 2120900"/>
              <a:gd name="connsiteY2" fmla="*/ 129617 h 1176789"/>
              <a:gd name="connsiteX3" fmla="*/ 2120900 w 2120900"/>
              <a:gd name="connsiteY3" fmla="*/ 8967 h 1176789"/>
              <a:gd name="connsiteX0" fmla="*/ 0 w 2163763"/>
              <a:gd name="connsiteY0" fmla="*/ 1167841 h 1191254"/>
              <a:gd name="connsiteX1" fmla="*/ 728663 w 2163763"/>
              <a:gd name="connsiteY1" fmla="*/ 1094817 h 1191254"/>
              <a:gd name="connsiteX2" fmla="*/ 1382713 w 2163763"/>
              <a:gd name="connsiteY2" fmla="*/ 129617 h 1191254"/>
              <a:gd name="connsiteX3" fmla="*/ 2163763 w 2163763"/>
              <a:gd name="connsiteY3" fmla="*/ 8967 h 1191254"/>
              <a:gd name="connsiteX0" fmla="*/ 0 w 2163763"/>
              <a:gd name="connsiteY0" fmla="*/ 1167841 h 1169038"/>
              <a:gd name="connsiteX1" fmla="*/ 728663 w 2163763"/>
              <a:gd name="connsiteY1" fmla="*/ 1094817 h 1169038"/>
              <a:gd name="connsiteX2" fmla="*/ 1382713 w 2163763"/>
              <a:gd name="connsiteY2" fmla="*/ 129617 h 1169038"/>
              <a:gd name="connsiteX3" fmla="*/ 2163763 w 2163763"/>
              <a:gd name="connsiteY3" fmla="*/ 8967 h 1169038"/>
              <a:gd name="connsiteX0" fmla="*/ 0 w 2163763"/>
              <a:gd name="connsiteY0" fmla="*/ 1167841 h 1169038"/>
              <a:gd name="connsiteX1" fmla="*/ 728663 w 2163763"/>
              <a:gd name="connsiteY1" fmla="*/ 1094817 h 1169038"/>
              <a:gd name="connsiteX2" fmla="*/ 1382713 w 2163763"/>
              <a:gd name="connsiteY2" fmla="*/ 129617 h 1169038"/>
              <a:gd name="connsiteX3" fmla="*/ 2163763 w 2163763"/>
              <a:gd name="connsiteY3" fmla="*/ 8967 h 116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763" h="1169038">
                <a:moveTo>
                  <a:pt x="0" y="1167841"/>
                </a:moveTo>
                <a:cubicBezTo>
                  <a:pt x="212196" y="1151966"/>
                  <a:pt x="469636" y="1210704"/>
                  <a:pt x="728663" y="1094817"/>
                </a:cubicBezTo>
                <a:cubicBezTo>
                  <a:pt x="987690" y="978930"/>
                  <a:pt x="1143530" y="310592"/>
                  <a:pt x="1382713" y="129617"/>
                </a:cubicBezTo>
                <a:cubicBezTo>
                  <a:pt x="1621896" y="-51358"/>
                  <a:pt x="1874838" y="10554"/>
                  <a:pt x="2163763" y="8967"/>
                </a:cubicBezTo>
              </a:path>
            </a:pathLst>
          </a:cu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/>
              <p:nvPr/>
            </p:nvSpPr>
            <p:spPr>
              <a:xfrm>
                <a:off x="6697726" y="2134051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-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108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726" y="2134051"/>
                <a:ext cx="745112" cy="446444"/>
              </a:xfrm>
              <a:prstGeom prst="rect">
                <a:avLst/>
              </a:prstGeom>
              <a:blipFill>
                <a:blip r:embed="rId5"/>
                <a:stretch>
                  <a:fillRect l="-820" t="-13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32">
            <a:extLst>
              <a:ext uri="{FF2B5EF4-FFF2-40B4-BE49-F238E27FC236}">
                <a16:creationId xmlns:a16="http://schemas.microsoft.com/office/drawing/2014/main" id="{6A8F6AED-76ED-4329-ACC5-C3FE4CE27245}"/>
              </a:ext>
            </a:extLst>
          </p:cNvPr>
          <p:cNvSpPr txBox="1"/>
          <p:nvPr/>
        </p:nvSpPr>
        <p:spPr>
          <a:xfrm>
            <a:off x="8560567" y="735257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1</a:t>
            </a:r>
          </a:p>
        </p:txBody>
      </p:sp>
      <p:sp>
        <p:nvSpPr>
          <p:cNvPr id="111" name="TextBox 33">
            <a:extLst>
              <a:ext uri="{FF2B5EF4-FFF2-40B4-BE49-F238E27FC236}">
                <a16:creationId xmlns:a16="http://schemas.microsoft.com/office/drawing/2014/main" id="{66C7ADBC-2522-41D5-AD69-E7420650223B}"/>
              </a:ext>
            </a:extLst>
          </p:cNvPr>
          <p:cNvSpPr txBox="1"/>
          <p:nvPr/>
        </p:nvSpPr>
        <p:spPr>
          <a:xfrm>
            <a:off x="8481873" y="2196328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0</a:t>
            </a:r>
          </a:p>
        </p:txBody>
      </p:sp>
      <p:sp>
        <p:nvSpPr>
          <p:cNvPr id="112" name="TextBox 34">
            <a:extLst>
              <a:ext uri="{FF2B5EF4-FFF2-40B4-BE49-F238E27FC236}">
                <a16:creationId xmlns:a16="http://schemas.microsoft.com/office/drawing/2014/main" id="{891CB1FE-79B6-486D-9715-54BCFE85F0A4}"/>
              </a:ext>
            </a:extLst>
          </p:cNvPr>
          <p:cNvSpPr txBox="1"/>
          <p:nvPr/>
        </p:nvSpPr>
        <p:spPr>
          <a:xfrm>
            <a:off x="10354060" y="1910325"/>
            <a:ext cx="40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/>
              <p:nvPr/>
            </p:nvSpPr>
            <p:spPr>
              <a:xfrm>
                <a:off x="10376484" y="2182488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113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84" y="2182488"/>
                <a:ext cx="745112" cy="446444"/>
              </a:xfrm>
              <a:prstGeom prst="rect">
                <a:avLst/>
              </a:prstGeom>
              <a:blipFill>
                <a:blip r:embed="rId6"/>
                <a:stretch>
                  <a:fillRect t="-13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32">
            <a:extLst>
              <a:ext uri="{FF2B5EF4-FFF2-40B4-BE49-F238E27FC236}">
                <a16:creationId xmlns:a16="http://schemas.microsoft.com/office/drawing/2014/main" id="{6A8F6AED-76ED-4329-ACC5-C3FE4CE27245}"/>
              </a:ext>
            </a:extLst>
          </p:cNvPr>
          <p:cNvSpPr txBox="1"/>
          <p:nvPr/>
        </p:nvSpPr>
        <p:spPr>
          <a:xfrm>
            <a:off x="8462992" y="3269559"/>
            <a:ext cx="446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-1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697726" y="699624"/>
            <a:ext cx="4757100" cy="291902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TextBox 116"/>
          <p:cNvSpPr txBox="1"/>
          <p:nvPr/>
        </p:nvSpPr>
        <p:spPr>
          <a:xfrm>
            <a:off x="10510161" y="1315578"/>
            <a:ext cx="87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tanh</a:t>
            </a:r>
            <a:r>
              <a:rPr lang="en-IN" b="1" dirty="0">
                <a:solidFill>
                  <a:srgbClr val="7030A0"/>
                </a:solidFill>
              </a:rPr>
              <a:t>(Z)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19924" y="3679267"/>
            <a:ext cx="1504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Tanh Function</a:t>
            </a:r>
          </a:p>
        </p:txBody>
      </p:sp>
    </p:spTree>
    <p:extLst>
      <p:ext uri="{BB962C8B-B14F-4D97-AF65-F5344CB8AC3E}">
        <p14:creationId xmlns:p14="http://schemas.microsoft.com/office/powerpoint/2010/main" val="3382253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059" y="7924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Problem with Sigmoid Activation Function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8143" y="1524485"/>
                <a:ext cx="6934200" cy="2657484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Sigmoid squashes inputs to the range [0,1]. </a:t>
                </a:r>
                <a:r>
                  <a:rPr lang="en-US" dirty="0">
                    <a:latin typeface="Arial Narrow" panose="020B0606020202030204" pitchFamily="34" charset="0"/>
                  </a:rPr>
                  <a:t>When neurons become saturated (outputs close to 0 or 1), their derivatives approach zero, effectively “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KILLING</a:t>
                </a:r>
                <a:r>
                  <a:rPr lang="en-US" dirty="0">
                    <a:latin typeface="Arial Narrow" panose="020B0606020202030204" pitchFamily="34" charset="0"/>
                  </a:rPr>
                  <a:t>" the gradient during backpropagation.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In backpropagation,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is multiplied to a small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, decaying signal to the next layer.</a:t>
                </a:r>
                <a:endParaRPr lang="en-US" dirty="0"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gradients gradually vanish during backpropagation. Once they become nearly zero, gradient flow stops, preventing the neural network from learning.</a:t>
                </a:r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8143" y="1524485"/>
                <a:ext cx="6934200" cy="2657484"/>
              </a:xfrm>
              <a:blipFill>
                <a:blip r:embed="rId2"/>
                <a:stretch>
                  <a:fillRect l="-527" t="-917" r="-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3"/>
          <p:cNvSpPr/>
          <p:nvPr/>
        </p:nvSpPr>
        <p:spPr>
          <a:xfrm>
            <a:off x="8376577" y="2191159"/>
            <a:ext cx="2125663" cy="1150815"/>
          </a:xfrm>
          <a:custGeom>
            <a:avLst/>
            <a:gdLst>
              <a:gd name="connsiteX0" fmla="*/ 0 w 2120900"/>
              <a:gd name="connsiteY0" fmla="*/ 1172150 h 1224972"/>
              <a:gd name="connsiteX1" fmla="*/ 6731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191249"/>
              <a:gd name="connsiteX1" fmla="*/ 685800 w 2120900"/>
              <a:gd name="connsiteY1" fmla="*/ 1108650 h 1191249"/>
              <a:gd name="connsiteX2" fmla="*/ 1339850 w 2120900"/>
              <a:gd name="connsiteY2" fmla="*/ 143450 h 1191249"/>
              <a:gd name="connsiteX3" fmla="*/ 2120900 w 2120900"/>
              <a:gd name="connsiteY3" fmla="*/ 22800 h 1191249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0644"/>
              <a:gd name="connsiteX1" fmla="*/ 685800 w 2120900"/>
              <a:gd name="connsiteY1" fmla="*/ 1108650 h 1200644"/>
              <a:gd name="connsiteX2" fmla="*/ 1339850 w 2120900"/>
              <a:gd name="connsiteY2" fmla="*/ 143450 h 1200644"/>
              <a:gd name="connsiteX3" fmla="*/ 2120900 w 2120900"/>
              <a:gd name="connsiteY3" fmla="*/ 22800 h 1200644"/>
              <a:gd name="connsiteX0" fmla="*/ 0 w 2120900"/>
              <a:gd name="connsiteY0" fmla="*/ 1172150 h 1172150"/>
              <a:gd name="connsiteX1" fmla="*/ 685800 w 2120900"/>
              <a:gd name="connsiteY1" fmla="*/ 1108650 h 1172150"/>
              <a:gd name="connsiteX2" fmla="*/ 1339850 w 2120900"/>
              <a:gd name="connsiteY2" fmla="*/ 143450 h 1172150"/>
              <a:gd name="connsiteX3" fmla="*/ 2120900 w 2120900"/>
              <a:gd name="connsiteY3" fmla="*/ 22800 h 1172150"/>
              <a:gd name="connsiteX0" fmla="*/ 0 w 2120900"/>
              <a:gd name="connsiteY0" fmla="*/ 1158317 h 1158317"/>
              <a:gd name="connsiteX1" fmla="*/ 685800 w 2120900"/>
              <a:gd name="connsiteY1" fmla="*/ 1094817 h 1158317"/>
              <a:gd name="connsiteX2" fmla="*/ 1339850 w 2120900"/>
              <a:gd name="connsiteY2" fmla="*/ 129617 h 1158317"/>
              <a:gd name="connsiteX3" fmla="*/ 2120900 w 2120900"/>
              <a:gd name="connsiteY3" fmla="*/ 8967 h 1158317"/>
              <a:gd name="connsiteX0" fmla="*/ 0 w 2125663"/>
              <a:gd name="connsiteY0" fmla="*/ 1139267 h 1178679"/>
              <a:gd name="connsiteX1" fmla="*/ 690563 w 2125663"/>
              <a:gd name="connsiteY1" fmla="*/ 1094817 h 1178679"/>
              <a:gd name="connsiteX2" fmla="*/ 1344613 w 2125663"/>
              <a:gd name="connsiteY2" fmla="*/ 129617 h 1178679"/>
              <a:gd name="connsiteX3" fmla="*/ 2125663 w 2125663"/>
              <a:gd name="connsiteY3" fmla="*/ 8967 h 1178679"/>
              <a:gd name="connsiteX0" fmla="*/ 0 w 2125663"/>
              <a:gd name="connsiteY0" fmla="*/ 1137268 h 1150815"/>
              <a:gd name="connsiteX1" fmla="*/ 762000 w 2125663"/>
              <a:gd name="connsiteY1" fmla="*/ 1049955 h 1150815"/>
              <a:gd name="connsiteX2" fmla="*/ 1344613 w 2125663"/>
              <a:gd name="connsiteY2" fmla="*/ 127618 h 1150815"/>
              <a:gd name="connsiteX3" fmla="*/ 2125663 w 2125663"/>
              <a:gd name="connsiteY3" fmla="*/ 6968 h 1150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663" h="1150815">
                <a:moveTo>
                  <a:pt x="0" y="1137268"/>
                </a:moveTo>
                <a:cubicBezTo>
                  <a:pt x="212196" y="1121393"/>
                  <a:pt x="537898" y="1218230"/>
                  <a:pt x="762000" y="1049955"/>
                </a:cubicBezTo>
                <a:cubicBezTo>
                  <a:pt x="986102" y="881680"/>
                  <a:pt x="1117336" y="301449"/>
                  <a:pt x="1344613" y="127618"/>
                </a:cubicBezTo>
                <a:cubicBezTo>
                  <a:pt x="1571890" y="-46213"/>
                  <a:pt x="1836738" y="8555"/>
                  <a:pt x="2125663" y="6968"/>
                </a:cubicBezTo>
              </a:path>
            </a:pathLst>
          </a:cu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219951" y="3329290"/>
            <a:ext cx="2443681" cy="387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9475389" y="2080163"/>
            <a:ext cx="5672" cy="1245232"/>
          </a:xfrm>
          <a:prstGeom prst="line">
            <a:avLst/>
          </a:prstGeom>
          <a:ln w="127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/>
              <p:nvPr/>
            </p:nvSpPr>
            <p:spPr>
              <a:xfrm>
                <a:off x="7840800" y="3213459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-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7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800" y="3213459"/>
                <a:ext cx="745112" cy="446444"/>
              </a:xfrm>
              <a:prstGeom prst="rect">
                <a:avLst/>
              </a:prstGeom>
              <a:blipFill>
                <a:blip r:embed="rId3"/>
                <a:stretch>
                  <a:fillRect t="-13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31">
            <a:extLst>
              <a:ext uri="{FF2B5EF4-FFF2-40B4-BE49-F238E27FC236}">
                <a16:creationId xmlns:a16="http://schemas.microsoft.com/office/drawing/2014/main" id="{0F6D0303-45B8-4F46-AA09-3CF9E5225ADB}"/>
              </a:ext>
            </a:extLst>
          </p:cNvPr>
          <p:cNvSpPr txBox="1"/>
          <p:nvPr/>
        </p:nvSpPr>
        <p:spPr>
          <a:xfrm>
            <a:off x="8918998" y="2418818"/>
            <a:ext cx="745112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0.5</a:t>
            </a:r>
          </a:p>
        </p:txBody>
      </p:sp>
      <p:sp>
        <p:nvSpPr>
          <p:cNvPr id="9" name="TextBox 32">
            <a:extLst>
              <a:ext uri="{FF2B5EF4-FFF2-40B4-BE49-F238E27FC236}">
                <a16:creationId xmlns:a16="http://schemas.microsoft.com/office/drawing/2014/main" id="{6A8F6AED-76ED-4329-ACC5-C3FE4CE27245}"/>
              </a:ext>
            </a:extLst>
          </p:cNvPr>
          <p:cNvSpPr txBox="1"/>
          <p:nvPr/>
        </p:nvSpPr>
        <p:spPr>
          <a:xfrm>
            <a:off x="9068066" y="1746572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1</a:t>
            </a: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66C7ADBC-2522-41D5-AD69-E7420650223B}"/>
              </a:ext>
            </a:extLst>
          </p:cNvPr>
          <p:cNvSpPr txBox="1"/>
          <p:nvPr/>
        </p:nvSpPr>
        <p:spPr>
          <a:xfrm>
            <a:off x="9271695" y="3280942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0</a:t>
            </a: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891CB1FE-79B6-486D-9715-54BCFE85F0A4}"/>
              </a:ext>
            </a:extLst>
          </p:cNvPr>
          <p:cNvSpPr txBox="1"/>
          <p:nvPr/>
        </p:nvSpPr>
        <p:spPr>
          <a:xfrm>
            <a:off x="10603266" y="3002501"/>
            <a:ext cx="40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/>
              <p:nvPr/>
            </p:nvSpPr>
            <p:spPr>
              <a:xfrm>
                <a:off x="10663631" y="3229710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12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3631" y="3229710"/>
                <a:ext cx="745112" cy="446444"/>
              </a:xfrm>
              <a:prstGeom prst="rect">
                <a:avLst/>
              </a:prstGeom>
              <a:blipFill>
                <a:blip r:embed="rId4"/>
                <a:stretch>
                  <a:fillRect t="-27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011296-1CA9-4AD3-B2FD-7920E9672910}"/>
                  </a:ext>
                </a:extLst>
              </p:cNvPr>
              <p:cNvSpPr txBox="1"/>
              <p:nvPr/>
            </p:nvSpPr>
            <p:spPr>
              <a:xfrm>
                <a:off x="10143550" y="2258255"/>
                <a:ext cx="1841337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b="1">
                    <a:solidFill>
                      <a:srgbClr val="7030A0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IN" b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011296-1CA9-4AD3-B2FD-7920E9672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550" y="2258255"/>
                <a:ext cx="1841337" cy="6173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7840800" y="1690688"/>
            <a:ext cx="4144087" cy="18749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9217151" y="3614018"/>
            <a:ext cx="1808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Sigmoid Function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63CEC9-CE83-4B0A-A230-2189C474101E}"/>
              </a:ext>
            </a:extLst>
          </p:cNvPr>
          <p:cNvGrpSpPr/>
          <p:nvPr/>
        </p:nvGrpSpPr>
        <p:grpSpPr>
          <a:xfrm>
            <a:off x="7783070" y="4492698"/>
            <a:ext cx="4021393" cy="415411"/>
            <a:chOff x="3767548" y="3618268"/>
            <a:chExt cx="5515696" cy="580102"/>
          </a:xfrm>
        </p:grpSpPr>
        <p:sp>
          <p:nvSpPr>
            <p:cNvPr id="17" name="Isosceles Triangle 8">
              <a:extLst>
                <a:ext uri="{FF2B5EF4-FFF2-40B4-BE49-F238E27FC236}">
                  <a16:creationId xmlns:a16="http://schemas.microsoft.com/office/drawing/2014/main" id="{90A2585A-D3A8-4C89-82BA-8D30AF37DB68}"/>
                </a:ext>
              </a:extLst>
            </p:cNvPr>
            <p:cNvSpPr/>
            <p:nvPr/>
          </p:nvSpPr>
          <p:spPr>
            <a:xfrm>
              <a:off x="4011561" y="3618268"/>
              <a:ext cx="5024281" cy="580102"/>
            </a:xfrm>
            <a:custGeom>
              <a:avLst/>
              <a:gdLst>
                <a:gd name="csX0" fmla="*/ 0 w 5024281"/>
                <a:gd name="csY0" fmla="*/ 1383885 h 1383885"/>
                <a:gd name="csX1" fmla="*/ 2453155 w 5024281"/>
                <a:gd name="csY1" fmla="*/ 0 h 1383885"/>
                <a:gd name="csX2" fmla="*/ 5024281 w 5024281"/>
                <a:gd name="csY2" fmla="*/ 1383885 h 1383885"/>
                <a:gd name="csX3" fmla="*/ 0 w 5024281"/>
                <a:gd name="csY3" fmla="*/ 1383885 h 1383885"/>
                <a:gd name="csX0" fmla="*/ 58355 w 5133963"/>
                <a:gd name="csY0" fmla="*/ 1383885 h 1383885"/>
                <a:gd name="csX1" fmla="*/ 2511510 w 5133963"/>
                <a:gd name="csY1" fmla="*/ 0 h 1383885"/>
                <a:gd name="csX2" fmla="*/ 5082636 w 5133963"/>
                <a:gd name="csY2" fmla="*/ 1383885 h 1383885"/>
                <a:gd name="csX3" fmla="*/ 58355 w 5133963"/>
                <a:gd name="csY3" fmla="*/ 1383885 h 1383885"/>
                <a:gd name="csX0" fmla="*/ 0 w 5075608"/>
                <a:gd name="csY0" fmla="*/ 1383885 h 1383885"/>
                <a:gd name="csX1" fmla="*/ 2453155 w 5075608"/>
                <a:gd name="csY1" fmla="*/ 0 h 1383885"/>
                <a:gd name="csX2" fmla="*/ 5024281 w 5075608"/>
                <a:gd name="csY2" fmla="*/ 1383885 h 1383885"/>
                <a:gd name="csX3" fmla="*/ 0 w 5075608"/>
                <a:gd name="csY3" fmla="*/ 1383885 h 1383885"/>
                <a:gd name="csX0" fmla="*/ 0 w 5075608"/>
                <a:gd name="csY0" fmla="*/ 1383885 h 1383885"/>
                <a:gd name="csX1" fmla="*/ 2453155 w 5075608"/>
                <a:gd name="csY1" fmla="*/ 0 h 1383885"/>
                <a:gd name="csX2" fmla="*/ 5024281 w 5075608"/>
                <a:gd name="csY2" fmla="*/ 1383885 h 1383885"/>
                <a:gd name="csX3" fmla="*/ 0 w 5075608"/>
                <a:gd name="csY3" fmla="*/ 1383885 h 1383885"/>
                <a:gd name="csX0" fmla="*/ 0 w 5024281"/>
                <a:gd name="csY0" fmla="*/ 1383885 h 1383885"/>
                <a:gd name="csX1" fmla="*/ 2453155 w 5024281"/>
                <a:gd name="csY1" fmla="*/ 0 h 1383885"/>
                <a:gd name="csX2" fmla="*/ 5024281 w 5024281"/>
                <a:gd name="csY2" fmla="*/ 1383885 h 1383885"/>
                <a:gd name="csX3" fmla="*/ 0 w 5024281"/>
                <a:gd name="csY3" fmla="*/ 1383885 h 1383885"/>
                <a:gd name="csX0" fmla="*/ 0 w 5024281"/>
                <a:gd name="csY0" fmla="*/ 1383885 h 1383885"/>
                <a:gd name="csX1" fmla="*/ 2453155 w 5024281"/>
                <a:gd name="csY1" fmla="*/ 0 h 1383885"/>
                <a:gd name="csX2" fmla="*/ 5024281 w 5024281"/>
                <a:gd name="csY2" fmla="*/ 1383885 h 1383885"/>
                <a:gd name="csX3" fmla="*/ 0 w 5024281"/>
                <a:gd name="csY3" fmla="*/ 1383885 h 13838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24281" h="1383885">
                  <a:moveTo>
                    <a:pt x="0" y="1383885"/>
                  </a:moveTo>
                  <a:cubicBezTo>
                    <a:pt x="1783737" y="1025419"/>
                    <a:pt x="1615775" y="0"/>
                    <a:pt x="2453155" y="0"/>
                  </a:cubicBezTo>
                  <a:cubicBezTo>
                    <a:pt x="3290535" y="0"/>
                    <a:pt x="3594507" y="1202398"/>
                    <a:pt x="5024281" y="1383885"/>
                  </a:cubicBezTo>
                  <a:lnTo>
                    <a:pt x="0" y="1383885"/>
                  </a:lnTo>
                  <a:close/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9D91AAA-5F02-442F-A9BA-EFECB3C4E414}"/>
                </a:ext>
              </a:extLst>
            </p:cNvPr>
            <p:cNvCxnSpPr>
              <a:cxnSpLocks/>
            </p:cNvCxnSpPr>
            <p:nvPr/>
          </p:nvCxnSpPr>
          <p:spPr>
            <a:xfrm>
              <a:off x="3767548" y="4198370"/>
              <a:ext cx="551569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C552C4-7096-4BB9-9EAA-C3C5A156BED5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>
              <a:off x="6464716" y="3618268"/>
              <a:ext cx="4908" cy="58010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456CF87-C4DC-492C-93FC-AF3F1578AC0F}"/>
              </a:ext>
            </a:extLst>
          </p:cNvPr>
          <p:cNvSpPr/>
          <p:nvPr/>
        </p:nvSpPr>
        <p:spPr>
          <a:xfrm>
            <a:off x="9498218" y="4159422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CE3F32-1963-4BB1-8FE9-190E78A8FDF1}"/>
              </a:ext>
            </a:extLst>
          </p:cNvPr>
          <p:cNvSpPr/>
          <p:nvPr/>
        </p:nvSpPr>
        <p:spPr>
          <a:xfrm>
            <a:off x="9599485" y="488392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EAD526-7B39-4868-BF29-661F3A490E83}"/>
              </a:ext>
            </a:extLst>
          </p:cNvPr>
          <p:cNvSpPr/>
          <p:nvPr/>
        </p:nvSpPr>
        <p:spPr>
          <a:xfrm>
            <a:off x="10066942" y="488332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FD49A3-FCC5-4F14-B207-8A1C371CA14C}"/>
              </a:ext>
            </a:extLst>
          </p:cNvPr>
          <p:cNvSpPr/>
          <p:nvPr/>
        </p:nvSpPr>
        <p:spPr>
          <a:xfrm>
            <a:off x="10572478" y="488332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D8AB2C-398F-44D3-9620-AA6384BE18BD}"/>
              </a:ext>
            </a:extLst>
          </p:cNvPr>
          <p:cNvSpPr/>
          <p:nvPr/>
        </p:nvSpPr>
        <p:spPr>
          <a:xfrm>
            <a:off x="11349959" y="488392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B120F6-BC8B-46BD-BC7E-CF81B6551A0E}"/>
              </a:ext>
            </a:extLst>
          </p:cNvPr>
          <p:cNvSpPr/>
          <p:nvPr/>
        </p:nvSpPr>
        <p:spPr>
          <a:xfrm>
            <a:off x="9028638" y="4864745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5BBFCF-FA7E-4309-89B6-7BC5F02777B2}"/>
              </a:ext>
            </a:extLst>
          </p:cNvPr>
          <p:cNvSpPr/>
          <p:nvPr/>
        </p:nvSpPr>
        <p:spPr>
          <a:xfrm>
            <a:off x="8514239" y="4872053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26725D-027B-4AF8-B272-5C6848A57690}"/>
              </a:ext>
            </a:extLst>
          </p:cNvPr>
          <p:cNvSpPr/>
          <p:nvPr/>
        </p:nvSpPr>
        <p:spPr>
          <a:xfrm>
            <a:off x="7739554" y="4864745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A34A8E3-C974-4770-9F8B-580D7AAD7B93}"/>
                  </a:ext>
                </a:extLst>
              </p:cNvPr>
              <p:cNvSpPr/>
              <p:nvPr/>
            </p:nvSpPr>
            <p:spPr>
              <a:xfrm>
                <a:off x="10119708" y="4257474"/>
                <a:ext cx="7657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I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A34A8E3-C974-4770-9F8B-580D7AAD7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708" y="4257474"/>
                <a:ext cx="76578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1116296-0AB5-4945-ACA7-C109B282A156}"/>
                  </a:ext>
                </a:extLst>
              </p:cNvPr>
              <p:cNvSpPr/>
              <p:nvPr/>
            </p:nvSpPr>
            <p:spPr>
              <a:xfrm>
                <a:off x="11650041" y="4864745"/>
                <a:ext cx="383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</m:oMath>
                  </m:oMathPara>
                </a14:m>
                <a:endParaRPr lang="en-IN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1116296-0AB5-4945-ACA7-C109B282A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041" y="4864745"/>
                <a:ext cx="38343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B31537-D474-4D61-8F89-3A068E625D8F}"/>
                  </a:ext>
                </a:extLst>
              </p:cNvPr>
              <p:cNvSpPr txBox="1"/>
              <p:nvPr/>
            </p:nvSpPr>
            <p:spPr>
              <a:xfrm>
                <a:off x="7840800" y="5241385"/>
                <a:ext cx="281082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Derivative:</a:t>
                </a: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Max. derivative = 0.25</a:t>
                </a:r>
              </a:p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Near 0 or 1, derivative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B31537-D474-4D61-8F89-3A068E62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800" y="5241385"/>
                <a:ext cx="2810823" cy="1477328"/>
              </a:xfrm>
              <a:prstGeom prst="rect">
                <a:avLst/>
              </a:prstGeom>
              <a:blipFill>
                <a:blip r:embed="rId8"/>
                <a:stretch>
                  <a:fillRect l="-1735" t="-2066" b="-61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05065FF-C7FB-49D8-9512-B6D95FC88F83}"/>
                  </a:ext>
                </a:extLst>
              </p:cNvPr>
              <p:cNvSpPr txBox="1"/>
              <p:nvPr/>
            </p:nvSpPr>
            <p:spPr>
              <a:xfrm>
                <a:off x="7911462" y="5496933"/>
                <a:ext cx="299203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I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en-I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I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den>
                      </m:f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b="1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05065FF-C7FB-49D8-9512-B6D95FC88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462" y="5496933"/>
                <a:ext cx="2992038" cy="5266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7497914" y="4191414"/>
            <a:ext cx="4535565" cy="252729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Diamond 34"/>
          <p:cNvSpPr/>
          <p:nvPr/>
        </p:nvSpPr>
        <p:spPr>
          <a:xfrm>
            <a:off x="2609850" y="4673225"/>
            <a:ext cx="1504950" cy="1476115"/>
          </a:xfrm>
          <a:prstGeom prst="diamond">
            <a:avLst/>
          </a:prstGeom>
          <a:solidFill>
            <a:schemeClr val="accent4">
              <a:lumMod val="75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2845401" y="5068467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>
                <a:solidFill>
                  <a:srgbClr val="7030A0"/>
                </a:solidFill>
              </a:rPr>
              <a:t>Sigmoid </a:t>
            </a:r>
          </a:p>
          <a:p>
            <a:pPr algn="ctr"/>
            <a:r>
              <a:rPr lang="en-IN" sz="2000" dirty="0">
                <a:solidFill>
                  <a:srgbClr val="7030A0"/>
                </a:solidFill>
              </a:rPr>
              <a:t>Function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1402080" y="5049411"/>
            <a:ext cx="1310640" cy="7308"/>
          </a:xfrm>
          <a:prstGeom prst="straightConnector1">
            <a:avLst/>
          </a:prstGeom>
          <a:ln w="28575">
            <a:solidFill>
              <a:schemeClr val="accent2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835243" y="5042103"/>
            <a:ext cx="1310640" cy="7308"/>
          </a:xfrm>
          <a:prstGeom prst="straightConnector1">
            <a:avLst/>
          </a:prstGeom>
          <a:ln w="28575">
            <a:solidFill>
              <a:schemeClr val="accent2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3836910" y="5759746"/>
            <a:ext cx="1310640" cy="730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1420613" y="5752899"/>
            <a:ext cx="1310640" cy="730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C844F6A-6E0E-4DC2-A0C9-84E989074F24}"/>
                  </a:ext>
                </a:extLst>
              </p:cNvPr>
              <p:cNvSpPr/>
              <p:nvPr/>
            </p:nvSpPr>
            <p:spPr>
              <a:xfrm>
                <a:off x="1937929" y="4615581"/>
                <a:ext cx="379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C844F6A-6E0E-4DC2-A0C9-84E989074F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929" y="4615581"/>
                <a:ext cx="3794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12">
                <a:extLst>
                  <a:ext uri="{FF2B5EF4-FFF2-40B4-BE49-F238E27FC236}">
                    <a16:creationId xmlns:a16="http://schemas.microsoft.com/office/drawing/2014/main" id="{4F4CEDD1-E64C-4DF4-9FD5-3000B22246A1}"/>
                  </a:ext>
                </a:extLst>
              </p:cNvPr>
              <p:cNvSpPr txBox="1"/>
              <p:nvPr/>
            </p:nvSpPr>
            <p:spPr>
              <a:xfrm>
                <a:off x="3818492" y="4269182"/>
                <a:ext cx="2587982" cy="675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3" name="TextBox 12">
                <a:extLst>
                  <a:ext uri="{FF2B5EF4-FFF2-40B4-BE49-F238E27FC236}">
                    <a16:creationId xmlns:a16="http://schemas.microsoft.com/office/drawing/2014/main" id="{4F4CEDD1-E64C-4DF4-9FD5-3000B2224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492" y="4269182"/>
                <a:ext cx="2587982" cy="6756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8D75AEA-275D-4BEA-96B5-805FF5FD9573}"/>
                  </a:ext>
                </a:extLst>
              </p:cNvPr>
              <p:cNvSpPr txBox="1"/>
              <p:nvPr/>
            </p:nvSpPr>
            <p:spPr>
              <a:xfrm>
                <a:off x="4692667" y="5854267"/>
                <a:ext cx="323037" cy="5266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8D75AEA-275D-4BEA-96B5-805FF5FD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667" y="5854267"/>
                <a:ext cx="323037" cy="5266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3039C2D-0A52-41B1-ACFD-C27086BCA73F}"/>
                  </a:ext>
                </a:extLst>
              </p:cNvPr>
              <p:cNvSpPr txBox="1"/>
              <p:nvPr/>
            </p:nvSpPr>
            <p:spPr>
              <a:xfrm>
                <a:off x="1190656" y="5854267"/>
                <a:ext cx="1327906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IN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f>
                        <m:fPr>
                          <m:ctrlPr>
                            <a:rPr lang="en-I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I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3039C2D-0A52-41B1-ACFD-C27086BCA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656" y="5854267"/>
                <a:ext cx="1327906" cy="5442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727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0059" y="174249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sz="3000" dirty="0">
                    <a:latin typeface="Arial Narrow" panose="020B0606020202030204" pitchFamily="34" charset="0"/>
                  </a:rPr>
                  <a:t>Saturated neurons (with outputs very close to 0 or 1) have near-zero derivatives, effectively </a:t>
                </a:r>
                <a:r>
                  <a:rPr lang="en-US" sz="3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“KILLING" </a:t>
                </a:r>
                <a:r>
                  <a:rPr lang="en-US" sz="3000" dirty="0">
                    <a:latin typeface="Arial Narrow" panose="020B0606020202030204" pitchFamily="34" charset="0"/>
                  </a:rPr>
                  <a:t>the gradient during backpropagation and leading to the vanishing gradient problem.</a:t>
                </a:r>
              </a:p>
              <a:p>
                <a:pPr algn="just">
                  <a:lnSpc>
                    <a:spcPct val="100000"/>
                  </a:lnSpc>
                </a:pPr>
                <a:endParaRPr lang="en-US" sz="3000" dirty="0"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sz="3000" dirty="0">
                    <a:latin typeface="Arial Narrow" panose="020B0606020202030204" pitchFamily="34" charset="0"/>
                  </a:rPr>
                  <a:t>The sigmoid activation function is not zero-centered.</a:t>
                </a:r>
              </a:p>
              <a:p>
                <a:pPr algn="just">
                  <a:lnSpc>
                    <a:spcPct val="100000"/>
                  </a:lnSpc>
                </a:pPr>
                <a:endParaRPr lang="en-IN" sz="3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IN" sz="3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is exponentially expensive.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059" y="1742498"/>
                <a:ext cx="10515600" cy="4351338"/>
              </a:xfrm>
              <a:blipFill>
                <a:blip r:embed="rId2"/>
                <a:stretch>
                  <a:fillRect l="-1217" t="-1821" r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10059" y="7924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Problem with Sigmoid Activation Function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360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950" y="1696317"/>
            <a:ext cx="5567477" cy="3485284"/>
          </a:xfrm>
        </p:spPr>
        <p:txBody>
          <a:bodyPr>
            <a:normAutofit fontScale="92500" lnSpcReduction="10000"/>
          </a:bodyPr>
          <a:lstStyle/>
          <a:p>
            <a:pPr marL="285750" indent="-285750"/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Squashes numbers to range [-1 1].</a:t>
            </a:r>
          </a:p>
          <a:p>
            <a:pPr marL="285750" indent="-285750"/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Zero centred.</a:t>
            </a:r>
          </a:p>
          <a:p>
            <a:pPr marL="742950" lvl="1" indent="-285750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Better than the Sigmoid</a:t>
            </a:r>
          </a:p>
          <a:p>
            <a:pPr marL="742950" lvl="1" indent="-285750"/>
            <a:endParaRPr lang="en-IN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Still kill gradients</a:t>
            </a:r>
          </a:p>
          <a:p>
            <a:pPr marL="742950" lvl="1" indent="-285750"/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Causes Vanishing Gradient </a:t>
            </a:r>
          </a:p>
          <a:p>
            <a:pPr marL="742950" lvl="1" indent="-285750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“</a:t>
            </a:r>
            <a:r>
              <a:rPr lang="en-IN" sz="24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tanh</a:t>
            </a:r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” is just scaled version of the “Sigmoid”.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3950" y="116186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Problem with tanh Function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15546" y="2832863"/>
            <a:ext cx="3204143" cy="15473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9286419" y="1805847"/>
            <a:ext cx="7644" cy="1846955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7923127" y="2151965"/>
            <a:ext cx="2741873" cy="1329161"/>
          </a:xfrm>
          <a:custGeom>
            <a:avLst/>
            <a:gdLst>
              <a:gd name="connsiteX0" fmla="*/ 0 w 2120900"/>
              <a:gd name="connsiteY0" fmla="*/ 1172150 h 1224972"/>
              <a:gd name="connsiteX1" fmla="*/ 6731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191249"/>
              <a:gd name="connsiteX1" fmla="*/ 685800 w 2120900"/>
              <a:gd name="connsiteY1" fmla="*/ 1108650 h 1191249"/>
              <a:gd name="connsiteX2" fmla="*/ 1339850 w 2120900"/>
              <a:gd name="connsiteY2" fmla="*/ 143450 h 1191249"/>
              <a:gd name="connsiteX3" fmla="*/ 2120900 w 2120900"/>
              <a:gd name="connsiteY3" fmla="*/ 22800 h 1191249"/>
              <a:gd name="connsiteX0" fmla="*/ 0 w 2120900"/>
              <a:gd name="connsiteY0" fmla="*/ 1172150 h 1224972"/>
              <a:gd name="connsiteX1" fmla="*/ 685800 w 2120900"/>
              <a:gd name="connsiteY1" fmla="*/ 1108650 h 1224972"/>
              <a:gd name="connsiteX2" fmla="*/ 1339850 w 2120900"/>
              <a:gd name="connsiteY2" fmla="*/ 143450 h 1224972"/>
              <a:gd name="connsiteX3" fmla="*/ 2120900 w 2120900"/>
              <a:gd name="connsiteY3" fmla="*/ 22800 h 122497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4652"/>
              <a:gd name="connsiteX1" fmla="*/ 685800 w 2120900"/>
              <a:gd name="connsiteY1" fmla="*/ 1108650 h 1204652"/>
              <a:gd name="connsiteX2" fmla="*/ 1339850 w 2120900"/>
              <a:gd name="connsiteY2" fmla="*/ 143450 h 1204652"/>
              <a:gd name="connsiteX3" fmla="*/ 2120900 w 2120900"/>
              <a:gd name="connsiteY3" fmla="*/ 22800 h 1204652"/>
              <a:gd name="connsiteX0" fmla="*/ 0 w 2120900"/>
              <a:gd name="connsiteY0" fmla="*/ 1172150 h 1200644"/>
              <a:gd name="connsiteX1" fmla="*/ 685800 w 2120900"/>
              <a:gd name="connsiteY1" fmla="*/ 1108650 h 1200644"/>
              <a:gd name="connsiteX2" fmla="*/ 1339850 w 2120900"/>
              <a:gd name="connsiteY2" fmla="*/ 143450 h 1200644"/>
              <a:gd name="connsiteX3" fmla="*/ 2120900 w 2120900"/>
              <a:gd name="connsiteY3" fmla="*/ 22800 h 1200644"/>
              <a:gd name="connsiteX0" fmla="*/ 0 w 2120900"/>
              <a:gd name="connsiteY0" fmla="*/ 1172150 h 1172150"/>
              <a:gd name="connsiteX1" fmla="*/ 685800 w 2120900"/>
              <a:gd name="connsiteY1" fmla="*/ 1108650 h 1172150"/>
              <a:gd name="connsiteX2" fmla="*/ 1339850 w 2120900"/>
              <a:gd name="connsiteY2" fmla="*/ 143450 h 1172150"/>
              <a:gd name="connsiteX3" fmla="*/ 2120900 w 2120900"/>
              <a:gd name="connsiteY3" fmla="*/ 22800 h 1172150"/>
              <a:gd name="connsiteX0" fmla="*/ 0 w 2120900"/>
              <a:gd name="connsiteY0" fmla="*/ 1158317 h 1158317"/>
              <a:gd name="connsiteX1" fmla="*/ 685800 w 2120900"/>
              <a:gd name="connsiteY1" fmla="*/ 1094817 h 1158317"/>
              <a:gd name="connsiteX2" fmla="*/ 1339850 w 2120900"/>
              <a:gd name="connsiteY2" fmla="*/ 129617 h 1158317"/>
              <a:gd name="connsiteX3" fmla="*/ 2120900 w 2120900"/>
              <a:gd name="connsiteY3" fmla="*/ 8967 h 1158317"/>
              <a:gd name="connsiteX0" fmla="*/ 0 w 2120900"/>
              <a:gd name="connsiteY0" fmla="*/ 1158317 h 1158317"/>
              <a:gd name="connsiteX1" fmla="*/ 685800 w 2120900"/>
              <a:gd name="connsiteY1" fmla="*/ 1094817 h 1158317"/>
              <a:gd name="connsiteX2" fmla="*/ 1339850 w 2120900"/>
              <a:gd name="connsiteY2" fmla="*/ 129617 h 1158317"/>
              <a:gd name="connsiteX3" fmla="*/ 2120900 w 2120900"/>
              <a:gd name="connsiteY3" fmla="*/ 8967 h 1158317"/>
              <a:gd name="connsiteX0" fmla="*/ 0 w 2120900"/>
              <a:gd name="connsiteY0" fmla="*/ 1134504 h 1176789"/>
              <a:gd name="connsiteX1" fmla="*/ 685800 w 2120900"/>
              <a:gd name="connsiteY1" fmla="*/ 1094817 h 1176789"/>
              <a:gd name="connsiteX2" fmla="*/ 1339850 w 2120900"/>
              <a:gd name="connsiteY2" fmla="*/ 129617 h 1176789"/>
              <a:gd name="connsiteX3" fmla="*/ 2120900 w 2120900"/>
              <a:gd name="connsiteY3" fmla="*/ 8967 h 1176789"/>
              <a:gd name="connsiteX0" fmla="*/ 0 w 2163763"/>
              <a:gd name="connsiteY0" fmla="*/ 1167841 h 1191254"/>
              <a:gd name="connsiteX1" fmla="*/ 728663 w 2163763"/>
              <a:gd name="connsiteY1" fmla="*/ 1094817 h 1191254"/>
              <a:gd name="connsiteX2" fmla="*/ 1382713 w 2163763"/>
              <a:gd name="connsiteY2" fmla="*/ 129617 h 1191254"/>
              <a:gd name="connsiteX3" fmla="*/ 2163763 w 2163763"/>
              <a:gd name="connsiteY3" fmla="*/ 8967 h 1191254"/>
              <a:gd name="connsiteX0" fmla="*/ 0 w 2163763"/>
              <a:gd name="connsiteY0" fmla="*/ 1167841 h 1169038"/>
              <a:gd name="connsiteX1" fmla="*/ 728663 w 2163763"/>
              <a:gd name="connsiteY1" fmla="*/ 1094817 h 1169038"/>
              <a:gd name="connsiteX2" fmla="*/ 1382713 w 2163763"/>
              <a:gd name="connsiteY2" fmla="*/ 129617 h 1169038"/>
              <a:gd name="connsiteX3" fmla="*/ 2163763 w 2163763"/>
              <a:gd name="connsiteY3" fmla="*/ 8967 h 1169038"/>
              <a:gd name="connsiteX0" fmla="*/ 0 w 2163763"/>
              <a:gd name="connsiteY0" fmla="*/ 1167841 h 1169038"/>
              <a:gd name="connsiteX1" fmla="*/ 728663 w 2163763"/>
              <a:gd name="connsiteY1" fmla="*/ 1094817 h 1169038"/>
              <a:gd name="connsiteX2" fmla="*/ 1382713 w 2163763"/>
              <a:gd name="connsiteY2" fmla="*/ 129617 h 1169038"/>
              <a:gd name="connsiteX3" fmla="*/ 2163763 w 2163763"/>
              <a:gd name="connsiteY3" fmla="*/ 8967 h 116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763" h="1169038">
                <a:moveTo>
                  <a:pt x="0" y="1167841"/>
                </a:moveTo>
                <a:cubicBezTo>
                  <a:pt x="212196" y="1151966"/>
                  <a:pt x="469636" y="1210704"/>
                  <a:pt x="728663" y="1094817"/>
                </a:cubicBezTo>
                <a:cubicBezTo>
                  <a:pt x="987690" y="978930"/>
                  <a:pt x="1143530" y="310592"/>
                  <a:pt x="1382713" y="129617"/>
                </a:cubicBezTo>
                <a:cubicBezTo>
                  <a:pt x="1621896" y="-51358"/>
                  <a:pt x="1874838" y="10554"/>
                  <a:pt x="2163763" y="8967"/>
                </a:cubicBezTo>
              </a:path>
            </a:pathLst>
          </a:cu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/>
              <p:nvPr/>
            </p:nvSpPr>
            <p:spPr>
              <a:xfrm>
                <a:off x="7381222" y="2689797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-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8" name="TextBox 30">
                <a:extLst>
                  <a:ext uri="{FF2B5EF4-FFF2-40B4-BE49-F238E27FC236}">
                    <a16:creationId xmlns:a16="http://schemas.microsoft.com/office/drawing/2014/main" id="{4D1554DC-6ECE-4680-B194-D6A09968A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222" y="2689797"/>
                <a:ext cx="745112" cy="446444"/>
              </a:xfrm>
              <a:prstGeom prst="rect">
                <a:avLst/>
              </a:prstGeom>
              <a:blipFill>
                <a:blip r:embed="rId3"/>
                <a:stretch>
                  <a:fillRect l="-820" t="-13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32">
            <a:extLst>
              <a:ext uri="{FF2B5EF4-FFF2-40B4-BE49-F238E27FC236}">
                <a16:creationId xmlns:a16="http://schemas.microsoft.com/office/drawing/2014/main" id="{6A8F6AED-76ED-4329-ACC5-C3FE4CE27245}"/>
              </a:ext>
            </a:extLst>
          </p:cNvPr>
          <p:cNvSpPr txBox="1"/>
          <p:nvPr/>
        </p:nvSpPr>
        <p:spPr>
          <a:xfrm>
            <a:off x="8934900" y="1696233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1</a:t>
            </a:r>
          </a:p>
        </p:txBody>
      </p:sp>
      <p:sp>
        <p:nvSpPr>
          <p:cNvPr id="10" name="TextBox 33">
            <a:extLst>
              <a:ext uri="{FF2B5EF4-FFF2-40B4-BE49-F238E27FC236}">
                <a16:creationId xmlns:a16="http://schemas.microsoft.com/office/drawing/2014/main" id="{66C7ADBC-2522-41D5-AD69-E7420650223B}"/>
              </a:ext>
            </a:extLst>
          </p:cNvPr>
          <p:cNvSpPr txBox="1"/>
          <p:nvPr/>
        </p:nvSpPr>
        <p:spPr>
          <a:xfrm>
            <a:off x="8962162" y="2809146"/>
            <a:ext cx="446977" cy="44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0</a:t>
            </a: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891CB1FE-79B6-486D-9715-54BCFE85F0A4}"/>
              </a:ext>
            </a:extLst>
          </p:cNvPr>
          <p:cNvSpPr txBox="1"/>
          <p:nvPr/>
        </p:nvSpPr>
        <p:spPr>
          <a:xfrm>
            <a:off x="10834349" y="2523143"/>
            <a:ext cx="40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/>
              <p:nvPr/>
            </p:nvSpPr>
            <p:spPr>
              <a:xfrm>
                <a:off x="10856773" y="2795306"/>
                <a:ext cx="745112" cy="446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1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12" name="TextBox 29">
                <a:extLst>
                  <a:ext uri="{FF2B5EF4-FFF2-40B4-BE49-F238E27FC236}">
                    <a16:creationId xmlns:a16="http://schemas.microsoft.com/office/drawing/2014/main" id="{67162EE6-6070-4782-8232-F88F3EC53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6773" y="2795306"/>
                <a:ext cx="745112" cy="446444"/>
              </a:xfrm>
              <a:prstGeom prst="rect">
                <a:avLst/>
              </a:prstGeom>
              <a:blipFill>
                <a:blip r:embed="rId4"/>
                <a:stretch>
                  <a:fillRect l="-820" t="-27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32">
            <a:extLst>
              <a:ext uri="{FF2B5EF4-FFF2-40B4-BE49-F238E27FC236}">
                <a16:creationId xmlns:a16="http://schemas.microsoft.com/office/drawing/2014/main" id="{6A8F6AED-76ED-4329-ACC5-C3FE4CE27245}"/>
              </a:ext>
            </a:extLst>
          </p:cNvPr>
          <p:cNvSpPr txBox="1"/>
          <p:nvPr/>
        </p:nvSpPr>
        <p:spPr>
          <a:xfrm>
            <a:off x="8934900" y="3537945"/>
            <a:ext cx="465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15" y="1481778"/>
            <a:ext cx="4690561" cy="239326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10990450" y="1928396"/>
            <a:ext cx="87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tanh</a:t>
            </a:r>
            <a:r>
              <a:rPr lang="en-IN" b="1" dirty="0">
                <a:solidFill>
                  <a:srgbClr val="7030A0"/>
                </a:solidFill>
              </a:rPr>
              <a:t>(Z)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4626" y="3933590"/>
            <a:ext cx="1504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Tanh Function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7500134" y="5875105"/>
            <a:ext cx="3865651" cy="692"/>
          </a:xfrm>
          <a:prstGeom prst="line">
            <a:avLst/>
          </a:prstGeom>
          <a:ln w="2222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519682" y="4920824"/>
            <a:ext cx="1" cy="954281"/>
          </a:xfrm>
          <a:prstGeom prst="line">
            <a:avLst/>
          </a:prstGeom>
          <a:ln w="22225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855722" y="4920824"/>
            <a:ext cx="3349625" cy="964261"/>
          </a:xfrm>
          <a:custGeom>
            <a:avLst/>
            <a:gdLst>
              <a:gd name="connsiteX0" fmla="*/ 0 w 3162300"/>
              <a:gd name="connsiteY0" fmla="*/ 955919 h 989366"/>
              <a:gd name="connsiteX1" fmla="*/ 647700 w 3162300"/>
              <a:gd name="connsiteY1" fmla="*/ 894959 h 989366"/>
              <a:gd name="connsiteX2" fmla="*/ 1257300 w 3162300"/>
              <a:gd name="connsiteY2" fmla="*/ 155819 h 989366"/>
              <a:gd name="connsiteX3" fmla="*/ 1668780 w 3162300"/>
              <a:gd name="connsiteY3" fmla="*/ 56759 h 989366"/>
              <a:gd name="connsiteX4" fmla="*/ 2468880 w 3162300"/>
              <a:gd name="connsiteY4" fmla="*/ 849239 h 989366"/>
              <a:gd name="connsiteX5" fmla="*/ 3162300 w 3162300"/>
              <a:gd name="connsiteY5" fmla="*/ 910199 h 989366"/>
              <a:gd name="connsiteX0" fmla="*/ 0 w 3282950"/>
              <a:gd name="connsiteY0" fmla="*/ 940044 h 980099"/>
              <a:gd name="connsiteX1" fmla="*/ 768350 w 3282950"/>
              <a:gd name="connsiteY1" fmla="*/ 894959 h 980099"/>
              <a:gd name="connsiteX2" fmla="*/ 1377950 w 3282950"/>
              <a:gd name="connsiteY2" fmla="*/ 155819 h 980099"/>
              <a:gd name="connsiteX3" fmla="*/ 1789430 w 3282950"/>
              <a:gd name="connsiteY3" fmla="*/ 56759 h 980099"/>
              <a:gd name="connsiteX4" fmla="*/ 2589530 w 3282950"/>
              <a:gd name="connsiteY4" fmla="*/ 849239 h 980099"/>
              <a:gd name="connsiteX5" fmla="*/ 3282950 w 3282950"/>
              <a:gd name="connsiteY5" fmla="*/ 910199 h 980099"/>
              <a:gd name="connsiteX0" fmla="*/ 0 w 3282950"/>
              <a:gd name="connsiteY0" fmla="*/ 940166 h 981861"/>
              <a:gd name="connsiteX1" fmla="*/ 746125 w 3282950"/>
              <a:gd name="connsiteY1" fmla="*/ 898256 h 981861"/>
              <a:gd name="connsiteX2" fmla="*/ 1377950 w 3282950"/>
              <a:gd name="connsiteY2" fmla="*/ 155941 h 981861"/>
              <a:gd name="connsiteX3" fmla="*/ 1789430 w 3282950"/>
              <a:gd name="connsiteY3" fmla="*/ 56881 h 981861"/>
              <a:gd name="connsiteX4" fmla="*/ 2589530 w 3282950"/>
              <a:gd name="connsiteY4" fmla="*/ 849361 h 981861"/>
              <a:gd name="connsiteX5" fmla="*/ 3282950 w 3282950"/>
              <a:gd name="connsiteY5" fmla="*/ 910321 h 981861"/>
              <a:gd name="connsiteX0" fmla="*/ 0 w 3282950"/>
              <a:gd name="connsiteY0" fmla="*/ 940166 h 961374"/>
              <a:gd name="connsiteX1" fmla="*/ 746125 w 3282950"/>
              <a:gd name="connsiteY1" fmla="*/ 898256 h 961374"/>
              <a:gd name="connsiteX2" fmla="*/ 1377950 w 3282950"/>
              <a:gd name="connsiteY2" fmla="*/ 155941 h 961374"/>
              <a:gd name="connsiteX3" fmla="*/ 1789430 w 3282950"/>
              <a:gd name="connsiteY3" fmla="*/ 56881 h 961374"/>
              <a:gd name="connsiteX4" fmla="*/ 2589530 w 3282950"/>
              <a:gd name="connsiteY4" fmla="*/ 849361 h 961374"/>
              <a:gd name="connsiteX5" fmla="*/ 3282950 w 3282950"/>
              <a:gd name="connsiteY5" fmla="*/ 910321 h 961374"/>
              <a:gd name="connsiteX0" fmla="*/ 0 w 3282950"/>
              <a:gd name="connsiteY0" fmla="*/ 940166 h 961374"/>
              <a:gd name="connsiteX1" fmla="*/ 746125 w 3282950"/>
              <a:gd name="connsiteY1" fmla="*/ 898256 h 961374"/>
              <a:gd name="connsiteX2" fmla="*/ 1377950 w 3282950"/>
              <a:gd name="connsiteY2" fmla="*/ 155941 h 961374"/>
              <a:gd name="connsiteX3" fmla="*/ 1789430 w 3282950"/>
              <a:gd name="connsiteY3" fmla="*/ 56881 h 961374"/>
              <a:gd name="connsiteX4" fmla="*/ 2589530 w 3282950"/>
              <a:gd name="connsiteY4" fmla="*/ 849361 h 961374"/>
              <a:gd name="connsiteX5" fmla="*/ 3282950 w 3282950"/>
              <a:gd name="connsiteY5" fmla="*/ 910321 h 961374"/>
              <a:gd name="connsiteX0" fmla="*/ 0 w 3308350"/>
              <a:gd name="connsiteY0" fmla="*/ 940166 h 961374"/>
              <a:gd name="connsiteX1" fmla="*/ 746125 w 3308350"/>
              <a:gd name="connsiteY1" fmla="*/ 898256 h 961374"/>
              <a:gd name="connsiteX2" fmla="*/ 1377950 w 3308350"/>
              <a:gd name="connsiteY2" fmla="*/ 155941 h 961374"/>
              <a:gd name="connsiteX3" fmla="*/ 1789430 w 3308350"/>
              <a:gd name="connsiteY3" fmla="*/ 56881 h 961374"/>
              <a:gd name="connsiteX4" fmla="*/ 2589530 w 3308350"/>
              <a:gd name="connsiteY4" fmla="*/ 849361 h 961374"/>
              <a:gd name="connsiteX5" fmla="*/ 3308350 w 3308350"/>
              <a:gd name="connsiteY5" fmla="*/ 935721 h 961374"/>
              <a:gd name="connsiteX0" fmla="*/ 0 w 3308350"/>
              <a:gd name="connsiteY0" fmla="*/ 940166 h 961374"/>
              <a:gd name="connsiteX1" fmla="*/ 746125 w 3308350"/>
              <a:gd name="connsiteY1" fmla="*/ 898256 h 961374"/>
              <a:gd name="connsiteX2" fmla="*/ 1377950 w 3308350"/>
              <a:gd name="connsiteY2" fmla="*/ 155941 h 961374"/>
              <a:gd name="connsiteX3" fmla="*/ 1789430 w 3308350"/>
              <a:gd name="connsiteY3" fmla="*/ 56881 h 961374"/>
              <a:gd name="connsiteX4" fmla="*/ 2589530 w 3308350"/>
              <a:gd name="connsiteY4" fmla="*/ 849361 h 961374"/>
              <a:gd name="connsiteX5" fmla="*/ 3308350 w 3308350"/>
              <a:gd name="connsiteY5" fmla="*/ 935721 h 961374"/>
              <a:gd name="connsiteX0" fmla="*/ 0 w 3308350"/>
              <a:gd name="connsiteY0" fmla="*/ 931706 h 952914"/>
              <a:gd name="connsiteX1" fmla="*/ 746125 w 3308350"/>
              <a:gd name="connsiteY1" fmla="*/ 889796 h 952914"/>
              <a:gd name="connsiteX2" fmla="*/ 1377950 w 3308350"/>
              <a:gd name="connsiteY2" fmla="*/ 147481 h 952914"/>
              <a:gd name="connsiteX3" fmla="*/ 1789430 w 3308350"/>
              <a:gd name="connsiteY3" fmla="*/ 48421 h 952914"/>
              <a:gd name="connsiteX4" fmla="*/ 2589530 w 3308350"/>
              <a:gd name="connsiteY4" fmla="*/ 840901 h 952914"/>
              <a:gd name="connsiteX5" fmla="*/ 3308350 w 3308350"/>
              <a:gd name="connsiteY5" fmla="*/ 927261 h 952914"/>
              <a:gd name="connsiteX0" fmla="*/ 0 w 3308350"/>
              <a:gd name="connsiteY0" fmla="*/ 917608 h 938816"/>
              <a:gd name="connsiteX1" fmla="*/ 746125 w 3308350"/>
              <a:gd name="connsiteY1" fmla="*/ 875698 h 938816"/>
              <a:gd name="connsiteX2" fmla="*/ 1377950 w 3308350"/>
              <a:gd name="connsiteY2" fmla="*/ 133383 h 938816"/>
              <a:gd name="connsiteX3" fmla="*/ 1789430 w 3308350"/>
              <a:gd name="connsiteY3" fmla="*/ 34323 h 938816"/>
              <a:gd name="connsiteX4" fmla="*/ 2589530 w 3308350"/>
              <a:gd name="connsiteY4" fmla="*/ 826803 h 938816"/>
              <a:gd name="connsiteX5" fmla="*/ 3308350 w 3308350"/>
              <a:gd name="connsiteY5" fmla="*/ 913163 h 938816"/>
              <a:gd name="connsiteX0" fmla="*/ 0 w 3308350"/>
              <a:gd name="connsiteY0" fmla="*/ 914075 h 935283"/>
              <a:gd name="connsiteX1" fmla="*/ 746125 w 3308350"/>
              <a:gd name="connsiteY1" fmla="*/ 872165 h 935283"/>
              <a:gd name="connsiteX2" fmla="*/ 1377950 w 3308350"/>
              <a:gd name="connsiteY2" fmla="*/ 129850 h 935283"/>
              <a:gd name="connsiteX3" fmla="*/ 1789430 w 3308350"/>
              <a:gd name="connsiteY3" fmla="*/ 30790 h 935283"/>
              <a:gd name="connsiteX4" fmla="*/ 2589530 w 3308350"/>
              <a:gd name="connsiteY4" fmla="*/ 823270 h 935283"/>
              <a:gd name="connsiteX5" fmla="*/ 3308350 w 3308350"/>
              <a:gd name="connsiteY5" fmla="*/ 909630 h 935283"/>
              <a:gd name="connsiteX0" fmla="*/ 0 w 3308350"/>
              <a:gd name="connsiteY0" fmla="*/ 910395 h 931603"/>
              <a:gd name="connsiteX1" fmla="*/ 746125 w 3308350"/>
              <a:gd name="connsiteY1" fmla="*/ 868485 h 931603"/>
              <a:gd name="connsiteX2" fmla="*/ 1377950 w 3308350"/>
              <a:gd name="connsiteY2" fmla="*/ 126170 h 931603"/>
              <a:gd name="connsiteX3" fmla="*/ 1789430 w 3308350"/>
              <a:gd name="connsiteY3" fmla="*/ 27110 h 931603"/>
              <a:gd name="connsiteX4" fmla="*/ 2589530 w 3308350"/>
              <a:gd name="connsiteY4" fmla="*/ 819590 h 931603"/>
              <a:gd name="connsiteX5" fmla="*/ 3308350 w 3308350"/>
              <a:gd name="connsiteY5" fmla="*/ 905950 h 931603"/>
              <a:gd name="connsiteX0" fmla="*/ 0 w 3349625"/>
              <a:gd name="connsiteY0" fmla="*/ 958020 h 982157"/>
              <a:gd name="connsiteX1" fmla="*/ 787400 w 3349625"/>
              <a:gd name="connsiteY1" fmla="*/ 868485 h 982157"/>
              <a:gd name="connsiteX2" fmla="*/ 1419225 w 3349625"/>
              <a:gd name="connsiteY2" fmla="*/ 126170 h 982157"/>
              <a:gd name="connsiteX3" fmla="*/ 1830705 w 3349625"/>
              <a:gd name="connsiteY3" fmla="*/ 27110 h 982157"/>
              <a:gd name="connsiteX4" fmla="*/ 2630805 w 3349625"/>
              <a:gd name="connsiteY4" fmla="*/ 819590 h 982157"/>
              <a:gd name="connsiteX5" fmla="*/ 3349625 w 3349625"/>
              <a:gd name="connsiteY5" fmla="*/ 905950 h 982157"/>
              <a:gd name="connsiteX0" fmla="*/ 0 w 3349625"/>
              <a:gd name="connsiteY0" fmla="*/ 958020 h 960319"/>
              <a:gd name="connsiteX1" fmla="*/ 787400 w 3349625"/>
              <a:gd name="connsiteY1" fmla="*/ 868485 h 960319"/>
              <a:gd name="connsiteX2" fmla="*/ 1419225 w 3349625"/>
              <a:gd name="connsiteY2" fmla="*/ 126170 h 960319"/>
              <a:gd name="connsiteX3" fmla="*/ 1830705 w 3349625"/>
              <a:gd name="connsiteY3" fmla="*/ 27110 h 960319"/>
              <a:gd name="connsiteX4" fmla="*/ 2630805 w 3349625"/>
              <a:gd name="connsiteY4" fmla="*/ 819590 h 960319"/>
              <a:gd name="connsiteX5" fmla="*/ 3349625 w 3349625"/>
              <a:gd name="connsiteY5" fmla="*/ 905950 h 960319"/>
              <a:gd name="connsiteX0" fmla="*/ 0 w 3349625"/>
              <a:gd name="connsiteY0" fmla="*/ 964248 h 964248"/>
              <a:gd name="connsiteX1" fmla="*/ 774700 w 3349625"/>
              <a:gd name="connsiteY1" fmla="*/ 849313 h 964248"/>
              <a:gd name="connsiteX2" fmla="*/ 1419225 w 3349625"/>
              <a:gd name="connsiteY2" fmla="*/ 132398 h 964248"/>
              <a:gd name="connsiteX3" fmla="*/ 1830705 w 3349625"/>
              <a:gd name="connsiteY3" fmla="*/ 33338 h 964248"/>
              <a:gd name="connsiteX4" fmla="*/ 2630805 w 3349625"/>
              <a:gd name="connsiteY4" fmla="*/ 825818 h 964248"/>
              <a:gd name="connsiteX5" fmla="*/ 3349625 w 3349625"/>
              <a:gd name="connsiteY5" fmla="*/ 912178 h 964248"/>
              <a:gd name="connsiteX0" fmla="*/ 0 w 3349625"/>
              <a:gd name="connsiteY0" fmla="*/ 964248 h 964248"/>
              <a:gd name="connsiteX1" fmla="*/ 774700 w 3349625"/>
              <a:gd name="connsiteY1" fmla="*/ 849313 h 964248"/>
              <a:gd name="connsiteX2" fmla="*/ 1419225 w 3349625"/>
              <a:gd name="connsiteY2" fmla="*/ 132398 h 964248"/>
              <a:gd name="connsiteX3" fmla="*/ 1830705 w 3349625"/>
              <a:gd name="connsiteY3" fmla="*/ 33338 h 964248"/>
              <a:gd name="connsiteX4" fmla="*/ 2630805 w 3349625"/>
              <a:gd name="connsiteY4" fmla="*/ 825818 h 964248"/>
              <a:gd name="connsiteX5" fmla="*/ 3349625 w 3349625"/>
              <a:gd name="connsiteY5" fmla="*/ 912178 h 964248"/>
              <a:gd name="connsiteX0" fmla="*/ 0 w 3349625"/>
              <a:gd name="connsiteY0" fmla="*/ 974162 h 974162"/>
              <a:gd name="connsiteX1" fmla="*/ 774700 w 3349625"/>
              <a:gd name="connsiteY1" fmla="*/ 859227 h 974162"/>
              <a:gd name="connsiteX2" fmla="*/ 1419225 w 3349625"/>
              <a:gd name="connsiteY2" fmla="*/ 142312 h 974162"/>
              <a:gd name="connsiteX3" fmla="*/ 1830705 w 3349625"/>
              <a:gd name="connsiteY3" fmla="*/ 43252 h 974162"/>
              <a:gd name="connsiteX4" fmla="*/ 2630805 w 3349625"/>
              <a:gd name="connsiteY4" fmla="*/ 835732 h 974162"/>
              <a:gd name="connsiteX5" fmla="*/ 3349625 w 3349625"/>
              <a:gd name="connsiteY5" fmla="*/ 922092 h 974162"/>
              <a:gd name="connsiteX0" fmla="*/ 0 w 3349625"/>
              <a:gd name="connsiteY0" fmla="*/ 1006025 h 1006025"/>
              <a:gd name="connsiteX1" fmla="*/ 774700 w 3349625"/>
              <a:gd name="connsiteY1" fmla="*/ 891090 h 1006025"/>
              <a:gd name="connsiteX2" fmla="*/ 1419225 w 3349625"/>
              <a:gd name="connsiteY2" fmla="*/ 174175 h 1006025"/>
              <a:gd name="connsiteX3" fmla="*/ 1830705 w 3349625"/>
              <a:gd name="connsiteY3" fmla="*/ 75115 h 1006025"/>
              <a:gd name="connsiteX4" fmla="*/ 2630805 w 3349625"/>
              <a:gd name="connsiteY4" fmla="*/ 867595 h 1006025"/>
              <a:gd name="connsiteX5" fmla="*/ 3349625 w 3349625"/>
              <a:gd name="connsiteY5" fmla="*/ 953955 h 1006025"/>
              <a:gd name="connsiteX0" fmla="*/ 0 w 3349625"/>
              <a:gd name="connsiteY0" fmla="*/ 968312 h 968312"/>
              <a:gd name="connsiteX1" fmla="*/ 774700 w 3349625"/>
              <a:gd name="connsiteY1" fmla="*/ 853377 h 968312"/>
              <a:gd name="connsiteX2" fmla="*/ 1419225 w 3349625"/>
              <a:gd name="connsiteY2" fmla="*/ 136462 h 968312"/>
              <a:gd name="connsiteX3" fmla="*/ 1843405 w 3349625"/>
              <a:gd name="connsiteY3" fmla="*/ 75502 h 968312"/>
              <a:gd name="connsiteX4" fmla="*/ 2630805 w 3349625"/>
              <a:gd name="connsiteY4" fmla="*/ 829882 h 968312"/>
              <a:gd name="connsiteX5" fmla="*/ 3349625 w 3349625"/>
              <a:gd name="connsiteY5" fmla="*/ 916242 h 968312"/>
              <a:gd name="connsiteX0" fmla="*/ 0 w 3349625"/>
              <a:gd name="connsiteY0" fmla="*/ 968312 h 968312"/>
              <a:gd name="connsiteX1" fmla="*/ 774700 w 3349625"/>
              <a:gd name="connsiteY1" fmla="*/ 853377 h 968312"/>
              <a:gd name="connsiteX2" fmla="*/ 1419225 w 3349625"/>
              <a:gd name="connsiteY2" fmla="*/ 136462 h 968312"/>
              <a:gd name="connsiteX3" fmla="*/ 1843405 w 3349625"/>
              <a:gd name="connsiteY3" fmla="*/ 75502 h 968312"/>
              <a:gd name="connsiteX4" fmla="*/ 2630805 w 3349625"/>
              <a:gd name="connsiteY4" fmla="*/ 829882 h 968312"/>
              <a:gd name="connsiteX5" fmla="*/ 3349625 w 3349625"/>
              <a:gd name="connsiteY5" fmla="*/ 916242 h 968312"/>
              <a:gd name="connsiteX0" fmla="*/ 0 w 3349625"/>
              <a:gd name="connsiteY0" fmla="*/ 958632 h 958632"/>
              <a:gd name="connsiteX1" fmla="*/ 774700 w 3349625"/>
              <a:gd name="connsiteY1" fmla="*/ 843697 h 958632"/>
              <a:gd name="connsiteX2" fmla="*/ 1419225 w 3349625"/>
              <a:gd name="connsiteY2" fmla="*/ 126782 h 958632"/>
              <a:gd name="connsiteX3" fmla="*/ 1843405 w 3349625"/>
              <a:gd name="connsiteY3" fmla="*/ 65822 h 958632"/>
              <a:gd name="connsiteX4" fmla="*/ 2630805 w 3349625"/>
              <a:gd name="connsiteY4" fmla="*/ 820202 h 958632"/>
              <a:gd name="connsiteX5" fmla="*/ 3349625 w 3349625"/>
              <a:gd name="connsiteY5" fmla="*/ 906562 h 958632"/>
              <a:gd name="connsiteX0" fmla="*/ 0 w 3349625"/>
              <a:gd name="connsiteY0" fmla="*/ 972264 h 972264"/>
              <a:gd name="connsiteX1" fmla="*/ 774700 w 3349625"/>
              <a:gd name="connsiteY1" fmla="*/ 857329 h 972264"/>
              <a:gd name="connsiteX2" fmla="*/ 1419225 w 3349625"/>
              <a:gd name="connsiteY2" fmla="*/ 140414 h 972264"/>
              <a:gd name="connsiteX3" fmla="*/ 1843405 w 3349625"/>
              <a:gd name="connsiteY3" fmla="*/ 79454 h 972264"/>
              <a:gd name="connsiteX4" fmla="*/ 2630805 w 3349625"/>
              <a:gd name="connsiteY4" fmla="*/ 833834 h 972264"/>
              <a:gd name="connsiteX5" fmla="*/ 3349625 w 3349625"/>
              <a:gd name="connsiteY5" fmla="*/ 920194 h 972264"/>
              <a:gd name="connsiteX0" fmla="*/ 0 w 3349625"/>
              <a:gd name="connsiteY0" fmla="*/ 974883 h 974883"/>
              <a:gd name="connsiteX1" fmla="*/ 774700 w 3349625"/>
              <a:gd name="connsiteY1" fmla="*/ 859948 h 974883"/>
              <a:gd name="connsiteX2" fmla="*/ 1419225 w 3349625"/>
              <a:gd name="connsiteY2" fmla="*/ 143033 h 974883"/>
              <a:gd name="connsiteX3" fmla="*/ 1843405 w 3349625"/>
              <a:gd name="connsiteY3" fmla="*/ 82073 h 974883"/>
              <a:gd name="connsiteX4" fmla="*/ 2586355 w 3349625"/>
              <a:gd name="connsiteY4" fmla="*/ 874553 h 974883"/>
              <a:gd name="connsiteX5" fmla="*/ 3349625 w 3349625"/>
              <a:gd name="connsiteY5" fmla="*/ 922813 h 974883"/>
              <a:gd name="connsiteX0" fmla="*/ 0 w 3349625"/>
              <a:gd name="connsiteY0" fmla="*/ 974883 h 974883"/>
              <a:gd name="connsiteX1" fmla="*/ 774700 w 3349625"/>
              <a:gd name="connsiteY1" fmla="*/ 859948 h 974883"/>
              <a:gd name="connsiteX2" fmla="*/ 1419225 w 3349625"/>
              <a:gd name="connsiteY2" fmla="*/ 143033 h 974883"/>
              <a:gd name="connsiteX3" fmla="*/ 1843405 w 3349625"/>
              <a:gd name="connsiteY3" fmla="*/ 82073 h 974883"/>
              <a:gd name="connsiteX4" fmla="*/ 2586355 w 3349625"/>
              <a:gd name="connsiteY4" fmla="*/ 874553 h 974883"/>
              <a:gd name="connsiteX5" fmla="*/ 3349625 w 3349625"/>
              <a:gd name="connsiteY5" fmla="*/ 957738 h 974883"/>
              <a:gd name="connsiteX0" fmla="*/ 0 w 3349625"/>
              <a:gd name="connsiteY0" fmla="*/ 974883 h 974883"/>
              <a:gd name="connsiteX1" fmla="*/ 774700 w 3349625"/>
              <a:gd name="connsiteY1" fmla="*/ 859948 h 974883"/>
              <a:gd name="connsiteX2" fmla="*/ 1419225 w 3349625"/>
              <a:gd name="connsiteY2" fmla="*/ 143033 h 974883"/>
              <a:gd name="connsiteX3" fmla="*/ 1843405 w 3349625"/>
              <a:gd name="connsiteY3" fmla="*/ 82073 h 974883"/>
              <a:gd name="connsiteX4" fmla="*/ 2586355 w 3349625"/>
              <a:gd name="connsiteY4" fmla="*/ 874553 h 974883"/>
              <a:gd name="connsiteX5" fmla="*/ 3349625 w 3349625"/>
              <a:gd name="connsiteY5" fmla="*/ 957738 h 974883"/>
              <a:gd name="connsiteX0" fmla="*/ 0 w 3349625"/>
              <a:gd name="connsiteY0" fmla="*/ 984150 h 984150"/>
              <a:gd name="connsiteX1" fmla="*/ 774700 w 3349625"/>
              <a:gd name="connsiteY1" fmla="*/ 869215 h 984150"/>
              <a:gd name="connsiteX2" fmla="*/ 1419225 w 3349625"/>
              <a:gd name="connsiteY2" fmla="*/ 152300 h 984150"/>
              <a:gd name="connsiteX3" fmla="*/ 1843405 w 3349625"/>
              <a:gd name="connsiteY3" fmla="*/ 91340 h 984150"/>
              <a:gd name="connsiteX4" fmla="*/ 2586355 w 3349625"/>
              <a:gd name="connsiteY4" fmla="*/ 883820 h 984150"/>
              <a:gd name="connsiteX5" fmla="*/ 3349625 w 3349625"/>
              <a:gd name="connsiteY5" fmla="*/ 967005 h 984150"/>
              <a:gd name="connsiteX0" fmla="*/ 0 w 3349625"/>
              <a:gd name="connsiteY0" fmla="*/ 978321 h 978321"/>
              <a:gd name="connsiteX1" fmla="*/ 774700 w 3349625"/>
              <a:gd name="connsiteY1" fmla="*/ 863386 h 978321"/>
              <a:gd name="connsiteX2" fmla="*/ 1419225 w 3349625"/>
              <a:gd name="connsiteY2" fmla="*/ 146471 h 978321"/>
              <a:gd name="connsiteX3" fmla="*/ 1843405 w 3349625"/>
              <a:gd name="connsiteY3" fmla="*/ 85511 h 978321"/>
              <a:gd name="connsiteX4" fmla="*/ 2586355 w 3349625"/>
              <a:gd name="connsiteY4" fmla="*/ 877991 h 978321"/>
              <a:gd name="connsiteX5" fmla="*/ 3349625 w 3349625"/>
              <a:gd name="connsiteY5" fmla="*/ 961176 h 978321"/>
              <a:gd name="connsiteX0" fmla="*/ 0 w 3349625"/>
              <a:gd name="connsiteY0" fmla="*/ 982170 h 982170"/>
              <a:gd name="connsiteX1" fmla="*/ 774700 w 3349625"/>
              <a:gd name="connsiteY1" fmla="*/ 867235 h 982170"/>
              <a:gd name="connsiteX2" fmla="*/ 1419225 w 3349625"/>
              <a:gd name="connsiteY2" fmla="*/ 150320 h 982170"/>
              <a:gd name="connsiteX3" fmla="*/ 1843405 w 3349625"/>
              <a:gd name="connsiteY3" fmla="*/ 89360 h 982170"/>
              <a:gd name="connsiteX4" fmla="*/ 2586355 w 3349625"/>
              <a:gd name="connsiteY4" fmla="*/ 881840 h 982170"/>
              <a:gd name="connsiteX5" fmla="*/ 3349625 w 3349625"/>
              <a:gd name="connsiteY5" fmla="*/ 965025 h 982170"/>
              <a:gd name="connsiteX0" fmla="*/ 0 w 3349625"/>
              <a:gd name="connsiteY0" fmla="*/ 964261 h 964261"/>
              <a:gd name="connsiteX1" fmla="*/ 774700 w 3349625"/>
              <a:gd name="connsiteY1" fmla="*/ 849326 h 964261"/>
              <a:gd name="connsiteX2" fmla="*/ 1416050 w 3349625"/>
              <a:gd name="connsiteY2" fmla="*/ 151461 h 964261"/>
              <a:gd name="connsiteX3" fmla="*/ 1843405 w 3349625"/>
              <a:gd name="connsiteY3" fmla="*/ 71451 h 964261"/>
              <a:gd name="connsiteX4" fmla="*/ 2586355 w 3349625"/>
              <a:gd name="connsiteY4" fmla="*/ 863931 h 964261"/>
              <a:gd name="connsiteX5" fmla="*/ 3349625 w 3349625"/>
              <a:gd name="connsiteY5" fmla="*/ 947116 h 964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49625" h="964261">
                <a:moveTo>
                  <a:pt x="0" y="964261"/>
                </a:moveTo>
                <a:cubicBezTo>
                  <a:pt x="215900" y="949656"/>
                  <a:pt x="538692" y="984793"/>
                  <a:pt x="774700" y="849326"/>
                </a:cubicBezTo>
                <a:cubicBezTo>
                  <a:pt x="1010708" y="713859"/>
                  <a:pt x="1256983" y="319207"/>
                  <a:pt x="1416050" y="151461"/>
                </a:cubicBezTo>
                <a:cubicBezTo>
                  <a:pt x="1575117" y="-16285"/>
                  <a:pt x="1648354" y="-47294"/>
                  <a:pt x="1843405" y="71451"/>
                </a:cubicBezTo>
                <a:cubicBezTo>
                  <a:pt x="2038456" y="190196"/>
                  <a:pt x="2313093" y="749737"/>
                  <a:pt x="2586355" y="863931"/>
                </a:cubicBezTo>
                <a:cubicBezTo>
                  <a:pt x="2859617" y="978125"/>
                  <a:pt x="3127375" y="956006"/>
                  <a:pt x="3349625" y="947116"/>
                </a:cubicBezTo>
              </a:path>
            </a:pathLst>
          </a:custGeom>
          <a:noFill/>
          <a:ln w="222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9CCF74-ED0D-4218-BCE2-15737D8B65FA}"/>
                  </a:ext>
                </a:extLst>
              </p:cNvPr>
              <p:cNvSpPr txBox="1"/>
              <p:nvPr/>
            </p:nvSpPr>
            <p:spPr>
              <a:xfrm>
                <a:off x="8276970" y="4487326"/>
                <a:ext cx="2485424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den>
                      </m:f>
                      <m:func>
                        <m:func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</m:fName>
                        <m:e>
                          <m:d>
                            <m:dPr>
                              <m:ctrlP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e>
                      </m:func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𝑺𝒆𝒄𝒉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9CCF74-ED0D-4218-BCE2-15737D8B6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970" y="4487326"/>
                <a:ext cx="2485424" cy="526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34">
            <a:extLst>
              <a:ext uri="{FF2B5EF4-FFF2-40B4-BE49-F238E27FC236}">
                <a16:creationId xmlns:a16="http://schemas.microsoft.com/office/drawing/2014/main" id="{891CB1FE-79B6-486D-9715-54BCFE85F0A4}"/>
              </a:ext>
            </a:extLst>
          </p:cNvPr>
          <p:cNvSpPr txBox="1"/>
          <p:nvPr/>
        </p:nvSpPr>
        <p:spPr>
          <a:xfrm>
            <a:off x="11283736" y="5552341"/>
            <a:ext cx="40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Helvetica Neue"/>
              </a:rPr>
              <a:t>Z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8189752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8551702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8961277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9523391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9859802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0247622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10666722" y="5829340"/>
            <a:ext cx="0" cy="45765"/>
          </a:xfrm>
          <a:prstGeom prst="line">
            <a:avLst/>
          </a:prstGeom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958C2D4E-F1A6-4CF6-908C-26809C1F29E4}"/>
              </a:ext>
            </a:extLst>
          </p:cNvPr>
          <p:cNvSpPr/>
          <p:nvPr/>
        </p:nvSpPr>
        <p:spPr>
          <a:xfrm>
            <a:off x="9333701" y="588124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49DAF22-5C28-4BA9-9EDB-01D29C7D876C}"/>
              </a:ext>
            </a:extLst>
          </p:cNvPr>
          <p:cNvSpPr/>
          <p:nvPr/>
        </p:nvSpPr>
        <p:spPr>
          <a:xfrm>
            <a:off x="9801158" y="588064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6EDDAB8-AA92-41A1-9D2C-AD284EC6069F}"/>
              </a:ext>
            </a:extLst>
          </p:cNvPr>
          <p:cNvSpPr/>
          <p:nvPr/>
        </p:nvSpPr>
        <p:spPr>
          <a:xfrm>
            <a:off x="10306694" y="588064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45B59F5-1EA2-4DB7-8E71-7D7EA5731B5D}"/>
              </a:ext>
            </a:extLst>
          </p:cNvPr>
          <p:cNvSpPr/>
          <p:nvPr/>
        </p:nvSpPr>
        <p:spPr>
          <a:xfrm>
            <a:off x="11084175" y="588124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A755AE-F1AA-4B18-9A02-52AC4EDD9FDA}"/>
              </a:ext>
            </a:extLst>
          </p:cNvPr>
          <p:cNvSpPr/>
          <p:nvPr/>
        </p:nvSpPr>
        <p:spPr>
          <a:xfrm>
            <a:off x="8762854" y="5862061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835AE40-1333-4DCD-AD46-7EE4F20868FF}"/>
              </a:ext>
            </a:extLst>
          </p:cNvPr>
          <p:cNvSpPr/>
          <p:nvPr/>
        </p:nvSpPr>
        <p:spPr>
          <a:xfrm>
            <a:off x="8248455" y="5869369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en-IN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A3D0F94-3D1E-47B8-ABE6-E3862ADC3258}"/>
              </a:ext>
            </a:extLst>
          </p:cNvPr>
          <p:cNvSpPr/>
          <p:nvPr/>
        </p:nvSpPr>
        <p:spPr>
          <a:xfrm>
            <a:off x="7399694" y="5848898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en-IN" dirty="0"/>
          </a:p>
        </p:txBody>
      </p:sp>
      <p:sp>
        <p:nvSpPr>
          <p:cNvPr id="83" name="Rectangle 82"/>
          <p:cNvSpPr/>
          <p:nvPr/>
        </p:nvSpPr>
        <p:spPr>
          <a:xfrm>
            <a:off x="7148633" y="4351983"/>
            <a:ext cx="4729331" cy="189799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83E5164-3277-4F64-9276-A99AA0C33B52}"/>
              </a:ext>
            </a:extLst>
          </p:cNvPr>
          <p:cNvSpPr/>
          <p:nvPr/>
        </p:nvSpPr>
        <p:spPr>
          <a:xfrm>
            <a:off x="8045464" y="6300306"/>
            <a:ext cx="27273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Derivative of Tanh Function</a:t>
            </a:r>
          </a:p>
        </p:txBody>
      </p:sp>
    </p:spTree>
    <p:extLst>
      <p:ext uri="{BB962C8B-B14F-4D97-AF65-F5344CB8AC3E}">
        <p14:creationId xmlns:p14="http://schemas.microsoft.com/office/powerpoint/2010/main" val="1603301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691"/>
          </a:xfrm>
        </p:spPr>
        <p:txBody>
          <a:bodyPr>
            <a:no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Vanishing Gradient Problem</a:t>
            </a:r>
            <a:br>
              <a:rPr lang="en-IN" sz="3200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Rectified Linear Unit (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ReLU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) Activation Function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4614"/>
            <a:ext cx="10515600" cy="2663301"/>
          </a:xfrm>
        </p:spPr>
        <p:txBody>
          <a:bodyPr>
            <a:normAutofit fontScale="70000" lnSpcReduction="20000"/>
          </a:bodyPr>
          <a:lstStyle/>
          <a:p>
            <a:pPr marL="285750" indent="-285750" algn="just">
              <a:lnSpc>
                <a:spcPct val="110000"/>
              </a:lnSpc>
            </a:pP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Does not saturate in positive region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Computationally efficient	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Converges faster than sigmoid and </a:t>
            </a:r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tanh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b="1" dirty="0">
                <a:solidFill>
                  <a:srgbClr val="7030A0"/>
                </a:solidFill>
                <a:latin typeface="Arial Narrow" panose="020B0606020202030204" pitchFamily="34" charset="0"/>
              </a:rPr>
              <a:t>Dying ReLU Problem: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latin typeface="Arial Narrow" panose="020B0606020202030204" pitchFamily="34" charset="0"/>
              </a:rPr>
              <a:t>If a neuron's weights are updated such that its input is always negative, the ReLU output remains </a:t>
            </a:r>
            <a:r>
              <a:rPr lang="en-US" b="1" dirty="0">
                <a:latin typeface="Arial Narrow" panose="020B0606020202030204" pitchFamily="34" charset="0"/>
              </a:rPr>
              <a:t>0</a:t>
            </a:r>
            <a:r>
              <a:rPr lang="en-US" dirty="0">
                <a:latin typeface="Arial Narrow" panose="020B0606020202030204" pitchFamily="34" charset="0"/>
              </a:rPr>
              <a:t>. Since the gradient is also </a:t>
            </a:r>
            <a:r>
              <a:rPr lang="en-US" b="1" dirty="0">
                <a:latin typeface="Arial Narrow" panose="020B0606020202030204" pitchFamily="34" charset="0"/>
              </a:rPr>
              <a:t>0</a:t>
            </a:r>
            <a:r>
              <a:rPr lang="en-US" dirty="0">
                <a:latin typeface="Arial Narrow" panose="020B0606020202030204" pitchFamily="34" charset="0"/>
              </a:rPr>
              <a:t>, the neuron stops updating its weights, effectively "dies," and no longer contributes to the learning process.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7030A0"/>
                </a:solidFill>
                <a:latin typeface="Arial Narrow" panose="020B0606020202030204" pitchFamily="34" charset="0"/>
              </a:rPr>
              <a:t>Better than sigmoid &amp; </a:t>
            </a:r>
            <a:r>
              <a:rPr lang="en-US" sz="3300" b="1" dirty="0" err="1">
                <a:solidFill>
                  <a:srgbClr val="7030A0"/>
                </a:solidFill>
                <a:latin typeface="Arial Narrow" panose="020B0606020202030204" pitchFamily="34" charset="0"/>
              </a:rPr>
              <a:t>tanh</a:t>
            </a:r>
            <a:endParaRPr lang="en-IN" sz="3300" b="1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685971" y="5994514"/>
            <a:ext cx="2095428" cy="433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664592" y="4899139"/>
            <a:ext cx="4763" cy="1095375"/>
          </a:xfrm>
          <a:prstGeom prst="line">
            <a:avLst/>
          </a:prstGeom>
          <a:ln w="15875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757336" y="5992924"/>
            <a:ext cx="907256" cy="159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2664592" y="5115039"/>
            <a:ext cx="991394" cy="87788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09961" y="5618274"/>
            <a:ext cx="269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4774" y="5262160"/>
            <a:ext cx="10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max (0,Z)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6550" y="6434463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ReLU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7586" y="4447713"/>
            <a:ext cx="3816052" cy="18749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3E59E2-C1FC-45FD-9A14-8C404F3CE958}"/>
                  </a:ext>
                </a:extLst>
              </p:cNvPr>
              <p:cNvSpPr txBox="1"/>
              <p:nvPr/>
            </p:nvSpPr>
            <p:spPr>
              <a:xfrm>
                <a:off x="6271345" y="4629162"/>
                <a:ext cx="2738763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den>
                      </m:f>
                      <m:func>
                        <m:func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d>
                            <m:dPr>
                              <m:ctrlP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e>
                      </m:func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𝒊𝒇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N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3E59E2-C1FC-45FD-9A14-8C404F3CE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345" y="4629162"/>
                <a:ext cx="2738763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2BA6CD-4178-4758-A2B0-1657311EB920}"/>
                  </a:ext>
                </a:extLst>
              </p:cNvPr>
              <p:cNvSpPr txBox="1"/>
              <p:nvPr/>
            </p:nvSpPr>
            <p:spPr>
              <a:xfrm>
                <a:off x="6271345" y="5354932"/>
                <a:ext cx="2738763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𝒁</m:t>
                          </m:r>
                        </m:den>
                      </m:f>
                      <m:func>
                        <m:funcPr>
                          <m:ctrlPr>
                            <a:rPr lang="en-IN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d>
                            <m:dPr>
                              <m:ctrlP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e>
                      </m:func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𝒊𝒇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N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2BA6CD-4178-4758-A2B0-1657311E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345" y="5354932"/>
                <a:ext cx="2738763" cy="52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243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0114"/>
            <a:ext cx="10515600" cy="249780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Arial Narrow" panose="020B0606020202030204" pitchFamily="34" charset="0"/>
              </a:rPr>
              <a:t>The value 0.1 is arbitrary; 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>
                <a:latin typeface="Arial Narrow" panose="020B0606020202030204" pitchFamily="34" charset="0"/>
              </a:rPr>
              <a:t> in max⁡(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α</a:t>
            </a:r>
            <a:r>
              <a:rPr lang="en-US" sz="2400" dirty="0" err="1">
                <a:latin typeface="Arial Narrow" panose="020B0606020202030204" pitchFamily="34" charset="0"/>
              </a:rPr>
              <a:t>z,z</a:t>
            </a:r>
            <a:r>
              <a:rPr lang="en-US" sz="2400" dirty="0">
                <a:latin typeface="Arial Narrow" panose="020B0606020202030204" pitchFamily="34" charset="0"/>
              </a:rPr>
              <a:t>) can be any small positive constant.</a:t>
            </a:r>
          </a:p>
          <a:p>
            <a:pPr marL="285750" indent="-285750" algn="just">
              <a:lnSpc>
                <a:spcPct val="110000"/>
              </a:lnSpc>
            </a:pP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Solves </a:t>
            </a:r>
            <a:r>
              <a:rPr lang="en-IN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ReLU’s</a:t>
            </a: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dying neuron problem.</a:t>
            </a:r>
          </a:p>
          <a:p>
            <a:pPr marL="742950" lvl="1" indent="-285750" algn="just">
              <a:lnSpc>
                <a:spcPct val="110000"/>
              </a:lnSpc>
            </a:pP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Avoid 0 gradient by introducing a small slope.</a:t>
            </a:r>
          </a:p>
          <a:p>
            <a:pPr algn="just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Does not suffer from saturation. </a:t>
            </a:r>
          </a:p>
          <a:p>
            <a:pPr algn="just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Computationally efficient. </a:t>
            </a:r>
          </a:p>
          <a:p>
            <a:pPr algn="just"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Typically converges faster than sigmoid and </a:t>
            </a:r>
            <a:r>
              <a:rPr lang="en-US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tanh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 in practice.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691"/>
          </a:xfrm>
        </p:spPr>
        <p:txBody>
          <a:bodyPr>
            <a:no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Vanishing Gradient Problem</a:t>
            </a:r>
            <a:br>
              <a:rPr lang="en-IN" sz="3200" dirty="0">
                <a:solidFill>
                  <a:srgbClr val="7030A0"/>
                </a:solidFill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Leaky</a:t>
            </a:r>
            <a:r>
              <a:rPr lang="en-IN" sz="32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 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Rectified Linear Unit (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ReLU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) Activation Function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75550" y="5972450"/>
            <a:ext cx="2095428" cy="4330"/>
          </a:xfrm>
          <a:prstGeom prst="line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454171" y="4877075"/>
            <a:ext cx="4763" cy="1095375"/>
          </a:xfrm>
          <a:prstGeom prst="line">
            <a:avLst/>
          </a:prstGeom>
          <a:ln w="15875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507227" y="5970860"/>
            <a:ext cx="946944" cy="10448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454171" y="5092975"/>
            <a:ext cx="991394" cy="87788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11328" y="5126889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max (0.1Z,Z)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2425" y="5614548"/>
            <a:ext cx="269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7038" y="4578053"/>
            <a:ext cx="4757099" cy="18749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536562" y="6488668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Leaky ReLU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296DEC-DF8F-41E9-8D6D-23AF9FBFEE09}"/>
                  </a:ext>
                </a:extLst>
              </p:cNvPr>
              <p:cNvSpPr txBox="1"/>
              <p:nvPr/>
            </p:nvSpPr>
            <p:spPr>
              <a:xfrm>
                <a:off x="6635329" y="4888778"/>
                <a:ext cx="3131435" cy="585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func>
                        <m:func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296DEC-DF8F-41E9-8D6D-23AF9FBFE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329" y="4888778"/>
                <a:ext cx="3131435" cy="585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700B74-D444-4EF0-BD04-7466FFC82D98}"/>
                  </a:ext>
                </a:extLst>
              </p:cNvPr>
              <p:cNvSpPr txBox="1"/>
              <p:nvPr/>
            </p:nvSpPr>
            <p:spPr>
              <a:xfrm>
                <a:off x="6635329" y="5614548"/>
                <a:ext cx="3099054" cy="585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func>
                        <m:funcPr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IN" sz="20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0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sz="20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</m:func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B700B74-D444-4EF0-BD04-7466FFC8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329" y="5614548"/>
                <a:ext cx="3099054" cy="585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856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Activation Function are not enough to handle Vanishing Gradient Problem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751"/>
            <a:ext cx="10515600" cy="478761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Leaky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 reduces but does not eliminate the vanishing gradient problem.</a:t>
            </a:r>
            <a:r>
              <a:rPr lang="en-US" sz="1900" dirty="0">
                <a:solidFill>
                  <a:schemeClr val="accent5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sz="1900" dirty="0">
                <a:latin typeface="Arial Narrow" panose="020B0606020202030204" pitchFamily="34" charset="0"/>
              </a:rPr>
              <a:t>For negative inputs, its gradient is small but non-zero (typically α &lt; 1). During backpropagation through many layers, these gradients are repeatedly multiplied, causing them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to decay exponentially</a:t>
            </a:r>
            <a:r>
              <a:rPr lang="en-US" sz="1900" dirty="0">
                <a:latin typeface="Arial Narrow" panose="020B0606020202030204" pitchFamily="34" charset="0"/>
              </a:rPr>
              <a:t>. As a result, very deep networks can still experience vanishing gradients, although the effect is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less severe than with standard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, sigmoid, or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tanh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Why Leaky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 Does Not Completely Solve the Vanishing Gradient Problem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Small Negative Gradient: </a:t>
            </a:r>
            <a:r>
              <a:rPr lang="en-US" sz="1900" dirty="0">
                <a:latin typeface="Arial Narrow" panose="020B0606020202030204" pitchFamily="34" charset="0"/>
              </a:rPr>
              <a:t>For negative inputs, Leaky </a:t>
            </a:r>
            <a:r>
              <a:rPr lang="en-US" sz="1900" dirty="0" err="1">
                <a:latin typeface="Arial Narrow" panose="020B0606020202030204" pitchFamily="34" charset="0"/>
              </a:rPr>
              <a:t>ReLU</a:t>
            </a:r>
            <a:r>
              <a:rPr lang="en-US" sz="1900" dirty="0">
                <a:latin typeface="Arial Narrow" panose="020B0606020202030204" pitchFamily="34" charset="0"/>
              </a:rPr>
              <a:t> uses a small slope </a:t>
            </a:r>
            <a:r>
              <a:rPr lang="en-US" sz="1900" b="1" dirty="0">
                <a:latin typeface="Arial Narrow" panose="020B0606020202030204" pitchFamily="34" charset="0"/>
              </a:rPr>
              <a:t>α</a:t>
            </a:r>
            <a:r>
              <a:rPr lang="en-US" sz="1900" dirty="0">
                <a:latin typeface="Arial Narrow" panose="020B0606020202030204" pitchFamily="34" charset="0"/>
              </a:rPr>
              <a:t> (e.g., 0.01). Although the gradient is non-zero, it is still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less than 1</a:t>
            </a:r>
            <a:r>
              <a:rPr lang="en-US" sz="1900" dirty="0">
                <a:latin typeface="Arial Narrow" panose="020B0606020202030204" pitchFamily="34" charset="0"/>
              </a:rPr>
              <a:t>, so repeated multiplication across many layers causes gradients to shrink. 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Primarily Addresses Dying 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ReLU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: </a:t>
            </a:r>
            <a:r>
              <a:rPr lang="en-US" sz="1900" dirty="0">
                <a:latin typeface="Arial Narrow" panose="020B0606020202030204" pitchFamily="34" charset="0"/>
              </a:rPr>
              <a:t>Leaky </a:t>
            </a:r>
            <a:r>
              <a:rPr lang="en-US" sz="1900" dirty="0" err="1">
                <a:latin typeface="Arial Narrow" panose="020B0606020202030204" pitchFamily="34" charset="0"/>
              </a:rPr>
              <a:t>ReLU</a:t>
            </a:r>
            <a:r>
              <a:rPr lang="en-US" sz="1900" dirty="0">
                <a:latin typeface="Arial Narrow" panose="020B0606020202030204" pitchFamily="34" charset="0"/>
              </a:rPr>
              <a:t> is designed to prevent neurons from becoming permanently inactive ("dying </a:t>
            </a:r>
            <a:r>
              <a:rPr lang="en-US" sz="1900" dirty="0" err="1">
                <a:latin typeface="Arial Narrow" panose="020B0606020202030204" pitchFamily="34" charset="0"/>
              </a:rPr>
              <a:t>ReLU</a:t>
            </a:r>
            <a:r>
              <a:rPr lang="en-US" sz="1900" dirty="0">
                <a:latin typeface="Arial Narrow" panose="020B0606020202030204" pitchFamily="34" charset="0"/>
              </a:rPr>
              <a:t>"),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not </a:t>
            </a:r>
            <a:r>
              <a:rPr lang="en-US" sz="1900" dirty="0">
                <a:latin typeface="Arial Narrow" panose="020B0606020202030204" pitchFamily="34" charset="0"/>
              </a:rPr>
              <a:t>to completely eliminate vanishing gradients in very deep networks. </a:t>
            </a:r>
          </a:p>
          <a:p>
            <a:pPr lvl="1" algn="just">
              <a:lnSpc>
                <a:spcPct val="120000"/>
              </a:lnSpc>
            </a:pP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Cumulative Gradient Decay: </a:t>
            </a:r>
            <a:r>
              <a:rPr lang="en-US" sz="1900" dirty="0">
                <a:latin typeface="Arial Narrow" panose="020B0606020202030204" pitchFamily="34" charset="0"/>
              </a:rPr>
              <a:t>Even without zero gradients, repeatedly multiplying gradients smaller than 1 during backpropagation causes them to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decay exponentially, </a:t>
            </a:r>
            <a:r>
              <a:rPr lang="en-US" sz="1900" dirty="0">
                <a:latin typeface="Arial Narrow" panose="020B0606020202030204" pitchFamily="34" charset="0"/>
              </a:rPr>
              <a:t>making training of very deep networks difficult.</a:t>
            </a:r>
            <a:endParaRPr lang="en-IN" sz="1900" dirty="0">
              <a:solidFill>
                <a:schemeClr val="accent5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900" dirty="0">
                <a:latin typeface="Arial Narrow" panose="020B0606020202030204" pitchFamily="34" charset="0"/>
              </a:rPr>
              <a:t>To effectively address the vanishing gradient problem in very deep networks, architectures such as 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Residual Networks (</a:t>
            </a:r>
            <a:r>
              <a:rPr lang="en-US" sz="19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ResNets</a:t>
            </a:r>
            <a:r>
              <a:rPr lang="en-US" sz="1900" dirty="0">
                <a:solidFill>
                  <a:srgbClr val="7030A0"/>
                </a:solidFill>
                <a:latin typeface="Arial Narrow" panose="020B0606020202030204" pitchFamily="34" charset="0"/>
              </a:rPr>
              <a:t>) </a:t>
            </a:r>
            <a:r>
              <a:rPr lang="en-US" sz="1900" dirty="0">
                <a:latin typeface="Arial Narrow" panose="020B0606020202030204" pitchFamily="34" charset="0"/>
              </a:rPr>
              <a:t>use residual (skip) connections that allow gradients to bypass one or more layers, preserving gradient flow and enabling the successful training of much deeper models.</a:t>
            </a:r>
          </a:p>
        </p:txBody>
      </p:sp>
    </p:spTree>
    <p:extLst>
      <p:ext uri="{BB962C8B-B14F-4D97-AF65-F5344CB8AC3E}">
        <p14:creationId xmlns:p14="http://schemas.microsoft.com/office/powerpoint/2010/main" val="3637893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Deeper network is not always good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Problems of Deeper Network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Vanishing Gradient (VG) Problem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Activation Functions and VG Problem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Problems with 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2919435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Residual Network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5: Part 1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ounded Rectangle 109"/>
          <p:cNvSpPr/>
          <p:nvPr/>
        </p:nvSpPr>
        <p:spPr>
          <a:xfrm>
            <a:off x="4482329" y="3765621"/>
            <a:ext cx="2573317" cy="1422398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9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182" y="197477"/>
            <a:ext cx="8638486" cy="82636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Deeper Nets vs Shallower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82" y="1105424"/>
            <a:ext cx="6712345" cy="258046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2400" dirty="0">
                <a:latin typeface="Arial Narrow" panose="020B0606020202030204" pitchFamily="34" charset="0"/>
              </a:rPr>
              <a:t>A deeper network can represent any function that a shallower network can.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identity mappings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for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additional layers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 Narrow" panose="020B0606020202030204" pitchFamily="34" charset="0"/>
              </a:rPr>
              <a:t>Greater depth increases model capacity, making overfitting more likely in theory. </a:t>
            </a: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 Narrow" panose="020B0606020202030204" pitchFamily="34" charset="0"/>
              </a:rPr>
              <a:t>However, optimization becomes more difficult, so deeper networks often </a:t>
            </a:r>
            <a:r>
              <a:rPr lang="en-US" altLang="en-US" sz="2400" dirty="0" err="1">
                <a:latin typeface="Arial Narrow" panose="020B0606020202030204" pitchFamily="34" charset="0"/>
              </a:rPr>
              <a:t>underfit</a:t>
            </a:r>
            <a:r>
              <a:rPr lang="en-US" altLang="en-US" sz="2400" dirty="0">
                <a:latin typeface="Arial Narrow" panose="020B0606020202030204" pitchFamily="34" charset="0"/>
              </a:rPr>
              <a:t> the training set.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Degradation due to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harder credit-assignment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Deeper isn’t always better!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iamond 4"/>
          <p:cNvSpPr/>
          <p:nvPr/>
        </p:nvSpPr>
        <p:spPr>
          <a:xfrm>
            <a:off x="729112" y="3845218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53473" y="3786914"/>
            <a:ext cx="361266" cy="1283276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331555" y="3931987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/>
          <p:cNvCxnSpPr>
            <a:stCxn id="9" idx="3"/>
            <a:endCxn id="14" idx="1"/>
          </p:cNvCxnSpPr>
          <p:nvPr/>
        </p:nvCxnSpPr>
        <p:spPr>
          <a:xfrm flipV="1">
            <a:off x="1014739" y="4424793"/>
            <a:ext cx="316816" cy="375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161" idx="1"/>
          </p:cNvCxnSpPr>
          <p:nvPr/>
        </p:nvCxnSpPr>
        <p:spPr>
          <a:xfrm flipV="1">
            <a:off x="1711589" y="4419754"/>
            <a:ext cx="268855" cy="5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161" idx="3"/>
          </p:cNvCxnSpPr>
          <p:nvPr/>
        </p:nvCxnSpPr>
        <p:spPr>
          <a:xfrm flipV="1">
            <a:off x="2341710" y="4419753"/>
            <a:ext cx="287623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082469" y="3439182"/>
            <a:ext cx="1633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latin typeface="Arial Narrow" panose="020B0606020202030204" pitchFamily="34" charset="0"/>
              </a:rPr>
              <a:t>Identity Mapping</a:t>
            </a:r>
          </a:p>
        </p:txBody>
      </p:sp>
      <p:sp>
        <p:nvSpPr>
          <p:cNvPr id="151" name="Diamond 150"/>
          <p:cNvSpPr/>
          <p:nvPr/>
        </p:nvSpPr>
        <p:spPr>
          <a:xfrm>
            <a:off x="721900" y="4149465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Diamond 151"/>
          <p:cNvSpPr/>
          <p:nvPr/>
        </p:nvSpPr>
        <p:spPr>
          <a:xfrm>
            <a:off x="720190" y="4450832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Diamond 152"/>
          <p:cNvSpPr/>
          <p:nvPr/>
        </p:nvSpPr>
        <p:spPr>
          <a:xfrm>
            <a:off x="727018" y="475789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Diamond 155"/>
          <p:cNvSpPr/>
          <p:nvPr/>
        </p:nvSpPr>
        <p:spPr>
          <a:xfrm>
            <a:off x="1393758" y="399091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Diamond 156"/>
          <p:cNvSpPr/>
          <p:nvPr/>
        </p:nvSpPr>
        <p:spPr>
          <a:xfrm>
            <a:off x="1400404" y="4297464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Diamond 157"/>
          <p:cNvSpPr/>
          <p:nvPr/>
        </p:nvSpPr>
        <p:spPr>
          <a:xfrm>
            <a:off x="1406850" y="461563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Rectangle 160"/>
          <p:cNvSpPr/>
          <p:nvPr/>
        </p:nvSpPr>
        <p:spPr>
          <a:xfrm>
            <a:off x="1980444" y="3926948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Diamond 161"/>
          <p:cNvSpPr/>
          <p:nvPr/>
        </p:nvSpPr>
        <p:spPr>
          <a:xfrm>
            <a:off x="2042647" y="3985872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" name="Diamond 162"/>
          <p:cNvSpPr/>
          <p:nvPr/>
        </p:nvSpPr>
        <p:spPr>
          <a:xfrm>
            <a:off x="2049293" y="4292425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4" name="Diamond 163"/>
          <p:cNvSpPr/>
          <p:nvPr/>
        </p:nvSpPr>
        <p:spPr>
          <a:xfrm>
            <a:off x="2055739" y="4610592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Rectangle 178"/>
          <p:cNvSpPr/>
          <p:nvPr/>
        </p:nvSpPr>
        <p:spPr>
          <a:xfrm>
            <a:off x="2633191" y="3936844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0" name="Straight Arrow Connector 179"/>
          <p:cNvCxnSpPr>
            <a:endCxn id="185" idx="1"/>
          </p:cNvCxnSpPr>
          <p:nvPr/>
        </p:nvCxnSpPr>
        <p:spPr>
          <a:xfrm flipV="1">
            <a:off x="3013225" y="4424611"/>
            <a:ext cx="268855" cy="5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stCxn id="185" idx="3"/>
          </p:cNvCxnSpPr>
          <p:nvPr/>
        </p:nvCxnSpPr>
        <p:spPr>
          <a:xfrm flipV="1">
            <a:off x="3643346" y="4424610"/>
            <a:ext cx="287623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Diamond 181"/>
          <p:cNvSpPr/>
          <p:nvPr/>
        </p:nvSpPr>
        <p:spPr>
          <a:xfrm>
            <a:off x="2695394" y="3995768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3" name="Diamond 182"/>
          <p:cNvSpPr/>
          <p:nvPr/>
        </p:nvSpPr>
        <p:spPr>
          <a:xfrm>
            <a:off x="2702040" y="430232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Diamond 183"/>
          <p:cNvSpPr/>
          <p:nvPr/>
        </p:nvSpPr>
        <p:spPr>
          <a:xfrm>
            <a:off x="2708486" y="4620488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5" name="Rectangle 184"/>
          <p:cNvSpPr/>
          <p:nvPr/>
        </p:nvSpPr>
        <p:spPr>
          <a:xfrm>
            <a:off x="3282080" y="3931805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Diamond 185"/>
          <p:cNvSpPr/>
          <p:nvPr/>
        </p:nvSpPr>
        <p:spPr>
          <a:xfrm>
            <a:off x="3344283" y="3990729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Diamond 186"/>
          <p:cNvSpPr/>
          <p:nvPr/>
        </p:nvSpPr>
        <p:spPr>
          <a:xfrm>
            <a:off x="3350929" y="4297282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Diamond 187"/>
          <p:cNvSpPr/>
          <p:nvPr/>
        </p:nvSpPr>
        <p:spPr>
          <a:xfrm>
            <a:off x="3357375" y="4615449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Rectangle 188"/>
          <p:cNvSpPr/>
          <p:nvPr/>
        </p:nvSpPr>
        <p:spPr>
          <a:xfrm>
            <a:off x="3928503" y="3954366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0" name="Straight Arrow Connector 189"/>
          <p:cNvCxnSpPr>
            <a:endCxn id="195" idx="1"/>
          </p:cNvCxnSpPr>
          <p:nvPr/>
        </p:nvCxnSpPr>
        <p:spPr>
          <a:xfrm flipV="1">
            <a:off x="4308537" y="4442133"/>
            <a:ext cx="268855" cy="5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/>
          <p:cNvCxnSpPr>
            <a:stCxn id="195" idx="3"/>
          </p:cNvCxnSpPr>
          <p:nvPr/>
        </p:nvCxnSpPr>
        <p:spPr>
          <a:xfrm flipV="1">
            <a:off x="4938658" y="4442132"/>
            <a:ext cx="287623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Diamond 191"/>
          <p:cNvSpPr/>
          <p:nvPr/>
        </p:nvSpPr>
        <p:spPr>
          <a:xfrm>
            <a:off x="3990706" y="4013290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Diamond 192"/>
          <p:cNvSpPr/>
          <p:nvPr/>
        </p:nvSpPr>
        <p:spPr>
          <a:xfrm>
            <a:off x="3997352" y="4319843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Diamond 193"/>
          <p:cNvSpPr/>
          <p:nvPr/>
        </p:nvSpPr>
        <p:spPr>
          <a:xfrm>
            <a:off x="4003798" y="4638010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5" name="Rectangle 194"/>
          <p:cNvSpPr/>
          <p:nvPr/>
        </p:nvSpPr>
        <p:spPr>
          <a:xfrm>
            <a:off x="4577392" y="3949327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6" name="Diamond 195"/>
          <p:cNvSpPr/>
          <p:nvPr/>
        </p:nvSpPr>
        <p:spPr>
          <a:xfrm>
            <a:off x="4639595" y="400825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7" name="Diamond 196"/>
          <p:cNvSpPr/>
          <p:nvPr/>
        </p:nvSpPr>
        <p:spPr>
          <a:xfrm>
            <a:off x="4646241" y="4314804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8" name="Diamond 197"/>
          <p:cNvSpPr/>
          <p:nvPr/>
        </p:nvSpPr>
        <p:spPr>
          <a:xfrm>
            <a:off x="4652687" y="463297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Rectangle 198"/>
          <p:cNvSpPr/>
          <p:nvPr/>
        </p:nvSpPr>
        <p:spPr>
          <a:xfrm>
            <a:off x="5236348" y="3937782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0" name="Straight Arrow Connector 199"/>
          <p:cNvCxnSpPr>
            <a:endCxn id="205" idx="1"/>
          </p:cNvCxnSpPr>
          <p:nvPr/>
        </p:nvCxnSpPr>
        <p:spPr>
          <a:xfrm flipV="1">
            <a:off x="5616382" y="4425549"/>
            <a:ext cx="268855" cy="5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>
            <a:stCxn id="205" idx="3"/>
          </p:cNvCxnSpPr>
          <p:nvPr/>
        </p:nvCxnSpPr>
        <p:spPr>
          <a:xfrm flipV="1">
            <a:off x="6246503" y="4425548"/>
            <a:ext cx="287623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Diamond 201"/>
          <p:cNvSpPr/>
          <p:nvPr/>
        </p:nvSpPr>
        <p:spPr>
          <a:xfrm>
            <a:off x="5298551" y="3996706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Diamond 202"/>
          <p:cNvSpPr/>
          <p:nvPr/>
        </p:nvSpPr>
        <p:spPr>
          <a:xfrm>
            <a:off x="5305197" y="4303259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Diamond 203"/>
          <p:cNvSpPr/>
          <p:nvPr/>
        </p:nvSpPr>
        <p:spPr>
          <a:xfrm>
            <a:off x="5311643" y="4621426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Rectangle 204"/>
          <p:cNvSpPr/>
          <p:nvPr/>
        </p:nvSpPr>
        <p:spPr>
          <a:xfrm>
            <a:off x="5885237" y="3932743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" name="Diamond 205"/>
          <p:cNvSpPr/>
          <p:nvPr/>
        </p:nvSpPr>
        <p:spPr>
          <a:xfrm>
            <a:off x="5947440" y="3991667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Diamond 206"/>
          <p:cNvSpPr/>
          <p:nvPr/>
        </p:nvSpPr>
        <p:spPr>
          <a:xfrm>
            <a:off x="5954086" y="4298220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8" name="Diamond 207"/>
          <p:cNvSpPr/>
          <p:nvPr/>
        </p:nvSpPr>
        <p:spPr>
          <a:xfrm>
            <a:off x="5960532" y="4616387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Rectangle 208"/>
          <p:cNvSpPr/>
          <p:nvPr/>
        </p:nvSpPr>
        <p:spPr>
          <a:xfrm>
            <a:off x="6553033" y="3926947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0" name="Diamond 209"/>
          <p:cNvSpPr/>
          <p:nvPr/>
        </p:nvSpPr>
        <p:spPr>
          <a:xfrm>
            <a:off x="6615236" y="398587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Diamond 210"/>
          <p:cNvSpPr/>
          <p:nvPr/>
        </p:nvSpPr>
        <p:spPr>
          <a:xfrm>
            <a:off x="6621882" y="4292424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2" name="Diamond 211"/>
          <p:cNvSpPr/>
          <p:nvPr/>
        </p:nvSpPr>
        <p:spPr>
          <a:xfrm>
            <a:off x="6628328" y="4610591"/>
            <a:ext cx="224412" cy="236884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Diamond 212"/>
          <p:cNvSpPr/>
          <p:nvPr/>
        </p:nvSpPr>
        <p:spPr>
          <a:xfrm>
            <a:off x="751339" y="5429197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Rectangle 213"/>
          <p:cNvSpPr/>
          <p:nvPr/>
        </p:nvSpPr>
        <p:spPr>
          <a:xfrm>
            <a:off x="675700" y="5370893"/>
            <a:ext cx="361266" cy="1283276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" name="Rectangle 214"/>
          <p:cNvSpPr/>
          <p:nvPr/>
        </p:nvSpPr>
        <p:spPr>
          <a:xfrm>
            <a:off x="1353782" y="5515966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6" name="Straight Arrow Connector 215"/>
          <p:cNvCxnSpPr>
            <a:stCxn id="214" idx="3"/>
            <a:endCxn id="215" idx="1"/>
          </p:cNvCxnSpPr>
          <p:nvPr/>
        </p:nvCxnSpPr>
        <p:spPr>
          <a:xfrm flipV="1">
            <a:off x="1036966" y="6008772"/>
            <a:ext cx="316816" cy="375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/>
          <p:cNvCxnSpPr>
            <a:endCxn id="225" idx="1"/>
          </p:cNvCxnSpPr>
          <p:nvPr/>
        </p:nvCxnSpPr>
        <p:spPr>
          <a:xfrm flipV="1">
            <a:off x="1733816" y="6003733"/>
            <a:ext cx="268855" cy="5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>
            <a:stCxn id="225" idx="3"/>
          </p:cNvCxnSpPr>
          <p:nvPr/>
        </p:nvCxnSpPr>
        <p:spPr>
          <a:xfrm flipV="1">
            <a:off x="2363937" y="6003732"/>
            <a:ext cx="287623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Diamond 218"/>
          <p:cNvSpPr/>
          <p:nvPr/>
        </p:nvSpPr>
        <p:spPr>
          <a:xfrm>
            <a:off x="744127" y="5733444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0" name="Diamond 219"/>
          <p:cNvSpPr/>
          <p:nvPr/>
        </p:nvSpPr>
        <p:spPr>
          <a:xfrm>
            <a:off x="742417" y="6034811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1" name="Diamond 220"/>
          <p:cNvSpPr/>
          <p:nvPr/>
        </p:nvSpPr>
        <p:spPr>
          <a:xfrm>
            <a:off x="749245" y="6341870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2" name="Diamond 221"/>
          <p:cNvSpPr/>
          <p:nvPr/>
        </p:nvSpPr>
        <p:spPr>
          <a:xfrm>
            <a:off x="1415985" y="5574890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3" name="Diamond 222"/>
          <p:cNvSpPr/>
          <p:nvPr/>
        </p:nvSpPr>
        <p:spPr>
          <a:xfrm>
            <a:off x="1422631" y="5881443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Diamond 223"/>
          <p:cNvSpPr/>
          <p:nvPr/>
        </p:nvSpPr>
        <p:spPr>
          <a:xfrm>
            <a:off x="1429077" y="6199610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" name="Rectangle 224"/>
          <p:cNvSpPr/>
          <p:nvPr/>
        </p:nvSpPr>
        <p:spPr>
          <a:xfrm>
            <a:off x="2002671" y="5510927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6" name="Diamond 225"/>
          <p:cNvSpPr/>
          <p:nvPr/>
        </p:nvSpPr>
        <p:spPr>
          <a:xfrm>
            <a:off x="2064874" y="5569851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7" name="Diamond 226"/>
          <p:cNvSpPr/>
          <p:nvPr/>
        </p:nvSpPr>
        <p:spPr>
          <a:xfrm>
            <a:off x="2071520" y="5876404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8" name="Diamond 227"/>
          <p:cNvSpPr/>
          <p:nvPr/>
        </p:nvSpPr>
        <p:spPr>
          <a:xfrm>
            <a:off x="2077966" y="6194571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9" name="Rectangle 228"/>
          <p:cNvSpPr/>
          <p:nvPr/>
        </p:nvSpPr>
        <p:spPr>
          <a:xfrm>
            <a:off x="2655418" y="5520823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0" name="Straight Arrow Connector 229"/>
          <p:cNvCxnSpPr>
            <a:endCxn id="235" idx="1"/>
          </p:cNvCxnSpPr>
          <p:nvPr/>
        </p:nvCxnSpPr>
        <p:spPr>
          <a:xfrm flipV="1">
            <a:off x="3035452" y="6008590"/>
            <a:ext cx="268855" cy="5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>
            <a:stCxn id="235" idx="3"/>
          </p:cNvCxnSpPr>
          <p:nvPr/>
        </p:nvCxnSpPr>
        <p:spPr>
          <a:xfrm flipV="1">
            <a:off x="3665573" y="6008589"/>
            <a:ext cx="287623" cy="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Diamond 231"/>
          <p:cNvSpPr/>
          <p:nvPr/>
        </p:nvSpPr>
        <p:spPr>
          <a:xfrm>
            <a:off x="2717621" y="5579747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3" name="Diamond 232"/>
          <p:cNvSpPr/>
          <p:nvPr/>
        </p:nvSpPr>
        <p:spPr>
          <a:xfrm>
            <a:off x="2724267" y="5886300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4" name="Diamond 233"/>
          <p:cNvSpPr/>
          <p:nvPr/>
        </p:nvSpPr>
        <p:spPr>
          <a:xfrm>
            <a:off x="2730713" y="6204467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5" name="Rectangle 234"/>
          <p:cNvSpPr/>
          <p:nvPr/>
        </p:nvSpPr>
        <p:spPr>
          <a:xfrm>
            <a:off x="3304307" y="5515784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6" name="Diamond 235"/>
          <p:cNvSpPr/>
          <p:nvPr/>
        </p:nvSpPr>
        <p:spPr>
          <a:xfrm>
            <a:off x="3366510" y="5574708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7" name="Diamond 236"/>
          <p:cNvSpPr/>
          <p:nvPr/>
        </p:nvSpPr>
        <p:spPr>
          <a:xfrm>
            <a:off x="3373156" y="5881261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8" name="Diamond 237"/>
          <p:cNvSpPr/>
          <p:nvPr/>
        </p:nvSpPr>
        <p:spPr>
          <a:xfrm>
            <a:off x="3379602" y="6199428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9" name="Rectangle 238"/>
          <p:cNvSpPr/>
          <p:nvPr/>
        </p:nvSpPr>
        <p:spPr>
          <a:xfrm>
            <a:off x="3950730" y="5538345"/>
            <a:ext cx="361266" cy="985611"/>
          </a:xfrm>
          <a:prstGeom prst="rect">
            <a:avLst/>
          </a:prstGeom>
          <a:noFill/>
          <a:ln w="222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0" name="Diamond 239"/>
          <p:cNvSpPr/>
          <p:nvPr/>
        </p:nvSpPr>
        <p:spPr>
          <a:xfrm>
            <a:off x="4012933" y="5597269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1" name="Diamond 240"/>
          <p:cNvSpPr/>
          <p:nvPr/>
        </p:nvSpPr>
        <p:spPr>
          <a:xfrm>
            <a:off x="4019579" y="5903822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2" name="Diamond 241"/>
          <p:cNvSpPr/>
          <p:nvPr/>
        </p:nvSpPr>
        <p:spPr>
          <a:xfrm>
            <a:off x="4026025" y="6221989"/>
            <a:ext cx="224412" cy="236884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3" name="Group 242"/>
          <p:cNvGrpSpPr/>
          <p:nvPr/>
        </p:nvGrpSpPr>
        <p:grpSpPr>
          <a:xfrm>
            <a:off x="7482184" y="788666"/>
            <a:ext cx="4241800" cy="1993782"/>
            <a:chOff x="7756360" y="3191852"/>
            <a:chExt cx="4241800" cy="1993782"/>
          </a:xfrm>
        </p:grpSpPr>
        <p:pic>
          <p:nvPicPr>
            <p:cNvPr id="244" name="Picture 24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6360" y="3191852"/>
              <a:ext cx="4241800" cy="1511300"/>
            </a:xfrm>
            <a:prstGeom prst="rect">
              <a:avLst/>
            </a:prstGeom>
          </p:spPr>
        </p:pic>
        <p:sp>
          <p:nvSpPr>
            <p:cNvPr id="245" name="TextBox 244"/>
            <p:cNvSpPr txBox="1"/>
            <p:nvPr/>
          </p:nvSpPr>
          <p:spPr>
            <a:xfrm>
              <a:off x="9466844" y="4785524"/>
              <a:ext cx="112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CIFAR-10</a:t>
              </a: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8289660" y="2926941"/>
            <a:ext cx="3218667" cy="3080690"/>
            <a:chOff x="8497090" y="4484229"/>
            <a:chExt cx="3270493" cy="3436490"/>
          </a:xfrm>
        </p:grpSpPr>
        <p:pic>
          <p:nvPicPr>
            <p:cNvPr id="247" name="Picture 24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7090" y="4484229"/>
              <a:ext cx="3270493" cy="2142343"/>
            </a:xfrm>
            <a:prstGeom prst="rect">
              <a:avLst/>
            </a:prstGeom>
          </p:spPr>
        </p:pic>
        <p:sp>
          <p:nvSpPr>
            <p:cNvPr id="248" name="TextBox 247"/>
            <p:cNvSpPr txBox="1"/>
            <p:nvPr/>
          </p:nvSpPr>
          <p:spPr>
            <a:xfrm>
              <a:off x="10412083" y="6787753"/>
              <a:ext cx="1355500" cy="1132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 Narrow" panose="020B0606020202030204" pitchFamily="34" charset="0"/>
                </a:rPr>
                <a:t>ImageNet</a:t>
              </a:r>
            </a:p>
            <a:p>
              <a:r>
                <a:rPr lang="en-US" sz="2000" b="1" dirty="0">
                  <a:solidFill>
                    <a:schemeClr val="bg2">
                      <a:lumMod val="50000"/>
                    </a:schemeClr>
                  </a:solidFill>
                  <a:latin typeface="Arial Narrow" panose="020B0606020202030204" pitchFamily="34" charset="0"/>
                </a:rPr>
                <a:t>thin=train,</a:t>
              </a:r>
            </a:p>
            <a:p>
              <a:r>
                <a:rPr lang="en-US" sz="2000" b="1" dirty="0">
                  <a:solidFill>
                    <a:schemeClr val="bg2">
                      <a:lumMod val="50000"/>
                    </a:schemeClr>
                  </a:solidFill>
                  <a:latin typeface="Arial Narrow" panose="020B0606020202030204" pitchFamily="34" charset="0"/>
                </a:rPr>
                <a:t>thick=valid</a:t>
              </a:r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Arial Narrow" panose="020B0606020202030204" pitchFamily="34" charset="0"/>
                </a:rPr>
                <a:t>.</a:t>
              </a:r>
            </a:p>
          </p:txBody>
        </p:sp>
      </p:grpSp>
      <p:sp>
        <p:nvSpPr>
          <p:cNvPr id="249" name="TextBox 248"/>
          <p:cNvSpPr txBox="1"/>
          <p:nvPr/>
        </p:nvSpPr>
        <p:spPr>
          <a:xfrm>
            <a:off x="8975292" y="6504419"/>
            <a:ext cx="2874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He, Zhang, Ren, and Sun (2015)</a:t>
            </a:r>
          </a:p>
        </p:txBody>
      </p:sp>
    </p:spTree>
    <p:extLst>
      <p:ext uri="{BB962C8B-B14F-4D97-AF65-F5344CB8AC3E}">
        <p14:creationId xmlns:p14="http://schemas.microsoft.com/office/powerpoint/2010/main" val="2602823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2" y="62145"/>
            <a:ext cx="10515600" cy="116297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Deeper Networks are not always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021" y="138770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Problems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Vanishing / exploding gradients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Internal Covariate Shift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Overfitting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Computation cost</a:t>
            </a:r>
          </a:p>
          <a:p>
            <a:pPr lvl="1"/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sz="3000" dirty="0">
                <a:latin typeface="Arial Narrow" panose="020B0606020202030204" pitchFamily="34" charset="0"/>
                <a:cs typeface="Times New Roman" panose="02020603050405020304" pitchFamily="18" charset="0"/>
              </a:rPr>
              <a:t>Solutions: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Choosing proper activation function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Batch Normalization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Parameter Initialization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Dropout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Weight Sharing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Data Augmentation</a:t>
            </a:r>
          </a:p>
          <a:p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74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ight Arrow 33"/>
          <p:cNvSpPr/>
          <p:nvPr/>
        </p:nvSpPr>
        <p:spPr>
          <a:xfrm>
            <a:off x="4468551" y="5383213"/>
            <a:ext cx="420257" cy="414048"/>
          </a:xfrm>
          <a:prstGeom prst="rightArrow">
            <a:avLst/>
          </a:prstGeom>
          <a:noFill/>
          <a:ln w="317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ight Arrow 32"/>
          <p:cNvSpPr/>
          <p:nvPr/>
        </p:nvSpPr>
        <p:spPr>
          <a:xfrm>
            <a:off x="3463864" y="5383213"/>
            <a:ext cx="420257" cy="414048"/>
          </a:xfrm>
          <a:prstGeom prst="rightArrow">
            <a:avLst/>
          </a:prstGeom>
          <a:noFill/>
          <a:ln w="317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ight Arrow 31"/>
          <p:cNvSpPr/>
          <p:nvPr/>
        </p:nvSpPr>
        <p:spPr>
          <a:xfrm>
            <a:off x="2489199" y="5383213"/>
            <a:ext cx="420257" cy="414048"/>
          </a:xfrm>
          <a:prstGeom prst="rightArrow">
            <a:avLst/>
          </a:prstGeom>
          <a:noFill/>
          <a:ln w="317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7782"/>
            <a:ext cx="10515600" cy="8171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Why Deeper Networks fail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552"/>
            <a:ext cx="10515600" cy="343910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dirty="0">
                <a:latin typeface="Arial Narrow" panose="020B0606020202030204" pitchFamily="34" charset="0"/>
              </a:rPr>
              <a:t>Credit Assignment Problem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The </a:t>
            </a:r>
            <a:r>
              <a:rPr lang="en-US" alt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Credit Assignment problem </a:t>
            </a:r>
            <a:r>
              <a:rPr lang="en-US" altLang="en-US" sz="2000" dirty="0">
                <a:latin typeface="Arial Narrow" panose="020B0606020202030204" pitchFamily="34" charset="0"/>
              </a:rPr>
              <a:t>is the challenge of determining which neurons or connections (weights) are responsible for an overall error or reward.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The problem becomes more difficult when feedback is </a:t>
            </a:r>
            <a:r>
              <a:rPr lang="en-US" alt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delayed or distributed across many layers</a:t>
            </a:r>
            <a:r>
              <a:rPr lang="en-US" altLang="en-US" sz="2000" dirty="0">
                <a:latin typeface="Arial Narrow" panose="020B0606020202030204" pitchFamily="34" charset="0"/>
              </a:rPr>
              <a:t>, making it hard to identify which internal computations should be adjusted.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How can a </a:t>
            </a:r>
            <a:r>
              <a:rPr lang="en-US" alt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Layer 2</a:t>
            </a:r>
            <a:r>
              <a:rPr lang="en-US" altLang="en-US" sz="2000" dirty="0">
                <a:latin typeface="Arial Narrow" panose="020B0606020202030204" pitchFamily="34" charset="0"/>
              </a:rPr>
              <a:t> neuron know what its output should be until the higher layers produce accurate outputs? 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Narrow" panose="020B0606020202030204" pitchFamily="34" charset="0"/>
              </a:rPr>
              <a:t>Similarly, how can a </a:t>
            </a:r>
            <a:r>
              <a:rPr lang="en-US" alt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Layer 4</a:t>
            </a:r>
            <a:r>
              <a:rPr lang="en-US" altLang="en-US" sz="2000" dirty="0">
                <a:latin typeface="Arial Narrow" panose="020B0606020202030204" pitchFamily="34" charset="0"/>
              </a:rPr>
              <a:t> neuron determine its correct output until the preceding layers learn the appropriate feature representations? </a:t>
            </a:r>
          </a:p>
        </p:txBody>
      </p:sp>
      <p:sp>
        <p:nvSpPr>
          <p:cNvPr id="5" name="Oval 4"/>
          <p:cNvSpPr/>
          <p:nvPr/>
        </p:nvSpPr>
        <p:spPr>
          <a:xfrm>
            <a:off x="2050474" y="4730748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2050474" y="5193259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2050474" y="5655770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2045857" y="6118281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958109" y="4692072"/>
            <a:ext cx="535709" cy="1828800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3020289" y="4925806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3020289" y="5452628"/>
            <a:ext cx="341746" cy="344632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3024907" y="5979450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2923308" y="4869295"/>
            <a:ext cx="535709" cy="1513032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994496" y="4925806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3994496" y="5452628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3999114" y="5979450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3897515" y="4869295"/>
            <a:ext cx="535709" cy="1513032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5015114" y="4925806"/>
            <a:ext cx="341746" cy="3446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/>
          <p:cNvSpPr/>
          <p:nvPr/>
        </p:nvSpPr>
        <p:spPr>
          <a:xfrm>
            <a:off x="5015114" y="5452628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019732" y="5979450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4918133" y="4869295"/>
            <a:ext cx="535709" cy="1513032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/>
          <p:cNvSpPr/>
          <p:nvPr/>
        </p:nvSpPr>
        <p:spPr>
          <a:xfrm>
            <a:off x="6026494" y="4925806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/>
          <p:cNvSpPr/>
          <p:nvPr/>
        </p:nvSpPr>
        <p:spPr>
          <a:xfrm>
            <a:off x="6026494" y="5452628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/>
          <p:cNvSpPr/>
          <p:nvPr/>
        </p:nvSpPr>
        <p:spPr>
          <a:xfrm>
            <a:off x="6031112" y="5979450"/>
            <a:ext cx="341746" cy="34463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5929513" y="4869295"/>
            <a:ext cx="535709" cy="1513032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ight Arrow 34"/>
          <p:cNvSpPr/>
          <p:nvPr/>
        </p:nvSpPr>
        <p:spPr>
          <a:xfrm>
            <a:off x="5483167" y="5383212"/>
            <a:ext cx="420257" cy="414048"/>
          </a:xfrm>
          <a:prstGeom prst="rightArrow">
            <a:avLst/>
          </a:prstGeom>
          <a:noFill/>
          <a:ln w="317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09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6" y="186181"/>
            <a:ext cx="10515600" cy="96985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Why Deeply Layered Networks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76" y="1406525"/>
            <a:ext cx="6191249" cy="258445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3200" dirty="0">
                <a:latin typeface="Arial Narrow" panose="020B0606020202030204" pitchFamily="34" charset="0"/>
              </a:rPr>
              <a:t>Vanishing Gradient Problem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Sigmoid</a:t>
            </a:r>
            <a:r>
              <a:rPr lang="en-US" altLang="en-US" dirty="0">
                <a:latin typeface="Arial Narrow" panose="020B0606020202030204" pitchFamily="34" charset="0"/>
              </a:rPr>
              <a:t> and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dirty="0" err="1">
                <a:solidFill>
                  <a:srgbClr val="7030A0"/>
                </a:solidFill>
                <a:latin typeface="Arial Narrow" panose="020B0606020202030204" pitchFamily="34" charset="0"/>
              </a:rPr>
              <a:t>tanh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dirty="0">
                <a:latin typeface="Arial Narrow" panose="020B0606020202030204" pitchFamily="34" charset="0"/>
              </a:rPr>
              <a:t>squash inputs into a small range, and their derivatives are typically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less than 1. 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Narrow" panose="020B0606020202030204" pitchFamily="34" charset="0"/>
              </a:rPr>
              <a:t>During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backpropagation</a:t>
            </a:r>
            <a:r>
              <a:rPr lang="en-US" altLang="en-US" dirty="0">
                <a:latin typeface="Arial Narrow" panose="020B0606020202030204" pitchFamily="34" charset="0"/>
              </a:rPr>
              <a:t>, gradients are repeatedly multiplied across many layers, causing them to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shrink exponentially. 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Narrow" panose="020B0606020202030204" pitchFamily="34" charset="0"/>
              </a:rPr>
              <a:t>As a result, the early layers receive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very small gradients</a:t>
            </a:r>
            <a:r>
              <a:rPr lang="en-US" altLang="en-US" dirty="0">
                <a:latin typeface="Arial Narrow" panose="020B0606020202030204" pitchFamily="34" charset="0"/>
              </a:rPr>
              <a:t>, learn very slowly, and this is known as the </a:t>
            </a:r>
            <a:r>
              <a:rPr lang="en-US" alt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vanishing gradient problem.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91563" y="1782836"/>
                <a:ext cx="1894685" cy="705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563" y="1782836"/>
                <a:ext cx="1894685" cy="7051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591563" y="2769668"/>
                <a:ext cx="2506007" cy="705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mr-IN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mr-IN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563" y="2769668"/>
                <a:ext cx="2506007" cy="7051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62144" y="2902170"/>
                <a:ext cx="1575303" cy="411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144" y="2902170"/>
                <a:ext cx="1575303" cy="411395"/>
              </a:xfrm>
              <a:prstGeom prst="rect">
                <a:avLst/>
              </a:prstGeom>
              <a:blipFill>
                <a:blip r:embed="rId4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197816" y="1782836"/>
                <a:ext cx="2044406" cy="6908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exp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⁡(−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6" y="1782836"/>
                <a:ext cx="2044406" cy="6908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/>
          <p:nvPr/>
        </p:nvCxnSpPr>
        <p:spPr>
          <a:xfrm>
            <a:off x="1720850" y="4018694"/>
            <a:ext cx="2032289" cy="1868344"/>
          </a:xfrm>
          <a:prstGeom prst="bentConnector3">
            <a:avLst>
              <a:gd name="adj1" fmla="val 7"/>
            </a:avLst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20850" y="5930118"/>
            <a:ext cx="1933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i="1" dirty="0">
                <a:latin typeface="Arial Narrow" panose="020B0606020202030204" pitchFamily="34" charset="0"/>
              </a:rPr>
              <a:t>n       . . . .      3 2 1</a:t>
            </a:r>
          </a:p>
          <a:p>
            <a:pPr algn="ctr"/>
            <a:r>
              <a:rPr lang="en-IN" sz="2000" b="1" i="1" dirty="0">
                <a:latin typeface="Arial Narrow" panose="020B0606020202030204" pitchFamily="34" charset="0"/>
              </a:rPr>
              <a:t>Layer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745316" y="4880408"/>
            <a:ext cx="1223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i="1" dirty="0">
                <a:latin typeface="Arial Narrow" panose="020B0606020202030204" pitchFamily="34" charset="0"/>
              </a:rPr>
              <a:t>Gradient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707024" y="4274708"/>
            <a:ext cx="3743210" cy="1655410"/>
            <a:chOff x="3510684" y="3387147"/>
            <a:chExt cx="3743210" cy="1655410"/>
          </a:xfrm>
        </p:grpSpPr>
        <p:sp>
          <p:nvSpPr>
            <p:cNvPr id="29" name="Right Arrow 28"/>
            <p:cNvSpPr/>
            <p:nvPr/>
          </p:nvSpPr>
          <p:spPr>
            <a:xfrm>
              <a:off x="5643861" y="4099998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4816883" y="4078287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3971758" y="4078287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/>
            <p:cNvSpPr/>
            <p:nvPr/>
          </p:nvSpPr>
          <p:spPr>
            <a:xfrm>
              <a:off x="3603049" y="3425823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/>
            <p:cNvSpPr/>
            <p:nvPr/>
          </p:nvSpPr>
          <p:spPr>
            <a:xfrm>
              <a:off x="3603049" y="3834994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Oval 33"/>
            <p:cNvSpPr/>
            <p:nvPr/>
          </p:nvSpPr>
          <p:spPr>
            <a:xfrm>
              <a:off x="3603049" y="4244165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/>
            <p:cNvSpPr/>
            <p:nvPr/>
          </p:nvSpPr>
          <p:spPr>
            <a:xfrm>
              <a:off x="3595279" y="4667295"/>
              <a:ext cx="276344" cy="326415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10684" y="3387147"/>
              <a:ext cx="433187" cy="165541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/>
            <p:cNvSpPr/>
            <p:nvPr/>
          </p:nvSpPr>
          <p:spPr>
            <a:xfrm>
              <a:off x="4443324" y="3620881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/>
            <p:cNvSpPr/>
            <p:nvPr/>
          </p:nvSpPr>
          <p:spPr>
            <a:xfrm>
              <a:off x="4425519" y="4525902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346343" y="3564370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/>
            <p:cNvSpPr/>
            <p:nvPr/>
          </p:nvSpPr>
          <p:spPr>
            <a:xfrm>
              <a:off x="4418699" y="4073391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/>
            <p:cNvSpPr/>
            <p:nvPr/>
          </p:nvSpPr>
          <p:spPr>
            <a:xfrm>
              <a:off x="5290009" y="361588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/>
            <p:cNvSpPr/>
            <p:nvPr/>
          </p:nvSpPr>
          <p:spPr>
            <a:xfrm>
              <a:off x="5272204" y="4520907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193028" y="3559375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/>
            <p:cNvSpPr/>
            <p:nvPr/>
          </p:nvSpPr>
          <p:spPr>
            <a:xfrm>
              <a:off x="5265384" y="406839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ight Arrow 44"/>
            <p:cNvSpPr/>
            <p:nvPr/>
          </p:nvSpPr>
          <p:spPr>
            <a:xfrm>
              <a:off x="6457548" y="4115063"/>
              <a:ext cx="339830" cy="302066"/>
            </a:xfrm>
            <a:prstGeom prst="rightArrow">
              <a:avLst/>
            </a:prstGeom>
            <a:noFill/>
            <a:ln w="317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Oval 45"/>
            <p:cNvSpPr/>
            <p:nvPr/>
          </p:nvSpPr>
          <p:spPr>
            <a:xfrm>
              <a:off x="6101007" y="361588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Oval 46"/>
            <p:cNvSpPr/>
            <p:nvPr/>
          </p:nvSpPr>
          <p:spPr>
            <a:xfrm>
              <a:off x="6083202" y="4520907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004026" y="3559375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Oval 48"/>
            <p:cNvSpPr/>
            <p:nvPr/>
          </p:nvSpPr>
          <p:spPr>
            <a:xfrm>
              <a:off x="6076382" y="406839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Oval 49"/>
            <p:cNvSpPr/>
            <p:nvPr/>
          </p:nvSpPr>
          <p:spPr>
            <a:xfrm>
              <a:off x="6917688" y="361588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Oval 50"/>
            <p:cNvSpPr/>
            <p:nvPr/>
          </p:nvSpPr>
          <p:spPr>
            <a:xfrm>
              <a:off x="6899883" y="4520907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820707" y="3559375"/>
              <a:ext cx="433187" cy="1369580"/>
            </a:xfrm>
            <a:prstGeom prst="rect">
              <a:avLst/>
            </a:prstGeom>
            <a:noFill/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Oval 52"/>
            <p:cNvSpPr/>
            <p:nvPr/>
          </p:nvSpPr>
          <p:spPr>
            <a:xfrm>
              <a:off x="6893063" y="4068396"/>
              <a:ext cx="276344" cy="311957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5B505AE-FD28-45EB-8B29-653BEEE3A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173" y="4293328"/>
            <a:ext cx="1790950" cy="16385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926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 rot="5400000">
            <a:off x="5448593" y="749917"/>
            <a:ext cx="692943" cy="906729"/>
            <a:chOff x="1072835" y="3195019"/>
            <a:chExt cx="692943" cy="90672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E3390B-2744-4911-9AAB-AEC2A5FFDA5D}"/>
                </a:ext>
              </a:extLst>
            </p:cNvPr>
            <p:cNvSpPr/>
            <p:nvPr/>
          </p:nvSpPr>
          <p:spPr>
            <a:xfrm>
              <a:off x="1073628" y="31950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2ACD2F-C82F-4699-8D16-14B294737587}"/>
                </a:ext>
              </a:extLst>
            </p:cNvPr>
            <p:cNvSpPr/>
            <p:nvPr/>
          </p:nvSpPr>
          <p:spPr>
            <a:xfrm>
              <a:off x="1187928" y="31950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7924E6-0719-4B82-9188-7BE4B9DE19D6}"/>
                </a:ext>
              </a:extLst>
            </p:cNvPr>
            <p:cNvSpPr/>
            <p:nvPr/>
          </p:nvSpPr>
          <p:spPr>
            <a:xfrm>
              <a:off x="1302228" y="31950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BD5541-48CE-4EDD-A315-6F4BDDC04EF6}"/>
                </a:ext>
              </a:extLst>
            </p:cNvPr>
            <p:cNvSpPr/>
            <p:nvPr/>
          </p:nvSpPr>
          <p:spPr>
            <a:xfrm>
              <a:off x="1416528" y="31950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0F1BF8-9C2F-4461-88A6-52BED6AC134F}"/>
                </a:ext>
              </a:extLst>
            </p:cNvPr>
            <p:cNvSpPr/>
            <p:nvPr/>
          </p:nvSpPr>
          <p:spPr>
            <a:xfrm>
              <a:off x="1530828" y="31950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999762-5187-4BCF-87A4-24B06E02636F}"/>
                </a:ext>
              </a:extLst>
            </p:cNvPr>
            <p:cNvSpPr/>
            <p:nvPr/>
          </p:nvSpPr>
          <p:spPr>
            <a:xfrm>
              <a:off x="1651478" y="31950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0F1812F-86BB-4930-8580-6A7FAD36EFD8}"/>
                </a:ext>
              </a:extLst>
            </p:cNvPr>
            <p:cNvSpPr/>
            <p:nvPr/>
          </p:nvSpPr>
          <p:spPr>
            <a:xfrm>
              <a:off x="1187928" y="33093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CD6CD77-25C6-41D5-BBF4-3D46674842C9}"/>
                </a:ext>
              </a:extLst>
            </p:cNvPr>
            <p:cNvSpPr/>
            <p:nvPr/>
          </p:nvSpPr>
          <p:spPr>
            <a:xfrm>
              <a:off x="1651478" y="33093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89C2F8-A18C-43B1-9E0B-EB9BB5EDBDB0}"/>
                </a:ext>
              </a:extLst>
            </p:cNvPr>
            <p:cNvSpPr/>
            <p:nvPr/>
          </p:nvSpPr>
          <p:spPr>
            <a:xfrm>
              <a:off x="1073628" y="33093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285E7A1-A2B3-4F61-8FA0-E03E5CA04E33}"/>
                </a:ext>
              </a:extLst>
            </p:cNvPr>
            <p:cNvSpPr/>
            <p:nvPr/>
          </p:nvSpPr>
          <p:spPr>
            <a:xfrm>
              <a:off x="1308578" y="33093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B5B5A5-F16A-4853-8F22-784B0D4BF435}"/>
                </a:ext>
              </a:extLst>
            </p:cNvPr>
            <p:cNvSpPr/>
            <p:nvPr/>
          </p:nvSpPr>
          <p:spPr>
            <a:xfrm>
              <a:off x="1530828" y="33093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00221E1-F80C-4688-839A-E0BD6E7194A9}"/>
                </a:ext>
              </a:extLst>
            </p:cNvPr>
            <p:cNvSpPr/>
            <p:nvPr/>
          </p:nvSpPr>
          <p:spPr>
            <a:xfrm>
              <a:off x="1073628" y="34236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F6D972-01E8-4A19-8512-2C029C7330DC}"/>
                </a:ext>
              </a:extLst>
            </p:cNvPr>
            <p:cNvSpPr/>
            <p:nvPr/>
          </p:nvSpPr>
          <p:spPr>
            <a:xfrm>
              <a:off x="1187928" y="3423619"/>
              <a:ext cx="114300" cy="1143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E34896-D5F2-4667-BB2E-C94310B1D085}"/>
                </a:ext>
              </a:extLst>
            </p:cNvPr>
            <p:cNvSpPr/>
            <p:nvPr/>
          </p:nvSpPr>
          <p:spPr>
            <a:xfrm>
              <a:off x="1302228" y="34236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6F2C747-6976-49A5-B4D3-5F921F9F946B}"/>
                </a:ext>
              </a:extLst>
            </p:cNvPr>
            <p:cNvSpPr/>
            <p:nvPr/>
          </p:nvSpPr>
          <p:spPr>
            <a:xfrm>
              <a:off x="1416528" y="34236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008DE5-A652-41C8-9118-5858B5240525}"/>
                </a:ext>
              </a:extLst>
            </p:cNvPr>
            <p:cNvSpPr/>
            <p:nvPr/>
          </p:nvSpPr>
          <p:spPr>
            <a:xfrm>
              <a:off x="1530828" y="34236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026A8F8-7C36-4DCD-8C19-B21480E1C8E8}"/>
                </a:ext>
              </a:extLst>
            </p:cNvPr>
            <p:cNvSpPr/>
            <p:nvPr/>
          </p:nvSpPr>
          <p:spPr>
            <a:xfrm>
              <a:off x="1651478" y="34236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5149370-A909-4A6A-9727-C5B9D6795766}"/>
                </a:ext>
              </a:extLst>
            </p:cNvPr>
            <p:cNvSpPr/>
            <p:nvPr/>
          </p:nvSpPr>
          <p:spPr>
            <a:xfrm>
              <a:off x="1651478" y="35379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F9BFD48-2636-4335-8EC8-9DCD9F148FEF}"/>
                </a:ext>
              </a:extLst>
            </p:cNvPr>
            <p:cNvSpPr/>
            <p:nvPr/>
          </p:nvSpPr>
          <p:spPr>
            <a:xfrm>
              <a:off x="1416528" y="3537919"/>
              <a:ext cx="114300" cy="1143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624A8F4-3728-4E3D-8B2A-AA9363856D22}"/>
                </a:ext>
              </a:extLst>
            </p:cNvPr>
            <p:cNvSpPr/>
            <p:nvPr/>
          </p:nvSpPr>
          <p:spPr>
            <a:xfrm>
              <a:off x="1072835" y="35379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E575F2-8073-4E08-A759-C574B2C12A22}"/>
                </a:ext>
              </a:extLst>
            </p:cNvPr>
            <p:cNvSpPr/>
            <p:nvPr/>
          </p:nvSpPr>
          <p:spPr>
            <a:xfrm>
              <a:off x="1308578" y="35379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9CCE757-6B02-4D88-A47A-4C7CF61C1480}"/>
                </a:ext>
              </a:extLst>
            </p:cNvPr>
            <p:cNvSpPr/>
            <p:nvPr/>
          </p:nvSpPr>
          <p:spPr>
            <a:xfrm>
              <a:off x="1530828" y="35379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84E83F0-4468-4C24-A987-9F4E5BE52AE1}"/>
                </a:ext>
              </a:extLst>
            </p:cNvPr>
            <p:cNvSpPr/>
            <p:nvPr/>
          </p:nvSpPr>
          <p:spPr>
            <a:xfrm>
              <a:off x="1073628" y="36445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2248BC-C592-45B2-8279-45ED7DC8A209}"/>
                </a:ext>
              </a:extLst>
            </p:cNvPr>
            <p:cNvSpPr/>
            <p:nvPr/>
          </p:nvSpPr>
          <p:spPr>
            <a:xfrm>
              <a:off x="1187928" y="36445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09BAF2B-4786-44B8-B351-E85C61EBC17E}"/>
                </a:ext>
              </a:extLst>
            </p:cNvPr>
            <p:cNvSpPr/>
            <p:nvPr/>
          </p:nvSpPr>
          <p:spPr>
            <a:xfrm>
              <a:off x="1302228" y="36445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F773A69-15A7-46B9-B042-023BD8FB353E}"/>
                </a:ext>
              </a:extLst>
            </p:cNvPr>
            <p:cNvSpPr/>
            <p:nvPr/>
          </p:nvSpPr>
          <p:spPr>
            <a:xfrm>
              <a:off x="1416528" y="36445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43514D5-A450-4F83-A8D7-EBB679994150}"/>
                </a:ext>
              </a:extLst>
            </p:cNvPr>
            <p:cNvSpPr/>
            <p:nvPr/>
          </p:nvSpPr>
          <p:spPr>
            <a:xfrm>
              <a:off x="1651478" y="36445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0E9975A-872E-48F5-A4D9-ABD0F7CC57EE}"/>
                </a:ext>
              </a:extLst>
            </p:cNvPr>
            <p:cNvSpPr/>
            <p:nvPr/>
          </p:nvSpPr>
          <p:spPr>
            <a:xfrm>
              <a:off x="1187928" y="37588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DACD115-28B7-4E2A-A949-8A187D2E39AB}"/>
                </a:ext>
              </a:extLst>
            </p:cNvPr>
            <p:cNvSpPr/>
            <p:nvPr/>
          </p:nvSpPr>
          <p:spPr>
            <a:xfrm>
              <a:off x="1651478" y="37588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F5961E4-1058-40BB-9BFD-EBF06BA7CFE8}"/>
                </a:ext>
              </a:extLst>
            </p:cNvPr>
            <p:cNvSpPr/>
            <p:nvPr/>
          </p:nvSpPr>
          <p:spPr>
            <a:xfrm>
              <a:off x="1416528" y="37588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F984087-7247-4BAE-B211-49C85532C495}"/>
                </a:ext>
              </a:extLst>
            </p:cNvPr>
            <p:cNvSpPr/>
            <p:nvPr/>
          </p:nvSpPr>
          <p:spPr>
            <a:xfrm>
              <a:off x="1073628" y="37588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448DA87-40B3-4729-ABC6-BEEA6032D456}"/>
                </a:ext>
              </a:extLst>
            </p:cNvPr>
            <p:cNvSpPr/>
            <p:nvPr/>
          </p:nvSpPr>
          <p:spPr>
            <a:xfrm>
              <a:off x="1301435" y="37588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96F9A64-41D9-470F-B51B-4701709D99F8}"/>
                </a:ext>
              </a:extLst>
            </p:cNvPr>
            <p:cNvSpPr/>
            <p:nvPr/>
          </p:nvSpPr>
          <p:spPr>
            <a:xfrm>
              <a:off x="1530828" y="37588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042F1D8-C81F-4D09-A0E2-E284249349A9}"/>
                </a:ext>
              </a:extLst>
            </p:cNvPr>
            <p:cNvSpPr/>
            <p:nvPr/>
          </p:nvSpPr>
          <p:spPr>
            <a:xfrm>
              <a:off x="1073628" y="38731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F92291-89C5-46F4-A8F6-A411E55F7512}"/>
                </a:ext>
              </a:extLst>
            </p:cNvPr>
            <p:cNvSpPr/>
            <p:nvPr/>
          </p:nvSpPr>
          <p:spPr>
            <a:xfrm>
              <a:off x="1187928" y="3873148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8E24590-C366-48CE-BD8A-374931CBF3B0}"/>
                </a:ext>
              </a:extLst>
            </p:cNvPr>
            <p:cNvSpPr/>
            <p:nvPr/>
          </p:nvSpPr>
          <p:spPr>
            <a:xfrm>
              <a:off x="1302228" y="38731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59A5F70-EF29-4EA3-9F21-E2389FCB41F9}"/>
                </a:ext>
              </a:extLst>
            </p:cNvPr>
            <p:cNvSpPr/>
            <p:nvPr/>
          </p:nvSpPr>
          <p:spPr>
            <a:xfrm>
              <a:off x="1416528" y="38731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605CD69-047E-4FE4-84E8-CC0257AF62E0}"/>
                </a:ext>
              </a:extLst>
            </p:cNvPr>
            <p:cNvSpPr/>
            <p:nvPr/>
          </p:nvSpPr>
          <p:spPr>
            <a:xfrm>
              <a:off x="1530828" y="3873148"/>
              <a:ext cx="114300" cy="1143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E56E0D7-B71D-4ED9-953F-D6D04279BE0C}"/>
                </a:ext>
              </a:extLst>
            </p:cNvPr>
            <p:cNvSpPr/>
            <p:nvPr/>
          </p:nvSpPr>
          <p:spPr>
            <a:xfrm>
              <a:off x="1651478" y="3873148"/>
              <a:ext cx="114300" cy="1143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F64935F-DC82-4B29-AD2B-204F7E33F781}"/>
                </a:ext>
              </a:extLst>
            </p:cNvPr>
            <p:cNvSpPr/>
            <p:nvPr/>
          </p:nvSpPr>
          <p:spPr>
            <a:xfrm>
              <a:off x="1187928" y="39874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D2B4C50-D3FA-4C33-ABDC-38F7C212B7C9}"/>
                </a:ext>
              </a:extLst>
            </p:cNvPr>
            <p:cNvSpPr/>
            <p:nvPr/>
          </p:nvSpPr>
          <p:spPr>
            <a:xfrm>
              <a:off x="1651478" y="39874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78B66B4-EEDC-4659-A6AC-E76667DD49C6}"/>
                </a:ext>
              </a:extLst>
            </p:cNvPr>
            <p:cNvSpPr/>
            <p:nvPr/>
          </p:nvSpPr>
          <p:spPr>
            <a:xfrm>
              <a:off x="1416528" y="3987448"/>
              <a:ext cx="114300" cy="1143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4C7FC30-1211-4511-BC07-2C37BA3E25EA}"/>
                </a:ext>
              </a:extLst>
            </p:cNvPr>
            <p:cNvSpPr/>
            <p:nvPr/>
          </p:nvSpPr>
          <p:spPr>
            <a:xfrm>
              <a:off x="1073628" y="3987448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4CF41F3-115D-40FA-8D62-5AE74966A5A8}"/>
                </a:ext>
              </a:extLst>
            </p:cNvPr>
            <p:cNvSpPr/>
            <p:nvPr/>
          </p:nvSpPr>
          <p:spPr>
            <a:xfrm>
              <a:off x="1308578" y="39874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B2D3838-39EE-4477-97D7-07E901569650}"/>
                </a:ext>
              </a:extLst>
            </p:cNvPr>
            <p:cNvSpPr/>
            <p:nvPr/>
          </p:nvSpPr>
          <p:spPr>
            <a:xfrm>
              <a:off x="1530828" y="39874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E008DE5-A652-41C8-9118-5858B5240525}"/>
                </a:ext>
              </a:extLst>
            </p:cNvPr>
            <p:cNvSpPr/>
            <p:nvPr/>
          </p:nvSpPr>
          <p:spPr>
            <a:xfrm>
              <a:off x="1416528" y="33093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E008DE5-A652-41C8-9118-5858B5240525}"/>
                </a:ext>
              </a:extLst>
            </p:cNvPr>
            <p:cNvSpPr/>
            <p:nvPr/>
          </p:nvSpPr>
          <p:spPr>
            <a:xfrm>
              <a:off x="1189516" y="353262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63" name="Diamond 62"/>
          <p:cNvSpPr/>
          <p:nvPr/>
        </p:nvSpPr>
        <p:spPr>
          <a:xfrm>
            <a:off x="5119752" y="179576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4" name="Diamond 63"/>
          <p:cNvSpPr/>
          <p:nvPr/>
        </p:nvSpPr>
        <p:spPr>
          <a:xfrm>
            <a:off x="5503085" y="179576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5" name="Diamond 64"/>
          <p:cNvSpPr/>
          <p:nvPr/>
        </p:nvSpPr>
        <p:spPr>
          <a:xfrm>
            <a:off x="5886418" y="179576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6" name="Diamond 65"/>
          <p:cNvSpPr/>
          <p:nvPr/>
        </p:nvSpPr>
        <p:spPr>
          <a:xfrm>
            <a:off x="6269751" y="179576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999517" y="1760029"/>
            <a:ext cx="1600171" cy="299030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0" name="Down Arrow 69"/>
          <p:cNvSpPr/>
          <p:nvPr/>
        </p:nvSpPr>
        <p:spPr>
          <a:xfrm>
            <a:off x="6019829" y="1553001"/>
            <a:ext cx="114300" cy="194155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2" name="Down Arrow 71"/>
          <p:cNvSpPr/>
          <p:nvPr/>
        </p:nvSpPr>
        <p:spPr>
          <a:xfrm>
            <a:off x="5449633" y="1549754"/>
            <a:ext cx="114300" cy="194155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3" name="Down Arrow 72"/>
          <p:cNvSpPr/>
          <p:nvPr/>
        </p:nvSpPr>
        <p:spPr>
          <a:xfrm>
            <a:off x="5741750" y="2061299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4" name="Down Arrow 73"/>
          <p:cNvSpPr/>
          <p:nvPr/>
        </p:nvSpPr>
        <p:spPr>
          <a:xfrm>
            <a:off x="5162029" y="2063609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5" name="Down Arrow 74"/>
          <p:cNvSpPr/>
          <p:nvPr/>
        </p:nvSpPr>
        <p:spPr>
          <a:xfrm>
            <a:off x="6303802" y="2061299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705430" y="2252702"/>
            <a:ext cx="2233533" cy="395359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082" y="2212162"/>
            <a:ext cx="1437285" cy="403971"/>
          </a:xfrm>
          <a:prstGeom prst="rect">
            <a:avLst/>
          </a:prstGeom>
        </p:spPr>
      </p:pic>
      <p:sp>
        <p:nvSpPr>
          <p:cNvPr id="94" name="Diamond 93"/>
          <p:cNvSpPr/>
          <p:nvPr/>
        </p:nvSpPr>
        <p:spPr>
          <a:xfrm>
            <a:off x="5119752" y="2888887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5" name="Diamond 94"/>
          <p:cNvSpPr/>
          <p:nvPr/>
        </p:nvSpPr>
        <p:spPr>
          <a:xfrm>
            <a:off x="5503085" y="2888887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6" name="Diamond 95"/>
          <p:cNvSpPr/>
          <p:nvPr/>
        </p:nvSpPr>
        <p:spPr>
          <a:xfrm>
            <a:off x="5886418" y="2888887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7" name="Diamond 96"/>
          <p:cNvSpPr/>
          <p:nvPr/>
        </p:nvSpPr>
        <p:spPr>
          <a:xfrm>
            <a:off x="6269751" y="2888887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999517" y="2853155"/>
            <a:ext cx="1600171" cy="299030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4648280" y="3363113"/>
            <a:ext cx="2301240" cy="45235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9" name="Diamond 108"/>
          <p:cNvSpPr/>
          <p:nvPr/>
        </p:nvSpPr>
        <p:spPr>
          <a:xfrm>
            <a:off x="5108322" y="405470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0" name="Diamond 109"/>
          <p:cNvSpPr/>
          <p:nvPr/>
        </p:nvSpPr>
        <p:spPr>
          <a:xfrm>
            <a:off x="5491655" y="405470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1" name="Diamond 110"/>
          <p:cNvSpPr/>
          <p:nvPr/>
        </p:nvSpPr>
        <p:spPr>
          <a:xfrm>
            <a:off x="5874988" y="405470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2" name="Diamond 111"/>
          <p:cNvSpPr/>
          <p:nvPr/>
        </p:nvSpPr>
        <p:spPr>
          <a:xfrm>
            <a:off x="6258321" y="4054701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988087" y="4018969"/>
            <a:ext cx="1600171" cy="299030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650014" y="4522813"/>
            <a:ext cx="2301240" cy="45235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2" name="Diamond 121"/>
          <p:cNvSpPr/>
          <p:nvPr/>
        </p:nvSpPr>
        <p:spPr>
          <a:xfrm>
            <a:off x="5120754" y="5211004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3" name="Diamond 122"/>
          <p:cNvSpPr/>
          <p:nvPr/>
        </p:nvSpPr>
        <p:spPr>
          <a:xfrm>
            <a:off x="5504087" y="5211004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4" name="Diamond 123"/>
          <p:cNvSpPr/>
          <p:nvPr/>
        </p:nvSpPr>
        <p:spPr>
          <a:xfrm>
            <a:off x="5887420" y="5211004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5" name="Diamond 124"/>
          <p:cNvSpPr/>
          <p:nvPr/>
        </p:nvSpPr>
        <p:spPr>
          <a:xfrm>
            <a:off x="6270753" y="5211004"/>
            <a:ext cx="184135" cy="223240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5000519" y="5175272"/>
            <a:ext cx="1600171" cy="299030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649282" y="5695047"/>
            <a:ext cx="2301240" cy="45235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2" name="Down Arrow 131"/>
          <p:cNvSpPr/>
          <p:nvPr/>
        </p:nvSpPr>
        <p:spPr>
          <a:xfrm>
            <a:off x="5756623" y="2656542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3" name="Down Arrow 132"/>
          <p:cNvSpPr/>
          <p:nvPr/>
        </p:nvSpPr>
        <p:spPr>
          <a:xfrm>
            <a:off x="5176902" y="2658852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4" name="Down Arrow 133"/>
          <p:cNvSpPr/>
          <p:nvPr/>
        </p:nvSpPr>
        <p:spPr>
          <a:xfrm>
            <a:off x="6318675" y="2656542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5" name="Down Arrow 134"/>
          <p:cNvSpPr/>
          <p:nvPr/>
        </p:nvSpPr>
        <p:spPr>
          <a:xfrm>
            <a:off x="5737729" y="3165423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6" name="Down Arrow 135"/>
          <p:cNvSpPr/>
          <p:nvPr/>
        </p:nvSpPr>
        <p:spPr>
          <a:xfrm>
            <a:off x="5158008" y="3161383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7" name="Down Arrow 136"/>
          <p:cNvSpPr/>
          <p:nvPr/>
        </p:nvSpPr>
        <p:spPr>
          <a:xfrm>
            <a:off x="6299781" y="3165423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8" name="Down Arrow 137"/>
          <p:cNvSpPr/>
          <p:nvPr/>
        </p:nvSpPr>
        <p:spPr>
          <a:xfrm>
            <a:off x="5734079" y="3819023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9" name="Down Arrow 138"/>
          <p:cNvSpPr/>
          <p:nvPr/>
        </p:nvSpPr>
        <p:spPr>
          <a:xfrm>
            <a:off x="5154358" y="3821333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0" name="Down Arrow 139"/>
          <p:cNvSpPr/>
          <p:nvPr/>
        </p:nvSpPr>
        <p:spPr>
          <a:xfrm>
            <a:off x="6296131" y="3819023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1" name="Down Arrow 140"/>
          <p:cNvSpPr/>
          <p:nvPr/>
        </p:nvSpPr>
        <p:spPr>
          <a:xfrm>
            <a:off x="5734079" y="4329336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2" name="Down Arrow 141"/>
          <p:cNvSpPr/>
          <p:nvPr/>
        </p:nvSpPr>
        <p:spPr>
          <a:xfrm>
            <a:off x="5154358" y="4331646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3" name="Down Arrow 142"/>
          <p:cNvSpPr/>
          <p:nvPr/>
        </p:nvSpPr>
        <p:spPr>
          <a:xfrm>
            <a:off x="6296131" y="4329336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4" name="Down Arrow 143"/>
          <p:cNvSpPr/>
          <p:nvPr/>
        </p:nvSpPr>
        <p:spPr>
          <a:xfrm>
            <a:off x="5734079" y="4981795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5" name="Down Arrow 144"/>
          <p:cNvSpPr/>
          <p:nvPr/>
        </p:nvSpPr>
        <p:spPr>
          <a:xfrm>
            <a:off x="5154358" y="4984105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6" name="Down Arrow 145"/>
          <p:cNvSpPr/>
          <p:nvPr/>
        </p:nvSpPr>
        <p:spPr>
          <a:xfrm>
            <a:off x="6296131" y="4981795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7" name="Down Arrow 146"/>
          <p:cNvSpPr/>
          <p:nvPr/>
        </p:nvSpPr>
        <p:spPr>
          <a:xfrm>
            <a:off x="5734079" y="5484780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8" name="Down Arrow 147"/>
          <p:cNvSpPr/>
          <p:nvPr/>
        </p:nvSpPr>
        <p:spPr>
          <a:xfrm>
            <a:off x="5154358" y="5487090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9" name="Down Arrow 148"/>
          <p:cNvSpPr/>
          <p:nvPr/>
        </p:nvSpPr>
        <p:spPr>
          <a:xfrm>
            <a:off x="6296131" y="5484780"/>
            <a:ext cx="114300" cy="186853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150" name="Picture 1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856" y="5715713"/>
            <a:ext cx="1428662" cy="424425"/>
          </a:xfrm>
          <a:prstGeom prst="rect">
            <a:avLst/>
          </a:prstGeom>
        </p:spPr>
      </p:pic>
      <p:cxnSp>
        <p:nvCxnSpPr>
          <p:cNvPr id="152" name="Straight Arrow Connector 151"/>
          <p:cNvCxnSpPr>
            <a:stCxn id="67" idx="3"/>
            <a:endCxn id="153" idx="1"/>
          </p:cNvCxnSpPr>
          <p:nvPr/>
        </p:nvCxnSpPr>
        <p:spPr>
          <a:xfrm flipV="1">
            <a:off x="6599688" y="1901714"/>
            <a:ext cx="723761" cy="783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7323449" y="1732437"/>
            <a:ext cx="1601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First Hidden Layer </a:t>
            </a:r>
          </a:p>
        </p:txBody>
      </p:sp>
      <p:cxnSp>
        <p:nvCxnSpPr>
          <p:cNvPr id="155" name="Straight Arrow Connector 154"/>
          <p:cNvCxnSpPr>
            <a:stCxn id="98" idx="3"/>
            <a:endCxn id="156" idx="1"/>
          </p:cNvCxnSpPr>
          <p:nvPr/>
        </p:nvCxnSpPr>
        <p:spPr>
          <a:xfrm flipV="1">
            <a:off x="6599688" y="2994360"/>
            <a:ext cx="723761" cy="831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7323449" y="2825083"/>
            <a:ext cx="1843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Second Hidden Layer </a:t>
            </a:r>
          </a:p>
        </p:txBody>
      </p:sp>
      <p:cxnSp>
        <p:nvCxnSpPr>
          <p:cNvPr id="157" name="Straight Arrow Connector 156"/>
          <p:cNvCxnSpPr>
            <a:stCxn id="126" idx="3"/>
            <a:endCxn id="158" idx="1"/>
          </p:cNvCxnSpPr>
          <p:nvPr/>
        </p:nvCxnSpPr>
        <p:spPr>
          <a:xfrm flipV="1">
            <a:off x="6600690" y="5324071"/>
            <a:ext cx="722759" cy="716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7323449" y="5154794"/>
            <a:ext cx="1758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Fourth Hidden Layer </a:t>
            </a:r>
          </a:p>
        </p:txBody>
      </p:sp>
      <p:cxnSp>
        <p:nvCxnSpPr>
          <p:cNvPr id="159" name="Straight Arrow Connector 158"/>
          <p:cNvCxnSpPr>
            <a:stCxn id="113" idx="3"/>
            <a:endCxn id="160" idx="1"/>
          </p:cNvCxnSpPr>
          <p:nvPr/>
        </p:nvCxnSpPr>
        <p:spPr>
          <a:xfrm flipV="1">
            <a:off x="6588258" y="4160953"/>
            <a:ext cx="735191" cy="753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7323449" y="3991676"/>
            <a:ext cx="1601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Third Hidden Layer </a:t>
            </a:r>
          </a:p>
        </p:txBody>
      </p:sp>
      <p:pic>
        <p:nvPicPr>
          <p:cNvPr id="170" name="Picture 1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089" y="3360039"/>
            <a:ext cx="1074059" cy="451808"/>
          </a:xfrm>
          <a:prstGeom prst="rect">
            <a:avLst/>
          </a:prstGeom>
        </p:spPr>
      </p:pic>
      <p:cxnSp>
        <p:nvCxnSpPr>
          <p:cNvPr id="172" name="Straight Arrow Connector 171"/>
          <p:cNvCxnSpPr>
            <a:stCxn id="56" idx="2"/>
            <a:endCxn id="174" idx="3"/>
          </p:cNvCxnSpPr>
          <p:nvPr/>
        </p:nvCxnSpPr>
        <p:spPr>
          <a:xfrm flipH="1" flipV="1">
            <a:off x="4296669" y="1145665"/>
            <a:ext cx="1045031" cy="4038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589103" y="976388"/>
            <a:ext cx="707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Pixels</a:t>
            </a:r>
          </a:p>
        </p:txBody>
      </p:sp>
      <p:cxnSp>
        <p:nvCxnSpPr>
          <p:cNvPr id="177" name="Straight Arrow Connector 176"/>
          <p:cNvCxnSpPr>
            <a:stCxn id="89" idx="1"/>
            <a:endCxn id="178" idx="3"/>
          </p:cNvCxnSpPr>
          <p:nvPr/>
        </p:nvCxnSpPr>
        <p:spPr>
          <a:xfrm flipH="1">
            <a:off x="3627119" y="2450382"/>
            <a:ext cx="1078311" cy="476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2966361" y="2285866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Edges</a:t>
            </a:r>
          </a:p>
        </p:txBody>
      </p:sp>
      <p:cxnSp>
        <p:nvCxnSpPr>
          <p:cNvPr id="180" name="Straight Arrow Connector 179"/>
          <p:cNvCxnSpPr>
            <a:stCxn id="102" idx="1"/>
            <a:endCxn id="181" idx="3"/>
          </p:cNvCxnSpPr>
          <p:nvPr/>
        </p:nvCxnSpPr>
        <p:spPr>
          <a:xfrm flipH="1" flipV="1">
            <a:off x="3664546" y="3578694"/>
            <a:ext cx="983734" cy="10598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2909211" y="3409417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Strokes</a:t>
            </a:r>
          </a:p>
        </p:txBody>
      </p:sp>
      <p:cxnSp>
        <p:nvCxnSpPr>
          <p:cNvPr id="182" name="Straight Arrow Connector 181"/>
          <p:cNvCxnSpPr/>
          <p:nvPr/>
        </p:nvCxnSpPr>
        <p:spPr>
          <a:xfrm flipH="1" flipV="1">
            <a:off x="3615355" y="4741678"/>
            <a:ext cx="1057647" cy="731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2894740" y="4572401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Letters</a:t>
            </a:r>
          </a:p>
        </p:txBody>
      </p:sp>
      <p:cxnSp>
        <p:nvCxnSpPr>
          <p:cNvPr id="184" name="Straight Arrow Connector 183"/>
          <p:cNvCxnSpPr>
            <a:stCxn id="130" idx="1"/>
            <a:endCxn id="185" idx="3"/>
          </p:cNvCxnSpPr>
          <p:nvPr/>
        </p:nvCxnSpPr>
        <p:spPr>
          <a:xfrm flipH="1" flipV="1">
            <a:off x="3492512" y="5913898"/>
            <a:ext cx="1156770" cy="7328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909980" y="5744621"/>
            <a:ext cx="5825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Word</a:t>
            </a:r>
          </a:p>
        </p:txBody>
      </p:sp>
      <p:pic>
        <p:nvPicPr>
          <p:cNvPr id="186" name="Picture 1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918" y="4551921"/>
            <a:ext cx="1472545" cy="402606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3185091" y="6285264"/>
            <a:ext cx="5612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Vision Hierarchy for recognizing handwritten text</a:t>
            </a:r>
          </a:p>
        </p:txBody>
      </p:sp>
      <p:cxnSp>
        <p:nvCxnSpPr>
          <p:cNvPr id="207" name="Straight Arrow Connector 206"/>
          <p:cNvCxnSpPr/>
          <p:nvPr/>
        </p:nvCxnSpPr>
        <p:spPr>
          <a:xfrm flipV="1">
            <a:off x="6258321" y="1138645"/>
            <a:ext cx="723761" cy="783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6991974" y="97986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Input</a:t>
            </a:r>
          </a:p>
        </p:txBody>
      </p:sp>
      <p:sp>
        <p:nvSpPr>
          <p:cNvPr id="127" name="Title 1"/>
          <p:cNvSpPr>
            <a:spLocks noGrp="1"/>
          </p:cNvSpPr>
          <p:nvPr>
            <p:ph type="title"/>
          </p:nvPr>
        </p:nvSpPr>
        <p:spPr>
          <a:xfrm>
            <a:off x="594423" y="56879"/>
            <a:ext cx="9603103" cy="72682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Feature Learning at Different Hidden Layers</a:t>
            </a:r>
          </a:p>
        </p:txBody>
      </p:sp>
    </p:spTree>
    <p:extLst>
      <p:ext uri="{BB962C8B-B14F-4D97-AF65-F5344CB8AC3E}">
        <p14:creationId xmlns:p14="http://schemas.microsoft.com/office/powerpoint/2010/main" val="928072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4822426" y="1650483"/>
            <a:ext cx="1458433" cy="187732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94423" y="56879"/>
            <a:ext cx="9603103" cy="72682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Feature Learning at Different Hidden Layers</a:t>
            </a:r>
          </a:p>
        </p:txBody>
      </p:sp>
      <p:grpSp>
        <p:nvGrpSpPr>
          <p:cNvPr id="53" name="Group 52"/>
          <p:cNvGrpSpPr/>
          <p:nvPr/>
        </p:nvGrpSpPr>
        <p:grpSpPr>
          <a:xfrm rot="5400000">
            <a:off x="5324890" y="902918"/>
            <a:ext cx="435031" cy="788632"/>
            <a:chOff x="1072835" y="3195019"/>
            <a:chExt cx="692943" cy="906729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4E3390B-2744-4911-9AAB-AEC2A5FFDA5D}"/>
                </a:ext>
              </a:extLst>
            </p:cNvPr>
            <p:cNvSpPr/>
            <p:nvPr/>
          </p:nvSpPr>
          <p:spPr>
            <a:xfrm>
              <a:off x="1073628" y="31950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2ACD2F-C82F-4699-8D16-14B294737587}"/>
                </a:ext>
              </a:extLst>
            </p:cNvPr>
            <p:cNvSpPr/>
            <p:nvPr/>
          </p:nvSpPr>
          <p:spPr>
            <a:xfrm>
              <a:off x="1187928" y="31950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27924E6-0719-4B82-9188-7BE4B9DE19D6}"/>
                </a:ext>
              </a:extLst>
            </p:cNvPr>
            <p:cNvSpPr/>
            <p:nvPr/>
          </p:nvSpPr>
          <p:spPr>
            <a:xfrm>
              <a:off x="1302228" y="31950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EBD5541-48CE-4EDD-A315-6F4BDDC04EF6}"/>
                </a:ext>
              </a:extLst>
            </p:cNvPr>
            <p:cNvSpPr/>
            <p:nvPr/>
          </p:nvSpPr>
          <p:spPr>
            <a:xfrm>
              <a:off x="1416528" y="31950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50F1BF8-9C2F-4461-88A6-52BED6AC134F}"/>
                </a:ext>
              </a:extLst>
            </p:cNvPr>
            <p:cNvSpPr/>
            <p:nvPr/>
          </p:nvSpPr>
          <p:spPr>
            <a:xfrm>
              <a:off x="1530828" y="31950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B999762-5187-4BCF-87A4-24B06E02636F}"/>
                </a:ext>
              </a:extLst>
            </p:cNvPr>
            <p:cNvSpPr/>
            <p:nvPr/>
          </p:nvSpPr>
          <p:spPr>
            <a:xfrm>
              <a:off x="1651478" y="31950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0F1812F-86BB-4930-8580-6A7FAD36EFD8}"/>
                </a:ext>
              </a:extLst>
            </p:cNvPr>
            <p:cNvSpPr/>
            <p:nvPr/>
          </p:nvSpPr>
          <p:spPr>
            <a:xfrm>
              <a:off x="1187928" y="33093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CD6CD77-25C6-41D5-BBF4-3D46674842C9}"/>
                </a:ext>
              </a:extLst>
            </p:cNvPr>
            <p:cNvSpPr/>
            <p:nvPr/>
          </p:nvSpPr>
          <p:spPr>
            <a:xfrm>
              <a:off x="1651478" y="33093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A89C2F8-A18C-43B1-9E0B-EB9BB5EDBDB0}"/>
                </a:ext>
              </a:extLst>
            </p:cNvPr>
            <p:cNvSpPr/>
            <p:nvPr/>
          </p:nvSpPr>
          <p:spPr>
            <a:xfrm>
              <a:off x="1073628" y="33093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285E7A1-A2B3-4F61-8FA0-E03E5CA04E33}"/>
                </a:ext>
              </a:extLst>
            </p:cNvPr>
            <p:cNvSpPr/>
            <p:nvPr/>
          </p:nvSpPr>
          <p:spPr>
            <a:xfrm>
              <a:off x="1308578" y="33093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4B5B5A5-F16A-4853-8F22-784B0D4BF435}"/>
                </a:ext>
              </a:extLst>
            </p:cNvPr>
            <p:cNvSpPr/>
            <p:nvPr/>
          </p:nvSpPr>
          <p:spPr>
            <a:xfrm>
              <a:off x="1530828" y="33093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00221E1-F80C-4688-839A-E0BD6E7194A9}"/>
                </a:ext>
              </a:extLst>
            </p:cNvPr>
            <p:cNvSpPr/>
            <p:nvPr/>
          </p:nvSpPr>
          <p:spPr>
            <a:xfrm>
              <a:off x="1073628" y="34236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F6D972-01E8-4A19-8512-2C029C7330DC}"/>
                </a:ext>
              </a:extLst>
            </p:cNvPr>
            <p:cNvSpPr/>
            <p:nvPr/>
          </p:nvSpPr>
          <p:spPr>
            <a:xfrm>
              <a:off x="1187928" y="3423619"/>
              <a:ext cx="114300" cy="1143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3E34896-D5F2-4667-BB2E-C94310B1D085}"/>
                </a:ext>
              </a:extLst>
            </p:cNvPr>
            <p:cNvSpPr/>
            <p:nvPr/>
          </p:nvSpPr>
          <p:spPr>
            <a:xfrm>
              <a:off x="1302228" y="34236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6F2C747-6976-49A5-B4D3-5F921F9F946B}"/>
                </a:ext>
              </a:extLst>
            </p:cNvPr>
            <p:cNvSpPr/>
            <p:nvPr/>
          </p:nvSpPr>
          <p:spPr>
            <a:xfrm>
              <a:off x="1416528" y="3423619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E008DE5-A652-41C8-9118-5858B5240525}"/>
                </a:ext>
              </a:extLst>
            </p:cNvPr>
            <p:cNvSpPr/>
            <p:nvPr/>
          </p:nvSpPr>
          <p:spPr>
            <a:xfrm>
              <a:off x="1530828" y="34236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026A8F8-7C36-4DCD-8C19-B21480E1C8E8}"/>
                </a:ext>
              </a:extLst>
            </p:cNvPr>
            <p:cNvSpPr/>
            <p:nvPr/>
          </p:nvSpPr>
          <p:spPr>
            <a:xfrm>
              <a:off x="1651478" y="3423619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5149370-A909-4A6A-9727-C5B9D6795766}"/>
                </a:ext>
              </a:extLst>
            </p:cNvPr>
            <p:cNvSpPr/>
            <p:nvPr/>
          </p:nvSpPr>
          <p:spPr>
            <a:xfrm>
              <a:off x="1651478" y="3537919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F9BFD48-2636-4335-8EC8-9DCD9F148FEF}"/>
                </a:ext>
              </a:extLst>
            </p:cNvPr>
            <p:cNvSpPr/>
            <p:nvPr/>
          </p:nvSpPr>
          <p:spPr>
            <a:xfrm>
              <a:off x="1416528" y="3537919"/>
              <a:ext cx="114300" cy="1143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624A8F4-3728-4E3D-8B2A-AA9363856D22}"/>
                </a:ext>
              </a:extLst>
            </p:cNvPr>
            <p:cNvSpPr/>
            <p:nvPr/>
          </p:nvSpPr>
          <p:spPr>
            <a:xfrm>
              <a:off x="1072835" y="35379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AE575F2-8073-4E08-A759-C574B2C12A22}"/>
                </a:ext>
              </a:extLst>
            </p:cNvPr>
            <p:cNvSpPr/>
            <p:nvPr/>
          </p:nvSpPr>
          <p:spPr>
            <a:xfrm>
              <a:off x="1308578" y="35379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9CCE757-6B02-4D88-A47A-4C7CF61C1480}"/>
                </a:ext>
              </a:extLst>
            </p:cNvPr>
            <p:cNvSpPr/>
            <p:nvPr/>
          </p:nvSpPr>
          <p:spPr>
            <a:xfrm>
              <a:off x="1530828" y="3537919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84E83F0-4468-4C24-A987-9F4E5BE52AE1}"/>
                </a:ext>
              </a:extLst>
            </p:cNvPr>
            <p:cNvSpPr/>
            <p:nvPr/>
          </p:nvSpPr>
          <p:spPr>
            <a:xfrm>
              <a:off x="1073628" y="36445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E2248BC-C592-45B2-8279-45ED7DC8A209}"/>
                </a:ext>
              </a:extLst>
            </p:cNvPr>
            <p:cNvSpPr/>
            <p:nvPr/>
          </p:nvSpPr>
          <p:spPr>
            <a:xfrm>
              <a:off x="1187928" y="36445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09BAF2B-4786-44B8-B351-E85C61EBC17E}"/>
                </a:ext>
              </a:extLst>
            </p:cNvPr>
            <p:cNvSpPr/>
            <p:nvPr/>
          </p:nvSpPr>
          <p:spPr>
            <a:xfrm>
              <a:off x="1302228" y="36445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F773A69-15A7-46B9-B042-023BD8FB353E}"/>
                </a:ext>
              </a:extLst>
            </p:cNvPr>
            <p:cNvSpPr/>
            <p:nvPr/>
          </p:nvSpPr>
          <p:spPr>
            <a:xfrm>
              <a:off x="1416528" y="36445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43514D5-A450-4F83-A8D7-EBB679994150}"/>
                </a:ext>
              </a:extLst>
            </p:cNvPr>
            <p:cNvSpPr/>
            <p:nvPr/>
          </p:nvSpPr>
          <p:spPr>
            <a:xfrm>
              <a:off x="1651478" y="36445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0E9975A-872E-48F5-A4D9-ABD0F7CC57EE}"/>
                </a:ext>
              </a:extLst>
            </p:cNvPr>
            <p:cNvSpPr/>
            <p:nvPr/>
          </p:nvSpPr>
          <p:spPr>
            <a:xfrm>
              <a:off x="1187928" y="37588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DACD115-28B7-4E2A-A949-8A187D2E39AB}"/>
                </a:ext>
              </a:extLst>
            </p:cNvPr>
            <p:cNvSpPr/>
            <p:nvPr/>
          </p:nvSpPr>
          <p:spPr>
            <a:xfrm>
              <a:off x="1651478" y="37588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F5961E4-1058-40BB-9BFD-EBF06BA7CFE8}"/>
                </a:ext>
              </a:extLst>
            </p:cNvPr>
            <p:cNvSpPr/>
            <p:nvPr/>
          </p:nvSpPr>
          <p:spPr>
            <a:xfrm>
              <a:off x="1416528" y="37588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F984087-7247-4BAE-B211-49C85532C495}"/>
                </a:ext>
              </a:extLst>
            </p:cNvPr>
            <p:cNvSpPr/>
            <p:nvPr/>
          </p:nvSpPr>
          <p:spPr>
            <a:xfrm>
              <a:off x="1073628" y="37588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448DA87-40B3-4729-ABC6-BEEA6032D456}"/>
                </a:ext>
              </a:extLst>
            </p:cNvPr>
            <p:cNvSpPr/>
            <p:nvPr/>
          </p:nvSpPr>
          <p:spPr>
            <a:xfrm>
              <a:off x="1301435" y="37588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96F9A64-41D9-470F-B51B-4701709D99F8}"/>
                </a:ext>
              </a:extLst>
            </p:cNvPr>
            <p:cNvSpPr/>
            <p:nvPr/>
          </p:nvSpPr>
          <p:spPr>
            <a:xfrm>
              <a:off x="1530828" y="3758848"/>
              <a:ext cx="114300" cy="1143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042F1D8-C81F-4D09-A0E2-E284249349A9}"/>
                </a:ext>
              </a:extLst>
            </p:cNvPr>
            <p:cNvSpPr/>
            <p:nvPr/>
          </p:nvSpPr>
          <p:spPr>
            <a:xfrm>
              <a:off x="1073628" y="38731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FF92291-89C5-46F4-A8F6-A411E55F7512}"/>
                </a:ext>
              </a:extLst>
            </p:cNvPr>
            <p:cNvSpPr/>
            <p:nvPr/>
          </p:nvSpPr>
          <p:spPr>
            <a:xfrm>
              <a:off x="1187928" y="3873148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8E24590-C366-48CE-BD8A-374931CBF3B0}"/>
                </a:ext>
              </a:extLst>
            </p:cNvPr>
            <p:cNvSpPr/>
            <p:nvPr/>
          </p:nvSpPr>
          <p:spPr>
            <a:xfrm>
              <a:off x="1302228" y="38731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59A5F70-EF29-4EA3-9F21-E2389FCB41F9}"/>
                </a:ext>
              </a:extLst>
            </p:cNvPr>
            <p:cNvSpPr/>
            <p:nvPr/>
          </p:nvSpPr>
          <p:spPr>
            <a:xfrm>
              <a:off x="1416528" y="3873148"/>
              <a:ext cx="114300" cy="1143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605CD69-047E-4FE4-84E8-CC0257AF62E0}"/>
                </a:ext>
              </a:extLst>
            </p:cNvPr>
            <p:cNvSpPr/>
            <p:nvPr/>
          </p:nvSpPr>
          <p:spPr>
            <a:xfrm>
              <a:off x="1530828" y="3873148"/>
              <a:ext cx="114300" cy="1143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E56E0D7-B71D-4ED9-953F-D6D04279BE0C}"/>
                </a:ext>
              </a:extLst>
            </p:cNvPr>
            <p:cNvSpPr/>
            <p:nvPr/>
          </p:nvSpPr>
          <p:spPr>
            <a:xfrm>
              <a:off x="1651478" y="3873148"/>
              <a:ext cx="114300" cy="1143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F64935F-DC82-4B29-AD2B-204F7E33F781}"/>
                </a:ext>
              </a:extLst>
            </p:cNvPr>
            <p:cNvSpPr/>
            <p:nvPr/>
          </p:nvSpPr>
          <p:spPr>
            <a:xfrm>
              <a:off x="1187928" y="39874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D2B4C50-D3FA-4C33-ABDC-38F7C212B7C9}"/>
                </a:ext>
              </a:extLst>
            </p:cNvPr>
            <p:cNvSpPr/>
            <p:nvPr/>
          </p:nvSpPr>
          <p:spPr>
            <a:xfrm>
              <a:off x="1651478" y="39874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78B66B4-EEDC-4659-A6AC-E76667DD49C6}"/>
                </a:ext>
              </a:extLst>
            </p:cNvPr>
            <p:cNvSpPr/>
            <p:nvPr/>
          </p:nvSpPr>
          <p:spPr>
            <a:xfrm>
              <a:off x="1416528" y="3987448"/>
              <a:ext cx="114300" cy="1143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4C7FC30-1211-4511-BC07-2C37BA3E25EA}"/>
                </a:ext>
              </a:extLst>
            </p:cNvPr>
            <p:cNvSpPr/>
            <p:nvPr/>
          </p:nvSpPr>
          <p:spPr>
            <a:xfrm>
              <a:off x="1073628" y="3987448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4CF41F3-115D-40FA-8D62-5AE74966A5A8}"/>
                </a:ext>
              </a:extLst>
            </p:cNvPr>
            <p:cNvSpPr/>
            <p:nvPr/>
          </p:nvSpPr>
          <p:spPr>
            <a:xfrm>
              <a:off x="1308578" y="3987448"/>
              <a:ext cx="114300" cy="1143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B2D3838-39EE-4477-97D7-07E901569650}"/>
                </a:ext>
              </a:extLst>
            </p:cNvPr>
            <p:cNvSpPr/>
            <p:nvPr/>
          </p:nvSpPr>
          <p:spPr>
            <a:xfrm>
              <a:off x="1530828" y="3987448"/>
              <a:ext cx="114300" cy="114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E008DE5-A652-41C8-9118-5858B5240525}"/>
                </a:ext>
              </a:extLst>
            </p:cNvPr>
            <p:cNvSpPr/>
            <p:nvPr/>
          </p:nvSpPr>
          <p:spPr>
            <a:xfrm>
              <a:off x="1416528" y="330931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E008DE5-A652-41C8-9118-5858B5240525}"/>
                </a:ext>
              </a:extLst>
            </p:cNvPr>
            <p:cNvSpPr/>
            <p:nvPr/>
          </p:nvSpPr>
          <p:spPr>
            <a:xfrm>
              <a:off x="1189516" y="3532629"/>
              <a:ext cx="114300" cy="1143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0000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01" name="Diamond 100"/>
          <p:cNvSpPr/>
          <p:nvPr/>
        </p:nvSpPr>
        <p:spPr>
          <a:xfrm>
            <a:off x="4902185" y="1667167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2" name="Diamond 101"/>
          <p:cNvSpPr/>
          <p:nvPr/>
        </p:nvSpPr>
        <p:spPr>
          <a:xfrm>
            <a:off x="5285518" y="1667167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3" name="Diamond 102"/>
          <p:cNvSpPr/>
          <p:nvPr/>
        </p:nvSpPr>
        <p:spPr>
          <a:xfrm>
            <a:off x="5668851" y="1667167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4" name="Diamond 103"/>
          <p:cNvSpPr/>
          <p:nvPr/>
        </p:nvSpPr>
        <p:spPr>
          <a:xfrm>
            <a:off x="6061708" y="1667167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6" name="Down Arrow 105"/>
          <p:cNvSpPr/>
          <p:nvPr/>
        </p:nvSpPr>
        <p:spPr>
          <a:xfrm>
            <a:off x="5751017" y="1526066"/>
            <a:ext cx="99413" cy="121891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7" name="Down Arrow 106"/>
          <p:cNvSpPr/>
          <p:nvPr/>
        </p:nvSpPr>
        <p:spPr>
          <a:xfrm>
            <a:off x="5228732" y="1518338"/>
            <a:ext cx="99413" cy="121891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8" name="Down Arrow 107"/>
          <p:cNvSpPr/>
          <p:nvPr/>
        </p:nvSpPr>
        <p:spPr>
          <a:xfrm>
            <a:off x="5512770" y="1838215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09" name="Down Arrow 108"/>
          <p:cNvSpPr/>
          <p:nvPr/>
        </p:nvSpPr>
        <p:spPr>
          <a:xfrm>
            <a:off x="4933049" y="1840525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10" name="Down Arrow 109"/>
          <p:cNvSpPr/>
          <p:nvPr/>
        </p:nvSpPr>
        <p:spPr>
          <a:xfrm>
            <a:off x="6074822" y="1838215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202" y="1955522"/>
            <a:ext cx="1593666" cy="547908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4822426" y="2629835"/>
            <a:ext cx="1458433" cy="187732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3" name="Diamond 122"/>
          <p:cNvSpPr/>
          <p:nvPr/>
        </p:nvSpPr>
        <p:spPr>
          <a:xfrm>
            <a:off x="4902185" y="2646519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4" name="Diamond 123"/>
          <p:cNvSpPr/>
          <p:nvPr/>
        </p:nvSpPr>
        <p:spPr>
          <a:xfrm>
            <a:off x="5285518" y="2646519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5" name="Diamond 124"/>
          <p:cNvSpPr/>
          <p:nvPr/>
        </p:nvSpPr>
        <p:spPr>
          <a:xfrm>
            <a:off x="5668851" y="2646519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6" name="Diamond 125"/>
          <p:cNvSpPr/>
          <p:nvPr/>
        </p:nvSpPr>
        <p:spPr>
          <a:xfrm>
            <a:off x="6061708" y="2646519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7" name="Down Arrow 126"/>
          <p:cNvSpPr/>
          <p:nvPr/>
        </p:nvSpPr>
        <p:spPr>
          <a:xfrm>
            <a:off x="5477279" y="2506824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28" name="Down Arrow 127"/>
          <p:cNvSpPr/>
          <p:nvPr/>
        </p:nvSpPr>
        <p:spPr>
          <a:xfrm>
            <a:off x="4933049" y="2819877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0" name="Down Arrow 129"/>
          <p:cNvSpPr/>
          <p:nvPr/>
        </p:nvSpPr>
        <p:spPr>
          <a:xfrm>
            <a:off x="5466464" y="2819843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1" name="Down Arrow 130"/>
          <p:cNvSpPr/>
          <p:nvPr/>
        </p:nvSpPr>
        <p:spPr>
          <a:xfrm>
            <a:off x="4942395" y="2503430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2" name="Down Arrow 131"/>
          <p:cNvSpPr/>
          <p:nvPr/>
        </p:nvSpPr>
        <p:spPr>
          <a:xfrm>
            <a:off x="6028516" y="2819843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133" name="Picture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491" y="2934874"/>
            <a:ext cx="1717640" cy="1107753"/>
          </a:xfrm>
          <a:prstGeom prst="rect">
            <a:avLst/>
          </a:prstGeom>
        </p:spPr>
      </p:pic>
      <p:sp>
        <p:nvSpPr>
          <p:cNvPr id="134" name="Rectangle 133"/>
          <p:cNvSpPr/>
          <p:nvPr/>
        </p:nvSpPr>
        <p:spPr>
          <a:xfrm>
            <a:off x="4843853" y="4173899"/>
            <a:ext cx="1458433" cy="187732"/>
          </a:xfrm>
          <a:prstGeom prst="rect">
            <a:avLst/>
          </a:prstGeom>
          <a:solidFill>
            <a:schemeClr val="bg2">
              <a:lumMod val="90000"/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5" name="Diamond 134"/>
          <p:cNvSpPr/>
          <p:nvPr/>
        </p:nvSpPr>
        <p:spPr>
          <a:xfrm>
            <a:off x="4923612" y="4190583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6" name="Diamond 135"/>
          <p:cNvSpPr/>
          <p:nvPr/>
        </p:nvSpPr>
        <p:spPr>
          <a:xfrm>
            <a:off x="5306945" y="4190583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7" name="Diamond 136"/>
          <p:cNvSpPr/>
          <p:nvPr/>
        </p:nvSpPr>
        <p:spPr>
          <a:xfrm>
            <a:off x="5690278" y="4190583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8" name="Diamond 137"/>
          <p:cNvSpPr/>
          <p:nvPr/>
        </p:nvSpPr>
        <p:spPr>
          <a:xfrm>
            <a:off x="6083135" y="4190583"/>
            <a:ext cx="160152" cy="140151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9" name="Down Arrow 138"/>
          <p:cNvSpPr/>
          <p:nvPr/>
        </p:nvSpPr>
        <p:spPr>
          <a:xfrm>
            <a:off x="5534197" y="4361631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0" name="Down Arrow 139"/>
          <p:cNvSpPr/>
          <p:nvPr/>
        </p:nvSpPr>
        <p:spPr>
          <a:xfrm>
            <a:off x="4954476" y="4363941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1" name="Down Arrow 140"/>
          <p:cNvSpPr/>
          <p:nvPr/>
        </p:nvSpPr>
        <p:spPr>
          <a:xfrm>
            <a:off x="6096249" y="4361631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2" name="Down Arrow 141"/>
          <p:cNvSpPr/>
          <p:nvPr/>
        </p:nvSpPr>
        <p:spPr>
          <a:xfrm>
            <a:off x="5543543" y="4045184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3" name="Down Arrow 142"/>
          <p:cNvSpPr/>
          <p:nvPr/>
        </p:nvSpPr>
        <p:spPr>
          <a:xfrm>
            <a:off x="4963822" y="4047494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4" name="Down Arrow 143"/>
          <p:cNvSpPr/>
          <p:nvPr/>
        </p:nvSpPr>
        <p:spPr>
          <a:xfrm>
            <a:off x="6105595" y="4045184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145" name="Picture 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405" y="4474071"/>
            <a:ext cx="2063167" cy="1355366"/>
          </a:xfrm>
          <a:prstGeom prst="rect">
            <a:avLst/>
          </a:prstGeom>
        </p:spPr>
      </p:pic>
      <p:sp>
        <p:nvSpPr>
          <p:cNvPr id="146" name="Rectangle 145">
            <a:extLst>
              <a:ext uri="{FF2B5EF4-FFF2-40B4-BE49-F238E27FC236}">
                <a16:creationId xmlns:a16="http://schemas.microsoft.com/office/drawing/2014/main" id="{31C792EE-8D8D-47DB-86C4-3F9A88F4045B}"/>
              </a:ext>
            </a:extLst>
          </p:cNvPr>
          <p:cNvSpPr/>
          <p:nvPr/>
        </p:nvSpPr>
        <p:spPr>
          <a:xfrm>
            <a:off x="3187774" y="5921197"/>
            <a:ext cx="5323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Hierarchy for elephant recognition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7" name="Straight Arrow Connector 146"/>
          <p:cNvCxnSpPr/>
          <p:nvPr/>
        </p:nvCxnSpPr>
        <p:spPr>
          <a:xfrm flipV="1">
            <a:off x="6280691" y="1736519"/>
            <a:ext cx="723761" cy="783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7063283" y="1587011"/>
            <a:ext cx="1601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First Hidden Layer </a:t>
            </a:r>
          </a:p>
        </p:txBody>
      </p:sp>
      <p:cxnSp>
        <p:nvCxnSpPr>
          <p:cNvPr id="149" name="Straight Arrow Connector 148"/>
          <p:cNvCxnSpPr>
            <a:endCxn id="150" idx="1"/>
          </p:cNvCxnSpPr>
          <p:nvPr/>
        </p:nvCxnSpPr>
        <p:spPr>
          <a:xfrm flipV="1">
            <a:off x="6271778" y="2729492"/>
            <a:ext cx="723761" cy="831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6995539" y="2560215"/>
            <a:ext cx="1843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Second Hidden Layer </a:t>
            </a:r>
          </a:p>
        </p:txBody>
      </p:sp>
      <p:cxnSp>
        <p:nvCxnSpPr>
          <p:cNvPr id="151" name="Straight Arrow Connector 150"/>
          <p:cNvCxnSpPr>
            <a:endCxn id="152" idx="1"/>
          </p:cNvCxnSpPr>
          <p:nvPr/>
        </p:nvCxnSpPr>
        <p:spPr>
          <a:xfrm flipV="1">
            <a:off x="6306021" y="4247138"/>
            <a:ext cx="735191" cy="753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041212" y="4077861"/>
            <a:ext cx="1601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Third Hidden Layer </a:t>
            </a:r>
          </a:p>
        </p:txBody>
      </p:sp>
      <p:sp>
        <p:nvSpPr>
          <p:cNvPr id="154" name="Down Arrow 153"/>
          <p:cNvSpPr/>
          <p:nvPr/>
        </p:nvSpPr>
        <p:spPr>
          <a:xfrm>
            <a:off x="6012163" y="2505546"/>
            <a:ext cx="113835" cy="117307"/>
          </a:xfrm>
          <a:prstGeom prst="downArrow">
            <a:avLst/>
          </a:prstGeom>
          <a:solidFill>
            <a:srgbClr val="00B05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155" name="Straight Arrow Connector 154"/>
          <p:cNvCxnSpPr>
            <a:endCxn id="156" idx="3"/>
          </p:cNvCxnSpPr>
          <p:nvPr/>
        </p:nvCxnSpPr>
        <p:spPr>
          <a:xfrm flipH="1">
            <a:off x="3680620" y="2224970"/>
            <a:ext cx="1078311" cy="4761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3019862" y="2060454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Edges</a:t>
            </a:r>
          </a:p>
        </p:txBody>
      </p:sp>
      <p:cxnSp>
        <p:nvCxnSpPr>
          <p:cNvPr id="157" name="Straight Arrow Connector 156"/>
          <p:cNvCxnSpPr>
            <a:endCxn id="158" idx="3"/>
          </p:cNvCxnSpPr>
          <p:nvPr/>
        </p:nvCxnSpPr>
        <p:spPr>
          <a:xfrm flipH="1" flipV="1">
            <a:off x="4093015" y="3497978"/>
            <a:ext cx="629476" cy="10598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2983416" y="3328701"/>
            <a:ext cx="1109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Object Parts</a:t>
            </a:r>
          </a:p>
        </p:txBody>
      </p:sp>
      <p:cxnSp>
        <p:nvCxnSpPr>
          <p:cNvPr id="159" name="Straight Arrow Connector 158"/>
          <p:cNvCxnSpPr/>
          <p:nvPr/>
        </p:nvCxnSpPr>
        <p:spPr>
          <a:xfrm flipH="1" flipV="1">
            <a:off x="3521758" y="5147433"/>
            <a:ext cx="1057647" cy="731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2801143" y="4978156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Objects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997360" y="6487155"/>
            <a:ext cx="6272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IN" sz="1400" dirty="0">
                <a:latin typeface="Arial Narrow" panose="020B0606020202030204" pitchFamily="34" charset="0"/>
                <a:hlinkClick r:id="rId5"/>
              </a:rPr>
              <a:t>https://miro.medium.com/v2/resize:fit:640/format:webp/0*COtl04hiK9wvUgs6</a:t>
            </a:r>
            <a:r>
              <a:rPr lang="en-IN" sz="1400" dirty="0">
                <a:latin typeface="Arial Narrow" panose="020B0606020202030204" pitchFamily="34" charset="0"/>
              </a:rPr>
              <a:t> </a:t>
            </a:r>
          </a:p>
        </p:txBody>
      </p:sp>
      <p:cxnSp>
        <p:nvCxnSpPr>
          <p:cNvPr id="164" name="Straight Arrow Connector 163"/>
          <p:cNvCxnSpPr>
            <a:endCxn id="165" idx="3"/>
          </p:cNvCxnSpPr>
          <p:nvPr/>
        </p:nvCxnSpPr>
        <p:spPr>
          <a:xfrm flipH="1" flipV="1">
            <a:off x="4093015" y="1311955"/>
            <a:ext cx="1045031" cy="4038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3385449" y="1142678"/>
            <a:ext cx="707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</a:rPr>
              <a:t>Pixels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 flipV="1">
            <a:off x="5953424" y="1295562"/>
            <a:ext cx="723761" cy="783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687077" y="1136781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rial Narrow" panose="020B0606020202030204" pitchFamily="34" charset="0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1716094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4163</TotalTime>
  <Words>2358</Words>
  <Application>Microsoft Office PowerPoint</Application>
  <PresentationFormat>Widescreen</PresentationFormat>
  <Paragraphs>477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Helvetica Neue</vt:lpstr>
      <vt:lpstr>Mangal</vt:lpstr>
      <vt:lpstr>Times New Roman</vt:lpstr>
      <vt:lpstr>Office Theme</vt:lpstr>
      <vt:lpstr>Convolutional Neural Network – III Optimization </vt:lpstr>
      <vt:lpstr>Content</vt:lpstr>
      <vt:lpstr>Deeper Nets vs Shallower Nets</vt:lpstr>
      <vt:lpstr>Deeper is not always better</vt:lpstr>
      <vt:lpstr>Deeper is not always better</vt:lpstr>
      <vt:lpstr>The vanishing gradient problem</vt:lpstr>
      <vt:lpstr>The vanishing gradient problem</vt:lpstr>
      <vt:lpstr>Backpropagation : Algorithm</vt:lpstr>
      <vt:lpstr>Vanishing Gradient Concept</vt:lpstr>
      <vt:lpstr>Vanishing Gradient Concept</vt:lpstr>
      <vt:lpstr>Vanishing Gradient Concept</vt:lpstr>
      <vt:lpstr>Vanishing Gradient Concept</vt:lpstr>
      <vt:lpstr>Vanishing Gradient Concept</vt:lpstr>
      <vt:lpstr>Vanishing Gradient Concept</vt:lpstr>
      <vt:lpstr>Why vanishing gradient is a problem ?</vt:lpstr>
      <vt:lpstr>Activation Functions</vt:lpstr>
      <vt:lpstr>Vanishing Gradient Problem Problem with Sigmoid Activation Function</vt:lpstr>
      <vt:lpstr>Vanishing Gradient Problem Problem with Sigmoid Activation Function</vt:lpstr>
      <vt:lpstr>Vanishing Gradient Problem Problem with tanh Function</vt:lpstr>
      <vt:lpstr>Vanishing Gradient Problem Rectified Linear Unit (ReLU) Activation Function</vt:lpstr>
      <vt:lpstr>Vanishing Gradient Problem Leaky Rectified Linear Unit (ReLU) Activation Function</vt:lpstr>
      <vt:lpstr>Activation Function are not enough to handle Vanishing Gradient Problem Completely</vt:lpstr>
      <vt:lpstr>Summary</vt:lpstr>
      <vt:lpstr>Residual Network </vt:lpstr>
      <vt:lpstr>Deeper Nets vs Shallower Nets</vt:lpstr>
      <vt:lpstr>Deeper Networks are not always better</vt:lpstr>
      <vt:lpstr>Why Deeper Networks fail ?</vt:lpstr>
      <vt:lpstr>Why Deeply Layered Networks Failed</vt:lpstr>
      <vt:lpstr>Feature Learning at Different Hidden Layers</vt:lpstr>
      <vt:lpstr>Feature Learning at Different Hidden Layers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 – III Optimization </dc:title>
  <dc:creator>IITG</dc:creator>
  <cp:lastModifiedBy>IITG</cp:lastModifiedBy>
  <cp:revision>15</cp:revision>
  <dcterms:created xsi:type="dcterms:W3CDTF">2026-07-07T09:25:04Z</dcterms:created>
  <dcterms:modified xsi:type="dcterms:W3CDTF">2026-07-18T04:53:06Z</dcterms:modified>
</cp:coreProperties>
</file>