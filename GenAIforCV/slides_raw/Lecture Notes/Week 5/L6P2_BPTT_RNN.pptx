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7" r:id="rId2"/>
    <p:sldId id="258" r:id="rId3"/>
    <p:sldId id="288" r:id="rId4"/>
    <p:sldId id="315" r:id="rId5"/>
    <p:sldId id="289" r:id="rId6"/>
    <p:sldId id="290" r:id="rId7"/>
    <p:sldId id="291" r:id="rId8"/>
    <p:sldId id="293" r:id="rId9"/>
    <p:sldId id="316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4" r:id="rId20"/>
    <p:sldId id="305" r:id="rId21"/>
    <p:sldId id="306" r:id="rId22"/>
    <p:sldId id="303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286" r:id="rId32"/>
    <p:sldId id="267" r:id="rId33"/>
    <p:sldId id="29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3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DFB59-34A3-46DC-8D54-96C480189EED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7C4D6-1C45-479F-BD2C-EDAA799A8E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83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7C4D6-1C45-479F-BD2C-EDAA799A8EE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5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72A5B-06FF-471B-BE05-0BA52271D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52023-AE6B-446B-9A2E-36F03A0E5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248E-6B2F-4945-A652-458136CB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7C05A-09B5-4691-BF34-167EB207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54F52-FDCC-4CEB-A0D2-CA2B6358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418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F3CC-276D-438B-9AE2-F71640B74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AEF3-D7F9-4708-BF7E-5797DA8FB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8F5A5-BF80-42AB-8557-BAC87A35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398F8-56E3-4A9C-9E98-77F8BEBB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0C15C-FAA6-4BCA-BD8A-E0A23C05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68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5C64-D62E-40EB-A75D-6E1CEE23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5AFBF-FEB1-4394-A079-CB6E12316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001FE-B113-4757-928A-5F64E042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DCB83-C123-4C90-9793-E508FAE2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96FC3-160A-44DD-8F7F-5459C9E3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6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ADA4-5BBD-49BF-9D74-A4BBC263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47760-9E61-46AE-91FC-37FEB6110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C2574-C8DC-4AC0-A5AD-3634F9347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BF075-8A13-44BA-AEE9-2EE3B7F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3BA38-375D-4D85-AE8A-79E6DB8D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48858-20B6-46E4-AC48-D4E3F15F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087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5F9A-3ACF-4DAB-9091-931A8F94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12719-5556-4006-A956-6B4185616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A8A77-144B-45A2-A58B-764FFFFD1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7FFAB-D4DA-4DC9-8C12-42360FD88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1D417-C08B-43FF-945D-51B2E55B3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F88B0-95CD-4ADA-9692-1901FDDA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6239AA-4340-4631-AF7C-C29E416F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F57E7-E1B9-4BE0-B198-88A426BB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0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9752-D425-48D9-B32A-2420CE75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B5A72-86A2-4A29-A9CA-1B2AC059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CC608-2C88-4410-9005-1A169030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36092-5CF0-4C82-B412-84457088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49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3DD9E3-5BB7-447D-A38A-8C79E6E1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53D0AF-DEEB-48EA-980F-3003FD36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0A658-E2CF-4E97-B243-39F8CE80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390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70BB-B908-4771-89FE-2603DAEE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93D28-F3B6-4224-9200-7A69F2215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7BC98-4FA0-49EE-91A1-CE958C145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EBE24-FCFF-4FF3-921B-B0220974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0FC1D-C3D5-4F75-853F-38E7F7AB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515EF-54F6-403D-B861-8D8DEAD3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007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3E73-4A59-447B-A608-C122EB67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DAFB13-36DD-49EC-A4C0-32860C7D9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C6C01-A134-4D55-A66E-70F4B21F2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1664-ED21-4EC2-AC1F-1B9D4F4A8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FC3A0-D881-43F7-9EB7-807BC45F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B81AF-4F83-4B1D-AEAA-65494A12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85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ABEB-BAE5-48D6-B48B-BB9A7BC0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C60C5-7BA1-4884-9725-ADE5CECD4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3E3F-37C3-413E-A099-7E59357C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54593-7E77-4769-B242-05DA4683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107C9-5E5F-44F5-A352-81F575F6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36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9195B7-C665-419A-A484-03FB3C747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BD382-DD55-4292-ABB0-7E7F53357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8EA13-DBB8-462F-B953-0B30CDA20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EE3B1-7164-462E-B955-D63CF71D9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497AE-C827-4802-AB58-5E1DE127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07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FA64B8-6926-45EA-BA85-781E3A2C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6B31E-E03D-4589-AE8D-0030CBEA9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C09D5-A68B-4856-9BBC-5BE50E45A6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C0F99-9BB5-4F34-AA51-A4D519E9BDF5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95E6A-4C78-4FA9-8142-2C6BB06E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B72A5-AA91-45B2-B23C-2D88C1513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113CA-8E82-4B2E-97A0-FDCC9CBBA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82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21" Type="http://schemas.openxmlformats.org/officeDocument/2006/relationships/image" Target="../media/image83.png"/><Relationship Id="rId34" Type="http://schemas.openxmlformats.org/officeDocument/2006/relationships/image" Target="../media/image96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37" Type="http://schemas.openxmlformats.org/officeDocument/2006/relationships/image" Target="../media/image99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36" Type="http://schemas.openxmlformats.org/officeDocument/2006/relationships/image" Target="../media/image98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8" Type="http://schemas.openxmlformats.org/officeDocument/2006/relationships/image" Target="../media/image70.png"/><Relationship Id="rId3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26" Type="http://schemas.openxmlformats.org/officeDocument/2006/relationships/image" Target="../media/image124.png"/><Relationship Id="rId3" Type="http://schemas.openxmlformats.org/officeDocument/2006/relationships/image" Target="../media/image101.png"/><Relationship Id="rId21" Type="http://schemas.openxmlformats.org/officeDocument/2006/relationships/image" Target="../media/image119.png"/><Relationship Id="rId34" Type="http://schemas.openxmlformats.org/officeDocument/2006/relationships/image" Target="../media/image132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5" Type="http://schemas.openxmlformats.org/officeDocument/2006/relationships/image" Target="../media/image123.png"/><Relationship Id="rId33" Type="http://schemas.openxmlformats.org/officeDocument/2006/relationships/image" Target="../media/image131.png"/><Relationship Id="rId2" Type="http://schemas.openxmlformats.org/officeDocument/2006/relationships/image" Target="../media/image100.png"/><Relationship Id="rId16" Type="http://schemas.openxmlformats.org/officeDocument/2006/relationships/image" Target="../media/image114.png"/><Relationship Id="rId20" Type="http://schemas.openxmlformats.org/officeDocument/2006/relationships/image" Target="../media/image118.png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24" Type="http://schemas.openxmlformats.org/officeDocument/2006/relationships/image" Target="../media/image122.png"/><Relationship Id="rId32" Type="http://schemas.openxmlformats.org/officeDocument/2006/relationships/image" Target="../media/image130.png"/><Relationship Id="rId5" Type="http://schemas.openxmlformats.org/officeDocument/2006/relationships/image" Target="../media/image103.png"/><Relationship Id="rId15" Type="http://schemas.openxmlformats.org/officeDocument/2006/relationships/image" Target="../media/image113.png"/><Relationship Id="rId23" Type="http://schemas.openxmlformats.org/officeDocument/2006/relationships/image" Target="../media/image121.png"/><Relationship Id="rId28" Type="http://schemas.openxmlformats.org/officeDocument/2006/relationships/image" Target="../media/image126.png"/><Relationship Id="rId36" Type="http://schemas.openxmlformats.org/officeDocument/2006/relationships/image" Target="../media/image134.png"/><Relationship Id="rId10" Type="http://schemas.openxmlformats.org/officeDocument/2006/relationships/image" Target="../media/image108.png"/><Relationship Id="rId19" Type="http://schemas.openxmlformats.org/officeDocument/2006/relationships/image" Target="../media/image117.png"/><Relationship Id="rId31" Type="http://schemas.openxmlformats.org/officeDocument/2006/relationships/image" Target="../media/image129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Relationship Id="rId22" Type="http://schemas.openxmlformats.org/officeDocument/2006/relationships/image" Target="../media/image120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8" Type="http://schemas.openxmlformats.org/officeDocument/2006/relationships/image" Target="../media/image106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26" Type="http://schemas.openxmlformats.org/officeDocument/2006/relationships/image" Target="../media/image158.png"/><Relationship Id="rId3" Type="http://schemas.openxmlformats.org/officeDocument/2006/relationships/image" Target="../media/image135.png"/><Relationship Id="rId21" Type="http://schemas.openxmlformats.org/officeDocument/2006/relationships/image" Target="../media/image153.png"/><Relationship Id="rId34" Type="http://schemas.openxmlformats.org/officeDocument/2006/relationships/image" Target="../media/image166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5" Type="http://schemas.openxmlformats.org/officeDocument/2006/relationships/image" Target="../media/image157.png"/><Relationship Id="rId33" Type="http://schemas.openxmlformats.org/officeDocument/2006/relationships/image" Target="../media/image165.png"/><Relationship Id="rId2" Type="http://schemas.openxmlformats.org/officeDocument/2006/relationships/image" Target="../media/image1340.png"/><Relationship Id="rId16" Type="http://schemas.openxmlformats.org/officeDocument/2006/relationships/image" Target="../media/image148.png"/><Relationship Id="rId20" Type="http://schemas.openxmlformats.org/officeDocument/2006/relationships/image" Target="../media/image152.png"/><Relationship Id="rId29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24" Type="http://schemas.openxmlformats.org/officeDocument/2006/relationships/image" Target="../media/image156.png"/><Relationship Id="rId32" Type="http://schemas.openxmlformats.org/officeDocument/2006/relationships/image" Target="../media/image164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23" Type="http://schemas.openxmlformats.org/officeDocument/2006/relationships/image" Target="../media/image155.png"/><Relationship Id="rId28" Type="http://schemas.openxmlformats.org/officeDocument/2006/relationships/image" Target="../media/image160.png"/><Relationship Id="rId36" Type="http://schemas.openxmlformats.org/officeDocument/2006/relationships/image" Target="../media/image168.png"/><Relationship Id="rId10" Type="http://schemas.openxmlformats.org/officeDocument/2006/relationships/image" Target="../media/image142.png"/><Relationship Id="rId19" Type="http://schemas.openxmlformats.org/officeDocument/2006/relationships/image" Target="../media/image151.png"/><Relationship Id="rId31" Type="http://schemas.openxmlformats.org/officeDocument/2006/relationships/image" Target="../media/image163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Relationship Id="rId22" Type="http://schemas.openxmlformats.org/officeDocument/2006/relationships/image" Target="../media/image154.png"/><Relationship Id="rId27" Type="http://schemas.openxmlformats.org/officeDocument/2006/relationships/image" Target="../media/image159.png"/><Relationship Id="rId30" Type="http://schemas.openxmlformats.org/officeDocument/2006/relationships/image" Target="../media/image162.png"/><Relationship Id="rId35" Type="http://schemas.openxmlformats.org/officeDocument/2006/relationships/image" Target="../media/image167.png"/><Relationship Id="rId8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26" Type="http://schemas.openxmlformats.org/officeDocument/2006/relationships/image" Target="../media/image193.png"/><Relationship Id="rId3" Type="http://schemas.openxmlformats.org/officeDocument/2006/relationships/image" Target="../media/image170.png"/><Relationship Id="rId21" Type="http://schemas.openxmlformats.org/officeDocument/2006/relationships/image" Target="../media/image188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5" Type="http://schemas.openxmlformats.org/officeDocument/2006/relationships/image" Target="../media/image192.png"/><Relationship Id="rId2" Type="http://schemas.openxmlformats.org/officeDocument/2006/relationships/image" Target="../media/image169.png"/><Relationship Id="rId16" Type="http://schemas.openxmlformats.org/officeDocument/2006/relationships/image" Target="../media/image183.png"/><Relationship Id="rId20" Type="http://schemas.openxmlformats.org/officeDocument/2006/relationships/image" Target="../media/image187.png"/><Relationship Id="rId29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24" Type="http://schemas.openxmlformats.org/officeDocument/2006/relationships/image" Target="../media/image191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23" Type="http://schemas.openxmlformats.org/officeDocument/2006/relationships/image" Target="../media/image190.png"/><Relationship Id="rId28" Type="http://schemas.openxmlformats.org/officeDocument/2006/relationships/image" Target="../media/image195.png"/><Relationship Id="rId10" Type="http://schemas.openxmlformats.org/officeDocument/2006/relationships/image" Target="../media/image177.png"/><Relationship Id="rId19" Type="http://schemas.openxmlformats.org/officeDocument/2006/relationships/image" Target="../media/image186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Relationship Id="rId22" Type="http://schemas.openxmlformats.org/officeDocument/2006/relationships/image" Target="../media/image189.png"/><Relationship Id="rId27" Type="http://schemas.openxmlformats.org/officeDocument/2006/relationships/image" Target="../media/image194.png"/></Relationships>
</file>

<file path=ppt/slides/_rels/slide10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860.png"/><Relationship Id="rId26" Type="http://schemas.openxmlformats.org/officeDocument/2006/relationships/image" Target="../media/image1940.png"/><Relationship Id="rId3" Type="http://schemas.openxmlformats.org/officeDocument/2006/relationships/image" Target="../media/image1700.png"/><Relationship Id="rId21" Type="http://schemas.openxmlformats.org/officeDocument/2006/relationships/image" Target="../media/image1890.png"/><Relationship Id="rId34" Type="http://schemas.openxmlformats.org/officeDocument/2006/relationships/image" Target="../media/image202.png"/><Relationship Id="rId17" Type="http://schemas.openxmlformats.org/officeDocument/2006/relationships/image" Target="../media/image1850.png"/><Relationship Id="rId25" Type="http://schemas.openxmlformats.org/officeDocument/2006/relationships/image" Target="../media/image1930.png"/><Relationship Id="rId33" Type="http://schemas.openxmlformats.org/officeDocument/2006/relationships/image" Target="../media/image201.png"/><Relationship Id="rId38" Type="http://schemas.openxmlformats.org/officeDocument/2006/relationships/image" Target="../media/image20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40.png"/><Relationship Id="rId20" Type="http://schemas.openxmlformats.org/officeDocument/2006/relationships/image" Target="../media/image1880.png"/><Relationship Id="rId29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0.png"/><Relationship Id="rId24" Type="http://schemas.openxmlformats.org/officeDocument/2006/relationships/image" Target="../media/image1920.png"/><Relationship Id="rId32" Type="http://schemas.openxmlformats.org/officeDocument/2006/relationships/image" Target="../media/image200.png"/><Relationship Id="rId37" Type="http://schemas.openxmlformats.org/officeDocument/2006/relationships/image" Target="../media/image205.png"/><Relationship Id="rId5" Type="http://schemas.openxmlformats.org/officeDocument/2006/relationships/image" Target="../media/image1720.png"/><Relationship Id="rId15" Type="http://schemas.openxmlformats.org/officeDocument/2006/relationships/image" Target="../media/image1830.png"/><Relationship Id="rId23" Type="http://schemas.openxmlformats.org/officeDocument/2006/relationships/image" Target="../media/image1910.png"/><Relationship Id="rId28" Type="http://schemas.openxmlformats.org/officeDocument/2006/relationships/image" Target="../media/image1960.png"/><Relationship Id="rId36" Type="http://schemas.openxmlformats.org/officeDocument/2006/relationships/image" Target="../media/image204.png"/><Relationship Id="rId19" Type="http://schemas.openxmlformats.org/officeDocument/2006/relationships/image" Target="../media/image1870.png"/><Relationship Id="rId31" Type="http://schemas.openxmlformats.org/officeDocument/2006/relationships/image" Target="../media/image199.png"/><Relationship Id="rId4" Type="http://schemas.openxmlformats.org/officeDocument/2006/relationships/image" Target="../media/image1710.png"/><Relationship Id="rId14" Type="http://schemas.openxmlformats.org/officeDocument/2006/relationships/image" Target="../media/image1820.png"/><Relationship Id="rId22" Type="http://schemas.openxmlformats.org/officeDocument/2006/relationships/image" Target="../media/image1900.png"/><Relationship Id="rId27" Type="http://schemas.openxmlformats.org/officeDocument/2006/relationships/image" Target="../media/image1950.png"/><Relationship Id="rId30" Type="http://schemas.openxmlformats.org/officeDocument/2006/relationships/image" Target="../media/image198.png"/><Relationship Id="rId35" Type="http://schemas.openxmlformats.org/officeDocument/2006/relationships/image" Target="../media/image20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18" Type="http://schemas.openxmlformats.org/officeDocument/2006/relationships/image" Target="../media/image223.png"/><Relationship Id="rId26" Type="http://schemas.openxmlformats.org/officeDocument/2006/relationships/image" Target="../media/image231.png"/><Relationship Id="rId3" Type="http://schemas.openxmlformats.org/officeDocument/2006/relationships/image" Target="../media/image208.png"/><Relationship Id="rId21" Type="http://schemas.openxmlformats.org/officeDocument/2006/relationships/image" Target="../media/image226.png"/><Relationship Id="rId7" Type="http://schemas.openxmlformats.org/officeDocument/2006/relationships/image" Target="../media/image212.png"/><Relationship Id="rId12" Type="http://schemas.openxmlformats.org/officeDocument/2006/relationships/image" Target="../media/image217.png"/><Relationship Id="rId17" Type="http://schemas.openxmlformats.org/officeDocument/2006/relationships/image" Target="../media/image222.png"/><Relationship Id="rId25" Type="http://schemas.openxmlformats.org/officeDocument/2006/relationships/image" Target="../media/image230.png"/><Relationship Id="rId2" Type="http://schemas.openxmlformats.org/officeDocument/2006/relationships/image" Target="../media/image207.png"/><Relationship Id="rId16" Type="http://schemas.openxmlformats.org/officeDocument/2006/relationships/image" Target="../media/image221.png"/><Relationship Id="rId20" Type="http://schemas.openxmlformats.org/officeDocument/2006/relationships/image" Target="../media/image225.png"/><Relationship Id="rId29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11" Type="http://schemas.openxmlformats.org/officeDocument/2006/relationships/image" Target="../media/image216.png"/><Relationship Id="rId24" Type="http://schemas.openxmlformats.org/officeDocument/2006/relationships/image" Target="../media/image229.png"/><Relationship Id="rId5" Type="http://schemas.openxmlformats.org/officeDocument/2006/relationships/image" Target="../media/image210.png"/><Relationship Id="rId15" Type="http://schemas.openxmlformats.org/officeDocument/2006/relationships/image" Target="../media/image220.png"/><Relationship Id="rId23" Type="http://schemas.openxmlformats.org/officeDocument/2006/relationships/image" Target="../media/image228.png"/><Relationship Id="rId28" Type="http://schemas.openxmlformats.org/officeDocument/2006/relationships/image" Target="../media/image233.png"/><Relationship Id="rId10" Type="http://schemas.openxmlformats.org/officeDocument/2006/relationships/image" Target="../media/image215.png"/><Relationship Id="rId19" Type="http://schemas.openxmlformats.org/officeDocument/2006/relationships/image" Target="../media/image224.png"/><Relationship Id="rId4" Type="http://schemas.openxmlformats.org/officeDocument/2006/relationships/image" Target="../media/image209.png"/><Relationship Id="rId9" Type="http://schemas.openxmlformats.org/officeDocument/2006/relationships/image" Target="../media/image214.png"/><Relationship Id="rId14" Type="http://schemas.openxmlformats.org/officeDocument/2006/relationships/image" Target="../media/image219.png"/><Relationship Id="rId22" Type="http://schemas.openxmlformats.org/officeDocument/2006/relationships/image" Target="../media/image227.png"/><Relationship Id="rId27" Type="http://schemas.openxmlformats.org/officeDocument/2006/relationships/image" Target="../media/image232.png"/><Relationship Id="rId30" Type="http://schemas.openxmlformats.org/officeDocument/2006/relationships/image" Target="../media/image235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7.png"/><Relationship Id="rId18" Type="http://schemas.openxmlformats.org/officeDocument/2006/relationships/image" Target="../media/image252.png"/><Relationship Id="rId26" Type="http://schemas.openxmlformats.org/officeDocument/2006/relationships/image" Target="../media/image260.png"/><Relationship Id="rId3" Type="http://schemas.openxmlformats.org/officeDocument/2006/relationships/image" Target="../media/image237.png"/><Relationship Id="rId21" Type="http://schemas.openxmlformats.org/officeDocument/2006/relationships/image" Target="../media/image255.png"/><Relationship Id="rId34" Type="http://schemas.openxmlformats.org/officeDocument/2006/relationships/image" Target="../media/image268.png"/><Relationship Id="rId7" Type="http://schemas.openxmlformats.org/officeDocument/2006/relationships/image" Target="../media/image241.png"/><Relationship Id="rId12" Type="http://schemas.openxmlformats.org/officeDocument/2006/relationships/image" Target="../media/image246.png"/><Relationship Id="rId17" Type="http://schemas.openxmlformats.org/officeDocument/2006/relationships/image" Target="../media/image251.png"/><Relationship Id="rId25" Type="http://schemas.openxmlformats.org/officeDocument/2006/relationships/image" Target="../media/image259.png"/><Relationship Id="rId33" Type="http://schemas.openxmlformats.org/officeDocument/2006/relationships/image" Target="../media/image267.png"/><Relationship Id="rId2" Type="http://schemas.openxmlformats.org/officeDocument/2006/relationships/image" Target="../media/image236.png"/><Relationship Id="rId16" Type="http://schemas.openxmlformats.org/officeDocument/2006/relationships/image" Target="../media/image250.png"/><Relationship Id="rId20" Type="http://schemas.openxmlformats.org/officeDocument/2006/relationships/image" Target="../media/image254.png"/><Relationship Id="rId29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45.png"/><Relationship Id="rId24" Type="http://schemas.openxmlformats.org/officeDocument/2006/relationships/image" Target="../media/image258.png"/><Relationship Id="rId32" Type="http://schemas.openxmlformats.org/officeDocument/2006/relationships/image" Target="../media/image266.png"/><Relationship Id="rId5" Type="http://schemas.openxmlformats.org/officeDocument/2006/relationships/image" Target="../media/image239.png"/><Relationship Id="rId15" Type="http://schemas.openxmlformats.org/officeDocument/2006/relationships/image" Target="../media/image249.png"/><Relationship Id="rId23" Type="http://schemas.openxmlformats.org/officeDocument/2006/relationships/image" Target="../media/image257.png"/><Relationship Id="rId28" Type="http://schemas.openxmlformats.org/officeDocument/2006/relationships/image" Target="../media/image262.png"/><Relationship Id="rId36" Type="http://schemas.openxmlformats.org/officeDocument/2006/relationships/image" Target="../media/image270.png"/><Relationship Id="rId10" Type="http://schemas.openxmlformats.org/officeDocument/2006/relationships/image" Target="../media/image244.png"/><Relationship Id="rId19" Type="http://schemas.openxmlformats.org/officeDocument/2006/relationships/image" Target="../media/image253.png"/><Relationship Id="rId31" Type="http://schemas.openxmlformats.org/officeDocument/2006/relationships/image" Target="../media/image265.png"/><Relationship Id="rId4" Type="http://schemas.openxmlformats.org/officeDocument/2006/relationships/image" Target="../media/image238.png"/><Relationship Id="rId9" Type="http://schemas.openxmlformats.org/officeDocument/2006/relationships/image" Target="../media/image243.png"/><Relationship Id="rId14" Type="http://schemas.openxmlformats.org/officeDocument/2006/relationships/image" Target="../media/image248.png"/><Relationship Id="rId22" Type="http://schemas.openxmlformats.org/officeDocument/2006/relationships/image" Target="../media/image256.png"/><Relationship Id="rId27" Type="http://schemas.openxmlformats.org/officeDocument/2006/relationships/image" Target="../media/image261.png"/><Relationship Id="rId30" Type="http://schemas.openxmlformats.org/officeDocument/2006/relationships/image" Target="../media/image264.png"/><Relationship Id="rId35" Type="http://schemas.openxmlformats.org/officeDocument/2006/relationships/image" Target="../media/image269.png"/><Relationship Id="rId8" Type="http://schemas.openxmlformats.org/officeDocument/2006/relationships/image" Target="../media/image242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1.png"/><Relationship Id="rId21" Type="http://schemas.openxmlformats.org/officeDocument/2006/relationships/image" Target="../media/image296.png"/><Relationship Id="rId42" Type="http://schemas.openxmlformats.org/officeDocument/2006/relationships/image" Target="../media/image317.png"/><Relationship Id="rId47" Type="http://schemas.openxmlformats.org/officeDocument/2006/relationships/image" Target="../media/image322.png"/><Relationship Id="rId63" Type="http://schemas.openxmlformats.org/officeDocument/2006/relationships/image" Target="../media/image338.png"/><Relationship Id="rId68" Type="http://schemas.openxmlformats.org/officeDocument/2006/relationships/image" Target="../media/image343.png"/><Relationship Id="rId84" Type="http://schemas.openxmlformats.org/officeDocument/2006/relationships/image" Target="../media/image359.png"/><Relationship Id="rId89" Type="http://schemas.openxmlformats.org/officeDocument/2006/relationships/image" Target="../media/image364.png"/><Relationship Id="rId16" Type="http://schemas.openxmlformats.org/officeDocument/2006/relationships/image" Target="../media/image291.png"/><Relationship Id="rId11" Type="http://schemas.openxmlformats.org/officeDocument/2006/relationships/image" Target="../media/image286.png"/><Relationship Id="rId32" Type="http://schemas.openxmlformats.org/officeDocument/2006/relationships/image" Target="../media/image307.png"/><Relationship Id="rId37" Type="http://schemas.openxmlformats.org/officeDocument/2006/relationships/image" Target="../media/image312.png"/><Relationship Id="rId53" Type="http://schemas.openxmlformats.org/officeDocument/2006/relationships/image" Target="../media/image328.png"/><Relationship Id="rId58" Type="http://schemas.openxmlformats.org/officeDocument/2006/relationships/image" Target="../media/image333.png"/><Relationship Id="rId74" Type="http://schemas.openxmlformats.org/officeDocument/2006/relationships/image" Target="../media/image349.png"/><Relationship Id="rId79" Type="http://schemas.openxmlformats.org/officeDocument/2006/relationships/image" Target="../media/image354.png"/><Relationship Id="rId102" Type="http://schemas.openxmlformats.org/officeDocument/2006/relationships/image" Target="../media/image377.png"/><Relationship Id="rId5" Type="http://schemas.openxmlformats.org/officeDocument/2006/relationships/image" Target="../media/image280.png"/><Relationship Id="rId90" Type="http://schemas.openxmlformats.org/officeDocument/2006/relationships/image" Target="../media/image365.png"/><Relationship Id="rId95" Type="http://schemas.openxmlformats.org/officeDocument/2006/relationships/image" Target="../media/image370.png"/><Relationship Id="rId22" Type="http://schemas.openxmlformats.org/officeDocument/2006/relationships/image" Target="../media/image297.png"/><Relationship Id="rId27" Type="http://schemas.openxmlformats.org/officeDocument/2006/relationships/image" Target="../media/image302.png"/><Relationship Id="rId43" Type="http://schemas.openxmlformats.org/officeDocument/2006/relationships/image" Target="../media/image318.png"/><Relationship Id="rId48" Type="http://schemas.openxmlformats.org/officeDocument/2006/relationships/image" Target="../media/image323.png"/><Relationship Id="rId64" Type="http://schemas.openxmlformats.org/officeDocument/2006/relationships/image" Target="../media/image339.png"/><Relationship Id="rId69" Type="http://schemas.openxmlformats.org/officeDocument/2006/relationships/image" Target="../media/image344.png"/><Relationship Id="rId80" Type="http://schemas.openxmlformats.org/officeDocument/2006/relationships/image" Target="../media/image355.png"/><Relationship Id="rId85" Type="http://schemas.openxmlformats.org/officeDocument/2006/relationships/image" Target="../media/image360.png"/><Relationship Id="rId12" Type="http://schemas.openxmlformats.org/officeDocument/2006/relationships/image" Target="../media/image287.png"/><Relationship Id="rId17" Type="http://schemas.openxmlformats.org/officeDocument/2006/relationships/image" Target="../media/image292.png"/><Relationship Id="rId33" Type="http://schemas.openxmlformats.org/officeDocument/2006/relationships/image" Target="../media/image308.png"/><Relationship Id="rId38" Type="http://schemas.openxmlformats.org/officeDocument/2006/relationships/image" Target="../media/image313.png"/><Relationship Id="rId59" Type="http://schemas.openxmlformats.org/officeDocument/2006/relationships/image" Target="../media/image334.png"/><Relationship Id="rId103" Type="http://schemas.openxmlformats.org/officeDocument/2006/relationships/image" Target="../media/image378.png"/><Relationship Id="rId20" Type="http://schemas.openxmlformats.org/officeDocument/2006/relationships/image" Target="../media/image295.png"/><Relationship Id="rId41" Type="http://schemas.openxmlformats.org/officeDocument/2006/relationships/image" Target="../media/image316.png"/><Relationship Id="rId54" Type="http://schemas.openxmlformats.org/officeDocument/2006/relationships/image" Target="../media/image329.png"/><Relationship Id="rId62" Type="http://schemas.openxmlformats.org/officeDocument/2006/relationships/image" Target="../media/image337.png"/><Relationship Id="rId70" Type="http://schemas.openxmlformats.org/officeDocument/2006/relationships/image" Target="../media/image345.png"/><Relationship Id="rId75" Type="http://schemas.openxmlformats.org/officeDocument/2006/relationships/image" Target="../media/image350.png"/><Relationship Id="rId83" Type="http://schemas.openxmlformats.org/officeDocument/2006/relationships/image" Target="../media/image358.png"/><Relationship Id="rId88" Type="http://schemas.openxmlformats.org/officeDocument/2006/relationships/image" Target="../media/image363.png"/><Relationship Id="rId91" Type="http://schemas.openxmlformats.org/officeDocument/2006/relationships/image" Target="../media/image366.png"/><Relationship Id="rId96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15" Type="http://schemas.openxmlformats.org/officeDocument/2006/relationships/image" Target="../media/image290.png"/><Relationship Id="rId23" Type="http://schemas.openxmlformats.org/officeDocument/2006/relationships/image" Target="../media/image298.png"/><Relationship Id="rId28" Type="http://schemas.openxmlformats.org/officeDocument/2006/relationships/image" Target="../media/image303.png"/><Relationship Id="rId36" Type="http://schemas.openxmlformats.org/officeDocument/2006/relationships/image" Target="../media/image311.png"/><Relationship Id="rId49" Type="http://schemas.openxmlformats.org/officeDocument/2006/relationships/image" Target="../media/image324.png"/><Relationship Id="rId57" Type="http://schemas.openxmlformats.org/officeDocument/2006/relationships/image" Target="../media/image332.png"/><Relationship Id="rId106" Type="http://schemas.openxmlformats.org/officeDocument/2006/relationships/image" Target="../media/image381.png"/><Relationship Id="rId10" Type="http://schemas.openxmlformats.org/officeDocument/2006/relationships/image" Target="../media/image285.png"/><Relationship Id="rId31" Type="http://schemas.openxmlformats.org/officeDocument/2006/relationships/image" Target="../media/image306.png"/><Relationship Id="rId44" Type="http://schemas.openxmlformats.org/officeDocument/2006/relationships/image" Target="../media/image319.png"/><Relationship Id="rId52" Type="http://schemas.openxmlformats.org/officeDocument/2006/relationships/image" Target="../media/image327.png"/><Relationship Id="rId60" Type="http://schemas.openxmlformats.org/officeDocument/2006/relationships/image" Target="../media/image335.png"/><Relationship Id="rId65" Type="http://schemas.openxmlformats.org/officeDocument/2006/relationships/image" Target="../media/image340.png"/><Relationship Id="rId73" Type="http://schemas.openxmlformats.org/officeDocument/2006/relationships/image" Target="../media/image348.png"/><Relationship Id="rId78" Type="http://schemas.openxmlformats.org/officeDocument/2006/relationships/image" Target="../media/image353.png"/><Relationship Id="rId81" Type="http://schemas.openxmlformats.org/officeDocument/2006/relationships/image" Target="../media/image356.png"/><Relationship Id="rId86" Type="http://schemas.openxmlformats.org/officeDocument/2006/relationships/image" Target="../media/image361.png"/><Relationship Id="rId94" Type="http://schemas.openxmlformats.org/officeDocument/2006/relationships/image" Target="../media/image369.png"/><Relationship Id="rId99" Type="http://schemas.openxmlformats.org/officeDocument/2006/relationships/image" Target="../media/image374.png"/><Relationship Id="rId101" Type="http://schemas.openxmlformats.org/officeDocument/2006/relationships/image" Target="../media/image376.png"/><Relationship Id="rId4" Type="http://schemas.openxmlformats.org/officeDocument/2006/relationships/image" Target="../media/image279.png"/><Relationship Id="rId9" Type="http://schemas.openxmlformats.org/officeDocument/2006/relationships/image" Target="../media/image284.png"/><Relationship Id="rId13" Type="http://schemas.openxmlformats.org/officeDocument/2006/relationships/image" Target="../media/image288.png"/><Relationship Id="rId18" Type="http://schemas.openxmlformats.org/officeDocument/2006/relationships/image" Target="../media/image293.png"/><Relationship Id="rId39" Type="http://schemas.openxmlformats.org/officeDocument/2006/relationships/image" Target="../media/image314.png"/><Relationship Id="rId34" Type="http://schemas.openxmlformats.org/officeDocument/2006/relationships/image" Target="../media/image309.png"/><Relationship Id="rId50" Type="http://schemas.openxmlformats.org/officeDocument/2006/relationships/image" Target="../media/image325.png"/><Relationship Id="rId55" Type="http://schemas.openxmlformats.org/officeDocument/2006/relationships/image" Target="../media/image330.png"/><Relationship Id="rId76" Type="http://schemas.openxmlformats.org/officeDocument/2006/relationships/image" Target="../media/image351.png"/><Relationship Id="rId97" Type="http://schemas.openxmlformats.org/officeDocument/2006/relationships/image" Target="../media/image372.png"/><Relationship Id="rId104" Type="http://schemas.openxmlformats.org/officeDocument/2006/relationships/image" Target="../media/image379.png"/><Relationship Id="rId7" Type="http://schemas.openxmlformats.org/officeDocument/2006/relationships/image" Target="../media/image282.png"/><Relationship Id="rId71" Type="http://schemas.openxmlformats.org/officeDocument/2006/relationships/image" Target="../media/image346.png"/><Relationship Id="rId92" Type="http://schemas.openxmlformats.org/officeDocument/2006/relationships/image" Target="../media/image367.png"/><Relationship Id="rId2" Type="http://schemas.openxmlformats.org/officeDocument/2006/relationships/image" Target="../media/image2770.png"/><Relationship Id="rId29" Type="http://schemas.openxmlformats.org/officeDocument/2006/relationships/image" Target="../media/image304.png"/><Relationship Id="rId24" Type="http://schemas.openxmlformats.org/officeDocument/2006/relationships/image" Target="../media/image299.png"/><Relationship Id="rId40" Type="http://schemas.openxmlformats.org/officeDocument/2006/relationships/image" Target="../media/image315.png"/><Relationship Id="rId45" Type="http://schemas.openxmlformats.org/officeDocument/2006/relationships/image" Target="../media/image320.png"/><Relationship Id="rId66" Type="http://schemas.openxmlformats.org/officeDocument/2006/relationships/image" Target="../media/image341.png"/><Relationship Id="rId87" Type="http://schemas.openxmlformats.org/officeDocument/2006/relationships/image" Target="../media/image362.png"/><Relationship Id="rId61" Type="http://schemas.openxmlformats.org/officeDocument/2006/relationships/image" Target="../media/image336.png"/><Relationship Id="rId82" Type="http://schemas.openxmlformats.org/officeDocument/2006/relationships/image" Target="../media/image357.png"/><Relationship Id="rId19" Type="http://schemas.openxmlformats.org/officeDocument/2006/relationships/image" Target="../media/image294.png"/><Relationship Id="rId14" Type="http://schemas.openxmlformats.org/officeDocument/2006/relationships/image" Target="../media/image289.png"/><Relationship Id="rId30" Type="http://schemas.openxmlformats.org/officeDocument/2006/relationships/image" Target="../media/image305.png"/><Relationship Id="rId35" Type="http://schemas.openxmlformats.org/officeDocument/2006/relationships/image" Target="../media/image310.png"/><Relationship Id="rId56" Type="http://schemas.openxmlformats.org/officeDocument/2006/relationships/image" Target="../media/image331.png"/><Relationship Id="rId77" Type="http://schemas.openxmlformats.org/officeDocument/2006/relationships/image" Target="../media/image352.png"/><Relationship Id="rId100" Type="http://schemas.openxmlformats.org/officeDocument/2006/relationships/image" Target="../media/image375.png"/><Relationship Id="rId105" Type="http://schemas.openxmlformats.org/officeDocument/2006/relationships/image" Target="../media/image380.png"/><Relationship Id="rId8" Type="http://schemas.openxmlformats.org/officeDocument/2006/relationships/image" Target="../media/image283.png"/><Relationship Id="rId51" Type="http://schemas.openxmlformats.org/officeDocument/2006/relationships/image" Target="../media/image326.png"/><Relationship Id="rId72" Type="http://schemas.openxmlformats.org/officeDocument/2006/relationships/image" Target="../media/image347.png"/><Relationship Id="rId93" Type="http://schemas.openxmlformats.org/officeDocument/2006/relationships/image" Target="../media/image368.png"/><Relationship Id="rId98" Type="http://schemas.openxmlformats.org/officeDocument/2006/relationships/image" Target="../media/image373.png"/><Relationship Id="rId3" Type="http://schemas.openxmlformats.org/officeDocument/2006/relationships/image" Target="../media/image278.png"/><Relationship Id="rId25" Type="http://schemas.openxmlformats.org/officeDocument/2006/relationships/image" Target="../media/image300.png"/><Relationship Id="rId46" Type="http://schemas.openxmlformats.org/officeDocument/2006/relationships/image" Target="../media/image321.png"/><Relationship Id="rId67" Type="http://schemas.openxmlformats.org/officeDocument/2006/relationships/image" Target="../media/image342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3.png"/><Relationship Id="rId18" Type="http://schemas.openxmlformats.org/officeDocument/2006/relationships/image" Target="../media/image398.png"/><Relationship Id="rId26" Type="http://schemas.openxmlformats.org/officeDocument/2006/relationships/image" Target="../media/image406.png"/><Relationship Id="rId3" Type="http://schemas.openxmlformats.org/officeDocument/2006/relationships/image" Target="../media/image383.png"/><Relationship Id="rId21" Type="http://schemas.openxmlformats.org/officeDocument/2006/relationships/image" Target="../media/image401.png"/><Relationship Id="rId34" Type="http://schemas.openxmlformats.org/officeDocument/2006/relationships/image" Target="../media/image414.png"/><Relationship Id="rId7" Type="http://schemas.openxmlformats.org/officeDocument/2006/relationships/image" Target="../media/image387.png"/><Relationship Id="rId12" Type="http://schemas.openxmlformats.org/officeDocument/2006/relationships/image" Target="../media/image392.png"/><Relationship Id="rId17" Type="http://schemas.openxmlformats.org/officeDocument/2006/relationships/image" Target="../media/image397.png"/><Relationship Id="rId25" Type="http://schemas.openxmlformats.org/officeDocument/2006/relationships/image" Target="../media/image405.png"/><Relationship Id="rId33" Type="http://schemas.openxmlformats.org/officeDocument/2006/relationships/image" Target="../media/image413.png"/><Relationship Id="rId2" Type="http://schemas.openxmlformats.org/officeDocument/2006/relationships/image" Target="../media/image382.png"/><Relationship Id="rId16" Type="http://schemas.openxmlformats.org/officeDocument/2006/relationships/image" Target="../media/image396.png"/><Relationship Id="rId20" Type="http://schemas.openxmlformats.org/officeDocument/2006/relationships/image" Target="../media/image400.png"/><Relationship Id="rId29" Type="http://schemas.openxmlformats.org/officeDocument/2006/relationships/image" Target="../media/image4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6.png"/><Relationship Id="rId11" Type="http://schemas.openxmlformats.org/officeDocument/2006/relationships/image" Target="../media/image391.png"/><Relationship Id="rId24" Type="http://schemas.openxmlformats.org/officeDocument/2006/relationships/image" Target="../media/image404.png"/><Relationship Id="rId32" Type="http://schemas.openxmlformats.org/officeDocument/2006/relationships/image" Target="../media/image412.png"/><Relationship Id="rId5" Type="http://schemas.openxmlformats.org/officeDocument/2006/relationships/image" Target="../media/image385.png"/><Relationship Id="rId15" Type="http://schemas.openxmlformats.org/officeDocument/2006/relationships/image" Target="../media/image395.png"/><Relationship Id="rId23" Type="http://schemas.openxmlformats.org/officeDocument/2006/relationships/image" Target="../media/image403.png"/><Relationship Id="rId28" Type="http://schemas.openxmlformats.org/officeDocument/2006/relationships/image" Target="../media/image408.png"/><Relationship Id="rId36" Type="http://schemas.openxmlformats.org/officeDocument/2006/relationships/image" Target="../media/image416.png"/><Relationship Id="rId10" Type="http://schemas.openxmlformats.org/officeDocument/2006/relationships/image" Target="../media/image390.png"/><Relationship Id="rId19" Type="http://schemas.openxmlformats.org/officeDocument/2006/relationships/image" Target="../media/image399.png"/><Relationship Id="rId31" Type="http://schemas.openxmlformats.org/officeDocument/2006/relationships/image" Target="../media/image411.png"/><Relationship Id="rId4" Type="http://schemas.openxmlformats.org/officeDocument/2006/relationships/image" Target="../media/image384.png"/><Relationship Id="rId9" Type="http://schemas.openxmlformats.org/officeDocument/2006/relationships/image" Target="../media/image389.png"/><Relationship Id="rId14" Type="http://schemas.openxmlformats.org/officeDocument/2006/relationships/image" Target="../media/image394.png"/><Relationship Id="rId22" Type="http://schemas.openxmlformats.org/officeDocument/2006/relationships/image" Target="../media/image402.png"/><Relationship Id="rId27" Type="http://schemas.openxmlformats.org/officeDocument/2006/relationships/image" Target="../media/image407.png"/><Relationship Id="rId30" Type="http://schemas.openxmlformats.org/officeDocument/2006/relationships/image" Target="../media/image410.png"/><Relationship Id="rId35" Type="http://schemas.openxmlformats.org/officeDocument/2006/relationships/image" Target="../media/image415.png"/><Relationship Id="rId8" Type="http://schemas.openxmlformats.org/officeDocument/2006/relationships/image" Target="../media/image388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1.png"/><Relationship Id="rId21" Type="http://schemas.openxmlformats.org/officeDocument/2006/relationships/image" Target="../media/image436.png"/><Relationship Id="rId42" Type="http://schemas.openxmlformats.org/officeDocument/2006/relationships/image" Target="../media/image457.png"/><Relationship Id="rId47" Type="http://schemas.openxmlformats.org/officeDocument/2006/relationships/image" Target="../media/image462.png"/><Relationship Id="rId63" Type="http://schemas.openxmlformats.org/officeDocument/2006/relationships/image" Target="../media/image478.png"/><Relationship Id="rId68" Type="http://schemas.openxmlformats.org/officeDocument/2006/relationships/image" Target="../media/image483.png"/><Relationship Id="rId7" Type="http://schemas.openxmlformats.org/officeDocument/2006/relationships/image" Target="../media/image422.png"/><Relationship Id="rId71" Type="http://schemas.openxmlformats.org/officeDocument/2006/relationships/image" Target="../media/image486.png"/><Relationship Id="rId2" Type="http://schemas.openxmlformats.org/officeDocument/2006/relationships/image" Target="../media/image417.png"/><Relationship Id="rId16" Type="http://schemas.openxmlformats.org/officeDocument/2006/relationships/image" Target="../media/image431.png"/><Relationship Id="rId29" Type="http://schemas.openxmlformats.org/officeDocument/2006/relationships/image" Target="../media/image444.png"/><Relationship Id="rId11" Type="http://schemas.openxmlformats.org/officeDocument/2006/relationships/image" Target="../media/image426.png"/><Relationship Id="rId24" Type="http://schemas.openxmlformats.org/officeDocument/2006/relationships/image" Target="../media/image439.png"/><Relationship Id="rId32" Type="http://schemas.openxmlformats.org/officeDocument/2006/relationships/image" Target="../media/image447.png"/><Relationship Id="rId37" Type="http://schemas.openxmlformats.org/officeDocument/2006/relationships/image" Target="../media/image452.png"/><Relationship Id="rId40" Type="http://schemas.openxmlformats.org/officeDocument/2006/relationships/image" Target="../media/image455.png"/><Relationship Id="rId45" Type="http://schemas.openxmlformats.org/officeDocument/2006/relationships/image" Target="../media/image460.png"/><Relationship Id="rId53" Type="http://schemas.openxmlformats.org/officeDocument/2006/relationships/image" Target="../media/image468.png"/><Relationship Id="rId58" Type="http://schemas.openxmlformats.org/officeDocument/2006/relationships/image" Target="../media/image473.png"/><Relationship Id="rId66" Type="http://schemas.openxmlformats.org/officeDocument/2006/relationships/image" Target="../media/image481.png"/><Relationship Id="rId5" Type="http://schemas.openxmlformats.org/officeDocument/2006/relationships/image" Target="../media/image420.png"/><Relationship Id="rId61" Type="http://schemas.openxmlformats.org/officeDocument/2006/relationships/image" Target="../media/image476.png"/><Relationship Id="rId19" Type="http://schemas.openxmlformats.org/officeDocument/2006/relationships/image" Target="../media/image434.png"/><Relationship Id="rId14" Type="http://schemas.openxmlformats.org/officeDocument/2006/relationships/image" Target="../media/image429.png"/><Relationship Id="rId22" Type="http://schemas.openxmlformats.org/officeDocument/2006/relationships/image" Target="../media/image437.png"/><Relationship Id="rId27" Type="http://schemas.openxmlformats.org/officeDocument/2006/relationships/image" Target="../media/image442.png"/><Relationship Id="rId30" Type="http://schemas.openxmlformats.org/officeDocument/2006/relationships/image" Target="../media/image445.png"/><Relationship Id="rId35" Type="http://schemas.openxmlformats.org/officeDocument/2006/relationships/image" Target="../media/image450.png"/><Relationship Id="rId43" Type="http://schemas.openxmlformats.org/officeDocument/2006/relationships/image" Target="../media/image458.png"/><Relationship Id="rId48" Type="http://schemas.openxmlformats.org/officeDocument/2006/relationships/image" Target="../media/image463.png"/><Relationship Id="rId56" Type="http://schemas.openxmlformats.org/officeDocument/2006/relationships/image" Target="../media/image471.png"/><Relationship Id="rId64" Type="http://schemas.openxmlformats.org/officeDocument/2006/relationships/image" Target="../media/image479.png"/><Relationship Id="rId69" Type="http://schemas.openxmlformats.org/officeDocument/2006/relationships/image" Target="../media/image484.png"/><Relationship Id="rId8" Type="http://schemas.openxmlformats.org/officeDocument/2006/relationships/image" Target="../media/image423.png"/><Relationship Id="rId51" Type="http://schemas.openxmlformats.org/officeDocument/2006/relationships/image" Target="../media/image466.png"/><Relationship Id="rId3" Type="http://schemas.openxmlformats.org/officeDocument/2006/relationships/image" Target="../media/image418.png"/><Relationship Id="rId12" Type="http://schemas.openxmlformats.org/officeDocument/2006/relationships/image" Target="../media/image427.png"/><Relationship Id="rId17" Type="http://schemas.openxmlformats.org/officeDocument/2006/relationships/image" Target="../media/image432.png"/><Relationship Id="rId25" Type="http://schemas.openxmlformats.org/officeDocument/2006/relationships/image" Target="../media/image440.png"/><Relationship Id="rId33" Type="http://schemas.openxmlformats.org/officeDocument/2006/relationships/image" Target="../media/image448.png"/><Relationship Id="rId38" Type="http://schemas.openxmlformats.org/officeDocument/2006/relationships/image" Target="../media/image453.png"/><Relationship Id="rId46" Type="http://schemas.openxmlformats.org/officeDocument/2006/relationships/image" Target="../media/image461.png"/><Relationship Id="rId59" Type="http://schemas.openxmlformats.org/officeDocument/2006/relationships/image" Target="../media/image474.png"/><Relationship Id="rId67" Type="http://schemas.openxmlformats.org/officeDocument/2006/relationships/image" Target="../media/image482.png"/><Relationship Id="rId20" Type="http://schemas.openxmlformats.org/officeDocument/2006/relationships/image" Target="../media/image435.png"/><Relationship Id="rId41" Type="http://schemas.openxmlformats.org/officeDocument/2006/relationships/image" Target="../media/image456.png"/><Relationship Id="rId54" Type="http://schemas.openxmlformats.org/officeDocument/2006/relationships/image" Target="../media/image469.png"/><Relationship Id="rId62" Type="http://schemas.openxmlformats.org/officeDocument/2006/relationships/image" Target="../media/image477.png"/><Relationship Id="rId70" Type="http://schemas.openxmlformats.org/officeDocument/2006/relationships/image" Target="../media/image4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1.png"/><Relationship Id="rId15" Type="http://schemas.openxmlformats.org/officeDocument/2006/relationships/image" Target="../media/image430.png"/><Relationship Id="rId23" Type="http://schemas.openxmlformats.org/officeDocument/2006/relationships/image" Target="../media/image438.png"/><Relationship Id="rId28" Type="http://schemas.openxmlformats.org/officeDocument/2006/relationships/image" Target="../media/image443.png"/><Relationship Id="rId36" Type="http://schemas.openxmlformats.org/officeDocument/2006/relationships/image" Target="../media/image451.png"/><Relationship Id="rId49" Type="http://schemas.openxmlformats.org/officeDocument/2006/relationships/image" Target="../media/image464.png"/><Relationship Id="rId57" Type="http://schemas.openxmlformats.org/officeDocument/2006/relationships/image" Target="../media/image472.png"/><Relationship Id="rId10" Type="http://schemas.openxmlformats.org/officeDocument/2006/relationships/image" Target="../media/image425.png"/><Relationship Id="rId31" Type="http://schemas.openxmlformats.org/officeDocument/2006/relationships/image" Target="../media/image446.png"/><Relationship Id="rId44" Type="http://schemas.openxmlformats.org/officeDocument/2006/relationships/image" Target="../media/image459.png"/><Relationship Id="rId52" Type="http://schemas.openxmlformats.org/officeDocument/2006/relationships/image" Target="../media/image467.png"/><Relationship Id="rId60" Type="http://schemas.openxmlformats.org/officeDocument/2006/relationships/image" Target="../media/image475.png"/><Relationship Id="rId65" Type="http://schemas.openxmlformats.org/officeDocument/2006/relationships/image" Target="../media/image480.png"/><Relationship Id="rId4" Type="http://schemas.openxmlformats.org/officeDocument/2006/relationships/image" Target="../media/image419.png"/><Relationship Id="rId9" Type="http://schemas.openxmlformats.org/officeDocument/2006/relationships/image" Target="../media/image424.png"/><Relationship Id="rId13" Type="http://schemas.openxmlformats.org/officeDocument/2006/relationships/image" Target="../media/image428.png"/><Relationship Id="rId18" Type="http://schemas.openxmlformats.org/officeDocument/2006/relationships/image" Target="../media/image433.png"/><Relationship Id="rId39" Type="http://schemas.openxmlformats.org/officeDocument/2006/relationships/image" Target="../media/image454.png"/><Relationship Id="rId34" Type="http://schemas.openxmlformats.org/officeDocument/2006/relationships/image" Target="../media/image449.png"/><Relationship Id="rId50" Type="http://schemas.openxmlformats.org/officeDocument/2006/relationships/image" Target="../media/image465.png"/><Relationship Id="rId55" Type="http://schemas.openxmlformats.org/officeDocument/2006/relationships/image" Target="../media/image470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1.png"/><Relationship Id="rId21" Type="http://schemas.openxmlformats.org/officeDocument/2006/relationships/image" Target="../media/image296.png"/><Relationship Id="rId42" Type="http://schemas.openxmlformats.org/officeDocument/2006/relationships/image" Target="../media/image317.png"/><Relationship Id="rId47" Type="http://schemas.openxmlformats.org/officeDocument/2006/relationships/image" Target="../media/image322.png"/><Relationship Id="rId63" Type="http://schemas.openxmlformats.org/officeDocument/2006/relationships/image" Target="../media/image338.png"/><Relationship Id="rId68" Type="http://schemas.openxmlformats.org/officeDocument/2006/relationships/image" Target="../media/image343.png"/><Relationship Id="rId84" Type="http://schemas.openxmlformats.org/officeDocument/2006/relationships/image" Target="../media/image359.png"/><Relationship Id="rId89" Type="http://schemas.openxmlformats.org/officeDocument/2006/relationships/image" Target="../media/image364.png"/><Relationship Id="rId16" Type="http://schemas.openxmlformats.org/officeDocument/2006/relationships/image" Target="../media/image291.png"/><Relationship Id="rId11" Type="http://schemas.openxmlformats.org/officeDocument/2006/relationships/image" Target="../media/image286.png"/><Relationship Id="rId32" Type="http://schemas.openxmlformats.org/officeDocument/2006/relationships/image" Target="../media/image307.png"/><Relationship Id="rId37" Type="http://schemas.openxmlformats.org/officeDocument/2006/relationships/image" Target="../media/image312.png"/><Relationship Id="rId53" Type="http://schemas.openxmlformats.org/officeDocument/2006/relationships/image" Target="../media/image328.png"/><Relationship Id="rId58" Type="http://schemas.openxmlformats.org/officeDocument/2006/relationships/image" Target="../media/image333.png"/><Relationship Id="rId74" Type="http://schemas.openxmlformats.org/officeDocument/2006/relationships/image" Target="../media/image349.png"/><Relationship Id="rId79" Type="http://schemas.openxmlformats.org/officeDocument/2006/relationships/image" Target="../media/image354.png"/><Relationship Id="rId102" Type="http://schemas.openxmlformats.org/officeDocument/2006/relationships/image" Target="../media/image377.png"/><Relationship Id="rId5" Type="http://schemas.openxmlformats.org/officeDocument/2006/relationships/image" Target="../media/image280.png"/><Relationship Id="rId90" Type="http://schemas.openxmlformats.org/officeDocument/2006/relationships/image" Target="../media/image365.png"/><Relationship Id="rId95" Type="http://schemas.openxmlformats.org/officeDocument/2006/relationships/image" Target="../media/image370.png"/><Relationship Id="rId22" Type="http://schemas.openxmlformats.org/officeDocument/2006/relationships/image" Target="../media/image297.png"/><Relationship Id="rId27" Type="http://schemas.openxmlformats.org/officeDocument/2006/relationships/image" Target="../media/image302.png"/><Relationship Id="rId43" Type="http://schemas.openxmlformats.org/officeDocument/2006/relationships/image" Target="../media/image318.png"/><Relationship Id="rId48" Type="http://schemas.openxmlformats.org/officeDocument/2006/relationships/image" Target="../media/image323.png"/><Relationship Id="rId64" Type="http://schemas.openxmlformats.org/officeDocument/2006/relationships/image" Target="../media/image339.png"/><Relationship Id="rId69" Type="http://schemas.openxmlformats.org/officeDocument/2006/relationships/image" Target="../media/image344.png"/><Relationship Id="rId80" Type="http://schemas.openxmlformats.org/officeDocument/2006/relationships/image" Target="../media/image355.png"/><Relationship Id="rId85" Type="http://schemas.openxmlformats.org/officeDocument/2006/relationships/image" Target="../media/image360.png"/><Relationship Id="rId12" Type="http://schemas.openxmlformats.org/officeDocument/2006/relationships/image" Target="../media/image287.png"/><Relationship Id="rId17" Type="http://schemas.openxmlformats.org/officeDocument/2006/relationships/image" Target="../media/image292.png"/><Relationship Id="rId33" Type="http://schemas.openxmlformats.org/officeDocument/2006/relationships/image" Target="../media/image308.png"/><Relationship Id="rId38" Type="http://schemas.openxmlformats.org/officeDocument/2006/relationships/image" Target="../media/image313.png"/><Relationship Id="rId59" Type="http://schemas.openxmlformats.org/officeDocument/2006/relationships/image" Target="../media/image334.png"/><Relationship Id="rId103" Type="http://schemas.openxmlformats.org/officeDocument/2006/relationships/image" Target="../media/image378.png"/><Relationship Id="rId20" Type="http://schemas.openxmlformats.org/officeDocument/2006/relationships/image" Target="../media/image295.png"/><Relationship Id="rId41" Type="http://schemas.openxmlformats.org/officeDocument/2006/relationships/image" Target="../media/image316.png"/><Relationship Id="rId54" Type="http://schemas.openxmlformats.org/officeDocument/2006/relationships/image" Target="../media/image329.png"/><Relationship Id="rId62" Type="http://schemas.openxmlformats.org/officeDocument/2006/relationships/image" Target="../media/image337.png"/><Relationship Id="rId70" Type="http://schemas.openxmlformats.org/officeDocument/2006/relationships/image" Target="../media/image345.png"/><Relationship Id="rId75" Type="http://schemas.openxmlformats.org/officeDocument/2006/relationships/image" Target="../media/image350.png"/><Relationship Id="rId83" Type="http://schemas.openxmlformats.org/officeDocument/2006/relationships/image" Target="../media/image358.png"/><Relationship Id="rId88" Type="http://schemas.openxmlformats.org/officeDocument/2006/relationships/image" Target="../media/image363.png"/><Relationship Id="rId91" Type="http://schemas.openxmlformats.org/officeDocument/2006/relationships/image" Target="../media/image366.png"/><Relationship Id="rId96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15" Type="http://schemas.openxmlformats.org/officeDocument/2006/relationships/image" Target="../media/image290.png"/><Relationship Id="rId23" Type="http://schemas.openxmlformats.org/officeDocument/2006/relationships/image" Target="../media/image298.png"/><Relationship Id="rId28" Type="http://schemas.openxmlformats.org/officeDocument/2006/relationships/image" Target="../media/image303.png"/><Relationship Id="rId36" Type="http://schemas.openxmlformats.org/officeDocument/2006/relationships/image" Target="../media/image311.png"/><Relationship Id="rId49" Type="http://schemas.openxmlformats.org/officeDocument/2006/relationships/image" Target="../media/image324.png"/><Relationship Id="rId57" Type="http://schemas.openxmlformats.org/officeDocument/2006/relationships/image" Target="../media/image332.png"/><Relationship Id="rId106" Type="http://schemas.openxmlformats.org/officeDocument/2006/relationships/image" Target="../media/image381.png"/><Relationship Id="rId10" Type="http://schemas.openxmlformats.org/officeDocument/2006/relationships/image" Target="../media/image285.png"/><Relationship Id="rId31" Type="http://schemas.openxmlformats.org/officeDocument/2006/relationships/image" Target="../media/image306.png"/><Relationship Id="rId44" Type="http://schemas.openxmlformats.org/officeDocument/2006/relationships/image" Target="../media/image319.png"/><Relationship Id="rId52" Type="http://schemas.openxmlformats.org/officeDocument/2006/relationships/image" Target="../media/image327.png"/><Relationship Id="rId60" Type="http://schemas.openxmlformats.org/officeDocument/2006/relationships/image" Target="../media/image335.png"/><Relationship Id="rId65" Type="http://schemas.openxmlformats.org/officeDocument/2006/relationships/image" Target="../media/image340.png"/><Relationship Id="rId73" Type="http://schemas.openxmlformats.org/officeDocument/2006/relationships/image" Target="../media/image348.png"/><Relationship Id="rId78" Type="http://schemas.openxmlformats.org/officeDocument/2006/relationships/image" Target="../media/image353.png"/><Relationship Id="rId81" Type="http://schemas.openxmlformats.org/officeDocument/2006/relationships/image" Target="../media/image356.png"/><Relationship Id="rId86" Type="http://schemas.openxmlformats.org/officeDocument/2006/relationships/image" Target="../media/image361.png"/><Relationship Id="rId94" Type="http://schemas.openxmlformats.org/officeDocument/2006/relationships/image" Target="../media/image369.png"/><Relationship Id="rId99" Type="http://schemas.openxmlformats.org/officeDocument/2006/relationships/image" Target="../media/image374.png"/><Relationship Id="rId101" Type="http://schemas.openxmlformats.org/officeDocument/2006/relationships/image" Target="../media/image376.png"/><Relationship Id="rId4" Type="http://schemas.openxmlformats.org/officeDocument/2006/relationships/image" Target="../media/image279.png"/><Relationship Id="rId9" Type="http://schemas.openxmlformats.org/officeDocument/2006/relationships/image" Target="../media/image284.png"/><Relationship Id="rId13" Type="http://schemas.openxmlformats.org/officeDocument/2006/relationships/image" Target="../media/image288.png"/><Relationship Id="rId18" Type="http://schemas.openxmlformats.org/officeDocument/2006/relationships/image" Target="../media/image293.png"/><Relationship Id="rId39" Type="http://schemas.openxmlformats.org/officeDocument/2006/relationships/image" Target="../media/image314.png"/><Relationship Id="rId34" Type="http://schemas.openxmlformats.org/officeDocument/2006/relationships/image" Target="../media/image309.png"/><Relationship Id="rId50" Type="http://schemas.openxmlformats.org/officeDocument/2006/relationships/image" Target="../media/image325.png"/><Relationship Id="rId55" Type="http://schemas.openxmlformats.org/officeDocument/2006/relationships/image" Target="../media/image330.png"/><Relationship Id="rId76" Type="http://schemas.openxmlformats.org/officeDocument/2006/relationships/image" Target="../media/image351.png"/><Relationship Id="rId97" Type="http://schemas.openxmlformats.org/officeDocument/2006/relationships/image" Target="../media/image372.png"/><Relationship Id="rId104" Type="http://schemas.openxmlformats.org/officeDocument/2006/relationships/image" Target="../media/image379.png"/><Relationship Id="rId7" Type="http://schemas.openxmlformats.org/officeDocument/2006/relationships/image" Target="../media/image282.png"/><Relationship Id="rId71" Type="http://schemas.openxmlformats.org/officeDocument/2006/relationships/image" Target="../media/image346.png"/><Relationship Id="rId92" Type="http://schemas.openxmlformats.org/officeDocument/2006/relationships/image" Target="../media/image487.png"/><Relationship Id="rId2" Type="http://schemas.openxmlformats.org/officeDocument/2006/relationships/image" Target="../media/image2770.png"/><Relationship Id="rId29" Type="http://schemas.openxmlformats.org/officeDocument/2006/relationships/image" Target="../media/image304.png"/><Relationship Id="rId24" Type="http://schemas.openxmlformats.org/officeDocument/2006/relationships/image" Target="../media/image299.png"/><Relationship Id="rId40" Type="http://schemas.openxmlformats.org/officeDocument/2006/relationships/image" Target="../media/image315.png"/><Relationship Id="rId45" Type="http://schemas.openxmlformats.org/officeDocument/2006/relationships/image" Target="../media/image320.png"/><Relationship Id="rId66" Type="http://schemas.openxmlformats.org/officeDocument/2006/relationships/image" Target="../media/image341.png"/><Relationship Id="rId87" Type="http://schemas.openxmlformats.org/officeDocument/2006/relationships/image" Target="../media/image362.png"/><Relationship Id="rId61" Type="http://schemas.openxmlformats.org/officeDocument/2006/relationships/image" Target="../media/image336.png"/><Relationship Id="rId82" Type="http://schemas.openxmlformats.org/officeDocument/2006/relationships/image" Target="../media/image357.png"/><Relationship Id="rId19" Type="http://schemas.openxmlformats.org/officeDocument/2006/relationships/image" Target="../media/image294.png"/><Relationship Id="rId14" Type="http://schemas.openxmlformats.org/officeDocument/2006/relationships/image" Target="../media/image289.png"/><Relationship Id="rId30" Type="http://schemas.openxmlformats.org/officeDocument/2006/relationships/image" Target="../media/image305.png"/><Relationship Id="rId35" Type="http://schemas.openxmlformats.org/officeDocument/2006/relationships/image" Target="../media/image310.png"/><Relationship Id="rId56" Type="http://schemas.openxmlformats.org/officeDocument/2006/relationships/image" Target="../media/image331.png"/><Relationship Id="rId77" Type="http://schemas.openxmlformats.org/officeDocument/2006/relationships/image" Target="../media/image352.png"/><Relationship Id="rId100" Type="http://schemas.openxmlformats.org/officeDocument/2006/relationships/image" Target="../media/image375.png"/><Relationship Id="rId105" Type="http://schemas.openxmlformats.org/officeDocument/2006/relationships/image" Target="../media/image380.png"/><Relationship Id="rId8" Type="http://schemas.openxmlformats.org/officeDocument/2006/relationships/image" Target="../media/image283.png"/><Relationship Id="rId51" Type="http://schemas.openxmlformats.org/officeDocument/2006/relationships/image" Target="../media/image326.png"/><Relationship Id="rId72" Type="http://schemas.openxmlformats.org/officeDocument/2006/relationships/image" Target="../media/image347.png"/><Relationship Id="rId93" Type="http://schemas.openxmlformats.org/officeDocument/2006/relationships/image" Target="../media/image368.png"/><Relationship Id="rId98" Type="http://schemas.openxmlformats.org/officeDocument/2006/relationships/image" Target="../media/image373.png"/><Relationship Id="rId3" Type="http://schemas.openxmlformats.org/officeDocument/2006/relationships/image" Target="../media/image278.png"/><Relationship Id="rId25" Type="http://schemas.openxmlformats.org/officeDocument/2006/relationships/image" Target="../media/image300.png"/><Relationship Id="rId46" Type="http://schemas.openxmlformats.org/officeDocument/2006/relationships/image" Target="../media/image321.png"/><Relationship Id="rId67" Type="http://schemas.openxmlformats.org/officeDocument/2006/relationships/image" Target="../media/image342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9.png"/><Relationship Id="rId18" Type="http://schemas.openxmlformats.org/officeDocument/2006/relationships/image" Target="../media/image504.png"/><Relationship Id="rId26" Type="http://schemas.openxmlformats.org/officeDocument/2006/relationships/image" Target="../media/image512.png"/><Relationship Id="rId39" Type="http://schemas.openxmlformats.org/officeDocument/2006/relationships/image" Target="../media/image525.png"/><Relationship Id="rId21" Type="http://schemas.openxmlformats.org/officeDocument/2006/relationships/image" Target="../media/image507.png"/><Relationship Id="rId34" Type="http://schemas.openxmlformats.org/officeDocument/2006/relationships/image" Target="../media/image520.png"/><Relationship Id="rId7" Type="http://schemas.openxmlformats.org/officeDocument/2006/relationships/image" Target="../media/image493.png"/><Relationship Id="rId12" Type="http://schemas.openxmlformats.org/officeDocument/2006/relationships/image" Target="../media/image498.png"/><Relationship Id="rId17" Type="http://schemas.openxmlformats.org/officeDocument/2006/relationships/image" Target="../media/image503.png"/><Relationship Id="rId25" Type="http://schemas.openxmlformats.org/officeDocument/2006/relationships/image" Target="../media/image511.png"/><Relationship Id="rId33" Type="http://schemas.openxmlformats.org/officeDocument/2006/relationships/image" Target="../media/image519.png"/><Relationship Id="rId38" Type="http://schemas.openxmlformats.org/officeDocument/2006/relationships/image" Target="../media/image524.png"/><Relationship Id="rId2" Type="http://schemas.openxmlformats.org/officeDocument/2006/relationships/image" Target="../media/image488.png"/><Relationship Id="rId16" Type="http://schemas.openxmlformats.org/officeDocument/2006/relationships/image" Target="../media/image502.png"/><Relationship Id="rId20" Type="http://schemas.openxmlformats.org/officeDocument/2006/relationships/image" Target="../media/image506.png"/><Relationship Id="rId29" Type="http://schemas.openxmlformats.org/officeDocument/2006/relationships/image" Target="../media/image5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2.png"/><Relationship Id="rId11" Type="http://schemas.openxmlformats.org/officeDocument/2006/relationships/image" Target="../media/image497.png"/><Relationship Id="rId24" Type="http://schemas.openxmlformats.org/officeDocument/2006/relationships/image" Target="../media/image510.png"/><Relationship Id="rId32" Type="http://schemas.openxmlformats.org/officeDocument/2006/relationships/image" Target="../media/image518.png"/><Relationship Id="rId37" Type="http://schemas.openxmlformats.org/officeDocument/2006/relationships/image" Target="../media/image523.png"/><Relationship Id="rId40" Type="http://schemas.openxmlformats.org/officeDocument/2006/relationships/image" Target="../media/image526.png"/><Relationship Id="rId5" Type="http://schemas.openxmlformats.org/officeDocument/2006/relationships/image" Target="../media/image491.png"/><Relationship Id="rId15" Type="http://schemas.openxmlformats.org/officeDocument/2006/relationships/image" Target="../media/image501.png"/><Relationship Id="rId23" Type="http://schemas.openxmlformats.org/officeDocument/2006/relationships/image" Target="../media/image509.png"/><Relationship Id="rId28" Type="http://schemas.openxmlformats.org/officeDocument/2006/relationships/image" Target="../media/image514.png"/><Relationship Id="rId36" Type="http://schemas.openxmlformats.org/officeDocument/2006/relationships/image" Target="../media/image522.png"/><Relationship Id="rId10" Type="http://schemas.openxmlformats.org/officeDocument/2006/relationships/image" Target="../media/image496.png"/><Relationship Id="rId19" Type="http://schemas.openxmlformats.org/officeDocument/2006/relationships/image" Target="../media/image505.png"/><Relationship Id="rId31" Type="http://schemas.openxmlformats.org/officeDocument/2006/relationships/image" Target="../media/image517.png"/><Relationship Id="rId4" Type="http://schemas.openxmlformats.org/officeDocument/2006/relationships/image" Target="../media/image490.png"/><Relationship Id="rId9" Type="http://schemas.openxmlformats.org/officeDocument/2006/relationships/image" Target="../media/image495.png"/><Relationship Id="rId14" Type="http://schemas.openxmlformats.org/officeDocument/2006/relationships/image" Target="../media/image500.png"/><Relationship Id="rId22" Type="http://schemas.openxmlformats.org/officeDocument/2006/relationships/image" Target="../media/image508.png"/><Relationship Id="rId27" Type="http://schemas.openxmlformats.org/officeDocument/2006/relationships/image" Target="../media/image271.png"/><Relationship Id="rId30" Type="http://schemas.openxmlformats.org/officeDocument/2006/relationships/image" Target="../media/image516.png"/><Relationship Id="rId35" Type="http://schemas.openxmlformats.org/officeDocument/2006/relationships/image" Target="../media/image521.png"/><Relationship Id="rId8" Type="http://schemas.openxmlformats.org/officeDocument/2006/relationships/image" Target="../media/image494.png"/><Relationship Id="rId3" Type="http://schemas.openxmlformats.org/officeDocument/2006/relationships/image" Target="../media/image48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3.png"/><Relationship Id="rId3" Type="http://schemas.openxmlformats.org/officeDocument/2006/relationships/image" Target="../media/image528.png"/><Relationship Id="rId7" Type="http://schemas.openxmlformats.org/officeDocument/2006/relationships/image" Target="../media/image532.png"/><Relationship Id="rId2" Type="http://schemas.openxmlformats.org/officeDocument/2006/relationships/image" Target="../media/image5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1.png"/><Relationship Id="rId11" Type="http://schemas.openxmlformats.org/officeDocument/2006/relationships/image" Target="../media/image536.png"/><Relationship Id="rId5" Type="http://schemas.openxmlformats.org/officeDocument/2006/relationships/image" Target="../media/image530.png"/><Relationship Id="rId10" Type="http://schemas.openxmlformats.org/officeDocument/2006/relationships/image" Target="../media/image535.png"/><Relationship Id="rId4" Type="http://schemas.openxmlformats.org/officeDocument/2006/relationships/image" Target="../media/image529.png"/><Relationship Id="rId9" Type="http://schemas.openxmlformats.org/officeDocument/2006/relationships/image" Target="../media/image5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4.png"/><Relationship Id="rId3" Type="http://schemas.openxmlformats.org/officeDocument/2006/relationships/image" Target="../media/image539.png"/><Relationship Id="rId7" Type="http://schemas.openxmlformats.org/officeDocument/2006/relationships/image" Target="../media/image543.png"/><Relationship Id="rId2" Type="http://schemas.openxmlformats.org/officeDocument/2006/relationships/image" Target="../media/image5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2.png"/><Relationship Id="rId5" Type="http://schemas.openxmlformats.org/officeDocument/2006/relationships/image" Target="../media/image541.png"/><Relationship Id="rId4" Type="http://schemas.openxmlformats.org/officeDocument/2006/relationships/image" Target="../media/image540.png"/><Relationship Id="rId9" Type="http://schemas.openxmlformats.org/officeDocument/2006/relationships/image" Target="../media/image54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2.png"/><Relationship Id="rId3" Type="http://schemas.openxmlformats.org/officeDocument/2006/relationships/image" Target="../media/image547.png"/><Relationship Id="rId7" Type="http://schemas.openxmlformats.org/officeDocument/2006/relationships/image" Target="../media/image551.png"/><Relationship Id="rId12" Type="http://schemas.openxmlformats.org/officeDocument/2006/relationships/image" Target="../media/image556.png"/><Relationship Id="rId2" Type="http://schemas.openxmlformats.org/officeDocument/2006/relationships/image" Target="../media/image5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0.png"/><Relationship Id="rId11" Type="http://schemas.openxmlformats.org/officeDocument/2006/relationships/image" Target="../media/image555.png"/><Relationship Id="rId5" Type="http://schemas.openxmlformats.org/officeDocument/2006/relationships/image" Target="../media/image549.png"/><Relationship Id="rId10" Type="http://schemas.openxmlformats.org/officeDocument/2006/relationships/image" Target="../media/image554.png"/><Relationship Id="rId4" Type="http://schemas.openxmlformats.org/officeDocument/2006/relationships/image" Target="../media/image548.png"/><Relationship Id="rId9" Type="http://schemas.openxmlformats.org/officeDocument/2006/relationships/image" Target="../media/image55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png"/><Relationship Id="rId13" Type="http://schemas.openxmlformats.org/officeDocument/2006/relationships/image" Target="../media/image568.png"/><Relationship Id="rId18" Type="http://schemas.openxmlformats.org/officeDocument/2006/relationships/image" Target="../media/image573.png"/><Relationship Id="rId3" Type="http://schemas.openxmlformats.org/officeDocument/2006/relationships/image" Target="../media/image558.png"/><Relationship Id="rId21" Type="http://schemas.openxmlformats.org/officeDocument/2006/relationships/image" Target="../media/image576.png"/><Relationship Id="rId7" Type="http://schemas.openxmlformats.org/officeDocument/2006/relationships/image" Target="../media/image562.png"/><Relationship Id="rId12" Type="http://schemas.openxmlformats.org/officeDocument/2006/relationships/image" Target="../media/image567.png"/><Relationship Id="rId17" Type="http://schemas.openxmlformats.org/officeDocument/2006/relationships/image" Target="../media/image572.png"/><Relationship Id="rId2" Type="http://schemas.openxmlformats.org/officeDocument/2006/relationships/image" Target="../media/image557.png"/><Relationship Id="rId16" Type="http://schemas.openxmlformats.org/officeDocument/2006/relationships/image" Target="../media/image571.png"/><Relationship Id="rId20" Type="http://schemas.openxmlformats.org/officeDocument/2006/relationships/image" Target="../media/image5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1.png"/><Relationship Id="rId11" Type="http://schemas.openxmlformats.org/officeDocument/2006/relationships/image" Target="../media/image566.png"/><Relationship Id="rId24" Type="http://schemas.openxmlformats.org/officeDocument/2006/relationships/image" Target="../media/image579.png"/><Relationship Id="rId5" Type="http://schemas.openxmlformats.org/officeDocument/2006/relationships/image" Target="../media/image560.png"/><Relationship Id="rId15" Type="http://schemas.openxmlformats.org/officeDocument/2006/relationships/image" Target="../media/image570.png"/><Relationship Id="rId23" Type="http://schemas.openxmlformats.org/officeDocument/2006/relationships/image" Target="../media/image578.png"/><Relationship Id="rId10" Type="http://schemas.openxmlformats.org/officeDocument/2006/relationships/image" Target="../media/image565.png"/><Relationship Id="rId19" Type="http://schemas.openxmlformats.org/officeDocument/2006/relationships/image" Target="../media/image574.png"/><Relationship Id="rId4" Type="http://schemas.openxmlformats.org/officeDocument/2006/relationships/image" Target="../media/image559.png"/><Relationship Id="rId9" Type="http://schemas.openxmlformats.org/officeDocument/2006/relationships/image" Target="../media/image564.png"/><Relationship Id="rId14" Type="http://schemas.openxmlformats.org/officeDocument/2006/relationships/image" Target="../media/image569.png"/><Relationship Id="rId22" Type="http://schemas.openxmlformats.org/officeDocument/2006/relationships/image" Target="../media/image57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6.png"/><Relationship Id="rId13" Type="http://schemas.openxmlformats.org/officeDocument/2006/relationships/image" Target="../media/image591.png"/><Relationship Id="rId3" Type="http://schemas.openxmlformats.org/officeDocument/2006/relationships/image" Target="../media/image581.png"/><Relationship Id="rId7" Type="http://schemas.openxmlformats.org/officeDocument/2006/relationships/image" Target="../media/image585.png"/><Relationship Id="rId12" Type="http://schemas.openxmlformats.org/officeDocument/2006/relationships/image" Target="../media/image590.png"/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4.png"/><Relationship Id="rId11" Type="http://schemas.openxmlformats.org/officeDocument/2006/relationships/image" Target="../media/image589.png"/><Relationship Id="rId5" Type="http://schemas.openxmlformats.org/officeDocument/2006/relationships/image" Target="../media/image583.png"/><Relationship Id="rId10" Type="http://schemas.openxmlformats.org/officeDocument/2006/relationships/image" Target="../media/image588.png"/><Relationship Id="rId4" Type="http://schemas.openxmlformats.org/officeDocument/2006/relationships/image" Target="../media/image582.png"/><Relationship Id="rId9" Type="http://schemas.openxmlformats.org/officeDocument/2006/relationships/image" Target="../media/image587.png"/><Relationship Id="rId14" Type="http://schemas.openxmlformats.org/officeDocument/2006/relationships/image" Target="../media/image59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0.png"/><Relationship Id="rId18" Type="http://schemas.openxmlformats.org/officeDocument/2006/relationships/image" Target="../media/image2210.png"/><Relationship Id="rId26" Type="http://schemas.openxmlformats.org/officeDocument/2006/relationships/image" Target="../media/image2290.png"/><Relationship Id="rId3" Type="http://schemas.openxmlformats.org/officeDocument/2006/relationships/image" Target="../media/image2060.png"/><Relationship Id="rId21" Type="http://schemas.openxmlformats.org/officeDocument/2006/relationships/image" Target="../media/image2240.png"/><Relationship Id="rId34" Type="http://schemas.openxmlformats.org/officeDocument/2006/relationships/image" Target="../media/image2370.png"/><Relationship Id="rId7" Type="http://schemas.openxmlformats.org/officeDocument/2006/relationships/image" Target="../media/image2100.png"/><Relationship Id="rId12" Type="http://schemas.openxmlformats.org/officeDocument/2006/relationships/image" Target="../media/image2150.png"/><Relationship Id="rId17" Type="http://schemas.openxmlformats.org/officeDocument/2006/relationships/image" Target="../media/image2200.png"/><Relationship Id="rId25" Type="http://schemas.openxmlformats.org/officeDocument/2006/relationships/image" Target="../media/image2280.png"/><Relationship Id="rId33" Type="http://schemas.openxmlformats.org/officeDocument/2006/relationships/image" Target="../media/image2360.png"/><Relationship Id="rId2" Type="http://schemas.openxmlformats.org/officeDocument/2006/relationships/image" Target="../media/image2050.png"/><Relationship Id="rId16" Type="http://schemas.openxmlformats.org/officeDocument/2006/relationships/image" Target="../media/image2190.png"/><Relationship Id="rId20" Type="http://schemas.openxmlformats.org/officeDocument/2006/relationships/image" Target="../media/image2230.png"/><Relationship Id="rId29" Type="http://schemas.openxmlformats.org/officeDocument/2006/relationships/image" Target="../media/image2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0.png"/><Relationship Id="rId11" Type="http://schemas.openxmlformats.org/officeDocument/2006/relationships/image" Target="../media/image2140.png"/><Relationship Id="rId24" Type="http://schemas.openxmlformats.org/officeDocument/2006/relationships/image" Target="../media/image2270.png"/><Relationship Id="rId32" Type="http://schemas.openxmlformats.org/officeDocument/2006/relationships/image" Target="../media/image2350.png"/><Relationship Id="rId5" Type="http://schemas.openxmlformats.org/officeDocument/2006/relationships/image" Target="../media/image2080.png"/><Relationship Id="rId15" Type="http://schemas.openxmlformats.org/officeDocument/2006/relationships/image" Target="../media/image2180.png"/><Relationship Id="rId23" Type="http://schemas.openxmlformats.org/officeDocument/2006/relationships/image" Target="../media/image2260.png"/><Relationship Id="rId28" Type="http://schemas.openxmlformats.org/officeDocument/2006/relationships/image" Target="../media/image2310.png"/><Relationship Id="rId36" Type="http://schemas.openxmlformats.org/officeDocument/2006/relationships/image" Target="../media/image2390.png"/><Relationship Id="rId10" Type="http://schemas.openxmlformats.org/officeDocument/2006/relationships/image" Target="../media/image2130.png"/><Relationship Id="rId19" Type="http://schemas.openxmlformats.org/officeDocument/2006/relationships/image" Target="../media/image2220.png"/><Relationship Id="rId31" Type="http://schemas.openxmlformats.org/officeDocument/2006/relationships/image" Target="../media/image2340.png"/><Relationship Id="rId4" Type="http://schemas.openxmlformats.org/officeDocument/2006/relationships/image" Target="../media/image2070.png"/><Relationship Id="rId9" Type="http://schemas.openxmlformats.org/officeDocument/2006/relationships/image" Target="../media/image2120.png"/><Relationship Id="rId14" Type="http://schemas.openxmlformats.org/officeDocument/2006/relationships/image" Target="../media/image2170.png"/><Relationship Id="rId22" Type="http://schemas.openxmlformats.org/officeDocument/2006/relationships/image" Target="../media/image2250.png"/><Relationship Id="rId27" Type="http://schemas.openxmlformats.org/officeDocument/2006/relationships/image" Target="../media/image2300.png"/><Relationship Id="rId30" Type="http://schemas.openxmlformats.org/officeDocument/2006/relationships/image" Target="../media/image2330.png"/><Relationship Id="rId35" Type="http://schemas.openxmlformats.org/officeDocument/2006/relationships/image" Target="../media/image2380.png"/><Relationship Id="rId8" Type="http://schemas.openxmlformats.org/officeDocument/2006/relationships/image" Target="../media/image2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57022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Training of RNN</a:t>
            </a:r>
            <a:br>
              <a:rPr lang="en-IN" sz="4000" dirty="0"/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6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Training of RNN – Backpropagation through Time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Character Level Modelling through RNN (An example)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Deep RNN Models</a:t>
            </a:r>
          </a:p>
        </p:txBody>
      </p:sp>
    </p:spTree>
    <p:extLst>
      <p:ext uri="{BB962C8B-B14F-4D97-AF65-F5344CB8AC3E}">
        <p14:creationId xmlns:p14="http://schemas.microsoft.com/office/powerpoint/2010/main" val="222108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924" y="153682"/>
            <a:ext cx="10515600" cy="105466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2185958" y="5230895"/>
            <a:ext cx="748145" cy="748146"/>
          </a:xfrm>
          <a:prstGeom prst="ellipse">
            <a:avLst/>
          </a:prstGeom>
          <a:solidFill>
            <a:srgbClr val="92D050">
              <a:alpha val="42000"/>
            </a:srgbClr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Elbow Connector 4"/>
          <p:cNvCxnSpPr>
            <a:stCxn id="4" idx="6"/>
            <a:endCxn id="6" idx="0"/>
          </p:cNvCxnSpPr>
          <p:nvPr/>
        </p:nvCxnSpPr>
        <p:spPr>
          <a:xfrm flipH="1" flipV="1">
            <a:off x="2650854" y="5006123"/>
            <a:ext cx="283249" cy="598845"/>
          </a:xfrm>
          <a:prstGeom prst="bentConnector4">
            <a:avLst>
              <a:gd name="adj1" fmla="val -80706"/>
              <a:gd name="adj2" fmla="val 100449"/>
            </a:avLst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c 5">
            <a:extLst>
              <a:ext uri="{FF2B5EF4-FFF2-40B4-BE49-F238E27FC236}">
                <a16:creationId xmlns:a16="http://schemas.microsoft.com/office/drawing/2014/main" id="{EC02A7E6-C0AB-4221-B5D5-56929376C037}"/>
              </a:ext>
            </a:extLst>
          </p:cNvPr>
          <p:cNvSpPr/>
          <p:nvPr/>
        </p:nvSpPr>
        <p:spPr>
          <a:xfrm rot="7739477">
            <a:off x="2427006" y="4784364"/>
            <a:ext cx="236107" cy="272231"/>
          </a:xfrm>
          <a:prstGeom prst="arc">
            <a:avLst/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37F227-A3AD-4027-A4F9-01B5993A962E}"/>
              </a:ext>
            </a:extLst>
          </p:cNvPr>
          <p:cNvCxnSpPr>
            <a:cxnSpLocks/>
            <a:endCxn id="4" idx="4"/>
          </p:cNvCxnSpPr>
          <p:nvPr/>
        </p:nvCxnSpPr>
        <p:spPr>
          <a:xfrm flipH="1" flipV="1">
            <a:off x="2560031" y="5979041"/>
            <a:ext cx="3090" cy="42370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3C6A79-D8EA-4301-97D4-EB6BB4A1483A}"/>
              </a:ext>
            </a:extLst>
          </p:cNvPr>
          <p:cNvSpPr txBox="1"/>
          <p:nvPr/>
        </p:nvSpPr>
        <p:spPr>
          <a:xfrm>
            <a:off x="2403800" y="4363504"/>
            <a:ext cx="354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9E888B-AF2C-4426-A1CA-E84AE17159D6}"/>
                  </a:ext>
                </a:extLst>
              </p:cNvPr>
              <p:cNvSpPr txBox="1"/>
              <p:nvPr/>
            </p:nvSpPr>
            <p:spPr>
              <a:xfrm>
                <a:off x="2386867" y="6334986"/>
                <a:ext cx="3382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9E888B-AF2C-4426-A1CA-E84AE171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867" y="6334986"/>
                <a:ext cx="3382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</p:cNvCxnSpPr>
          <p:nvPr/>
        </p:nvCxnSpPr>
        <p:spPr>
          <a:xfrm>
            <a:off x="3321176" y="5670139"/>
            <a:ext cx="860914" cy="153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7214BD-54A6-40FE-86FC-F2049250C04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560031" y="4743079"/>
            <a:ext cx="338" cy="48781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1551342" y="5420302"/>
                <a:ext cx="342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342" y="5420302"/>
                <a:ext cx="342584" cy="369332"/>
              </a:xfrm>
              <a:prstGeom prst="rect">
                <a:avLst/>
              </a:prstGeom>
              <a:blipFill>
                <a:blip r:embed="rId3"/>
                <a:stretch>
                  <a:fillRect r="-2807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2012952" y="467166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952" y="4671664"/>
                <a:ext cx="255187" cy="369332"/>
              </a:xfrm>
              <a:prstGeom prst="rect">
                <a:avLst/>
              </a:prstGeom>
              <a:blipFill>
                <a:blip r:embed="rId4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4" idx="2"/>
            <a:endCxn id="6" idx="2"/>
          </p:cNvCxnSpPr>
          <p:nvPr/>
        </p:nvCxnSpPr>
        <p:spPr>
          <a:xfrm rot="10800000" flipH="1">
            <a:off x="2185958" y="5012236"/>
            <a:ext cx="284822" cy="592733"/>
          </a:xfrm>
          <a:prstGeom prst="bentConnector3">
            <a:avLst>
              <a:gd name="adj1" fmla="val -80261"/>
            </a:avLst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1901426" y="5821561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426" y="5821561"/>
                <a:ext cx="255187" cy="369332"/>
              </a:xfrm>
              <a:prstGeom prst="rect">
                <a:avLst/>
              </a:prstGeom>
              <a:blipFill>
                <a:blip r:embed="rId5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12976" y="5338914"/>
                <a:ext cx="4641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280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976" y="5338914"/>
                <a:ext cx="46416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3311AA0-2D10-4495-A62A-65D0E4FD44CB}"/>
              </a:ext>
            </a:extLst>
          </p:cNvPr>
          <p:cNvSpPr txBox="1"/>
          <p:nvPr/>
        </p:nvSpPr>
        <p:spPr>
          <a:xfrm>
            <a:off x="3336863" y="5249461"/>
            <a:ext cx="85164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Unroll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4655757" y="5677475"/>
            <a:ext cx="387073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042830" y="5303402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20" idx="6"/>
            <a:endCxn id="22" idx="2"/>
          </p:cNvCxnSpPr>
          <p:nvPr/>
        </p:nvCxnSpPr>
        <p:spPr>
          <a:xfrm>
            <a:off x="5790975" y="5677475"/>
            <a:ext cx="396599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187574" y="5303402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6935719" y="5677475"/>
            <a:ext cx="520960" cy="428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456679" y="5307684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28" idx="6"/>
            <a:endCxn id="30" idx="2"/>
          </p:cNvCxnSpPr>
          <p:nvPr/>
        </p:nvCxnSpPr>
        <p:spPr>
          <a:xfrm>
            <a:off x="8204824" y="5681757"/>
            <a:ext cx="586794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791618" y="5307684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/>
          <p:cNvCxnSpPr>
            <a:endCxn id="20" idx="4"/>
          </p:cNvCxnSpPr>
          <p:nvPr/>
        </p:nvCxnSpPr>
        <p:spPr>
          <a:xfrm flipV="1">
            <a:off x="5416903" y="6051548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0" idx="0"/>
          </p:cNvCxnSpPr>
          <p:nvPr/>
        </p:nvCxnSpPr>
        <p:spPr>
          <a:xfrm flipV="1">
            <a:off x="5416903" y="4878474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2" idx="4"/>
          </p:cNvCxnSpPr>
          <p:nvPr/>
        </p:nvCxnSpPr>
        <p:spPr>
          <a:xfrm flipV="1">
            <a:off x="6561647" y="6051548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2" idx="0"/>
          </p:cNvCxnSpPr>
          <p:nvPr/>
        </p:nvCxnSpPr>
        <p:spPr>
          <a:xfrm flipV="1">
            <a:off x="6561647" y="4878474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8" idx="0"/>
          </p:cNvCxnSpPr>
          <p:nvPr/>
        </p:nvCxnSpPr>
        <p:spPr>
          <a:xfrm flipV="1">
            <a:off x="7830752" y="4870448"/>
            <a:ext cx="7132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0" idx="0"/>
          </p:cNvCxnSpPr>
          <p:nvPr/>
        </p:nvCxnSpPr>
        <p:spPr>
          <a:xfrm flipV="1">
            <a:off x="9165691" y="4870448"/>
            <a:ext cx="7131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28" idx="4"/>
          </p:cNvCxnSpPr>
          <p:nvPr/>
        </p:nvCxnSpPr>
        <p:spPr>
          <a:xfrm flipV="1">
            <a:off x="7830750" y="6055830"/>
            <a:ext cx="2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30" idx="4"/>
          </p:cNvCxnSpPr>
          <p:nvPr/>
        </p:nvCxnSpPr>
        <p:spPr>
          <a:xfrm flipH="1" flipV="1">
            <a:off x="9165691" y="6055830"/>
            <a:ext cx="7131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5214805" y="5492578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805" y="5492578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380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354639" y="5492578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639" y="5492578"/>
                <a:ext cx="255187" cy="369332"/>
              </a:xfrm>
              <a:prstGeom prst="rect">
                <a:avLst/>
              </a:prstGeom>
              <a:blipFill>
                <a:blip r:embed="rId8"/>
                <a:stretch>
                  <a:fillRect r="-404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963721" y="5492578"/>
                <a:ext cx="340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721" y="5492578"/>
                <a:ext cx="340316" cy="369332"/>
              </a:xfrm>
              <a:prstGeom prst="rect">
                <a:avLst/>
              </a:prstGeom>
              <a:blipFill>
                <a:blip r:embed="rId9"/>
                <a:stretch>
                  <a:fillRect r="-5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621801" y="5490848"/>
                <a:ext cx="4380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801" y="5490848"/>
                <a:ext cx="438043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4936645" y="4983406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645" y="4983406"/>
                <a:ext cx="255187" cy="369332"/>
              </a:xfrm>
              <a:prstGeom prst="rect">
                <a:avLst/>
              </a:prstGeom>
              <a:blipFill>
                <a:blip r:embed="rId11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720309" y="498138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309" y="4981384"/>
                <a:ext cx="255187" cy="369332"/>
              </a:xfrm>
              <a:prstGeom prst="rect">
                <a:avLst/>
              </a:prstGeom>
              <a:blipFill>
                <a:blip r:embed="rId12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108159" y="497457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159" y="4974575"/>
                <a:ext cx="255187" cy="369332"/>
              </a:xfrm>
              <a:prstGeom prst="rect">
                <a:avLst/>
              </a:prstGeom>
              <a:blipFill>
                <a:blip r:embed="rId13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329085" y="499914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085" y="4999140"/>
                <a:ext cx="255187" cy="369332"/>
              </a:xfrm>
              <a:prstGeom prst="rect">
                <a:avLst/>
              </a:prstGeom>
              <a:blipFill>
                <a:blip r:embed="rId14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8720309" y="599504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309" y="5995043"/>
                <a:ext cx="255187" cy="369332"/>
              </a:xfrm>
              <a:prstGeom prst="rect">
                <a:avLst/>
              </a:prstGeom>
              <a:blipFill>
                <a:blip r:embed="rId15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7335498" y="600814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498" y="6008144"/>
                <a:ext cx="255187" cy="369332"/>
              </a:xfrm>
              <a:prstGeom prst="rect">
                <a:avLst/>
              </a:prstGeom>
              <a:blipFill>
                <a:blip r:embed="rId16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6078538" y="599504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538" y="599504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4934893" y="598515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893" y="5985150"/>
                <a:ext cx="255187" cy="369332"/>
              </a:xfrm>
              <a:prstGeom prst="rect">
                <a:avLst/>
              </a:prstGeom>
              <a:blipFill>
                <a:blip r:embed="rId18"/>
                <a:stretch>
                  <a:fillRect r="-63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/>
              <p:nvPr/>
            </p:nvSpPr>
            <p:spPr>
              <a:xfrm>
                <a:off x="7684520" y="6413534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520" y="6413534"/>
                <a:ext cx="281423" cy="276999"/>
              </a:xfrm>
              <a:prstGeom prst="rect">
                <a:avLst/>
              </a:prstGeom>
              <a:blipFill>
                <a:blip r:embed="rId19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/>
              <p:nvPr/>
            </p:nvSpPr>
            <p:spPr>
              <a:xfrm>
                <a:off x="9121957" y="6398983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957" y="6398983"/>
                <a:ext cx="281423" cy="276999"/>
              </a:xfrm>
              <a:prstGeom prst="rect">
                <a:avLst/>
              </a:prstGeom>
              <a:blipFill>
                <a:blip r:embed="rId20"/>
                <a:stretch>
                  <a:fillRect l="-12766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/>
              <p:nvPr/>
            </p:nvSpPr>
            <p:spPr>
              <a:xfrm>
                <a:off x="5214256" y="6417076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256" y="6417076"/>
                <a:ext cx="276101" cy="276999"/>
              </a:xfrm>
              <a:prstGeom prst="rect">
                <a:avLst/>
              </a:prstGeom>
              <a:blipFill>
                <a:blip r:embed="rId21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/>
              <p:nvPr/>
            </p:nvSpPr>
            <p:spPr>
              <a:xfrm>
                <a:off x="6469114" y="641124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114" y="6411243"/>
                <a:ext cx="281424" cy="276999"/>
              </a:xfrm>
              <a:prstGeom prst="rect">
                <a:avLst/>
              </a:prstGeom>
              <a:blipFill>
                <a:blip r:embed="rId22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5190080" y="4484146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080" y="4484146"/>
                <a:ext cx="255187" cy="369332"/>
              </a:xfrm>
              <a:prstGeom prst="rect">
                <a:avLst/>
              </a:prstGeom>
              <a:blipFill>
                <a:blip r:embed="rId23"/>
                <a:stretch>
                  <a:fillRect r="-52381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354639" y="4492897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639" y="4492897"/>
                <a:ext cx="395899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834441" y="4484146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441" y="4484146"/>
                <a:ext cx="395899" cy="369332"/>
              </a:xfrm>
              <a:prstGeom prst="rect">
                <a:avLst/>
              </a:prstGeom>
              <a:blipFill>
                <a:blip r:embed="rId2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592347" y="4492411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347" y="4492411"/>
                <a:ext cx="39589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/>
              <p:nvPr/>
            </p:nvSpPr>
            <p:spPr>
              <a:xfrm>
                <a:off x="4681854" y="5379934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854" y="5379934"/>
                <a:ext cx="288477" cy="276999"/>
              </a:xfrm>
              <a:prstGeom prst="rect">
                <a:avLst/>
              </a:prstGeom>
              <a:blipFill>
                <a:blip r:embed="rId27"/>
                <a:stretch>
                  <a:fillRect l="-21277" r="-851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/>
              <p:nvPr/>
            </p:nvSpPr>
            <p:spPr>
              <a:xfrm>
                <a:off x="5921297" y="53739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297" y="5373981"/>
                <a:ext cx="288477" cy="276999"/>
              </a:xfrm>
              <a:prstGeom prst="rect">
                <a:avLst/>
              </a:prstGeom>
              <a:blipFill>
                <a:blip r:embed="rId28"/>
                <a:stretch>
                  <a:fillRect l="-18750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26D038-0DC2-4C1B-9ACB-3E8CBDA4D8ED}"/>
                  </a:ext>
                </a:extLst>
              </p:cNvPr>
              <p:cNvSpPr txBox="1"/>
              <p:nvPr/>
            </p:nvSpPr>
            <p:spPr>
              <a:xfrm>
                <a:off x="5810349" y="567551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26D038-0DC2-4C1B-9ACB-3E8CBDA4D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349" y="5675514"/>
                <a:ext cx="255187" cy="369332"/>
              </a:xfrm>
              <a:prstGeom prst="rect">
                <a:avLst/>
              </a:prstGeom>
              <a:blipFill>
                <a:blip r:embed="rId29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/>
              <p:nvPr/>
            </p:nvSpPr>
            <p:spPr>
              <a:xfrm>
                <a:off x="7005883" y="5343598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83" y="5343598"/>
                <a:ext cx="288477" cy="276999"/>
              </a:xfrm>
              <a:prstGeom prst="rect">
                <a:avLst/>
              </a:prstGeom>
              <a:blipFill>
                <a:blip r:embed="rId30"/>
                <a:stretch>
                  <a:fillRect l="-2083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8293287" y="5354078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287" y="5354078"/>
                <a:ext cx="288477" cy="276999"/>
              </a:xfrm>
              <a:prstGeom prst="rect">
                <a:avLst/>
              </a:prstGeom>
              <a:blipFill>
                <a:blip r:embed="rId31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F9E0204-680C-4C91-ACA0-A99C251263DD}"/>
                  </a:ext>
                </a:extLst>
              </p:cNvPr>
              <p:cNvSpPr txBox="1"/>
              <p:nvPr/>
            </p:nvSpPr>
            <p:spPr>
              <a:xfrm>
                <a:off x="7058304" y="5658806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F9E0204-680C-4C91-ACA0-A99C25126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304" y="5658806"/>
                <a:ext cx="255187" cy="369332"/>
              </a:xfrm>
              <a:prstGeom prst="rect">
                <a:avLst/>
              </a:prstGeom>
              <a:blipFill>
                <a:blip r:embed="rId32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/>
              <p:nvPr/>
            </p:nvSpPr>
            <p:spPr>
              <a:xfrm>
                <a:off x="8259342" y="565333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342" y="5653335"/>
                <a:ext cx="255187" cy="369332"/>
              </a:xfrm>
              <a:prstGeom prst="rect">
                <a:avLst/>
              </a:prstGeom>
              <a:blipFill>
                <a:blip r:embed="rId33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</p:cNvCxnSpPr>
          <p:nvPr/>
        </p:nvCxnSpPr>
        <p:spPr>
          <a:xfrm>
            <a:off x="9539763" y="5681757"/>
            <a:ext cx="690842" cy="500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9643811" y="5342195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811" y="5342195"/>
                <a:ext cx="288477" cy="276999"/>
              </a:xfrm>
              <a:prstGeom prst="rect">
                <a:avLst/>
              </a:prstGeom>
              <a:blipFill>
                <a:blip r:embed="rId34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/>
              <p:nvPr/>
            </p:nvSpPr>
            <p:spPr>
              <a:xfrm>
                <a:off x="9569876" y="5684258"/>
                <a:ext cx="151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876" y="5684258"/>
                <a:ext cx="151139" cy="369332"/>
              </a:xfrm>
              <a:prstGeom prst="rect">
                <a:avLst/>
              </a:prstGeom>
              <a:blipFill>
                <a:blip r:embed="rId35"/>
                <a:stretch>
                  <a:fillRect l="-4000" r="-18000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9662" y="1427000"/>
            <a:ext cx="11150600" cy="307607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altLang="en-US" sz="3200" dirty="0">
                <a:latin typeface="Arial Narrow" panose="020B0606020202030204" pitchFamily="34" charset="0"/>
              </a:rPr>
              <a:t>Backpropagation Through Time (BPTT) is the training algorithm used for Recurrent Neural Networks (RNNs), where the </a:t>
            </a:r>
            <a:r>
              <a:rPr lang="en-US" altLang="en-US" sz="3200" dirty="0">
                <a:solidFill>
                  <a:srgbClr val="00B0F0"/>
                </a:solidFill>
                <a:latin typeface="Arial Narrow" panose="020B0606020202030204" pitchFamily="34" charset="0"/>
              </a:rPr>
              <a:t>network is unfolded across multiple time steps </a:t>
            </a:r>
            <a:r>
              <a:rPr lang="en-US" altLang="en-US" sz="3200" dirty="0">
                <a:latin typeface="Arial Narrow" panose="020B0606020202030204" pitchFamily="34" charset="0"/>
              </a:rPr>
              <a:t>to form a deep computational graph. </a:t>
            </a:r>
          </a:p>
          <a:p>
            <a:pPr algn="just">
              <a:lnSpc>
                <a:spcPct val="120000"/>
              </a:lnSpc>
            </a:pPr>
            <a:endParaRPr lang="en-US" altLang="en-US" sz="3200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3200" dirty="0">
                <a:latin typeface="Arial Narrow" panose="020B0606020202030204" pitchFamily="34" charset="0"/>
              </a:rPr>
              <a:t>During the </a:t>
            </a:r>
            <a:r>
              <a:rPr lang="en-US" altLang="en-US" sz="3200" dirty="0">
                <a:solidFill>
                  <a:srgbClr val="00B0F0"/>
                </a:solidFill>
                <a:latin typeface="Arial Narrow" panose="020B0606020202030204" pitchFamily="34" charset="0"/>
              </a:rPr>
              <a:t>forward pass</a:t>
            </a:r>
            <a:r>
              <a:rPr lang="en-US" altLang="en-US" sz="3200" dirty="0">
                <a:latin typeface="Arial Narrow" panose="020B0606020202030204" pitchFamily="34" charset="0"/>
              </a:rPr>
              <a:t>, the </a:t>
            </a:r>
            <a:r>
              <a:rPr lang="en-US" altLang="en-US" sz="3200" dirty="0">
                <a:solidFill>
                  <a:srgbClr val="00B0F0"/>
                </a:solidFill>
                <a:latin typeface="Arial Narrow" panose="020B0606020202030204" pitchFamily="34" charset="0"/>
              </a:rPr>
              <a:t>hidden state is updated sequentially using the current input and the previous hidden state</a:t>
            </a:r>
            <a:r>
              <a:rPr lang="en-US" altLang="en-US" sz="3200" dirty="0">
                <a:latin typeface="Arial Narrow" panose="020B0606020202030204" pitchFamily="34" charset="0"/>
              </a:rPr>
              <a:t>, allowing the network to </a:t>
            </a:r>
            <a:r>
              <a:rPr lang="en-US" altLang="en-US" sz="3200" dirty="0">
                <a:solidFill>
                  <a:srgbClr val="00B0F0"/>
                </a:solidFill>
                <a:latin typeface="Arial Narrow" panose="020B0606020202030204" pitchFamily="34" charset="0"/>
              </a:rPr>
              <a:t>capture temporal dependencies</a:t>
            </a:r>
            <a:r>
              <a:rPr lang="en-US" altLang="en-US" sz="3200" dirty="0">
                <a:latin typeface="Arial Narrow" panose="020B0606020202030204" pitchFamily="34" charset="0"/>
              </a:rPr>
              <a:t>. 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altLang="en-US" sz="3200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3200" dirty="0">
                <a:latin typeface="Arial Narrow" panose="020B0606020202030204" pitchFamily="34" charset="0"/>
              </a:rPr>
              <a:t>In the </a:t>
            </a:r>
            <a:r>
              <a:rPr lang="en-US" altLang="en-US" sz="3200" dirty="0">
                <a:solidFill>
                  <a:srgbClr val="00B0F0"/>
                </a:solidFill>
                <a:latin typeface="Arial Narrow" panose="020B0606020202030204" pitchFamily="34" charset="0"/>
              </a:rPr>
              <a:t>backward pass</a:t>
            </a:r>
            <a:r>
              <a:rPr lang="en-US" altLang="en-US" sz="3200" dirty="0">
                <a:latin typeface="Arial Narrow" panose="020B0606020202030204" pitchFamily="34" charset="0"/>
              </a:rPr>
              <a:t>, the </a:t>
            </a:r>
            <a:r>
              <a:rPr lang="en-US" altLang="en-US" sz="3200" dirty="0">
                <a:solidFill>
                  <a:srgbClr val="00B0F0"/>
                </a:solidFill>
                <a:latin typeface="Arial Narrow" panose="020B0606020202030204" pitchFamily="34" charset="0"/>
              </a:rPr>
              <a:t>error is propagated from the final time step back through each preceding time step using the chain rule</a:t>
            </a:r>
            <a:r>
              <a:rPr lang="en-US" altLang="en-US" sz="3200" dirty="0">
                <a:latin typeface="Arial Narrow" panose="020B0606020202030204" pitchFamily="34" charset="0"/>
              </a:rPr>
              <a:t>. </a:t>
            </a:r>
          </a:p>
          <a:p>
            <a:endParaRPr lang="en-US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20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924" y="153682"/>
            <a:ext cx="10515600" cy="1054660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2185958" y="5230895"/>
            <a:ext cx="748145" cy="748146"/>
          </a:xfrm>
          <a:prstGeom prst="ellipse">
            <a:avLst/>
          </a:prstGeom>
          <a:solidFill>
            <a:srgbClr val="92D050">
              <a:alpha val="42000"/>
            </a:srgbClr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Elbow Connector 4"/>
          <p:cNvCxnSpPr>
            <a:stCxn id="4" idx="6"/>
            <a:endCxn id="6" idx="0"/>
          </p:cNvCxnSpPr>
          <p:nvPr/>
        </p:nvCxnSpPr>
        <p:spPr>
          <a:xfrm flipH="1" flipV="1">
            <a:off x="2650854" y="5006123"/>
            <a:ext cx="283249" cy="598845"/>
          </a:xfrm>
          <a:prstGeom prst="bentConnector4">
            <a:avLst>
              <a:gd name="adj1" fmla="val -80706"/>
              <a:gd name="adj2" fmla="val 100449"/>
            </a:avLst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c 5">
            <a:extLst>
              <a:ext uri="{FF2B5EF4-FFF2-40B4-BE49-F238E27FC236}">
                <a16:creationId xmlns:a16="http://schemas.microsoft.com/office/drawing/2014/main" id="{EC02A7E6-C0AB-4221-B5D5-56929376C037}"/>
              </a:ext>
            </a:extLst>
          </p:cNvPr>
          <p:cNvSpPr/>
          <p:nvPr/>
        </p:nvSpPr>
        <p:spPr>
          <a:xfrm rot="7739477">
            <a:off x="2427006" y="4784364"/>
            <a:ext cx="236107" cy="272231"/>
          </a:xfrm>
          <a:prstGeom prst="arc">
            <a:avLst/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37F227-A3AD-4027-A4F9-01B5993A962E}"/>
              </a:ext>
            </a:extLst>
          </p:cNvPr>
          <p:cNvCxnSpPr>
            <a:cxnSpLocks/>
            <a:endCxn id="4" idx="4"/>
          </p:cNvCxnSpPr>
          <p:nvPr/>
        </p:nvCxnSpPr>
        <p:spPr>
          <a:xfrm flipH="1" flipV="1">
            <a:off x="2560031" y="5979041"/>
            <a:ext cx="3090" cy="42370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3C6A79-D8EA-4301-97D4-EB6BB4A1483A}"/>
              </a:ext>
            </a:extLst>
          </p:cNvPr>
          <p:cNvSpPr txBox="1"/>
          <p:nvPr/>
        </p:nvSpPr>
        <p:spPr>
          <a:xfrm>
            <a:off x="2403800" y="4363504"/>
            <a:ext cx="354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9E888B-AF2C-4426-A1CA-E84AE17159D6}"/>
                  </a:ext>
                </a:extLst>
              </p:cNvPr>
              <p:cNvSpPr txBox="1"/>
              <p:nvPr/>
            </p:nvSpPr>
            <p:spPr>
              <a:xfrm>
                <a:off x="2386867" y="6334986"/>
                <a:ext cx="3382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9E888B-AF2C-4426-A1CA-E84AE1715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867" y="6334986"/>
                <a:ext cx="33826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</p:cNvCxnSpPr>
          <p:nvPr/>
        </p:nvCxnSpPr>
        <p:spPr>
          <a:xfrm>
            <a:off x="3321176" y="5670139"/>
            <a:ext cx="860914" cy="153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7214BD-54A6-40FE-86FC-F2049250C049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560031" y="4743079"/>
            <a:ext cx="338" cy="48781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1551342" y="5420302"/>
                <a:ext cx="342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342" y="5420302"/>
                <a:ext cx="342584" cy="369332"/>
              </a:xfrm>
              <a:prstGeom prst="rect">
                <a:avLst/>
              </a:prstGeom>
              <a:blipFill>
                <a:blip r:embed="rId3"/>
                <a:stretch>
                  <a:fillRect r="-2807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2012952" y="467166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952" y="4671664"/>
                <a:ext cx="255187" cy="369332"/>
              </a:xfrm>
              <a:prstGeom prst="rect">
                <a:avLst/>
              </a:prstGeom>
              <a:blipFill>
                <a:blip r:embed="rId4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4" idx="2"/>
            <a:endCxn id="6" idx="2"/>
          </p:cNvCxnSpPr>
          <p:nvPr/>
        </p:nvCxnSpPr>
        <p:spPr>
          <a:xfrm rot="10800000" flipH="1">
            <a:off x="2185958" y="5012236"/>
            <a:ext cx="284822" cy="592733"/>
          </a:xfrm>
          <a:prstGeom prst="bentConnector3">
            <a:avLst>
              <a:gd name="adj1" fmla="val -80261"/>
            </a:avLst>
          </a:prstGeom>
          <a:ln w="1905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1901426" y="5821561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426" y="5821561"/>
                <a:ext cx="255187" cy="369332"/>
              </a:xfrm>
              <a:prstGeom prst="rect">
                <a:avLst/>
              </a:prstGeom>
              <a:blipFill>
                <a:blip r:embed="rId5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12976" y="5338914"/>
                <a:ext cx="4641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N" sz="2800" dirty="0">
                  <a:latin typeface="Arial Narrow" panose="020B0606020202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976" y="5338914"/>
                <a:ext cx="46416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3311AA0-2D10-4495-A62A-65D0E4FD44CB}"/>
              </a:ext>
            </a:extLst>
          </p:cNvPr>
          <p:cNvSpPr txBox="1"/>
          <p:nvPr/>
        </p:nvSpPr>
        <p:spPr>
          <a:xfrm>
            <a:off x="3336863" y="5249461"/>
            <a:ext cx="85164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Unroll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4655757" y="5677475"/>
            <a:ext cx="387073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042830" y="5303402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20" idx="6"/>
            <a:endCxn id="22" idx="2"/>
          </p:cNvCxnSpPr>
          <p:nvPr/>
        </p:nvCxnSpPr>
        <p:spPr>
          <a:xfrm>
            <a:off x="5790975" y="5677475"/>
            <a:ext cx="396599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187574" y="5303402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6935719" y="5677475"/>
            <a:ext cx="520960" cy="428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456679" y="5307684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28" idx="6"/>
            <a:endCxn id="30" idx="2"/>
          </p:cNvCxnSpPr>
          <p:nvPr/>
        </p:nvCxnSpPr>
        <p:spPr>
          <a:xfrm>
            <a:off x="8204824" y="5681757"/>
            <a:ext cx="586794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791618" y="5307684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/>
          <p:cNvCxnSpPr>
            <a:endCxn id="20" idx="4"/>
          </p:cNvCxnSpPr>
          <p:nvPr/>
        </p:nvCxnSpPr>
        <p:spPr>
          <a:xfrm flipV="1">
            <a:off x="5416903" y="6051548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0" idx="0"/>
          </p:cNvCxnSpPr>
          <p:nvPr/>
        </p:nvCxnSpPr>
        <p:spPr>
          <a:xfrm flipV="1">
            <a:off x="5416903" y="4878474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2" idx="4"/>
          </p:cNvCxnSpPr>
          <p:nvPr/>
        </p:nvCxnSpPr>
        <p:spPr>
          <a:xfrm flipV="1">
            <a:off x="6561647" y="6051548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2" idx="0"/>
          </p:cNvCxnSpPr>
          <p:nvPr/>
        </p:nvCxnSpPr>
        <p:spPr>
          <a:xfrm flipV="1">
            <a:off x="6561647" y="4878474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8" idx="0"/>
          </p:cNvCxnSpPr>
          <p:nvPr/>
        </p:nvCxnSpPr>
        <p:spPr>
          <a:xfrm flipV="1">
            <a:off x="7830752" y="4870448"/>
            <a:ext cx="7132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0" idx="0"/>
          </p:cNvCxnSpPr>
          <p:nvPr/>
        </p:nvCxnSpPr>
        <p:spPr>
          <a:xfrm flipV="1">
            <a:off x="9165691" y="4870448"/>
            <a:ext cx="7131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28" idx="4"/>
          </p:cNvCxnSpPr>
          <p:nvPr/>
        </p:nvCxnSpPr>
        <p:spPr>
          <a:xfrm flipV="1">
            <a:off x="7830750" y="6055830"/>
            <a:ext cx="2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30" idx="4"/>
          </p:cNvCxnSpPr>
          <p:nvPr/>
        </p:nvCxnSpPr>
        <p:spPr>
          <a:xfrm flipH="1" flipV="1">
            <a:off x="9165691" y="6055830"/>
            <a:ext cx="7131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5214805" y="5492578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805" y="5492578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380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354639" y="5492578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639" y="5492578"/>
                <a:ext cx="255187" cy="369332"/>
              </a:xfrm>
              <a:prstGeom prst="rect">
                <a:avLst/>
              </a:prstGeom>
              <a:blipFill>
                <a:blip r:embed="rId8"/>
                <a:stretch>
                  <a:fillRect r="-404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963721" y="5492578"/>
                <a:ext cx="340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721" y="5492578"/>
                <a:ext cx="340316" cy="369332"/>
              </a:xfrm>
              <a:prstGeom prst="rect">
                <a:avLst/>
              </a:prstGeom>
              <a:blipFill>
                <a:blip r:embed="rId9"/>
                <a:stretch>
                  <a:fillRect r="-5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621801" y="5490848"/>
                <a:ext cx="4380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801" y="5490848"/>
                <a:ext cx="438043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4936645" y="4983406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645" y="4983406"/>
                <a:ext cx="255187" cy="369332"/>
              </a:xfrm>
              <a:prstGeom prst="rect">
                <a:avLst/>
              </a:prstGeom>
              <a:blipFill>
                <a:blip r:embed="rId11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720309" y="498138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309" y="4981384"/>
                <a:ext cx="255187" cy="369332"/>
              </a:xfrm>
              <a:prstGeom prst="rect">
                <a:avLst/>
              </a:prstGeom>
              <a:blipFill>
                <a:blip r:embed="rId12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108159" y="497457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159" y="4974575"/>
                <a:ext cx="255187" cy="369332"/>
              </a:xfrm>
              <a:prstGeom prst="rect">
                <a:avLst/>
              </a:prstGeom>
              <a:blipFill>
                <a:blip r:embed="rId13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329085" y="499914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085" y="4999140"/>
                <a:ext cx="255187" cy="369332"/>
              </a:xfrm>
              <a:prstGeom prst="rect">
                <a:avLst/>
              </a:prstGeom>
              <a:blipFill>
                <a:blip r:embed="rId14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8720309" y="599504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309" y="5995043"/>
                <a:ext cx="255187" cy="369332"/>
              </a:xfrm>
              <a:prstGeom prst="rect">
                <a:avLst/>
              </a:prstGeom>
              <a:blipFill>
                <a:blip r:embed="rId15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7335498" y="600814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498" y="6008144"/>
                <a:ext cx="255187" cy="369332"/>
              </a:xfrm>
              <a:prstGeom prst="rect">
                <a:avLst/>
              </a:prstGeom>
              <a:blipFill>
                <a:blip r:embed="rId16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6078538" y="599504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538" y="5995043"/>
                <a:ext cx="255187" cy="369332"/>
              </a:xfrm>
              <a:prstGeom prst="rect">
                <a:avLst/>
              </a:prstGeom>
              <a:blipFill>
                <a:blip r:embed="rId17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4934893" y="598515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893" y="5985150"/>
                <a:ext cx="255187" cy="369332"/>
              </a:xfrm>
              <a:prstGeom prst="rect">
                <a:avLst/>
              </a:prstGeom>
              <a:blipFill>
                <a:blip r:embed="rId18"/>
                <a:stretch>
                  <a:fillRect r="-63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/>
              <p:nvPr/>
            </p:nvSpPr>
            <p:spPr>
              <a:xfrm>
                <a:off x="7684520" y="6413534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520" y="6413534"/>
                <a:ext cx="281423" cy="276999"/>
              </a:xfrm>
              <a:prstGeom prst="rect">
                <a:avLst/>
              </a:prstGeom>
              <a:blipFill>
                <a:blip r:embed="rId19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/>
              <p:nvPr/>
            </p:nvSpPr>
            <p:spPr>
              <a:xfrm>
                <a:off x="9121957" y="6398983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957" y="6398983"/>
                <a:ext cx="281423" cy="276999"/>
              </a:xfrm>
              <a:prstGeom prst="rect">
                <a:avLst/>
              </a:prstGeom>
              <a:blipFill>
                <a:blip r:embed="rId20"/>
                <a:stretch>
                  <a:fillRect l="-12766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/>
              <p:nvPr/>
            </p:nvSpPr>
            <p:spPr>
              <a:xfrm>
                <a:off x="5214256" y="6417076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256" y="6417076"/>
                <a:ext cx="276101" cy="276999"/>
              </a:xfrm>
              <a:prstGeom prst="rect">
                <a:avLst/>
              </a:prstGeom>
              <a:blipFill>
                <a:blip r:embed="rId21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/>
              <p:nvPr/>
            </p:nvSpPr>
            <p:spPr>
              <a:xfrm>
                <a:off x="6469114" y="6411243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114" y="6411243"/>
                <a:ext cx="281424" cy="276999"/>
              </a:xfrm>
              <a:prstGeom prst="rect">
                <a:avLst/>
              </a:prstGeom>
              <a:blipFill>
                <a:blip r:embed="rId22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5190080" y="4484146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080" y="4484146"/>
                <a:ext cx="255187" cy="369332"/>
              </a:xfrm>
              <a:prstGeom prst="rect">
                <a:avLst/>
              </a:prstGeom>
              <a:blipFill>
                <a:blip r:embed="rId23"/>
                <a:stretch>
                  <a:fillRect r="-52381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354639" y="4492897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639" y="4492897"/>
                <a:ext cx="395899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834441" y="4484146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4441" y="4484146"/>
                <a:ext cx="395899" cy="369332"/>
              </a:xfrm>
              <a:prstGeom prst="rect">
                <a:avLst/>
              </a:prstGeom>
              <a:blipFill>
                <a:blip r:embed="rId2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592347" y="4492411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347" y="4492411"/>
                <a:ext cx="395899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/>
              <p:nvPr/>
            </p:nvSpPr>
            <p:spPr>
              <a:xfrm>
                <a:off x="4681854" y="5379934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854" y="5379934"/>
                <a:ext cx="288477" cy="276999"/>
              </a:xfrm>
              <a:prstGeom prst="rect">
                <a:avLst/>
              </a:prstGeom>
              <a:blipFill>
                <a:blip r:embed="rId27"/>
                <a:stretch>
                  <a:fillRect l="-21277" r="-851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/>
              <p:nvPr/>
            </p:nvSpPr>
            <p:spPr>
              <a:xfrm>
                <a:off x="5921297" y="5373981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297" y="5373981"/>
                <a:ext cx="288477" cy="276999"/>
              </a:xfrm>
              <a:prstGeom prst="rect">
                <a:avLst/>
              </a:prstGeom>
              <a:blipFill>
                <a:blip r:embed="rId28"/>
                <a:stretch>
                  <a:fillRect l="-18750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26D038-0DC2-4C1B-9ACB-3E8CBDA4D8ED}"/>
                  </a:ext>
                </a:extLst>
              </p:cNvPr>
              <p:cNvSpPr txBox="1"/>
              <p:nvPr/>
            </p:nvSpPr>
            <p:spPr>
              <a:xfrm>
                <a:off x="5810349" y="567551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926D038-0DC2-4C1B-9ACB-3E8CBDA4D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349" y="5675514"/>
                <a:ext cx="255187" cy="369332"/>
              </a:xfrm>
              <a:prstGeom prst="rect">
                <a:avLst/>
              </a:prstGeom>
              <a:blipFill>
                <a:blip r:embed="rId29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/>
              <p:nvPr/>
            </p:nvSpPr>
            <p:spPr>
              <a:xfrm>
                <a:off x="7005883" y="5343598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883" y="5343598"/>
                <a:ext cx="288477" cy="276999"/>
              </a:xfrm>
              <a:prstGeom prst="rect">
                <a:avLst/>
              </a:prstGeom>
              <a:blipFill>
                <a:blip r:embed="rId30"/>
                <a:stretch>
                  <a:fillRect l="-2083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8293287" y="5354078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287" y="5354078"/>
                <a:ext cx="288477" cy="276999"/>
              </a:xfrm>
              <a:prstGeom prst="rect">
                <a:avLst/>
              </a:prstGeom>
              <a:blipFill>
                <a:blip r:embed="rId31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F9E0204-680C-4C91-ACA0-A99C251263DD}"/>
                  </a:ext>
                </a:extLst>
              </p:cNvPr>
              <p:cNvSpPr txBox="1"/>
              <p:nvPr/>
            </p:nvSpPr>
            <p:spPr>
              <a:xfrm>
                <a:off x="7058304" y="5658806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F9E0204-680C-4C91-ACA0-A99C25126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304" y="5658806"/>
                <a:ext cx="255187" cy="369332"/>
              </a:xfrm>
              <a:prstGeom prst="rect">
                <a:avLst/>
              </a:prstGeom>
              <a:blipFill>
                <a:blip r:embed="rId32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/>
              <p:nvPr/>
            </p:nvSpPr>
            <p:spPr>
              <a:xfrm>
                <a:off x="8259342" y="565333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342" y="5653335"/>
                <a:ext cx="255187" cy="369332"/>
              </a:xfrm>
              <a:prstGeom prst="rect">
                <a:avLst/>
              </a:prstGeom>
              <a:blipFill>
                <a:blip r:embed="rId33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</p:cNvCxnSpPr>
          <p:nvPr/>
        </p:nvCxnSpPr>
        <p:spPr>
          <a:xfrm>
            <a:off x="9539763" y="5681757"/>
            <a:ext cx="690842" cy="500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9643811" y="5342195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811" y="5342195"/>
                <a:ext cx="288477" cy="276999"/>
              </a:xfrm>
              <a:prstGeom prst="rect">
                <a:avLst/>
              </a:prstGeom>
              <a:blipFill>
                <a:blip r:embed="rId34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/>
              <p:nvPr/>
            </p:nvSpPr>
            <p:spPr>
              <a:xfrm>
                <a:off x="9569876" y="5684258"/>
                <a:ext cx="151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876" y="5684258"/>
                <a:ext cx="151139" cy="369332"/>
              </a:xfrm>
              <a:prstGeom prst="rect">
                <a:avLst/>
              </a:prstGeom>
              <a:blipFill>
                <a:blip r:embed="rId35"/>
                <a:stretch>
                  <a:fillRect l="-4000" r="-18000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2859" y="1509657"/>
            <a:ext cx="11150600" cy="277291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altLang="en-US" sz="2900" dirty="0">
                <a:latin typeface="Arial Narrow" panose="020B0606020202030204" pitchFamily="34" charset="0"/>
              </a:rPr>
              <a:t>Since the </a:t>
            </a:r>
            <a:r>
              <a:rPr lang="en-US" altLang="en-US" sz="2900" dirty="0">
                <a:solidFill>
                  <a:srgbClr val="00B0F0"/>
                </a:solidFill>
                <a:latin typeface="Arial Narrow" panose="020B0606020202030204" pitchFamily="34" charset="0"/>
              </a:rPr>
              <a:t>same weights are shared across all time steps</a:t>
            </a:r>
            <a:r>
              <a:rPr lang="en-US" altLang="en-US" sz="2900" dirty="0">
                <a:latin typeface="Arial Narrow" panose="020B0606020202030204" pitchFamily="34" charset="0"/>
              </a:rPr>
              <a:t>, the gradients computed at each step are accumulated before updating the parameters using </a:t>
            </a:r>
            <a:r>
              <a:rPr lang="en-US" altLang="en-US" sz="2900" dirty="0">
                <a:solidFill>
                  <a:srgbClr val="00B0F0"/>
                </a:solidFill>
                <a:latin typeface="Arial Narrow" panose="020B0606020202030204" pitchFamily="34" charset="0"/>
              </a:rPr>
              <a:t>gradient descent or its variants</a:t>
            </a:r>
            <a:r>
              <a:rPr lang="en-US" altLang="en-US" sz="2900" dirty="0">
                <a:latin typeface="Arial Narrow" panose="020B060602020203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endParaRPr lang="en-US" altLang="en-US" sz="2900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en-US" sz="2900" dirty="0">
                <a:solidFill>
                  <a:srgbClr val="00B0F0"/>
                </a:solidFill>
                <a:latin typeface="Arial Narrow" panose="020B0606020202030204" pitchFamily="34" charset="0"/>
              </a:rPr>
              <a:t>BPTT enables RNNs to learn patterns in sequential data </a:t>
            </a:r>
            <a:r>
              <a:rPr lang="en-US" altLang="en-US" sz="2900" dirty="0">
                <a:latin typeface="Arial Narrow" panose="020B0606020202030204" pitchFamily="34" charset="0"/>
              </a:rPr>
              <a:t>such as text, speech, and time-series signals.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altLang="en-US" sz="2900" dirty="0">
              <a:latin typeface="Arial Narrow" panose="020B060602020203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GB" sz="2900" dirty="0">
                <a:latin typeface="Arial Narrow" panose="020B0606020202030204" pitchFamily="34" charset="0"/>
                <a:cs typeface="Times New Roman" panose="02020603050405020304" pitchFamily="18" charset="0"/>
              </a:rPr>
              <a:t>Example: RNN </a:t>
            </a:r>
            <a:r>
              <a:rPr lang="en-IN" sz="2900" dirty="0">
                <a:latin typeface="Arial Narrow" panose="020B0606020202030204" pitchFamily="34" charset="0"/>
                <a:cs typeface="Times New Roman" panose="02020603050405020304" pitchFamily="18" charset="0"/>
              </a:rPr>
              <a:t>having 4 nodes (T=4) with shared weights.</a:t>
            </a:r>
            <a:endParaRPr lang="en-US" alt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8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5756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995" y="1988146"/>
            <a:ext cx="10515600" cy="1499466"/>
          </a:xfrm>
        </p:spPr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Consider an RNN with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four recurrent nodes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shared weights, </a:t>
            </a:r>
            <a:r>
              <a:rPr lang="en-US" dirty="0">
                <a:latin typeface="Arial Narrow" panose="020B0606020202030204" pitchFamily="34" charset="0"/>
              </a:rPr>
              <a:t>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Softmax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layer</a:t>
            </a:r>
            <a:r>
              <a:rPr lang="en-US" dirty="0">
                <a:latin typeface="Arial Narrow" panose="020B0606020202030204" pitchFamily="34" charset="0"/>
              </a:rPr>
              <a:t>, and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Cross-Entropy loss function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IN" dirty="0">
              <a:latin typeface="Arial Narrow" panose="020B0606020202030204" pitchFamily="34" charset="0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864369" y="3628024"/>
            <a:ext cx="5574848" cy="2209929"/>
            <a:chOff x="4988444" y="4202776"/>
            <a:chExt cx="5574848" cy="2209929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4988444" y="5396105"/>
              <a:ext cx="387073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5375517" y="5022032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>
              <a:off x="6123662" y="5396105"/>
              <a:ext cx="396599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6520261" y="5022032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268406" y="5396105"/>
              <a:ext cx="520960" cy="428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7789366" y="5026314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8537511" y="5400387"/>
              <a:ext cx="586794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9124305" y="5026314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" name="Straight Arrow Connector 11"/>
            <p:cNvCxnSpPr>
              <a:endCxn id="5" idx="4"/>
            </p:cNvCxnSpPr>
            <p:nvPr/>
          </p:nvCxnSpPr>
          <p:spPr>
            <a:xfrm flipV="1">
              <a:off x="5749590" y="5770178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0"/>
            </p:cNvCxnSpPr>
            <p:nvPr/>
          </p:nvCxnSpPr>
          <p:spPr>
            <a:xfrm flipV="1">
              <a:off x="5749590" y="4597104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7" idx="4"/>
            </p:cNvCxnSpPr>
            <p:nvPr/>
          </p:nvCxnSpPr>
          <p:spPr>
            <a:xfrm flipV="1">
              <a:off x="6894334" y="5770178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7" idx="0"/>
            </p:cNvCxnSpPr>
            <p:nvPr/>
          </p:nvCxnSpPr>
          <p:spPr>
            <a:xfrm flipV="1">
              <a:off x="6894334" y="4597104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0"/>
            </p:cNvCxnSpPr>
            <p:nvPr/>
          </p:nvCxnSpPr>
          <p:spPr>
            <a:xfrm flipV="1">
              <a:off x="8163439" y="4589078"/>
              <a:ext cx="7132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0"/>
            </p:cNvCxnSpPr>
            <p:nvPr/>
          </p:nvCxnSpPr>
          <p:spPr>
            <a:xfrm flipV="1">
              <a:off x="9498378" y="4589078"/>
              <a:ext cx="7131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9" idx="4"/>
            </p:cNvCxnSpPr>
            <p:nvPr/>
          </p:nvCxnSpPr>
          <p:spPr>
            <a:xfrm flipV="1">
              <a:off x="8163437" y="5774460"/>
              <a:ext cx="2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1" idx="4"/>
            </p:cNvCxnSpPr>
            <p:nvPr/>
          </p:nvCxnSpPr>
          <p:spPr>
            <a:xfrm flipH="1" flipV="1">
              <a:off x="9498378" y="5774460"/>
              <a:ext cx="7131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547492" y="521120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492" y="5211208"/>
                  <a:ext cx="255187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39024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687326" y="521120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7326" y="5211208"/>
                  <a:ext cx="25518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41463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296408" y="5211208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6408" y="5211208"/>
                  <a:ext cx="34031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5455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954488" y="5209478"/>
                  <a:ext cx="438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4488" y="5209478"/>
                  <a:ext cx="4380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269332" y="470203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9332" y="4702036"/>
                  <a:ext cx="255187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052996" y="470001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2996" y="4700014"/>
                  <a:ext cx="25518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609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440846" y="4693205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0846" y="4693205"/>
                  <a:ext cx="25518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661772" y="471777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1772" y="4717770"/>
                  <a:ext cx="25518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9052996" y="5713673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2996" y="5713673"/>
                  <a:ext cx="255187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6341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7668185" y="572677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185" y="5726774"/>
                  <a:ext cx="25518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6411225" y="5713673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1225" y="5713673"/>
                  <a:ext cx="255187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5267580" y="570378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7580" y="5703780"/>
                  <a:ext cx="255187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/>
                <p:nvPr/>
              </p:nvSpPr>
              <p:spPr>
                <a:xfrm>
                  <a:off x="8017207" y="6132164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7207" y="6132164"/>
                  <a:ext cx="28142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3043" r="-6522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/>
                <p:nvPr/>
              </p:nvSpPr>
              <p:spPr>
                <a:xfrm>
                  <a:off x="9454644" y="6117613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4644" y="6117613"/>
                  <a:ext cx="28142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/>
                <p:nvPr/>
              </p:nvSpPr>
              <p:spPr>
                <a:xfrm>
                  <a:off x="5546943" y="6135706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6943" y="6135706"/>
                  <a:ext cx="276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/>
                <p:nvPr/>
              </p:nvSpPr>
              <p:spPr>
                <a:xfrm>
                  <a:off x="6801801" y="6129873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1801" y="6129873"/>
                  <a:ext cx="281424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2766" r="-6383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522767" y="420277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767" y="4202776"/>
                  <a:ext cx="255187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5365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687326" y="4211527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7326" y="4211527"/>
                  <a:ext cx="395899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167128" y="4202776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7128" y="4202776"/>
                  <a:ext cx="3958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925034" y="4211041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5034" y="4211041"/>
                  <a:ext cx="39589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/>
                <p:nvPr/>
              </p:nvSpPr>
              <p:spPr>
                <a:xfrm>
                  <a:off x="5014541" y="5098564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4541" y="5098564"/>
                  <a:ext cx="288477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1277" r="-8511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/>
                <p:nvPr/>
              </p:nvSpPr>
              <p:spPr>
                <a:xfrm>
                  <a:off x="6253984" y="5092611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984" y="5092611"/>
                  <a:ext cx="28847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8750" r="-6250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/>
                <p:nvPr/>
              </p:nvSpPr>
              <p:spPr>
                <a:xfrm>
                  <a:off x="6143036" y="539414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3036" y="5394144"/>
                  <a:ext cx="255187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/>
                <p:nvPr/>
              </p:nvSpPr>
              <p:spPr>
                <a:xfrm>
                  <a:off x="7338570" y="5062228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570" y="5062228"/>
                  <a:ext cx="288477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0833" r="-6250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8625974" y="5072708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5974" y="5072708"/>
                  <a:ext cx="28847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/>
                <p:nvPr/>
              </p:nvSpPr>
              <p:spPr>
                <a:xfrm>
                  <a:off x="7390991" y="5377436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0991" y="5377436"/>
                  <a:ext cx="255187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8592029" y="5371965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2029" y="5371965"/>
                  <a:ext cx="255187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7381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</p:cNvCxnSpPr>
            <p:nvPr/>
          </p:nvCxnSpPr>
          <p:spPr>
            <a:xfrm>
              <a:off x="9872450" y="5400387"/>
              <a:ext cx="690842" cy="5003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9976498" y="5060825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6498" y="5060825"/>
                  <a:ext cx="288477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1277" r="-8511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9902563" y="5402888"/>
                  <a:ext cx="151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2563" y="5402888"/>
                  <a:ext cx="151139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4000" r="-18000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8653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/>
          <p:cNvGrpSpPr/>
          <p:nvPr/>
        </p:nvGrpSpPr>
        <p:grpSpPr>
          <a:xfrm>
            <a:off x="5425739" y="3371590"/>
            <a:ext cx="5574848" cy="3355139"/>
            <a:chOff x="5425739" y="3371590"/>
            <a:chExt cx="5574848" cy="3355139"/>
          </a:xfrm>
        </p:grpSpPr>
        <p:sp>
          <p:nvSpPr>
            <p:cNvPr id="55" name="Oval 54"/>
            <p:cNvSpPr/>
            <p:nvPr/>
          </p:nvSpPr>
          <p:spPr>
            <a:xfrm>
              <a:off x="6560957" y="4462129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5425739" y="5710129"/>
              <a:ext cx="387073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5812812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>
              <a:off x="6560957" y="5710129"/>
              <a:ext cx="396599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6957556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7705701" y="5710129"/>
              <a:ext cx="520960" cy="428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8226661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8974806" y="5714411"/>
              <a:ext cx="586794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9561600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" name="Straight Arrow Connector 11"/>
            <p:cNvCxnSpPr>
              <a:endCxn id="5" idx="4"/>
            </p:cNvCxnSpPr>
            <p:nvPr/>
          </p:nvCxnSpPr>
          <p:spPr>
            <a:xfrm flipV="1">
              <a:off x="6186885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0"/>
            </p:cNvCxnSpPr>
            <p:nvPr/>
          </p:nvCxnSpPr>
          <p:spPr>
            <a:xfrm flipV="1">
              <a:off x="6186885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7" idx="4"/>
            </p:cNvCxnSpPr>
            <p:nvPr/>
          </p:nvCxnSpPr>
          <p:spPr>
            <a:xfrm flipV="1">
              <a:off x="7331629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7" idx="0"/>
            </p:cNvCxnSpPr>
            <p:nvPr/>
          </p:nvCxnSpPr>
          <p:spPr>
            <a:xfrm flipV="1">
              <a:off x="7331629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0"/>
            </p:cNvCxnSpPr>
            <p:nvPr/>
          </p:nvCxnSpPr>
          <p:spPr>
            <a:xfrm flipV="1">
              <a:off x="8600734" y="4903102"/>
              <a:ext cx="7132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0"/>
            </p:cNvCxnSpPr>
            <p:nvPr/>
          </p:nvCxnSpPr>
          <p:spPr>
            <a:xfrm flipV="1">
              <a:off x="9935673" y="4903102"/>
              <a:ext cx="7131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9" idx="4"/>
            </p:cNvCxnSpPr>
            <p:nvPr/>
          </p:nvCxnSpPr>
          <p:spPr>
            <a:xfrm flipV="1">
              <a:off x="8600732" y="6088484"/>
              <a:ext cx="2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1" idx="4"/>
            </p:cNvCxnSpPr>
            <p:nvPr/>
          </p:nvCxnSpPr>
          <p:spPr>
            <a:xfrm flipH="1" flipV="1">
              <a:off x="9935673" y="6088484"/>
              <a:ext cx="7131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3571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380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57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706627" y="50160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6627" y="5016060"/>
                  <a:ext cx="255187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490291" y="501403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291" y="5014038"/>
                  <a:ext cx="25518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878141" y="500722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141" y="5007229"/>
                  <a:ext cx="25518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099067" y="50317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9067" y="5031794"/>
                  <a:ext cx="25518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09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9490291" y="60276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291" y="6027697"/>
                  <a:ext cx="255187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8105480" y="604079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480" y="6040798"/>
                  <a:ext cx="25518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6848520" y="60276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8520" y="6027697"/>
                  <a:ext cx="255187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5704875" y="601780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4875" y="6017804"/>
                  <a:ext cx="255187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/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/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3043" r="-6522" b="-177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/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333" r="-6667" b="-177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/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60062" y="4516800"/>
                  <a:ext cx="3183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0062" y="4516800"/>
                  <a:ext cx="318364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11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689266" y="4516800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9266" y="4516800"/>
                  <a:ext cx="3958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/>
                <p:nvPr/>
              </p:nvSpPr>
              <p:spPr>
                <a:xfrm>
                  <a:off x="5451836" y="5412588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836" y="5412588"/>
                  <a:ext cx="288477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0833" r="-625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/>
                <p:nvPr/>
              </p:nvSpPr>
              <p:spPr>
                <a:xfrm>
                  <a:off x="6691279" y="5406635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1279" y="5406635"/>
                  <a:ext cx="28847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9149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/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/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/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09745" y="5714411"/>
              <a:ext cx="690842" cy="5003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0833" r="-625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4000" r="-18400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/>
            <p:cNvCxnSpPr>
              <a:stCxn id="36" idx="3"/>
              <a:endCxn id="50" idx="1"/>
            </p:cNvCxnSpPr>
            <p:nvPr/>
          </p:nvCxnSpPr>
          <p:spPr>
            <a:xfrm flipV="1">
              <a:off x="6278426" y="4692798"/>
              <a:ext cx="298490" cy="866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7760974" y="4498166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/>
            <p:cNvCxnSpPr>
              <a:stCxn id="37" idx="3"/>
              <a:endCxn id="57" idx="1"/>
            </p:cNvCxnSpPr>
            <p:nvPr/>
          </p:nvCxnSpPr>
          <p:spPr>
            <a:xfrm>
              <a:off x="7520520" y="4710217"/>
              <a:ext cx="240454" cy="47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/>
            <p:cNvSpPr/>
            <p:nvPr/>
          </p:nvSpPr>
          <p:spPr>
            <a:xfrm>
              <a:off x="8978682" y="4500094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blipFill>
                  <a:blip r:embed="rId33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Arrow Connector 64"/>
            <p:cNvCxnSpPr>
              <a:stCxn id="39" idx="3"/>
              <a:endCxn id="64" idx="1"/>
            </p:cNvCxnSpPr>
            <p:nvPr/>
          </p:nvCxnSpPr>
          <p:spPr>
            <a:xfrm>
              <a:off x="8758228" y="4709731"/>
              <a:ext cx="220454" cy="2461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/>
            <p:nvPr/>
          </p:nvSpPr>
          <p:spPr>
            <a:xfrm>
              <a:off x="10294505" y="4485440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Arrow Connector 67"/>
            <p:cNvCxnSpPr>
              <a:stCxn id="38" idx="3"/>
              <a:endCxn id="67" idx="1"/>
            </p:cNvCxnSpPr>
            <p:nvPr/>
          </p:nvCxnSpPr>
          <p:spPr>
            <a:xfrm flipV="1">
              <a:off x="10085165" y="4697538"/>
              <a:ext cx="209340" cy="392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solidFill>
                  <a:srgbClr val="7030A0">
                    <a:alpha val="55000"/>
                  </a:srgbClr>
                </a:solid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Elbow Connector 73"/>
            <p:cNvCxnSpPr>
              <a:stCxn id="71" idx="2"/>
              <a:endCxn id="55" idx="0"/>
            </p:cNvCxnSpPr>
            <p:nvPr/>
          </p:nvCxnSpPr>
          <p:spPr>
            <a:xfrm rot="5400000">
              <a:off x="7314666" y="3204876"/>
              <a:ext cx="721207" cy="1793298"/>
            </a:xfrm>
            <a:prstGeom prst="bentConnector3">
              <a:avLst>
                <a:gd name="adj1" fmla="val 51981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/>
            <p:cNvCxnSpPr>
              <a:stCxn id="71" idx="2"/>
              <a:endCxn id="66" idx="0"/>
            </p:cNvCxnSpPr>
            <p:nvPr/>
          </p:nvCxnSpPr>
          <p:spPr>
            <a:xfrm rot="16200000" flipH="1">
              <a:off x="9169784" y="3143056"/>
              <a:ext cx="744518" cy="1940250"/>
            </a:xfrm>
            <a:prstGeom prst="bentConnector3">
              <a:avLst>
                <a:gd name="adj1" fmla="val 5064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/>
            <p:cNvCxnSpPr>
              <a:stCxn id="71" idx="2"/>
              <a:endCxn id="56" idx="0"/>
            </p:cNvCxnSpPr>
            <p:nvPr/>
          </p:nvCxnSpPr>
          <p:spPr>
            <a:xfrm rot="5400000">
              <a:off x="7896656" y="3822904"/>
              <a:ext cx="757244" cy="593281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Elbow Connector 79"/>
            <p:cNvCxnSpPr>
              <a:stCxn id="71" idx="2"/>
              <a:endCxn id="63" idx="0"/>
            </p:cNvCxnSpPr>
            <p:nvPr/>
          </p:nvCxnSpPr>
          <p:spPr>
            <a:xfrm rot="16200000" flipH="1">
              <a:off x="8504545" y="3808294"/>
              <a:ext cx="759172" cy="624427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BE11300-E059-469F-8202-1ECCB2EF540E}"/>
                  </a:ext>
                </a:extLst>
              </p:cNvPr>
              <p:cNvSpPr txBox="1"/>
              <p:nvPr/>
            </p:nvSpPr>
            <p:spPr>
              <a:xfrm>
                <a:off x="550783" y="3684178"/>
                <a:ext cx="5045291" cy="307777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2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IN" sz="2000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func>
                        <m:func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0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IN" sz="20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IN" sz="20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⁡(1−</m:t>
                      </m:r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BE11300-E059-469F-8202-1ECCB2EF5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83" y="3684178"/>
                <a:ext cx="5045291" cy="307777"/>
              </a:xfrm>
              <a:prstGeom prst="rect">
                <a:avLst/>
              </a:prstGeom>
              <a:blipFill>
                <a:blip r:embed="rId36"/>
                <a:stretch>
                  <a:fillRect l="-604" t="-1961" r="-1449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CC4AC18-E8DE-4827-B920-3CC9C33A20D0}"/>
                  </a:ext>
                </a:extLst>
              </p:cNvPr>
              <p:cNvSpPr txBox="1"/>
              <p:nvPr/>
            </p:nvSpPr>
            <p:spPr>
              <a:xfrm>
                <a:off x="972039" y="4599047"/>
                <a:ext cx="3138423" cy="865493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200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N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CC4AC18-E8DE-4827-B920-3CC9C33A2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39" y="4599047"/>
                <a:ext cx="3138423" cy="865493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itle 1"/>
          <p:cNvSpPr txBox="1">
            <a:spLocks/>
          </p:cNvSpPr>
          <p:nvPr/>
        </p:nvSpPr>
        <p:spPr>
          <a:xfrm>
            <a:off x="838200" y="365126"/>
            <a:ext cx="10515600" cy="115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70" name="Content Placeholder 2"/>
          <p:cNvSpPr>
            <a:spLocks noGrp="1"/>
          </p:cNvSpPr>
          <p:nvPr>
            <p:ph idx="1"/>
          </p:nvPr>
        </p:nvSpPr>
        <p:spPr>
          <a:xfrm>
            <a:off x="726438" y="1596542"/>
            <a:ext cx="10515600" cy="1499466"/>
          </a:xfrm>
        </p:spPr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Consider an RNN with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four recurrent nodes</a:t>
            </a:r>
            <a:r>
              <a:rPr lang="en-US" dirty="0">
                <a:latin typeface="Arial Narrow" panose="020B0606020202030204" pitchFamily="34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shared weights, </a:t>
            </a:r>
            <a:r>
              <a:rPr lang="en-US" dirty="0">
                <a:latin typeface="Arial Narrow" panose="020B0606020202030204" pitchFamily="34" charset="0"/>
              </a:rPr>
              <a:t>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Softmax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output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layer</a:t>
            </a:r>
            <a:r>
              <a:rPr lang="en-US" dirty="0">
                <a:latin typeface="Arial Narrow" panose="020B0606020202030204" pitchFamily="34" charset="0"/>
              </a:rPr>
              <a:t>, and a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Cross-Entropy loss function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28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6263939" y="2819140"/>
            <a:ext cx="5574848" cy="3355139"/>
            <a:chOff x="5425739" y="3371590"/>
            <a:chExt cx="5574848" cy="3355139"/>
          </a:xfrm>
        </p:grpSpPr>
        <p:sp>
          <p:nvSpPr>
            <p:cNvPr id="69" name="Oval 68"/>
            <p:cNvSpPr/>
            <p:nvPr/>
          </p:nvSpPr>
          <p:spPr>
            <a:xfrm>
              <a:off x="6560957" y="4462129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>
              <a:off x="5425739" y="5710129"/>
              <a:ext cx="387073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Oval 70"/>
            <p:cNvSpPr/>
            <p:nvPr/>
          </p:nvSpPr>
          <p:spPr>
            <a:xfrm>
              <a:off x="5812812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1" idx="6"/>
              <a:endCxn id="73" idx="2"/>
            </p:cNvCxnSpPr>
            <p:nvPr/>
          </p:nvCxnSpPr>
          <p:spPr>
            <a:xfrm>
              <a:off x="6560957" y="5710129"/>
              <a:ext cx="396599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6957556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3" idx="6"/>
              <a:endCxn id="75" idx="2"/>
            </p:cNvCxnSpPr>
            <p:nvPr/>
          </p:nvCxnSpPr>
          <p:spPr>
            <a:xfrm>
              <a:off x="7705701" y="5710129"/>
              <a:ext cx="520960" cy="428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8226661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5" idx="6"/>
              <a:endCxn id="77" idx="2"/>
            </p:cNvCxnSpPr>
            <p:nvPr/>
          </p:nvCxnSpPr>
          <p:spPr>
            <a:xfrm>
              <a:off x="8974806" y="5714411"/>
              <a:ext cx="586794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>
            <a:xfrm>
              <a:off x="9561600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8" name="Straight Arrow Connector 77"/>
            <p:cNvCxnSpPr>
              <a:endCxn id="71" idx="4"/>
            </p:cNvCxnSpPr>
            <p:nvPr/>
          </p:nvCxnSpPr>
          <p:spPr>
            <a:xfrm flipV="1">
              <a:off x="6186885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1" idx="0"/>
            </p:cNvCxnSpPr>
            <p:nvPr/>
          </p:nvCxnSpPr>
          <p:spPr>
            <a:xfrm flipV="1">
              <a:off x="6186885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endCxn id="73" idx="4"/>
            </p:cNvCxnSpPr>
            <p:nvPr/>
          </p:nvCxnSpPr>
          <p:spPr>
            <a:xfrm flipV="1">
              <a:off x="7331629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3" idx="0"/>
            </p:cNvCxnSpPr>
            <p:nvPr/>
          </p:nvCxnSpPr>
          <p:spPr>
            <a:xfrm flipV="1">
              <a:off x="7331629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5" idx="0"/>
            </p:cNvCxnSpPr>
            <p:nvPr/>
          </p:nvCxnSpPr>
          <p:spPr>
            <a:xfrm flipV="1">
              <a:off x="8600734" y="4903102"/>
              <a:ext cx="7132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7" idx="0"/>
            </p:cNvCxnSpPr>
            <p:nvPr/>
          </p:nvCxnSpPr>
          <p:spPr>
            <a:xfrm flipV="1">
              <a:off x="9935673" y="4903102"/>
              <a:ext cx="7131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endCxn id="75" idx="4"/>
            </p:cNvCxnSpPr>
            <p:nvPr/>
          </p:nvCxnSpPr>
          <p:spPr>
            <a:xfrm flipV="1">
              <a:off x="8600732" y="6088484"/>
              <a:ext cx="2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endCxn id="77" idx="4"/>
            </p:cNvCxnSpPr>
            <p:nvPr/>
          </p:nvCxnSpPr>
          <p:spPr>
            <a:xfrm flipH="1" flipV="1">
              <a:off x="9935673" y="6088484"/>
              <a:ext cx="7131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3571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380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571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706627" y="50160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6627" y="5016060"/>
                  <a:ext cx="255187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490291" y="501403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291" y="5014038"/>
                  <a:ext cx="25518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878141" y="500722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141" y="5007229"/>
                  <a:ext cx="25518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099067" y="50317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9067" y="5031794"/>
                  <a:ext cx="25518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09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9490291" y="60276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291" y="6027697"/>
                  <a:ext cx="255187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8105480" y="604079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480" y="6040798"/>
                  <a:ext cx="25518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6848520" y="60276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8520" y="6027697"/>
                  <a:ext cx="255187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5704875" y="601780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4875" y="6017804"/>
                  <a:ext cx="255187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/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/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3043" r="-6522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/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333" r="-6667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/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043" r="-6522" b="-177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60062" y="4507276"/>
                  <a:ext cx="3183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0062" y="4507276"/>
                  <a:ext cx="318364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3077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604423" y="4516800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4423" y="4516800"/>
                  <a:ext cx="395899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/>
                <p:nvPr/>
              </p:nvSpPr>
              <p:spPr>
                <a:xfrm>
                  <a:off x="5451836" y="5366408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836" y="5366408"/>
                  <a:ext cx="288477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0833" r="-6250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/>
                <p:nvPr/>
              </p:nvSpPr>
              <p:spPr>
                <a:xfrm>
                  <a:off x="6672807" y="5388163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2807" y="5388163"/>
                  <a:ext cx="28847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9149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/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/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/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09745" y="5714411"/>
              <a:ext cx="690842" cy="5003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0833" r="-625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4000" r="-18400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Straight Arrow Connector 116"/>
            <p:cNvCxnSpPr>
              <a:stCxn id="102" idx="3"/>
              <a:endCxn id="69" idx="2"/>
            </p:cNvCxnSpPr>
            <p:nvPr/>
          </p:nvCxnSpPr>
          <p:spPr>
            <a:xfrm flipV="1">
              <a:off x="6278426" y="4687727"/>
              <a:ext cx="282531" cy="4215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/>
            <p:cNvSpPr/>
            <p:nvPr/>
          </p:nvSpPr>
          <p:spPr>
            <a:xfrm>
              <a:off x="7760974" y="4498166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/>
            <p:cNvCxnSpPr>
              <a:stCxn id="103" idx="3"/>
              <a:endCxn id="119" idx="1"/>
            </p:cNvCxnSpPr>
            <p:nvPr/>
          </p:nvCxnSpPr>
          <p:spPr>
            <a:xfrm>
              <a:off x="7520520" y="4710217"/>
              <a:ext cx="240454" cy="47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/>
            <p:cNvSpPr/>
            <p:nvPr/>
          </p:nvSpPr>
          <p:spPr>
            <a:xfrm>
              <a:off x="8978682" y="4500094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blipFill>
                  <a:blip r:embed="rId33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Straight Arrow Connector 122"/>
            <p:cNvCxnSpPr>
              <a:stCxn id="105" idx="3"/>
              <a:endCxn id="122" idx="1"/>
            </p:cNvCxnSpPr>
            <p:nvPr/>
          </p:nvCxnSpPr>
          <p:spPr>
            <a:xfrm>
              <a:off x="8758228" y="4709731"/>
              <a:ext cx="220454" cy="2461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/>
            <p:cNvSpPr/>
            <p:nvPr/>
          </p:nvSpPr>
          <p:spPr>
            <a:xfrm>
              <a:off x="10294505" y="4485440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Straight Arrow Connector 125"/>
            <p:cNvCxnSpPr>
              <a:stCxn id="104" idx="3"/>
              <a:endCxn id="125" idx="1"/>
            </p:cNvCxnSpPr>
            <p:nvPr/>
          </p:nvCxnSpPr>
          <p:spPr>
            <a:xfrm flipV="1">
              <a:off x="10000322" y="4697538"/>
              <a:ext cx="294183" cy="392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solidFill>
                  <a:srgbClr val="7030A0">
                    <a:alpha val="55000"/>
                  </a:srgbClr>
                </a:solid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Elbow Connector 127"/>
            <p:cNvCxnSpPr>
              <a:stCxn id="127" idx="2"/>
              <a:endCxn id="69" idx="0"/>
            </p:cNvCxnSpPr>
            <p:nvPr/>
          </p:nvCxnSpPr>
          <p:spPr>
            <a:xfrm rot="5400000">
              <a:off x="7314666" y="3204876"/>
              <a:ext cx="721207" cy="1793298"/>
            </a:xfrm>
            <a:prstGeom prst="bentConnector3">
              <a:avLst>
                <a:gd name="adj1" fmla="val 51981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stCxn id="127" idx="2"/>
              <a:endCxn id="124" idx="0"/>
            </p:cNvCxnSpPr>
            <p:nvPr/>
          </p:nvCxnSpPr>
          <p:spPr>
            <a:xfrm rot="16200000" flipH="1">
              <a:off x="9169784" y="3143056"/>
              <a:ext cx="744518" cy="1940250"/>
            </a:xfrm>
            <a:prstGeom prst="bentConnector3">
              <a:avLst>
                <a:gd name="adj1" fmla="val 5064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stCxn id="127" idx="2"/>
              <a:endCxn id="118" idx="0"/>
            </p:cNvCxnSpPr>
            <p:nvPr/>
          </p:nvCxnSpPr>
          <p:spPr>
            <a:xfrm rot="5400000">
              <a:off x="7896656" y="3822904"/>
              <a:ext cx="757244" cy="593281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>
              <a:stCxn id="127" idx="2"/>
              <a:endCxn id="121" idx="0"/>
            </p:cNvCxnSpPr>
            <p:nvPr/>
          </p:nvCxnSpPr>
          <p:spPr>
            <a:xfrm rot="16200000" flipH="1">
              <a:off x="8504545" y="3808294"/>
              <a:ext cx="759172" cy="624427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itle 1"/>
          <p:cNvSpPr txBox="1">
            <a:spLocks/>
          </p:cNvSpPr>
          <p:nvPr/>
        </p:nvSpPr>
        <p:spPr>
          <a:xfrm>
            <a:off x="838200" y="365126"/>
            <a:ext cx="10515600" cy="115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26438" y="1596541"/>
                <a:ext cx="5464936" cy="4559645"/>
              </a:xfrm>
            </p:spPr>
            <p:txBody>
              <a:bodyPr>
                <a:normAutofit fontScale="70000" lnSpcReduction="20000"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Consider an RNN with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four recurrent nodes</a:t>
                </a:r>
                <a:r>
                  <a:rPr lang="en-US" dirty="0">
                    <a:latin typeface="Arial Narrow" panose="020B0606020202030204" pitchFamily="34" charset="0"/>
                  </a:rPr>
                  <a:t>,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shared weights, </a:t>
                </a:r>
                <a:r>
                  <a:rPr lang="en-US" dirty="0">
                    <a:latin typeface="Arial Narrow" panose="020B0606020202030204" pitchFamily="34" charset="0"/>
                  </a:rPr>
                  <a:t>a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Softmax</a:t>
                </a:r>
                <a:r>
                  <a:rPr lang="en-US" dirty="0">
                    <a:latin typeface="Arial Narrow" panose="020B0606020202030204" pitchFamily="34" charset="0"/>
                  </a:rPr>
                  <a:t>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output</a:t>
                </a:r>
                <a:r>
                  <a:rPr lang="en-US" dirty="0">
                    <a:latin typeface="Arial Narrow" panose="020B0606020202030204" pitchFamily="34" charset="0"/>
                  </a:rPr>
                  <a:t>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layer</a:t>
                </a:r>
                <a:r>
                  <a:rPr lang="en-US" dirty="0">
                    <a:latin typeface="Arial Narrow" panose="020B0606020202030204" pitchFamily="34" charset="0"/>
                  </a:rPr>
                  <a:t>, and a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Cross-Entropy loss function</a:t>
                </a:r>
                <a:r>
                  <a:rPr lang="en-US" dirty="0">
                    <a:latin typeface="Arial Narrow" panose="020B0606020202030204" pitchFamily="34" charset="0"/>
                  </a:rPr>
                  <a:t>.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First, compute the total loss by summing the losses across all time steps.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The problem is how to update the weight parameters (</a:t>
                </a:r>
                <a:r>
                  <a:rPr lang="en-IN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W</a:t>
                </a:r>
                <a:r>
                  <a:rPr lang="en-IN" baseline="-25000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IN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W</a:t>
                </a:r>
                <a:r>
                  <a:rPr lang="en-IN" baseline="-25000" dirty="0" err="1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h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W</a:t>
                </a:r>
                <a:r>
                  <a:rPr lang="en-IN" baseline="-25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o</a:t>
                </a: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 using the backpropagation?</a:t>
                </a:r>
              </a:p>
              <a:p>
                <a:pPr>
                  <a:lnSpc>
                    <a:spcPct val="110000"/>
                  </a:lnSpc>
                </a:pPr>
                <a:endParaRPr lang="en-IN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3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6438" y="1596541"/>
                <a:ext cx="5464936" cy="4559645"/>
              </a:xfrm>
              <a:blipFill>
                <a:blip r:embed="rId36"/>
                <a:stretch>
                  <a:fillRect l="-1003" t="-1471" r="-1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5918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5702830" y="2159028"/>
            <a:ext cx="5574848" cy="3355139"/>
            <a:chOff x="5425739" y="3371590"/>
            <a:chExt cx="5574848" cy="3355139"/>
          </a:xfrm>
        </p:grpSpPr>
        <p:sp>
          <p:nvSpPr>
            <p:cNvPr id="69" name="Oval 68"/>
            <p:cNvSpPr/>
            <p:nvPr/>
          </p:nvSpPr>
          <p:spPr>
            <a:xfrm>
              <a:off x="6560957" y="4462129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>
              <a:off x="5425739" y="5710129"/>
              <a:ext cx="387073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Oval 70"/>
            <p:cNvSpPr/>
            <p:nvPr/>
          </p:nvSpPr>
          <p:spPr>
            <a:xfrm>
              <a:off x="5812812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1" idx="6"/>
              <a:endCxn id="73" idx="2"/>
            </p:cNvCxnSpPr>
            <p:nvPr/>
          </p:nvCxnSpPr>
          <p:spPr>
            <a:xfrm>
              <a:off x="6560957" y="5710129"/>
              <a:ext cx="396599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6957556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3" idx="6"/>
              <a:endCxn id="75" idx="2"/>
            </p:cNvCxnSpPr>
            <p:nvPr/>
          </p:nvCxnSpPr>
          <p:spPr>
            <a:xfrm>
              <a:off x="7705701" y="5710129"/>
              <a:ext cx="520960" cy="428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8226661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5" idx="6"/>
              <a:endCxn id="77" idx="2"/>
            </p:cNvCxnSpPr>
            <p:nvPr/>
          </p:nvCxnSpPr>
          <p:spPr>
            <a:xfrm>
              <a:off x="8974806" y="5714411"/>
              <a:ext cx="586794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>
            <a:xfrm>
              <a:off x="9561600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8" name="Straight Arrow Connector 77"/>
            <p:cNvCxnSpPr>
              <a:endCxn id="71" idx="4"/>
            </p:cNvCxnSpPr>
            <p:nvPr/>
          </p:nvCxnSpPr>
          <p:spPr>
            <a:xfrm flipV="1">
              <a:off x="6186885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1" idx="0"/>
            </p:cNvCxnSpPr>
            <p:nvPr/>
          </p:nvCxnSpPr>
          <p:spPr>
            <a:xfrm flipV="1">
              <a:off x="6186885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endCxn id="73" idx="4"/>
            </p:cNvCxnSpPr>
            <p:nvPr/>
          </p:nvCxnSpPr>
          <p:spPr>
            <a:xfrm flipV="1">
              <a:off x="7331629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3" idx="0"/>
            </p:cNvCxnSpPr>
            <p:nvPr/>
          </p:nvCxnSpPr>
          <p:spPr>
            <a:xfrm flipV="1">
              <a:off x="7331629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5" idx="0"/>
            </p:cNvCxnSpPr>
            <p:nvPr/>
          </p:nvCxnSpPr>
          <p:spPr>
            <a:xfrm flipV="1">
              <a:off x="8600734" y="4903102"/>
              <a:ext cx="7132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7" idx="0"/>
            </p:cNvCxnSpPr>
            <p:nvPr/>
          </p:nvCxnSpPr>
          <p:spPr>
            <a:xfrm flipV="1">
              <a:off x="9935673" y="4903102"/>
              <a:ext cx="7131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endCxn id="75" idx="4"/>
            </p:cNvCxnSpPr>
            <p:nvPr/>
          </p:nvCxnSpPr>
          <p:spPr>
            <a:xfrm flipV="1">
              <a:off x="8600732" y="6088484"/>
              <a:ext cx="2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endCxn id="77" idx="4"/>
            </p:cNvCxnSpPr>
            <p:nvPr/>
          </p:nvCxnSpPr>
          <p:spPr>
            <a:xfrm flipH="1" flipV="1">
              <a:off x="9935673" y="6088484"/>
              <a:ext cx="7131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3809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404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53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706627" y="50160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6627" y="5016060"/>
                  <a:ext cx="255187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6097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490291" y="501403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291" y="5014038"/>
                  <a:ext cx="25518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878141" y="500722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141" y="5007229"/>
                  <a:ext cx="25518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099067" y="50317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9067" y="5031794"/>
                  <a:ext cx="25518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9490291" y="60276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291" y="6027697"/>
                  <a:ext cx="255187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8105480" y="604079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480" y="6040798"/>
                  <a:ext cx="25518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6848520" y="60276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8520" y="6027697"/>
                  <a:ext cx="255187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5704875" y="601780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4875" y="6017804"/>
                  <a:ext cx="255187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/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2766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/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3043" r="-8696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/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333" r="-8889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/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60062" y="4516800"/>
                  <a:ext cx="3183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0062" y="4516800"/>
                  <a:ext cx="318364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307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604423" y="4516800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4423" y="4516800"/>
                  <a:ext cx="3958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/>
                <p:nvPr/>
              </p:nvSpPr>
              <p:spPr>
                <a:xfrm>
                  <a:off x="5451836" y="5366408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836" y="5366408"/>
                  <a:ext cx="288477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1277" r="-6383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/>
                <p:nvPr/>
              </p:nvSpPr>
              <p:spPr>
                <a:xfrm>
                  <a:off x="6672807" y="5388163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2807" y="5388163"/>
                  <a:ext cx="28847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9149" r="-8511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/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/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277" r="-8511" b="-177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0833" r="-625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/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78049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09745" y="5714411"/>
              <a:ext cx="690842" cy="5003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4167" r="-191667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Straight Arrow Connector 116"/>
            <p:cNvCxnSpPr>
              <a:stCxn id="102" idx="3"/>
              <a:endCxn id="116" idx="1"/>
            </p:cNvCxnSpPr>
            <p:nvPr/>
          </p:nvCxnSpPr>
          <p:spPr>
            <a:xfrm flipV="1">
              <a:off x="6278426" y="4692798"/>
              <a:ext cx="298490" cy="866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/>
            <p:cNvSpPr/>
            <p:nvPr/>
          </p:nvSpPr>
          <p:spPr>
            <a:xfrm>
              <a:off x="7760974" y="4498166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/>
            <p:cNvCxnSpPr>
              <a:stCxn id="103" idx="3"/>
              <a:endCxn id="119" idx="1"/>
            </p:cNvCxnSpPr>
            <p:nvPr/>
          </p:nvCxnSpPr>
          <p:spPr>
            <a:xfrm>
              <a:off x="7520520" y="4710217"/>
              <a:ext cx="240454" cy="47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/>
            <p:cNvSpPr/>
            <p:nvPr/>
          </p:nvSpPr>
          <p:spPr>
            <a:xfrm>
              <a:off x="8978682" y="4500094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blipFill>
                  <a:blip r:embed="rId33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Straight Arrow Connector 122"/>
            <p:cNvCxnSpPr>
              <a:stCxn id="105" idx="3"/>
              <a:endCxn id="122" idx="1"/>
            </p:cNvCxnSpPr>
            <p:nvPr/>
          </p:nvCxnSpPr>
          <p:spPr>
            <a:xfrm>
              <a:off x="8758228" y="4709731"/>
              <a:ext cx="220454" cy="2461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/>
            <p:cNvSpPr/>
            <p:nvPr/>
          </p:nvSpPr>
          <p:spPr>
            <a:xfrm>
              <a:off x="10294505" y="4485440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Straight Arrow Connector 125"/>
            <p:cNvCxnSpPr>
              <a:stCxn id="104" idx="3"/>
              <a:endCxn id="125" idx="1"/>
            </p:cNvCxnSpPr>
            <p:nvPr/>
          </p:nvCxnSpPr>
          <p:spPr>
            <a:xfrm flipV="1">
              <a:off x="10000322" y="4697538"/>
              <a:ext cx="294183" cy="392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solidFill>
                  <a:srgbClr val="7030A0">
                    <a:alpha val="55000"/>
                  </a:srgbClr>
                </a:solid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Elbow Connector 127"/>
            <p:cNvCxnSpPr>
              <a:stCxn id="127" idx="2"/>
              <a:endCxn id="69" idx="0"/>
            </p:cNvCxnSpPr>
            <p:nvPr/>
          </p:nvCxnSpPr>
          <p:spPr>
            <a:xfrm rot="5400000">
              <a:off x="7314666" y="3204876"/>
              <a:ext cx="721207" cy="1793298"/>
            </a:xfrm>
            <a:prstGeom prst="bentConnector3">
              <a:avLst>
                <a:gd name="adj1" fmla="val 51981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stCxn id="127" idx="2"/>
              <a:endCxn id="124" idx="0"/>
            </p:cNvCxnSpPr>
            <p:nvPr/>
          </p:nvCxnSpPr>
          <p:spPr>
            <a:xfrm rot="16200000" flipH="1">
              <a:off x="9169784" y="3143056"/>
              <a:ext cx="744518" cy="1940250"/>
            </a:xfrm>
            <a:prstGeom prst="bentConnector3">
              <a:avLst>
                <a:gd name="adj1" fmla="val 5064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stCxn id="127" idx="2"/>
              <a:endCxn id="118" idx="0"/>
            </p:cNvCxnSpPr>
            <p:nvPr/>
          </p:nvCxnSpPr>
          <p:spPr>
            <a:xfrm rot="5400000">
              <a:off x="7896656" y="3822904"/>
              <a:ext cx="757244" cy="593281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>
              <a:stCxn id="127" idx="2"/>
              <a:endCxn id="121" idx="0"/>
            </p:cNvCxnSpPr>
            <p:nvPr/>
          </p:nvCxnSpPr>
          <p:spPr>
            <a:xfrm rot="16200000" flipH="1">
              <a:off x="8504545" y="3808294"/>
              <a:ext cx="759172" cy="624427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itle 1"/>
          <p:cNvSpPr txBox="1">
            <a:spLocks/>
          </p:cNvSpPr>
          <p:nvPr/>
        </p:nvSpPr>
        <p:spPr>
          <a:xfrm>
            <a:off x="838200" y="365126"/>
            <a:ext cx="10515600" cy="115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Content Placeholder 2">
                <a:extLst>
                  <a:ext uri="{FF2B5EF4-FFF2-40B4-BE49-F238E27FC236}">
                    <a16:creationId xmlns:a16="http://schemas.microsoft.com/office/drawing/2014/main" id="{54155053-D0A9-4FE2-929C-5ACCBF8FB4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338" y="1726936"/>
                <a:ext cx="5245570" cy="2566386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algn="just"/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backpropagation, it is required to compute the error gradients with respect to weight parameters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IN" sz="2400" i="1" baseline="-25000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IN" sz="2400" i="1" baseline="-25000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𝑊𝑜</m:t>
                    </m:r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). </a:t>
                </a:r>
              </a:p>
              <a:p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3" name="Content Placeholder 2">
                <a:extLst>
                  <a:ext uri="{FF2B5EF4-FFF2-40B4-BE49-F238E27FC236}">
                    <a16:creationId xmlns:a16="http://schemas.microsoft.com/office/drawing/2014/main" id="{54155053-D0A9-4FE2-929C-5ACCBF8FB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338" y="1726936"/>
                <a:ext cx="5245570" cy="2566386"/>
              </a:xfrm>
              <a:blipFill>
                <a:blip r:embed="rId36"/>
                <a:stretch>
                  <a:fillRect l="-1628" t="-3088" r="-17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142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25CE56A-B7C7-4077-83EB-A099673FF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779" y="2029310"/>
                <a:ext cx="5245570" cy="2566386"/>
              </a:xfrm>
              <a:solidFill>
                <a:schemeClr val="bg1"/>
              </a:solidFill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backpropagation, it is required to compute the error gradients with respect to weight parameters 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IN" sz="2400" i="1" baseline="-25000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40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IN" sz="2400" i="1" baseline="-25000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𝑊𝑜</m:t>
                    </m:r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). </a:t>
                </a:r>
              </a:p>
              <a:p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Start with:</a:t>
                </a:r>
              </a:p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Error gradient w. r. t.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IN" sz="240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25CE56A-B7C7-4077-83EB-A099673FF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779" y="2029310"/>
                <a:ext cx="5245570" cy="2566386"/>
              </a:xfrm>
              <a:blipFill>
                <a:blip r:embed="rId2"/>
                <a:stretch>
                  <a:fillRect l="-1628" t="-4513" r="-17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C67CB2-2575-4136-BBEE-2823F4F5EC6C}"/>
                  </a:ext>
                </a:extLst>
              </p:cNvPr>
              <p:cNvSpPr/>
              <p:nvPr/>
            </p:nvSpPr>
            <p:spPr>
              <a:xfrm>
                <a:off x="1309649" y="5043928"/>
                <a:ext cx="3942490" cy="77905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IN" sz="20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I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I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IN" sz="28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here </a:t>
                </a:r>
                <a14:m>
                  <m:oMath xmlns:m="http://schemas.openxmlformats.org/officeDocument/2006/math">
                    <m:r>
                      <a:rPr lang="en-IN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IN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=4</a:t>
                </a:r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C67CB2-2575-4136-BBEE-2823F4F5EC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649" y="5043928"/>
                <a:ext cx="3942490" cy="779059"/>
              </a:xfrm>
              <a:prstGeom prst="rect">
                <a:avLst/>
              </a:prstGeom>
              <a:blipFill>
                <a:blip r:embed="rId3"/>
                <a:stretch>
                  <a:fillRect r="-2009" b="-7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66A36C97-1BF9-4267-8ACA-FA436CAA38EE}"/>
              </a:ext>
            </a:extLst>
          </p:cNvPr>
          <p:cNvSpPr/>
          <p:nvPr/>
        </p:nvSpPr>
        <p:spPr>
          <a:xfrm>
            <a:off x="7356523" y="3447529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B29367-97B0-4006-833A-60E2A213D447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6221305" y="4695529"/>
            <a:ext cx="387073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4770A18-4AC1-4C64-A772-8AAC64C756B6}"/>
              </a:ext>
            </a:extLst>
          </p:cNvPr>
          <p:cNvSpPr/>
          <p:nvPr/>
        </p:nvSpPr>
        <p:spPr>
          <a:xfrm>
            <a:off x="6608378" y="4321456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D7CE27-82AE-4725-A7EF-F9C1A87F8F9D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7356523" y="4695529"/>
            <a:ext cx="396599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2FEBC76-7A0F-4A50-98FD-BD06BEECD968}"/>
              </a:ext>
            </a:extLst>
          </p:cNvPr>
          <p:cNvSpPr/>
          <p:nvPr/>
        </p:nvSpPr>
        <p:spPr>
          <a:xfrm>
            <a:off x="7753122" y="4321456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EB84CB-856A-4FBC-90D8-733F4311292E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8501267" y="4695529"/>
            <a:ext cx="520960" cy="428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9E3C75C-D566-401D-B862-1B563FCA8883}"/>
              </a:ext>
            </a:extLst>
          </p:cNvPr>
          <p:cNvSpPr/>
          <p:nvPr/>
        </p:nvSpPr>
        <p:spPr>
          <a:xfrm>
            <a:off x="9022227" y="4325738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02CE77-C354-4EEB-92F2-5ABE62E74CD0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9770372" y="4699811"/>
            <a:ext cx="586794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FC74E01-DBE7-40F6-B516-6790BC31A325}"/>
              </a:ext>
            </a:extLst>
          </p:cNvPr>
          <p:cNvSpPr/>
          <p:nvPr/>
        </p:nvSpPr>
        <p:spPr>
          <a:xfrm>
            <a:off x="10357166" y="4325738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6DA179-4989-4825-9A16-F0F5EC8B2FFA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6982451" y="5069602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2CE7CE-05FA-45F7-83F9-FFC60964A991}"/>
              </a:ext>
            </a:extLst>
          </p:cNvPr>
          <p:cNvCxnSpPr>
            <a:stCxn id="9" idx="0"/>
          </p:cNvCxnSpPr>
          <p:nvPr/>
        </p:nvCxnSpPr>
        <p:spPr>
          <a:xfrm flipV="1">
            <a:off x="6982451" y="3896528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D5B310-3EA2-4ECE-96CE-8DD536092A12}"/>
              </a:ext>
            </a:extLst>
          </p:cNvPr>
          <p:cNvCxnSpPr>
            <a:cxnSpLocks/>
            <a:endCxn id="11" idx="4"/>
          </p:cNvCxnSpPr>
          <p:nvPr/>
        </p:nvCxnSpPr>
        <p:spPr>
          <a:xfrm flipV="1">
            <a:off x="8127195" y="5069602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0F4724-C119-435A-A6C9-95F89A040045}"/>
              </a:ext>
            </a:extLst>
          </p:cNvPr>
          <p:cNvCxnSpPr>
            <a:stCxn id="11" idx="0"/>
          </p:cNvCxnSpPr>
          <p:nvPr/>
        </p:nvCxnSpPr>
        <p:spPr>
          <a:xfrm flipV="1">
            <a:off x="8127195" y="3896528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E62AD7-EAB0-4C3D-9405-EF365352E58D}"/>
              </a:ext>
            </a:extLst>
          </p:cNvPr>
          <p:cNvCxnSpPr>
            <a:stCxn id="13" idx="0"/>
          </p:cNvCxnSpPr>
          <p:nvPr/>
        </p:nvCxnSpPr>
        <p:spPr>
          <a:xfrm flipV="1">
            <a:off x="9396300" y="3888502"/>
            <a:ext cx="7132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4F220F-0AA7-41A7-8681-F9DD05F7379C}"/>
              </a:ext>
            </a:extLst>
          </p:cNvPr>
          <p:cNvCxnSpPr>
            <a:stCxn id="15" idx="0"/>
          </p:cNvCxnSpPr>
          <p:nvPr/>
        </p:nvCxnSpPr>
        <p:spPr>
          <a:xfrm flipV="1">
            <a:off x="10731239" y="3888502"/>
            <a:ext cx="7131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2A7097-CD5E-4837-B8F4-B4423FE07BDB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9396298" y="5073884"/>
            <a:ext cx="2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4E19AE-342C-4BF0-A0DE-7A7B28FC2382}"/>
              </a:ext>
            </a:extLst>
          </p:cNvPr>
          <p:cNvCxnSpPr>
            <a:cxnSpLocks/>
            <a:endCxn id="15" idx="4"/>
          </p:cNvCxnSpPr>
          <p:nvPr/>
        </p:nvCxnSpPr>
        <p:spPr>
          <a:xfrm flipH="1" flipV="1">
            <a:off x="10731239" y="5073884"/>
            <a:ext cx="7131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29A076-FB7F-4741-9389-7E679447E0D2}"/>
                  </a:ext>
                </a:extLst>
              </p:cNvPr>
              <p:cNvSpPr txBox="1"/>
              <p:nvPr/>
            </p:nvSpPr>
            <p:spPr>
              <a:xfrm>
                <a:off x="6780353" y="4510632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729A076-FB7F-4741-9389-7E679447E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353" y="4510632"/>
                <a:ext cx="255187" cy="369332"/>
              </a:xfrm>
              <a:prstGeom prst="rect">
                <a:avLst/>
              </a:prstGeom>
              <a:blipFill>
                <a:blip r:embed="rId4"/>
                <a:stretch>
                  <a:fillRect r="-380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848FCA-463D-4070-9518-845B31F01953}"/>
                  </a:ext>
                </a:extLst>
              </p:cNvPr>
              <p:cNvSpPr txBox="1"/>
              <p:nvPr/>
            </p:nvSpPr>
            <p:spPr>
              <a:xfrm>
                <a:off x="7920187" y="4510632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848FCA-463D-4070-9518-845B31F01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187" y="4510632"/>
                <a:ext cx="255187" cy="369332"/>
              </a:xfrm>
              <a:prstGeom prst="rect">
                <a:avLst/>
              </a:prstGeom>
              <a:blipFill>
                <a:blip r:embed="rId5"/>
                <a:stretch>
                  <a:fillRect r="-404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230507-64D6-4E2B-91EE-AFD71AD2B75F}"/>
                  </a:ext>
                </a:extLst>
              </p:cNvPr>
              <p:cNvSpPr txBox="1"/>
              <p:nvPr/>
            </p:nvSpPr>
            <p:spPr>
              <a:xfrm>
                <a:off x="10529269" y="4510632"/>
                <a:ext cx="340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230507-64D6-4E2B-91EE-AFD71AD2B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269" y="4510632"/>
                <a:ext cx="340316" cy="369332"/>
              </a:xfrm>
              <a:prstGeom prst="rect">
                <a:avLst/>
              </a:prstGeom>
              <a:blipFill>
                <a:blip r:embed="rId6"/>
                <a:stretch>
                  <a:fillRect r="-5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744F544-7665-4236-BAAB-1B9DC282D888}"/>
                  </a:ext>
                </a:extLst>
              </p:cNvPr>
              <p:cNvSpPr txBox="1"/>
              <p:nvPr/>
            </p:nvSpPr>
            <p:spPr>
              <a:xfrm>
                <a:off x="9187349" y="4508902"/>
                <a:ext cx="4380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744F544-7665-4236-BAAB-1B9DC282D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349" y="4508902"/>
                <a:ext cx="438043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0996A9-3484-4A66-8BE8-FD028783E80F}"/>
                  </a:ext>
                </a:extLst>
              </p:cNvPr>
              <p:cNvSpPr txBox="1"/>
              <p:nvPr/>
            </p:nvSpPr>
            <p:spPr>
              <a:xfrm>
                <a:off x="6502193" y="400146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0996A9-3484-4A66-8BE8-FD028783E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193" y="4001460"/>
                <a:ext cx="255187" cy="369332"/>
              </a:xfrm>
              <a:prstGeom prst="rect">
                <a:avLst/>
              </a:prstGeom>
              <a:blipFill>
                <a:blip r:embed="rId8"/>
                <a:stretch>
                  <a:fillRect r="-609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59F5A91-C303-4F20-A1D8-A6A8528A8ECA}"/>
                  </a:ext>
                </a:extLst>
              </p:cNvPr>
              <p:cNvSpPr txBox="1"/>
              <p:nvPr/>
            </p:nvSpPr>
            <p:spPr>
              <a:xfrm>
                <a:off x="10285857" y="3999438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59F5A91-C303-4F20-A1D8-A6A8528A8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857" y="3999438"/>
                <a:ext cx="255187" cy="369332"/>
              </a:xfrm>
              <a:prstGeom prst="rect">
                <a:avLst/>
              </a:prstGeom>
              <a:blipFill>
                <a:blip r:embed="rId9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F60362-E0A4-4E43-AD1D-841A8B7AB879}"/>
                  </a:ext>
                </a:extLst>
              </p:cNvPr>
              <p:cNvSpPr txBox="1"/>
              <p:nvPr/>
            </p:nvSpPr>
            <p:spPr>
              <a:xfrm>
                <a:off x="7673707" y="399262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F60362-E0A4-4E43-AD1D-841A8B7AB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707" y="3992629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24FBF0-4847-41BB-9101-9F3A4C28DF3F}"/>
                  </a:ext>
                </a:extLst>
              </p:cNvPr>
              <p:cNvSpPr txBox="1"/>
              <p:nvPr/>
            </p:nvSpPr>
            <p:spPr>
              <a:xfrm>
                <a:off x="8894633" y="4017194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24FBF0-4847-41BB-9101-9F3A4C28D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4633" y="4017194"/>
                <a:ext cx="255187" cy="369332"/>
              </a:xfrm>
              <a:prstGeom prst="rect">
                <a:avLst/>
              </a:prstGeom>
              <a:blipFill>
                <a:blip r:embed="rId11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41FB5F-716D-4391-99FB-71D9DDA75B4F}"/>
                  </a:ext>
                </a:extLst>
              </p:cNvPr>
              <p:cNvSpPr txBox="1"/>
              <p:nvPr/>
            </p:nvSpPr>
            <p:spPr>
              <a:xfrm>
                <a:off x="9250068" y="54315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41FB5F-716D-4391-99FB-71D9DDA75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068" y="5431588"/>
                <a:ext cx="281423" cy="276999"/>
              </a:xfrm>
              <a:prstGeom prst="rect">
                <a:avLst/>
              </a:prstGeom>
              <a:blipFill>
                <a:blip r:embed="rId12"/>
                <a:stretch>
                  <a:fillRect l="-12766" r="-6383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8D56215-F832-4D62-8BA7-7083364E549F}"/>
                  </a:ext>
                </a:extLst>
              </p:cNvPr>
              <p:cNvSpPr txBox="1"/>
              <p:nvPr/>
            </p:nvSpPr>
            <p:spPr>
              <a:xfrm>
                <a:off x="10687505" y="5417037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8D56215-F832-4D62-8BA7-7083364E5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505" y="5417037"/>
                <a:ext cx="281423" cy="276999"/>
              </a:xfrm>
              <a:prstGeom prst="rect">
                <a:avLst/>
              </a:prstGeom>
              <a:blipFill>
                <a:blip r:embed="rId13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6098944-854A-4CE8-9C74-047B73C2BD07}"/>
                  </a:ext>
                </a:extLst>
              </p:cNvPr>
              <p:cNvSpPr txBox="1"/>
              <p:nvPr/>
            </p:nvSpPr>
            <p:spPr>
              <a:xfrm>
                <a:off x="6779804" y="543513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6098944-854A-4CE8-9C74-047B73C2B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804" y="5435130"/>
                <a:ext cx="276101" cy="276999"/>
              </a:xfrm>
              <a:prstGeom prst="rect">
                <a:avLst/>
              </a:prstGeom>
              <a:blipFill>
                <a:blip r:embed="rId14"/>
                <a:stretch>
                  <a:fillRect l="-13333" r="-8889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9BF6BD-6638-4F49-AAEE-D8C2273FBB24}"/>
                  </a:ext>
                </a:extLst>
              </p:cNvPr>
              <p:cNvSpPr txBox="1"/>
              <p:nvPr/>
            </p:nvSpPr>
            <p:spPr>
              <a:xfrm>
                <a:off x="8034662" y="5429297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9BF6BD-6638-4F49-AAEE-D8C2273FB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4662" y="5429297"/>
                <a:ext cx="281424" cy="276999"/>
              </a:xfrm>
              <a:prstGeom prst="rect">
                <a:avLst/>
              </a:prstGeom>
              <a:blipFill>
                <a:blip r:embed="rId15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5969AA-4AC3-49E2-A8AE-8FBEED0D0AB0}"/>
                  </a:ext>
                </a:extLst>
              </p:cNvPr>
              <p:cNvSpPr txBox="1"/>
              <p:nvPr/>
            </p:nvSpPr>
            <p:spPr>
              <a:xfrm>
                <a:off x="6755628" y="3502200"/>
                <a:ext cx="318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35969AA-4AC3-49E2-A8AE-8FBEED0D0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628" y="3502200"/>
                <a:ext cx="318364" cy="369332"/>
              </a:xfrm>
              <a:prstGeom prst="rect">
                <a:avLst/>
              </a:prstGeom>
              <a:blipFill>
                <a:blip r:embed="rId16"/>
                <a:stretch>
                  <a:fillRect r="-23077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6CAC52-A2E6-4B0B-B78E-B88903A891C4}"/>
                  </a:ext>
                </a:extLst>
              </p:cNvPr>
              <p:cNvSpPr txBox="1"/>
              <p:nvPr/>
            </p:nvSpPr>
            <p:spPr>
              <a:xfrm>
                <a:off x="7920187" y="3510951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6CAC52-A2E6-4B0B-B78E-B88903A89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187" y="3510951"/>
                <a:ext cx="39589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D0620E4-F62E-47A9-A0B6-7BBEED6015B9}"/>
                  </a:ext>
                </a:extLst>
              </p:cNvPr>
              <p:cNvSpPr txBox="1"/>
              <p:nvPr/>
            </p:nvSpPr>
            <p:spPr>
              <a:xfrm>
                <a:off x="10399989" y="3502200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D0620E4-F62E-47A9-A0B6-7BBEED601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9989" y="3502200"/>
                <a:ext cx="395899" cy="369332"/>
              </a:xfrm>
              <a:prstGeom prst="rect">
                <a:avLst/>
              </a:prstGeom>
              <a:blipFill>
                <a:blip r:embed="rId1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272B3E6-B417-466D-9902-5A334A137E77}"/>
                  </a:ext>
                </a:extLst>
              </p:cNvPr>
              <p:cNvSpPr txBox="1"/>
              <p:nvPr/>
            </p:nvSpPr>
            <p:spPr>
              <a:xfrm>
                <a:off x="9157895" y="3510465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272B3E6-B417-466D-9902-5A334A137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895" y="3510465"/>
                <a:ext cx="395899" cy="369332"/>
              </a:xfrm>
              <a:prstGeom prst="rect">
                <a:avLst/>
              </a:prstGeom>
              <a:blipFill>
                <a:blip r:embed="rId1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DA0DB97-CDA9-4F3A-9A2C-D850CAC5276C}"/>
                  </a:ext>
                </a:extLst>
              </p:cNvPr>
              <p:cNvSpPr txBox="1"/>
              <p:nvPr/>
            </p:nvSpPr>
            <p:spPr>
              <a:xfrm>
                <a:off x="6247402" y="4351808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DA0DB97-CDA9-4F3A-9A2C-D850CAC52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402" y="4351808"/>
                <a:ext cx="288477" cy="276999"/>
              </a:xfrm>
              <a:prstGeom prst="rect">
                <a:avLst/>
              </a:prstGeom>
              <a:blipFill>
                <a:blip r:embed="rId2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5CA9CD1-C8BD-4DC8-AF5B-1403BAB34A90}"/>
                  </a:ext>
                </a:extLst>
              </p:cNvPr>
              <p:cNvSpPr txBox="1"/>
              <p:nvPr/>
            </p:nvSpPr>
            <p:spPr>
              <a:xfrm>
                <a:off x="7468373" y="4373563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5CA9CD1-C8BD-4DC8-AF5B-1403BAB34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373" y="4373563"/>
                <a:ext cx="288477" cy="276999"/>
              </a:xfrm>
              <a:prstGeom prst="rect">
                <a:avLst/>
              </a:prstGeom>
              <a:blipFill>
                <a:blip r:embed="rId21"/>
                <a:stretch>
                  <a:fillRect l="-19149" r="-8511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887BD9-E888-484B-B968-BAE0DB9BBC74}"/>
                  </a:ext>
                </a:extLst>
              </p:cNvPr>
              <p:cNvSpPr txBox="1"/>
              <p:nvPr/>
            </p:nvSpPr>
            <p:spPr>
              <a:xfrm>
                <a:off x="8571431" y="4361652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B887BD9-E888-484B-B968-BAE0DB9BB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431" y="4361652"/>
                <a:ext cx="288477" cy="276999"/>
              </a:xfrm>
              <a:prstGeom prst="rect">
                <a:avLst/>
              </a:prstGeom>
              <a:blipFill>
                <a:blip r:embed="rId22"/>
                <a:stretch>
                  <a:fillRect l="-21277" r="-8511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47B2CA8-F6AA-4B13-B6E8-AED6D95ED540}"/>
                  </a:ext>
                </a:extLst>
              </p:cNvPr>
              <p:cNvSpPr txBox="1"/>
              <p:nvPr/>
            </p:nvSpPr>
            <p:spPr>
              <a:xfrm>
                <a:off x="9858835" y="4372132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47B2CA8-F6AA-4B13-B6E8-AED6D95ED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835" y="4372132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7A6EF34-E112-4E29-BB9F-6A2B8E7C36AF}"/>
              </a:ext>
            </a:extLst>
          </p:cNvPr>
          <p:cNvCxnSpPr>
            <a:cxnSpLocks/>
          </p:cNvCxnSpPr>
          <p:nvPr/>
        </p:nvCxnSpPr>
        <p:spPr>
          <a:xfrm>
            <a:off x="11105311" y="4699811"/>
            <a:ext cx="690842" cy="500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AEECC23-C882-4D5B-B010-8C5B697BCA23}"/>
                  </a:ext>
                </a:extLst>
              </p:cNvPr>
              <p:cNvSpPr txBox="1"/>
              <p:nvPr/>
            </p:nvSpPr>
            <p:spPr>
              <a:xfrm>
                <a:off x="11209359" y="436024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AEECC23-C882-4D5B-B010-8C5B697BC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9359" y="4360249"/>
                <a:ext cx="288477" cy="276999"/>
              </a:xfrm>
              <a:prstGeom prst="rect">
                <a:avLst/>
              </a:prstGeom>
              <a:blipFill>
                <a:blip r:embed="rId24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C0CB5A-3841-490D-8798-FEAB3466CFD4}"/>
                  </a:ext>
                </a:extLst>
              </p:cNvPr>
              <p:cNvSpPr txBox="1"/>
              <p:nvPr/>
            </p:nvSpPr>
            <p:spPr>
              <a:xfrm>
                <a:off x="7372482" y="3493532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C0CB5A-3841-490D-8798-FEAB3466C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482" y="3493532"/>
                <a:ext cx="41936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11FF59B-4A41-4761-8001-F74DD1981281}"/>
              </a:ext>
            </a:extLst>
          </p:cNvPr>
          <p:cNvCxnSpPr>
            <a:stCxn id="40" idx="3"/>
            <a:endCxn id="54" idx="1"/>
          </p:cNvCxnSpPr>
          <p:nvPr/>
        </p:nvCxnSpPr>
        <p:spPr>
          <a:xfrm flipV="1">
            <a:off x="7073992" y="3678198"/>
            <a:ext cx="298490" cy="8668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67D2B7BC-32FF-42E4-A7C4-79D968CFD1B1}"/>
              </a:ext>
            </a:extLst>
          </p:cNvPr>
          <p:cNvSpPr/>
          <p:nvPr/>
        </p:nvSpPr>
        <p:spPr>
          <a:xfrm>
            <a:off x="8556540" y="3483566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045F86A-2022-45E0-BB72-DF1449C6E4EC}"/>
                  </a:ext>
                </a:extLst>
              </p:cNvPr>
              <p:cNvSpPr txBox="1"/>
              <p:nvPr/>
            </p:nvSpPr>
            <p:spPr>
              <a:xfrm>
                <a:off x="8556540" y="3510998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045F86A-2022-45E0-BB72-DF1449C6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540" y="3510998"/>
                <a:ext cx="419366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79CE501-CC3D-460E-9D6F-589D17A9F2D1}"/>
              </a:ext>
            </a:extLst>
          </p:cNvPr>
          <p:cNvCxnSpPr>
            <a:stCxn id="41" idx="3"/>
            <a:endCxn id="57" idx="1"/>
          </p:cNvCxnSpPr>
          <p:nvPr/>
        </p:nvCxnSpPr>
        <p:spPr>
          <a:xfrm>
            <a:off x="8316086" y="3695617"/>
            <a:ext cx="240454" cy="47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C039DC88-BFA8-4A5D-BA2C-79F99223AB18}"/>
              </a:ext>
            </a:extLst>
          </p:cNvPr>
          <p:cNvSpPr/>
          <p:nvPr/>
        </p:nvSpPr>
        <p:spPr>
          <a:xfrm>
            <a:off x="9774248" y="3485494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7A67F75-AC4F-44B7-9100-FE3B7AC96CCE}"/>
                  </a:ext>
                </a:extLst>
              </p:cNvPr>
              <p:cNvSpPr txBox="1"/>
              <p:nvPr/>
            </p:nvSpPr>
            <p:spPr>
              <a:xfrm>
                <a:off x="9774248" y="3512926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7A67F75-AC4F-44B7-9100-FE3B7AC96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248" y="3512926"/>
                <a:ext cx="419366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0A3250C-81A4-4D63-BAB1-85243009EE9F}"/>
              </a:ext>
            </a:extLst>
          </p:cNvPr>
          <p:cNvCxnSpPr>
            <a:stCxn id="43" idx="3"/>
            <a:endCxn id="60" idx="1"/>
          </p:cNvCxnSpPr>
          <p:nvPr/>
        </p:nvCxnSpPr>
        <p:spPr>
          <a:xfrm>
            <a:off x="9553794" y="3695131"/>
            <a:ext cx="220454" cy="2461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300C2D95-7EE4-4DDD-87D5-A4CBA7204D27}"/>
              </a:ext>
            </a:extLst>
          </p:cNvPr>
          <p:cNvSpPr/>
          <p:nvPr/>
        </p:nvSpPr>
        <p:spPr>
          <a:xfrm>
            <a:off x="11090071" y="3470840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9A6F156-0686-4AE3-8BA0-DDD68FF4DDF3}"/>
                  </a:ext>
                </a:extLst>
              </p:cNvPr>
              <p:cNvSpPr txBox="1"/>
              <p:nvPr/>
            </p:nvSpPr>
            <p:spPr>
              <a:xfrm>
                <a:off x="11090071" y="3498272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9A6F156-0686-4AE3-8BA0-DDD68FF4D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0071" y="3498272"/>
                <a:ext cx="419366" cy="369332"/>
              </a:xfrm>
              <a:prstGeom prst="rect">
                <a:avLst/>
              </a:prstGeom>
              <a:blipFill>
                <a:blip r:embed="rId28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63CF35C-5B09-4C4E-996F-D7A91A2AFEF8}"/>
              </a:ext>
            </a:extLst>
          </p:cNvPr>
          <p:cNvCxnSpPr>
            <a:stCxn id="42" idx="3"/>
            <a:endCxn id="63" idx="1"/>
          </p:cNvCxnSpPr>
          <p:nvPr/>
        </p:nvCxnSpPr>
        <p:spPr>
          <a:xfrm flipV="1">
            <a:off x="10795888" y="3682938"/>
            <a:ext cx="294183" cy="3928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59F0C50-30C9-44D9-A7D8-F10F71F682D8}"/>
                  </a:ext>
                </a:extLst>
              </p:cNvPr>
              <p:cNvSpPr txBox="1"/>
              <p:nvPr/>
            </p:nvSpPr>
            <p:spPr>
              <a:xfrm>
                <a:off x="8093643" y="2356990"/>
                <a:ext cx="2547681" cy="369332"/>
              </a:xfrm>
              <a:prstGeom prst="rect">
                <a:avLst/>
              </a:prstGeom>
              <a:solidFill>
                <a:srgbClr val="7030A0">
                  <a:alpha val="55000"/>
                </a:srgbClr>
              </a:solidFill>
              <a:ln w="2222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59F0C50-30C9-44D9-A7D8-F10F71F68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643" y="2356990"/>
                <a:ext cx="2547681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 w="2222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Elbow Connector 127">
            <a:extLst>
              <a:ext uri="{FF2B5EF4-FFF2-40B4-BE49-F238E27FC236}">
                <a16:creationId xmlns:a16="http://schemas.microsoft.com/office/drawing/2014/main" id="{25A6C16A-B1F4-444E-A0B3-5922F2618938}"/>
              </a:ext>
            </a:extLst>
          </p:cNvPr>
          <p:cNvCxnSpPr>
            <a:stCxn id="65" idx="2"/>
            <a:endCxn id="7" idx="0"/>
          </p:cNvCxnSpPr>
          <p:nvPr/>
        </p:nvCxnSpPr>
        <p:spPr>
          <a:xfrm rot="5400000">
            <a:off x="8110232" y="2190276"/>
            <a:ext cx="721207" cy="1793298"/>
          </a:xfrm>
          <a:prstGeom prst="bentConnector3">
            <a:avLst>
              <a:gd name="adj1" fmla="val 51981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128">
            <a:extLst>
              <a:ext uri="{FF2B5EF4-FFF2-40B4-BE49-F238E27FC236}">
                <a16:creationId xmlns:a16="http://schemas.microsoft.com/office/drawing/2014/main" id="{A8D61971-9D3E-44B4-9E4F-5A86EF77E96C}"/>
              </a:ext>
            </a:extLst>
          </p:cNvPr>
          <p:cNvCxnSpPr>
            <a:stCxn id="65" idx="2"/>
            <a:endCxn id="62" idx="0"/>
          </p:cNvCxnSpPr>
          <p:nvPr/>
        </p:nvCxnSpPr>
        <p:spPr>
          <a:xfrm rot="16200000" flipH="1">
            <a:off x="9965350" y="2128456"/>
            <a:ext cx="744518" cy="1940250"/>
          </a:xfrm>
          <a:prstGeom prst="bentConnector3">
            <a:avLst>
              <a:gd name="adj1" fmla="val 5064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129">
            <a:extLst>
              <a:ext uri="{FF2B5EF4-FFF2-40B4-BE49-F238E27FC236}">
                <a16:creationId xmlns:a16="http://schemas.microsoft.com/office/drawing/2014/main" id="{9DF0E4A4-238C-4361-909B-5778366A6FC8}"/>
              </a:ext>
            </a:extLst>
          </p:cNvPr>
          <p:cNvCxnSpPr>
            <a:stCxn id="65" idx="2"/>
            <a:endCxn id="56" idx="0"/>
          </p:cNvCxnSpPr>
          <p:nvPr/>
        </p:nvCxnSpPr>
        <p:spPr>
          <a:xfrm rot="5400000">
            <a:off x="8692222" y="2808304"/>
            <a:ext cx="757244" cy="593281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130">
            <a:extLst>
              <a:ext uri="{FF2B5EF4-FFF2-40B4-BE49-F238E27FC236}">
                <a16:creationId xmlns:a16="http://schemas.microsoft.com/office/drawing/2014/main" id="{A92CEBCE-EC02-439B-A0E8-824D3D886CBB}"/>
              </a:ext>
            </a:extLst>
          </p:cNvPr>
          <p:cNvCxnSpPr>
            <a:stCxn id="65" idx="2"/>
            <a:endCxn id="59" idx="0"/>
          </p:cNvCxnSpPr>
          <p:nvPr/>
        </p:nvCxnSpPr>
        <p:spPr>
          <a:xfrm rot="16200000" flipH="1">
            <a:off x="9300111" y="2793694"/>
            <a:ext cx="759172" cy="624427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itle 1">
            <a:extLst>
              <a:ext uri="{FF2B5EF4-FFF2-40B4-BE49-F238E27FC236}">
                <a16:creationId xmlns:a16="http://schemas.microsoft.com/office/drawing/2014/main" id="{3021A97C-346F-4AA9-BC5E-8708FC5DC0E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115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85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6293957" y="3202738"/>
            <a:ext cx="5574848" cy="3355139"/>
            <a:chOff x="5425739" y="3371590"/>
            <a:chExt cx="5574848" cy="3355139"/>
          </a:xfrm>
        </p:grpSpPr>
        <p:sp>
          <p:nvSpPr>
            <p:cNvPr id="69" name="Oval 68"/>
            <p:cNvSpPr/>
            <p:nvPr/>
          </p:nvSpPr>
          <p:spPr>
            <a:xfrm>
              <a:off x="6560957" y="4462129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>
              <a:off x="5425739" y="5710129"/>
              <a:ext cx="387073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Oval 70"/>
            <p:cNvSpPr/>
            <p:nvPr/>
          </p:nvSpPr>
          <p:spPr>
            <a:xfrm>
              <a:off x="5812812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1" idx="6"/>
              <a:endCxn id="73" idx="2"/>
            </p:cNvCxnSpPr>
            <p:nvPr/>
          </p:nvCxnSpPr>
          <p:spPr>
            <a:xfrm>
              <a:off x="6560957" y="5710129"/>
              <a:ext cx="396599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Oval 72"/>
            <p:cNvSpPr/>
            <p:nvPr/>
          </p:nvSpPr>
          <p:spPr>
            <a:xfrm>
              <a:off x="6957556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3" idx="6"/>
              <a:endCxn id="75" idx="2"/>
            </p:cNvCxnSpPr>
            <p:nvPr/>
          </p:nvCxnSpPr>
          <p:spPr>
            <a:xfrm>
              <a:off x="7705701" y="5710129"/>
              <a:ext cx="520960" cy="428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Oval 74"/>
            <p:cNvSpPr/>
            <p:nvPr/>
          </p:nvSpPr>
          <p:spPr>
            <a:xfrm>
              <a:off x="8226661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75" idx="6"/>
              <a:endCxn id="77" idx="2"/>
            </p:cNvCxnSpPr>
            <p:nvPr/>
          </p:nvCxnSpPr>
          <p:spPr>
            <a:xfrm>
              <a:off x="8974806" y="5714411"/>
              <a:ext cx="586794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>
            <a:xfrm>
              <a:off x="9561600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8" name="Straight Arrow Connector 77"/>
            <p:cNvCxnSpPr>
              <a:endCxn id="71" idx="4"/>
            </p:cNvCxnSpPr>
            <p:nvPr/>
          </p:nvCxnSpPr>
          <p:spPr>
            <a:xfrm flipV="1">
              <a:off x="6186885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1" idx="0"/>
            </p:cNvCxnSpPr>
            <p:nvPr/>
          </p:nvCxnSpPr>
          <p:spPr>
            <a:xfrm flipV="1">
              <a:off x="6186885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endCxn id="73" idx="4"/>
            </p:cNvCxnSpPr>
            <p:nvPr/>
          </p:nvCxnSpPr>
          <p:spPr>
            <a:xfrm flipV="1">
              <a:off x="7331629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3" idx="0"/>
            </p:cNvCxnSpPr>
            <p:nvPr/>
          </p:nvCxnSpPr>
          <p:spPr>
            <a:xfrm flipV="1">
              <a:off x="7331629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5" idx="0"/>
            </p:cNvCxnSpPr>
            <p:nvPr/>
          </p:nvCxnSpPr>
          <p:spPr>
            <a:xfrm flipV="1">
              <a:off x="8600734" y="4903102"/>
              <a:ext cx="7132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7" idx="0"/>
            </p:cNvCxnSpPr>
            <p:nvPr/>
          </p:nvCxnSpPr>
          <p:spPr>
            <a:xfrm flipV="1">
              <a:off x="9935673" y="4903102"/>
              <a:ext cx="7131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endCxn id="75" idx="4"/>
            </p:cNvCxnSpPr>
            <p:nvPr/>
          </p:nvCxnSpPr>
          <p:spPr>
            <a:xfrm flipV="1">
              <a:off x="8600732" y="6088484"/>
              <a:ext cx="2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endCxn id="77" idx="4"/>
            </p:cNvCxnSpPr>
            <p:nvPr/>
          </p:nvCxnSpPr>
          <p:spPr>
            <a:xfrm flipH="1" flipV="1">
              <a:off x="9935673" y="6088484"/>
              <a:ext cx="7131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38095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40476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5357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/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3043" r="-8696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/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3043" r="-8696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/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333" r="-8889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/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60062" y="4516800"/>
                  <a:ext cx="3183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0062" y="4516800"/>
                  <a:ext cx="318364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307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604423" y="4516800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4423" y="4516800"/>
                  <a:ext cx="3958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/>
                <p:nvPr/>
              </p:nvSpPr>
              <p:spPr>
                <a:xfrm>
                  <a:off x="5451836" y="5366408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836" y="5366408"/>
                  <a:ext cx="288477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/>
                <p:nvPr/>
              </p:nvSpPr>
              <p:spPr>
                <a:xfrm>
                  <a:off x="6672807" y="5388163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2807" y="5388163"/>
                  <a:ext cx="28847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9149" r="-8511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/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/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277" r="-6383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0833" r="-625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/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7804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78049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09745" y="5714411"/>
              <a:ext cx="690842" cy="5003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1277" r="-6383" b="-1777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8333" r="-191667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Straight Arrow Connector 116"/>
            <p:cNvCxnSpPr>
              <a:stCxn id="102" idx="3"/>
              <a:endCxn id="116" idx="1"/>
            </p:cNvCxnSpPr>
            <p:nvPr/>
          </p:nvCxnSpPr>
          <p:spPr>
            <a:xfrm flipV="1">
              <a:off x="6278426" y="4692798"/>
              <a:ext cx="298490" cy="866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/>
            <p:cNvSpPr/>
            <p:nvPr/>
          </p:nvSpPr>
          <p:spPr>
            <a:xfrm>
              <a:off x="7760974" y="4498166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blipFill>
                  <a:blip r:embed="rId32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/>
            <p:cNvCxnSpPr>
              <a:stCxn id="103" idx="3"/>
              <a:endCxn id="119" idx="1"/>
            </p:cNvCxnSpPr>
            <p:nvPr/>
          </p:nvCxnSpPr>
          <p:spPr>
            <a:xfrm>
              <a:off x="7520520" y="4710217"/>
              <a:ext cx="240454" cy="47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/>
            <p:cNvSpPr/>
            <p:nvPr/>
          </p:nvSpPr>
          <p:spPr>
            <a:xfrm>
              <a:off x="8978682" y="4500094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Straight Arrow Connector 122"/>
            <p:cNvCxnSpPr>
              <a:stCxn id="105" idx="3"/>
              <a:endCxn id="122" idx="1"/>
            </p:cNvCxnSpPr>
            <p:nvPr/>
          </p:nvCxnSpPr>
          <p:spPr>
            <a:xfrm>
              <a:off x="8758228" y="4709731"/>
              <a:ext cx="220454" cy="2461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/>
            <p:cNvSpPr/>
            <p:nvPr/>
          </p:nvSpPr>
          <p:spPr>
            <a:xfrm>
              <a:off x="10294505" y="4485440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Straight Arrow Connector 125"/>
            <p:cNvCxnSpPr>
              <a:stCxn id="104" idx="3"/>
              <a:endCxn id="125" idx="1"/>
            </p:cNvCxnSpPr>
            <p:nvPr/>
          </p:nvCxnSpPr>
          <p:spPr>
            <a:xfrm flipV="1">
              <a:off x="10000322" y="4697538"/>
              <a:ext cx="294183" cy="392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solidFill>
                  <a:srgbClr val="7030A0">
                    <a:alpha val="55000"/>
                  </a:srgbClr>
                </a:solid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Elbow Connector 127"/>
            <p:cNvCxnSpPr>
              <a:stCxn id="127" idx="2"/>
              <a:endCxn id="69" idx="0"/>
            </p:cNvCxnSpPr>
            <p:nvPr/>
          </p:nvCxnSpPr>
          <p:spPr>
            <a:xfrm rot="5400000">
              <a:off x="7314666" y="3204876"/>
              <a:ext cx="721207" cy="1793298"/>
            </a:xfrm>
            <a:prstGeom prst="bentConnector3">
              <a:avLst>
                <a:gd name="adj1" fmla="val 51981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stCxn id="127" idx="2"/>
              <a:endCxn id="124" idx="0"/>
            </p:cNvCxnSpPr>
            <p:nvPr/>
          </p:nvCxnSpPr>
          <p:spPr>
            <a:xfrm rot="16200000" flipH="1">
              <a:off x="9169784" y="3143056"/>
              <a:ext cx="744518" cy="1940250"/>
            </a:xfrm>
            <a:prstGeom prst="bentConnector3">
              <a:avLst>
                <a:gd name="adj1" fmla="val 5064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Elbow Connector 129"/>
            <p:cNvCxnSpPr>
              <a:stCxn id="127" idx="2"/>
              <a:endCxn id="118" idx="0"/>
            </p:cNvCxnSpPr>
            <p:nvPr/>
          </p:nvCxnSpPr>
          <p:spPr>
            <a:xfrm rot="5400000">
              <a:off x="7896656" y="3822904"/>
              <a:ext cx="757244" cy="593281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Elbow Connector 130"/>
            <p:cNvCxnSpPr>
              <a:stCxn id="127" idx="2"/>
              <a:endCxn id="121" idx="0"/>
            </p:cNvCxnSpPr>
            <p:nvPr/>
          </p:nvCxnSpPr>
          <p:spPr>
            <a:xfrm rot="16200000" flipH="1">
              <a:off x="8504545" y="3808294"/>
              <a:ext cx="759172" cy="624427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itle 1"/>
          <p:cNvSpPr txBox="1">
            <a:spLocks/>
          </p:cNvSpPr>
          <p:nvPr/>
        </p:nvSpPr>
        <p:spPr>
          <a:xfrm>
            <a:off x="838200" y="365126"/>
            <a:ext cx="10515600" cy="115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Content Placeholder 2">
                <a:extLst>
                  <a:ext uri="{FF2B5EF4-FFF2-40B4-BE49-F238E27FC236}">
                    <a16:creationId xmlns:a16="http://schemas.microsoft.com/office/drawing/2014/main" id="{54155053-D0A9-4FE2-929C-5ACCBF8FB4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1494" y="1644573"/>
                <a:ext cx="5730898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Next, error gradient w. r. t.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IN" sz="2400" b="0" i="1" baseline="-250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   again,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IN" sz="24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here T=4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can be obtained by </a:t>
                </a:r>
                <a:r>
                  <a:rPr lang="en-IN" sz="24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summing gradient along all the paths from 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rgbClr val="7030A0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Since,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GB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− </m:t>
                    </m:r>
                    <m:sSubSup>
                      <m:sSubSup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Now,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400" b="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By chain rule,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</a:t>
                </a:r>
                <a:r>
                  <a:rPr lang="en-IN" sz="2400" b="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Content Placeholder 2">
                <a:extLst>
                  <a:ext uri="{FF2B5EF4-FFF2-40B4-BE49-F238E27FC236}">
                    <a16:creationId xmlns:a16="http://schemas.microsoft.com/office/drawing/2014/main" id="{54155053-D0A9-4FE2-929C-5ACCBF8FB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1494" y="1644573"/>
                <a:ext cx="5730898" cy="4351338"/>
              </a:xfrm>
              <a:blipFill>
                <a:blip r:embed="rId36"/>
                <a:stretch>
                  <a:fillRect l="-1383" t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615B693-3366-4634-BF42-0F76281450F8}"/>
                  </a:ext>
                </a:extLst>
              </p:cNvPr>
              <p:cNvSpPr txBox="1"/>
              <p:nvPr/>
            </p:nvSpPr>
            <p:spPr>
              <a:xfrm>
                <a:off x="6215689" y="5510768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615B693-3366-4634-BF42-0F7628145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689" y="5510768"/>
                <a:ext cx="255187" cy="369332"/>
              </a:xfrm>
              <a:prstGeom prst="rect">
                <a:avLst/>
              </a:prstGeom>
              <a:blipFill>
                <a:blip r:embed="rId37"/>
                <a:stretch>
                  <a:fillRect r="-780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AA4DE7AF-B92A-49ED-986D-04CF9DCA0A3E}"/>
              </a:ext>
            </a:extLst>
          </p:cNvPr>
          <p:cNvSpPr txBox="1">
            <a:spLocks/>
          </p:cNvSpPr>
          <p:nvPr/>
        </p:nvSpPr>
        <p:spPr>
          <a:xfrm>
            <a:off x="6741989" y="1542032"/>
            <a:ext cx="5126816" cy="675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latin typeface="Arial Narrow" panose="020B0606020202030204" pitchFamily="34" charset="0"/>
                <a:cs typeface="Times New Roman" panose="02020603050405020304" pitchFamily="18" charset="0"/>
              </a:rPr>
              <a:t>So, in generic form (t time instances)</a:t>
            </a:r>
          </a:p>
          <a:p>
            <a:pPr marL="0" indent="0">
              <a:buNone/>
            </a:pPr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27E4EBD6-E3ED-4AA6-80F8-7ACDEE2AC713}"/>
                  </a:ext>
                </a:extLst>
              </p:cNvPr>
              <p:cNvSpPr/>
              <p:nvPr/>
            </p:nvSpPr>
            <p:spPr>
              <a:xfrm>
                <a:off x="7616430" y="2138107"/>
                <a:ext cx="3284438" cy="68345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57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27E4EBD6-E3ED-4AA6-80F8-7ACDEE2AC7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430" y="2138107"/>
                <a:ext cx="3284438" cy="683457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763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4767" y="149638"/>
            <a:ext cx="10515600" cy="115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01466" y="3360404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6266248" y="4608404"/>
            <a:ext cx="387073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653321" y="4234331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7401466" y="4608404"/>
            <a:ext cx="396599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798065" y="4234331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8546210" y="4608404"/>
            <a:ext cx="520960" cy="428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067170" y="4238613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>
            <a:off x="9815315" y="4612686"/>
            <a:ext cx="586794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402109" y="4238613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/>
          <p:cNvCxnSpPr>
            <a:endCxn id="8" idx="4"/>
          </p:cNvCxnSpPr>
          <p:nvPr/>
        </p:nvCxnSpPr>
        <p:spPr>
          <a:xfrm flipV="1">
            <a:off x="7027394" y="4982477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</p:cNvCxnSpPr>
          <p:nvPr/>
        </p:nvCxnSpPr>
        <p:spPr>
          <a:xfrm flipV="1">
            <a:off x="7027394" y="3809403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4"/>
          </p:cNvCxnSpPr>
          <p:nvPr/>
        </p:nvCxnSpPr>
        <p:spPr>
          <a:xfrm flipV="1">
            <a:off x="8172138" y="4982477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</p:cNvCxnSpPr>
          <p:nvPr/>
        </p:nvCxnSpPr>
        <p:spPr>
          <a:xfrm flipV="1">
            <a:off x="8172138" y="3809403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0"/>
          </p:cNvCxnSpPr>
          <p:nvPr/>
        </p:nvCxnSpPr>
        <p:spPr>
          <a:xfrm flipV="1">
            <a:off x="9441243" y="3801377"/>
            <a:ext cx="7132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V="1">
            <a:off x="10776182" y="3801377"/>
            <a:ext cx="7131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2" idx="4"/>
          </p:cNvCxnSpPr>
          <p:nvPr/>
        </p:nvCxnSpPr>
        <p:spPr>
          <a:xfrm flipV="1">
            <a:off x="9441241" y="4986759"/>
            <a:ext cx="2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4" idx="4"/>
          </p:cNvCxnSpPr>
          <p:nvPr/>
        </p:nvCxnSpPr>
        <p:spPr>
          <a:xfrm flipH="1" flipV="1">
            <a:off x="10776182" y="4986759"/>
            <a:ext cx="7131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825296" y="442350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296" y="4423507"/>
                <a:ext cx="255187" cy="369332"/>
              </a:xfrm>
              <a:prstGeom prst="rect">
                <a:avLst/>
              </a:prstGeom>
              <a:blipFill>
                <a:blip r:embed="rId2"/>
                <a:stretch>
                  <a:fillRect r="-39024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965130" y="442350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130" y="4423507"/>
                <a:ext cx="255187" cy="369332"/>
              </a:xfrm>
              <a:prstGeom prst="rect">
                <a:avLst/>
              </a:prstGeom>
              <a:blipFill>
                <a:blip r:embed="rId3"/>
                <a:stretch>
                  <a:fillRect r="-41463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0574212" y="4423507"/>
                <a:ext cx="340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212" y="4423507"/>
                <a:ext cx="340316" cy="369332"/>
              </a:xfrm>
              <a:prstGeom prst="rect">
                <a:avLst/>
              </a:prstGeom>
              <a:blipFill>
                <a:blip r:embed="rId4"/>
                <a:stretch>
                  <a:fillRect r="-5455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232292" y="4421777"/>
                <a:ext cx="4380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292" y="4421777"/>
                <a:ext cx="4380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10330800" y="4925972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800" y="4925972"/>
                <a:ext cx="255187" cy="369332"/>
              </a:xfrm>
              <a:prstGeom prst="rect">
                <a:avLst/>
              </a:prstGeom>
              <a:blipFill>
                <a:blip r:embed="rId6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8945989" y="493907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989" y="4939073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63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7689029" y="4925972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029" y="4925972"/>
                <a:ext cx="255187" cy="369332"/>
              </a:xfrm>
              <a:prstGeom prst="rect">
                <a:avLst/>
              </a:prstGeom>
              <a:blipFill>
                <a:blip r:embed="rId8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6545384" y="491607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384" y="4916079"/>
                <a:ext cx="255187" cy="369332"/>
              </a:xfrm>
              <a:prstGeom prst="rect">
                <a:avLst/>
              </a:prstGeom>
              <a:blipFill>
                <a:blip r:embed="rId9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/>
              <p:nvPr/>
            </p:nvSpPr>
            <p:spPr>
              <a:xfrm>
                <a:off x="9295011" y="5344463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011" y="5344463"/>
                <a:ext cx="281423" cy="276999"/>
              </a:xfrm>
              <a:prstGeom prst="rect">
                <a:avLst/>
              </a:prstGeom>
              <a:blipFill>
                <a:blip r:embed="rId10"/>
                <a:stretch>
                  <a:fillRect l="-13043" r="-652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/>
              <p:nvPr/>
            </p:nvSpPr>
            <p:spPr>
              <a:xfrm>
                <a:off x="10732448" y="5329912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2448" y="5329912"/>
                <a:ext cx="281423" cy="276999"/>
              </a:xfrm>
              <a:prstGeom prst="rect">
                <a:avLst/>
              </a:prstGeom>
              <a:blipFill>
                <a:blip r:embed="rId11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/>
              <p:nvPr/>
            </p:nvSpPr>
            <p:spPr>
              <a:xfrm>
                <a:off x="6824747" y="5348005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747" y="5348005"/>
                <a:ext cx="276101" cy="276999"/>
              </a:xfrm>
              <a:prstGeom prst="rect">
                <a:avLst/>
              </a:prstGeom>
              <a:blipFill>
                <a:blip r:embed="rId12"/>
                <a:stretch>
                  <a:fillRect l="-13333" r="-666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/>
              <p:nvPr/>
            </p:nvSpPr>
            <p:spPr>
              <a:xfrm>
                <a:off x="8079605" y="5342172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9605" y="5342172"/>
                <a:ext cx="281424" cy="276999"/>
              </a:xfrm>
              <a:prstGeom prst="rect">
                <a:avLst/>
              </a:prstGeom>
              <a:blipFill>
                <a:blip r:embed="rId13"/>
                <a:stretch>
                  <a:fillRect l="-12766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800571" y="3415075"/>
                <a:ext cx="318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571" y="3415075"/>
                <a:ext cx="318364" cy="369332"/>
              </a:xfrm>
              <a:prstGeom prst="rect">
                <a:avLst/>
              </a:prstGeom>
              <a:blipFill>
                <a:blip r:embed="rId14"/>
                <a:stretch>
                  <a:fillRect r="-211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965130" y="3423826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130" y="3423826"/>
                <a:ext cx="395899" cy="369332"/>
              </a:xfrm>
              <a:prstGeom prst="rect">
                <a:avLst/>
              </a:prstGeom>
              <a:blipFill>
                <a:blip r:embed="rId1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0444932" y="3415075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932" y="3415075"/>
                <a:ext cx="39589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202838" y="3423340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2838" y="3423340"/>
                <a:ext cx="395899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/>
              <p:nvPr/>
            </p:nvSpPr>
            <p:spPr>
              <a:xfrm>
                <a:off x="6292345" y="4264683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345" y="4264683"/>
                <a:ext cx="288477" cy="276999"/>
              </a:xfrm>
              <a:prstGeom prst="rect">
                <a:avLst/>
              </a:prstGeom>
              <a:blipFill>
                <a:blip r:embed="rId18"/>
                <a:stretch>
                  <a:fillRect l="-2083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/>
              <p:nvPr/>
            </p:nvSpPr>
            <p:spPr>
              <a:xfrm>
                <a:off x="7513316" y="4286438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316" y="4286438"/>
                <a:ext cx="288477" cy="276999"/>
              </a:xfrm>
              <a:prstGeom prst="rect">
                <a:avLst/>
              </a:prstGeom>
              <a:blipFill>
                <a:blip r:embed="rId19"/>
                <a:stretch>
                  <a:fillRect l="-16667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/>
              <p:nvPr/>
            </p:nvSpPr>
            <p:spPr>
              <a:xfrm>
                <a:off x="8616374" y="4274527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374" y="4274527"/>
                <a:ext cx="288477" cy="276999"/>
              </a:xfrm>
              <a:prstGeom prst="rect">
                <a:avLst/>
              </a:prstGeom>
              <a:blipFill>
                <a:blip r:embed="rId20"/>
                <a:stretch>
                  <a:fillRect l="-20833" r="-6250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9903778" y="4285007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78" y="4285007"/>
                <a:ext cx="288477" cy="276999"/>
              </a:xfrm>
              <a:prstGeom prst="rect">
                <a:avLst/>
              </a:prstGeom>
              <a:blipFill>
                <a:blip r:embed="rId21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</p:cNvCxnSpPr>
          <p:nvPr/>
        </p:nvCxnSpPr>
        <p:spPr>
          <a:xfrm>
            <a:off x="11150254" y="4612686"/>
            <a:ext cx="690842" cy="500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11254302" y="4273124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4302" y="4273124"/>
                <a:ext cx="288477" cy="276999"/>
              </a:xfrm>
              <a:prstGeom prst="rect">
                <a:avLst/>
              </a:prstGeom>
              <a:blipFill>
                <a:blip r:embed="rId22"/>
                <a:stretch>
                  <a:fillRect l="-2083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417425" y="3406407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425" y="3406407"/>
                <a:ext cx="419366" cy="369332"/>
              </a:xfrm>
              <a:prstGeom prst="rect">
                <a:avLst/>
              </a:prstGeom>
              <a:blipFill>
                <a:blip r:embed="rId23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>
            <a:stCxn id="39" idx="3"/>
            <a:endCxn id="53" idx="1"/>
          </p:cNvCxnSpPr>
          <p:nvPr/>
        </p:nvCxnSpPr>
        <p:spPr>
          <a:xfrm flipV="1">
            <a:off x="7118935" y="3591073"/>
            <a:ext cx="298490" cy="8668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8601483" y="3396441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601483" y="3423873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483" y="3423873"/>
                <a:ext cx="419366" cy="369332"/>
              </a:xfrm>
              <a:prstGeom prst="rect">
                <a:avLst/>
              </a:prstGeom>
              <a:blipFill>
                <a:blip r:embed="rId24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/>
          <p:cNvCxnSpPr>
            <a:stCxn id="40" idx="3"/>
            <a:endCxn id="56" idx="1"/>
          </p:cNvCxnSpPr>
          <p:nvPr/>
        </p:nvCxnSpPr>
        <p:spPr>
          <a:xfrm>
            <a:off x="8361029" y="3608492"/>
            <a:ext cx="240454" cy="47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819191" y="3398369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819191" y="3425801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191" y="3425801"/>
                <a:ext cx="41936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42" idx="3"/>
            <a:endCxn id="59" idx="1"/>
          </p:cNvCxnSpPr>
          <p:nvPr/>
        </p:nvCxnSpPr>
        <p:spPr>
          <a:xfrm>
            <a:off x="9598737" y="3608006"/>
            <a:ext cx="220454" cy="2461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1135014" y="3383715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1135014" y="3411147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5014" y="3411147"/>
                <a:ext cx="419366" cy="369332"/>
              </a:xfrm>
              <a:prstGeom prst="rect">
                <a:avLst/>
              </a:prstGeom>
              <a:blipFill>
                <a:blip r:embed="rId26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/>
          <p:cNvCxnSpPr>
            <a:stCxn id="41" idx="3"/>
            <a:endCxn id="62" idx="1"/>
          </p:cNvCxnSpPr>
          <p:nvPr/>
        </p:nvCxnSpPr>
        <p:spPr>
          <a:xfrm flipV="1">
            <a:off x="10840831" y="3595813"/>
            <a:ext cx="294183" cy="3928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138586" y="2269865"/>
                <a:ext cx="2547681" cy="369332"/>
              </a:xfrm>
              <a:prstGeom prst="rect">
                <a:avLst/>
              </a:prstGeom>
              <a:solidFill>
                <a:srgbClr val="7030A0">
                  <a:alpha val="55000"/>
                </a:srgbClr>
              </a:solidFill>
              <a:ln w="2222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586" y="2269865"/>
                <a:ext cx="2547681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222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Elbow Connector 64"/>
          <p:cNvCxnSpPr>
            <a:stCxn id="64" idx="2"/>
            <a:endCxn id="6" idx="0"/>
          </p:cNvCxnSpPr>
          <p:nvPr/>
        </p:nvCxnSpPr>
        <p:spPr>
          <a:xfrm rot="5400000">
            <a:off x="8155175" y="2103151"/>
            <a:ext cx="721207" cy="1793298"/>
          </a:xfrm>
          <a:prstGeom prst="bentConnector3">
            <a:avLst>
              <a:gd name="adj1" fmla="val 51981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64" idx="2"/>
            <a:endCxn id="61" idx="0"/>
          </p:cNvCxnSpPr>
          <p:nvPr/>
        </p:nvCxnSpPr>
        <p:spPr>
          <a:xfrm rot="16200000" flipH="1">
            <a:off x="10010293" y="2041331"/>
            <a:ext cx="744518" cy="1940250"/>
          </a:xfrm>
          <a:prstGeom prst="bentConnector3">
            <a:avLst>
              <a:gd name="adj1" fmla="val 5064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64" idx="2"/>
            <a:endCxn id="55" idx="0"/>
          </p:cNvCxnSpPr>
          <p:nvPr/>
        </p:nvCxnSpPr>
        <p:spPr>
          <a:xfrm rot="5400000">
            <a:off x="8737165" y="2721179"/>
            <a:ext cx="757244" cy="593281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/>
          <p:cNvCxnSpPr>
            <a:stCxn id="64" idx="2"/>
            <a:endCxn id="58" idx="0"/>
          </p:cNvCxnSpPr>
          <p:nvPr/>
        </p:nvCxnSpPr>
        <p:spPr>
          <a:xfrm rot="16200000" flipH="1">
            <a:off x="9345054" y="2706569"/>
            <a:ext cx="759172" cy="624427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>
                <a:extLst>
                  <a:ext uri="{FF2B5EF4-FFF2-40B4-BE49-F238E27FC236}">
                    <a16:creationId xmlns:a16="http://schemas.microsoft.com/office/drawing/2014/main" id="{54155053-D0A9-4FE2-929C-5ACCBF8FB4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767" y="1384963"/>
                <a:ext cx="6040115" cy="47815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sz="18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Finally, error gradient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f>
                      <m:fPr>
                        <m:ctrlPr>
                          <a:rPr lang="en-I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In similar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we can find</a:t>
                </a:r>
              </a:p>
              <a:p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For all T instances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Content Placeholder 2">
                <a:extLst>
                  <a:ext uri="{FF2B5EF4-FFF2-40B4-BE49-F238E27FC236}">
                    <a16:creationId xmlns:a16="http://schemas.microsoft.com/office/drawing/2014/main" id="{54155053-D0A9-4FE2-929C-5ACCBF8FB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67" y="1384963"/>
                <a:ext cx="6040115" cy="4781551"/>
              </a:xfrm>
              <a:prstGeom prst="rect">
                <a:avLst/>
              </a:prstGeom>
              <a:blipFill>
                <a:blip r:embed="rId28"/>
                <a:stretch>
                  <a:fillRect l="-13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2129882" y="3360404"/>
                <a:ext cx="3099182" cy="683457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57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IN" sz="2400" dirty="0">
                    <a:solidFill>
                      <a:schemeClr val="tx1"/>
                    </a:solidFill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en-I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solidFill>
                      <a:schemeClr val="tx1"/>
                    </a:solidFill>
                    <a:latin typeface="Arial Narrow" panose="020B0606020202030204" pitchFamily="34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882" y="3360404"/>
                <a:ext cx="3099182" cy="68345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FEF0137-7811-421C-9E60-8CE7223653F2}"/>
                  </a:ext>
                </a:extLst>
              </p:cNvPr>
              <p:cNvSpPr/>
              <p:nvPr/>
            </p:nvSpPr>
            <p:spPr>
              <a:xfrm>
                <a:off x="1349109" y="4939073"/>
                <a:ext cx="3256084" cy="6810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I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  <m:e>
                        <m:f>
                          <m:fPr>
                            <m:ctrlPr>
                              <a:rPr lang="en-IN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I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IN" sz="24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 here T=4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FEF0137-7811-421C-9E60-8CE722365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109" y="4939073"/>
                <a:ext cx="3256084" cy="681084"/>
              </a:xfrm>
              <a:prstGeom prst="rect">
                <a:avLst/>
              </a:prstGeom>
              <a:blipFill>
                <a:blip r:embed="rId30"/>
                <a:stretch>
                  <a:fillRect r="-2060" b="-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11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14375" y="1307204"/>
                <a:ext cx="5715147" cy="530098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The objective is to update the weight parameters (</a:t>
                </a:r>
                <a:r>
                  <a:rPr lang="en-US" dirty="0" err="1">
                    <a:latin typeface="Arial Narrow" panose="020B0606020202030204" pitchFamily="34" charset="0"/>
                  </a:rPr>
                  <a:t>W</a:t>
                </a:r>
                <a:r>
                  <a:rPr lang="en-US" baseline="-25000" dirty="0" err="1">
                    <a:latin typeface="Arial Narrow" panose="020B0606020202030204" pitchFamily="34" charset="0"/>
                  </a:rPr>
                  <a:t>x</a:t>
                </a:r>
                <a:r>
                  <a:rPr lang="en-US" dirty="0" err="1">
                    <a:latin typeface="Arial Narrow" panose="020B0606020202030204" pitchFamily="34" charset="0"/>
                  </a:rPr>
                  <a:t>,W</a:t>
                </a:r>
                <a:r>
                  <a:rPr lang="en-US" baseline="-25000" dirty="0" err="1">
                    <a:latin typeface="Arial Narrow" panose="020B0606020202030204" pitchFamily="34" charset="0"/>
                  </a:rPr>
                  <a:t>h</a:t>
                </a:r>
                <a:r>
                  <a:rPr lang="en-US" dirty="0" err="1">
                    <a:latin typeface="Arial Narrow" panose="020B0606020202030204" pitchFamily="34" charset="0"/>
                  </a:rPr>
                  <a:t>,W</a:t>
                </a:r>
                <a:r>
                  <a:rPr lang="en-US" baseline="-25000" dirty="0" err="1">
                    <a:latin typeface="Arial Narrow" panose="020B0606020202030204" pitchFamily="34" charset="0"/>
                  </a:rPr>
                  <a:t>o</a:t>
                </a:r>
                <a:r>
                  <a:rPr lang="en-US" dirty="0">
                    <a:latin typeface="Arial Narrow" panose="020B0606020202030204" pitchFamily="34" charset="0"/>
                  </a:rPr>
                  <a:t>) using backpropagation.</a:t>
                </a: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Arial Narrow" panose="020B0606020202030204" pitchFamily="34" charset="0"/>
                  </a:rPr>
                  <a:t>To update the weights, we need to compute the error gradients with respect to the weight parameters (</a:t>
                </a:r>
                <a:r>
                  <a:rPr lang="en-US" dirty="0" err="1">
                    <a:latin typeface="Arial Narrow" panose="020B0606020202030204" pitchFamily="34" charset="0"/>
                  </a:rPr>
                  <a:t>W</a:t>
                </a:r>
                <a:r>
                  <a:rPr lang="en-US" baseline="-25000" dirty="0" err="1">
                    <a:latin typeface="Arial Narrow" panose="020B0606020202030204" pitchFamily="34" charset="0"/>
                  </a:rPr>
                  <a:t>x</a:t>
                </a:r>
                <a:r>
                  <a:rPr lang="en-US" dirty="0" err="1">
                    <a:latin typeface="Arial Narrow" panose="020B0606020202030204" pitchFamily="34" charset="0"/>
                  </a:rPr>
                  <a:t>,W</a:t>
                </a:r>
                <a:r>
                  <a:rPr lang="en-US" baseline="-25000" dirty="0" err="1">
                    <a:latin typeface="Arial Narrow" panose="020B0606020202030204" pitchFamily="34" charset="0"/>
                  </a:rPr>
                  <a:t>h</a:t>
                </a:r>
                <a:r>
                  <a:rPr lang="en-US" dirty="0" err="1">
                    <a:latin typeface="Arial Narrow" panose="020B0606020202030204" pitchFamily="34" charset="0"/>
                  </a:rPr>
                  <a:t>,W</a:t>
                </a:r>
                <a:r>
                  <a:rPr lang="en-US" baseline="-25000" dirty="0" err="1">
                    <a:latin typeface="Arial Narrow" panose="020B0606020202030204" pitchFamily="34" charset="0"/>
                  </a:rPr>
                  <a:t>o</a:t>
                </a:r>
                <a:r>
                  <a:rPr lang="en-US" dirty="0">
                    <a:latin typeface="Arial Narrow" panose="020B0606020202030204" pitchFamily="34" charset="0"/>
                  </a:rPr>
                  <a:t>).</a:t>
                </a: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Now we derive,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b="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IN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where t=1 to 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IN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So, we can easily updates the weight parameters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Arial Narrow" panose="020B0606020202030204" pitchFamily="34" charset="0"/>
                      </a:rPr>
                      <m:t>W</m:t>
                    </m:r>
                    <m:r>
                      <m:rPr>
                        <m:nor/>
                      </m:rPr>
                      <a:rPr lang="en-US" baseline="-25000" dirty="0">
                        <a:latin typeface="Arial Narrow" panose="020B0606020202030204" pitchFamily="34" charset="0"/>
                      </a:rPr>
                      <m:t>x</m:t>
                    </m:r>
                    <m:r>
                      <m:rPr>
                        <m:nor/>
                      </m:rPr>
                      <a:rPr lang="en-US" dirty="0">
                        <a:latin typeface="Arial Narrow" panose="020B0606020202030204" pitchFamily="34" charset="0"/>
                      </a:rPr>
                      <m:t>,</m:t>
                    </m:r>
                    <m:r>
                      <m:rPr>
                        <m:nor/>
                      </m:rPr>
                      <a:rPr lang="en-US" dirty="0">
                        <a:latin typeface="Arial Narrow" panose="020B0606020202030204" pitchFamily="34" charset="0"/>
                      </a:rPr>
                      <m:t>Wh</m:t>
                    </m:r>
                    <m:r>
                      <m:rPr>
                        <m:nor/>
                      </m:rPr>
                      <a:rPr lang="en-US" dirty="0">
                        <a:latin typeface="Arial Narrow" panose="020B0606020202030204" pitchFamily="34" charset="0"/>
                      </a:rPr>
                      <m:t>,</m:t>
                    </m:r>
                    <m:r>
                      <m:rPr>
                        <m:nor/>
                      </m:rPr>
                      <a:rPr lang="en-US" dirty="0">
                        <a:latin typeface="Arial Narrow" panose="020B0606020202030204" pitchFamily="34" charset="0"/>
                      </a:rPr>
                      <m:t>Wo</m:t>
                    </m:r>
                  </m:oMath>
                </a14:m>
                <a:r>
                  <a:rPr lang="en-IN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) using BPTT.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4375" y="1307204"/>
                <a:ext cx="5715147" cy="5300985"/>
              </a:xfrm>
              <a:blipFill>
                <a:blip r:embed="rId2"/>
                <a:stretch>
                  <a:fillRect l="-1173" t="-5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 txBox="1">
            <a:spLocks/>
          </p:cNvSpPr>
          <p:nvPr/>
        </p:nvSpPr>
        <p:spPr>
          <a:xfrm>
            <a:off x="664767" y="149638"/>
            <a:ext cx="10515600" cy="115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7558017" y="3871540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6422799" y="5119540"/>
            <a:ext cx="387073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809872" y="4745467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7558017" y="5119540"/>
            <a:ext cx="396599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954616" y="4745467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8702761" y="5119540"/>
            <a:ext cx="520960" cy="428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223721" y="4749749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12" idx="6"/>
            <a:endCxn id="14" idx="2"/>
          </p:cNvCxnSpPr>
          <p:nvPr/>
        </p:nvCxnSpPr>
        <p:spPr>
          <a:xfrm>
            <a:off x="9971866" y="5123822"/>
            <a:ext cx="586794" cy="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558660" y="4749749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/>
          <p:cNvCxnSpPr>
            <a:endCxn id="8" idx="4"/>
          </p:cNvCxnSpPr>
          <p:nvPr/>
        </p:nvCxnSpPr>
        <p:spPr>
          <a:xfrm flipV="1">
            <a:off x="7183945" y="5493613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</p:cNvCxnSpPr>
          <p:nvPr/>
        </p:nvCxnSpPr>
        <p:spPr>
          <a:xfrm flipV="1">
            <a:off x="7183945" y="4320539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0" idx="4"/>
          </p:cNvCxnSpPr>
          <p:nvPr/>
        </p:nvCxnSpPr>
        <p:spPr>
          <a:xfrm flipV="1">
            <a:off x="8328689" y="5493613"/>
            <a:ext cx="0" cy="3445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</p:cNvCxnSpPr>
          <p:nvPr/>
        </p:nvCxnSpPr>
        <p:spPr>
          <a:xfrm flipV="1">
            <a:off x="8328689" y="4320539"/>
            <a:ext cx="0" cy="42492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0"/>
          </p:cNvCxnSpPr>
          <p:nvPr/>
        </p:nvCxnSpPr>
        <p:spPr>
          <a:xfrm flipV="1">
            <a:off x="9597794" y="4312513"/>
            <a:ext cx="7132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V="1">
            <a:off x="10932733" y="4312513"/>
            <a:ext cx="7131" cy="4372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2" idx="4"/>
          </p:cNvCxnSpPr>
          <p:nvPr/>
        </p:nvCxnSpPr>
        <p:spPr>
          <a:xfrm flipV="1">
            <a:off x="9597792" y="5497895"/>
            <a:ext cx="2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4" idx="4"/>
          </p:cNvCxnSpPr>
          <p:nvPr/>
        </p:nvCxnSpPr>
        <p:spPr>
          <a:xfrm flipH="1" flipV="1">
            <a:off x="10932733" y="5497895"/>
            <a:ext cx="7131" cy="34029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981847" y="493464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847" y="4934643"/>
                <a:ext cx="255187" cy="369332"/>
              </a:xfrm>
              <a:prstGeom prst="rect">
                <a:avLst/>
              </a:prstGeom>
              <a:blipFill>
                <a:blip r:embed="rId3"/>
                <a:stretch>
                  <a:fillRect r="-380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121681" y="4934643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681" y="4934643"/>
                <a:ext cx="255187" cy="369332"/>
              </a:xfrm>
              <a:prstGeom prst="rect">
                <a:avLst/>
              </a:prstGeom>
              <a:blipFill>
                <a:blip r:embed="rId4"/>
                <a:stretch>
                  <a:fillRect r="-404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0730763" y="4934643"/>
                <a:ext cx="340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763" y="4934643"/>
                <a:ext cx="340316" cy="369332"/>
              </a:xfrm>
              <a:prstGeom prst="rect">
                <a:avLst/>
              </a:prstGeom>
              <a:blipFill>
                <a:blip r:embed="rId5"/>
                <a:stretch>
                  <a:fillRect r="-53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388843" y="4932913"/>
                <a:ext cx="4380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8843" y="4932913"/>
                <a:ext cx="4380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703687" y="4425471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687" y="4425471"/>
                <a:ext cx="255187" cy="369332"/>
              </a:xfrm>
              <a:prstGeom prst="rect">
                <a:avLst/>
              </a:prstGeom>
              <a:blipFill>
                <a:blip r:embed="rId7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0487351" y="442344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351" y="4423449"/>
                <a:ext cx="255187" cy="369332"/>
              </a:xfrm>
              <a:prstGeom prst="rect">
                <a:avLst/>
              </a:prstGeom>
              <a:blipFill>
                <a:blip r:embed="rId8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875201" y="441664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201" y="4416640"/>
                <a:ext cx="255187" cy="369332"/>
              </a:xfrm>
              <a:prstGeom prst="rect">
                <a:avLst/>
              </a:prstGeom>
              <a:blipFill>
                <a:blip r:embed="rId9"/>
                <a:stretch>
                  <a:fillRect r="-5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096127" y="444120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127" y="4441205"/>
                <a:ext cx="255187" cy="369332"/>
              </a:xfrm>
              <a:prstGeom prst="rect">
                <a:avLst/>
              </a:prstGeom>
              <a:blipFill>
                <a:blip r:embed="rId10"/>
                <a:stretch>
                  <a:fillRect r="-59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10487351" y="5437108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351" y="5437108"/>
                <a:ext cx="255187" cy="369332"/>
              </a:xfrm>
              <a:prstGeom prst="rect">
                <a:avLst/>
              </a:prstGeom>
              <a:blipFill>
                <a:blip r:embed="rId11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9102540" y="545020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540" y="5450209"/>
                <a:ext cx="255187" cy="369332"/>
              </a:xfrm>
              <a:prstGeom prst="rect">
                <a:avLst/>
              </a:prstGeom>
              <a:blipFill>
                <a:blip r:embed="rId12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7845580" y="5437108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580" y="5437108"/>
                <a:ext cx="255187" cy="369332"/>
              </a:xfrm>
              <a:prstGeom prst="rect">
                <a:avLst/>
              </a:prstGeom>
              <a:blipFill>
                <a:blip r:embed="rId13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6701935" y="542721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935" y="5427215"/>
                <a:ext cx="255187" cy="369332"/>
              </a:xfrm>
              <a:prstGeom prst="rect">
                <a:avLst/>
              </a:prstGeom>
              <a:blipFill>
                <a:blip r:embed="rId14"/>
                <a:stretch>
                  <a:fillRect r="-61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/>
              <p:nvPr/>
            </p:nvSpPr>
            <p:spPr>
              <a:xfrm>
                <a:off x="9451562" y="5855599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B5650A-F919-49D7-905A-6B9C1180E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562" y="5855599"/>
                <a:ext cx="281423" cy="276999"/>
              </a:xfrm>
              <a:prstGeom prst="rect">
                <a:avLst/>
              </a:prstGeom>
              <a:blipFill>
                <a:blip r:embed="rId15"/>
                <a:stretch>
                  <a:fillRect l="-12766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/>
              <p:nvPr/>
            </p:nvSpPr>
            <p:spPr>
              <a:xfrm>
                <a:off x="10888999" y="584104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148B78-03EF-4C49-BF25-1EC598BF5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8999" y="5841048"/>
                <a:ext cx="281423" cy="276999"/>
              </a:xfrm>
              <a:prstGeom prst="rect">
                <a:avLst/>
              </a:prstGeom>
              <a:blipFill>
                <a:blip r:embed="rId16"/>
                <a:stretch>
                  <a:fillRect l="-13043" r="-8696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/>
              <p:nvPr/>
            </p:nvSpPr>
            <p:spPr>
              <a:xfrm>
                <a:off x="6981298" y="5859141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298" y="5859141"/>
                <a:ext cx="276101" cy="276999"/>
              </a:xfrm>
              <a:prstGeom prst="rect">
                <a:avLst/>
              </a:prstGeom>
              <a:blipFill>
                <a:blip r:embed="rId17"/>
                <a:stretch>
                  <a:fillRect l="-13043" r="-6522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/>
              <p:nvPr/>
            </p:nvSpPr>
            <p:spPr>
              <a:xfrm>
                <a:off x="8236156" y="5853308"/>
                <a:ext cx="2814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4770705-4D96-4FE6-B6B3-3F57FD0F8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6156" y="5853308"/>
                <a:ext cx="281424" cy="276999"/>
              </a:xfrm>
              <a:prstGeom prst="rect">
                <a:avLst/>
              </a:prstGeom>
              <a:blipFill>
                <a:blip r:embed="rId18"/>
                <a:stretch>
                  <a:fillRect l="-13043" r="-8696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6942392" y="3915098"/>
                <a:ext cx="3918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392" y="3915098"/>
                <a:ext cx="39183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121681" y="3934962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681" y="3934962"/>
                <a:ext cx="39589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0601483" y="3926211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1483" y="3926211"/>
                <a:ext cx="39589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359389" y="3934476"/>
                <a:ext cx="3958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389" y="3934476"/>
                <a:ext cx="39589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/>
              <p:nvPr/>
            </p:nvSpPr>
            <p:spPr>
              <a:xfrm>
                <a:off x="6448896" y="4775819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896" y="4775819"/>
                <a:ext cx="288477" cy="276999"/>
              </a:xfrm>
              <a:prstGeom prst="rect">
                <a:avLst/>
              </a:prstGeom>
              <a:blipFill>
                <a:blip r:embed="rId23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/>
              <p:nvPr/>
            </p:nvSpPr>
            <p:spPr>
              <a:xfrm>
                <a:off x="7669867" y="4797574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867" y="4797574"/>
                <a:ext cx="288477" cy="276999"/>
              </a:xfrm>
              <a:prstGeom prst="rect">
                <a:avLst/>
              </a:prstGeom>
              <a:blipFill>
                <a:blip r:embed="rId24"/>
                <a:stretch>
                  <a:fillRect l="-18750" r="-6250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926D038-0DC2-4C1B-9ACB-3E8CBDA4D8ED}"/>
                  </a:ext>
                </a:extLst>
              </p:cNvPr>
              <p:cNvSpPr txBox="1"/>
              <p:nvPr/>
            </p:nvSpPr>
            <p:spPr>
              <a:xfrm>
                <a:off x="7577391" y="5117579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926D038-0DC2-4C1B-9ACB-3E8CBDA4D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391" y="5117579"/>
                <a:ext cx="255187" cy="369332"/>
              </a:xfrm>
              <a:prstGeom prst="rect">
                <a:avLst/>
              </a:prstGeom>
              <a:blipFill>
                <a:blip r:embed="rId25"/>
                <a:stretch>
                  <a:fillRect r="-73810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/>
              <p:nvPr/>
            </p:nvSpPr>
            <p:spPr>
              <a:xfrm>
                <a:off x="8772925" y="4785663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1D5D24D-F33E-46D2-A68D-783DCFED6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925" y="4785663"/>
                <a:ext cx="288477" cy="276999"/>
              </a:xfrm>
              <a:prstGeom prst="rect">
                <a:avLst/>
              </a:prstGeom>
              <a:blipFill>
                <a:blip r:embed="rId26"/>
                <a:stretch>
                  <a:fillRect l="-21277" r="-8511" b="-177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10060329" y="4796143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0329" y="4796143"/>
                <a:ext cx="288477" cy="276999"/>
              </a:xfrm>
              <a:prstGeom prst="rect">
                <a:avLst/>
              </a:prstGeom>
              <a:blipFill>
                <a:blip r:embed="rId27"/>
                <a:stretch>
                  <a:fillRect l="-20833" r="-625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9E0204-680C-4C91-ACA0-A99C251263DD}"/>
                  </a:ext>
                </a:extLst>
              </p:cNvPr>
              <p:cNvSpPr txBox="1"/>
              <p:nvPr/>
            </p:nvSpPr>
            <p:spPr>
              <a:xfrm>
                <a:off x="8825346" y="5100871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9E0204-680C-4C91-ACA0-A99C25126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5346" y="5100871"/>
                <a:ext cx="255187" cy="369332"/>
              </a:xfrm>
              <a:prstGeom prst="rect">
                <a:avLst/>
              </a:prstGeom>
              <a:blipFill>
                <a:blip r:embed="rId28"/>
                <a:stretch>
                  <a:fillRect r="-73810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/>
              <p:nvPr/>
            </p:nvSpPr>
            <p:spPr>
              <a:xfrm>
                <a:off x="10026384" y="5095400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384" y="5095400"/>
                <a:ext cx="255187" cy="369332"/>
              </a:xfrm>
              <a:prstGeom prst="rect">
                <a:avLst/>
              </a:prstGeom>
              <a:blipFill>
                <a:blip r:embed="rId29"/>
                <a:stretch>
                  <a:fillRect r="-73810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</p:cNvCxnSpPr>
          <p:nvPr/>
        </p:nvCxnSpPr>
        <p:spPr>
          <a:xfrm>
            <a:off x="11306805" y="5123822"/>
            <a:ext cx="690842" cy="500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/>
              <p:nvPr/>
            </p:nvSpPr>
            <p:spPr>
              <a:xfrm>
                <a:off x="11410853" y="4784260"/>
                <a:ext cx="288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24BAB1E-1F48-4BAB-91C3-0110F5D8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0853" y="4784260"/>
                <a:ext cx="288477" cy="276999"/>
              </a:xfrm>
              <a:prstGeom prst="rect">
                <a:avLst/>
              </a:prstGeom>
              <a:blipFill>
                <a:blip r:embed="rId30"/>
                <a:stretch>
                  <a:fillRect l="-21277" r="-638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/>
              <p:nvPr/>
            </p:nvSpPr>
            <p:spPr>
              <a:xfrm>
                <a:off x="11336918" y="5126323"/>
                <a:ext cx="151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D98D8A9-DD90-45A8-BED8-66D291A44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6918" y="5126323"/>
                <a:ext cx="151139" cy="369332"/>
              </a:xfrm>
              <a:prstGeom prst="rect">
                <a:avLst/>
              </a:prstGeom>
              <a:blipFill>
                <a:blip r:embed="rId31"/>
                <a:stretch>
                  <a:fillRect l="-4000" r="-18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7573976" y="3917543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976" y="3917543"/>
                <a:ext cx="419366" cy="369332"/>
              </a:xfrm>
              <a:prstGeom prst="rect">
                <a:avLst/>
              </a:prstGeom>
              <a:blipFill>
                <a:blip r:embed="rId32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val 54"/>
          <p:cNvSpPr/>
          <p:nvPr/>
        </p:nvSpPr>
        <p:spPr>
          <a:xfrm>
            <a:off x="8758034" y="3907577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758034" y="3935009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034" y="3935009"/>
                <a:ext cx="419366" cy="369332"/>
              </a:xfrm>
              <a:prstGeom prst="rect">
                <a:avLst/>
              </a:prstGeom>
              <a:blipFill>
                <a:blip r:embed="rId33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/>
          <p:cNvCxnSpPr>
            <a:stCxn id="40" idx="3"/>
            <a:endCxn id="56" idx="1"/>
          </p:cNvCxnSpPr>
          <p:nvPr/>
        </p:nvCxnSpPr>
        <p:spPr>
          <a:xfrm>
            <a:off x="8517580" y="4119628"/>
            <a:ext cx="240454" cy="47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975742" y="3909505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975742" y="3936937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742" y="3936937"/>
                <a:ext cx="419366" cy="369332"/>
              </a:xfrm>
              <a:prstGeom prst="rect">
                <a:avLst/>
              </a:prstGeom>
              <a:blipFill>
                <a:blip r:embed="rId34"/>
                <a:stretch>
                  <a:fillRect b="-1667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/>
          <p:cNvCxnSpPr>
            <a:stCxn id="42" idx="3"/>
            <a:endCxn id="59" idx="1"/>
          </p:cNvCxnSpPr>
          <p:nvPr/>
        </p:nvCxnSpPr>
        <p:spPr>
          <a:xfrm>
            <a:off x="9755288" y="4119142"/>
            <a:ext cx="220454" cy="2461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1291565" y="3894851"/>
            <a:ext cx="435325" cy="451195"/>
          </a:xfrm>
          <a:prstGeom prst="ellipse">
            <a:avLst/>
          </a:prstGeom>
          <a:solidFill>
            <a:schemeClr val="accent2">
              <a:lumMod val="60000"/>
              <a:lumOff val="40000"/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11291565" y="3922283"/>
                <a:ext cx="419366" cy="369332"/>
              </a:xfrm>
              <a:prstGeom prst="rect">
                <a:avLst/>
              </a:prstGeom>
              <a:noFill/>
              <a:ln w="15875"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565" y="3922283"/>
                <a:ext cx="419366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/>
          <p:cNvCxnSpPr>
            <a:stCxn id="41" idx="3"/>
            <a:endCxn id="62" idx="1"/>
          </p:cNvCxnSpPr>
          <p:nvPr/>
        </p:nvCxnSpPr>
        <p:spPr>
          <a:xfrm flipV="1">
            <a:off x="10997382" y="4106949"/>
            <a:ext cx="294183" cy="3928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295137" y="2781001"/>
                <a:ext cx="2547681" cy="369332"/>
              </a:xfrm>
              <a:prstGeom prst="rect">
                <a:avLst/>
              </a:prstGeom>
              <a:solidFill>
                <a:srgbClr val="7030A0">
                  <a:alpha val="55000"/>
                </a:srgbClr>
              </a:solidFill>
              <a:ln w="22225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37" y="2781001"/>
                <a:ext cx="254768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 w="22225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Elbow Connector 64"/>
          <p:cNvCxnSpPr>
            <a:stCxn id="64" idx="2"/>
            <a:endCxn id="6" idx="0"/>
          </p:cNvCxnSpPr>
          <p:nvPr/>
        </p:nvCxnSpPr>
        <p:spPr>
          <a:xfrm rot="5400000">
            <a:off x="8311726" y="2614287"/>
            <a:ext cx="721207" cy="1793298"/>
          </a:xfrm>
          <a:prstGeom prst="bentConnector3">
            <a:avLst>
              <a:gd name="adj1" fmla="val 51981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64" idx="2"/>
            <a:endCxn id="61" idx="0"/>
          </p:cNvCxnSpPr>
          <p:nvPr/>
        </p:nvCxnSpPr>
        <p:spPr>
          <a:xfrm rot="16200000" flipH="1">
            <a:off x="10166844" y="2552467"/>
            <a:ext cx="744518" cy="1940250"/>
          </a:xfrm>
          <a:prstGeom prst="bentConnector3">
            <a:avLst>
              <a:gd name="adj1" fmla="val 5064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64" idx="2"/>
            <a:endCxn id="55" idx="0"/>
          </p:cNvCxnSpPr>
          <p:nvPr/>
        </p:nvCxnSpPr>
        <p:spPr>
          <a:xfrm rot="5400000">
            <a:off x="8893716" y="3232315"/>
            <a:ext cx="757244" cy="593281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/>
          <p:cNvCxnSpPr>
            <a:stCxn id="64" idx="2"/>
            <a:endCxn id="58" idx="0"/>
          </p:cNvCxnSpPr>
          <p:nvPr/>
        </p:nvCxnSpPr>
        <p:spPr>
          <a:xfrm rot="16200000" flipH="1">
            <a:off x="9501605" y="3217705"/>
            <a:ext cx="759172" cy="624427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39" idx="3"/>
            <a:endCxn id="6" idx="2"/>
          </p:cNvCxnSpPr>
          <p:nvPr/>
        </p:nvCxnSpPr>
        <p:spPr>
          <a:xfrm flipV="1">
            <a:off x="7334225" y="4097138"/>
            <a:ext cx="223792" cy="2626"/>
          </a:xfrm>
          <a:prstGeom prst="straightConnector1">
            <a:avLst/>
          </a:prstGeom>
          <a:ln w="158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286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27" y="254289"/>
            <a:ext cx="10679546" cy="92796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Backpropagation Through Time (BPTT)</a:t>
            </a:r>
            <a:endParaRPr lang="en-IN" sz="3600" dirty="0"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iamond 4"/>
              <p:cNvSpPr/>
              <p:nvPr/>
            </p:nvSpPr>
            <p:spPr>
              <a:xfrm>
                <a:off x="673050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Diamond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50" y="3788064"/>
                <a:ext cx="464035" cy="517236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27" idx="0"/>
            <a:endCxn id="5" idx="2"/>
          </p:cNvCxnSpPr>
          <p:nvPr/>
        </p:nvCxnSpPr>
        <p:spPr>
          <a:xfrm flipV="1">
            <a:off x="897374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0"/>
            <a:endCxn id="29" idx="2"/>
          </p:cNvCxnSpPr>
          <p:nvPr/>
        </p:nvCxnSpPr>
        <p:spPr>
          <a:xfrm flipV="1">
            <a:off x="905068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676713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13" y="4982442"/>
                <a:ext cx="441322" cy="50395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le 28"/>
              <p:cNvSpPr/>
              <p:nvPr/>
            </p:nvSpPr>
            <p:spPr>
              <a:xfrm>
                <a:off x="700526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ounded 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26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endCxn id="5" idx="1"/>
          </p:cNvCxnSpPr>
          <p:nvPr/>
        </p:nvCxnSpPr>
        <p:spPr>
          <a:xfrm>
            <a:off x="329052" y="4046682"/>
            <a:ext cx="34399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Diamond 66"/>
              <p:cNvSpPr/>
              <p:nvPr/>
            </p:nvSpPr>
            <p:spPr>
              <a:xfrm>
                <a:off x="1376473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Diamond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473" y="3788064"/>
                <a:ext cx="464035" cy="517236"/>
              </a:xfrm>
              <a:prstGeom prst="diamond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/>
          <p:cNvCxnSpPr>
            <a:stCxn id="70" idx="0"/>
            <a:endCxn id="67" idx="2"/>
          </p:cNvCxnSpPr>
          <p:nvPr/>
        </p:nvCxnSpPr>
        <p:spPr>
          <a:xfrm flipH="1" flipV="1">
            <a:off x="1608491" y="4305300"/>
            <a:ext cx="1831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7" idx="0"/>
            <a:endCxn id="71" idx="2"/>
          </p:cNvCxnSpPr>
          <p:nvPr/>
        </p:nvCxnSpPr>
        <p:spPr>
          <a:xfrm flipV="1">
            <a:off x="1608491" y="3206172"/>
            <a:ext cx="1373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/>
              <p:cNvSpPr/>
              <p:nvPr/>
            </p:nvSpPr>
            <p:spPr>
              <a:xfrm>
                <a:off x="1389661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Oval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661" y="4982442"/>
                <a:ext cx="441322" cy="50395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ounded Rectangle 70"/>
              <p:cNvSpPr/>
              <p:nvPr/>
            </p:nvSpPr>
            <p:spPr>
              <a:xfrm>
                <a:off x="141347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ounded 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47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/>
          <p:cNvCxnSpPr>
            <a:stCxn id="5" idx="3"/>
            <a:endCxn id="67" idx="1"/>
          </p:cNvCxnSpPr>
          <p:nvPr/>
        </p:nvCxnSpPr>
        <p:spPr>
          <a:xfrm>
            <a:off x="1137085" y="4046682"/>
            <a:ext cx="2393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77" idx="1"/>
          </p:cNvCxnSpPr>
          <p:nvPr/>
        </p:nvCxnSpPr>
        <p:spPr>
          <a:xfrm>
            <a:off x="1830983" y="4046682"/>
            <a:ext cx="32115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Diamond 76"/>
              <p:cNvSpPr/>
              <p:nvPr/>
            </p:nvSpPr>
            <p:spPr>
              <a:xfrm>
                <a:off x="2152137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Diamond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137" y="3788064"/>
                <a:ext cx="464035" cy="517236"/>
              </a:xfrm>
              <a:prstGeom prst="diamond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/>
          <p:cNvCxnSpPr>
            <a:stCxn id="80" idx="0"/>
            <a:endCxn id="77" idx="2"/>
          </p:cNvCxnSpPr>
          <p:nvPr/>
        </p:nvCxnSpPr>
        <p:spPr>
          <a:xfrm flipV="1">
            <a:off x="2376461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7" idx="0"/>
            <a:endCxn id="81" idx="2"/>
          </p:cNvCxnSpPr>
          <p:nvPr/>
        </p:nvCxnSpPr>
        <p:spPr>
          <a:xfrm flipV="1">
            <a:off x="2384155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79"/>
              <p:cNvSpPr/>
              <p:nvPr/>
            </p:nvSpPr>
            <p:spPr>
              <a:xfrm>
                <a:off x="2155800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Oval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800" y="4982442"/>
                <a:ext cx="441322" cy="50395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ounded Rectangle 80"/>
              <p:cNvSpPr/>
              <p:nvPr/>
            </p:nvSpPr>
            <p:spPr>
              <a:xfrm>
                <a:off x="2179613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Rounded 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613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/>
          <p:cNvCxnSpPr>
            <a:stCxn id="77" idx="3"/>
            <a:endCxn id="83" idx="1"/>
          </p:cNvCxnSpPr>
          <p:nvPr/>
        </p:nvCxnSpPr>
        <p:spPr>
          <a:xfrm>
            <a:off x="2616172" y="4046682"/>
            <a:ext cx="30806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Diamond 82"/>
              <p:cNvSpPr/>
              <p:nvPr/>
            </p:nvSpPr>
            <p:spPr>
              <a:xfrm>
                <a:off x="2924237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Diamond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237" y="3788064"/>
                <a:ext cx="464035" cy="517236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/>
          <p:cNvCxnSpPr>
            <a:stCxn id="86" idx="0"/>
            <a:endCxn id="83" idx="2"/>
          </p:cNvCxnSpPr>
          <p:nvPr/>
        </p:nvCxnSpPr>
        <p:spPr>
          <a:xfrm flipV="1">
            <a:off x="3148561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3" idx="0"/>
            <a:endCxn id="87" idx="2"/>
          </p:cNvCxnSpPr>
          <p:nvPr/>
        </p:nvCxnSpPr>
        <p:spPr>
          <a:xfrm flipH="1" flipV="1">
            <a:off x="3150943" y="3206172"/>
            <a:ext cx="5312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Oval 85"/>
              <p:cNvSpPr/>
              <p:nvPr/>
            </p:nvSpPr>
            <p:spPr>
              <a:xfrm>
                <a:off x="2927900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Oval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900" y="4982442"/>
                <a:ext cx="441322" cy="50395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ounded Rectangle 86"/>
              <p:cNvSpPr/>
              <p:nvPr/>
            </p:nvSpPr>
            <p:spPr>
              <a:xfrm>
                <a:off x="2942188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ounded 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188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>
            <a:stCxn id="83" idx="3"/>
            <a:endCxn id="89" idx="1"/>
          </p:cNvCxnSpPr>
          <p:nvPr/>
        </p:nvCxnSpPr>
        <p:spPr>
          <a:xfrm>
            <a:off x="3388272" y="4046682"/>
            <a:ext cx="2910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Diamond 88"/>
              <p:cNvSpPr/>
              <p:nvPr/>
            </p:nvSpPr>
            <p:spPr>
              <a:xfrm>
                <a:off x="3679339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Diamond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339" y="3788064"/>
                <a:ext cx="464035" cy="517236"/>
              </a:xfrm>
              <a:prstGeom prst="diamond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>
            <a:stCxn id="92" idx="0"/>
            <a:endCxn id="89" idx="2"/>
          </p:cNvCxnSpPr>
          <p:nvPr/>
        </p:nvCxnSpPr>
        <p:spPr>
          <a:xfrm flipV="1">
            <a:off x="3903663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9" idx="0"/>
            <a:endCxn id="93" idx="2"/>
          </p:cNvCxnSpPr>
          <p:nvPr/>
        </p:nvCxnSpPr>
        <p:spPr>
          <a:xfrm flipV="1">
            <a:off x="3911357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val 91"/>
              <p:cNvSpPr/>
              <p:nvPr/>
            </p:nvSpPr>
            <p:spPr>
              <a:xfrm>
                <a:off x="3683002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Oval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2" y="4982442"/>
                <a:ext cx="441322" cy="50395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ounded Rectangle 92"/>
              <p:cNvSpPr/>
              <p:nvPr/>
            </p:nvSpPr>
            <p:spPr>
              <a:xfrm>
                <a:off x="3706815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Rounded 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815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/>
          <p:cNvCxnSpPr>
            <a:stCxn id="89" idx="3"/>
            <a:endCxn id="95" idx="1"/>
          </p:cNvCxnSpPr>
          <p:nvPr/>
        </p:nvCxnSpPr>
        <p:spPr>
          <a:xfrm>
            <a:off x="4143374" y="4046682"/>
            <a:ext cx="30852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Diamond 94"/>
              <p:cNvSpPr/>
              <p:nvPr/>
            </p:nvSpPr>
            <p:spPr>
              <a:xfrm>
                <a:off x="4451903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Diamond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903" y="3788064"/>
                <a:ext cx="464035" cy="517236"/>
              </a:xfrm>
              <a:prstGeom prst="diamond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/>
          <p:cNvCxnSpPr>
            <a:stCxn id="98" idx="0"/>
            <a:endCxn id="95" idx="2"/>
          </p:cNvCxnSpPr>
          <p:nvPr/>
        </p:nvCxnSpPr>
        <p:spPr>
          <a:xfrm flipV="1">
            <a:off x="4676227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5" idx="0"/>
            <a:endCxn id="99" idx="2"/>
          </p:cNvCxnSpPr>
          <p:nvPr/>
        </p:nvCxnSpPr>
        <p:spPr>
          <a:xfrm flipV="1">
            <a:off x="4683921" y="3206172"/>
            <a:ext cx="1373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4455566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566" y="4982442"/>
                <a:ext cx="441322" cy="50395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ounded Rectangle 98"/>
              <p:cNvSpPr/>
              <p:nvPr/>
            </p:nvSpPr>
            <p:spPr>
              <a:xfrm>
                <a:off x="448890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Rounded 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90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/>
          <p:cNvCxnSpPr>
            <a:stCxn id="95" idx="3"/>
            <a:endCxn id="101" idx="1"/>
          </p:cNvCxnSpPr>
          <p:nvPr/>
        </p:nvCxnSpPr>
        <p:spPr>
          <a:xfrm>
            <a:off x="4915938" y="4046682"/>
            <a:ext cx="26232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Diamond 100"/>
              <p:cNvSpPr/>
              <p:nvPr/>
            </p:nvSpPr>
            <p:spPr>
              <a:xfrm>
                <a:off x="5178263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Diamond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263" y="3788064"/>
                <a:ext cx="464035" cy="517236"/>
              </a:xfrm>
              <a:prstGeom prst="diamond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Arrow Connector 101"/>
          <p:cNvCxnSpPr>
            <a:stCxn id="104" idx="0"/>
            <a:endCxn id="101" idx="2"/>
          </p:cNvCxnSpPr>
          <p:nvPr/>
        </p:nvCxnSpPr>
        <p:spPr>
          <a:xfrm flipV="1">
            <a:off x="5410227" y="4305300"/>
            <a:ext cx="5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101" idx="0"/>
            <a:endCxn id="105" idx="2"/>
          </p:cNvCxnSpPr>
          <p:nvPr/>
        </p:nvCxnSpPr>
        <p:spPr>
          <a:xfrm flipV="1">
            <a:off x="5410281" y="3206172"/>
            <a:ext cx="232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/>
              <p:cNvSpPr/>
              <p:nvPr/>
            </p:nvSpPr>
            <p:spPr>
              <a:xfrm>
                <a:off x="5189566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Oval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566" y="4982442"/>
                <a:ext cx="441322" cy="503958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ounded Rectangle 104"/>
              <p:cNvSpPr/>
              <p:nvPr/>
            </p:nvSpPr>
            <p:spPr>
              <a:xfrm>
                <a:off x="520385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Rounded Rectangle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85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/>
          <p:cNvCxnSpPr>
            <a:stCxn id="101" idx="3"/>
            <a:endCxn id="108" idx="1"/>
          </p:cNvCxnSpPr>
          <p:nvPr/>
        </p:nvCxnSpPr>
        <p:spPr>
          <a:xfrm>
            <a:off x="5642298" y="4046682"/>
            <a:ext cx="23791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Diamond 107"/>
              <p:cNvSpPr/>
              <p:nvPr/>
            </p:nvSpPr>
            <p:spPr>
              <a:xfrm>
                <a:off x="5880215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Diamond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215" y="3788064"/>
                <a:ext cx="464035" cy="517236"/>
              </a:xfrm>
              <a:prstGeom prst="diamond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/>
          <p:cNvCxnSpPr>
            <a:stCxn id="111" idx="0"/>
            <a:endCxn id="108" idx="2"/>
          </p:cNvCxnSpPr>
          <p:nvPr/>
        </p:nvCxnSpPr>
        <p:spPr>
          <a:xfrm flipV="1">
            <a:off x="6104539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108" idx="0"/>
            <a:endCxn id="112" idx="2"/>
          </p:cNvCxnSpPr>
          <p:nvPr/>
        </p:nvCxnSpPr>
        <p:spPr>
          <a:xfrm flipV="1">
            <a:off x="6112233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Oval 110"/>
              <p:cNvSpPr/>
              <p:nvPr/>
            </p:nvSpPr>
            <p:spPr>
              <a:xfrm>
                <a:off x="5883878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Oval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878" y="4982442"/>
                <a:ext cx="441322" cy="503958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ounded Rectangle 111"/>
              <p:cNvSpPr/>
              <p:nvPr/>
            </p:nvSpPr>
            <p:spPr>
              <a:xfrm>
                <a:off x="5907691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Rounded Rectangle 1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691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/>
          <p:cNvCxnSpPr>
            <a:stCxn id="108" idx="3"/>
            <a:endCxn id="114" idx="1"/>
          </p:cNvCxnSpPr>
          <p:nvPr/>
        </p:nvCxnSpPr>
        <p:spPr>
          <a:xfrm>
            <a:off x="6344250" y="4046682"/>
            <a:ext cx="25385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Diamond 113"/>
              <p:cNvSpPr/>
              <p:nvPr/>
            </p:nvSpPr>
            <p:spPr>
              <a:xfrm>
                <a:off x="6598107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Diamond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107" y="3788064"/>
                <a:ext cx="464035" cy="517236"/>
              </a:xfrm>
              <a:prstGeom prst="diamond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Arrow Connector 114"/>
          <p:cNvCxnSpPr>
            <a:stCxn id="117" idx="0"/>
            <a:endCxn id="114" idx="2"/>
          </p:cNvCxnSpPr>
          <p:nvPr/>
        </p:nvCxnSpPr>
        <p:spPr>
          <a:xfrm flipV="1">
            <a:off x="6830051" y="4305300"/>
            <a:ext cx="7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114" idx="0"/>
            <a:endCxn id="118" idx="2"/>
          </p:cNvCxnSpPr>
          <p:nvPr/>
        </p:nvCxnSpPr>
        <p:spPr>
          <a:xfrm flipV="1">
            <a:off x="6830125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Oval 116"/>
              <p:cNvSpPr/>
              <p:nvPr/>
            </p:nvSpPr>
            <p:spPr>
              <a:xfrm>
                <a:off x="6609390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Oval 1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390" y="4982442"/>
                <a:ext cx="441322" cy="503958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ounded Rectangle 117"/>
              <p:cNvSpPr/>
              <p:nvPr/>
            </p:nvSpPr>
            <p:spPr>
              <a:xfrm>
                <a:off x="6625583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Rounded 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583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18"/>
          <p:cNvCxnSpPr>
            <a:stCxn id="114" idx="3"/>
            <a:endCxn id="120" idx="1"/>
          </p:cNvCxnSpPr>
          <p:nvPr/>
        </p:nvCxnSpPr>
        <p:spPr>
          <a:xfrm>
            <a:off x="7062142" y="4046682"/>
            <a:ext cx="3079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Diamond 119"/>
              <p:cNvSpPr/>
              <p:nvPr/>
            </p:nvSpPr>
            <p:spPr>
              <a:xfrm>
                <a:off x="7370116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Diamond 1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116" y="3788064"/>
                <a:ext cx="464035" cy="517236"/>
              </a:xfrm>
              <a:prstGeom prst="diamond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Arrow Connector 120"/>
          <p:cNvCxnSpPr>
            <a:stCxn id="123" idx="0"/>
            <a:endCxn id="120" idx="2"/>
          </p:cNvCxnSpPr>
          <p:nvPr/>
        </p:nvCxnSpPr>
        <p:spPr>
          <a:xfrm flipH="1" flipV="1">
            <a:off x="7602134" y="4305300"/>
            <a:ext cx="11356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120" idx="0"/>
            <a:endCxn id="124" idx="2"/>
          </p:cNvCxnSpPr>
          <p:nvPr/>
        </p:nvCxnSpPr>
        <p:spPr>
          <a:xfrm flipH="1" flipV="1">
            <a:off x="7597689" y="3206172"/>
            <a:ext cx="4445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Oval 122"/>
              <p:cNvSpPr/>
              <p:nvPr/>
            </p:nvSpPr>
            <p:spPr>
              <a:xfrm>
                <a:off x="7392829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Oval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29" y="4982442"/>
                <a:ext cx="441322" cy="503958"/>
              </a:xfrm>
              <a:prstGeom prst="ellipse">
                <a:avLst/>
              </a:prstGeom>
              <a:blipFill>
                <a:blip r:embed="rId30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ounded Rectangle 123"/>
              <p:cNvSpPr/>
              <p:nvPr/>
            </p:nvSpPr>
            <p:spPr>
              <a:xfrm>
                <a:off x="738893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Rounded Rectangle 1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93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Straight Arrow Connector 124"/>
          <p:cNvCxnSpPr>
            <a:stCxn id="120" idx="3"/>
            <a:endCxn id="126" idx="1"/>
          </p:cNvCxnSpPr>
          <p:nvPr/>
        </p:nvCxnSpPr>
        <p:spPr>
          <a:xfrm>
            <a:off x="7834151" y="4046682"/>
            <a:ext cx="27888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Diamond 125"/>
              <p:cNvSpPr/>
              <p:nvPr/>
            </p:nvSpPr>
            <p:spPr>
              <a:xfrm>
                <a:off x="8113033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Diamond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033" y="3788064"/>
                <a:ext cx="464035" cy="517236"/>
              </a:xfrm>
              <a:prstGeom prst="diamond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/>
          <p:cNvCxnSpPr>
            <a:stCxn id="129" idx="0"/>
            <a:endCxn id="126" idx="2"/>
          </p:cNvCxnSpPr>
          <p:nvPr/>
        </p:nvCxnSpPr>
        <p:spPr>
          <a:xfrm flipH="1" flipV="1">
            <a:off x="8345051" y="4305300"/>
            <a:ext cx="2120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>
            <a:stCxn id="126" idx="0"/>
            <a:endCxn id="130" idx="2"/>
          </p:cNvCxnSpPr>
          <p:nvPr/>
        </p:nvCxnSpPr>
        <p:spPr>
          <a:xfrm flipH="1" flipV="1">
            <a:off x="8340606" y="3206172"/>
            <a:ext cx="4445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Oval 128"/>
              <p:cNvSpPr/>
              <p:nvPr/>
            </p:nvSpPr>
            <p:spPr>
              <a:xfrm>
                <a:off x="8126510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Oval 1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510" y="4982442"/>
                <a:ext cx="441322" cy="503958"/>
              </a:xfrm>
              <a:prstGeom prst="ellipse">
                <a:avLst/>
              </a:prstGeom>
              <a:blipFill>
                <a:blip r:embed="rId33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Rounded Rectangle 129"/>
              <p:cNvSpPr/>
              <p:nvPr/>
            </p:nvSpPr>
            <p:spPr>
              <a:xfrm>
                <a:off x="8131851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Rounded Rectangle 1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851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Arrow Connector 130"/>
          <p:cNvCxnSpPr>
            <a:stCxn id="126" idx="3"/>
            <a:endCxn id="132" idx="1"/>
          </p:cNvCxnSpPr>
          <p:nvPr/>
        </p:nvCxnSpPr>
        <p:spPr>
          <a:xfrm>
            <a:off x="8577068" y="4046682"/>
            <a:ext cx="30527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Diamond 131"/>
              <p:cNvSpPr/>
              <p:nvPr/>
            </p:nvSpPr>
            <p:spPr>
              <a:xfrm>
                <a:off x="8882347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Diamond 1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347" y="3788064"/>
                <a:ext cx="464035" cy="517236"/>
              </a:xfrm>
              <a:prstGeom prst="diamond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132"/>
          <p:cNvCxnSpPr>
            <a:stCxn id="135" idx="0"/>
            <a:endCxn id="132" idx="2"/>
          </p:cNvCxnSpPr>
          <p:nvPr/>
        </p:nvCxnSpPr>
        <p:spPr>
          <a:xfrm flipH="1" flipV="1">
            <a:off x="9114365" y="4305300"/>
            <a:ext cx="2120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32" idx="0"/>
            <a:endCxn id="136" idx="2"/>
          </p:cNvCxnSpPr>
          <p:nvPr/>
        </p:nvCxnSpPr>
        <p:spPr>
          <a:xfrm flipH="1" flipV="1">
            <a:off x="9100684" y="3206172"/>
            <a:ext cx="13681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Oval 134"/>
              <p:cNvSpPr/>
              <p:nvPr/>
            </p:nvSpPr>
            <p:spPr>
              <a:xfrm>
                <a:off x="8895824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Oval 1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824" y="4982442"/>
                <a:ext cx="441322" cy="503958"/>
              </a:xfrm>
              <a:prstGeom prst="ellipse">
                <a:avLst/>
              </a:prstGeom>
              <a:blipFill>
                <a:blip r:embed="rId36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Rounded Rectangle 135"/>
              <p:cNvSpPr/>
              <p:nvPr/>
            </p:nvSpPr>
            <p:spPr>
              <a:xfrm>
                <a:off x="8891929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Rounded Rectangle 1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929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Straight Arrow Connector 136"/>
          <p:cNvCxnSpPr>
            <a:stCxn id="132" idx="3"/>
            <a:endCxn id="139" idx="1"/>
          </p:cNvCxnSpPr>
          <p:nvPr/>
        </p:nvCxnSpPr>
        <p:spPr>
          <a:xfrm>
            <a:off x="9346382" y="4046682"/>
            <a:ext cx="33047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Diamond 138"/>
              <p:cNvSpPr/>
              <p:nvPr/>
            </p:nvSpPr>
            <p:spPr>
              <a:xfrm>
                <a:off x="9676852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Diamond 1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852" y="3788064"/>
                <a:ext cx="464035" cy="517236"/>
              </a:xfrm>
              <a:prstGeom prst="diamond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/>
          <p:cNvCxnSpPr>
            <a:stCxn id="142" idx="0"/>
            <a:endCxn id="139" idx="2"/>
          </p:cNvCxnSpPr>
          <p:nvPr/>
        </p:nvCxnSpPr>
        <p:spPr>
          <a:xfrm flipH="1" flipV="1">
            <a:off x="9908870" y="4305300"/>
            <a:ext cx="11356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stCxn id="139" idx="0"/>
            <a:endCxn id="143" idx="2"/>
          </p:cNvCxnSpPr>
          <p:nvPr/>
        </p:nvCxnSpPr>
        <p:spPr>
          <a:xfrm flipV="1">
            <a:off x="9908870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Oval 141"/>
              <p:cNvSpPr/>
              <p:nvPr/>
            </p:nvSpPr>
            <p:spPr>
              <a:xfrm>
                <a:off x="9699565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Oval 1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565" y="4982442"/>
                <a:ext cx="441322" cy="503958"/>
              </a:xfrm>
              <a:prstGeom prst="ellipse">
                <a:avLst/>
              </a:prstGeom>
              <a:blipFill>
                <a:blip r:embed="rId39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ounded Rectangle 142"/>
              <p:cNvSpPr/>
              <p:nvPr/>
            </p:nvSpPr>
            <p:spPr>
              <a:xfrm>
                <a:off x="9704328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Rounded Rectangle 1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328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Straight Arrow Connector 143"/>
          <p:cNvCxnSpPr>
            <a:stCxn id="139" idx="3"/>
            <a:endCxn id="152" idx="1"/>
          </p:cNvCxnSpPr>
          <p:nvPr/>
        </p:nvCxnSpPr>
        <p:spPr>
          <a:xfrm>
            <a:off x="10140887" y="4046682"/>
            <a:ext cx="31593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Diamond 151"/>
              <p:cNvSpPr/>
              <p:nvPr/>
            </p:nvSpPr>
            <p:spPr>
              <a:xfrm>
                <a:off x="10456821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Diamond 1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821" y="3788064"/>
                <a:ext cx="464035" cy="517236"/>
              </a:xfrm>
              <a:prstGeom prst="diamond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Straight Arrow Connector 152"/>
          <p:cNvCxnSpPr>
            <a:stCxn id="155" idx="0"/>
            <a:endCxn id="152" idx="2"/>
          </p:cNvCxnSpPr>
          <p:nvPr/>
        </p:nvCxnSpPr>
        <p:spPr>
          <a:xfrm flipH="1" flipV="1">
            <a:off x="10688839" y="4305300"/>
            <a:ext cx="2120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52" idx="0"/>
            <a:endCxn id="156" idx="2"/>
          </p:cNvCxnSpPr>
          <p:nvPr/>
        </p:nvCxnSpPr>
        <p:spPr>
          <a:xfrm flipV="1">
            <a:off x="10688839" y="3206172"/>
            <a:ext cx="4791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Oval 154"/>
              <p:cNvSpPr/>
              <p:nvPr/>
            </p:nvSpPr>
            <p:spPr>
              <a:xfrm>
                <a:off x="10470298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Oval 1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298" y="4982442"/>
                <a:ext cx="441322" cy="503958"/>
              </a:xfrm>
              <a:prstGeom prst="ellipse">
                <a:avLst/>
              </a:prstGeom>
              <a:blipFill>
                <a:blip r:embed="rId42"/>
                <a:stretch>
                  <a:fillRect l="-5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Rounded Rectangle 155"/>
              <p:cNvSpPr/>
              <p:nvPr/>
            </p:nvSpPr>
            <p:spPr>
              <a:xfrm>
                <a:off x="10484875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Rounded Rectangle 1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4875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Straight Arrow Connector 156"/>
          <p:cNvCxnSpPr>
            <a:stCxn id="152" idx="3"/>
            <a:endCxn id="158" idx="1"/>
          </p:cNvCxnSpPr>
          <p:nvPr/>
        </p:nvCxnSpPr>
        <p:spPr>
          <a:xfrm>
            <a:off x="10920856" y="4046682"/>
            <a:ext cx="33922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Diamond 157"/>
              <p:cNvSpPr/>
              <p:nvPr/>
            </p:nvSpPr>
            <p:spPr>
              <a:xfrm>
                <a:off x="11260084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Diamond 1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0084" y="3788064"/>
                <a:ext cx="464035" cy="517236"/>
              </a:xfrm>
              <a:prstGeom prst="diamond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Straight Arrow Connector 158"/>
          <p:cNvCxnSpPr>
            <a:stCxn id="161" idx="0"/>
            <a:endCxn id="158" idx="2"/>
          </p:cNvCxnSpPr>
          <p:nvPr/>
        </p:nvCxnSpPr>
        <p:spPr>
          <a:xfrm flipH="1" flipV="1">
            <a:off x="11492102" y="4305300"/>
            <a:ext cx="11067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58" idx="0"/>
            <a:endCxn id="162" idx="2"/>
          </p:cNvCxnSpPr>
          <p:nvPr/>
        </p:nvCxnSpPr>
        <p:spPr>
          <a:xfrm flipH="1" flipV="1">
            <a:off x="11487657" y="3206172"/>
            <a:ext cx="4445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Oval 160"/>
              <p:cNvSpPr/>
              <p:nvPr/>
            </p:nvSpPr>
            <p:spPr>
              <a:xfrm>
                <a:off x="11282508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1" name="Oval 1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508" y="4982442"/>
                <a:ext cx="441322" cy="503958"/>
              </a:xfrm>
              <a:prstGeom prst="ellipse">
                <a:avLst/>
              </a:prstGeom>
              <a:blipFill>
                <a:blip r:embed="rId45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Rounded Rectangle 161"/>
              <p:cNvSpPr/>
              <p:nvPr/>
            </p:nvSpPr>
            <p:spPr>
              <a:xfrm>
                <a:off x="11278902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2" name="Rounded Rectangle 1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8902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450034" y="335055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34" y="3350552"/>
                <a:ext cx="520271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Rectangle 279"/>
              <p:cNvSpPr/>
              <p:nvPr/>
            </p:nvSpPr>
            <p:spPr>
              <a:xfrm>
                <a:off x="1164254" y="335857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0" name="Rectangle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254" y="3358572"/>
                <a:ext cx="520271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Rectangle 280"/>
              <p:cNvSpPr/>
              <p:nvPr/>
            </p:nvSpPr>
            <p:spPr>
              <a:xfrm>
                <a:off x="1925346" y="3409845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1" name="Rectangle 2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346" y="3409845"/>
                <a:ext cx="520271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Rectangle 281"/>
              <p:cNvSpPr/>
              <p:nvPr/>
            </p:nvSpPr>
            <p:spPr>
              <a:xfrm>
                <a:off x="2763867" y="339092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2" name="Rectangle 2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867" y="3390921"/>
                <a:ext cx="520271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Rectangle 282"/>
              <p:cNvSpPr/>
              <p:nvPr/>
            </p:nvSpPr>
            <p:spPr>
              <a:xfrm>
                <a:off x="3478087" y="339894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3" name="Rectangle 2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087" y="3398941"/>
                <a:ext cx="520271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Rectangle 283"/>
              <p:cNvSpPr/>
              <p:nvPr/>
            </p:nvSpPr>
            <p:spPr>
              <a:xfrm>
                <a:off x="4249007" y="3385498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4" name="Rectangle 2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007" y="3385498"/>
                <a:ext cx="520271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Rectangle 284"/>
              <p:cNvSpPr/>
              <p:nvPr/>
            </p:nvSpPr>
            <p:spPr>
              <a:xfrm>
                <a:off x="4974004" y="335055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5" name="Rectangle 2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004" y="3350552"/>
                <a:ext cx="520271" cy="369332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Rectangle 285"/>
              <p:cNvSpPr/>
              <p:nvPr/>
            </p:nvSpPr>
            <p:spPr>
              <a:xfrm>
                <a:off x="5688224" y="335857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6" name="Rectangle 2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224" y="3358572"/>
                <a:ext cx="520271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/>
              <p:cNvSpPr/>
              <p:nvPr/>
            </p:nvSpPr>
            <p:spPr>
              <a:xfrm>
                <a:off x="6401341" y="3395314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7" name="Rectangle 2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341" y="3395314"/>
                <a:ext cx="520271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Rectangle 287"/>
              <p:cNvSpPr/>
              <p:nvPr/>
            </p:nvSpPr>
            <p:spPr>
              <a:xfrm>
                <a:off x="7172691" y="337267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8" name="Rectangle 2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691" y="3372672"/>
                <a:ext cx="514590" cy="369332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Rectangle 288"/>
              <p:cNvSpPr/>
              <p:nvPr/>
            </p:nvSpPr>
            <p:spPr>
              <a:xfrm>
                <a:off x="7943611" y="335922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9" name="Rectangle 2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611" y="3359229"/>
                <a:ext cx="514590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Rectangle 289"/>
              <p:cNvSpPr/>
              <p:nvPr/>
            </p:nvSpPr>
            <p:spPr>
              <a:xfrm>
                <a:off x="8668608" y="332428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0" name="Rectangle 2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608" y="3324283"/>
                <a:ext cx="514590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Rectangle 290"/>
              <p:cNvSpPr/>
              <p:nvPr/>
            </p:nvSpPr>
            <p:spPr>
              <a:xfrm>
                <a:off x="9382828" y="333230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1" name="Rectangle 2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828" y="3332303"/>
                <a:ext cx="514590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Rectangle 291"/>
              <p:cNvSpPr/>
              <p:nvPr/>
            </p:nvSpPr>
            <p:spPr>
              <a:xfrm>
                <a:off x="10213003" y="33505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2" name="Rectangle 2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003" y="3350552"/>
                <a:ext cx="514590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Rectangle 292"/>
              <p:cNvSpPr/>
              <p:nvPr/>
            </p:nvSpPr>
            <p:spPr>
              <a:xfrm>
                <a:off x="11034738" y="33505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3" name="Rectangle 2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4738" y="3350552"/>
                <a:ext cx="514590" cy="369332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Rectangle 293"/>
              <p:cNvSpPr/>
              <p:nvPr/>
            </p:nvSpPr>
            <p:spPr>
              <a:xfrm>
                <a:off x="284235" y="405707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4" name="Rectangle 2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" y="4057074"/>
                <a:ext cx="514590" cy="369332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Rectangle 294"/>
              <p:cNvSpPr/>
              <p:nvPr/>
            </p:nvSpPr>
            <p:spPr>
              <a:xfrm>
                <a:off x="1023616" y="404668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5" name="Rectangle 2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616" y="4046682"/>
                <a:ext cx="514590" cy="369332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Rectangle 295"/>
              <p:cNvSpPr/>
              <p:nvPr/>
            </p:nvSpPr>
            <p:spPr>
              <a:xfrm>
                <a:off x="1732179" y="403064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6" name="Rectangle 2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179" y="4030643"/>
                <a:ext cx="514590" cy="369332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Rectangle 296"/>
              <p:cNvSpPr/>
              <p:nvPr/>
            </p:nvSpPr>
            <p:spPr>
              <a:xfrm>
                <a:off x="2517562" y="404668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7" name="Rectangle 2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562" y="4046682"/>
                <a:ext cx="514590" cy="369332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Rectangle 297"/>
              <p:cNvSpPr/>
              <p:nvPr/>
            </p:nvSpPr>
            <p:spPr>
              <a:xfrm>
                <a:off x="3263933" y="407134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8" name="Rectangle 2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933" y="4071349"/>
                <a:ext cx="514590" cy="369332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Rectangle 298"/>
              <p:cNvSpPr/>
              <p:nvPr/>
            </p:nvSpPr>
            <p:spPr>
              <a:xfrm>
                <a:off x="4063876" y="403956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9" name="Rectangle 2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876" y="4039565"/>
                <a:ext cx="514590" cy="369332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Rectangle 299"/>
              <p:cNvSpPr/>
              <p:nvPr/>
            </p:nvSpPr>
            <p:spPr>
              <a:xfrm>
                <a:off x="4788480" y="406326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0" name="Rectangle 2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480" y="4063267"/>
                <a:ext cx="514590" cy="369332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Rectangle 300"/>
              <p:cNvSpPr/>
              <p:nvPr/>
            </p:nvSpPr>
            <p:spPr>
              <a:xfrm>
                <a:off x="5510247" y="405707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1" name="Rectangle 3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247" y="4057074"/>
                <a:ext cx="514590" cy="369332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Rectangle 301"/>
              <p:cNvSpPr/>
              <p:nvPr/>
            </p:nvSpPr>
            <p:spPr>
              <a:xfrm>
                <a:off x="6234142" y="403956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2" name="Rectangle 3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42" y="4039565"/>
                <a:ext cx="514590" cy="369332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Rectangle 302"/>
              <p:cNvSpPr/>
              <p:nvPr/>
            </p:nvSpPr>
            <p:spPr>
              <a:xfrm>
                <a:off x="6924732" y="407134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3" name="Rectangle 3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732" y="4071349"/>
                <a:ext cx="514590" cy="369332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Rectangle 303"/>
              <p:cNvSpPr/>
              <p:nvPr/>
            </p:nvSpPr>
            <p:spPr>
              <a:xfrm>
                <a:off x="7719398" y="404182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4" name="Rectangle 3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398" y="4041824"/>
                <a:ext cx="514590" cy="369332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Rectangle 304"/>
              <p:cNvSpPr/>
              <p:nvPr/>
            </p:nvSpPr>
            <p:spPr>
              <a:xfrm>
                <a:off x="8459549" y="404945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5" name="Rectangle 3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549" y="4049454"/>
                <a:ext cx="514590" cy="369332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Rectangle 305"/>
              <p:cNvSpPr/>
              <p:nvPr/>
            </p:nvSpPr>
            <p:spPr>
              <a:xfrm>
                <a:off x="9276121" y="404187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6" name="Rectangle 3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121" y="4041875"/>
                <a:ext cx="514590" cy="369332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Rectangle 338"/>
              <p:cNvSpPr/>
              <p:nvPr/>
            </p:nvSpPr>
            <p:spPr>
              <a:xfrm>
                <a:off x="10106645" y="406060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9" name="Rectangle 3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6645" y="4060607"/>
                <a:ext cx="514590" cy="369332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Rectangle 339"/>
              <p:cNvSpPr/>
              <p:nvPr/>
            </p:nvSpPr>
            <p:spPr>
              <a:xfrm>
                <a:off x="10877478" y="404770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0" name="Rectangle 3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478" y="4047701"/>
                <a:ext cx="514590" cy="369332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Rectangle 340"/>
              <p:cNvSpPr/>
              <p:nvPr/>
            </p:nvSpPr>
            <p:spPr>
              <a:xfrm>
                <a:off x="415755" y="4481946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1" name="Rectangle 3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55" y="4481946"/>
                <a:ext cx="514590" cy="369332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Rectangle 341"/>
              <p:cNvSpPr/>
              <p:nvPr/>
            </p:nvSpPr>
            <p:spPr>
              <a:xfrm>
                <a:off x="1139527" y="447316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2" name="Rectangle 3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527" y="4473164"/>
                <a:ext cx="514590" cy="369332"/>
              </a:xfrm>
              <a:prstGeom prst="rect">
                <a:avLst/>
              </a:prstGeom>
              <a:blipFill>
                <a:blip r:embed="rId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Rectangle 342"/>
              <p:cNvSpPr/>
              <p:nvPr/>
            </p:nvSpPr>
            <p:spPr>
              <a:xfrm>
                <a:off x="1939713" y="4496606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3" name="Rectangle 3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13" y="4496606"/>
                <a:ext cx="514590" cy="369332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Rectangle 343"/>
              <p:cNvSpPr/>
              <p:nvPr/>
            </p:nvSpPr>
            <p:spPr>
              <a:xfrm>
                <a:off x="2684893" y="4496606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4" name="Rectangle 3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93" y="4496606"/>
                <a:ext cx="514590" cy="369332"/>
              </a:xfrm>
              <a:prstGeom prst="rect">
                <a:avLst/>
              </a:prstGeom>
              <a:blipFill>
                <a:blip r:embed="rId8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Rectangle 344"/>
              <p:cNvSpPr/>
              <p:nvPr/>
            </p:nvSpPr>
            <p:spPr>
              <a:xfrm>
                <a:off x="3467379" y="450671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5" name="Rectangle 3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379" y="4506718"/>
                <a:ext cx="514590" cy="369332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Rectangle 345"/>
              <p:cNvSpPr/>
              <p:nvPr/>
            </p:nvSpPr>
            <p:spPr>
              <a:xfrm>
                <a:off x="4162263" y="450671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6" name="Rectangle 3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263" y="4506718"/>
                <a:ext cx="514590" cy="369332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Rectangle 346"/>
              <p:cNvSpPr/>
              <p:nvPr/>
            </p:nvSpPr>
            <p:spPr>
              <a:xfrm>
                <a:off x="4927133" y="450592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7" name="Rectangle 3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33" y="4505920"/>
                <a:ext cx="514590" cy="369332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Rectangle 347"/>
              <p:cNvSpPr/>
              <p:nvPr/>
            </p:nvSpPr>
            <p:spPr>
              <a:xfrm>
                <a:off x="5660264" y="450592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8" name="Rectangle 3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264" y="4505920"/>
                <a:ext cx="514590" cy="369332"/>
              </a:xfrm>
              <a:prstGeom prst="rect">
                <a:avLst/>
              </a:prstGeom>
              <a:blipFill>
                <a:blip r:embed="rId8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Rectangle 348"/>
              <p:cNvSpPr/>
              <p:nvPr/>
            </p:nvSpPr>
            <p:spPr>
              <a:xfrm>
                <a:off x="6384159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9" name="Rectangle 3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159" y="4496260"/>
                <a:ext cx="514590" cy="369332"/>
              </a:xfrm>
              <a:prstGeom prst="rect">
                <a:avLst/>
              </a:prstGeom>
              <a:blipFill>
                <a:blip r:embed="rId8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Rectangle 349"/>
              <p:cNvSpPr/>
              <p:nvPr/>
            </p:nvSpPr>
            <p:spPr>
              <a:xfrm>
                <a:off x="7170675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0" name="Rectangle 3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675" y="4496260"/>
                <a:ext cx="514590" cy="369332"/>
              </a:xfrm>
              <a:prstGeom prst="rect">
                <a:avLst/>
              </a:prstGeom>
              <a:blipFill>
                <a:blip r:embed="rId8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Rectangle 350"/>
              <p:cNvSpPr/>
              <p:nvPr/>
            </p:nvSpPr>
            <p:spPr>
              <a:xfrm>
                <a:off x="7874253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1" name="Rectangle 3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253" y="4496260"/>
                <a:ext cx="514590" cy="369332"/>
              </a:xfrm>
              <a:prstGeom prst="rect">
                <a:avLst/>
              </a:prstGeom>
              <a:blipFill>
                <a:blip r:embed="rId8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Rectangle 351"/>
              <p:cNvSpPr/>
              <p:nvPr/>
            </p:nvSpPr>
            <p:spPr>
              <a:xfrm>
                <a:off x="8607384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2" name="Rectangle 3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384" y="4496260"/>
                <a:ext cx="514590" cy="369332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Rectangle 352"/>
              <p:cNvSpPr/>
              <p:nvPr/>
            </p:nvSpPr>
            <p:spPr>
              <a:xfrm>
                <a:off x="9385697" y="450553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3" name="Rectangle 3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697" y="4505535"/>
                <a:ext cx="514590" cy="369332"/>
              </a:xfrm>
              <a:prstGeom prst="rect">
                <a:avLst/>
              </a:prstGeom>
              <a:blipFill>
                <a:blip r:embed="rId8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Rectangle 353"/>
              <p:cNvSpPr/>
              <p:nvPr/>
            </p:nvSpPr>
            <p:spPr>
              <a:xfrm>
                <a:off x="10243413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4" name="Rectangle 3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413" y="4496260"/>
                <a:ext cx="514590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Rectangle 354"/>
              <p:cNvSpPr/>
              <p:nvPr/>
            </p:nvSpPr>
            <p:spPr>
              <a:xfrm>
                <a:off x="11048660" y="44873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5" name="Rectangle 3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660" y="4487352"/>
                <a:ext cx="51459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Rectangle 357"/>
              <p:cNvSpPr/>
              <p:nvPr/>
            </p:nvSpPr>
            <p:spPr>
              <a:xfrm>
                <a:off x="189898" y="368774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8" name="Rectangle 3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98" y="3687742"/>
                <a:ext cx="520271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Rectangle 358"/>
              <p:cNvSpPr/>
              <p:nvPr/>
            </p:nvSpPr>
            <p:spPr>
              <a:xfrm>
                <a:off x="935654" y="366337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9" name="Rectangle 3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54" y="3663372"/>
                <a:ext cx="520271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0" name="Rectangle 359"/>
              <p:cNvSpPr/>
              <p:nvPr/>
            </p:nvSpPr>
            <p:spPr>
              <a:xfrm>
                <a:off x="1696746" y="3714645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0" name="Rectangle 3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46" y="3714645"/>
                <a:ext cx="520271" cy="369332"/>
              </a:xfrm>
              <a:prstGeom prst="rect">
                <a:avLst/>
              </a:prstGeom>
              <a:blipFill>
                <a:blip r:embed="rId9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Rectangle 360"/>
              <p:cNvSpPr/>
              <p:nvPr/>
            </p:nvSpPr>
            <p:spPr>
              <a:xfrm>
                <a:off x="2535267" y="369572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1" name="Rectangle 3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267" y="3695721"/>
                <a:ext cx="520271" cy="369332"/>
              </a:xfrm>
              <a:prstGeom prst="rect">
                <a:avLst/>
              </a:prstGeom>
              <a:blipFill>
                <a:blip r:embed="rId9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2" name="Rectangle 361"/>
              <p:cNvSpPr/>
              <p:nvPr/>
            </p:nvSpPr>
            <p:spPr>
              <a:xfrm>
                <a:off x="3249487" y="370374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2" name="Rectangle 3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487" y="3703741"/>
                <a:ext cx="520271" cy="369332"/>
              </a:xfrm>
              <a:prstGeom prst="rect">
                <a:avLst/>
              </a:prstGeom>
              <a:blipFill>
                <a:blip r:embed="rId9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3" name="Rectangle 362"/>
              <p:cNvSpPr/>
              <p:nvPr/>
            </p:nvSpPr>
            <p:spPr>
              <a:xfrm>
                <a:off x="4020407" y="3690298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3" name="Rectangle 3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407" y="3690298"/>
                <a:ext cx="520271" cy="369332"/>
              </a:xfrm>
              <a:prstGeom prst="rect">
                <a:avLst/>
              </a:prstGeom>
              <a:blipFill>
                <a:blip r:embed="rId9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Rectangle 363"/>
              <p:cNvSpPr/>
              <p:nvPr/>
            </p:nvSpPr>
            <p:spPr>
              <a:xfrm>
                <a:off x="4745404" y="365535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4" name="Rectangle 3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404" y="3655352"/>
                <a:ext cx="520271" cy="369332"/>
              </a:xfrm>
              <a:prstGeom prst="rect">
                <a:avLst/>
              </a:prstGeom>
              <a:blipFill>
                <a:blip r:embed="rId9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5" name="Rectangle 364"/>
              <p:cNvSpPr/>
              <p:nvPr/>
            </p:nvSpPr>
            <p:spPr>
              <a:xfrm>
                <a:off x="5459624" y="366337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5" name="Rectangle 3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624" y="3663372"/>
                <a:ext cx="520271" cy="369332"/>
              </a:xfrm>
              <a:prstGeom prst="rect">
                <a:avLst/>
              </a:prstGeom>
              <a:blipFill>
                <a:blip r:embed="rId9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6" name="Rectangle 365"/>
              <p:cNvSpPr/>
              <p:nvPr/>
            </p:nvSpPr>
            <p:spPr>
              <a:xfrm>
                <a:off x="6172741" y="3700114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6" name="Rectangle 3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741" y="3700114"/>
                <a:ext cx="520271" cy="369332"/>
              </a:xfrm>
              <a:prstGeom prst="rect">
                <a:avLst/>
              </a:prstGeom>
              <a:blipFill>
                <a:blip r:embed="rId10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Rectangle 366"/>
              <p:cNvSpPr/>
              <p:nvPr/>
            </p:nvSpPr>
            <p:spPr>
              <a:xfrm>
                <a:off x="6944091" y="367747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7" name="Rectangle 3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091" y="3677472"/>
                <a:ext cx="514590" cy="369332"/>
              </a:xfrm>
              <a:prstGeom prst="rect">
                <a:avLst/>
              </a:prstGeom>
              <a:blipFill>
                <a:blip r:embed="rId10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Rectangle 367"/>
              <p:cNvSpPr/>
              <p:nvPr/>
            </p:nvSpPr>
            <p:spPr>
              <a:xfrm>
                <a:off x="7715011" y="366402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8" name="Rectangle 3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011" y="3664029"/>
                <a:ext cx="514590" cy="369332"/>
              </a:xfrm>
              <a:prstGeom prst="rect">
                <a:avLst/>
              </a:prstGeom>
              <a:blipFill>
                <a:blip r:embed="rId10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Rectangle 368"/>
              <p:cNvSpPr/>
              <p:nvPr/>
            </p:nvSpPr>
            <p:spPr>
              <a:xfrm>
                <a:off x="8440008" y="362908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9" name="Rectangle 3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008" y="3629083"/>
                <a:ext cx="514590" cy="369332"/>
              </a:xfrm>
              <a:prstGeom prst="rect">
                <a:avLst/>
              </a:prstGeom>
              <a:blipFill>
                <a:blip r:embed="rId10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Rectangle 369"/>
              <p:cNvSpPr/>
              <p:nvPr/>
            </p:nvSpPr>
            <p:spPr>
              <a:xfrm>
                <a:off x="9154228" y="363710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0" name="Rectangle 3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228" y="3637103"/>
                <a:ext cx="514590" cy="369332"/>
              </a:xfrm>
              <a:prstGeom prst="rect">
                <a:avLst/>
              </a:prstGeom>
              <a:blipFill>
                <a:blip r:embed="rId10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1" name="Rectangle 370"/>
              <p:cNvSpPr/>
              <p:nvPr/>
            </p:nvSpPr>
            <p:spPr>
              <a:xfrm>
                <a:off x="9984403" y="36553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1" name="Rectangle 3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403" y="3655352"/>
                <a:ext cx="514590" cy="369332"/>
              </a:xfrm>
              <a:prstGeom prst="rect">
                <a:avLst/>
              </a:prstGeom>
              <a:blipFill>
                <a:blip r:embed="rId10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Rectangle 371"/>
              <p:cNvSpPr/>
              <p:nvPr/>
            </p:nvSpPr>
            <p:spPr>
              <a:xfrm>
                <a:off x="10806138" y="36553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2" name="Rectangle 3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138" y="3655352"/>
                <a:ext cx="514590" cy="369332"/>
              </a:xfrm>
              <a:prstGeom prst="rect">
                <a:avLst/>
              </a:prstGeom>
              <a:blipFill>
                <a:blip r:embed="rId10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" name="TextBox 372"/>
          <p:cNvSpPr txBox="1"/>
          <p:nvPr/>
        </p:nvSpPr>
        <p:spPr>
          <a:xfrm>
            <a:off x="5510788" y="1426123"/>
            <a:ext cx="675185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Loss</a:t>
            </a:r>
          </a:p>
        </p:txBody>
      </p:sp>
      <p:cxnSp>
        <p:nvCxnSpPr>
          <p:cNvPr id="377" name="Elbow Connector 376"/>
          <p:cNvCxnSpPr>
            <a:stCxn id="373" idx="2"/>
            <a:endCxn id="29" idx="0"/>
          </p:cNvCxnSpPr>
          <p:nvPr/>
        </p:nvCxnSpPr>
        <p:spPr>
          <a:xfrm rot="5400000">
            <a:off x="2934780" y="-199266"/>
            <a:ext cx="888103" cy="4939100"/>
          </a:xfrm>
          <a:prstGeom prst="bentConnector3">
            <a:avLst/>
          </a:prstGeom>
          <a:ln w="15875">
            <a:solidFill>
              <a:schemeClr val="accent3">
                <a:lumMod val="50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Elbow Connector 378"/>
          <p:cNvCxnSpPr>
            <a:stCxn id="373" idx="2"/>
            <a:endCxn id="162" idx="0"/>
          </p:cNvCxnSpPr>
          <p:nvPr/>
        </p:nvCxnSpPr>
        <p:spPr>
          <a:xfrm rot="16200000" flipH="1">
            <a:off x="8223968" y="-549354"/>
            <a:ext cx="888103" cy="5639276"/>
          </a:xfrm>
          <a:prstGeom prst="bentConnector3">
            <a:avLst/>
          </a:prstGeom>
          <a:ln w="15875">
            <a:solidFill>
              <a:schemeClr val="accent3">
                <a:lumMod val="50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Arrow Connector 380"/>
          <p:cNvCxnSpPr>
            <a:endCxn id="71" idx="0"/>
          </p:cNvCxnSpPr>
          <p:nvPr/>
        </p:nvCxnSpPr>
        <p:spPr>
          <a:xfrm>
            <a:off x="1622228" y="2270284"/>
            <a:ext cx="1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Arrow Connector 382"/>
          <p:cNvCxnSpPr>
            <a:endCxn id="81" idx="0"/>
          </p:cNvCxnSpPr>
          <p:nvPr/>
        </p:nvCxnSpPr>
        <p:spPr>
          <a:xfrm>
            <a:off x="2384154" y="2270284"/>
            <a:ext cx="4214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/>
          <p:cNvCxnSpPr>
            <a:endCxn id="87" idx="0"/>
          </p:cNvCxnSpPr>
          <p:nvPr/>
        </p:nvCxnSpPr>
        <p:spPr>
          <a:xfrm>
            <a:off x="3148561" y="2270284"/>
            <a:ext cx="2382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Arrow Connector 388"/>
          <p:cNvCxnSpPr>
            <a:endCxn id="93" idx="0"/>
          </p:cNvCxnSpPr>
          <p:nvPr/>
        </p:nvCxnSpPr>
        <p:spPr>
          <a:xfrm flipH="1">
            <a:off x="3915570" y="2270284"/>
            <a:ext cx="2263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Arrow Connector 389"/>
          <p:cNvCxnSpPr>
            <a:endCxn id="99" idx="0"/>
          </p:cNvCxnSpPr>
          <p:nvPr/>
        </p:nvCxnSpPr>
        <p:spPr>
          <a:xfrm>
            <a:off x="4697658" y="2272332"/>
            <a:ext cx="1" cy="442004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/>
          <p:cNvCxnSpPr>
            <a:endCxn id="105" idx="0"/>
          </p:cNvCxnSpPr>
          <p:nvPr/>
        </p:nvCxnSpPr>
        <p:spPr>
          <a:xfrm flipH="1">
            <a:off x="5412609" y="2272332"/>
            <a:ext cx="1613" cy="442004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Arrow Connector 391"/>
          <p:cNvCxnSpPr/>
          <p:nvPr/>
        </p:nvCxnSpPr>
        <p:spPr>
          <a:xfrm>
            <a:off x="6102157" y="2265386"/>
            <a:ext cx="2382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/>
          <p:cNvCxnSpPr/>
          <p:nvPr/>
        </p:nvCxnSpPr>
        <p:spPr>
          <a:xfrm>
            <a:off x="6821984" y="2274120"/>
            <a:ext cx="2382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Arrow Connector 400"/>
          <p:cNvCxnSpPr>
            <a:endCxn id="124" idx="0"/>
          </p:cNvCxnSpPr>
          <p:nvPr/>
        </p:nvCxnSpPr>
        <p:spPr>
          <a:xfrm>
            <a:off x="7597688" y="2265386"/>
            <a:ext cx="1" cy="448950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Arrow Connector 404"/>
          <p:cNvCxnSpPr>
            <a:endCxn id="130" idx="0"/>
          </p:cNvCxnSpPr>
          <p:nvPr/>
        </p:nvCxnSpPr>
        <p:spPr>
          <a:xfrm flipH="1">
            <a:off x="8340606" y="2272332"/>
            <a:ext cx="6565" cy="442004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/>
          <p:cNvCxnSpPr>
            <a:endCxn id="136" idx="0"/>
          </p:cNvCxnSpPr>
          <p:nvPr/>
        </p:nvCxnSpPr>
        <p:spPr>
          <a:xfrm flipH="1">
            <a:off x="9100684" y="2272332"/>
            <a:ext cx="2818" cy="442004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/>
          <p:cNvCxnSpPr>
            <a:endCxn id="143" idx="0"/>
          </p:cNvCxnSpPr>
          <p:nvPr/>
        </p:nvCxnSpPr>
        <p:spPr>
          <a:xfrm>
            <a:off x="9911687" y="2267548"/>
            <a:ext cx="1396" cy="446788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/>
          <p:cNvCxnSpPr>
            <a:endCxn id="156" idx="0"/>
          </p:cNvCxnSpPr>
          <p:nvPr/>
        </p:nvCxnSpPr>
        <p:spPr>
          <a:xfrm>
            <a:off x="10686490" y="2272332"/>
            <a:ext cx="7140" cy="442004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0FBB7D7C-83CF-4E4A-85CA-CBA8E547FA02}"/>
              </a:ext>
            </a:extLst>
          </p:cNvPr>
          <p:cNvSpPr txBox="1"/>
          <p:nvPr/>
        </p:nvSpPr>
        <p:spPr>
          <a:xfrm>
            <a:off x="898709" y="5728996"/>
            <a:ext cx="9626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Problem: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Vanishing Gradient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Can’t model the longer sentence properly                       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685265" y="6569077"/>
            <a:ext cx="4519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247110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9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Truncated Backpropagation Through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6762650" y="37213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650" y="3721389"/>
                <a:ext cx="464035" cy="517236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>
            <a:stCxn id="7" idx="0"/>
            <a:endCxn id="4" idx="2"/>
          </p:cNvCxnSpPr>
          <p:nvPr/>
        </p:nvCxnSpPr>
        <p:spPr>
          <a:xfrm flipV="1">
            <a:off x="6986974" y="42386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" idx="0"/>
            <a:endCxn id="8" idx="2"/>
          </p:cNvCxnSpPr>
          <p:nvPr/>
        </p:nvCxnSpPr>
        <p:spPr>
          <a:xfrm flipV="1">
            <a:off x="6994668" y="3139497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6766313" y="49157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313" y="4915767"/>
                <a:ext cx="441322" cy="50395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6790126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126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endCxn id="4" idx="1"/>
          </p:cNvCxnSpPr>
          <p:nvPr/>
        </p:nvCxnSpPr>
        <p:spPr>
          <a:xfrm>
            <a:off x="6418652" y="3980007"/>
            <a:ext cx="34399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iamond 9"/>
              <p:cNvSpPr/>
              <p:nvPr/>
            </p:nvSpPr>
            <p:spPr>
              <a:xfrm>
                <a:off x="7466073" y="37213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Diamond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6073" y="3721389"/>
                <a:ext cx="464035" cy="517236"/>
              </a:xfrm>
              <a:prstGeom prst="diamond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13" idx="0"/>
            <a:endCxn id="10" idx="2"/>
          </p:cNvCxnSpPr>
          <p:nvPr/>
        </p:nvCxnSpPr>
        <p:spPr>
          <a:xfrm flipH="1" flipV="1">
            <a:off x="7698091" y="4238625"/>
            <a:ext cx="1831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0"/>
            <a:endCxn id="14" idx="2"/>
          </p:cNvCxnSpPr>
          <p:nvPr/>
        </p:nvCxnSpPr>
        <p:spPr>
          <a:xfrm flipV="1">
            <a:off x="7698091" y="3139497"/>
            <a:ext cx="1373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7479261" y="49157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261" y="4915767"/>
                <a:ext cx="441322" cy="50395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/>
              <p:cNvSpPr/>
              <p:nvPr/>
            </p:nvSpPr>
            <p:spPr>
              <a:xfrm>
                <a:off x="7503074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ounded 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074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4" idx="3"/>
            <a:endCxn id="10" idx="1"/>
          </p:cNvCxnSpPr>
          <p:nvPr/>
        </p:nvCxnSpPr>
        <p:spPr>
          <a:xfrm>
            <a:off x="7226685" y="3980007"/>
            <a:ext cx="2393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7" idx="1"/>
          </p:cNvCxnSpPr>
          <p:nvPr/>
        </p:nvCxnSpPr>
        <p:spPr>
          <a:xfrm>
            <a:off x="7920583" y="3980007"/>
            <a:ext cx="32115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iamond 16"/>
              <p:cNvSpPr/>
              <p:nvPr/>
            </p:nvSpPr>
            <p:spPr>
              <a:xfrm>
                <a:off x="8241737" y="37213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Diamond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737" y="3721389"/>
                <a:ext cx="464035" cy="517236"/>
              </a:xfrm>
              <a:prstGeom prst="diamond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20" idx="0"/>
            <a:endCxn id="17" idx="2"/>
          </p:cNvCxnSpPr>
          <p:nvPr/>
        </p:nvCxnSpPr>
        <p:spPr>
          <a:xfrm flipV="1">
            <a:off x="8466061" y="42386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0"/>
            <a:endCxn id="21" idx="2"/>
          </p:cNvCxnSpPr>
          <p:nvPr/>
        </p:nvCxnSpPr>
        <p:spPr>
          <a:xfrm flipV="1">
            <a:off x="8473755" y="3139497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8245400" y="49157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400" y="4915767"/>
                <a:ext cx="441322" cy="50395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/>
              <p:cNvSpPr/>
              <p:nvPr/>
            </p:nvSpPr>
            <p:spPr>
              <a:xfrm>
                <a:off x="8269213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213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stCxn id="17" idx="3"/>
            <a:endCxn id="23" idx="1"/>
          </p:cNvCxnSpPr>
          <p:nvPr/>
        </p:nvCxnSpPr>
        <p:spPr>
          <a:xfrm>
            <a:off x="8705772" y="3980007"/>
            <a:ext cx="30806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Diamond 22"/>
              <p:cNvSpPr/>
              <p:nvPr/>
            </p:nvSpPr>
            <p:spPr>
              <a:xfrm>
                <a:off x="9013837" y="37213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Diamond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837" y="3721389"/>
                <a:ext cx="464035" cy="517236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stCxn id="26" idx="0"/>
            <a:endCxn id="23" idx="2"/>
          </p:cNvCxnSpPr>
          <p:nvPr/>
        </p:nvCxnSpPr>
        <p:spPr>
          <a:xfrm flipV="1">
            <a:off x="9238161" y="42386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3" idx="0"/>
            <a:endCxn id="27" idx="2"/>
          </p:cNvCxnSpPr>
          <p:nvPr/>
        </p:nvCxnSpPr>
        <p:spPr>
          <a:xfrm flipH="1" flipV="1">
            <a:off x="9240543" y="3139497"/>
            <a:ext cx="5312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/>
              <p:cNvSpPr/>
              <p:nvPr/>
            </p:nvSpPr>
            <p:spPr>
              <a:xfrm>
                <a:off x="9017500" y="49157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500" y="4915767"/>
                <a:ext cx="441322" cy="50395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26"/>
              <p:cNvSpPr/>
              <p:nvPr/>
            </p:nvSpPr>
            <p:spPr>
              <a:xfrm>
                <a:off x="9031788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ounded 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788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23" idx="3"/>
            <a:endCxn id="29" idx="1"/>
          </p:cNvCxnSpPr>
          <p:nvPr/>
        </p:nvCxnSpPr>
        <p:spPr>
          <a:xfrm>
            <a:off x="9477872" y="3980007"/>
            <a:ext cx="2910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Diamond 28"/>
              <p:cNvSpPr/>
              <p:nvPr/>
            </p:nvSpPr>
            <p:spPr>
              <a:xfrm>
                <a:off x="9768939" y="37213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Diamond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939" y="3721389"/>
                <a:ext cx="464035" cy="517236"/>
              </a:xfrm>
              <a:prstGeom prst="diamond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32" idx="0"/>
            <a:endCxn id="29" idx="2"/>
          </p:cNvCxnSpPr>
          <p:nvPr/>
        </p:nvCxnSpPr>
        <p:spPr>
          <a:xfrm flipV="1">
            <a:off x="9993263" y="42386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9" idx="0"/>
            <a:endCxn id="33" idx="2"/>
          </p:cNvCxnSpPr>
          <p:nvPr/>
        </p:nvCxnSpPr>
        <p:spPr>
          <a:xfrm flipV="1">
            <a:off x="10000957" y="3139497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/>
              <p:cNvSpPr/>
              <p:nvPr/>
            </p:nvSpPr>
            <p:spPr>
              <a:xfrm>
                <a:off x="9772602" y="49157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Oval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2602" y="4915767"/>
                <a:ext cx="441322" cy="50395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/>
              <p:cNvSpPr/>
              <p:nvPr/>
            </p:nvSpPr>
            <p:spPr>
              <a:xfrm>
                <a:off x="9796415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ounded 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415" y="26476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539634" y="328387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634" y="3283877"/>
                <a:ext cx="520271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253854" y="329189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854" y="3291897"/>
                <a:ext cx="520271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8014946" y="3343170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946" y="3343170"/>
                <a:ext cx="52027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8853467" y="332424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3467" y="3324246"/>
                <a:ext cx="520271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9567687" y="333226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687" y="3332266"/>
                <a:ext cx="52027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373835" y="399039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35" y="3990399"/>
                <a:ext cx="51459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7113216" y="398000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216" y="3980007"/>
                <a:ext cx="51459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7821779" y="396396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779" y="3963968"/>
                <a:ext cx="51459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8607162" y="398000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162" y="3980007"/>
                <a:ext cx="514590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9353533" y="400467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533" y="4004674"/>
                <a:ext cx="51459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6505355" y="441527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355" y="4415271"/>
                <a:ext cx="51459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7229127" y="440648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127" y="4406489"/>
                <a:ext cx="514590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029313" y="442993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313" y="4429931"/>
                <a:ext cx="514590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8774493" y="442993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493" y="4429931"/>
                <a:ext cx="514590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9556979" y="444004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979" y="4440043"/>
                <a:ext cx="51459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6311034" y="358867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034" y="3588677"/>
                <a:ext cx="52027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7025254" y="359669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254" y="3596697"/>
                <a:ext cx="52027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7786346" y="3647970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6346" y="3647970"/>
                <a:ext cx="52027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8624867" y="362904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867" y="3629046"/>
                <a:ext cx="52027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9339087" y="363706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087" y="3637066"/>
                <a:ext cx="52027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>
            <a:endCxn id="14" idx="0"/>
          </p:cNvCxnSpPr>
          <p:nvPr/>
        </p:nvCxnSpPr>
        <p:spPr>
          <a:xfrm>
            <a:off x="7711828" y="2203609"/>
            <a:ext cx="1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21" idx="0"/>
          </p:cNvCxnSpPr>
          <p:nvPr/>
        </p:nvCxnSpPr>
        <p:spPr>
          <a:xfrm>
            <a:off x="8473754" y="2203609"/>
            <a:ext cx="4214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27" idx="0"/>
          </p:cNvCxnSpPr>
          <p:nvPr/>
        </p:nvCxnSpPr>
        <p:spPr>
          <a:xfrm>
            <a:off x="9238161" y="2203609"/>
            <a:ext cx="2382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136088" y="1343832"/>
            <a:ext cx="675185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Loss</a:t>
            </a:r>
          </a:p>
        </p:txBody>
      </p:sp>
      <p:cxnSp>
        <p:nvCxnSpPr>
          <p:cNvPr id="59" name="Elbow Connector 58"/>
          <p:cNvCxnSpPr>
            <a:stCxn id="58" idx="2"/>
            <a:endCxn id="8" idx="0"/>
          </p:cNvCxnSpPr>
          <p:nvPr/>
        </p:nvCxnSpPr>
        <p:spPr>
          <a:xfrm rot="5400000">
            <a:off x="7284422" y="1458401"/>
            <a:ext cx="903719" cy="1474800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3">
                <a:lumMod val="50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58" idx="2"/>
            <a:endCxn id="33" idx="0"/>
          </p:cNvCxnSpPr>
          <p:nvPr/>
        </p:nvCxnSpPr>
        <p:spPr>
          <a:xfrm rot="16200000" flipH="1">
            <a:off x="8787566" y="1430056"/>
            <a:ext cx="903719" cy="1531489"/>
          </a:xfrm>
          <a:prstGeom prst="bentConnector3">
            <a:avLst/>
          </a:prstGeom>
          <a:ln w="15875">
            <a:solidFill>
              <a:schemeClr val="accent3">
                <a:lumMod val="50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7203882" y="5731514"/>
            <a:ext cx="2789381" cy="0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7203882" y="6022459"/>
            <a:ext cx="2789381" cy="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756878" y="2133725"/>
            <a:ext cx="58142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Run forward and backward through chunks of the sequence instead of whole sequence.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681815" y="6551273"/>
            <a:ext cx="4510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83361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/>
          <p:cNvSpPr/>
          <p:nvPr/>
        </p:nvSpPr>
        <p:spPr>
          <a:xfrm>
            <a:off x="8162852" y="1300092"/>
            <a:ext cx="3872127" cy="5082242"/>
          </a:xfrm>
          <a:prstGeom prst="rect">
            <a:avLst/>
          </a:prstGeom>
          <a:solidFill>
            <a:srgbClr val="92D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07680" y="33337"/>
            <a:ext cx="10515600" cy="124048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Truncated Backpropagation Through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iamond 4"/>
              <p:cNvSpPr/>
              <p:nvPr/>
            </p:nvSpPr>
            <p:spPr>
              <a:xfrm>
                <a:off x="4626214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Diamond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6214" y="3741889"/>
                <a:ext cx="464035" cy="517236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8" idx="0"/>
            <a:endCxn id="5" idx="2"/>
          </p:cNvCxnSpPr>
          <p:nvPr/>
        </p:nvCxnSpPr>
        <p:spPr>
          <a:xfrm flipV="1">
            <a:off x="4850538" y="42591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0"/>
            <a:endCxn id="9" idx="2"/>
          </p:cNvCxnSpPr>
          <p:nvPr/>
        </p:nvCxnSpPr>
        <p:spPr>
          <a:xfrm flipV="1">
            <a:off x="4858232" y="3159997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4629877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877" y="4936267"/>
                <a:ext cx="441322" cy="50395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4653690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90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endCxn id="5" idx="1"/>
          </p:cNvCxnSpPr>
          <p:nvPr/>
        </p:nvCxnSpPr>
        <p:spPr>
          <a:xfrm>
            <a:off x="4282216" y="4000507"/>
            <a:ext cx="34399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Diamond 10"/>
              <p:cNvSpPr/>
              <p:nvPr/>
            </p:nvSpPr>
            <p:spPr>
              <a:xfrm>
                <a:off x="5329637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Diamond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637" y="3741889"/>
                <a:ext cx="464035" cy="517236"/>
              </a:xfrm>
              <a:prstGeom prst="diamond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4" idx="0"/>
            <a:endCxn id="11" idx="2"/>
          </p:cNvCxnSpPr>
          <p:nvPr/>
        </p:nvCxnSpPr>
        <p:spPr>
          <a:xfrm flipH="1" flipV="1">
            <a:off x="5561655" y="4259125"/>
            <a:ext cx="1831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1" idx="0"/>
            <a:endCxn id="15" idx="2"/>
          </p:cNvCxnSpPr>
          <p:nvPr/>
        </p:nvCxnSpPr>
        <p:spPr>
          <a:xfrm flipV="1">
            <a:off x="5561655" y="3159997"/>
            <a:ext cx="1373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5342825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25" y="4936267"/>
                <a:ext cx="441322" cy="50395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/>
              <p:cNvSpPr/>
              <p:nvPr/>
            </p:nvSpPr>
            <p:spPr>
              <a:xfrm>
                <a:off x="5366638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638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5" idx="3"/>
            <a:endCxn id="11" idx="1"/>
          </p:cNvCxnSpPr>
          <p:nvPr/>
        </p:nvCxnSpPr>
        <p:spPr>
          <a:xfrm>
            <a:off x="5090249" y="4000507"/>
            <a:ext cx="2393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5784147" y="4000507"/>
            <a:ext cx="32115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Diamond 17"/>
              <p:cNvSpPr/>
              <p:nvPr/>
            </p:nvSpPr>
            <p:spPr>
              <a:xfrm>
                <a:off x="6105301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Diamond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301" y="3741889"/>
                <a:ext cx="464035" cy="517236"/>
              </a:xfrm>
              <a:prstGeom prst="diamond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>
            <a:stCxn id="21" idx="0"/>
            <a:endCxn id="18" idx="2"/>
          </p:cNvCxnSpPr>
          <p:nvPr/>
        </p:nvCxnSpPr>
        <p:spPr>
          <a:xfrm flipV="1">
            <a:off x="6329625" y="42591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8" idx="0"/>
            <a:endCxn id="22" idx="2"/>
          </p:cNvCxnSpPr>
          <p:nvPr/>
        </p:nvCxnSpPr>
        <p:spPr>
          <a:xfrm flipV="1">
            <a:off x="6337319" y="3159997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/>
              <p:cNvSpPr/>
              <p:nvPr/>
            </p:nvSpPr>
            <p:spPr>
              <a:xfrm>
                <a:off x="6108964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964" y="4936267"/>
                <a:ext cx="441322" cy="50395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/>
              <p:cNvSpPr/>
              <p:nvPr/>
            </p:nvSpPr>
            <p:spPr>
              <a:xfrm>
                <a:off x="6132777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ounded 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777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18" idx="3"/>
            <a:endCxn id="24" idx="1"/>
          </p:cNvCxnSpPr>
          <p:nvPr/>
        </p:nvCxnSpPr>
        <p:spPr>
          <a:xfrm>
            <a:off x="6569336" y="4000507"/>
            <a:ext cx="30806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Diamond 23"/>
              <p:cNvSpPr/>
              <p:nvPr/>
            </p:nvSpPr>
            <p:spPr>
              <a:xfrm>
                <a:off x="6877401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Diamond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401" y="3741889"/>
                <a:ext cx="464035" cy="517236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stCxn id="27" idx="0"/>
            <a:endCxn id="24" idx="2"/>
          </p:cNvCxnSpPr>
          <p:nvPr/>
        </p:nvCxnSpPr>
        <p:spPr>
          <a:xfrm flipV="1">
            <a:off x="7101725" y="42591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4" idx="0"/>
            <a:endCxn id="28" idx="2"/>
          </p:cNvCxnSpPr>
          <p:nvPr/>
        </p:nvCxnSpPr>
        <p:spPr>
          <a:xfrm flipH="1" flipV="1">
            <a:off x="7104107" y="3159997"/>
            <a:ext cx="5312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6881064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064" y="4936267"/>
                <a:ext cx="441322" cy="50395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/>
              <p:cNvSpPr/>
              <p:nvPr/>
            </p:nvSpPr>
            <p:spPr>
              <a:xfrm>
                <a:off x="6895352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ounded 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52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>
            <a:stCxn id="24" idx="3"/>
            <a:endCxn id="30" idx="1"/>
          </p:cNvCxnSpPr>
          <p:nvPr/>
        </p:nvCxnSpPr>
        <p:spPr>
          <a:xfrm>
            <a:off x="7341436" y="4000507"/>
            <a:ext cx="2910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Diamond 29"/>
              <p:cNvSpPr/>
              <p:nvPr/>
            </p:nvSpPr>
            <p:spPr>
              <a:xfrm>
                <a:off x="7632503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Diamond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503" y="3741889"/>
                <a:ext cx="464035" cy="517236"/>
              </a:xfrm>
              <a:prstGeom prst="diamond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>
            <a:stCxn id="33" idx="0"/>
            <a:endCxn id="30" idx="2"/>
          </p:cNvCxnSpPr>
          <p:nvPr/>
        </p:nvCxnSpPr>
        <p:spPr>
          <a:xfrm flipV="1">
            <a:off x="7856827" y="42591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0" idx="0"/>
            <a:endCxn id="34" idx="2"/>
          </p:cNvCxnSpPr>
          <p:nvPr/>
        </p:nvCxnSpPr>
        <p:spPr>
          <a:xfrm flipV="1">
            <a:off x="7864521" y="3159997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/>
              <p:cNvSpPr/>
              <p:nvPr/>
            </p:nvSpPr>
            <p:spPr>
              <a:xfrm>
                <a:off x="7636166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Oval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166" y="4936267"/>
                <a:ext cx="441322" cy="50395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ounded Rectangle 33"/>
              <p:cNvSpPr/>
              <p:nvPr/>
            </p:nvSpPr>
            <p:spPr>
              <a:xfrm>
                <a:off x="7659979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ounded 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979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>
            <a:stCxn id="30" idx="3"/>
            <a:endCxn id="36" idx="1"/>
          </p:cNvCxnSpPr>
          <p:nvPr/>
        </p:nvCxnSpPr>
        <p:spPr>
          <a:xfrm>
            <a:off x="8096538" y="4000507"/>
            <a:ext cx="30852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Diamond 35"/>
              <p:cNvSpPr/>
              <p:nvPr/>
            </p:nvSpPr>
            <p:spPr>
              <a:xfrm>
                <a:off x="8405067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Diamond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067" y="3741889"/>
                <a:ext cx="464035" cy="517236"/>
              </a:xfrm>
              <a:prstGeom prst="diamond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>
            <a:stCxn id="39" idx="0"/>
            <a:endCxn id="36" idx="2"/>
          </p:cNvCxnSpPr>
          <p:nvPr/>
        </p:nvCxnSpPr>
        <p:spPr>
          <a:xfrm flipV="1">
            <a:off x="8629391" y="42591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6" idx="0"/>
            <a:endCxn id="40" idx="2"/>
          </p:cNvCxnSpPr>
          <p:nvPr/>
        </p:nvCxnSpPr>
        <p:spPr>
          <a:xfrm flipV="1">
            <a:off x="8637085" y="3159997"/>
            <a:ext cx="1373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/>
              <p:cNvSpPr/>
              <p:nvPr/>
            </p:nvSpPr>
            <p:spPr>
              <a:xfrm>
                <a:off x="8408730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Oval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730" y="4936267"/>
                <a:ext cx="441322" cy="50395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ounded Rectangle 39"/>
              <p:cNvSpPr/>
              <p:nvPr/>
            </p:nvSpPr>
            <p:spPr>
              <a:xfrm>
                <a:off x="8442068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ounded 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068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36" idx="3"/>
            <a:endCxn id="42" idx="1"/>
          </p:cNvCxnSpPr>
          <p:nvPr/>
        </p:nvCxnSpPr>
        <p:spPr>
          <a:xfrm>
            <a:off x="8869102" y="4000507"/>
            <a:ext cx="26232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Diamond 41"/>
              <p:cNvSpPr/>
              <p:nvPr/>
            </p:nvSpPr>
            <p:spPr>
              <a:xfrm>
                <a:off x="9131427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Diamond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427" y="3741889"/>
                <a:ext cx="464035" cy="517236"/>
              </a:xfrm>
              <a:prstGeom prst="diamond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>
            <a:stCxn id="45" idx="0"/>
            <a:endCxn id="42" idx="2"/>
          </p:cNvCxnSpPr>
          <p:nvPr/>
        </p:nvCxnSpPr>
        <p:spPr>
          <a:xfrm flipV="1">
            <a:off x="9363391" y="4259125"/>
            <a:ext cx="5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2" idx="0"/>
            <a:endCxn id="46" idx="2"/>
          </p:cNvCxnSpPr>
          <p:nvPr/>
        </p:nvCxnSpPr>
        <p:spPr>
          <a:xfrm flipV="1">
            <a:off x="9363445" y="3159997"/>
            <a:ext cx="232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/>
              <p:cNvSpPr/>
              <p:nvPr/>
            </p:nvSpPr>
            <p:spPr>
              <a:xfrm>
                <a:off x="9142730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Oval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730" y="4936267"/>
                <a:ext cx="441322" cy="503958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ounded Rectangle 45"/>
              <p:cNvSpPr/>
              <p:nvPr/>
            </p:nvSpPr>
            <p:spPr>
              <a:xfrm>
                <a:off x="9157018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ounded 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7018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>
            <a:stCxn id="42" idx="3"/>
            <a:endCxn id="48" idx="1"/>
          </p:cNvCxnSpPr>
          <p:nvPr/>
        </p:nvCxnSpPr>
        <p:spPr>
          <a:xfrm>
            <a:off x="9595462" y="4000507"/>
            <a:ext cx="23791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Diamond 47"/>
              <p:cNvSpPr/>
              <p:nvPr/>
            </p:nvSpPr>
            <p:spPr>
              <a:xfrm>
                <a:off x="9833379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Diamond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3379" y="3741889"/>
                <a:ext cx="464035" cy="517236"/>
              </a:xfrm>
              <a:prstGeom prst="diamond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/>
          <p:cNvCxnSpPr>
            <a:stCxn id="51" idx="0"/>
            <a:endCxn id="48" idx="2"/>
          </p:cNvCxnSpPr>
          <p:nvPr/>
        </p:nvCxnSpPr>
        <p:spPr>
          <a:xfrm flipV="1">
            <a:off x="10057703" y="4259125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8" idx="0"/>
            <a:endCxn id="52" idx="2"/>
          </p:cNvCxnSpPr>
          <p:nvPr/>
        </p:nvCxnSpPr>
        <p:spPr>
          <a:xfrm flipV="1">
            <a:off x="10065397" y="3159997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50"/>
              <p:cNvSpPr/>
              <p:nvPr/>
            </p:nvSpPr>
            <p:spPr>
              <a:xfrm>
                <a:off x="9837042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Oval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7042" y="4936267"/>
                <a:ext cx="441322" cy="503958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ounded Rectangle 51"/>
              <p:cNvSpPr/>
              <p:nvPr/>
            </p:nvSpPr>
            <p:spPr>
              <a:xfrm>
                <a:off x="9860855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ounded 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0855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/>
          <p:cNvCxnSpPr>
            <a:stCxn id="48" idx="3"/>
            <a:endCxn id="54" idx="1"/>
          </p:cNvCxnSpPr>
          <p:nvPr/>
        </p:nvCxnSpPr>
        <p:spPr>
          <a:xfrm>
            <a:off x="10297414" y="4000507"/>
            <a:ext cx="25385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Diamond 53"/>
              <p:cNvSpPr/>
              <p:nvPr/>
            </p:nvSpPr>
            <p:spPr>
              <a:xfrm>
                <a:off x="10551271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Diamond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271" y="3741889"/>
                <a:ext cx="464035" cy="517236"/>
              </a:xfrm>
              <a:prstGeom prst="diamond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>
            <a:stCxn id="57" idx="0"/>
            <a:endCxn id="54" idx="2"/>
          </p:cNvCxnSpPr>
          <p:nvPr/>
        </p:nvCxnSpPr>
        <p:spPr>
          <a:xfrm flipV="1">
            <a:off x="10783215" y="4259125"/>
            <a:ext cx="7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4" idx="0"/>
            <a:endCxn id="58" idx="2"/>
          </p:cNvCxnSpPr>
          <p:nvPr/>
        </p:nvCxnSpPr>
        <p:spPr>
          <a:xfrm flipV="1">
            <a:off x="10783289" y="3159997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/>
              <p:cNvSpPr/>
              <p:nvPr/>
            </p:nvSpPr>
            <p:spPr>
              <a:xfrm>
                <a:off x="10562554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Oval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554" y="4936267"/>
                <a:ext cx="441322" cy="503958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ounded Rectangle 57"/>
              <p:cNvSpPr/>
              <p:nvPr/>
            </p:nvSpPr>
            <p:spPr>
              <a:xfrm>
                <a:off x="10578747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ounded 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747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/>
          <p:cNvCxnSpPr>
            <a:stCxn id="54" idx="3"/>
            <a:endCxn id="60" idx="1"/>
          </p:cNvCxnSpPr>
          <p:nvPr/>
        </p:nvCxnSpPr>
        <p:spPr>
          <a:xfrm>
            <a:off x="11015306" y="4000507"/>
            <a:ext cx="3079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Diamond 59"/>
              <p:cNvSpPr/>
              <p:nvPr/>
            </p:nvSpPr>
            <p:spPr>
              <a:xfrm>
                <a:off x="11323280" y="3741889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Diamond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3280" y="3741889"/>
                <a:ext cx="464035" cy="517236"/>
              </a:xfrm>
              <a:prstGeom prst="diamond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>
            <a:stCxn id="63" idx="0"/>
            <a:endCxn id="60" idx="2"/>
          </p:cNvCxnSpPr>
          <p:nvPr/>
        </p:nvCxnSpPr>
        <p:spPr>
          <a:xfrm flipH="1" flipV="1">
            <a:off x="11555298" y="4259125"/>
            <a:ext cx="11356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60" idx="0"/>
            <a:endCxn id="64" idx="2"/>
          </p:cNvCxnSpPr>
          <p:nvPr/>
        </p:nvCxnSpPr>
        <p:spPr>
          <a:xfrm flipH="1" flipV="1">
            <a:off x="11550853" y="3159997"/>
            <a:ext cx="4445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11345993" y="4936267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5993" y="4936267"/>
                <a:ext cx="441322" cy="503958"/>
              </a:xfrm>
              <a:prstGeom prst="ellipse">
                <a:avLst/>
              </a:prstGeom>
              <a:blipFill>
                <a:blip r:embed="rId30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ounded Rectangle 63"/>
              <p:cNvSpPr/>
              <p:nvPr/>
            </p:nvSpPr>
            <p:spPr>
              <a:xfrm>
                <a:off x="11342098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ounded 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2098" y="2668161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4403198" y="330437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198" y="3304377"/>
                <a:ext cx="520271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5117418" y="331239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418" y="3312397"/>
                <a:ext cx="52027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5878510" y="3363670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510" y="3363670"/>
                <a:ext cx="52027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6717031" y="334474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031" y="3344746"/>
                <a:ext cx="52027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7431251" y="335276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251" y="3352766"/>
                <a:ext cx="52027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8202171" y="3339323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2171" y="3339323"/>
                <a:ext cx="52027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8927168" y="330437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168" y="3304377"/>
                <a:ext cx="520271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9641388" y="331239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388" y="3312397"/>
                <a:ext cx="520271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10354505" y="3349139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505" y="3349139"/>
                <a:ext cx="520271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11125855" y="332649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5855" y="3326497"/>
                <a:ext cx="514590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4237399" y="401089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399" y="4010899"/>
                <a:ext cx="514590" cy="3693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4976780" y="400050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6780" y="4000507"/>
                <a:ext cx="514590" cy="3693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5685343" y="398446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343" y="3984468"/>
                <a:ext cx="514590" cy="3693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6470726" y="400050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726" y="4000507"/>
                <a:ext cx="514590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7217097" y="402517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097" y="4025174"/>
                <a:ext cx="514590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8017040" y="399339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040" y="3993390"/>
                <a:ext cx="514590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8741644" y="401709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644" y="4017092"/>
                <a:ext cx="514590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9463411" y="401089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3411" y="4010899"/>
                <a:ext cx="514590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10187306" y="399339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306" y="3993390"/>
                <a:ext cx="514590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10877896" y="402517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896" y="4025174"/>
                <a:ext cx="514590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/>
              <p:cNvSpPr/>
              <p:nvPr/>
            </p:nvSpPr>
            <p:spPr>
              <a:xfrm>
                <a:off x="4368919" y="443577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5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919" y="4435771"/>
                <a:ext cx="514590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/>
              <p:cNvSpPr/>
              <p:nvPr/>
            </p:nvSpPr>
            <p:spPr>
              <a:xfrm>
                <a:off x="5092691" y="442698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6" name="Rectangle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691" y="4426989"/>
                <a:ext cx="514590" cy="369332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5892877" y="445043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77" y="4450431"/>
                <a:ext cx="514590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6638057" y="445043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057" y="4450431"/>
                <a:ext cx="514590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7420543" y="446054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0543" y="4460543"/>
                <a:ext cx="514590" cy="369332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8115427" y="446054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427" y="4460543"/>
                <a:ext cx="514590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8880297" y="445974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297" y="4459745"/>
                <a:ext cx="514590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/>
              <p:cNvSpPr/>
              <p:nvPr/>
            </p:nvSpPr>
            <p:spPr>
              <a:xfrm>
                <a:off x="9613428" y="445974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2" name="Rectangle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3428" y="4459745"/>
                <a:ext cx="514590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>
                <a:off x="10337323" y="445008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323" y="4450085"/>
                <a:ext cx="514590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/>
              <p:cNvSpPr/>
              <p:nvPr/>
            </p:nvSpPr>
            <p:spPr>
              <a:xfrm>
                <a:off x="11123839" y="445008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4" name="Rectangle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3839" y="4450085"/>
                <a:ext cx="514590" cy="369332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4174598" y="360917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598" y="3609177"/>
                <a:ext cx="520271" cy="369332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4888818" y="361719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818" y="3617197"/>
                <a:ext cx="520271" cy="369332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5649910" y="3668470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910" y="3668470"/>
                <a:ext cx="520271" cy="369332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6488431" y="364954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431" y="3649546"/>
                <a:ext cx="520271" cy="369332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7202651" y="365756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651" y="3657566"/>
                <a:ext cx="520271" cy="369332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/>
              <p:cNvSpPr/>
              <p:nvPr/>
            </p:nvSpPr>
            <p:spPr>
              <a:xfrm>
                <a:off x="7973571" y="3644123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0" name="Rectangle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571" y="3644123"/>
                <a:ext cx="520271" cy="369332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/>
              <p:cNvSpPr/>
              <p:nvPr/>
            </p:nvSpPr>
            <p:spPr>
              <a:xfrm>
                <a:off x="8698568" y="360917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" name="Rectangle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568" y="3609177"/>
                <a:ext cx="520271" cy="369332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/>
              <p:cNvSpPr/>
              <p:nvPr/>
            </p:nvSpPr>
            <p:spPr>
              <a:xfrm>
                <a:off x="9412788" y="3617197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2" name="Rectangle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788" y="3617197"/>
                <a:ext cx="520271" cy="369332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/>
              <p:cNvSpPr/>
              <p:nvPr/>
            </p:nvSpPr>
            <p:spPr>
              <a:xfrm>
                <a:off x="10125905" y="3653939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3" name="Rectangle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5905" y="3653939"/>
                <a:ext cx="520271" cy="369332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/>
              <p:cNvSpPr/>
              <p:nvPr/>
            </p:nvSpPr>
            <p:spPr>
              <a:xfrm>
                <a:off x="10897255" y="363129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4" name="Rectangle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7255" y="3631297"/>
                <a:ext cx="514590" cy="369332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Elbow Connector 104"/>
          <p:cNvCxnSpPr>
            <a:stCxn id="115" idx="2"/>
            <a:endCxn id="40" idx="0"/>
          </p:cNvCxnSpPr>
          <p:nvPr/>
        </p:nvCxnSpPr>
        <p:spPr>
          <a:xfrm rot="5400000">
            <a:off x="8896254" y="1509094"/>
            <a:ext cx="913636" cy="1404498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3">
                <a:lumMod val="50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endCxn id="46" idx="0"/>
          </p:cNvCxnSpPr>
          <p:nvPr/>
        </p:nvCxnSpPr>
        <p:spPr>
          <a:xfrm flipH="1">
            <a:off x="9365773" y="2226157"/>
            <a:ext cx="1613" cy="442004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>
            <a:off x="10055321" y="2219211"/>
            <a:ext cx="2382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>
            <a:off x="10775148" y="2227945"/>
            <a:ext cx="2382" cy="444052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9717728" y="1354415"/>
            <a:ext cx="675185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Loss</a:t>
            </a:r>
          </a:p>
        </p:txBody>
      </p:sp>
      <p:cxnSp>
        <p:nvCxnSpPr>
          <p:cNvPr id="120" name="Elbow Connector 119"/>
          <p:cNvCxnSpPr>
            <a:stCxn id="115" idx="2"/>
            <a:endCxn id="64" idx="0"/>
          </p:cNvCxnSpPr>
          <p:nvPr/>
        </p:nvCxnSpPr>
        <p:spPr>
          <a:xfrm rot="16200000" flipH="1">
            <a:off x="10346269" y="1463577"/>
            <a:ext cx="913636" cy="1495532"/>
          </a:xfrm>
          <a:prstGeom prst="bentConnector3">
            <a:avLst>
              <a:gd name="adj1" fmla="val 50000"/>
            </a:avLst>
          </a:prstGeom>
          <a:ln w="15875">
            <a:solidFill>
              <a:schemeClr val="accent3">
                <a:lumMod val="50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>
            <a:off x="8686733" y="5882766"/>
            <a:ext cx="2789381" cy="0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>
            <a:off x="8686733" y="6173711"/>
            <a:ext cx="2789381" cy="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>
            <a:off x="5071199" y="5795020"/>
            <a:ext cx="2789381" cy="0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0D48F73-5ED7-4288-A42B-4E417A48525B}"/>
              </a:ext>
            </a:extLst>
          </p:cNvPr>
          <p:cNvSpPr/>
          <p:nvPr/>
        </p:nvSpPr>
        <p:spPr>
          <a:xfrm>
            <a:off x="459320" y="1494048"/>
            <a:ext cx="641808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7030A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Carry hidden states forward in time forever, but only backpropagate for some smaller number of steps.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745529" y="6558293"/>
            <a:ext cx="4446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1938855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27" y="254289"/>
            <a:ext cx="10679546" cy="92796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Truncated Backpropagation Through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iamond 4"/>
              <p:cNvSpPr/>
              <p:nvPr/>
            </p:nvSpPr>
            <p:spPr>
              <a:xfrm>
                <a:off x="673050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Diamond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50" y="3788064"/>
                <a:ext cx="464035" cy="517236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27" idx="0"/>
            <a:endCxn id="5" idx="2"/>
          </p:cNvCxnSpPr>
          <p:nvPr/>
        </p:nvCxnSpPr>
        <p:spPr>
          <a:xfrm flipV="1">
            <a:off x="897374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0"/>
            <a:endCxn id="29" idx="2"/>
          </p:cNvCxnSpPr>
          <p:nvPr/>
        </p:nvCxnSpPr>
        <p:spPr>
          <a:xfrm flipV="1">
            <a:off x="905068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/>
              <p:cNvSpPr/>
              <p:nvPr/>
            </p:nvSpPr>
            <p:spPr>
              <a:xfrm>
                <a:off x="676713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13" y="4982442"/>
                <a:ext cx="441322" cy="50395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le 28"/>
              <p:cNvSpPr/>
              <p:nvPr/>
            </p:nvSpPr>
            <p:spPr>
              <a:xfrm>
                <a:off x="700526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ounded 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26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>
            <a:endCxn id="5" idx="1"/>
          </p:cNvCxnSpPr>
          <p:nvPr/>
        </p:nvCxnSpPr>
        <p:spPr>
          <a:xfrm>
            <a:off x="329052" y="4046682"/>
            <a:ext cx="34399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Diamond 66"/>
              <p:cNvSpPr/>
              <p:nvPr/>
            </p:nvSpPr>
            <p:spPr>
              <a:xfrm>
                <a:off x="1376473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Diamond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473" y="3788064"/>
                <a:ext cx="464035" cy="517236"/>
              </a:xfrm>
              <a:prstGeom prst="diamond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/>
          <p:cNvCxnSpPr>
            <a:stCxn id="70" idx="0"/>
            <a:endCxn id="67" idx="2"/>
          </p:cNvCxnSpPr>
          <p:nvPr/>
        </p:nvCxnSpPr>
        <p:spPr>
          <a:xfrm flipH="1" flipV="1">
            <a:off x="1608491" y="4305300"/>
            <a:ext cx="1831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7" idx="0"/>
            <a:endCxn id="71" idx="2"/>
          </p:cNvCxnSpPr>
          <p:nvPr/>
        </p:nvCxnSpPr>
        <p:spPr>
          <a:xfrm flipV="1">
            <a:off x="1608491" y="3206172"/>
            <a:ext cx="1373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/>
              <p:cNvSpPr/>
              <p:nvPr/>
            </p:nvSpPr>
            <p:spPr>
              <a:xfrm>
                <a:off x="1389661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Oval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661" y="4982442"/>
                <a:ext cx="441322" cy="50395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ounded Rectangle 70"/>
              <p:cNvSpPr/>
              <p:nvPr/>
            </p:nvSpPr>
            <p:spPr>
              <a:xfrm>
                <a:off x="141347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ounded 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47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/>
          <p:cNvCxnSpPr>
            <a:stCxn id="5" idx="3"/>
            <a:endCxn id="67" idx="1"/>
          </p:cNvCxnSpPr>
          <p:nvPr/>
        </p:nvCxnSpPr>
        <p:spPr>
          <a:xfrm>
            <a:off x="1137085" y="4046682"/>
            <a:ext cx="2393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77" idx="1"/>
          </p:cNvCxnSpPr>
          <p:nvPr/>
        </p:nvCxnSpPr>
        <p:spPr>
          <a:xfrm>
            <a:off x="1830983" y="4046682"/>
            <a:ext cx="32115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Diamond 76"/>
              <p:cNvSpPr/>
              <p:nvPr/>
            </p:nvSpPr>
            <p:spPr>
              <a:xfrm>
                <a:off x="2152137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Diamond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137" y="3788064"/>
                <a:ext cx="464035" cy="517236"/>
              </a:xfrm>
              <a:prstGeom prst="diamond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/>
          <p:cNvCxnSpPr>
            <a:stCxn id="80" idx="0"/>
            <a:endCxn id="77" idx="2"/>
          </p:cNvCxnSpPr>
          <p:nvPr/>
        </p:nvCxnSpPr>
        <p:spPr>
          <a:xfrm flipV="1">
            <a:off x="2376461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7" idx="0"/>
            <a:endCxn id="81" idx="2"/>
          </p:cNvCxnSpPr>
          <p:nvPr/>
        </p:nvCxnSpPr>
        <p:spPr>
          <a:xfrm flipV="1">
            <a:off x="2384155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79"/>
              <p:cNvSpPr/>
              <p:nvPr/>
            </p:nvSpPr>
            <p:spPr>
              <a:xfrm>
                <a:off x="2155800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Oval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800" y="4982442"/>
                <a:ext cx="441322" cy="50395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ounded Rectangle 80"/>
              <p:cNvSpPr/>
              <p:nvPr/>
            </p:nvSpPr>
            <p:spPr>
              <a:xfrm>
                <a:off x="2179613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Rounded 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613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/>
          <p:cNvCxnSpPr>
            <a:stCxn id="77" idx="3"/>
            <a:endCxn id="83" idx="1"/>
          </p:cNvCxnSpPr>
          <p:nvPr/>
        </p:nvCxnSpPr>
        <p:spPr>
          <a:xfrm>
            <a:off x="2616172" y="4046682"/>
            <a:ext cx="30806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Diamond 82"/>
              <p:cNvSpPr/>
              <p:nvPr/>
            </p:nvSpPr>
            <p:spPr>
              <a:xfrm>
                <a:off x="2924237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Diamond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237" y="3788064"/>
                <a:ext cx="464035" cy="517236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/>
          <p:cNvCxnSpPr>
            <a:stCxn id="86" idx="0"/>
            <a:endCxn id="83" idx="2"/>
          </p:cNvCxnSpPr>
          <p:nvPr/>
        </p:nvCxnSpPr>
        <p:spPr>
          <a:xfrm flipV="1">
            <a:off x="3148561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83" idx="0"/>
            <a:endCxn id="87" idx="2"/>
          </p:cNvCxnSpPr>
          <p:nvPr/>
        </p:nvCxnSpPr>
        <p:spPr>
          <a:xfrm flipH="1" flipV="1">
            <a:off x="3150943" y="3206172"/>
            <a:ext cx="5312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Oval 85"/>
              <p:cNvSpPr/>
              <p:nvPr/>
            </p:nvSpPr>
            <p:spPr>
              <a:xfrm>
                <a:off x="2927900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Oval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900" y="4982442"/>
                <a:ext cx="441322" cy="50395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ounded Rectangle 86"/>
              <p:cNvSpPr/>
              <p:nvPr/>
            </p:nvSpPr>
            <p:spPr>
              <a:xfrm>
                <a:off x="2942188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Rounded 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188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>
            <a:stCxn id="83" idx="3"/>
            <a:endCxn id="89" idx="1"/>
          </p:cNvCxnSpPr>
          <p:nvPr/>
        </p:nvCxnSpPr>
        <p:spPr>
          <a:xfrm>
            <a:off x="3388272" y="4046682"/>
            <a:ext cx="29106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Diamond 88"/>
              <p:cNvSpPr/>
              <p:nvPr/>
            </p:nvSpPr>
            <p:spPr>
              <a:xfrm>
                <a:off x="3679339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Diamond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339" y="3788064"/>
                <a:ext cx="464035" cy="517236"/>
              </a:xfrm>
              <a:prstGeom prst="diamond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/>
          <p:cNvCxnSpPr>
            <a:stCxn id="92" idx="0"/>
            <a:endCxn id="89" idx="2"/>
          </p:cNvCxnSpPr>
          <p:nvPr/>
        </p:nvCxnSpPr>
        <p:spPr>
          <a:xfrm flipV="1">
            <a:off x="3903663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89" idx="0"/>
            <a:endCxn id="93" idx="2"/>
          </p:cNvCxnSpPr>
          <p:nvPr/>
        </p:nvCxnSpPr>
        <p:spPr>
          <a:xfrm flipV="1">
            <a:off x="3911357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Oval 91"/>
              <p:cNvSpPr/>
              <p:nvPr/>
            </p:nvSpPr>
            <p:spPr>
              <a:xfrm>
                <a:off x="3683002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Oval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2" y="4982442"/>
                <a:ext cx="441322" cy="50395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ounded Rectangle 92"/>
              <p:cNvSpPr/>
              <p:nvPr/>
            </p:nvSpPr>
            <p:spPr>
              <a:xfrm>
                <a:off x="3706815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Rounded 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815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/>
          <p:cNvCxnSpPr>
            <a:stCxn id="89" idx="3"/>
            <a:endCxn id="95" idx="1"/>
          </p:cNvCxnSpPr>
          <p:nvPr/>
        </p:nvCxnSpPr>
        <p:spPr>
          <a:xfrm>
            <a:off x="4143374" y="4046682"/>
            <a:ext cx="30852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Diamond 94"/>
              <p:cNvSpPr/>
              <p:nvPr/>
            </p:nvSpPr>
            <p:spPr>
              <a:xfrm>
                <a:off x="4451903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Diamond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903" y="3788064"/>
                <a:ext cx="464035" cy="517236"/>
              </a:xfrm>
              <a:prstGeom prst="diamond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/>
          <p:cNvCxnSpPr>
            <a:stCxn id="98" idx="0"/>
            <a:endCxn id="95" idx="2"/>
          </p:cNvCxnSpPr>
          <p:nvPr/>
        </p:nvCxnSpPr>
        <p:spPr>
          <a:xfrm flipV="1">
            <a:off x="4676227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5" idx="0"/>
            <a:endCxn id="99" idx="2"/>
          </p:cNvCxnSpPr>
          <p:nvPr/>
        </p:nvCxnSpPr>
        <p:spPr>
          <a:xfrm flipV="1">
            <a:off x="4683921" y="3206172"/>
            <a:ext cx="1373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Oval 97"/>
              <p:cNvSpPr/>
              <p:nvPr/>
            </p:nvSpPr>
            <p:spPr>
              <a:xfrm>
                <a:off x="4455566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Oval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5566" y="4982442"/>
                <a:ext cx="441322" cy="503958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ounded Rectangle 98"/>
              <p:cNvSpPr/>
              <p:nvPr/>
            </p:nvSpPr>
            <p:spPr>
              <a:xfrm>
                <a:off x="448890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Rounded 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90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/>
          <p:cNvCxnSpPr>
            <a:stCxn id="95" idx="3"/>
            <a:endCxn id="101" idx="1"/>
          </p:cNvCxnSpPr>
          <p:nvPr/>
        </p:nvCxnSpPr>
        <p:spPr>
          <a:xfrm>
            <a:off x="4915938" y="4046682"/>
            <a:ext cx="26232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Diamond 100"/>
              <p:cNvSpPr/>
              <p:nvPr/>
            </p:nvSpPr>
            <p:spPr>
              <a:xfrm>
                <a:off x="5178263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" name="Diamond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263" y="3788064"/>
                <a:ext cx="464035" cy="517236"/>
              </a:xfrm>
              <a:prstGeom prst="diamond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Arrow Connector 101"/>
          <p:cNvCxnSpPr>
            <a:stCxn id="104" idx="0"/>
            <a:endCxn id="101" idx="2"/>
          </p:cNvCxnSpPr>
          <p:nvPr/>
        </p:nvCxnSpPr>
        <p:spPr>
          <a:xfrm flipV="1">
            <a:off x="5410227" y="4305300"/>
            <a:ext cx="5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101" idx="0"/>
            <a:endCxn id="105" idx="2"/>
          </p:cNvCxnSpPr>
          <p:nvPr/>
        </p:nvCxnSpPr>
        <p:spPr>
          <a:xfrm flipV="1">
            <a:off x="5410281" y="3206172"/>
            <a:ext cx="232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/>
              <p:cNvSpPr/>
              <p:nvPr/>
            </p:nvSpPr>
            <p:spPr>
              <a:xfrm>
                <a:off x="5189566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" name="Oval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566" y="4982442"/>
                <a:ext cx="441322" cy="503958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ounded Rectangle 104"/>
              <p:cNvSpPr/>
              <p:nvPr/>
            </p:nvSpPr>
            <p:spPr>
              <a:xfrm>
                <a:off x="520385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Rounded Rectangle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85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05"/>
          <p:cNvCxnSpPr>
            <a:stCxn id="101" idx="3"/>
            <a:endCxn id="108" idx="1"/>
          </p:cNvCxnSpPr>
          <p:nvPr/>
        </p:nvCxnSpPr>
        <p:spPr>
          <a:xfrm>
            <a:off x="5642298" y="4046682"/>
            <a:ext cx="23791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Diamond 107"/>
              <p:cNvSpPr/>
              <p:nvPr/>
            </p:nvSpPr>
            <p:spPr>
              <a:xfrm>
                <a:off x="5880215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Diamond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215" y="3788064"/>
                <a:ext cx="464035" cy="517236"/>
              </a:xfrm>
              <a:prstGeom prst="diamond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/>
          <p:cNvCxnSpPr>
            <a:stCxn id="111" idx="0"/>
            <a:endCxn id="108" idx="2"/>
          </p:cNvCxnSpPr>
          <p:nvPr/>
        </p:nvCxnSpPr>
        <p:spPr>
          <a:xfrm flipV="1">
            <a:off x="6104539" y="4305300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108" idx="0"/>
            <a:endCxn id="112" idx="2"/>
          </p:cNvCxnSpPr>
          <p:nvPr/>
        </p:nvCxnSpPr>
        <p:spPr>
          <a:xfrm flipV="1">
            <a:off x="6112233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Oval 110"/>
              <p:cNvSpPr/>
              <p:nvPr/>
            </p:nvSpPr>
            <p:spPr>
              <a:xfrm>
                <a:off x="5883878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Oval 1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878" y="4982442"/>
                <a:ext cx="441322" cy="503958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ounded Rectangle 111"/>
              <p:cNvSpPr/>
              <p:nvPr/>
            </p:nvSpPr>
            <p:spPr>
              <a:xfrm>
                <a:off x="5907691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2" name="Rounded Rectangle 1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691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Straight Arrow Connector 112"/>
          <p:cNvCxnSpPr>
            <a:stCxn id="108" idx="3"/>
            <a:endCxn id="114" idx="1"/>
          </p:cNvCxnSpPr>
          <p:nvPr/>
        </p:nvCxnSpPr>
        <p:spPr>
          <a:xfrm>
            <a:off x="6344250" y="4046682"/>
            <a:ext cx="25385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Diamond 113"/>
              <p:cNvSpPr/>
              <p:nvPr/>
            </p:nvSpPr>
            <p:spPr>
              <a:xfrm>
                <a:off x="6598107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Diamond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107" y="3788064"/>
                <a:ext cx="464035" cy="517236"/>
              </a:xfrm>
              <a:prstGeom prst="diamond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Arrow Connector 114"/>
          <p:cNvCxnSpPr>
            <a:stCxn id="117" idx="0"/>
            <a:endCxn id="114" idx="2"/>
          </p:cNvCxnSpPr>
          <p:nvPr/>
        </p:nvCxnSpPr>
        <p:spPr>
          <a:xfrm flipV="1">
            <a:off x="6830051" y="4305300"/>
            <a:ext cx="7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114" idx="0"/>
            <a:endCxn id="118" idx="2"/>
          </p:cNvCxnSpPr>
          <p:nvPr/>
        </p:nvCxnSpPr>
        <p:spPr>
          <a:xfrm flipV="1">
            <a:off x="6830125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Oval 116"/>
              <p:cNvSpPr/>
              <p:nvPr/>
            </p:nvSpPr>
            <p:spPr>
              <a:xfrm>
                <a:off x="6609390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Oval 1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390" y="4982442"/>
                <a:ext cx="441322" cy="503958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ounded Rectangle 117"/>
              <p:cNvSpPr/>
              <p:nvPr/>
            </p:nvSpPr>
            <p:spPr>
              <a:xfrm>
                <a:off x="6625583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Rounded 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583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18"/>
          <p:cNvCxnSpPr>
            <a:stCxn id="114" idx="3"/>
            <a:endCxn id="120" idx="1"/>
          </p:cNvCxnSpPr>
          <p:nvPr/>
        </p:nvCxnSpPr>
        <p:spPr>
          <a:xfrm>
            <a:off x="7062142" y="4046682"/>
            <a:ext cx="30797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Diamond 119"/>
              <p:cNvSpPr/>
              <p:nvPr/>
            </p:nvSpPr>
            <p:spPr>
              <a:xfrm>
                <a:off x="7370116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Diamond 1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116" y="3788064"/>
                <a:ext cx="464035" cy="517236"/>
              </a:xfrm>
              <a:prstGeom prst="diamond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Straight Arrow Connector 120"/>
          <p:cNvCxnSpPr>
            <a:stCxn id="123" idx="0"/>
            <a:endCxn id="120" idx="2"/>
          </p:cNvCxnSpPr>
          <p:nvPr/>
        </p:nvCxnSpPr>
        <p:spPr>
          <a:xfrm flipH="1" flipV="1">
            <a:off x="7602134" y="4305300"/>
            <a:ext cx="11356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120" idx="0"/>
            <a:endCxn id="124" idx="2"/>
          </p:cNvCxnSpPr>
          <p:nvPr/>
        </p:nvCxnSpPr>
        <p:spPr>
          <a:xfrm flipH="1" flipV="1">
            <a:off x="7597689" y="3206172"/>
            <a:ext cx="4445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Oval 122"/>
              <p:cNvSpPr/>
              <p:nvPr/>
            </p:nvSpPr>
            <p:spPr>
              <a:xfrm>
                <a:off x="7392829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3" name="Oval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29" y="4982442"/>
                <a:ext cx="441322" cy="503958"/>
              </a:xfrm>
              <a:prstGeom prst="ellipse">
                <a:avLst/>
              </a:prstGeom>
              <a:blipFill>
                <a:blip r:embed="rId30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ounded Rectangle 123"/>
              <p:cNvSpPr/>
              <p:nvPr/>
            </p:nvSpPr>
            <p:spPr>
              <a:xfrm>
                <a:off x="738893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Rounded Rectangle 1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934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Straight Arrow Connector 124"/>
          <p:cNvCxnSpPr>
            <a:stCxn id="120" idx="3"/>
            <a:endCxn id="126" idx="1"/>
          </p:cNvCxnSpPr>
          <p:nvPr/>
        </p:nvCxnSpPr>
        <p:spPr>
          <a:xfrm>
            <a:off x="7834151" y="4046682"/>
            <a:ext cx="27888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Diamond 125"/>
              <p:cNvSpPr/>
              <p:nvPr/>
            </p:nvSpPr>
            <p:spPr>
              <a:xfrm>
                <a:off x="8113033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Diamond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033" y="3788064"/>
                <a:ext cx="464035" cy="517236"/>
              </a:xfrm>
              <a:prstGeom prst="diamond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/>
          <p:cNvCxnSpPr>
            <a:stCxn id="129" idx="0"/>
            <a:endCxn id="126" idx="2"/>
          </p:cNvCxnSpPr>
          <p:nvPr/>
        </p:nvCxnSpPr>
        <p:spPr>
          <a:xfrm flipH="1" flipV="1">
            <a:off x="8345051" y="4305300"/>
            <a:ext cx="2120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>
            <a:stCxn id="126" idx="0"/>
            <a:endCxn id="130" idx="2"/>
          </p:cNvCxnSpPr>
          <p:nvPr/>
        </p:nvCxnSpPr>
        <p:spPr>
          <a:xfrm flipH="1" flipV="1">
            <a:off x="8340606" y="3206172"/>
            <a:ext cx="4445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Oval 128"/>
              <p:cNvSpPr/>
              <p:nvPr/>
            </p:nvSpPr>
            <p:spPr>
              <a:xfrm>
                <a:off x="8126510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Oval 1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510" y="4982442"/>
                <a:ext cx="441322" cy="503958"/>
              </a:xfrm>
              <a:prstGeom prst="ellipse">
                <a:avLst/>
              </a:prstGeom>
              <a:blipFill>
                <a:blip r:embed="rId33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Rounded Rectangle 129"/>
              <p:cNvSpPr/>
              <p:nvPr/>
            </p:nvSpPr>
            <p:spPr>
              <a:xfrm>
                <a:off x="8131851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Rounded Rectangle 1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851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Arrow Connector 130"/>
          <p:cNvCxnSpPr>
            <a:stCxn id="126" idx="3"/>
            <a:endCxn id="132" idx="1"/>
          </p:cNvCxnSpPr>
          <p:nvPr/>
        </p:nvCxnSpPr>
        <p:spPr>
          <a:xfrm>
            <a:off x="8577068" y="4046682"/>
            <a:ext cx="30527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Diamond 131"/>
              <p:cNvSpPr/>
              <p:nvPr/>
            </p:nvSpPr>
            <p:spPr>
              <a:xfrm>
                <a:off x="8882347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2" name="Diamond 1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2347" y="3788064"/>
                <a:ext cx="464035" cy="517236"/>
              </a:xfrm>
              <a:prstGeom prst="diamond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132"/>
          <p:cNvCxnSpPr>
            <a:stCxn id="135" idx="0"/>
            <a:endCxn id="132" idx="2"/>
          </p:cNvCxnSpPr>
          <p:nvPr/>
        </p:nvCxnSpPr>
        <p:spPr>
          <a:xfrm flipH="1" flipV="1">
            <a:off x="9114365" y="4305300"/>
            <a:ext cx="2120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32" idx="0"/>
            <a:endCxn id="136" idx="2"/>
          </p:cNvCxnSpPr>
          <p:nvPr/>
        </p:nvCxnSpPr>
        <p:spPr>
          <a:xfrm flipH="1" flipV="1">
            <a:off x="9100684" y="3206172"/>
            <a:ext cx="13681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Oval 134"/>
              <p:cNvSpPr/>
              <p:nvPr/>
            </p:nvSpPr>
            <p:spPr>
              <a:xfrm>
                <a:off x="8895824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Oval 1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824" y="4982442"/>
                <a:ext cx="441322" cy="503958"/>
              </a:xfrm>
              <a:prstGeom prst="ellipse">
                <a:avLst/>
              </a:prstGeom>
              <a:blipFill>
                <a:blip r:embed="rId36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Rounded Rectangle 135"/>
              <p:cNvSpPr/>
              <p:nvPr/>
            </p:nvSpPr>
            <p:spPr>
              <a:xfrm>
                <a:off x="8891929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Rounded Rectangle 1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929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Straight Arrow Connector 136"/>
          <p:cNvCxnSpPr>
            <a:stCxn id="132" idx="3"/>
            <a:endCxn id="139" idx="1"/>
          </p:cNvCxnSpPr>
          <p:nvPr/>
        </p:nvCxnSpPr>
        <p:spPr>
          <a:xfrm>
            <a:off x="9346382" y="4046682"/>
            <a:ext cx="33047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Diamond 138"/>
              <p:cNvSpPr/>
              <p:nvPr/>
            </p:nvSpPr>
            <p:spPr>
              <a:xfrm>
                <a:off x="9676852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Diamond 1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852" y="3788064"/>
                <a:ext cx="464035" cy="517236"/>
              </a:xfrm>
              <a:prstGeom prst="diamond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0" name="Straight Arrow Connector 139"/>
          <p:cNvCxnSpPr>
            <a:stCxn id="142" idx="0"/>
            <a:endCxn id="139" idx="2"/>
          </p:cNvCxnSpPr>
          <p:nvPr/>
        </p:nvCxnSpPr>
        <p:spPr>
          <a:xfrm flipH="1" flipV="1">
            <a:off x="9908870" y="4305300"/>
            <a:ext cx="11356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/>
          <p:cNvCxnSpPr>
            <a:stCxn id="139" idx="0"/>
            <a:endCxn id="143" idx="2"/>
          </p:cNvCxnSpPr>
          <p:nvPr/>
        </p:nvCxnSpPr>
        <p:spPr>
          <a:xfrm flipV="1">
            <a:off x="9908870" y="3206172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Oval 141"/>
              <p:cNvSpPr/>
              <p:nvPr/>
            </p:nvSpPr>
            <p:spPr>
              <a:xfrm>
                <a:off x="9699565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2" name="Oval 1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9565" y="4982442"/>
                <a:ext cx="441322" cy="503958"/>
              </a:xfrm>
              <a:prstGeom prst="ellipse">
                <a:avLst/>
              </a:prstGeom>
              <a:blipFill>
                <a:blip r:embed="rId39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ounded Rectangle 142"/>
              <p:cNvSpPr/>
              <p:nvPr/>
            </p:nvSpPr>
            <p:spPr>
              <a:xfrm>
                <a:off x="9704328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3" name="Rounded Rectangle 1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328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Straight Arrow Connector 143"/>
          <p:cNvCxnSpPr>
            <a:stCxn id="139" idx="3"/>
            <a:endCxn id="152" idx="1"/>
          </p:cNvCxnSpPr>
          <p:nvPr/>
        </p:nvCxnSpPr>
        <p:spPr>
          <a:xfrm>
            <a:off x="10140887" y="4046682"/>
            <a:ext cx="31593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Diamond 151"/>
              <p:cNvSpPr/>
              <p:nvPr/>
            </p:nvSpPr>
            <p:spPr>
              <a:xfrm>
                <a:off x="10456821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Diamond 1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6821" y="3788064"/>
                <a:ext cx="464035" cy="517236"/>
              </a:xfrm>
              <a:prstGeom prst="diamond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Straight Arrow Connector 152"/>
          <p:cNvCxnSpPr>
            <a:stCxn id="155" idx="0"/>
            <a:endCxn id="152" idx="2"/>
          </p:cNvCxnSpPr>
          <p:nvPr/>
        </p:nvCxnSpPr>
        <p:spPr>
          <a:xfrm flipH="1" flipV="1">
            <a:off x="10688839" y="4305300"/>
            <a:ext cx="2120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52" idx="0"/>
            <a:endCxn id="156" idx="2"/>
          </p:cNvCxnSpPr>
          <p:nvPr/>
        </p:nvCxnSpPr>
        <p:spPr>
          <a:xfrm flipV="1">
            <a:off x="10688839" y="3206172"/>
            <a:ext cx="4791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Oval 154"/>
              <p:cNvSpPr/>
              <p:nvPr/>
            </p:nvSpPr>
            <p:spPr>
              <a:xfrm>
                <a:off x="10470298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5" name="Oval 1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298" y="4982442"/>
                <a:ext cx="441322" cy="503958"/>
              </a:xfrm>
              <a:prstGeom prst="ellipse">
                <a:avLst/>
              </a:prstGeom>
              <a:blipFill>
                <a:blip r:embed="rId42"/>
                <a:stretch>
                  <a:fillRect l="-5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Rounded Rectangle 155"/>
              <p:cNvSpPr/>
              <p:nvPr/>
            </p:nvSpPr>
            <p:spPr>
              <a:xfrm>
                <a:off x="10484875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6" name="Rounded Rectangle 1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4875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" name="Straight Arrow Connector 156"/>
          <p:cNvCxnSpPr>
            <a:stCxn id="152" idx="3"/>
            <a:endCxn id="158" idx="1"/>
          </p:cNvCxnSpPr>
          <p:nvPr/>
        </p:nvCxnSpPr>
        <p:spPr>
          <a:xfrm>
            <a:off x="10920856" y="4046682"/>
            <a:ext cx="33922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Diamond 157"/>
              <p:cNvSpPr/>
              <p:nvPr/>
            </p:nvSpPr>
            <p:spPr>
              <a:xfrm>
                <a:off x="11260084" y="3788064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8" name="Diamond 1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0084" y="3788064"/>
                <a:ext cx="464035" cy="517236"/>
              </a:xfrm>
              <a:prstGeom prst="diamond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Straight Arrow Connector 158"/>
          <p:cNvCxnSpPr>
            <a:stCxn id="161" idx="0"/>
            <a:endCxn id="158" idx="2"/>
          </p:cNvCxnSpPr>
          <p:nvPr/>
        </p:nvCxnSpPr>
        <p:spPr>
          <a:xfrm flipH="1" flipV="1">
            <a:off x="11492102" y="4305300"/>
            <a:ext cx="11067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58" idx="0"/>
            <a:endCxn id="162" idx="2"/>
          </p:cNvCxnSpPr>
          <p:nvPr/>
        </p:nvCxnSpPr>
        <p:spPr>
          <a:xfrm flipH="1" flipV="1">
            <a:off x="11487657" y="3206172"/>
            <a:ext cx="4445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Oval 160"/>
              <p:cNvSpPr/>
              <p:nvPr/>
            </p:nvSpPr>
            <p:spPr>
              <a:xfrm>
                <a:off x="11282508" y="4982442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1" name="Oval 1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508" y="4982442"/>
                <a:ext cx="441322" cy="503958"/>
              </a:xfrm>
              <a:prstGeom prst="ellipse">
                <a:avLst/>
              </a:prstGeom>
              <a:blipFill>
                <a:blip r:embed="rId45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Rounded Rectangle 161"/>
              <p:cNvSpPr/>
              <p:nvPr/>
            </p:nvSpPr>
            <p:spPr>
              <a:xfrm>
                <a:off x="11278902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2" name="Rounded Rectangle 1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8902" y="2714336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450034" y="335055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34" y="3350552"/>
                <a:ext cx="520271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Rectangle 279"/>
              <p:cNvSpPr/>
              <p:nvPr/>
            </p:nvSpPr>
            <p:spPr>
              <a:xfrm>
                <a:off x="1164254" y="335857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0" name="Rectangle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254" y="3358572"/>
                <a:ext cx="520271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Rectangle 280"/>
              <p:cNvSpPr/>
              <p:nvPr/>
            </p:nvSpPr>
            <p:spPr>
              <a:xfrm>
                <a:off x="1925346" y="3409845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1" name="Rectangle 2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346" y="3409845"/>
                <a:ext cx="520271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Rectangle 281"/>
              <p:cNvSpPr/>
              <p:nvPr/>
            </p:nvSpPr>
            <p:spPr>
              <a:xfrm>
                <a:off x="2763867" y="339092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2" name="Rectangle 2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867" y="3390921"/>
                <a:ext cx="520271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Rectangle 282"/>
              <p:cNvSpPr/>
              <p:nvPr/>
            </p:nvSpPr>
            <p:spPr>
              <a:xfrm>
                <a:off x="3478087" y="339894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3" name="Rectangle 2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087" y="3398941"/>
                <a:ext cx="520271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Rectangle 283"/>
              <p:cNvSpPr/>
              <p:nvPr/>
            </p:nvSpPr>
            <p:spPr>
              <a:xfrm>
                <a:off x="4249007" y="3385498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4" name="Rectangle 2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007" y="3385498"/>
                <a:ext cx="520271" cy="369332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5" name="Rectangle 284"/>
              <p:cNvSpPr/>
              <p:nvPr/>
            </p:nvSpPr>
            <p:spPr>
              <a:xfrm>
                <a:off x="4974004" y="335055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5" name="Rectangle 2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004" y="3350552"/>
                <a:ext cx="520271" cy="369332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" name="Rectangle 285"/>
              <p:cNvSpPr/>
              <p:nvPr/>
            </p:nvSpPr>
            <p:spPr>
              <a:xfrm>
                <a:off x="5688224" y="335857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6" name="Rectangle 2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224" y="3358572"/>
                <a:ext cx="520271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/>
              <p:cNvSpPr/>
              <p:nvPr/>
            </p:nvSpPr>
            <p:spPr>
              <a:xfrm>
                <a:off x="6401341" y="3395314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7" name="Rectangle 2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341" y="3395314"/>
                <a:ext cx="520271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Rectangle 287"/>
              <p:cNvSpPr/>
              <p:nvPr/>
            </p:nvSpPr>
            <p:spPr>
              <a:xfrm>
                <a:off x="7172691" y="337267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8" name="Rectangle 2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691" y="3372672"/>
                <a:ext cx="514590" cy="369332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Rectangle 288"/>
              <p:cNvSpPr/>
              <p:nvPr/>
            </p:nvSpPr>
            <p:spPr>
              <a:xfrm>
                <a:off x="7943611" y="335922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9" name="Rectangle 2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611" y="3359229"/>
                <a:ext cx="514590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Rectangle 289"/>
              <p:cNvSpPr/>
              <p:nvPr/>
            </p:nvSpPr>
            <p:spPr>
              <a:xfrm>
                <a:off x="8668608" y="332428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0" name="Rectangle 2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608" y="3324283"/>
                <a:ext cx="514590" cy="369332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Rectangle 290"/>
              <p:cNvSpPr/>
              <p:nvPr/>
            </p:nvSpPr>
            <p:spPr>
              <a:xfrm>
                <a:off x="9382828" y="333230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1" name="Rectangle 2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828" y="3332303"/>
                <a:ext cx="514590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2" name="Rectangle 291"/>
              <p:cNvSpPr/>
              <p:nvPr/>
            </p:nvSpPr>
            <p:spPr>
              <a:xfrm>
                <a:off x="10213003" y="33505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2" name="Rectangle 2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003" y="3350552"/>
                <a:ext cx="514590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Rectangle 292"/>
              <p:cNvSpPr/>
              <p:nvPr/>
            </p:nvSpPr>
            <p:spPr>
              <a:xfrm>
                <a:off x="11034738" y="33505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3" name="Rectangle 2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4738" y="3350552"/>
                <a:ext cx="514590" cy="369332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Rectangle 293"/>
              <p:cNvSpPr/>
              <p:nvPr/>
            </p:nvSpPr>
            <p:spPr>
              <a:xfrm>
                <a:off x="284235" y="405707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4" name="Rectangle 2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35" y="4057074"/>
                <a:ext cx="514590" cy="369332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Rectangle 294"/>
              <p:cNvSpPr/>
              <p:nvPr/>
            </p:nvSpPr>
            <p:spPr>
              <a:xfrm>
                <a:off x="1023616" y="404668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5" name="Rectangle 2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616" y="4046682"/>
                <a:ext cx="514590" cy="369332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Rectangle 295"/>
              <p:cNvSpPr/>
              <p:nvPr/>
            </p:nvSpPr>
            <p:spPr>
              <a:xfrm>
                <a:off x="1732179" y="403064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6" name="Rectangle 2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179" y="4030643"/>
                <a:ext cx="514590" cy="369332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Rectangle 296"/>
              <p:cNvSpPr/>
              <p:nvPr/>
            </p:nvSpPr>
            <p:spPr>
              <a:xfrm>
                <a:off x="2517562" y="404668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7" name="Rectangle 2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562" y="4046682"/>
                <a:ext cx="514590" cy="369332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Rectangle 297"/>
              <p:cNvSpPr/>
              <p:nvPr/>
            </p:nvSpPr>
            <p:spPr>
              <a:xfrm>
                <a:off x="3263933" y="407134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8" name="Rectangle 2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933" y="4071349"/>
                <a:ext cx="514590" cy="369332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Rectangle 298"/>
              <p:cNvSpPr/>
              <p:nvPr/>
            </p:nvSpPr>
            <p:spPr>
              <a:xfrm>
                <a:off x="4063876" y="403956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9" name="Rectangle 2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876" y="4039565"/>
                <a:ext cx="514590" cy="369332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Rectangle 299"/>
              <p:cNvSpPr/>
              <p:nvPr/>
            </p:nvSpPr>
            <p:spPr>
              <a:xfrm>
                <a:off x="4788480" y="406326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0" name="Rectangle 2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480" y="4063267"/>
                <a:ext cx="514590" cy="369332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1" name="Rectangle 300"/>
              <p:cNvSpPr/>
              <p:nvPr/>
            </p:nvSpPr>
            <p:spPr>
              <a:xfrm>
                <a:off x="5510247" y="405707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1" name="Rectangle 3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247" y="4057074"/>
                <a:ext cx="514590" cy="369332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Rectangle 301"/>
              <p:cNvSpPr/>
              <p:nvPr/>
            </p:nvSpPr>
            <p:spPr>
              <a:xfrm>
                <a:off x="6234142" y="403956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2" name="Rectangle 3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142" y="4039565"/>
                <a:ext cx="514590" cy="369332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Rectangle 302"/>
              <p:cNvSpPr/>
              <p:nvPr/>
            </p:nvSpPr>
            <p:spPr>
              <a:xfrm>
                <a:off x="6924732" y="407134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3" name="Rectangle 3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732" y="4071349"/>
                <a:ext cx="514590" cy="369332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Rectangle 303"/>
              <p:cNvSpPr/>
              <p:nvPr/>
            </p:nvSpPr>
            <p:spPr>
              <a:xfrm>
                <a:off x="7719398" y="404182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4" name="Rectangle 3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398" y="4041824"/>
                <a:ext cx="514590" cy="369332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5" name="Rectangle 304"/>
              <p:cNvSpPr/>
              <p:nvPr/>
            </p:nvSpPr>
            <p:spPr>
              <a:xfrm>
                <a:off x="8459549" y="404945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5" name="Rectangle 3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549" y="4049454"/>
                <a:ext cx="514590" cy="369332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Rectangle 305"/>
              <p:cNvSpPr/>
              <p:nvPr/>
            </p:nvSpPr>
            <p:spPr>
              <a:xfrm>
                <a:off x="9276121" y="404187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6" name="Rectangle 3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121" y="4041875"/>
                <a:ext cx="514590" cy="369332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Rectangle 338"/>
              <p:cNvSpPr/>
              <p:nvPr/>
            </p:nvSpPr>
            <p:spPr>
              <a:xfrm>
                <a:off x="10106645" y="4060607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9" name="Rectangle 3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6645" y="4060607"/>
                <a:ext cx="514590" cy="369332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Rectangle 339"/>
              <p:cNvSpPr/>
              <p:nvPr/>
            </p:nvSpPr>
            <p:spPr>
              <a:xfrm>
                <a:off x="10877478" y="404770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0" name="Rectangle 3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7478" y="4047701"/>
                <a:ext cx="514590" cy="369332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Rectangle 340"/>
              <p:cNvSpPr/>
              <p:nvPr/>
            </p:nvSpPr>
            <p:spPr>
              <a:xfrm>
                <a:off x="415755" y="4481946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1" name="Rectangle 3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55" y="4481946"/>
                <a:ext cx="514590" cy="369332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Rectangle 341"/>
              <p:cNvSpPr/>
              <p:nvPr/>
            </p:nvSpPr>
            <p:spPr>
              <a:xfrm>
                <a:off x="1139527" y="4473164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2" name="Rectangle 3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527" y="4473164"/>
                <a:ext cx="514590" cy="369332"/>
              </a:xfrm>
              <a:prstGeom prst="rect">
                <a:avLst/>
              </a:prstGeom>
              <a:blipFill>
                <a:blip r:embed="rId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Rectangle 342"/>
              <p:cNvSpPr/>
              <p:nvPr/>
            </p:nvSpPr>
            <p:spPr>
              <a:xfrm>
                <a:off x="1939713" y="4496606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3" name="Rectangle 3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13" y="4496606"/>
                <a:ext cx="514590" cy="369332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Rectangle 343"/>
              <p:cNvSpPr/>
              <p:nvPr/>
            </p:nvSpPr>
            <p:spPr>
              <a:xfrm>
                <a:off x="2684893" y="4496606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4" name="Rectangle 3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93" y="4496606"/>
                <a:ext cx="514590" cy="369332"/>
              </a:xfrm>
              <a:prstGeom prst="rect">
                <a:avLst/>
              </a:prstGeom>
              <a:blipFill>
                <a:blip r:embed="rId8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Rectangle 344"/>
              <p:cNvSpPr/>
              <p:nvPr/>
            </p:nvSpPr>
            <p:spPr>
              <a:xfrm>
                <a:off x="3467379" y="450671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5" name="Rectangle 3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379" y="4506718"/>
                <a:ext cx="514590" cy="369332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Rectangle 345"/>
              <p:cNvSpPr/>
              <p:nvPr/>
            </p:nvSpPr>
            <p:spPr>
              <a:xfrm>
                <a:off x="4162263" y="450671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6" name="Rectangle 3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263" y="4506718"/>
                <a:ext cx="514590" cy="369332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Rectangle 346"/>
              <p:cNvSpPr/>
              <p:nvPr/>
            </p:nvSpPr>
            <p:spPr>
              <a:xfrm>
                <a:off x="4927133" y="450592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7" name="Rectangle 3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33" y="4505920"/>
                <a:ext cx="514590" cy="369332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Rectangle 347"/>
              <p:cNvSpPr/>
              <p:nvPr/>
            </p:nvSpPr>
            <p:spPr>
              <a:xfrm>
                <a:off x="5660264" y="450592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8" name="Rectangle 3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264" y="4505920"/>
                <a:ext cx="514590" cy="369332"/>
              </a:xfrm>
              <a:prstGeom prst="rect">
                <a:avLst/>
              </a:prstGeom>
              <a:blipFill>
                <a:blip r:embed="rId8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Rectangle 348"/>
              <p:cNvSpPr/>
              <p:nvPr/>
            </p:nvSpPr>
            <p:spPr>
              <a:xfrm>
                <a:off x="6384159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9" name="Rectangle 3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159" y="4496260"/>
                <a:ext cx="514590" cy="369332"/>
              </a:xfrm>
              <a:prstGeom prst="rect">
                <a:avLst/>
              </a:prstGeom>
              <a:blipFill>
                <a:blip r:embed="rId8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Rectangle 349"/>
              <p:cNvSpPr/>
              <p:nvPr/>
            </p:nvSpPr>
            <p:spPr>
              <a:xfrm>
                <a:off x="7170675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0" name="Rectangle 3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675" y="4496260"/>
                <a:ext cx="514590" cy="369332"/>
              </a:xfrm>
              <a:prstGeom prst="rect">
                <a:avLst/>
              </a:prstGeom>
              <a:blipFill>
                <a:blip r:embed="rId8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Rectangle 350"/>
              <p:cNvSpPr/>
              <p:nvPr/>
            </p:nvSpPr>
            <p:spPr>
              <a:xfrm>
                <a:off x="7874253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1" name="Rectangle 3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253" y="4496260"/>
                <a:ext cx="514590" cy="369332"/>
              </a:xfrm>
              <a:prstGeom prst="rect">
                <a:avLst/>
              </a:prstGeom>
              <a:blipFill>
                <a:blip r:embed="rId8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Rectangle 351"/>
              <p:cNvSpPr/>
              <p:nvPr/>
            </p:nvSpPr>
            <p:spPr>
              <a:xfrm>
                <a:off x="8607384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2" name="Rectangle 3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384" y="4496260"/>
                <a:ext cx="514590" cy="369332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Rectangle 352"/>
              <p:cNvSpPr/>
              <p:nvPr/>
            </p:nvSpPr>
            <p:spPr>
              <a:xfrm>
                <a:off x="9385697" y="4505535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3" name="Rectangle 3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697" y="4505535"/>
                <a:ext cx="514590" cy="369332"/>
              </a:xfrm>
              <a:prstGeom prst="rect">
                <a:avLst/>
              </a:prstGeom>
              <a:blipFill>
                <a:blip r:embed="rId8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4" name="Rectangle 353"/>
              <p:cNvSpPr/>
              <p:nvPr/>
            </p:nvSpPr>
            <p:spPr>
              <a:xfrm>
                <a:off x="10243413" y="44962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4" name="Rectangle 3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413" y="4496260"/>
                <a:ext cx="514590" cy="369332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Rectangle 354"/>
              <p:cNvSpPr/>
              <p:nvPr/>
            </p:nvSpPr>
            <p:spPr>
              <a:xfrm>
                <a:off x="11048660" y="44873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5" name="Rectangle 3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660" y="4487352"/>
                <a:ext cx="514590" cy="369332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" name="Rectangle 357"/>
              <p:cNvSpPr/>
              <p:nvPr/>
            </p:nvSpPr>
            <p:spPr>
              <a:xfrm>
                <a:off x="221434" y="365535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8" name="Rectangle 3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34" y="3655352"/>
                <a:ext cx="520271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9" name="Rectangle 358"/>
              <p:cNvSpPr/>
              <p:nvPr/>
            </p:nvSpPr>
            <p:spPr>
              <a:xfrm>
                <a:off x="935654" y="366337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9" name="Rectangle 3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54" y="3663372"/>
                <a:ext cx="520271" cy="369332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0" name="Rectangle 359"/>
              <p:cNvSpPr/>
              <p:nvPr/>
            </p:nvSpPr>
            <p:spPr>
              <a:xfrm>
                <a:off x="1696746" y="3714645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0" name="Rectangle 3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746" y="3714645"/>
                <a:ext cx="520271" cy="369332"/>
              </a:xfrm>
              <a:prstGeom prst="rect">
                <a:avLst/>
              </a:prstGeom>
              <a:blipFill>
                <a:blip r:embed="rId9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Rectangle 360"/>
              <p:cNvSpPr/>
              <p:nvPr/>
            </p:nvSpPr>
            <p:spPr>
              <a:xfrm>
                <a:off x="2535267" y="369572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1" name="Rectangle 3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267" y="3695721"/>
                <a:ext cx="520271" cy="369332"/>
              </a:xfrm>
              <a:prstGeom prst="rect">
                <a:avLst/>
              </a:prstGeom>
              <a:blipFill>
                <a:blip r:embed="rId9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2" name="Rectangle 361"/>
              <p:cNvSpPr/>
              <p:nvPr/>
            </p:nvSpPr>
            <p:spPr>
              <a:xfrm>
                <a:off x="3249487" y="370374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2" name="Rectangle 3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487" y="3703741"/>
                <a:ext cx="520271" cy="369332"/>
              </a:xfrm>
              <a:prstGeom prst="rect">
                <a:avLst/>
              </a:prstGeom>
              <a:blipFill>
                <a:blip r:embed="rId9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3" name="Rectangle 362"/>
              <p:cNvSpPr/>
              <p:nvPr/>
            </p:nvSpPr>
            <p:spPr>
              <a:xfrm>
                <a:off x="4020407" y="3690298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3" name="Rectangle 3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407" y="3690298"/>
                <a:ext cx="520271" cy="369332"/>
              </a:xfrm>
              <a:prstGeom prst="rect">
                <a:avLst/>
              </a:prstGeom>
              <a:blipFill>
                <a:blip r:embed="rId9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Rectangle 363"/>
              <p:cNvSpPr/>
              <p:nvPr/>
            </p:nvSpPr>
            <p:spPr>
              <a:xfrm>
                <a:off x="4745404" y="365535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4" name="Rectangle 3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404" y="3655352"/>
                <a:ext cx="520271" cy="369332"/>
              </a:xfrm>
              <a:prstGeom prst="rect">
                <a:avLst/>
              </a:prstGeom>
              <a:blipFill>
                <a:blip r:embed="rId9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5" name="Rectangle 364"/>
              <p:cNvSpPr/>
              <p:nvPr/>
            </p:nvSpPr>
            <p:spPr>
              <a:xfrm>
                <a:off x="5459624" y="366337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5" name="Rectangle 3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624" y="3663372"/>
                <a:ext cx="520271" cy="369332"/>
              </a:xfrm>
              <a:prstGeom prst="rect">
                <a:avLst/>
              </a:prstGeom>
              <a:blipFill>
                <a:blip r:embed="rId9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6" name="Rectangle 365"/>
              <p:cNvSpPr/>
              <p:nvPr/>
            </p:nvSpPr>
            <p:spPr>
              <a:xfrm>
                <a:off x="6172741" y="3700114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6" name="Rectangle 3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741" y="3700114"/>
                <a:ext cx="520271" cy="369332"/>
              </a:xfrm>
              <a:prstGeom prst="rect">
                <a:avLst/>
              </a:prstGeom>
              <a:blipFill>
                <a:blip r:embed="rId10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7" name="Rectangle 366"/>
              <p:cNvSpPr/>
              <p:nvPr/>
            </p:nvSpPr>
            <p:spPr>
              <a:xfrm>
                <a:off x="6944091" y="367747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7" name="Rectangle 3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091" y="3677472"/>
                <a:ext cx="514590" cy="369332"/>
              </a:xfrm>
              <a:prstGeom prst="rect">
                <a:avLst/>
              </a:prstGeom>
              <a:blipFill>
                <a:blip r:embed="rId10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8" name="Rectangle 367"/>
              <p:cNvSpPr/>
              <p:nvPr/>
            </p:nvSpPr>
            <p:spPr>
              <a:xfrm>
                <a:off x="7715011" y="3664029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8" name="Rectangle 3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011" y="3664029"/>
                <a:ext cx="514590" cy="369332"/>
              </a:xfrm>
              <a:prstGeom prst="rect">
                <a:avLst/>
              </a:prstGeom>
              <a:blipFill>
                <a:blip r:embed="rId10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9" name="Rectangle 368"/>
              <p:cNvSpPr/>
              <p:nvPr/>
            </p:nvSpPr>
            <p:spPr>
              <a:xfrm>
                <a:off x="8440008" y="362908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9" name="Rectangle 3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008" y="3629083"/>
                <a:ext cx="514590" cy="369332"/>
              </a:xfrm>
              <a:prstGeom prst="rect">
                <a:avLst/>
              </a:prstGeom>
              <a:blipFill>
                <a:blip r:embed="rId10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0" name="Rectangle 369"/>
              <p:cNvSpPr/>
              <p:nvPr/>
            </p:nvSpPr>
            <p:spPr>
              <a:xfrm>
                <a:off x="9154228" y="3637103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0" name="Rectangle 3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228" y="3637103"/>
                <a:ext cx="514590" cy="369332"/>
              </a:xfrm>
              <a:prstGeom prst="rect">
                <a:avLst/>
              </a:prstGeom>
              <a:blipFill>
                <a:blip r:embed="rId10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1" name="Rectangle 370"/>
              <p:cNvSpPr/>
              <p:nvPr/>
            </p:nvSpPr>
            <p:spPr>
              <a:xfrm>
                <a:off x="9984403" y="36553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1" name="Rectangle 3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4403" y="3655352"/>
                <a:ext cx="514590" cy="369332"/>
              </a:xfrm>
              <a:prstGeom prst="rect">
                <a:avLst/>
              </a:prstGeom>
              <a:blipFill>
                <a:blip r:embed="rId10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Rectangle 371"/>
              <p:cNvSpPr/>
              <p:nvPr/>
            </p:nvSpPr>
            <p:spPr>
              <a:xfrm>
                <a:off x="10806138" y="3655352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2" name="Rectangle 3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138" y="3655352"/>
                <a:ext cx="514590" cy="369332"/>
              </a:xfrm>
              <a:prstGeom prst="rect">
                <a:avLst/>
              </a:prstGeom>
              <a:blipFill>
                <a:blip r:embed="rId10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3" name="TextBox 372"/>
          <p:cNvSpPr txBox="1"/>
          <p:nvPr/>
        </p:nvSpPr>
        <p:spPr>
          <a:xfrm>
            <a:off x="9571276" y="1435903"/>
            <a:ext cx="675185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Loss</a:t>
            </a:r>
          </a:p>
        </p:txBody>
      </p:sp>
      <p:cxnSp>
        <p:nvCxnSpPr>
          <p:cNvPr id="377" name="Elbow Connector 376"/>
          <p:cNvCxnSpPr>
            <a:stCxn id="373" idx="2"/>
            <a:endCxn id="130" idx="0"/>
          </p:cNvCxnSpPr>
          <p:nvPr/>
        </p:nvCxnSpPr>
        <p:spPr>
          <a:xfrm rot="5400000">
            <a:off x="8685577" y="1491043"/>
            <a:ext cx="878323" cy="1568263"/>
          </a:xfrm>
          <a:prstGeom prst="bentConnector3">
            <a:avLst/>
          </a:prstGeom>
          <a:ln w="15875">
            <a:solidFill>
              <a:schemeClr val="accent3">
                <a:lumMod val="50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Elbow Connector 378"/>
          <p:cNvCxnSpPr>
            <a:stCxn id="373" idx="2"/>
            <a:endCxn id="162" idx="0"/>
          </p:cNvCxnSpPr>
          <p:nvPr/>
        </p:nvCxnSpPr>
        <p:spPr>
          <a:xfrm rot="16200000" flipH="1">
            <a:off x="10259102" y="1485780"/>
            <a:ext cx="878323" cy="1578788"/>
          </a:xfrm>
          <a:prstGeom prst="bentConnector3">
            <a:avLst/>
          </a:prstGeom>
          <a:ln w="15875">
            <a:solidFill>
              <a:schemeClr val="accent3">
                <a:lumMod val="50000"/>
              </a:schemeClr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/>
          <p:cNvCxnSpPr>
            <a:endCxn id="136" idx="0"/>
          </p:cNvCxnSpPr>
          <p:nvPr/>
        </p:nvCxnSpPr>
        <p:spPr>
          <a:xfrm flipH="1">
            <a:off x="9100684" y="2272332"/>
            <a:ext cx="2818" cy="442004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/>
          <p:cNvCxnSpPr>
            <a:endCxn id="143" idx="0"/>
          </p:cNvCxnSpPr>
          <p:nvPr/>
        </p:nvCxnSpPr>
        <p:spPr>
          <a:xfrm>
            <a:off x="9911687" y="2267548"/>
            <a:ext cx="1396" cy="446788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/>
          <p:cNvCxnSpPr>
            <a:endCxn id="156" idx="0"/>
          </p:cNvCxnSpPr>
          <p:nvPr/>
        </p:nvCxnSpPr>
        <p:spPr>
          <a:xfrm>
            <a:off x="10686490" y="2272332"/>
            <a:ext cx="7140" cy="442004"/>
          </a:xfrm>
          <a:prstGeom prst="straightConnector1">
            <a:avLst/>
          </a:prstGeom>
          <a:ln w="15875">
            <a:solidFill>
              <a:schemeClr val="accent3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743598" y="6523737"/>
            <a:ext cx="4481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920476" y="1300092"/>
            <a:ext cx="3911312" cy="5082242"/>
          </a:xfrm>
          <a:prstGeom prst="rect">
            <a:avLst/>
          </a:prstGeom>
          <a:solidFill>
            <a:srgbClr val="92D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7" name="Straight Arrow Connector 176"/>
          <p:cNvCxnSpPr/>
          <p:nvPr/>
        </p:nvCxnSpPr>
        <p:spPr>
          <a:xfrm>
            <a:off x="8483541" y="5882766"/>
            <a:ext cx="2789381" cy="0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/>
          <p:nvPr/>
        </p:nvCxnSpPr>
        <p:spPr>
          <a:xfrm>
            <a:off x="8483541" y="6173711"/>
            <a:ext cx="2789381" cy="0"/>
          </a:xfrm>
          <a:prstGeom prst="straightConnector1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/>
          <p:nvPr/>
        </p:nvCxnSpPr>
        <p:spPr>
          <a:xfrm flipV="1">
            <a:off x="857313" y="5785108"/>
            <a:ext cx="3193979" cy="18474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 flipV="1">
            <a:off x="4540678" y="5803741"/>
            <a:ext cx="3144587" cy="4632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409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Oval 102"/>
          <p:cNvSpPr/>
          <p:nvPr/>
        </p:nvSpPr>
        <p:spPr>
          <a:xfrm>
            <a:off x="6254026" y="3021787"/>
            <a:ext cx="447285" cy="437512"/>
          </a:xfrm>
          <a:prstGeom prst="ellipse">
            <a:avLst/>
          </a:prstGeom>
          <a:solidFill>
            <a:schemeClr val="accent4">
              <a:lumMod val="40000"/>
              <a:lumOff val="60000"/>
              <a:alpha val="19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342" y="272508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" panose="02040604050505020304" pitchFamily="18" charset="0"/>
              </a:rPr>
              <a:t>Sequence to Sequence (Encoder Decoder Model)</a:t>
            </a:r>
            <a:br>
              <a:rPr lang="en-IN" sz="36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Many to One (Encoder) One to Many (Decoder)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280716" y="2966018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716" y="2966018"/>
                <a:ext cx="464035" cy="517236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>
            <a:stCxn id="7" idx="0"/>
            <a:endCxn id="4" idx="2"/>
          </p:cNvCxnSpPr>
          <p:nvPr/>
        </p:nvCxnSpPr>
        <p:spPr>
          <a:xfrm flipV="1">
            <a:off x="2505040" y="3483254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2284379" y="4160396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379" y="4160396"/>
                <a:ext cx="441322" cy="50395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endCxn id="4" idx="1"/>
          </p:cNvCxnSpPr>
          <p:nvPr/>
        </p:nvCxnSpPr>
        <p:spPr>
          <a:xfrm>
            <a:off x="1936718" y="3224636"/>
            <a:ext cx="34399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iamond 9"/>
              <p:cNvSpPr/>
              <p:nvPr/>
            </p:nvSpPr>
            <p:spPr>
              <a:xfrm>
                <a:off x="2984139" y="2966018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Diamond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139" y="2966018"/>
                <a:ext cx="464035" cy="517236"/>
              </a:xfrm>
              <a:prstGeom prst="diamond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13" idx="0"/>
            <a:endCxn id="10" idx="2"/>
          </p:cNvCxnSpPr>
          <p:nvPr/>
        </p:nvCxnSpPr>
        <p:spPr>
          <a:xfrm flipH="1" flipV="1">
            <a:off x="3216157" y="3483254"/>
            <a:ext cx="1831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2997327" y="4160396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327" y="4160396"/>
                <a:ext cx="441322" cy="50395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4" idx="3"/>
            <a:endCxn id="10" idx="1"/>
          </p:cNvCxnSpPr>
          <p:nvPr/>
        </p:nvCxnSpPr>
        <p:spPr>
          <a:xfrm>
            <a:off x="2744751" y="3224636"/>
            <a:ext cx="2393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7" idx="1"/>
          </p:cNvCxnSpPr>
          <p:nvPr/>
        </p:nvCxnSpPr>
        <p:spPr>
          <a:xfrm>
            <a:off x="3438649" y="3224636"/>
            <a:ext cx="32115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iamond 16"/>
              <p:cNvSpPr/>
              <p:nvPr/>
            </p:nvSpPr>
            <p:spPr>
              <a:xfrm>
                <a:off x="3759803" y="2966018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Diamond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803" y="2966018"/>
                <a:ext cx="464035" cy="517236"/>
              </a:xfrm>
              <a:prstGeom prst="diamond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20" idx="0"/>
            <a:endCxn id="17" idx="2"/>
          </p:cNvCxnSpPr>
          <p:nvPr/>
        </p:nvCxnSpPr>
        <p:spPr>
          <a:xfrm flipV="1">
            <a:off x="3984127" y="3483254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/>
              <p:cNvSpPr/>
              <p:nvPr/>
            </p:nvSpPr>
            <p:spPr>
              <a:xfrm>
                <a:off x="3763466" y="4160396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466" y="4160396"/>
                <a:ext cx="441322" cy="50395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stCxn id="17" idx="3"/>
          </p:cNvCxnSpPr>
          <p:nvPr/>
        </p:nvCxnSpPr>
        <p:spPr>
          <a:xfrm>
            <a:off x="4223838" y="3224636"/>
            <a:ext cx="30806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891901" y="323502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901" y="3235028"/>
                <a:ext cx="5145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023421" y="365990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421" y="3659900"/>
                <a:ext cx="5145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2747193" y="365111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193" y="3651118"/>
                <a:ext cx="51459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3547379" y="367456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379" y="3674560"/>
                <a:ext cx="51459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543320" y="284132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320" y="2841326"/>
                <a:ext cx="52027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304412" y="2892599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412" y="2892599"/>
                <a:ext cx="52027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142933" y="2873675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933" y="2873675"/>
                <a:ext cx="52027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851050" y="2837988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050" y="2837988"/>
                <a:ext cx="52027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Diamond 70"/>
              <p:cNvSpPr/>
              <p:nvPr/>
            </p:nvSpPr>
            <p:spPr>
              <a:xfrm>
                <a:off x="7323770" y="2974438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Diamond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770" y="2974438"/>
                <a:ext cx="464035" cy="517236"/>
              </a:xfrm>
              <a:prstGeom prst="diamond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/>
          <p:cNvCxnSpPr>
            <a:stCxn id="71" idx="0"/>
            <a:endCxn id="73" idx="2"/>
          </p:cNvCxnSpPr>
          <p:nvPr/>
        </p:nvCxnSpPr>
        <p:spPr>
          <a:xfrm flipV="1">
            <a:off x="7555788" y="2392546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ounded Rectangle 72"/>
              <p:cNvSpPr/>
              <p:nvPr/>
            </p:nvSpPr>
            <p:spPr>
              <a:xfrm>
                <a:off x="7351246" y="1900710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ounded 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246" y="1900710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7"/>
                <a:stretch>
                  <a:fillRect l="-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/>
          <p:cNvCxnSpPr>
            <a:endCxn id="71" idx="1"/>
          </p:cNvCxnSpPr>
          <p:nvPr/>
        </p:nvCxnSpPr>
        <p:spPr>
          <a:xfrm>
            <a:off x="6752804" y="3233056"/>
            <a:ext cx="57096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Diamond 74"/>
              <p:cNvSpPr/>
              <p:nvPr/>
            </p:nvSpPr>
            <p:spPr>
              <a:xfrm>
                <a:off x="8027193" y="2974438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Diamond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193" y="2974438"/>
                <a:ext cx="464035" cy="517236"/>
              </a:xfrm>
              <a:prstGeom prst="diamond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/>
          <p:cNvCxnSpPr>
            <a:stCxn id="75" idx="0"/>
            <a:endCxn id="77" idx="2"/>
          </p:cNvCxnSpPr>
          <p:nvPr/>
        </p:nvCxnSpPr>
        <p:spPr>
          <a:xfrm flipV="1">
            <a:off x="8259211" y="2392546"/>
            <a:ext cx="13738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ounded Rectangle 76"/>
              <p:cNvSpPr/>
              <p:nvPr/>
            </p:nvSpPr>
            <p:spPr>
              <a:xfrm>
                <a:off x="8064194" y="1900710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Rounded 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194" y="1900710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19"/>
                <a:stretch>
                  <a:fillRect l="-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/>
          <p:cNvCxnSpPr>
            <a:stCxn id="71" idx="3"/>
            <a:endCxn id="75" idx="1"/>
          </p:cNvCxnSpPr>
          <p:nvPr/>
        </p:nvCxnSpPr>
        <p:spPr>
          <a:xfrm>
            <a:off x="7787805" y="3233056"/>
            <a:ext cx="2393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endCxn id="80" idx="1"/>
          </p:cNvCxnSpPr>
          <p:nvPr/>
        </p:nvCxnSpPr>
        <p:spPr>
          <a:xfrm>
            <a:off x="8481703" y="3233056"/>
            <a:ext cx="32115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Diamond 79"/>
              <p:cNvSpPr/>
              <p:nvPr/>
            </p:nvSpPr>
            <p:spPr>
              <a:xfrm>
                <a:off x="8802857" y="2974438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Diamond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857" y="2974438"/>
                <a:ext cx="464035" cy="517236"/>
              </a:xfrm>
              <a:prstGeom prst="diamond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/>
          <p:cNvCxnSpPr>
            <a:stCxn id="80" idx="0"/>
            <a:endCxn id="82" idx="2"/>
          </p:cNvCxnSpPr>
          <p:nvPr/>
        </p:nvCxnSpPr>
        <p:spPr>
          <a:xfrm flipV="1">
            <a:off x="9034875" y="2392546"/>
            <a:ext cx="4213" cy="58189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ounded Rectangle 81"/>
              <p:cNvSpPr/>
              <p:nvPr/>
            </p:nvSpPr>
            <p:spPr>
              <a:xfrm>
                <a:off x="8830333" y="1900710"/>
                <a:ext cx="417509" cy="491836"/>
              </a:xfrm>
              <a:prstGeom prst="roundRect">
                <a:avLst>
                  <a:gd name="adj" fmla="val 29711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Rounded 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333" y="1900710"/>
                <a:ext cx="417509" cy="491836"/>
              </a:xfrm>
              <a:prstGeom prst="roundRect">
                <a:avLst>
                  <a:gd name="adj" fmla="val 29711"/>
                </a:avLst>
              </a:prstGeom>
              <a:blipFill>
                <a:blip r:embed="rId21"/>
                <a:stretch>
                  <a:fillRect l="-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/>
          <p:cNvCxnSpPr>
            <a:stCxn id="80" idx="3"/>
          </p:cNvCxnSpPr>
          <p:nvPr/>
        </p:nvCxnSpPr>
        <p:spPr>
          <a:xfrm>
            <a:off x="9266892" y="3233056"/>
            <a:ext cx="308065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6948354" y="253692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354" y="2536926"/>
                <a:ext cx="52027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/>
              <p:cNvSpPr/>
              <p:nvPr/>
            </p:nvSpPr>
            <p:spPr>
              <a:xfrm>
                <a:off x="7814974" y="254494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5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974" y="2544946"/>
                <a:ext cx="520271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/>
              <p:cNvSpPr/>
              <p:nvPr/>
            </p:nvSpPr>
            <p:spPr>
              <a:xfrm>
                <a:off x="8576066" y="2596219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6" name="Rectangle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066" y="2596219"/>
                <a:ext cx="520271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7586374" y="2811646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374" y="2811646"/>
                <a:ext cx="520271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8347466" y="2862919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466" y="2862919"/>
                <a:ext cx="520271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Oval 89"/>
          <p:cNvSpPr/>
          <p:nvPr/>
        </p:nvSpPr>
        <p:spPr>
          <a:xfrm>
            <a:off x="4613165" y="3203589"/>
            <a:ext cx="47880" cy="45719"/>
          </a:xfrm>
          <a:prstGeom prst="ellipse">
            <a:avLst/>
          </a:prstGeom>
          <a:solidFill>
            <a:srgbClr val="FF000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Oval 90"/>
          <p:cNvSpPr/>
          <p:nvPr/>
        </p:nvSpPr>
        <p:spPr>
          <a:xfrm>
            <a:off x="4724189" y="3204576"/>
            <a:ext cx="47880" cy="45719"/>
          </a:xfrm>
          <a:prstGeom prst="ellipse">
            <a:avLst/>
          </a:prstGeom>
          <a:solidFill>
            <a:srgbClr val="FF000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Oval 91"/>
          <p:cNvSpPr/>
          <p:nvPr/>
        </p:nvSpPr>
        <p:spPr>
          <a:xfrm>
            <a:off x="4829293" y="3205471"/>
            <a:ext cx="47880" cy="45719"/>
          </a:xfrm>
          <a:prstGeom prst="ellipse">
            <a:avLst/>
          </a:prstGeom>
          <a:solidFill>
            <a:srgbClr val="FF000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Diamond 92"/>
              <p:cNvSpPr/>
              <p:nvPr/>
            </p:nvSpPr>
            <p:spPr>
              <a:xfrm>
                <a:off x="5436418" y="2966018"/>
                <a:ext cx="464035" cy="517236"/>
              </a:xfrm>
              <a:prstGeom prst="diamond">
                <a:avLst/>
              </a:prstGeom>
              <a:solidFill>
                <a:schemeClr val="tx2">
                  <a:lumMod val="75000"/>
                  <a:alpha val="39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3" name="Diamond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418" y="2966018"/>
                <a:ext cx="464035" cy="517236"/>
              </a:xfrm>
              <a:prstGeom prst="diamond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/>
          <p:cNvCxnSpPr>
            <a:stCxn id="95" idx="0"/>
            <a:endCxn id="93" idx="2"/>
          </p:cNvCxnSpPr>
          <p:nvPr/>
        </p:nvCxnSpPr>
        <p:spPr>
          <a:xfrm flipV="1">
            <a:off x="5660742" y="3483254"/>
            <a:ext cx="7694" cy="6771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val 94"/>
              <p:cNvSpPr/>
              <p:nvPr/>
            </p:nvSpPr>
            <p:spPr>
              <a:xfrm>
                <a:off x="5440081" y="4160396"/>
                <a:ext cx="441322" cy="503958"/>
              </a:xfrm>
              <a:prstGeom prst="ellipse">
                <a:avLst/>
              </a:prstGeom>
              <a:solidFill>
                <a:srgbClr val="7030A0">
                  <a:alpha val="47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Oval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081" y="4160396"/>
                <a:ext cx="441322" cy="503958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/>
          <p:cNvCxnSpPr>
            <a:endCxn id="93" idx="1"/>
          </p:cNvCxnSpPr>
          <p:nvPr/>
        </p:nvCxnSpPr>
        <p:spPr>
          <a:xfrm>
            <a:off x="4998906" y="3224630"/>
            <a:ext cx="437512" cy="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93" idx="3"/>
          </p:cNvCxnSpPr>
          <p:nvPr/>
        </p:nvCxnSpPr>
        <p:spPr>
          <a:xfrm>
            <a:off x="5900453" y="3224636"/>
            <a:ext cx="2393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5047603" y="3235028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603" y="3235028"/>
                <a:ext cx="514590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5179123" y="3659900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123" y="3659900"/>
                <a:ext cx="514590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/>
              <p:cNvSpPr/>
              <p:nvPr/>
            </p:nvSpPr>
            <p:spPr>
              <a:xfrm>
                <a:off x="4954456" y="2830482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0" name="Rectangle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4456" y="2830482"/>
                <a:ext cx="520271" cy="369332"/>
              </a:xfrm>
              <a:prstGeom prst="rect">
                <a:avLst/>
              </a:prstGeom>
              <a:blipFill>
                <a:blip r:embed="rId31"/>
                <a:stretch>
                  <a:fillRect r="-17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82E6F20-4F91-471A-82BE-4E93FF24A8A0}"/>
                  </a:ext>
                </a:extLst>
              </p:cNvPr>
              <p:cNvSpPr txBox="1"/>
              <p:nvPr/>
            </p:nvSpPr>
            <p:spPr>
              <a:xfrm>
                <a:off x="6236061" y="3077265"/>
                <a:ext cx="4782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82E6F20-4F91-471A-82BE-4E93FF24A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061" y="3077265"/>
                <a:ext cx="478228" cy="276999"/>
              </a:xfrm>
              <a:prstGeom prst="rect">
                <a:avLst/>
              </a:prstGeom>
              <a:blipFill>
                <a:blip r:embed="rId32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/>
              <p:cNvSpPr/>
              <p:nvPr/>
            </p:nvSpPr>
            <p:spPr>
              <a:xfrm>
                <a:off x="6752804" y="3244175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4" name="Rectangle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804" y="3244175"/>
                <a:ext cx="520271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/>
              <p:cNvSpPr/>
              <p:nvPr/>
            </p:nvSpPr>
            <p:spPr>
              <a:xfrm>
                <a:off x="9120659" y="2846408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6" name="Rectangle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659" y="2846408"/>
                <a:ext cx="520271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Oval 108"/>
          <p:cNvSpPr/>
          <p:nvPr/>
        </p:nvSpPr>
        <p:spPr>
          <a:xfrm>
            <a:off x="9634745" y="3213590"/>
            <a:ext cx="47880" cy="45719"/>
          </a:xfrm>
          <a:prstGeom prst="ellipse">
            <a:avLst/>
          </a:prstGeom>
          <a:solidFill>
            <a:srgbClr val="FF000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Oval 109"/>
          <p:cNvSpPr/>
          <p:nvPr/>
        </p:nvSpPr>
        <p:spPr>
          <a:xfrm>
            <a:off x="9743610" y="3212043"/>
            <a:ext cx="47880" cy="45719"/>
          </a:xfrm>
          <a:prstGeom prst="ellipse">
            <a:avLst/>
          </a:prstGeom>
          <a:solidFill>
            <a:srgbClr val="FF000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Oval 110"/>
          <p:cNvSpPr/>
          <p:nvPr/>
        </p:nvSpPr>
        <p:spPr>
          <a:xfrm>
            <a:off x="9854899" y="3214940"/>
            <a:ext cx="47880" cy="45719"/>
          </a:xfrm>
          <a:prstGeom prst="ellipse">
            <a:avLst/>
          </a:prstGeom>
          <a:solidFill>
            <a:srgbClr val="FF000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ectangle 111"/>
              <p:cNvSpPr/>
              <p:nvPr/>
            </p:nvSpPr>
            <p:spPr>
              <a:xfrm>
                <a:off x="9120659" y="325165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2" name="Rectangle 1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0659" y="3251651"/>
                <a:ext cx="520271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Rectangle 112"/>
              <p:cNvSpPr/>
              <p:nvPr/>
            </p:nvSpPr>
            <p:spPr>
              <a:xfrm>
                <a:off x="8396081" y="3264634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3" name="Rectangle 1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081" y="3264634"/>
                <a:ext cx="520271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 113"/>
              <p:cNvSpPr/>
              <p:nvPr/>
            </p:nvSpPr>
            <p:spPr>
              <a:xfrm>
                <a:off x="7653859" y="3232251"/>
                <a:ext cx="520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4" name="Rectangle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859" y="3232251"/>
                <a:ext cx="520271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Rectangle 114">
            <a:extLst>
              <a:ext uri="{FF2B5EF4-FFF2-40B4-BE49-F238E27FC236}">
                <a16:creationId xmlns:a16="http://schemas.microsoft.com/office/drawing/2014/main" id="{5E358EFF-A27E-4E64-B942-FB33BBE904C1}"/>
              </a:ext>
            </a:extLst>
          </p:cNvPr>
          <p:cNvSpPr/>
          <p:nvPr/>
        </p:nvSpPr>
        <p:spPr>
          <a:xfrm>
            <a:off x="2280716" y="4975121"/>
            <a:ext cx="2209259" cy="369332"/>
          </a:xfrm>
          <a:prstGeom prst="rect">
            <a:avLst/>
          </a:prstGeom>
          <a:solidFill>
            <a:srgbClr val="00B050">
              <a:alpha val="46000"/>
            </a:srgbClr>
          </a:solidFill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Encoder (Many to One) 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1AFD6F5-FC79-41B5-9B87-4A6729A280D9}"/>
              </a:ext>
            </a:extLst>
          </p:cNvPr>
          <p:cNvSpPr/>
          <p:nvPr/>
        </p:nvSpPr>
        <p:spPr>
          <a:xfrm>
            <a:off x="7429483" y="4975121"/>
            <a:ext cx="2218877" cy="369332"/>
          </a:xfrm>
          <a:prstGeom prst="rect">
            <a:avLst/>
          </a:prstGeom>
          <a:solidFill>
            <a:srgbClr val="00B050">
              <a:alpha val="46000"/>
            </a:srgbClr>
          </a:solidFill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Decoder (One to Many)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4083699" y="3269306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699" y="3269306"/>
                <a:ext cx="51459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3329172" y="327377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9172" y="3273771"/>
                <a:ext cx="51459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/>
              <p:cNvSpPr/>
              <p:nvPr/>
            </p:nvSpPr>
            <p:spPr>
              <a:xfrm>
                <a:off x="2595229" y="3270791"/>
                <a:ext cx="51459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" name="Rectangle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229" y="3270791"/>
                <a:ext cx="514590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653859" y="6520123"/>
            <a:ext cx="4638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365791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RNN based Character Level Modelling</a:t>
            </a:r>
            <a:br>
              <a:rPr lang="en-IN" sz="32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8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Training Phase: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1E6ACD-DD32-4C59-A6C8-53A6ED249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417"/>
            <a:ext cx="4168806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Vocabulary: {e, a, g, r}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Character level embedding: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 = [0 0 0 1]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 = [0 0 1 0]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g = [0 1 0 0]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r= [1 0 0 0]  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Training sequence: 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[e a g e r]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</p:cNvCxnSpPr>
          <p:nvPr/>
        </p:nvCxnSpPr>
        <p:spPr>
          <a:xfrm>
            <a:off x="8484623" y="4657931"/>
            <a:ext cx="387073" cy="0"/>
          </a:xfrm>
          <a:prstGeom prst="straightConnector1">
            <a:avLst/>
          </a:prstGeom>
          <a:ln w="19050">
            <a:solidFill>
              <a:schemeClr val="accent6">
                <a:lumMod val="75000"/>
                <a:alpha val="52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853455" y="4285819"/>
            <a:ext cx="748145" cy="748146"/>
          </a:xfrm>
          <a:prstGeom prst="ellipse">
            <a:avLst/>
          </a:prstGeom>
          <a:solidFill>
            <a:schemeClr val="accent5">
              <a:lumMod val="60000"/>
              <a:lumOff val="40000"/>
              <a:alpha val="55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9BE818-76C0-46E5-BD57-2EC6772640D7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9601600" y="4659892"/>
            <a:ext cx="396599" cy="0"/>
          </a:xfrm>
          <a:prstGeom prst="straightConnector1">
            <a:avLst/>
          </a:prstGeom>
          <a:ln w="19050">
            <a:solidFill>
              <a:schemeClr val="accent6">
                <a:lumMod val="75000"/>
                <a:alpha val="52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6" idx="4"/>
          </p:cNvCxnSpPr>
          <p:nvPr/>
        </p:nvCxnSpPr>
        <p:spPr>
          <a:xfrm flipV="1">
            <a:off x="9227528" y="5033965"/>
            <a:ext cx="0" cy="344576"/>
          </a:xfrm>
          <a:prstGeom prst="straightConnector1">
            <a:avLst/>
          </a:prstGeom>
          <a:ln w="19050">
            <a:solidFill>
              <a:schemeClr val="accent6">
                <a:lumMod val="75000"/>
                <a:alpha val="52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0"/>
          </p:cNvCxnSpPr>
          <p:nvPr/>
        </p:nvCxnSpPr>
        <p:spPr>
          <a:xfrm flipV="1">
            <a:off x="9227528" y="3860891"/>
            <a:ext cx="0" cy="424928"/>
          </a:xfrm>
          <a:prstGeom prst="straightConnector1">
            <a:avLst/>
          </a:prstGeom>
          <a:ln w="19050">
            <a:solidFill>
              <a:schemeClr val="accent6">
                <a:lumMod val="75000"/>
                <a:alpha val="52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025430" y="4474995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430" y="4474995"/>
                <a:ext cx="255187" cy="369332"/>
              </a:xfrm>
              <a:prstGeom prst="rect">
                <a:avLst/>
              </a:prstGeom>
              <a:blipFill>
                <a:blip r:embed="rId2"/>
                <a:stretch>
                  <a:fillRect r="-31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8747270" y="3965823"/>
                <a:ext cx="460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270" y="3965823"/>
                <a:ext cx="4608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8745518" y="4967567"/>
                <a:ext cx="255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518" y="4967567"/>
                <a:ext cx="255187" cy="369332"/>
              </a:xfrm>
              <a:prstGeom prst="rect">
                <a:avLst/>
              </a:prstGeom>
              <a:blipFill>
                <a:blip r:embed="rId4"/>
                <a:stretch>
                  <a:fillRect r="-634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/>
              <p:nvPr/>
            </p:nvSpPr>
            <p:spPr>
              <a:xfrm>
                <a:off x="9024881" y="5399493"/>
                <a:ext cx="261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925C41-61F9-4E5E-90D9-D4279F273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881" y="5399493"/>
                <a:ext cx="261867" cy="276999"/>
              </a:xfrm>
              <a:prstGeom prst="rect">
                <a:avLst/>
              </a:prstGeom>
              <a:blipFill>
                <a:blip r:embed="rId5"/>
                <a:stretch>
                  <a:fillRect l="-13953" r="-465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/>
              <p:nvPr/>
            </p:nvSpPr>
            <p:spPr>
              <a:xfrm>
                <a:off x="8383164" y="4315316"/>
                <a:ext cx="4885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01932C-959C-4125-85EC-CD95A3FDE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164" y="4315316"/>
                <a:ext cx="488532" cy="276999"/>
              </a:xfrm>
              <a:prstGeom prst="rect">
                <a:avLst/>
              </a:prstGeom>
              <a:blipFill>
                <a:blip r:embed="rId6"/>
                <a:stretch>
                  <a:fillRect l="-11250" r="-500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/>
              <p:nvPr/>
            </p:nvSpPr>
            <p:spPr>
              <a:xfrm>
                <a:off x="9713450" y="4337926"/>
                <a:ext cx="2689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681628B-B990-4F86-9714-D290B4D6E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3450" y="4337926"/>
                <a:ext cx="268920" cy="276999"/>
              </a:xfrm>
              <a:prstGeom prst="rect">
                <a:avLst/>
              </a:prstGeom>
              <a:blipFill>
                <a:blip r:embed="rId7"/>
                <a:stretch>
                  <a:fillRect l="-22222" r="-2222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/>
              <p:nvPr/>
            </p:nvSpPr>
            <p:spPr>
              <a:xfrm>
                <a:off x="9016534" y="3513607"/>
                <a:ext cx="4608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43E1F5-4B30-4978-9B8E-FC00178C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6534" y="3513607"/>
                <a:ext cx="4608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/>
              <p:nvPr/>
            </p:nvSpPr>
            <p:spPr>
              <a:xfrm>
                <a:off x="8433509" y="4615160"/>
                <a:ext cx="480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1C7E17B-2901-4A67-BB95-AD90EEAB4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509" y="4615160"/>
                <a:ext cx="480071" cy="369332"/>
              </a:xfrm>
              <a:prstGeom prst="rect">
                <a:avLst/>
              </a:prstGeom>
              <a:blipFill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FB89FE0E-533C-4253-8C05-D8A6E9FA0BC5}"/>
              </a:ext>
            </a:extLst>
          </p:cNvPr>
          <p:cNvSpPr/>
          <p:nvPr/>
        </p:nvSpPr>
        <p:spPr>
          <a:xfrm>
            <a:off x="8659490" y="5717089"/>
            <a:ext cx="130356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At time step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939F89-86FD-4AED-8028-A4D66F41A002}"/>
                  </a:ext>
                </a:extLst>
              </p:cNvPr>
              <p:cNvSpPr txBox="1"/>
              <p:nvPr/>
            </p:nvSpPr>
            <p:spPr>
              <a:xfrm>
                <a:off x="6841135" y="1935077"/>
                <a:ext cx="4319139" cy="43088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𝑡𝑎𝑛h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939F89-86FD-4AED-8028-A4D66F41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135" y="1935077"/>
                <a:ext cx="431913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22B6D3-9EE4-4A88-877F-41D2EEFF09A2}"/>
                  </a:ext>
                </a:extLst>
              </p:cNvPr>
              <p:cNvSpPr txBox="1"/>
              <p:nvPr/>
            </p:nvSpPr>
            <p:spPr>
              <a:xfrm>
                <a:off x="6970612" y="2610353"/>
                <a:ext cx="4108537" cy="43088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22B6D3-9EE4-4A88-877F-41D2EEFF0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612" y="2610353"/>
                <a:ext cx="410853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733932" y="6509393"/>
            <a:ext cx="445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669511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5659"/>
            <a:ext cx="10515600" cy="113597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RNN based Character Level Modelling</a:t>
            </a:r>
            <a:br>
              <a:rPr lang="en-IN" sz="32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8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Training Phase: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1E6ACD-DD32-4C59-A6C8-53A6ED249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154"/>
            <a:ext cx="4168806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Vocabulary: {e, a, g, r}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Character level embedding: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 = [0 0 0 1]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 = [0 0 1 0]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g = [0 1 0 0]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r= [1 0 0 0]  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Training sequence: 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[e a g e r]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939F89-86FD-4AED-8028-A4D66F41A002}"/>
                  </a:ext>
                </a:extLst>
              </p:cNvPr>
              <p:cNvSpPr txBox="1"/>
              <p:nvPr/>
            </p:nvSpPr>
            <p:spPr>
              <a:xfrm>
                <a:off x="6925020" y="4312517"/>
                <a:ext cx="4319139" cy="43088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𝑡𝑎𝑛h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939F89-86FD-4AED-8028-A4D66F41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020" y="4312517"/>
                <a:ext cx="431913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743286" y="6476068"/>
            <a:ext cx="4448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63247" y="23399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6424" y="23399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9601" y="23399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22778" y="23399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1712" y="177118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889" y="177118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9543" y="177118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2778" y="177118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1662" y="1782671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33" name="Straight Arrow Connector 32"/>
          <p:cNvCxnSpPr>
            <a:stCxn id="31" idx="1"/>
            <a:endCxn id="41" idx="2"/>
          </p:cNvCxnSpPr>
          <p:nvPr/>
        </p:nvCxnSpPr>
        <p:spPr>
          <a:xfrm flipH="1" flipV="1">
            <a:off x="10000742" y="1961792"/>
            <a:ext cx="440920" cy="554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567494" y="2816635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35" name="Straight Arrow Connector 34"/>
          <p:cNvCxnSpPr>
            <a:stCxn id="34" idx="1"/>
            <a:endCxn id="42" idx="2"/>
          </p:cNvCxnSpPr>
          <p:nvPr/>
        </p:nvCxnSpPr>
        <p:spPr>
          <a:xfrm flipH="1">
            <a:off x="9994392" y="3001301"/>
            <a:ext cx="573102" cy="53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ight Bracket 40"/>
          <p:cNvSpPr/>
          <p:nvPr/>
        </p:nvSpPr>
        <p:spPr>
          <a:xfrm>
            <a:off x="9893299" y="1695092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ight Bracket 41"/>
          <p:cNvSpPr/>
          <p:nvPr/>
        </p:nvSpPr>
        <p:spPr>
          <a:xfrm>
            <a:off x="9886949" y="2352612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01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5659"/>
            <a:ext cx="10515600" cy="113597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RNN based Character Level Modelling</a:t>
            </a:r>
            <a:br>
              <a:rPr lang="en-IN" sz="32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8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Training Phase: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1E6ACD-DD32-4C59-A6C8-53A6ED249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154"/>
            <a:ext cx="4168806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Vocabulary: {e, a, g, r}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Character level embedding: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 = [0 0 0 1]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 = [0 0 1 0]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g = [0 1 0 0]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r= [1 0 0 0]  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Training sequence: 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[e a g e r]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939F89-86FD-4AED-8028-A4D66F41A002}"/>
                  </a:ext>
                </a:extLst>
              </p:cNvPr>
              <p:cNvSpPr txBox="1"/>
              <p:nvPr/>
            </p:nvSpPr>
            <p:spPr>
              <a:xfrm>
                <a:off x="6523851" y="5067569"/>
                <a:ext cx="4319139" cy="43088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𝑡𝑎𝑛h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C939F89-86FD-4AED-8028-A4D66F41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851" y="5067569"/>
                <a:ext cx="431913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706739" y="6502527"/>
            <a:ext cx="4467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247" y="23399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16424" y="23399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9601" y="23399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22778" y="23399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1712" y="177118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889" y="177118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9543" y="177118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2778" y="177118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16572" y="1773146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42" name="Straight Arrow Connector 41"/>
          <p:cNvCxnSpPr>
            <a:stCxn id="41" idx="1"/>
            <a:endCxn id="45" idx="2"/>
          </p:cNvCxnSpPr>
          <p:nvPr/>
        </p:nvCxnSpPr>
        <p:spPr>
          <a:xfrm flipH="1">
            <a:off x="10000742" y="1957812"/>
            <a:ext cx="415830" cy="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18770" y="2817169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44" name="Straight Arrow Connector 43"/>
          <p:cNvCxnSpPr>
            <a:stCxn id="43" idx="1"/>
            <a:endCxn id="46" idx="2"/>
          </p:cNvCxnSpPr>
          <p:nvPr/>
        </p:nvCxnSpPr>
        <p:spPr>
          <a:xfrm flipH="1">
            <a:off x="9994392" y="3001835"/>
            <a:ext cx="524378" cy="1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ight Bracket 44"/>
          <p:cNvSpPr/>
          <p:nvPr/>
        </p:nvSpPr>
        <p:spPr>
          <a:xfrm>
            <a:off x="9893299" y="1695092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ight Bracket 45"/>
          <p:cNvSpPr/>
          <p:nvPr/>
        </p:nvSpPr>
        <p:spPr>
          <a:xfrm>
            <a:off x="9886949" y="2352612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iamond 5"/>
          <p:cNvSpPr/>
          <p:nvPr/>
        </p:nvSpPr>
        <p:spPr>
          <a:xfrm>
            <a:off x="6275427" y="3935332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>
            <a:stCxn id="20" idx="2"/>
            <a:endCxn id="6" idx="0"/>
          </p:cNvCxnSpPr>
          <p:nvPr/>
        </p:nvCxnSpPr>
        <p:spPr>
          <a:xfrm flipH="1">
            <a:off x="6518487" y="3638360"/>
            <a:ext cx="5364" cy="29697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amond 46"/>
          <p:cNvSpPr/>
          <p:nvPr/>
        </p:nvSpPr>
        <p:spPr>
          <a:xfrm>
            <a:off x="7242367" y="3935332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Straight Arrow Connector 47"/>
          <p:cNvCxnSpPr>
            <a:stCxn id="22" idx="2"/>
            <a:endCxn id="47" idx="0"/>
          </p:cNvCxnSpPr>
          <p:nvPr/>
        </p:nvCxnSpPr>
        <p:spPr>
          <a:xfrm>
            <a:off x="7477028" y="3638360"/>
            <a:ext cx="8399" cy="29697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47" idx="1"/>
          </p:cNvCxnSpPr>
          <p:nvPr/>
        </p:nvCxnSpPr>
        <p:spPr>
          <a:xfrm>
            <a:off x="6761547" y="4197270"/>
            <a:ext cx="480820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Diamond 48"/>
          <p:cNvSpPr/>
          <p:nvPr/>
        </p:nvSpPr>
        <p:spPr>
          <a:xfrm>
            <a:off x="8177855" y="3935332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Arrow Connector 49"/>
          <p:cNvCxnSpPr>
            <a:stCxn id="32" idx="2"/>
            <a:endCxn id="49" idx="0"/>
          </p:cNvCxnSpPr>
          <p:nvPr/>
        </p:nvCxnSpPr>
        <p:spPr>
          <a:xfrm flipH="1">
            <a:off x="8420915" y="3638360"/>
            <a:ext cx="9290" cy="29697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9144795" y="3935332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Straight Arrow Connector 51"/>
          <p:cNvCxnSpPr>
            <a:stCxn id="36" idx="2"/>
            <a:endCxn id="51" idx="0"/>
          </p:cNvCxnSpPr>
          <p:nvPr/>
        </p:nvCxnSpPr>
        <p:spPr>
          <a:xfrm>
            <a:off x="9383382" y="3638360"/>
            <a:ext cx="4473" cy="29697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9" idx="3"/>
            <a:endCxn id="51" idx="1"/>
          </p:cNvCxnSpPr>
          <p:nvPr/>
        </p:nvCxnSpPr>
        <p:spPr>
          <a:xfrm>
            <a:off x="8663975" y="4197270"/>
            <a:ext cx="480820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7" idx="3"/>
            <a:endCxn id="49" idx="1"/>
          </p:cNvCxnSpPr>
          <p:nvPr/>
        </p:nvCxnSpPr>
        <p:spPr>
          <a:xfrm>
            <a:off x="7728487" y="4197270"/>
            <a:ext cx="449368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479333" y="3975369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 flipV="1">
            <a:off x="9961305" y="4154490"/>
            <a:ext cx="518028" cy="554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9853862" y="3887790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82719CF-A9B9-42F0-8BBC-E63FA2C9A771}"/>
                  </a:ext>
                </a:extLst>
              </p:cNvPr>
              <p:cNvSpPr/>
              <p:nvPr/>
            </p:nvSpPr>
            <p:spPr>
              <a:xfrm>
                <a:off x="8956371" y="3592034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82719CF-A9B9-42F0-8BBC-E63FA2C9A7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371" y="3592034"/>
                <a:ext cx="521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8589004-E6C5-4588-AAD0-9BFCAB3ECB24}"/>
                  </a:ext>
                </a:extLst>
              </p:cNvPr>
              <p:cNvSpPr/>
              <p:nvPr/>
            </p:nvSpPr>
            <p:spPr>
              <a:xfrm>
                <a:off x="7980804" y="3588185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8589004-E6C5-4588-AAD0-9BFCAB3EC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0804" y="3588185"/>
                <a:ext cx="521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D430E06-3DE8-41EE-9818-37CAF5C3EBE1}"/>
                  </a:ext>
                </a:extLst>
              </p:cNvPr>
              <p:cNvSpPr/>
              <p:nvPr/>
            </p:nvSpPr>
            <p:spPr>
              <a:xfrm>
                <a:off x="7017147" y="3616834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D430E06-3DE8-41EE-9818-37CAF5C3E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147" y="3616834"/>
                <a:ext cx="5210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D60C32E-2C94-4794-911C-AE39782BF2C7}"/>
                  </a:ext>
                </a:extLst>
              </p:cNvPr>
              <p:cNvSpPr/>
              <p:nvPr/>
            </p:nvSpPr>
            <p:spPr>
              <a:xfrm>
                <a:off x="5997447" y="3603942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D60C32E-2C94-4794-911C-AE39782BF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447" y="3603942"/>
                <a:ext cx="521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AD3552C-8324-4A55-B6F1-35465590A74F}"/>
                  </a:ext>
                </a:extLst>
              </p:cNvPr>
              <p:cNvSpPr/>
              <p:nvPr/>
            </p:nvSpPr>
            <p:spPr>
              <a:xfrm>
                <a:off x="6671851" y="4181047"/>
                <a:ext cx="544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AD3552C-8324-4A55-B6F1-35465590A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851" y="4181047"/>
                <a:ext cx="5445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C472179-BB65-4370-AA6D-25F22B703664}"/>
                  </a:ext>
                </a:extLst>
              </p:cNvPr>
              <p:cNvSpPr/>
              <p:nvPr/>
            </p:nvSpPr>
            <p:spPr>
              <a:xfrm>
                <a:off x="7724963" y="4176723"/>
                <a:ext cx="544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C472179-BB65-4370-AA6D-25F22B7036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4963" y="4176723"/>
                <a:ext cx="54457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F83AC8A9-2735-4056-AE8D-9E7740F383D9}"/>
                  </a:ext>
                </a:extLst>
              </p:cNvPr>
              <p:cNvSpPr/>
              <p:nvPr/>
            </p:nvSpPr>
            <p:spPr>
              <a:xfrm>
                <a:off x="8720516" y="4187663"/>
                <a:ext cx="544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F83AC8A9-2735-4056-AE8D-9E7740F38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516" y="4187663"/>
                <a:ext cx="5445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096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5659"/>
            <a:ext cx="10515600" cy="1135974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RNN based Character Level Modelling</a:t>
            </a:r>
            <a:br>
              <a:rPr lang="en-IN" sz="3200" dirty="0">
                <a:solidFill>
                  <a:srgbClr val="C00000"/>
                </a:solidFill>
                <a:latin typeface="Century" panose="02040604050505020304" pitchFamily="18" charset="0"/>
              </a:rPr>
            </a:br>
            <a:r>
              <a:rPr lang="en-IN" sz="28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  <a:cs typeface="Times New Roman" panose="02020603050405020304" pitchFamily="18" charset="0"/>
              </a:rPr>
              <a:t>Training Phase: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1E6ACD-DD32-4C59-A6C8-53A6ED249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154"/>
            <a:ext cx="4168806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Vocabulary: {e, a, g, r}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Character level embedding: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 = [0 0 0 1]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 = [0 0 1 0]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g = [0 1 0 0]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r= [1 0 0 0]  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Training sequence: </a:t>
            </a:r>
          </a:p>
          <a:p>
            <a:pPr lvl="1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[e a g e r]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634193" y="6531665"/>
            <a:ext cx="4428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247" y="16541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16424" y="16541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9601" y="16541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22778" y="1654112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1712" y="116768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889" y="116768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9543" y="116768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2778" y="116768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1578" y="1177916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42" name="Straight Arrow Connector 41"/>
          <p:cNvCxnSpPr>
            <a:stCxn id="41" idx="1"/>
            <a:endCxn id="45" idx="2"/>
          </p:cNvCxnSpPr>
          <p:nvPr/>
        </p:nvCxnSpPr>
        <p:spPr>
          <a:xfrm flipH="1" flipV="1">
            <a:off x="10000742" y="1358288"/>
            <a:ext cx="530836" cy="4294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571160" y="2139770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44" name="Straight Arrow Connector 43"/>
          <p:cNvCxnSpPr>
            <a:stCxn id="43" idx="1"/>
            <a:endCxn id="46" idx="2"/>
          </p:cNvCxnSpPr>
          <p:nvPr/>
        </p:nvCxnSpPr>
        <p:spPr>
          <a:xfrm flipH="1" flipV="1">
            <a:off x="9994392" y="2320799"/>
            <a:ext cx="576768" cy="3637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ight Bracket 44"/>
          <p:cNvSpPr/>
          <p:nvPr/>
        </p:nvSpPr>
        <p:spPr>
          <a:xfrm>
            <a:off x="9893299" y="1091588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ight Bracket 45"/>
          <p:cNvSpPr/>
          <p:nvPr/>
        </p:nvSpPr>
        <p:spPr>
          <a:xfrm>
            <a:off x="9886949" y="1671575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iamond 5"/>
          <p:cNvSpPr/>
          <p:nvPr/>
        </p:nvSpPr>
        <p:spPr>
          <a:xfrm>
            <a:off x="6275427" y="3249532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>
            <a:stCxn id="20" idx="2"/>
            <a:endCxn id="6" idx="0"/>
          </p:cNvCxnSpPr>
          <p:nvPr/>
        </p:nvCxnSpPr>
        <p:spPr>
          <a:xfrm flipH="1">
            <a:off x="6518487" y="2952560"/>
            <a:ext cx="5364" cy="29697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amond 46"/>
          <p:cNvSpPr/>
          <p:nvPr/>
        </p:nvSpPr>
        <p:spPr>
          <a:xfrm>
            <a:off x="7242367" y="3249532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Straight Arrow Connector 47"/>
          <p:cNvCxnSpPr>
            <a:stCxn id="22" idx="2"/>
            <a:endCxn id="47" idx="0"/>
          </p:cNvCxnSpPr>
          <p:nvPr/>
        </p:nvCxnSpPr>
        <p:spPr>
          <a:xfrm>
            <a:off x="7477028" y="2952560"/>
            <a:ext cx="8399" cy="29697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47" idx="1"/>
          </p:cNvCxnSpPr>
          <p:nvPr/>
        </p:nvCxnSpPr>
        <p:spPr>
          <a:xfrm>
            <a:off x="6761547" y="3511470"/>
            <a:ext cx="480820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Diamond 48"/>
          <p:cNvSpPr/>
          <p:nvPr/>
        </p:nvSpPr>
        <p:spPr>
          <a:xfrm>
            <a:off x="8177855" y="3249532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Arrow Connector 49"/>
          <p:cNvCxnSpPr>
            <a:stCxn id="32" idx="2"/>
            <a:endCxn id="49" idx="0"/>
          </p:cNvCxnSpPr>
          <p:nvPr/>
        </p:nvCxnSpPr>
        <p:spPr>
          <a:xfrm flipH="1">
            <a:off x="8420915" y="2952560"/>
            <a:ext cx="9290" cy="29697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9144795" y="3249532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Straight Arrow Connector 51"/>
          <p:cNvCxnSpPr>
            <a:stCxn id="36" idx="2"/>
            <a:endCxn id="51" idx="0"/>
          </p:cNvCxnSpPr>
          <p:nvPr/>
        </p:nvCxnSpPr>
        <p:spPr>
          <a:xfrm>
            <a:off x="9383382" y="2952560"/>
            <a:ext cx="4473" cy="29697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9" idx="3"/>
            <a:endCxn id="51" idx="1"/>
          </p:cNvCxnSpPr>
          <p:nvPr/>
        </p:nvCxnSpPr>
        <p:spPr>
          <a:xfrm>
            <a:off x="8663975" y="3511470"/>
            <a:ext cx="480820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47" idx="3"/>
            <a:endCxn id="49" idx="1"/>
          </p:cNvCxnSpPr>
          <p:nvPr/>
        </p:nvCxnSpPr>
        <p:spPr>
          <a:xfrm>
            <a:off x="7728487" y="3511470"/>
            <a:ext cx="449368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479333" y="3285187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 flipV="1">
            <a:off x="9961305" y="3468690"/>
            <a:ext cx="518028" cy="1163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9853862" y="3201990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6202447" y="4184503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0.7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84641" y="4184503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-2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1.50.1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00799" y="4184503"/>
            <a:ext cx="652383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1.51.0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0.6</a:t>
            </a:r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9063" y="4184503"/>
            <a:ext cx="635753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2.6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1.7</a:t>
            </a:r>
          </a:p>
        </p:txBody>
      </p:sp>
      <p:cxnSp>
        <p:nvCxnSpPr>
          <p:cNvPr id="60" name="Straight Arrow Connector 59"/>
          <p:cNvCxnSpPr>
            <a:stCxn id="6" idx="2"/>
            <a:endCxn id="34" idx="0"/>
          </p:cNvCxnSpPr>
          <p:nvPr/>
        </p:nvCxnSpPr>
        <p:spPr>
          <a:xfrm flipH="1">
            <a:off x="6514648" y="3773407"/>
            <a:ext cx="3839" cy="41109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7" idx="2"/>
            <a:endCxn id="35" idx="0"/>
          </p:cNvCxnSpPr>
          <p:nvPr/>
        </p:nvCxnSpPr>
        <p:spPr>
          <a:xfrm>
            <a:off x="7485427" y="3773407"/>
            <a:ext cx="8925" cy="41109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9" idx="2"/>
            <a:endCxn id="58" idx="0"/>
          </p:cNvCxnSpPr>
          <p:nvPr/>
        </p:nvCxnSpPr>
        <p:spPr>
          <a:xfrm>
            <a:off x="8420915" y="3773407"/>
            <a:ext cx="6076" cy="41109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51" idx="2"/>
            <a:endCxn id="59" idx="0"/>
          </p:cNvCxnSpPr>
          <p:nvPr/>
        </p:nvCxnSpPr>
        <p:spPr>
          <a:xfrm flipH="1">
            <a:off x="9376940" y="3773407"/>
            <a:ext cx="10915" cy="41109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82719CF-A9B9-42F0-8BBC-E63FA2C9A771}"/>
                  </a:ext>
                </a:extLst>
              </p:cNvPr>
              <p:cNvSpPr/>
              <p:nvPr/>
            </p:nvSpPr>
            <p:spPr>
              <a:xfrm>
                <a:off x="8931675" y="2915615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82719CF-A9B9-42F0-8BBC-E63FA2C9A7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675" y="2915615"/>
                <a:ext cx="521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8589004-E6C5-4588-AAD0-9BFCAB3ECB24}"/>
                  </a:ext>
                </a:extLst>
              </p:cNvPr>
              <p:cNvSpPr/>
              <p:nvPr/>
            </p:nvSpPr>
            <p:spPr>
              <a:xfrm>
                <a:off x="7910588" y="2872426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8589004-E6C5-4588-AAD0-9BFCAB3EC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0588" y="2872426"/>
                <a:ext cx="521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D430E06-3DE8-41EE-9818-37CAF5C3EBE1}"/>
                  </a:ext>
                </a:extLst>
              </p:cNvPr>
              <p:cNvSpPr/>
              <p:nvPr/>
            </p:nvSpPr>
            <p:spPr>
              <a:xfrm>
                <a:off x="6946931" y="2901075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D430E06-3DE8-41EE-9818-37CAF5C3EB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931" y="2901075"/>
                <a:ext cx="521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D60C32E-2C94-4794-911C-AE39782BF2C7}"/>
                  </a:ext>
                </a:extLst>
              </p:cNvPr>
              <p:cNvSpPr/>
              <p:nvPr/>
            </p:nvSpPr>
            <p:spPr>
              <a:xfrm>
                <a:off x="5972482" y="2888183"/>
                <a:ext cx="5210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D60C32E-2C94-4794-911C-AE39782BF2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482" y="2888183"/>
                <a:ext cx="5210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AD3552C-8324-4A55-B6F1-35465590A74F}"/>
                  </a:ext>
                </a:extLst>
              </p:cNvPr>
              <p:cNvSpPr/>
              <p:nvPr/>
            </p:nvSpPr>
            <p:spPr>
              <a:xfrm>
                <a:off x="6712207" y="3469604"/>
                <a:ext cx="544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AD3552C-8324-4A55-B6F1-35465590A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207" y="3469604"/>
                <a:ext cx="5445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C472179-BB65-4370-AA6D-25F22B703664}"/>
                  </a:ext>
                </a:extLst>
              </p:cNvPr>
              <p:cNvSpPr/>
              <p:nvPr/>
            </p:nvSpPr>
            <p:spPr>
              <a:xfrm>
                <a:off x="7701311" y="3483568"/>
                <a:ext cx="544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C472179-BB65-4370-AA6D-25F22B7036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311" y="3483568"/>
                <a:ext cx="5445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F83AC8A9-2735-4056-AE8D-9E7740F383D9}"/>
                  </a:ext>
                </a:extLst>
              </p:cNvPr>
              <p:cNvSpPr/>
              <p:nvPr/>
            </p:nvSpPr>
            <p:spPr>
              <a:xfrm>
                <a:off x="8696864" y="3521940"/>
                <a:ext cx="544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F83AC8A9-2735-4056-AE8D-9E7740F38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864" y="3521940"/>
                <a:ext cx="54457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A32C310-FFA2-4272-B48B-EDA744CDFAF4}"/>
                  </a:ext>
                </a:extLst>
              </p:cNvPr>
              <p:cNvSpPr/>
              <p:nvPr/>
            </p:nvSpPr>
            <p:spPr>
              <a:xfrm>
                <a:off x="6025179" y="3799398"/>
                <a:ext cx="5202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A32C310-FFA2-4272-B48B-EDA744CDFA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179" y="3799398"/>
                <a:ext cx="52027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DA32C310-FFA2-4272-B48B-EDA744CDFAF4}"/>
                  </a:ext>
                </a:extLst>
              </p:cNvPr>
              <p:cNvSpPr/>
              <p:nvPr/>
            </p:nvSpPr>
            <p:spPr>
              <a:xfrm>
                <a:off x="8978294" y="3799398"/>
                <a:ext cx="5202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DA32C310-FFA2-4272-B48B-EDA744CDFA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294" y="3799398"/>
                <a:ext cx="52027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A32C310-FFA2-4272-B48B-EDA744CDFAF4}"/>
                  </a:ext>
                </a:extLst>
              </p:cNvPr>
              <p:cNvSpPr/>
              <p:nvPr/>
            </p:nvSpPr>
            <p:spPr>
              <a:xfrm>
                <a:off x="7056306" y="3787891"/>
                <a:ext cx="5202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A32C310-FFA2-4272-B48B-EDA744CDFA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306" y="3787891"/>
                <a:ext cx="52027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A32C310-FFA2-4272-B48B-EDA744CDFAF4}"/>
                  </a:ext>
                </a:extLst>
              </p:cNvPr>
              <p:cNvSpPr/>
              <p:nvPr/>
            </p:nvSpPr>
            <p:spPr>
              <a:xfrm>
                <a:off x="8016336" y="3815417"/>
                <a:ext cx="5202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DA32C310-FFA2-4272-B48B-EDA744CDFA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6336" y="3815417"/>
                <a:ext cx="52027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/>
          <p:cNvSpPr txBox="1"/>
          <p:nvPr/>
        </p:nvSpPr>
        <p:spPr>
          <a:xfrm>
            <a:off x="6313420" y="5643852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23789" y="562550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48443" y="562550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71678" y="5625509"/>
            <a:ext cx="37221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“r”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09260" y="4629182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cxnSp>
        <p:nvCxnSpPr>
          <p:cNvPr id="87" name="Straight Arrow Connector 86"/>
          <p:cNvCxnSpPr>
            <a:stCxn id="86" idx="1"/>
            <a:endCxn id="88" idx="2"/>
          </p:cNvCxnSpPr>
          <p:nvPr/>
        </p:nvCxnSpPr>
        <p:spPr>
          <a:xfrm flipH="1" flipV="1">
            <a:off x="9990131" y="4808783"/>
            <a:ext cx="619129" cy="506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ight Bracket 87"/>
          <p:cNvSpPr/>
          <p:nvPr/>
        </p:nvSpPr>
        <p:spPr>
          <a:xfrm>
            <a:off x="9882688" y="4159559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TextBox 89"/>
          <p:cNvSpPr txBox="1"/>
          <p:nvPr/>
        </p:nvSpPr>
        <p:spPr>
          <a:xfrm>
            <a:off x="10474054" y="5609463"/>
            <a:ext cx="13354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Target Output</a:t>
            </a:r>
          </a:p>
        </p:txBody>
      </p:sp>
      <p:cxnSp>
        <p:nvCxnSpPr>
          <p:cNvPr id="91" name="Straight Arrow Connector 90"/>
          <p:cNvCxnSpPr>
            <a:stCxn id="90" idx="1"/>
            <a:endCxn id="92" idx="2"/>
          </p:cNvCxnSpPr>
          <p:nvPr/>
        </p:nvCxnSpPr>
        <p:spPr>
          <a:xfrm flipH="1">
            <a:off x="9984601" y="5794129"/>
            <a:ext cx="489453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ight Bracket 91"/>
          <p:cNvSpPr/>
          <p:nvPr/>
        </p:nvSpPr>
        <p:spPr>
          <a:xfrm>
            <a:off x="9877158" y="5531028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987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20" y="28738"/>
            <a:ext cx="7157167" cy="187728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ook Antiqua" panose="02040602050305030304" pitchFamily="18" charset="0"/>
              </a:rPr>
              <a:t>RNN based Character Level Modelling</a:t>
            </a:r>
            <a:br>
              <a:rPr lang="en-IN" sz="28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Phase: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031343" y="737058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9808" y="3054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2293" y="235661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13" name="Straight Arrow Connector 12"/>
          <p:cNvCxnSpPr>
            <a:stCxn id="12" idx="1"/>
            <a:endCxn id="16" idx="2"/>
          </p:cNvCxnSpPr>
          <p:nvPr/>
        </p:nvCxnSpPr>
        <p:spPr>
          <a:xfrm flipH="1">
            <a:off x="8145038" y="420327"/>
            <a:ext cx="387255" cy="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63066" y="1241407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15" name="Straight Arrow Connector 14"/>
          <p:cNvCxnSpPr>
            <a:stCxn id="14" idx="1"/>
            <a:endCxn id="17" idx="2"/>
          </p:cNvCxnSpPr>
          <p:nvPr/>
        </p:nvCxnSpPr>
        <p:spPr>
          <a:xfrm flipH="1">
            <a:off x="8118048" y="1426073"/>
            <a:ext cx="545018" cy="454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ket 15"/>
          <p:cNvSpPr/>
          <p:nvPr/>
        </p:nvSpPr>
        <p:spPr>
          <a:xfrm>
            <a:off x="8037595" y="157607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Bracket 16"/>
          <p:cNvSpPr/>
          <p:nvPr/>
        </p:nvSpPr>
        <p:spPr>
          <a:xfrm>
            <a:off x="8010605" y="777303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7043523" y="2286758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>
            <a:stCxn id="4" idx="2"/>
            <a:endCxn id="18" idx="0"/>
          </p:cNvCxnSpPr>
          <p:nvPr/>
        </p:nvCxnSpPr>
        <p:spPr>
          <a:xfrm flipH="1">
            <a:off x="7286583" y="2035506"/>
            <a:ext cx="5364" cy="25125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</p:cNvCxnSpPr>
          <p:nvPr/>
        </p:nvCxnSpPr>
        <p:spPr>
          <a:xfrm>
            <a:off x="7529643" y="2548696"/>
            <a:ext cx="480820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02989" y="2345196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30" name="Straight Arrow Connector 29"/>
          <p:cNvCxnSpPr>
            <a:stCxn id="29" idx="1"/>
            <a:endCxn id="31" idx="2"/>
          </p:cNvCxnSpPr>
          <p:nvPr/>
        </p:nvCxnSpPr>
        <p:spPr>
          <a:xfrm flipH="1" flipV="1">
            <a:off x="8084961" y="2533461"/>
            <a:ext cx="518028" cy="554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ket 30"/>
          <p:cNvSpPr/>
          <p:nvPr/>
        </p:nvSpPr>
        <p:spPr>
          <a:xfrm>
            <a:off x="7977518" y="2266761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6970543" y="3066281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0.7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1.1</a:t>
            </a:r>
          </a:p>
        </p:txBody>
      </p:sp>
      <p:cxnSp>
        <p:nvCxnSpPr>
          <p:cNvPr id="36" name="Straight Arrow Connector 35"/>
          <p:cNvCxnSpPr>
            <a:stCxn id="18" idx="2"/>
            <a:endCxn id="32" idx="0"/>
          </p:cNvCxnSpPr>
          <p:nvPr/>
        </p:nvCxnSpPr>
        <p:spPr>
          <a:xfrm flipH="1">
            <a:off x="7282744" y="2810633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68991" y="59849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4090" y="3526349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>
            <a:off x="8084961" y="3711015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7977518" y="3066251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/>
          <p:cNvSpPr txBox="1"/>
          <p:nvPr/>
        </p:nvSpPr>
        <p:spPr>
          <a:xfrm>
            <a:off x="8698239" y="5987055"/>
            <a:ext cx="827471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Sample</a:t>
            </a:r>
          </a:p>
        </p:txBody>
      </p:sp>
      <p:cxnSp>
        <p:nvCxnSpPr>
          <p:cNvPr id="59" name="Straight Arrow Connector 58"/>
          <p:cNvCxnSpPr>
            <a:stCxn id="58" idx="1"/>
            <a:endCxn id="60" idx="2"/>
          </p:cNvCxnSpPr>
          <p:nvPr/>
        </p:nvCxnSpPr>
        <p:spPr>
          <a:xfrm flipH="1">
            <a:off x="8084961" y="6171721"/>
            <a:ext cx="613278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ket 59"/>
          <p:cNvSpPr/>
          <p:nvPr/>
        </p:nvSpPr>
        <p:spPr>
          <a:xfrm>
            <a:off x="7977518" y="5908620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ounded Rectangle 60"/>
          <p:cNvSpPr/>
          <p:nvPr/>
        </p:nvSpPr>
        <p:spPr>
          <a:xfrm>
            <a:off x="6964539" y="4623697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62" name="Straight Arrow Connector 61"/>
          <p:cNvCxnSpPr>
            <a:endCxn id="61" idx="0"/>
          </p:cNvCxnSpPr>
          <p:nvPr/>
        </p:nvCxnSpPr>
        <p:spPr>
          <a:xfrm flipH="1">
            <a:off x="7276740" y="4368049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704090" y="4995252"/>
            <a:ext cx="1496353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 Layer</a:t>
            </a:r>
          </a:p>
        </p:txBody>
      </p:sp>
      <p:cxnSp>
        <p:nvCxnSpPr>
          <p:cNvPr id="66" name="Straight Arrow Connector 65"/>
          <p:cNvCxnSpPr>
            <a:stCxn id="65" idx="1"/>
            <a:endCxn id="67" idx="2"/>
          </p:cNvCxnSpPr>
          <p:nvPr/>
        </p:nvCxnSpPr>
        <p:spPr>
          <a:xfrm flipH="1">
            <a:off x="8084961" y="5179918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ight Bracket 66"/>
          <p:cNvSpPr/>
          <p:nvPr/>
        </p:nvSpPr>
        <p:spPr>
          <a:xfrm>
            <a:off x="7977518" y="4535154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736680" y="6551232"/>
            <a:ext cx="4524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1413414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01" y="47424"/>
            <a:ext cx="4986844" cy="187728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ook Antiqua" panose="02040602050305030304" pitchFamily="18" charset="0"/>
              </a:rPr>
              <a:t>RNN based Character Level Modelling</a:t>
            </a:r>
            <a:br>
              <a:rPr lang="en-IN" sz="28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Phase: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93093" y="927558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1558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91" y="424045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13" name="Straight Arrow Connector 12"/>
          <p:cNvCxnSpPr>
            <a:stCxn id="12" idx="1"/>
            <a:endCxn id="16" idx="2"/>
          </p:cNvCxnSpPr>
          <p:nvPr/>
        </p:nvCxnSpPr>
        <p:spPr>
          <a:xfrm flipH="1">
            <a:off x="8168863" y="608711"/>
            <a:ext cx="518028" cy="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26814" y="1430862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15" name="Straight Arrow Connector 14"/>
          <p:cNvCxnSpPr>
            <a:stCxn id="14" idx="1"/>
            <a:endCxn id="17" idx="2"/>
          </p:cNvCxnSpPr>
          <p:nvPr/>
        </p:nvCxnSpPr>
        <p:spPr>
          <a:xfrm flipH="1" flipV="1">
            <a:off x="8141873" y="1614911"/>
            <a:ext cx="484941" cy="617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ket 15"/>
          <p:cNvSpPr/>
          <p:nvPr/>
        </p:nvSpPr>
        <p:spPr>
          <a:xfrm>
            <a:off x="8061420" y="345991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Bracket 16"/>
          <p:cNvSpPr/>
          <p:nvPr/>
        </p:nvSpPr>
        <p:spPr>
          <a:xfrm>
            <a:off x="8034430" y="965687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5805273" y="2477258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>
            <a:stCxn id="4" idx="2"/>
            <a:endCxn id="18" idx="0"/>
          </p:cNvCxnSpPr>
          <p:nvPr/>
        </p:nvCxnSpPr>
        <p:spPr>
          <a:xfrm flipH="1">
            <a:off x="6048333" y="2226006"/>
            <a:ext cx="5364" cy="25125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</p:cNvCxnSpPr>
          <p:nvPr/>
        </p:nvCxnSpPr>
        <p:spPr>
          <a:xfrm>
            <a:off x="6291393" y="2739196"/>
            <a:ext cx="480820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26814" y="2533580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30" name="Straight Arrow Connector 29"/>
          <p:cNvCxnSpPr>
            <a:stCxn id="29" idx="1"/>
            <a:endCxn id="31" idx="2"/>
          </p:cNvCxnSpPr>
          <p:nvPr/>
        </p:nvCxnSpPr>
        <p:spPr>
          <a:xfrm flipH="1" flipV="1">
            <a:off x="8108786" y="2721845"/>
            <a:ext cx="518028" cy="554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ket 30"/>
          <p:cNvSpPr/>
          <p:nvPr/>
        </p:nvSpPr>
        <p:spPr>
          <a:xfrm>
            <a:off x="8001343" y="2455145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5732293" y="3256781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0.7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1.1</a:t>
            </a:r>
          </a:p>
        </p:txBody>
      </p:sp>
      <p:cxnSp>
        <p:nvCxnSpPr>
          <p:cNvPr id="36" name="Straight Arrow Connector 35"/>
          <p:cNvCxnSpPr>
            <a:stCxn id="18" idx="2"/>
            <a:endCxn id="32" idx="0"/>
          </p:cNvCxnSpPr>
          <p:nvPr/>
        </p:nvCxnSpPr>
        <p:spPr>
          <a:xfrm flipH="1">
            <a:off x="6044494" y="3001133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830741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27915" y="3714733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>
            <a:off x="8108786" y="3899399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8001343" y="3254635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/>
          <p:cNvSpPr txBox="1"/>
          <p:nvPr/>
        </p:nvSpPr>
        <p:spPr>
          <a:xfrm>
            <a:off x="8626814" y="6175439"/>
            <a:ext cx="13354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Target Output</a:t>
            </a:r>
          </a:p>
        </p:txBody>
      </p:sp>
      <p:cxnSp>
        <p:nvCxnSpPr>
          <p:cNvPr id="59" name="Straight Arrow Connector 58"/>
          <p:cNvCxnSpPr>
            <a:stCxn id="58" idx="1"/>
            <a:endCxn id="60" idx="2"/>
          </p:cNvCxnSpPr>
          <p:nvPr/>
        </p:nvCxnSpPr>
        <p:spPr>
          <a:xfrm flipH="1">
            <a:off x="8108786" y="6360105"/>
            <a:ext cx="518028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ket 59"/>
          <p:cNvSpPr/>
          <p:nvPr/>
        </p:nvSpPr>
        <p:spPr>
          <a:xfrm>
            <a:off x="8001343" y="6097004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ounded Rectangle 60"/>
          <p:cNvSpPr/>
          <p:nvPr/>
        </p:nvSpPr>
        <p:spPr>
          <a:xfrm>
            <a:off x="5726289" y="4814197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62" name="Straight Arrow Connector 61"/>
          <p:cNvCxnSpPr>
            <a:endCxn id="61" idx="0"/>
          </p:cNvCxnSpPr>
          <p:nvPr/>
        </p:nvCxnSpPr>
        <p:spPr>
          <a:xfrm flipH="1">
            <a:off x="6038490" y="4558549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727915" y="5183636"/>
            <a:ext cx="154627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 Layer</a:t>
            </a:r>
          </a:p>
        </p:txBody>
      </p:sp>
      <p:cxnSp>
        <p:nvCxnSpPr>
          <p:cNvPr id="66" name="Straight Arrow Connector 65"/>
          <p:cNvCxnSpPr>
            <a:stCxn id="65" idx="1"/>
            <a:endCxn id="67" idx="2"/>
          </p:cNvCxnSpPr>
          <p:nvPr/>
        </p:nvCxnSpPr>
        <p:spPr>
          <a:xfrm flipH="1">
            <a:off x="8108786" y="5368302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ight Bracket 66"/>
          <p:cNvSpPr/>
          <p:nvPr/>
        </p:nvSpPr>
        <p:spPr>
          <a:xfrm>
            <a:off x="8001343" y="4723538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7027520" y="999123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0375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cxnSp>
        <p:nvCxnSpPr>
          <p:cNvPr id="5" name="Elbow Connector 4"/>
          <p:cNvCxnSpPr>
            <a:stCxn id="51" idx="2"/>
            <a:endCxn id="34" idx="0"/>
          </p:cNvCxnSpPr>
          <p:nvPr/>
        </p:nvCxnSpPr>
        <p:spPr>
          <a:xfrm rot="5400000" flipH="1" flipV="1">
            <a:off x="3638919" y="2895566"/>
            <a:ext cx="6048776" cy="1249634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64566" y="6476515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4064870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01" y="47424"/>
            <a:ext cx="4986844" cy="187728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ook Antiqua" panose="02040602050305030304" pitchFamily="18" charset="0"/>
              </a:rPr>
              <a:t>RNN based Character Level Modelling</a:t>
            </a:r>
            <a:br>
              <a:rPr lang="en-IN" sz="28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Phase: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15853" y="927558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318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419" y="424045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13" name="Straight Arrow Connector 12"/>
          <p:cNvCxnSpPr>
            <a:stCxn id="12" idx="1"/>
            <a:endCxn id="16" idx="2"/>
          </p:cNvCxnSpPr>
          <p:nvPr/>
        </p:nvCxnSpPr>
        <p:spPr>
          <a:xfrm flipH="1">
            <a:off x="7821391" y="608711"/>
            <a:ext cx="518028" cy="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39419" y="1430873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15" name="Straight Arrow Connector 14"/>
          <p:cNvCxnSpPr>
            <a:stCxn id="14" idx="1"/>
            <a:endCxn id="17" idx="2"/>
          </p:cNvCxnSpPr>
          <p:nvPr/>
        </p:nvCxnSpPr>
        <p:spPr>
          <a:xfrm flipH="1" flipV="1">
            <a:off x="7794401" y="1614911"/>
            <a:ext cx="545018" cy="628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ket 15"/>
          <p:cNvSpPr/>
          <p:nvPr/>
        </p:nvSpPr>
        <p:spPr>
          <a:xfrm>
            <a:off x="7713948" y="345991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Bracket 16"/>
          <p:cNvSpPr/>
          <p:nvPr/>
        </p:nvSpPr>
        <p:spPr>
          <a:xfrm>
            <a:off x="7686958" y="965687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5028033" y="2477258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>
            <a:stCxn id="4" idx="2"/>
            <a:endCxn id="18" idx="0"/>
          </p:cNvCxnSpPr>
          <p:nvPr/>
        </p:nvCxnSpPr>
        <p:spPr>
          <a:xfrm flipH="1">
            <a:off x="5271093" y="2226006"/>
            <a:ext cx="5364" cy="25125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  <a:endCxn id="35" idx="1"/>
          </p:cNvCxnSpPr>
          <p:nvPr/>
        </p:nvCxnSpPr>
        <p:spPr>
          <a:xfrm flipV="1">
            <a:off x="5514153" y="2734287"/>
            <a:ext cx="753671" cy="490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79342" y="2533580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30" name="Straight Arrow Connector 29"/>
          <p:cNvCxnSpPr>
            <a:stCxn id="29" idx="1"/>
            <a:endCxn id="31" idx="2"/>
          </p:cNvCxnSpPr>
          <p:nvPr/>
        </p:nvCxnSpPr>
        <p:spPr>
          <a:xfrm flipH="1" flipV="1">
            <a:off x="7761314" y="2721845"/>
            <a:ext cx="518028" cy="554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ket 30"/>
          <p:cNvSpPr/>
          <p:nvPr/>
        </p:nvSpPr>
        <p:spPr>
          <a:xfrm>
            <a:off x="7653871" y="2455145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4955053" y="3256781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0.7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1.1</a:t>
            </a:r>
          </a:p>
        </p:txBody>
      </p:sp>
      <p:cxnSp>
        <p:nvCxnSpPr>
          <p:cNvPr id="36" name="Straight Arrow Connector 35"/>
          <p:cNvCxnSpPr>
            <a:stCxn id="18" idx="2"/>
            <a:endCxn id="32" idx="0"/>
          </p:cNvCxnSpPr>
          <p:nvPr/>
        </p:nvCxnSpPr>
        <p:spPr>
          <a:xfrm flipH="1">
            <a:off x="5267254" y="3001133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53501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0443" y="3714733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>
            <a:off x="7761314" y="3899399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7653871" y="3254635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/>
          <p:cNvSpPr txBox="1"/>
          <p:nvPr/>
        </p:nvSpPr>
        <p:spPr>
          <a:xfrm>
            <a:off x="8279342" y="6175439"/>
            <a:ext cx="13354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Target Output</a:t>
            </a:r>
          </a:p>
        </p:txBody>
      </p:sp>
      <p:cxnSp>
        <p:nvCxnSpPr>
          <p:cNvPr id="59" name="Straight Arrow Connector 58"/>
          <p:cNvCxnSpPr>
            <a:stCxn id="58" idx="1"/>
            <a:endCxn id="60" idx="2"/>
          </p:cNvCxnSpPr>
          <p:nvPr/>
        </p:nvCxnSpPr>
        <p:spPr>
          <a:xfrm flipH="1">
            <a:off x="7761314" y="6360105"/>
            <a:ext cx="518028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ket 59"/>
          <p:cNvSpPr/>
          <p:nvPr/>
        </p:nvSpPr>
        <p:spPr>
          <a:xfrm>
            <a:off x="7653871" y="6097004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ounded Rectangle 60"/>
          <p:cNvSpPr/>
          <p:nvPr/>
        </p:nvSpPr>
        <p:spPr>
          <a:xfrm>
            <a:off x="4949049" y="4814197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62" name="Straight Arrow Connector 61"/>
          <p:cNvCxnSpPr>
            <a:endCxn id="61" idx="0"/>
          </p:cNvCxnSpPr>
          <p:nvPr/>
        </p:nvCxnSpPr>
        <p:spPr>
          <a:xfrm flipH="1">
            <a:off x="5261250" y="4558549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380443" y="5183636"/>
            <a:ext cx="1976102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 Layer</a:t>
            </a:r>
          </a:p>
        </p:txBody>
      </p:sp>
      <p:cxnSp>
        <p:nvCxnSpPr>
          <p:cNvPr id="66" name="Straight Arrow Connector 65"/>
          <p:cNvCxnSpPr>
            <a:stCxn id="65" idx="1"/>
            <a:endCxn id="67" idx="2"/>
          </p:cNvCxnSpPr>
          <p:nvPr/>
        </p:nvCxnSpPr>
        <p:spPr>
          <a:xfrm flipH="1">
            <a:off x="7761314" y="5368302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ight Bracket 66"/>
          <p:cNvSpPr/>
          <p:nvPr/>
        </p:nvSpPr>
        <p:spPr>
          <a:xfrm>
            <a:off x="7653871" y="4723538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6250280" y="930543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3135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cxnSp>
        <p:nvCxnSpPr>
          <p:cNvPr id="5" name="Elbow Connector 4"/>
          <p:cNvCxnSpPr>
            <a:stCxn id="51" idx="2"/>
            <a:endCxn id="34" idx="0"/>
          </p:cNvCxnSpPr>
          <p:nvPr/>
        </p:nvCxnSpPr>
        <p:spPr>
          <a:xfrm rot="5400000" flipH="1" flipV="1">
            <a:off x="2861679" y="2895566"/>
            <a:ext cx="6048776" cy="1249634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6267824" y="2472349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Arrow Connector 36"/>
          <p:cNvCxnSpPr>
            <a:stCxn id="33" idx="2"/>
            <a:endCxn id="35" idx="0"/>
          </p:cNvCxnSpPr>
          <p:nvPr/>
        </p:nvCxnSpPr>
        <p:spPr>
          <a:xfrm>
            <a:off x="6510884" y="2228991"/>
            <a:ext cx="0" cy="24335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3"/>
          </p:cNvCxnSpPr>
          <p:nvPr/>
        </p:nvCxnSpPr>
        <p:spPr>
          <a:xfrm>
            <a:off x="6753944" y="2734287"/>
            <a:ext cx="449368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01582" y="3254635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-2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1.50.1</a:t>
            </a:r>
          </a:p>
        </p:txBody>
      </p:sp>
      <p:cxnSp>
        <p:nvCxnSpPr>
          <p:cNvPr id="40" name="Straight Arrow Connector 39"/>
          <p:cNvCxnSpPr>
            <a:stCxn id="35" idx="2"/>
            <a:endCxn id="39" idx="0"/>
          </p:cNvCxnSpPr>
          <p:nvPr/>
        </p:nvCxnSpPr>
        <p:spPr>
          <a:xfrm>
            <a:off x="6510884" y="2996224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29992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2580" y="4818019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.04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.91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 flipH="1">
            <a:off x="6504781" y="4562371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64566" y="6476515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2355463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01" y="47424"/>
            <a:ext cx="4986844" cy="187728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ook Antiqua" panose="02040602050305030304" pitchFamily="18" charset="0"/>
              </a:rPr>
              <a:t>RNN based Character Level Modelling</a:t>
            </a:r>
            <a:br>
              <a:rPr lang="en-IN" sz="28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Phase: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15853" y="927558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318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1436" y="386880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13" name="Straight Arrow Connector 12"/>
          <p:cNvCxnSpPr>
            <a:stCxn id="12" idx="1"/>
            <a:endCxn id="16" idx="2"/>
          </p:cNvCxnSpPr>
          <p:nvPr/>
        </p:nvCxnSpPr>
        <p:spPr>
          <a:xfrm flipH="1">
            <a:off x="8323408" y="571546"/>
            <a:ext cx="518028" cy="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41436" y="1393708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15" name="Straight Arrow Connector 14"/>
          <p:cNvCxnSpPr>
            <a:stCxn id="14" idx="1"/>
            <a:endCxn id="17" idx="2"/>
          </p:cNvCxnSpPr>
          <p:nvPr/>
        </p:nvCxnSpPr>
        <p:spPr>
          <a:xfrm flipH="1" flipV="1">
            <a:off x="8296418" y="1577746"/>
            <a:ext cx="545018" cy="628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ket 15"/>
          <p:cNvSpPr/>
          <p:nvPr/>
        </p:nvSpPr>
        <p:spPr>
          <a:xfrm>
            <a:off x="8215965" y="308826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Bracket 16"/>
          <p:cNvSpPr/>
          <p:nvPr/>
        </p:nvSpPr>
        <p:spPr>
          <a:xfrm>
            <a:off x="8188975" y="928522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5028033" y="2477258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>
            <a:stCxn id="4" idx="2"/>
            <a:endCxn id="18" idx="0"/>
          </p:cNvCxnSpPr>
          <p:nvPr/>
        </p:nvCxnSpPr>
        <p:spPr>
          <a:xfrm flipH="1">
            <a:off x="5271093" y="2226006"/>
            <a:ext cx="5364" cy="25125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  <a:endCxn id="35" idx="1"/>
          </p:cNvCxnSpPr>
          <p:nvPr/>
        </p:nvCxnSpPr>
        <p:spPr>
          <a:xfrm flipV="1">
            <a:off x="5514153" y="2734287"/>
            <a:ext cx="753671" cy="490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81359" y="2496415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30" name="Straight Arrow Connector 29"/>
          <p:cNvCxnSpPr>
            <a:stCxn id="29" idx="1"/>
            <a:endCxn id="31" idx="2"/>
          </p:cNvCxnSpPr>
          <p:nvPr/>
        </p:nvCxnSpPr>
        <p:spPr>
          <a:xfrm flipH="1" flipV="1">
            <a:off x="8263331" y="2684680"/>
            <a:ext cx="518028" cy="554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ket 30"/>
          <p:cNvSpPr/>
          <p:nvPr/>
        </p:nvSpPr>
        <p:spPr>
          <a:xfrm>
            <a:off x="8155888" y="2417980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4955053" y="3256781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0.7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1.1</a:t>
            </a:r>
          </a:p>
        </p:txBody>
      </p:sp>
      <p:cxnSp>
        <p:nvCxnSpPr>
          <p:cNvPr id="36" name="Straight Arrow Connector 35"/>
          <p:cNvCxnSpPr>
            <a:stCxn id="18" idx="2"/>
            <a:endCxn id="32" idx="0"/>
          </p:cNvCxnSpPr>
          <p:nvPr/>
        </p:nvCxnSpPr>
        <p:spPr>
          <a:xfrm flipH="1">
            <a:off x="5267254" y="3001133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53501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2460" y="3677568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>
            <a:off x="8263331" y="3862234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8155888" y="3217470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/>
          <p:cNvSpPr txBox="1"/>
          <p:nvPr/>
        </p:nvSpPr>
        <p:spPr>
          <a:xfrm>
            <a:off x="8781359" y="6138274"/>
            <a:ext cx="13354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Target Output</a:t>
            </a:r>
          </a:p>
        </p:txBody>
      </p:sp>
      <p:cxnSp>
        <p:nvCxnSpPr>
          <p:cNvPr id="59" name="Straight Arrow Connector 58"/>
          <p:cNvCxnSpPr>
            <a:stCxn id="58" idx="1"/>
            <a:endCxn id="60" idx="2"/>
          </p:cNvCxnSpPr>
          <p:nvPr/>
        </p:nvCxnSpPr>
        <p:spPr>
          <a:xfrm flipH="1">
            <a:off x="8263331" y="6322940"/>
            <a:ext cx="518028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ket 59"/>
          <p:cNvSpPr/>
          <p:nvPr/>
        </p:nvSpPr>
        <p:spPr>
          <a:xfrm>
            <a:off x="8155888" y="6059839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ounded Rectangle 60"/>
          <p:cNvSpPr/>
          <p:nvPr/>
        </p:nvSpPr>
        <p:spPr>
          <a:xfrm>
            <a:off x="4949049" y="4814197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62" name="Straight Arrow Connector 61"/>
          <p:cNvCxnSpPr>
            <a:endCxn id="61" idx="0"/>
          </p:cNvCxnSpPr>
          <p:nvPr/>
        </p:nvCxnSpPr>
        <p:spPr>
          <a:xfrm flipH="1">
            <a:off x="5261250" y="4558549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882460" y="5146471"/>
            <a:ext cx="1976102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 Layer</a:t>
            </a:r>
          </a:p>
        </p:txBody>
      </p:sp>
      <p:cxnSp>
        <p:nvCxnSpPr>
          <p:cNvPr id="66" name="Straight Arrow Connector 65"/>
          <p:cNvCxnSpPr>
            <a:stCxn id="65" idx="1"/>
            <a:endCxn id="67" idx="2"/>
          </p:cNvCxnSpPr>
          <p:nvPr/>
        </p:nvCxnSpPr>
        <p:spPr>
          <a:xfrm flipH="1">
            <a:off x="8263331" y="5331137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ight Bracket 66"/>
          <p:cNvSpPr/>
          <p:nvPr/>
        </p:nvSpPr>
        <p:spPr>
          <a:xfrm>
            <a:off x="8155888" y="4686373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6250280" y="930543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3135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cxnSp>
        <p:nvCxnSpPr>
          <p:cNvPr id="5" name="Elbow Connector 4"/>
          <p:cNvCxnSpPr>
            <a:stCxn id="51" idx="2"/>
            <a:endCxn id="34" idx="0"/>
          </p:cNvCxnSpPr>
          <p:nvPr/>
        </p:nvCxnSpPr>
        <p:spPr>
          <a:xfrm rot="5400000" flipH="1" flipV="1">
            <a:off x="2861679" y="2895566"/>
            <a:ext cx="6048776" cy="1249634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6267824" y="2472349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Arrow Connector 36"/>
          <p:cNvCxnSpPr>
            <a:stCxn id="33" idx="2"/>
            <a:endCxn id="35" idx="0"/>
          </p:cNvCxnSpPr>
          <p:nvPr/>
        </p:nvCxnSpPr>
        <p:spPr>
          <a:xfrm>
            <a:off x="6510884" y="2228991"/>
            <a:ext cx="0" cy="24335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3"/>
          </p:cNvCxnSpPr>
          <p:nvPr/>
        </p:nvCxnSpPr>
        <p:spPr>
          <a:xfrm>
            <a:off x="6753944" y="2734287"/>
            <a:ext cx="449368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01582" y="3254635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-2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1.50.1</a:t>
            </a:r>
          </a:p>
        </p:txBody>
      </p:sp>
      <p:cxnSp>
        <p:nvCxnSpPr>
          <p:cNvPr id="40" name="Straight Arrow Connector 39"/>
          <p:cNvCxnSpPr>
            <a:stCxn id="35" idx="2"/>
            <a:endCxn id="39" idx="0"/>
          </p:cNvCxnSpPr>
          <p:nvPr/>
        </p:nvCxnSpPr>
        <p:spPr>
          <a:xfrm>
            <a:off x="6510884" y="2996224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29992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2580" y="4818019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.04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.91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 flipH="1">
            <a:off x="6504781" y="4562371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63868" y="931306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172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cxnSp>
        <p:nvCxnSpPr>
          <p:cNvPr id="44" name="Elbow Connector 43"/>
          <p:cNvCxnSpPr>
            <a:stCxn id="42" idx="2"/>
            <a:endCxn id="49" idx="0"/>
          </p:cNvCxnSpPr>
          <p:nvPr/>
        </p:nvCxnSpPr>
        <p:spPr>
          <a:xfrm rot="5400000" flipH="1" flipV="1">
            <a:off x="4119943" y="2913793"/>
            <a:ext cx="6048776" cy="1213180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64566" y="6476515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2546521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01" y="47424"/>
            <a:ext cx="4986844" cy="187728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ook Antiqua" panose="02040602050305030304" pitchFamily="18" charset="0"/>
              </a:rPr>
              <a:t>RNN based Character Level Modelling</a:t>
            </a:r>
            <a:br>
              <a:rPr lang="en-IN" sz="28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Phase: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15853" y="927558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318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6554" y="396024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13" name="Straight Arrow Connector 12"/>
          <p:cNvCxnSpPr>
            <a:stCxn id="12" idx="1"/>
            <a:endCxn id="16" idx="2"/>
          </p:cNvCxnSpPr>
          <p:nvPr/>
        </p:nvCxnSpPr>
        <p:spPr>
          <a:xfrm flipH="1">
            <a:off x="8598526" y="580690"/>
            <a:ext cx="518028" cy="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3188" y="1402852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15" name="Straight Arrow Connector 14"/>
          <p:cNvCxnSpPr>
            <a:stCxn id="14" idx="1"/>
            <a:endCxn id="17" idx="2"/>
          </p:cNvCxnSpPr>
          <p:nvPr/>
        </p:nvCxnSpPr>
        <p:spPr>
          <a:xfrm flipH="1" flipV="1">
            <a:off x="8598170" y="1586890"/>
            <a:ext cx="545018" cy="628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ket 15"/>
          <p:cNvSpPr/>
          <p:nvPr/>
        </p:nvSpPr>
        <p:spPr>
          <a:xfrm>
            <a:off x="8491083" y="317970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Bracket 16"/>
          <p:cNvSpPr/>
          <p:nvPr/>
        </p:nvSpPr>
        <p:spPr>
          <a:xfrm>
            <a:off x="8490727" y="937666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5028033" y="2477258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>
            <a:stCxn id="4" idx="2"/>
            <a:endCxn id="18" idx="0"/>
          </p:cNvCxnSpPr>
          <p:nvPr/>
        </p:nvCxnSpPr>
        <p:spPr>
          <a:xfrm flipH="1">
            <a:off x="5271093" y="2226006"/>
            <a:ext cx="5364" cy="25125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  <a:endCxn id="35" idx="1"/>
          </p:cNvCxnSpPr>
          <p:nvPr/>
        </p:nvCxnSpPr>
        <p:spPr>
          <a:xfrm flipV="1">
            <a:off x="5514153" y="2734287"/>
            <a:ext cx="753671" cy="490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09745" y="2505559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30" name="Straight Arrow Connector 29"/>
          <p:cNvCxnSpPr>
            <a:stCxn id="29" idx="1"/>
            <a:endCxn id="31" idx="2"/>
          </p:cNvCxnSpPr>
          <p:nvPr/>
        </p:nvCxnSpPr>
        <p:spPr>
          <a:xfrm flipH="1" flipV="1">
            <a:off x="8591717" y="2693824"/>
            <a:ext cx="518028" cy="554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ket 30"/>
          <p:cNvSpPr/>
          <p:nvPr/>
        </p:nvSpPr>
        <p:spPr>
          <a:xfrm>
            <a:off x="8484274" y="2427124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4955053" y="3256781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0.7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1.1</a:t>
            </a:r>
          </a:p>
        </p:txBody>
      </p:sp>
      <p:cxnSp>
        <p:nvCxnSpPr>
          <p:cNvPr id="36" name="Straight Arrow Connector 35"/>
          <p:cNvCxnSpPr>
            <a:stCxn id="18" idx="2"/>
            <a:endCxn id="32" idx="0"/>
          </p:cNvCxnSpPr>
          <p:nvPr/>
        </p:nvCxnSpPr>
        <p:spPr>
          <a:xfrm flipH="1">
            <a:off x="5267254" y="3001133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53501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10846" y="3686712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>
            <a:off x="8591717" y="3871378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8484274" y="3226614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/>
          <p:cNvSpPr txBox="1"/>
          <p:nvPr/>
        </p:nvSpPr>
        <p:spPr>
          <a:xfrm>
            <a:off x="9109745" y="6147418"/>
            <a:ext cx="13354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Target Output</a:t>
            </a:r>
          </a:p>
        </p:txBody>
      </p:sp>
      <p:cxnSp>
        <p:nvCxnSpPr>
          <p:cNvPr id="59" name="Straight Arrow Connector 58"/>
          <p:cNvCxnSpPr>
            <a:stCxn id="58" idx="1"/>
            <a:endCxn id="60" idx="2"/>
          </p:cNvCxnSpPr>
          <p:nvPr/>
        </p:nvCxnSpPr>
        <p:spPr>
          <a:xfrm flipH="1">
            <a:off x="8591717" y="6332084"/>
            <a:ext cx="518028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ket 59"/>
          <p:cNvSpPr/>
          <p:nvPr/>
        </p:nvSpPr>
        <p:spPr>
          <a:xfrm>
            <a:off x="8484274" y="6068983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ounded Rectangle 60"/>
          <p:cNvSpPr/>
          <p:nvPr/>
        </p:nvSpPr>
        <p:spPr>
          <a:xfrm>
            <a:off x="4949049" y="4814197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62" name="Straight Arrow Connector 61"/>
          <p:cNvCxnSpPr>
            <a:endCxn id="61" idx="0"/>
          </p:cNvCxnSpPr>
          <p:nvPr/>
        </p:nvCxnSpPr>
        <p:spPr>
          <a:xfrm flipH="1">
            <a:off x="5261250" y="4558549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210846" y="5155615"/>
            <a:ext cx="1976102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 Layer</a:t>
            </a:r>
          </a:p>
        </p:txBody>
      </p:sp>
      <p:cxnSp>
        <p:nvCxnSpPr>
          <p:cNvPr id="66" name="Straight Arrow Connector 65"/>
          <p:cNvCxnSpPr>
            <a:stCxn id="65" idx="1"/>
            <a:endCxn id="67" idx="2"/>
          </p:cNvCxnSpPr>
          <p:nvPr/>
        </p:nvCxnSpPr>
        <p:spPr>
          <a:xfrm flipH="1">
            <a:off x="8591717" y="5340281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ight Bracket 66"/>
          <p:cNvSpPr/>
          <p:nvPr/>
        </p:nvSpPr>
        <p:spPr>
          <a:xfrm>
            <a:off x="8484274" y="4695517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6250280" y="930543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3135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cxnSp>
        <p:nvCxnSpPr>
          <p:cNvPr id="5" name="Elbow Connector 4"/>
          <p:cNvCxnSpPr>
            <a:stCxn id="51" idx="2"/>
            <a:endCxn id="34" idx="0"/>
          </p:cNvCxnSpPr>
          <p:nvPr/>
        </p:nvCxnSpPr>
        <p:spPr>
          <a:xfrm rot="5400000" flipH="1" flipV="1">
            <a:off x="2861679" y="2895566"/>
            <a:ext cx="6048776" cy="1249634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6267824" y="2472349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Arrow Connector 36"/>
          <p:cNvCxnSpPr>
            <a:stCxn id="33" idx="2"/>
            <a:endCxn id="35" idx="0"/>
          </p:cNvCxnSpPr>
          <p:nvPr/>
        </p:nvCxnSpPr>
        <p:spPr>
          <a:xfrm>
            <a:off x="6510884" y="2228991"/>
            <a:ext cx="0" cy="24335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3"/>
            <a:endCxn id="75" idx="1"/>
          </p:cNvCxnSpPr>
          <p:nvPr/>
        </p:nvCxnSpPr>
        <p:spPr>
          <a:xfrm>
            <a:off x="6753944" y="2734287"/>
            <a:ext cx="726320" cy="144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01582" y="3254635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-2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1.50.1</a:t>
            </a:r>
          </a:p>
        </p:txBody>
      </p:sp>
      <p:cxnSp>
        <p:nvCxnSpPr>
          <p:cNvPr id="40" name="Straight Arrow Connector 39"/>
          <p:cNvCxnSpPr>
            <a:stCxn id="35" idx="2"/>
            <a:endCxn id="39" idx="0"/>
          </p:cNvCxnSpPr>
          <p:nvPr/>
        </p:nvCxnSpPr>
        <p:spPr>
          <a:xfrm>
            <a:off x="6510884" y="2996224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29992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2580" y="4818019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.04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.91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 flipH="1">
            <a:off x="6504781" y="4562371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63868" y="931306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172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cxnSp>
        <p:nvCxnSpPr>
          <p:cNvPr id="44" name="Elbow Connector 43"/>
          <p:cNvCxnSpPr>
            <a:stCxn id="42" idx="2"/>
            <a:endCxn id="49" idx="0"/>
          </p:cNvCxnSpPr>
          <p:nvPr/>
        </p:nvCxnSpPr>
        <p:spPr>
          <a:xfrm rot="5400000" flipH="1" flipV="1">
            <a:off x="4119943" y="2913793"/>
            <a:ext cx="6048776" cy="1213180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Diamond 74"/>
          <p:cNvSpPr/>
          <p:nvPr/>
        </p:nvSpPr>
        <p:spPr>
          <a:xfrm>
            <a:off x="7480264" y="2472493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6" name="Straight Arrow Connector 75"/>
          <p:cNvCxnSpPr>
            <a:endCxn id="75" idx="0"/>
          </p:cNvCxnSpPr>
          <p:nvPr/>
        </p:nvCxnSpPr>
        <p:spPr>
          <a:xfrm flipH="1">
            <a:off x="7723324" y="2220610"/>
            <a:ext cx="1148" cy="251883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75" idx="3"/>
          </p:cNvCxnSpPr>
          <p:nvPr/>
        </p:nvCxnSpPr>
        <p:spPr>
          <a:xfrm>
            <a:off x="7966384" y="2734431"/>
            <a:ext cx="449368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414022" y="3254779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0.6</a:t>
            </a:r>
            <a:endParaRPr lang="en-IN" dirty="0">
              <a:solidFill>
                <a:srgbClr val="00B0F0"/>
              </a:solidFill>
              <a:latin typeface="Arial Narrow" panose="020B0606020202030204" pitchFamily="34" charset="0"/>
              <a:ea typeface="Cambria" panose="02040503050406030204" pitchFamily="18" charset="0"/>
            </a:endParaRP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2.1</a:t>
            </a:r>
          </a:p>
        </p:txBody>
      </p:sp>
      <p:cxnSp>
        <p:nvCxnSpPr>
          <p:cNvPr id="79" name="Straight Arrow Connector 78"/>
          <p:cNvCxnSpPr>
            <a:stCxn id="75" idx="2"/>
            <a:endCxn id="78" idx="0"/>
          </p:cNvCxnSpPr>
          <p:nvPr/>
        </p:nvCxnSpPr>
        <p:spPr>
          <a:xfrm>
            <a:off x="7723324" y="2996368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405020" y="4818163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.02.03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.01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.94</a:t>
            </a:r>
          </a:p>
        </p:txBody>
      </p:sp>
      <p:cxnSp>
        <p:nvCxnSpPr>
          <p:cNvPr id="81" name="Straight Arrow Connector 80"/>
          <p:cNvCxnSpPr>
            <a:endCxn id="80" idx="0"/>
          </p:cNvCxnSpPr>
          <p:nvPr/>
        </p:nvCxnSpPr>
        <p:spPr>
          <a:xfrm flipH="1">
            <a:off x="7717221" y="4562515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519997" y="6181334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64566" y="6476515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1230847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01" y="47424"/>
            <a:ext cx="4986844" cy="187728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ook Antiqua" panose="02040602050305030304" pitchFamily="18" charset="0"/>
              </a:rPr>
              <a:t>RNN based Character Level Modelling</a:t>
            </a:r>
            <a:br>
              <a:rPr lang="en-IN" sz="28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Phase: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38301" y="927558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6766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2383" y="396024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13" name="Straight Arrow Connector 12"/>
          <p:cNvCxnSpPr>
            <a:stCxn id="12" idx="1"/>
            <a:endCxn id="16" idx="2"/>
          </p:cNvCxnSpPr>
          <p:nvPr/>
        </p:nvCxnSpPr>
        <p:spPr>
          <a:xfrm flipH="1">
            <a:off x="9264355" y="580690"/>
            <a:ext cx="518028" cy="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65714" y="1401776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15" name="Straight Arrow Connector 14"/>
          <p:cNvCxnSpPr>
            <a:stCxn id="14" idx="1"/>
            <a:endCxn id="17" idx="2"/>
          </p:cNvCxnSpPr>
          <p:nvPr/>
        </p:nvCxnSpPr>
        <p:spPr>
          <a:xfrm flipH="1">
            <a:off x="9237365" y="1586442"/>
            <a:ext cx="528349" cy="448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ket 15"/>
          <p:cNvSpPr/>
          <p:nvPr/>
        </p:nvSpPr>
        <p:spPr>
          <a:xfrm>
            <a:off x="9156912" y="317970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Bracket 16"/>
          <p:cNvSpPr/>
          <p:nvPr/>
        </p:nvSpPr>
        <p:spPr>
          <a:xfrm>
            <a:off x="9129922" y="937666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4850481" y="2477258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>
            <a:stCxn id="4" idx="2"/>
            <a:endCxn id="18" idx="0"/>
          </p:cNvCxnSpPr>
          <p:nvPr/>
        </p:nvCxnSpPr>
        <p:spPr>
          <a:xfrm flipH="1">
            <a:off x="5093541" y="2226006"/>
            <a:ext cx="5364" cy="25125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  <a:endCxn id="35" idx="1"/>
          </p:cNvCxnSpPr>
          <p:nvPr/>
        </p:nvCxnSpPr>
        <p:spPr>
          <a:xfrm flipV="1">
            <a:off x="5336601" y="2734287"/>
            <a:ext cx="753671" cy="490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722306" y="2505559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30" name="Straight Arrow Connector 29"/>
          <p:cNvCxnSpPr>
            <a:stCxn id="29" idx="1"/>
            <a:endCxn id="31" idx="2"/>
          </p:cNvCxnSpPr>
          <p:nvPr/>
        </p:nvCxnSpPr>
        <p:spPr>
          <a:xfrm flipH="1">
            <a:off x="9204278" y="2690225"/>
            <a:ext cx="518028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ket 30"/>
          <p:cNvSpPr/>
          <p:nvPr/>
        </p:nvSpPr>
        <p:spPr>
          <a:xfrm>
            <a:off x="9096835" y="2427124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4777501" y="3256781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0.7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1.1</a:t>
            </a:r>
          </a:p>
        </p:txBody>
      </p:sp>
      <p:cxnSp>
        <p:nvCxnSpPr>
          <p:cNvPr id="36" name="Straight Arrow Connector 35"/>
          <p:cNvCxnSpPr>
            <a:stCxn id="18" idx="2"/>
            <a:endCxn id="32" idx="0"/>
          </p:cNvCxnSpPr>
          <p:nvPr/>
        </p:nvCxnSpPr>
        <p:spPr>
          <a:xfrm flipH="1">
            <a:off x="5089702" y="3001133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875949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3407" y="3686712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>
            <a:off x="9204278" y="3871378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9096835" y="3226614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/>
          <p:cNvSpPr txBox="1"/>
          <p:nvPr/>
        </p:nvSpPr>
        <p:spPr>
          <a:xfrm>
            <a:off x="9722306" y="6147418"/>
            <a:ext cx="13354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Target Output</a:t>
            </a:r>
          </a:p>
        </p:txBody>
      </p:sp>
      <p:cxnSp>
        <p:nvCxnSpPr>
          <p:cNvPr id="59" name="Straight Arrow Connector 58"/>
          <p:cNvCxnSpPr>
            <a:stCxn id="58" idx="1"/>
            <a:endCxn id="60" idx="2"/>
          </p:cNvCxnSpPr>
          <p:nvPr/>
        </p:nvCxnSpPr>
        <p:spPr>
          <a:xfrm flipH="1">
            <a:off x="9204278" y="6332084"/>
            <a:ext cx="518028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ket 59"/>
          <p:cNvSpPr/>
          <p:nvPr/>
        </p:nvSpPr>
        <p:spPr>
          <a:xfrm>
            <a:off x="9096835" y="6068983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ounded Rectangle 60"/>
          <p:cNvSpPr/>
          <p:nvPr/>
        </p:nvSpPr>
        <p:spPr>
          <a:xfrm>
            <a:off x="4771497" y="4814197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62" name="Straight Arrow Connector 61"/>
          <p:cNvCxnSpPr>
            <a:endCxn id="61" idx="0"/>
          </p:cNvCxnSpPr>
          <p:nvPr/>
        </p:nvCxnSpPr>
        <p:spPr>
          <a:xfrm flipH="1">
            <a:off x="5083698" y="4558549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823407" y="5155615"/>
            <a:ext cx="146898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 Layer</a:t>
            </a:r>
          </a:p>
        </p:txBody>
      </p:sp>
      <p:cxnSp>
        <p:nvCxnSpPr>
          <p:cNvPr id="66" name="Straight Arrow Connector 65"/>
          <p:cNvCxnSpPr>
            <a:stCxn id="65" idx="1"/>
            <a:endCxn id="67" idx="2"/>
          </p:cNvCxnSpPr>
          <p:nvPr/>
        </p:nvCxnSpPr>
        <p:spPr>
          <a:xfrm flipH="1">
            <a:off x="9204278" y="5340281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ight Bracket 66"/>
          <p:cNvSpPr/>
          <p:nvPr/>
        </p:nvSpPr>
        <p:spPr>
          <a:xfrm>
            <a:off x="9096835" y="4695517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6072728" y="930543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5583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cxnSp>
        <p:nvCxnSpPr>
          <p:cNvPr id="5" name="Elbow Connector 4"/>
          <p:cNvCxnSpPr>
            <a:stCxn id="51" idx="2"/>
            <a:endCxn id="34" idx="0"/>
          </p:cNvCxnSpPr>
          <p:nvPr/>
        </p:nvCxnSpPr>
        <p:spPr>
          <a:xfrm rot="5400000" flipH="1" flipV="1">
            <a:off x="2684127" y="2895566"/>
            <a:ext cx="6048776" cy="1249634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6090272" y="2472349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Arrow Connector 36"/>
          <p:cNvCxnSpPr>
            <a:stCxn id="33" idx="2"/>
            <a:endCxn id="35" idx="0"/>
          </p:cNvCxnSpPr>
          <p:nvPr/>
        </p:nvCxnSpPr>
        <p:spPr>
          <a:xfrm>
            <a:off x="6333332" y="2228991"/>
            <a:ext cx="0" cy="24335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3"/>
            <a:endCxn id="75" idx="1"/>
          </p:cNvCxnSpPr>
          <p:nvPr/>
        </p:nvCxnSpPr>
        <p:spPr>
          <a:xfrm>
            <a:off x="6576392" y="2734287"/>
            <a:ext cx="726320" cy="144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24030" y="3254635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-2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1.50.1</a:t>
            </a:r>
          </a:p>
        </p:txBody>
      </p:sp>
      <p:cxnSp>
        <p:nvCxnSpPr>
          <p:cNvPr id="40" name="Straight Arrow Connector 39"/>
          <p:cNvCxnSpPr>
            <a:stCxn id="35" idx="2"/>
            <a:endCxn id="39" idx="0"/>
          </p:cNvCxnSpPr>
          <p:nvPr/>
        </p:nvCxnSpPr>
        <p:spPr>
          <a:xfrm>
            <a:off x="6333332" y="2996224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52440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15028" y="4818019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.04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.91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 flipH="1">
            <a:off x="6327229" y="4562371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286316" y="931306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5620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cxnSp>
        <p:nvCxnSpPr>
          <p:cNvPr id="44" name="Elbow Connector 43"/>
          <p:cNvCxnSpPr>
            <a:stCxn id="42" idx="2"/>
            <a:endCxn id="49" idx="0"/>
          </p:cNvCxnSpPr>
          <p:nvPr/>
        </p:nvCxnSpPr>
        <p:spPr>
          <a:xfrm rot="5400000" flipH="1" flipV="1">
            <a:off x="3942391" y="2913793"/>
            <a:ext cx="6048776" cy="1213180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Diamond 74"/>
          <p:cNvSpPr/>
          <p:nvPr/>
        </p:nvSpPr>
        <p:spPr>
          <a:xfrm>
            <a:off x="7302712" y="2472493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6" name="Straight Arrow Connector 75"/>
          <p:cNvCxnSpPr>
            <a:endCxn id="75" idx="0"/>
          </p:cNvCxnSpPr>
          <p:nvPr/>
        </p:nvCxnSpPr>
        <p:spPr>
          <a:xfrm flipH="1">
            <a:off x="7545772" y="2220610"/>
            <a:ext cx="1148" cy="251883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75" idx="3"/>
            <a:endCxn id="63" idx="1"/>
          </p:cNvCxnSpPr>
          <p:nvPr/>
        </p:nvCxnSpPr>
        <p:spPr>
          <a:xfrm flipV="1">
            <a:off x="7788832" y="2728454"/>
            <a:ext cx="580648" cy="5977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236470" y="3254779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0.6</a:t>
            </a:r>
            <a:endParaRPr lang="en-IN" dirty="0">
              <a:solidFill>
                <a:srgbClr val="00B0F0"/>
              </a:solidFill>
              <a:latin typeface="Arial Narrow" panose="020B0606020202030204" pitchFamily="34" charset="0"/>
              <a:ea typeface="Cambria" panose="02040503050406030204" pitchFamily="18" charset="0"/>
            </a:endParaRP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2.1</a:t>
            </a:r>
          </a:p>
        </p:txBody>
      </p:sp>
      <p:cxnSp>
        <p:nvCxnSpPr>
          <p:cNvPr id="79" name="Straight Arrow Connector 78"/>
          <p:cNvCxnSpPr>
            <a:stCxn id="75" idx="2"/>
            <a:endCxn id="78" idx="0"/>
          </p:cNvCxnSpPr>
          <p:nvPr/>
        </p:nvCxnSpPr>
        <p:spPr>
          <a:xfrm>
            <a:off x="7545772" y="2996368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227468" y="4818163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.02.03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.01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.94</a:t>
            </a:r>
          </a:p>
        </p:txBody>
      </p:sp>
      <p:cxnSp>
        <p:nvCxnSpPr>
          <p:cNvPr id="81" name="Straight Arrow Connector 80"/>
          <p:cNvCxnSpPr>
            <a:endCxn id="80" idx="0"/>
          </p:cNvCxnSpPr>
          <p:nvPr/>
        </p:nvCxnSpPr>
        <p:spPr>
          <a:xfrm flipH="1">
            <a:off x="7539669" y="4562515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342445" y="6181334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53084" y="925329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0001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2388" y="490018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63" name="Diamond 62"/>
          <p:cNvSpPr/>
          <p:nvPr/>
        </p:nvSpPr>
        <p:spPr>
          <a:xfrm>
            <a:off x="8369480" y="2466516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4" name="Straight Arrow Connector 63"/>
          <p:cNvCxnSpPr>
            <a:endCxn id="63" idx="0"/>
          </p:cNvCxnSpPr>
          <p:nvPr/>
        </p:nvCxnSpPr>
        <p:spPr>
          <a:xfrm flipH="1">
            <a:off x="8612540" y="2214633"/>
            <a:ext cx="1148" cy="251883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303238" y="3248802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2.6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1.7</a:t>
            </a:r>
          </a:p>
        </p:txBody>
      </p:sp>
      <p:cxnSp>
        <p:nvCxnSpPr>
          <p:cNvPr id="69" name="Straight Arrow Connector 68"/>
          <p:cNvCxnSpPr>
            <a:stCxn id="63" idx="2"/>
            <a:endCxn id="68" idx="0"/>
          </p:cNvCxnSpPr>
          <p:nvPr/>
        </p:nvCxnSpPr>
        <p:spPr>
          <a:xfrm>
            <a:off x="8612540" y="2990391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8294236" y="4812186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.93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.04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.01.02</a:t>
            </a:r>
            <a:endParaRPr lang="en-IN" dirty="0">
              <a:solidFill>
                <a:srgbClr val="FF0000"/>
              </a:solidFill>
              <a:latin typeface="Arial Narrow" panose="020B0606020202030204" pitchFamily="34" charset="0"/>
              <a:ea typeface="Cambria" panose="02040503050406030204" pitchFamily="18" charset="0"/>
            </a:endParaRPr>
          </a:p>
        </p:txBody>
      </p:sp>
      <p:cxnSp>
        <p:nvCxnSpPr>
          <p:cNvPr id="71" name="Straight Arrow Connector 70"/>
          <p:cNvCxnSpPr>
            <a:endCxn id="70" idx="0"/>
          </p:cNvCxnSpPr>
          <p:nvPr/>
        </p:nvCxnSpPr>
        <p:spPr>
          <a:xfrm flipH="1">
            <a:off x="8606437" y="4556538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409213" y="6175357"/>
            <a:ext cx="37221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“r”</a:t>
            </a:r>
          </a:p>
        </p:txBody>
      </p:sp>
      <p:cxnSp>
        <p:nvCxnSpPr>
          <p:cNvPr id="73" name="Elbow Connector 72"/>
          <p:cNvCxnSpPr>
            <a:stCxn id="82" idx="2"/>
            <a:endCxn id="54" idx="0"/>
          </p:cNvCxnSpPr>
          <p:nvPr/>
        </p:nvCxnSpPr>
        <p:spPr>
          <a:xfrm rot="5400000" flipH="1" flipV="1">
            <a:off x="5064841" y="2975370"/>
            <a:ext cx="6060648" cy="1089943"/>
          </a:xfrm>
          <a:prstGeom prst="bentConnector5">
            <a:avLst>
              <a:gd name="adj1" fmla="val -3772"/>
              <a:gd name="adj2" fmla="val 50000"/>
              <a:gd name="adj3" fmla="val 10377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64566" y="6476515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407154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00" y="47424"/>
            <a:ext cx="5392619" cy="187728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Book Antiqua" panose="02040602050305030304" pitchFamily="18" charset="0"/>
              </a:rPr>
              <a:t>RNN based Character Level Modelling</a:t>
            </a:r>
            <a:br>
              <a:rPr lang="en-IN" sz="2800" dirty="0">
                <a:solidFill>
                  <a:srgbClr val="C00000"/>
                </a:solidFill>
                <a:latin typeface="Book Antiqua" panose="0204060205030503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Phase:</a:t>
            </a:r>
            <a:endParaRPr lang="en-IN" sz="32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06472" y="927558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4937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50554" y="396024"/>
            <a:ext cx="15872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Characters</a:t>
            </a:r>
          </a:p>
        </p:txBody>
      </p:sp>
      <p:cxnSp>
        <p:nvCxnSpPr>
          <p:cNvPr id="13" name="Straight Arrow Connector 12"/>
          <p:cNvCxnSpPr>
            <a:stCxn id="12" idx="1"/>
            <a:endCxn id="16" idx="2"/>
          </p:cNvCxnSpPr>
          <p:nvPr/>
        </p:nvCxnSpPr>
        <p:spPr>
          <a:xfrm flipH="1">
            <a:off x="9832526" y="580690"/>
            <a:ext cx="518028" cy="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358630" y="1401776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cxnSp>
        <p:nvCxnSpPr>
          <p:cNvPr id="15" name="Straight Arrow Connector 14"/>
          <p:cNvCxnSpPr>
            <a:stCxn id="14" idx="1"/>
            <a:endCxn id="17" idx="2"/>
          </p:cNvCxnSpPr>
          <p:nvPr/>
        </p:nvCxnSpPr>
        <p:spPr>
          <a:xfrm flipH="1">
            <a:off x="9805536" y="1586442"/>
            <a:ext cx="553094" cy="448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Bracket 15"/>
          <p:cNvSpPr/>
          <p:nvPr/>
        </p:nvSpPr>
        <p:spPr>
          <a:xfrm>
            <a:off x="9725083" y="317970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ight Bracket 16"/>
          <p:cNvSpPr/>
          <p:nvPr/>
        </p:nvSpPr>
        <p:spPr>
          <a:xfrm>
            <a:off x="9698093" y="937666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Diamond 17"/>
          <p:cNvSpPr/>
          <p:nvPr/>
        </p:nvSpPr>
        <p:spPr>
          <a:xfrm>
            <a:off x="5418652" y="2477258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>
            <a:stCxn id="4" idx="2"/>
            <a:endCxn id="18" idx="0"/>
          </p:cNvCxnSpPr>
          <p:nvPr/>
        </p:nvCxnSpPr>
        <p:spPr>
          <a:xfrm flipH="1">
            <a:off x="5661712" y="2226006"/>
            <a:ext cx="5364" cy="251252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8" idx="3"/>
            <a:endCxn id="35" idx="1"/>
          </p:cNvCxnSpPr>
          <p:nvPr/>
        </p:nvCxnSpPr>
        <p:spPr>
          <a:xfrm flipV="1">
            <a:off x="5904772" y="2734287"/>
            <a:ext cx="753671" cy="4909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90477" y="2509158"/>
            <a:ext cx="1313180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Hidden Layer</a:t>
            </a:r>
          </a:p>
        </p:txBody>
      </p:sp>
      <p:cxnSp>
        <p:nvCxnSpPr>
          <p:cNvPr id="30" name="Straight Arrow Connector 29"/>
          <p:cNvCxnSpPr>
            <a:stCxn id="29" idx="1"/>
            <a:endCxn id="31" idx="2"/>
          </p:cNvCxnSpPr>
          <p:nvPr/>
        </p:nvCxnSpPr>
        <p:spPr>
          <a:xfrm flipH="1">
            <a:off x="9772449" y="2693824"/>
            <a:ext cx="518028" cy="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ket 30"/>
          <p:cNvSpPr/>
          <p:nvPr/>
        </p:nvSpPr>
        <p:spPr>
          <a:xfrm>
            <a:off x="9665006" y="2427124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ounded Rectangle 31"/>
          <p:cNvSpPr/>
          <p:nvPr/>
        </p:nvSpPr>
        <p:spPr>
          <a:xfrm>
            <a:off x="5345672" y="3256781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0.7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0.3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1.1</a:t>
            </a:r>
          </a:p>
        </p:txBody>
      </p:sp>
      <p:cxnSp>
        <p:nvCxnSpPr>
          <p:cNvPr id="36" name="Straight Arrow Connector 35"/>
          <p:cNvCxnSpPr>
            <a:stCxn id="18" idx="2"/>
            <a:endCxn id="32" idx="0"/>
          </p:cNvCxnSpPr>
          <p:nvPr/>
        </p:nvCxnSpPr>
        <p:spPr>
          <a:xfrm flipH="1">
            <a:off x="5657873" y="3001133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44120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1578" y="3686712"/>
            <a:ext cx="1335629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cxnSp>
        <p:nvCxnSpPr>
          <p:cNvPr id="56" name="Straight Arrow Connector 55"/>
          <p:cNvCxnSpPr>
            <a:stCxn id="55" idx="1"/>
            <a:endCxn id="57" idx="2"/>
          </p:cNvCxnSpPr>
          <p:nvPr/>
        </p:nvCxnSpPr>
        <p:spPr>
          <a:xfrm flipH="1">
            <a:off x="9772449" y="3871378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Bracket 56"/>
          <p:cNvSpPr/>
          <p:nvPr/>
        </p:nvSpPr>
        <p:spPr>
          <a:xfrm>
            <a:off x="9665006" y="3226614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TextBox 57"/>
          <p:cNvSpPr txBox="1"/>
          <p:nvPr/>
        </p:nvSpPr>
        <p:spPr>
          <a:xfrm>
            <a:off x="10290477" y="6147418"/>
            <a:ext cx="1335494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Target Output</a:t>
            </a:r>
          </a:p>
        </p:txBody>
      </p:sp>
      <p:cxnSp>
        <p:nvCxnSpPr>
          <p:cNvPr id="59" name="Straight Arrow Connector 58"/>
          <p:cNvCxnSpPr>
            <a:stCxn id="58" idx="1"/>
            <a:endCxn id="60" idx="2"/>
          </p:cNvCxnSpPr>
          <p:nvPr/>
        </p:nvCxnSpPr>
        <p:spPr>
          <a:xfrm flipH="1">
            <a:off x="9772449" y="6332084"/>
            <a:ext cx="518028" cy="3599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ight Bracket 59"/>
          <p:cNvSpPr/>
          <p:nvPr/>
        </p:nvSpPr>
        <p:spPr>
          <a:xfrm>
            <a:off x="9665006" y="6068983"/>
            <a:ext cx="107443" cy="533400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ounded Rectangle 60"/>
          <p:cNvSpPr/>
          <p:nvPr/>
        </p:nvSpPr>
        <p:spPr>
          <a:xfrm>
            <a:off x="5339668" y="4814197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62" name="Straight Arrow Connector 61"/>
          <p:cNvCxnSpPr>
            <a:endCxn id="61" idx="0"/>
          </p:cNvCxnSpPr>
          <p:nvPr/>
        </p:nvCxnSpPr>
        <p:spPr>
          <a:xfrm flipH="1">
            <a:off x="5651869" y="4558549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391578" y="5155615"/>
            <a:ext cx="1397968" cy="369332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Softmax</a:t>
            </a:r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 Layer</a:t>
            </a:r>
          </a:p>
        </p:txBody>
      </p:sp>
      <p:cxnSp>
        <p:nvCxnSpPr>
          <p:cNvPr id="66" name="Straight Arrow Connector 65"/>
          <p:cNvCxnSpPr>
            <a:stCxn id="65" idx="1"/>
            <a:endCxn id="67" idx="2"/>
          </p:cNvCxnSpPr>
          <p:nvPr/>
        </p:nvCxnSpPr>
        <p:spPr>
          <a:xfrm flipH="1">
            <a:off x="9772449" y="5340281"/>
            <a:ext cx="619129" cy="446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ight Bracket 66"/>
          <p:cNvSpPr/>
          <p:nvPr/>
        </p:nvSpPr>
        <p:spPr>
          <a:xfrm>
            <a:off x="9665006" y="4695517"/>
            <a:ext cx="107443" cy="1298447"/>
          </a:xfrm>
          <a:prstGeom prst="rightBracke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ounded Rectangle 32"/>
          <p:cNvSpPr/>
          <p:nvPr/>
        </p:nvSpPr>
        <p:spPr>
          <a:xfrm>
            <a:off x="6640899" y="930543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754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“a”</a:t>
            </a:r>
          </a:p>
        </p:txBody>
      </p:sp>
      <p:cxnSp>
        <p:nvCxnSpPr>
          <p:cNvPr id="5" name="Elbow Connector 4"/>
          <p:cNvCxnSpPr>
            <a:stCxn id="51" idx="2"/>
            <a:endCxn id="34" idx="0"/>
          </p:cNvCxnSpPr>
          <p:nvPr/>
        </p:nvCxnSpPr>
        <p:spPr>
          <a:xfrm rot="5400000" flipH="1" flipV="1">
            <a:off x="3252298" y="2895566"/>
            <a:ext cx="6048776" cy="1249634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mond 34"/>
          <p:cNvSpPr/>
          <p:nvPr/>
        </p:nvSpPr>
        <p:spPr>
          <a:xfrm>
            <a:off x="6658443" y="2472349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Straight Arrow Connector 36"/>
          <p:cNvCxnSpPr>
            <a:stCxn id="33" idx="2"/>
            <a:endCxn id="35" idx="0"/>
          </p:cNvCxnSpPr>
          <p:nvPr/>
        </p:nvCxnSpPr>
        <p:spPr>
          <a:xfrm>
            <a:off x="6901503" y="2228991"/>
            <a:ext cx="0" cy="24335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3"/>
            <a:endCxn id="75" idx="1"/>
          </p:cNvCxnSpPr>
          <p:nvPr/>
        </p:nvCxnSpPr>
        <p:spPr>
          <a:xfrm>
            <a:off x="7144563" y="2734287"/>
            <a:ext cx="726320" cy="144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592201" y="3254635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-2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1.50.1</a:t>
            </a:r>
          </a:p>
        </p:txBody>
      </p:sp>
      <p:cxnSp>
        <p:nvCxnSpPr>
          <p:cNvPr id="40" name="Straight Arrow Connector 39"/>
          <p:cNvCxnSpPr>
            <a:stCxn id="35" idx="2"/>
            <a:endCxn id="39" idx="0"/>
          </p:cNvCxnSpPr>
          <p:nvPr/>
        </p:nvCxnSpPr>
        <p:spPr>
          <a:xfrm>
            <a:off x="6901503" y="2996224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20611" y="6175439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199" y="4818019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.04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.91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.03</a:t>
            </a:r>
          </a:p>
        </p:txBody>
      </p:sp>
      <p:cxnSp>
        <p:nvCxnSpPr>
          <p:cNvPr id="47" name="Straight Arrow Connector 46"/>
          <p:cNvCxnSpPr>
            <a:endCxn id="46" idx="0"/>
          </p:cNvCxnSpPr>
          <p:nvPr/>
        </p:nvCxnSpPr>
        <p:spPr>
          <a:xfrm flipH="1">
            <a:off x="6895400" y="4562371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854487" y="931306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3791" y="495995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“g”</a:t>
            </a:r>
          </a:p>
        </p:txBody>
      </p:sp>
      <p:cxnSp>
        <p:nvCxnSpPr>
          <p:cNvPr id="44" name="Elbow Connector 43"/>
          <p:cNvCxnSpPr>
            <a:stCxn id="42" idx="2"/>
            <a:endCxn id="49" idx="0"/>
          </p:cNvCxnSpPr>
          <p:nvPr/>
        </p:nvCxnSpPr>
        <p:spPr>
          <a:xfrm rot="5400000" flipH="1" flipV="1">
            <a:off x="4510562" y="2913793"/>
            <a:ext cx="6048776" cy="1213180"/>
          </a:xfrm>
          <a:prstGeom prst="bentConnector5">
            <a:avLst>
              <a:gd name="adj1" fmla="val -3779"/>
              <a:gd name="adj2" fmla="val 50000"/>
              <a:gd name="adj3" fmla="val 10377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Diamond 74"/>
          <p:cNvSpPr/>
          <p:nvPr/>
        </p:nvSpPr>
        <p:spPr>
          <a:xfrm>
            <a:off x="7870883" y="2472493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6" name="Straight Arrow Connector 75"/>
          <p:cNvCxnSpPr>
            <a:endCxn id="75" idx="0"/>
          </p:cNvCxnSpPr>
          <p:nvPr/>
        </p:nvCxnSpPr>
        <p:spPr>
          <a:xfrm flipH="1">
            <a:off x="8113943" y="2220610"/>
            <a:ext cx="1148" cy="251883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75" idx="3"/>
            <a:endCxn id="63" idx="1"/>
          </p:cNvCxnSpPr>
          <p:nvPr/>
        </p:nvCxnSpPr>
        <p:spPr>
          <a:xfrm flipV="1">
            <a:off x="8357003" y="2728454"/>
            <a:ext cx="580648" cy="5977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804641" y="3254779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1.5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0.6</a:t>
            </a:r>
            <a:endParaRPr lang="en-IN" dirty="0">
              <a:solidFill>
                <a:srgbClr val="00B0F0"/>
              </a:solidFill>
              <a:latin typeface="Arial Narrow" panose="020B0606020202030204" pitchFamily="34" charset="0"/>
              <a:ea typeface="Cambria" panose="02040503050406030204" pitchFamily="18" charset="0"/>
            </a:endParaRPr>
          </a:p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2.1</a:t>
            </a:r>
          </a:p>
        </p:txBody>
      </p:sp>
      <p:cxnSp>
        <p:nvCxnSpPr>
          <p:cNvPr id="79" name="Straight Arrow Connector 78"/>
          <p:cNvCxnSpPr>
            <a:stCxn id="75" idx="2"/>
            <a:endCxn id="78" idx="0"/>
          </p:cNvCxnSpPr>
          <p:nvPr/>
        </p:nvCxnSpPr>
        <p:spPr>
          <a:xfrm>
            <a:off x="8113943" y="2996368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795639" y="4818163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.02.03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.01</a:t>
            </a:r>
          </a:p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.94</a:t>
            </a:r>
          </a:p>
        </p:txBody>
      </p:sp>
      <p:cxnSp>
        <p:nvCxnSpPr>
          <p:cNvPr id="81" name="Straight Arrow Connector 80"/>
          <p:cNvCxnSpPr>
            <a:endCxn id="80" idx="0"/>
          </p:cNvCxnSpPr>
          <p:nvPr/>
        </p:nvCxnSpPr>
        <p:spPr>
          <a:xfrm flipH="1">
            <a:off x="8107840" y="4562515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910616" y="6181334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21255" y="925329"/>
            <a:ext cx="521208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0001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0559" y="490018"/>
            <a:ext cx="41549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“e”</a:t>
            </a:r>
          </a:p>
        </p:txBody>
      </p:sp>
      <p:sp>
        <p:nvSpPr>
          <p:cNvPr id="63" name="Diamond 62"/>
          <p:cNvSpPr/>
          <p:nvPr/>
        </p:nvSpPr>
        <p:spPr>
          <a:xfrm>
            <a:off x="8937651" y="2466516"/>
            <a:ext cx="486120" cy="523875"/>
          </a:xfrm>
          <a:prstGeom prst="diamond">
            <a:avLst/>
          </a:prstGeom>
          <a:solidFill>
            <a:schemeClr val="accent6">
              <a:lumMod val="75000"/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4" name="Straight Arrow Connector 63"/>
          <p:cNvCxnSpPr>
            <a:endCxn id="63" idx="0"/>
          </p:cNvCxnSpPr>
          <p:nvPr/>
        </p:nvCxnSpPr>
        <p:spPr>
          <a:xfrm flipH="1">
            <a:off x="9180711" y="2214633"/>
            <a:ext cx="1148" cy="251883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871409" y="3248802"/>
            <a:ext cx="619421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B0F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2.6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0.8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1.0</a:t>
            </a:r>
          </a:p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1.7</a:t>
            </a:r>
          </a:p>
        </p:txBody>
      </p:sp>
      <p:cxnSp>
        <p:nvCxnSpPr>
          <p:cNvPr id="69" name="Straight Arrow Connector 68"/>
          <p:cNvCxnSpPr>
            <a:stCxn id="63" idx="2"/>
            <a:endCxn id="68" idx="0"/>
          </p:cNvCxnSpPr>
          <p:nvPr/>
        </p:nvCxnSpPr>
        <p:spPr>
          <a:xfrm>
            <a:off x="9180711" y="2990391"/>
            <a:ext cx="409" cy="258411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8862407" y="4812186"/>
            <a:ext cx="624402" cy="1298448"/>
          </a:xfrm>
          <a:prstGeom prst="roundRect">
            <a:avLst>
              <a:gd name="adj" fmla="val 46492"/>
            </a:avLst>
          </a:prstGeom>
          <a:solidFill>
            <a:schemeClr val="accent2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.93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.04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Narrow" panose="020B0606020202030204" pitchFamily="34" charset="0"/>
                <a:ea typeface="Cambria" panose="02040503050406030204" pitchFamily="18" charset="0"/>
              </a:rPr>
              <a:t>.01.02</a:t>
            </a:r>
            <a:endParaRPr lang="en-IN" dirty="0">
              <a:solidFill>
                <a:srgbClr val="FF0000"/>
              </a:solidFill>
              <a:latin typeface="Arial Narrow" panose="020B0606020202030204" pitchFamily="34" charset="0"/>
              <a:ea typeface="Cambria" panose="02040503050406030204" pitchFamily="18" charset="0"/>
            </a:endParaRPr>
          </a:p>
        </p:txBody>
      </p:sp>
      <p:cxnSp>
        <p:nvCxnSpPr>
          <p:cNvPr id="71" name="Straight Arrow Connector 70"/>
          <p:cNvCxnSpPr>
            <a:endCxn id="70" idx="0"/>
          </p:cNvCxnSpPr>
          <p:nvPr/>
        </p:nvCxnSpPr>
        <p:spPr>
          <a:xfrm flipH="1">
            <a:off x="9174608" y="4556538"/>
            <a:ext cx="3839" cy="255648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977384" y="6175357"/>
            <a:ext cx="372218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“r”</a:t>
            </a:r>
          </a:p>
        </p:txBody>
      </p:sp>
      <p:cxnSp>
        <p:nvCxnSpPr>
          <p:cNvPr id="73" name="Elbow Connector 72"/>
          <p:cNvCxnSpPr>
            <a:stCxn id="82" idx="2"/>
            <a:endCxn id="54" idx="0"/>
          </p:cNvCxnSpPr>
          <p:nvPr/>
        </p:nvCxnSpPr>
        <p:spPr>
          <a:xfrm rot="5400000" flipH="1" flipV="1">
            <a:off x="5633012" y="2975370"/>
            <a:ext cx="6060648" cy="1089943"/>
          </a:xfrm>
          <a:prstGeom prst="bentConnector5">
            <a:avLst>
              <a:gd name="adj1" fmla="val -3772"/>
              <a:gd name="adj2" fmla="val 50000"/>
              <a:gd name="adj3" fmla="val 103772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C61E6ACD-DD32-4C59-A6C8-53A6ED249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43" y="1703719"/>
            <a:ext cx="4612761" cy="363656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Arial Narrow" panose="020B0606020202030204" pitchFamily="34" charset="0"/>
              </a:rPr>
              <a:t>Character embedding is performed using one-hot encoding. </a:t>
            </a:r>
          </a:p>
          <a:p>
            <a:pPr algn="just">
              <a:lnSpc>
                <a:spcPct val="100000"/>
              </a:lnSpc>
            </a:pPr>
            <a:endParaRPr lang="en-US" sz="2400" dirty="0">
              <a:latin typeface="Arial Narrow" panose="020B0606020202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Arial Narrow" panose="020B0606020202030204" pitchFamily="34" charset="0"/>
              </a:rPr>
              <a:t>However, different embedding methods can also be used.</a:t>
            </a:r>
            <a:endParaRPr lang="en-IN" sz="24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64566" y="6476515"/>
            <a:ext cx="5019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</p:spTree>
    <p:extLst>
      <p:ext uri="{BB962C8B-B14F-4D97-AF65-F5344CB8AC3E}">
        <p14:creationId xmlns:p14="http://schemas.microsoft.com/office/powerpoint/2010/main" val="3632120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05" y="356078"/>
            <a:ext cx="10515600" cy="646929"/>
          </a:xfrm>
          <a:noFill/>
        </p:spPr>
        <p:txBody>
          <a:bodyPr>
            <a:normAutofit/>
          </a:bodyPr>
          <a:lstStyle/>
          <a:p>
            <a:r>
              <a:rPr lang="en-IN" sz="3600" dirty="0">
                <a:latin typeface="Book Antiqua" panose="02040602050305030304" pitchFamily="18" charset="0"/>
              </a:rPr>
              <a:t>Deep RNN Models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amond 3"/>
              <p:cNvSpPr/>
              <p:nvPr/>
            </p:nvSpPr>
            <p:spPr>
              <a:xfrm>
                <a:off x="2388093" y="2299317"/>
                <a:ext cx="861134" cy="772357"/>
              </a:xfrm>
              <a:prstGeom prst="diamond">
                <a:avLst/>
              </a:prstGeom>
              <a:solidFill>
                <a:schemeClr val="accent6">
                  <a:lumMod val="75000"/>
                  <a:alpha val="7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Diamon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93" y="2299317"/>
                <a:ext cx="861134" cy="772357"/>
              </a:xfrm>
              <a:prstGeom prst="diamon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2388093" y="142717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93" y="142717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1173332" y="2388093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332" y="2388093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3696069" y="2388093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069" y="2388093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2388093" y="341938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rgbClr val="FFFF00">
                  <a:alpha val="41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93" y="341938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iamond 9"/>
              <p:cNvSpPr/>
              <p:nvPr/>
            </p:nvSpPr>
            <p:spPr>
              <a:xfrm>
                <a:off x="5004045" y="2299317"/>
                <a:ext cx="861134" cy="772357"/>
              </a:xfrm>
              <a:prstGeom prst="diamond">
                <a:avLst/>
              </a:prstGeom>
              <a:solidFill>
                <a:schemeClr val="accent6">
                  <a:lumMod val="75000"/>
                  <a:alpha val="7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Diamond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5" y="2299317"/>
                <a:ext cx="861134" cy="772357"/>
              </a:xfrm>
              <a:prstGeom prst="diamond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5004045" y="142717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5" y="142717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6312021" y="2388093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1" y="2388093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5004045" y="341938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rgbClr val="FFFF00">
                  <a:alpha val="41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5" y="341938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Diamond 13"/>
              <p:cNvSpPr/>
              <p:nvPr/>
            </p:nvSpPr>
            <p:spPr>
              <a:xfrm>
                <a:off x="7619997" y="2299317"/>
                <a:ext cx="861134" cy="772357"/>
              </a:xfrm>
              <a:prstGeom prst="diamond">
                <a:avLst/>
              </a:prstGeom>
              <a:solidFill>
                <a:schemeClr val="accent6">
                  <a:lumMod val="75000"/>
                  <a:alpha val="7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Diamond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7" y="2299317"/>
                <a:ext cx="861134" cy="772357"/>
              </a:xfrm>
              <a:prstGeom prst="diamond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/>
              <p:cNvSpPr/>
              <p:nvPr/>
            </p:nvSpPr>
            <p:spPr>
              <a:xfrm>
                <a:off x="7619997" y="142717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50000"/>
                  <a:alpha val="5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7" y="142717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8927973" y="2388093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  <a:alpha val="5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973" y="2388093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/>
              <p:cNvSpPr/>
              <p:nvPr/>
            </p:nvSpPr>
            <p:spPr>
              <a:xfrm>
                <a:off x="7619997" y="341938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rgbClr val="FFFF00">
                  <a:alpha val="41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7" y="341938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Diamond 17"/>
              <p:cNvSpPr/>
              <p:nvPr/>
            </p:nvSpPr>
            <p:spPr>
              <a:xfrm>
                <a:off x="2388093" y="4361898"/>
                <a:ext cx="861134" cy="772357"/>
              </a:xfrm>
              <a:prstGeom prst="diamond">
                <a:avLst/>
              </a:prstGeom>
              <a:solidFill>
                <a:srgbClr val="7030A0">
                  <a:alpha val="3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Diamond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93" y="4361898"/>
                <a:ext cx="861134" cy="772357"/>
              </a:xfrm>
              <a:prstGeom prst="diamond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/>
              <p:cNvSpPr/>
              <p:nvPr/>
            </p:nvSpPr>
            <p:spPr>
              <a:xfrm>
                <a:off x="1173332" y="445067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  <a:alpha val="4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332" y="445067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/>
              <p:cNvSpPr/>
              <p:nvPr/>
            </p:nvSpPr>
            <p:spPr>
              <a:xfrm>
                <a:off x="3696069" y="445067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  <a:alpha val="4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ounded 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069" y="445067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/>
              <p:cNvSpPr/>
              <p:nvPr/>
            </p:nvSpPr>
            <p:spPr>
              <a:xfrm>
                <a:off x="2388093" y="5481965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rgbClr val="FFC000">
                  <a:alpha val="56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ounded 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93" y="5481965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iamond 21"/>
              <p:cNvSpPr/>
              <p:nvPr/>
            </p:nvSpPr>
            <p:spPr>
              <a:xfrm>
                <a:off x="5004045" y="4361898"/>
                <a:ext cx="861134" cy="772357"/>
              </a:xfrm>
              <a:prstGeom prst="diamond">
                <a:avLst/>
              </a:prstGeom>
              <a:solidFill>
                <a:srgbClr val="7030A0">
                  <a:alpha val="3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Diamond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5" y="4361898"/>
                <a:ext cx="861134" cy="772357"/>
              </a:xfrm>
              <a:prstGeom prst="diamond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/>
              <p:cNvSpPr/>
              <p:nvPr/>
            </p:nvSpPr>
            <p:spPr>
              <a:xfrm>
                <a:off x="6312021" y="445067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  <a:alpha val="4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ounded 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1" y="445067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/>
              <p:cNvSpPr/>
              <p:nvPr/>
            </p:nvSpPr>
            <p:spPr>
              <a:xfrm>
                <a:off x="5004045" y="5481965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rgbClr val="FFC000">
                  <a:alpha val="56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5" y="5481965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Diamond 24"/>
              <p:cNvSpPr/>
              <p:nvPr/>
            </p:nvSpPr>
            <p:spPr>
              <a:xfrm>
                <a:off x="7619997" y="4361898"/>
                <a:ext cx="861134" cy="772357"/>
              </a:xfrm>
              <a:prstGeom prst="diamond">
                <a:avLst/>
              </a:prstGeom>
              <a:solidFill>
                <a:srgbClr val="7030A0">
                  <a:alpha val="34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Diamond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7" y="4361898"/>
                <a:ext cx="861134" cy="772357"/>
              </a:xfrm>
              <a:prstGeom prst="diamond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25"/>
              <p:cNvSpPr/>
              <p:nvPr/>
            </p:nvSpPr>
            <p:spPr>
              <a:xfrm>
                <a:off x="8927973" y="4450674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  <a:alpha val="42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ounded 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973" y="4450674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26"/>
              <p:cNvSpPr/>
              <p:nvPr/>
            </p:nvSpPr>
            <p:spPr>
              <a:xfrm>
                <a:off x="7619997" y="5481965"/>
                <a:ext cx="861134" cy="594804"/>
              </a:xfrm>
              <a:prstGeom prst="roundRect">
                <a:avLst>
                  <a:gd name="adj" fmla="val 50000"/>
                </a:avLst>
              </a:prstGeom>
              <a:solidFill>
                <a:srgbClr val="FFC000">
                  <a:alpha val="56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ounded 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7" y="5481965"/>
                <a:ext cx="861134" cy="594804"/>
              </a:xfrm>
              <a:prstGeom prst="roundRect">
                <a:avLst>
                  <a:gd name="adj" fmla="val 50000"/>
                </a:avLst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9985248" y="2631395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9" name="Rectangle 28"/>
          <p:cNvSpPr/>
          <p:nvPr/>
        </p:nvSpPr>
        <p:spPr>
          <a:xfrm>
            <a:off x="10190229" y="2631395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30" name="Rectangle 29"/>
          <p:cNvSpPr/>
          <p:nvPr/>
        </p:nvSpPr>
        <p:spPr>
          <a:xfrm>
            <a:off x="10395210" y="2631395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31" name="Rectangle 30"/>
          <p:cNvSpPr/>
          <p:nvPr/>
        </p:nvSpPr>
        <p:spPr>
          <a:xfrm>
            <a:off x="9985248" y="4674508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32" name="Rectangle 31"/>
          <p:cNvSpPr/>
          <p:nvPr/>
        </p:nvSpPr>
        <p:spPr>
          <a:xfrm>
            <a:off x="10190229" y="4674508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33" name="Rectangle 32"/>
          <p:cNvSpPr/>
          <p:nvPr/>
        </p:nvSpPr>
        <p:spPr>
          <a:xfrm>
            <a:off x="10395210" y="4674508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cxnSp>
        <p:nvCxnSpPr>
          <p:cNvPr id="36" name="Straight Arrow Connector 35"/>
          <p:cNvCxnSpPr>
            <a:stCxn id="21" idx="0"/>
            <a:endCxn id="18" idx="2"/>
          </p:cNvCxnSpPr>
          <p:nvPr/>
        </p:nvCxnSpPr>
        <p:spPr>
          <a:xfrm flipV="1">
            <a:off x="2818660" y="5134255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" idx="0"/>
            <a:endCxn id="6" idx="2"/>
          </p:cNvCxnSpPr>
          <p:nvPr/>
        </p:nvCxnSpPr>
        <p:spPr>
          <a:xfrm flipV="1">
            <a:off x="2818660" y="2021978"/>
            <a:ext cx="0" cy="277339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8" idx="0"/>
            <a:endCxn id="9" idx="2"/>
          </p:cNvCxnSpPr>
          <p:nvPr/>
        </p:nvCxnSpPr>
        <p:spPr>
          <a:xfrm flipV="1">
            <a:off x="2818660" y="4014188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9" idx="0"/>
            <a:endCxn id="4" idx="2"/>
          </p:cNvCxnSpPr>
          <p:nvPr/>
        </p:nvCxnSpPr>
        <p:spPr>
          <a:xfrm flipV="1">
            <a:off x="2818660" y="3071674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4" idx="0"/>
            <a:endCxn id="22" idx="2"/>
          </p:cNvCxnSpPr>
          <p:nvPr/>
        </p:nvCxnSpPr>
        <p:spPr>
          <a:xfrm flipV="1">
            <a:off x="5434612" y="5134255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2" idx="0"/>
          </p:cNvCxnSpPr>
          <p:nvPr/>
        </p:nvCxnSpPr>
        <p:spPr>
          <a:xfrm flipV="1">
            <a:off x="5434612" y="4014188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3" idx="0"/>
            <a:endCxn id="10" idx="2"/>
          </p:cNvCxnSpPr>
          <p:nvPr/>
        </p:nvCxnSpPr>
        <p:spPr>
          <a:xfrm flipV="1">
            <a:off x="5434612" y="3071674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10" idx="0"/>
            <a:endCxn id="11" idx="2"/>
          </p:cNvCxnSpPr>
          <p:nvPr/>
        </p:nvCxnSpPr>
        <p:spPr>
          <a:xfrm flipV="1">
            <a:off x="5434612" y="2021978"/>
            <a:ext cx="0" cy="277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7" idx="0"/>
            <a:endCxn id="25" idx="2"/>
          </p:cNvCxnSpPr>
          <p:nvPr/>
        </p:nvCxnSpPr>
        <p:spPr>
          <a:xfrm flipV="1">
            <a:off x="8050564" y="5134255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5" idx="0"/>
            <a:endCxn id="17" idx="2"/>
          </p:cNvCxnSpPr>
          <p:nvPr/>
        </p:nvCxnSpPr>
        <p:spPr>
          <a:xfrm flipV="1">
            <a:off x="8050564" y="4014188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17" idx="0"/>
            <a:endCxn id="14" idx="2"/>
          </p:cNvCxnSpPr>
          <p:nvPr/>
        </p:nvCxnSpPr>
        <p:spPr>
          <a:xfrm flipV="1">
            <a:off x="8050564" y="3071674"/>
            <a:ext cx="0" cy="347710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14" idx="0"/>
            <a:endCxn id="15" idx="2"/>
          </p:cNvCxnSpPr>
          <p:nvPr/>
        </p:nvCxnSpPr>
        <p:spPr>
          <a:xfrm flipV="1">
            <a:off x="8050564" y="2021978"/>
            <a:ext cx="0" cy="277339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7" idx="3"/>
            <a:endCxn id="4" idx="1"/>
          </p:cNvCxnSpPr>
          <p:nvPr/>
        </p:nvCxnSpPr>
        <p:spPr>
          <a:xfrm>
            <a:off x="2034466" y="2685495"/>
            <a:ext cx="353627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" idx="3"/>
            <a:endCxn id="8" idx="1"/>
          </p:cNvCxnSpPr>
          <p:nvPr/>
        </p:nvCxnSpPr>
        <p:spPr>
          <a:xfrm flipV="1">
            <a:off x="3249227" y="2685495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8" idx="3"/>
            <a:endCxn id="10" idx="1"/>
          </p:cNvCxnSpPr>
          <p:nvPr/>
        </p:nvCxnSpPr>
        <p:spPr>
          <a:xfrm>
            <a:off x="4557203" y="2685495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10" idx="3"/>
            <a:endCxn id="12" idx="1"/>
          </p:cNvCxnSpPr>
          <p:nvPr/>
        </p:nvCxnSpPr>
        <p:spPr>
          <a:xfrm flipV="1">
            <a:off x="5865179" y="2685495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12" idx="3"/>
            <a:endCxn id="14" idx="1"/>
          </p:cNvCxnSpPr>
          <p:nvPr/>
        </p:nvCxnSpPr>
        <p:spPr>
          <a:xfrm>
            <a:off x="7173155" y="2685495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14" idx="3"/>
            <a:endCxn id="16" idx="1"/>
          </p:cNvCxnSpPr>
          <p:nvPr/>
        </p:nvCxnSpPr>
        <p:spPr>
          <a:xfrm flipV="1">
            <a:off x="8481131" y="2685495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19" idx="3"/>
            <a:endCxn id="18" idx="1"/>
          </p:cNvCxnSpPr>
          <p:nvPr/>
        </p:nvCxnSpPr>
        <p:spPr>
          <a:xfrm>
            <a:off x="2034466" y="4748076"/>
            <a:ext cx="353627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18" idx="3"/>
            <a:endCxn id="20" idx="1"/>
          </p:cNvCxnSpPr>
          <p:nvPr/>
        </p:nvCxnSpPr>
        <p:spPr>
          <a:xfrm flipV="1">
            <a:off x="3249227" y="4748076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20" idx="3"/>
            <a:endCxn id="22" idx="1"/>
          </p:cNvCxnSpPr>
          <p:nvPr/>
        </p:nvCxnSpPr>
        <p:spPr>
          <a:xfrm>
            <a:off x="4557203" y="4748076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2" idx="3"/>
            <a:endCxn id="23" idx="1"/>
          </p:cNvCxnSpPr>
          <p:nvPr/>
        </p:nvCxnSpPr>
        <p:spPr>
          <a:xfrm flipV="1">
            <a:off x="5865179" y="4748076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23" idx="3"/>
            <a:endCxn id="25" idx="1"/>
          </p:cNvCxnSpPr>
          <p:nvPr/>
        </p:nvCxnSpPr>
        <p:spPr>
          <a:xfrm>
            <a:off x="7173155" y="4748076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25" idx="3"/>
            <a:endCxn id="26" idx="1"/>
          </p:cNvCxnSpPr>
          <p:nvPr/>
        </p:nvCxnSpPr>
        <p:spPr>
          <a:xfrm flipV="1">
            <a:off x="8481131" y="4748076"/>
            <a:ext cx="446842" cy="1"/>
          </a:xfrm>
          <a:prstGeom prst="straightConnector1">
            <a:avLst/>
          </a:prstGeom>
          <a:ln w="15875">
            <a:solidFill>
              <a:srgbClr val="C00000">
                <a:alpha val="99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699363" y="6500509"/>
            <a:ext cx="4492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581436" y="2631395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33" name="Rectangle 132"/>
          <p:cNvSpPr/>
          <p:nvPr/>
        </p:nvSpPr>
        <p:spPr>
          <a:xfrm>
            <a:off x="10767662" y="2631395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34" name="Rectangle 133"/>
          <p:cNvSpPr/>
          <p:nvPr/>
        </p:nvSpPr>
        <p:spPr>
          <a:xfrm>
            <a:off x="10596643" y="4674508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35" name="Rectangle 134"/>
          <p:cNvSpPr/>
          <p:nvPr/>
        </p:nvSpPr>
        <p:spPr>
          <a:xfrm>
            <a:off x="10782869" y="4674508"/>
            <a:ext cx="91440" cy="73152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496792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6117336" y="4616367"/>
            <a:ext cx="5526024" cy="1247588"/>
          </a:xfrm>
          <a:prstGeom prst="roundRect">
            <a:avLst/>
          </a:prstGeom>
          <a:solidFill>
            <a:schemeClr val="tx1">
              <a:lumMod val="65000"/>
              <a:lumOff val="35000"/>
              <a:alpha val="17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191389"/>
            <a:ext cx="10515600" cy="85102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Bidirectional RNN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7071360" y="4945551"/>
                <a:ext cx="804672" cy="731520"/>
              </a:xfrm>
              <a:prstGeom prst="ellipse">
                <a:avLst/>
              </a:prstGeom>
              <a:solidFill>
                <a:srgbClr val="002060">
                  <a:alpha val="39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360" y="4945551"/>
                <a:ext cx="804672" cy="7315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8403336" y="4945551"/>
                <a:ext cx="804672" cy="731520"/>
              </a:xfrm>
              <a:prstGeom prst="ellipse">
                <a:avLst/>
              </a:prstGeom>
              <a:solidFill>
                <a:srgbClr val="002060">
                  <a:alpha val="39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3336" y="4945551"/>
                <a:ext cx="804672" cy="7315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9671304" y="4945551"/>
                <a:ext cx="804672" cy="731520"/>
              </a:xfrm>
              <a:prstGeom prst="ellipse">
                <a:avLst/>
              </a:prstGeom>
              <a:solidFill>
                <a:srgbClr val="002060">
                  <a:alpha val="39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304" y="4945551"/>
                <a:ext cx="804672" cy="7315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2"/>
            <a:endCxn id="6" idx="6"/>
          </p:cNvCxnSpPr>
          <p:nvPr/>
        </p:nvCxnSpPr>
        <p:spPr>
          <a:xfrm flipH="1">
            <a:off x="9208008" y="5311311"/>
            <a:ext cx="463296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5" idx="6"/>
          </p:cNvCxnSpPr>
          <p:nvPr/>
        </p:nvCxnSpPr>
        <p:spPr>
          <a:xfrm flipH="1">
            <a:off x="7876032" y="5311311"/>
            <a:ext cx="527304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</p:cNvCxnSpPr>
          <p:nvPr/>
        </p:nvCxnSpPr>
        <p:spPr>
          <a:xfrm flipH="1">
            <a:off x="6544056" y="5311311"/>
            <a:ext cx="527304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6"/>
          </p:cNvCxnSpPr>
          <p:nvPr/>
        </p:nvCxnSpPr>
        <p:spPr>
          <a:xfrm flipH="1">
            <a:off x="10475976" y="5311311"/>
            <a:ext cx="463296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879587" y="4941979"/>
                <a:ext cx="48244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587" y="4941979"/>
                <a:ext cx="48244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9078854" y="4852766"/>
                <a:ext cx="72770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854" y="4852766"/>
                <a:ext cx="72770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20"/>
          <p:cNvSpPr/>
          <p:nvPr/>
        </p:nvSpPr>
        <p:spPr>
          <a:xfrm>
            <a:off x="5644896" y="2706840"/>
            <a:ext cx="5526024" cy="124758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6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/>
              <p:cNvSpPr/>
              <p:nvPr/>
            </p:nvSpPr>
            <p:spPr>
              <a:xfrm>
                <a:off x="6598920" y="3036024"/>
                <a:ext cx="804672" cy="7315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Oval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920" y="3036024"/>
                <a:ext cx="804672" cy="7315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/>
              <p:cNvSpPr/>
              <p:nvPr/>
            </p:nvSpPr>
            <p:spPr>
              <a:xfrm>
                <a:off x="7930896" y="3036024"/>
                <a:ext cx="804672" cy="7315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896" y="3036024"/>
                <a:ext cx="804672" cy="73152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/>
              <p:cNvSpPr/>
              <p:nvPr/>
            </p:nvSpPr>
            <p:spPr>
              <a:xfrm>
                <a:off x="9198864" y="3036024"/>
                <a:ext cx="804672" cy="7315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8864" y="3036024"/>
                <a:ext cx="804672" cy="73152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stCxn id="24" idx="2"/>
            <a:endCxn id="23" idx="6"/>
          </p:cNvCxnSpPr>
          <p:nvPr/>
        </p:nvCxnSpPr>
        <p:spPr>
          <a:xfrm flipH="1">
            <a:off x="8735568" y="3401784"/>
            <a:ext cx="463296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3" idx="2"/>
            <a:endCxn id="22" idx="6"/>
          </p:cNvCxnSpPr>
          <p:nvPr/>
        </p:nvCxnSpPr>
        <p:spPr>
          <a:xfrm flipH="1">
            <a:off x="7403592" y="3401784"/>
            <a:ext cx="527304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2" idx="2"/>
          </p:cNvCxnSpPr>
          <p:nvPr/>
        </p:nvCxnSpPr>
        <p:spPr>
          <a:xfrm flipH="1">
            <a:off x="6071616" y="3401784"/>
            <a:ext cx="527304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4" idx="6"/>
          </p:cNvCxnSpPr>
          <p:nvPr/>
        </p:nvCxnSpPr>
        <p:spPr>
          <a:xfrm flipH="1">
            <a:off x="10003536" y="3401784"/>
            <a:ext cx="463296" cy="0"/>
          </a:xfrm>
          <a:prstGeom prst="straightConnector1">
            <a:avLst/>
          </a:prstGeom>
          <a:ln w="15875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7335784" y="3036024"/>
                <a:ext cx="72770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784" y="3036024"/>
                <a:ext cx="72770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8720900" y="2943239"/>
                <a:ext cx="49872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900" y="2943239"/>
                <a:ext cx="498726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726708" y="4104558"/>
            <a:ext cx="135325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i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Forward 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7144" y="6014933"/>
            <a:ext cx="149111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i="1" dirty="0">
                <a:latin typeface="Arial Narrow" panose="020B0606020202030204" pitchFamily="34" charset="0"/>
                <a:ea typeface="Cambria Math" panose="02040503050406030204" pitchFamily="18" charset="0"/>
                <a:cs typeface="Times New Roman" panose="02020603050405020304" pitchFamily="18" charset="0"/>
              </a:rPr>
              <a:t>Backward Pass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7086781" y="1783919"/>
                <a:ext cx="696857" cy="400110"/>
              </a:xfrm>
              <a:prstGeom prst="rect">
                <a:avLst/>
              </a:prstGeom>
              <a:solidFill>
                <a:schemeClr val="accent6">
                  <a:lumMod val="75000"/>
                  <a:alpha val="66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781" y="1783919"/>
                <a:ext cx="696857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8573004" y="1781461"/>
                <a:ext cx="451598" cy="400110"/>
              </a:xfrm>
              <a:prstGeom prst="rect">
                <a:avLst/>
              </a:prstGeom>
              <a:solidFill>
                <a:schemeClr val="accent6">
                  <a:lumMod val="75000"/>
                  <a:alpha val="66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004" y="1781461"/>
                <a:ext cx="45159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9690545" y="1749636"/>
                <a:ext cx="696857" cy="400110"/>
              </a:xfrm>
              <a:prstGeom prst="rect">
                <a:avLst/>
              </a:prstGeom>
              <a:solidFill>
                <a:schemeClr val="accent6">
                  <a:lumMod val="75000"/>
                  <a:alpha val="66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545" y="1749636"/>
                <a:ext cx="69685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>
            <a:stCxn id="22" idx="0"/>
            <a:endCxn id="33" idx="2"/>
          </p:cNvCxnSpPr>
          <p:nvPr/>
        </p:nvCxnSpPr>
        <p:spPr>
          <a:xfrm flipV="1">
            <a:off x="7001256" y="2184029"/>
            <a:ext cx="433954" cy="85199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5" idx="0"/>
            <a:endCxn id="33" idx="2"/>
          </p:cNvCxnSpPr>
          <p:nvPr/>
        </p:nvCxnSpPr>
        <p:spPr>
          <a:xfrm flipH="1" flipV="1">
            <a:off x="7435210" y="2184029"/>
            <a:ext cx="38486" cy="2761522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3" idx="0"/>
            <a:endCxn id="34" idx="2"/>
          </p:cNvCxnSpPr>
          <p:nvPr/>
        </p:nvCxnSpPr>
        <p:spPr>
          <a:xfrm flipV="1">
            <a:off x="8333232" y="2181571"/>
            <a:ext cx="465571" cy="854453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6" idx="0"/>
            <a:endCxn id="34" idx="2"/>
          </p:cNvCxnSpPr>
          <p:nvPr/>
        </p:nvCxnSpPr>
        <p:spPr>
          <a:xfrm flipH="1" flipV="1">
            <a:off x="8798803" y="2181571"/>
            <a:ext cx="6869" cy="2763980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4" idx="0"/>
            <a:endCxn id="35" idx="2"/>
          </p:cNvCxnSpPr>
          <p:nvPr/>
        </p:nvCxnSpPr>
        <p:spPr>
          <a:xfrm flipV="1">
            <a:off x="9601200" y="2149746"/>
            <a:ext cx="437774" cy="886278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7" idx="0"/>
            <a:endCxn id="35" idx="2"/>
          </p:cNvCxnSpPr>
          <p:nvPr/>
        </p:nvCxnSpPr>
        <p:spPr>
          <a:xfrm flipH="1" flipV="1">
            <a:off x="10038974" y="2149746"/>
            <a:ext cx="34666" cy="2795805"/>
          </a:xfrm>
          <a:prstGeom prst="straightConnector1">
            <a:avLst/>
          </a:prstGeom>
          <a:ln w="158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4BFD18E-AF8D-4C71-8223-11C12484F904}"/>
              </a:ext>
            </a:extLst>
          </p:cNvPr>
          <p:cNvSpPr txBox="1"/>
          <p:nvPr/>
        </p:nvSpPr>
        <p:spPr>
          <a:xfrm>
            <a:off x="7699635" y="6525894"/>
            <a:ext cx="4492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Concept taken from CS231n: 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Stanford Lecture by Fei </a:t>
            </a:r>
            <a:r>
              <a:rPr lang="en-IN" sz="1400" dirty="0" err="1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Fei</a:t>
            </a:r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Li et. al. 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74428" y="1168023"/>
            <a:ext cx="4766054" cy="4261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 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Narrow" panose="020B0606020202030204" pitchFamily="34" charset="0"/>
              </a:rPr>
              <a:t>Bidirectional RNN (</a:t>
            </a:r>
            <a:r>
              <a:rPr kumimoji="0" lang="en-US" altLang="en-US" sz="200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Arial Narrow" panose="020B0606020202030204" pitchFamily="34" charset="0"/>
              </a:rPr>
              <a:t>BiRNN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Narrow" panose="020B0606020202030204" pitchFamily="34" charset="0"/>
              </a:rPr>
              <a:t>) 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is a recurrent neural network that processes a sequence in both the forward and backward directions, allowing it to use both past and future context at every time step.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This helps the model better understand the meaning of each element in the sequence.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Example: "He went to the 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Narrow" panose="020B0606020202030204" pitchFamily="34" charset="0"/>
              </a:rPr>
              <a:t>bank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to deposit money." The meaning of "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 Narrow" panose="020B0606020202030204" pitchFamily="34" charset="0"/>
              </a:rPr>
              <a:t>bank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" becomes clear from the following words ("to deposit money"). </a:t>
            </a:r>
          </a:p>
        </p:txBody>
      </p:sp>
    </p:spTree>
    <p:extLst>
      <p:ext uri="{BB962C8B-B14F-4D97-AF65-F5344CB8AC3E}">
        <p14:creationId xmlns:p14="http://schemas.microsoft.com/office/powerpoint/2010/main" val="1010159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Summery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23905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Training of RNN – Backpropagation through Time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Character Level Modelling through RNN (An example)</a:t>
            </a:r>
          </a:p>
          <a:p>
            <a:pPr marL="457200" indent="-457200">
              <a:lnSpc>
                <a:spcPct val="150000"/>
              </a:lnSpc>
            </a:pPr>
            <a:r>
              <a:rPr 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Deep RNN Models</a:t>
            </a:r>
          </a:p>
        </p:txBody>
      </p:sp>
    </p:spTree>
    <p:extLst>
      <p:ext uri="{BB962C8B-B14F-4D97-AF65-F5344CB8AC3E}">
        <p14:creationId xmlns:p14="http://schemas.microsoft.com/office/powerpoint/2010/main" val="3276024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LSTM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6: Part 3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64767" y="149638"/>
            <a:ext cx="10515600" cy="1157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Century" panose="02040604050505020304" pitchFamily="18" charset="0"/>
              </a:rPr>
              <a:t>How to train a RNN?</a:t>
            </a:r>
            <a:br>
              <a:rPr lang="en-IN" dirty="0">
                <a:latin typeface="Century" panose="02040604050505020304" pitchFamily="18" charset="0"/>
              </a:rPr>
            </a:b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entury" panose="02040604050505020304" pitchFamily="18" charset="0"/>
              </a:rPr>
              <a:t>Backpropagation Through Time (BPTT)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Century" panose="020406040505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266248" y="2269865"/>
            <a:ext cx="5574848" cy="3355139"/>
            <a:chOff x="5425739" y="3371590"/>
            <a:chExt cx="5574848" cy="3355139"/>
          </a:xfrm>
        </p:grpSpPr>
        <p:sp>
          <p:nvSpPr>
            <p:cNvPr id="6" name="Oval 5"/>
            <p:cNvSpPr/>
            <p:nvPr/>
          </p:nvSpPr>
          <p:spPr>
            <a:xfrm>
              <a:off x="6560957" y="4462129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425739" y="5710129"/>
              <a:ext cx="387073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5812812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6560957" y="5710129"/>
              <a:ext cx="396599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6957556" y="5336056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10" idx="6"/>
              <a:endCxn id="12" idx="2"/>
            </p:cNvCxnSpPr>
            <p:nvPr/>
          </p:nvCxnSpPr>
          <p:spPr>
            <a:xfrm>
              <a:off x="7705701" y="5710129"/>
              <a:ext cx="520960" cy="428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8226661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>
              <a:off x="8974806" y="5714411"/>
              <a:ext cx="586794" cy="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9561600" y="5340338"/>
              <a:ext cx="748145" cy="74814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5000"/>
              </a:schemeClr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" name="Straight Arrow Connector 14"/>
            <p:cNvCxnSpPr>
              <a:endCxn id="8" idx="4"/>
            </p:cNvCxnSpPr>
            <p:nvPr/>
          </p:nvCxnSpPr>
          <p:spPr>
            <a:xfrm flipV="1">
              <a:off x="6186885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0"/>
            </p:cNvCxnSpPr>
            <p:nvPr/>
          </p:nvCxnSpPr>
          <p:spPr>
            <a:xfrm flipV="1">
              <a:off x="6186885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endCxn id="10" idx="4"/>
            </p:cNvCxnSpPr>
            <p:nvPr/>
          </p:nvCxnSpPr>
          <p:spPr>
            <a:xfrm flipV="1">
              <a:off x="7331629" y="6084202"/>
              <a:ext cx="0" cy="34457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0" idx="0"/>
            </p:cNvCxnSpPr>
            <p:nvPr/>
          </p:nvCxnSpPr>
          <p:spPr>
            <a:xfrm flipV="1">
              <a:off x="7331629" y="4911128"/>
              <a:ext cx="0" cy="42492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0"/>
            </p:cNvCxnSpPr>
            <p:nvPr/>
          </p:nvCxnSpPr>
          <p:spPr>
            <a:xfrm flipV="1">
              <a:off x="8600734" y="4903102"/>
              <a:ext cx="7132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4" idx="0"/>
            </p:cNvCxnSpPr>
            <p:nvPr/>
          </p:nvCxnSpPr>
          <p:spPr>
            <a:xfrm flipV="1">
              <a:off x="9935673" y="4903102"/>
              <a:ext cx="7131" cy="437236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12" idx="4"/>
            </p:cNvCxnSpPr>
            <p:nvPr/>
          </p:nvCxnSpPr>
          <p:spPr>
            <a:xfrm flipV="1">
              <a:off x="8600732" y="6088484"/>
              <a:ext cx="2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14" idx="4"/>
            </p:cNvCxnSpPr>
            <p:nvPr/>
          </p:nvCxnSpPr>
          <p:spPr>
            <a:xfrm flipH="1" flipV="1">
              <a:off x="9935673" y="6088484"/>
              <a:ext cx="7131" cy="340294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787" y="5525232"/>
                  <a:ext cx="255187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39024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5525232"/>
                  <a:ext cx="255187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41463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3703" y="5525232"/>
                  <a:ext cx="34031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5455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1783" y="5523502"/>
                  <a:ext cx="4380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706627" y="50160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6627" y="5016060"/>
                  <a:ext cx="255187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490291" y="501403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291" y="5014038"/>
                  <a:ext cx="25518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714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878141" y="500722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141" y="5007229"/>
                  <a:ext cx="25518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099067" y="503179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9067" y="5031794"/>
                  <a:ext cx="255187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9490291" y="60276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291" y="6027697"/>
                  <a:ext cx="255187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8105480" y="604079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5480" y="6040798"/>
                  <a:ext cx="255187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6341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6848520" y="6027697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8520" y="6027697"/>
                  <a:ext cx="255187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619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/>
                <p:nvPr/>
              </p:nvSpPr>
              <p:spPr>
                <a:xfrm>
                  <a:off x="5704875" y="6017804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1C7E17B-2901-4A67-BB95-AD90EEAB4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4875" y="6017804"/>
                  <a:ext cx="255187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5952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/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6B5650A-F919-49D7-905A-6B9C1180E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4502" y="6446188"/>
                  <a:ext cx="28142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13043" r="-6522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/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F148B78-03EF-4C49-BF25-1EC598BF5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1939" y="6431637"/>
                  <a:ext cx="28142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/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2925C41-61F9-4E5E-90D9-D4279F273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4238" y="6449730"/>
                  <a:ext cx="27610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13333" r="-6667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/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4770705-4D96-4FE6-B6B3-3F57FD0F8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96" y="6443897"/>
                  <a:ext cx="281424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2766" r="-6383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5960062" y="4516800"/>
                  <a:ext cx="3183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0062" y="4516800"/>
                  <a:ext cx="318364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2115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4621" y="4525551"/>
                  <a:ext cx="395899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9604423" y="4516800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4423" y="4516800"/>
                  <a:ext cx="39589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329" y="4525065"/>
                  <a:ext cx="39589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/>
                <p:nvPr/>
              </p:nvSpPr>
              <p:spPr>
                <a:xfrm>
                  <a:off x="5451836" y="5366408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D01932C-959C-4125-85EC-CD95A3FDE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836" y="5366408"/>
                  <a:ext cx="288477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0833" r="-625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/>
                <p:nvPr/>
              </p:nvSpPr>
              <p:spPr>
                <a:xfrm>
                  <a:off x="6672807" y="5388163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681628B-B990-4F86-9714-D290B4D6E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2807" y="5388163"/>
                  <a:ext cx="288477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16667" r="-6250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/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926D038-0DC2-4C1B-9ACB-3E8CBDA4D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0331" y="5708168"/>
                  <a:ext cx="255187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/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1D5D24D-F33E-46D2-A68D-783DCFED6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865" y="5376252"/>
                  <a:ext cx="288477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0833" r="-6250" b="-1521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3269" y="5386732"/>
                  <a:ext cx="288477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1277" r="-6383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/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F9E0204-680C-4C91-ACA0-A99C25126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8286" y="5691460"/>
                  <a:ext cx="255187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73810"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9324" y="5685989"/>
                  <a:ext cx="255187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7381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49BE818-76C0-46E5-BD57-2EC67726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09745" y="5714411"/>
              <a:ext cx="690842" cy="5003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/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24BAB1E-1F48-4BAB-91C3-0110F5D89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3793" y="5374849"/>
                  <a:ext cx="288477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0833" r="-6250" b="-15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/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D98D8A9-DD90-45A8-BED8-66D291A44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9858" y="5716912"/>
                  <a:ext cx="151139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4000" r="-180000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6916" y="4508132"/>
                  <a:ext cx="419366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/>
            <p:cNvCxnSpPr>
              <a:stCxn id="39" idx="3"/>
              <a:endCxn id="53" idx="1"/>
            </p:cNvCxnSpPr>
            <p:nvPr/>
          </p:nvCxnSpPr>
          <p:spPr>
            <a:xfrm flipV="1">
              <a:off x="6278426" y="4692798"/>
              <a:ext cx="298490" cy="866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7760974" y="4498166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974" y="4525598"/>
                  <a:ext cx="419366" cy="369332"/>
                </a:xfrm>
                <a:prstGeom prst="rect">
                  <a:avLst/>
                </a:prstGeom>
                <a:blipFill>
                  <a:blip r:embed="rId32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/>
            <p:cNvCxnSpPr>
              <a:stCxn id="40" idx="3"/>
              <a:endCxn id="56" idx="1"/>
            </p:cNvCxnSpPr>
            <p:nvPr/>
          </p:nvCxnSpPr>
          <p:spPr>
            <a:xfrm>
              <a:off x="7520520" y="4710217"/>
              <a:ext cx="240454" cy="47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/>
            <p:cNvSpPr/>
            <p:nvPr/>
          </p:nvSpPr>
          <p:spPr>
            <a:xfrm>
              <a:off x="8978682" y="4500094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8682" y="4527526"/>
                  <a:ext cx="419366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/>
            <p:cNvCxnSpPr>
              <a:stCxn id="42" idx="3"/>
              <a:endCxn id="59" idx="1"/>
            </p:cNvCxnSpPr>
            <p:nvPr/>
          </p:nvCxnSpPr>
          <p:spPr>
            <a:xfrm>
              <a:off x="8758228" y="4709731"/>
              <a:ext cx="220454" cy="2461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/>
            <p:nvPr/>
          </p:nvSpPr>
          <p:spPr>
            <a:xfrm>
              <a:off x="10294505" y="4485440"/>
              <a:ext cx="435325" cy="45119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noFill/>
                <a:ln w="158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94505" y="4512872"/>
                  <a:ext cx="419366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1667"/>
                  </a:stretch>
                </a:blipFill>
                <a:ln w="15875"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Straight Arrow Connector 62"/>
            <p:cNvCxnSpPr>
              <a:stCxn id="41" idx="3"/>
              <a:endCxn id="62" idx="1"/>
            </p:cNvCxnSpPr>
            <p:nvPr/>
          </p:nvCxnSpPr>
          <p:spPr>
            <a:xfrm flipV="1">
              <a:off x="10000322" y="4697538"/>
              <a:ext cx="294183" cy="3928"/>
            </a:xfrm>
            <a:prstGeom prst="straightConnector1">
              <a:avLst/>
            </a:prstGeom>
            <a:ln w="15875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/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solidFill>
                  <a:srgbClr val="7030A0">
                    <a:alpha val="55000"/>
                  </a:srgbClr>
                </a:solid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I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043E1F5-4B30-4978-9B8E-FC00178C0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8077" y="3371590"/>
                  <a:ext cx="2547681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 w="22225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Elbow Connector 64"/>
            <p:cNvCxnSpPr>
              <a:stCxn id="64" idx="2"/>
              <a:endCxn id="6" idx="0"/>
            </p:cNvCxnSpPr>
            <p:nvPr/>
          </p:nvCxnSpPr>
          <p:spPr>
            <a:xfrm rot="5400000">
              <a:off x="7314666" y="3204876"/>
              <a:ext cx="721207" cy="1793298"/>
            </a:xfrm>
            <a:prstGeom prst="bentConnector3">
              <a:avLst>
                <a:gd name="adj1" fmla="val 51981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lbow Connector 65"/>
            <p:cNvCxnSpPr>
              <a:stCxn id="64" idx="2"/>
              <a:endCxn id="61" idx="0"/>
            </p:cNvCxnSpPr>
            <p:nvPr/>
          </p:nvCxnSpPr>
          <p:spPr>
            <a:xfrm rot="16200000" flipH="1">
              <a:off x="9169784" y="3143056"/>
              <a:ext cx="744518" cy="1940250"/>
            </a:xfrm>
            <a:prstGeom prst="bentConnector3">
              <a:avLst>
                <a:gd name="adj1" fmla="val 5064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>
              <a:stCxn id="64" idx="2"/>
              <a:endCxn id="55" idx="0"/>
            </p:cNvCxnSpPr>
            <p:nvPr/>
          </p:nvCxnSpPr>
          <p:spPr>
            <a:xfrm rot="5400000">
              <a:off x="7896656" y="3822904"/>
              <a:ext cx="757244" cy="593281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Elbow Connector 67"/>
            <p:cNvCxnSpPr>
              <a:stCxn id="64" idx="2"/>
              <a:endCxn id="58" idx="0"/>
            </p:cNvCxnSpPr>
            <p:nvPr/>
          </p:nvCxnSpPr>
          <p:spPr>
            <a:xfrm rot="16200000" flipH="1">
              <a:off x="8504545" y="3808294"/>
              <a:ext cx="759172" cy="624427"/>
            </a:xfrm>
            <a:prstGeom prst="bentConnector3">
              <a:avLst>
                <a:gd name="adj1" fmla="val 50000"/>
              </a:avLst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ontent Placeholder 2">
                <a:extLst>
                  <a:ext uri="{FF2B5EF4-FFF2-40B4-BE49-F238E27FC236}">
                    <a16:creationId xmlns:a16="http://schemas.microsoft.com/office/drawing/2014/main" id="{54155053-D0A9-4FE2-929C-5ACCBF8FB4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051" y="1350210"/>
                <a:ext cx="5667734" cy="5159717"/>
              </a:xfr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=?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r>
                  <a:rPr lang="en-IN" sz="2000" b="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, assuming no non-linearity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]</a:t>
                </a: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IN" sz="2000" dirty="0">
                        <a:latin typeface="Arial Narrow" panose="020B0606020202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Arial Narrow" panose="020B0606020202030204" pitchFamily="34" charset="0"/>
                    <a:cs typeface="Times New Roman" panose="02020603050405020304" pitchFamily="18" charset="0"/>
                  </a:rPr>
                  <a:t>After some simple algebraic manipulations</a:t>
                </a: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endParaRPr lang="en-IN" sz="2000" b="0" i="1" dirty="0">
                  <a:latin typeface="Arial Narrow" panose="020B0606020202030204" pitchFamily="34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Arial Narrow" panose="020B0606020202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Content Placeholder 2">
                <a:extLst>
                  <a:ext uri="{FF2B5EF4-FFF2-40B4-BE49-F238E27FC236}">
                    <a16:creationId xmlns:a16="http://schemas.microsoft.com/office/drawing/2014/main" id="{54155053-D0A9-4FE2-929C-5ACCBF8FB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051" y="1350210"/>
                <a:ext cx="5667734" cy="5159717"/>
              </a:xfrm>
              <a:blipFill>
                <a:blip r:embed="rId36"/>
                <a:stretch>
                  <a:fillRect l="-9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18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28985</TotalTime>
  <Words>3070</Words>
  <Application>Microsoft Office PowerPoint</Application>
  <PresentationFormat>Widescreen</PresentationFormat>
  <Paragraphs>1296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Arial</vt:lpstr>
      <vt:lpstr>Arial Narrow</vt:lpstr>
      <vt:lpstr>Book Antiqua</vt:lpstr>
      <vt:lpstr>Calibri</vt:lpstr>
      <vt:lpstr>Calibri Light</vt:lpstr>
      <vt:lpstr>Cambria</vt:lpstr>
      <vt:lpstr>Cambria Math</vt:lpstr>
      <vt:lpstr>Century</vt:lpstr>
      <vt:lpstr>Sans Serif Collection</vt:lpstr>
      <vt:lpstr>Times New Roman</vt:lpstr>
      <vt:lpstr>Office Theme</vt:lpstr>
      <vt:lpstr>     Training of RNN  </vt:lpstr>
      <vt:lpstr>Content</vt:lpstr>
      <vt:lpstr>Backpropagation Through Time (BPTT)</vt:lpstr>
      <vt:lpstr>Backpropagation Through Time (BPTT)</vt:lpstr>
      <vt:lpstr>How to train a RNN? Backpropagation Through Time (BPTT)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Backpropagation Through Time (BPTT)</vt:lpstr>
      <vt:lpstr>Truncated Backpropagation Through Time</vt:lpstr>
      <vt:lpstr>Truncated Backpropagation Through Time</vt:lpstr>
      <vt:lpstr>Truncated Backpropagation Through Time</vt:lpstr>
      <vt:lpstr>Sequence to Sequence (Encoder Decoder Model) Many to One (Encoder) One to Many (Decoder)</vt:lpstr>
      <vt:lpstr>RNN based Character Level Modelling Training Phase:</vt:lpstr>
      <vt:lpstr>RNN based Character Level Modelling Training Phase:</vt:lpstr>
      <vt:lpstr>RNN based Character Level Modelling Training Phase:</vt:lpstr>
      <vt:lpstr>RNN based Character Level Modelling Training Phase:</vt:lpstr>
      <vt:lpstr>RNN based Character Level Modelling Testing Phase:</vt:lpstr>
      <vt:lpstr>RNN based Character Level Modelling Testing Phase:</vt:lpstr>
      <vt:lpstr>RNN based Character Level Modelling Testing Phase:</vt:lpstr>
      <vt:lpstr>RNN based Character Level Modelling Testing Phase:</vt:lpstr>
      <vt:lpstr>RNN based Character Level Modelling Testing Phase:</vt:lpstr>
      <vt:lpstr>RNN based Character Level Modelling Testing Phase:</vt:lpstr>
      <vt:lpstr>RNN based Character Level Modelling Testing Phase:</vt:lpstr>
      <vt:lpstr>Deep RNN Models</vt:lpstr>
      <vt:lpstr>Bidirectional RNN</vt:lpstr>
      <vt:lpstr>Summery</vt:lpstr>
      <vt:lpstr>LSTM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Training of RNN  </dc:title>
  <dc:creator>IITG</dc:creator>
  <cp:lastModifiedBy>HP</cp:lastModifiedBy>
  <cp:revision>15</cp:revision>
  <dcterms:created xsi:type="dcterms:W3CDTF">2026-08-01T05:08:03Z</dcterms:created>
  <dcterms:modified xsi:type="dcterms:W3CDTF">2026-08-23T14:27:40Z</dcterms:modified>
</cp:coreProperties>
</file>