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87" r:id="rId2"/>
    <p:sldId id="258" r:id="rId3"/>
    <p:sldId id="295" r:id="rId4"/>
    <p:sldId id="393" r:id="rId5"/>
    <p:sldId id="386" r:id="rId6"/>
    <p:sldId id="387" r:id="rId7"/>
    <p:sldId id="389" r:id="rId8"/>
    <p:sldId id="390" r:id="rId9"/>
    <p:sldId id="391" r:id="rId10"/>
    <p:sldId id="392" r:id="rId11"/>
    <p:sldId id="297" r:id="rId12"/>
    <p:sldId id="394" r:id="rId13"/>
    <p:sldId id="310" r:id="rId14"/>
    <p:sldId id="384" r:id="rId15"/>
    <p:sldId id="385" r:id="rId16"/>
    <p:sldId id="383" r:id="rId17"/>
    <p:sldId id="382" r:id="rId18"/>
    <p:sldId id="381" r:id="rId19"/>
    <p:sldId id="376" r:id="rId20"/>
    <p:sldId id="377" r:id="rId21"/>
    <p:sldId id="378" r:id="rId22"/>
    <p:sldId id="379" r:id="rId23"/>
    <p:sldId id="380" r:id="rId24"/>
    <p:sldId id="395" r:id="rId25"/>
    <p:sldId id="26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B28524-6A69-4E50-81AC-BD9BDD7A522B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65391C-9898-4706-BCA9-3F22EE62F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931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5391C-9898-4706-BCA9-3F22EE62F00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565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06882-61B5-42B5-B100-786A187E223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818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06882-61B5-42B5-B100-786A187E2233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444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06882-61B5-42B5-B100-786A187E2233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054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06882-61B5-42B5-B100-786A187E2233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565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06882-61B5-42B5-B100-786A187E2233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4425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06882-61B5-42B5-B100-786A187E2233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126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8BE5C-AE6D-4B35-928E-7EE6BE10A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5D7269-BFB2-424B-B31E-DB0186B2A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461B5-F27B-4E0A-8746-C156150AA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03F3-48C4-481A-A12C-D7E4F3C6E9A6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10106-5D68-4E36-9F94-7C03B5075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F1D72-26AD-41FD-9D40-8ACB39F74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AA0A-B152-4647-B0C9-81F583D50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784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349AF-2578-4D5E-B5A1-3A7B417EC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AED9C-5AF6-42DE-B3A9-446C1E29D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58EC1-1776-4EFA-86C4-A02B4989F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03F3-48C4-481A-A12C-D7E4F3C6E9A6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FBFF6-2CA9-453C-ABE4-47216DCA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0EBFD-5BB8-4908-9181-BC4D8E853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AA0A-B152-4647-B0C9-81F583D50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298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D2B64-07C3-4FD7-AE73-568BAE133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DF387-80B0-4496-8FDD-4520F6AE7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1CABF-6C78-436D-B01A-9D6B3F298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03F3-48C4-481A-A12C-D7E4F3C6E9A6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93128-B492-4BCC-817A-EA1F94293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07FC1-378A-40E6-8B6C-ECAC4BDE2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AA0A-B152-4647-B0C9-81F583D50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845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A4767-1488-4368-87FA-2327D5CD3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851E2-8AB2-484F-9523-F4B0041C0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EAA259-0807-44F0-BD03-C05466BD0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D9763-2A49-4CAC-B73B-BB2E0CB1E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03F3-48C4-481A-A12C-D7E4F3C6E9A6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5AD4C-81FF-4193-900E-704A67657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CA56B-9224-4D01-BFF3-127D7A646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AA0A-B152-4647-B0C9-81F583D50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455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631A8-6299-424D-8B86-D87AF851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51DEE-027F-4F1E-9BC2-69BEDC8C5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334CB-028F-467D-8ACB-740137370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33EAA0-942D-4486-BB4F-4588E8D027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689BFE-940E-4C9B-8D72-F6E5EAD986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7E32CD-63B4-45E4-9907-0274B0FFB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03F3-48C4-481A-A12C-D7E4F3C6E9A6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899527-856B-45C9-9AF2-80808BDF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5BBC39-25C8-4647-ADBD-FF738062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AA0A-B152-4647-B0C9-81F583D50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240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3244-565D-4D55-8FD7-C0CCFFB44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87FD5D-7E54-4FAB-A7BA-B597881B6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03F3-48C4-481A-A12C-D7E4F3C6E9A6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3C2709-2429-41A7-9AF1-1E7862324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E5DBD5-D5A0-4FBA-91A1-8F2B0838F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AA0A-B152-4647-B0C9-81F583D50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402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AA4602-AEE5-4CCB-BFFE-0B94D30CD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03F3-48C4-481A-A12C-D7E4F3C6E9A6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C66D64-BD27-4BD9-893E-73104FE0D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2F0FA-FBD2-4066-8AB8-368CE9A22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AA0A-B152-4647-B0C9-81F583D50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61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2FF72-E686-4168-9183-003E4B1C3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B5513-6521-4041-81D0-4CD88EAF7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CCBC8C-50C0-4217-91A1-AAD01D50B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59169-6991-4E5F-9156-3487B7EFC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03F3-48C4-481A-A12C-D7E4F3C6E9A6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2D634-F352-4B9E-BDD2-27ED88D6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6499A-A13D-4F01-809B-069721DF8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AA0A-B152-4647-B0C9-81F583D50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742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3E630-044F-47BE-BE02-1E128478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D58D3A-7851-453D-B6C9-EE1B59DD93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5E93D-3F1F-4656-97E8-9B0A4C588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5AB5B3-98C0-463B-B64C-0F4B3BAA4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03F3-48C4-481A-A12C-D7E4F3C6E9A6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875C8-E6AF-4C82-882C-D8EC8472D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99597-D5B9-44B8-A3F9-2A6E9A4B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AA0A-B152-4647-B0C9-81F583D50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848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D7DA7-148A-45CD-AD82-A74C95F9F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3406B-4CF6-4A3C-96C8-C1F7402F2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159F3-A596-4C4B-B0CD-BB50ABB60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03F3-48C4-481A-A12C-D7E4F3C6E9A6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B9B90-CDB9-4BEC-B081-7FE7A2236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EBAA3-675C-4B3D-87BE-AECF94218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AA0A-B152-4647-B0C9-81F583D50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414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68B137-FAB3-4E60-80DE-A4EEB9ACA1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C01FB-3554-40B2-B523-6A09F7F9E1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D741F-EBBD-403F-BF6E-512752223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03F3-48C4-481A-A12C-D7E4F3C6E9A6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7560E-CC82-4137-97AD-AEC3B6AB7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64D9C-C955-4D80-8BFB-0EC72F5C1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AA0A-B152-4647-B0C9-81F583D50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33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53F561-3742-4DEF-8D3A-B3E4B682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BFB70-5C1E-4E22-B2F3-1910690C8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67223-51AD-443E-BBFB-D1F7713321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703F3-48C4-481A-A12C-D7E4F3C6E9A6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01795-BCB9-4D80-8892-398316E0A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7C035-B84E-4850-8E55-1A6BAABB75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CAA0A-B152-4647-B0C9-81F583D50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09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2856321"/>
            <a:ext cx="9144000" cy="942001"/>
          </a:xfrm>
        </p:spPr>
        <p:txBody>
          <a:bodyPr>
            <a:normAutofit fontScale="90000"/>
          </a:bodyPr>
          <a:lstStyle/>
          <a:p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r>
              <a:rPr lang="en-US" sz="400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Transformers - I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2425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8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Part 3</a:t>
            </a:r>
          </a:p>
        </p:txBody>
      </p:sp>
    </p:spTree>
    <p:extLst>
      <p:ext uri="{BB962C8B-B14F-4D97-AF65-F5344CB8AC3E}">
        <p14:creationId xmlns:p14="http://schemas.microsoft.com/office/powerpoint/2010/main" val="250492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239057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Spatial Context in Vision</a:t>
            </a:r>
          </a:p>
          <a:p>
            <a:pPr marL="457200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Image Caption with Context Modelling</a:t>
            </a:r>
          </a:p>
          <a:p>
            <a:pPr marL="457200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Attention for Image Caption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083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308" y="1897395"/>
            <a:ext cx="5677692" cy="261974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114285"/>
            <a:ext cx="10515600" cy="1161923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Sequence 2 Sequence Model using RNN/LSTM</a:t>
            </a:r>
            <a:endParaRPr lang="en-IN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85216" y="1163582"/>
                <a:ext cx="5815584" cy="5200642"/>
              </a:xfrm>
            </p:spPr>
            <p:txBody>
              <a:bodyPr>
                <a:normAutofit fontScale="85000" lnSpcReduction="10000"/>
              </a:bodyPr>
              <a:lstStyle/>
              <a:p>
                <a:pPr algn="just">
                  <a:lnSpc>
                    <a:spcPct val="110000"/>
                  </a:lnSpc>
                </a:pPr>
                <a:r>
                  <a:rPr lang="en-US" b="1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For RNN/LSTM Encoder Decoder Model:</a:t>
                </a:r>
              </a:p>
              <a:p>
                <a:pPr lvl="1" algn="just">
                  <a:lnSpc>
                    <a:spcPct val="11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In the RNN/LSTM Encoder–Decoder model, each hidden state has access to the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current input </a:t>
                </a:r>
                <a:r>
                  <a:rPr lang="en-US" dirty="0">
                    <a:latin typeface="Arial Narrow" panose="020B0606020202030204" pitchFamily="34" charset="0"/>
                  </a:rPr>
                  <a:t>as well as information from all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previously processed inputs</a:t>
                </a:r>
                <a:r>
                  <a:rPr lang="en-US" dirty="0">
                    <a:latin typeface="Arial Narrow" panose="020B0606020202030204" pitchFamily="34" charset="0"/>
                  </a:rPr>
                  <a:t>. </a:t>
                </a:r>
              </a:p>
              <a:p>
                <a:pPr lvl="1" algn="just">
                  <a:lnSpc>
                    <a:spcPct val="110000"/>
                  </a:lnSpc>
                </a:pPr>
                <a:endParaRPr lang="en-US" dirty="0">
                  <a:latin typeface="Arial Narrow" panose="020B0606020202030204" pitchFamily="34" charset="0"/>
                </a:endParaRPr>
              </a:p>
              <a:p>
                <a:pPr lvl="1" algn="just">
                  <a:lnSpc>
                    <a:spcPct val="11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As the sequence is processed, information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​</a:t>
                </a:r>
                <a:r>
                  <a:rPr lang="en-US" dirty="0">
                    <a:latin typeface="Arial Narrow" panose="020B0606020202030204" pitchFamily="34" charset="0"/>
                  </a:rPr>
                  <a:t> is carried forward in a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compressed representation</a:t>
                </a:r>
                <a:r>
                  <a:rPr lang="en-US" dirty="0">
                    <a:latin typeface="Arial Narrow" panose="020B0606020202030204" pitchFamily="34" charset="0"/>
                  </a:rPr>
                  <a:t> within the hidden state at time step t. </a:t>
                </a:r>
              </a:p>
              <a:p>
                <a:pPr lvl="1" algn="just">
                  <a:lnSpc>
                    <a:spcPct val="110000"/>
                  </a:lnSpc>
                </a:pPr>
                <a:endParaRPr lang="en-US" dirty="0">
                  <a:latin typeface="Arial Narrow" panose="020B0606020202030204" pitchFamily="34" charset="0"/>
                </a:endParaRPr>
              </a:p>
              <a:p>
                <a:pPr lvl="1" algn="just">
                  <a:lnSpc>
                    <a:spcPct val="11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Consequently, the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encoder's final hidden state, known as the context vector, is expected to capture the essential information of the entire input sequence.</a:t>
                </a:r>
              </a:p>
              <a:p>
                <a:pPr lvl="1" algn="just">
                  <a:lnSpc>
                    <a:spcPct val="110000"/>
                  </a:lnSpc>
                </a:pPr>
                <a:endParaRPr lang="en-US" dirty="0">
                  <a:latin typeface="Arial Narrow" panose="020B0606020202030204" pitchFamily="34" charset="0"/>
                </a:endParaRPr>
              </a:p>
              <a:p>
                <a:pPr lvl="1" algn="just">
                  <a:lnSpc>
                    <a:spcPct val="11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 This context vector is then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passed to the decoder </a:t>
                </a:r>
                <a:r>
                  <a:rPr lang="en-US" dirty="0">
                    <a:latin typeface="Arial Narrow" panose="020B0606020202030204" pitchFamily="34" charset="0"/>
                  </a:rPr>
                  <a:t>to generate the output sequence.</a:t>
                </a:r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5216" y="1163582"/>
                <a:ext cx="5815584" cy="5200642"/>
              </a:xfrm>
              <a:blipFill>
                <a:blip r:embed="rId3"/>
                <a:stretch>
                  <a:fillRect l="-1363" t="-938" r="-1048" b="-1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DB32677-8F03-42F3-AD31-2C91A7A29159}"/>
              </a:ext>
            </a:extLst>
          </p:cNvPr>
          <p:cNvSpPr txBox="1"/>
          <p:nvPr/>
        </p:nvSpPr>
        <p:spPr>
          <a:xfrm>
            <a:off x="6627043" y="4332470"/>
            <a:ext cx="3489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</a:rPr>
              <a:t>s</a:t>
            </a:r>
            <a:r>
              <a:rPr lang="en-IN" sz="1600" baseline="-25000" dirty="0">
                <a:latin typeface="Arial Narrow" panose="020B0606020202030204" pitchFamily="34" charset="0"/>
              </a:rPr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1F80FB-0CCE-490B-B169-321C83380D1E}"/>
              </a:ext>
            </a:extLst>
          </p:cNvPr>
          <p:cNvSpPr txBox="1"/>
          <p:nvPr/>
        </p:nvSpPr>
        <p:spPr>
          <a:xfrm>
            <a:off x="7241356" y="4332470"/>
            <a:ext cx="3489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</a:rPr>
              <a:t>s</a:t>
            </a:r>
            <a:r>
              <a:rPr lang="en-IN" sz="1600" baseline="-25000" dirty="0">
                <a:latin typeface="Arial Narrow" panose="020B0606020202030204" pitchFamily="34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5498FD-F1B1-4608-A507-3296176B3AEA}"/>
              </a:ext>
            </a:extLst>
          </p:cNvPr>
          <p:cNvSpPr txBox="1"/>
          <p:nvPr/>
        </p:nvSpPr>
        <p:spPr>
          <a:xfrm>
            <a:off x="7748832" y="4301692"/>
            <a:ext cx="45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37E2CF-FA94-4701-A416-81C381588E91}"/>
              </a:ext>
            </a:extLst>
          </p:cNvPr>
          <p:cNvSpPr txBox="1"/>
          <p:nvPr/>
        </p:nvSpPr>
        <p:spPr>
          <a:xfrm>
            <a:off x="8314827" y="4347859"/>
            <a:ext cx="452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</a:rPr>
              <a:t>s</a:t>
            </a:r>
            <a:r>
              <a:rPr lang="en-IN" sz="1600" baseline="-25000" dirty="0">
                <a:latin typeface="Arial Narrow" panose="020B0606020202030204" pitchFamily="34" charset="0"/>
              </a:rPr>
              <a:t>t-1</a:t>
            </a:r>
          </a:p>
        </p:txBody>
      </p:sp>
    </p:spTree>
    <p:extLst>
      <p:ext uri="{BB962C8B-B14F-4D97-AF65-F5344CB8AC3E}">
        <p14:creationId xmlns:p14="http://schemas.microsoft.com/office/powerpoint/2010/main" val="1566880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2237E-59B3-4BB5-BC84-16A5E090C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600" dirty="0">
                <a:latin typeface="Century" panose="02040604050505020304" pitchFamily="18" charset="0"/>
              </a:rPr>
              <a:t>Image Captioning Using RNN with Spatial </a:t>
            </a:r>
            <a:br>
              <a:rPr lang="en-US" sz="3600" dirty="0">
                <a:latin typeface="Century" panose="02040604050505020304" pitchFamily="18" charset="0"/>
              </a:rPr>
            </a:br>
            <a:r>
              <a:rPr lang="en-US" sz="3600" dirty="0">
                <a:latin typeface="Century" panose="02040604050505020304" pitchFamily="18" charset="0"/>
              </a:rPr>
              <a:t>Context Modelling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81FE0-F8B0-48D9-AA41-2134DAEF7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Image captioning</a:t>
            </a:r>
            <a:r>
              <a:rPr lang="en-US" sz="2000" dirty="0">
                <a:latin typeface="Arial Narrow" panose="020B0606020202030204" pitchFamily="34" charset="0"/>
              </a:rPr>
              <a:t> combines computer vision and natural language processing to generate a textual description of an image.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In an RNN-based approach, a CNN first extracts visual features from the image, while 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spatial context modelling</a:t>
            </a:r>
            <a:r>
              <a:rPr lang="en-US" sz="2000" dirty="0">
                <a:latin typeface="Arial Narrow" panose="020B0606020202030204" pitchFamily="34" charset="0"/>
              </a:rPr>
              <a:t> preserves information about where objects and regions are located.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sz="2000" dirty="0">
                <a:latin typeface="Arial Narrow" panose="020B0606020202030204" pitchFamily="34" charset="0"/>
              </a:rPr>
              <a:t>Consequently,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encoder's final hidden state, known as the context vector, is expected to capture the essential information of the entire input image.</a:t>
            </a:r>
          </a:p>
          <a:p>
            <a:pPr algn="just">
              <a:lnSpc>
                <a:spcPct val="11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sz="2000" dirty="0">
                <a:latin typeface="Arial Narrow" panose="020B0606020202030204" pitchFamily="34" charset="0"/>
              </a:rPr>
              <a:t> This context vector is then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passed to the decoder </a:t>
            </a:r>
            <a:r>
              <a:rPr lang="en-US" sz="2000" dirty="0">
                <a:latin typeface="Arial Narrow" panose="020B0606020202030204" pitchFamily="34" charset="0"/>
              </a:rPr>
              <a:t>to generate the output sequence.</a:t>
            </a:r>
            <a:endParaRPr lang="en-IN" sz="2000" dirty="0">
              <a:latin typeface="Arial Narrow" panose="020B0606020202030204" pitchFamily="34" charset="0"/>
            </a:endParaRPr>
          </a:p>
          <a:p>
            <a:pPr algn="just"/>
            <a:endParaRPr lang="en-IN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964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854660-AFC7-4DD7-A283-5B8542308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453"/>
            <a:ext cx="6019800" cy="1404813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Image Captioning with RNNs and Spatial Context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0395" y="6567780"/>
            <a:ext cx="6072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 et al, “Show, Attend and Tell: Neural Image Captain Generation with Visual Attention”, ICML 2015</a:t>
            </a:r>
          </a:p>
        </p:txBody>
      </p:sp>
      <p:grpSp>
        <p:nvGrpSpPr>
          <p:cNvPr id="337" name="Group 336"/>
          <p:cNvGrpSpPr/>
          <p:nvPr/>
        </p:nvGrpSpPr>
        <p:grpSpPr>
          <a:xfrm>
            <a:off x="7403503" y="1615800"/>
            <a:ext cx="1123173" cy="894783"/>
            <a:chOff x="3907525" y="3282431"/>
            <a:chExt cx="1399431" cy="991913"/>
          </a:xfrm>
          <a:solidFill>
            <a:srgbClr val="FFC000">
              <a:alpha val="36000"/>
            </a:srgbClr>
          </a:solidFill>
        </p:grpSpPr>
        <p:sp>
          <p:nvSpPr>
            <p:cNvPr id="434" name="Rectangle 433"/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0,0</a:t>
              </a:r>
            </a:p>
          </p:txBody>
        </p:sp>
        <p:sp>
          <p:nvSpPr>
            <p:cNvPr id="435" name="Rectangle 434"/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0,1</a:t>
              </a:r>
            </a:p>
          </p:txBody>
        </p:sp>
        <p:sp>
          <p:nvSpPr>
            <p:cNvPr id="436" name="Rectangle 435"/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0,2</a:t>
              </a:r>
            </a:p>
          </p:txBody>
        </p:sp>
        <p:sp>
          <p:nvSpPr>
            <p:cNvPr id="437" name="Rectangle 436"/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</a:t>
              </a:r>
            </a:p>
          </p:txBody>
        </p:sp>
        <p:sp>
          <p:nvSpPr>
            <p:cNvPr id="438" name="Rectangle 437"/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</a:t>
              </a:r>
            </a:p>
          </p:txBody>
        </p:sp>
        <p:sp>
          <p:nvSpPr>
            <p:cNvPr id="439" name="Rectangle 438"/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</a:t>
              </a:r>
            </a:p>
          </p:txBody>
        </p:sp>
        <p:sp>
          <p:nvSpPr>
            <p:cNvPr id="440" name="Rectangle 439"/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2,0</a:t>
              </a:r>
            </a:p>
          </p:txBody>
        </p:sp>
        <p:sp>
          <p:nvSpPr>
            <p:cNvPr id="441" name="Rectangle 440"/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2,1</a:t>
              </a:r>
            </a:p>
          </p:txBody>
        </p:sp>
        <p:sp>
          <p:nvSpPr>
            <p:cNvPr id="442" name="Rectangle 441"/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2,2</a:t>
              </a:r>
            </a:p>
          </p:txBody>
        </p:sp>
      </p:grpSp>
      <p:sp>
        <p:nvSpPr>
          <p:cNvPr id="354" name="TextBox 353"/>
          <p:cNvSpPr txBox="1"/>
          <p:nvPr/>
        </p:nvSpPr>
        <p:spPr>
          <a:xfrm>
            <a:off x="6319460" y="1709704"/>
            <a:ext cx="942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Features: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 x D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5428592" y="1043710"/>
            <a:ext cx="2175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Extract spatial features from a pretrained CNN</a:t>
            </a:r>
          </a:p>
        </p:txBody>
      </p:sp>
      <p:sp>
        <p:nvSpPr>
          <p:cNvPr id="89" name="Trapezoid 88">
            <a:extLst>
              <a:ext uri="{FF2B5EF4-FFF2-40B4-BE49-F238E27FC236}">
                <a16:creationId xmlns:a16="http://schemas.microsoft.com/office/drawing/2014/main" id="{DDE594F1-70CA-44FF-8906-F7F7971989A4}"/>
              </a:ext>
            </a:extLst>
          </p:cNvPr>
          <p:cNvSpPr/>
          <p:nvPr/>
        </p:nvSpPr>
        <p:spPr>
          <a:xfrm rot="10800000">
            <a:off x="7543632" y="968669"/>
            <a:ext cx="909750" cy="601216"/>
          </a:xfrm>
          <a:prstGeom prst="trapezoid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8602CBC-BD39-466E-AEDF-66B4B15D6C1B}"/>
              </a:ext>
            </a:extLst>
          </p:cNvPr>
          <p:cNvSpPr txBox="1"/>
          <p:nvPr/>
        </p:nvSpPr>
        <p:spPr>
          <a:xfrm>
            <a:off x="7665435" y="1105843"/>
            <a:ext cx="6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CNN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1EDAC2A-0616-47C0-82F1-45832155113B}"/>
              </a:ext>
            </a:extLst>
          </p:cNvPr>
          <p:cNvSpPr txBox="1"/>
          <p:nvPr/>
        </p:nvSpPr>
        <p:spPr>
          <a:xfrm>
            <a:off x="6581775" y="6492875"/>
            <a:ext cx="561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Fei-Fei Li Attention and Transformers CS231n Stanford Lecture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CDBE25-82FF-4ECD-9FD6-51187602248E}"/>
              </a:ext>
            </a:extLst>
          </p:cNvPr>
          <p:cNvSpPr txBox="1"/>
          <p:nvPr/>
        </p:nvSpPr>
        <p:spPr>
          <a:xfrm>
            <a:off x="890019" y="1766720"/>
            <a:ext cx="52882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 Narrow" panose="020B0606020202030204" pitchFamily="34" charset="0"/>
              </a:rPr>
              <a:t>In image captioning problem,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Input is an Image (I)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7030A0"/>
              </a:solidFill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A CNN is used to extract the important features for the image.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7030A0"/>
              </a:solidFill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The output is a sequence of words describing the image briefly.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00250A-106F-47E0-ACBE-559FEED19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939" y="17748"/>
            <a:ext cx="836736" cy="89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801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Box 209"/>
          <p:cNvSpPr txBox="1"/>
          <p:nvPr/>
        </p:nvSpPr>
        <p:spPr>
          <a:xfrm>
            <a:off x="60395" y="6567780"/>
            <a:ext cx="6072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 et al, “Show, Attend and Tell: Neural Image Captain Generation with Visual Attention”, ICML 2015</a:t>
            </a:r>
          </a:p>
        </p:txBody>
      </p:sp>
      <p:grpSp>
        <p:nvGrpSpPr>
          <p:cNvPr id="337" name="Group 336"/>
          <p:cNvGrpSpPr/>
          <p:nvPr/>
        </p:nvGrpSpPr>
        <p:grpSpPr>
          <a:xfrm>
            <a:off x="7403503" y="1615800"/>
            <a:ext cx="1123173" cy="894783"/>
            <a:chOff x="3907525" y="3282431"/>
            <a:chExt cx="1399431" cy="991913"/>
          </a:xfrm>
          <a:solidFill>
            <a:srgbClr val="FFC000">
              <a:alpha val="36000"/>
            </a:srgbClr>
          </a:solidFill>
        </p:grpSpPr>
        <p:sp>
          <p:nvSpPr>
            <p:cNvPr id="434" name="Rectangle 433"/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0,0</a:t>
              </a:r>
            </a:p>
          </p:txBody>
        </p:sp>
        <p:sp>
          <p:nvSpPr>
            <p:cNvPr id="435" name="Rectangle 434"/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0,1</a:t>
              </a:r>
            </a:p>
          </p:txBody>
        </p:sp>
        <p:sp>
          <p:nvSpPr>
            <p:cNvPr id="436" name="Rectangle 435"/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0,2</a:t>
              </a:r>
            </a:p>
          </p:txBody>
        </p:sp>
        <p:sp>
          <p:nvSpPr>
            <p:cNvPr id="437" name="Rectangle 436"/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</a:t>
              </a:r>
            </a:p>
          </p:txBody>
        </p:sp>
        <p:sp>
          <p:nvSpPr>
            <p:cNvPr id="438" name="Rectangle 437"/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</a:t>
              </a:r>
            </a:p>
          </p:txBody>
        </p:sp>
        <p:sp>
          <p:nvSpPr>
            <p:cNvPr id="439" name="Rectangle 438"/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</a:t>
              </a:r>
            </a:p>
          </p:txBody>
        </p:sp>
        <p:sp>
          <p:nvSpPr>
            <p:cNvPr id="440" name="Rectangle 439"/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2,0</a:t>
              </a:r>
            </a:p>
          </p:txBody>
        </p:sp>
        <p:sp>
          <p:nvSpPr>
            <p:cNvPr id="441" name="Rectangle 440"/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2,1</a:t>
              </a:r>
            </a:p>
          </p:txBody>
        </p:sp>
        <p:sp>
          <p:nvSpPr>
            <p:cNvPr id="442" name="Rectangle 441"/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2,2</a:t>
              </a:r>
            </a:p>
          </p:txBody>
        </p:sp>
      </p:grpSp>
      <p:sp>
        <p:nvSpPr>
          <p:cNvPr id="341" name="Oval 340"/>
          <p:cNvSpPr/>
          <p:nvPr/>
        </p:nvSpPr>
        <p:spPr>
          <a:xfrm>
            <a:off x="8165078" y="3145132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2" name="Rectangle 341"/>
          <p:cNvSpPr/>
          <p:nvPr/>
        </p:nvSpPr>
        <p:spPr>
          <a:xfrm>
            <a:off x="8194856" y="3134938"/>
            <a:ext cx="3337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0" name="Straight Arrow Connector 349"/>
          <p:cNvCxnSpPr>
            <a:stCxn id="442" idx="2"/>
            <a:endCxn id="341" idx="0"/>
          </p:cNvCxnSpPr>
          <p:nvPr/>
        </p:nvCxnSpPr>
        <p:spPr>
          <a:xfrm flipH="1">
            <a:off x="8331578" y="2510582"/>
            <a:ext cx="7775" cy="634550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TextBox 353"/>
          <p:cNvSpPr txBox="1"/>
          <p:nvPr/>
        </p:nvSpPr>
        <p:spPr>
          <a:xfrm>
            <a:off x="6319460" y="1709704"/>
            <a:ext cx="942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Features: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 x D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5428592" y="1008406"/>
            <a:ext cx="2175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Extract spatial features from a pretrained CNN</a:t>
            </a:r>
          </a:p>
        </p:txBody>
      </p:sp>
      <p:sp>
        <p:nvSpPr>
          <p:cNvPr id="89" name="Trapezoid 88">
            <a:extLst>
              <a:ext uri="{FF2B5EF4-FFF2-40B4-BE49-F238E27FC236}">
                <a16:creationId xmlns:a16="http://schemas.microsoft.com/office/drawing/2014/main" id="{DDE594F1-70CA-44FF-8906-F7F7971989A4}"/>
              </a:ext>
            </a:extLst>
          </p:cNvPr>
          <p:cNvSpPr/>
          <p:nvPr/>
        </p:nvSpPr>
        <p:spPr>
          <a:xfrm rot="10800000">
            <a:off x="7543632" y="968669"/>
            <a:ext cx="909750" cy="601216"/>
          </a:xfrm>
          <a:prstGeom prst="trapezoid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8602CBC-BD39-466E-AEDF-66B4B15D6C1B}"/>
              </a:ext>
            </a:extLst>
          </p:cNvPr>
          <p:cNvSpPr txBox="1"/>
          <p:nvPr/>
        </p:nvSpPr>
        <p:spPr>
          <a:xfrm>
            <a:off x="7665435" y="1105843"/>
            <a:ext cx="6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CNN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5A796-A3D6-4816-A5A0-584C9C8711F3}"/>
              </a:ext>
            </a:extLst>
          </p:cNvPr>
          <p:cNvSpPr txBox="1"/>
          <p:nvPr/>
        </p:nvSpPr>
        <p:spPr>
          <a:xfrm>
            <a:off x="7662029" y="2652689"/>
            <a:ext cx="791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MLP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C7D0315-24DB-4C47-8341-6919D459D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939" y="17748"/>
            <a:ext cx="836736" cy="890248"/>
          </a:xfrm>
          <a:prstGeom prst="rect">
            <a:avLst/>
          </a:prstGeom>
        </p:spPr>
      </p:pic>
      <p:sp>
        <p:nvSpPr>
          <p:cNvPr id="31" name="Title 3">
            <a:extLst>
              <a:ext uri="{FF2B5EF4-FFF2-40B4-BE49-F238E27FC236}">
                <a16:creationId xmlns:a16="http://schemas.microsoft.com/office/drawing/2014/main" id="{CD96AC4F-5445-4A64-8C21-9C2A5B82F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453"/>
            <a:ext cx="6019800" cy="1404813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Image Captioning with RNNs and Spatial Context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5E877E-AD9B-4979-AE2A-E21DB46406C4}"/>
              </a:ext>
            </a:extLst>
          </p:cNvPr>
          <p:cNvSpPr txBox="1"/>
          <p:nvPr/>
        </p:nvSpPr>
        <p:spPr>
          <a:xfrm>
            <a:off x="890019" y="1766720"/>
            <a:ext cx="528828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 Narrow" panose="020B0606020202030204" pitchFamily="34" charset="0"/>
              </a:rPr>
              <a:t>In image captioning problem,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 Narrow" panose="020B0606020202030204" pitchFamily="34" charset="0"/>
              </a:rPr>
              <a:t>Input is an Image (I)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 Narrow" panose="020B0606020202030204" pitchFamily="34" charset="0"/>
              </a:rPr>
              <a:t>A CNN is used to extract the important features for the image.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 Narrow" panose="020B0606020202030204" pitchFamily="34" charset="0"/>
              </a:rPr>
              <a:t>The output is a sequence of words describing the image briefly.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A MLP is used to extract the spatial context.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EC3587-3312-49BB-8E44-85A791F7A22D}"/>
              </a:ext>
            </a:extLst>
          </p:cNvPr>
          <p:cNvSpPr txBox="1"/>
          <p:nvPr/>
        </p:nvSpPr>
        <p:spPr>
          <a:xfrm>
            <a:off x="6581775" y="6492875"/>
            <a:ext cx="561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Fei-Fei Li Attention and Transformers CS231n Stanford Lecture</a:t>
            </a:r>
          </a:p>
        </p:txBody>
      </p:sp>
    </p:spTree>
    <p:extLst>
      <p:ext uri="{BB962C8B-B14F-4D97-AF65-F5344CB8AC3E}">
        <p14:creationId xmlns:p14="http://schemas.microsoft.com/office/powerpoint/2010/main" val="3858328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Box 209"/>
          <p:cNvSpPr txBox="1"/>
          <p:nvPr/>
        </p:nvSpPr>
        <p:spPr>
          <a:xfrm>
            <a:off x="60395" y="6567780"/>
            <a:ext cx="6072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 et al, “Show, Attend and Tell: Neural Image Captain Generation with Visual Attention”, ICML 2015</a:t>
            </a:r>
          </a:p>
        </p:txBody>
      </p:sp>
      <p:grpSp>
        <p:nvGrpSpPr>
          <p:cNvPr id="337" name="Group 336"/>
          <p:cNvGrpSpPr/>
          <p:nvPr/>
        </p:nvGrpSpPr>
        <p:grpSpPr>
          <a:xfrm>
            <a:off x="7403503" y="1615800"/>
            <a:ext cx="1123173" cy="894783"/>
            <a:chOff x="3907525" y="3282431"/>
            <a:chExt cx="1399431" cy="991913"/>
          </a:xfrm>
          <a:solidFill>
            <a:srgbClr val="FFC000">
              <a:alpha val="36000"/>
            </a:srgbClr>
          </a:solidFill>
        </p:grpSpPr>
        <p:sp>
          <p:nvSpPr>
            <p:cNvPr id="434" name="Rectangle 433"/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0,0</a:t>
              </a:r>
            </a:p>
          </p:txBody>
        </p:sp>
        <p:sp>
          <p:nvSpPr>
            <p:cNvPr id="435" name="Rectangle 434"/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0,1</a:t>
              </a:r>
            </a:p>
          </p:txBody>
        </p:sp>
        <p:sp>
          <p:nvSpPr>
            <p:cNvPr id="436" name="Rectangle 435"/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0,2</a:t>
              </a:r>
            </a:p>
          </p:txBody>
        </p:sp>
        <p:sp>
          <p:nvSpPr>
            <p:cNvPr id="437" name="Rectangle 436"/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</a:t>
              </a:r>
            </a:p>
          </p:txBody>
        </p:sp>
        <p:sp>
          <p:nvSpPr>
            <p:cNvPr id="438" name="Rectangle 437"/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</a:t>
              </a:r>
            </a:p>
          </p:txBody>
        </p:sp>
        <p:sp>
          <p:nvSpPr>
            <p:cNvPr id="439" name="Rectangle 438"/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</a:t>
              </a:r>
            </a:p>
          </p:txBody>
        </p:sp>
        <p:sp>
          <p:nvSpPr>
            <p:cNvPr id="440" name="Rectangle 439"/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2,0</a:t>
              </a:r>
            </a:p>
          </p:txBody>
        </p:sp>
        <p:sp>
          <p:nvSpPr>
            <p:cNvPr id="441" name="Rectangle 440"/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2,1</a:t>
              </a:r>
            </a:p>
          </p:txBody>
        </p:sp>
        <p:sp>
          <p:nvSpPr>
            <p:cNvPr id="442" name="Rectangle 441"/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2,2</a:t>
              </a:r>
            </a:p>
          </p:txBody>
        </p:sp>
      </p:grpSp>
      <p:sp>
        <p:nvSpPr>
          <p:cNvPr id="338" name="Oval 337"/>
          <p:cNvSpPr/>
          <p:nvPr/>
        </p:nvSpPr>
        <p:spPr>
          <a:xfrm>
            <a:off x="8168648" y="3770289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9" name="Rectangle 338"/>
          <p:cNvSpPr/>
          <p:nvPr/>
        </p:nvSpPr>
        <p:spPr>
          <a:xfrm>
            <a:off x="8198019" y="3755859"/>
            <a:ext cx="3337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1" name="Oval 340"/>
          <p:cNvSpPr/>
          <p:nvPr/>
        </p:nvSpPr>
        <p:spPr>
          <a:xfrm>
            <a:off x="8165078" y="3145132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2" name="Rectangle 341"/>
          <p:cNvSpPr/>
          <p:nvPr/>
        </p:nvSpPr>
        <p:spPr>
          <a:xfrm>
            <a:off x="8194856" y="3134938"/>
            <a:ext cx="3337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3" name="Oval 342"/>
          <p:cNvSpPr/>
          <p:nvPr/>
        </p:nvSpPr>
        <p:spPr>
          <a:xfrm>
            <a:off x="6297734" y="3611235"/>
            <a:ext cx="332999" cy="314825"/>
          </a:xfrm>
          <a:prstGeom prst="ellipse">
            <a:avLst/>
          </a:prstGeom>
          <a:solidFill>
            <a:srgbClr val="9F2160">
              <a:alpha val="43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4" name="Rectangle 343"/>
          <p:cNvSpPr/>
          <p:nvPr/>
        </p:nvSpPr>
        <p:spPr>
          <a:xfrm>
            <a:off x="6311377" y="3593157"/>
            <a:ext cx="322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345" name="Oval 344"/>
          <p:cNvSpPr/>
          <p:nvPr/>
        </p:nvSpPr>
        <p:spPr>
          <a:xfrm>
            <a:off x="6296550" y="3955009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6" name="Rectangle 345"/>
          <p:cNvSpPr/>
          <p:nvPr/>
        </p:nvSpPr>
        <p:spPr>
          <a:xfrm>
            <a:off x="6292410" y="3946581"/>
            <a:ext cx="3337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7" name="Oval 346"/>
          <p:cNvSpPr/>
          <p:nvPr/>
        </p:nvSpPr>
        <p:spPr>
          <a:xfrm>
            <a:off x="8870528" y="3767075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" name="Rectangle 347"/>
          <p:cNvSpPr/>
          <p:nvPr/>
        </p:nvSpPr>
        <p:spPr>
          <a:xfrm>
            <a:off x="8891369" y="3760150"/>
            <a:ext cx="3337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0" name="Straight Arrow Connector 349"/>
          <p:cNvCxnSpPr>
            <a:stCxn id="442" idx="2"/>
            <a:endCxn id="341" idx="0"/>
          </p:cNvCxnSpPr>
          <p:nvPr/>
        </p:nvCxnSpPr>
        <p:spPr>
          <a:xfrm flipH="1">
            <a:off x="8331578" y="2510582"/>
            <a:ext cx="7775" cy="634550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Elbow Connector 350"/>
          <p:cNvCxnSpPr>
            <a:stCxn id="341" idx="4"/>
            <a:endCxn id="343" idx="7"/>
          </p:cNvCxnSpPr>
          <p:nvPr/>
        </p:nvCxnSpPr>
        <p:spPr>
          <a:xfrm rot="5400000">
            <a:off x="7358081" y="2683842"/>
            <a:ext cx="197383" cy="1749612"/>
          </a:xfrm>
          <a:prstGeom prst="bentConnector3">
            <a:avLst>
              <a:gd name="adj1" fmla="val 99463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Arrow Connector 351"/>
          <p:cNvCxnSpPr>
            <a:stCxn id="338" idx="6"/>
            <a:endCxn id="347" idx="2"/>
          </p:cNvCxnSpPr>
          <p:nvPr/>
        </p:nvCxnSpPr>
        <p:spPr>
          <a:xfrm flipV="1">
            <a:off x="8501647" y="3924488"/>
            <a:ext cx="368881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TextBox 352"/>
          <p:cNvSpPr txBox="1"/>
          <p:nvPr/>
        </p:nvSpPr>
        <p:spPr>
          <a:xfrm>
            <a:off x="9169817" y="3737342"/>
            <a:ext cx="47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Boy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6319460" y="1709704"/>
            <a:ext cx="942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Features: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 x D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5306789" y="985314"/>
            <a:ext cx="2175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Extract spatial features from a pretrained CNN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5175336" y="3943144"/>
            <a:ext cx="8138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[START]</a:t>
            </a:r>
          </a:p>
        </p:txBody>
      </p:sp>
      <p:cxnSp>
        <p:nvCxnSpPr>
          <p:cNvPr id="362" name="Straight Arrow Connector 361"/>
          <p:cNvCxnSpPr>
            <a:stCxn id="345" idx="7"/>
          </p:cNvCxnSpPr>
          <p:nvPr/>
        </p:nvCxnSpPr>
        <p:spPr>
          <a:xfrm flipV="1">
            <a:off x="6580782" y="3991046"/>
            <a:ext cx="1587278" cy="10068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Arrow Connector 412"/>
          <p:cNvCxnSpPr>
            <a:stCxn id="343" idx="5"/>
          </p:cNvCxnSpPr>
          <p:nvPr/>
        </p:nvCxnSpPr>
        <p:spPr>
          <a:xfrm flipV="1">
            <a:off x="6581966" y="3869492"/>
            <a:ext cx="1591938" cy="10463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rapezoid 88">
            <a:extLst>
              <a:ext uri="{FF2B5EF4-FFF2-40B4-BE49-F238E27FC236}">
                <a16:creationId xmlns:a16="http://schemas.microsoft.com/office/drawing/2014/main" id="{DDE594F1-70CA-44FF-8906-F7F7971989A4}"/>
              </a:ext>
            </a:extLst>
          </p:cNvPr>
          <p:cNvSpPr/>
          <p:nvPr/>
        </p:nvSpPr>
        <p:spPr>
          <a:xfrm rot="10800000">
            <a:off x="7543632" y="968669"/>
            <a:ext cx="909750" cy="601216"/>
          </a:xfrm>
          <a:prstGeom prst="trapezoid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8602CBC-BD39-466E-AEDF-66B4B15D6C1B}"/>
              </a:ext>
            </a:extLst>
          </p:cNvPr>
          <p:cNvSpPr txBox="1"/>
          <p:nvPr/>
        </p:nvSpPr>
        <p:spPr>
          <a:xfrm>
            <a:off x="7665435" y="1105843"/>
            <a:ext cx="6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CNN</a:t>
            </a:r>
          </a:p>
        </p:txBody>
      </p:sp>
      <p:sp>
        <p:nvSpPr>
          <p:cNvPr id="43" name="Title 3">
            <a:extLst>
              <a:ext uri="{FF2B5EF4-FFF2-40B4-BE49-F238E27FC236}">
                <a16:creationId xmlns:a16="http://schemas.microsoft.com/office/drawing/2014/main" id="{7C6FD650-8424-4025-AB83-CDA8F709F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453"/>
            <a:ext cx="6019800" cy="1404813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Image Captioning with RNNs and Spatial Context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F01791D7-EA51-4C31-9A60-75D6BF5F8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939" y="17748"/>
            <a:ext cx="836736" cy="890248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AD26A42F-A3F2-4E18-ADB6-1BC6A99C4DE3}"/>
              </a:ext>
            </a:extLst>
          </p:cNvPr>
          <p:cNvSpPr txBox="1"/>
          <p:nvPr/>
        </p:nvSpPr>
        <p:spPr>
          <a:xfrm>
            <a:off x="890019" y="1766720"/>
            <a:ext cx="52882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 Narrow" panose="020B0606020202030204" pitchFamily="34" charset="0"/>
              </a:rPr>
              <a:t>In image captioning problem,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In Decoder side, the RNN is employed.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7030A0"/>
              </a:solidFill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[start] and Context vector (C) are the inputs for first decoder node.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7030A0"/>
              </a:solidFill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Output of the 1</a:t>
            </a:r>
            <a:r>
              <a:rPr lang="en-IN" sz="2000" baseline="30000" dirty="0">
                <a:solidFill>
                  <a:srgbClr val="7030A0"/>
                </a:solidFill>
                <a:latin typeface="Arial Narrow" panose="020B0606020202030204" pitchFamily="34" charset="0"/>
              </a:rPr>
              <a:t>st</a:t>
            </a: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node is “</a:t>
            </a:r>
            <a:r>
              <a:rPr lang="en-IN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Boy</a:t>
            </a: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Arial Narrow" panose="020B060602020203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B989F83-70F8-448D-8024-F4268962766A}"/>
              </a:ext>
            </a:extLst>
          </p:cNvPr>
          <p:cNvSpPr txBox="1"/>
          <p:nvPr/>
        </p:nvSpPr>
        <p:spPr>
          <a:xfrm>
            <a:off x="6581775" y="6492875"/>
            <a:ext cx="561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Fei-Fei Li Attention and Transformers CS231n Stanford Lecture</a:t>
            </a:r>
          </a:p>
        </p:txBody>
      </p:sp>
    </p:spTree>
    <p:extLst>
      <p:ext uri="{BB962C8B-B14F-4D97-AF65-F5344CB8AC3E}">
        <p14:creationId xmlns:p14="http://schemas.microsoft.com/office/powerpoint/2010/main" val="825332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Box 209"/>
          <p:cNvSpPr txBox="1"/>
          <p:nvPr/>
        </p:nvSpPr>
        <p:spPr>
          <a:xfrm>
            <a:off x="60395" y="6567780"/>
            <a:ext cx="6072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 et al, “Show, Attend and Tell: Neural Image Captain Generation with Visual Attention”, ICML 2015</a:t>
            </a:r>
          </a:p>
        </p:txBody>
      </p:sp>
      <p:grpSp>
        <p:nvGrpSpPr>
          <p:cNvPr id="337" name="Group 336"/>
          <p:cNvGrpSpPr/>
          <p:nvPr/>
        </p:nvGrpSpPr>
        <p:grpSpPr>
          <a:xfrm>
            <a:off x="7403503" y="1615800"/>
            <a:ext cx="1123173" cy="894783"/>
            <a:chOff x="3907525" y="3282431"/>
            <a:chExt cx="1399431" cy="991913"/>
          </a:xfrm>
          <a:solidFill>
            <a:srgbClr val="FFC000">
              <a:alpha val="36000"/>
            </a:srgbClr>
          </a:solidFill>
        </p:grpSpPr>
        <p:sp>
          <p:nvSpPr>
            <p:cNvPr id="434" name="Rectangle 433"/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0,0</a:t>
              </a:r>
            </a:p>
          </p:txBody>
        </p:sp>
        <p:sp>
          <p:nvSpPr>
            <p:cNvPr id="435" name="Rectangle 434"/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0,1</a:t>
              </a:r>
            </a:p>
          </p:txBody>
        </p:sp>
        <p:sp>
          <p:nvSpPr>
            <p:cNvPr id="436" name="Rectangle 435"/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0,2</a:t>
              </a:r>
            </a:p>
          </p:txBody>
        </p:sp>
        <p:sp>
          <p:nvSpPr>
            <p:cNvPr id="437" name="Rectangle 436"/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</a:t>
              </a:r>
            </a:p>
          </p:txBody>
        </p:sp>
        <p:sp>
          <p:nvSpPr>
            <p:cNvPr id="438" name="Rectangle 437"/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</a:t>
              </a:r>
            </a:p>
          </p:txBody>
        </p:sp>
        <p:sp>
          <p:nvSpPr>
            <p:cNvPr id="439" name="Rectangle 438"/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</a:t>
              </a:r>
            </a:p>
          </p:txBody>
        </p:sp>
        <p:sp>
          <p:nvSpPr>
            <p:cNvPr id="440" name="Rectangle 439"/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2,0</a:t>
              </a:r>
            </a:p>
          </p:txBody>
        </p:sp>
        <p:sp>
          <p:nvSpPr>
            <p:cNvPr id="441" name="Rectangle 440"/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2,1</a:t>
              </a:r>
            </a:p>
          </p:txBody>
        </p:sp>
        <p:sp>
          <p:nvSpPr>
            <p:cNvPr id="442" name="Rectangle 441"/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2,2</a:t>
              </a:r>
            </a:p>
          </p:txBody>
        </p:sp>
      </p:grpSp>
      <p:sp>
        <p:nvSpPr>
          <p:cNvPr id="338" name="Oval 337"/>
          <p:cNvSpPr/>
          <p:nvPr/>
        </p:nvSpPr>
        <p:spPr>
          <a:xfrm>
            <a:off x="8168648" y="3770289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9" name="Rectangle 338"/>
          <p:cNvSpPr/>
          <p:nvPr/>
        </p:nvSpPr>
        <p:spPr>
          <a:xfrm>
            <a:off x="8198019" y="3755859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1" name="Oval 340"/>
          <p:cNvSpPr/>
          <p:nvPr/>
        </p:nvSpPr>
        <p:spPr>
          <a:xfrm>
            <a:off x="8165078" y="3145132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2" name="Rectangle 341"/>
          <p:cNvSpPr/>
          <p:nvPr/>
        </p:nvSpPr>
        <p:spPr>
          <a:xfrm>
            <a:off x="8194856" y="3134938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3" name="Oval 342"/>
          <p:cNvSpPr/>
          <p:nvPr/>
        </p:nvSpPr>
        <p:spPr>
          <a:xfrm>
            <a:off x="6297734" y="3611235"/>
            <a:ext cx="332999" cy="314825"/>
          </a:xfrm>
          <a:prstGeom prst="ellipse">
            <a:avLst/>
          </a:prstGeom>
          <a:solidFill>
            <a:srgbClr val="9F2160">
              <a:alpha val="43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4" name="Rectangle 343"/>
          <p:cNvSpPr/>
          <p:nvPr/>
        </p:nvSpPr>
        <p:spPr>
          <a:xfrm>
            <a:off x="6311377" y="3593157"/>
            <a:ext cx="322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345" name="Oval 344"/>
          <p:cNvSpPr/>
          <p:nvPr/>
        </p:nvSpPr>
        <p:spPr>
          <a:xfrm>
            <a:off x="6296550" y="3955009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6" name="Rectangle 345"/>
          <p:cNvSpPr/>
          <p:nvPr/>
        </p:nvSpPr>
        <p:spPr>
          <a:xfrm>
            <a:off x="6292410" y="3946581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7" name="Oval 346"/>
          <p:cNvSpPr/>
          <p:nvPr/>
        </p:nvSpPr>
        <p:spPr>
          <a:xfrm>
            <a:off x="8870528" y="3767075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8" name="Rectangle 347"/>
          <p:cNvSpPr/>
          <p:nvPr/>
        </p:nvSpPr>
        <p:spPr>
          <a:xfrm>
            <a:off x="8891369" y="3760150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50" name="Straight Arrow Connector 349"/>
          <p:cNvCxnSpPr>
            <a:stCxn id="442" idx="2"/>
            <a:endCxn id="341" idx="0"/>
          </p:cNvCxnSpPr>
          <p:nvPr/>
        </p:nvCxnSpPr>
        <p:spPr>
          <a:xfrm flipH="1">
            <a:off x="8331578" y="2510582"/>
            <a:ext cx="7775" cy="634550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Elbow Connector 350"/>
          <p:cNvCxnSpPr>
            <a:stCxn id="341" idx="4"/>
            <a:endCxn id="343" idx="7"/>
          </p:cNvCxnSpPr>
          <p:nvPr/>
        </p:nvCxnSpPr>
        <p:spPr>
          <a:xfrm rot="5400000">
            <a:off x="7358081" y="2683842"/>
            <a:ext cx="197383" cy="1749612"/>
          </a:xfrm>
          <a:prstGeom prst="bentConnector3">
            <a:avLst>
              <a:gd name="adj1" fmla="val 99463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Arrow Connector 351"/>
          <p:cNvCxnSpPr>
            <a:stCxn id="338" idx="6"/>
            <a:endCxn id="347" idx="2"/>
          </p:cNvCxnSpPr>
          <p:nvPr/>
        </p:nvCxnSpPr>
        <p:spPr>
          <a:xfrm flipV="1">
            <a:off x="8501647" y="3924488"/>
            <a:ext cx="368881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TextBox 352"/>
          <p:cNvSpPr txBox="1"/>
          <p:nvPr/>
        </p:nvSpPr>
        <p:spPr>
          <a:xfrm>
            <a:off x="9169817" y="3737342"/>
            <a:ext cx="47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Boy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6319460" y="1709704"/>
            <a:ext cx="942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Features: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 x D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5177253" y="3784075"/>
            <a:ext cx="8138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[START]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5299819" y="4729347"/>
            <a:ext cx="47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Boy</a:t>
            </a:r>
          </a:p>
        </p:txBody>
      </p:sp>
      <p:cxnSp>
        <p:nvCxnSpPr>
          <p:cNvPr id="362" name="Straight Arrow Connector 361"/>
          <p:cNvCxnSpPr>
            <a:stCxn id="345" idx="7"/>
          </p:cNvCxnSpPr>
          <p:nvPr/>
        </p:nvCxnSpPr>
        <p:spPr>
          <a:xfrm flipV="1">
            <a:off x="6580782" y="3991046"/>
            <a:ext cx="1587278" cy="10068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3" name="Oval 362"/>
          <p:cNvSpPr/>
          <p:nvPr/>
        </p:nvSpPr>
        <p:spPr>
          <a:xfrm>
            <a:off x="8166094" y="4590743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4" name="Rectangle 363"/>
          <p:cNvSpPr/>
          <p:nvPr/>
        </p:nvSpPr>
        <p:spPr>
          <a:xfrm>
            <a:off x="8195465" y="4576313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7" name="Oval 366"/>
          <p:cNvSpPr/>
          <p:nvPr/>
        </p:nvSpPr>
        <p:spPr>
          <a:xfrm>
            <a:off x="6308282" y="4775463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8" name="Rectangle 367"/>
          <p:cNvSpPr/>
          <p:nvPr/>
        </p:nvSpPr>
        <p:spPr>
          <a:xfrm>
            <a:off x="6304142" y="4767035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9" name="Oval 368"/>
          <p:cNvSpPr/>
          <p:nvPr/>
        </p:nvSpPr>
        <p:spPr>
          <a:xfrm>
            <a:off x="8882260" y="4587529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0" name="Rectangle 369"/>
          <p:cNvSpPr/>
          <p:nvPr/>
        </p:nvSpPr>
        <p:spPr>
          <a:xfrm>
            <a:off x="8903101" y="4580604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71" name="Straight Arrow Connector 370"/>
          <p:cNvCxnSpPr>
            <a:stCxn id="363" idx="6"/>
            <a:endCxn id="369" idx="2"/>
          </p:cNvCxnSpPr>
          <p:nvPr/>
        </p:nvCxnSpPr>
        <p:spPr>
          <a:xfrm flipV="1">
            <a:off x="8499093" y="4744942"/>
            <a:ext cx="383167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Arrow Connector 371"/>
          <p:cNvCxnSpPr>
            <a:stCxn id="367" idx="7"/>
          </p:cNvCxnSpPr>
          <p:nvPr/>
        </p:nvCxnSpPr>
        <p:spPr>
          <a:xfrm flipV="1">
            <a:off x="6592514" y="4819589"/>
            <a:ext cx="1570785" cy="1979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8" name="TextBox 397"/>
          <p:cNvSpPr txBox="1"/>
          <p:nvPr/>
        </p:nvSpPr>
        <p:spPr>
          <a:xfrm>
            <a:off x="9169817" y="4547619"/>
            <a:ext cx="7072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waving</a:t>
            </a:r>
          </a:p>
        </p:txBody>
      </p:sp>
      <p:cxnSp>
        <p:nvCxnSpPr>
          <p:cNvPr id="410" name="Straight Arrow Connector 409"/>
          <p:cNvCxnSpPr>
            <a:stCxn id="338" idx="4"/>
            <a:endCxn id="363" idx="0"/>
          </p:cNvCxnSpPr>
          <p:nvPr/>
        </p:nvCxnSpPr>
        <p:spPr>
          <a:xfrm flipH="1">
            <a:off x="8332594" y="4085114"/>
            <a:ext cx="2554" cy="505629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Arrow Connector 412"/>
          <p:cNvCxnSpPr>
            <a:stCxn id="343" idx="5"/>
          </p:cNvCxnSpPr>
          <p:nvPr/>
        </p:nvCxnSpPr>
        <p:spPr>
          <a:xfrm flipV="1">
            <a:off x="6581966" y="3869492"/>
            <a:ext cx="1591938" cy="10463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rapezoid 88">
            <a:extLst>
              <a:ext uri="{FF2B5EF4-FFF2-40B4-BE49-F238E27FC236}">
                <a16:creationId xmlns:a16="http://schemas.microsoft.com/office/drawing/2014/main" id="{DDE594F1-70CA-44FF-8906-F7F7971989A4}"/>
              </a:ext>
            </a:extLst>
          </p:cNvPr>
          <p:cNvSpPr/>
          <p:nvPr/>
        </p:nvSpPr>
        <p:spPr>
          <a:xfrm rot="10800000">
            <a:off x="7543632" y="968669"/>
            <a:ext cx="909750" cy="601216"/>
          </a:xfrm>
          <a:prstGeom prst="trapezoid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8602CBC-BD39-466E-AEDF-66B4B15D6C1B}"/>
              </a:ext>
            </a:extLst>
          </p:cNvPr>
          <p:cNvSpPr txBox="1"/>
          <p:nvPr/>
        </p:nvSpPr>
        <p:spPr>
          <a:xfrm>
            <a:off x="7665435" y="1105843"/>
            <a:ext cx="6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CNN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FCFFC9-0C01-4C05-A468-AB297A357E24}"/>
              </a:ext>
            </a:extLst>
          </p:cNvPr>
          <p:cNvCxnSpPr>
            <a:cxnSpLocks/>
          </p:cNvCxnSpPr>
          <p:nvPr/>
        </p:nvCxnSpPr>
        <p:spPr>
          <a:xfrm>
            <a:off x="6858000" y="3869492"/>
            <a:ext cx="0" cy="848599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6F18B25-F526-4319-8396-F4422E329FB8}"/>
              </a:ext>
            </a:extLst>
          </p:cNvPr>
          <p:cNvCxnSpPr>
            <a:cxnSpLocks/>
          </p:cNvCxnSpPr>
          <p:nvPr/>
        </p:nvCxnSpPr>
        <p:spPr>
          <a:xfrm>
            <a:off x="6858000" y="4716661"/>
            <a:ext cx="1308094" cy="3214"/>
          </a:xfrm>
          <a:prstGeom prst="straightConnector1">
            <a:avLst/>
          </a:prstGeom>
          <a:ln w="222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Picture 53">
            <a:extLst>
              <a:ext uri="{FF2B5EF4-FFF2-40B4-BE49-F238E27FC236}">
                <a16:creationId xmlns:a16="http://schemas.microsoft.com/office/drawing/2014/main" id="{3DB38B6C-5CB5-46B4-B889-A19A1F6D6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939" y="17748"/>
            <a:ext cx="836736" cy="890248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5F069F87-BD2D-4A78-B1BA-ED72DB42D446}"/>
              </a:ext>
            </a:extLst>
          </p:cNvPr>
          <p:cNvSpPr txBox="1"/>
          <p:nvPr/>
        </p:nvSpPr>
        <p:spPr>
          <a:xfrm>
            <a:off x="5306789" y="985314"/>
            <a:ext cx="2175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Extract spatial features from a pretrained CNN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5C91EC5-EAAE-40AC-8816-ED4E8AD79300}"/>
              </a:ext>
            </a:extLst>
          </p:cNvPr>
          <p:cNvSpPr txBox="1"/>
          <p:nvPr/>
        </p:nvSpPr>
        <p:spPr>
          <a:xfrm>
            <a:off x="890019" y="1766720"/>
            <a:ext cx="528828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 Narrow" panose="020B0606020202030204" pitchFamily="34" charset="0"/>
              </a:rPr>
              <a:t>In image captioning problem,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 Narrow" panose="020B0606020202030204" pitchFamily="34" charset="0"/>
              </a:rPr>
              <a:t>Output of the 1</a:t>
            </a:r>
            <a:r>
              <a:rPr lang="en-IN" sz="2000" baseline="30000" dirty="0">
                <a:latin typeface="Arial Narrow" panose="020B0606020202030204" pitchFamily="34" charset="0"/>
              </a:rPr>
              <a:t>st</a:t>
            </a:r>
            <a:r>
              <a:rPr lang="en-IN" sz="2000" dirty="0">
                <a:latin typeface="Arial Narrow" panose="020B0606020202030204" pitchFamily="34" charset="0"/>
              </a:rPr>
              <a:t> node is “Boy”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Output of the 1</a:t>
            </a:r>
            <a:r>
              <a:rPr lang="en-IN" sz="2000" baseline="30000" dirty="0">
                <a:solidFill>
                  <a:srgbClr val="7030A0"/>
                </a:solidFill>
                <a:latin typeface="Arial Narrow" panose="020B0606020202030204" pitchFamily="34" charset="0"/>
              </a:rPr>
              <a:t>st</a:t>
            </a: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decoder node comes </a:t>
            </a:r>
          </a:p>
          <a:p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     as the input of 2</a:t>
            </a:r>
            <a:r>
              <a:rPr lang="en-IN" sz="2000" baseline="30000" dirty="0">
                <a:solidFill>
                  <a:srgbClr val="7030A0"/>
                </a:solidFill>
                <a:latin typeface="Arial Narrow" panose="020B0606020202030204" pitchFamily="34" charset="0"/>
              </a:rPr>
              <a:t>nd</a:t>
            </a: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decoder node.</a:t>
            </a:r>
          </a:p>
          <a:p>
            <a:endParaRPr lang="en-IN" sz="2000" dirty="0">
              <a:solidFill>
                <a:srgbClr val="7030A0"/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The context is also an input to 2</a:t>
            </a:r>
            <a:r>
              <a:rPr lang="en-IN" sz="2000" baseline="30000" dirty="0">
                <a:solidFill>
                  <a:srgbClr val="7030A0"/>
                </a:solidFill>
                <a:latin typeface="Arial Narrow" panose="020B0606020202030204" pitchFamily="34" charset="0"/>
              </a:rPr>
              <a:t>nd</a:t>
            </a: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node.</a:t>
            </a:r>
          </a:p>
          <a:p>
            <a:endParaRPr lang="en-IN" sz="2000" dirty="0">
              <a:solidFill>
                <a:srgbClr val="7030A0"/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Output of the 2</a:t>
            </a:r>
            <a:r>
              <a:rPr lang="en-IN" sz="2000" baseline="30000" dirty="0">
                <a:solidFill>
                  <a:srgbClr val="7030A0"/>
                </a:solidFill>
                <a:latin typeface="Arial Narrow" panose="020B0606020202030204" pitchFamily="34" charset="0"/>
              </a:rPr>
              <a:t>nd</a:t>
            </a: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decoder node is </a:t>
            </a:r>
          </a:p>
          <a:p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      “</a:t>
            </a:r>
            <a:r>
              <a:rPr lang="en-IN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weaving</a:t>
            </a: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Arial Narrow" panose="020B0606020202030204" pitchFamily="34" charset="0"/>
            </a:endParaRPr>
          </a:p>
        </p:txBody>
      </p:sp>
      <p:sp>
        <p:nvSpPr>
          <p:cNvPr id="59" name="Title 3">
            <a:extLst>
              <a:ext uri="{FF2B5EF4-FFF2-40B4-BE49-F238E27FC236}">
                <a16:creationId xmlns:a16="http://schemas.microsoft.com/office/drawing/2014/main" id="{2E05D936-52E5-467C-A678-39073412B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453"/>
            <a:ext cx="6019800" cy="1404813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Image Captioning with RNNs and Spatial Context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41F2FC5-0CB8-4AB7-B1C7-CC853C775277}"/>
              </a:ext>
            </a:extLst>
          </p:cNvPr>
          <p:cNvSpPr txBox="1"/>
          <p:nvPr/>
        </p:nvSpPr>
        <p:spPr>
          <a:xfrm>
            <a:off x="6581775" y="6492875"/>
            <a:ext cx="561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Fei-Fei Li Attention and Transformers CS231n Stanford Lecture</a:t>
            </a:r>
          </a:p>
        </p:txBody>
      </p:sp>
    </p:spTree>
    <p:extLst>
      <p:ext uri="{BB962C8B-B14F-4D97-AF65-F5344CB8AC3E}">
        <p14:creationId xmlns:p14="http://schemas.microsoft.com/office/powerpoint/2010/main" val="3536749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Box 209"/>
          <p:cNvSpPr txBox="1"/>
          <p:nvPr/>
        </p:nvSpPr>
        <p:spPr>
          <a:xfrm>
            <a:off x="60395" y="6567780"/>
            <a:ext cx="6072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 et al, “Show, Attend and Tell: Neural Image Captain Generation with Visual Attention”, ICML 2015</a:t>
            </a:r>
          </a:p>
        </p:txBody>
      </p:sp>
      <p:grpSp>
        <p:nvGrpSpPr>
          <p:cNvPr id="337" name="Group 336"/>
          <p:cNvGrpSpPr/>
          <p:nvPr/>
        </p:nvGrpSpPr>
        <p:grpSpPr>
          <a:xfrm>
            <a:off x="7403503" y="1615800"/>
            <a:ext cx="1123173" cy="894783"/>
            <a:chOff x="3907525" y="3282431"/>
            <a:chExt cx="1399431" cy="991913"/>
          </a:xfrm>
          <a:solidFill>
            <a:srgbClr val="FFC000">
              <a:alpha val="36000"/>
            </a:srgbClr>
          </a:solidFill>
        </p:grpSpPr>
        <p:sp>
          <p:nvSpPr>
            <p:cNvPr id="434" name="Rectangle 433"/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0,0</a:t>
              </a:r>
            </a:p>
          </p:txBody>
        </p:sp>
        <p:sp>
          <p:nvSpPr>
            <p:cNvPr id="435" name="Rectangle 434"/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0,1</a:t>
              </a:r>
            </a:p>
          </p:txBody>
        </p:sp>
        <p:sp>
          <p:nvSpPr>
            <p:cNvPr id="436" name="Rectangle 435"/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0,2</a:t>
              </a:r>
            </a:p>
          </p:txBody>
        </p:sp>
        <p:sp>
          <p:nvSpPr>
            <p:cNvPr id="437" name="Rectangle 436"/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</a:t>
              </a:r>
            </a:p>
          </p:txBody>
        </p:sp>
        <p:sp>
          <p:nvSpPr>
            <p:cNvPr id="438" name="Rectangle 437"/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</a:t>
              </a:r>
            </a:p>
          </p:txBody>
        </p:sp>
        <p:sp>
          <p:nvSpPr>
            <p:cNvPr id="439" name="Rectangle 438"/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</a:t>
              </a:r>
            </a:p>
          </p:txBody>
        </p:sp>
        <p:sp>
          <p:nvSpPr>
            <p:cNvPr id="440" name="Rectangle 439"/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2,0</a:t>
              </a:r>
            </a:p>
          </p:txBody>
        </p:sp>
        <p:sp>
          <p:nvSpPr>
            <p:cNvPr id="441" name="Rectangle 440"/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2,1</a:t>
              </a:r>
            </a:p>
          </p:txBody>
        </p:sp>
        <p:sp>
          <p:nvSpPr>
            <p:cNvPr id="442" name="Rectangle 441"/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2,2</a:t>
              </a:r>
            </a:p>
          </p:txBody>
        </p:sp>
      </p:grpSp>
      <p:sp>
        <p:nvSpPr>
          <p:cNvPr id="338" name="Oval 337"/>
          <p:cNvSpPr/>
          <p:nvPr/>
        </p:nvSpPr>
        <p:spPr>
          <a:xfrm>
            <a:off x="8168648" y="3770289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9" name="Rectangle 338"/>
          <p:cNvSpPr/>
          <p:nvPr/>
        </p:nvSpPr>
        <p:spPr>
          <a:xfrm>
            <a:off x="8198019" y="3755859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1" name="Oval 340"/>
          <p:cNvSpPr/>
          <p:nvPr/>
        </p:nvSpPr>
        <p:spPr>
          <a:xfrm>
            <a:off x="8165078" y="3145132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2" name="Rectangle 341"/>
          <p:cNvSpPr/>
          <p:nvPr/>
        </p:nvSpPr>
        <p:spPr>
          <a:xfrm>
            <a:off x="8194856" y="3134938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3" name="Oval 342"/>
          <p:cNvSpPr/>
          <p:nvPr/>
        </p:nvSpPr>
        <p:spPr>
          <a:xfrm>
            <a:off x="6297734" y="3611235"/>
            <a:ext cx="332999" cy="314825"/>
          </a:xfrm>
          <a:prstGeom prst="ellipse">
            <a:avLst/>
          </a:prstGeom>
          <a:solidFill>
            <a:srgbClr val="9F2160">
              <a:alpha val="43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4" name="Rectangle 343"/>
          <p:cNvSpPr/>
          <p:nvPr/>
        </p:nvSpPr>
        <p:spPr>
          <a:xfrm>
            <a:off x="6311377" y="3593157"/>
            <a:ext cx="322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345" name="Oval 344"/>
          <p:cNvSpPr/>
          <p:nvPr/>
        </p:nvSpPr>
        <p:spPr>
          <a:xfrm>
            <a:off x="6296550" y="3955009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6" name="Rectangle 345"/>
          <p:cNvSpPr/>
          <p:nvPr/>
        </p:nvSpPr>
        <p:spPr>
          <a:xfrm>
            <a:off x="6292410" y="3946581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7" name="Oval 346"/>
          <p:cNvSpPr/>
          <p:nvPr/>
        </p:nvSpPr>
        <p:spPr>
          <a:xfrm>
            <a:off x="8870528" y="3767075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8" name="Rectangle 347"/>
          <p:cNvSpPr/>
          <p:nvPr/>
        </p:nvSpPr>
        <p:spPr>
          <a:xfrm>
            <a:off x="8891369" y="3760150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50" name="Straight Arrow Connector 349"/>
          <p:cNvCxnSpPr>
            <a:stCxn id="442" idx="2"/>
            <a:endCxn id="341" idx="0"/>
          </p:cNvCxnSpPr>
          <p:nvPr/>
        </p:nvCxnSpPr>
        <p:spPr>
          <a:xfrm flipH="1">
            <a:off x="8331578" y="2510582"/>
            <a:ext cx="7775" cy="634550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Elbow Connector 350"/>
          <p:cNvCxnSpPr>
            <a:stCxn id="341" idx="4"/>
            <a:endCxn id="343" idx="7"/>
          </p:cNvCxnSpPr>
          <p:nvPr/>
        </p:nvCxnSpPr>
        <p:spPr>
          <a:xfrm rot="5400000">
            <a:off x="7358081" y="2683842"/>
            <a:ext cx="197383" cy="1749612"/>
          </a:xfrm>
          <a:prstGeom prst="bentConnector3">
            <a:avLst>
              <a:gd name="adj1" fmla="val 99463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Arrow Connector 351"/>
          <p:cNvCxnSpPr>
            <a:stCxn id="338" idx="6"/>
            <a:endCxn id="347" idx="2"/>
          </p:cNvCxnSpPr>
          <p:nvPr/>
        </p:nvCxnSpPr>
        <p:spPr>
          <a:xfrm flipV="1">
            <a:off x="8501647" y="3924488"/>
            <a:ext cx="368881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TextBox 352"/>
          <p:cNvSpPr txBox="1"/>
          <p:nvPr/>
        </p:nvSpPr>
        <p:spPr>
          <a:xfrm>
            <a:off x="9169817" y="3737342"/>
            <a:ext cx="47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Boy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5177253" y="3784075"/>
            <a:ext cx="8138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[START]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5289398" y="4760867"/>
            <a:ext cx="47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Boy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5219193" y="5541420"/>
            <a:ext cx="7072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waving</a:t>
            </a:r>
          </a:p>
        </p:txBody>
      </p:sp>
      <p:cxnSp>
        <p:nvCxnSpPr>
          <p:cNvPr id="362" name="Straight Arrow Connector 361"/>
          <p:cNvCxnSpPr>
            <a:stCxn id="345" idx="7"/>
          </p:cNvCxnSpPr>
          <p:nvPr/>
        </p:nvCxnSpPr>
        <p:spPr>
          <a:xfrm flipV="1">
            <a:off x="6580782" y="3991046"/>
            <a:ext cx="1587278" cy="10068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3" name="Oval 362"/>
          <p:cNvSpPr/>
          <p:nvPr/>
        </p:nvSpPr>
        <p:spPr>
          <a:xfrm>
            <a:off x="8166094" y="4590743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4" name="Rectangle 363"/>
          <p:cNvSpPr/>
          <p:nvPr/>
        </p:nvSpPr>
        <p:spPr>
          <a:xfrm>
            <a:off x="8195465" y="4576313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7" name="Oval 366"/>
          <p:cNvSpPr/>
          <p:nvPr/>
        </p:nvSpPr>
        <p:spPr>
          <a:xfrm>
            <a:off x="6308282" y="4775463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8" name="Rectangle 367"/>
          <p:cNvSpPr/>
          <p:nvPr/>
        </p:nvSpPr>
        <p:spPr>
          <a:xfrm>
            <a:off x="6304142" y="4767035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9" name="Oval 368"/>
          <p:cNvSpPr/>
          <p:nvPr/>
        </p:nvSpPr>
        <p:spPr>
          <a:xfrm>
            <a:off x="8882260" y="4587529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0" name="Rectangle 369"/>
          <p:cNvSpPr/>
          <p:nvPr/>
        </p:nvSpPr>
        <p:spPr>
          <a:xfrm>
            <a:off x="8903101" y="4580604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71" name="Straight Arrow Connector 370"/>
          <p:cNvCxnSpPr>
            <a:stCxn id="363" idx="6"/>
            <a:endCxn id="369" idx="2"/>
          </p:cNvCxnSpPr>
          <p:nvPr/>
        </p:nvCxnSpPr>
        <p:spPr>
          <a:xfrm flipV="1">
            <a:off x="8499093" y="4744942"/>
            <a:ext cx="383167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Arrow Connector 371"/>
          <p:cNvCxnSpPr>
            <a:stCxn id="367" idx="7"/>
          </p:cNvCxnSpPr>
          <p:nvPr/>
        </p:nvCxnSpPr>
        <p:spPr>
          <a:xfrm flipV="1">
            <a:off x="6592514" y="4819589"/>
            <a:ext cx="1570785" cy="1979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3" name="Oval 372"/>
          <p:cNvSpPr/>
          <p:nvPr/>
        </p:nvSpPr>
        <p:spPr>
          <a:xfrm>
            <a:off x="8169913" y="5428753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4" name="Rectangle 373"/>
          <p:cNvSpPr/>
          <p:nvPr/>
        </p:nvSpPr>
        <p:spPr>
          <a:xfrm>
            <a:off x="8199284" y="5414323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3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7" name="Oval 376"/>
          <p:cNvSpPr/>
          <p:nvPr/>
        </p:nvSpPr>
        <p:spPr>
          <a:xfrm>
            <a:off x="6307334" y="5613473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8" name="Rectangle 377"/>
          <p:cNvSpPr/>
          <p:nvPr/>
        </p:nvSpPr>
        <p:spPr>
          <a:xfrm>
            <a:off x="6303194" y="5605045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9" name="Oval 378"/>
          <p:cNvSpPr/>
          <p:nvPr/>
        </p:nvSpPr>
        <p:spPr>
          <a:xfrm>
            <a:off x="8905127" y="5425539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0" name="Rectangle 379"/>
          <p:cNvSpPr/>
          <p:nvPr/>
        </p:nvSpPr>
        <p:spPr>
          <a:xfrm>
            <a:off x="8925968" y="5418614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3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81" name="Straight Arrow Connector 380"/>
          <p:cNvCxnSpPr>
            <a:stCxn id="373" idx="6"/>
            <a:endCxn id="379" idx="2"/>
          </p:cNvCxnSpPr>
          <p:nvPr/>
        </p:nvCxnSpPr>
        <p:spPr>
          <a:xfrm flipV="1">
            <a:off x="8502912" y="5582952"/>
            <a:ext cx="402215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TextBox 381"/>
          <p:cNvSpPr txBox="1"/>
          <p:nvPr/>
        </p:nvSpPr>
        <p:spPr>
          <a:xfrm>
            <a:off x="9301263" y="5382240"/>
            <a:ext cx="453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flag</a:t>
            </a:r>
          </a:p>
        </p:txBody>
      </p:sp>
      <p:cxnSp>
        <p:nvCxnSpPr>
          <p:cNvPr id="384" name="Straight Arrow Connector 383"/>
          <p:cNvCxnSpPr>
            <a:stCxn id="377" idx="7"/>
          </p:cNvCxnSpPr>
          <p:nvPr/>
        </p:nvCxnSpPr>
        <p:spPr>
          <a:xfrm flipV="1">
            <a:off x="6591566" y="5657599"/>
            <a:ext cx="1585075" cy="1979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8" name="TextBox 397"/>
          <p:cNvSpPr txBox="1"/>
          <p:nvPr/>
        </p:nvSpPr>
        <p:spPr>
          <a:xfrm>
            <a:off x="9169817" y="4547619"/>
            <a:ext cx="7072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waving</a:t>
            </a:r>
          </a:p>
        </p:txBody>
      </p:sp>
      <p:cxnSp>
        <p:nvCxnSpPr>
          <p:cNvPr id="410" name="Straight Arrow Connector 409"/>
          <p:cNvCxnSpPr>
            <a:stCxn id="338" idx="4"/>
            <a:endCxn id="363" idx="0"/>
          </p:cNvCxnSpPr>
          <p:nvPr/>
        </p:nvCxnSpPr>
        <p:spPr>
          <a:xfrm flipH="1">
            <a:off x="8332594" y="4085114"/>
            <a:ext cx="2554" cy="505629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Arrow Connector 410"/>
          <p:cNvCxnSpPr>
            <a:stCxn id="363" idx="4"/>
            <a:endCxn id="373" idx="0"/>
          </p:cNvCxnSpPr>
          <p:nvPr/>
        </p:nvCxnSpPr>
        <p:spPr>
          <a:xfrm>
            <a:off x="8332594" y="4905568"/>
            <a:ext cx="3819" cy="523185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Arrow Connector 412"/>
          <p:cNvCxnSpPr>
            <a:stCxn id="343" idx="5"/>
          </p:cNvCxnSpPr>
          <p:nvPr/>
        </p:nvCxnSpPr>
        <p:spPr>
          <a:xfrm flipV="1">
            <a:off x="6581966" y="3869492"/>
            <a:ext cx="1591938" cy="10463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rapezoid 88">
            <a:extLst>
              <a:ext uri="{FF2B5EF4-FFF2-40B4-BE49-F238E27FC236}">
                <a16:creationId xmlns:a16="http://schemas.microsoft.com/office/drawing/2014/main" id="{DDE594F1-70CA-44FF-8906-F7F7971989A4}"/>
              </a:ext>
            </a:extLst>
          </p:cNvPr>
          <p:cNvSpPr/>
          <p:nvPr/>
        </p:nvSpPr>
        <p:spPr>
          <a:xfrm rot="10800000">
            <a:off x="7543632" y="968669"/>
            <a:ext cx="909750" cy="601216"/>
          </a:xfrm>
          <a:prstGeom prst="trapezoid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8602CBC-BD39-466E-AEDF-66B4B15D6C1B}"/>
              </a:ext>
            </a:extLst>
          </p:cNvPr>
          <p:cNvSpPr txBox="1"/>
          <p:nvPr/>
        </p:nvSpPr>
        <p:spPr>
          <a:xfrm>
            <a:off x="7665435" y="1105843"/>
            <a:ext cx="6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CNN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F60D409-6C14-4137-9AEB-7EF4C24EFC09}"/>
              </a:ext>
            </a:extLst>
          </p:cNvPr>
          <p:cNvCxnSpPr>
            <a:cxnSpLocks/>
          </p:cNvCxnSpPr>
          <p:nvPr/>
        </p:nvCxnSpPr>
        <p:spPr>
          <a:xfrm>
            <a:off x="6858000" y="3869492"/>
            <a:ext cx="11352" cy="1698719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CB81444E-4E12-43B6-B2B4-67C71039EAC9}"/>
              </a:ext>
            </a:extLst>
          </p:cNvPr>
          <p:cNvCxnSpPr>
            <a:cxnSpLocks/>
          </p:cNvCxnSpPr>
          <p:nvPr/>
        </p:nvCxnSpPr>
        <p:spPr>
          <a:xfrm>
            <a:off x="6858000" y="4716661"/>
            <a:ext cx="1308094" cy="3214"/>
          </a:xfrm>
          <a:prstGeom prst="straightConnector1">
            <a:avLst/>
          </a:prstGeom>
          <a:ln w="222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55BB7B7-1281-41E4-AAD3-202A36E1C8BD}"/>
              </a:ext>
            </a:extLst>
          </p:cNvPr>
          <p:cNvCxnSpPr>
            <a:cxnSpLocks/>
          </p:cNvCxnSpPr>
          <p:nvPr/>
        </p:nvCxnSpPr>
        <p:spPr>
          <a:xfrm>
            <a:off x="6869352" y="5557473"/>
            <a:ext cx="1308094" cy="3214"/>
          </a:xfrm>
          <a:prstGeom prst="straightConnector1">
            <a:avLst/>
          </a:prstGeom>
          <a:ln w="222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82ED1BD3-151A-41FC-9739-CB433AF1C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939" y="17748"/>
            <a:ext cx="836736" cy="890248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80507CCD-D412-46CB-834C-722AD37DB064}"/>
              </a:ext>
            </a:extLst>
          </p:cNvPr>
          <p:cNvSpPr txBox="1"/>
          <p:nvPr/>
        </p:nvSpPr>
        <p:spPr>
          <a:xfrm>
            <a:off x="6319460" y="1709704"/>
            <a:ext cx="942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Features: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 x D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38EDC77-5E3D-4C51-AAF0-FC475AA79FB8}"/>
              </a:ext>
            </a:extLst>
          </p:cNvPr>
          <p:cNvSpPr txBox="1"/>
          <p:nvPr/>
        </p:nvSpPr>
        <p:spPr>
          <a:xfrm>
            <a:off x="5306789" y="985314"/>
            <a:ext cx="2175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Extract spatial features from a pretrained CNN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5ED6B5B-FBCA-44FF-86EC-DC77639FF4A1}"/>
              </a:ext>
            </a:extLst>
          </p:cNvPr>
          <p:cNvSpPr txBox="1"/>
          <p:nvPr/>
        </p:nvSpPr>
        <p:spPr>
          <a:xfrm>
            <a:off x="890019" y="1766720"/>
            <a:ext cx="528828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 Narrow" panose="020B0606020202030204" pitchFamily="34" charset="0"/>
              </a:rPr>
              <a:t>In image captioning problem,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 Narrow" panose="020B0606020202030204" pitchFamily="34" charset="0"/>
              </a:rPr>
              <a:t>Output of the 2</a:t>
            </a:r>
            <a:r>
              <a:rPr lang="en-IN" sz="2000" baseline="30000" dirty="0">
                <a:latin typeface="Arial Narrow" panose="020B0606020202030204" pitchFamily="34" charset="0"/>
              </a:rPr>
              <a:t>nd</a:t>
            </a:r>
            <a:r>
              <a:rPr lang="en-IN" sz="2000" dirty="0">
                <a:latin typeface="Arial Narrow" panose="020B0606020202030204" pitchFamily="34" charset="0"/>
              </a:rPr>
              <a:t> decoder node is “weaving”.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Output of the 2</a:t>
            </a:r>
            <a:r>
              <a:rPr lang="en-IN" sz="2000" baseline="30000" dirty="0">
                <a:solidFill>
                  <a:srgbClr val="7030A0"/>
                </a:solidFill>
                <a:latin typeface="Arial Narrow" panose="020B0606020202030204" pitchFamily="34" charset="0"/>
              </a:rPr>
              <a:t>nd</a:t>
            </a: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decoder node comes </a:t>
            </a:r>
          </a:p>
          <a:p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     as the input of 3</a:t>
            </a:r>
            <a:r>
              <a:rPr lang="en-IN" sz="2000" baseline="30000" dirty="0">
                <a:solidFill>
                  <a:srgbClr val="7030A0"/>
                </a:solidFill>
                <a:latin typeface="Arial Narrow" panose="020B0606020202030204" pitchFamily="34" charset="0"/>
              </a:rPr>
              <a:t>rd</a:t>
            </a: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decoder node.</a:t>
            </a:r>
          </a:p>
          <a:p>
            <a:endParaRPr lang="en-IN" sz="2000" dirty="0">
              <a:solidFill>
                <a:srgbClr val="7030A0"/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The context is also an input to 3</a:t>
            </a:r>
            <a:r>
              <a:rPr lang="en-IN" sz="2000" baseline="30000" dirty="0">
                <a:solidFill>
                  <a:srgbClr val="7030A0"/>
                </a:solidFill>
                <a:latin typeface="Arial Narrow" panose="020B0606020202030204" pitchFamily="34" charset="0"/>
              </a:rPr>
              <a:t>rd</a:t>
            </a: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node.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7030A0"/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Output of the 3</a:t>
            </a:r>
            <a:r>
              <a:rPr lang="en-IN" sz="2000" baseline="30000" dirty="0">
                <a:solidFill>
                  <a:srgbClr val="7030A0"/>
                </a:solidFill>
                <a:latin typeface="Arial Narrow" panose="020B0606020202030204" pitchFamily="34" charset="0"/>
              </a:rPr>
              <a:t>rd</a:t>
            </a: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decoder node is “</a:t>
            </a:r>
            <a:r>
              <a:rPr lang="en-IN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flag</a:t>
            </a: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”</a:t>
            </a:r>
          </a:p>
          <a:p>
            <a:endParaRPr lang="en-IN" sz="2000" dirty="0">
              <a:solidFill>
                <a:srgbClr val="7030A0"/>
              </a:solidFill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Arial Narrow" panose="020B0606020202030204" pitchFamily="34" charset="0"/>
            </a:endParaRPr>
          </a:p>
        </p:txBody>
      </p:sp>
      <p:sp>
        <p:nvSpPr>
          <p:cNvPr id="72" name="Title 3">
            <a:extLst>
              <a:ext uri="{FF2B5EF4-FFF2-40B4-BE49-F238E27FC236}">
                <a16:creationId xmlns:a16="http://schemas.microsoft.com/office/drawing/2014/main" id="{9A9B70A3-7E02-47C7-BF7E-05A6A7939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453"/>
            <a:ext cx="6019800" cy="1404813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Image Captioning with RNNs and Spatial Context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39386FA-DD52-46DC-9976-9AC463CDA881}"/>
              </a:ext>
            </a:extLst>
          </p:cNvPr>
          <p:cNvSpPr txBox="1"/>
          <p:nvPr/>
        </p:nvSpPr>
        <p:spPr>
          <a:xfrm>
            <a:off x="6581775" y="6492875"/>
            <a:ext cx="561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Fei-Fei Li Attention and Transformers CS231n Stanford Lecture</a:t>
            </a:r>
          </a:p>
        </p:txBody>
      </p:sp>
    </p:spTree>
    <p:extLst>
      <p:ext uri="{BB962C8B-B14F-4D97-AF65-F5344CB8AC3E}">
        <p14:creationId xmlns:p14="http://schemas.microsoft.com/office/powerpoint/2010/main" val="241845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Box 209"/>
          <p:cNvSpPr txBox="1"/>
          <p:nvPr/>
        </p:nvSpPr>
        <p:spPr>
          <a:xfrm>
            <a:off x="60395" y="6567780"/>
            <a:ext cx="6072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 et al, “Show, Attend and Tell: Neural Image Captain Generation with Visual Attention”, ICML 2015</a:t>
            </a:r>
          </a:p>
        </p:txBody>
      </p:sp>
      <p:grpSp>
        <p:nvGrpSpPr>
          <p:cNvPr id="337" name="Group 336"/>
          <p:cNvGrpSpPr/>
          <p:nvPr/>
        </p:nvGrpSpPr>
        <p:grpSpPr>
          <a:xfrm>
            <a:off x="7403503" y="1615800"/>
            <a:ext cx="1123173" cy="894783"/>
            <a:chOff x="3907525" y="3282431"/>
            <a:chExt cx="1399431" cy="991913"/>
          </a:xfrm>
          <a:solidFill>
            <a:srgbClr val="FFC000">
              <a:alpha val="36000"/>
            </a:srgbClr>
          </a:solidFill>
        </p:grpSpPr>
        <p:sp>
          <p:nvSpPr>
            <p:cNvPr id="434" name="Rectangle 433"/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0,0</a:t>
              </a:r>
            </a:p>
          </p:txBody>
        </p:sp>
        <p:sp>
          <p:nvSpPr>
            <p:cNvPr id="435" name="Rectangle 434"/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0,1</a:t>
              </a:r>
            </a:p>
          </p:txBody>
        </p:sp>
        <p:sp>
          <p:nvSpPr>
            <p:cNvPr id="436" name="Rectangle 435"/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0,2</a:t>
              </a:r>
            </a:p>
          </p:txBody>
        </p:sp>
        <p:sp>
          <p:nvSpPr>
            <p:cNvPr id="437" name="Rectangle 436"/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</a:t>
              </a:r>
            </a:p>
          </p:txBody>
        </p:sp>
        <p:sp>
          <p:nvSpPr>
            <p:cNvPr id="438" name="Rectangle 437"/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</a:t>
              </a:r>
            </a:p>
          </p:txBody>
        </p:sp>
        <p:sp>
          <p:nvSpPr>
            <p:cNvPr id="439" name="Rectangle 438"/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</a:t>
              </a:r>
            </a:p>
          </p:txBody>
        </p:sp>
        <p:sp>
          <p:nvSpPr>
            <p:cNvPr id="440" name="Rectangle 439"/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2,0</a:t>
              </a:r>
            </a:p>
          </p:txBody>
        </p:sp>
        <p:sp>
          <p:nvSpPr>
            <p:cNvPr id="441" name="Rectangle 440"/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2,1</a:t>
              </a:r>
            </a:p>
          </p:txBody>
        </p:sp>
        <p:sp>
          <p:nvSpPr>
            <p:cNvPr id="442" name="Rectangle 441"/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2,2</a:t>
              </a:r>
            </a:p>
          </p:txBody>
        </p:sp>
      </p:grpSp>
      <p:sp>
        <p:nvSpPr>
          <p:cNvPr id="338" name="Oval 337"/>
          <p:cNvSpPr/>
          <p:nvPr/>
        </p:nvSpPr>
        <p:spPr>
          <a:xfrm>
            <a:off x="8168648" y="3770289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9" name="Rectangle 338"/>
          <p:cNvSpPr/>
          <p:nvPr/>
        </p:nvSpPr>
        <p:spPr>
          <a:xfrm>
            <a:off x="8198019" y="3755859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1" name="Oval 340"/>
          <p:cNvSpPr/>
          <p:nvPr/>
        </p:nvSpPr>
        <p:spPr>
          <a:xfrm>
            <a:off x="8165078" y="3145132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2" name="Rectangle 341"/>
          <p:cNvSpPr/>
          <p:nvPr/>
        </p:nvSpPr>
        <p:spPr>
          <a:xfrm>
            <a:off x="8194856" y="3134938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3" name="Oval 342"/>
          <p:cNvSpPr/>
          <p:nvPr/>
        </p:nvSpPr>
        <p:spPr>
          <a:xfrm>
            <a:off x="6297734" y="3611235"/>
            <a:ext cx="332999" cy="314825"/>
          </a:xfrm>
          <a:prstGeom prst="ellipse">
            <a:avLst/>
          </a:prstGeom>
          <a:solidFill>
            <a:srgbClr val="9F2160">
              <a:alpha val="43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4" name="Rectangle 343"/>
          <p:cNvSpPr/>
          <p:nvPr/>
        </p:nvSpPr>
        <p:spPr>
          <a:xfrm>
            <a:off x="6311377" y="3593157"/>
            <a:ext cx="322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345" name="Oval 344"/>
          <p:cNvSpPr/>
          <p:nvPr/>
        </p:nvSpPr>
        <p:spPr>
          <a:xfrm>
            <a:off x="6296550" y="3955009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6" name="Rectangle 345"/>
          <p:cNvSpPr/>
          <p:nvPr/>
        </p:nvSpPr>
        <p:spPr>
          <a:xfrm>
            <a:off x="6292410" y="3946581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7" name="Oval 346"/>
          <p:cNvSpPr/>
          <p:nvPr/>
        </p:nvSpPr>
        <p:spPr>
          <a:xfrm>
            <a:off x="8870528" y="3767075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8" name="Rectangle 347"/>
          <p:cNvSpPr/>
          <p:nvPr/>
        </p:nvSpPr>
        <p:spPr>
          <a:xfrm>
            <a:off x="8891369" y="3760150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50" name="Straight Arrow Connector 349"/>
          <p:cNvCxnSpPr>
            <a:stCxn id="442" idx="2"/>
            <a:endCxn id="341" idx="0"/>
          </p:cNvCxnSpPr>
          <p:nvPr/>
        </p:nvCxnSpPr>
        <p:spPr>
          <a:xfrm flipH="1">
            <a:off x="8331578" y="2510582"/>
            <a:ext cx="7775" cy="634550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Elbow Connector 350"/>
          <p:cNvCxnSpPr>
            <a:stCxn id="341" idx="4"/>
            <a:endCxn id="343" idx="7"/>
          </p:cNvCxnSpPr>
          <p:nvPr/>
        </p:nvCxnSpPr>
        <p:spPr>
          <a:xfrm rot="5400000">
            <a:off x="7358081" y="2683842"/>
            <a:ext cx="197383" cy="1749612"/>
          </a:xfrm>
          <a:prstGeom prst="bentConnector3">
            <a:avLst>
              <a:gd name="adj1" fmla="val 99463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Arrow Connector 351"/>
          <p:cNvCxnSpPr>
            <a:stCxn id="338" idx="6"/>
            <a:endCxn id="347" idx="2"/>
          </p:cNvCxnSpPr>
          <p:nvPr/>
        </p:nvCxnSpPr>
        <p:spPr>
          <a:xfrm flipV="1">
            <a:off x="8501647" y="3924488"/>
            <a:ext cx="368881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TextBox 353"/>
          <p:cNvSpPr txBox="1"/>
          <p:nvPr/>
        </p:nvSpPr>
        <p:spPr>
          <a:xfrm>
            <a:off x="6319460" y="1709704"/>
            <a:ext cx="942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Features: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 x D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5177253" y="3784075"/>
            <a:ext cx="8138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[START]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5289398" y="4760867"/>
            <a:ext cx="47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Boy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5219193" y="5541420"/>
            <a:ext cx="7072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waving</a:t>
            </a:r>
          </a:p>
        </p:txBody>
      </p:sp>
      <p:cxnSp>
        <p:nvCxnSpPr>
          <p:cNvPr id="362" name="Straight Arrow Connector 361"/>
          <p:cNvCxnSpPr>
            <a:stCxn id="345" idx="7"/>
          </p:cNvCxnSpPr>
          <p:nvPr/>
        </p:nvCxnSpPr>
        <p:spPr>
          <a:xfrm flipV="1">
            <a:off x="6580782" y="3991046"/>
            <a:ext cx="1587278" cy="10068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3" name="Oval 362"/>
          <p:cNvSpPr/>
          <p:nvPr/>
        </p:nvSpPr>
        <p:spPr>
          <a:xfrm>
            <a:off x="8166094" y="4590743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4" name="Rectangle 363"/>
          <p:cNvSpPr/>
          <p:nvPr/>
        </p:nvSpPr>
        <p:spPr>
          <a:xfrm>
            <a:off x="8195465" y="4576313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7" name="Oval 366"/>
          <p:cNvSpPr/>
          <p:nvPr/>
        </p:nvSpPr>
        <p:spPr>
          <a:xfrm>
            <a:off x="6309022" y="4716666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8" name="Rectangle 367"/>
          <p:cNvSpPr/>
          <p:nvPr/>
        </p:nvSpPr>
        <p:spPr>
          <a:xfrm>
            <a:off x="6317926" y="4680708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9" name="Oval 368"/>
          <p:cNvSpPr/>
          <p:nvPr/>
        </p:nvSpPr>
        <p:spPr>
          <a:xfrm>
            <a:off x="8882260" y="4587529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0" name="Rectangle 369"/>
          <p:cNvSpPr/>
          <p:nvPr/>
        </p:nvSpPr>
        <p:spPr>
          <a:xfrm>
            <a:off x="8903101" y="4580604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71" name="Straight Arrow Connector 370"/>
          <p:cNvCxnSpPr>
            <a:stCxn id="363" idx="6"/>
            <a:endCxn id="369" idx="2"/>
          </p:cNvCxnSpPr>
          <p:nvPr/>
        </p:nvCxnSpPr>
        <p:spPr>
          <a:xfrm flipV="1">
            <a:off x="8499093" y="4744942"/>
            <a:ext cx="383167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3" name="Oval 372"/>
          <p:cNvSpPr/>
          <p:nvPr/>
        </p:nvSpPr>
        <p:spPr>
          <a:xfrm>
            <a:off x="8169913" y="5428753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4" name="Rectangle 373"/>
          <p:cNvSpPr/>
          <p:nvPr/>
        </p:nvSpPr>
        <p:spPr>
          <a:xfrm>
            <a:off x="8199284" y="5414323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3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7" name="Oval 376"/>
          <p:cNvSpPr/>
          <p:nvPr/>
        </p:nvSpPr>
        <p:spPr>
          <a:xfrm>
            <a:off x="6296550" y="5567097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8" name="Rectangle 377"/>
          <p:cNvSpPr/>
          <p:nvPr/>
        </p:nvSpPr>
        <p:spPr>
          <a:xfrm>
            <a:off x="6292410" y="5558669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9" name="Oval 378"/>
          <p:cNvSpPr/>
          <p:nvPr/>
        </p:nvSpPr>
        <p:spPr>
          <a:xfrm>
            <a:off x="8905127" y="5425539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0" name="Rectangle 379"/>
          <p:cNvSpPr/>
          <p:nvPr/>
        </p:nvSpPr>
        <p:spPr>
          <a:xfrm>
            <a:off x="8925968" y="5418614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3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81" name="Straight Arrow Connector 380"/>
          <p:cNvCxnSpPr>
            <a:stCxn id="373" idx="6"/>
            <a:endCxn id="379" idx="2"/>
          </p:cNvCxnSpPr>
          <p:nvPr/>
        </p:nvCxnSpPr>
        <p:spPr>
          <a:xfrm flipV="1">
            <a:off x="8502912" y="5582952"/>
            <a:ext cx="402215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Straight Arrow Connector 409"/>
          <p:cNvCxnSpPr>
            <a:stCxn id="338" idx="4"/>
            <a:endCxn id="363" idx="0"/>
          </p:cNvCxnSpPr>
          <p:nvPr/>
        </p:nvCxnSpPr>
        <p:spPr>
          <a:xfrm flipH="1">
            <a:off x="8332594" y="4085114"/>
            <a:ext cx="2554" cy="505629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Arrow Connector 410"/>
          <p:cNvCxnSpPr>
            <a:stCxn id="363" idx="4"/>
            <a:endCxn id="373" idx="0"/>
          </p:cNvCxnSpPr>
          <p:nvPr/>
        </p:nvCxnSpPr>
        <p:spPr>
          <a:xfrm>
            <a:off x="8332594" y="4905568"/>
            <a:ext cx="3819" cy="523185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Arrow Connector 412"/>
          <p:cNvCxnSpPr>
            <a:stCxn id="343" idx="5"/>
          </p:cNvCxnSpPr>
          <p:nvPr/>
        </p:nvCxnSpPr>
        <p:spPr>
          <a:xfrm flipV="1">
            <a:off x="6581966" y="3869492"/>
            <a:ext cx="1591938" cy="10463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rapezoid 88">
            <a:extLst>
              <a:ext uri="{FF2B5EF4-FFF2-40B4-BE49-F238E27FC236}">
                <a16:creationId xmlns:a16="http://schemas.microsoft.com/office/drawing/2014/main" id="{DDE594F1-70CA-44FF-8906-F7F7971989A4}"/>
              </a:ext>
            </a:extLst>
          </p:cNvPr>
          <p:cNvSpPr/>
          <p:nvPr/>
        </p:nvSpPr>
        <p:spPr>
          <a:xfrm rot="10800000">
            <a:off x="7543632" y="968669"/>
            <a:ext cx="909750" cy="601216"/>
          </a:xfrm>
          <a:prstGeom prst="trapezoid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8602CBC-BD39-466E-AEDF-66B4B15D6C1B}"/>
              </a:ext>
            </a:extLst>
          </p:cNvPr>
          <p:cNvSpPr txBox="1"/>
          <p:nvPr/>
        </p:nvSpPr>
        <p:spPr>
          <a:xfrm>
            <a:off x="7665435" y="1105843"/>
            <a:ext cx="6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CNN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F60D409-6C14-4137-9AEB-7EF4C24EFC09}"/>
              </a:ext>
            </a:extLst>
          </p:cNvPr>
          <p:cNvCxnSpPr>
            <a:cxnSpLocks/>
          </p:cNvCxnSpPr>
          <p:nvPr/>
        </p:nvCxnSpPr>
        <p:spPr>
          <a:xfrm>
            <a:off x="6858000" y="3869492"/>
            <a:ext cx="6204" cy="2471288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CB81444E-4E12-43B6-B2B4-67C71039EAC9}"/>
              </a:ext>
            </a:extLst>
          </p:cNvPr>
          <p:cNvCxnSpPr>
            <a:cxnSpLocks/>
          </p:cNvCxnSpPr>
          <p:nvPr/>
        </p:nvCxnSpPr>
        <p:spPr>
          <a:xfrm>
            <a:off x="6858000" y="4716661"/>
            <a:ext cx="1308094" cy="3214"/>
          </a:xfrm>
          <a:prstGeom prst="straightConnector1">
            <a:avLst/>
          </a:prstGeom>
          <a:ln w="222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55BB7B7-1281-41E4-AAD3-202A36E1C8BD}"/>
              </a:ext>
            </a:extLst>
          </p:cNvPr>
          <p:cNvCxnSpPr>
            <a:cxnSpLocks/>
          </p:cNvCxnSpPr>
          <p:nvPr/>
        </p:nvCxnSpPr>
        <p:spPr>
          <a:xfrm>
            <a:off x="6869352" y="5557473"/>
            <a:ext cx="1308094" cy="3214"/>
          </a:xfrm>
          <a:prstGeom prst="straightConnector1">
            <a:avLst/>
          </a:prstGeom>
          <a:ln w="222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F4B9FE1-61E6-4FAA-A199-BA652FDE0801}"/>
              </a:ext>
            </a:extLst>
          </p:cNvPr>
          <p:cNvCxnSpPr/>
          <p:nvPr/>
        </p:nvCxnSpPr>
        <p:spPr>
          <a:xfrm flipV="1">
            <a:off x="8507608" y="6414335"/>
            <a:ext cx="387928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1DAD519-34FD-48DE-A620-F58AC7DF874D}"/>
              </a:ext>
            </a:extLst>
          </p:cNvPr>
          <p:cNvCxnSpPr>
            <a:cxnSpLocks/>
          </p:cNvCxnSpPr>
          <p:nvPr/>
        </p:nvCxnSpPr>
        <p:spPr>
          <a:xfrm flipV="1">
            <a:off x="6570478" y="6452023"/>
            <a:ext cx="1594600" cy="4360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8FBA1CDD-869E-4FCE-A223-3062CB5F8363}"/>
              </a:ext>
            </a:extLst>
          </p:cNvPr>
          <p:cNvSpPr txBox="1"/>
          <p:nvPr/>
        </p:nvSpPr>
        <p:spPr>
          <a:xfrm>
            <a:off x="5543469" y="6288616"/>
            <a:ext cx="453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flag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4B80D55-1E93-4693-89B1-F460A946B37E}"/>
              </a:ext>
            </a:extLst>
          </p:cNvPr>
          <p:cNvCxnSpPr/>
          <p:nvPr/>
        </p:nvCxnSpPr>
        <p:spPr>
          <a:xfrm>
            <a:off x="8336413" y="5743578"/>
            <a:ext cx="4696" cy="516558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9FFACC0-CCF5-4DE7-AC46-70FB3FE2D1A5}"/>
              </a:ext>
            </a:extLst>
          </p:cNvPr>
          <p:cNvCxnSpPr/>
          <p:nvPr/>
        </p:nvCxnSpPr>
        <p:spPr>
          <a:xfrm flipV="1">
            <a:off x="6616702" y="4841463"/>
            <a:ext cx="1587278" cy="10068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0B3CDFA-5A08-40DD-9D71-2A52ED0A8650}"/>
              </a:ext>
            </a:extLst>
          </p:cNvPr>
          <p:cNvCxnSpPr/>
          <p:nvPr/>
        </p:nvCxnSpPr>
        <p:spPr>
          <a:xfrm flipV="1">
            <a:off x="6617997" y="5681905"/>
            <a:ext cx="1587278" cy="10068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0F877CC6-D7E0-4BE5-8DB4-7A9535C63686}"/>
              </a:ext>
            </a:extLst>
          </p:cNvPr>
          <p:cNvSpPr/>
          <p:nvPr/>
        </p:nvSpPr>
        <p:spPr>
          <a:xfrm>
            <a:off x="6283703" y="6320326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AB25959-2612-4D3B-B0F2-87FF53A55382}"/>
              </a:ext>
            </a:extLst>
          </p:cNvPr>
          <p:cNvSpPr/>
          <p:nvPr/>
        </p:nvSpPr>
        <p:spPr>
          <a:xfrm>
            <a:off x="6268066" y="6277320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3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89E25AC-7A6E-4393-8A06-EFD17A0259C4}"/>
              </a:ext>
            </a:extLst>
          </p:cNvPr>
          <p:cNvSpPr/>
          <p:nvPr/>
        </p:nvSpPr>
        <p:spPr>
          <a:xfrm>
            <a:off x="8174609" y="6260136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548C35C-BEDE-44C2-ADFE-BE9421AA40C1}"/>
              </a:ext>
            </a:extLst>
          </p:cNvPr>
          <p:cNvSpPr/>
          <p:nvPr/>
        </p:nvSpPr>
        <p:spPr>
          <a:xfrm>
            <a:off x="8203980" y="6245706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4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ECC002F-058E-4704-AD6B-7584047EB115}"/>
              </a:ext>
            </a:extLst>
          </p:cNvPr>
          <p:cNvSpPr txBox="1"/>
          <p:nvPr/>
        </p:nvSpPr>
        <p:spPr>
          <a:xfrm>
            <a:off x="9270964" y="6233193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[END]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8B797A6B-3BDA-4C8C-9111-D7EF1A8377F5}"/>
              </a:ext>
            </a:extLst>
          </p:cNvPr>
          <p:cNvSpPr/>
          <p:nvPr/>
        </p:nvSpPr>
        <p:spPr>
          <a:xfrm>
            <a:off x="8895536" y="6238068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FFE8FB9-92F5-4D05-9E4D-41A205ADC5F0}"/>
              </a:ext>
            </a:extLst>
          </p:cNvPr>
          <p:cNvSpPr/>
          <p:nvPr/>
        </p:nvSpPr>
        <p:spPr>
          <a:xfrm>
            <a:off x="8916377" y="6231143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4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DA8C933-F370-4C93-BBB5-92A6E8830D0F}"/>
              </a:ext>
            </a:extLst>
          </p:cNvPr>
          <p:cNvCxnSpPr>
            <a:cxnSpLocks/>
          </p:cNvCxnSpPr>
          <p:nvPr/>
        </p:nvCxnSpPr>
        <p:spPr>
          <a:xfrm>
            <a:off x="6871071" y="6321926"/>
            <a:ext cx="1308094" cy="3214"/>
          </a:xfrm>
          <a:prstGeom prst="straightConnector1">
            <a:avLst/>
          </a:prstGeom>
          <a:ln w="222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Picture 83">
            <a:extLst>
              <a:ext uri="{FF2B5EF4-FFF2-40B4-BE49-F238E27FC236}">
                <a16:creationId xmlns:a16="http://schemas.microsoft.com/office/drawing/2014/main" id="{58945F39-3AA9-4B4A-9D1C-1787FF32A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939" y="17748"/>
            <a:ext cx="836736" cy="890248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D9B58197-4888-43DE-AF44-79C1CBF175BA}"/>
              </a:ext>
            </a:extLst>
          </p:cNvPr>
          <p:cNvSpPr txBox="1"/>
          <p:nvPr/>
        </p:nvSpPr>
        <p:spPr>
          <a:xfrm>
            <a:off x="5306789" y="985314"/>
            <a:ext cx="2175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Extract spatial features from a pretrained CNN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A81A46A-FDB0-4E63-B858-074117419A3C}"/>
              </a:ext>
            </a:extLst>
          </p:cNvPr>
          <p:cNvSpPr txBox="1"/>
          <p:nvPr/>
        </p:nvSpPr>
        <p:spPr>
          <a:xfrm>
            <a:off x="9169817" y="3737342"/>
            <a:ext cx="47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Boy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DB7C6BA-1751-466A-AC80-C891B9A03F5F}"/>
              </a:ext>
            </a:extLst>
          </p:cNvPr>
          <p:cNvSpPr txBox="1"/>
          <p:nvPr/>
        </p:nvSpPr>
        <p:spPr>
          <a:xfrm>
            <a:off x="9301263" y="5382240"/>
            <a:ext cx="453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flag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3279567-1D74-4E13-9405-A63A8312CB23}"/>
              </a:ext>
            </a:extLst>
          </p:cNvPr>
          <p:cNvSpPr txBox="1"/>
          <p:nvPr/>
        </p:nvSpPr>
        <p:spPr>
          <a:xfrm>
            <a:off x="9169817" y="4547619"/>
            <a:ext cx="7072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waving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EA29CB0-4E00-4E7B-8EB4-C7E5AF7D2CE3}"/>
              </a:ext>
            </a:extLst>
          </p:cNvPr>
          <p:cNvSpPr txBox="1"/>
          <p:nvPr/>
        </p:nvSpPr>
        <p:spPr>
          <a:xfrm>
            <a:off x="890019" y="1766720"/>
            <a:ext cx="434321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 Narrow" panose="020B0606020202030204" pitchFamily="34" charset="0"/>
              </a:rPr>
              <a:t>In image captioning problem,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 Narrow" panose="020B0606020202030204" pitchFamily="34" charset="0"/>
              </a:rPr>
              <a:t>Finally,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Output of the 3</a:t>
            </a:r>
            <a:r>
              <a:rPr lang="en-IN" sz="2000" baseline="30000" dirty="0">
                <a:solidFill>
                  <a:srgbClr val="7030A0"/>
                </a:solidFill>
                <a:latin typeface="Arial Narrow" panose="020B0606020202030204" pitchFamily="34" charset="0"/>
              </a:rPr>
              <a:t>rd</a:t>
            </a: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decoder node comes </a:t>
            </a:r>
          </a:p>
          <a:p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     as the input of the 4</a:t>
            </a:r>
            <a:r>
              <a:rPr lang="en-IN" sz="2000" baseline="30000" dirty="0">
                <a:solidFill>
                  <a:srgbClr val="7030A0"/>
                </a:solidFill>
                <a:latin typeface="Arial Narrow" panose="020B0606020202030204" pitchFamily="34" charset="0"/>
              </a:rPr>
              <a:t>th</a:t>
            </a: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decoder node.</a:t>
            </a:r>
          </a:p>
          <a:p>
            <a:endParaRPr lang="en-IN" sz="2000" dirty="0">
              <a:solidFill>
                <a:srgbClr val="7030A0"/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The context is also an input to 4</a:t>
            </a:r>
            <a:r>
              <a:rPr lang="en-IN" sz="2000" baseline="30000" dirty="0">
                <a:solidFill>
                  <a:srgbClr val="7030A0"/>
                </a:solidFill>
                <a:latin typeface="Arial Narrow" panose="020B0606020202030204" pitchFamily="34" charset="0"/>
              </a:rPr>
              <a:t>th </a:t>
            </a: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node.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7030A0"/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Output of the 4</a:t>
            </a:r>
            <a:r>
              <a:rPr lang="en-IN" sz="2000" baseline="30000" dirty="0">
                <a:solidFill>
                  <a:srgbClr val="7030A0"/>
                </a:solidFill>
                <a:latin typeface="Arial Narrow" panose="020B0606020202030204" pitchFamily="34" charset="0"/>
              </a:rPr>
              <a:t>th</a:t>
            </a: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decoder node is “[END]”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7030A0"/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The Process stops.</a:t>
            </a:r>
          </a:p>
          <a:p>
            <a:endParaRPr lang="en-IN" sz="2000" dirty="0">
              <a:solidFill>
                <a:srgbClr val="7030A0"/>
              </a:solidFill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Arial Narrow" panose="020B0606020202030204" pitchFamily="34" charset="0"/>
            </a:endParaRPr>
          </a:p>
        </p:txBody>
      </p:sp>
      <p:sp>
        <p:nvSpPr>
          <p:cNvPr id="95" name="Title 3">
            <a:extLst>
              <a:ext uri="{FF2B5EF4-FFF2-40B4-BE49-F238E27FC236}">
                <a16:creationId xmlns:a16="http://schemas.microsoft.com/office/drawing/2014/main" id="{02F5D247-FACA-4786-8110-EFE007AA6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453"/>
            <a:ext cx="6019800" cy="1404813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Image Captioning with RNNs and Spatial Context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74CD16F-8AAB-4B40-A6B1-1F782FDDF9E3}"/>
              </a:ext>
            </a:extLst>
          </p:cNvPr>
          <p:cNvSpPr txBox="1"/>
          <p:nvPr/>
        </p:nvSpPr>
        <p:spPr>
          <a:xfrm>
            <a:off x="6581775" y="6492875"/>
            <a:ext cx="561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Fei-Fei Li Attention and Transformers CS231n Stanford Lecture</a:t>
            </a:r>
          </a:p>
        </p:txBody>
      </p:sp>
    </p:spTree>
    <p:extLst>
      <p:ext uri="{BB962C8B-B14F-4D97-AF65-F5344CB8AC3E}">
        <p14:creationId xmlns:p14="http://schemas.microsoft.com/office/powerpoint/2010/main" val="1885250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761" y="1427992"/>
            <a:ext cx="6098797" cy="5133061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10000"/>
              </a:lnSpc>
            </a:pPr>
            <a:r>
              <a:rPr lang="en-US" dirty="0">
                <a:latin typeface="Arial Narrow" panose="020B0606020202030204" pitchFamily="34" charset="0"/>
              </a:rPr>
              <a:t>The RNN/LSTM Encoder–Decoder model encodes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meaning of the whole image</a:t>
            </a:r>
            <a:r>
              <a:rPr lang="en-US" dirty="0">
                <a:latin typeface="Arial Narrow" panose="020B0606020202030204" pitchFamily="34" charset="0"/>
              </a:rPr>
              <a:t> into a fixed-length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context vector </a:t>
            </a:r>
            <a:r>
              <a:rPr lang="en-US" dirty="0">
                <a:latin typeface="Arial Narrow" panose="020B0606020202030204" pitchFamily="34" charset="0"/>
              </a:rPr>
              <a:t>before passing it to the decoder. </a:t>
            </a:r>
          </a:p>
          <a:p>
            <a:pPr algn="just">
              <a:lnSpc>
                <a:spcPct val="110000"/>
              </a:lnSpc>
            </a:pPr>
            <a:endParaRPr lang="en-US" dirty="0"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dirty="0">
                <a:latin typeface="Arial Narrow" panose="020B0606020202030204" pitchFamily="34" charset="0"/>
              </a:rPr>
              <a:t>This creates an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information bottleneck</a:t>
            </a:r>
            <a:r>
              <a:rPr lang="en-US" dirty="0">
                <a:latin typeface="Arial Narrow" panose="020B0606020202030204" pitchFamily="34" charset="0"/>
              </a:rPr>
              <a:t>, as all the relevant information must be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encoded into a single vector</a:t>
            </a:r>
            <a:r>
              <a:rPr lang="en-US" dirty="0">
                <a:latin typeface="Arial Narrow" panose="020B0606020202030204" pitchFamily="34" charset="0"/>
              </a:rPr>
              <a:t>. Consequently, the model struggles to handle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long or complex input </a:t>
            </a:r>
            <a:r>
              <a:rPr lang="en-US" dirty="0">
                <a:latin typeface="Arial Narrow" panose="020B0606020202030204" pitchFamily="34" charset="0"/>
              </a:rPr>
              <a:t>sequences, especially those longer than the sequences seen during training. </a:t>
            </a:r>
          </a:p>
          <a:p>
            <a:pPr algn="just">
              <a:lnSpc>
                <a:spcPct val="110000"/>
              </a:lnSpc>
            </a:pPr>
            <a:endParaRPr lang="en-US" dirty="0"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dirty="0">
                <a:latin typeface="Arial Narrow" panose="020B0606020202030204" pitchFamily="34" charset="0"/>
              </a:rPr>
              <a:t>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limited capacity of the context vector </a:t>
            </a:r>
            <a:r>
              <a:rPr lang="en-US" dirty="0">
                <a:latin typeface="Arial Narrow" panose="020B0606020202030204" pitchFamily="34" charset="0"/>
              </a:rPr>
              <a:t>can lead to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loss of important information</a:t>
            </a:r>
            <a:r>
              <a:rPr lang="en-US" dirty="0">
                <a:latin typeface="Arial Narrow" panose="020B0606020202030204" pitchFamily="34" charset="0"/>
              </a:rPr>
              <a:t>. Furthermore, the decoder must generate the entire output sequence using only this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single context vector</a:t>
            </a:r>
            <a:r>
              <a:rPr lang="en-US" dirty="0">
                <a:latin typeface="Arial Narrow" panose="020B0606020202030204" pitchFamily="34" charset="0"/>
              </a:rPr>
              <a:t>, making it difficult to accurately recover all the information from the source sequence. </a:t>
            </a:r>
          </a:p>
          <a:p>
            <a:pPr algn="just">
              <a:lnSpc>
                <a:spcPct val="110000"/>
              </a:lnSpc>
            </a:pPr>
            <a:endParaRPr lang="en-US" dirty="0"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dirty="0">
                <a:latin typeface="Arial Narrow" panose="020B0606020202030204" pitchFamily="34" charset="0"/>
              </a:rPr>
              <a:t>As a result, the model's performance often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degrades for long sequences and complex translation tasks</a:t>
            </a:r>
            <a:r>
              <a:rPr lang="en-US" dirty="0">
                <a:latin typeface="Arial Narrow" panose="020B0606020202030204" pitchFamily="34" charset="0"/>
              </a:rPr>
              <a:t>.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5761" y="349665"/>
            <a:ext cx="10515600" cy="869315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Problems with this approach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E25473D-4674-4537-AED5-0BDFD598E8A5}"/>
              </a:ext>
            </a:extLst>
          </p:cNvPr>
          <p:cNvGrpSpPr/>
          <p:nvPr/>
        </p:nvGrpSpPr>
        <p:grpSpPr>
          <a:xfrm>
            <a:off x="8930643" y="1615800"/>
            <a:ext cx="1123173" cy="894783"/>
            <a:chOff x="3907525" y="3282431"/>
            <a:chExt cx="1399431" cy="991913"/>
          </a:xfrm>
          <a:solidFill>
            <a:srgbClr val="FFC000">
              <a:alpha val="36000"/>
            </a:srgb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B626445-D18F-44ED-851C-EB88039B4D35}"/>
                </a:ext>
              </a:extLst>
            </p:cNvPr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0,0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1B0C9C1-417A-4223-92F6-64D50D4F85B1}"/>
                </a:ext>
              </a:extLst>
            </p:cNvPr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0,1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77B5CC4-650C-4F9C-A51A-96C30C44CF14}"/>
                </a:ext>
              </a:extLst>
            </p:cNvPr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29AA5AC-911F-467D-8654-68FAA5FD09DC}"/>
                </a:ext>
              </a:extLst>
            </p:cNvPr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4A5CAAD-6AF9-4D28-B1D5-A80B3119E0D8}"/>
                </a:ext>
              </a:extLst>
            </p:cNvPr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2370CF-868B-4F91-85C8-41A5F1100A7D}"/>
                </a:ext>
              </a:extLst>
            </p:cNvPr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F2F7DDF-A4E4-4BBC-92A9-7B843DD1A7F2}"/>
                </a:ext>
              </a:extLst>
            </p:cNvPr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2,0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311C79-972D-4D6B-A2CF-0A2EA23EFCDF}"/>
                </a:ext>
              </a:extLst>
            </p:cNvPr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5B44D4A-9841-4011-831C-D9F93D82C116}"/>
                </a:ext>
              </a:extLst>
            </p:cNvPr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2,2</a:t>
              </a:r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A9279990-9358-4044-BF33-C18D0845FE27}"/>
              </a:ext>
            </a:extLst>
          </p:cNvPr>
          <p:cNvSpPr/>
          <p:nvPr/>
        </p:nvSpPr>
        <p:spPr>
          <a:xfrm>
            <a:off x="9695788" y="3770289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BF02CC-D40A-4E2A-93AB-76F2950CEE97}"/>
              </a:ext>
            </a:extLst>
          </p:cNvPr>
          <p:cNvSpPr/>
          <p:nvPr/>
        </p:nvSpPr>
        <p:spPr>
          <a:xfrm>
            <a:off x="9725159" y="3755859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737E29F-1BAC-4290-B4DF-3CCFDB7A313D}"/>
              </a:ext>
            </a:extLst>
          </p:cNvPr>
          <p:cNvSpPr/>
          <p:nvPr/>
        </p:nvSpPr>
        <p:spPr>
          <a:xfrm>
            <a:off x="9692218" y="3145132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97820E-9C5C-4F4F-A0EF-1B0613DC2D1B}"/>
              </a:ext>
            </a:extLst>
          </p:cNvPr>
          <p:cNvSpPr/>
          <p:nvPr/>
        </p:nvSpPr>
        <p:spPr>
          <a:xfrm>
            <a:off x="9721996" y="3134938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B13ECBA-4DA1-4A77-BBA9-B152F007704E}"/>
              </a:ext>
            </a:extLst>
          </p:cNvPr>
          <p:cNvSpPr/>
          <p:nvPr/>
        </p:nvSpPr>
        <p:spPr>
          <a:xfrm>
            <a:off x="7824874" y="3611235"/>
            <a:ext cx="332999" cy="314825"/>
          </a:xfrm>
          <a:prstGeom prst="ellipse">
            <a:avLst/>
          </a:prstGeom>
          <a:solidFill>
            <a:srgbClr val="9F2160">
              <a:alpha val="43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9EB6C9-DC75-4F28-8CBA-4A2C46BF7184}"/>
              </a:ext>
            </a:extLst>
          </p:cNvPr>
          <p:cNvSpPr/>
          <p:nvPr/>
        </p:nvSpPr>
        <p:spPr>
          <a:xfrm>
            <a:off x="7838517" y="3593157"/>
            <a:ext cx="322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8B842E3-33C2-415C-A741-87048CE9C265}"/>
              </a:ext>
            </a:extLst>
          </p:cNvPr>
          <p:cNvSpPr/>
          <p:nvPr/>
        </p:nvSpPr>
        <p:spPr>
          <a:xfrm>
            <a:off x="7823690" y="3955009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AEC6A0-D3AD-421C-9790-7115FEA59A62}"/>
              </a:ext>
            </a:extLst>
          </p:cNvPr>
          <p:cNvSpPr/>
          <p:nvPr/>
        </p:nvSpPr>
        <p:spPr>
          <a:xfrm>
            <a:off x="7819550" y="3946581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5241292-BEE9-4B16-BC76-CE43F3FDACF9}"/>
              </a:ext>
            </a:extLst>
          </p:cNvPr>
          <p:cNvSpPr/>
          <p:nvPr/>
        </p:nvSpPr>
        <p:spPr>
          <a:xfrm>
            <a:off x="10397668" y="3767075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64CB06-4D2D-4CBB-ABE4-11818A3FD1F4}"/>
              </a:ext>
            </a:extLst>
          </p:cNvPr>
          <p:cNvSpPr/>
          <p:nvPr/>
        </p:nvSpPr>
        <p:spPr>
          <a:xfrm>
            <a:off x="10418509" y="3760150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532F0D0-D046-4D3A-9A60-123E1D840A9B}"/>
              </a:ext>
            </a:extLst>
          </p:cNvPr>
          <p:cNvCxnSpPr>
            <a:stCxn id="15" idx="2"/>
            <a:endCxn id="18" idx="0"/>
          </p:cNvCxnSpPr>
          <p:nvPr/>
        </p:nvCxnSpPr>
        <p:spPr>
          <a:xfrm flipH="1">
            <a:off x="9858718" y="2510582"/>
            <a:ext cx="7775" cy="634550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350">
            <a:extLst>
              <a:ext uri="{FF2B5EF4-FFF2-40B4-BE49-F238E27FC236}">
                <a16:creationId xmlns:a16="http://schemas.microsoft.com/office/drawing/2014/main" id="{CA5AE6AF-4578-4C25-BA01-40003B267FF4}"/>
              </a:ext>
            </a:extLst>
          </p:cNvPr>
          <p:cNvCxnSpPr>
            <a:stCxn id="18" idx="4"/>
            <a:endCxn id="20" idx="7"/>
          </p:cNvCxnSpPr>
          <p:nvPr/>
        </p:nvCxnSpPr>
        <p:spPr>
          <a:xfrm rot="5400000">
            <a:off x="8885221" y="2683842"/>
            <a:ext cx="197383" cy="1749612"/>
          </a:xfrm>
          <a:prstGeom prst="bentConnector3">
            <a:avLst>
              <a:gd name="adj1" fmla="val 99463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DDB0FE-39C8-4D82-8EBB-DB937CE4F2A8}"/>
              </a:ext>
            </a:extLst>
          </p:cNvPr>
          <p:cNvCxnSpPr>
            <a:stCxn id="16" idx="6"/>
            <a:endCxn id="24" idx="2"/>
          </p:cNvCxnSpPr>
          <p:nvPr/>
        </p:nvCxnSpPr>
        <p:spPr>
          <a:xfrm flipV="1">
            <a:off x="10028787" y="3924488"/>
            <a:ext cx="368881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579A4A4-FD5C-4D9D-95D4-73D6E02C01FD}"/>
              </a:ext>
            </a:extLst>
          </p:cNvPr>
          <p:cNvSpPr txBox="1"/>
          <p:nvPr/>
        </p:nvSpPr>
        <p:spPr>
          <a:xfrm>
            <a:off x="7846600" y="1709704"/>
            <a:ext cx="942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Features: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 x 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4B5FE6-E26B-47D0-932E-D0E867F5F8C9}"/>
              </a:ext>
            </a:extLst>
          </p:cNvPr>
          <p:cNvSpPr txBox="1"/>
          <p:nvPr/>
        </p:nvSpPr>
        <p:spPr>
          <a:xfrm>
            <a:off x="6704393" y="3784075"/>
            <a:ext cx="8138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[START]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820331-EB57-4A14-B724-5FAF2ECDB2B7}"/>
              </a:ext>
            </a:extLst>
          </p:cNvPr>
          <p:cNvSpPr txBox="1"/>
          <p:nvPr/>
        </p:nvSpPr>
        <p:spPr>
          <a:xfrm>
            <a:off x="6816538" y="4760867"/>
            <a:ext cx="47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Boy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996466-CD1A-4B85-A295-D5B4593F742E}"/>
              </a:ext>
            </a:extLst>
          </p:cNvPr>
          <p:cNvSpPr txBox="1"/>
          <p:nvPr/>
        </p:nvSpPr>
        <p:spPr>
          <a:xfrm>
            <a:off x="6746333" y="5541420"/>
            <a:ext cx="7072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waving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9DED1CA-FB68-49B5-A0AB-8C525DA16396}"/>
              </a:ext>
            </a:extLst>
          </p:cNvPr>
          <p:cNvCxnSpPr>
            <a:stCxn id="22" idx="7"/>
          </p:cNvCxnSpPr>
          <p:nvPr/>
        </p:nvCxnSpPr>
        <p:spPr>
          <a:xfrm flipV="1">
            <a:off x="8107922" y="3991046"/>
            <a:ext cx="1587278" cy="10068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C913FACB-0840-41F9-8530-0C8291066C08}"/>
              </a:ext>
            </a:extLst>
          </p:cNvPr>
          <p:cNvSpPr/>
          <p:nvPr/>
        </p:nvSpPr>
        <p:spPr>
          <a:xfrm>
            <a:off x="9693234" y="4590743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32062FC-CEBB-446E-9947-B4B2D23D0EFF}"/>
              </a:ext>
            </a:extLst>
          </p:cNvPr>
          <p:cNvSpPr/>
          <p:nvPr/>
        </p:nvSpPr>
        <p:spPr>
          <a:xfrm>
            <a:off x="9722605" y="4576313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01C926E-6A66-4AFF-963F-8EFE11BE5608}"/>
              </a:ext>
            </a:extLst>
          </p:cNvPr>
          <p:cNvSpPr/>
          <p:nvPr/>
        </p:nvSpPr>
        <p:spPr>
          <a:xfrm>
            <a:off x="7836162" y="4716666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5B46408-1616-430A-B4AD-317D96F929ED}"/>
              </a:ext>
            </a:extLst>
          </p:cNvPr>
          <p:cNvSpPr/>
          <p:nvPr/>
        </p:nvSpPr>
        <p:spPr>
          <a:xfrm>
            <a:off x="7845066" y="4680708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4434E92-916B-4A96-A063-A554F2877CE4}"/>
              </a:ext>
            </a:extLst>
          </p:cNvPr>
          <p:cNvSpPr/>
          <p:nvPr/>
        </p:nvSpPr>
        <p:spPr>
          <a:xfrm>
            <a:off x="10409400" y="4587529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C296629-8C00-4E99-8FE5-715E3159DC39}"/>
              </a:ext>
            </a:extLst>
          </p:cNvPr>
          <p:cNvSpPr/>
          <p:nvPr/>
        </p:nvSpPr>
        <p:spPr>
          <a:xfrm>
            <a:off x="10430241" y="4580604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5A2E94E-3E9D-4547-A7A0-C48A50A825FC}"/>
              </a:ext>
            </a:extLst>
          </p:cNvPr>
          <p:cNvCxnSpPr>
            <a:stCxn id="34" idx="6"/>
            <a:endCxn id="38" idx="2"/>
          </p:cNvCxnSpPr>
          <p:nvPr/>
        </p:nvCxnSpPr>
        <p:spPr>
          <a:xfrm flipV="1">
            <a:off x="10026233" y="4744942"/>
            <a:ext cx="383167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0EFAFC92-BF7C-4590-A396-CC472C9719F9}"/>
              </a:ext>
            </a:extLst>
          </p:cNvPr>
          <p:cNvSpPr/>
          <p:nvPr/>
        </p:nvSpPr>
        <p:spPr>
          <a:xfrm>
            <a:off x="9697053" y="5428753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3E8F660-4A39-4921-B1D5-54F18D74268D}"/>
              </a:ext>
            </a:extLst>
          </p:cNvPr>
          <p:cNvSpPr/>
          <p:nvPr/>
        </p:nvSpPr>
        <p:spPr>
          <a:xfrm>
            <a:off x="9726424" y="5414323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3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E83F2E4-679A-4A3F-A61B-B4D9AF482FE1}"/>
              </a:ext>
            </a:extLst>
          </p:cNvPr>
          <p:cNvSpPr/>
          <p:nvPr/>
        </p:nvSpPr>
        <p:spPr>
          <a:xfrm>
            <a:off x="7823690" y="5567097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1626A0B-2897-4B4E-926D-41D3D8815F2A}"/>
              </a:ext>
            </a:extLst>
          </p:cNvPr>
          <p:cNvSpPr/>
          <p:nvPr/>
        </p:nvSpPr>
        <p:spPr>
          <a:xfrm>
            <a:off x="7819550" y="5558669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909E995-80DB-43FD-B7DC-249B8604EBC8}"/>
              </a:ext>
            </a:extLst>
          </p:cNvPr>
          <p:cNvSpPr/>
          <p:nvPr/>
        </p:nvSpPr>
        <p:spPr>
          <a:xfrm>
            <a:off x="10432267" y="5425539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2DFC587-C49B-4DAD-A193-E79E0DC0F7E7}"/>
              </a:ext>
            </a:extLst>
          </p:cNvPr>
          <p:cNvSpPr/>
          <p:nvPr/>
        </p:nvSpPr>
        <p:spPr>
          <a:xfrm>
            <a:off x="10453108" y="5418614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3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C70936F-56D8-4567-A7F5-DD8872DB8379}"/>
              </a:ext>
            </a:extLst>
          </p:cNvPr>
          <p:cNvCxnSpPr>
            <a:stCxn id="41" idx="6"/>
            <a:endCxn id="45" idx="2"/>
          </p:cNvCxnSpPr>
          <p:nvPr/>
        </p:nvCxnSpPr>
        <p:spPr>
          <a:xfrm flipV="1">
            <a:off x="10030052" y="5582952"/>
            <a:ext cx="402215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8DC1093-7232-424B-9B19-39B5A4AEDBEC}"/>
              </a:ext>
            </a:extLst>
          </p:cNvPr>
          <p:cNvCxnSpPr>
            <a:stCxn id="16" idx="4"/>
            <a:endCxn id="34" idx="0"/>
          </p:cNvCxnSpPr>
          <p:nvPr/>
        </p:nvCxnSpPr>
        <p:spPr>
          <a:xfrm flipH="1">
            <a:off x="9859734" y="4085114"/>
            <a:ext cx="2554" cy="505629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BBFD21E-E70E-4426-A022-EC3347B3B502}"/>
              </a:ext>
            </a:extLst>
          </p:cNvPr>
          <p:cNvCxnSpPr>
            <a:stCxn id="34" idx="4"/>
            <a:endCxn id="41" idx="0"/>
          </p:cNvCxnSpPr>
          <p:nvPr/>
        </p:nvCxnSpPr>
        <p:spPr>
          <a:xfrm>
            <a:off x="9859734" y="4905568"/>
            <a:ext cx="3819" cy="523185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16167A8-8FE0-4A91-ABDF-1189EFC793B4}"/>
              </a:ext>
            </a:extLst>
          </p:cNvPr>
          <p:cNvCxnSpPr>
            <a:stCxn id="20" idx="5"/>
          </p:cNvCxnSpPr>
          <p:nvPr/>
        </p:nvCxnSpPr>
        <p:spPr>
          <a:xfrm flipV="1">
            <a:off x="8109106" y="3869492"/>
            <a:ext cx="1591938" cy="10463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rapezoid 50">
            <a:extLst>
              <a:ext uri="{FF2B5EF4-FFF2-40B4-BE49-F238E27FC236}">
                <a16:creationId xmlns:a16="http://schemas.microsoft.com/office/drawing/2014/main" id="{699E799E-BDE2-424B-901C-53C3EF70C9C2}"/>
              </a:ext>
            </a:extLst>
          </p:cNvPr>
          <p:cNvSpPr/>
          <p:nvPr/>
        </p:nvSpPr>
        <p:spPr>
          <a:xfrm rot="10800000">
            <a:off x="9070772" y="968669"/>
            <a:ext cx="909750" cy="601216"/>
          </a:xfrm>
          <a:prstGeom prst="trapezoid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6BA508-2A1F-47D3-80D5-67EEF0EBAD20}"/>
              </a:ext>
            </a:extLst>
          </p:cNvPr>
          <p:cNvSpPr txBox="1"/>
          <p:nvPr/>
        </p:nvSpPr>
        <p:spPr>
          <a:xfrm>
            <a:off x="9192575" y="1105843"/>
            <a:ext cx="6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CNN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4408BD5-293E-4BB2-B19B-1223DBCD290D}"/>
              </a:ext>
            </a:extLst>
          </p:cNvPr>
          <p:cNvCxnSpPr>
            <a:cxnSpLocks/>
          </p:cNvCxnSpPr>
          <p:nvPr/>
        </p:nvCxnSpPr>
        <p:spPr>
          <a:xfrm>
            <a:off x="8385140" y="3869492"/>
            <a:ext cx="6204" cy="2471288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2AB4183-9BEB-4477-AAE3-9A443A825322}"/>
              </a:ext>
            </a:extLst>
          </p:cNvPr>
          <p:cNvCxnSpPr>
            <a:cxnSpLocks/>
          </p:cNvCxnSpPr>
          <p:nvPr/>
        </p:nvCxnSpPr>
        <p:spPr>
          <a:xfrm>
            <a:off x="8385140" y="4716661"/>
            <a:ext cx="1308094" cy="3214"/>
          </a:xfrm>
          <a:prstGeom prst="straightConnector1">
            <a:avLst/>
          </a:prstGeom>
          <a:ln w="222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1B982EA-3F68-4E66-A8DD-CFA58EE0862C}"/>
              </a:ext>
            </a:extLst>
          </p:cNvPr>
          <p:cNvCxnSpPr>
            <a:cxnSpLocks/>
          </p:cNvCxnSpPr>
          <p:nvPr/>
        </p:nvCxnSpPr>
        <p:spPr>
          <a:xfrm>
            <a:off x="8396492" y="5557473"/>
            <a:ext cx="1308094" cy="3214"/>
          </a:xfrm>
          <a:prstGeom prst="straightConnector1">
            <a:avLst/>
          </a:prstGeom>
          <a:ln w="222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F6501DD-E438-46CE-921C-7CEB134D0D34}"/>
              </a:ext>
            </a:extLst>
          </p:cNvPr>
          <p:cNvCxnSpPr/>
          <p:nvPr/>
        </p:nvCxnSpPr>
        <p:spPr>
          <a:xfrm flipV="1">
            <a:off x="10034748" y="6414335"/>
            <a:ext cx="387928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171AA67-1E0D-4313-9361-3F9BF7A2C060}"/>
              </a:ext>
            </a:extLst>
          </p:cNvPr>
          <p:cNvCxnSpPr>
            <a:cxnSpLocks/>
          </p:cNvCxnSpPr>
          <p:nvPr/>
        </p:nvCxnSpPr>
        <p:spPr>
          <a:xfrm flipV="1">
            <a:off x="8097618" y="6452023"/>
            <a:ext cx="1594600" cy="4360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1AEB0B0-21E3-4176-8F92-4AD68BAD54F7}"/>
              </a:ext>
            </a:extLst>
          </p:cNvPr>
          <p:cNvSpPr txBox="1"/>
          <p:nvPr/>
        </p:nvSpPr>
        <p:spPr>
          <a:xfrm>
            <a:off x="6907801" y="6268244"/>
            <a:ext cx="453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flag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BA18E51-30BC-4FA1-9000-C4673CEAF319}"/>
              </a:ext>
            </a:extLst>
          </p:cNvPr>
          <p:cNvCxnSpPr/>
          <p:nvPr/>
        </p:nvCxnSpPr>
        <p:spPr>
          <a:xfrm>
            <a:off x="9863553" y="5743578"/>
            <a:ext cx="4696" cy="516558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5DF8F11-113A-4033-8D29-F00E8913CCBD}"/>
              </a:ext>
            </a:extLst>
          </p:cNvPr>
          <p:cNvCxnSpPr/>
          <p:nvPr/>
        </p:nvCxnSpPr>
        <p:spPr>
          <a:xfrm flipV="1">
            <a:off x="8143842" y="4841463"/>
            <a:ext cx="1587278" cy="10068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18E299-981A-4E82-A9D8-4B6C68526D21}"/>
              </a:ext>
            </a:extLst>
          </p:cNvPr>
          <p:cNvCxnSpPr/>
          <p:nvPr/>
        </p:nvCxnSpPr>
        <p:spPr>
          <a:xfrm flipV="1">
            <a:off x="8145137" y="5681905"/>
            <a:ext cx="1587278" cy="10068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794E23BA-209B-402C-9CDC-FD5B989D9522}"/>
              </a:ext>
            </a:extLst>
          </p:cNvPr>
          <p:cNvSpPr/>
          <p:nvPr/>
        </p:nvSpPr>
        <p:spPr>
          <a:xfrm>
            <a:off x="7810843" y="6320326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744E7D0-11E8-4479-85ED-5F5564EB9F67}"/>
              </a:ext>
            </a:extLst>
          </p:cNvPr>
          <p:cNvSpPr/>
          <p:nvPr/>
        </p:nvSpPr>
        <p:spPr>
          <a:xfrm>
            <a:off x="7795206" y="6277320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3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7FD7C71-A55D-4AEB-9620-51168BF99910}"/>
              </a:ext>
            </a:extLst>
          </p:cNvPr>
          <p:cNvSpPr/>
          <p:nvPr/>
        </p:nvSpPr>
        <p:spPr>
          <a:xfrm>
            <a:off x="9701749" y="6260136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29FCA2D-C427-4003-B9E8-B9B34464BD74}"/>
              </a:ext>
            </a:extLst>
          </p:cNvPr>
          <p:cNvSpPr/>
          <p:nvPr/>
        </p:nvSpPr>
        <p:spPr>
          <a:xfrm>
            <a:off x="9731120" y="6245706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4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36E907-55E6-4FB9-B4BC-A9D7C8D48ACE}"/>
              </a:ext>
            </a:extLst>
          </p:cNvPr>
          <p:cNvSpPr txBox="1"/>
          <p:nvPr/>
        </p:nvSpPr>
        <p:spPr>
          <a:xfrm>
            <a:off x="10798104" y="6233193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[END]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C99F2374-C807-4811-9C06-E2735B08DB35}"/>
              </a:ext>
            </a:extLst>
          </p:cNvPr>
          <p:cNvSpPr/>
          <p:nvPr/>
        </p:nvSpPr>
        <p:spPr>
          <a:xfrm>
            <a:off x="10422676" y="6238068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68868B0-70E5-447E-8DEA-703513360F9D}"/>
              </a:ext>
            </a:extLst>
          </p:cNvPr>
          <p:cNvSpPr/>
          <p:nvPr/>
        </p:nvSpPr>
        <p:spPr>
          <a:xfrm>
            <a:off x="10443517" y="6231143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4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EB0A07C-86D4-45C2-BE6F-8C531020C2B7}"/>
              </a:ext>
            </a:extLst>
          </p:cNvPr>
          <p:cNvCxnSpPr>
            <a:cxnSpLocks/>
          </p:cNvCxnSpPr>
          <p:nvPr/>
        </p:nvCxnSpPr>
        <p:spPr>
          <a:xfrm>
            <a:off x="8398211" y="6321926"/>
            <a:ext cx="1308094" cy="3214"/>
          </a:xfrm>
          <a:prstGeom prst="straightConnector1">
            <a:avLst/>
          </a:prstGeom>
          <a:ln w="222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Picture 69">
            <a:extLst>
              <a:ext uri="{FF2B5EF4-FFF2-40B4-BE49-F238E27FC236}">
                <a16:creationId xmlns:a16="http://schemas.microsoft.com/office/drawing/2014/main" id="{80E5E448-DCA1-405D-B452-C01F74197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079" y="17748"/>
            <a:ext cx="836736" cy="890248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2C45A386-BBE8-4B5B-9A21-6AD13B0A54E0}"/>
              </a:ext>
            </a:extLst>
          </p:cNvPr>
          <p:cNvSpPr txBox="1"/>
          <p:nvPr/>
        </p:nvSpPr>
        <p:spPr>
          <a:xfrm>
            <a:off x="6833929" y="985314"/>
            <a:ext cx="2175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Extract spatial features from a pretrained CNN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51AFDBB-8C38-419A-BA41-624D37577122}"/>
              </a:ext>
            </a:extLst>
          </p:cNvPr>
          <p:cNvSpPr txBox="1"/>
          <p:nvPr/>
        </p:nvSpPr>
        <p:spPr>
          <a:xfrm>
            <a:off x="10696957" y="3737342"/>
            <a:ext cx="47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Boy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9943C5D-DBE8-4F7C-945D-AE725A0A6256}"/>
              </a:ext>
            </a:extLst>
          </p:cNvPr>
          <p:cNvSpPr txBox="1"/>
          <p:nvPr/>
        </p:nvSpPr>
        <p:spPr>
          <a:xfrm>
            <a:off x="10828403" y="5382240"/>
            <a:ext cx="453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flag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B5B2C25-5FEF-4F6C-99F1-06563B511F66}"/>
              </a:ext>
            </a:extLst>
          </p:cNvPr>
          <p:cNvSpPr txBox="1"/>
          <p:nvPr/>
        </p:nvSpPr>
        <p:spPr>
          <a:xfrm>
            <a:off x="10696957" y="4547619"/>
            <a:ext cx="7072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waving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ABA8AD4-2C28-48CC-8AA4-D31F123F1540}"/>
              </a:ext>
            </a:extLst>
          </p:cNvPr>
          <p:cNvSpPr/>
          <p:nvPr/>
        </p:nvSpPr>
        <p:spPr>
          <a:xfrm>
            <a:off x="9524065" y="2932581"/>
            <a:ext cx="669303" cy="679530"/>
          </a:xfrm>
          <a:prstGeom prst="ellipse">
            <a:avLst/>
          </a:prstGeom>
          <a:solidFill>
            <a:schemeClr val="accent1">
              <a:alpha val="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514218D-F3EC-4BA8-AD2B-901D78CDC7B2}"/>
              </a:ext>
            </a:extLst>
          </p:cNvPr>
          <p:cNvSpPr/>
          <p:nvPr/>
        </p:nvSpPr>
        <p:spPr>
          <a:xfrm>
            <a:off x="10279367" y="2954393"/>
            <a:ext cx="11753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Narrow" panose="020B0606020202030204" pitchFamily="34" charset="0"/>
              </a:rPr>
              <a:t>information </a:t>
            </a:r>
          </a:p>
          <a:p>
            <a:r>
              <a:rPr lang="en-US" dirty="0">
                <a:solidFill>
                  <a:srgbClr val="C00000"/>
                </a:solidFill>
                <a:latin typeface="Arial Narrow" panose="020B0606020202030204" pitchFamily="34" charset="0"/>
              </a:rPr>
              <a:t>bottleneck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EA6C81-CA54-45DA-B4CC-EB0C81853232}"/>
              </a:ext>
            </a:extLst>
          </p:cNvPr>
          <p:cNvSpPr txBox="1"/>
          <p:nvPr/>
        </p:nvSpPr>
        <p:spPr>
          <a:xfrm>
            <a:off x="130074" y="6538920"/>
            <a:ext cx="561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Fei-Fei Li Attention and Transformers CS231n Stanford Lecture</a:t>
            </a:r>
          </a:p>
        </p:txBody>
      </p:sp>
    </p:spTree>
    <p:extLst>
      <p:ext uri="{BB962C8B-B14F-4D97-AF65-F5344CB8AC3E}">
        <p14:creationId xmlns:p14="http://schemas.microsoft.com/office/powerpoint/2010/main" val="3929551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744DA-7E49-4E16-9EB6-B73B0FA5E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90FCC-0B1B-4B11-8E7E-E5DD52CE2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5423"/>
            <a:ext cx="10515600" cy="493745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Attention for context modelling</a:t>
            </a:r>
            <a:r>
              <a:rPr lang="en-US" sz="2000" dirty="0">
                <a:latin typeface="Arial Narrow" panose="020B0606020202030204" pitchFamily="34" charset="0"/>
              </a:rPr>
              <a:t> is a mechanism that enables a neural network to dynamically identify and use the most relevant information from a set of inputs when producing an output.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Instead of treating all input elements equally, attention assigns a 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weight</a:t>
            </a:r>
            <a:r>
              <a:rPr lang="en-US" sz="2000" dirty="0">
                <a:latin typeface="Arial Narrow" panose="020B0606020202030204" pitchFamily="34" charset="0"/>
              </a:rPr>
              <a:t> to each element based on its relevance to the current context.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In image captioning, for example, the model can focus on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different spatial regions </a:t>
            </a:r>
            <a:r>
              <a:rPr lang="en-US" sz="2000" dirty="0">
                <a:latin typeface="Arial Narrow" panose="020B0606020202030204" pitchFamily="34" charset="0"/>
              </a:rPr>
              <a:t>of an image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depending on the word being generated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At each time step,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previous hidden state of the RNN acts as a query </a:t>
            </a:r>
            <a:r>
              <a:rPr lang="en-US" sz="2000" dirty="0">
                <a:latin typeface="Arial Narrow" panose="020B0606020202030204" pitchFamily="34" charset="0"/>
              </a:rPr>
              <a:t>to determine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which image features are most relevant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 weighted combination of these features forms a 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context vector</a:t>
            </a:r>
            <a:r>
              <a:rPr lang="en-US" sz="2000" dirty="0">
                <a:latin typeface="Arial Narrow" panose="020B0606020202030204" pitchFamily="34" charset="0"/>
              </a:rPr>
              <a:t>, which is then used by the RNN to generate the next word.</a:t>
            </a:r>
            <a:endParaRPr lang="en-IN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153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12F82-A0F3-421F-8992-81C907320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4518"/>
            <a:ext cx="10515600" cy="4880889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The attention mechanism addresses these limitations by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allowing the decoder to dynamically access all encoder hidden states rather than relying solely on a single context vector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At each decoding step, attention calculates relevance scores for the encoder hidden states, converts these scores into normalized attention weights, and computes a weighted sum to generate a step-specific context vector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Consequently, the decoder can focus on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different location of the input image when generating different output tokens (as part of the caption)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This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reduces the information bottleneck</a:t>
            </a:r>
            <a:r>
              <a:rPr lang="en-US" sz="2000" dirty="0">
                <a:latin typeface="Arial Narrow" panose="020B0606020202030204" pitchFamily="34" charset="0"/>
              </a:rPr>
              <a:t>, improves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handling of long sequences and long-term dependencies</a:t>
            </a:r>
            <a:r>
              <a:rPr lang="en-US" sz="2000" dirty="0">
                <a:latin typeface="Arial Narrow" panose="020B0606020202030204" pitchFamily="34" charset="0"/>
              </a:rPr>
              <a:t>, and enables the model to align relevant input and output elements more effectively.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Thus, attention transforms the fixed-context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model </a:t>
            </a:r>
            <a:r>
              <a:rPr lang="en-US" sz="2000" dirty="0">
                <a:latin typeface="Arial Narrow" panose="020B0606020202030204" pitchFamily="34" charset="0"/>
              </a:rPr>
              <a:t>into a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more flexible model capable of selectively retrieving the information required for each decoding step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  <a:endParaRPr lang="en-IN" sz="2000" dirty="0">
              <a:latin typeface="Arial Narrow" panose="020B0606020202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C9FA55C-0C35-48C7-A87A-1D2586E23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9392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Century" panose="02040604050505020304" pitchFamily="18" charset="0"/>
              </a:rPr>
              <a:t>How Attention Solves This?</a:t>
            </a:r>
            <a:endParaRPr lang="en-IN" sz="3600" dirty="0">
              <a:solidFill>
                <a:schemeClr val="tx1">
                  <a:lumMod val="95000"/>
                  <a:lumOff val="5000"/>
                </a:schemeClr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749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854660-AFC7-4DD7-A283-5B8542308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454"/>
            <a:ext cx="10515600" cy="85991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Image Captioning with RNNs and Attention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4837133" y="2764431"/>
            <a:ext cx="1123173" cy="894783"/>
            <a:chOff x="3907525" y="3282431"/>
            <a:chExt cx="1399431" cy="991913"/>
          </a:xfrm>
          <a:solidFill>
            <a:srgbClr val="FFC000">
              <a:alpha val="36000"/>
            </a:srgbClr>
          </a:solidFill>
        </p:grpSpPr>
        <p:sp>
          <p:nvSpPr>
            <p:cNvPr id="61" name="Rectangle 60"/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0,1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0,2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2,0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2,1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2,2</a:t>
              </a:r>
            </a:p>
          </p:txBody>
        </p:sp>
      </p:grpSp>
      <p:sp>
        <p:nvSpPr>
          <p:cNvPr id="107" name="Oval 106"/>
          <p:cNvSpPr/>
          <p:nvPr/>
        </p:nvSpPr>
        <p:spPr>
          <a:xfrm>
            <a:off x="5130784" y="4330797"/>
            <a:ext cx="596318" cy="5384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5252587" y="4374858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Straight Arrow Connector 42"/>
          <p:cNvCxnSpPr>
            <a:cxnSpLocks/>
            <a:endCxn id="107" idx="0"/>
          </p:cNvCxnSpPr>
          <p:nvPr/>
        </p:nvCxnSpPr>
        <p:spPr>
          <a:xfrm flipH="1">
            <a:off x="5428943" y="3659213"/>
            <a:ext cx="6917" cy="671584"/>
          </a:xfrm>
          <a:prstGeom prst="straightConnector1">
            <a:avLst/>
          </a:prstGeom>
          <a:ln w="2857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3785795" y="2794097"/>
            <a:ext cx="942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Features: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 x D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631011" y="1313455"/>
            <a:ext cx="2175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Extract spatial features from a pretrained CNN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0395" y="6567780"/>
            <a:ext cx="6072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 et al, “Show, Attend and Tell: Neural Image Captain Generation with Visual Attention”, ICML 2015</a:t>
            </a:r>
          </a:p>
        </p:txBody>
      </p:sp>
      <p:sp>
        <p:nvSpPr>
          <p:cNvPr id="92" name="Trapezoid 91">
            <a:extLst>
              <a:ext uri="{FF2B5EF4-FFF2-40B4-BE49-F238E27FC236}">
                <a16:creationId xmlns:a16="http://schemas.microsoft.com/office/drawing/2014/main" id="{DC339EA5-C50C-4298-BA9C-C7BB5987BFE9}"/>
              </a:ext>
            </a:extLst>
          </p:cNvPr>
          <p:cNvSpPr/>
          <p:nvPr/>
        </p:nvSpPr>
        <p:spPr>
          <a:xfrm rot="10800000">
            <a:off x="4951676" y="2071936"/>
            <a:ext cx="909750" cy="601216"/>
          </a:xfrm>
          <a:prstGeom prst="trapezoid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8F252F2-C421-4C82-88FF-E0B9C4565C87}"/>
              </a:ext>
            </a:extLst>
          </p:cNvPr>
          <p:cNvSpPr txBox="1"/>
          <p:nvPr/>
        </p:nvSpPr>
        <p:spPr>
          <a:xfrm>
            <a:off x="5073479" y="2209110"/>
            <a:ext cx="6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CNN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061A8E-7659-47D9-A5A7-92DBBD83E9F2}"/>
              </a:ext>
            </a:extLst>
          </p:cNvPr>
          <p:cNvSpPr txBox="1"/>
          <p:nvPr/>
        </p:nvSpPr>
        <p:spPr>
          <a:xfrm>
            <a:off x="6442637" y="2424764"/>
            <a:ext cx="5224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It enables the model to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dynamically select relevant image regions</a:t>
            </a:r>
            <a:r>
              <a:rPr lang="en-US" sz="2000" dirty="0">
                <a:latin typeface="Arial Narrow" panose="020B0606020202030204" pitchFamily="34" charset="0"/>
              </a:rPr>
              <a:t> for each generated word, improving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accuracy, interpretability, and contextual relevance of the generated caption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  <a:endParaRPr lang="en-IN" sz="2000" dirty="0">
              <a:latin typeface="Arial Narrow" panose="020B0606020202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339295-BA0F-46FC-906F-5FD28CF46F7F}"/>
              </a:ext>
            </a:extLst>
          </p:cNvPr>
          <p:cNvSpPr txBox="1"/>
          <p:nvPr/>
        </p:nvSpPr>
        <p:spPr>
          <a:xfrm>
            <a:off x="6581775" y="6492875"/>
            <a:ext cx="561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Fei-Fei Li Attention and Transformers CS231n Stanford Lecture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3628534-8949-4964-B10A-05B4EE17B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479" y="1121275"/>
            <a:ext cx="836736" cy="89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054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8949538" y="2149402"/>
            <a:ext cx="1317972" cy="954453"/>
            <a:chOff x="3907525" y="3282431"/>
            <a:chExt cx="1399431" cy="99191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" name="Rectangle 2"/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1,0,0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1,0,1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1,0,2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1,1,0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1,1,1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1,1,2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1,2,0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1,2,1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1,2,2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967592" y="2509907"/>
            <a:ext cx="1123173" cy="894783"/>
            <a:chOff x="3907525" y="3282431"/>
            <a:chExt cx="1399431" cy="991913"/>
          </a:xfrm>
          <a:solidFill>
            <a:srgbClr val="FFC000">
              <a:alpha val="36000"/>
            </a:srgbClr>
          </a:solidFill>
        </p:grpSpPr>
        <p:sp>
          <p:nvSpPr>
            <p:cNvPr id="61" name="Rectangle 60"/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0,1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0,2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2,0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2,1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2,2</a:t>
              </a:r>
            </a:p>
          </p:txBody>
        </p:sp>
      </p:grpSp>
      <p:sp>
        <p:nvSpPr>
          <p:cNvPr id="107" name="Oval 106"/>
          <p:cNvSpPr/>
          <p:nvPr/>
        </p:nvSpPr>
        <p:spPr>
          <a:xfrm>
            <a:off x="7245041" y="4087010"/>
            <a:ext cx="596318" cy="5384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7380458" y="4142082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Straight Arrow Connector 42"/>
          <p:cNvCxnSpPr>
            <a:cxnSpLocks/>
            <a:endCxn id="107" idx="0"/>
          </p:cNvCxnSpPr>
          <p:nvPr/>
        </p:nvCxnSpPr>
        <p:spPr>
          <a:xfrm flipH="1">
            <a:off x="7543200" y="3415426"/>
            <a:ext cx="6917" cy="671584"/>
          </a:xfrm>
          <a:prstGeom prst="straightConnector1">
            <a:avLst/>
          </a:prstGeom>
          <a:ln w="2857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10357180" y="2374076"/>
            <a:ext cx="1592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Alignment Scores: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916254" y="2539573"/>
            <a:ext cx="942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Features: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 x D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063192" y="1081210"/>
            <a:ext cx="2175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Extract spatial features from a pretrained CNN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0395" y="6567780"/>
            <a:ext cx="6072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 et al, “Show, Attend and Tell: Neural Image Captain Generation with Visual Attention”, ICML 2015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FC5E08C-1D13-4CF9-9216-D8DC9D24F088}"/>
              </a:ext>
            </a:extLst>
          </p:cNvPr>
          <p:cNvCxnSpPr>
            <a:cxnSpLocks/>
          </p:cNvCxnSpPr>
          <p:nvPr/>
        </p:nvCxnSpPr>
        <p:spPr>
          <a:xfrm>
            <a:off x="8085038" y="2811747"/>
            <a:ext cx="864500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rapezoid 91">
            <a:extLst>
              <a:ext uri="{FF2B5EF4-FFF2-40B4-BE49-F238E27FC236}">
                <a16:creationId xmlns:a16="http://schemas.microsoft.com/office/drawing/2014/main" id="{DC339EA5-C50C-4298-BA9C-C7BB5987BFE9}"/>
              </a:ext>
            </a:extLst>
          </p:cNvPr>
          <p:cNvSpPr/>
          <p:nvPr/>
        </p:nvSpPr>
        <p:spPr>
          <a:xfrm rot="10800000">
            <a:off x="7100984" y="1817412"/>
            <a:ext cx="909750" cy="601216"/>
          </a:xfrm>
          <a:prstGeom prst="trapezoid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8F252F2-C421-4C82-88FF-E0B9C4565C87}"/>
              </a:ext>
            </a:extLst>
          </p:cNvPr>
          <p:cNvSpPr txBox="1"/>
          <p:nvPr/>
        </p:nvSpPr>
        <p:spPr>
          <a:xfrm>
            <a:off x="7222787" y="1954586"/>
            <a:ext cx="6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CNN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8D5C69-929C-4289-AFFA-15EF5CFB68D9}"/>
              </a:ext>
            </a:extLst>
          </p:cNvPr>
          <p:cNvCxnSpPr>
            <a:stCxn id="107" idx="6"/>
            <a:endCxn id="53" idx="2"/>
          </p:cNvCxnSpPr>
          <p:nvPr/>
        </p:nvCxnSpPr>
        <p:spPr>
          <a:xfrm flipV="1">
            <a:off x="7841359" y="3103855"/>
            <a:ext cx="1766717" cy="125236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8BC867E-82F5-4EFD-9776-3312D81F8935}"/>
              </a:ext>
            </a:extLst>
          </p:cNvPr>
          <p:cNvSpPr/>
          <p:nvPr/>
        </p:nvSpPr>
        <p:spPr>
          <a:xfrm>
            <a:off x="8851769" y="2001770"/>
            <a:ext cx="1499107" cy="1252368"/>
          </a:xfrm>
          <a:prstGeom prst="rect">
            <a:avLst/>
          </a:prstGeom>
          <a:solidFill>
            <a:schemeClr val="accent1">
              <a:alpha val="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3DDA9A8-19DA-45DA-B0AD-B60C78EE6926}"/>
                  </a:ext>
                </a:extLst>
              </p:cNvPr>
              <p:cNvSpPr/>
              <p:nvPr/>
            </p:nvSpPr>
            <p:spPr>
              <a:xfrm>
                <a:off x="903203" y="1245291"/>
                <a:ext cx="5152503" cy="3194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 Narrow" panose="020B0606020202030204" pitchFamily="34" charset="0"/>
                  </a:rPr>
                  <a:t>In an attention mechanism, the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alignment score </a:t>
                </a:r>
                <a:r>
                  <a:rPr lang="en-US" sz="2000" dirty="0">
                    <a:latin typeface="Arial Narrow" panose="020B0606020202030204" pitchFamily="34" charset="0"/>
                  </a:rPr>
                  <a:t>measures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how well a query matches a key</a:t>
                </a:r>
                <a:r>
                  <a:rPr lang="en-US" sz="2000" dirty="0">
                    <a:latin typeface="Arial Narrow" panose="020B0606020202030204" pitchFamily="34" charset="0"/>
                  </a:rPr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 Narrow" panose="020B0606020202030204" pitchFamily="34" charset="0"/>
                  </a:rPr>
                  <a:t>It indicates the importance or relevance of each key to the given query.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Arial Narrow" panose="020B0606020202030204" pitchFamily="34" charset="0"/>
                  </a:rPr>
                  <a:t>Compute Alignment Score: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𝑎𝑙𝑙</m:t>
                          </m:r>
                        </m:sub>
                      </m:sSub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>
                  <a:solidFill>
                    <a:srgbClr val="00B0F0"/>
                  </a:solidFill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               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𝑎𝑙𝑙</m:t>
                        </m:r>
                      </m:sub>
                    </m:sSub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()= a MLP</a:t>
                </a:r>
              </a:p>
              <a:p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3DDA9A8-19DA-45DA-B0AD-B60C78EE69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03" y="1245291"/>
                <a:ext cx="5152503" cy="3194785"/>
              </a:xfrm>
              <a:prstGeom prst="rect">
                <a:avLst/>
              </a:prstGeom>
              <a:blipFill>
                <a:blip r:embed="rId3"/>
                <a:stretch>
                  <a:fillRect l="-1065" t="-9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itle 3">
            <a:extLst>
              <a:ext uri="{FF2B5EF4-FFF2-40B4-BE49-F238E27FC236}">
                <a16:creationId xmlns:a16="http://schemas.microsoft.com/office/drawing/2014/main" id="{2221B573-28F5-4B09-9410-E47ABDB41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454"/>
            <a:ext cx="10515600" cy="85991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Image Captioning with RNNs and Attention</a:t>
            </a:r>
            <a:br>
              <a:rPr lang="en-IN" sz="3200" dirty="0">
                <a:latin typeface="Century" panose="02040604050505020304" pitchFamily="18" charset="0"/>
              </a:rPr>
            </a:br>
            <a:r>
              <a:rPr lang="en-IN" sz="2400" dirty="0">
                <a:latin typeface="Century" panose="02040604050505020304" pitchFamily="18" charset="0"/>
              </a:rPr>
              <a:t>Computing Alignment Score</a:t>
            </a:r>
            <a:endParaRPr lang="en-IN" sz="3200" dirty="0">
              <a:latin typeface="Century" panose="020406040505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660E97-D911-4594-952D-C1002BAFC87B}"/>
              </a:ext>
            </a:extLst>
          </p:cNvPr>
          <p:cNvSpPr txBox="1"/>
          <p:nvPr/>
        </p:nvSpPr>
        <p:spPr>
          <a:xfrm>
            <a:off x="6581775" y="6492875"/>
            <a:ext cx="561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Fei-Fei Li Attention and Transformers CS231n Stanford Lecture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E80DD8AF-1355-49FE-A6B2-6DEE7E5F3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914" y="827900"/>
            <a:ext cx="836736" cy="89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171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8949538" y="2149402"/>
            <a:ext cx="1317972" cy="954453"/>
            <a:chOff x="3907525" y="3282431"/>
            <a:chExt cx="1399431" cy="99191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" name="Rectangle 2"/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1,0,0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1,0,1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1,0,2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1,1,0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1,1,1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1,1,2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1,2,0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1,2,1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1,2,2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967592" y="2509907"/>
            <a:ext cx="1123173" cy="894783"/>
            <a:chOff x="3907525" y="3282431"/>
            <a:chExt cx="1399431" cy="991913"/>
          </a:xfrm>
          <a:solidFill>
            <a:srgbClr val="FFC000">
              <a:alpha val="36000"/>
            </a:srgbClr>
          </a:solidFill>
        </p:grpSpPr>
        <p:sp>
          <p:nvSpPr>
            <p:cNvPr id="61" name="Rectangle 60"/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0,1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0,2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2,0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2,1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2,2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8949538" y="3278352"/>
            <a:ext cx="1317973" cy="985881"/>
            <a:chOff x="3907525" y="3282431"/>
            <a:chExt cx="1399431" cy="991913"/>
          </a:xfrm>
          <a:solidFill>
            <a:schemeClr val="accent6">
              <a:lumMod val="75000"/>
              <a:alpha val="77000"/>
            </a:schemeClr>
          </a:solidFill>
        </p:grpSpPr>
        <p:sp>
          <p:nvSpPr>
            <p:cNvPr id="74" name="Rectangle 73"/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1,0,0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1,0,1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1,0,2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1,1,0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1,1,1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1,1,2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1,2,0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1,2,1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1,2,2</a:t>
              </a:r>
            </a:p>
          </p:txBody>
        </p:sp>
      </p:grpSp>
      <p:sp>
        <p:nvSpPr>
          <p:cNvPr id="107" name="Oval 106"/>
          <p:cNvSpPr/>
          <p:nvPr/>
        </p:nvSpPr>
        <p:spPr>
          <a:xfrm>
            <a:off x="7245041" y="4087010"/>
            <a:ext cx="596318" cy="5384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7380458" y="4142082"/>
            <a:ext cx="360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0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3" name="Straight Arrow Connector 42"/>
          <p:cNvCxnSpPr>
            <a:cxnSpLocks/>
            <a:endCxn id="107" idx="0"/>
          </p:cNvCxnSpPr>
          <p:nvPr/>
        </p:nvCxnSpPr>
        <p:spPr>
          <a:xfrm flipH="1">
            <a:off x="7543200" y="3415426"/>
            <a:ext cx="6917" cy="671584"/>
          </a:xfrm>
          <a:prstGeom prst="straightConnector1">
            <a:avLst/>
          </a:prstGeom>
          <a:ln w="2857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/>
          <p:cNvCxnSpPr>
            <a:stCxn id="53" idx="2"/>
            <a:endCxn id="75" idx="0"/>
          </p:cNvCxnSpPr>
          <p:nvPr/>
        </p:nvCxnSpPr>
        <p:spPr>
          <a:xfrm>
            <a:off x="9608076" y="3103855"/>
            <a:ext cx="1" cy="174499"/>
          </a:xfrm>
          <a:prstGeom prst="straightConnector1">
            <a:avLst/>
          </a:prstGeom>
          <a:ln w="2857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10357180" y="2374076"/>
            <a:ext cx="1592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Alignment Scores: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465917" y="3541911"/>
            <a:ext cx="9380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Attention: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916254" y="2539573"/>
            <a:ext cx="942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Features: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 x D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063192" y="1081210"/>
            <a:ext cx="2175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Extract spatial features from a pretrained CNN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0395" y="6567780"/>
            <a:ext cx="6072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 et al, “Show, Attend and Tell: Neural Image Captain Generation with Visual Attention”, ICML 2015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FC5E08C-1D13-4CF9-9216-D8DC9D24F088}"/>
              </a:ext>
            </a:extLst>
          </p:cNvPr>
          <p:cNvCxnSpPr>
            <a:cxnSpLocks/>
          </p:cNvCxnSpPr>
          <p:nvPr/>
        </p:nvCxnSpPr>
        <p:spPr>
          <a:xfrm>
            <a:off x="8085038" y="2811747"/>
            <a:ext cx="864500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rapezoid 91">
            <a:extLst>
              <a:ext uri="{FF2B5EF4-FFF2-40B4-BE49-F238E27FC236}">
                <a16:creationId xmlns:a16="http://schemas.microsoft.com/office/drawing/2014/main" id="{DC339EA5-C50C-4298-BA9C-C7BB5987BFE9}"/>
              </a:ext>
            </a:extLst>
          </p:cNvPr>
          <p:cNvSpPr/>
          <p:nvPr/>
        </p:nvSpPr>
        <p:spPr>
          <a:xfrm rot="10800000">
            <a:off x="7100984" y="1817412"/>
            <a:ext cx="909750" cy="601216"/>
          </a:xfrm>
          <a:prstGeom prst="trapezoid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8F252F2-C421-4C82-88FF-E0B9C4565C87}"/>
              </a:ext>
            </a:extLst>
          </p:cNvPr>
          <p:cNvSpPr txBox="1"/>
          <p:nvPr/>
        </p:nvSpPr>
        <p:spPr>
          <a:xfrm>
            <a:off x="7222787" y="1954586"/>
            <a:ext cx="6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CNN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8FA817-F648-4448-9887-69B1EF155BDE}"/>
              </a:ext>
            </a:extLst>
          </p:cNvPr>
          <p:cNvSpPr/>
          <p:nvPr/>
        </p:nvSpPr>
        <p:spPr>
          <a:xfrm>
            <a:off x="8823489" y="3186458"/>
            <a:ext cx="1555152" cy="1144098"/>
          </a:xfrm>
          <a:prstGeom prst="rect">
            <a:avLst/>
          </a:prstGeom>
          <a:solidFill>
            <a:schemeClr val="accent1">
              <a:alpha val="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F8B28F5-AF2F-4561-A264-727D6EA7BB40}"/>
                  </a:ext>
                </a:extLst>
              </p:cNvPr>
              <p:cNvSpPr/>
              <p:nvPr/>
            </p:nvSpPr>
            <p:spPr>
              <a:xfrm>
                <a:off x="855180" y="1262300"/>
                <a:ext cx="5005041" cy="47089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b="0" i="0" dirty="0">
                    <a:solidFill>
                      <a:srgbClr val="0D0D0D"/>
                    </a:solidFill>
                    <a:effectLst/>
                    <a:latin typeface="Arial Narrow" panose="020B0606020202030204" pitchFamily="34" charset="0"/>
                  </a:rPr>
                  <a:t>Once the alignment scores are calculated between a query and all the keys, they are passed through a </a:t>
                </a:r>
                <a:r>
                  <a:rPr lang="en-US" sz="2000" i="0" dirty="0" err="1">
                    <a:solidFill>
                      <a:srgbClr val="7030A0"/>
                    </a:solidFill>
                    <a:effectLst/>
                    <a:latin typeface="Arial Narrow" panose="020B0606020202030204" pitchFamily="34" charset="0"/>
                  </a:rPr>
                  <a:t>softmax</a:t>
                </a:r>
                <a:r>
                  <a:rPr lang="en-US" sz="2000" i="0" dirty="0">
                    <a:solidFill>
                      <a:srgbClr val="7030A0"/>
                    </a:solidFill>
                    <a:effectLst/>
                    <a:latin typeface="Arial Narrow" panose="020B0606020202030204" pitchFamily="34" charset="0"/>
                  </a:rPr>
                  <a:t> function</a:t>
                </a:r>
                <a:r>
                  <a:rPr lang="en-US" sz="2000" b="0" i="0" dirty="0">
                    <a:solidFill>
                      <a:srgbClr val="0D0D0D"/>
                    </a:solidFill>
                    <a:effectLst/>
                    <a:latin typeface="Arial Narrow" panose="020B0606020202030204" pitchFamily="34" charset="0"/>
                  </a:rPr>
                  <a:t> to convert them into attention weights. 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D0D0D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solidFill>
                          <a:srgbClr val="0D0D0D"/>
                        </a:solidFill>
                        <a:effectLst/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IN" sz="2000" b="0" i="1" smtClean="0">
                        <a:solidFill>
                          <a:srgbClr val="0D0D0D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D0D0D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0" i="0" dirty="0">
                  <a:solidFill>
                    <a:srgbClr val="0D0D0D"/>
                  </a:solidFill>
                  <a:effectLst/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solidFill>
                      <a:srgbClr val="0D0D0D"/>
                    </a:solidFill>
                    <a:latin typeface="Arial Narrow" panose="020B0606020202030204" pitchFamily="34" charset="0"/>
                  </a:rPr>
                  <a:t>          where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 smtClean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sz="2000" b="0" i="1" smtClean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b="0" i="1" smtClean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000" b="0" i="1" smtClean="0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IN" sz="2000" b="0" i="1" smtClean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r>
                  <a:rPr lang="en-US" sz="2000" b="0" i="0" dirty="0">
                    <a:solidFill>
                      <a:srgbClr val="0D0D0D"/>
                    </a:solidFill>
                    <a:effectLst/>
                    <a:latin typeface="Arial Narrow" panose="020B0606020202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b="0" i="0" dirty="0" smtClean="0">
                        <a:solidFill>
                          <a:srgbClr val="0D0D0D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000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000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sz="2000" b="0" i="1" dirty="0" smtClean="0">
                        <a:solidFill>
                          <a:srgbClr val="0D0D0D"/>
                        </a:solidFill>
                        <a:effectLst/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sz="2000" b="0" i="0" dirty="0">
                  <a:solidFill>
                    <a:srgbClr val="0D0D0D"/>
                  </a:solidFill>
                  <a:effectLst/>
                  <a:latin typeface="Arial Narrow" panose="020B0606020202030204" pitchFamily="34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b="0" i="0" dirty="0">
                    <a:solidFill>
                      <a:srgbClr val="0D0D0D"/>
                    </a:solidFill>
                    <a:effectLst/>
                    <a:latin typeface="Arial Narrow" panose="020B0606020202030204" pitchFamily="34" charset="0"/>
                  </a:rPr>
                  <a:t>These weights represent the importance of each key/value. 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b="0" i="0" dirty="0">
                    <a:solidFill>
                      <a:srgbClr val="0D0D0D"/>
                    </a:solidFill>
                    <a:effectLst/>
                    <a:latin typeface="Arial Narrow" panose="020B0606020202030204" pitchFamily="34" charset="0"/>
                  </a:rPr>
                  <a:t>The final attention output is then calculated as the </a:t>
                </a:r>
                <a:r>
                  <a:rPr lang="en-US" sz="2000" i="0" dirty="0">
                    <a:solidFill>
                      <a:srgbClr val="7030A0"/>
                    </a:solidFill>
                    <a:effectLst/>
                    <a:latin typeface="Arial Narrow" panose="020B0606020202030204" pitchFamily="34" charset="0"/>
                  </a:rPr>
                  <a:t>weighted sum of the values</a:t>
                </a:r>
                <a:r>
                  <a:rPr lang="en-US" sz="2000" b="0" i="0" dirty="0">
                    <a:solidFill>
                      <a:srgbClr val="0D0D0D"/>
                    </a:solidFill>
                    <a:effectLst/>
                    <a:latin typeface="Arial Narrow" panose="020B0606020202030204" pitchFamily="34" charset="0"/>
                  </a:rPr>
                  <a:t>, where values with higher attention weights contribute more strongly to the output.</a:t>
                </a:r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F8B28F5-AF2F-4561-A264-727D6EA7BB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80" y="1262300"/>
                <a:ext cx="5005041" cy="4708981"/>
              </a:xfrm>
              <a:prstGeom prst="rect">
                <a:avLst/>
              </a:prstGeom>
              <a:blipFill>
                <a:blip r:embed="rId3"/>
                <a:stretch>
                  <a:fillRect l="-1096" t="-647" r="-1340" b="-19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itle 3">
            <a:extLst>
              <a:ext uri="{FF2B5EF4-FFF2-40B4-BE49-F238E27FC236}">
                <a16:creationId xmlns:a16="http://schemas.microsoft.com/office/drawing/2014/main" id="{6A1C30E4-948B-4C64-A217-520E2CEA9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454"/>
            <a:ext cx="10515600" cy="85991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Image Captioning with RNNs and Attention</a:t>
            </a:r>
            <a:br>
              <a:rPr lang="en-IN" sz="3200" dirty="0">
                <a:latin typeface="Century" panose="02040604050505020304" pitchFamily="18" charset="0"/>
              </a:rPr>
            </a:br>
            <a:r>
              <a:rPr lang="en-IN" sz="2400" dirty="0">
                <a:latin typeface="Century" panose="02040604050505020304" pitchFamily="18" charset="0"/>
              </a:rPr>
              <a:t>Computing Attention</a:t>
            </a:r>
            <a:endParaRPr lang="en-IN" sz="3200" dirty="0">
              <a:latin typeface="Century" panose="020406040505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2EE191-2CCA-4DFF-94E8-6E92276BC594}"/>
              </a:ext>
            </a:extLst>
          </p:cNvPr>
          <p:cNvSpPr txBox="1"/>
          <p:nvPr/>
        </p:nvSpPr>
        <p:spPr>
          <a:xfrm>
            <a:off x="6581775" y="6492875"/>
            <a:ext cx="561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Fei-Fei Li Attention and Transformers CS231n Stanford Lecture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7A1DB619-AEF0-4F98-A25D-08971EA74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9054" y="846619"/>
            <a:ext cx="836736" cy="89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958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8949538" y="2149402"/>
            <a:ext cx="1317972" cy="954453"/>
            <a:chOff x="3907525" y="3282431"/>
            <a:chExt cx="1399431" cy="99191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" name="Rectangle 2"/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1,0,0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1,0,1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1,0,2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1,1,0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1,1,1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1,1,2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1,2,0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1,2,1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1,2,2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967592" y="2509907"/>
            <a:ext cx="1123173" cy="894783"/>
            <a:chOff x="3907525" y="3282431"/>
            <a:chExt cx="1399431" cy="991913"/>
          </a:xfrm>
          <a:solidFill>
            <a:srgbClr val="FFC000">
              <a:alpha val="36000"/>
            </a:srgbClr>
          </a:solidFill>
        </p:grpSpPr>
        <p:sp>
          <p:nvSpPr>
            <p:cNvPr id="61" name="Rectangle 60"/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0,1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0,2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2,0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2,1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2,2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8949538" y="3278352"/>
            <a:ext cx="1317973" cy="985881"/>
            <a:chOff x="3907525" y="3282431"/>
            <a:chExt cx="1399431" cy="991913"/>
          </a:xfrm>
          <a:solidFill>
            <a:schemeClr val="accent6">
              <a:lumMod val="75000"/>
              <a:alpha val="77000"/>
            </a:schemeClr>
          </a:solidFill>
        </p:grpSpPr>
        <p:sp>
          <p:nvSpPr>
            <p:cNvPr id="74" name="Rectangle 73"/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1,0,0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1,0,1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1,0,2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1,1,0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1,1,1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1,1,2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1,2,0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1,2,1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1,2,2</a:t>
              </a:r>
            </a:p>
          </p:txBody>
        </p:sp>
      </p:grpSp>
      <p:sp>
        <p:nvSpPr>
          <p:cNvPr id="107" name="Oval 106"/>
          <p:cNvSpPr/>
          <p:nvPr/>
        </p:nvSpPr>
        <p:spPr>
          <a:xfrm>
            <a:off x="7598366" y="4076273"/>
            <a:ext cx="596318" cy="5384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7708012" y="4160819"/>
            <a:ext cx="360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0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5884645" y="4781241"/>
            <a:ext cx="596318" cy="538425"/>
          </a:xfrm>
          <a:prstGeom prst="ellipse">
            <a:avLst/>
          </a:prstGeom>
          <a:solidFill>
            <a:srgbClr val="9F2160">
              <a:alpha val="43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5990884" y="4851095"/>
            <a:ext cx="3885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IN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" name="Flowchart: Or 37"/>
          <p:cNvSpPr/>
          <p:nvPr/>
        </p:nvSpPr>
        <p:spPr>
          <a:xfrm>
            <a:off x="5510001" y="3682795"/>
            <a:ext cx="231501" cy="215900"/>
          </a:xfrm>
          <a:prstGeom prst="flowChartOr">
            <a:avLst/>
          </a:prstGeom>
          <a:solidFill>
            <a:schemeClr val="accent2">
              <a:lumMod val="40000"/>
              <a:lumOff val="6000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0" name="Straight Arrow Connector 39"/>
          <p:cNvCxnSpPr>
            <a:stCxn id="77" idx="1"/>
            <a:endCxn id="38" idx="6"/>
          </p:cNvCxnSpPr>
          <p:nvPr/>
        </p:nvCxnSpPr>
        <p:spPr>
          <a:xfrm flipH="1">
            <a:off x="5741502" y="3777209"/>
            <a:ext cx="3208037" cy="13536"/>
          </a:xfrm>
          <a:prstGeom prst="straightConnector1">
            <a:avLst/>
          </a:prstGeom>
          <a:ln w="2857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72" idx="2"/>
            <a:endCxn id="107" idx="0"/>
          </p:cNvCxnSpPr>
          <p:nvPr/>
        </p:nvCxnSpPr>
        <p:spPr>
          <a:xfrm flipH="1">
            <a:off x="7896525" y="3404689"/>
            <a:ext cx="6917" cy="671584"/>
          </a:xfrm>
          <a:prstGeom prst="straightConnector1">
            <a:avLst/>
          </a:prstGeom>
          <a:ln w="2857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/>
          <p:cNvCxnSpPr>
            <a:stCxn id="53" idx="2"/>
            <a:endCxn id="75" idx="0"/>
          </p:cNvCxnSpPr>
          <p:nvPr/>
        </p:nvCxnSpPr>
        <p:spPr>
          <a:xfrm>
            <a:off x="9608076" y="3103855"/>
            <a:ext cx="1" cy="174499"/>
          </a:xfrm>
          <a:prstGeom prst="straightConnector1">
            <a:avLst/>
          </a:prstGeom>
          <a:ln w="2857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10357180" y="2374076"/>
            <a:ext cx="1592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Alignment Scores: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465917" y="3541911"/>
            <a:ext cx="9380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Attention: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916254" y="2539573"/>
            <a:ext cx="942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Features: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 x D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075127" y="1175426"/>
            <a:ext cx="2175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Extract spatial features from a pretrained CNN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0395" y="6567780"/>
            <a:ext cx="6072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 et al, “Show, Attend and Tell: Neural Image Captain Generation with Visual Attention”, ICML 2015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703FC7-2418-444F-96B8-BB20769F6A32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5625751" y="3259140"/>
            <a:ext cx="1341841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A8A98C-6B70-4285-A310-0A462CBE6ECE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5625751" y="3250071"/>
            <a:ext cx="1" cy="432724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34B69B2-A999-49D5-B375-7087348BC31E}"/>
              </a:ext>
            </a:extLst>
          </p:cNvPr>
          <p:cNvCxnSpPr>
            <a:stCxn id="38" idx="4"/>
          </p:cNvCxnSpPr>
          <p:nvPr/>
        </p:nvCxnSpPr>
        <p:spPr>
          <a:xfrm flipH="1">
            <a:off x="5625751" y="3898695"/>
            <a:ext cx="1" cy="1150764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7E2097E-E5F2-4D13-8223-F08E22BD763A}"/>
              </a:ext>
            </a:extLst>
          </p:cNvPr>
          <p:cNvCxnSpPr>
            <a:endCxn id="112" idx="2"/>
          </p:cNvCxnSpPr>
          <p:nvPr/>
        </p:nvCxnSpPr>
        <p:spPr>
          <a:xfrm>
            <a:off x="5625751" y="5049459"/>
            <a:ext cx="258894" cy="995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FC5E08C-1D13-4CF9-9216-D8DC9D24F088}"/>
              </a:ext>
            </a:extLst>
          </p:cNvPr>
          <p:cNvCxnSpPr>
            <a:cxnSpLocks/>
          </p:cNvCxnSpPr>
          <p:nvPr/>
        </p:nvCxnSpPr>
        <p:spPr>
          <a:xfrm>
            <a:off x="8085038" y="2811747"/>
            <a:ext cx="864500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rapezoid 91">
            <a:extLst>
              <a:ext uri="{FF2B5EF4-FFF2-40B4-BE49-F238E27FC236}">
                <a16:creationId xmlns:a16="http://schemas.microsoft.com/office/drawing/2014/main" id="{DC339EA5-C50C-4298-BA9C-C7BB5987BFE9}"/>
              </a:ext>
            </a:extLst>
          </p:cNvPr>
          <p:cNvSpPr/>
          <p:nvPr/>
        </p:nvSpPr>
        <p:spPr>
          <a:xfrm rot="10800000">
            <a:off x="7129265" y="1817412"/>
            <a:ext cx="909750" cy="601216"/>
          </a:xfrm>
          <a:prstGeom prst="trapezoid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8F252F2-C421-4C82-88FF-E0B9C4565C87}"/>
              </a:ext>
            </a:extLst>
          </p:cNvPr>
          <p:cNvSpPr txBox="1"/>
          <p:nvPr/>
        </p:nvSpPr>
        <p:spPr>
          <a:xfrm>
            <a:off x="7251068" y="1954586"/>
            <a:ext cx="6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CNN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55627A-AF3A-42A3-A31B-C4C727A37C7B}"/>
                  </a:ext>
                </a:extLst>
              </p:cNvPr>
              <p:cNvSpPr/>
              <p:nvPr/>
            </p:nvSpPr>
            <p:spPr>
              <a:xfrm>
                <a:off x="951254" y="1382874"/>
                <a:ext cx="4111482" cy="10403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Arial Narrow" panose="020B0606020202030204" pitchFamily="34" charset="0"/>
                  </a:rPr>
                  <a:t>Compute Alignment Score: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𝑎𝑙𝑙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>
                  <a:solidFill>
                    <a:srgbClr val="00B0F0"/>
                  </a:solidFill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               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𝑎𝑙𝑙</m:t>
                        </m:r>
                      </m:sub>
                    </m:sSub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()= a MLP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55627A-AF3A-42A3-A31B-C4C727A37C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54" y="1382874"/>
                <a:ext cx="4111482" cy="1040349"/>
              </a:xfrm>
              <a:prstGeom prst="rect">
                <a:avLst/>
              </a:prstGeom>
              <a:blipFill>
                <a:blip r:embed="rId3"/>
                <a:stretch>
                  <a:fillRect l="-1333" t="-3509" b="-93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6281172-F764-4E16-AD38-E0D2A79220AA}"/>
                  </a:ext>
                </a:extLst>
              </p:cNvPr>
              <p:cNvSpPr/>
              <p:nvPr/>
            </p:nvSpPr>
            <p:spPr>
              <a:xfrm>
                <a:off x="951254" y="2552107"/>
                <a:ext cx="4020737" cy="7428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00B0F0"/>
                  </a:solidFill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solidFill>
                      <a:srgbClr val="0D0D0D"/>
                    </a:solidFill>
                    <a:latin typeface="Arial Narrow" panose="020B0606020202030204" pitchFamily="34" charset="0"/>
                  </a:rPr>
                  <a:t>     where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IN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r>
                  <a:rPr lang="en-US" sz="2000" dirty="0">
                    <a:solidFill>
                      <a:srgbClr val="0D0D0D"/>
                    </a:solidFill>
                    <a:latin typeface="Arial Narrow" panose="020B0606020202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rgbClr val="0D0D0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sz="2000" i="1" dirty="0">
                        <a:solidFill>
                          <a:srgbClr val="0D0D0D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6281172-F764-4E16-AD38-E0D2A79220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54" y="2552107"/>
                <a:ext cx="4020737" cy="742896"/>
              </a:xfrm>
              <a:prstGeom prst="rect">
                <a:avLst/>
              </a:prstGeom>
              <a:blipFill>
                <a:blip r:embed="rId4"/>
                <a:stretch>
                  <a:fillRect l="-1364" t="-24590" b="-942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228FD7F9-BD10-4B9F-AE57-CE1ACBFAF718}"/>
                  </a:ext>
                </a:extLst>
              </p:cNvPr>
              <p:cNvSpPr/>
              <p:nvPr/>
            </p:nvSpPr>
            <p:spPr>
              <a:xfrm>
                <a:off x="917759" y="3540977"/>
                <a:ext cx="4020737" cy="1131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IN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sz="20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</m:oMath>
                </a14:m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solidFill>
                      <a:srgbClr val="0D0D0D"/>
                    </a:solidFill>
                  </a:rPr>
                  <a:t>           </a:t>
                </a:r>
                <a:r>
                  <a:rPr lang="en-US" sz="2000" dirty="0">
                    <a:solidFill>
                      <a:srgbClr val="0D0D0D"/>
                    </a:solidFill>
                    <a:latin typeface="Arial Narrow" panose="020B0606020202030204" pitchFamily="34" charset="0"/>
                  </a:rPr>
                  <a:t>e.g.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0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0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=0,</m:t>
                        </m:r>
                        <m:r>
                          <a:rPr lang="en-IN" sz="20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0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IN" sz="20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2,2</m:t>
                        </m:r>
                      </m:sup>
                      <m:e>
                        <m:sSub>
                          <m:sSubPr>
                            <m:ctrlPr>
                              <a:rPr lang="en-US" sz="200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0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IN" sz="20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0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0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0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IN" sz="20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0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0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228FD7F9-BD10-4B9F-AE57-CE1ACBFAF7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759" y="3540977"/>
                <a:ext cx="4020737" cy="1131528"/>
              </a:xfrm>
              <a:prstGeom prst="rect">
                <a:avLst/>
              </a:prstGeom>
              <a:blipFill>
                <a:blip r:embed="rId5"/>
                <a:stretch>
                  <a:fillRect l="-1366" t="-43243" b="-61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E48DDD8F-3065-4FAA-AC87-D2991A3F844C}"/>
              </a:ext>
            </a:extLst>
          </p:cNvPr>
          <p:cNvSpPr txBox="1"/>
          <p:nvPr/>
        </p:nvSpPr>
        <p:spPr>
          <a:xfrm>
            <a:off x="6581775" y="6492875"/>
            <a:ext cx="561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Fei-Fei Li Attention and Transformers CS231n Stanford Lecture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5569D5DE-1C01-40AA-9635-205308D4ED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7203" y="865887"/>
            <a:ext cx="836736" cy="8902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itle 3">
                <a:extLst>
                  <a:ext uri="{FF2B5EF4-FFF2-40B4-BE49-F238E27FC236}">
                    <a16:creationId xmlns:a16="http://schemas.microsoft.com/office/drawing/2014/main" id="{EB1DCBD3-3AF3-4C3A-863B-37E9C66A724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42454"/>
                <a:ext cx="10515600" cy="859910"/>
              </a:xfrm>
            </p:spPr>
            <p:txBody>
              <a:bodyPr>
                <a:normAutofit/>
              </a:bodyPr>
              <a:lstStyle/>
              <a:p>
                <a:r>
                  <a:rPr lang="en-IN" sz="3200" dirty="0">
                    <a:latin typeface="Century" panose="02040604050505020304" pitchFamily="18" charset="0"/>
                  </a:rPr>
                  <a:t>Image Captioning with RNNs and Attention</a:t>
                </a:r>
                <a:br>
                  <a:rPr lang="en-IN" sz="3200" dirty="0">
                    <a:latin typeface="Century" panose="02040604050505020304" pitchFamily="18" charset="0"/>
                  </a:rPr>
                </a:br>
                <a:r>
                  <a:rPr lang="en-IN" sz="2400" dirty="0">
                    <a:latin typeface="Century" panose="02040604050505020304" pitchFamily="18" charset="0"/>
                  </a:rPr>
                  <a:t>Computing Context Vector </a:t>
                </a:r>
                <a:r>
                  <a:rPr lang="en-IN" sz="2400" dirty="0">
                    <a:solidFill>
                      <a:schemeClr val="tx1"/>
                    </a:solidFill>
                    <a:latin typeface="Century" panose="020406040505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400" dirty="0">
                    <a:solidFill>
                      <a:schemeClr val="tx1"/>
                    </a:solidFill>
                    <a:latin typeface="Century" panose="02040604050505020304" pitchFamily="18" charset="0"/>
                  </a:rPr>
                  <a:t>)</a:t>
                </a:r>
                <a:r>
                  <a:rPr lang="en-IN" sz="2400" dirty="0">
                    <a:latin typeface="Century" panose="02040604050505020304" pitchFamily="18" charset="0"/>
                  </a:rPr>
                  <a:t> at Time Step 1</a:t>
                </a:r>
                <a:endParaRPr lang="en-IN" sz="3200" dirty="0">
                  <a:latin typeface="Century" panose="02040604050505020304" pitchFamily="18" charset="0"/>
                </a:endParaRPr>
              </a:p>
            </p:txBody>
          </p:sp>
        </mc:Choice>
        <mc:Fallback xmlns="">
          <p:sp>
            <p:nvSpPr>
              <p:cNvPr id="67" name="Title 3">
                <a:extLst>
                  <a:ext uri="{FF2B5EF4-FFF2-40B4-BE49-F238E27FC236}">
                    <a16:creationId xmlns:a16="http://schemas.microsoft.com/office/drawing/2014/main" id="{EB1DCBD3-3AF3-4C3A-863B-37E9C66A72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42454"/>
                <a:ext cx="10515600" cy="859910"/>
              </a:xfrm>
              <a:blipFill>
                <a:blip r:embed="rId7"/>
                <a:stretch>
                  <a:fillRect l="-1507" t="-14894" b="-163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8916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/>
          <p:cNvGrpSpPr/>
          <p:nvPr/>
        </p:nvGrpSpPr>
        <p:grpSpPr>
          <a:xfrm>
            <a:off x="6967592" y="2509907"/>
            <a:ext cx="1123173" cy="894783"/>
            <a:chOff x="3907525" y="3282431"/>
            <a:chExt cx="1399431" cy="991913"/>
          </a:xfrm>
          <a:solidFill>
            <a:srgbClr val="FFC000">
              <a:alpha val="36000"/>
            </a:srgbClr>
          </a:solidFill>
        </p:grpSpPr>
        <p:sp>
          <p:nvSpPr>
            <p:cNvPr id="61" name="Rectangle 60"/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0,1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0,2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2,0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2,1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2,2</a:t>
              </a:r>
            </a:p>
          </p:txBody>
        </p:sp>
      </p:grpSp>
      <p:sp>
        <p:nvSpPr>
          <p:cNvPr id="22" name="Oval 21"/>
          <p:cNvSpPr/>
          <p:nvPr/>
        </p:nvSpPr>
        <p:spPr>
          <a:xfrm>
            <a:off x="7595470" y="5053537"/>
            <a:ext cx="596318" cy="5384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700858" y="5138083"/>
            <a:ext cx="360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7598366" y="4076273"/>
            <a:ext cx="596318" cy="5384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7708012" y="4160819"/>
            <a:ext cx="360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0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5884645" y="4781241"/>
            <a:ext cx="596318" cy="538425"/>
          </a:xfrm>
          <a:prstGeom prst="ellipse">
            <a:avLst/>
          </a:prstGeom>
          <a:solidFill>
            <a:srgbClr val="9F2160">
              <a:alpha val="43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5990884" y="4851095"/>
            <a:ext cx="3885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IN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5884645" y="5360289"/>
            <a:ext cx="596318" cy="5384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6002395" y="5407296"/>
            <a:ext cx="3497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0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8949538" y="5049459"/>
            <a:ext cx="596318" cy="5384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9067288" y="5096466"/>
            <a:ext cx="3497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3" name="Straight Arrow Connector 42"/>
          <p:cNvCxnSpPr>
            <a:stCxn id="72" idx="2"/>
            <a:endCxn id="107" idx="0"/>
          </p:cNvCxnSpPr>
          <p:nvPr/>
        </p:nvCxnSpPr>
        <p:spPr>
          <a:xfrm flipH="1">
            <a:off x="7896525" y="3404689"/>
            <a:ext cx="6917" cy="671584"/>
          </a:xfrm>
          <a:prstGeom prst="straightConnector1">
            <a:avLst/>
          </a:prstGeom>
          <a:ln w="2857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107" idx="4"/>
            <a:endCxn id="112" idx="7"/>
          </p:cNvCxnSpPr>
          <p:nvPr/>
        </p:nvCxnSpPr>
        <p:spPr>
          <a:xfrm rot="5400000">
            <a:off x="7022383" y="3985950"/>
            <a:ext cx="245394" cy="1502891"/>
          </a:xfrm>
          <a:prstGeom prst="bentConnector3">
            <a:avLst>
              <a:gd name="adj1" fmla="val 100460"/>
            </a:avLst>
          </a:prstGeom>
          <a:ln w="2857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stCxn id="114" idx="7"/>
          </p:cNvCxnSpPr>
          <p:nvPr/>
        </p:nvCxnSpPr>
        <p:spPr>
          <a:xfrm flipV="1">
            <a:off x="6393634" y="5429773"/>
            <a:ext cx="1193320" cy="9367"/>
          </a:xfrm>
          <a:prstGeom prst="straightConnector1">
            <a:avLst/>
          </a:prstGeom>
          <a:ln w="2857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>
            <a:stCxn id="22" idx="6"/>
            <a:endCxn id="116" idx="2"/>
          </p:cNvCxnSpPr>
          <p:nvPr/>
        </p:nvCxnSpPr>
        <p:spPr>
          <a:xfrm flipV="1">
            <a:off x="8191788" y="5318672"/>
            <a:ext cx="757750" cy="4078"/>
          </a:xfrm>
          <a:prstGeom prst="straightConnector1">
            <a:avLst/>
          </a:prstGeom>
          <a:ln w="2857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TextBox 201"/>
          <p:cNvSpPr txBox="1"/>
          <p:nvPr/>
        </p:nvSpPr>
        <p:spPr>
          <a:xfrm>
            <a:off x="9545856" y="5126069"/>
            <a:ext cx="47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Boy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916254" y="2539573"/>
            <a:ext cx="942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Features: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 x D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352854" y="1100598"/>
            <a:ext cx="2175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Extract spatial features from a pretrained CNN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762428" y="5160545"/>
            <a:ext cx="8138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[START]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8464645" y="3097877"/>
            <a:ext cx="31753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Arial Narrow" panose="020B0606020202030204" pitchFamily="34" charset="0"/>
              </a:rPr>
              <a:t>At each decoder node (time step), the model uses the different context vector looking at the different parts of the image.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60395" y="6567780"/>
            <a:ext cx="6072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 et al, “Show, Attend and Tell: Neural Image Captain Generation with Visual Attention”, ICML 2015</a:t>
            </a:r>
          </a:p>
        </p:txBody>
      </p:sp>
      <p:cxnSp>
        <p:nvCxnSpPr>
          <p:cNvPr id="325" name="Straight Arrow Connector 324"/>
          <p:cNvCxnSpPr>
            <a:stCxn id="112" idx="5"/>
          </p:cNvCxnSpPr>
          <p:nvPr/>
        </p:nvCxnSpPr>
        <p:spPr>
          <a:xfrm flipV="1">
            <a:off x="6393634" y="5235572"/>
            <a:ext cx="1193320" cy="5243"/>
          </a:xfrm>
          <a:prstGeom prst="straightConnector1">
            <a:avLst/>
          </a:prstGeom>
          <a:ln w="2857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932C60-8F59-474E-9F71-12E60D331A7A}"/>
              </a:ext>
            </a:extLst>
          </p:cNvPr>
          <p:cNvCxnSpPr>
            <a:stCxn id="70" idx="1"/>
          </p:cNvCxnSpPr>
          <p:nvPr/>
        </p:nvCxnSpPr>
        <p:spPr>
          <a:xfrm flipH="1" flipV="1">
            <a:off x="5155045" y="3259138"/>
            <a:ext cx="1812547" cy="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0AEB8E4-99AD-4408-870D-C5E8CBB0C00C}"/>
              </a:ext>
            </a:extLst>
          </p:cNvPr>
          <p:cNvCxnSpPr/>
          <p:nvPr/>
        </p:nvCxnSpPr>
        <p:spPr>
          <a:xfrm>
            <a:off x="5155045" y="3254616"/>
            <a:ext cx="0" cy="177113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C65495E-2202-4FF8-BBA7-402B7F230A16}"/>
              </a:ext>
            </a:extLst>
          </p:cNvPr>
          <p:cNvCxnSpPr>
            <a:endCxn id="112" idx="2"/>
          </p:cNvCxnSpPr>
          <p:nvPr/>
        </p:nvCxnSpPr>
        <p:spPr>
          <a:xfrm>
            <a:off x="5155045" y="5035761"/>
            <a:ext cx="729600" cy="14693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rapezoid 14">
            <a:extLst>
              <a:ext uri="{FF2B5EF4-FFF2-40B4-BE49-F238E27FC236}">
                <a16:creationId xmlns:a16="http://schemas.microsoft.com/office/drawing/2014/main" id="{02F19357-9C83-4BA7-8D1C-9DD836A26EFC}"/>
              </a:ext>
            </a:extLst>
          </p:cNvPr>
          <p:cNvSpPr/>
          <p:nvPr/>
        </p:nvSpPr>
        <p:spPr>
          <a:xfrm rot="10800000">
            <a:off x="7261243" y="1817412"/>
            <a:ext cx="909750" cy="601216"/>
          </a:xfrm>
          <a:prstGeom prst="trapezoid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1CD5EE-8BA9-457E-A1CB-BCDAD2D5406E}"/>
              </a:ext>
            </a:extLst>
          </p:cNvPr>
          <p:cNvSpPr txBox="1"/>
          <p:nvPr/>
        </p:nvSpPr>
        <p:spPr>
          <a:xfrm>
            <a:off x="7383046" y="1954586"/>
            <a:ext cx="6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CNN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C6EDEB-F558-49EE-8CD3-247FB3096F7E}"/>
              </a:ext>
            </a:extLst>
          </p:cNvPr>
          <p:cNvSpPr txBox="1"/>
          <p:nvPr/>
        </p:nvSpPr>
        <p:spPr>
          <a:xfrm>
            <a:off x="6581775" y="6492875"/>
            <a:ext cx="561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Fei-Fei Li Attention and Transformers CS231n Stanford Lecture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0F289558-2B3E-4451-BB91-13369896D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988" y="854776"/>
            <a:ext cx="836736" cy="8902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A66DD7FF-A9EC-423C-A8D6-4B8B9FA3CEA6}"/>
                  </a:ext>
                </a:extLst>
              </p:cNvPr>
              <p:cNvSpPr/>
              <p:nvPr/>
            </p:nvSpPr>
            <p:spPr>
              <a:xfrm>
                <a:off x="951254" y="1382874"/>
                <a:ext cx="4111482" cy="10403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Arial Narrow" panose="020B0606020202030204" pitchFamily="34" charset="0"/>
                  </a:rPr>
                  <a:t>Compute Alignment Score: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𝑎𝑙𝑙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>
                  <a:solidFill>
                    <a:srgbClr val="00B0F0"/>
                  </a:solidFill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               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𝑎𝑙𝑙</m:t>
                        </m:r>
                      </m:sub>
                    </m:sSub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()= a MLP</a:t>
                </a: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A66DD7FF-A9EC-423C-A8D6-4B8B9FA3CE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54" y="1382874"/>
                <a:ext cx="4111482" cy="1040349"/>
              </a:xfrm>
              <a:prstGeom prst="rect">
                <a:avLst/>
              </a:prstGeom>
              <a:blipFill>
                <a:blip r:embed="rId4"/>
                <a:stretch>
                  <a:fillRect l="-1333" t="-3509" b="-93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50B115C-EE13-4EE4-B542-4AFC2F38F289}"/>
                  </a:ext>
                </a:extLst>
              </p:cNvPr>
              <p:cNvSpPr/>
              <p:nvPr/>
            </p:nvSpPr>
            <p:spPr>
              <a:xfrm>
                <a:off x="951254" y="2552107"/>
                <a:ext cx="4020737" cy="7428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00B0F0"/>
                  </a:solidFill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solidFill>
                      <a:srgbClr val="0D0D0D"/>
                    </a:solidFill>
                    <a:latin typeface="Arial Narrow" panose="020B0606020202030204" pitchFamily="34" charset="0"/>
                  </a:rPr>
                  <a:t>     where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IN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r>
                  <a:rPr lang="en-US" sz="2000" dirty="0">
                    <a:solidFill>
                      <a:srgbClr val="0D0D0D"/>
                    </a:solidFill>
                    <a:latin typeface="Arial Narrow" panose="020B0606020202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rgbClr val="0D0D0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sz="2000" i="1" dirty="0">
                        <a:solidFill>
                          <a:srgbClr val="0D0D0D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50B115C-EE13-4EE4-B542-4AFC2F38F2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54" y="2552107"/>
                <a:ext cx="4020737" cy="742896"/>
              </a:xfrm>
              <a:prstGeom prst="rect">
                <a:avLst/>
              </a:prstGeom>
              <a:blipFill>
                <a:blip r:embed="rId5"/>
                <a:stretch>
                  <a:fillRect l="-1364" t="-24590" b="-942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8175C8E4-3FF9-451A-8E5F-ED7EF012A0D7}"/>
                  </a:ext>
                </a:extLst>
              </p:cNvPr>
              <p:cNvSpPr/>
              <p:nvPr/>
            </p:nvSpPr>
            <p:spPr>
              <a:xfrm>
                <a:off x="917759" y="3540977"/>
                <a:ext cx="4020737" cy="1131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IN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sz="20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</m:oMath>
                </a14:m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solidFill>
                      <a:srgbClr val="0D0D0D"/>
                    </a:solidFill>
                  </a:rPr>
                  <a:t>           </a:t>
                </a:r>
                <a:r>
                  <a:rPr lang="en-US" sz="2000" dirty="0">
                    <a:solidFill>
                      <a:srgbClr val="0D0D0D"/>
                    </a:solidFill>
                    <a:latin typeface="Arial Narrow" panose="020B0606020202030204" pitchFamily="34" charset="0"/>
                  </a:rPr>
                  <a:t>e.g.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0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0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=0,</m:t>
                        </m:r>
                        <m:r>
                          <a:rPr lang="en-IN" sz="20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0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IN" sz="20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2,2</m:t>
                        </m:r>
                      </m:sup>
                      <m:e>
                        <m:sSub>
                          <m:sSubPr>
                            <m:ctrlPr>
                              <a:rPr lang="en-US" sz="200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0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IN" sz="20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0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0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0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IN" sz="20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0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0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8175C8E4-3FF9-451A-8E5F-ED7EF012A0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759" y="3540977"/>
                <a:ext cx="4020737" cy="1131528"/>
              </a:xfrm>
              <a:prstGeom prst="rect">
                <a:avLst/>
              </a:prstGeom>
              <a:blipFill>
                <a:blip r:embed="rId6"/>
                <a:stretch>
                  <a:fillRect l="-1366" t="-43243" b="-61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C01A398B-4935-41CB-AB4A-2FED91BC3A6C}"/>
                  </a:ext>
                </a:extLst>
              </p:cNvPr>
              <p:cNvSpPr/>
              <p:nvPr/>
            </p:nvSpPr>
            <p:spPr>
              <a:xfrm>
                <a:off x="917758" y="4715368"/>
                <a:ext cx="4020737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solidFill>
                      <a:srgbClr val="0D0D0D"/>
                    </a:solidFill>
                  </a:rPr>
                  <a:t>           </a:t>
                </a:r>
                <a:r>
                  <a:rPr lang="en-US" sz="2000" dirty="0">
                    <a:solidFill>
                      <a:srgbClr val="0D0D0D"/>
                    </a:solidFill>
                    <a:latin typeface="Arial Narrow" panose="020B0606020202030204" pitchFamily="34" charset="0"/>
                  </a:rPr>
                  <a:t>e.g.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algn="just"/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C01A398B-4935-41CB-AB4A-2FED91BC3A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758" y="4715368"/>
                <a:ext cx="4020737" cy="1323439"/>
              </a:xfrm>
              <a:prstGeom prst="rect">
                <a:avLst/>
              </a:prstGeom>
              <a:blipFill>
                <a:blip r:embed="rId7"/>
                <a:stretch>
                  <a:fillRect l="-1366" t="-9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itle 3">
            <a:extLst>
              <a:ext uri="{FF2B5EF4-FFF2-40B4-BE49-F238E27FC236}">
                <a16:creationId xmlns:a16="http://schemas.microsoft.com/office/drawing/2014/main" id="{02D70227-EDEC-4628-AC2F-F2F2B40C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454"/>
            <a:ext cx="10515600" cy="85991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Image Captioning with RNNs and Attention</a:t>
            </a:r>
            <a:br>
              <a:rPr lang="en-IN" sz="3200" dirty="0">
                <a:latin typeface="Century" panose="02040604050505020304" pitchFamily="18" charset="0"/>
              </a:rPr>
            </a:br>
            <a:r>
              <a:rPr lang="en-IN" sz="2400" dirty="0">
                <a:latin typeface="Century" panose="02040604050505020304" pitchFamily="18" charset="0"/>
              </a:rPr>
              <a:t>Computing Output at first time-step</a:t>
            </a:r>
            <a:endParaRPr lang="en-IN" sz="32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914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8949538" y="2149402"/>
            <a:ext cx="1317972" cy="954453"/>
            <a:chOff x="3907525" y="3282431"/>
            <a:chExt cx="1399431" cy="99191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" name="Rectangle 2"/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1,0,0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1,0,1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1,0,2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1,1,0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1,1,1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1,1,2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1,2,0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1,2,1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1,2,2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967592" y="2509907"/>
            <a:ext cx="1123173" cy="894783"/>
            <a:chOff x="3907525" y="3282431"/>
            <a:chExt cx="1399431" cy="991913"/>
          </a:xfrm>
          <a:solidFill>
            <a:srgbClr val="FFC000">
              <a:alpha val="36000"/>
            </a:srgbClr>
          </a:solidFill>
        </p:grpSpPr>
        <p:sp>
          <p:nvSpPr>
            <p:cNvPr id="61" name="Rectangle 60"/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0,1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0,2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2,0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2,1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2,2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8949538" y="3278352"/>
            <a:ext cx="1317973" cy="985881"/>
            <a:chOff x="3907525" y="3282431"/>
            <a:chExt cx="1399431" cy="991913"/>
          </a:xfrm>
          <a:solidFill>
            <a:schemeClr val="accent6">
              <a:lumMod val="75000"/>
              <a:alpha val="77000"/>
            </a:schemeClr>
          </a:solidFill>
        </p:grpSpPr>
        <p:sp>
          <p:nvSpPr>
            <p:cNvPr id="74" name="Rectangle 73"/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1,0,0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1,0,1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1,0,2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1,1,0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1,1,1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1,1,2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1,2,0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1,2,1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1,2,2</a:t>
              </a:r>
            </a:p>
          </p:txBody>
        </p:sp>
      </p:grpSp>
      <p:sp>
        <p:nvSpPr>
          <p:cNvPr id="22" name="Oval 21"/>
          <p:cNvSpPr/>
          <p:nvPr/>
        </p:nvSpPr>
        <p:spPr>
          <a:xfrm>
            <a:off x="7595470" y="5053537"/>
            <a:ext cx="596318" cy="5384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700858" y="5138083"/>
            <a:ext cx="360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7598366" y="4076273"/>
            <a:ext cx="596318" cy="5384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7708012" y="4160819"/>
            <a:ext cx="360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0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5884645" y="6030427"/>
            <a:ext cx="596318" cy="538425"/>
          </a:xfrm>
          <a:prstGeom prst="ellipse">
            <a:avLst/>
          </a:prstGeom>
          <a:solidFill>
            <a:srgbClr val="9F2160">
              <a:alpha val="43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6008807" y="6114973"/>
            <a:ext cx="3497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IN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5884645" y="4781241"/>
            <a:ext cx="596318" cy="538425"/>
          </a:xfrm>
          <a:prstGeom prst="ellipse">
            <a:avLst/>
          </a:prstGeom>
          <a:solidFill>
            <a:srgbClr val="9F2160">
              <a:alpha val="43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5990884" y="4851095"/>
            <a:ext cx="3885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IN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5884645" y="5360289"/>
            <a:ext cx="596318" cy="5384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6002395" y="5407296"/>
            <a:ext cx="3497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0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8949538" y="5049459"/>
            <a:ext cx="596318" cy="5384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9067288" y="5096466"/>
            <a:ext cx="3497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5" name="Elbow Connector 34"/>
          <p:cNvCxnSpPr>
            <a:stCxn id="70" idx="1"/>
            <a:endCxn id="110" idx="2"/>
          </p:cNvCxnSpPr>
          <p:nvPr/>
        </p:nvCxnSpPr>
        <p:spPr>
          <a:xfrm rot="10800000" flipV="1">
            <a:off x="5884646" y="3259140"/>
            <a:ext cx="1082947" cy="3040500"/>
          </a:xfrm>
          <a:prstGeom prst="bentConnector3">
            <a:avLst>
              <a:gd name="adj1" fmla="val 121109"/>
            </a:avLst>
          </a:prstGeom>
          <a:ln w="2857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lowchart: Or 37"/>
          <p:cNvSpPr/>
          <p:nvPr/>
        </p:nvSpPr>
        <p:spPr>
          <a:xfrm>
            <a:off x="5510001" y="3682795"/>
            <a:ext cx="231501" cy="215900"/>
          </a:xfrm>
          <a:prstGeom prst="flowChartOr">
            <a:avLst/>
          </a:prstGeom>
          <a:solidFill>
            <a:schemeClr val="accent2">
              <a:lumMod val="40000"/>
              <a:lumOff val="6000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0" name="Straight Arrow Connector 39"/>
          <p:cNvCxnSpPr>
            <a:stCxn id="77" idx="1"/>
            <a:endCxn id="38" idx="6"/>
          </p:cNvCxnSpPr>
          <p:nvPr/>
        </p:nvCxnSpPr>
        <p:spPr>
          <a:xfrm flipH="1">
            <a:off x="5741502" y="3777209"/>
            <a:ext cx="3208037" cy="13536"/>
          </a:xfrm>
          <a:prstGeom prst="straightConnector1">
            <a:avLst/>
          </a:prstGeom>
          <a:ln w="2857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72" idx="2"/>
            <a:endCxn id="107" idx="0"/>
          </p:cNvCxnSpPr>
          <p:nvPr/>
        </p:nvCxnSpPr>
        <p:spPr>
          <a:xfrm flipH="1">
            <a:off x="7896525" y="3404689"/>
            <a:ext cx="6917" cy="671584"/>
          </a:xfrm>
          <a:prstGeom prst="straightConnector1">
            <a:avLst/>
          </a:prstGeom>
          <a:ln w="2857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107" idx="4"/>
            <a:endCxn id="112" idx="7"/>
          </p:cNvCxnSpPr>
          <p:nvPr/>
        </p:nvCxnSpPr>
        <p:spPr>
          <a:xfrm rot="5400000">
            <a:off x="7022383" y="3985950"/>
            <a:ext cx="245394" cy="1502891"/>
          </a:xfrm>
          <a:prstGeom prst="bentConnector3">
            <a:avLst>
              <a:gd name="adj1" fmla="val 100460"/>
            </a:avLst>
          </a:prstGeom>
          <a:ln w="2857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stCxn id="114" idx="7"/>
          </p:cNvCxnSpPr>
          <p:nvPr/>
        </p:nvCxnSpPr>
        <p:spPr>
          <a:xfrm flipV="1">
            <a:off x="6393634" y="5429773"/>
            <a:ext cx="1193320" cy="9367"/>
          </a:xfrm>
          <a:prstGeom prst="straightConnector1">
            <a:avLst/>
          </a:prstGeom>
          <a:ln w="2857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>
            <a:stCxn id="22" idx="6"/>
            <a:endCxn id="116" idx="2"/>
          </p:cNvCxnSpPr>
          <p:nvPr/>
        </p:nvCxnSpPr>
        <p:spPr>
          <a:xfrm flipV="1">
            <a:off x="8191788" y="5318672"/>
            <a:ext cx="757750" cy="4078"/>
          </a:xfrm>
          <a:prstGeom prst="straightConnector1">
            <a:avLst/>
          </a:prstGeom>
          <a:ln w="2857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Elbow Connector 190"/>
          <p:cNvCxnSpPr/>
          <p:nvPr/>
        </p:nvCxnSpPr>
        <p:spPr>
          <a:xfrm rot="5400000" flipH="1" flipV="1">
            <a:off x="7405249" y="3588097"/>
            <a:ext cx="2500031" cy="588550"/>
          </a:xfrm>
          <a:prstGeom prst="bentConnector2">
            <a:avLst/>
          </a:prstGeom>
          <a:ln w="2857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/>
          <p:cNvCxnSpPr>
            <a:stCxn id="53" idx="2"/>
            <a:endCxn id="75" idx="0"/>
          </p:cNvCxnSpPr>
          <p:nvPr/>
        </p:nvCxnSpPr>
        <p:spPr>
          <a:xfrm>
            <a:off x="9608076" y="3103855"/>
            <a:ext cx="1" cy="174499"/>
          </a:xfrm>
          <a:prstGeom prst="straightConnector1">
            <a:avLst/>
          </a:prstGeom>
          <a:ln w="2857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10357180" y="2374076"/>
            <a:ext cx="1592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Alignment Scores: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465917" y="3541911"/>
            <a:ext cx="9380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Attention: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9545856" y="5126069"/>
            <a:ext cx="47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Boy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916254" y="2539573"/>
            <a:ext cx="942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Features: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 x D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095724" y="1071848"/>
            <a:ext cx="2175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Extract spatial features from a pretrained CNN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854572" y="4897018"/>
            <a:ext cx="8138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[START]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0395" y="6567780"/>
            <a:ext cx="5789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Xu et al, “Show, Attend and Tell: Neural Image Captain Generation with Visual Attention”, ICML 2015</a:t>
            </a:r>
          </a:p>
        </p:txBody>
      </p:sp>
      <p:cxnSp>
        <p:nvCxnSpPr>
          <p:cNvPr id="13" name="Straight Connector 12"/>
          <p:cNvCxnSpPr>
            <a:stCxn id="22" idx="7"/>
          </p:cNvCxnSpPr>
          <p:nvPr/>
        </p:nvCxnSpPr>
        <p:spPr>
          <a:xfrm flipV="1">
            <a:off x="8104459" y="5126069"/>
            <a:ext cx="263065" cy="6319"/>
          </a:xfrm>
          <a:prstGeom prst="line">
            <a:avLst/>
          </a:prstGeom>
          <a:ln w="28575">
            <a:solidFill>
              <a:srgbClr val="00B05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Arrow Connector 324"/>
          <p:cNvCxnSpPr>
            <a:stCxn id="112" idx="5"/>
          </p:cNvCxnSpPr>
          <p:nvPr/>
        </p:nvCxnSpPr>
        <p:spPr>
          <a:xfrm flipV="1">
            <a:off x="6393634" y="5235572"/>
            <a:ext cx="1193320" cy="5243"/>
          </a:xfrm>
          <a:prstGeom prst="straightConnector1">
            <a:avLst/>
          </a:prstGeom>
          <a:ln w="2857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rapezoid 78">
            <a:extLst>
              <a:ext uri="{FF2B5EF4-FFF2-40B4-BE49-F238E27FC236}">
                <a16:creationId xmlns:a16="http://schemas.microsoft.com/office/drawing/2014/main" id="{C58525B2-0020-474F-915C-81879EF8970A}"/>
              </a:ext>
            </a:extLst>
          </p:cNvPr>
          <p:cNvSpPr/>
          <p:nvPr/>
        </p:nvSpPr>
        <p:spPr>
          <a:xfrm rot="10800000">
            <a:off x="7261243" y="1817412"/>
            <a:ext cx="909750" cy="601216"/>
          </a:xfrm>
          <a:prstGeom prst="trapezoid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7759F07-94A0-47DD-8366-AE01CEC91350}"/>
              </a:ext>
            </a:extLst>
          </p:cNvPr>
          <p:cNvSpPr txBox="1"/>
          <p:nvPr/>
        </p:nvSpPr>
        <p:spPr>
          <a:xfrm>
            <a:off x="7383046" y="1954586"/>
            <a:ext cx="6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CNN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2719EEE-BD26-4EAD-A761-CA35F1E2AA8B}"/>
              </a:ext>
            </a:extLst>
          </p:cNvPr>
          <p:cNvSpPr txBox="1"/>
          <p:nvPr/>
        </p:nvSpPr>
        <p:spPr>
          <a:xfrm>
            <a:off x="6521380" y="6602785"/>
            <a:ext cx="56102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Concept: Fei-Fei Li Attention and Transformers CS231n Stanford Lecture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2E8131C2-61D3-493A-81CD-9F316FCA1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988" y="854776"/>
            <a:ext cx="836736" cy="8902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itle 3">
                <a:extLst>
                  <a:ext uri="{FF2B5EF4-FFF2-40B4-BE49-F238E27FC236}">
                    <a16:creationId xmlns:a16="http://schemas.microsoft.com/office/drawing/2014/main" id="{86E30DD2-2D9C-4B5B-B53C-E9CC0CDFE97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42454"/>
                <a:ext cx="10515600" cy="859910"/>
              </a:xfrm>
            </p:spPr>
            <p:txBody>
              <a:bodyPr>
                <a:normAutofit/>
              </a:bodyPr>
              <a:lstStyle/>
              <a:p>
                <a:r>
                  <a:rPr lang="en-IN" sz="3200" dirty="0">
                    <a:latin typeface="Century" panose="02040604050505020304" pitchFamily="18" charset="0"/>
                  </a:rPr>
                  <a:t>Image Captioning with RNNs and Attention</a:t>
                </a:r>
                <a:br>
                  <a:rPr lang="en-IN" sz="3200" dirty="0">
                    <a:latin typeface="Century" panose="02040604050505020304" pitchFamily="18" charset="0"/>
                  </a:rPr>
                </a:br>
                <a:r>
                  <a:rPr lang="en-IN" sz="2400" dirty="0">
                    <a:latin typeface="Century" panose="02040604050505020304" pitchFamily="18" charset="0"/>
                  </a:rPr>
                  <a:t>Computing Context Vector </a:t>
                </a:r>
                <a:r>
                  <a:rPr lang="en-IN" sz="2400" dirty="0">
                    <a:solidFill>
                      <a:schemeClr val="tx1"/>
                    </a:solidFill>
                    <a:latin typeface="Century" panose="020406040505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400" dirty="0">
                    <a:solidFill>
                      <a:schemeClr val="tx1"/>
                    </a:solidFill>
                    <a:latin typeface="Century" panose="02040604050505020304" pitchFamily="18" charset="0"/>
                  </a:rPr>
                  <a:t>)</a:t>
                </a:r>
                <a:r>
                  <a:rPr lang="en-IN" sz="2400" dirty="0">
                    <a:latin typeface="Century" panose="02040604050505020304" pitchFamily="18" charset="0"/>
                  </a:rPr>
                  <a:t> at Time Step 2</a:t>
                </a:r>
                <a:endParaRPr lang="en-IN" sz="3200" dirty="0">
                  <a:latin typeface="Century" panose="02040604050505020304" pitchFamily="18" charset="0"/>
                </a:endParaRPr>
              </a:p>
            </p:txBody>
          </p:sp>
        </mc:Choice>
        <mc:Fallback xmlns="">
          <p:sp>
            <p:nvSpPr>
              <p:cNvPr id="87" name="Title 3">
                <a:extLst>
                  <a:ext uri="{FF2B5EF4-FFF2-40B4-BE49-F238E27FC236}">
                    <a16:creationId xmlns:a16="http://schemas.microsoft.com/office/drawing/2014/main" id="{86E30DD2-2D9C-4B5B-B53C-E9CC0CDFE9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42454"/>
                <a:ext cx="10515600" cy="859910"/>
              </a:xfrm>
              <a:blipFill>
                <a:blip r:embed="rId4"/>
                <a:stretch>
                  <a:fillRect l="-1507" t="-14894" b="-163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2A8B7D1C-5D97-491D-8271-7DBD8247FA45}"/>
                  </a:ext>
                </a:extLst>
              </p:cNvPr>
              <p:cNvSpPr/>
              <p:nvPr/>
            </p:nvSpPr>
            <p:spPr>
              <a:xfrm>
                <a:off x="951254" y="1382874"/>
                <a:ext cx="4111482" cy="10403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Arial Narrow" panose="020B0606020202030204" pitchFamily="34" charset="0"/>
                  </a:rPr>
                  <a:t>Compute Alignment Score: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𝑎𝑙𝑙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>
                  <a:solidFill>
                    <a:srgbClr val="00B0F0"/>
                  </a:solidFill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               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𝑎𝑙𝑙</m:t>
                        </m:r>
                      </m:sub>
                    </m:sSub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()= a MLP</a:t>
                </a:r>
              </a:p>
            </p:txBody>
          </p:sp>
        </mc:Choice>
        <mc:Fallback xmlns=""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2A8B7D1C-5D97-491D-8271-7DBD8247FA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54" y="1382874"/>
                <a:ext cx="4111482" cy="1040349"/>
              </a:xfrm>
              <a:prstGeom prst="rect">
                <a:avLst/>
              </a:prstGeom>
              <a:blipFill>
                <a:blip r:embed="rId5"/>
                <a:stretch>
                  <a:fillRect l="-1333" t="-3509" b="-93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F68F0BF2-59EC-4000-BC45-D9B4F6DC0E60}"/>
                  </a:ext>
                </a:extLst>
              </p:cNvPr>
              <p:cNvSpPr/>
              <p:nvPr/>
            </p:nvSpPr>
            <p:spPr>
              <a:xfrm>
                <a:off x="951254" y="2552107"/>
                <a:ext cx="4257466" cy="7428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00B0F0"/>
                  </a:solidFill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solidFill>
                      <a:srgbClr val="0D0D0D"/>
                    </a:solidFill>
                    <a:latin typeface="Arial Narrow" panose="020B0606020202030204" pitchFamily="34" charset="0"/>
                  </a:rPr>
                  <a:t>     where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IN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  <m:r>
                      <a:rPr lang="en-IN" sz="2000" b="0" i="0" smtClean="0">
                        <a:solidFill>
                          <a:srgbClr val="0D0D0D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0D0D0D"/>
                    </a:solidFill>
                    <a:latin typeface="Arial Narrow" panose="020B0606020202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IN" sz="2000" b="0" i="0" dirty="0" smtClean="0">
                        <a:solidFill>
                          <a:srgbClr val="0D0D0D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dirty="0">
                        <a:solidFill>
                          <a:srgbClr val="0D0D0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sz="2000" i="1" dirty="0">
                        <a:solidFill>
                          <a:srgbClr val="0D0D0D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F68F0BF2-59EC-4000-BC45-D9B4F6DC0E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54" y="2552107"/>
                <a:ext cx="4257466" cy="742896"/>
              </a:xfrm>
              <a:prstGeom prst="rect">
                <a:avLst/>
              </a:prstGeom>
              <a:blipFill>
                <a:blip r:embed="rId6"/>
                <a:stretch>
                  <a:fillRect l="-1289" t="-24590" b="-942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AAE2E8CD-0376-4CA5-9DE7-7BFB21A6DE23}"/>
                  </a:ext>
                </a:extLst>
              </p:cNvPr>
              <p:cNvSpPr/>
              <p:nvPr/>
            </p:nvSpPr>
            <p:spPr>
              <a:xfrm>
                <a:off x="917759" y="3540977"/>
                <a:ext cx="4020737" cy="7428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IN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sz="20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</m:oMath>
                </a14:m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solidFill>
                      <a:srgbClr val="0D0D0D"/>
                    </a:solidFill>
                  </a:rPr>
                  <a:t>           </a:t>
                </a:r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AAE2E8CD-0376-4CA5-9DE7-7BFB21A6DE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759" y="3540977"/>
                <a:ext cx="4020737" cy="742896"/>
              </a:xfrm>
              <a:prstGeom prst="rect">
                <a:avLst/>
              </a:prstGeom>
              <a:blipFill>
                <a:blip r:embed="rId7"/>
                <a:stretch>
                  <a:fillRect l="-1366" t="-65574" b="-53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0842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Box 209"/>
          <p:cNvSpPr txBox="1"/>
          <p:nvPr/>
        </p:nvSpPr>
        <p:spPr>
          <a:xfrm>
            <a:off x="60395" y="6567780"/>
            <a:ext cx="6072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 et al, “Show, Attend and Tell: Neural Image Captain Generation with Visual Attention”, ICML 2015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7028689" y="2646194"/>
            <a:ext cx="1123173" cy="894783"/>
            <a:chOff x="3907525" y="3282431"/>
            <a:chExt cx="1399431" cy="991913"/>
          </a:xfrm>
          <a:solidFill>
            <a:srgbClr val="FFC000">
              <a:alpha val="36000"/>
            </a:srgbClr>
          </a:solidFill>
        </p:grpSpPr>
        <p:sp>
          <p:nvSpPr>
            <p:cNvPr id="200" name="Rectangle 199"/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0,0</a:t>
              </a:r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0,1</a:t>
              </a:r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0,2</a:t>
              </a:r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</a:t>
              </a:r>
            </a:p>
          </p:txBody>
        </p:sp>
        <p:sp>
          <p:nvSpPr>
            <p:cNvPr id="204" name="Rectangle 203"/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</a:t>
              </a:r>
            </a:p>
          </p:txBody>
        </p:sp>
        <p:sp>
          <p:nvSpPr>
            <p:cNvPr id="205" name="Rectangle 204"/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</a:t>
              </a:r>
            </a:p>
          </p:txBody>
        </p:sp>
        <p:sp>
          <p:nvSpPr>
            <p:cNvPr id="211" name="Rectangle 210"/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2,0</a:t>
              </a:r>
            </a:p>
          </p:txBody>
        </p:sp>
        <p:sp>
          <p:nvSpPr>
            <p:cNvPr id="212" name="Rectangle 211"/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2,1</a:t>
              </a:r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2,2</a:t>
              </a:r>
            </a:p>
          </p:txBody>
        </p:sp>
      </p:grpSp>
      <p:sp>
        <p:nvSpPr>
          <p:cNvPr id="58" name="Oval 57"/>
          <p:cNvSpPr/>
          <p:nvPr/>
        </p:nvSpPr>
        <p:spPr>
          <a:xfrm>
            <a:off x="7793834" y="4800683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7823205" y="4786253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7790264" y="4175526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820042" y="4165332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5922920" y="4641629"/>
            <a:ext cx="332999" cy="314825"/>
          </a:xfrm>
          <a:prstGeom prst="ellipse">
            <a:avLst/>
          </a:prstGeom>
          <a:solidFill>
            <a:srgbClr val="9F2160">
              <a:alpha val="43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5936563" y="4623551"/>
            <a:ext cx="322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5921736" y="4985403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5917596" y="4976975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8495714" y="4797469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8516555" y="4790544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9" name="Elbow Connector 68"/>
          <p:cNvCxnSpPr>
            <a:stCxn id="211" idx="1"/>
            <a:endCxn id="85" idx="2"/>
          </p:cNvCxnSpPr>
          <p:nvPr/>
        </p:nvCxnSpPr>
        <p:spPr>
          <a:xfrm rot="10800000" flipV="1">
            <a:off x="5929889" y="3395426"/>
            <a:ext cx="1098800" cy="2224069"/>
          </a:xfrm>
          <a:prstGeom prst="bentConnector3">
            <a:avLst>
              <a:gd name="adj1" fmla="val 121238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214" idx="2"/>
            <a:endCxn id="61" idx="0"/>
          </p:cNvCxnSpPr>
          <p:nvPr/>
        </p:nvCxnSpPr>
        <p:spPr>
          <a:xfrm flipH="1">
            <a:off x="7956764" y="3540976"/>
            <a:ext cx="7775" cy="634550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>
            <a:stCxn id="61" idx="4"/>
            <a:endCxn id="63" idx="7"/>
          </p:cNvCxnSpPr>
          <p:nvPr/>
        </p:nvCxnSpPr>
        <p:spPr>
          <a:xfrm rot="5400000">
            <a:off x="6983267" y="3714236"/>
            <a:ext cx="197383" cy="1749612"/>
          </a:xfrm>
          <a:prstGeom prst="bentConnector3">
            <a:avLst>
              <a:gd name="adj1" fmla="val 99463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58" idx="6"/>
            <a:endCxn id="67" idx="2"/>
          </p:cNvCxnSpPr>
          <p:nvPr/>
        </p:nvCxnSpPr>
        <p:spPr>
          <a:xfrm flipV="1">
            <a:off x="8126833" y="4954882"/>
            <a:ext cx="368881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8795003" y="4767736"/>
            <a:ext cx="47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Boy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44646" y="2740098"/>
            <a:ext cx="942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Features: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 x 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26629" y="1231181"/>
            <a:ext cx="2175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Extract spatial features from a pretrained CNN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33233" y="4632438"/>
            <a:ext cx="8138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[START]</a:t>
            </a:r>
          </a:p>
        </p:txBody>
      </p:sp>
      <p:cxnSp>
        <p:nvCxnSpPr>
          <p:cNvPr id="77" name="Elbow Connector 76"/>
          <p:cNvCxnSpPr>
            <a:stCxn id="211" idx="1"/>
            <a:endCxn id="63" idx="2"/>
          </p:cNvCxnSpPr>
          <p:nvPr/>
        </p:nvCxnSpPr>
        <p:spPr>
          <a:xfrm rot="10800000" flipV="1">
            <a:off x="5922921" y="3395426"/>
            <a:ext cx="1105769" cy="1403615"/>
          </a:xfrm>
          <a:prstGeom prst="bentConnector3">
            <a:avLst>
              <a:gd name="adj1" fmla="val 120673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942496" y="5409931"/>
            <a:ext cx="47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Boy</a:t>
            </a:r>
          </a:p>
        </p:txBody>
      </p:sp>
      <p:cxnSp>
        <p:nvCxnSpPr>
          <p:cNvPr id="82" name="Straight Arrow Connector 81"/>
          <p:cNvCxnSpPr>
            <a:stCxn id="65" idx="7"/>
          </p:cNvCxnSpPr>
          <p:nvPr/>
        </p:nvCxnSpPr>
        <p:spPr>
          <a:xfrm flipV="1">
            <a:off x="6205968" y="5021440"/>
            <a:ext cx="1587278" cy="10068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7791280" y="5621137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820651" y="5606707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5" name="Oval 84"/>
          <p:cNvSpPr/>
          <p:nvPr/>
        </p:nvSpPr>
        <p:spPr>
          <a:xfrm>
            <a:off x="5929889" y="5462083"/>
            <a:ext cx="332999" cy="314825"/>
          </a:xfrm>
          <a:prstGeom prst="ellipse">
            <a:avLst/>
          </a:prstGeom>
          <a:solidFill>
            <a:srgbClr val="9F2160">
              <a:alpha val="43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5943532" y="5444005"/>
            <a:ext cx="322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5933468" y="5805857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5929328" y="5797429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9" name="Oval 88"/>
          <p:cNvSpPr/>
          <p:nvPr/>
        </p:nvSpPr>
        <p:spPr>
          <a:xfrm>
            <a:off x="8507446" y="5617923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8528287" y="5610998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91" name="Straight Arrow Connector 90"/>
          <p:cNvCxnSpPr>
            <a:stCxn id="83" idx="6"/>
            <a:endCxn id="89" idx="2"/>
          </p:cNvCxnSpPr>
          <p:nvPr/>
        </p:nvCxnSpPr>
        <p:spPr>
          <a:xfrm flipV="1">
            <a:off x="8124279" y="5775336"/>
            <a:ext cx="383167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87" idx="7"/>
          </p:cNvCxnSpPr>
          <p:nvPr/>
        </p:nvCxnSpPr>
        <p:spPr>
          <a:xfrm flipV="1">
            <a:off x="6217700" y="5849983"/>
            <a:ext cx="1570785" cy="1979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8795003" y="5578013"/>
            <a:ext cx="7072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waving</a:t>
            </a:r>
          </a:p>
        </p:txBody>
      </p:sp>
      <p:cxnSp>
        <p:nvCxnSpPr>
          <p:cNvPr id="173" name="Elbow Connector 172"/>
          <p:cNvCxnSpPr>
            <a:stCxn id="58" idx="3"/>
            <a:endCxn id="85" idx="7"/>
          </p:cNvCxnSpPr>
          <p:nvPr/>
        </p:nvCxnSpPr>
        <p:spPr>
          <a:xfrm rot="5400000">
            <a:off x="6808969" y="4474555"/>
            <a:ext cx="438785" cy="1628480"/>
          </a:xfrm>
          <a:prstGeom prst="bentConnector3">
            <a:avLst>
              <a:gd name="adj1" fmla="val 99928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/>
          <p:cNvCxnSpPr>
            <a:stCxn id="58" idx="4"/>
            <a:endCxn id="83" idx="0"/>
          </p:cNvCxnSpPr>
          <p:nvPr/>
        </p:nvCxnSpPr>
        <p:spPr>
          <a:xfrm flipH="1">
            <a:off x="7957780" y="5115508"/>
            <a:ext cx="2554" cy="505629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/>
          <p:cNvCxnSpPr>
            <a:stCxn id="63" idx="5"/>
          </p:cNvCxnSpPr>
          <p:nvPr/>
        </p:nvCxnSpPr>
        <p:spPr>
          <a:xfrm flipV="1">
            <a:off x="6207152" y="4899886"/>
            <a:ext cx="1591938" cy="10463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/>
          <p:cNvCxnSpPr>
            <a:stCxn id="85" idx="5"/>
          </p:cNvCxnSpPr>
          <p:nvPr/>
        </p:nvCxnSpPr>
        <p:spPr>
          <a:xfrm flipV="1">
            <a:off x="6214121" y="5729316"/>
            <a:ext cx="1572138" cy="1487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rapezoid 77">
            <a:extLst>
              <a:ext uri="{FF2B5EF4-FFF2-40B4-BE49-F238E27FC236}">
                <a16:creationId xmlns:a16="http://schemas.microsoft.com/office/drawing/2014/main" id="{417E9328-8338-4895-805C-FA1D09033160}"/>
              </a:ext>
            </a:extLst>
          </p:cNvPr>
          <p:cNvSpPr/>
          <p:nvPr/>
        </p:nvSpPr>
        <p:spPr>
          <a:xfrm rot="10800000">
            <a:off x="7140758" y="1994358"/>
            <a:ext cx="909750" cy="601216"/>
          </a:xfrm>
          <a:prstGeom prst="trapezoid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B13AF15-4F96-48D0-BF13-79BBDB94F3A8}"/>
              </a:ext>
            </a:extLst>
          </p:cNvPr>
          <p:cNvSpPr txBox="1"/>
          <p:nvPr/>
        </p:nvSpPr>
        <p:spPr>
          <a:xfrm>
            <a:off x="7262561" y="2131532"/>
            <a:ext cx="6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CNN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BA6A37F-0A6A-40B7-8B03-E3EA25150F35}"/>
              </a:ext>
            </a:extLst>
          </p:cNvPr>
          <p:cNvSpPr txBox="1"/>
          <p:nvPr/>
        </p:nvSpPr>
        <p:spPr>
          <a:xfrm>
            <a:off x="6581775" y="6492875"/>
            <a:ext cx="561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Fei-Fei Li Attention and Transformers CS231n Stanford Lecture</a:t>
            </a: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49BA6804-1A8D-418B-898F-09B05EE18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847" y="1040826"/>
            <a:ext cx="836736" cy="8902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286DC7C2-A67F-4120-B3ED-1818B32EABB6}"/>
                  </a:ext>
                </a:extLst>
              </p:cNvPr>
              <p:cNvSpPr/>
              <p:nvPr/>
            </p:nvSpPr>
            <p:spPr>
              <a:xfrm>
                <a:off x="951254" y="1382874"/>
                <a:ext cx="4111482" cy="10403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Arial Narrow" panose="020B0606020202030204" pitchFamily="34" charset="0"/>
                  </a:rPr>
                  <a:t>Compute Alignment Score: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𝑎𝑙𝑙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>
                  <a:solidFill>
                    <a:srgbClr val="00B0F0"/>
                  </a:solidFill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               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𝑎𝑙𝑙</m:t>
                        </m:r>
                      </m:sub>
                    </m:sSub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()= a MLP</a:t>
                </a:r>
              </a:p>
            </p:txBody>
          </p:sp>
        </mc:Choice>
        <mc:Fallback xmlns=""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286DC7C2-A67F-4120-B3ED-1818B32EAB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54" y="1382874"/>
                <a:ext cx="4111482" cy="1040349"/>
              </a:xfrm>
              <a:prstGeom prst="rect">
                <a:avLst/>
              </a:prstGeom>
              <a:blipFill>
                <a:blip r:embed="rId3"/>
                <a:stretch>
                  <a:fillRect l="-1333" t="-3509" b="-93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96179239-10FE-435E-89A5-AA4AD63D0E9C}"/>
                  </a:ext>
                </a:extLst>
              </p:cNvPr>
              <p:cNvSpPr/>
              <p:nvPr/>
            </p:nvSpPr>
            <p:spPr>
              <a:xfrm>
                <a:off x="951254" y="2552107"/>
                <a:ext cx="4020737" cy="7428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00B0F0"/>
                  </a:solidFill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solidFill>
                      <a:srgbClr val="0D0D0D"/>
                    </a:solidFill>
                    <a:latin typeface="Arial Narrow" panose="020B0606020202030204" pitchFamily="34" charset="0"/>
                  </a:rPr>
                  <a:t>     where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IN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r>
                  <a:rPr lang="en-US" sz="2000" dirty="0">
                    <a:solidFill>
                      <a:srgbClr val="0D0D0D"/>
                    </a:solidFill>
                    <a:latin typeface="Arial Narrow" panose="020B0606020202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rgbClr val="0D0D0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sz="2000" i="1" dirty="0">
                        <a:solidFill>
                          <a:srgbClr val="0D0D0D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96179239-10FE-435E-89A5-AA4AD63D0E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54" y="2552107"/>
                <a:ext cx="4020737" cy="742896"/>
              </a:xfrm>
              <a:prstGeom prst="rect">
                <a:avLst/>
              </a:prstGeom>
              <a:blipFill>
                <a:blip r:embed="rId4"/>
                <a:stretch>
                  <a:fillRect l="-1364" t="-24590" b="-942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83F32429-374B-4FB6-A0FF-CC7DAFCFF216}"/>
                  </a:ext>
                </a:extLst>
              </p:cNvPr>
              <p:cNvSpPr/>
              <p:nvPr/>
            </p:nvSpPr>
            <p:spPr>
              <a:xfrm>
                <a:off x="917759" y="3540977"/>
                <a:ext cx="4020737" cy="10506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IN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sz="20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</m:oMath>
                </a14:m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solidFill>
                      <a:srgbClr val="0D0D0D"/>
                    </a:solidFill>
                  </a:rPr>
                  <a:t>           </a:t>
                </a:r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83F32429-374B-4FB6-A0FF-CC7DAFCFF2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759" y="3540977"/>
                <a:ext cx="4020737" cy="1050672"/>
              </a:xfrm>
              <a:prstGeom prst="rect">
                <a:avLst/>
              </a:prstGeom>
              <a:blipFill>
                <a:blip r:embed="rId5"/>
                <a:stretch>
                  <a:fillRect l="-1366" t="-46512" b="-87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64AADD8C-41E8-463B-B985-F99253ED996F}"/>
                  </a:ext>
                </a:extLst>
              </p:cNvPr>
              <p:cNvSpPr/>
              <p:nvPr/>
            </p:nvSpPr>
            <p:spPr>
              <a:xfrm>
                <a:off x="928179" y="4332938"/>
                <a:ext cx="4020737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solidFill>
                      <a:srgbClr val="0D0D0D"/>
                    </a:solidFill>
                  </a:rPr>
                  <a:t>           </a:t>
                </a:r>
                <a:r>
                  <a:rPr lang="en-US" sz="2000" dirty="0">
                    <a:solidFill>
                      <a:srgbClr val="0D0D0D"/>
                    </a:solidFill>
                    <a:latin typeface="Arial Narrow" panose="020B0606020202030204" pitchFamily="34" charset="0"/>
                  </a:rPr>
                  <a:t>e.g.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algn="just"/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64AADD8C-41E8-463B-B985-F99253ED99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179" y="4332938"/>
                <a:ext cx="4020737" cy="1323439"/>
              </a:xfrm>
              <a:prstGeom prst="rect">
                <a:avLst/>
              </a:prstGeom>
              <a:blipFill>
                <a:blip r:embed="rId6"/>
                <a:stretch>
                  <a:fillRect l="-1364" t="-9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56A6EE0B-43E5-4145-B2CC-2EB781A35A9E}"/>
              </a:ext>
            </a:extLst>
          </p:cNvPr>
          <p:cNvSpPr txBox="1"/>
          <p:nvPr/>
        </p:nvSpPr>
        <p:spPr>
          <a:xfrm>
            <a:off x="8464645" y="3097877"/>
            <a:ext cx="31753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Arial Narrow" panose="020B0606020202030204" pitchFamily="34" charset="0"/>
              </a:rPr>
              <a:t>At each decoder node (time step), the model uses the different context vector looking at the different parts of the image.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9" name="Title 3">
            <a:extLst>
              <a:ext uri="{FF2B5EF4-FFF2-40B4-BE49-F238E27FC236}">
                <a16:creationId xmlns:a16="http://schemas.microsoft.com/office/drawing/2014/main" id="{30EFAE71-D4E5-4E5F-B3AF-EE06EEF43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454"/>
            <a:ext cx="10515600" cy="85991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Image Captioning with RNNs and Attention</a:t>
            </a:r>
            <a:br>
              <a:rPr lang="en-IN" sz="3200" dirty="0">
                <a:latin typeface="Century" panose="02040604050505020304" pitchFamily="18" charset="0"/>
              </a:rPr>
            </a:br>
            <a:r>
              <a:rPr lang="en-IN" sz="2400" dirty="0">
                <a:latin typeface="Century" panose="02040604050505020304" pitchFamily="18" charset="0"/>
              </a:rPr>
              <a:t>Computing Output at second time-step</a:t>
            </a:r>
            <a:endParaRPr lang="en-IN" sz="32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898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Box 209"/>
          <p:cNvSpPr txBox="1"/>
          <p:nvPr/>
        </p:nvSpPr>
        <p:spPr>
          <a:xfrm>
            <a:off x="60395" y="6596390"/>
            <a:ext cx="6072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 et al, “Show, Attend and Tell: Neural Image Captain Generation with Visual Attention”, ICML 2015</a:t>
            </a:r>
          </a:p>
        </p:txBody>
      </p:sp>
      <p:grpSp>
        <p:nvGrpSpPr>
          <p:cNvPr id="247" name="Group 246"/>
          <p:cNvGrpSpPr/>
          <p:nvPr/>
        </p:nvGrpSpPr>
        <p:grpSpPr>
          <a:xfrm>
            <a:off x="7706390" y="2516892"/>
            <a:ext cx="1123173" cy="894783"/>
            <a:chOff x="3907525" y="3282431"/>
            <a:chExt cx="1399431" cy="991913"/>
          </a:xfrm>
          <a:solidFill>
            <a:srgbClr val="FFC000">
              <a:alpha val="36000"/>
            </a:srgbClr>
          </a:solidFill>
        </p:grpSpPr>
        <p:sp>
          <p:nvSpPr>
            <p:cNvPr id="344" name="Rectangle 343"/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0,0</a:t>
              </a:r>
            </a:p>
          </p:txBody>
        </p:sp>
        <p:sp>
          <p:nvSpPr>
            <p:cNvPr id="345" name="Rectangle 344"/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0,1</a:t>
              </a:r>
            </a:p>
          </p:txBody>
        </p:sp>
        <p:sp>
          <p:nvSpPr>
            <p:cNvPr id="346" name="Rectangle 345"/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0,2</a:t>
              </a:r>
            </a:p>
          </p:txBody>
        </p:sp>
        <p:sp>
          <p:nvSpPr>
            <p:cNvPr id="347" name="Rectangle 346"/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</a:t>
              </a:r>
            </a:p>
          </p:txBody>
        </p:sp>
        <p:sp>
          <p:nvSpPr>
            <p:cNvPr id="348" name="Rectangle 347"/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</a:t>
              </a:r>
            </a:p>
          </p:txBody>
        </p:sp>
        <p:sp>
          <p:nvSpPr>
            <p:cNvPr id="349" name="Rectangle 348"/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</a:t>
              </a:r>
            </a:p>
          </p:txBody>
        </p:sp>
        <p:sp>
          <p:nvSpPr>
            <p:cNvPr id="350" name="Rectangle 349"/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2,0</a:t>
              </a:r>
            </a:p>
          </p:txBody>
        </p:sp>
        <p:sp>
          <p:nvSpPr>
            <p:cNvPr id="351" name="Rectangle 350"/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2,1</a:t>
              </a:r>
            </a:p>
          </p:txBody>
        </p:sp>
        <p:sp>
          <p:nvSpPr>
            <p:cNvPr id="352" name="Rectangle 351"/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2,2</a:t>
              </a:r>
            </a:p>
          </p:txBody>
        </p:sp>
      </p:grpSp>
      <p:sp>
        <p:nvSpPr>
          <p:cNvPr id="248" name="Oval 247"/>
          <p:cNvSpPr/>
          <p:nvPr/>
        </p:nvSpPr>
        <p:spPr>
          <a:xfrm>
            <a:off x="8471535" y="4671381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9" name="Rectangle 248"/>
          <p:cNvSpPr/>
          <p:nvPr/>
        </p:nvSpPr>
        <p:spPr>
          <a:xfrm>
            <a:off x="8500906" y="4656951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1" name="Oval 250"/>
          <p:cNvSpPr/>
          <p:nvPr/>
        </p:nvSpPr>
        <p:spPr>
          <a:xfrm>
            <a:off x="8467965" y="4046224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2" name="Rectangle 251"/>
          <p:cNvSpPr/>
          <p:nvPr/>
        </p:nvSpPr>
        <p:spPr>
          <a:xfrm>
            <a:off x="8497743" y="4036030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3" name="Oval 252"/>
          <p:cNvSpPr/>
          <p:nvPr/>
        </p:nvSpPr>
        <p:spPr>
          <a:xfrm>
            <a:off x="6600621" y="4512327"/>
            <a:ext cx="332999" cy="314825"/>
          </a:xfrm>
          <a:prstGeom prst="ellipse">
            <a:avLst/>
          </a:prstGeom>
          <a:solidFill>
            <a:srgbClr val="9F2160">
              <a:alpha val="43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4" name="Rectangle 253"/>
          <p:cNvSpPr/>
          <p:nvPr/>
        </p:nvSpPr>
        <p:spPr>
          <a:xfrm>
            <a:off x="6614264" y="4494249"/>
            <a:ext cx="322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5" name="Oval 254"/>
          <p:cNvSpPr/>
          <p:nvPr/>
        </p:nvSpPr>
        <p:spPr>
          <a:xfrm>
            <a:off x="6599437" y="4856101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6" name="Rectangle 255"/>
          <p:cNvSpPr/>
          <p:nvPr/>
        </p:nvSpPr>
        <p:spPr>
          <a:xfrm>
            <a:off x="6595297" y="4847673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7" name="Oval 256"/>
          <p:cNvSpPr/>
          <p:nvPr/>
        </p:nvSpPr>
        <p:spPr>
          <a:xfrm>
            <a:off x="9173415" y="4668167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8" name="Rectangle 257"/>
          <p:cNvSpPr/>
          <p:nvPr/>
        </p:nvSpPr>
        <p:spPr>
          <a:xfrm>
            <a:off x="9194256" y="4661242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59" name="Elbow Connector 258"/>
          <p:cNvCxnSpPr>
            <a:stCxn id="350" idx="1"/>
            <a:endCxn id="275" idx="2"/>
          </p:cNvCxnSpPr>
          <p:nvPr/>
        </p:nvCxnSpPr>
        <p:spPr>
          <a:xfrm rot="10800000" flipV="1">
            <a:off x="6607590" y="3266124"/>
            <a:ext cx="1098800" cy="2224069"/>
          </a:xfrm>
          <a:prstGeom prst="bentConnector3">
            <a:avLst>
              <a:gd name="adj1" fmla="val 121238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Arrow Connector 259"/>
          <p:cNvCxnSpPr>
            <a:stCxn id="352" idx="2"/>
            <a:endCxn id="251" idx="0"/>
          </p:cNvCxnSpPr>
          <p:nvPr/>
        </p:nvCxnSpPr>
        <p:spPr>
          <a:xfrm flipH="1">
            <a:off x="8634465" y="3411674"/>
            <a:ext cx="7775" cy="634550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Elbow Connector 260"/>
          <p:cNvCxnSpPr>
            <a:stCxn id="251" idx="4"/>
            <a:endCxn id="253" idx="7"/>
          </p:cNvCxnSpPr>
          <p:nvPr/>
        </p:nvCxnSpPr>
        <p:spPr>
          <a:xfrm rot="5400000">
            <a:off x="7660968" y="3584934"/>
            <a:ext cx="197383" cy="1749612"/>
          </a:xfrm>
          <a:prstGeom prst="bentConnector3">
            <a:avLst>
              <a:gd name="adj1" fmla="val 99463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261"/>
          <p:cNvCxnSpPr>
            <a:stCxn id="248" idx="6"/>
            <a:endCxn id="257" idx="2"/>
          </p:cNvCxnSpPr>
          <p:nvPr/>
        </p:nvCxnSpPr>
        <p:spPr>
          <a:xfrm flipV="1">
            <a:off x="8804534" y="4825580"/>
            <a:ext cx="368881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TextBox 262"/>
          <p:cNvSpPr txBox="1"/>
          <p:nvPr/>
        </p:nvSpPr>
        <p:spPr>
          <a:xfrm>
            <a:off x="9472704" y="4638434"/>
            <a:ext cx="47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Boy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6622347" y="2610796"/>
            <a:ext cx="942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Features: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 x D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5820232" y="1177482"/>
            <a:ext cx="2175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Extract spatial features from a pretrained CNN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5491863" y="4513838"/>
            <a:ext cx="8138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[START]</a:t>
            </a:r>
          </a:p>
        </p:txBody>
      </p:sp>
      <p:cxnSp>
        <p:nvCxnSpPr>
          <p:cNvPr id="267" name="Elbow Connector 266"/>
          <p:cNvCxnSpPr>
            <a:stCxn id="350" idx="1"/>
            <a:endCxn id="253" idx="2"/>
          </p:cNvCxnSpPr>
          <p:nvPr/>
        </p:nvCxnSpPr>
        <p:spPr>
          <a:xfrm rot="10800000" flipV="1">
            <a:off x="6600622" y="3266124"/>
            <a:ext cx="1105769" cy="1403615"/>
          </a:xfrm>
          <a:prstGeom prst="bentConnector3">
            <a:avLst>
              <a:gd name="adj1" fmla="val 120673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TextBox 269"/>
          <p:cNvSpPr txBox="1"/>
          <p:nvPr/>
        </p:nvSpPr>
        <p:spPr>
          <a:xfrm>
            <a:off x="5620197" y="5280629"/>
            <a:ext cx="47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Boy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494696" y="6087543"/>
            <a:ext cx="7072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waving</a:t>
            </a:r>
          </a:p>
        </p:txBody>
      </p:sp>
      <p:cxnSp>
        <p:nvCxnSpPr>
          <p:cNvPr id="272" name="Straight Arrow Connector 271"/>
          <p:cNvCxnSpPr>
            <a:stCxn id="255" idx="7"/>
          </p:cNvCxnSpPr>
          <p:nvPr/>
        </p:nvCxnSpPr>
        <p:spPr>
          <a:xfrm flipV="1">
            <a:off x="6883669" y="4892138"/>
            <a:ext cx="1587278" cy="10068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Oval 272"/>
          <p:cNvSpPr/>
          <p:nvPr/>
        </p:nvSpPr>
        <p:spPr>
          <a:xfrm>
            <a:off x="8468981" y="5491835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4" name="Rectangle 273"/>
          <p:cNvSpPr/>
          <p:nvPr/>
        </p:nvSpPr>
        <p:spPr>
          <a:xfrm>
            <a:off x="8498352" y="5477405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5" name="Oval 274"/>
          <p:cNvSpPr/>
          <p:nvPr/>
        </p:nvSpPr>
        <p:spPr>
          <a:xfrm>
            <a:off x="6607590" y="5332781"/>
            <a:ext cx="332999" cy="314825"/>
          </a:xfrm>
          <a:prstGeom prst="ellipse">
            <a:avLst/>
          </a:prstGeom>
          <a:solidFill>
            <a:srgbClr val="9F2160">
              <a:alpha val="43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6" name="Rectangle 275"/>
          <p:cNvSpPr/>
          <p:nvPr/>
        </p:nvSpPr>
        <p:spPr>
          <a:xfrm>
            <a:off x="6621233" y="5314703"/>
            <a:ext cx="322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7" name="Oval 276"/>
          <p:cNvSpPr/>
          <p:nvPr/>
        </p:nvSpPr>
        <p:spPr>
          <a:xfrm>
            <a:off x="6611169" y="5676555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6607029" y="5668127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9" name="Oval 278"/>
          <p:cNvSpPr/>
          <p:nvPr/>
        </p:nvSpPr>
        <p:spPr>
          <a:xfrm>
            <a:off x="9185147" y="5488621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9205988" y="5481696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81" name="Straight Arrow Connector 280"/>
          <p:cNvCxnSpPr>
            <a:stCxn id="273" idx="6"/>
            <a:endCxn id="279" idx="2"/>
          </p:cNvCxnSpPr>
          <p:nvPr/>
        </p:nvCxnSpPr>
        <p:spPr>
          <a:xfrm flipV="1">
            <a:off x="8801980" y="5646034"/>
            <a:ext cx="383167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Arrow Connector 281"/>
          <p:cNvCxnSpPr>
            <a:stCxn id="277" idx="7"/>
          </p:cNvCxnSpPr>
          <p:nvPr/>
        </p:nvCxnSpPr>
        <p:spPr>
          <a:xfrm flipV="1">
            <a:off x="6895401" y="5720681"/>
            <a:ext cx="1570785" cy="1979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Oval 282"/>
          <p:cNvSpPr/>
          <p:nvPr/>
        </p:nvSpPr>
        <p:spPr>
          <a:xfrm>
            <a:off x="8472800" y="6329845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4" name="Rectangle 283"/>
          <p:cNvSpPr/>
          <p:nvPr/>
        </p:nvSpPr>
        <p:spPr>
          <a:xfrm>
            <a:off x="8502171" y="6315415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3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5" name="Oval 284"/>
          <p:cNvSpPr/>
          <p:nvPr/>
        </p:nvSpPr>
        <p:spPr>
          <a:xfrm>
            <a:off x="6606642" y="6170791"/>
            <a:ext cx="332999" cy="314825"/>
          </a:xfrm>
          <a:prstGeom prst="ellipse">
            <a:avLst/>
          </a:prstGeom>
          <a:solidFill>
            <a:srgbClr val="9F2160">
              <a:alpha val="43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6" name="Rectangle 285"/>
          <p:cNvSpPr/>
          <p:nvPr/>
        </p:nvSpPr>
        <p:spPr>
          <a:xfrm>
            <a:off x="6620285" y="6152713"/>
            <a:ext cx="322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3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7" name="Oval 286"/>
          <p:cNvSpPr/>
          <p:nvPr/>
        </p:nvSpPr>
        <p:spPr>
          <a:xfrm>
            <a:off x="6610221" y="6514565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8" name="Rectangle 287"/>
          <p:cNvSpPr/>
          <p:nvPr/>
        </p:nvSpPr>
        <p:spPr>
          <a:xfrm>
            <a:off x="6606081" y="6506137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9" name="Oval 288"/>
          <p:cNvSpPr/>
          <p:nvPr/>
        </p:nvSpPr>
        <p:spPr>
          <a:xfrm>
            <a:off x="9208014" y="6326631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0" name="Rectangle 289"/>
          <p:cNvSpPr/>
          <p:nvPr/>
        </p:nvSpPr>
        <p:spPr>
          <a:xfrm>
            <a:off x="9228855" y="6319706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3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91" name="Straight Arrow Connector 290"/>
          <p:cNvCxnSpPr>
            <a:stCxn id="283" idx="6"/>
            <a:endCxn id="289" idx="2"/>
          </p:cNvCxnSpPr>
          <p:nvPr/>
        </p:nvCxnSpPr>
        <p:spPr>
          <a:xfrm flipV="1">
            <a:off x="8805799" y="6484044"/>
            <a:ext cx="402215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9604150" y="6283332"/>
            <a:ext cx="453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flag</a:t>
            </a:r>
          </a:p>
        </p:txBody>
      </p:sp>
      <p:cxnSp>
        <p:nvCxnSpPr>
          <p:cNvPr id="293" name="Straight Arrow Connector 292"/>
          <p:cNvCxnSpPr>
            <a:stCxn id="285" idx="5"/>
          </p:cNvCxnSpPr>
          <p:nvPr/>
        </p:nvCxnSpPr>
        <p:spPr>
          <a:xfrm flipV="1">
            <a:off x="6890874" y="6430276"/>
            <a:ext cx="1582304" cy="9235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/>
          <p:cNvCxnSpPr>
            <a:stCxn id="287" idx="7"/>
          </p:cNvCxnSpPr>
          <p:nvPr/>
        </p:nvCxnSpPr>
        <p:spPr>
          <a:xfrm flipV="1">
            <a:off x="6894453" y="6558691"/>
            <a:ext cx="1585075" cy="1979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Elbow Connector 306"/>
          <p:cNvCxnSpPr>
            <a:stCxn id="350" idx="1"/>
            <a:endCxn id="285" idx="2"/>
          </p:cNvCxnSpPr>
          <p:nvPr/>
        </p:nvCxnSpPr>
        <p:spPr>
          <a:xfrm rot="10800000" flipV="1">
            <a:off x="6606642" y="3266124"/>
            <a:ext cx="1099748" cy="3062079"/>
          </a:xfrm>
          <a:prstGeom prst="bentConnector3">
            <a:avLst>
              <a:gd name="adj1" fmla="val 121436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TextBox 307"/>
          <p:cNvSpPr txBox="1"/>
          <p:nvPr/>
        </p:nvSpPr>
        <p:spPr>
          <a:xfrm>
            <a:off x="9472704" y="5448711"/>
            <a:ext cx="7072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waving</a:t>
            </a:r>
          </a:p>
        </p:txBody>
      </p:sp>
      <p:cxnSp>
        <p:nvCxnSpPr>
          <p:cNvPr id="317" name="Elbow Connector 316"/>
          <p:cNvCxnSpPr>
            <a:stCxn id="248" idx="3"/>
            <a:endCxn id="275" idx="7"/>
          </p:cNvCxnSpPr>
          <p:nvPr/>
        </p:nvCxnSpPr>
        <p:spPr>
          <a:xfrm rot="5400000">
            <a:off x="7486670" y="4345253"/>
            <a:ext cx="438785" cy="1628480"/>
          </a:xfrm>
          <a:prstGeom prst="bentConnector3">
            <a:avLst>
              <a:gd name="adj1" fmla="val 99928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Elbow Connector 317"/>
          <p:cNvCxnSpPr>
            <a:stCxn id="273" idx="3"/>
            <a:endCxn id="285" idx="7"/>
          </p:cNvCxnSpPr>
          <p:nvPr/>
        </p:nvCxnSpPr>
        <p:spPr>
          <a:xfrm rot="5400000">
            <a:off x="7476141" y="5175288"/>
            <a:ext cx="456341" cy="1626874"/>
          </a:xfrm>
          <a:prstGeom prst="bentConnector3">
            <a:avLst>
              <a:gd name="adj1" fmla="val 99572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Arrow Connector 319"/>
          <p:cNvCxnSpPr>
            <a:stCxn id="248" idx="4"/>
            <a:endCxn id="273" idx="0"/>
          </p:cNvCxnSpPr>
          <p:nvPr/>
        </p:nvCxnSpPr>
        <p:spPr>
          <a:xfrm flipH="1">
            <a:off x="8635481" y="4986206"/>
            <a:ext cx="2554" cy="505629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Arrow Connector 320"/>
          <p:cNvCxnSpPr>
            <a:stCxn id="273" idx="4"/>
            <a:endCxn id="283" idx="0"/>
          </p:cNvCxnSpPr>
          <p:nvPr/>
        </p:nvCxnSpPr>
        <p:spPr>
          <a:xfrm>
            <a:off x="8635481" y="5806660"/>
            <a:ext cx="3819" cy="523185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Arrow Connector 322"/>
          <p:cNvCxnSpPr>
            <a:stCxn id="253" idx="5"/>
          </p:cNvCxnSpPr>
          <p:nvPr/>
        </p:nvCxnSpPr>
        <p:spPr>
          <a:xfrm flipV="1">
            <a:off x="6884853" y="4770584"/>
            <a:ext cx="1591938" cy="10463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Arrow Connector 323"/>
          <p:cNvCxnSpPr>
            <a:stCxn id="275" idx="5"/>
          </p:cNvCxnSpPr>
          <p:nvPr/>
        </p:nvCxnSpPr>
        <p:spPr>
          <a:xfrm flipV="1">
            <a:off x="6891822" y="5600014"/>
            <a:ext cx="1572138" cy="1487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rapezoid 72">
            <a:extLst>
              <a:ext uri="{FF2B5EF4-FFF2-40B4-BE49-F238E27FC236}">
                <a16:creationId xmlns:a16="http://schemas.microsoft.com/office/drawing/2014/main" id="{32EF684A-DE41-4115-AB37-39C25484D46C}"/>
              </a:ext>
            </a:extLst>
          </p:cNvPr>
          <p:cNvSpPr/>
          <p:nvPr/>
        </p:nvSpPr>
        <p:spPr>
          <a:xfrm rot="10800000">
            <a:off x="7846852" y="1864329"/>
            <a:ext cx="909750" cy="601216"/>
          </a:xfrm>
          <a:prstGeom prst="trapezoid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2B22B1F-86A6-467A-85B7-C5C931E052FA}"/>
              </a:ext>
            </a:extLst>
          </p:cNvPr>
          <p:cNvSpPr txBox="1"/>
          <p:nvPr/>
        </p:nvSpPr>
        <p:spPr>
          <a:xfrm>
            <a:off x="7968655" y="2001503"/>
            <a:ext cx="6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CNN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A39F793-1B3C-447E-AA04-3170665EA81E}"/>
              </a:ext>
            </a:extLst>
          </p:cNvPr>
          <p:cNvSpPr txBox="1"/>
          <p:nvPr/>
        </p:nvSpPr>
        <p:spPr>
          <a:xfrm>
            <a:off x="43074" y="6301729"/>
            <a:ext cx="561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Fei-Fei Li Attention and Transformers CS231n Stanford Lecture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6347FA4B-34CC-4F1B-969A-FBAA61387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9381" y="893567"/>
            <a:ext cx="836736" cy="8902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7B2D0755-C630-4671-B083-6DF45288A6D9}"/>
                  </a:ext>
                </a:extLst>
              </p:cNvPr>
              <p:cNvSpPr/>
              <p:nvPr/>
            </p:nvSpPr>
            <p:spPr>
              <a:xfrm>
                <a:off x="951254" y="1382874"/>
                <a:ext cx="4111482" cy="10403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Arial Narrow" panose="020B0606020202030204" pitchFamily="34" charset="0"/>
                  </a:rPr>
                  <a:t>Compute Alignment Score: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𝑎𝑙𝑙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>
                  <a:solidFill>
                    <a:srgbClr val="00B0F0"/>
                  </a:solidFill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               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𝑎𝑙𝑙</m:t>
                        </m:r>
                      </m:sub>
                    </m:sSub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()= a MLP</a:t>
                </a:r>
              </a:p>
            </p:txBody>
          </p:sp>
        </mc:Choice>
        <mc:Fallback xmlns="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7B2D0755-C630-4671-B083-6DF45288A6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54" y="1382874"/>
                <a:ext cx="4111482" cy="1040349"/>
              </a:xfrm>
              <a:prstGeom prst="rect">
                <a:avLst/>
              </a:prstGeom>
              <a:blipFill>
                <a:blip r:embed="rId3"/>
                <a:stretch>
                  <a:fillRect l="-1333" t="-3509" b="-93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A5E48748-3BCF-4284-A693-A6630A50F872}"/>
                  </a:ext>
                </a:extLst>
              </p:cNvPr>
              <p:cNvSpPr/>
              <p:nvPr/>
            </p:nvSpPr>
            <p:spPr>
              <a:xfrm>
                <a:off x="951254" y="2552107"/>
                <a:ext cx="4020737" cy="7428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00B0F0"/>
                  </a:solidFill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solidFill>
                      <a:srgbClr val="0D0D0D"/>
                    </a:solidFill>
                    <a:latin typeface="Arial Narrow" panose="020B0606020202030204" pitchFamily="34" charset="0"/>
                  </a:rPr>
                  <a:t>     where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IN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r>
                  <a:rPr lang="en-US" sz="2000" dirty="0">
                    <a:solidFill>
                      <a:srgbClr val="0D0D0D"/>
                    </a:solidFill>
                    <a:latin typeface="Arial Narrow" panose="020B0606020202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rgbClr val="0D0D0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sz="2000" i="1" dirty="0">
                        <a:solidFill>
                          <a:srgbClr val="0D0D0D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A5E48748-3BCF-4284-A693-A6630A50F8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54" y="2552107"/>
                <a:ext cx="4020737" cy="742896"/>
              </a:xfrm>
              <a:prstGeom prst="rect">
                <a:avLst/>
              </a:prstGeom>
              <a:blipFill>
                <a:blip r:embed="rId4"/>
                <a:stretch>
                  <a:fillRect l="-1364" t="-24590" b="-942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317CEC30-2751-4D02-B633-F08067EDB782}"/>
                  </a:ext>
                </a:extLst>
              </p:cNvPr>
              <p:cNvSpPr/>
              <p:nvPr/>
            </p:nvSpPr>
            <p:spPr>
              <a:xfrm>
                <a:off x="917759" y="3540977"/>
                <a:ext cx="4020737" cy="10506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IN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sz="20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</m:oMath>
                </a14:m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solidFill>
                      <a:srgbClr val="0D0D0D"/>
                    </a:solidFill>
                  </a:rPr>
                  <a:t>           </a:t>
                </a:r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317CEC30-2751-4D02-B633-F08067EDB7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759" y="3540977"/>
                <a:ext cx="4020737" cy="1050672"/>
              </a:xfrm>
              <a:prstGeom prst="rect">
                <a:avLst/>
              </a:prstGeom>
              <a:blipFill>
                <a:blip r:embed="rId5"/>
                <a:stretch>
                  <a:fillRect l="-1366" t="-46512" b="-87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26E6E8E4-EF8A-45D3-BEA6-F4E1D902C79C}"/>
                  </a:ext>
                </a:extLst>
              </p:cNvPr>
              <p:cNvSpPr/>
              <p:nvPr/>
            </p:nvSpPr>
            <p:spPr>
              <a:xfrm>
                <a:off x="928179" y="4332938"/>
                <a:ext cx="4020737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solidFill>
                      <a:srgbClr val="0D0D0D"/>
                    </a:solidFill>
                  </a:rPr>
                  <a:t>           </a:t>
                </a:r>
                <a:r>
                  <a:rPr lang="en-US" sz="2000" dirty="0">
                    <a:solidFill>
                      <a:srgbClr val="0D0D0D"/>
                    </a:solidFill>
                    <a:latin typeface="Arial Narrow" panose="020B0606020202030204" pitchFamily="34" charset="0"/>
                  </a:rPr>
                  <a:t>e.g.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algn="just"/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26E6E8E4-EF8A-45D3-BEA6-F4E1D902C7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179" y="4332938"/>
                <a:ext cx="4020737" cy="1323439"/>
              </a:xfrm>
              <a:prstGeom prst="rect">
                <a:avLst/>
              </a:prstGeom>
              <a:blipFill>
                <a:blip r:embed="rId6"/>
                <a:stretch>
                  <a:fillRect l="-1364" t="-9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2EB5CA59-F037-4D5A-A295-3FC4268DE95B}"/>
              </a:ext>
            </a:extLst>
          </p:cNvPr>
          <p:cNvSpPr txBox="1"/>
          <p:nvPr/>
        </p:nvSpPr>
        <p:spPr>
          <a:xfrm>
            <a:off x="9016621" y="3088674"/>
            <a:ext cx="31753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Arial Narrow" panose="020B0606020202030204" pitchFamily="34" charset="0"/>
              </a:rPr>
              <a:t>At each decoder node (time step), the model uses the different context vector looking at the different parts of the image.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3" name="Title 3">
            <a:extLst>
              <a:ext uri="{FF2B5EF4-FFF2-40B4-BE49-F238E27FC236}">
                <a16:creationId xmlns:a16="http://schemas.microsoft.com/office/drawing/2014/main" id="{0484F7A4-EF6F-4948-A7DB-7A737A0C3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454"/>
            <a:ext cx="10515600" cy="85991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Image Captioning with RNNs and Attention</a:t>
            </a:r>
            <a:br>
              <a:rPr lang="en-IN" sz="3200" dirty="0">
                <a:latin typeface="Century" panose="02040604050505020304" pitchFamily="18" charset="0"/>
              </a:rPr>
            </a:br>
            <a:r>
              <a:rPr lang="en-IN" sz="2400" dirty="0">
                <a:latin typeface="Century" panose="02040604050505020304" pitchFamily="18" charset="0"/>
              </a:rPr>
              <a:t>Computing Output at third time-step</a:t>
            </a:r>
            <a:endParaRPr lang="en-IN" sz="32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318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Box 209"/>
          <p:cNvSpPr txBox="1"/>
          <p:nvPr/>
        </p:nvSpPr>
        <p:spPr>
          <a:xfrm>
            <a:off x="60395" y="6567780"/>
            <a:ext cx="6072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 et al, “Show, Attend and Tell: Neural Image Captain Generation with Visual Attention”, ICML 2015</a:t>
            </a:r>
          </a:p>
        </p:txBody>
      </p:sp>
      <p:grpSp>
        <p:nvGrpSpPr>
          <p:cNvPr id="337" name="Group 336"/>
          <p:cNvGrpSpPr/>
          <p:nvPr/>
        </p:nvGrpSpPr>
        <p:grpSpPr>
          <a:xfrm>
            <a:off x="9062620" y="1615800"/>
            <a:ext cx="1123173" cy="894783"/>
            <a:chOff x="3907525" y="3282431"/>
            <a:chExt cx="1399431" cy="991913"/>
          </a:xfrm>
          <a:solidFill>
            <a:srgbClr val="FFC000">
              <a:alpha val="36000"/>
            </a:srgbClr>
          </a:solidFill>
        </p:grpSpPr>
        <p:sp>
          <p:nvSpPr>
            <p:cNvPr id="434" name="Rectangle 433"/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0,0</a:t>
              </a:r>
            </a:p>
          </p:txBody>
        </p:sp>
        <p:sp>
          <p:nvSpPr>
            <p:cNvPr id="435" name="Rectangle 434"/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0,1</a:t>
              </a:r>
            </a:p>
          </p:txBody>
        </p:sp>
        <p:sp>
          <p:nvSpPr>
            <p:cNvPr id="436" name="Rectangle 435"/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0,2</a:t>
              </a:r>
            </a:p>
          </p:txBody>
        </p:sp>
        <p:sp>
          <p:nvSpPr>
            <p:cNvPr id="437" name="Rectangle 436"/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</a:t>
              </a:r>
            </a:p>
          </p:txBody>
        </p:sp>
        <p:sp>
          <p:nvSpPr>
            <p:cNvPr id="438" name="Rectangle 437"/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</a:t>
              </a:r>
            </a:p>
          </p:txBody>
        </p:sp>
        <p:sp>
          <p:nvSpPr>
            <p:cNvPr id="439" name="Rectangle 438"/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</a:t>
              </a:r>
            </a:p>
          </p:txBody>
        </p:sp>
        <p:sp>
          <p:nvSpPr>
            <p:cNvPr id="440" name="Rectangle 439"/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2,0</a:t>
              </a:r>
            </a:p>
          </p:txBody>
        </p:sp>
        <p:sp>
          <p:nvSpPr>
            <p:cNvPr id="441" name="Rectangle 440"/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2,1</a:t>
              </a:r>
            </a:p>
          </p:txBody>
        </p:sp>
        <p:sp>
          <p:nvSpPr>
            <p:cNvPr id="442" name="Rectangle 441"/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2,2</a:t>
              </a:r>
            </a:p>
          </p:txBody>
        </p:sp>
      </p:grpSp>
      <p:sp>
        <p:nvSpPr>
          <p:cNvPr id="338" name="Oval 337"/>
          <p:cNvSpPr/>
          <p:nvPr/>
        </p:nvSpPr>
        <p:spPr>
          <a:xfrm>
            <a:off x="9827765" y="3770289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9" name="Rectangle 338"/>
          <p:cNvSpPr/>
          <p:nvPr/>
        </p:nvSpPr>
        <p:spPr>
          <a:xfrm>
            <a:off x="9857136" y="3755859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1" name="Oval 340"/>
          <p:cNvSpPr/>
          <p:nvPr/>
        </p:nvSpPr>
        <p:spPr>
          <a:xfrm>
            <a:off x="9824195" y="3145132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2" name="Rectangle 341"/>
          <p:cNvSpPr/>
          <p:nvPr/>
        </p:nvSpPr>
        <p:spPr>
          <a:xfrm>
            <a:off x="9853973" y="3134938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3" name="Oval 342"/>
          <p:cNvSpPr/>
          <p:nvPr/>
        </p:nvSpPr>
        <p:spPr>
          <a:xfrm>
            <a:off x="7956851" y="3611235"/>
            <a:ext cx="332999" cy="314825"/>
          </a:xfrm>
          <a:prstGeom prst="ellipse">
            <a:avLst/>
          </a:prstGeom>
          <a:solidFill>
            <a:srgbClr val="9F2160">
              <a:alpha val="43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4" name="Rectangle 343"/>
          <p:cNvSpPr/>
          <p:nvPr/>
        </p:nvSpPr>
        <p:spPr>
          <a:xfrm>
            <a:off x="7970494" y="3593157"/>
            <a:ext cx="322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5" name="Oval 344"/>
          <p:cNvSpPr/>
          <p:nvPr/>
        </p:nvSpPr>
        <p:spPr>
          <a:xfrm>
            <a:off x="7955667" y="3955009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6" name="Rectangle 345"/>
          <p:cNvSpPr/>
          <p:nvPr/>
        </p:nvSpPr>
        <p:spPr>
          <a:xfrm>
            <a:off x="7951527" y="3946581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7" name="Oval 346"/>
          <p:cNvSpPr/>
          <p:nvPr/>
        </p:nvSpPr>
        <p:spPr>
          <a:xfrm>
            <a:off x="10529645" y="3767075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8" name="Rectangle 347"/>
          <p:cNvSpPr/>
          <p:nvPr/>
        </p:nvSpPr>
        <p:spPr>
          <a:xfrm>
            <a:off x="10550486" y="3760150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49" name="Elbow Connector 348"/>
          <p:cNvCxnSpPr>
            <a:stCxn id="440" idx="1"/>
            <a:endCxn id="365" idx="2"/>
          </p:cNvCxnSpPr>
          <p:nvPr/>
        </p:nvCxnSpPr>
        <p:spPr>
          <a:xfrm rot="10800000" flipV="1">
            <a:off x="7963820" y="2365032"/>
            <a:ext cx="1098800" cy="2224069"/>
          </a:xfrm>
          <a:prstGeom prst="bentConnector3">
            <a:avLst>
              <a:gd name="adj1" fmla="val 121238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Arrow Connector 349"/>
          <p:cNvCxnSpPr>
            <a:stCxn id="442" idx="2"/>
            <a:endCxn id="341" idx="0"/>
          </p:cNvCxnSpPr>
          <p:nvPr/>
        </p:nvCxnSpPr>
        <p:spPr>
          <a:xfrm flipH="1">
            <a:off x="9990695" y="2510582"/>
            <a:ext cx="7775" cy="634550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Elbow Connector 350"/>
          <p:cNvCxnSpPr>
            <a:stCxn id="341" idx="4"/>
            <a:endCxn id="343" idx="7"/>
          </p:cNvCxnSpPr>
          <p:nvPr/>
        </p:nvCxnSpPr>
        <p:spPr>
          <a:xfrm rot="5400000">
            <a:off x="9017198" y="2683842"/>
            <a:ext cx="197383" cy="1749612"/>
          </a:xfrm>
          <a:prstGeom prst="bentConnector3">
            <a:avLst>
              <a:gd name="adj1" fmla="val 99463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Arrow Connector 351"/>
          <p:cNvCxnSpPr>
            <a:stCxn id="338" idx="6"/>
            <a:endCxn id="347" idx="2"/>
          </p:cNvCxnSpPr>
          <p:nvPr/>
        </p:nvCxnSpPr>
        <p:spPr>
          <a:xfrm flipV="1">
            <a:off x="10160764" y="3924488"/>
            <a:ext cx="368881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TextBox 352"/>
          <p:cNvSpPr txBox="1"/>
          <p:nvPr/>
        </p:nvSpPr>
        <p:spPr>
          <a:xfrm>
            <a:off x="10828934" y="3737342"/>
            <a:ext cx="47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Boy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7978577" y="1709704"/>
            <a:ext cx="942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Features: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 x D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7087709" y="984249"/>
            <a:ext cx="2175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Extract spatial features from a pretrained CNN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6836370" y="3784075"/>
            <a:ext cx="8138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[START]</a:t>
            </a:r>
          </a:p>
        </p:txBody>
      </p:sp>
      <p:cxnSp>
        <p:nvCxnSpPr>
          <p:cNvPr id="357" name="Elbow Connector 356"/>
          <p:cNvCxnSpPr>
            <a:stCxn id="440" idx="1"/>
            <a:endCxn id="343" idx="2"/>
          </p:cNvCxnSpPr>
          <p:nvPr/>
        </p:nvCxnSpPr>
        <p:spPr>
          <a:xfrm rot="10800000" flipV="1">
            <a:off x="7956852" y="2365032"/>
            <a:ext cx="1105769" cy="1403615"/>
          </a:xfrm>
          <a:prstGeom prst="bentConnector3">
            <a:avLst>
              <a:gd name="adj1" fmla="val 120673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Elbow Connector 357"/>
          <p:cNvCxnSpPr>
            <a:stCxn id="440" idx="1"/>
            <a:endCxn id="387" idx="2"/>
          </p:cNvCxnSpPr>
          <p:nvPr/>
        </p:nvCxnSpPr>
        <p:spPr>
          <a:xfrm rot="10800000" flipV="1">
            <a:off x="7953282" y="2365033"/>
            <a:ext cx="1109339" cy="3893462"/>
          </a:xfrm>
          <a:prstGeom prst="bentConnector3">
            <a:avLst>
              <a:gd name="adj1" fmla="val 120607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0" name="TextBox 359"/>
          <p:cNvSpPr txBox="1"/>
          <p:nvPr/>
        </p:nvSpPr>
        <p:spPr>
          <a:xfrm>
            <a:off x="6976427" y="4379537"/>
            <a:ext cx="47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Boy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6850926" y="5186451"/>
            <a:ext cx="7072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waving</a:t>
            </a:r>
          </a:p>
        </p:txBody>
      </p:sp>
      <p:cxnSp>
        <p:nvCxnSpPr>
          <p:cNvPr id="362" name="Straight Arrow Connector 361"/>
          <p:cNvCxnSpPr>
            <a:stCxn id="345" idx="7"/>
          </p:cNvCxnSpPr>
          <p:nvPr/>
        </p:nvCxnSpPr>
        <p:spPr>
          <a:xfrm flipV="1">
            <a:off x="8239899" y="3991046"/>
            <a:ext cx="1587278" cy="10068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3" name="Oval 362"/>
          <p:cNvSpPr/>
          <p:nvPr/>
        </p:nvSpPr>
        <p:spPr>
          <a:xfrm>
            <a:off x="9825211" y="4590743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4" name="Rectangle 363"/>
          <p:cNvSpPr/>
          <p:nvPr/>
        </p:nvSpPr>
        <p:spPr>
          <a:xfrm>
            <a:off x="9854582" y="4576313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5" name="Oval 364"/>
          <p:cNvSpPr/>
          <p:nvPr/>
        </p:nvSpPr>
        <p:spPr>
          <a:xfrm>
            <a:off x="7963820" y="4431689"/>
            <a:ext cx="332999" cy="314825"/>
          </a:xfrm>
          <a:prstGeom prst="ellipse">
            <a:avLst/>
          </a:prstGeom>
          <a:solidFill>
            <a:srgbClr val="9F2160">
              <a:alpha val="43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6" name="Rectangle 365"/>
          <p:cNvSpPr/>
          <p:nvPr/>
        </p:nvSpPr>
        <p:spPr>
          <a:xfrm>
            <a:off x="7977463" y="4413611"/>
            <a:ext cx="322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7" name="Oval 366"/>
          <p:cNvSpPr/>
          <p:nvPr/>
        </p:nvSpPr>
        <p:spPr>
          <a:xfrm>
            <a:off x="7967399" y="4775463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8" name="Rectangle 367"/>
          <p:cNvSpPr/>
          <p:nvPr/>
        </p:nvSpPr>
        <p:spPr>
          <a:xfrm>
            <a:off x="7963259" y="4767035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9" name="Oval 368"/>
          <p:cNvSpPr/>
          <p:nvPr/>
        </p:nvSpPr>
        <p:spPr>
          <a:xfrm>
            <a:off x="10541377" y="4587529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0" name="Rectangle 369"/>
          <p:cNvSpPr/>
          <p:nvPr/>
        </p:nvSpPr>
        <p:spPr>
          <a:xfrm>
            <a:off x="10562218" y="4580604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71" name="Straight Arrow Connector 370"/>
          <p:cNvCxnSpPr>
            <a:stCxn id="363" idx="6"/>
            <a:endCxn id="369" idx="2"/>
          </p:cNvCxnSpPr>
          <p:nvPr/>
        </p:nvCxnSpPr>
        <p:spPr>
          <a:xfrm flipV="1">
            <a:off x="10158210" y="4744942"/>
            <a:ext cx="383167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Arrow Connector 371"/>
          <p:cNvCxnSpPr>
            <a:stCxn id="367" idx="7"/>
          </p:cNvCxnSpPr>
          <p:nvPr/>
        </p:nvCxnSpPr>
        <p:spPr>
          <a:xfrm flipV="1">
            <a:off x="8251631" y="4819589"/>
            <a:ext cx="1570785" cy="1979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3" name="Oval 372"/>
          <p:cNvSpPr/>
          <p:nvPr/>
        </p:nvSpPr>
        <p:spPr>
          <a:xfrm>
            <a:off x="9829030" y="5428753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4" name="Rectangle 373"/>
          <p:cNvSpPr/>
          <p:nvPr/>
        </p:nvSpPr>
        <p:spPr>
          <a:xfrm>
            <a:off x="9858401" y="5414323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3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5" name="Oval 374"/>
          <p:cNvSpPr/>
          <p:nvPr/>
        </p:nvSpPr>
        <p:spPr>
          <a:xfrm>
            <a:off x="7962872" y="5269699"/>
            <a:ext cx="332999" cy="314825"/>
          </a:xfrm>
          <a:prstGeom prst="ellipse">
            <a:avLst/>
          </a:prstGeom>
          <a:solidFill>
            <a:srgbClr val="9F2160">
              <a:alpha val="43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6" name="Rectangle 375"/>
          <p:cNvSpPr/>
          <p:nvPr/>
        </p:nvSpPr>
        <p:spPr>
          <a:xfrm>
            <a:off x="7976515" y="5251621"/>
            <a:ext cx="322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3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7" name="Oval 376"/>
          <p:cNvSpPr/>
          <p:nvPr/>
        </p:nvSpPr>
        <p:spPr>
          <a:xfrm>
            <a:off x="7966451" y="5613473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8" name="Rectangle 377"/>
          <p:cNvSpPr/>
          <p:nvPr/>
        </p:nvSpPr>
        <p:spPr>
          <a:xfrm>
            <a:off x="7962311" y="5605045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9" name="Oval 378"/>
          <p:cNvSpPr/>
          <p:nvPr/>
        </p:nvSpPr>
        <p:spPr>
          <a:xfrm>
            <a:off x="10564244" y="5425539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0" name="Rectangle 379"/>
          <p:cNvSpPr/>
          <p:nvPr/>
        </p:nvSpPr>
        <p:spPr>
          <a:xfrm>
            <a:off x="10585085" y="5418614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3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81" name="Straight Arrow Connector 380"/>
          <p:cNvCxnSpPr>
            <a:stCxn id="373" idx="6"/>
            <a:endCxn id="379" idx="2"/>
          </p:cNvCxnSpPr>
          <p:nvPr/>
        </p:nvCxnSpPr>
        <p:spPr>
          <a:xfrm flipV="1">
            <a:off x="10162029" y="5582952"/>
            <a:ext cx="402215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TextBox 381"/>
          <p:cNvSpPr txBox="1"/>
          <p:nvPr/>
        </p:nvSpPr>
        <p:spPr>
          <a:xfrm>
            <a:off x="10960380" y="5382240"/>
            <a:ext cx="453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flag</a:t>
            </a:r>
          </a:p>
        </p:txBody>
      </p:sp>
      <p:cxnSp>
        <p:nvCxnSpPr>
          <p:cNvPr id="383" name="Straight Arrow Connector 382"/>
          <p:cNvCxnSpPr>
            <a:stCxn id="375" idx="5"/>
          </p:cNvCxnSpPr>
          <p:nvPr/>
        </p:nvCxnSpPr>
        <p:spPr>
          <a:xfrm flipV="1">
            <a:off x="8247104" y="5529184"/>
            <a:ext cx="1582304" cy="9235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Arrow Connector 383"/>
          <p:cNvCxnSpPr>
            <a:stCxn id="377" idx="7"/>
          </p:cNvCxnSpPr>
          <p:nvPr/>
        </p:nvCxnSpPr>
        <p:spPr>
          <a:xfrm flipV="1">
            <a:off x="8250683" y="5657599"/>
            <a:ext cx="1585075" cy="1979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5" name="Oval 384"/>
          <p:cNvSpPr/>
          <p:nvPr/>
        </p:nvSpPr>
        <p:spPr>
          <a:xfrm>
            <a:off x="9833726" y="6260136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6" name="Rectangle 385"/>
          <p:cNvSpPr/>
          <p:nvPr/>
        </p:nvSpPr>
        <p:spPr>
          <a:xfrm>
            <a:off x="9863097" y="6245706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4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7" name="Oval 386"/>
          <p:cNvSpPr/>
          <p:nvPr/>
        </p:nvSpPr>
        <p:spPr>
          <a:xfrm>
            <a:off x="7953281" y="6101082"/>
            <a:ext cx="332999" cy="314825"/>
          </a:xfrm>
          <a:prstGeom prst="ellipse">
            <a:avLst/>
          </a:prstGeom>
          <a:solidFill>
            <a:srgbClr val="9F2160">
              <a:alpha val="43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8" name="Rectangle 387"/>
          <p:cNvSpPr/>
          <p:nvPr/>
        </p:nvSpPr>
        <p:spPr>
          <a:xfrm>
            <a:off x="7966924" y="6083004"/>
            <a:ext cx="322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4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9" name="Oval 388"/>
          <p:cNvSpPr/>
          <p:nvPr/>
        </p:nvSpPr>
        <p:spPr>
          <a:xfrm>
            <a:off x="7956860" y="6444856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0" name="Rectangle 389"/>
          <p:cNvSpPr/>
          <p:nvPr/>
        </p:nvSpPr>
        <p:spPr>
          <a:xfrm>
            <a:off x="7952720" y="6436428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3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1" name="Oval 390"/>
          <p:cNvSpPr/>
          <p:nvPr/>
        </p:nvSpPr>
        <p:spPr>
          <a:xfrm>
            <a:off x="10554653" y="6256922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2" name="Rectangle 391"/>
          <p:cNvSpPr/>
          <p:nvPr/>
        </p:nvSpPr>
        <p:spPr>
          <a:xfrm>
            <a:off x="10575494" y="6249997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4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93" name="Straight Arrow Connector 392"/>
          <p:cNvCxnSpPr>
            <a:stCxn id="385" idx="6"/>
            <a:endCxn id="391" idx="2"/>
          </p:cNvCxnSpPr>
          <p:nvPr/>
        </p:nvCxnSpPr>
        <p:spPr>
          <a:xfrm flipV="1">
            <a:off x="10166725" y="6414335"/>
            <a:ext cx="387928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TextBox 393"/>
          <p:cNvSpPr txBox="1"/>
          <p:nvPr/>
        </p:nvSpPr>
        <p:spPr>
          <a:xfrm>
            <a:off x="10930081" y="6233193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[END]</a:t>
            </a:r>
          </a:p>
        </p:txBody>
      </p:sp>
      <p:cxnSp>
        <p:nvCxnSpPr>
          <p:cNvPr id="395" name="Straight Arrow Connector 394"/>
          <p:cNvCxnSpPr>
            <a:stCxn id="387" idx="5"/>
          </p:cNvCxnSpPr>
          <p:nvPr/>
        </p:nvCxnSpPr>
        <p:spPr>
          <a:xfrm flipV="1">
            <a:off x="8237513" y="6364307"/>
            <a:ext cx="1587313" cy="5495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Straight Arrow Connector 395"/>
          <p:cNvCxnSpPr>
            <a:stCxn id="389" idx="7"/>
          </p:cNvCxnSpPr>
          <p:nvPr/>
        </p:nvCxnSpPr>
        <p:spPr>
          <a:xfrm flipV="1">
            <a:off x="8241092" y="6486601"/>
            <a:ext cx="1594600" cy="4360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Elbow Connector 396"/>
          <p:cNvCxnSpPr>
            <a:stCxn id="440" idx="1"/>
            <a:endCxn id="375" idx="2"/>
          </p:cNvCxnSpPr>
          <p:nvPr/>
        </p:nvCxnSpPr>
        <p:spPr>
          <a:xfrm rot="10800000" flipV="1">
            <a:off x="7962872" y="2365032"/>
            <a:ext cx="1099748" cy="3062079"/>
          </a:xfrm>
          <a:prstGeom prst="bentConnector3">
            <a:avLst>
              <a:gd name="adj1" fmla="val 121436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8" name="TextBox 397"/>
          <p:cNvSpPr txBox="1"/>
          <p:nvPr/>
        </p:nvSpPr>
        <p:spPr>
          <a:xfrm>
            <a:off x="10828934" y="4547619"/>
            <a:ext cx="7072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waving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7202488" y="6015662"/>
            <a:ext cx="453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flag</a:t>
            </a:r>
          </a:p>
        </p:txBody>
      </p:sp>
      <p:cxnSp>
        <p:nvCxnSpPr>
          <p:cNvPr id="407" name="Elbow Connector 406"/>
          <p:cNvCxnSpPr>
            <a:stCxn id="338" idx="3"/>
            <a:endCxn id="365" idx="7"/>
          </p:cNvCxnSpPr>
          <p:nvPr/>
        </p:nvCxnSpPr>
        <p:spPr>
          <a:xfrm rot="5400000">
            <a:off x="8842900" y="3444161"/>
            <a:ext cx="438785" cy="1628480"/>
          </a:xfrm>
          <a:prstGeom prst="bentConnector3">
            <a:avLst>
              <a:gd name="adj1" fmla="val 99928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Elbow Connector 407"/>
          <p:cNvCxnSpPr>
            <a:stCxn id="363" idx="3"/>
            <a:endCxn id="375" idx="7"/>
          </p:cNvCxnSpPr>
          <p:nvPr/>
        </p:nvCxnSpPr>
        <p:spPr>
          <a:xfrm rot="5400000">
            <a:off x="8832371" y="4274196"/>
            <a:ext cx="456341" cy="1626874"/>
          </a:xfrm>
          <a:prstGeom prst="bentConnector3">
            <a:avLst>
              <a:gd name="adj1" fmla="val 99572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Elbow Connector 408"/>
          <p:cNvCxnSpPr>
            <a:stCxn id="373" idx="3"/>
            <a:endCxn id="387" idx="7"/>
          </p:cNvCxnSpPr>
          <p:nvPr/>
        </p:nvCxnSpPr>
        <p:spPr>
          <a:xfrm rot="5400000">
            <a:off x="8832798" y="5102188"/>
            <a:ext cx="449714" cy="1640284"/>
          </a:xfrm>
          <a:prstGeom prst="bentConnector3">
            <a:avLst>
              <a:gd name="adj1" fmla="val 99773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Straight Arrow Connector 409"/>
          <p:cNvCxnSpPr>
            <a:stCxn id="338" idx="4"/>
            <a:endCxn id="363" idx="0"/>
          </p:cNvCxnSpPr>
          <p:nvPr/>
        </p:nvCxnSpPr>
        <p:spPr>
          <a:xfrm flipH="1">
            <a:off x="9991711" y="4085114"/>
            <a:ext cx="2554" cy="505629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Arrow Connector 410"/>
          <p:cNvCxnSpPr>
            <a:stCxn id="363" idx="4"/>
            <a:endCxn id="373" idx="0"/>
          </p:cNvCxnSpPr>
          <p:nvPr/>
        </p:nvCxnSpPr>
        <p:spPr>
          <a:xfrm>
            <a:off x="9991711" y="4905568"/>
            <a:ext cx="3819" cy="523185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/>
          <p:cNvCxnSpPr>
            <a:stCxn id="373" idx="4"/>
            <a:endCxn id="385" idx="0"/>
          </p:cNvCxnSpPr>
          <p:nvPr/>
        </p:nvCxnSpPr>
        <p:spPr>
          <a:xfrm>
            <a:off x="9995530" y="5743578"/>
            <a:ext cx="4696" cy="516558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Arrow Connector 412"/>
          <p:cNvCxnSpPr>
            <a:stCxn id="343" idx="5"/>
          </p:cNvCxnSpPr>
          <p:nvPr/>
        </p:nvCxnSpPr>
        <p:spPr>
          <a:xfrm flipV="1">
            <a:off x="8241083" y="3869492"/>
            <a:ext cx="1591938" cy="10463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Arrow Connector 413"/>
          <p:cNvCxnSpPr>
            <a:stCxn id="365" idx="5"/>
          </p:cNvCxnSpPr>
          <p:nvPr/>
        </p:nvCxnSpPr>
        <p:spPr>
          <a:xfrm flipV="1">
            <a:off x="8248052" y="4698922"/>
            <a:ext cx="1572138" cy="1487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rapezoid 88">
            <a:extLst>
              <a:ext uri="{FF2B5EF4-FFF2-40B4-BE49-F238E27FC236}">
                <a16:creationId xmlns:a16="http://schemas.microsoft.com/office/drawing/2014/main" id="{DDE594F1-70CA-44FF-8906-F7F7971989A4}"/>
              </a:ext>
            </a:extLst>
          </p:cNvPr>
          <p:cNvSpPr/>
          <p:nvPr/>
        </p:nvSpPr>
        <p:spPr>
          <a:xfrm rot="10800000">
            <a:off x="9202749" y="968669"/>
            <a:ext cx="909750" cy="601216"/>
          </a:xfrm>
          <a:prstGeom prst="trapezoid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8602CBC-BD39-466E-AEDF-66B4B15D6C1B}"/>
              </a:ext>
            </a:extLst>
          </p:cNvPr>
          <p:cNvSpPr txBox="1"/>
          <p:nvPr/>
        </p:nvSpPr>
        <p:spPr>
          <a:xfrm>
            <a:off x="9324552" y="1105843"/>
            <a:ext cx="6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CNN</a:t>
            </a: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267C7C98-9DF6-4FFB-AE6C-8960B042C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6595" y="46331"/>
            <a:ext cx="836736" cy="890248"/>
          </a:xfrm>
          <a:prstGeom prst="rect">
            <a:avLst/>
          </a:prstGeom>
        </p:spPr>
      </p:pic>
      <p:sp>
        <p:nvSpPr>
          <p:cNvPr id="93" name="Title 3">
            <a:extLst>
              <a:ext uri="{FF2B5EF4-FFF2-40B4-BE49-F238E27FC236}">
                <a16:creationId xmlns:a16="http://schemas.microsoft.com/office/drawing/2014/main" id="{C50351D7-92DA-4E2B-89BE-8C7060ED4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454"/>
            <a:ext cx="10515600" cy="85991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Image Captioning with RNNs and Attention</a:t>
            </a:r>
            <a:br>
              <a:rPr lang="en-IN" sz="3200" dirty="0">
                <a:latin typeface="Century" panose="02040604050505020304" pitchFamily="18" charset="0"/>
              </a:rPr>
            </a:br>
            <a:r>
              <a:rPr lang="en-IN" sz="2400" dirty="0">
                <a:latin typeface="Century" panose="02040604050505020304" pitchFamily="18" charset="0"/>
              </a:rPr>
              <a:t>Computing Output at final time-step</a:t>
            </a:r>
            <a:endParaRPr lang="en-IN" sz="3200" dirty="0"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95F8A3B5-EB5D-45E3-B3B9-FF7EC29764C1}"/>
                  </a:ext>
                </a:extLst>
              </p:cNvPr>
              <p:cNvSpPr/>
              <p:nvPr/>
            </p:nvSpPr>
            <p:spPr>
              <a:xfrm>
                <a:off x="951254" y="1382874"/>
                <a:ext cx="4111482" cy="10403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Arial Narrow" panose="020B0606020202030204" pitchFamily="34" charset="0"/>
                  </a:rPr>
                  <a:t>Compute Alignment Score: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𝑎𝑙𝑙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>
                  <a:solidFill>
                    <a:srgbClr val="00B0F0"/>
                  </a:solidFill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               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𝑎𝑙𝑙</m:t>
                        </m:r>
                      </m:sub>
                    </m:sSub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()= a MLP</a:t>
                </a:r>
              </a:p>
            </p:txBody>
          </p:sp>
        </mc:Choice>
        <mc:Fallback xmlns=""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95F8A3B5-EB5D-45E3-B3B9-FF7EC2976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54" y="1382874"/>
                <a:ext cx="4111482" cy="1040349"/>
              </a:xfrm>
              <a:prstGeom prst="rect">
                <a:avLst/>
              </a:prstGeom>
              <a:blipFill>
                <a:blip r:embed="rId3"/>
                <a:stretch>
                  <a:fillRect l="-1333" t="-3509" b="-93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11FE3E73-861C-4C13-820F-2EAD40897620}"/>
                  </a:ext>
                </a:extLst>
              </p:cNvPr>
              <p:cNvSpPr/>
              <p:nvPr/>
            </p:nvSpPr>
            <p:spPr>
              <a:xfrm>
                <a:off x="951254" y="2552107"/>
                <a:ext cx="4020737" cy="7428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00B0F0"/>
                  </a:solidFill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solidFill>
                      <a:srgbClr val="0D0D0D"/>
                    </a:solidFill>
                    <a:latin typeface="Arial Narrow" panose="020B0606020202030204" pitchFamily="34" charset="0"/>
                  </a:rPr>
                  <a:t>     where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IN" sz="2000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r>
                  <a:rPr lang="en-US" sz="2000" dirty="0">
                    <a:solidFill>
                      <a:srgbClr val="0D0D0D"/>
                    </a:solidFill>
                    <a:latin typeface="Arial Narrow" panose="020B0606020202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IN" sz="2000" dirty="0">
                        <a:solidFill>
                          <a:srgbClr val="0D0D0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sz="2000" i="1" dirty="0">
                        <a:solidFill>
                          <a:srgbClr val="0D0D0D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11FE3E73-861C-4C13-820F-2EAD408976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54" y="2552107"/>
                <a:ext cx="4020737" cy="742896"/>
              </a:xfrm>
              <a:prstGeom prst="rect">
                <a:avLst/>
              </a:prstGeom>
              <a:blipFill>
                <a:blip r:embed="rId4"/>
                <a:stretch>
                  <a:fillRect l="-1364" t="-24590" b="-942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613C012D-9DA9-40F7-8888-ABB11A85D950}"/>
                  </a:ext>
                </a:extLst>
              </p:cNvPr>
              <p:cNvSpPr/>
              <p:nvPr/>
            </p:nvSpPr>
            <p:spPr>
              <a:xfrm>
                <a:off x="917759" y="3540977"/>
                <a:ext cx="4020737" cy="10506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IN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sz="20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0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</m:oMath>
                </a14:m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solidFill>
                      <a:srgbClr val="0D0D0D"/>
                    </a:solidFill>
                  </a:rPr>
                  <a:t>           </a:t>
                </a:r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613C012D-9DA9-40F7-8888-ABB11A85D9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759" y="3540977"/>
                <a:ext cx="4020737" cy="1050672"/>
              </a:xfrm>
              <a:prstGeom prst="rect">
                <a:avLst/>
              </a:prstGeom>
              <a:blipFill>
                <a:blip r:embed="rId5"/>
                <a:stretch>
                  <a:fillRect l="-1366" t="-46512" b="-87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A57C7890-3EFC-457B-9955-11CBC84A6888}"/>
                  </a:ext>
                </a:extLst>
              </p:cNvPr>
              <p:cNvSpPr/>
              <p:nvPr/>
            </p:nvSpPr>
            <p:spPr>
              <a:xfrm>
                <a:off x="928179" y="4332938"/>
                <a:ext cx="4020737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solidFill>
                      <a:srgbClr val="0D0D0D"/>
                    </a:solidFill>
                  </a:rPr>
                  <a:t>           </a:t>
                </a:r>
                <a:r>
                  <a:rPr lang="en-US" sz="2000" dirty="0">
                    <a:solidFill>
                      <a:srgbClr val="0D0D0D"/>
                    </a:solidFill>
                    <a:latin typeface="Arial Narrow" panose="020B0606020202030204" pitchFamily="34" charset="0"/>
                  </a:rPr>
                  <a:t>e.g.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  <a:p>
                <a:pPr algn="just"/>
                <a:endParaRPr lang="en-US" sz="2000" dirty="0">
                  <a:solidFill>
                    <a:srgbClr val="0D0D0D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A57C7890-3EFC-457B-9955-11CBC84A68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179" y="4332938"/>
                <a:ext cx="4020737" cy="1323439"/>
              </a:xfrm>
              <a:prstGeom prst="rect">
                <a:avLst/>
              </a:prstGeom>
              <a:blipFill>
                <a:blip r:embed="rId6"/>
                <a:stretch>
                  <a:fillRect l="-1364" t="-9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0F6CE692-3995-41E0-B225-75AD76AA0C82}"/>
              </a:ext>
            </a:extLst>
          </p:cNvPr>
          <p:cNvSpPr txBox="1"/>
          <p:nvPr/>
        </p:nvSpPr>
        <p:spPr>
          <a:xfrm>
            <a:off x="43074" y="6301729"/>
            <a:ext cx="561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Fei-Fei Li Attention and Transformers CS231n Stanford Lecture</a:t>
            </a:r>
          </a:p>
        </p:txBody>
      </p:sp>
    </p:spTree>
    <p:extLst>
      <p:ext uri="{BB962C8B-B14F-4D97-AF65-F5344CB8AC3E}">
        <p14:creationId xmlns:p14="http://schemas.microsoft.com/office/powerpoint/2010/main" val="7284092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Box 209"/>
          <p:cNvSpPr txBox="1"/>
          <p:nvPr/>
        </p:nvSpPr>
        <p:spPr>
          <a:xfrm>
            <a:off x="60395" y="6567780"/>
            <a:ext cx="6072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 et al, “Show, Attend and Tell: Neural Image Captain Generation with Visual Attention”, ICML 2015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7403503" y="1615800"/>
            <a:ext cx="1123173" cy="894783"/>
            <a:chOff x="3907525" y="3282431"/>
            <a:chExt cx="1399431" cy="991913"/>
          </a:xfrm>
          <a:solidFill>
            <a:srgbClr val="FFC000">
              <a:alpha val="36000"/>
            </a:srgbClr>
          </a:solidFill>
        </p:grpSpPr>
        <p:sp>
          <p:nvSpPr>
            <p:cNvPr id="61" name="Rectangle 60"/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0,1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0,2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2,0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2,1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>
              <a:normAutofit lnSpcReduction="10000"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Z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2,2</a:t>
              </a:r>
            </a:p>
          </p:txBody>
        </p:sp>
      </p:grpSp>
      <p:sp>
        <p:nvSpPr>
          <p:cNvPr id="22" name="Oval 21"/>
          <p:cNvSpPr/>
          <p:nvPr/>
        </p:nvSpPr>
        <p:spPr>
          <a:xfrm>
            <a:off x="8168648" y="3770289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198019" y="3755859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8165078" y="3145132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8194856" y="3134938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6297734" y="3611235"/>
            <a:ext cx="332999" cy="314825"/>
          </a:xfrm>
          <a:prstGeom prst="ellipse">
            <a:avLst/>
          </a:prstGeom>
          <a:solidFill>
            <a:srgbClr val="9F2160">
              <a:alpha val="43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6311377" y="3593157"/>
            <a:ext cx="322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6296550" y="3955009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6292410" y="3946581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0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8870528" y="3767075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8891369" y="3760150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5" name="Elbow Connector 34"/>
          <p:cNvCxnSpPr>
            <a:stCxn id="70" idx="1"/>
            <a:endCxn id="120" idx="2"/>
          </p:cNvCxnSpPr>
          <p:nvPr/>
        </p:nvCxnSpPr>
        <p:spPr>
          <a:xfrm rot="10800000" flipV="1">
            <a:off x="6304703" y="2365032"/>
            <a:ext cx="1098800" cy="2224069"/>
          </a:xfrm>
          <a:prstGeom prst="bentConnector3">
            <a:avLst>
              <a:gd name="adj1" fmla="val 121238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72" idx="2"/>
            <a:endCxn id="107" idx="0"/>
          </p:cNvCxnSpPr>
          <p:nvPr/>
        </p:nvCxnSpPr>
        <p:spPr>
          <a:xfrm flipH="1">
            <a:off x="8331578" y="2510582"/>
            <a:ext cx="7775" cy="634550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107" idx="4"/>
            <a:endCxn id="112" idx="7"/>
          </p:cNvCxnSpPr>
          <p:nvPr/>
        </p:nvCxnSpPr>
        <p:spPr>
          <a:xfrm rot="5400000">
            <a:off x="7358081" y="2683842"/>
            <a:ext cx="197383" cy="1749612"/>
          </a:xfrm>
          <a:prstGeom prst="bentConnector3">
            <a:avLst>
              <a:gd name="adj1" fmla="val 99463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>
            <a:stCxn id="22" idx="6"/>
            <a:endCxn id="116" idx="2"/>
          </p:cNvCxnSpPr>
          <p:nvPr/>
        </p:nvCxnSpPr>
        <p:spPr>
          <a:xfrm flipV="1">
            <a:off x="8501647" y="3924488"/>
            <a:ext cx="368881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TextBox 201"/>
          <p:cNvSpPr txBox="1"/>
          <p:nvPr/>
        </p:nvSpPr>
        <p:spPr>
          <a:xfrm>
            <a:off x="9169817" y="3737342"/>
            <a:ext cx="47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Boy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319460" y="1709704"/>
            <a:ext cx="942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Features: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 x D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672154" y="380390"/>
            <a:ext cx="2175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Extract spatial features from a pretrained CNN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5111300" y="3586582"/>
            <a:ext cx="8138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[START]</a:t>
            </a:r>
          </a:p>
        </p:txBody>
      </p:sp>
      <p:cxnSp>
        <p:nvCxnSpPr>
          <p:cNvPr id="87" name="Elbow Connector 86"/>
          <p:cNvCxnSpPr>
            <a:stCxn id="70" idx="1"/>
            <a:endCxn id="112" idx="2"/>
          </p:cNvCxnSpPr>
          <p:nvPr/>
        </p:nvCxnSpPr>
        <p:spPr>
          <a:xfrm rot="10800000" flipV="1">
            <a:off x="6297735" y="2365032"/>
            <a:ext cx="1105769" cy="1403615"/>
          </a:xfrm>
          <a:prstGeom prst="bentConnector3">
            <a:avLst>
              <a:gd name="adj1" fmla="val 120673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78"/>
          <p:cNvCxnSpPr>
            <a:stCxn id="70" idx="1"/>
            <a:endCxn id="164" idx="2"/>
          </p:cNvCxnSpPr>
          <p:nvPr/>
        </p:nvCxnSpPr>
        <p:spPr>
          <a:xfrm rot="10800000" flipV="1">
            <a:off x="6294165" y="2365033"/>
            <a:ext cx="1109339" cy="3893462"/>
          </a:xfrm>
          <a:prstGeom prst="bentConnector3">
            <a:avLst>
              <a:gd name="adj1" fmla="val 120607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5317310" y="4379537"/>
            <a:ext cx="47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Boy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91809" y="5186451"/>
            <a:ext cx="7072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waving</a:t>
            </a:r>
          </a:p>
        </p:txBody>
      </p:sp>
      <p:cxnSp>
        <p:nvCxnSpPr>
          <p:cNvPr id="99" name="Straight Arrow Connector 98"/>
          <p:cNvCxnSpPr>
            <a:stCxn id="114" idx="7"/>
          </p:cNvCxnSpPr>
          <p:nvPr/>
        </p:nvCxnSpPr>
        <p:spPr>
          <a:xfrm flipV="1">
            <a:off x="6580782" y="3991046"/>
            <a:ext cx="1587278" cy="10068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8166094" y="4590743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8195465" y="4576313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6304703" y="4431689"/>
            <a:ext cx="332999" cy="314825"/>
          </a:xfrm>
          <a:prstGeom prst="ellipse">
            <a:avLst/>
          </a:prstGeom>
          <a:solidFill>
            <a:srgbClr val="9F2160">
              <a:alpha val="43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6318346" y="4413611"/>
            <a:ext cx="322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6308282" y="4775463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6304142" y="4767035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8882260" y="4587529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8903101" y="4580604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27" name="Straight Arrow Connector 126"/>
          <p:cNvCxnSpPr>
            <a:stCxn id="109" idx="6"/>
            <a:endCxn id="124" idx="2"/>
          </p:cNvCxnSpPr>
          <p:nvPr/>
        </p:nvCxnSpPr>
        <p:spPr>
          <a:xfrm flipV="1">
            <a:off x="8499093" y="4744942"/>
            <a:ext cx="383167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>
            <a:stCxn id="122" idx="7"/>
          </p:cNvCxnSpPr>
          <p:nvPr/>
        </p:nvCxnSpPr>
        <p:spPr>
          <a:xfrm flipV="1">
            <a:off x="6592514" y="4819589"/>
            <a:ext cx="1570785" cy="1979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8169913" y="5428753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8199284" y="5414323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3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6303755" y="5269699"/>
            <a:ext cx="332999" cy="314825"/>
          </a:xfrm>
          <a:prstGeom prst="ellipse">
            <a:avLst/>
          </a:prstGeom>
          <a:solidFill>
            <a:srgbClr val="9F2160">
              <a:alpha val="43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6317398" y="5251621"/>
            <a:ext cx="322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3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6" name="Oval 135"/>
          <p:cNvSpPr/>
          <p:nvPr/>
        </p:nvSpPr>
        <p:spPr>
          <a:xfrm>
            <a:off x="6307334" y="5613473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6303194" y="5605045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2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8905127" y="5425539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8925968" y="5418614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3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41" name="Straight Arrow Connector 140"/>
          <p:cNvCxnSpPr>
            <a:stCxn id="132" idx="6"/>
            <a:endCxn id="138" idx="2"/>
          </p:cNvCxnSpPr>
          <p:nvPr/>
        </p:nvCxnSpPr>
        <p:spPr>
          <a:xfrm flipV="1">
            <a:off x="8502912" y="5582952"/>
            <a:ext cx="402215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9301263" y="5382240"/>
            <a:ext cx="453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flag</a:t>
            </a:r>
          </a:p>
        </p:txBody>
      </p:sp>
      <p:cxnSp>
        <p:nvCxnSpPr>
          <p:cNvPr id="145" name="Straight Arrow Connector 144"/>
          <p:cNvCxnSpPr>
            <a:stCxn id="134" idx="5"/>
          </p:cNvCxnSpPr>
          <p:nvPr/>
        </p:nvCxnSpPr>
        <p:spPr>
          <a:xfrm flipV="1">
            <a:off x="6587987" y="5529184"/>
            <a:ext cx="1582304" cy="9235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>
            <a:stCxn id="136" idx="7"/>
          </p:cNvCxnSpPr>
          <p:nvPr/>
        </p:nvCxnSpPr>
        <p:spPr>
          <a:xfrm flipV="1">
            <a:off x="6591566" y="5657599"/>
            <a:ext cx="1585075" cy="1979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Oval 161"/>
          <p:cNvSpPr/>
          <p:nvPr/>
        </p:nvSpPr>
        <p:spPr>
          <a:xfrm>
            <a:off x="8174609" y="6260136"/>
            <a:ext cx="332999" cy="3148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8203980" y="6245706"/>
            <a:ext cx="320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h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4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4" name="Oval 163"/>
          <p:cNvSpPr/>
          <p:nvPr/>
        </p:nvSpPr>
        <p:spPr>
          <a:xfrm>
            <a:off x="6294164" y="6101082"/>
            <a:ext cx="332999" cy="314825"/>
          </a:xfrm>
          <a:prstGeom prst="ellipse">
            <a:avLst/>
          </a:prstGeom>
          <a:solidFill>
            <a:srgbClr val="9F2160">
              <a:alpha val="43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5" name="Rectangle 164"/>
          <p:cNvSpPr/>
          <p:nvPr/>
        </p:nvSpPr>
        <p:spPr>
          <a:xfrm>
            <a:off x="6307807" y="6083004"/>
            <a:ext cx="322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4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6" name="Oval 165"/>
          <p:cNvSpPr/>
          <p:nvPr/>
        </p:nvSpPr>
        <p:spPr>
          <a:xfrm>
            <a:off x="6297743" y="6444856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6293603" y="6436428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3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8" name="Oval 167"/>
          <p:cNvSpPr/>
          <p:nvPr/>
        </p:nvSpPr>
        <p:spPr>
          <a:xfrm>
            <a:off x="8895536" y="6256922"/>
            <a:ext cx="332999" cy="314825"/>
          </a:xfrm>
          <a:prstGeom prst="ellipse">
            <a:avLst/>
          </a:prstGeom>
          <a:solidFill>
            <a:srgbClr val="6B94A9">
              <a:alpha val="76000"/>
            </a:srgbClr>
          </a:solidFill>
          <a:ln w="22225">
            <a:solidFill>
              <a:srgbClr val="FFFF00">
                <a:alpha val="5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8916377" y="6249997"/>
            <a:ext cx="312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y</a:t>
            </a:r>
            <a:r>
              <a:rPr lang="en-IN" sz="1400" baseline="-25000" dirty="0">
                <a:latin typeface="Arial Narrow" panose="020B0606020202030204" pitchFamily="34" charset="0"/>
                <a:cs typeface="Times New Roman" panose="02020603050405020304" pitchFamily="18" charset="0"/>
              </a:rPr>
              <a:t>4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71" name="Straight Arrow Connector 170"/>
          <p:cNvCxnSpPr>
            <a:stCxn id="162" idx="6"/>
            <a:endCxn id="168" idx="2"/>
          </p:cNvCxnSpPr>
          <p:nvPr/>
        </p:nvCxnSpPr>
        <p:spPr>
          <a:xfrm flipV="1">
            <a:off x="8507608" y="6414335"/>
            <a:ext cx="387928" cy="3214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9270964" y="6233193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[END]</a:t>
            </a:r>
          </a:p>
        </p:txBody>
      </p:sp>
      <p:cxnSp>
        <p:nvCxnSpPr>
          <p:cNvPr id="174" name="Straight Arrow Connector 173"/>
          <p:cNvCxnSpPr>
            <a:stCxn id="164" idx="5"/>
          </p:cNvCxnSpPr>
          <p:nvPr/>
        </p:nvCxnSpPr>
        <p:spPr>
          <a:xfrm flipV="1">
            <a:off x="6578396" y="6364307"/>
            <a:ext cx="1587313" cy="5495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/>
          <p:cNvCxnSpPr>
            <a:stCxn id="166" idx="7"/>
          </p:cNvCxnSpPr>
          <p:nvPr/>
        </p:nvCxnSpPr>
        <p:spPr>
          <a:xfrm flipV="1">
            <a:off x="6581975" y="6486601"/>
            <a:ext cx="1594600" cy="4360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Elbow Connector 175"/>
          <p:cNvCxnSpPr>
            <a:stCxn id="70" idx="1"/>
            <a:endCxn id="134" idx="2"/>
          </p:cNvCxnSpPr>
          <p:nvPr/>
        </p:nvCxnSpPr>
        <p:spPr>
          <a:xfrm rot="10800000" flipV="1">
            <a:off x="6303755" y="2365032"/>
            <a:ext cx="1099748" cy="3062079"/>
          </a:xfrm>
          <a:prstGeom prst="bentConnector3">
            <a:avLst>
              <a:gd name="adj1" fmla="val 121436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>
            <a:off x="9169817" y="4547619"/>
            <a:ext cx="7072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waving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543371" y="6015662"/>
            <a:ext cx="453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flag</a:t>
            </a:r>
          </a:p>
        </p:txBody>
      </p:sp>
      <p:grpSp>
        <p:nvGrpSpPr>
          <p:cNvPr id="86" name="Group 85"/>
          <p:cNvGrpSpPr/>
          <p:nvPr/>
        </p:nvGrpSpPr>
        <p:grpSpPr>
          <a:xfrm>
            <a:off x="9110004" y="1225873"/>
            <a:ext cx="1317972" cy="954453"/>
            <a:chOff x="3907525" y="3282431"/>
            <a:chExt cx="1399431" cy="991913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90" name="Rectangle 89"/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1,0,0</a:t>
              </a: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1,0,1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1,0,2</a:t>
              </a: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1,1,0</a:t>
              </a: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1,1,1</a:t>
              </a:r>
            </a:p>
          </p:txBody>
        </p:sp>
        <p:sp>
          <p:nvSpPr>
            <p:cNvPr id="95" name="Rectangle 94"/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1,1,2</a:t>
              </a: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1,2,0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1,2,1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e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1,2,2</a:t>
              </a: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9112228" y="2378969"/>
            <a:ext cx="1317973" cy="985881"/>
            <a:chOff x="3907525" y="3282431"/>
            <a:chExt cx="1399431" cy="991913"/>
          </a:xfrm>
          <a:solidFill>
            <a:schemeClr val="accent6">
              <a:lumMod val="75000"/>
              <a:alpha val="77000"/>
            </a:schemeClr>
          </a:solidFill>
        </p:grpSpPr>
        <p:sp>
          <p:nvSpPr>
            <p:cNvPr id="101" name="Rectangle 100"/>
            <p:cNvSpPr/>
            <p:nvPr/>
          </p:nvSpPr>
          <p:spPr>
            <a:xfrm>
              <a:off x="3907525" y="3282431"/>
              <a:ext cx="466794" cy="334605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1,0,0</a:t>
              </a: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4373368" y="3282433"/>
              <a:ext cx="466794" cy="334604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1,0,1</a:t>
              </a: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4840162" y="3282432"/>
              <a:ext cx="466794" cy="334604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1,0,2</a:t>
              </a: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3907526" y="3617038"/>
              <a:ext cx="466794" cy="334604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1,1,0</a:t>
              </a: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4373368" y="3617038"/>
              <a:ext cx="466794" cy="334604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1,1,1</a:t>
              </a: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4840162" y="3617037"/>
              <a:ext cx="466794" cy="334604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1,1,2</a:t>
              </a: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3907525" y="3951644"/>
              <a:ext cx="466794" cy="322700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1,2,0</a:t>
              </a: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4373367" y="3951644"/>
              <a:ext cx="466794" cy="322700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1,2,1</a:t>
              </a:r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4840161" y="3951643"/>
              <a:ext cx="466794" cy="322700"/>
            </a:xfrm>
            <a:prstGeom prst="rect">
              <a:avLst/>
            </a:prstGeom>
            <a:grpFill/>
            <a:ln w="19050">
              <a:solidFill>
                <a:schemeClr val="accent4">
                  <a:lumMod val="60000"/>
                  <a:lumOff val="40000"/>
                  <a:alpha val="60000"/>
                </a:schemeClr>
              </a:solidFill>
            </a:ln>
          </p:spPr>
          <p:txBody>
            <a:bodyPr wrap="none">
              <a:normAutofit/>
            </a:bodyPr>
            <a:lstStyle/>
            <a:p>
              <a:r>
                <a:rPr lang="en-IN" sz="14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a</a:t>
              </a:r>
              <a:r>
                <a:rPr lang="en-IN" sz="1400" baseline="-25000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1,2,2</a:t>
              </a:r>
            </a:p>
          </p:txBody>
        </p:sp>
      </p:grpSp>
      <p:cxnSp>
        <p:nvCxnSpPr>
          <p:cNvPr id="129" name="Straight Arrow Connector 128"/>
          <p:cNvCxnSpPr>
            <a:stCxn id="104" idx="1"/>
            <a:endCxn id="128" idx="6"/>
          </p:cNvCxnSpPr>
          <p:nvPr/>
        </p:nvCxnSpPr>
        <p:spPr>
          <a:xfrm flipH="1">
            <a:off x="6149732" y="2877826"/>
            <a:ext cx="2962497" cy="8359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stCxn id="97" idx="2"/>
            <a:endCxn id="102" idx="0"/>
          </p:cNvCxnSpPr>
          <p:nvPr/>
        </p:nvCxnSpPr>
        <p:spPr>
          <a:xfrm>
            <a:off x="9768542" y="2180326"/>
            <a:ext cx="2225" cy="198645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10534420" y="1567538"/>
            <a:ext cx="1592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Alignment Scores: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503379" y="2667997"/>
            <a:ext cx="9380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Attention: </a:t>
            </a:r>
          </a:p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H x W</a:t>
            </a:r>
          </a:p>
        </p:txBody>
      </p:sp>
      <p:cxnSp>
        <p:nvCxnSpPr>
          <p:cNvPr id="149" name="Straight Arrow Connector 148"/>
          <p:cNvCxnSpPr/>
          <p:nvPr/>
        </p:nvCxnSpPr>
        <p:spPr>
          <a:xfrm flipV="1">
            <a:off x="8543926" y="1958860"/>
            <a:ext cx="554174" cy="911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Elbow Connector 142"/>
          <p:cNvCxnSpPr>
            <a:stCxn id="22" idx="3"/>
            <a:endCxn id="120" idx="7"/>
          </p:cNvCxnSpPr>
          <p:nvPr/>
        </p:nvCxnSpPr>
        <p:spPr>
          <a:xfrm rot="5400000">
            <a:off x="7183783" y="3444161"/>
            <a:ext cx="438785" cy="1628480"/>
          </a:xfrm>
          <a:prstGeom prst="bentConnector3">
            <a:avLst>
              <a:gd name="adj1" fmla="val 99928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Elbow Connector 149"/>
          <p:cNvCxnSpPr>
            <a:stCxn id="109" idx="3"/>
            <a:endCxn id="134" idx="7"/>
          </p:cNvCxnSpPr>
          <p:nvPr/>
        </p:nvCxnSpPr>
        <p:spPr>
          <a:xfrm rot="5400000">
            <a:off x="7173254" y="4274196"/>
            <a:ext cx="456341" cy="1626874"/>
          </a:xfrm>
          <a:prstGeom prst="bentConnector3">
            <a:avLst>
              <a:gd name="adj1" fmla="val 99572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lbow Connector 150"/>
          <p:cNvCxnSpPr>
            <a:stCxn id="132" idx="3"/>
            <a:endCxn id="164" idx="7"/>
          </p:cNvCxnSpPr>
          <p:nvPr/>
        </p:nvCxnSpPr>
        <p:spPr>
          <a:xfrm rot="5400000">
            <a:off x="7173681" y="5102188"/>
            <a:ext cx="449714" cy="1640284"/>
          </a:xfrm>
          <a:prstGeom prst="bentConnector3">
            <a:avLst>
              <a:gd name="adj1" fmla="val 99773"/>
            </a:avLst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22" idx="4"/>
            <a:endCxn id="109" idx="0"/>
          </p:cNvCxnSpPr>
          <p:nvPr/>
        </p:nvCxnSpPr>
        <p:spPr>
          <a:xfrm flipH="1">
            <a:off x="8332594" y="4085114"/>
            <a:ext cx="2554" cy="505629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9" idx="4"/>
            <a:endCxn id="132" idx="0"/>
          </p:cNvCxnSpPr>
          <p:nvPr/>
        </p:nvCxnSpPr>
        <p:spPr>
          <a:xfrm>
            <a:off x="8332594" y="4905568"/>
            <a:ext cx="3819" cy="523185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32" idx="4"/>
            <a:endCxn id="162" idx="0"/>
          </p:cNvCxnSpPr>
          <p:nvPr/>
        </p:nvCxnSpPr>
        <p:spPr>
          <a:xfrm>
            <a:off x="8336413" y="5743578"/>
            <a:ext cx="4696" cy="516558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>
            <a:stCxn id="112" idx="5"/>
          </p:cNvCxnSpPr>
          <p:nvPr/>
        </p:nvCxnSpPr>
        <p:spPr>
          <a:xfrm flipV="1">
            <a:off x="6581966" y="3869492"/>
            <a:ext cx="1591938" cy="10463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>
            <a:stCxn id="120" idx="5"/>
          </p:cNvCxnSpPr>
          <p:nvPr/>
        </p:nvCxnSpPr>
        <p:spPr>
          <a:xfrm flipV="1">
            <a:off x="6588935" y="4698922"/>
            <a:ext cx="1572138" cy="1487"/>
          </a:xfrm>
          <a:prstGeom prst="straightConnector1">
            <a:avLst/>
          </a:prstGeom>
          <a:ln w="22225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Flowchart: Or 127"/>
          <p:cNvSpPr/>
          <p:nvPr/>
        </p:nvSpPr>
        <p:spPr>
          <a:xfrm>
            <a:off x="6005240" y="2798365"/>
            <a:ext cx="144492" cy="175639"/>
          </a:xfrm>
          <a:prstGeom prst="flowChartOr">
            <a:avLst/>
          </a:prstGeom>
          <a:solidFill>
            <a:schemeClr val="accent2">
              <a:lumMod val="40000"/>
              <a:lumOff val="6000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6" name="Trapezoid 125">
            <a:extLst>
              <a:ext uri="{FF2B5EF4-FFF2-40B4-BE49-F238E27FC236}">
                <a16:creationId xmlns:a16="http://schemas.microsoft.com/office/drawing/2014/main" id="{705EB203-40E6-44A0-9D9A-A0192741FD71}"/>
              </a:ext>
            </a:extLst>
          </p:cNvPr>
          <p:cNvSpPr/>
          <p:nvPr/>
        </p:nvSpPr>
        <p:spPr>
          <a:xfrm rot="10800000">
            <a:off x="7513426" y="968266"/>
            <a:ext cx="909750" cy="601216"/>
          </a:xfrm>
          <a:prstGeom prst="trapezoid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E01CF64-BAE2-4784-A483-8B793893B092}"/>
              </a:ext>
            </a:extLst>
          </p:cNvPr>
          <p:cNvSpPr txBox="1"/>
          <p:nvPr/>
        </p:nvSpPr>
        <p:spPr>
          <a:xfrm>
            <a:off x="7635229" y="1105440"/>
            <a:ext cx="6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CNN</a:t>
            </a:r>
          </a:p>
        </p:txBody>
      </p:sp>
      <p:pic>
        <p:nvPicPr>
          <p:cNvPr id="140" name="Picture 139">
            <a:extLst>
              <a:ext uri="{FF2B5EF4-FFF2-40B4-BE49-F238E27FC236}">
                <a16:creationId xmlns:a16="http://schemas.microsoft.com/office/drawing/2014/main" id="{E78FB8A0-0676-4B04-B6EB-D6A32C8A7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78" y="46331"/>
            <a:ext cx="836736" cy="890248"/>
          </a:xfrm>
          <a:prstGeom prst="rect">
            <a:avLst/>
          </a:prstGeom>
        </p:spPr>
      </p:pic>
      <p:sp>
        <p:nvSpPr>
          <p:cNvPr id="154" name="Title 3">
            <a:extLst>
              <a:ext uri="{FF2B5EF4-FFF2-40B4-BE49-F238E27FC236}">
                <a16:creationId xmlns:a16="http://schemas.microsoft.com/office/drawing/2014/main" id="{4DE1F598-0C80-47E4-845C-5D0D95685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915" y="576316"/>
            <a:ext cx="5445121" cy="859910"/>
          </a:xfrm>
        </p:spPr>
        <p:txBody>
          <a:bodyPr>
            <a:normAutofit fontScale="90000"/>
          </a:bodyPr>
          <a:lstStyle/>
          <a:p>
            <a:br>
              <a:rPr lang="en-IN" sz="3200" dirty="0">
                <a:latin typeface="Century" panose="02040604050505020304" pitchFamily="18" charset="0"/>
              </a:rPr>
            </a:br>
            <a:r>
              <a:rPr lang="en-IN" sz="3200" dirty="0">
                <a:latin typeface="Century" panose="02040604050505020304" pitchFamily="18" charset="0"/>
              </a:rPr>
              <a:t>Image Captioning with RNNs </a:t>
            </a:r>
            <a:br>
              <a:rPr lang="en-IN" sz="3200" dirty="0">
                <a:latin typeface="Century" panose="02040604050505020304" pitchFamily="18" charset="0"/>
              </a:rPr>
            </a:br>
            <a:r>
              <a:rPr lang="en-IN" sz="3200" dirty="0">
                <a:latin typeface="Century" panose="02040604050505020304" pitchFamily="18" charset="0"/>
              </a:rPr>
              <a:t>and Attention</a:t>
            </a:r>
            <a:br>
              <a:rPr lang="en-IN" sz="3200" dirty="0">
                <a:latin typeface="Century" panose="02040604050505020304" pitchFamily="18" charset="0"/>
              </a:rPr>
            </a:br>
            <a:endParaRPr lang="en-IN" sz="3200" dirty="0">
              <a:latin typeface="Century" panose="02040604050505020304" pitchFamily="18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BE786569-F120-495A-B6F2-F813163A6D3E}"/>
              </a:ext>
            </a:extLst>
          </p:cNvPr>
          <p:cNvSpPr txBox="1"/>
          <p:nvPr/>
        </p:nvSpPr>
        <p:spPr>
          <a:xfrm>
            <a:off x="43074" y="6301729"/>
            <a:ext cx="561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Fei-Fei Li Attention and Transformers CS231n Stanford Lecture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134B17-B85E-4DD8-B264-43BD96416800}"/>
              </a:ext>
            </a:extLst>
          </p:cNvPr>
          <p:cNvSpPr/>
          <p:nvPr/>
        </p:nvSpPr>
        <p:spPr>
          <a:xfrm>
            <a:off x="335742" y="1552128"/>
            <a:ext cx="4839451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For example, for the image caption: “Boy weaving flag”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The model may focus on the “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Boy</a:t>
            </a:r>
            <a:r>
              <a:rPr lang="en-US" sz="2000" dirty="0">
                <a:latin typeface="Arial Narrow" panose="020B0606020202030204" pitchFamily="34" charset="0"/>
              </a:rPr>
              <a:t>”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region</a:t>
            </a:r>
            <a:r>
              <a:rPr lang="en-US" sz="2000" dirty="0">
                <a:latin typeface="Arial Narrow" panose="020B0606020202030204" pitchFamily="34" charset="0"/>
              </a:rPr>
              <a:t> while generating “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Boy</a:t>
            </a:r>
            <a:r>
              <a:rPr lang="en-US" sz="2000" dirty="0">
                <a:latin typeface="Arial Narrow" panose="020B0606020202030204" pitchFamily="34" charset="0"/>
              </a:rPr>
              <a:t>”.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It shifts the focus to the “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flag” region </a:t>
            </a:r>
            <a:r>
              <a:rPr lang="en-US" sz="2000" dirty="0">
                <a:latin typeface="Arial Narrow" panose="020B0606020202030204" pitchFamily="34" charset="0"/>
              </a:rPr>
              <a:t>while generating the word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“flag” </a:t>
            </a:r>
            <a:r>
              <a:rPr lang="en-US" sz="2000" dirty="0">
                <a:latin typeface="Arial Narrow" panose="020B0606020202030204" pitchFamily="34" charset="0"/>
              </a:rPr>
              <a:t>and so 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Attention makes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image captioning spatially aware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It enables the model to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dynamically select relevant image regions </a:t>
            </a:r>
            <a:r>
              <a:rPr lang="en-US" sz="2000" dirty="0">
                <a:latin typeface="Arial Narrow" panose="020B0606020202030204" pitchFamily="34" charset="0"/>
              </a:rPr>
              <a:t>for each generated word, improving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accuracy, interpretability, and contextual relevance of the generated caption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  <a:endParaRPr lang="en-IN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6346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239057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Spatial Context in Vision</a:t>
            </a:r>
          </a:p>
          <a:p>
            <a:pPr marL="457200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Image Caption with Context Modelling</a:t>
            </a:r>
          </a:p>
          <a:p>
            <a:pPr marL="457200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Attention for Image Caption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3627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742339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Transformers - II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Next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8: Part 4</a:t>
            </a:r>
          </a:p>
        </p:txBody>
      </p:sp>
    </p:spTree>
    <p:extLst>
      <p:ext uri="{BB962C8B-B14F-4D97-AF65-F5344CB8AC3E}">
        <p14:creationId xmlns:p14="http://schemas.microsoft.com/office/powerpoint/2010/main" val="75728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3682</TotalTime>
  <Words>3049</Words>
  <Application>Microsoft Office PowerPoint</Application>
  <PresentationFormat>Widescreen</PresentationFormat>
  <Paragraphs>770</Paragraphs>
  <Slides>25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Arial Narrow</vt:lpstr>
      <vt:lpstr>Book Antiqua</vt:lpstr>
      <vt:lpstr>Calibri</vt:lpstr>
      <vt:lpstr>Calibri Light</vt:lpstr>
      <vt:lpstr>Cambria Math</vt:lpstr>
      <vt:lpstr>Century</vt:lpstr>
      <vt:lpstr>Times New Roman</vt:lpstr>
      <vt:lpstr>Office Theme</vt:lpstr>
      <vt:lpstr>  Transformers - I</vt:lpstr>
      <vt:lpstr>Content</vt:lpstr>
      <vt:lpstr>Sequence 2 Sequence Model using RNN/LSTM</vt:lpstr>
      <vt:lpstr> Image Captioning Using RNN with Spatial  Context Modelling </vt:lpstr>
      <vt:lpstr>Image Captioning with RNNs and Spatial Context</vt:lpstr>
      <vt:lpstr>Image Captioning with RNNs and Spatial Context</vt:lpstr>
      <vt:lpstr>Image Captioning with RNNs and Spatial Context</vt:lpstr>
      <vt:lpstr>Image Captioning with RNNs and Spatial Context</vt:lpstr>
      <vt:lpstr>Image Captioning with RNNs and Spatial Context</vt:lpstr>
      <vt:lpstr>Image Captioning with RNNs and Spatial Context</vt:lpstr>
      <vt:lpstr>Problems with this approach</vt:lpstr>
      <vt:lpstr>Attention</vt:lpstr>
      <vt:lpstr>How Attention Solves This?</vt:lpstr>
      <vt:lpstr>Image Captioning with RNNs and Attention</vt:lpstr>
      <vt:lpstr>Image Captioning with RNNs and Attention Computing Alignment Score</vt:lpstr>
      <vt:lpstr>Image Captioning with RNNs and Attention Computing Attention</vt:lpstr>
      <vt:lpstr>Image Captioning with RNNs and Attention Computing Context Vector (c_1) at Time Step 1</vt:lpstr>
      <vt:lpstr>Image Captioning with RNNs and Attention Computing Output at first time-step</vt:lpstr>
      <vt:lpstr>Image Captioning with RNNs and Attention Computing Context Vector (c_2) at Time Step 2</vt:lpstr>
      <vt:lpstr>Image Captioning with RNNs and Attention Computing Output at second time-step</vt:lpstr>
      <vt:lpstr>Image Captioning with RNNs and Attention Computing Output at third time-step</vt:lpstr>
      <vt:lpstr>Image Captioning with RNNs and Attention Computing Output at final time-step</vt:lpstr>
      <vt:lpstr> Image Captioning with RNNs  and Attention </vt:lpstr>
      <vt:lpstr>Summary</vt:lpstr>
      <vt:lpstr>Transformers - II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Transformers</dc:title>
  <dc:creator>IITG</dc:creator>
  <cp:lastModifiedBy>HP</cp:lastModifiedBy>
  <cp:revision>63</cp:revision>
  <dcterms:created xsi:type="dcterms:W3CDTF">2026-08-21T02:54:49Z</dcterms:created>
  <dcterms:modified xsi:type="dcterms:W3CDTF">2026-08-23T16:25:55Z</dcterms:modified>
</cp:coreProperties>
</file>