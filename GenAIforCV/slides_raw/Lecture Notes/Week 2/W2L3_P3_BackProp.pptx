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8" r:id="rId2"/>
    <p:sldId id="258" r:id="rId3"/>
    <p:sldId id="259"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9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09DEC3-BF46-495B-A2D8-99F9AD812605}" type="datetimeFigureOut">
              <a:rPr lang="en-IN" smtClean="0"/>
              <a:t>10-07-2026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8DCE5-8CFE-42C6-9D29-F1D1EE7B5598}" type="slidenum">
              <a:rPr lang="en-IN" smtClean="0"/>
              <a:t>‹#›</a:t>
            </a:fld>
            <a:endParaRPr lang="en-IN"/>
          </a:p>
        </p:txBody>
      </p:sp>
    </p:spTree>
    <p:extLst>
      <p:ext uri="{BB962C8B-B14F-4D97-AF65-F5344CB8AC3E}">
        <p14:creationId xmlns:p14="http://schemas.microsoft.com/office/powerpoint/2010/main" val="270358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16E550F-1338-4546-9897-83585DA42741}" type="slidenum">
              <a:rPr lang="en-IN" smtClean="0"/>
              <a:t>9</a:t>
            </a:fld>
            <a:endParaRPr lang="en-IN"/>
          </a:p>
        </p:txBody>
      </p:sp>
    </p:spTree>
    <p:extLst>
      <p:ext uri="{BB962C8B-B14F-4D97-AF65-F5344CB8AC3E}">
        <p14:creationId xmlns:p14="http://schemas.microsoft.com/office/powerpoint/2010/main" val="3811498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1FE1-1875-4F77-8D66-24A622227E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4C4259-D019-4EE9-9A2F-ECC2E8D7BA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4E0356-C52D-4306-AE82-2EC3D40545E3}"/>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5" name="Footer Placeholder 4">
            <a:extLst>
              <a:ext uri="{FF2B5EF4-FFF2-40B4-BE49-F238E27FC236}">
                <a16:creationId xmlns:a16="http://schemas.microsoft.com/office/drawing/2014/main" id="{6C52C956-5F3E-4671-B16B-DB3726DE82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997C06-6637-4DA5-9B1F-22451061BFDD}"/>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2281259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3801A-E7F2-4D19-804A-CE0C8B84EC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947098-7F69-42D0-9C3A-46689F2049B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63B329-AF3B-4264-B960-764716FE31B3}"/>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5" name="Footer Placeholder 4">
            <a:extLst>
              <a:ext uri="{FF2B5EF4-FFF2-40B4-BE49-F238E27FC236}">
                <a16:creationId xmlns:a16="http://schemas.microsoft.com/office/drawing/2014/main" id="{4F39CFF2-B2F6-4197-84D2-B904C8CE28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BAE1D6-2C2B-4AA2-BB2F-1730D91F5FF6}"/>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2244229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96D44-6C08-401A-9D1E-280817C63A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4A8B6C-8481-4056-A3CD-FA58606D0C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0F72839-80FA-419F-8B0B-E8007AC0C244}"/>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5" name="Footer Placeholder 4">
            <a:extLst>
              <a:ext uri="{FF2B5EF4-FFF2-40B4-BE49-F238E27FC236}">
                <a16:creationId xmlns:a16="http://schemas.microsoft.com/office/drawing/2014/main" id="{40CABEBA-F62B-426B-B74F-C5A2F30FD1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0624B7-EE26-4CCA-8F04-175A31DD621C}"/>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3899011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BE4D-7D81-4C21-87BE-A9FC7E5D17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E8326F-11C5-48D7-8794-317F8362009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D32C40F-9161-4A49-ABA9-3247D596B7E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FEB5D4-53F0-4D21-A5B3-DD54B8FC8472}"/>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6" name="Footer Placeholder 5">
            <a:extLst>
              <a:ext uri="{FF2B5EF4-FFF2-40B4-BE49-F238E27FC236}">
                <a16:creationId xmlns:a16="http://schemas.microsoft.com/office/drawing/2014/main" id="{11FD4873-190C-4E45-AC53-FD8E8EF24B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8BF672-7E75-4E8F-92D8-5657EBD819DF}"/>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302226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BCB92-6E9E-4D6A-A7B9-65C6899409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3ED926-5F53-4735-B2D0-3153B0189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1716A0F-6250-4232-84B0-1EC6B50F86A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C1D6036-1CAA-4ECF-ADD4-2DBCC2A98E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37F9471-15D3-4818-85BC-BF633155653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C3D482-E720-4D25-A7D0-EA24C7930C54}"/>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8" name="Footer Placeholder 7">
            <a:extLst>
              <a:ext uri="{FF2B5EF4-FFF2-40B4-BE49-F238E27FC236}">
                <a16:creationId xmlns:a16="http://schemas.microsoft.com/office/drawing/2014/main" id="{DA0C3C96-AC19-447A-AF07-6F675798CE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4129245-1F21-4D71-9BF9-C169664209C4}"/>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4157542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7EC95-A81D-4386-83F0-82EFEC8E86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FB54AB-A846-4301-A433-7673A435A274}"/>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4" name="Footer Placeholder 3">
            <a:extLst>
              <a:ext uri="{FF2B5EF4-FFF2-40B4-BE49-F238E27FC236}">
                <a16:creationId xmlns:a16="http://schemas.microsoft.com/office/drawing/2014/main" id="{92E2DD61-69A7-4A0E-B90D-86B702ACF4B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85BD3ED-4180-462B-8BE3-FF5367DD3BC1}"/>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3265958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09016B-B226-429B-82D8-BF6DB2284C1E}"/>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3" name="Footer Placeholder 2">
            <a:extLst>
              <a:ext uri="{FF2B5EF4-FFF2-40B4-BE49-F238E27FC236}">
                <a16:creationId xmlns:a16="http://schemas.microsoft.com/office/drawing/2014/main" id="{7AA2C44F-CE59-463C-A455-498170A59D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D8ABD2-B8A5-477E-97B4-95A70B0FD96A}"/>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3872658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0B336-6458-4D10-97F9-9489A289D8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BCCDEEF-B64D-4246-A935-A9E3203D36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E4D6504-5ACE-4DC1-84FF-ABDC11EEF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C855D54-C02A-4B57-B8EA-A5D5FF11307E}"/>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6" name="Footer Placeholder 5">
            <a:extLst>
              <a:ext uri="{FF2B5EF4-FFF2-40B4-BE49-F238E27FC236}">
                <a16:creationId xmlns:a16="http://schemas.microsoft.com/office/drawing/2014/main" id="{E34D5725-FA47-469C-83A1-2FD6395CAE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1CFFCF-E312-4D2E-BDEA-F2B09D2621AA}"/>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3544034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94CA1-BC4E-451E-A983-735E89B2B0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ED19150-4D15-4C84-90FC-AA69D39E4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75BAB27-558E-4E20-B9C2-D88FAF2DA1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8A72E1B-87C1-498A-961B-B00CFB86DAF6}"/>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6" name="Footer Placeholder 5">
            <a:extLst>
              <a:ext uri="{FF2B5EF4-FFF2-40B4-BE49-F238E27FC236}">
                <a16:creationId xmlns:a16="http://schemas.microsoft.com/office/drawing/2014/main" id="{B9D0CFF5-F4C1-4889-A11A-AF1E77DA59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4F5A55-03CC-4F56-B8ED-96913E76F894}"/>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3711693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439BA-86A0-4C72-8C83-4F0686FB568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750FF4-126A-4472-BC39-136A77D08E1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44482D-ECFE-49F0-B0E2-9F9AC1293273}"/>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5" name="Footer Placeholder 4">
            <a:extLst>
              <a:ext uri="{FF2B5EF4-FFF2-40B4-BE49-F238E27FC236}">
                <a16:creationId xmlns:a16="http://schemas.microsoft.com/office/drawing/2014/main" id="{A79F458D-C204-4FA3-B0EF-CBAC5338AE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427C7B-25EB-41E9-9684-7CB609B870A8}"/>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1534663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7CB298-013D-4043-B42A-279E84FD51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9B5DF9-EEBF-42CE-AC2A-4B80B59D05B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5633D9-08D4-4125-BCD1-77AE9B08A988}"/>
              </a:ext>
            </a:extLst>
          </p:cNvPr>
          <p:cNvSpPr>
            <a:spLocks noGrp="1"/>
          </p:cNvSpPr>
          <p:nvPr>
            <p:ph type="dt" sz="half" idx="10"/>
          </p:nvPr>
        </p:nvSpPr>
        <p:spPr/>
        <p:txBody>
          <a:bodyPr/>
          <a:lstStyle/>
          <a:p>
            <a:fld id="{AE511DD0-0BBB-481D-B8E9-5759B03D21A1}" type="datetimeFigureOut">
              <a:rPr lang="en-IN" smtClean="0"/>
              <a:t>10-07-2026</a:t>
            </a:fld>
            <a:endParaRPr lang="en-IN"/>
          </a:p>
        </p:txBody>
      </p:sp>
      <p:sp>
        <p:nvSpPr>
          <p:cNvPr id="5" name="Footer Placeholder 4">
            <a:extLst>
              <a:ext uri="{FF2B5EF4-FFF2-40B4-BE49-F238E27FC236}">
                <a16:creationId xmlns:a16="http://schemas.microsoft.com/office/drawing/2014/main" id="{39633745-BE59-4598-974A-C11457BEB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40DDC1-9B76-4802-8684-4DA868812FE3}"/>
              </a:ext>
            </a:extLst>
          </p:cNvPr>
          <p:cNvSpPr>
            <a:spLocks noGrp="1"/>
          </p:cNvSpPr>
          <p:nvPr>
            <p:ph type="sldNum" sz="quarter" idx="12"/>
          </p:nvPr>
        </p:nvSpPr>
        <p:spPr/>
        <p:txBody>
          <a:bodyPr/>
          <a:lstStyle/>
          <a:p>
            <a:fld id="{2AA0FAA7-9A95-4146-A545-E43E6FAADF29}" type="slidenum">
              <a:rPr lang="en-IN" smtClean="0"/>
              <a:t>‹#›</a:t>
            </a:fld>
            <a:endParaRPr lang="en-IN"/>
          </a:p>
        </p:txBody>
      </p:sp>
    </p:spTree>
    <p:extLst>
      <p:ext uri="{BB962C8B-B14F-4D97-AF65-F5344CB8AC3E}">
        <p14:creationId xmlns:p14="http://schemas.microsoft.com/office/powerpoint/2010/main" val="2641752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601B30-8666-47A5-B6FC-B1E914B88D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97B0C4-8C8B-4E9D-8FB9-FF69DA19B0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C98994-1872-4E7D-BE28-242267EDEF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511DD0-0BBB-481D-B8E9-5759B03D21A1}" type="datetimeFigureOut">
              <a:rPr lang="en-IN" smtClean="0"/>
              <a:t>10-07-2026</a:t>
            </a:fld>
            <a:endParaRPr lang="en-IN"/>
          </a:p>
        </p:txBody>
      </p:sp>
      <p:sp>
        <p:nvSpPr>
          <p:cNvPr id="5" name="Footer Placeholder 4">
            <a:extLst>
              <a:ext uri="{FF2B5EF4-FFF2-40B4-BE49-F238E27FC236}">
                <a16:creationId xmlns:a16="http://schemas.microsoft.com/office/drawing/2014/main" id="{3D388C17-014B-491C-B8F9-6752C56A35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A12AC55-E53E-4042-AB84-CB67B13CEB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A0FAA7-9A95-4146-A545-E43E6FAADF29}" type="slidenum">
              <a:rPr lang="en-IN" smtClean="0"/>
              <a:t>‹#›</a:t>
            </a:fld>
            <a:endParaRPr lang="en-IN"/>
          </a:p>
        </p:txBody>
      </p:sp>
    </p:spTree>
    <p:extLst>
      <p:ext uri="{BB962C8B-B14F-4D97-AF65-F5344CB8AC3E}">
        <p14:creationId xmlns:p14="http://schemas.microsoft.com/office/powerpoint/2010/main" val="3833683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5.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image" Target="../media/image14.png"/><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10.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8.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image" Target="../media/image37.png"/><Relationship Id="rId16" Type="http://schemas.openxmlformats.org/officeDocument/2006/relationships/image" Target="../media/image50.png"/><Relationship Id="rId20"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8.png"/><Relationship Id="rId5" Type="http://schemas.openxmlformats.org/officeDocument/2006/relationships/image" Target="../media/image390.png"/><Relationship Id="rId15" Type="http://schemas.openxmlformats.org/officeDocument/2006/relationships/image" Target="../media/image49.png"/><Relationship Id="rId23" Type="http://schemas.openxmlformats.org/officeDocument/2006/relationships/image" Target="../media/image57.png"/><Relationship Id="rId10" Type="http://schemas.openxmlformats.org/officeDocument/2006/relationships/image" Target="../media/image44.png"/><Relationship Id="rId19" Type="http://schemas.openxmlformats.org/officeDocument/2006/relationships/image" Target="../media/image53.png"/><Relationship Id="rId4" Type="http://schemas.openxmlformats.org/officeDocument/2006/relationships/image" Target="../media/image39.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s>
</file>

<file path=ppt/slides/_rels/slide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62.png"/><Relationship Id="rId21" Type="http://schemas.openxmlformats.org/officeDocument/2006/relationships/image" Target="../media/image80.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5" Type="http://schemas.openxmlformats.org/officeDocument/2006/relationships/image" Target="../media/image84.png"/><Relationship Id="rId2" Type="http://schemas.openxmlformats.org/officeDocument/2006/relationships/image" Target="../media/image61.png"/><Relationship Id="rId16" Type="http://schemas.openxmlformats.org/officeDocument/2006/relationships/image" Target="../media/image75.png"/><Relationship Id="rId20"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24" Type="http://schemas.openxmlformats.org/officeDocument/2006/relationships/image" Target="../media/image83.png"/><Relationship Id="rId5" Type="http://schemas.openxmlformats.org/officeDocument/2006/relationships/image" Target="../media/image64.png"/><Relationship Id="rId15" Type="http://schemas.openxmlformats.org/officeDocument/2006/relationships/image" Target="../media/image74.png"/><Relationship Id="rId23" Type="http://schemas.openxmlformats.org/officeDocument/2006/relationships/image" Target="../media/image82.png"/><Relationship Id="rId10" Type="http://schemas.openxmlformats.org/officeDocument/2006/relationships/image" Target="../media/image69.png"/><Relationship Id="rId19" Type="http://schemas.openxmlformats.org/officeDocument/2006/relationships/image" Target="../media/image78.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 Id="rId22" Type="http://schemas.openxmlformats.org/officeDocument/2006/relationships/image" Target="../media/image81.png"/></Relationships>
</file>

<file path=ppt/slides/_rels/slide9.xml.rels><?xml version="1.0" encoding="UTF-8" standalone="yes"?>
<Relationships xmlns="http://schemas.openxmlformats.org/package/2006/relationships"><Relationship Id="rId13" Type="http://schemas.openxmlformats.org/officeDocument/2006/relationships/image" Target="../media/image95.png"/><Relationship Id="rId18" Type="http://schemas.openxmlformats.org/officeDocument/2006/relationships/image" Target="../media/image100.png"/><Relationship Id="rId26" Type="http://schemas.openxmlformats.org/officeDocument/2006/relationships/image" Target="../media/image107.png"/><Relationship Id="rId21" Type="http://schemas.openxmlformats.org/officeDocument/2006/relationships/image" Target="../media/image103.png"/><Relationship Id="rId34" Type="http://schemas.openxmlformats.org/officeDocument/2006/relationships/image" Target="../media/image114.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99.png"/><Relationship Id="rId25" Type="http://schemas.openxmlformats.org/officeDocument/2006/relationships/image" Target="../media/image106.png"/><Relationship Id="rId33" Type="http://schemas.openxmlformats.org/officeDocument/2006/relationships/image" Target="../media/image113.png"/><Relationship Id="rId2" Type="http://schemas.openxmlformats.org/officeDocument/2006/relationships/notesSlide" Target="../notesSlides/notesSlide1.xml"/><Relationship Id="rId16" Type="http://schemas.openxmlformats.org/officeDocument/2006/relationships/image" Target="../media/image98.png"/><Relationship Id="rId20" Type="http://schemas.openxmlformats.org/officeDocument/2006/relationships/image" Target="../media/image102.png"/><Relationship Id="rId29"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image" Target="../media/image93.png"/><Relationship Id="rId24" Type="http://schemas.openxmlformats.org/officeDocument/2006/relationships/image" Target="../media/image105.png"/><Relationship Id="rId32" Type="http://schemas.openxmlformats.org/officeDocument/2006/relationships/image" Target="../media/image112.png"/><Relationship Id="rId37" Type="http://schemas.openxmlformats.org/officeDocument/2006/relationships/image" Target="../media/image117.png"/><Relationship Id="rId5" Type="http://schemas.openxmlformats.org/officeDocument/2006/relationships/image" Target="../media/image87.png"/><Relationship Id="rId15" Type="http://schemas.openxmlformats.org/officeDocument/2006/relationships/image" Target="../media/image97.png"/><Relationship Id="rId23" Type="http://schemas.openxmlformats.org/officeDocument/2006/relationships/image" Target="../media/image104.png"/><Relationship Id="rId28" Type="http://schemas.openxmlformats.org/officeDocument/2006/relationships/image" Target="../media/image109.png"/><Relationship Id="rId36" Type="http://schemas.openxmlformats.org/officeDocument/2006/relationships/image" Target="../media/image116.png"/><Relationship Id="rId10" Type="http://schemas.openxmlformats.org/officeDocument/2006/relationships/image" Target="../media/image92.png"/><Relationship Id="rId19" Type="http://schemas.openxmlformats.org/officeDocument/2006/relationships/image" Target="../media/image101.png"/><Relationship Id="rId31" Type="http://schemas.openxmlformats.org/officeDocument/2006/relationships/image" Target="../media/image111.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 Id="rId22" Type="http://schemas.openxmlformats.org/officeDocument/2006/relationships/image" Target="../media/image700.png"/><Relationship Id="rId27" Type="http://schemas.openxmlformats.org/officeDocument/2006/relationships/image" Target="../media/image108.png"/><Relationship Id="rId30" Type="http://schemas.openxmlformats.org/officeDocument/2006/relationships/image" Target="../media/image780.png"/><Relationship Id="rId35" Type="http://schemas.openxmlformats.org/officeDocument/2006/relationships/image" Target="../media/image115.png"/><Relationship Id="rId8" Type="http://schemas.openxmlformats.org/officeDocument/2006/relationships/image" Target="../media/image90.png"/><Relationship Id="rId3" Type="http://schemas.openxmlformats.org/officeDocument/2006/relationships/image" Target="../media/image85.png"/></Relationships>
</file>

<file path=ppt/slides/_rels/slide10.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18" Type="http://schemas.openxmlformats.org/officeDocument/2006/relationships/image" Target="../media/image131.png"/><Relationship Id="rId26" Type="http://schemas.openxmlformats.org/officeDocument/2006/relationships/image" Target="../media/image132.png"/><Relationship Id="rId3" Type="http://schemas.openxmlformats.org/officeDocument/2006/relationships/image" Target="../media/image1140.png"/><Relationship Id="rId21" Type="http://schemas.openxmlformats.org/officeDocument/2006/relationships/image" Target="../media/image760.png"/><Relationship Id="rId7" Type="http://schemas.openxmlformats.org/officeDocument/2006/relationships/image" Target="../media/image122.png"/><Relationship Id="rId12" Type="http://schemas.openxmlformats.org/officeDocument/2006/relationships/image" Target="../media/image127.png"/><Relationship Id="rId17" Type="http://schemas.openxmlformats.org/officeDocument/2006/relationships/image" Target="../media/image130.png"/><Relationship Id="rId25" Type="http://schemas.openxmlformats.org/officeDocument/2006/relationships/image" Target="../media/image113.png"/><Relationship Id="rId2" Type="http://schemas.openxmlformats.org/officeDocument/2006/relationships/image" Target="../media/image118.png"/><Relationship Id="rId16" Type="http://schemas.openxmlformats.org/officeDocument/2006/relationships/image" Target="../media/image690.png"/><Relationship Id="rId20" Type="http://schemas.openxmlformats.org/officeDocument/2006/relationships/image" Target="../media/image750.png"/><Relationship Id="rId1" Type="http://schemas.openxmlformats.org/officeDocument/2006/relationships/slideLayout" Target="../slideLayouts/slideLayout2.xml"/><Relationship Id="rId6" Type="http://schemas.openxmlformats.org/officeDocument/2006/relationships/image" Target="../media/image121.png"/><Relationship Id="rId11" Type="http://schemas.openxmlformats.org/officeDocument/2006/relationships/image" Target="../media/image126.png"/><Relationship Id="rId24" Type="http://schemas.openxmlformats.org/officeDocument/2006/relationships/image" Target="../media/image112.png"/><Relationship Id="rId5" Type="http://schemas.openxmlformats.org/officeDocument/2006/relationships/image" Target="../media/image120.png"/><Relationship Id="rId15" Type="http://schemas.openxmlformats.org/officeDocument/2006/relationships/image" Target="../media/image740.png"/><Relationship Id="rId23" Type="http://schemas.openxmlformats.org/officeDocument/2006/relationships/image" Target="../media/image780.png"/><Relationship Id="rId28" Type="http://schemas.openxmlformats.org/officeDocument/2006/relationships/image" Target="../media/image134.png"/><Relationship Id="rId10" Type="http://schemas.openxmlformats.org/officeDocument/2006/relationships/image" Target="../media/image125.png"/><Relationship Id="rId19" Type="http://schemas.openxmlformats.org/officeDocument/2006/relationships/image" Target="../media/image108.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29.png"/><Relationship Id="rId22" Type="http://schemas.openxmlformats.org/officeDocument/2006/relationships/image" Target="../media/image770.png"/><Relationship Id="rId27" Type="http://schemas.openxmlformats.org/officeDocument/2006/relationships/image" Target="../media/image133.png"/></Relationships>
</file>

<file path=ppt/slides/_rels/slide11.xml.rels><?xml version="1.0" encoding="UTF-8" standalone="yes"?>
<Relationships xmlns="http://schemas.openxmlformats.org/package/2006/relationships"><Relationship Id="rId8" Type="http://schemas.openxmlformats.org/officeDocument/2006/relationships/image" Target="../media/image135.png"/><Relationship Id="rId13" Type="http://schemas.openxmlformats.org/officeDocument/2006/relationships/image" Target="../media/image140.png"/><Relationship Id="rId3" Type="http://schemas.openxmlformats.org/officeDocument/2006/relationships/image" Target="../media/image1300.png"/><Relationship Id="rId7" Type="http://schemas.openxmlformats.org/officeDocument/2006/relationships/image" Target="../media/image1320.png"/><Relationship Id="rId12" Type="http://schemas.openxmlformats.org/officeDocument/2006/relationships/image" Target="../media/image139.png"/><Relationship Id="rId2" Type="http://schemas.openxmlformats.org/officeDocument/2006/relationships/image" Target="../media/image1290.png"/><Relationship Id="rId16"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1330.png"/><Relationship Id="rId11" Type="http://schemas.openxmlformats.org/officeDocument/2006/relationships/image" Target="../media/image138.png"/><Relationship Id="rId5" Type="http://schemas.openxmlformats.org/officeDocument/2006/relationships/image" Target="../media/image1280.png"/><Relationship Id="rId15" Type="http://schemas.openxmlformats.org/officeDocument/2006/relationships/image" Target="../media/image142.png"/><Relationship Id="rId10" Type="http://schemas.openxmlformats.org/officeDocument/2006/relationships/image" Target="../media/image137.png"/><Relationship Id="rId4" Type="http://schemas.openxmlformats.org/officeDocument/2006/relationships/image" Target="../media/image1310.png"/><Relationship Id="rId9" Type="http://schemas.openxmlformats.org/officeDocument/2006/relationships/image" Target="../media/image136.png"/><Relationship Id="rId14" Type="http://schemas.openxmlformats.org/officeDocument/2006/relationships/image" Target="../media/image141.png"/></Relationships>
</file>

<file path=ppt/slides/_rels/slide12.xml.rels><?xml version="1.0" encoding="UTF-8" standalone="yes"?>
<Relationships xmlns="http://schemas.openxmlformats.org/package/2006/relationships"><Relationship Id="rId13" Type="http://schemas.openxmlformats.org/officeDocument/2006/relationships/image" Target="../media/image155.png"/><Relationship Id="rId18" Type="http://schemas.openxmlformats.org/officeDocument/2006/relationships/image" Target="../media/image160.png"/><Relationship Id="rId26" Type="http://schemas.openxmlformats.org/officeDocument/2006/relationships/image" Target="../media/image168.png"/><Relationship Id="rId3" Type="http://schemas.openxmlformats.org/officeDocument/2006/relationships/image" Target="../media/image145.png"/><Relationship Id="rId21" Type="http://schemas.openxmlformats.org/officeDocument/2006/relationships/image" Target="../media/image163.png"/><Relationship Id="rId7" Type="http://schemas.openxmlformats.org/officeDocument/2006/relationships/image" Target="../media/image149.png"/><Relationship Id="rId12" Type="http://schemas.openxmlformats.org/officeDocument/2006/relationships/image" Target="../media/image154.png"/><Relationship Id="rId17" Type="http://schemas.openxmlformats.org/officeDocument/2006/relationships/image" Target="../media/image159.png"/><Relationship Id="rId25" Type="http://schemas.openxmlformats.org/officeDocument/2006/relationships/image" Target="../media/image167.png"/><Relationship Id="rId33" Type="http://schemas.openxmlformats.org/officeDocument/2006/relationships/image" Target="../media/image175.png"/><Relationship Id="rId2" Type="http://schemas.openxmlformats.org/officeDocument/2006/relationships/image" Target="../media/image144.png"/><Relationship Id="rId16" Type="http://schemas.openxmlformats.org/officeDocument/2006/relationships/image" Target="../media/image158.png"/><Relationship Id="rId20" Type="http://schemas.openxmlformats.org/officeDocument/2006/relationships/image" Target="../media/image162.png"/><Relationship Id="rId29" Type="http://schemas.openxmlformats.org/officeDocument/2006/relationships/image" Target="../media/image171.png"/><Relationship Id="rId1" Type="http://schemas.openxmlformats.org/officeDocument/2006/relationships/slideLayout" Target="../slideLayouts/slideLayout2.xml"/><Relationship Id="rId6" Type="http://schemas.openxmlformats.org/officeDocument/2006/relationships/image" Target="../media/image148.png"/><Relationship Id="rId11" Type="http://schemas.openxmlformats.org/officeDocument/2006/relationships/image" Target="../media/image153.png"/><Relationship Id="rId24" Type="http://schemas.openxmlformats.org/officeDocument/2006/relationships/image" Target="../media/image166.png"/><Relationship Id="rId32" Type="http://schemas.openxmlformats.org/officeDocument/2006/relationships/image" Target="../media/image174.png"/><Relationship Id="rId5" Type="http://schemas.openxmlformats.org/officeDocument/2006/relationships/image" Target="../media/image147.png"/><Relationship Id="rId15" Type="http://schemas.openxmlformats.org/officeDocument/2006/relationships/image" Target="../media/image157.png"/><Relationship Id="rId23" Type="http://schemas.openxmlformats.org/officeDocument/2006/relationships/image" Target="../media/image165.png"/><Relationship Id="rId28" Type="http://schemas.openxmlformats.org/officeDocument/2006/relationships/image" Target="../media/image170.png"/><Relationship Id="rId10" Type="http://schemas.openxmlformats.org/officeDocument/2006/relationships/image" Target="../media/image152.png"/><Relationship Id="rId19" Type="http://schemas.openxmlformats.org/officeDocument/2006/relationships/image" Target="../media/image161.png"/><Relationship Id="rId31" Type="http://schemas.openxmlformats.org/officeDocument/2006/relationships/image" Target="../media/image173.png"/><Relationship Id="rId4" Type="http://schemas.openxmlformats.org/officeDocument/2006/relationships/image" Target="../media/image146.png"/><Relationship Id="rId9" Type="http://schemas.openxmlformats.org/officeDocument/2006/relationships/image" Target="../media/image151.png"/><Relationship Id="rId14" Type="http://schemas.openxmlformats.org/officeDocument/2006/relationships/image" Target="../media/image156.png"/><Relationship Id="rId22" Type="http://schemas.openxmlformats.org/officeDocument/2006/relationships/image" Target="../media/image164.png"/><Relationship Id="rId27" Type="http://schemas.openxmlformats.org/officeDocument/2006/relationships/image" Target="../media/image169.png"/><Relationship Id="rId30" Type="http://schemas.openxmlformats.org/officeDocument/2006/relationships/image" Target="../media/image172.png"/><Relationship Id="rId8" Type="http://schemas.openxmlformats.org/officeDocument/2006/relationships/image" Target="../media/image150.png"/></Relationships>
</file>

<file path=ppt/slides/_rels/slide13.xml.rels><?xml version="1.0" encoding="UTF-8" standalone="yes"?>
<Relationships xmlns="http://schemas.openxmlformats.org/package/2006/relationships"><Relationship Id="rId3" Type="http://schemas.openxmlformats.org/officeDocument/2006/relationships/image" Target="../media/image177.png"/><Relationship Id="rId7" Type="http://schemas.openxmlformats.org/officeDocument/2006/relationships/image" Target="../media/image181.png"/><Relationship Id="rId2" Type="http://schemas.openxmlformats.org/officeDocument/2006/relationships/image" Target="../media/image176.png"/><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78.png"/></Relationships>
</file>

<file path=ppt/slides/_rels/slide14.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2.xml"/><Relationship Id="rId5" Type="http://schemas.openxmlformats.org/officeDocument/2006/relationships/image" Target="../media/image185.png"/><Relationship Id="rId4" Type="http://schemas.openxmlformats.org/officeDocument/2006/relationships/image" Target="../media/image184.png"/></Relationships>
</file>

<file path=ppt/slides/_rels/slide15.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770.png"/><Relationship Id="rId1" Type="http://schemas.openxmlformats.org/officeDocument/2006/relationships/slideLayout" Target="../slideLayouts/slideLayout2.xml"/><Relationship Id="rId6" Type="http://schemas.openxmlformats.org/officeDocument/2006/relationships/image" Target="../media/image189.png"/><Relationship Id="rId5" Type="http://schemas.openxmlformats.org/officeDocument/2006/relationships/image" Target="../media/image188.png"/><Relationship Id="rId4" Type="http://schemas.openxmlformats.org/officeDocument/2006/relationships/image" Target="../media/image187.png"/></Relationships>
</file>

<file path=ppt/slides/_rels/slide16.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3" Type="http://schemas.openxmlformats.org/officeDocument/2006/relationships/image" Target="../media/image201.png"/><Relationship Id="rId18" Type="http://schemas.openxmlformats.org/officeDocument/2006/relationships/image" Target="../media/image206.png"/><Relationship Id="rId26" Type="http://schemas.openxmlformats.org/officeDocument/2006/relationships/image" Target="../media/image214.png"/><Relationship Id="rId3" Type="http://schemas.openxmlformats.org/officeDocument/2006/relationships/image" Target="../media/image191.png"/><Relationship Id="rId21" Type="http://schemas.openxmlformats.org/officeDocument/2006/relationships/image" Target="../media/image209.png"/><Relationship Id="rId34" Type="http://schemas.openxmlformats.org/officeDocument/2006/relationships/image" Target="../media/image2100.png"/><Relationship Id="rId7" Type="http://schemas.openxmlformats.org/officeDocument/2006/relationships/image" Target="../media/image195.png"/><Relationship Id="rId12" Type="http://schemas.openxmlformats.org/officeDocument/2006/relationships/image" Target="../media/image200.png"/><Relationship Id="rId17" Type="http://schemas.openxmlformats.org/officeDocument/2006/relationships/image" Target="../media/image205.png"/><Relationship Id="rId25" Type="http://schemas.openxmlformats.org/officeDocument/2006/relationships/image" Target="../media/image213.png"/><Relationship Id="rId33" Type="http://schemas.openxmlformats.org/officeDocument/2006/relationships/image" Target="../media/image2090.png"/><Relationship Id="rId16" Type="http://schemas.openxmlformats.org/officeDocument/2006/relationships/image" Target="../media/image204.png"/><Relationship Id="rId20" Type="http://schemas.openxmlformats.org/officeDocument/2006/relationships/image" Target="../media/image208.png"/><Relationship Id="rId29" Type="http://schemas.openxmlformats.org/officeDocument/2006/relationships/image" Target="../media/image217.png"/><Relationship Id="rId1" Type="http://schemas.openxmlformats.org/officeDocument/2006/relationships/slideLayout" Target="../slideLayouts/slideLayout2.xml"/><Relationship Id="rId6" Type="http://schemas.openxmlformats.org/officeDocument/2006/relationships/image" Target="../media/image194.png"/><Relationship Id="rId11" Type="http://schemas.openxmlformats.org/officeDocument/2006/relationships/image" Target="../media/image199.png"/><Relationship Id="rId24" Type="http://schemas.openxmlformats.org/officeDocument/2006/relationships/image" Target="../media/image212.png"/><Relationship Id="rId32" Type="http://schemas.openxmlformats.org/officeDocument/2006/relationships/image" Target="../media/image2080.png"/><Relationship Id="rId5" Type="http://schemas.openxmlformats.org/officeDocument/2006/relationships/image" Target="../media/image193.png"/><Relationship Id="rId15" Type="http://schemas.openxmlformats.org/officeDocument/2006/relationships/image" Target="../media/image203.png"/><Relationship Id="rId23" Type="http://schemas.openxmlformats.org/officeDocument/2006/relationships/image" Target="../media/image211.png"/><Relationship Id="rId28" Type="http://schemas.openxmlformats.org/officeDocument/2006/relationships/image" Target="../media/image216.png"/><Relationship Id="rId10" Type="http://schemas.openxmlformats.org/officeDocument/2006/relationships/image" Target="../media/image198.png"/><Relationship Id="rId19" Type="http://schemas.openxmlformats.org/officeDocument/2006/relationships/image" Target="../media/image207.png"/><Relationship Id="rId31" Type="http://schemas.openxmlformats.org/officeDocument/2006/relationships/image" Target="../media/image2070.png"/><Relationship Id="rId4" Type="http://schemas.openxmlformats.org/officeDocument/2006/relationships/image" Target="../media/image192.png"/><Relationship Id="rId9" Type="http://schemas.openxmlformats.org/officeDocument/2006/relationships/image" Target="../media/image197.png"/><Relationship Id="rId14" Type="http://schemas.openxmlformats.org/officeDocument/2006/relationships/image" Target="../media/image202.png"/><Relationship Id="rId22" Type="http://schemas.openxmlformats.org/officeDocument/2006/relationships/image" Target="../media/image210.png"/><Relationship Id="rId27" Type="http://schemas.openxmlformats.org/officeDocument/2006/relationships/image" Target="../media/image215.png"/><Relationship Id="rId30" Type="http://schemas.openxmlformats.org/officeDocument/2006/relationships/image" Target="../media/image218.png"/><Relationship Id="rId8" Type="http://schemas.openxmlformats.org/officeDocument/2006/relationships/image" Target="../media/image196.png"/></Relationships>
</file>

<file path=ppt/slides/_rels/slide18.xml.rels><?xml version="1.0" encoding="UTF-8" standalone="yes"?>
<Relationships xmlns="http://schemas.openxmlformats.org/package/2006/relationships"><Relationship Id="rId2" Type="http://schemas.openxmlformats.org/officeDocument/2006/relationships/image" Target="../media/image2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939600"/>
            <a:ext cx="9144000" cy="2387600"/>
          </a:xfrm>
        </p:spPr>
        <p:txBody>
          <a:bodyPr>
            <a:normAutofit/>
          </a:bodyPr>
          <a:lstStyle/>
          <a:p>
            <a:r>
              <a:rPr lang="en-IN" sz="4000" dirty="0">
                <a:solidFill>
                  <a:srgbClr val="002060"/>
                </a:solidFill>
                <a:latin typeface="Arial Narrow" panose="020B0606020202030204" pitchFamily="34" charset="0"/>
              </a:rPr>
              <a:t>Neural Network Fundamentals</a:t>
            </a:r>
            <a:br>
              <a:rPr lang="en-IN" sz="4000" dirty="0">
                <a:solidFill>
                  <a:srgbClr val="002060"/>
                </a:solidFill>
                <a:latin typeface="Arial Narrow" panose="020B0606020202030204" pitchFamily="34" charset="0"/>
              </a:rPr>
            </a:br>
            <a:r>
              <a:rPr lang="en-IN" sz="3200" dirty="0">
                <a:solidFill>
                  <a:srgbClr val="002060"/>
                </a:solidFill>
                <a:latin typeface="Arial Narrow" panose="020B0606020202030204" pitchFamily="34" charset="0"/>
              </a:rPr>
              <a:t>Backpropagation</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751865"/>
            <a:ext cx="3796748" cy="1384995"/>
          </a:xfrm>
          <a:prstGeom prst="rect">
            <a:avLst/>
          </a:prstGeom>
          <a:noFill/>
        </p:spPr>
        <p:txBody>
          <a:bodyPr wrap="square" rtlCol="0">
            <a:spAutoFit/>
          </a:bodyPr>
          <a:lstStyle/>
          <a:p>
            <a:pPr algn="ctr"/>
            <a:r>
              <a:rPr lang="en-IN" sz="2800" dirty="0">
                <a:latin typeface="Arial Narrow" panose="020B0606020202030204" pitchFamily="34" charset="0"/>
              </a:rPr>
              <a:t>Lecture 3</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Part 3</a:t>
            </a:r>
          </a:p>
        </p:txBody>
      </p:sp>
    </p:spTree>
    <p:extLst>
      <p:ext uri="{BB962C8B-B14F-4D97-AF65-F5344CB8AC3E}">
        <p14:creationId xmlns:p14="http://schemas.microsoft.com/office/powerpoint/2010/main" val="250492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77B3-BB0C-E8EF-D796-A0B6C8D4107F}"/>
              </a:ext>
            </a:extLst>
          </p:cNvPr>
          <p:cNvSpPr>
            <a:spLocks noGrp="1"/>
          </p:cNvSpPr>
          <p:nvPr>
            <p:ph type="title"/>
          </p:nvPr>
        </p:nvSpPr>
        <p:spPr>
          <a:xfrm>
            <a:off x="838200" y="184455"/>
            <a:ext cx="10515600" cy="1325563"/>
          </a:xfrm>
        </p:spPr>
        <p:txBody>
          <a:bodyPr>
            <a:normAutofit/>
          </a:bodyPr>
          <a:lstStyle/>
          <a:p>
            <a:r>
              <a:rPr lang="en-US" dirty="0">
                <a:latin typeface="Century" panose="02040604050505020304" pitchFamily="18" charset="0"/>
                <a:ea typeface="Calibri Light"/>
                <a:cs typeface="Calibri Light"/>
              </a:rPr>
              <a:t>Content</a:t>
            </a:r>
          </a:p>
        </p:txBody>
      </p:sp>
      <p:sp>
        <p:nvSpPr>
          <p:cNvPr id="3" name="Content Placeholder 2">
            <a:extLst>
              <a:ext uri="{FF2B5EF4-FFF2-40B4-BE49-F238E27FC236}">
                <a16:creationId xmlns:a16="http://schemas.microsoft.com/office/drawing/2014/main" id="{79001286-9349-A4FD-CF1F-79D5D7F990F7}"/>
              </a:ext>
            </a:extLst>
          </p:cNvPr>
          <p:cNvSpPr>
            <a:spLocks noGrp="1"/>
          </p:cNvSpPr>
          <p:nvPr>
            <p:ph idx="1"/>
          </p:nvPr>
        </p:nvSpPr>
        <p:spPr>
          <a:xfrm>
            <a:off x="838200" y="1510018"/>
            <a:ext cx="10515600" cy="4857226"/>
          </a:xfrm>
        </p:spPr>
        <p:txBody>
          <a:bodyPr vert="horz" lIns="91440" tIns="45720" rIns="91440" bIns="45720" rtlCol="0" anchor="t">
            <a:normAutofit fontScale="92500"/>
          </a:bodyPr>
          <a:lstStyle/>
          <a:p>
            <a:pPr marL="457200" indent="-457200">
              <a:lnSpc>
                <a:spcPct val="150000"/>
              </a:lnSpc>
            </a:pPr>
            <a:r>
              <a:rPr lang="en-US" sz="2400" dirty="0">
                <a:latin typeface="Arial Narrow" panose="020B0606020202030204" pitchFamily="34" charset="0"/>
                <a:cs typeface="Times New Roman" panose="02020603050405020304" pitchFamily="18" charset="0"/>
              </a:rPr>
              <a:t>Feed Forward Neural Network</a:t>
            </a:r>
          </a:p>
          <a:p>
            <a:pPr marL="457200" indent="-457200">
              <a:lnSpc>
                <a:spcPct val="150000"/>
              </a:lnSpc>
            </a:pPr>
            <a:r>
              <a:rPr lang="en-US" sz="2400" dirty="0">
                <a:latin typeface="Arial Narrow" panose="020B0606020202030204" pitchFamily="34" charset="0"/>
                <a:cs typeface="Times New Roman" panose="02020603050405020304" pitchFamily="18" charset="0"/>
              </a:rPr>
              <a:t>Notations</a:t>
            </a:r>
          </a:p>
          <a:p>
            <a:pPr marL="457200" indent="-457200">
              <a:lnSpc>
                <a:spcPct val="150000"/>
              </a:lnSpc>
            </a:pPr>
            <a:r>
              <a:rPr lang="en-US" sz="2400" dirty="0">
                <a:latin typeface="Arial Narrow" panose="020B0606020202030204" pitchFamily="34" charset="0"/>
                <a:cs typeface="Times New Roman" panose="02020603050405020304" pitchFamily="18" charset="0"/>
              </a:rPr>
              <a:t>Training of the Neural Network</a:t>
            </a:r>
          </a:p>
          <a:p>
            <a:pPr marL="914400" lvl="1" indent="-457200">
              <a:lnSpc>
                <a:spcPct val="150000"/>
              </a:lnSpc>
            </a:pPr>
            <a:r>
              <a:rPr lang="en-US" dirty="0">
                <a:latin typeface="Arial Narrow" panose="020B0606020202030204" pitchFamily="34" charset="0"/>
                <a:cs typeface="Times New Roman" panose="02020603050405020304" pitchFamily="18" charset="0"/>
              </a:rPr>
              <a:t>Forward Pass</a:t>
            </a:r>
          </a:p>
          <a:p>
            <a:pPr marL="914400" lvl="1" indent="-457200">
              <a:lnSpc>
                <a:spcPct val="150000"/>
              </a:lnSpc>
            </a:pPr>
            <a:r>
              <a:rPr lang="en-US" dirty="0">
                <a:latin typeface="Arial Narrow" panose="020B0606020202030204" pitchFamily="34" charset="0"/>
                <a:cs typeface="Times New Roman" panose="02020603050405020304" pitchFamily="18" charset="0"/>
              </a:rPr>
              <a:t>Backward Pass (Backpropagation)</a:t>
            </a:r>
          </a:p>
          <a:p>
            <a:pPr marL="457200" indent="-457200">
              <a:lnSpc>
                <a:spcPct val="150000"/>
              </a:lnSpc>
            </a:pPr>
            <a:r>
              <a:rPr lang="en-US" sz="2400" dirty="0">
                <a:latin typeface="Arial Narrow" panose="020B0606020202030204" pitchFamily="34" charset="0"/>
                <a:cs typeface="Times New Roman" panose="02020603050405020304" pitchFamily="18" charset="0"/>
              </a:rPr>
              <a:t>Training of the Neural Network: 4 Layers Neural Network</a:t>
            </a:r>
          </a:p>
          <a:p>
            <a:pPr marL="457200" indent="-457200">
              <a:lnSpc>
                <a:spcPct val="150000"/>
              </a:lnSpc>
            </a:pPr>
            <a:r>
              <a:rPr lang="en-US" sz="2400" dirty="0">
                <a:latin typeface="Arial Narrow" panose="020B0606020202030204" pitchFamily="34" charset="0"/>
                <a:cs typeface="Times New Roman" panose="02020603050405020304" pitchFamily="18" charset="0"/>
              </a:rPr>
              <a:t>Computational Complexity of the Training</a:t>
            </a:r>
          </a:p>
          <a:p>
            <a:pPr marL="457200" indent="-457200">
              <a:lnSpc>
                <a:spcPct val="150000"/>
              </a:lnSpc>
            </a:pPr>
            <a:r>
              <a:rPr lang="en-US" sz="2400" dirty="0">
                <a:latin typeface="Arial Narrow" panose="020B0606020202030204" pitchFamily="34" charset="0"/>
                <a:cs typeface="Times New Roman" panose="02020603050405020304" pitchFamily="18" charset="0"/>
              </a:rPr>
              <a:t>Space Complexity</a:t>
            </a:r>
            <a:endParaRPr lang="en-IN" sz="24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157062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Rectangle 160"/>
          <p:cNvSpPr/>
          <p:nvPr/>
        </p:nvSpPr>
        <p:spPr>
          <a:xfrm>
            <a:off x="7207273" y="3101516"/>
            <a:ext cx="2358231" cy="592844"/>
          </a:xfrm>
          <a:prstGeom prst="rect">
            <a:avLst/>
          </a:prstGeom>
          <a:solidFill>
            <a:schemeClr val="accent4">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3" name="Title 2"/>
          <p:cNvSpPr>
            <a:spLocks noGrp="1"/>
          </p:cNvSpPr>
          <p:nvPr>
            <p:ph type="title"/>
          </p:nvPr>
        </p:nvSpPr>
        <p:spPr>
          <a:xfrm>
            <a:off x="442207" y="127856"/>
            <a:ext cx="10515600" cy="1325563"/>
          </a:xfrm>
        </p:spPr>
        <p:txBody>
          <a:bodyPr>
            <a:normAutofit/>
          </a:bodyPr>
          <a:lstStyle/>
          <a:p>
            <a:r>
              <a:rPr lang="en-IN" sz="3600" dirty="0">
                <a:latin typeface="Century" panose="02040604050505020304" pitchFamily="18" charset="0"/>
              </a:rPr>
              <a:t>Feed Forward Neural Network</a:t>
            </a:r>
          </a:p>
        </p:txBody>
      </p:sp>
      <p:sp>
        <p:nvSpPr>
          <p:cNvPr id="18" name="Content Placeholder 17"/>
          <p:cNvSpPr>
            <a:spLocks noGrp="1"/>
          </p:cNvSpPr>
          <p:nvPr>
            <p:ph idx="1"/>
          </p:nvPr>
        </p:nvSpPr>
        <p:spPr>
          <a:xfrm>
            <a:off x="296663" y="1523783"/>
            <a:ext cx="5539881" cy="5001303"/>
          </a:xfrm>
        </p:spPr>
        <p:txBody>
          <a:bodyPr>
            <a:normAutofit/>
          </a:bodyPr>
          <a:lstStyle/>
          <a:p>
            <a:pPr algn="just"/>
            <a:r>
              <a:rPr lang="en-US" sz="1800" b="1" dirty="0">
                <a:latin typeface="Arial Narrow" panose="020B0606020202030204" pitchFamily="34" charset="0"/>
              </a:rPr>
              <a:t>Input Layer (Layer 0)</a:t>
            </a:r>
            <a:endParaRPr lang="en-US" sz="1800" dirty="0">
              <a:latin typeface="Arial Narrow" panose="020B0606020202030204" pitchFamily="34" charset="0"/>
            </a:endParaRPr>
          </a:p>
          <a:p>
            <a:pPr marL="540000" algn="just"/>
            <a:r>
              <a:rPr lang="en-US" sz="1800" dirty="0">
                <a:latin typeface="Arial Narrow" panose="020B0606020202030204" pitchFamily="34" charset="0"/>
              </a:rPr>
              <a:t>Acts as the </a:t>
            </a:r>
            <a:r>
              <a:rPr lang="en-US" sz="1800" dirty="0">
                <a:solidFill>
                  <a:srgbClr val="00B0F0"/>
                </a:solidFill>
                <a:latin typeface="Arial Narrow" panose="020B0606020202030204" pitchFamily="34" charset="0"/>
              </a:rPr>
              <a:t>gateway </a:t>
            </a:r>
            <a:r>
              <a:rPr lang="en-US" sz="1800" dirty="0">
                <a:latin typeface="Arial Narrow" panose="020B0606020202030204" pitchFamily="34" charset="0"/>
              </a:rPr>
              <a:t>to the neural network. </a:t>
            </a:r>
          </a:p>
          <a:p>
            <a:pPr marL="540000" algn="just"/>
            <a:r>
              <a:rPr lang="en-US" sz="1800" dirty="0">
                <a:latin typeface="Arial Narrow" panose="020B0606020202030204" pitchFamily="34" charset="0"/>
              </a:rPr>
              <a:t>Receives the input features and passes them to the subsequent layers without performing any computation. </a:t>
            </a:r>
          </a:p>
          <a:p>
            <a:pPr algn="just"/>
            <a:r>
              <a:rPr lang="en-US" sz="1800" b="1" dirty="0">
                <a:latin typeface="Arial Narrow" panose="020B0606020202030204" pitchFamily="34" charset="0"/>
              </a:rPr>
              <a:t>Hidden Layers (Layers 1 to k)</a:t>
            </a:r>
            <a:endParaRPr lang="en-US" sz="1800" dirty="0">
              <a:latin typeface="Arial Narrow" panose="020B0606020202030204" pitchFamily="34" charset="0"/>
            </a:endParaRPr>
          </a:p>
          <a:p>
            <a:pPr marL="540000" algn="just"/>
            <a:r>
              <a:rPr lang="en-US" sz="1800" dirty="0">
                <a:solidFill>
                  <a:srgbClr val="00B0F0"/>
                </a:solidFill>
                <a:latin typeface="Arial Narrow" panose="020B0606020202030204" pitchFamily="34" charset="0"/>
              </a:rPr>
              <a:t>Extract and learn </a:t>
            </a:r>
            <a:r>
              <a:rPr lang="en-US" sz="1800" dirty="0">
                <a:latin typeface="Arial Narrow" panose="020B0606020202030204" pitchFamily="34" charset="0"/>
              </a:rPr>
              <a:t>meaningful patterns from the input data. </a:t>
            </a:r>
          </a:p>
          <a:p>
            <a:pPr marL="540000" algn="just"/>
            <a:r>
              <a:rPr lang="en-US" sz="1800" dirty="0">
                <a:latin typeface="Arial Narrow" panose="020B0606020202030204" pitchFamily="34" charset="0"/>
              </a:rPr>
              <a:t>Early hidden layers identify </a:t>
            </a:r>
            <a:r>
              <a:rPr lang="en-US" sz="1800" dirty="0">
                <a:solidFill>
                  <a:srgbClr val="00B0F0"/>
                </a:solidFill>
                <a:latin typeface="Arial Narrow" panose="020B0606020202030204" pitchFamily="34" charset="0"/>
              </a:rPr>
              <a:t>basic and low-level features</a:t>
            </a:r>
            <a:r>
              <a:rPr lang="en-US" sz="1800" dirty="0">
                <a:latin typeface="Arial Narrow" panose="020B0606020202030204" pitchFamily="34" charset="0"/>
              </a:rPr>
              <a:t>. </a:t>
            </a:r>
          </a:p>
          <a:p>
            <a:pPr marL="540000" algn="just"/>
            <a:r>
              <a:rPr lang="en-US" sz="1800" dirty="0">
                <a:latin typeface="Arial Narrow" panose="020B0606020202030204" pitchFamily="34" charset="0"/>
              </a:rPr>
              <a:t>Deeper hidden layers </a:t>
            </a:r>
            <a:r>
              <a:rPr lang="en-US" sz="1800" dirty="0">
                <a:solidFill>
                  <a:srgbClr val="00B0F0"/>
                </a:solidFill>
                <a:latin typeface="Arial Narrow" panose="020B0606020202030204" pitchFamily="34" charset="0"/>
              </a:rPr>
              <a:t>progressively combine these features to capture higher-level and more abstract representations</a:t>
            </a:r>
            <a:r>
              <a:rPr lang="en-US" sz="1800" dirty="0">
                <a:latin typeface="Arial Narrow" panose="020B0606020202030204" pitchFamily="34" charset="0"/>
              </a:rPr>
              <a:t>. </a:t>
            </a:r>
          </a:p>
          <a:p>
            <a:pPr algn="just"/>
            <a:r>
              <a:rPr lang="en-US" sz="1800" b="1" dirty="0">
                <a:latin typeface="Arial Narrow" panose="020B0606020202030204" pitchFamily="34" charset="0"/>
              </a:rPr>
              <a:t>Output Layer (Layer k+1)</a:t>
            </a:r>
            <a:endParaRPr lang="en-US" sz="1800" dirty="0">
              <a:latin typeface="Arial Narrow" panose="020B0606020202030204" pitchFamily="34" charset="0"/>
            </a:endParaRPr>
          </a:p>
          <a:p>
            <a:pPr marL="540000" algn="just"/>
            <a:r>
              <a:rPr lang="en-US" sz="1800" dirty="0">
                <a:latin typeface="Arial Narrow" panose="020B0606020202030204" pitchFamily="34" charset="0"/>
              </a:rPr>
              <a:t>Produces the </a:t>
            </a:r>
            <a:r>
              <a:rPr lang="en-US" sz="1800" dirty="0">
                <a:solidFill>
                  <a:srgbClr val="00B0F0"/>
                </a:solidFill>
                <a:latin typeface="Arial Narrow" panose="020B0606020202030204" pitchFamily="34" charset="0"/>
              </a:rPr>
              <a:t>final prediction or decision </a:t>
            </a:r>
            <a:r>
              <a:rPr lang="en-US" sz="1800" dirty="0">
                <a:latin typeface="Arial Narrow" panose="020B0606020202030204" pitchFamily="34" charset="0"/>
              </a:rPr>
              <a:t>of the network. </a:t>
            </a:r>
          </a:p>
          <a:p>
            <a:pPr marL="540000" algn="just"/>
            <a:r>
              <a:rPr lang="en-US" sz="1800" dirty="0">
                <a:latin typeface="Arial Narrow" panose="020B0606020202030204" pitchFamily="34" charset="0"/>
              </a:rPr>
              <a:t>Applies an appropriate activation function to generate the desired output.</a:t>
            </a:r>
            <a:r>
              <a:rPr lang="en-IN" sz="1800" dirty="0">
                <a:latin typeface="Arial Narrow" panose="020B0606020202030204" pitchFamily="34" charset="0"/>
              </a:rPr>
              <a:t>	</a:t>
            </a:r>
            <a:endParaRPr lang="en-US" sz="1800" dirty="0">
              <a:latin typeface="Arial Narrow" panose="020B0606020202030204" pitchFamily="34" charset="0"/>
            </a:endParaRPr>
          </a:p>
        </p:txBody>
      </p:sp>
      <p:sp>
        <p:nvSpPr>
          <p:cNvPr id="142" name="Rectangle 141"/>
          <p:cNvSpPr/>
          <p:nvPr/>
        </p:nvSpPr>
        <p:spPr>
          <a:xfrm>
            <a:off x="7207273" y="4261950"/>
            <a:ext cx="2358231" cy="592844"/>
          </a:xfrm>
          <a:prstGeom prst="rect">
            <a:avLst/>
          </a:prstGeom>
          <a:solidFill>
            <a:schemeClr val="accent2">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43" name="Rounded Rectangle 142"/>
          <p:cNvSpPr/>
          <p:nvPr/>
        </p:nvSpPr>
        <p:spPr>
          <a:xfrm>
            <a:off x="6831260" y="2060157"/>
            <a:ext cx="376013" cy="386900"/>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44" name="Rounded Rectangle 143"/>
          <p:cNvSpPr/>
          <p:nvPr/>
        </p:nvSpPr>
        <p:spPr>
          <a:xfrm>
            <a:off x="7464216" y="2060157"/>
            <a:ext cx="376013" cy="386900"/>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45" name="Rounded Rectangle 144"/>
          <p:cNvSpPr/>
          <p:nvPr/>
        </p:nvSpPr>
        <p:spPr>
          <a:xfrm>
            <a:off x="8556535" y="2060157"/>
            <a:ext cx="376013" cy="386900"/>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46" name="Rounded Rectangle 145"/>
          <p:cNvSpPr/>
          <p:nvPr/>
        </p:nvSpPr>
        <p:spPr>
          <a:xfrm>
            <a:off x="9565504" y="2060157"/>
            <a:ext cx="376013" cy="386900"/>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47" name="Oval 146"/>
          <p:cNvSpPr/>
          <p:nvPr/>
        </p:nvSpPr>
        <p:spPr>
          <a:xfrm>
            <a:off x="7959296" y="2253606"/>
            <a:ext cx="60163" cy="8097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48" name="Oval 147"/>
          <p:cNvSpPr/>
          <p:nvPr/>
        </p:nvSpPr>
        <p:spPr>
          <a:xfrm>
            <a:off x="8149814" y="2253606"/>
            <a:ext cx="60163" cy="8097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49" name="Oval 148"/>
          <p:cNvSpPr/>
          <p:nvPr/>
        </p:nvSpPr>
        <p:spPr>
          <a:xfrm>
            <a:off x="8340331" y="2253606"/>
            <a:ext cx="60163" cy="8097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0" name="Oval 149"/>
          <p:cNvSpPr/>
          <p:nvPr/>
        </p:nvSpPr>
        <p:spPr>
          <a:xfrm>
            <a:off x="9028427" y="2253606"/>
            <a:ext cx="60163" cy="8097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1" name="Oval 150"/>
          <p:cNvSpPr/>
          <p:nvPr/>
        </p:nvSpPr>
        <p:spPr>
          <a:xfrm>
            <a:off x="9218945" y="2253606"/>
            <a:ext cx="60163" cy="8097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2" name="Oval 151"/>
          <p:cNvSpPr/>
          <p:nvPr/>
        </p:nvSpPr>
        <p:spPr>
          <a:xfrm>
            <a:off x="9409463" y="2253606"/>
            <a:ext cx="60163" cy="8097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3" name="Rounded Rectangle 152"/>
          <p:cNvSpPr/>
          <p:nvPr/>
        </p:nvSpPr>
        <p:spPr>
          <a:xfrm>
            <a:off x="7393295" y="3208984"/>
            <a:ext cx="376013" cy="386900"/>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4" name="Rounded Rectangle 153"/>
          <p:cNvSpPr/>
          <p:nvPr/>
        </p:nvSpPr>
        <p:spPr>
          <a:xfrm>
            <a:off x="8207994" y="3204490"/>
            <a:ext cx="376013" cy="386900"/>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5" name="Rounded Rectangle 154"/>
          <p:cNvSpPr/>
          <p:nvPr/>
        </p:nvSpPr>
        <p:spPr>
          <a:xfrm>
            <a:off x="9022692" y="3204489"/>
            <a:ext cx="414298" cy="386900"/>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6" name="Oval 155"/>
          <p:cNvSpPr/>
          <p:nvPr/>
        </p:nvSpPr>
        <p:spPr>
          <a:xfrm>
            <a:off x="7877800" y="3370332"/>
            <a:ext cx="60163" cy="8097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7" name="Oval 156"/>
          <p:cNvSpPr/>
          <p:nvPr/>
        </p:nvSpPr>
        <p:spPr>
          <a:xfrm>
            <a:off x="8068317" y="3370332"/>
            <a:ext cx="60163" cy="8097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8" name="Oval 157"/>
          <p:cNvSpPr/>
          <p:nvPr/>
        </p:nvSpPr>
        <p:spPr>
          <a:xfrm>
            <a:off x="8679572" y="3370332"/>
            <a:ext cx="60163" cy="8097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59" name="Oval 158"/>
          <p:cNvSpPr/>
          <p:nvPr/>
        </p:nvSpPr>
        <p:spPr>
          <a:xfrm>
            <a:off x="8870090" y="3370332"/>
            <a:ext cx="60163" cy="8097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60" name="Rectangle 159"/>
          <p:cNvSpPr/>
          <p:nvPr/>
        </p:nvSpPr>
        <p:spPr>
          <a:xfrm>
            <a:off x="6758940" y="1959828"/>
            <a:ext cx="3279712" cy="592844"/>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Arial Narrow" panose="020B0606020202030204" pitchFamily="34" charset="0"/>
            </a:endParaRPr>
          </a:p>
        </p:txBody>
      </p:sp>
      <p:sp>
        <p:nvSpPr>
          <p:cNvPr id="162" name="Rounded Rectangle 161"/>
          <p:cNvSpPr/>
          <p:nvPr/>
        </p:nvSpPr>
        <p:spPr>
          <a:xfrm>
            <a:off x="7393295" y="4369419"/>
            <a:ext cx="376013" cy="386900"/>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63" name="Rounded Rectangle 162"/>
          <p:cNvSpPr/>
          <p:nvPr/>
        </p:nvSpPr>
        <p:spPr>
          <a:xfrm>
            <a:off x="8207994" y="4364924"/>
            <a:ext cx="376013" cy="386900"/>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64" name="Rounded Rectangle 163"/>
          <p:cNvSpPr/>
          <p:nvPr/>
        </p:nvSpPr>
        <p:spPr>
          <a:xfrm>
            <a:off x="9022692" y="4364923"/>
            <a:ext cx="376013" cy="386900"/>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65" name="Oval 164"/>
          <p:cNvSpPr/>
          <p:nvPr/>
        </p:nvSpPr>
        <p:spPr>
          <a:xfrm>
            <a:off x="7877800" y="4530766"/>
            <a:ext cx="60163" cy="8097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66" name="Oval 165"/>
          <p:cNvSpPr/>
          <p:nvPr/>
        </p:nvSpPr>
        <p:spPr>
          <a:xfrm>
            <a:off x="8068317" y="4530766"/>
            <a:ext cx="60163" cy="8097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67" name="Oval 166"/>
          <p:cNvSpPr/>
          <p:nvPr/>
        </p:nvSpPr>
        <p:spPr>
          <a:xfrm>
            <a:off x="8679572" y="4530766"/>
            <a:ext cx="60163" cy="8097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68" name="Oval 167"/>
          <p:cNvSpPr/>
          <p:nvPr/>
        </p:nvSpPr>
        <p:spPr>
          <a:xfrm>
            <a:off x="8870090" y="4530766"/>
            <a:ext cx="60163" cy="8097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69" name="Down Arrow 168"/>
          <p:cNvSpPr/>
          <p:nvPr/>
        </p:nvSpPr>
        <p:spPr>
          <a:xfrm>
            <a:off x="8284554" y="2554156"/>
            <a:ext cx="222892" cy="541364"/>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70" name="Rounded Rectangle 169"/>
          <p:cNvSpPr/>
          <p:nvPr/>
        </p:nvSpPr>
        <p:spPr>
          <a:xfrm>
            <a:off x="7803881" y="5385250"/>
            <a:ext cx="376013" cy="386900"/>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71" name="Rounded Rectangle 170"/>
          <p:cNvSpPr/>
          <p:nvPr/>
        </p:nvSpPr>
        <p:spPr>
          <a:xfrm>
            <a:off x="8584007" y="5389758"/>
            <a:ext cx="376013" cy="386900"/>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72" name="Rectangle 171"/>
          <p:cNvSpPr/>
          <p:nvPr/>
        </p:nvSpPr>
        <p:spPr>
          <a:xfrm>
            <a:off x="7607100" y="5282278"/>
            <a:ext cx="1611845" cy="592844"/>
          </a:xfrm>
          <a:prstGeom prst="rect">
            <a:avLst/>
          </a:prstGeom>
          <a:solidFill>
            <a:schemeClr val="tx2">
              <a:lumMod val="60000"/>
              <a:lumOff val="40000"/>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173" name="Straight Arrow Connector 172"/>
          <p:cNvCxnSpPr>
            <a:stCxn id="174" idx="1"/>
            <a:endCxn id="160" idx="3"/>
          </p:cNvCxnSpPr>
          <p:nvPr/>
        </p:nvCxnSpPr>
        <p:spPr>
          <a:xfrm flipH="1">
            <a:off x="10038652" y="2253616"/>
            <a:ext cx="710228" cy="2634"/>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TextBox 173"/>
          <p:cNvSpPr txBox="1"/>
          <p:nvPr/>
        </p:nvSpPr>
        <p:spPr>
          <a:xfrm>
            <a:off x="10748880" y="1930450"/>
            <a:ext cx="1147017" cy="646331"/>
          </a:xfrm>
          <a:prstGeom prst="rect">
            <a:avLst/>
          </a:prstGeom>
          <a:noFill/>
        </p:spPr>
        <p:txBody>
          <a:bodyPr wrap="square" rtlCol="0">
            <a:spAutoFit/>
          </a:bodyPr>
          <a:lstStyle/>
          <a:p>
            <a:r>
              <a:rPr lang="en-IN" dirty="0">
                <a:latin typeface="Arial Narrow" panose="020B0606020202030204" pitchFamily="34" charset="0"/>
              </a:rPr>
              <a:t>Input Layer (Layer 0)</a:t>
            </a:r>
          </a:p>
        </p:txBody>
      </p:sp>
      <p:cxnSp>
        <p:nvCxnSpPr>
          <p:cNvPr id="175" name="Straight Arrow Connector 174"/>
          <p:cNvCxnSpPr>
            <a:stCxn id="176" idx="1"/>
            <a:endCxn id="172" idx="3"/>
          </p:cNvCxnSpPr>
          <p:nvPr/>
        </p:nvCxnSpPr>
        <p:spPr>
          <a:xfrm flipH="1" flipV="1">
            <a:off x="9218945" y="5578700"/>
            <a:ext cx="1296458" cy="707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6" name="TextBox 175"/>
          <p:cNvSpPr txBox="1"/>
          <p:nvPr/>
        </p:nvSpPr>
        <p:spPr>
          <a:xfrm>
            <a:off x="10515403" y="5262604"/>
            <a:ext cx="1140977" cy="646331"/>
          </a:xfrm>
          <a:prstGeom prst="rect">
            <a:avLst/>
          </a:prstGeom>
          <a:noFill/>
        </p:spPr>
        <p:txBody>
          <a:bodyPr wrap="square" rtlCol="0">
            <a:spAutoFit/>
          </a:bodyPr>
          <a:lstStyle/>
          <a:p>
            <a:r>
              <a:rPr lang="en-IN" dirty="0">
                <a:latin typeface="Arial Narrow" panose="020B0606020202030204" pitchFamily="34" charset="0"/>
              </a:rPr>
              <a:t>Output Layer(k+1)</a:t>
            </a:r>
          </a:p>
        </p:txBody>
      </p:sp>
      <p:sp>
        <p:nvSpPr>
          <p:cNvPr id="177" name="Down Arrow 176"/>
          <p:cNvSpPr/>
          <p:nvPr/>
        </p:nvSpPr>
        <p:spPr>
          <a:xfrm>
            <a:off x="7826516" y="4851923"/>
            <a:ext cx="222892" cy="422172"/>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cxnSp>
        <p:nvCxnSpPr>
          <p:cNvPr id="178" name="Straight Arrow Connector 177"/>
          <p:cNvCxnSpPr>
            <a:stCxn id="179" idx="1"/>
            <a:endCxn id="161" idx="3"/>
          </p:cNvCxnSpPr>
          <p:nvPr/>
        </p:nvCxnSpPr>
        <p:spPr>
          <a:xfrm flipH="1">
            <a:off x="9565504" y="3393921"/>
            <a:ext cx="473148" cy="4017"/>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9" name="TextBox 178"/>
          <p:cNvSpPr txBox="1"/>
          <p:nvPr/>
        </p:nvSpPr>
        <p:spPr>
          <a:xfrm>
            <a:off x="10038652" y="3070755"/>
            <a:ext cx="1838311" cy="646331"/>
          </a:xfrm>
          <a:prstGeom prst="rect">
            <a:avLst/>
          </a:prstGeom>
          <a:noFill/>
        </p:spPr>
        <p:txBody>
          <a:bodyPr wrap="square" rtlCol="0">
            <a:spAutoFit/>
          </a:bodyPr>
          <a:lstStyle/>
          <a:p>
            <a:pPr algn="ctr"/>
            <a:r>
              <a:rPr lang="en-IN" dirty="0">
                <a:latin typeface="Arial Narrow" panose="020B0606020202030204" pitchFamily="34" charset="0"/>
              </a:rPr>
              <a:t>Hidden Layer with </a:t>
            </a:r>
            <a:r>
              <a:rPr lang="en-IN" i="1" dirty="0">
                <a:latin typeface="Cambria" panose="02040503050406030204" pitchFamily="18" charset="0"/>
                <a:ea typeface="Cambria" panose="02040503050406030204" pitchFamily="18" charset="0"/>
              </a:rPr>
              <a:t>n</a:t>
            </a:r>
            <a:r>
              <a:rPr lang="en-IN" i="1" dirty="0">
                <a:latin typeface="Arial Narrow" panose="020B0606020202030204" pitchFamily="34" charset="0"/>
              </a:rPr>
              <a:t> </a:t>
            </a:r>
            <a:r>
              <a:rPr lang="en-IN" dirty="0">
                <a:latin typeface="Arial Narrow" panose="020B0606020202030204" pitchFamily="34" charset="0"/>
              </a:rPr>
              <a:t>No. of neurons</a:t>
            </a:r>
          </a:p>
        </p:txBody>
      </p:sp>
      <p:cxnSp>
        <p:nvCxnSpPr>
          <p:cNvPr id="180" name="Straight Arrow Connector 179"/>
          <p:cNvCxnSpPr>
            <a:stCxn id="181" idx="1"/>
            <a:endCxn id="142" idx="3"/>
          </p:cNvCxnSpPr>
          <p:nvPr/>
        </p:nvCxnSpPr>
        <p:spPr>
          <a:xfrm flipH="1" flipV="1">
            <a:off x="9565504" y="4558372"/>
            <a:ext cx="667925" cy="4858"/>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10233429" y="4240064"/>
            <a:ext cx="1715555" cy="646331"/>
          </a:xfrm>
          <a:prstGeom prst="rect">
            <a:avLst/>
          </a:prstGeom>
          <a:noFill/>
        </p:spPr>
        <p:txBody>
          <a:bodyPr wrap="square" rtlCol="0">
            <a:spAutoFit/>
          </a:bodyPr>
          <a:lstStyle/>
          <a:p>
            <a:pPr algn="ctr"/>
            <a:r>
              <a:rPr lang="en-IN" dirty="0">
                <a:latin typeface="Arial Narrow" panose="020B0606020202030204" pitchFamily="34" charset="0"/>
              </a:rPr>
              <a:t>Hidden Layer with </a:t>
            </a:r>
            <a:r>
              <a:rPr lang="en-IN" i="1" dirty="0">
                <a:latin typeface="Cambria" panose="02040503050406030204" pitchFamily="18" charset="0"/>
                <a:ea typeface="Cambria" panose="02040503050406030204" pitchFamily="18" charset="0"/>
              </a:rPr>
              <a:t>r</a:t>
            </a:r>
            <a:r>
              <a:rPr lang="en-IN" i="1" dirty="0">
                <a:latin typeface="Arial Narrow" panose="020B0606020202030204" pitchFamily="34" charset="0"/>
              </a:rPr>
              <a:t> </a:t>
            </a:r>
            <a:r>
              <a:rPr lang="en-IN" dirty="0">
                <a:latin typeface="Arial Narrow" panose="020B0606020202030204" pitchFamily="34" charset="0"/>
              </a:rPr>
              <a:t>No. of neurons</a:t>
            </a:r>
          </a:p>
        </p:txBody>
      </p:sp>
      <mc:AlternateContent xmlns:mc="http://schemas.openxmlformats.org/markup-compatibility/2006" xmlns:a14="http://schemas.microsoft.com/office/drawing/2010/main">
        <mc:Choice Requires="a14">
          <p:sp>
            <p:nvSpPr>
              <p:cNvPr id="182" name="Rectangle 181"/>
              <p:cNvSpPr/>
              <p:nvPr/>
            </p:nvSpPr>
            <p:spPr>
              <a:xfrm>
                <a:off x="6833354" y="2044828"/>
                <a:ext cx="354842"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0</m:t>
                          </m:r>
                        </m:sub>
                      </m:sSub>
                    </m:oMath>
                  </m:oMathPara>
                </a14:m>
                <a:endParaRPr lang="en-IN" dirty="0">
                  <a:latin typeface="Arial Narrow" panose="020B0606020202030204" pitchFamily="34" charset="0"/>
                </a:endParaRPr>
              </a:p>
            </p:txBody>
          </p:sp>
        </mc:Choice>
        <mc:Fallback xmlns="">
          <p:sp>
            <p:nvSpPr>
              <p:cNvPr id="182" name="Rectangle 181"/>
              <p:cNvSpPr>
                <a:spLocks noRot="1" noChangeAspect="1" noMove="1" noResize="1" noEditPoints="1" noAdjustHandles="1" noChangeArrowheads="1" noChangeShapeType="1" noTextEdit="1"/>
              </p:cNvSpPr>
              <p:nvPr/>
            </p:nvSpPr>
            <p:spPr>
              <a:xfrm>
                <a:off x="6833354" y="2044828"/>
                <a:ext cx="354842" cy="381895"/>
              </a:xfrm>
              <a:prstGeom prst="rect">
                <a:avLst/>
              </a:prstGeom>
              <a:blipFill>
                <a:blip r:embed="rId2"/>
                <a:stretch>
                  <a:fillRect b="-79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3" name="Rectangle 182"/>
              <p:cNvSpPr/>
              <p:nvPr/>
            </p:nvSpPr>
            <p:spPr>
              <a:xfrm>
                <a:off x="7455513" y="2042995"/>
                <a:ext cx="350084"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83" name="Rectangle 182"/>
              <p:cNvSpPr>
                <a:spLocks noRot="1" noChangeAspect="1" noMove="1" noResize="1" noEditPoints="1" noAdjustHandles="1" noChangeArrowheads="1" noChangeShapeType="1" noTextEdit="1"/>
              </p:cNvSpPr>
              <p:nvPr/>
            </p:nvSpPr>
            <p:spPr>
              <a:xfrm>
                <a:off x="7455513" y="2042995"/>
                <a:ext cx="350084" cy="381895"/>
              </a:xfrm>
              <a:prstGeom prst="rect">
                <a:avLst/>
              </a:prstGeom>
              <a:blipFill>
                <a:blip r:embed="rId3"/>
                <a:stretch>
                  <a:fillRect b="-79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4" name="Rectangle 183"/>
              <p:cNvSpPr/>
              <p:nvPr/>
            </p:nvSpPr>
            <p:spPr>
              <a:xfrm>
                <a:off x="8562569" y="2029061"/>
                <a:ext cx="325429"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𝑙</m:t>
                          </m:r>
                        </m:sub>
                      </m:sSub>
                    </m:oMath>
                  </m:oMathPara>
                </a14:m>
                <a:endParaRPr lang="en-IN" dirty="0">
                  <a:latin typeface="Arial Narrow" panose="020B0606020202030204" pitchFamily="34" charset="0"/>
                </a:endParaRPr>
              </a:p>
            </p:txBody>
          </p:sp>
        </mc:Choice>
        <mc:Fallback xmlns="">
          <p:sp>
            <p:nvSpPr>
              <p:cNvPr id="184" name="Rectangle 183"/>
              <p:cNvSpPr>
                <a:spLocks noRot="1" noChangeAspect="1" noMove="1" noResize="1" noEditPoints="1" noAdjustHandles="1" noChangeArrowheads="1" noChangeShapeType="1" noTextEdit="1"/>
              </p:cNvSpPr>
              <p:nvPr/>
            </p:nvSpPr>
            <p:spPr>
              <a:xfrm>
                <a:off x="8562569" y="2029061"/>
                <a:ext cx="325429" cy="381895"/>
              </a:xfrm>
              <a:prstGeom prst="rect">
                <a:avLst/>
              </a:prstGeom>
              <a:blipFill>
                <a:blip r:embed="rId4"/>
                <a:stretch>
                  <a:fillRect b="-96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5" name="Rectangle 184"/>
              <p:cNvSpPr/>
              <p:nvPr/>
            </p:nvSpPr>
            <p:spPr>
              <a:xfrm>
                <a:off x="9565853" y="2033636"/>
                <a:ext cx="46083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𝑛</m:t>
                          </m:r>
                        </m:sub>
                      </m:sSub>
                    </m:oMath>
                  </m:oMathPara>
                </a14:m>
                <a:endParaRPr lang="en-IN" dirty="0">
                  <a:latin typeface="Arial Narrow" panose="020B0606020202030204" pitchFamily="34" charset="0"/>
                </a:endParaRPr>
              </a:p>
            </p:txBody>
          </p:sp>
        </mc:Choice>
        <mc:Fallback xmlns="">
          <p:sp>
            <p:nvSpPr>
              <p:cNvPr id="185" name="Rectangle 184"/>
              <p:cNvSpPr>
                <a:spLocks noRot="1" noChangeAspect="1" noMove="1" noResize="1" noEditPoints="1" noAdjustHandles="1" noChangeArrowheads="1" noChangeShapeType="1" noTextEdit="1"/>
              </p:cNvSpPr>
              <p:nvPr/>
            </p:nvSpPr>
            <p:spPr>
              <a:xfrm>
                <a:off x="9565853" y="2033636"/>
                <a:ext cx="460831" cy="40011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6" name="Rectangle 185"/>
              <p:cNvSpPr/>
              <p:nvPr/>
            </p:nvSpPr>
            <p:spPr>
              <a:xfrm>
                <a:off x="7334678" y="3176125"/>
                <a:ext cx="484819"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h</m:t>
                          </m:r>
                        </m:e>
                        <m:sub>
                          <m:r>
                            <a:rPr lang="en-IN" sz="2000" b="0" i="1" smtClean="0">
                              <a:latin typeface="Cambria Math" panose="02040503050406030204" pitchFamily="18" charset="0"/>
                            </a:rPr>
                            <m:t>11</m:t>
                          </m:r>
                        </m:sub>
                      </m:sSub>
                    </m:oMath>
                  </m:oMathPara>
                </a14:m>
                <a:endParaRPr lang="en-IN" dirty="0">
                  <a:latin typeface="Arial Narrow" panose="020B0606020202030204" pitchFamily="34" charset="0"/>
                </a:endParaRPr>
              </a:p>
            </p:txBody>
          </p:sp>
        </mc:Choice>
        <mc:Fallback xmlns="">
          <p:sp>
            <p:nvSpPr>
              <p:cNvPr id="186" name="Rectangle 185"/>
              <p:cNvSpPr>
                <a:spLocks noRot="1" noChangeAspect="1" noMove="1" noResize="1" noEditPoints="1" noAdjustHandles="1" noChangeArrowheads="1" noChangeShapeType="1" noTextEdit="1"/>
              </p:cNvSpPr>
              <p:nvPr/>
            </p:nvSpPr>
            <p:spPr>
              <a:xfrm>
                <a:off x="7334678" y="3176125"/>
                <a:ext cx="484819" cy="381895"/>
              </a:xfrm>
              <a:prstGeom prst="rect">
                <a:avLst/>
              </a:prstGeom>
              <a:blipFill>
                <a:blip r:embed="rId6"/>
                <a:stretch>
                  <a:fillRect r="-3750" b="-79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7" name="Rectangle 186"/>
              <p:cNvSpPr/>
              <p:nvPr/>
            </p:nvSpPr>
            <p:spPr>
              <a:xfrm>
                <a:off x="8901279" y="3161177"/>
                <a:ext cx="67666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h</m:t>
                          </m:r>
                        </m:e>
                        <m:sub>
                          <m:r>
                            <a:rPr lang="en-IN" sz="2000" b="0" i="1" smtClean="0">
                              <a:latin typeface="Cambria Math" panose="02040503050406030204" pitchFamily="18" charset="0"/>
                            </a:rPr>
                            <m:t>1</m:t>
                          </m:r>
                          <m:r>
                            <a:rPr lang="en-IN" sz="2000" b="0" i="1" smtClean="0">
                              <a:latin typeface="Cambria Math" panose="02040503050406030204" pitchFamily="18" charset="0"/>
                            </a:rPr>
                            <m:t>𝑚</m:t>
                          </m:r>
                        </m:sub>
                      </m:sSub>
                    </m:oMath>
                  </m:oMathPara>
                </a14:m>
                <a:endParaRPr lang="en-IN" dirty="0">
                  <a:latin typeface="Arial Narrow" panose="020B0606020202030204" pitchFamily="34" charset="0"/>
                </a:endParaRPr>
              </a:p>
            </p:txBody>
          </p:sp>
        </mc:Choice>
        <mc:Fallback xmlns="">
          <p:sp>
            <p:nvSpPr>
              <p:cNvPr id="187" name="Rectangle 186"/>
              <p:cNvSpPr>
                <a:spLocks noRot="1" noChangeAspect="1" noMove="1" noResize="1" noEditPoints="1" noAdjustHandles="1" noChangeArrowheads="1" noChangeShapeType="1" noTextEdit="1"/>
              </p:cNvSpPr>
              <p:nvPr/>
            </p:nvSpPr>
            <p:spPr>
              <a:xfrm>
                <a:off x="8901279" y="3161177"/>
                <a:ext cx="676660" cy="400110"/>
              </a:xfrm>
              <a:prstGeom prst="rect">
                <a:avLst/>
              </a:prstGeom>
              <a:blipFill>
                <a:blip r:embed="rId7"/>
                <a:stretch>
                  <a:fillRect b="-30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8" name="Rectangle 187"/>
              <p:cNvSpPr/>
              <p:nvPr/>
            </p:nvSpPr>
            <p:spPr>
              <a:xfrm>
                <a:off x="8137715" y="3154597"/>
                <a:ext cx="482926"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h</m:t>
                          </m:r>
                        </m:e>
                        <m:sub>
                          <m:r>
                            <a:rPr lang="en-IN" sz="2000" b="0" i="1" smtClean="0">
                              <a:latin typeface="Cambria Math" panose="02040503050406030204" pitchFamily="18" charset="0"/>
                            </a:rPr>
                            <m:t>1</m:t>
                          </m:r>
                          <m:r>
                            <a:rPr lang="en-IN" sz="2000" b="0" i="1" smtClean="0">
                              <a:latin typeface="Cambria Math" panose="02040503050406030204" pitchFamily="18" charset="0"/>
                            </a:rPr>
                            <m:t>𝑒</m:t>
                          </m:r>
                        </m:sub>
                      </m:sSub>
                    </m:oMath>
                  </m:oMathPara>
                </a14:m>
                <a:endParaRPr lang="en-IN" dirty="0">
                  <a:latin typeface="Arial Narrow" panose="020B0606020202030204" pitchFamily="34" charset="0"/>
                </a:endParaRPr>
              </a:p>
            </p:txBody>
          </p:sp>
        </mc:Choice>
        <mc:Fallback xmlns="">
          <p:sp>
            <p:nvSpPr>
              <p:cNvPr id="188" name="Rectangle 187"/>
              <p:cNvSpPr>
                <a:spLocks noRot="1" noChangeAspect="1" noMove="1" noResize="1" noEditPoints="1" noAdjustHandles="1" noChangeArrowheads="1" noChangeShapeType="1" noTextEdit="1"/>
              </p:cNvSpPr>
              <p:nvPr/>
            </p:nvSpPr>
            <p:spPr>
              <a:xfrm>
                <a:off x="8137715" y="3154597"/>
                <a:ext cx="482926" cy="381895"/>
              </a:xfrm>
              <a:prstGeom prst="rect">
                <a:avLst/>
              </a:prstGeom>
              <a:blipFill>
                <a:blip r:embed="rId8"/>
                <a:stretch>
                  <a:fillRect r="-3797" b="-79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9" name="Rectangle 188"/>
              <p:cNvSpPr/>
              <p:nvPr/>
            </p:nvSpPr>
            <p:spPr>
              <a:xfrm>
                <a:off x="8946493" y="4326819"/>
                <a:ext cx="490497"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h</m:t>
                          </m:r>
                        </m:e>
                        <m:sub>
                          <m:r>
                            <a:rPr lang="en-IN" sz="2000" b="0" i="1" smtClean="0">
                              <a:latin typeface="Cambria Math" panose="02040503050406030204" pitchFamily="18" charset="0"/>
                            </a:rPr>
                            <m:t>𝑘𝑟</m:t>
                          </m:r>
                        </m:sub>
                      </m:sSub>
                    </m:oMath>
                  </m:oMathPara>
                </a14:m>
                <a:endParaRPr lang="en-IN" dirty="0">
                  <a:latin typeface="Arial Narrow" panose="020B0606020202030204" pitchFamily="34" charset="0"/>
                </a:endParaRPr>
              </a:p>
            </p:txBody>
          </p:sp>
        </mc:Choice>
        <mc:Fallback xmlns="">
          <p:sp>
            <p:nvSpPr>
              <p:cNvPr id="189" name="Rectangle 188"/>
              <p:cNvSpPr>
                <a:spLocks noRot="1" noChangeAspect="1" noMove="1" noResize="1" noEditPoints="1" noAdjustHandles="1" noChangeArrowheads="1" noChangeShapeType="1" noTextEdit="1"/>
              </p:cNvSpPr>
              <p:nvPr/>
            </p:nvSpPr>
            <p:spPr>
              <a:xfrm>
                <a:off x="8946493" y="4326819"/>
                <a:ext cx="490497" cy="381895"/>
              </a:xfrm>
              <a:prstGeom prst="rect">
                <a:avLst/>
              </a:prstGeom>
              <a:blipFill>
                <a:blip r:embed="rId9"/>
                <a:stretch>
                  <a:fillRect r="-5000" b="-96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0" name="Rectangle 189"/>
              <p:cNvSpPr/>
              <p:nvPr/>
            </p:nvSpPr>
            <p:spPr>
              <a:xfrm>
                <a:off x="7317915" y="4329231"/>
                <a:ext cx="493413"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h</m:t>
                          </m:r>
                        </m:e>
                        <m:sub>
                          <m:r>
                            <a:rPr lang="en-IN" sz="2000" b="0" i="1" smtClean="0">
                              <a:latin typeface="Cambria Math" panose="02040503050406030204" pitchFamily="18" charset="0"/>
                            </a:rPr>
                            <m:t>𝑘</m:t>
                          </m:r>
                          <m:r>
                            <a:rPr lang="en-IN" sz="2000"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90" name="Rectangle 189"/>
              <p:cNvSpPr>
                <a:spLocks noRot="1" noChangeAspect="1" noMove="1" noResize="1" noEditPoints="1" noAdjustHandles="1" noChangeArrowheads="1" noChangeShapeType="1" noTextEdit="1"/>
              </p:cNvSpPr>
              <p:nvPr/>
            </p:nvSpPr>
            <p:spPr>
              <a:xfrm>
                <a:off x="7317915" y="4329231"/>
                <a:ext cx="493413" cy="381895"/>
              </a:xfrm>
              <a:prstGeom prst="rect">
                <a:avLst/>
              </a:prstGeom>
              <a:blipFill>
                <a:blip r:embed="rId10"/>
                <a:stretch>
                  <a:fillRect r="-6173" b="-95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1" name="Rectangle 190"/>
              <p:cNvSpPr/>
              <p:nvPr/>
            </p:nvSpPr>
            <p:spPr>
              <a:xfrm>
                <a:off x="8156641" y="4326820"/>
                <a:ext cx="464000"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h</m:t>
                          </m:r>
                        </m:e>
                        <m:sub>
                          <m:r>
                            <a:rPr lang="en-IN" sz="2000" b="0" i="1" smtClean="0">
                              <a:latin typeface="Cambria Math" panose="02040503050406030204" pitchFamily="18" charset="0"/>
                            </a:rPr>
                            <m:t>𝑘𝑖</m:t>
                          </m:r>
                        </m:sub>
                      </m:sSub>
                    </m:oMath>
                  </m:oMathPara>
                </a14:m>
                <a:endParaRPr lang="en-IN" dirty="0">
                  <a:latin typeface="Arial Narrow" panose="020B0606020202030204" pitchFamily="34" charset="0"/>
                </a:endParaRPr>
              </a:p>
            </p:txBody>
          </p:sp>
        </mc:Choice>
        <mc:Fallback xmlns="">
          <p:sp>
            <p:nvSpPr>
              <p:cNvPr id="191" name="Rectangle 190"/>
              <p:cNvSpPr>
                <a:spLocks noRot="1" noChangeAspect="1" noMove="1" noResize="1" noEditPoints="1" noAdjustHandles="1" noChangeArrowheads="1" noChangeShapeType="1" noTextEdit="1"/>
              </p:cNvSpPr>
              <p:nvPr/>
            </p:nvSpPr>
            <p:spPr>
              <a:xfrm>
                <a:off x="8156641" y="4326820"/>
                <a:ext cx="464000" cy="381895"/>
              </a:xfrm>
              <a:prstGeom prst="rect">
                <a:avLst/>
              </a:prstGeom>
              <a:blipFill>
                <a:blip r:embed="rId11"/>
                <a:stretch>
                  <a:fillRect r="-3947" b="-96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2" name="Rectangle 191"/>
              <p:cNvSpPr/>
              <p:nvPr/>
            </p:nvSpPr>
            <p:spPr>
              <a:xfrm>
                <a:off x="7769308" y="5351850"/>
                <a:ext cx="373256"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𝑌</m:t>
                          </m:r>
                        </m:e>
                        <m:sub>
                          <m:r>
                            <a:rPr lang="en-IN" sz="2000" b="0" i="1" smtClean="0">
                              <a:latin typeface="Cambria Math" panose="02040503050406030204" pitchFamily="18" charset="0"/>
                            </a:rPr>
                            <m:t>1</m:t>
                          </m:r>
                        </m:sub>
                      </m:sSub>
                    </m:oMath>
                  </m:oMathPara>
                </a14:m>
                <a:endParaRPr lang="en-IN" dirty="0">
                  <a:latin typeface="Arial Narrow" panose="020B0606020202030204" pitchFamily="34" charset="0"/>
                </a:endParaRPr>
              </a:p>
            </p:txBody>
          </p:sp>
        </mc:Choice>
        <mc:Fallback xmlns="">
          <p:sp>
            <p:nvSpPr>
              <p:cNvPr id="192" name="Rectangle 191"/>
              <p:cNvSpPr>
                <a:spLocks noRot="1" noChangeAspect="1" noMove="1" noResize="1" noEditPoints="1" noAdjustHandles="1" noChangeArrowheads="1" noChangeShapeType="1" noTextEdit="1"/>
              </p:cNvSpPr>
              <p:nvPr/>
            </p:nvSpPr>
            <p:spPr>
              <a:xfrm>
                <a:off x="7769308" y="5351850"/>
                <a:ext cx="373256" cy="381895"/>
              </a:xfrm>
              <a:prstGeom prst="rect">
                <a:avLst/>
              </a:prstGeom>
              <a:blipFill>
                <a:blip r:embed="rId12"/>
                <a:stretch>
                  <a:fillRect b="-63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3" name="Rectangle 192"/>
              <p:cNvSpPr/>
              <p:nvPr/>
            </p:nvSpPr>
            <p:spPr>
              <a:xfrm>
                <a:off x="8556535" y="5351511"/>
                <a:ext cx="378014"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𝑌</m:t>
                          </m:r>
                        </m:e>
                        <m:sub>
                          <m:r>
                            <a:rPr lang="en-IN" sz="2000" b="0" i="1" smtClean="0">
                              <a:latin typeface="Cambria Math" panose="02040503050406030204" pitchFamily="18" charset="0"/>
                            </a:rPr>
                            <m:t>2</m:t>
                          </m:r>
                        </m:sub>
                      </m:sSub>
                    </m:oMath>
                  </m:oMathPara>
                </a14:m>
                <a:endParaRPr lang="en-IN" dirty="0">
                  <a:latin typeface="Arial Narrow" panose="020B0606020202030204" pitchFamily="34" charset="0"/>
                </a:endParaRPr>
              </a:p>
            </p:txBody>
          </p:sp>
        </mc:Choice>
        <mc:Fallback xmlns="">
          <p:sp>
            <p:nvSpPr>
              <p:cNvPr id="193" name="Rectangle 192"/>
              <p:cNvSpPr>
                <a:spLocks noRot="1" noChangeAspect="1" noMove="1" noResize="1" noEditPoints="1" noAdjustHandles="1" noChangeArrowheads="1" noChangeShapeType="1" noTextEdit="1"/>
              </p:cNvSpPr>
              <p:nvPr/>
            </p:nvSpPr>
            <p:spPr>
              <a:xfrm>
                <a:off x="8556535" y="5351511"/>
                <a:ext cx="378014" cy="381895"/>
              </a:xfrm>
              <a:prstGeom prst="rect">
                <a:avLst/>
              </a:prstGeom>
              <a:blipFill>
                <a:blip r:embed="rId13"/>
                <a:stretch>
                  <a:fillRect b="-7937"/>
                </a:stretch>
              </a:blipFill>
            </p:spPr>
            <p:txBody>
              <a:bodyPr/>
              <a:lstStyle/>
              <a:p>
                <a:r>
                  <a:rPr lang="en-IN">
                    <a:noFill/>
                  </a:rPr>
                  <a:t> </a:t>
                </a:r>
              </a:p>
            </p:txBody>
          </p:sp>
        </mc:Fallback>
      </mc:AlternateContent>
      <p:sp>
        <p:nvSpPr>
          <p:cNvPr id="194" name="Down Arrow 193"/>
          <p:cNvSpPr/>
          <p:nvPr/>
        </p:nvSpPr>
        <p:spPr>
          <a:xfrm>
            <a:off x="9195787" y="2554156"/>
            <a:ext cx="222892" cy="541364"/>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95" name="Down Arrow 194"/>
          <p:cNvSpPr/>
          <p:nvPr/>
        </p:nvSpPr>
        <p:spPr>
          <a:xfrm>
            <a:off x="7384166" y="2561838"/>
            <a:ext cx="222892" cy="541364"/>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96" name="Down Arrow 195"/>
          <p:cNvSpPr/>
          <p:nvPr/>
        </p:nvSpPr>
        <p:spPr>
          <a:xfrm>
            <a:off x="8271333" y="3695954"/>
            <a:ext cx="222892" cy="541364"/>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97" name="Down Arrow 196"/>
          <p:cNvSpPr/>
          <p:nvPr/>
        </p:nvSpPr>
        <p:spPr>
          <a:xfrm>
            <a:off x="9164329" y="3695954"/>
            <a:ext cx="222892" cy="541364"/>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98" name="Down Arrow 197"/>
          <p:cNvSpPr/>
          <p:nvPr/>
        </p:nvSpPr>
        <p:spPr>
          <a:xfrm>
            <a:off x="7358787" y="3703636"/>
            <a:ext cx="222892" cy="541364"/>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99" name="Down Arrow 198"/>
          <p:cNvSpPr/>
          <p:nvPr/>
        </p:nvSpPr>
        <p:spPr>
          <a:xfrm>
            <a:off x="8795390" y="4860105"/>
            <a:ext cx="222892" cy="422172"/>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mc:AlternateContent xmlns:mc="http://schemas.openxmlformats.org/markup-compatibility/2006" xmlns:a14="http://schemas.microsoft.com/office/drawing/2010/main">
        <mc:Choice Requires="a14">
          <p:sp>
            <p:nvSpPr>
              <p:cNvPr id="201" name="Rectangle 200"/>
              <p:cNvSpPr/>
              <p:nvPr/>
            </p:nvSpPr>
            <p:spPr>
              <a:xfrm>
                <a:off x="7822567" y="3790553"/>
                <a:ext cx="484051" cy="381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𝑤</m:t>
                          </m:r>
                        </m:e>
                        <m:sub>
                          <m:r>
                            <a:rPr lang="en-IN" sz="2000" b="0" i="1" smtClean="0">
                              <a:latin typeface="Cambria Math" panose="02040503050406030204" pitchFamily="18" charset="0"/>
                            </a:rPr>
                            <m:t>𝑒𝑖</m:t>
                          </m:r>
                        </m:sub>
                      </m:sSub>
                    </m:oMath>
                  </m:oMathPara>
                </a14:m>
                <a:endParaRPr lang="en-IN" dirty="0">
                  <a:latin typeface="Arial Narrow" panose="020B0606020202030204" pitchFamily="34" charset="0"/>
                </a:endParaRPr>
              </a:p>
            </p:txBody>
          </p:sp>
        </mc:Choice>
        <mc:Fallback xmlns="">
          <p:sp>
            <p:nvSpPr>
              <p:cNvPr id="201" name="Rectangle 200"/>
              <p:cNvSpPr>
                <a:spLocks noRot="1" noChangeAspect="1" noMove="1" noResize="1" noEditPoints="1" noAdjustHandles="1" noChangeArrowheads="1" noChangeShapeType="1" noTextEdit="1"/>
              </p:cNvSpPr>
              <p:nvPr/>
            </p:nvSpPr>
            <p:spPr>
              <a:xfrm>
                <a:off x="7822567" y="3790553"/>
                <a:ext cx="484051" cy="381895"/>
              </a:xfrm>
              <a:prstGeom prst="rect">
                <a:avLst/>
              </a:prstGeom>
              <a:blipFill>
                <a:blip r:embed="rId14"/>
                <a:stretch>
                  <a:fillRect r="-3750" b="-9677"/>
                </a:stretch>
              </a:blipFill>
            </p:spPr>
            <p:txBody>
              <a:bodyPr/>
              <a:lstStyle/>
              <a:p>
                <a:r>
                  <a:rPr lang="en-IN">
                    <a:noFill/>
                  </a:rPr>
                  <a:t> </a:t>
                </a:r>
              </a:p>
            </p:txBody>
          </p:sp>
        </mc:Fallback>
      </mc:AlternateContent>
      <p:sp>
        <p:nvSpPr>
          <p:cNvPr id="211" name="Right Brace 210"/>
          <p:cNvSpPr/>
          <p:nvPr/>
        </p:nvSpPr>
        <p:spPr>
          <a:xfrm flipH="1">
            <a:off x="7010702" y="3180725"/>
            <a:ext cx="113482" cy="150854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12" name="TextBox 211"/>
          <p:cNvSpPr txBox="1"/>
          <p:nvPr/>
        </p:nvSpPr>
        <p:spPr>
          <a:xfrm>
            <a:off x="6029205" y="3519835"/>
            <a:ext cx="1001248" cy="830997"/>
          </a:xfrm>
          <a:prstGeom prst="rect">
            <a:avLst/>
          </a:prstGeom>
          <a:noFill/>
        </p:spPr>
        <p:txBody>
          <a:bodyPr wrap="square" rtlCol="0">
            <a:spAutoFit/>
          </a:bodyPr>
          <a:lstStyle/>
          <a:p>
            <a:pPr algn="ctr"/>
            <a:r>
              <a:rPr lang="en-IN" sz="1600" i="1" dirty="0">
                <a:latin typeface="Arial Narrow" panose="020B0606020202030204" pitchFamily="34" charset="0"/>
              </a:rPr>
              <a:t>1 to k</a:t>
            </a:r>
            <a:r>
              <a:rPr lang="en-IN" sz="1600" dirty="0">
                <a:latin typeface="Arial Narrow" panose="020B0606020202030204" pitchFamily="34" charset="0"/>
              </a:rPr>
              <a:t> no. of hidden layers</a:t>
            </a:r>
          </a:p>
        </p:txBody>
      </p:sp>
    </p:spTree>
    <p:extLst>
      <p:ext uri="{BB962C8B-B14F-4D97-AF65-F5344CB8AC3E}">
        <p14:creationId xmlns:p14="http://schemas.microsoft.com/office/powerpoint/2010/main" val="2406351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ctangle 214"/>
          <p:cNvSpPr/>
          <p:nvPr/>
        </p:nvSpPr>
        <p:spPr>
          <a:xfrm>
            <a:off x="1767871" y="4881220"/>
            <a:ext cx="2639895" cy="526475"/>
          </a:xfrm>
          <a:prstGeom prst="rect">
            <a:avLst/>
          </a:prstGeom>
          <a:solidFill>
            <a:schemeClr val="accent4">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 name="Title 1"/>
          <p:cNvSpPr>
            <a:spLocks noGrp="1"/>
          </p:cNvSpPr>
          <p:nvPr>
            <p:ph type="title"/>
          </p:nvPr>
        </p:nvSpPr>
        <p:spPr>
          <a:xfrm>
            <a:off x="838200" y="365126"/>
            <a:ext cx="10515600" cy="855784"/>
          </a:xfrm>
        </p:spPr>
        <p:txBody>
          <a:bodyPr>
            <a:normAutofit/>
          </a:bodyPr>
          <a:lstStyle/>
          <a:p>
            <a:r>
              <a:rPr lang="en-IN" sz="3600" dirty="0">
                <a:latin typeface="Century" panose="02040604050505020304" pitchFamily="18" charset="0"/>
              </a:rPr>
              <a:t>Feed forward Neural Network (Notations)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474649"/>
                <a:ext cx="6391716" cy="3256400"/>
              </a:xfrm>
            </p:spPr>
            <p:txBody>
              <a:bodyPr>
                <a:normAutofit fontScale="70000" lnSpcReduction="20000"/>
              </a:bodyPr>
              <a:lstStyle/>
              <a:p>
                <a:pPr algn="just">
                  <a:buClr>
                    <a:schemeClr val="tx1"/>
                  </a:buClr>
                </a:pPr>
                <a:r>
                  <a:rPr lang="en-IN" dirty="0">
                    <a:solidFill>
                      <a:srgbClr val="00B0F0"/>
                    </a:solidFill>
                    <a:latin typeface="Arial Narrow" panose="020B0606020202030204" pitchFamily="34" charset="0"/>
                    <a:cs typeface="Times New Roman" panose="02020603050405020304" pitchFamily="18" charset="0"/>
                  </a:rPr>
                  <a:t>Layer index </a:t>
                </a:r>
                <a:r>
                  <a:rPr lang="en-IN" dirty="0">
                    <a:latin typeface="Arial Narrow" panose="020B0606020202030204" pitchFamily="34" charset="0"/>
                    <a:cs typeface="Times New Roman" panose="02020603050405020304" pitchFamily="18" charset="0"/>
                  </a:rPr>
                  <a:t>is </a:t>
                </a:r>
                <a:r>
                  <a:rPr lang="en-IN" dirty="0" err="1">
                    <a:solidFill>
                      <a:srgbClr val="00B0F0"/>
                    </a:solidFill>
                    <a:latin typeface="Arial Narrow" panose="020B0606020202030204" pitchFamily="34" charset="0"/>
                    <a:cs typeface="Times New Roman" panose="02020603050405020304" pitchFamily="18" charset="0"/>
                  </a:rPr>
                  <a:t>i</a:t>
                </a:r>
                <a:r>
                  <a:rPr lang="en-IN" dirty="0">
                    <a:latin typeface="Arial Narrow" panose="020B0606020202030204" pitchFamily="34" charset="0"/>
                    <a:cs typeface="Times New Roman" panose="02020603050405020304" pitchFamily="18" charset="0"/>
                  </a:rPr>
                  <a:t> and the </a:t>
                </a:r>
                <a:r>
                  <a:rPr lang="en-IN" dirty="0">
                    <a:solidFill>
                      <a:srgbClr val="00B0F0"/>
                    </a:solidFill>
                    <a:latin typeface="Arial Narrow" panose="020B0606020202030204" pitchFamily="34" charset="0"/>
                    <a:cs typeface="Times New Roman" panose="02020603050405020304" pitchFamily="18" charset="0"/>
                  </a:rPr>
                  <a:t>neuron index </a:t>
                </a:r>
                <a:r>
                  <a:rPr lang="en-IN" dirty="0">
                    <a:latin typeface="Arial Narrow" panose="020B0606020202030204" pitchFamily="34" charset="0"/>
                    <a:cs typeface="Times New Roman" panose="02020603050405020304" pitchFamily="18" charset="0"/>
                  </a:rPr>
                  <a:t>is </a:t>
                </a:r>
                <a:r>
                  <a:rPr lang="en-IN" dirty="0">
                    <a:solidFill>
                      <a:srgbClr val="00B0F0"/>
                    </a:solidFill>
                    <a:latin typeface="Arial Narrow" panose="020B0606020202030204" pitchFamily="34" charset="0"/>
                    <a:cs typeface="Times New Roman" panose="02020603050405020304" pitchFamily="18" charset="0"/>
                  </a:rPr>
                  <a:t>e </a:t>
                </a:r>
                <a:r>
                  <a:rPr lang="en-IN" dirty="0">
                    <a:latin typeface="Arial Narrow" panose="020B0606020202030204" pitchFamily="34" charset="0"/>
                    <a:cs typeface="Times New Roman" panose="02020603050405020304" pitchFamily="18" charset="0"/>
                  </a:rPr>
                  <a:t>in a layer.</a:t>
                </a:r>
              </a:p>
              <a:p>
                <a:pPr algn="just">
                  <a:buClr>
                    <a:schemeClr val="tx1"/>
                  </a:buClr>
                </a:pPr>
                <a14:m>
                  <m:oMath xmlns:m="http://schemas.openxmlformats.org/officeDocument/2006/math">
                    <m:sSubSup>
                      <m:sSubSupPr>
                        <m:ctrlPr>
                          <a:rPr lang="en-IN" i="1" smtClean="0">
                            <a:solidFill>
                              <a:srgbClr val="00B0F0"/>
                            </a:solidFill>
                            <a:latin typeface="Cambria Math" panose="02040503050406030204" pitchFamily="18" charset="0"/>
                            <a:cs typeface="Times New Roman" panose="02020603050405020304" pitchFamily="18" charset="0"/>
                          </a:rPr>
                        </m:ctrlPr>
                      </m:sSubSupPr>
                      <m:e>
                        <m:r>
                          <a:rPr lang="en-IN" i="1">
                            <a:solidFill>
                              <a:srgbClr val="00B0F0"/>
                            </a:solidFill>
                            <a:latin typeface="Cambria Math" panose="02040503050406030204" pitchFamily="18" charset="0"/>
                            <a:cs typeface="Times New Roman" panose="02020603050405020304" pitchFamily="18" charset="0"/>
                          </a:rPr>
                          <m:t>𝑊</m:t>
                        </m:r>
                      </m:e>
                      <m:sub>
                        <m:r>
                          <a:rPr lang="en-GB" b="0" i="1" smtClean="0">
                            <a:solidFill>
                              <a:srgbClr val="00B0F0"/>
                            </a:solidFill>
                            <a:latin typeface="Cambria Math" panose="02040503050406030204" pitchFamily="18" charset="0"/>
                            <a:cs typeface="Times New Roman" panose="02020603050405020304" pitchFamily="18" charset="0"/>
                          </a:rPr>
                          <m:t>𝑒𝑖</m:t>
                        </m:r>
                      </m:sub>
                      <m:sup>
                        <m:r>
                          <a:rPr lang="en-IN" i="1">
                            <a:solidFill>
                              <a:srgbClr val="00B0F0"/>
                            </a:solidFill>
                            <a:latin typeface="Cambria Math" panose="02040503050406030204" pitchFamily="18" charset="0"/>
                            <a:cs typeface="Times New Roman" panose="02020603050405020304" pitchFamily="18" charset="0"/>
                          </a:rPr>
                          <m:t>𝑝</m:t>
                        </m:r>
                      </m:sup>
                    </m:sSubSup>
                  </m:oMath>
                </a14:m>
                <a:r>
                  <a:rPr lang="en-IN" dirty="0">
                    <a:latin typeface="Arial Narrow" panose="020B0606020202030204" pitchFamily="34" charset="0"/>
                    <a:cs typeface="Times New Roman" panose="02020603050405020304" pitchFamily="18" charset="0"/>
                  </a:rPr>
                  <a:t>denotes weight on connection from the </a:t>
                </a:r>
                <a:r>
                  <a:rPr lang="en-IN" dirty="0">
                    <a:solidFill>
                      <a:schemeClr val="tx1"/>
                    </a:solidFill>
                    <a:latin typeface="Arial Narrow" panose="020B0606020202030204" pitchFamily="34" charset="0"/>
                    <a:cs typeface="Times New Roman" panose="02020603050405020304" pitchFamily="18" charset="0"/>
                  </a:rPr>
                  <a:t>neuron </a:t>
                </a:r>
                <a14:m>
                  <m:oMath xmlns:m="http://schemas.openxmlformats.org/officeDocument/2006/math">
                    <m:r>
                      <a:rPr lang="en-IN" i="1" smtClean="0">
                        <a:solidFill>
                          <a:srgbClr val="00B0F0"/>
                        </a:solidFill>
                        <a:latin typeface="Cambria Math" panose="02040503050406030204" pitchFamily="18" charset="0"/>
                      </a:rPr>
                      <m:t>𝑒</m:t>
                    </m:r>
                  </m:oMath>
                </a14:m>
                <a:r>
                  <a:rPr lang="en-IN" dirty="0">
                    <a:solidFill>
                      <a:schemeClr val="tx1"/>
                    </a:solidFill>
                    <a:latin typeface="Arial Narrow" panose="020B0606020202030204" pitchFamily="34" charset="0"/>
                    <a:cs typeface="Times New Roman" panose="02020603050405020304" pitchFamily="18" charset="0"/>
                  </a:rPr>
                  <a:t> of   </a:t>
                </a:r>
                <a:r>
                  <a:rPr lang="en-IN" dirty="0">
                    <a:solidFill>
                      <a:srgbClr val="00B0F0"/>
                    </a:solidFill>
                    <a:latin typeface="Arial Narrow" panose="020B0606020202030204" pitchFamily="34" charset="0"/>
                    <a:cs typeface="Times New Roman" panose="02020603050405020304" pitchFamily="18" charset="0"/>
                  </a:rPr>
                  <a:t>(p-1)</a:t>
                </a:r>
                <a:r>
                  <a:rPr lang="en-IN" baseline="30000" dirty="0" err="1">
                    <a:solidFill>
                      <a:srgbClr val="00B0F0"/>
                    </a:solidFill>
                    <a:latin typeface="Arial Narrow" panose="020B0606020202030204" pitchFamily="34" charset="0"/>
                    <a:cs typeface="Times New Roman" panose="02020603050405020304" pitchFamily="18" charset="0"/>
                  </a:rPr>
                  <a:t>th</a:t>
                </a:r>
                <a:endParaRPr lang="en-IN" baseline="30000" dirty="0">
                  <a:solidFill>
                    <a:srgbClr val="00B0F0"/>
                  </a:solidFill>
                  <a:latin typeface="Arial Narrow" panose="020B0606020202030204" pitchFamily="34" charset="0"/>
                  <a:cs typeface="Times New Roman" panose="02020603050405020304" pitchFamily="18" charset="0"/>
                </a:endParaRPr>
              </a:p>
              <a:p>
                <a:pPr marL="0" indent="0" algn="just">
                  <a:buClr>
                    <a:schemeClr val="tx1"/>
                  </a:buClr>
                  <a:buNone/>
                </a:pPr>
                <a:r>
                  <a:rPr lang="en-IN" baseline="30000" dirty="0">
                    <a:solidFill>
                      <a:srgbClr val="00B0F0"/>
                    </a:solidFill>
                    <a:latin typeface="Arial Narrow" panose="020B0606020202030204" pitchFamily="34" charset="0"/>
                    <a:cs typeface="Times New Roman" panose="02020603050405020304" pitchFamily="18" charset="0"/>
                  </a:rPr>
                  <a:t>    </a:t>
                </a:r>
                <a:r>
                  <a:rPr lang="en-IN" dirty="0">
                    <a:solidFill>
                      <a:srgbClr val="00B0F0"/>
                    </a:solidFill>
                    <a:latin typeface="Arial Narrow" panose="020B0606020202030204" pitchFamily="34" charset="0"/>
                    <a:cs typeface="Times New Roman" panose="02020603050405020304" pitchFamily="18" charset="0"/>
                  </a:rPr>
                  <a:t> </a:t>
                </a:r>
                <a:r>
                  <a:rPr lang="en-IN" dirty="0">
                    <a:solidFill>
                      <a:schemeClr val="tx1"/>
                    </a:solidFill>
                    <a:latin typeface="Arial Narrow" panose="020B0606020202030204" pitchFamily="34" charset="0"/>
                    <a:cs typeface="Times New Roman" panose="02020603050405020304" pitchFamily="18" charset="0"/>
                  </a:rPr>
                  <a:t>layer to neuron </a:t>
                </a:r>
                <a14:m>
                  <m:oMath xmlns:m="http://schemas.openxmlformats.org/officeDocument/2006/math">
                    <m:r>
                      <a:rPr lang="en-IN" i="1" smtClean="0">
                        <a:solidFill>
                          <a:srgbClr val="00B0F0"/>
                        </a:solidFill>
                        <a:latin typeface="Cambria Math" panose="02040503050406030204" pitchFamily="18" charset="0"/>
                      </a:rPr>
                      <m:t>𝑖</m:t>
                    </m:r>
                  </m:oMath>
                </a14:m>
                <a:r>
                  <a:rPr lang="en-IN" dirty="0">
                    <a:solidFill>
                      <a:schemeClr val="tx1"/>
                    </a:solidFill>
                    <a:latin typeface="Arial Narrow" panose="020B0606020202030204" pitchFamily="34" charset="0"/>
                    <a:cs typeface="Times New Roman" panose="02020603050405020304" pitchFamily="18" charset="0"/>
                  </a:rPr>
                  <a:t> of the </a:t>
                </a:r>
                <a:r>
                  <a:rPr lang="en-IN" dirty="0" err="1">
                    <a:solidFill>
                      <a:srgbClr val="00B0F0"/>
                    </a:solidFill>
                    <a:latin typeface="Arial Narrow" panose="020B0606020202030204" pitchFamily="34" charset="0"/>
                    <a:cs typeface="Times New Roman" panose="02020603050405020304" pitchFamily="18" charset="0"/>
                  </a:rPr>
                  <a:t>p</a:t>
                </a:r>
                <a:r>
                  <a:rPr lang="en-IN" baseline="30000" dirty="0" err="1">
                    <a:solidFill>
                      <a:srgbClr val="00B0F0"/>
                    </a:solidFill>
                    <a:latin typeface="Arial Narrow" panose="020B0606020202030204" pitchFamily="34" charset="0"/>
                    <a:cs typeface="Times New Roman" panose="02020603050405020304" pitchFamily="18" charset="0"/>
                  </a:rPr>
                  <a:t>th</a:t>
                </a:r>
                <a:r>
                  <a:rPr lang="en-IN" dirty="0">
                    <a:solidFill>
                      <a:schemeClr val="tx1"/>
                    </a:solidFill>
                    <a:latin typeface="Arial Narrow" panose="020B0606020202030204" pitchFamily="34" charset="0"/>
                    <a:cs typeface="Times New Roman" panose="02020603050405020304" pitchFamily="18" charset="0"/>
                  </a:rPr>
                  <a:t> layer.</a:t>
                </a:r>
                <a:endParaRPr lang="en-IN" dirty="0">
                  <a:solidFill>
                    <a:schemeClr val="tx1"/>
                  </a:solidFill>
                  <a:latin typeface="Arial Narrow" panose="020B0606020202030204" pitchFamily="34" charset="0"/>
                </a:endParaRPr>
              </a:p>
              <a:p>
                <a:pPr algn="just">
                  <a:buClr>
                    <a:schemeClr val="tx1"/>
                  </a:buClr>
                </a:pPr>
                <a:r>
                  <a:rPr lang="en-US" sz="3200" dirty="0">
                    <a:latin typeface="Arial Narrow" panose="020B0606020202030204" pitchFamily="34" charset="0"/>
                    <a:cs typeface="Times New Roman" panose="02020603050405020304" pitchFamily="18" charset="0"/>
                  </a:rPr>
                  <a:t>Output neuron </a:t>
                </a:r>
                <a14:m>
                  <m:oMath xmlns:m="http://schemas.openxmlformats.org/officeDocument/2006/math">
                    <m:r>
                      <a:rPr lang="en-IN" sz="3200" i="1" smtClean="0">
                        <a:solidFill>
                          <a:srgbClr val="00B0F0"/>
                        </a:solidFill>
                        <a:latin typeface="Cambria Math" panose="02040503050406030204" pitchFamily="18" charset="0"/>
                      </a:rPr>
                      <m:t>𝑖</m:t>
                    </m:r>
                  </m:oMath>
                </a14:m>
                <a:r>
                  <a:rPr lang="en-US" sz="3200" dirty="0">
                    <a:latin typeface="Arial Narrow" panose="020B0606020202030204" pitchFamily="34" charset="0"/>
                    <a:cs typeface="Times New Roman" panose="02020603050405020304" pitchFamily="18" charset="0"/>
                  </a:rPr>
                  <a:t>, denoted </a:t>
                </a:r>
                <a:r>
                  <a:rPr lang="en-US" sz="3200" i="1" dirty="0">
                    <a:solidFill>
                      <a:srgbClr val="00B0F0"/>
                    </a:solidFill>
                    <a:latin typeface="Arial Narrow" panose="020B0606020202030204" pitchFamily="34" charset="0"/>
                    <a:cs typeface="Times New Roman" panose="02020603050405020304" pitchFamily="18" charset="0"/>
                  </a:rPr>
                  <a:t>o</a:t>
                </a:r>
                <a14:m>
                  <m:oMath xmlns:m="http://schemas.openxmlformats.org/officeDocument/2006/math">
                    <m:r>
                      <a:rPr lang="en-IN" sz="4400" i="1" baseline="-25000" smtClean="0">
                        <a:solidFill>
                          <a:srgbClr val="00B0F0"/>
                        </a:solidFill>
                        <a:latin typeface="Cambria Math" panose="02040503050406030204" pitchFamily="18" charset="0"/>
                      </a:rPr>
                      <m:t>𝑖</m:t>
                    </m:r>
                  </m:oMath>
                </a14:m>
                <a:r>
                  <a:rPr lang="en-US" sz="3200" i="1" dirty="0">
                    <a:solidFill>
                      <a:srgbClr val="00B0F0"/>
                    </a:solidFill>
                    <a:latin typeface="Arial Narrow" panose="020B0606020202030204" pitchFamily="34" charset="0"/>
                    <a:cs typeface="Times New Roman" panose="02020603050405020304" pitchFamily="18" charset="0"/>
                  </a:rPr>
                  <a:t> </a:t>
                </a:r>
                <a:r>
                  <a:rPr lang="en-US" sz="3200" dirty="0">
                    <a:latin typeface="Arial Narrow" panose="020B0606020202030204" pitchFamily="34" charset="0"/>
                    <a:cs typeface="Times New Roman" panose="02020603050405020304" pitchFamily="18" charset="0"/>
                  </a:rPr>
                  <a:t>is </a:t>
                </a:r>
                <a:r>
                  <a:rPr lang="en-IN" sz="3200" dirty="0">
                    <a:latin typeface="Arial Narrow" panose="020B0606020202030204" pitchFamily="34" charset="0"/>
                    <a:cs typeface="Times New Roman" panose="02020603050405020304" pitchFamily="18" charset="0"/>
                  </a:rPr>
                  <a:t>computed using a sigmoid/</a:t>
                </a:r>
                <a:r>
                  <a:rPr lang="en-IN" sz="3200" dirty="0" err="1">
                    <a:latin typeface="Arial Narrow" panose="020B0606020202030204" pitchFamily="34" charset="0"/>
                    <a:cs typeface="Times New Roman" panose="02020603050405020304" pitchFamily="18" charset="0"/>
                  </a:rPr>
                  <a:t>softmax</a:t>
                </a:r>
                <a:r>
                  <a:rPr lang="en-IN" sz="3200" dirty="0">
                    <a:latin typeface="Arial Narrow" panose="020B0606020202030204" pitchFamily="34" charset="0"/>
                    <a:cs typeface="Times New Roman" panose="02020603050405020304" pitchFamily="18" charset="0"/>
                  </a:rPr>
                  <a:t> ( </a:t>
                </a:r>
                <a:r>
                  <a:rPr lang="en-IN" sz="3200" i="1" dirty="0">
                    <a:solidFill>
                      <a:srgbClr val="00B0F0"/>
                    </a:solidFill>
                    <a:latin typeface="Times New Roman" panose="02020603050405020304" pitchFamily="18" charset="0"/>
                    <a:cs typeface="Times New Roman" panose="02020603050405020304" pitchFamily="18" charset="0"/>
                  </a:rPr>
                  <a:t>f </a:t>
                </a:r>
                <a:r>
                  <a:rPr lang="en-IN" sz="3200" dirty="0">
                    <a:latin typeface="Arial Narrow" panose="020B0606020202030204" pitchFamily="34" charset="0"/>
                    <a:cs typeface="Times New Roman" panose="02020603050405020304" pitchFamily="18" charset="0"/>
                  </a:rPr>
                  <a:t>):</a:t>
                </a:r>
              </a:p>
              <a:p>
                <a:pPr marL="0" indent="0" algn="just">
                  <a:buNone/>
                </a:pPr>
                <a:r>
                  <a:rPr lang="en-IN" sz="3200" i="1" dirty="0">
                    <a:latin typeface="Arial Narrow" panose="020B0606020202030204" pitchFamily="34" charset="0"/>
                    <a:cs typeface="Times New Roman" panose="02020603050405020304" pitchFamily="18" charset="0"/>
                  </a:rPr>
                  <a:t>                   o</a:t>
                </a:r>
                <a14:m>
                  <m:oMath xmlns:m="http://schemas.openxmlformats.org/officeDocument/2006/math">
                    <m:r>
                      <a:rPr lang="en-IN" sz="3600" i="1" baseline="-25000" smtClean="0">
                        <a:solidFill>
                          <a:schemeClr val="tx1"/>
                        </a:solidFill>
                        <a:latin typeface="Cambria Math" panose="02040503050406030204" pitchFamily="18" charset="0"/>
                      </a:rPr>
                      <m:t>𝑖</m:t>
                    </m:r>
                  </m:oMath>
                </a14:m>
                <a:r>
                  <a:rPr lang="en-IN" sz="3200" i="1" dirty="0">
                    <a:latin typeface="Arial Narrow" panose="020B0606020202030204" pitchFamily="34" charset="0"/>
                    <a:cs typeface="Times New Roman" panose="02020603050405020304" pitchFamily="18" charset="0"/>
                  </a:rPr>
                  <a:t>= </a:t>
                </a:r>
                <a:r>
                  <a:rPr lang="en-IN" sz="3200" i="1" dirty="0">
                    <a:latin typeface="Times New Roman" panose="02020603050405020304" pitchFamily="18" charset="0"/>
                    <a:cs typeface="Times New Roman" panose="02020603050405020304" pitchFamily="18" charset="0"/>
                  </a:rPr>
                  <a:t>f(</a:t>
                </a:r>
                <a14:m>
                  <m:oMath xmlns:m="http://schemas.openxmlformats.org/officeDocument/2006/math">
                    <m:nary>
                      <m:naryPr>
                        <m:chr m:val="∑"/>
                        <m:ctrlPr>
                          <a:rPr lang="en-IN" sz="3200" i="1">
                            <a:latin typeface="Cambria Math" panose="02040503050406030204" pitchFamily="18" charset="0"/>
                          </a:rPr>
                        </m:ctrlPr>
                      </m:naryPr>
                      <m:sub>
                        <m:r>
                          <a:rPr lang="en-GB" sz="3200" b="0" i="1" smtClean="0">
                            <a:latin typeface="Cambria Math" panose="02040503050406030204" pitchFamily="18" charset="0"/>
                          </a:rPr>
                          <m:t>𝑒</m:t>
                        </m:r>
                        <m:r>
                          <a:rPr lang="en-IN" sz="3200" i="1">
                            <a:latin typeface="Cambria Math" panose="02040503050406030204" pitchFamily="18" charset="0"/>
                          </a:rPr>
                          <m:t>=0</m:t>
                        </m:r>
                      </m:sub>
                      <m:sup>
                        <m:r>
                          <a:rPr lang="en-IN" sz="3200" i="1">
                            <a:latin typeface="Cambria Math" panose="02040503050406030204" pitchFamily="18" charset="0"/>
                          </a:rPr>
                          <m:t>𝑚</m:t>
                        </m:r>
                      </m:sup>
                      <m:e>
                        <m:sSub>
                          <m:sSubPr>
                            <m:ctrlPr>
                              <a:rPr lang="en-IN" sz="3200" i="1">
                                <a:latin typeface="Cambria Math" panose="02040503050406030204" pitchFamily="18" charset="0"/>
                              </a:rPr>
                            </m:ctrlPr>
                          </m:sSubPr>
                          <m:e>
                            <m:r>
                              <a:rPr lang="en-IN" sz="3200" i="1">
                                <a:latin typeface="Cambria Math" panose="02040503050406030204" pitchFamily="18" charset="0"/>
                              </a:rPr>
                              <m:t>𝑤</m:t>
                            </m:r>
                          </m:e>
                          <m:sub>
                            <m:r>
                              <a:rPr lang="en-IN" sz="3200" i="1">
                                <a:latin typeface="Cambria Math" panose="02040503050406030204" pitchFamily="18" charset="0"/>
                              </a:rPr>
                              <m:t>𝑒𝑖</m:t>
                            </m:r>
                          </m:sub>
                        </m:sSub>
                        <m:sSub>
                          <m:sSubPr>
                            <m:ctrlPr>
                              <a:rPr lang="en-IN" sz="3200" i="1">
                                <a:latin typeface="Cambria Math" panose="02040503050406030204" pitchFamily="18" charset="0"/>
                              </a:rPr>
                            </m:ctrlPr>
                          </m:sSubPr>
                          <m:e>
                            <m:r>
                              <a:rPr lang="en-IN" sz="3200" i="1">
                                <a:latin typeface="Cambria Math" panose="02040503050406030204" pitchFamily="18" charset="0"/>
                              </a:rPr>
                              <m:t>h</m:t>
                            </m:r>
                          </m:e>
                          <m:sub>
                            <m:r>
                              <a:rPr lang="en-IN" sz="3200" i="1">
                                <a:latin typeface="Cambria Math" panose="02040503050406030204" pitchFamily="18" charset="0"/>
                              </a:rPr>
                              <m:t>𝑘</m:t>
                            </m:r>
                            <m:r>
                              <a:rPr lang="en-IN" sz="3200" b="0" i="1" smtClean="0">
                                <a:latin typeface="Cambria Math" panose="02040503050406030204" pitchFamily="18" charset="0"/>
                              </a:rPr>
                              <m:t>𝑒</m:t>
                            </m:r>
                          </m:sub>
                        </m:sSub>
                      </m:e>
                    </m:nary>
                  </m:oMath>
                </a14:m>
                <a:r>
                  <a:rPr lang="en-IN" sz="3200" i="1"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a:p>
                <a:pPr algn="just">
                  <a:buClr>
                    <a:schemeClr val="tx1"/>
                  </a:buClr>
                </a:pPr>
                <a:r>
                  <a:rPr lang="en-US" sz="3200" dirty="0">
                    <a:latin typeface="Arial Narrow" panose="020B0606020202030204" pitchFamily="34" charset="0"/>
                    <a:cs typeface="Times New Roman" panose="02020603050405020304" pitchFamily="18" charset="0"/>
                  </a:rPr>
                  <a:t>where  </a:t>
                </a:r>
                <a:r>
                  <a:rPr lang="en-US" sz="3200" i="1" dirty="0">
                    <a:solidFill>
                      <a:srgbClr val="00B0F0"/>
                    </a:solidFill>
                    <a:latin typeface="Arial Narrow" panose="020B0606020202030204" pitchFamily="34" charset="0"/>
                    <a:cs typeface="Times New Roman" panose="02020603050405020304" pitchFamily="18" charset="0"/>
                  </a:rPr>
                  <a:t>w</a:t>
                </a:r>
                <a14:m>
                  <m:oMath xmlns:m="http://schemas.openxmlformats.org/officeDocument/2006/math">
                    <m:r>
                      <a:rPr lang="en-IN" sz="3600" i="1" baseline="-25000" smtClean="0">
                        <a:solidFill>
                          <a:srgbClr val="00B0F0"/>
                        </a:solidFill>
                        <a:latin typeface="Cambria Math" panose="02040503050406030204" pitchFamily="18" charset="0"/>
                      </a:rPr>
                      <m:t>𝑒𝑖</m:t>
                    </m:r>
                  </m:oMath>
                </a14:m>
                <a:r>
                  <a:rPr lang="en-US" sz="3200" b="1" i="1" dirty="0">
                    <a:solidFill>
                      <a:srgbClr val="00B0F0"/>
                    </a:solidFill>
                    <a:latin typeface="Arial Narrow" panose="020B0606020202030204" pitchFamily="34" charset="0"/>
                    <a:cs typeface="Times New Roman" panose="02020603050405020304" pitchFamily="18" charset="0"/>
                  </a:rPr>
                  <a:t> </a:t>
                </a:r>
                <a:r>
                  <a:rPr lang="en-US" sz="3200" dirty="0">
                    <a:latin typeface="Arial Narrow" panose="020B0606020202030204" pitchFamily="34" charset="0"/>
                    <a:cs typeface="Times New Roman" panose="02020603050405020304" pitchFamily="18" charset="0"/>
                  </a:rPr>
                  <a:t>is vector of weights entering output neuron </a:t>
                </a:r>
                <a14:m>
                  <m:oMath xmlns:m="http://schemas.openxmlformats.org/officeDocument/2006/math">
                    <m:r>
                      <a:rPr lang="en-IN" sz="3200" i="1" smtClean="0">
                        <a:solidFill>
                          <a:srgbClr val="00B0F0"/>
                        </a:solidFill>
                        <a:latin typeface="Cambria Math" panose="02040503050406030204" pitchFamily="18" charset="0"/>
                      </a:rPr>
                      <m:t>𝑖</m:t>
                    </m:r>
                  </m:oMath>
                </a14:m>
                <a:r>
                  <a:rPr lang="en-US" sz="3200" i="1" dirty="0">
                    <a:latin typeface="Arial Narrow" panose="020B0606020202030204" pitchFamily="34" charset="0"/>
                    <a:cs typeface="Times New Roman" panose="02020603050405020304" pitchFamily="18" charset="0"/>
                  </a:rPr>
                  <a:t> and </a:t>
                </a:r>
                <a14:m>
                  <m:oMath xmlns:m="http://schemas.openxmlformats.org/officeDocument/2006/math">
                    <m:r>
                      <a:rPr lang="en-IN" sz="3200" i="1" smtClean="0">
                        <a:solidFill>
                          <a:srgbClr val="00B0F0"/>
                        </a:solidFill>
                        <a:latin typeface="Cambria Math" panose="02040503050406030204" pitchFamily="18" charset="0"/>
                      </a:rPr>
                      <m:t>𝑘</m:t>
                    </m:r>
                  </m:oMath>
                </a14:m>
                <a:r>
                  <a:rPr lang="en-US" sz="3200" i="1" dirty="0">
                    <a:latin typeface="Arial Narrow" panose="020B0606020202030204" pitchFamily="34" charset="0"/>
                    <a:cs typeface="Times New Roman" panose="02020603050405020304" pitchFamily="18" charset="0"/>
                  </a:rPr>
                  <a:t> is the last hidden layer which has  </a:t>
                </a:r>
                <a14:m>
                  <m:oMath xmlns:m="http://schemas.openxmlformats.org/officeDocument/2006/math">
                    <m:r>
                      <a:rPr lang="en-IN" sz="3200" i="1" smtClean="0">
                        <a:solidFill>
                          <a:srgbClr val="00B0F0"/>
                        </a:solidFill>
                        <a:latin typeface="Cambria Math" panose="02040503050406030204" pitchFamily="18" charset="0"/>
                      </a:rPr>
                      <m:t>𝑟</m:t>
                    </m:r>
                  </m:oMath>
                </a14:m>
                <a:r>
                  <a:rPr lang="en-US" sz="3200" i="1" dirty="0">
                    <a:latin typeface="Arial Narrow" panose="020B0606020202030204" pitchFamily="34" charset="0"/>
                    <a:cs typeface="Times New Roman" panose="02020603050405020304" pitchFamily="18" charset="0"/>
                  </a:rPr>
                  <a:t> neurons.</a:t>
                </a:r>
                <a:endParaRPr lang="en-US" sz="3200" dirty="0">
                  <a:latin typeface="Arial Narrow" panose="020B0606020202030204" pitchFamily="34"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474649"/>
                <a:ext cx="6391716" cy="3256400"/>
              </a:xfrm>
              <a:blipFill>
                <a:blip r:embed="rId2"/>
                <a:stretch>
                  <a:fillRect l="-1145" t="-3933" r="-1145"/>
                </a:stretch>
              </a:blipFill>
            </p:spPr>
            <p:txBody>
              <a:bodyPr/>
              <a:lstStyle/>
              <a:p>
                <a:r>
                  <a:rPr lang="en-GB">
                    <a:noFill/>
                  </a:rPr>
                  <a:t> </a:t>
                </a:r>
              </a:p>
            </p:txBody>
          </p:sp>
        </mc:Fallback>
      </mc:AlternateContent>
      <p:grpSp>
        <p:nvGrpSpPr>
          <p:cNvPr id="235" name="Group 234"/>
          <p:cNvGrpSpPr/>
          <p:nvPr/>
        </p:nvGrpSpPr>
        <p:grpSpPr>
          <a:xfrm>
            <a:off x="7416363" y="1404246"/>
            <a:ext cx="4424350" cy="3476974"/>
            <a:chOff x="7491049" y="1734598"/>
            <a:chExt cx="4424350" cy="3476974"/>
          </a:xfrm>
        </p:grpSpPr>
        <p:sp>
          <p:nvSpPr>
            <p:cNvPr id="145" name="Rectangle 144"/>
            <p:cNvSpPr/>
            <p:nvPr/>
          </p:nvSpPr>
          <p:spPr>
            <a:xfrm>
              <a:off x="7839329" y="2748473"/>
              <a:ext cx="1831955" cy="526475"/>
            </a:xfrm>
            <a:prstGeom prst="rect">
              <a:avLst/>
            </a:prstGeom>
            <a:solidFill>
              <a:schemeClr val="accent4">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26" name="Rectangle 125"/>
            <p:cNvSpPr/>
            <p:nvPr/>
          </p:nvSpPr>
          <p:spPr>
            <a:xfrm>
              <a:off x="7839329" y="3778995"/>
              <a:ext cx="1831955" cy="526475"/>
            </a:xfrm>
            <a:prstGeom prst="rect">
              <a:avLst/>
            </a:prstGeom>
            <a:solidFill>
              <a:schemeClr val="accent2">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27" name="Rounded Rectangle 126"/>
            <p:cNvSpPr/>
            <p:nvPr/>
          </p:nvSpPr>
          <p:spPr>
            <a:xfrm>
              <a:off x="7547230" y="1823695"/>
              <a:ext cx="292100" cy="343586"/>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28" name="Rounded Rectangle 127"/>
            <p:cNvSpPr/>
            <p:nvPr/>
          </p:nvSpPr>
          <p:spPr>
            <a:xfrm>
              <a:off x="8038932" y="1823695"/>
              <a:ext cx="292100" cy="343586"/>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29" name="Rounded Rectangle 128"/>
            <p:cNvSpPr/>
            <p:nvPr/>
          </p:nvSpPr>
          <p:spPr>
            <a:xfrm>
              <a:off x="8887482" y="1823695"/>
              <a:ext cx="292100" cy="343586"/>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0" name="Rounded Rectangle 129"/>
            <p:cNvSpPr/>
            <p:nvPr/>
          </p:nvSpPr>
          <p:spPr>
            <a:xfrm>
              <a:off x="9671284" y="1823695"/>
              <a:ext cx="292100" cy="343586"/>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1" name="Oval 130"/>
            <p:cNvSpPr/>
            <p:nvPr/>
          </p:nvSpPr>
          <p:spPr>
            <a:xfrm>
              <a:off x="8423527" y="1995487"/>
              <a:ext cx="46737" cy="71913"/>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2" name="Oval 131"/>
            <p:cNvSpPr/>
            <p:nvPr/>
          </p:nvSpPr>
          <p:spPr>
            <a:xfrm>
              <a:off x="8571528" y="1995487"/>
              <a:ext cx="46737" cy="71913"/>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3" name="Oval 132"/>
            <p:cNvSpPr/>
            <p:nvPr/>
          </p:nvSpPr>
          <p:spPr>
            <a:xfrm>
              <a:off x="8719528" y="1995487"/>
              <a:ext cx="46737" cy="71913"/>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4" name="Oval 133"/>
            <p:cNvSpPr/>
            <p:nvPr/>
          </p:nvSpPr>
          <p:spPr>
            <a:xfrm>
              <a:off x="9254064" y="1995487"/>
              <a:ext cx="46737" cy="71913"/>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5" name="Oval 134"/>
            <p:cNvSpPr/>
            <p:nvPr/>
          </p:nvSpPr>
          <p:spPr>
            <a:xfrm>
              <a:off x="9402065" y="1995487"/>
              <a:ext cx="46737" cy="71913"/>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6" name="Oval 135"/>
            <p:cNvSpPr/>
            <p:nvPr/>
          </p:nvSpPr>
          <p:spPr>
            <a:xfrm>
              <a:off x="9550066" y="1995487"/>
              <a:ext cx="46737" cy="71913"/>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7" name="Rounded Rectangle 136"/>
            <p:cNvSpPr/>
            <p:nvPr/>
          </p:nvSpPr>
          <p:spPr>
            <a:xfrm>
              <a:off x="7983838" y="2843910"/>
              <a:ext cx="292100"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8" name="Rounded Rectangle 137"/>
            <p:cNvSpPr/>
            <p:nvPr/>
          </p:nvSpPr>
          <p:spPr>
            <a:xfrm>
              <a:off x="8616724" y="2839919"/>
              <a:ext cx="292100"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9" name="Rounded Rectangle 138"/>
            <p:cNvSpPr/>
            <p:nvPr/>
          </p:nvSpPr>
          <p:spPr>
            <a:xfrm>
              <a:off x="9249609" y="2839918"/>
              <a:ext cx="336480"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0" name="Oval 139"/>
            <p:cNvSpPr/>
            <p:nvPr/>
          </p:nvSpPr>
          <p:spPr>
            <a:xfrm>
              <a:off x="8360218" y="2987195"/>
              <a:ext cx="46737"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1" name="Oval 140"/>
            <p:cNvSpPr/>
            <p:nvPr/>
          </p:nvSpPr>
          <p:spPr>
            <a:xfrm>
              <a:off x="8508218" y="2987195"/>
              <a:ext cx="46737"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2" name="Oval 141"/>
            <p:cNvSpPr/>
            <p:nvPr/>
          </p:nvSpPr>
          <p:spPr>
            <a:xfrm>
              <a:off x="8983062" y="2987195"/>
              <a:ext cx="46737"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3" name="Oval 142"/>
            <p:cNvSpPr/>
            <p:nvPr/>
          </p:nvSpPr>
          <p:spPr>
            <a:xfrm>
              <a:off x="9131063" y="2987195"/>
              <a:ext cx="46737"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4" name="Rectangle 143"/>
            <p:cNvSpPr/>
            <p:nvPr/>
          </p:nvSpPr>
          <p:spPr>
            <a:xfrm>
              <a:off x="7491049" y="1734598"/>
              <a:ext cx="2547793" cy="526475"/>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latin typeface="Arial Narrow" panose="020B0606020202030204" pitchFamily="34" charset="0"/>
              </a:endParaRPr>
            </a:p>
          </p:txBody>
        </p:sp>
        <p:sp>
          <p:nvSpPr>
            <p:cNvPr id="146" name="Rounded Rectangle 145"/>
            <p:cNvSpPr/>
            <p:nvPr/>
          </p:nvSpPr>
          <p:spPr>
            <a:xfrm>
              <a:off x="7983838" y="3874433"/>
              <a:ext cx="292100"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7" name="Rounded Rectangle 146"/>
            <p:cNvSpPr/>
            <p:nvPr/>
          </p:nvSpPr>
          <p:spPr>
            <a:xfrm>
              <a:off x="8616724" y="3870441"/>
              <a:ext cx="292100"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8" name="Rounded Rectangle 147"/>
            <p:cNvSpPr/>
            <p:nvPr/>
          </p:nvSpPr>
          <p:spPr>
            <a:xfrm>
              <a:off x="9249609" y="3870441"/>
              <a:ext cx="292100"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9" name="Oval 148"/>
            <p:cNvSpPr/>
            <p:nvPr/>
          </p:nvSpPr>
          <p:spPr>
            <a:xfrm>
              <a:off x="8360218" y="4017717"/>
              <a:ext cx="46737"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0" name="Oval 149"/>
            <p:cNvSpPr/>
            <p:nvPr/>
          </p:nvSpPr>
          <p:spPr>
            <a:xfrm>
              <a:off x="8508218" y="4017717"/>
              <a:ext cx="46737"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1" name="Oval 150"/>
            <p:cNvSpPr/>
            <p:nvPr/>
          </p:nvSpPr>
          <p:spPr>
            <a:xfrm>
              <a:off x="8983062" y="4017717"/>
              <a:ext cx="46737"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2" name="Oval 151"/>
            <p:cNvSpPr/>
            <p:nvPr/>
          </p:nvSpPr>
          <p:spPr>
            <a:xfrm>
              <a:off x="9131063" y="4017717"/>
              <a:ext cx="46737"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3" name="Down Arrow 152"/>
            <p:cNvSpPr/>
            <p:nvPr/>
          </p:nvSpPr>
          <p:spPr>
            <a:xfrm>
              <a:off x="8676198" y="2262391"/>
              <a:ext cx="173150"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4" name="Rounded Rectangle 153"/>
            <p:cNvSpPr/>
            <p:nvPr/>
          </p:nvSpPr>
          <p:spPr>
            <a:xfrm>
              <a:off x="8302795" y="4776541"/>
              <a:ext cx="292100"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5" name="Rounded Rectangle 154"/>
            <p:cNvSpPr/>
            <p:nvPr/>
          </p:nvSpPr>
          <p:spPr>
            <a:xfrm>
              <a:off x="8908824" y="4780544"/>
              <a:ext cx="292100"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6" name="Rectangle 155"/>
            <p:cNvSpPr/>
            <p:nvPr/>
          </p:nvSpPr>
          <p:spPr>
            <a:xfrm>
              <a:off x="8149929" y="4685097"/>
              <a:ext cx="1252136" cy="526475"/>
            </a:xfrm>
            <a:prstGeom prst="rect">
              <a:avLst/>
            </a:prstGeom>
            <a:solidFill>
              <a:schemeClr val="tx2">
                <a:lumMod val="60000"/>
                <a:lumOff val="40000"/>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cxnSp>
          <p:nvCxnSpPr>
            <p:cNvPr id="157" name="Straight Arrow Connector 156"/>
            <p:cNvCxnSpPr>
              <a:stCxn id="158" idx="1"/>
              <a:endCxn id="144" idx="3"/>
            </p:cNvCxnSpPr>
            <p:nvPr/>
          </p:nvCxnSpPr>
          <p:spPr>
            <a:xfrm flipH="1" flipV="1">
              <a:off x="10038842" y="1997836"/>
              <a:ext cx="551729" cy="4242"/>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8" name="TextBox 157"/>
            <p:cNvSpPr txBox="1"/>
            <p:nvPr/>
          </p:nvSpPr>
          <p:spPr>
            <a:xfrm>
              <a:off x="10590571" y="1832801"/>
              <a:ext cx="1039176" cy="338554"/>
            </a:xfrm>
            <a:prstGeom prst="rect">
              <a:avLst/>
            </a:prstGeom>
            <a:noFill/>
          </p:spPr>
          <p:txBody>
            <a:bodyPr wrap="square" rtlCol="0">
              <a:spAutoFit/>
            </a:bodyPr>
            <a:lstStyle/>
            <a:p>
              <a:r>
                <a:rPr lang="en-IN" sz="1600" dirty="0">
                  <a:latin typeface="Arial Narrow" panose="020B0606020202030204" pitchFamily="34" charset="0"/>
                </a:rPr>
                <a:t>Input Layer</a:t>
              </a:r>
            </a:p>
          </p:txBody>
        </p:sp>
        <p:cxnSp>
          <p:nvCxnSpPr>
            <p:cNvPr id="159" name="Straight Arrow Connector 158"/>
            <p:cNvCxnSpPr>
              <a:stCxn id="160" idx="1"/>
              <a:endCxn id="156" idx="3"/>
            </p:cNvCxnSpPr>
            <p:nvPr/>
          </p:nvCxnSpPr>
          <p:spPr>
            <a:xfrm flipH="1" flipV="1">
              <a:off x="9402065" y="4948335"/>
              <a:ext cx="933497" cy="4291"/>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0" name="TextBox 159"/>
            <p:cNvSpPr txBox="1"/>
            <p:nvPr/>
          </p:nvSpPr>
          <p:spPr>
            <a:xfrm>
              <a:off x="10335562" y="4783349"/>
              <a:ext cx="1420342" cy="338554"/>
            </a:xfrm>
            <a:prstGeom prst="rect">
              <a:avLst/>
            </a:prstGeom>
            <a:noFill/>
          </p:spPr>
          <p:txBody>
            <a:bodyPr wrap="square" rtlCol="0">
              <a:spAutoFit/>
            </a:bodyPr>
            <a:lstStyle/>
            <a:p>
              <a:r>
                <a:rPr lang="en-IN" sz="1600" dirty="0">
                  <a:latin typeface="Arial Narrow" panose="020B0606020202030204" pitchFamily="34" charset="0"/>
                </a:rPr>
                <a:t>Output Layer</a:t>
              </a:r>
            </a:p>
          </p:txBody>
        </p:sp>
        <p:sp>
          <p:nvSpPr>
            <p:cNvPr id="161" name="Down Arrow 160"/>
            <p:cNvSpPr/>
            <p:nvPr/>
          </p:nvSpPr>
          <p:spPr>
            <a:xfrm>
              <a:off x="8320379" y="4302920"/>
              <a:ext cx="173150" cy="374909"/>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cxnSp>
          <p:nvCxnSpPr>
            <p:cNvPr id="162" name="Straight Arrow Connector 161"/>
            <p:cNvCxnSpPr>
              <a:stCxn id="163" idx="1"/>
              <a:endCxn id="145" idx="3"/>
            </p:cNvCxnSpPr>
            <p:nvPr/>
          </p:nvCxnSpPr>
          <p:spPr>
            <a:xfrm flipH="1">
              <a:off x="9671284" y="3005607"/>
              <a:ext cx="357593" cy="6104"/>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3" name="TextBox 162"/>
                <p:cNvSpPr txBox="1"/>
                <p:nvPr/>
              </p:nvSpPr>
              <p:spPr>
                <a:xfrm>
                  <a:off x="10028877" y="2713219"/>
                  <a:ext cx="1727027" cy="584775"/>
                </a:xfrm>
                <a:prstGeom prst="rect">
                  <a:avLst/>
                </a:prstGeom>
                <a:noFill/>
              </p:spPr>
              <p:txBody>
                <a:bodyPr wrap="square" rtlCol="0">
                  <a:spAutoFit/>
                </a:bodyPr>
                <a:lstStyle/>
                <a:p>
                  <a:pPr algn="ctr"/>
                  <a:r>
                    <a:rPr lang="en-IN" sz="1600" dirty="0">
                      <a:latin typeface="Arial Narrow" panose="020B0606020202030204" pitchFamily="34" charset="0"/>
                    </a:rPr>
                    <a:t>Hidden Layer with </a:t>
                  </a:r>
                  <a14:m>
                    <m:oMath xmlns:m="http://schemas.openxmlformats.org/officeDocument/2006/math">
                      <m:r>
                        <a:rPr lang="en-IN" sz="1600" i="1">
                          <a:latin typeface="Cambria Math" panose="02040503050406030204" pitchFamily="18" charset="0"/>
                        </a:rPr>
                        <m:t>𝑚</m:t>
                      </m:r>
                    </m:oMath>
                  </a14:m>
                  <a:r>
                    <a:rPr lang="en-IN" sz="1600" i="1" dirty="0">
                      <a:latin typeface="Arial Narrow" panose="020B0606020202030204" pitchFamily="34" charset="0"/>
                    </a:rPr>
                    <a:t> </a:t>
                  </a:r>
                  <a:r>
                    <a:rPr lang="en-IN" sz="1600" dirty="0">
                      <a:latin typeface="Arial Narrow" panose="020B0606020202030204" pitchFamily="34" charset="0"/>
                    </a:rPr>
                    <a:t>No. of neurons</a:t>
                  </a:r>
                </a:p>
              </p:txBody>
            </p:sp>
          </mc:Choice>
          <mc:Fallback xmlns="">
            <p:sp>
              <p:nvSpPr>
                <p:cNvPr id="163" name="TextBox 162"/>
                <p:cNvSpPr txBox="1">
                  <a:spLocks noRot="1" noChangeAspect="1" noMove="1" noResize="1" noEditPoints="1" noAdjustHandles="1" noChangeArrowheads="1" noChangeShapeType="1" noTextEdit="1"/>
                </p:cNvSpPr>
                <p:nvPr/>
              </p:nvSpPr>
              <p:spPr>
                <a:xfrm>
                  <a:off x="10028877" y="2713219"/>
                  <a:ext cx="1727027" cy="584775"/>
                </a:xfrm>
                <a:prstGeom prst="rect">
                  <a:avLst/>
                </a:prstGeom>
                <a:blipFill>
                  <a:blip r:embed="rId3"/>
                  <a:stretch>
                    <a:fillRect t="-2083" b="-13542"/>
                  </a:stretch>
                </a:blipFill>
              </p:spPr>
              <p:txBody>
                <a:bodyPr/>
                <a:lstStyle/>
                <a:p>
                  <a:r>
                    <a:rPr lang="en-IN">
                      <a:noFill/>
                    </a:rPr>
                    <a:t> </a:t>
                  </a:r>
                </a:p>
              </p:txBody>
            </p:sp>
          </mc:Fallback>
        </mc:AlternateContent>
        <p:cxnSp>
          <p:nvCxnSpPr>
            <p:cNvPr id="164" name="Straight Arrow Connector 163"/>
            <p:cNvCxnSpPr>
              <a:stCxn id="165" idx="1"/>
              <a:endCxn id="126" idx="3"/>
            </p:cNvCxnSpPr>
            <p:nvPr/>
          </p:nvCxnSpPr>
          <p:spPr>
            <a:xfrm flipH="1" flipV="1">
              <a:off x="9671284" y="4042233"/>
              <a:ext cx="505125" cy="1823"/>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5" name="TextBox 164"/>
            <p:cNvSpPr txBox="1"/>
            <p:nvPr/>
          </p:nvSpPr>
          <p:spPr>
            <a:xfrm>
              <a:off x="10176409" y="3751668"/>
              <a:ext cx="1738990" cy="584775"/>
            </a:xfrm>
            <a:prstGeom prst="rect">
              <a:avLst/>
            </a:prstGeom>
            <a:noFill/>
          </p:spPr>
          <p:txBody>
            <a:bodyPr wrap="square" rtlCol="0">
              <a:spAutoFit/>
            </a:bodyPr>
            <a:lstStyle/>
            <a:p>
              <a:pPr algn="ctr"/>
              <a:r>
                <a:rPr lang="en-IN" sz="1600" dirty="0">
                  <a:latin typeface="Arial Narrow" panose="020B0606020202030204" pitchFamily="34" charset="0"/>
                </a:rPr>
                <a:t>Hidden Layer with </a:t>
              </a:r>
              <a:r>
                <a:rPr lang="en-IN" sz="1600" i="1" dirty="0">
                  <a:latin typeface="Cambria" panose="02040503050406030204" pitchFamily="18" charset="0"/>
                  <a:ea typeface="Cambria" panose="02040503050406030204" pitchFamily="18" charset="0"/>
                </a:rPr>
                <a:t>r</a:t>
              </a:r>
              <a:r>
                <a:rPr lang="en-IN" sz="1600" i="1" dirty="0">
                  <a:latin typeface="Arial Narrow" panose="020B0606020202030204" pitchFamily="34" charset="0"/>
                </a:rPr>
                <a:t> </a:t>
              </a:r>
              <a:r>
                <a:rPr lang="en-IN" sz="1600" dirty="0">
                  <a:latin typeface="Arial Narrow" panose="020B0606020202030204" pitchFamily="34" charset="0"/>
                </a:rPr>
                <a:t>No. of neurons</a:t>
              </a:r>
            </a:p>
          </p:txBody>
        </p:sp>
        <mc:AlternateContent xmlns:mc="http://schemas.openxmlformats.org/markup-compatibility/2006" xmlns:a14="http://schemas.microsoft.com/office/drawing/2010/main">
          <mc:Choice Requires="a14">
            <p:sp>
              <p:nvSpPr>
                <p:cNvPr id="166" name="Rectangle 165"/>
                <p:cNvSpPr/>
                <p:nvPr/>
              </p:nvSpPr>
              <p:spPr>
                <a:xfrm>
                  <a:off x="7548856" y="1810082"/>
                  <a:ext cx="3928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0</m:t>
                            </m:r>
                          </m:sub>
                        </m:sSub>
                      </m:oMath>
                    </m:oMathPara>
                  </a14:m>
                  <a:endParaRPr lang="en-IN" sz="1400" dirty="0">
                    <a:latin typeface="Arial Narrow" panose="020B0606020202030204" pitchFamily="34" charset="0"/>
                  </a:endParaRPr>
                </a:p>
              </p:txBody>
            </p:sp>
          </mc:Choice>
          <mc:Fallback xmlns="">
            <p:sp>
              <p:nvSpPr>
                <p:cNvPr id="166" name="Rectangle 165"/>
                <p:cNvSpPr>
                  <a:spLocks noRot="1" noChangeAspect="1" noMove="1" noResize="1" noEditPoints="1" noAdjustHandles="1" noChangeArrowheads="1" noChangeShapeType="1" noTextEdit="1"/>
                </p:cNvSpPr>
                <p:nvPr/>
              </p:nvSpPr>
              <p:spPr>
                <a:xfrm>
                  <a:off x="7548856" y="1810082"/>
                  <a:ext cx="392800" cy="338554"/>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7" name="Rectangle 166"/>
                <p:cNvSpPr/>
                <p:nvPr/>
              </p:nvSpPr>
              <p:spPr>
                <a:xfrm>
                  <a:off x="8032171" y="1808454"/>
                  <a:ext cx="388055"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167" name="Rectangle 166"/>
                <p:cNvSpPr>
                  <a:spLocks noRot="1" noChangeAspect="1" noMove="1" noResize="1" noEditPoints="1" noAdjustHandles="1" noChangeArrowheads="1" noChangeShapeType="1" noTextEdit="1"/>
                </p:cNvSpPr>
                <p:nvPr/>
              </p:nvSpPr>
              <p:spPr>
                <a:xfrm>
                  <a:off x="8032171" y="1808454"/>
                  <a:ext cx="388055" cy="33855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8" name="Rectangle 167"/>
                <p:cNvSpPr/>
                <p:nvPr/>
              </p:nvSpPr>
              <p:spPr>
                <a:xfrm>
                  <a:off x="8869731" y="1798482"/>
                  <a:ext cx="392543"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𝑒</m:t>
                            </m:r>
                          </m:sub>
                        </m:sSub>
                      </m:oMath>
                    </m:oMathPara>
                  </a14:m>
                  <a:endParaRPr lang="en-IN" sz="1400" dirty="0">
                    <a:latin typeface="Arial Narrow" panose="020B0606020202030204" pitchFamily="34" charset="0"/>
                  </a:endParaRPr>
                </a:p>
              </p:txBody>
            </p:sp>
          </mc:Choice>
          <mc:Fallback xmlns="">
            <p:sp>
              <p:nvSpPr>
                <p:cNvPr id="168" name="Rectangle 167"/>
                <p:cNvSpPr>
                  <a:spLocks noRot="1" noChangeAspect="1" noMove="1" noResize="1" noEditPoints="1" noAdjustHandles="1" noChangeArrowheads="1" noChangeShapeType="1" noTextEdit="1"/>
                </p:cNvSpPr>
                <p:nvPr/>
              </p:nvSpPr>
              <p:spPr>
                <a:xfrm>
                  <a:off x="8869731" y="1798482"/>
                  <a:ext cx="392543" cy="33855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9" name="Rectangle 168"/>
                <p:cNvSpPr/>
                <p:nvPr/>
              </p:nvSpPr>
              <p:spPr>
                <a:xfrm>
                  <a:off x="9624844" y="1808454"/>
                  <a:ext cx="40658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𝑛</m:t>
                            </m:r>
                          </m:sub>
                        </m:sSub>
                      </m:oMath>
                    </m:oMathPara>
                  </a14:m>
                  <a:endParaRPr lang="en-IN" sz="1400" dirty="0">
                    <a:latin typeface="Arial Narrow" panose="020B0606020202030204" pitchFamily="34" charset="0"/>
                  </a:endParaRPr>
                </a:p>
              </p:txBody>
            </p:sp>
          </mc:Choice>
          <mc:Fallback xmlns="">
            <p:sp>
              <p:nvSpPr>
                <p:cNvPr id="169" name="Rectangle 168"/>
                <p:cNvSpPr>
                  <a:spLocks noRot="1" noChangeAspect="1" noMove="1" noResize="1" noEditPoints="1" noAdjustHandles="1" noChangeArrowheads="1" noChangeShapeType="1" noTextEdit="1"/>
                </p:cNvSpPr>
                <p:nvPr/>
              </p:nvSpPr>
              <p:spPr>
                <a:xfrm>
                  <a:off x="9624844" y="1808454"/>
                  <a:ext cx="406586" cy="33855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0" name="Rectangle 169"/>
                <p:cNvSpPr/>
                <p:nvPr/>
              </p:nvSpPr>
              <p:spPr>
                <a:xfrm>
                  <a:off x="7884687" y="2814142"/>
                  <a:ext cx="521873"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11</m:t>
                            </m:r>
                          </m:sub>
                        </m:sSub>
                      </m:oMath>
                    </m:oMathPara>
                  </a14:m>
                  <a:endParaRPr lang="en-IN" sz="1400" dirty="0">
                    <a:latin typeface="Arial Narrow" panose="020B0606020202030204" pitchFamily="34" charset="0"/>
                  </a:endParaRPr>
                </a:p>
              </p:txBody>
            </p:sp>
          </mc:Choice>
          <mc:Fallback xmlns="">
            <p:sp>
              <p:nvSpPr>
                <p:cNvPr id="170" name="Rectangle 169"/>
                <p:cNvSpPr>
                  <a:spLocks noRot="1" noChangeAspect="1" noMove="1" noResize="1" noEditPoints="1" noAdjustHandles="1" noChangeArrowheads="1" noChangeShapeType="1" noTextEdit="1"/>
                </p:cNvSpPr>
                <p:nvPr/>
              </p:nvSpPr>
              <p:spPr>
                <a:xfrm>
                  <a:off x="7884687" y="2814142"/>
                  <a:ext cx="521873" cy="338554"/>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1" name="Rectangle 170"/>
                <p:cNvSpPr/>
                <p:nvPr/>
              </p:nvSpPr>
              <p:spPr>
                <a:xfrm>
                  <a:off x="9131063" y="2820099"/>
                  <a:ext cx="57733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1</m:t>
                            </m:r>
                            <m:r>
                              <a:rPr lang="en-IN" sz="1600" b="0" i="1" smtClean="0">
                                <a:latin typeface="Cambria Math" panose="02040503050406030204" pitchFamily="18" charset="0"/>
                              </a:rPr>
                              <m:t>𝑚</m:t>
                            </m:r>
                          </m:sub>
                        </m:sSub>
                      </m:oMath>
                    </m:oMathPara>
                  </a14:m>
                  <a:endParaRPr lang="en-IN" sz="1400" dirty="0">
                    <a:latin typeface="Arial Narrow" panose="020B0606020202030204" pitchFamily="34" charset="0"/>
                  </a:endParaRPr>
                </a:p>
              </p:txBody>
            </p:sp>
          </mc:Choice>
          <mc:Fallback xmlns="">
            <p:sp>
              <p:nvSpPr>
                <p:cNvPr id="171" name="Rectangle 170"/>
                <p:cNvSpPr>
                  <a:spLocks noRot="1" noChangeAspect="1" noMove="1" noResize="1" noEditPoints="1" noAdjustHandles="1" noChangeArrowheads="1" noChangeShapeType="1" noTextEdit="1"/>
                </p:cNvSpPr>
                <p:nvPr/>
              </p:nvSpPr>
              <p:spPr>
                <a:xfrm>
                  <a:off x="9131063" y="2820099"/>
                  <a:ext cx="577338" cy="33855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2" name="Rectangle 171"/>
                <p:cNvSpPr/>
                <p:nvPr/>
              </p:nvSpPr>
              <p:spPr>
                <a:xfrm>
                  <a:off x="8514955" y="2823686"/>
                  <a:ext cx="52161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1</m:t>
                            </m:r>
                            <m:r>
                              <a:rPr lang="en-IN" sz="1600" b="0" i="1" smtClean="0">
                                <a:latin typeface="Cambria Math" panose="02040503050406030204" pitchFamily="18" charset="0"/>
                              </a:rPr>
                              <m:t>𝑒</m:t>
                            </m:r>
                          </m:sub>
                        </m:sSub>
                      </m:oMath>
                    </m:oMathPara>
                  </a14:m>
                  <a:endParaRPr lang="en-IN" sz="1400" dirty="0">
                    <a:latin typeface="Arial Narrow" panose="020B0606020202030204" pitchFamily="34" charset="0"/>
                  </a:endParaRPr>
                </a:p>
              </p:txBody>
            </p:sp>
          </mc:Choice>
          <mc:Fallback xmlns="">
            <p:sp>
              <p:nvSpPr>
                <p:cNvPr id="172" name="Rectangle 171"/>
                <p:cNvSpPr>
                  <a:spLocks noRot="1" noChangeAspect="1" noMove="1" noResize="1" noEditPoints="1" noAdjustHandles="1" noChangeArrowheads="1" noChangeShapeType="1" noTextEdit="1"/>
                </p:cNvSpPr>
                <p:nvPr/>
              </p:nvSpPr>
              <p:spPr>
                <a:xfrm>
                  <a:off x="8514955" y="2823686"/>
                  <a:ext cx="521617" cy="338554"/>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3" name="Rectangle 172"/>
                <p:cNvSpPr/>
                <p:nvPr/>
              </p:nvSpPr>
              <p:spPr>
                <a:xfrm>
                  <a:off x="9137986" y="3844667"/>
                  <a:ext cx="52815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𝑘𝑟</m:t>
                            </m:r>
                          </m:sub>
                        </m:sSub>
                      </m:oMath>
                    </m:oMathPara>
                  </a14:m>
                  <a:endParaRPr lang="en-IN" sz="1400" dirty="0">
                    <a:latin typeface="Arial Narrow" panose="020B0606020202030204" pitchFamily="34" charset="0"/>
                  </a:endParaRPr>
                </a:p>
              </p:txBody>
            </p:sp>
          </mc:Choice>
          <mc:Fallback xmlns="">
            <p:sp>
              <p:nvSpPr>
                <p:cNvPr id="173" name="Rectangle 172"/>
                <p:cNvSpPr>
                  <a:spLocks noRot="1" noChangeAspect="1" noMove="1" noResize="1" noEditPoints="1" noAdjustHandles="1" noChangeArrowheads="1" noChangeShapeType="1" noTextEdit="1"/>
                </p:cNvSpPr>
                <p:nvPr/>
              </p:nvSpPr>
              <p:spPr>
                <a:xfrm>
                  <a:off x="9137986" y="3844667"/>
                  <a:ext cx="528158" cy="338554"/>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4" name="Rectangle 173"/>
                <p:cNvSpPr/>
                <p:nvPr/>
              </p:nvSpPr>
              <p:spPr>
                <a:xfrm>
                  <a:off x="7873227" y="3832076"/>
                  <a:ext cx="53142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𝑘</m:t>
                            </m:r>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174" name="Rectangle 173"/>
                <p:cNvSpPr>
                  <a:spLocks noRot="1" noChangeAspect="1" noMove="1" noResize="1" noEditPoints="1" noAdjustHandles="1" noChangeArrowheads="1" noChangeShapeType="1" noTextEdit="1"/>
                </p:cNvSpPr>
                <p:nvPr/>
              </p:nvSpPr>
              <p:spPr>
                <a:xfrm>
                  <a:off x="7873227" y="3832076"/>
                  <a:ext cx="531428" cy="338554"/>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5" name="Rectangle 174"/>
                <p:cNvSpPr/>
                <p:nvPr/>
              </p:nvSpPr>
              <p:spPr>
                <a:xfrm>
                  <a:off x="8523638" y="3843361"/>
                  <a:ext cx="502895"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𝑘𝑖</m:t>
                            </m:r>
                          </m:sub>
                        </m:sSub>
                      </m:oMath>
                    </m:oMathPara>
                  </a14:m>
                  <a:endParaRPr lang="en-IN" sz="1400" dirty="0">
                    <a:latin typeface="Arial Narrow" panose="020B0606020202030204" pitchFamily="34" charset="0"/>
                  </a:endParaRPr>
                </a:p>
              </p:txBody>
            </p:sp>
          </mc:Choice>
          <mc:Fallback xmlns="">
            <p:sp>
              <p:nvSpPr>
                <p:cNvPr id="175" name="Rectangle 174"/>
                <p:cNvSpPr>
                  <a:spLocks noRot="1" noChangeAspect="1" noMove="1" noResize="1" noEditPoints="1" noAdjustHandles="1" noChangeArrowheads="1" noChangeShapeType="1" noTextEdit="1"/>
                </p:cNvSpPr>
                <p:nvPr/>
              </p:nvSpPr>
              <p:spPr>
                <a:xfrm>
                  <a:off x="8523638" y="3843361"/>
                  <a:ext cx="502895" cy="338554"/>
                </a:xfrm>
                <a:prstGeom prst="rect">
                  <a:avLst/>
                </a:prstGeom>
                <a:blipFill>
                  <a:blip r:embed="rId13"/>
                  <a:stretch>
                    <a:fillRect b="-178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6" name="Rectangle 175"/>
                <p:cNvSpPr/>
                <p:nvPr/>
              </p:nvSpPr>
              <p:spPr>
                <a:xfrm>
                  <a:off x="8275937" y="4746880"/>
                  <a:ext cx="41126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𝑌</m:t>
                            </m:r>
                          </m:e>
                          <m:sub>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176" name="Rectangle 175"/>
                <p:cNvSpPr>
                  <a:spLocks noRot="1" noChangeAspect="1" noMove="1" noResize="1" noEditPoints="1" noAdjustHandles="1" noChangeArrowheads="1" noChangeShapeType="1" noTextEdit="1"/>
                </p:cNvSpPr>
                <p:nvPr/>
              </p:nvSpPr>
              <p:spPr>
                <a:xfrm>
                  <a:off x="8275937" y="4746880"/>
                  <a:ext cx="411266" cy="338554"/>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7" name="Rectangle 176"/>
                <p:cNvSpPr/>
                <p:nvPr/>
              </p:nvSpPr>
              <p:spPr>
                <a:xfrm>
                  <a:off x="8887482" y="4746579"/>
                  <a:ext cx="41601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𝑌</m:t>
                            </m:r>
                          </m:e>
                          <m:sub>
                            <m:r>
                              <a:rPr lang="en-IN" sz="1600" b="0" i="1" smtClean="0">
                                <a:latin typeface="Cambria Math" panose="02040503050406030204" pitchFamily="18" charset="0"/>
                              </a:rPr>
                              <m:t>2</m:t>
                            </m:r>
                          </m:sub>
                        </m:sSub>
                      </m:oMath>
                    </m:oMathPara>
                  </a14:m>
                  <a:endParaRPr lang="en-IN" sz="1400" dirty="0">
                    <a:latin typeface="Arial Narrow" panose="020B0606020202030204" pitchFamily="34" charset="0"/>
                  </a:endParaRPr>
                </a:p>
              </p:txBody>
            </p:sp>
          </mc:Choice>
          <mc:Fallback xmlns="">
            <p:sp>
              <p:nvSpPr>
                <p:cNvPr id="177" name="Rectangle 176"/>
                <p:cNvSpPr>
                  <a:spLocks noRot="1" noChangeAspect="1" noMove="1" noResize="1" noEditPoints="1" noAdjustHandles="1" noChangeArrowheads="1" noChangeShapeType="1" noTextEdit="1"/>
                </p:cNvSpPr>
                <p:nvPr/>
              </p:nvSpPr>
              <p:spPr>
                <a:xfrm>
                  <a:off x="8887482" y="4746579"/>
                  <a:ext cx="416011" cy="338554"/>
                </a:xfrm>
                <a:prstGeom prst="rect">
                  <a:avLst/>
                </a:prstGeom>
                <a:blipFill>
                  <a:blip r:embed="rId15"/>
                  <a:stretch>
                    <a:fillRect/>
                  </a:stretch>
                </a:blipFill>
              </p:spPr>
              <p:txBody>
                <a:bodyPr/>
                <a:lstStyle/>
                <a:p>
                  <a:r>
                    <a:rPr lang="en-IN">
                      <a:noFill/>
                    </a:rPr>
                    <a:t> </a:t>
                  </a:r>
                </a:p>
              </p:txBody>
            </p:sp>
          </mc:Fallback>
        </mc:AlternateContent>
        <p:sp>
          <p:nvSpPr>
            <p:cNvPr id="178" name="Down Arrow 177"/>
            <p:cNvSpPr/>
            <p:nvPr/>
          </p:nvSpPr>
          <p:spPr>
            <a:xfrm>
              <a:off x="9384075" y="2262391"/>
              <a:ext cx="173150"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79" name="Down Arrow 178"/>
            <p:cNvSpPr/>
            <p:nvPr/>
          </p:nvSpPr>
          <p:spPr>
            <a:xfrm>
              <a:off x="7976746" y="2269213"/>
              <a:ext cx="173150"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80" name="Down Arrow 179"/>
            <p:cNvSpPr/>
            <p:nvPr/>
          </p:nvSpPr>
          <p:spPr>
            <a:xfrm>
              <a:off x="8665928" y="3276363"/>
              <a:ext cx="173150"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81" name="Down Arrow 180"/>
            <p:cNvSpPr/>
            <p:nvPr/>
          </p:nvSpPr>
          <p:spPr>
            <a:xfrm>
              <a:off x="9359638" y="3276363"/>
              <a:ext cx="173150"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82" name="Down Arrow 181"/>
            <p:cNvSpPr/>
            <p:nvPr/>
          </p:nvSpPr>
          <p:spPr>
            <a:xfrm>
              <a:off x="7957031" y="3283185"/>
              <a:ext cx="173150"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83" name="Down Arrow 182"/>
            <p:cNvSpPr/>
            <p:nvPr/>
          </p:nvSpPr>
          <p:spPr>
            <a:xfrm>
              <a:off x="9073033" y="4310186"/>
              <a:ext cx="173150" cy="374909"/>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mc:AlternateContent xmlns:mc="http://schemas.openxmlformats.org/markup-compatibility/2006" xmlns:a14="http://schemas.microsoft.com/office/drawing/2010/main">
          <mc:Choice Requires="a14">
            <p:sp>
              <p:nvSpPr>
                <p:cNvPr id="184" name="Rectangle 183"/>
                <p:cNvSpPr/>
                <p:nvPr/>
              </p:nvSpPr>
              <p:spPr>
                <a:xfrm>
                  <a:off x="8242082" y="3369877"/>
                  <a:ext cx="52495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𝑤</m:t>
                            </m:r>
                          </m:e>
                          <m:sub>
                            <m:r>
                              <a:rPr lang="en-IN" sz="1600" b="0" i="1" smtClean="0">
                                <a:latin typeface="Cambria Math" panose="02040503050406030204" pitchFamily="18" charset="0"/>
                              </a:rPr>
                              <m:t>𝑒𝑖</m:t>
                            </m:r>
                          </m:sub>
                        </m:sSub>
                      </m:oMath>
                    </m:oMathPara>
                  </a14:m>
                  <a:endParaRPr lang="en-IN" sz="1400" dirty="0">
                    <a:latin typeface="Arial Narrow" panose="020B0606020202030204" pitchFamily="34" charset="0"/>
                  </a:endParaRPr>
                </a:p>
              </p:txBody>
            </p:sp>
          </mc:Choice>
          <mc:Fallback xmlns="">
            <p:sp>
              <p:nvSpPr>
                <p:cNvPr id="184" name="Rectangle 183"/>
                <p:cNvSpPr>
                  <a:spLocks noRot="1" noChangeAspect="1" noMove="1" noResize="1" noEditPoints="1" noAdjustHandles="1" noChangeArrowheads="1" noChangeShapeType="1" noTextEdit="1"/>
                </p:cNvSpPr>
                <p:nvPr/>
              </p:nvSpPr>
              <p:spPr>
                <a:xfrm>
                  <a:off x="8242082" y="3369877"/>
                  <a:ext cx="524951" cy="338554"/>
                </a:xfrm>
                <a:prstGeom prst="rect">
                  <a:avLst/>
                </a:prstGeom>
                <a:blipFill>
                  <a:blip r:embed="rId16"/>
                  <a:stretch>
                    <a:fillRect b="-18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9" name="Rectangle 188"/>
                <p:cNvSpPr/>
                <p:nvPr/>
              </p:nvSpPr>
              <p:spPr>
                <a:xfrm>
                  <a:off x="7852290" y="4259816"/>
                  <a:ext cx="55354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𝑤</m:t>
                            </m:r>
                          </m:e>
                          <m:sub>
                            <m:r>
                              <a:rPr lang="en-IN" sz="1600" b="0" i="1" smtClean="0">
                                <a:latin typeface="Cambria Math" panose="02040503050406030204" pitchFamily="18" charset="0"/>
                              </a:rPr>
                              <m:t>11</m:t>
                            </m:r>
                          </m:sub>
                        </m:sSub>
                      </m:oMath>
                    </m:oMathPara>
                  </a14:m>
                  <a:endParaRPr lang="en-IN" sz="1400" dirty="0">
                    <a:latin typeface="Arial Narrow" panose="020B0606020202030204" pitchFamily="34" charset="0"/>
                  </a:endParaRPr>
                </a:p>
              </p:txBody>
            </p:sp>
          </mc:Choice>
          <mc:Fallback xmlns="">
            <p:sp>
              <p:nvSpPr>
                <p:cNvPr id="189" name="Rectangle 188"/>
                <p:cNvSpPr>
                  <a:spLocks noRot="1" noChangeAspect="1" noMove="1" noResize="1" noEditPoints="1" noAdjustHandles="1" noChangeArrowheads="1" noChangeShapeType="1" noTextEdit="1"/>
                </p:cNvSpPr>
                <p:nvPr/>
              </p:nvSpPr>
              <p:spPr>
                <a:xfrm>
                  <a:off x="7852290" y="4259816"/>
                  <a:ext cx="553549" cy="338554"/>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0" name="Rectangle 189"/>
                <p:cNvSpPr/>
                <p:nvPr/>
              </p:nvSpPr>
              <p:spPr>
                <a:xfrm>
                  <a:off x="9135980" y="4310184"/>
                  <a:ext cx="55027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𝑤</m:t>
                            </m:r>
                          </m:e>
                          <m:sub>
                            <m:r>
                              <a:rPr lang="en-IN" sz="1600" b="0" i="1" smtClean="0">
                                <a:latin typeface="Cambria Math" panose="02040503050406030204" pitchFamily="18" charset="0"/>
                              </a:rPr>
                              <m:t>𝑟</m:t>
                            </m:r>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190" name="Rectangle 189"/>
                <p:cNvSpPr>
                  <a:spLocks noRot="1" noChangeAspect="1" noMove="1" noResize="1" noEditPoints="1" noAdjustHandles="1" noChangeArrowheads="1" noChangeShapeType="1" noTextEdit="1"/>
                </p:cNvSpPr>
                <p:nvPr/>
              </p:nvSpPr>
              <p:spPr>
                <a:xfrm>
                  <a:off x="9135980" y="4310184"/>
                  <a:ext cx="550279" cy="338554"/>
                </a:xfrm>
                <a:prstGeom prst="rect">
                  <a:avLst/>
                </a:prstGeom>
                <a:blipFill>
                  <a:blip r:embed="rId18"/>
                  <a:stretch>
                    <a:fillRect/>
                  </a:stretch>
                </a:blipFill>
              </p:spPr>
              <p:txBody>
                <a:bodyPr/>
                <a:lstStyle/>
                <a:p>
                  <a:r>
                    <a:rPr lang="en-IN">
                      <a:noFill/>
                    </a:rPr>
                    <a:t> </a:t>
                  </a:r>
                </a:p>
              </p:txBody>
            </p:sp>
          </mc:Fallback>
        </mc:AlternateContent>
        <p:sp>
          <p:nvSpPr>
            <p:cNvPr id="203" name="TextBox 202"/>
            <p:cNvSpPr txBox="1"/>
            <p:nvPr/>
          </p:nvSpPr>
          <p:spPr>
            <a:xfrm>
              <a:off x="9507212" y="3330992"/>
              <a:ext cx="1778051" cy="338554"/>
            </a:xfrm>
            <a:prstGeom prst="rect">
              <a:avLst/>
            </a:prstGeom>
            <a:noFill/>
          </p:spPr>
          <p:txBody>
            <a:bodyPr wrap="none" rtlCol="0">
              <a:spAutoFit/>
            </a:bodyPr>
            <a:lstStyle/>
            <a:p>
              <a:r>
                <a:rPr lang="en-IN" sz="1600" i="1" dirty="0">
                  <a:latin typeface="Arial Narrow" panose="020B0606020202030204" pitchFamily="34" charset="0"/>
                </a:rPr>
                <a:t>k</a:t>
              </a:r>
              <a:r>
                <a:rPr lang="en-IN" sz="1600" dirty="0">
                  <a:latin typeface="Arial Narrow" panose="020B0606020202030204" pitchFamily="34" charset="0"/>
                </a:rPr>
                <a:t> no. of hidden layers</a:t>
              </a:r>
            </a:p>
          </p:txBody>
        </p:sp>
      </p:grpSp>
      <p:sp>
        <p:nvSpPr>
          <p:cNvPr id="207" name="Rectangle 206"/>
          <p:cNvSpPr/>
          <p:nvPr/>
        </p:nvSpPr>
        <p:spPr>
          <a:xfrm>
            <a:off x="1767871" y="5911742"/>
            <a:ext cx="2639895" cy="526475"/>
          </a:xfrm>
          <a:prstGeom prst="rect">
            <a:avLst/>
          </a:prstGeom>
          <a:solidFill>
            <a:schemeClr val="accent2">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08" name="Rounded Rectangle 207"/>
          <p:cNvSpPr/>
          <p:nvPr/>
        </p:nvSpPr>
        <p:spPr>
          <a:xfrm>
            <a:off x="1937483" y="4976657"/>
            <a:ext cx="511396"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09" name="Rounded Rectangle 208"/>
          <p:cNvSpPr/>
          <p:nvPr/>
        </p:nvSpPr>
        <p:spPr>
          <a:xfrm>
            <a:off x="2820448" y="4972666"/>
            <a:ext cx="539597"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10" name="Rounded Rectangle 209"/>
          <p:cNvSpPr/>
          <p:nvPr/>
        </p:nvSpPr>
        <p:spPr>
          <a:xfrm>
            <a:off x="3779974" y="4972665"/>
            <a:ext cx="536351"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11" name="Oval 210"/>
          <p:cNvSpPr/>
          <p:nvPr/>
        </p:nvSpPr>
        <p:spPr>
          <a:xfrm>
            <a:off x="2518485" y="5119942"/>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12" name="Oval 211"/>
          <p:cNvSpPr/>
          <p:nvPr/>
        </p:nvSpPr>
        <p:spPr>
          <a:xfrm>
            <a:off x="2693657" y="5119942"/>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13" name="Oval 212"/>
          <p:cNvSpPr/>
          <p:nvPr/>
        </p:nvSpPr>
        <p:spPr>
          <a:xfrm>
            <a:off x="3431260" y="5119942"/>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14" name="Oval 213"/>
          <p:cNvSpPr/>
          <p:nvPr/>
        </p:nvSpPr>
        <p:spPr>
          <a:xfrm>
            <a:off x="3614054" y="5119942"/>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16" name="Rounded Rectangle 215"/>
          <p:cNvSpPr/>
          <p:nvPr/>
        </p:nvSpPr>
        <p:spPr>
          <a:xfrm>
            <a:off x="1976113" y="6007180"/>
            <a:ext cx="420923"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17" name="Rounded Rectangle 216"/>
          <p:cNvSpPr/>
          <p:nvPr/>
        </p:nvSpPr>
        <p:spPr>
          <a:xfrm>
            <a:off x="2888117" y="6003188"/>
            <a:ext cx="420923"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18" name="Rounded Rectangle 217"/>
          <p:cNvSpPr/>
          <p:nvPr/>
        </p:nvSpPr>
        <p:spPr>
          <a:xfrm>
            <a:off x="3800121" y="6003188"/>
            <a:ext cx="420923"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19" name="Oval 218"/>
          <p:cNvSpPr/>
          <p:nvPr/>
        </p:nvSpPr>
        <p:spPr>
          <a:xfrm>
            <a:off x="2518485" y="6150464"/>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20" name="Oval 219"/>
          <p:cNvSpPr/>
          <p:nvPr/>
        </p:nvSpPr>
        <p:spPr>
          <a:xfrm>
            <a:off x="2731757" y="6150464"/>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21" name="Oval 220"/>
          <p:cNvSpPr/>
          <p:nvPr/>
        </p:nvSpPr>
        <p:spPr>
          <a:xfrm>
            <a:off x="3416020" y="6150464"/>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22" name="Oval 221"/>
          <p:cNvSpPr/>
          <p:nvPr/>
        </p:nvSpPr>
        <p:spPr>
          <a:xfrm>
            <a:off x="3629294" y="6150464"/>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mc:AlternateContent xmlns:mc="http://schemas.openxmlformats.org/markup-compatibility/2006" xmlns:a14="http://schemas.microsoft.com/office/drawing/2010/main">
        <mc:Choice Requires="a14">
          <p:sp>
            <p:nvSpPr>
              <p:cNvPr id="225" name="Rectangle 224"/>
              <p:cNvSpPr/>
              <p:nvPr/>
            </p:nvSpPr>
            <p:spPr>
              <a:xfrm>
                <a:off x="1833233" y="4946889"/>
                <a:ext cx="731995"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−11</m:t>
                          </m:r>
                        </m:sub>
                      </m:sSub>
                    </m:oMath>
                  </m:oMathPara>
                </a14:m>
                <a:endParaRPr lang="en-IN" sz="1400" dirty="0">
                  <a:latin typeface="Arial Narrow" panose="020B0606020202030204" pitchFamily="34" charset="0"/>
                </a:endParaRPr>
              </a:p>
            </p:txBody>
          </p:sp>
        </mc:Choice>
        <mc:Fallback xmlns="">
          <p:sp>
            <p:nvSpPr>
              <p:cNvPr id="225" name="Rectangle 224"/>
              <p:cNvSpPr>
                <a:spLocks noRot="1" noChangeAspect="1" noMove="1" noResize="1" noEditPoints="1" noAdjustHandles="1" noChangeArrowheads="1" noChangeShapeType="1" noTextEdit="1"/>
              </p:cNvSpPr>
              <p:nvPr/>
            </p:nvSpPr>
            <p:spPr>
              <a:xfrm>
                <a:off x="1833233" y="4946889"/>
                <a:ext cx="731995" cy="357534"/>
              </a:xfrm>
              <a:prstGeom prst="rect">
                <a:avLst/>
              </a:prstGeom>
              <a:blipFill>
                <a:blip r:embed="rId19"/>
                <a:stretch>
                  <a:fillRect b="-33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6" name="Rectangle 225"/>
              <p:cNvSpPr/>
              <p:nvPr/>
            </p:nvSpPr>
            <p:spPr>
              <a:xfrm>
                <a:off x="3664854" y="4952846"/>
                <a:ext cx="787460"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−1</m:t>
                          </m:r>
                          <m:r>
                            <a:rPr lang="en-IN" sz="1600" b="0" i="1" smtClean="0">
                              <a:latin typeface="Cambria Math" panose="02040503050406030204" pitchFamily="18" charset="0"/>
                            </a:rPr>
                            <m:t>𝑚</m:t>
                          </m:r>
                        </m:sub>
                      </m:sSub>
                    </m:oMath>
                  </m:oMathPara>
                </a14:m>
                <a:endParaRPr lang="en-IN" sz="1400" dirty="0">
                  <a:latin typeface="Arial Narrow" panose="020B0606020202030204" pitchFamily="34" charset="0"/>
                </a:endParaRPr>
              </a:p>
            </p:txBody>
          </p:sp>
        </mc:Choice>
        <mc:Fallback xmlns="">
          <p:sp>
            <p:nvSpPr>
              <p:cNvPr id="226" name="Rectangle 225"/>
              <p:cNvSpPr>
                <a:spLocks noRot="1" noChangeAspect="1" noMove="1" noResize="1" noEditPoints="1" noAdjustHandles="1" noChangeArrowheads="1" noChangeShapeType="1" noTextEdit="1"/>
              </p:cNvSpPr>
              <p:nvPr/>
            </p:nvSpPr>
            <p:spPr>
              <a:xfrm>
                <a:off x="3664854" y="4952846"/>
                <a:ext cx="787460" cy="357534"/>
              </a:xfrm>
              <a:prstGeom prst="rect">
                <a:avLst/>
              </a:prstGeom>
              <a:blipFill>
                <a:blip r:embed="rId20"/>
                <a:stretch>
                  <a:fillRect b="-33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7" name="Rectangle 226"/>
              <p:cNvSpPr/>
              <p:nvPr/>
            </p:nvSpPr>
            <p:spPr>
              <a:xfrm>
                <a:off x="2741465" y="4956433"/>
                <a:ext cx="731739"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−1</m:t>
                          </m:r>
                          <m:r>
                            <a:rPr lang="en-IN" sz="1600" b="0" i="1" smtClean="0">
                              <a:latin typeface="Cambria Math" panose="02040503050406030204" pitchFamily="18" charset="0"/>
                            </a:rPr>
                            <m:t>𝑒</m:t>
                          </m:r>
                        </m:sub>
                      </m:sSub>
                    </m:oMath>
                  </m:oMathPara>
                </a14:m>
                <a:endParaRPr lang="en-IN" sz="1400" dirty="0">
                  <a:latin typeface="Arial Narrow" panose="020B0606020202030204" pitchFamily="34" charset="0"/>
                </a:endParaRPr>
              </a:p>
            </p:txBody>
          </p:sp>
        </mc:Choice>
        <mc:Fallback xmlns="">
          <p:sp>
            <p:nvSpPr>
              <p:cNvPr id="227" name="Rectangle 226"/>
              <p:cNvSpPr>
                <a:spLocks noRot="1" noChangeAspect="1" noMove="1" noResize="1" noEditPoints="1" noAdjustHandles="1" noChangeArrowheads="1" noChangeShapeType="1" noTextEdit="1"/>
              </p:cNvSpPr>
              <p:nvPr/>
            </p:nvSpPr>
            <p:spPr>
              <a:xfrm>
                <a:off x="2741465" y="4956433"/>
                <a:ext cx="731739" cy="357534"/>
              </a:xfrm>
              <a:prstGeom prst="rect">
                <a:avLst/>
              </a:prstGeom>
              <a:blipFill>
                <a:blip r:embed="rId21"/>
                <a:stretch>
                  <a:fillRect b="-33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8" name="Rectangle 227"/>
              <p:cNvSpPr/>
              <p:nvPr/>
            </p:nvSpPr>
            <p:spPr>
              <a:xfrm>
                <a:off x="3749503" y="5981314"/>
                <a:ext cx="566822"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 </m:t>
                          </m:r>
                          <m:r>
                            <a:rPr lang="en-IN" sz="1600" b="0" i="1" smtClean="0">
                              <a:latin typeface="Cambria Math" panose="02040503050406030204" pitchFamily="18" charset="0"/>
                            </a:rPr>
                            <m:t>𝑟</m:t>
                          </m:r>
                        </m:sub>
                      </m:sSub>
                    </m:oMath>
                  </m:oMathPara>
                </a14:m>
                <a:endParaRPr lang="en-IN" sz="1400" dirty="0">
                  <a:latin typeface="Arial Narrow" panose="020B0606020202030204" pitchFamily="34" charset="0"/>
                </a:endParaRPr>
              </a:p>
            </p:txBody>
          </p:sp>
        </mc:Choice>
        <mc:Fallback xmlns="">
          <p:sp>
            <p:nvSpPr>
              <p:cNvPr id="228" name="Rectangle 227"/>
              <p:cNvSpPr>
                <a:spLocks noRot="1" noChangeAspect="1" noMove="1" noResize="1" noEditPoints="1" noAdjustHandles="1" noChangeArrowheads="1" noChangeShapeType="1" noTextEdit="1"/>
              </p:cNvSpPr>
              <p:nvPr/>
            </p:nvSpPr>
            <p:spPr>
              <a:xfrm>
                <a:off x="3749503" y="5981314"/>
                <a:ext cx="566822" cy="357534"/>
              </a:xfrm>
              <a:prstGeom prst="rect">
                <a:avLst/>
              </a:prstGeom>
              <a:blipFill>
                <a:blip r:embed="rId22"/>
                <a:stretch>
                  <a:fillRect b="-33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9" name="Rectangle 228"/>
              <p:cNvSpPr/>
              <p:nvPr/>
            </p:nvSpPr>
            <p:spPr>
              <a:xfrm>
                <a:off x="1907522" y="5957128"/>
                <a:ext cx="570091"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 1</m:t>
                          </m:r>
                        </m:sub>
                      </m:sSub>
                    </m:oMath>
                  </m:oMathPara>
                </a14:m>
                <a:endParaRPr lang="en-IN" sz="1400" dirty="0">
                  <a:latin typeface="Arial Narrow" panose="020B0606020202030204" pitchFamily="34" charset="0"/>
                </a:endParaRPr>
              </a:p>
            </p:txBody>
          </p:sp>
        </mc:Choice>
        <mc:Fallback xmlns="">
          <p:sp>
            <p:nvSpPr>
              <p:cNvPr id="229" name="Rectangle 228"/>
              <p:cNvSpPr>
                <a:spLocks noRot="1" noChangeAspect="1" noMove="1" noResize="1" noEditPoints="1" noAdjustHandles="1" noChangeArrowheads="1" noChangeShapeType="1" noTextEdit="1"/>
              </p:cNvSpPr>
              <p:nvPr/>
            </p:nvSpPr>
            <p:spPr>
              <a:xfrm>
                <a:off x="1907522" y="5957128"/>
                <a:ext cx="570091" cy="357534"/>
              </a:xfrm>
              <a:prstGeom prst="rect">
                <a:avLst/>
              </a:prstGeom>
              <a:blipFill>
                <a:blip r:embed="rId23"/>
                <a:stretch>
                  <a:fillRect b="-33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0" name="Rectangle 229"/>
              <p:cNvSpPr/>
              <p:nvPr/>
            </p:nvSpPr>
            <p:spPr>
              <a:xfrm>
                <a:off x="2823484" y="5984797"/>
                <a:ext cx="541559"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 </m:t>
                          </m:r>
                          <m:r>
                            <a:rPr lang="en-IN" sz="1600" b="0" i="1" smtClean="0">
                              <a:latin typeface="Cambria Math" panose="02040503050406030204" pitchFamily="18" charset="0"/>
                            </a:rPr>
                            <m:t>𝑖</m:t>
                          </m:r>
                        </m:sub>
                      </m:sSub>
                    </m:oMath>
                  </m:oMathPara>
                </a14:m>
                <a:endParaRPr lang="en-IN" sz="1400" dirty="0">
                  <a:latin typeface="Arial Narrow" panose="020B0606020202030204" pitchFamily="34" charset="0"/>
                </a:endParaRPr>
              </a:p>
            </p:txBody>
          </p:sp>
        </mc:Choice>
        <mc:Fallback xmlns="">
          <p:sp>
            <p:nvSpPr>
              <p:cNvPr id="230" name="Rectangle 229"/>
              <p:cNvSpPr>
                <a:spLocks noRot="1" noChangeAspect="1" noMove="1" noResize="1" noEditPoints="1" noAdjustHandles="1" noChangeArrowheads="1" noChangeShapeType="1" noTextEdit="1"/>
              </p:cNvSpPr>
              <p:nvPr/>
            </p:nvSpPr>
            <p:spPr>
              <a:xfrm>
                <a:off x="2823484" y="5984797"/>
                <a:ext cx="541559" cy="357534"/>
              </a:xfrm>
              <a:prstGeom prst="rect">
                <a:avLst/>
              </a:prstGeom>
              <a:blipFill>
                <a:blip r:embed="rId24"/>
                <a:stretch>
                  <a:fillRect b="-3448"/>
                </a:stretch>
              </a:blipFill>
            </p:spPr>
            <p:txBody>
              <a:bodyPr/>
              <a:lstStyle/>
              <a:p>
                <a:r>
                  <a:rPr lang="en-IN">
                    <a:noFill/>
                  </a:rPr>
                  <a:t> </a:t>
                </a:r>
              </a:p>
            </p:txBody>
          </p:sp>
        </mc:Fallback>
      </mc:AlternateContent>
      <p:sp>
        <p:nvSpPr>
          <p:cNvPr id="231" name="Down Arrow 230"/>
          <p:cNvSpPr/>
          <p:nvPr/>
        </p:nvSpPr>
        <p:spPr>
          <a:xfrm>
            <a:off x="2959022" y="5409110"/>
            <a:ext cx="249513"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32" name="Down Arrow 231"/>
          <p:cNvSpPr/>
          <p:nvPr/>
        </p:nvSpPr>
        <p:spPr>
          <a:xfrm>
            <a:off x="3958676" y="5409110"/>
            <a:ext cx="249513"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33" name="Down Arrow 232"/>
          <p:cNvSpPr/>
          <p:nvPr/>
        </p:nvSpPr>
        <p:spPr>
          <a:xfrm>
            <a:off x="1937482" y="5415932"/>
            <a:ext cx="249513"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38" name="TextBox 237"/>
          <p:cNvSpPr txBox="1"/>
          <p:nvPr/>
        </p:nvSpPr>
        <p:spPr>
          <a:xfrm>
            <a:off x="399706" y="4979474"/>
            <a:ext cx="1217000" cy="369332"/>
          </a:xfrm>
          <a:prstGeom prst="rect">
            <a:avLst/>
          </a:prstGeom>
          <a:noFill/>
        </p:spPr>
        <p:txBody>
          <a:bodyPr wrap="none" rtlCol="0">
            <a:spAutoFit/>
          </a:bodyPr>
          <a:lstStyle/>
          <a:p>
            <a:r>
              <a:rPr lang="en-IN" dirty="0">
                <a:solidFill>
                  <a:srgbClr val="00B0F0"/>
                </a:solidFill>
                <a:latin typeface="Arial Narrow" panose="020B0606020202030204" pitchFamily="34" charset="0"/>
              </a:rPr>
              <a:t>(p-1)</a:t>
            </a:r>
            <a:r>
              <a:rPr lang="en-IN" baseline="30000" dirty="0" err="1">
                <a:solidFill>
                  <a:srgbClr val="00B0F0"/>
                </a:solidFill>
                <a:latin typeface="Arial Narrow" panose="020B0606020202030204" pitchFamily="34" charset="0"/>
              </a:rPr>
              <a:t>th</a:t>
            </a:r>
            <a:r>
              <a:rPr lang="en-IN" dirty="0">
                <a:solidFill>
                  <a:srgbClr val="00B0F0"/>
                </a:solidFill>
                <a:latin typeface="Arial Narrow" panose="020B0606020202030204" pitchFamily="34" charset="0"/>
              </a:rPr>
              <a:t> Layer</a:t>
            </a:r>
          </a:p>
        </p:txBody>
      </p:sp>
      <p:sp>
        <p:nvSpPr>
          <p:cNvPr id="239" name="TextBox 238"/>
          <p:cNvSpPr txBox="1"/>
          <p:nvPr/>
        </p:nvSpPr>
        <p:spPr>
          <a:xfrm>
            <a:off x="753665" y="5977442"/>
            <a:ext cx="990849" cy="369332"/>
          </a:xfrm>
          <a:prstGeom prst="rect">
            <a:avLst/>
          </a:prstGeom>
          <a:noFill/>
        </p:spPr>
        <p:txBody>
          <a:bodyPr wrap="none" rtlCol="0">
            <a:spAutoFit/>
          </a:bodyPr>
          <a:lstStyle/>
          <a:p>
            <a:r>
              <a:rPr lang="en-IN" dirty="0" err="1">
                <a:solidFill>
                  <a:srgbClr val="C00000"/>
                </a:solidFill>
              </a:rPr>
              <a:t>p</a:t>
            </a:r>
            <a:r>
              <a:rPr lang="en-IN" baseline="30000" dirty="0" err="1">
                <a:solidFill>
                  <a:srgbClr val="C00000"/>
                </a:solidFill>
              </a:rPr>
              <a:t>th</a:t>
            </a:r>
            <a:r>
              <a:rPr lang="en-IN" dirty="0">
                <a:solidFill>
                  <a:srgbClr val="C00000"/>
                </a:solidFill>
              </a:rPr>
              <a:t> Layer</a:t>
            </a:r>
          </a:p>
        </p:txBody>
      </p:sp>
      <mc:AlternateContent xmlns:mc="http://schemas.openxmlformats.org/markup-compatibility/2006" xmlns:a14="http://schemas.microsoft.com/office/drawing/2010/main">
        <mc:Choice Requires="a14">
          <p:sp>
            <p:nvSpPr>
              <p:cNvPr id="240" name="Rectangle 239"/>
              <p:cNvSpPr/>
              <p:nvPr/>
            </p:nvSpPr>
            <p:spPr>
              <a:xfrm>
                <a:off x="2348248" y="5502624"/>
                <a:ext cx="518732" cy="367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IN" sz="1600" b="0" i="1" smtClean="0">
                              <a:latin typeface="Cambria Math" panose="02040503050406030204" pitchFamily="18" charset="0"/>
                            </a:rPr>
                          </m:ctrlPr>
                        </m:sSubSupPr>
                        <m:e>
                          <m:r>
                            <a:rPr lang="en-IN" sz="1600" i="1">
                              <a:latin typeface="Cambria Math" panose="02040503050406030204" pitchFamily="18" charset="0"/>
                            </a:rPr>
                            <m:t>𝑤</m:t>
                          </m:r>
                        </m:e>
                        <m:sub>
                          <m:r>
                            <a:rPr lang="en-IN" sz="1600" i="1">
                              <a:latin typeface="Cambria Math" panose="02040503050406030204" pitchFamily="18" charset="0"/>
                            </a:rPr>
                            <m:t>𝑒𝑖</m:t>
                          </m:r>
                        </m:sub>
                        <m:sup>
                          <m:r>
                            <a:rPr lang="en-IN" sz="1600" b="0" i="1" smtClean="0">
                              <a:latin typeface="Cambria Math" panose="02040503050406030204" pitchFamily="18" charset="0"/>
                            </a:rPr>
                            <m:t>𝑝</m:t>
                          </m:r>
                        </m:sup>
                      </m:sSubSup>
                    </m:oMath>
                  </m:oMathPara>
                </a14:m>
                <a:endParaRPr lang="en-IN" sz="1400" dirty="0">
                  <a:latin typeface="Arial Narrow" panose="020B0606020202030204" pitchFamily="34" charset="0"/>
                </a:endParaRPr>
              </a:p>
            </p:txBody>
          </p:sp>
        </mc:Choice>
        <mc:Fallback xmlns="">
          <p:sp>
            <p:nvSpPr>
              <p:cNvPr id="240" name="Rectangle 239"/>
              <p:cNvSpPr>
                <a:spLocks noRot="1" noChangeAspect="1" noMove="1" noResize="1" noEditPoints="1" noAdjustHandles="1" noChangeArrowheads="1" noChangeShapeType="1" noTextEdit="1"/>
              </p:cNvSpPr>
              <p:nvPr/>
            </p:nvSpPr>
            <p:spPr>
              <a:xfrm>
                <a:off x="2348248" y="5502624"/>
                <a:ext cx="518732" cy="367665"/>
              </a:xfrm>
              <a:prstGeom prst="rect">
                <a:avLst/>
              </a:prstGeom>
              <a:blipFill>
                <a:blip r:embed="rId25"/>
                <a:stretch>
                  <a:fillRect b="-1667"/>
                </a:stretch>
              </a:blipFill>
            </p:spPr>
            <p:txBody>
              <a:bodyPr/>
              <a:lstStyle/>
              <a:p>
                <a:r>
                  <a:rPr lang="en-IN">
                    <a:noFill/>
                  </a:rPr>
                  <a:t> </a:t>
                </a:r>
              </a:p>
            </p:txBody>
          </p:sp>
        </mc:Fallback>
      </mc:AlternateContent>
      <p:sp>
        <p:nvSpPr>
          <p:cNvPr id="242" name="Rectangle 241">
            <a:extLst>
              <a:ext uri="{FF2B5EF4-FFF2-40B4-BE49-F238E27FC236}">
                <a16:creationId xmlns:a16="http://schemas.microsoft.com/office/drawing/2014/main" id="{6DCE7239-4286-405C-AF9A-06B4DA57E9D6}"/>
              </a:ext>
            </a:extLst>
          </p:cNvPr>
          <p:cNvSpPr/>
          <p:nvPr/>
        </p:nvSpPr>
        <p:spPr>
          <a:xfrm>
            <a:off x="5417841" y="5298999"/>
            <a:ext cx="6024060" cy="1015663"/>
          </a:xfrm>
          <a:prstGeom prst="rect">
            <a:avLst/>
          </a:prstGeom>
        </p:spPr>
        <p:txBody>
          <a:bodyPr wrap="square">
            <a:spAutoFit/>
          </a:bodyPr>
          <a:lstStyle/>
          <a:p>
            <a:pPr marL="342900" indent="-342900">
              <a:buFont typeface="Arial" panose="020B0604020202020204" pitchFamily="34" charset="0"/>
              <a:buChar char="•"/>
            </a:pPr>
            <a:r>
              <a:rPr lang="en-US" sz="2000" dirty="0">
                <a:latin typeface="Arial Narrow" panose="020B0606020202030204" pitchFamily="34" charset="0"/>
                <a:cs typeface="Times New Roman" panose="02020603050405020304" pitchFamily="18" charset="0"/>
              </a:rPr>
              <a:t>Now the questions are: </a:t>
            </a:r>
          </a:p>
          <a:p>
            <a:pPr marL="504000" indent="-288000">
              <a:buFont typeface="+mj-lt"/>
              <a:buAutoNum type="alphaLcParenR"/>
            </a:pPr>
            <a:r>
              <a:rPr lang="en-US" sz="2000" dirty="0">
                <a:solidFill>
                  <a:srgbClr val="002060"/>
                </a:solidFill>
                <a:latin typeface="Arial Narrow" panose="020B0606020202030204" pitchFamily="34" charset="0"/>
                <a:cs typeface="Times New Roman" panose="02020603050405020304" pitchFamily="18" charset="0"/>
              </a:rPr>
              <a:t>Given an input, how do we compute the output?</a:t>
            </a:r>
          </a:p>
          <a:p>
            <a:pPr marL="504000" indent="-288000">
              <a:buFont typeface="+mj-lt"/>
              <a:buAutoNum type="alphaLcParenR"/>
            </a:pPr>
            <a:r>
              <a:rPr lang="en-US" sz="2000" dirty="0">
                <a:solidFill>
                  <a:srgbClr val="002060"/>
                </a:solidFill>
                <a:latin typeface="Arial Narrow" panose="020B0606020202030204" pitchFamily="34" charset="0"/>
                <a:cs typeface="Times New Roman" panose="02020603050405020304" pitchFamily="18" charset="0"/>
              </a:rPr>
              <a:t>How do we get the weights?</a:t>
            </a:r>
            <a:endParaRPr lang="en-IN" sz="2000" dirty="0">
              <a:solidFill>
                <a:srgbClr val="002060"/>
              </a:solidFill>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480006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709" y="312421"/>
            <a:ext cx="10515600" cy="952500"/>
          </a:xfrm>
        </p:spPr>
        <p:txBody>
          <a:bodyPr>
            <a:normAutofit/>
          </a:bodyPr>
          <a:lstStyle/>
          <a:p>
            <a:r>
              <a:rPr lang="en-IN" sz="3600" dirty="0">
                <a:latin typeface="Century" panose="02040604050505020304" pitchFamily="18" charset="0"/>
              </a:rPr>
              <a:t>Training of The Neural Network</a:t>
            </a:r>
          </a:p>
        </p:txBody>
      </p:sp>
      <p:sp>
        <p:nvSpPr>
          <p:cNvPr id="3" name="Content Placeholder 2"/>
          <p:cNvSpPr>
            <a:spLocks noGrp="1"/>
          </p:cNvSpPr>
          <p:nvPr>
            <p:ph idx="1"/>
          </p:nvPr>
        </p:nvSpPr>
        <p:spPr>
          <a:xfrm>
            <a:off x="662709" y="1400751"/>
            <a:ext cx="10688782" cy="5009285"/>
          </a:xfrm>
        </p:spPr>
        <p:txBody>
          <a:bodyPr>
            <a:normAutofit/>
          </a:bodyPr>
          <a:lstStyle/>
          <a:p>
            <a:pPr algn="just"/>
            <a:r>
              <a:rPr lang="en-US" sz="2400" dirty="0">
                <a:solidFill>
                  <a:srgbClr val="00B0F0"/>
                </a:solidFill>
                <a:latin typeface="Arial Narrow" panose="020B0606020202030204" pitchFamily="34" charset="0"/>
              </a:rPr>
              <a:t>Backpropagation</a:t>
            </a:r>
            <a:r>
              <a:rPr lang="en-US" sz="2400" dirty="0">
                <a:latin typeface="Arial Narrow" panose="020B0606020202030204" pitchFamily="34" charset="0"/>
              </a:rPr>
              <a:t> is the fundamental learning algorithm used to train neural networks. It efficiently determines </a:t>
            </a:r>
            <a:r>
              <a:rPr lang="en-US" sz="2400" dirty="0">
                <a:solidFill>
                  <a:srgbClr val="00B0F0"/>
                </a:solidFill>
                <a:latin typeface="Arial Narrow" panose="020B0606020202030204" pitchFamily="34" charset="0"/>
              </a:rPr>
              <a:t>how each weight in the network should be updated to minimize the prediction error</a:t>
            </a:r>
            <a:r>
              <a:rPr lang="en-US" sz="2400" dirty="0">
                <a:latin typeface="Arial Narrow" panose="020B0606020202030204" pitchFamily="34" charset="0"/>
              </a:rPr>
              <a:t>.</a:t>
            </a:r>
          </a:p>
          <a:p>
            <a:pPr algn="just"/>
            <a:endParaRPr lang="en-US" sz="2400" dirty="0">
              <a:latin typeface="Arial Narrow" panose="020B0606020202030204" pitchFamily="34" charset="0"/>
            </a:endParaRPr>
          </a:p>
          <a:p>
            <a:pPr algn="just"/>
            <a:r>
              <a:rPr lang="en-US" sz="2400" dirty="0">
                <a:latin typeface="Arial Narrow" panose="020B0606020202030204" pitchFamily="34" charset="0"/>
              </a:rPr>
              <a:t>The process begins when the neural network makes a prediction. This prediction is compared with the actual target value, and the difference between them is measured using a loss (error) functions.</a:t>
            </a:r>
          </a:p>
          <a:p>
            <a:pPr algn="just"/>
            <a:endParaRPr lang="en-IN" sz="2400" dirty="0">
              <a:latin typeface="Arial Narrow" panose="020B0606020202030204" pitchFamily="34" charset="0"/>
              <a:cs typeface="Times New Roman" panose="02020603050405020304" pitchFamily="18" charset="0"/>
            </a:endParaRPr>
          </a:p>
          <a:p>
            <a:pPr algn="just"/>
            <a:r>
              <a:rPr lang="en-IN" sz="2400" b="1" dirty="0">
                <a:latin typeface="Arial Narrow" panose="020B0606020202030204" pitchFamily="34" charset="0"/>
                <a:cs typeface="Times New Roman" panose="02020603050405020304" pitchFamily="18" charset="0"/>
              </a:rPr>
              <a:t>Backpropagation tells us</a:t>
            </a:r>
            <a:r>
              <a:rPr lang="en-IN" sz="2400" dirty="0">
                <a:latin typeface="Arial Narrow" panose="020B0606020202030204" pitchFamily="34" charset="0"/>
                <a:cs typeface="Times New Roman" panose="02020603050405020304" pitchFamily="18" charset="0"/>
              </a:rPr>
              <a:t>: </a:t>
            </a:r>
          </a:p>
          <a:p>
            <a:pPr lvl="1" algn="just"/>
            <a:r>
              <a:rPr lang="en-IN" dirty="0">
                <a:latin typeface="Arial Narrow" panose="020B0606020202030204" pitchFamily="34" charset="0"/>
                <a:cs typeface="Times New Roman" panose="02020603050405020304" pitchFamily="18" charset="0"/>
              </a:rPr>
              <a:t>How much did </a:t>
            </a:r>
            <a:r>
              <a:rPr lang="en-IN" dirty="0">
                <a:solidFill>
                  <a:srgbClr val="00B0F0"/>
                </a:solidFill>
                <a:latin typeface="Arial Narrow" panose="020B0606020202030204" pitchFamily="34" charset="0"/>
                <a:cs typeface="Times New Roman" panose="02020603050405020304" pitchFamily="18" charset="0"/>
              </a:rPr>
              <a:t>each weight contribute to that error</a:t>
            </a:r>
            <a:r>
              <a:rPr lang="en-IN" dirty="0">
                <a:latin typeface="Arial Narrow" panose="020B0606020202030204" pitchFamily="34" charset="0"/>
                <a:cs typeface="Times New Roman" panose="02020603050405020304" pitchFamily="18" charset="0"/>
              </a:rPr>
              <a:t>?</a:t>
            </a:r>
          </a:p>
          <a:p>
            <a:pPr lvl="1" algn="just"/>
            <a:r>
              <a:rPr lang="en-IN" dirty="0">
                <a:latin typeface="Arial Narrow" panose="020B0606020202030204" pitchFamily="34" charset="0"/>
                <a:cs typeface="Times New Roman" panose="02020603050405020304" pitchFamily="18" charset="0"/>
              </a:rPr>
              <a:t>Once we know that, we can </a:t>
            </a:r>
            <a:r>
              <a:rPr lang="en-IN" dirty="0">
                <a:solidFill>
                  <a:srgbClr val="00B0F0"/>
                </a:solidFill>
                <a:latin typeface="Arial Narrow" panose="020B0606020202030204" pitchFamily="34" charset="0"/>
                <a:cs typeface="Times New Roman" panose="02020603050405020304" pitchFamily="18" charset="0"/>
              </a:rPr>
              <a:t>adjust the weights</a:t>
            </a:r>
            <a:r>
              <a:rPr lang="en-IN" dirty="0">
                <a:latin typeface="Arial Narrow" panose="020B0606020202030204" pitchFamily="34" charset="0"/>
                <a:cs typeface="Times New Roman" panose="02020603050405020304" pitchFamily="18" charset="0"/>
              </a:rPr>
              <a:t> to improve the network.</a:t>
            </a:r>
          </a:p>
        </p:txBody>
      </p:sp>
    </p:spTree>
    <p:extLst>
      <p:ext uri="{BB962C8B-B14F-4D97-AF65-F5344CB8AC3E}">
        <p14:creationId xmlns:p14="http://schemas.microsoft.com/office/powerpoint/2010/main" val="3857537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2709" y="1391519"/>
            <a:ext cx="10725727" cy="4667539"/>
          </a:xfrm>
        </p:spPr>
        <p:txBody>
          <a:bodyPr>
            <a:normAutofit fontScale="77500" lnSpcReduction="20000"/>
          </a:bodyPr>
          <a:lstStyle/>
          <a:p>
            <a:pPr algn="just"/>
            <a:r>
              <a:rPr lang="en-US" b="1" dirty="0">
                <a:latin typeface="Arial Narrow" panose="020B0606020202030204" pitchFamily="34" charset="0"/>
              </a:rPr>
              <a:t>Backpropagation</a:t>
            </a:r>
            <a:r>
              <a:rPr lang="en-US" dirty="0">
                <a:latin typeface="Arial Narrow" panose="020B0606020202030204" pitchFamily="34" charset="0"/>
              </a:rPr>
              <a:t> consists of two main phases:</a:t>
            </a:r>
            <a:endParaRPr lang="en-US" b="1" dirty="0">
              <a:latin typeface="Arial Narrow" panose="020B0606020202030204" pitchFamily="34" charset="0"/>
            </a:endParaRPr>
          </a:p>
          <a:p>
            <a:pPr algn="just"/>
            <a:r>
              <a:rPr lang="en-US" b="1" dirty="0">
                <a:latin typeface="Arial Narrow" panose="020B0606020202030204" pitchFamily="34" charset="0"/>
              </a:rPr>
              <a:t>Forward Pass</a:t>
            </a:r>
          </a:p>
          <a:p>
            <a:pPr marL="540000" algn="just"/>
            <a:r>
              <a:rPr lang="en-US" dirty="0">
                <a:solidFill>
                  <a:srgbClr val="00B0F0"/>
                </a:solidFill>
                <a:latin typeface="Arial Narrow" panose="020B0606020202030204" pitchFamily="34" charset="0"/>
              </a:rPr>
              <a:t>Input data </a:t>
            </a:r>
            <a:r>
              <a:rPr lang="en-US" dirty="0">
                <a:latin typeface="Arial Narrow" panose="020B0606020202030204" pitchFamily="34" charset="0"/>
              </a:rPr>
              <a:t>is passed through the network. </a:t>
            </a:r>
          </a:p>
          <a:p>
            <a:pPr marL="540000" algn="just"/>
            <a:r>
              <a:rPr lang="en-US" dirty="0">
                <a:latin typeface="Arial Narrow" panose="020B0606020202030204" pitchFamily="34" charset="0"/>
              </a:rPr>
              <a:t>In each hidden layer, </a:t>
            </a:r>
            <a:r>
              <a:rPr lang="en-US" dirty="0">
                <a:solidFill>
                  <a:srgbClr val="00B0F0"/>
                </a:solidFill>
                <a:latin typeface="Arial Narrow" panose="020B0606020202030204" pitchFamily="34" charset="0"/>
              </a:rPr>
              <a:t>weighted inputs are summed and a non-linear activation function is applied</a:t>
            </a:r>
            <a:r>
              <a:rPr lang="en-US" dirty="0">
                <a:latin typeface="Arial Narrow" panose="020B0606020202030204" pitchFamily="34" charset="0"/>
              </a:rPr>
              <a:t>. </a:t>
            </a:r>
          </a:p>
          <a:p>
            <a:pPr marL="540000" algn="just"/>
            <a:r>
              <a:rPr lang="en-US" dirty="0">
                <a:latin typeface="Arial Narrow" panose="020B0606020202030204" pitchFamily="34" charset="0"/>
              </a:rPr>
              <a:t>The output of one layer becomes the input to the next layer. </a:t>
            </a:r>
          </a:p>
          <a:p>
            <a:pPr marL="540000" algn="just"/>
            <a:r>
              <a:rPr lang="en-US" dirty="0">
                <a:latin typeface="Arial Narrow" panose="020B0606020202030204" pitchFamily="34" charset="0"/>
              </a:rPr>
              <a:t>The network produces a final prediction. </a:t>
            </a:r>
          </a:p>
          <a:p>
            <a:pPr marL="540000" algn="just"/>
            <a:r>
              <a:rPr lang="en-US" dirty="0">
                <a:latin typeface="Arial Narrow" panose="020B0606020202030204" pitchFamily="34" charset="0"/>
              </a:rPr>
              <a:t>The </a:t>
            </a:r>
            <a:r>
              <a:rPr lang="en-US" dirty="0">
                <a:solidFill>
                  <a:srgbClr val="00B0F0"/>
                </a:solidFill>
                <a:latin typeface="Arial Narrow" panose="020B0606020202030204" pitchFamily="34" charset="0"/>
              </a:rPr>
              <a:t>loss (error) </a:t>
            </a:r>
            <a:r>
              <a:rPr lang="en-US" dirty="0">
                <a:latin typeface="Arial Narrow" panose="020B0606020202030204" pitchFamily="34" charset="0"/>
              </a:rPr>
              <a:t>is computed using a loss function such as Mean Squared Error (MSE) or Cross-Entropy. </a:t>
            </a:r>
          </a:p>
          <a:p>
            <a:pPr algn="just"/>
            <a:endParaRPr lang="en-US" b="1" dirty="0">
              <a:latin typeface="Arial Narrow" panose="020B0606020202030204" pitchFamily="34" charset="0"/>
            </a:endParaRPr>
          </a:p>
          <a:p>
            <a:pPr algn="just"/>
            <a:r>
              <a:rPr lang="en-US" b="1" dirty="0">
                <a:latin typeface="Arial Narrow" panose="020B0606020202030204" pitchFamily="34" charset="0"/>
              </a:rPr>
              <a:t>Backward Pass (Backpropagation)</a:t>
            </a:r>
          </a:p>
          <a:p>
            <a:pPr marL="540000" algn="just"/>
            <a:r>
              <a:rPr lang="en-US" dirty="0">
                <a:latin typeface="Arial Narrow" panose="020B0606020202030204" pitchFamily="34" charset="0"/>
              </a:rPr>
              <a:t>The error is propagated </a:t>
            </a:r>
            <a:r>
              <a:rPr lang="en-US" dirty="0">
                <a:solidFill>
                  <a:srgbClr val="00B0F0"/>
                </a:solidFill>
                <a:latin typeface="Arial Narrow" panose="020B0606020202030204" pitchFamily="34" charset="0"/>
              </a:rPr>
              <a:t>backward from the output layer to the input layer</a:t>
            </a:r>
            <a:r>
              <a:rPr lang="en-US" dirty="0">
                <a:latin typeface="Arial Narrow" panose="020B0606020202030204" pitchFamily="34" charset="0"/>
              </a:rPr>
              <a:t>. </a:t>
            </a:r>
          </a:p>
          <a:p>
            <a:pPr marL="540000" algn="just"/>
            <a:r>
              <a:rPr lang="en-US" dirty="0">
                <a:solidFill>
                  <a:srgbClr val="00B0F0"/>
                </a:solidFill>
                <a:latin typeface="Arial Narrow" panose="020B0606020202030204" pitchFamily="34" charset="0"/>
              </a:rPr>
              <a:t>Gradients</a:t>
            </a:r>
            <a:r>
              <a:rPr lang="en-US" dirty="0">
                <a:latin typeface="Arial Narrow" panose="020B0606020202030204" pitchFamily="34" charset="0"/>
              </a:rPr>
              <a:t> are calculated using the chain rule. </a:t>
            </a:r>
          </a:p>
          <a:p>
            <a:pPr marL="540000" algn="just"/>
            <a:r>
              <a:rPr lang="en-US" dirty="0">
                <a:latin typeface="Arial Narrow" panose="020B0606020202030204" pitchFamily="34" charset="0"/>
              </a:rPr>
              <a:t>Each weight </a:t>
            </a:r>
            <a:r>
              <a:rPr lang="en-US" dirty="0">
                <a:solidFill>
                  <a:srgbClr val="00B0F0"/>
                </a:solidFill>
                <a:latin typeface="Arial Narrow" panose="020B0606020202030204" pitchFamily="34" charset="0"/>
              </a:rPr>
              <a:t>receives a gradient </a:t>
            </a:r>
            <a:r>
              <a:rPr lang="en-US" dirty="0">
                <a:latin typeface="Arial Narrow" panose="020B0606020202030204" pitchFamily="34" charset="0"/>
              </a:rPr>
              <a:t>indicating how much a change in that weight would affect the loss.</a:t>
            </a:r>
          </a:p>
        </p:txBody>
      </p:sp>
      <p:sp>
        <p:nvSpPr>
          <p:cNvPr id="4" name="Title 1"/>
          <p:cNvSpPr>
            <a:spLocks noGrp="1"/>
          </p:cNvSpPr>
          <p:nvPr>
            <p:ph type="title"/>
          </p:nvPr>
        </p:nvSpPr>
        <p:spPr>
          <a:xfrm>
            <a:off x="662709" y="255446"/>
            <a:ext cx="10515600" cy="1136073"/>
          </a:xfrm>
        </p:spPr>
        <p:txBody>
          <a:bodyPr>
            <a:normAutofit/>
          </a:bodyPr>
          <a:lstStyle/>
          <a:p>
            <a:r>
              <a:rPr lang="en-IN" sz="3600" dirty="0">
                <a:latin typeface="Century" panose="02040604050505020304" pitchFamily="18" charset="0"/>
              </a:rPr>
              <a:t>Training of The Neural Network</a:t>
            </a:r>
          </a:p>
        </p:txBody>
      </p:sp>
    </p:spTree>
    <p:extLst>
      <p:ext uri="{BB962C8B-B14F-4D97-AF65-F5344CB8AC3E}">
        <p14:creationId xmlns:p14="http://schemas.microsoft.com/office/powerpoint/2010/main" val="4027010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749" y="248286"/>
            <a:ext cx="6562725" cy="930990"/>
          </a:xfrm>
        </p:spPr>
        <p:txBody>
          <a:bodyPr>
            <a:normAutofit fontScale="90000"/>
          </a:bodyPr>
          <a:lstStyle/>
          <a:p>
            <a:r>
              <a:rPr lang="en-US" sz="3600" dirty="0">
                <a:latin typeface="Century" panose="02040604050505020304" pitchFamily="18" charset="0"/>
              </a:rPr>
              <a:t>Computation of the MLP Output</a:t>
            </a:r>
            <a:endParaRPr lang="en-IN" sz="3600" dirty="0">
              <a:latin typeface="Century" panose="02040604050505020304" pitchFamily="18" charset="0"/>
            </a:endParaRPr>
          </a:p>
        </p:txBody>
      </p:sp>
      <mc:AlternateContent xmlns:mc="http://schemas.openxmlformats.org/markup-compatibility/2006">
        <mc:Choice xmlns:a14="http://schemas.microsoft.com/office/drawing/2010/main" Requires="a14">
          <p:sp>
            <p:nvSpPr>
              <p:cNvPr id="4" name="Title 1"/>
              <p:cNvSpPr>
                <a:spLocks noGrp="1"/>
              </p:cNvSpPr>
              <p:nvPr>
                <p:ph idx="1"/>
              </p:nvPr>
            </p:nvSpPr>
            <p:spPr>
              <a:xfrm>
                <a:off x="942429" y="1364017"/>
                <a:ext cx="4143375" cy="1786421"/>
              </a:xfrm>
            </p:spPr>
            <p:txBody>
              <a:bodyPr>
                <a:normAutofit/>
              </a:bodyPr>
              <a:lstStyle/>
              <a:p>
                <a:pPr marL="0" indent="0" algn="just">
                  <a:buNone/>
                </a:pPr>
                <a:r>
                  <a:rPr lang="en-IN" sz="2000" dirty="0">
                    <a:latin typeface="Arial Narrow" panose="020B0606020202030204" pitchFamily="34" charset="0"/>
                    <a:ea typeface="Cambria Math" panose="02040503050406030204" pitchFamily="18" charset="0"/>
                    <a:cs typeface="Times New Roman" panose="02020603050405020304" pitchFamily="18" charset="0"/>
                  </a:rPr>
                  <a:t>Output </a:t>
                </a:r>
                <a:r>
                  <a:rPr lang="en-IN" sz="2000" dirty="0">
                    <a:latin typeface="Cambria Math" panose="02040503050406030204" pitchFamily="18" charset="0"/>
                    <a:ea typeface="Cambria Math" panose="02040503050406030204" pitchFamily="18" charset="0"/>
                    <a:cs typeface="Times New Roman" panose="02020603050405020304" pitchFamily="18" charset="0"/>
                  </a:rPr>
                  <a:t>(Y) </a:t>
                </a:r>
                <a:r>
                  <a:rPr lang="en-IN" sz="2000" dirty="0">
                    <a:latin typeface="Arial Narrow" panose="020B0606020202030204" pitchFamily="34" charset="0"/>
                    <a:ea typeface="Cambria Math" panose="02040503050406030204" pitchFamily="18" charset="0"/>
                    <a:cs typeface="Times New Roman" panose="02020603050405020304" pitchFamily="18" charset="0"/>
                  </a:rPr>
                  <a:t>is computed as </a:t>
                </a:r>
                <a:r>
                  <a:rPr lang="en-IN" sz="2000" dirty="0">
                    <a:latin typeface="Cambria Math" panose="02040503050406030204" pitchFamily="18" charset="0"/>
                    <a:ea typeface="Cambria Math" panose="02040503050406030204" pitchFamily="18" charset="0"/>
                    <a:cs typeface="Times New Roman" panose="02020603050405020304" pitchFamily="18" charset="0"/>
                  </a:rPr>
                  <a:t>Y=p(</a:t>
                </a:r>
                <a14:m>
                  <m:oMath xmlns:m="http://schemas.openxmlformats.org/officeDocument/2006/math">
                    <m:r>
                      <a:rPr lang="en-GB" sz="2000" b="0" i="1" dirty="0" smtClean="0">
                        <a:latin typeface="Cambria Math" panose="02040503050406030204" pitchFamily="18" charset="0"/>
                        <a:ea typeface="Cambria Math" panose="02040503050406030204" pitchFamily="18" charset="0"/>
                        <a:cs typeface="Times New Roman" panose="02020603050405020304" pitchFamily="18" charset="0"/>
                      </a:rPr>
                      <m:t>𝑜</m:t>
                    </m:r>
                  </m:oMath>
                </a14:m>
                <a:r>
                  <a:rPr lang="en-IN" sz="2000" dirty="0" err="1">
                    <a:latin typeface="Cambria Math" panose="02040503050406030204" pitchFamily="18" charset="0"/>
                    <a:ea typeface="Cambria Math" panose="02040503050406030204" pitchFamily="18" charset="0"/>
                    <a:cs typeface="Times New Roman" panose="02020603050405020304" pitchFamily="18" charset="0"/>
                  </a:rPr>
                  <a:t>|</a:t>
                </a:r>
                <a:r>
                  <a:rPr lang="en-IN" sz="2000" i="1" dirty="0" err="1">
                    <a:latin typeface="Cambria Math" panose="02040503050406030204" pitchFamily="18" charset="0"/>
                    <a:ea typeface="Cambria Math" panose="02040503050406030204" pitchFamily="18" charset="0"/>
                    <a:cs typeface="Times New Roman" panose="02020603050405020304" pitchFamily="18" charset="0"/>
                  </a:rPr>
                  <a:t>I</a:t>
                </a:r>
                <a:r>
                  <a:rPr lang="en-IN" sz="2000" dirty="0">
                    <a:latin typeface="Cambria Math" panose="02040503050406030204" pitchFamily="18" charset="0"/>
                    <a:ea typeface="Cambria Math" panose="02040503050406030204" pitchFamily="18" charset="0"/>
                    <a:cs typeface="Times New Roman" panose="02020603050405020304" pitchFamily="18" charset="0"/>
                  </a:rPr>
                  <a:t>)</a:t>
                </a:r>
                <a:r>
                  <a:rPr lang="en-IN" sz="2000" dirty="0">
                    <a:latin typeface="Arial Narrow" panose="020B0606020202030204" pitchFamily="34" charset="0"/>
                    <a:ea typeface="Cambria Math" panose="02040503050406030204" pitchFamily="18" charset="0"/>
                    <a:cs typeface="Times New Roman" panose="02020603050405020304" pitchFamily="18" charset="0"/>
                  </a:rPr>
                  <a:t>, that means predict </a:t>
                </a:r>
                <a14:m>
                  <m:oMath xmlns:m="http://schemas.openxmlformats.org/officeDocument/2006/math">
                    <m:r>
                      <a:rPr lang="en-GB" sz="2000" b="0" i="1" dirty="0" smtClean="0">
                        <a:latin typeface="Cambria Math" panose="02040503050406030204" pitchFamily="18" charset="0"/>
                        <a:ea typeface="Cambria Math" panose="02040503050406030204" pitchFamily="18" charset="0"/>
                        <a:cs typeface="Times New Roman" panose="02020603050405020304" pitchFamily="18" charset="0"/>
                      </a:rPr>
                      <m:t>𝑜</m:t>
                    </m:r>
                  </m:oMath>
                </a14:m>
                <a:r>
                  <a:rPr lang="en-IN" sz="2000" dirty="0">
                    <a:latin typeface="Arial Narrow" panose="020B0606020202030204" pitchFamily="34" charset="0"/>
                    <a:ea typeface="Cambria Math" panose="02040503050406030204" pitchFamily="18" charset="0"/>
                    <a:cs typeface="Times New Roman" panose="02020603050405020304" pitchFamily="18" charset="0"/>
                  </a:rPr>
                  <a:t> (probability) given input </a:t>
                </a:r>
                <a:r>
                  <a:rPr lang="en-IN" sz="2000" i="1" dirty="0">
                    <a:latin typeface="Cambria Math" panose="02040503050406030204" pitchFamily="18" charset="0"/>
                    <a:ea typeface="Cambria Math" panose="02040503050406030204" pitchFamily="18" charset="0"/>
                    <a:cs typeface="Times New Roman" panose="02020603050405020304" pitchFamily="18" charset="0"/>
                  </a:rPr>
                  <a:t>I</a:t>
                </a:r>
                <a:r>
                  <a:rPr lang="en-IN" sz="2000" dirty="0">
                    <a:latin typeface="Arial Narrow" panose="020B0606020202030204" pitchFamily="34" charset="0"/>
                    <a:ea typeface="Cambria Math" panose="02040503050406030204" pitchFamily="18" charset="0"/>
                    <a:cs typeface="Times New Roman" panose="02020603050405020304" pitchFamily="18" charset="0"/>
                  </a:rPr>
                  <a:t>.</a:t>
                </a:r>
              </a:p>
              <a:p>
                <a:pPr marL="0" indent="0" algn="just">
                  <a:buNone/>
                </a:pPr>
                <a:r>
                  <a:rPr lang="en-IN" sz="2000" dirty="0">
                    <a:latin typeface="Arial Narrow" panose="020B0606020202030204" pitchFamily="34" charset="0"/>
                    <a:ea typeface="Cambria Math" panose="02040503050406030204" pitchFamily="18" charset="0"/>
                    <a:cs typeface="Times New Roman" panose="02020603050405020304" pitchFamily="18" charset="0"/>
                  </a:rPr>
                  <a:t>A forward pass (a iteration) through the network to find output (</a:t>
                </a:r>
                <a:r>
                  <a:rPr lang="en-IN" sz="2000" dirty="0">
                    <a:latin typeface="Cambria Math" panose="02040503050406030204" pitchFamily="18" charset="0"/>
                    <a:ea typeface="Cambria Math" panose="02040503050406030204" pitchFamily="18" charset="0"/>
                    <a:cs typeface="Times New Roman" panose="02020603050405020304" pitchFamily="18" charset="0"/>
                  </a:rPr>
                  <a:t>Y</a:t>
                </a:r>
                <a:r>
                  <a:rPr lang="en-IN" sz="2000" dirty="0">
                    <a:latin typeface="Arial Narrow" panose="020B0606020202030204" pitchFamily="34" charset="0"/>
                    <a:ea typeface="Cambria Math" panose="02040503050406030204" pitchFamily="18" charset="0"/>
                    <a:cs typeface="Times New Roman" panose="02020603050405020304" pitchFamily="18" charset="0"/>
                  </a:rPr>
                  <a:t>) for a given </a:t>
                </a:r>
                <a:r>
                  <a:rPr lang="en-IN" sz="2000" i="1" dirty="0">
                    <a:latin typeface="Cambria Math" panose="02040503050406030204" pitchFamily="18" charset="0"/>
                    <a:ea typeface="Cambria Math" panose="02040503050406030204" pitchFamily="18" charset="0"/>
                    <a:cs typeface="Times New Roman" panose="02020603050405020304" pitchFamily="18" charset="0"/>
                  </a:rPr>
                  <a:t>I</a:t>
                </a:r>
                <a:r>
                  <a:rPr lang="en-IN" sz="2000" dirty="0">
                    <a:latin typeface="Arial Narrow" panose="020B0606020202030204" pitchFamily="34" charset="0"/>
                    <a:ea typeface="Cambria Math" panose="02040503050406030204" pitchFamily="18" charset="0"/>
                    <a:cs typeface="Times New Roman" panose="02020603050405020304" pitchFamily="18" charset="0"/>
                  </a:rPr>
                  <a:t>.</a:t>
                </a:r>
              </a:p>
              <a:p>
                <a:pPr marL="0" indent="0">
                  <a:buNone/>
                </a:pPr>
                <a:endParaRPr lang="en-IN" sz="2000" i="1" dirty="0">
                  <a:latin typeface="Arial Narrow" panose="020B0606020202030204" pitchFamily="34" charset="0"/>
                  <a:ea typeface="Cambria Math" panose="02040503050406030204" pitchFamily="18" charset="0"/>
                  <a:cs typeface="Times New Roman" panose="02020603050405020304" pitchFamily="18" charset="0"/>
                </a:endParaRPr>
              </a:p>
            </p:txBody>
          </p:sp>
        </mc:Choice>
        <mc:Fallback>
          <p:sp>
            <p:nvSpPr>
              <p:cNvPr id="4" name="Title 1"/>
              <p:cNvSpPr>
                <a:spLocks noGrp="1" noRot="1" noChangeAspect="1" noMove="1" noResize="1" noEditPoints="1" noAdjustHandles="1" noChangeArrowheads="1" noChangeShapeType="1" noTextEdit="1"/>
              </p:cNvSpPr>
              <p:nvPr>
                <p:ph idx="1"/>
              </p:nvPr>
            </p:nvSpPr>
            <p:spPr>
              <a:xfrm>
                <a:off x="942429" y="1364017"/>
                <a:ext cx="4143375" cy="1786421"/>
              </a:xfrm>
              <a:blipFill>
                <a:blip r:embed="rId2"/>
                <a:stretch>
                  <a:fillRect l="-1620" t="-3754" r="-1473"/>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5762625" y="1171576"/>
                <a:ext cx="5514975" cy="2449196"/>
              </a:xfrm>
              <a:prstGeom prst="rect">
                <a:avLst/>
              </a:prstGeom>
            </p:spPr>
            <p:txBody>
              <a:bodyPr wrap="square">
                <a:normAutofit fontScale="92500" lnSpcReduction="10000"/>
              </a:bodyPr>
              <a:lstStyle/>
              <a:p>
                <a:pPr algn="just"/>
                <a:r>
                  <a:rPr lang="en-IN" sz="2000" i="1" dirty="0">
                    <a:solidFill>
                      <a:schemeClr val="tx1"/>
                    </a:solidFill>
                    <a:latin typeface="Arial Narrow" panose="020B0606020202030204" pitchFamily="34" charset="0"/>
                    <a:ea typeface="Cambria Math" panose="02040503050406030204" pitchFamily="18" charset="0"/>
                    <a:cs typeface="Times New Roman" panose="02020603050405020304" pitchFamily="18" charset="0"/>
                  </a:rPr>
                  <a:t>For (hidden) layer e =1 to k</a:t>
                </a:r>
              </a:p>
              <a:p>
                <a:pPr lvl="1" algn="just"/>
                <a:r>
                  <a:rPr lang="en-IN" sz="2000" i="1" dirty="0">
                    <a:solidFill>
                      <a:schemeClr val="tx1"/>
                    </a:solidFill>
                    <a:latin typeface="Arial Narrow" panose="020B0606020202030204" pitchFamily="34" charset="0"/>
                    <a:ea typeface="Cambria Math" panose="02040503050406030204" pitchFamily="18" charset="0"/>
                    <a:cs typeface="Times New Roman" panose="02020603050405020304" pitchFamily="18" charset="0"/>
                  </a:rPr>
                  <a:t>For </a:t>
                </a:r>
                <a:r>
                  <a:rPr lang="en-IN" sz="2000" i="1" dirty="0" err="1">
                    <a:solidFill>
                      <a:schemeClr val="tx1"/>
                    </a:solidFill>
                    <a:latin typeface="Arial Narrow" panose="020B0606020202030204" pitchFamily="34" charset="0"/>
                    <a:ea typeface="Cambria Math" panose="02040503050406030204" pitchFamily="18" charset="0"/>
                    <a:cs typeface="Times New Roman" panose="02020603050405020304" pitchFamily="18" charset="0"/>
                  </a:rPr>
                  <a:t>i</a:t>
                </a:r>
                <a:r>
                  <a:rPr lang="en-IN" sz="2000" i="1" dirty="0">
                    <a:solidFill>
                      <a:schemeClr val="tx1"/>
                    </a:solidFill>
                    <a:latin typeface="Arial Narrow" panose="020B0606020202030204" pitchFamily="34" charset="0"/>
                    <a:ea typeface="Cambria Math" panose="02040503050406030204" pitchFamily="18" charset="0"/>
                    <a:cs typeface="Times New Roman" panose="02020603050405020304" pitchFamily="18" charset="0"/>
                  </a:rPr>
                  <a:t> =1 to r (let r is the number of neurons in layer e and n is in layer e-1)</a:t>
                </a:r>
              </a:p>
              <a:p>
                <a:pPr lvl="2" algn="just"/>
                <a:r>
                  <a:rPr lang="en-IN" i="1" dirty="0">
                    <a:solidFill>
                      <a:schemeClr val="tx1"/>
                    </a:solidFill>
                    <a:latin typeface="Arial Narrow" panose="020B0606020202030204" pitchFamily="34" charset="0"/>
                    <a:ea typeface="Cambria Math" panose="02040503050406030204" pitchFamily="18" charset="0"/>
                    <a:cs typeface="Times New Roman" panose="02020603050405020304" pitchFamily="18" charset="0"/>
                  </a:rPr>
                  <a:t>Compute the output of the all neurons of layer e</a:t>
                </a:r>
              </a:p>
              <a:p>
                <a:pPr lvl="2" algn="just"/>
                <a14:m>
                  <m:oMath xmlns:m="http://schemas.openxmlformats.org/officeDocument/2006/math">
                    <m:sSub>
                      <m:sSubPr>
                        <m:ctrlPr>
                          <a:rPr lang="en-IN"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𝑌</m:t>
                        </m:r>
                      </m:e>
                      <m:sub>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𝑒</m:t>
                        </m:r>
                        <m: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𝑓</m:t>
                    </m:r>
                    <m: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nary>
                      <m:naryPr>
                        <m:chr m:val="∑"/>
                        <m:ctrlP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GB"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𝑢</m:t>
                        </m:r>
                        <m: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m:t>
                        </m:r>
                      </m:sub>
                      <m:sup>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𝑚</m:t>
                        </m:r>
                      </m:sup>
                      <m:e>
                        <m:sSubSup>
                          <m:sSubSupPr>
                            <m:ctrlP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e>
                          <m:sub>
                            <m:r>
                              <a:rPr lang="en-GB"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𝑢</m:t>
                            </m:r>
                          </m:sub>
                          <m:sup>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𝑒</m:t>
                            </m:r>
                            <m: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m:t>
                            </m:r>
                          </m:sup>
                        </m:sSubSup>
                      </m:e>
                    </m:nary>
                    <m:sSubSup>
                      <m:sSubSupPr>
                        <m:ctrlP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𝑤</m:t>
                        </m:r>
                      </m:e>
                      <m:sub>
                        <m:r>
                          <a:rPr lang="en-GB"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𝑢</m:t>
                        </m:r>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𝑖</m:t>
                        </m:r>
                      </m:sub>
                      <m:sup>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𝑒</m:t>
                        </m:r>
                      </m:sup>
                    </m:sSubSup>
                    <m: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IN" i="1" dirty="0">
                    <a:solidFill>
                      <a:schemeClr val="tx1"/>
                    </a:solidFill>
                    <a:latin typeface="Arial Narrow" panose="020B0606020202030204" pitchFamily="34" charset="0"/>
                    <a:ea typeface="Cambria Math" panose="02040503050406030204" pitchFamily="18" charset="0"/>
                    <a:cs typeface="Times New Roman" panose="02020603050405020304" pitchFamily="18" charset="0"/>
                  </a:rPr>
                  <a:t>   </a:t>
                </a:r>
              </a:p>
              <a:p>
                <a:pPr lvl="2" algn="just"/>
                <a14:m>
                  <m:oMathPara xmlns:m="http://schemas.openxmlformats.org/officeDocument/2006/math">
                    <m:oMathParaPr>
                      <m:jc m:val="left"/>
                    </m:oMathParaPr>
                    <m:oMath xmlns:m="http://schemas.openxmlformats.org/officeDocument/2006/math">
                      <m:sSubSup>
                        <m:sSubSupPr>
                          <m:ctrlP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𝐼</m:t>
                          </m:r>
                        </m:e>
                        <m:sub>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𝑖</m:t>
                          </m:r>
                        </m:sub>
                        <m:sup>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𝑒</m:t>
                          </m:r>
                        </m:sup>
                      </m:sSubSup>
                      <m: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𝑌</m:t>
                          </m:r>
                        </m:e>
                        <m:sub>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𝑒</m:t>
                          </m:r>
                          <m:r>
                            <a:rPr lang="en-IN"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𝑖</m:t>
                          </m:r>
                        </m:sub>
                      </m:sSub>
                    </m:oMath>
                  </m:oMathPara>
                </a14:m>
                <a:endParaRPr lang="en-IN" i="1" dirty="0">
                  <a:solidFill>
                    <a:schemeClr val="tx1"/>
                  </a:solidFill>
                  <a:latin typeface="Arial Narrow" panose="020B0606020202030204" pitchFamily="34" charset="0"/>
                  <a:ea typeface="Cambria Math" panose="02040503050406030204" pitchFamily="18" charset="0"/>
                  <a:cs typeface="Times New Roman" panose="02020603050405020304" pitchFamily="18" charset="0"/>
                </a:endParaRPr>
              </a:p>
              <a:p>
                <a:pPr lvl="1" algn="just"/>
                <a:r>
                  <a:rPr lang="en-IN" sz="2000" i="1" dirty="0">
                    <a:solidFill>
                      <a:schemeClr val="tx1"/>
                    </a:solidFill>
                    <a:latin typeface="Arial Narrow" panose="020B0606020202030204" pitchFamily="34" charset="0"/>
                    <a:ea typeface="Cambria Math" panose="02040503050406030204" pitchFamily="18" charset="0"/>
                    <a:cs typeface="Times New Roman" panose="02020603050405020304" pitchFamily="18" charset="0"/>
                  </a:rPr>
                  <a:t>End for</a:t>
                </a:r>
              </a:p>
              <a:p>
                <a:pPr algn="just"/>
                <a:r>
                  <a:rPr lang="en-IN" sz="2000" i="1" dirty="0">
                    <a:solidFill>
                      <a:schemeClr val="tx1"/>
                    </a:solidFill>
                    <a:latin typeface="Arial Narrow" panose="020B0606020202030204" pitchFamily="34" charset="0"/>
                    <a:ea typeface="Cambria Math" panose="02040503050406030204" pitchFamily="18" charset="0"/>
                    <a:cs typeface="Times New Roman" panose="02020603050405020304" pitchFamily="18" charset="0"/>
                  </a:rPr>
                  <a:t>End for</a:t>
                </a:r>
              </a:p>
              <a:p>
                <a:pPr algn="just"/>
                <a:r>
                  <a:rPr lang="en-IN" sz="2000" i="1" dirty="0">
                    <a:solidFill>
                      <a:schemeClr val="tx1"/>
                    </a:solidFill>
                    <a:latin typeface="Arial Narrow" panose="020B0606020202030204" pitchFamily="34" charset="0"/>
                    <a:ea typeface="Cambria Math" panose="02040503050406030204" pitchFamily="18" charset="0"/>
                    <a:cs typeface="Times New Roman" panose="02020603050405020304" pitchFamily="18" charset="0"/>
                  </a:rPr>
                  <a:t>Output of the last layer is the predicted output </a:t>
                </a:r>
                <a14:m>
                  <m:oMath xmlns:m="http://schemas.openxmlformats.org/officeDocument/2006/math">
                    <m:r>
                      <a:rPr lang="en-GB" sz="2000"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𝑜</m:t>
                    </m:r>
                  </m:oMath>
                </a14:m>
                <a:endParaRPr lang="en-IN" sz="2000" i="1" dirty="0">
                  <a:solidFill>
                    <a:srgbClr val="C00000"/>
                  </a:solidFill>
                  <a:latin typeface="Arial Narrow" panose="020B0606020202030204" pitchFamily="34" charset="0"/>
                  <a:ea typeface="Cambria Math" panose="02040503050406030204" pitchFamily="18" charset="0"/>
                  <a:cs typeface="Times New Roman" panose="02020603050405020304" pitchFamily="18" charset="0"/>
                </a:endParaRPr>
              </a:p>
            </p:txBody>
          </p:sp>
        </mc:Choice>
        <mc:Fallback>
          <p:sp>
            <p:nvSpPr>
              <p:cNvPr id="5" name="Rectangle 4"/>
              <p:cNvSpPr>
                <a:spLocks noRot="1" noChangeAspect="1" noMove="1" noResize="1" noEditPoints="1" noAdjustHandles="1" noChangeArrowheads="1" noChangeShapeType="1" noTextEdit="1"/>
              </p:cNvSpPr>
              <p:nvPr/>
            </p:nvSpPr>
            <p:spPr>
              <a:xfrm>
                <a:off x="5762625" y="1171576"/>
                <a:ext cx="5514975" cy="2449196"/>
              </a:xfrm>
              <a:prstGeom prst="rect">
                <a:avLst/>
              </a:prstGeom>
              <a:blipFill>
                <a:blip r:embed="rId3"/>
                <a:stretch>
                  <a:fillRect l="-994" t="-2488" r="-994" b="-1741"/>
                </a:stretch>
              </a:blipFill>
            </p:spPr>
            <p:txBody>
              <a:bodyPr/>
              <a:lstStyle/>
              <a:p>
                <a:r>
                  <a:rPr lang="en-GB">
                    <a:noFill/>
                  </a:rPr>
                  <a:t> </a:t>
                </a:r>
              </a:p>
            </p:txBody>
          </p:sp>
        </mc:Fallback>
      </mc:AlternateContent>
      <p:cxnSp>
        <p:nvCxnSpPr>
          <p:cNvPr id="7" name="Straight Connector 6"/>
          <p:cNvCxnSpPr/>
          <p:nvPr/>
        </p:nvCxnSpPr>
        <p:spPr>
          <a:xfrm>
            <a:off x="5400680" y="1230950"/>
            <a:ext cx="9520" cy="2279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Rectangle 95"/>
          <p:cNvSpPr/>
          <p:nvPr/>
        </p:nvSpPr>
        <p:spPr>
          <a:xfrm>
            <a:off x="1455385" y="4227415"/>
            <a:ext cx="1861491" cy="485423"/>
          </a:xfrm>
          <a:prstGeom prst="rect">
            <a:avLst/>
          </a:prstGeom>
          <a:solidFill>
            <a:schemeClr val="accent4">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77" name="Rectangle 76"/>
          <p:cNvSpPr/>
          <p:nvPr/>
        </p:nvSpPr>
        <p:spPr>
          <a:xfrm>
            <a:off x="1455385" y="5177581"/>
            <a:ext cx="1861491" cy="485423"/>
          </a:xfrm>
          <a:prstGeom prst="rect">
            <a:avLst/>
          </a:prstGeom>
          <a:solidFill>
            <a:schemeClr val="accent2">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78" name="Rounded Rectangle 77"/>
          <p:cNvSpPr/>
          <p:nvPr/>
        </p:nvSpPr>
        <p:spPr>
          <a:xfrm>
            <a:off x="1186040" y="3374748"/>
            <a:ext cx="296809" cy="316795"/>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79" name="Rounded Rectangle 78"/>
          <p:cNvSpPr/>
          <p:nvPr/>
        </p:nvSpPr>
        <p:spPr>
          <a:xfrm>
            <a:off x="1639442" y="3374748"/>
            <a:ext cx="296809" cy="316795"/>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0" name="Rounded Rectangle 79"/>
          <p:cNvSpPr/>
          <p:nvPr/>
        </p:nvSpPr>
        <p:spPr>
          <a:xfrm>
            <a:off x="2421895" y="3374748"/>
            <a:ext cx="296809" cy="316795"/>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1" name="Rounded Rectangle 80"/>
          <p:cNvSpPr/>
          <p:nvPr/>
        </p:nvSpPr>
        <p:spPr>
          <a:xfrm>
            <a:off x="3144644" y="3374748"/>
            <a:ext cx="296809" cy="316795"/>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2" name="Oval 81"/>
          <p:cNvSpPr/>
          <p:nvPr/>
        </p:nvSpPr>
        <p:spPr>
          <a:xfrm>
            <a:off x="1994079" y="3533144"/>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3" name="Oval 82"/>
          <p:cNvSpPr/>
          <p:nvPr/>
        </p:nvSpPr>
        <p:spPr>
          <a:xfrm>
            <a:off x="2130552" y="3533144"/>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4" name="Oval 83"/>
          <p:cNvSpPr/>
          <p:nvPr/>
        </p:nvSpPr>
        <p:spPr>
          <a:xfrm>
            <a:off x="2267024" y="3533144"/>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5" name="Oval 84"/>
          <p:cNvSpPr/>
          <p:nvPr/>
        </p:nvSpPr>
        <p:spPr>
          <a:xfrm>
            <a:off x="2759923" y="3533144"/>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6" name="Oval 85"/>
          <p:cNvSpPr/>
          <p:nvPr/>
        </p:nvSpPr>
        <p:spPr>
          <a:xfrm>
            <a:off x="2896396" y="3533144"/>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7" name="Oval 86"/>
          <p:cNvSpPr/>
          <p:nvPr/>
        </p:nvSpPr>
        <p:spPr>
          <a:xfrm>
            <a:off x="3032868" y="3533144"/>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8" name="Rounded Rectangle 87"/>
          <p:cNvSpPr/>
          <p:nvPr/>
        </p:nvSpPr>
        <p:spPr>
          <a:xfrm>
            <a:off x="1563920" y="4315410"/>
            <a:ext cx="357151"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9" name="Rounded Rectangle 88"/>
          <p:cNvSpPr/>
          <p:nvPr/>
        </p:nvSpPr>
        <p:spPr>
          <a:xfrm>
            <a:off x="2145146" y="4311731"/>
            <a:ext cx="350514"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90" name="Rounded Rectangle 89"/>
          <p:cNvSpPr/>
          <p:nvPr/>
        </p:nvSpPr>
        <p:spPr>
          <a:xfrm>
            <a:off x="2755814" y="4311730"/>
            <a:ext cx="420212"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91" name="Oval 90"/>
          <p:cNvSpPr/>
          <p:nvPr/>
        </p:nvSpPr>
        <p:spPr>
          <a:xfrm>
            <a:off x="1935702" y="4447523"/>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92" name="Oval 91"/>
          <p:cNvSpPr/>
          <p:nvPr/>
        </p:nvSpPr>
        <p:spPr>
          <a:xfrm>
            <a:off x="2046773" y="4447523"/>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93" name="Oval 92"/>
          <p:cNvSpPr/>
          <p:nvPr/>
        </p:nvSpPr>
        <p:spPr>
          <a:xfrm>
            <a:off x="2548130" y="4447523"/>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94" name="Oval 93"/>
          <p:cNvSpPr/>
          <p:nvPr/>
        </p:nvSpPr>
        <p:spPr>
          <a:xfrm>
            <a:off x="2646503" y="4447523"/>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95" name="Rectangle 94"/>
          <p:cNvSpPr/>
          <p:nvPr/>
        </p:nvSpPr>
        <p:spPr>
          <a:xfrm>
            <a:off x="1038225" y="3292598"/>
            <a:ext cx="2601675" cy="485423"/>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latin typeface="Arial Narrow" panose="020B0606020202030204" pitchFamily="34" charset="0"/>
            </a:endParaRPr>
          </a:p>
        </p:txBody>
      </p:sp>
      <p:sp>
        <p:nvSpPr>
          <p:cNvPr id="97" name="Rounded Rectangle 96"/>
          <p:cNvSpPr/>
          <p:nvPr/>
        </p:nvSpPr>
        <p:spPr>
          <a:xfrm>
            <a:off x="1563921" y="5265578"/>
            <a:ext cx="324048"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98" name="Rounded Rectangle 97"/>
          <p:cNvSpPr/>
          <p:nvPr/>
        </p:nvSpPr>
        <p:spPr>
          <a:xfrm>
            <a:off x="2172228" y="5261897"/>
            <a:ext cx="327204"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99" name="Rounded Rectangle 98"/>
          <p:cNvSpPr/>
          <p:nvPr/>
        </p:nvSpPr>
        <p:spPr>
          <a:xfrm>
            <a:off x="2736863" y="5261897"/>
            <a:ext cx="350693"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00" name="Oval 99"/>
          <p:cNvSpPr/>
          <p:nvPr/>
        </p:nvSpPr>
        <p:spPr>
          <a:xfrm>
            <a:off x="1935702" y="5397689"/>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01" name="Oval 100"/>
          <p:cNvSpPr/>
          <p:nvPr/>
        </p:nvSpPr>
        <p:spPr>
          <a:xfrm>
            <a:off x="2072173" y="5397689"/>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02" name="Oval 101"/>
          <p:cNvSpPr/>
          <p:nvPr/>
        </p:nvSpPr>
        <p:spPr>
          <a:xfrm>
            <a:off x="2510030" y="5397689"/>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03" name="Oval 102"/>
          <p:cNvSpPr/>
          <p:nvPr/>
        </p:nvSpPr>
        <p:spPr>
          <a:xfrm>
            <a:off x="2646503" y="5397689"/>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04" name="Down Arrow 103"/>
          <p:cNvSpPr/>
          <p:nvPr/>
        </p:nvSpPr>
        <p:spPr>
          <a:xfrm>
            <a:off x="2227069" y="3779236"/>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05" name="Rounded Rectangle 104"/>
          <p:cNvSpPr/>
          <p:nvPr/>
        </p:nvSpPr>
        <p:spPr>
          <a:xfrm>
            <a:off x="1882751" y="6097343"/>
            <a:ext cx="296809"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06" name="Rounded Rectangle 105"/>
          <p:cNvSpPr/>
          <p:nvPr/>
        </p:nvSpPr>
        <p:spPr>
          <a:xfrm>
            <a:off x="2441575" y="6101034"/>
            <a:ext cx="296809"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07" name="Rectangle 106"/>
          <p:cNvSpPr/>
          <p:nvPr/>
        </p:nvSpPr>
        <p:spPr>
          <a:xfrm>
            <a:off x="1741793" y="6013029"/>
            <a:ext cx="1272324" cy="485423"/>
          </a:xfrm>
          <a:prstGeom prst="rect">
            <a:avLst/>
          </a:prstGeom>
          <a:solidFill>
            <a:schemeClr val="tx2">
              <a:lumMod val="60000"/>
              <a:lumOff val="40000"/>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cxnSp>
        <p:nvCxnSpPr>
          <p:cNvPr id="108" name="Straight Arrow Connector 107"/>
          <p:cNvCxnSpPr>
            <a:stCxn id="109" idx="1"/>
            <a:endCxn id="95" idx="3"/>
          </p:cNvCxnSpPr>
          <p:nvPr/>
        </p:nvCxnSpPr>
        <p:spPr>
          <a:xfrm flipH="1">
            <a:off x="3639900" y="3533371"/>
            <a:ext cx="352425" cy="1939"/>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3992325" y="3364094"/>
            <a:ext cx="1055930" cy="338554"/>
          </a:xfrm>
          <a:prstGeom prst="rect">
            <a:avLst/>
          </a:prstGeom>
          <a:noFill/>
        </p:spPr>
        <p:txBody>
          <a:bodyPr wrap="square" rtlCol="0">
            <a:spAutoFit/>
          </a:bodyPr>
          <a:lstStyle/>
          <a:p>
            <a:r>
              <a:rPr lang="en-IN" sz="1600" dirty="0">
                <a:latin typeface="Arial Narrow" panose="020B0606020202030204" pitchFamily="34" charset="0"/>
              </a:rPr>
              <a:t>Input Layer</a:t>
            </a:r>
          </a:p>
        </p:txBody>
      </p:sp>
      <p:cxnSp>
        <p:nvCxnSpPr>
          <p:cNvPr id="110" name="Straight Arrow Connector 109"/>
          <p:cNvCxnSpPr>
            <a:stCxn id="111" idx="1"/>
            <a:endCxn id="107" idx="3"/>
          </p:cNvCxnSpPr>
          <p:nvPr/>
        </p:nvCxnSpPr>
        <p:spPr>
          <a:xfrm flipH="1">
            <a:off x="3014117" y="6253847"/>
            <a:ext cx="743063" cy="1894"/>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3757180" y="6084570"/>
            <a:ext cx="1443242" cy="338554"/>
          </a:xfrm>
          <a:prstGeom prst="rect">
            <a:avLst/>
          </a:prstGeom>
          <a:noFill/>
        </p:spPr>
        <p:txBody>
          <a:bodyPr wrap="square" rtlCol="0">
            <a:spAutoFit/>
          </a:bodyPr>
          <a:lstStyle/>
          <a:p>
            <a:r>
              <a:rPr lang="en-IN" sz="1600" dirty="0">
                <a:latin typeface="Arial Narrow" panose="020B0606020202030204" pitchFamily="34" charset="0"/>
              </a:rPr>
              <a:t>Output Layer</a:t>
            </a:r>
          </a:p>
        </p:txBody>
      </p:sp>
      <p:sp>
        <p:nvSpPr>
          <p:cNvPr id="112" name="Down Arrow 111"/>
          <p:cNvSpPr/>
          <p:nvPr/>
        </p:nvSpPr>
        <p:spPr>
          <a:xfrm>
            <a:off x="1898966" y="5660653"/>
            <a:ext cx="175942" cy="345675"/>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cxnSp>
        <p:nvCxnSpPr>
          <p:cNvPr id="113" name="Straight Arrow Connector 112"/>
          <p:cNvCxnSpPr>
            <a:stCxn id="114" idx="1"/>
            <a:endCxn id="96" idx="3"/>
          </p:cNvCxnSpPr>
          <p:nvPr/>
        </p:nvCxnSpPr>
        <p:spPr>
          <a:xfrm flipH="1">
            <a:off x="3316876" y="4468248"/>
            <a:ext cx="251039" cy="1879"/>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4" name="TextBox 113"/>
              <p:cNvSpPr txBox="1"/>
              <p:nvPr/>
            </p:nvSpPr>
            <p:spPr>
              <a:xfrm>
                <a:off x="3567915" y="4175860"/>
                <a:ext cx="1661339" cy="584775"/>
              </a:xfrm>
              <a:prstGeom prst="rect">
                <a:avLst/>
              </a:prstGeom>
              <a:noFill/>
            </p:spPr>
            <p:txBody>
              <a:bodyPr wrap="square" rtlCol="0">
                <a:spAutoFit/>
              </a:bodyPr>
              <a:lstStyle/>
              <a:p>
                <a:pPr algn="ctr"/>
                <a:r>
                  <a:rPr lang="en-IN" sz="1600" dirty="0">
                    <a:latin typeface="Arial Narrow" panose="020B0606020202030204" pitchFamily="34" charset="0"/>
                  </a:rPr>
                  <a:t>Hidden Layer with </a:t>
                </a:r>
                <a14:m>
                  <m:oMath xmlns:m="http://schemas.openxmlformats.org/officeDocument/2006/math">
                    <m:r>
                      <a:rPr lang="en-IN" sz="1600" i="1">
                        <a:latin typeface="Cambria Math" panose="02040503050406030204" pitchFamily="18" charset="0"/>
                      </a:rPr>
                      <m:t>𝑚</m:t>
                    </m:r>
                  </m:oMath>
                </a14:m>
                <a:r>
                  <a:rPr lang="en-IN" sz="1600" i="1" dirty="0">
                    <a:latin typeface="Arial Narrow" panose="020B0606020202030204" pitchFamily="34" charset="0"/>
                  </a:rPr>
                  <a:t> </a:t>
                </a:r>
                <a:r>
                  <a:rPr lang="en-IN" sz="1600" dirty="0">
                    <a:latin typeface="Arial Narrow" panose="020B0606020202030204" pitchFamily="34" charset="0"/>
                  </a:rPr>
                  <a:t>No. of neurons</a:t>
                </a:r>
              </a:p>
            </p:txBody>
          </p:sp>
        </mc:Choice>
        <mc:Fallback xmlns="">
          <p:sp>
            <p:nvSpPr>
              <p:cNvPr id="114" name="TextBox 113"/>
              <p:cNvSpPr txBox="1">
                <a:spLocks noRot="1" noChangeAspect="1" noMove="1" noResize="1" noEditPoints="1" noAdjustHandles="1" noChangeArrowheads="1" noChangeShapeType="1" noTextEdit="1"/>
              </p:cNvSpPr>
              <p:nvPr/>
            </p:nvSpPr>
            <p:spPr>
              <a:xfrm>
                <a:off x="3567915" y="4175860"/>
                <a:ext cx="1661339" cy="584775"/>
              </a:xfrm>
              <a:prstGeom prst="rect">
                <a:avLst/>
              </a:prstGeom>
              <a:blipFill>
                <a:blip r:embed="rId4"/>
                <a:stretch>
                  <a:fillRect t="-2083" b="-13542"/>
                </a:stretch>
              </a:blipFill>
            </p:spPr>
            <p:txBody>
              <a:bodyPr/>
              <a:lstStyle/>
              <a:p>
                <a:r>
                  <a:rPr lang="en-IN">
                    <a:noFill/>
                  </a:rPr>
                  <a:t> </a:t>
                </a:r>
              </a:p>
            </p:txBody>
          </p:sp>
        </mc:Fallback>
      </mc:AlternateContent>
      <p:cxnSp>
        <p:nvCxnSpPr>
          <p:cNvPr id="115" name="Straight Arrow Connector 114"/>
          <p:cNvCxnSpPr>
            <a:stCxn id="116" idx="1"/>
            <a:endCxn id="77" idx="3"/>
          </p:cNvCxnSpPr>
          <p:nvPr/>
        </p:nvCxnSpPr>
        <p:spPr>
          <a:xfrm flipH="1">
            <a:off x="3316876" y="5416198"/>
            <a:ext cx="293547" cy="4095"/>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3610423" y="5123810"/>
            <a:ext cx="1767027" cy="584775"/>
          </a:xfrm>
          <a:prstGeom prst="rect">
            <a:avLst/>
          </a:prstGeom>
          <a:noFill/>
        </p:spPr>
        <p:txBody>
          <a:bodyPr wrap="square" rtlCol="0">
            <a:spAutoFit/>
          </a:bodyPr>
          <a:lstStyle/>
          <a:p>
            <a:pPr algn="ctr"/>
            <a:r>
              <a:rPr lang="en-IN" sz="1600" dirty="0">
                <a:latin typeface="Arial Narrow" panose="020B0606020202030204" pitchFamily="34" charset="0"/>
              </a:rPr>
              <a:t>Hidden Layer with </a:t>
            </a:r>
            <a:r>
              <a:rPr lang="en-IN" sz="1600" i="1" dirty="0">
                <a:latin typeface="Cambria" panose="02040503050406030204" pitchFamily="18" charset="0"/>
                <a:ea typeface="Cambria" panose="02040503050406030204" pitchFamily="18" charset="0"/>
              </a:rPr>
              <a:t>r</a:t>
            </a:r>
            <a:r>
              <a:rPr lang="en-IN" sz="1600" i="1" dirty="0">
                <a:latin typeface="Arial Narrow" panose="020B0606020202030204" pitchFamily="34" charset="0"/>
              </a:rPr>
              <a:t> </a:t>
            </a:r>
            <a:r>
              <a:rPr lang="en-IN" sz="1600" dirty="0">
                <a:latin typeface="Arial Narrow" panose="020B0606020202030204" pitchFamily="34" charset="0"/>
              </a:rPr>
              <a:t>No. of neurons</a:t>
            </a:r>
          </a:p>
        </p:txBody>
      </p:sp>
      <mc:AlternateContent xmlns:mc="http://schemas.openxmlformats.org/markup-compatibility/2006" xmlns:a14="http://schemas.microsoft.com/office/drawing/2010/main">
        <mc:Choice Requires="a14">
          <p:sp>
            <p:nvSpPr>
              <p:cNvPr id="117" name="Rectangle 116"/>
              <p:cNvSpPr/>
              <p:nvPr/>
            </p:nvSpPr>
            <p:spPr>
              <a:xfrm>
                <a:off x="1187538" y="3362196"/>
                <a:ext cx="399133"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0</m:t>
                          </m:r>
                        </m:sub>
                      </m:sSub>
                    </m:oMath>
                  </m:oMathPara>
                </a14:m>
                <a:endParaRPr lang="en-IN" sz="1400" dirty="0">
                  <a:latin typeface="Arial Narrow" panose="020B0606020202030204" pitchFamily="34" charset="0"/>
                </a:endParaRPr>
              </a:p>
            </p:txBody>
          </p:sp>
        </mc:Choice>
        <mc:Fallback xmlns="">
          <p:sp>
            <p:nvSpPr>
              <p:cNvPr id="117" name="Rectangle 116"/>
              <p:cNvSpPr>
                <a:spLocks noRot="1" noChangeAspect="1" noMove="1" noResize="1" noEditPoints="1" noAdjustHandles="1" noChangeArrowheads="1" noChangeShapeType="1" noTextEdit="1"/>
              </p:cNvSpPr>
              <p:nvPr/>
            </p:nvSpPr>
            <p:spPr>
              <a:xfrm>
                <a:off x="1187538" y="3362196"/>
                <a:ext cx="399133" cy="33855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8" name="Rectangle 117"/>
              <p:cNvSpPr/>
              <p:nvPr/>
            </p:nvSpPr>
            <p:spPr>
              <a:xfrm>
                <a:off x="1633206" y="3360695"/>
                <a:ext cx="394311"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118" name="Rectangle 117"/>
              <p:cNvSpPr>
                <a:spLocks noRot="1" noChangeAspect="1" noMove="1" noResize="1" noEditPoints="1" noAdjustHandles="1" noChangeArrowheads="1" noChangeShapeType="1" noTextEdit="1"/>
              </p:cNvSpPr>
              <p:nvPr/>
            </p:nvSpPr>
            <p:spPr>
              <a:xfrm>
                <a:off x="1633206" y="3360695"/>
                <a:ext cx="394311" cy="33855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Rectangle 118"/>
              <p:cNvSpPr/>
              <p:nvPr/>
            </p:nvSpPr>
            <p:spPr>
              <a:xfrm>
                <a:off x="2405527" y="3351501"/>
                <a:ext cx="370140"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𝑙</m:t>
                          </m:r>
                        </m:sub>
                      </m:sSub>
                    </m:oMath>
                  </m:oMathPara>
                </a14:m>
                <a:endParaRPr lang="en-IN" sz="1400" dirty="0">
                  <a:latin typeface="Arial Narrow" panose="020B0606020202030204" pitchFamily="34" charset="0"/>
                </a:endParaRPr>
              </a:p>
            </p:txBody>
          </p:sp>
        </mc:Choice>
        <mc:Fallback xmlns="">
          <p:sp>
            <p:nvSpPr>
              <p:cNvPr id="119" name="Rectangle 118"/>
              <p:cNvSpPr>
                <a:spLocks noRot="1" noChangeAspect="1" noMove="1" noResize="1" noEditPoints="1" noAdjustHandles="1" noChangeArrowheads="1" noChangeShapeType="1" noTextEdit="1"/>
              </p:cNvSpPr>
              <p:nvPr/>
            </p:nvSpPr>
            <p:spPr>
              <a:xfrm>
                <a:off x="2405527" y="3351501"/>
                <a:ext cx="370140" cy="338554"/>
              </a:xfrm>
              <a:prstGeom prst="rect">
                <a:avLst/>
              </a:prstGeom>
              <a:blipFill>
                <a:blip r:embed="rId7"/>
                <a:stretch>
                  <a:fillRect b="-18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Rectangle 119"/>
              <p:cNvSpPr/>
              <p:nvPr/>
            </p:nvSpPr>
            <p:spPr>
              <a:xfrm>
                <a:off x="3101822" y="3360695"/>
                <a:ext cx="455490"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𝑛</m:t>
                          </m:r>
                        </m:sub>
                      </m:sSub>
                    </m:oMath>
                  </m:oMathPara>
                </a14:m>
                <a:endParaRPr lang="en-IN" sz="1400" dirty="0">
                  <a:latin typeface="Arial Narrow" panose="020B0606020202030204" pitchFamily="34" charset="0"/>
                </a:endParaRPr>
              </a:p>
            </p:txBody>
          </p:sp>
        </mc:Choice>
        <mc:Fallback xmlns="">
          <p:sp>
            <p:nvSpPr>
              <p:cNvPr id="120" name="Rectangle 119"/>
              <p:cNvSpPr>
                <a:spLocks noRot="1" noChangeAspect="1" noMove="1" noResize="1" noEditPoints="1" noAdjustHandles="1" noChangeArrowheads="1" noChangeShapeType="1" noTextEdit="1"/>
              </p:cNvSpPr>
              <p:nvPr/>
            </p:nvSpPr>
            <p:spPr>
              <a:xfrm>
                <a:off x="3101822" y="3360695"/>
                <a:ext cx="455490" cy="338554"/>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1" name="Rectangle 120"/>
              <p:cNvSpPr/>
              <p:nvPr/>
            </p:nvSpPr>
            <p:spPr>
              <a:xfrm>
                <a:off x="1497211" y="4287964"/>
                <a:ext cx="530287"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11</m:t>
                          </m:r>
                        </m:sub>
                      </m:sSub>
                    </m:oMath>
                  </m:oMathPara>
                </a14:m>
                <a:endParaRPr lang="en-IN" sz="1400" dirty="0">
                  <a:latin typeface="Arial Narrow" panose="020B0606020202030204" pitchFamily="34" charset="0"/>
                </a:endParaRPr>
              </a:p>
            </p:txBody>
          </p:sp>
        </mc:Choice>
        <mc:Fallback xmlns="">
          <p:sp>
            <p:nvSpPr>
              <p:cNvPr id="121" name="Rectangle 120"/>
              <p:cNvSpPr>
                <a:spLocks noRot="1" noChangeAspect="1" noMove="1" noResize="1" noEditPoints="1" noAdjustHandles="1" noChangeArrowheads="1" noChangeShapeType="1" noTextEdit="1"/>
              </p:cNvSpPr>
              <p:nvPr/>
            </p:nvSpPr>
            <p:spPr>
              <a:xfrm>
                <a:off x="1497211" y="4287964"/>
                <a:ext cx="530287" cy="33855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2" name="Rectangle 121"/>
              <p:cNvSpPr/>
              <p:nvPr/>
            </p:nvSpPr>
            <p:spPr>
              <a:xfrm>
                <a:off x="2668728" y="4293456"/>
                <a:ext cx="544295"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1</m:t>
                          </m:r>
                          <m:r>
                            <a:rPr lang="en-IN" sz="1600" b="0" i="1" smtClean="0">
                              <a:latin typeface="Cambria Math" panose="02040503050406030204" pitchFamily="18" charset="0"/>
                            </a:rPr>
                            <m:t>𝑚</m:t>
                          </m:r>
                        </m:sub>
                      </m:sSub>
                    </m:oMath>
                  </m:oMathPara>
                </a14:m>
                <a:endParaRPr lang="en-IN" sz="1400" dirty="0">
                  <a:latin typeface="Arial Narrow" panose="020B0606020202030204" pitchFamily="34" charset="0"/>
                </a:endParaRPr>
              </a:p>
            </p:txBody>
          </p:sp>
        </mc:Choice>
        <mc:Fallback xmlns="">
          <p:sp>
            <p:nvSpPr>
              <p:cNvPr id="122" name="Rectangle 121"/>
              <p:cNvSpPr>
                <a:spLocks noRot="1" noChangeAspect="1" noMove="1" noResize="1" noEditPoints="1" noAdjustHandles="1" noChangeArrowheads="1" noChangeShapeType="1" noTextEdit="1"/>
              </p:cNvSpPr>
              <p:nvPr/>
            </p:nvSpPr>
            <p:spPr>
              <a:xfrm>
                <a:off x="2668728" y="4293456"/>
                <a:ext cx="544295" cy="338554"/>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3" name="Rectangle 122"/>
              <p:cNvSpPr/>
              <p:nvPr/>
            </p:nvSpPr>
            <p:spPr>
              <a:xfrm>
                <a:off x="2078386" y="4296763"/>
                <a:ext cx="530027"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1</m:t>
                          </m:r>
                          <m:r>
                            <a:rPr lang="en-IN" sz="1600" b="0" i="1" smtClean="0">
                              <a:latin typeface="Cambria Math" panose="02040503050406030204" pitchFamily="18" charset="0"/>
                            </a:rPr>
                            <m:t>𝑒</m:t>
                          </m:r>
                        </m:sub>
                      </m:sSub>
                    </m:oMath>
                  </m:oMathPara>
                </a14:m>
                <a:endParaRPr lang="en-IN" sz="1400" dirty="0">
                  <a:latin typeface="Arial Narrow" panose="020B0606020202030204" pitchFamily="34" charset="0"/>
                </a:endParaRPr>
              </a:p>
            </p:txBody>
          </p:sp>
        </mc:Choice>
        <mc:Fallback xmlns="">
          <p:sp>
            <p:nvSpPr>
              <p:cNvPr id="123" name="Rectangle 122"/>
              <p:cNvSpPr>
                <a:spLocks noRot="1" noChangeAspect="1" noMove="1" noResize="1" noEditPoints="1" noAdjustHandles="1" noChangeArrowheads="1" noChangeShapeType="1" noTextEdit="1"/>
              </p:cNvSpPr>
              <p:nvPr/>
            </p:nvSpPr>
            <p:spPr>
              <a:xfrm>
                <a:off x="2078386" y="4296763"/>
                <a:ext cx="530027" cy="338554"/>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4" name="Rectangle 123"/>
              <p:cNvSpPr/>
              <p:nvPr/>
            </p:nvSpPr>
            <p:spPr>
              <a:xfrm>
                <a:off x="2652886" y="5238133"/>
                <a:ext cx="536673"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𝑘𝑟</m:t>
                          </m:r>
                        </m:sub>
                      </m:sSub>
                    </m:oMath>
                  </m:oMathPara>
                </a14:m>
                <a:endParaRPr lang="en-IN" sz="1400" dirty="0">
                  <a:latin typeface="Arial Narrow" panose="020B0606020202030204" pitchFamily="34" charset="0"/>
                </a:endParaRPr>
              </a:p>
            </p:txBody>
          </p:sp>
        </mc:Choice>
        <mc:Fallback xmlns="">
          <p:sp>
            <p:nvSpPr>
              <p:cNvPr id="124" name="Rectangle 123"/>
              <p:cNvSpPr>
                <a:spLocks noRot="1" noChangeAspect="1" noMove="1" noResize="1" noEditPoints="1" noAdjustHandles="1" noChangeArrowheads="1" noChangeShapeType="1" noTextEdit="1"/>
              </p:cNvSpPr>
              <p:nvPr/>
            </p:nvSpPr>
            <p:spPr>
              <a:xfrm>
                <a:off x="2652886" y="5238133"/>
                <a:ext cx="536673" cy="338554"/>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5" name="Rectangle 124"/>
              <p:cNvSpPr/>
              <p:nvPr/>
            </p:nvSpPr>
            <p:spPr>
              <a:xfrm>
                <a:off x="1486644" y="5226523"/>
                <a:ext cx="539996"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𝑘</m:t>
                          </m:r>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125" name="Rectangle 124"/>
              <p:cNvSpPr>
                <a:spLocks noRot="1" noChangeAspect="1" noMove="1" noResize="1" noEditPoints="1" noAdjustHandles="1" noChangeArrowheads="1" noChangeShapeType="1" noTextEdit="1"/>
              </p:cNvSpPr>
              <p:nvPr/>
            </p:nvSpPr>
            <p:spPr>
              <a:xfrm>
                <a:off x="1486644" y="5226523"/>
                <a:ext cx="539996" cy="338554"/>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6" name="Rectangle 125"/>
              <p:cNvSpPr/>
              <p:nvPr/>
            </p:nvSpPr>
            <p:spPr>
              <a:xfrm>
                <a:off x="2086392" y="5236928"/>
                <a:ext cx="511003"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𝑘𝑖</m:t>
                          </m:r>
                        </m:sub>
                      </m:sSub>
                    </m:oMath>
                  </m:oMathPara>
                </a14:m>
                <a:endParaRPr lang="en-IN" sz="1400" dirty="0">
                  <a:latin typeface="Arial Narrow" panose="020B0606020202030204" pitchFamily="34" charset="0"/>
                </a:endParaRPr>
              </a:p>
            </p:txBody>
          </p:sp>
        </mc:Choice>
        <mc:Fallback xmlns="">
          <p:sp>
            <p:nvSpPr>
              <p:cNvPr id="126" name="Rectangle 125"/>
              <p:cNvSpPr>
                <a:spLocks noRot="1" noChangeAspect="1" noMove="1" noResize="1" noEditPoints="1" noAdjustHandles="1" noChangeArrowheads="1" noChangeShapeType="1" noTextEdit="1"/>
              </p:cNvSpPr>
              <p:nvPr/>
            </p:nvSpPr>
            <p:spPr>
              <a:xfrm>
                <a:off x="2086392" y="5236928"/>
                <a:ext cx="511003" cy="338554"/>
              </a:xfrm>
              <a:prstGeom prst="rect">
                <a:avLst/>
              </a:prstGeom>
              <a:blipFill>
                <a:blip r:embed="rId14"/>
                <a:stretch>
                  <a:fillRect b="-178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7" name="Rectangle 126"/>
              <p:cNvSpPr/>
              <p:nvPr/>
            </p:nvSpPr>
            <p:spPr>
              <a:xfrm>
                <a:off x="1857986" y="6069995"/>
                <a:ext cx="417897"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𝑌</m:t>
                          </m:r>
                        </m:e>
                        <m:sub>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127" name="Rectangle 126"/>
              <p:cNvSpPr>
                <a:spLocks noRot="1" noChangeAspect="1" noMove="1" noResize="1" noEditPoints="1" noAdjustHandles="1" noChangeArrowheads="1" noChangeShapeType="1" noTextEdit="1"/>
              </p:cNvSpPr>
              <p:nvPr/>
            </p:nvSpPr>
            <p:spPr>
              <a:xfrm>
                <a:off x="1857986" y="6069995"/>
                <a:ext cx="417897" cy="338554"/>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8" name="Rectangle 127"/>
              <p:cNvSpPr/>
              <p:nvPr/>
            </p:nvSpPr>
            <p:spPr>
              <a:xfrm>
                <a:off x="2421895" y="6069717"/>
                <a:ext cx="422719"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𝑌</m:t>
                          </m:r>
                        </m:e>
                        <m:sub>
                          <m:r>
                            <a:rPr lang="en-IN" sz="1600" b="0" i="1" smtClean="0">
                              <a:latin typeface="Cambria Math" panose="02040503050406030204" pitchFamily="18" charset="0"/>
                            </a:rPr>
                            <m:t>2</m:t>
                          </m:r>
                        </m:sub>
                      </m:sSub>
                    </m:oMath>
                  </m:oMathPara>
                </a14:m>
                <a:endParaRPr lang="en-IN" sz="1400" dirty="0">
                  <a:latin typeface="Arial Narrow" panose="020B0606020202030204" pitchFamily="34" charset="0"/>
                </a:endParaRPr>
              </a:p>
            </p:txBody>
          </p:sp>
        </mc:Choice>
        <mc:Fallback xmlns="">
          <p:sp>
            <p:nvSpPr>
              <p:cNvPr id="128" name="Rectangle 127"/>
              <p:cNvSpPr>
                <a:spLocks noRot="1" noChangeAspect="1" noMove="1" noResize="1" noEditPoints="1" noAdjustHandles="1" noChangeArrowheads="1" noChangeShapeType="1" noTextEdit="1"/>
              </p:cNvSpPr>
              <p:nvPr/>
            </p:nvSpPr>
            <p:spPr>
              <a:xfrm>
                <a:off x="2421895" y="6069717"/>
                <a:ext cx="422719" cy="338554"/>
              </a:xfrm>
              <a:prstGeom prst="rect">
                <a:avLst/>
              </a:prstGeom>
              <a:blipFill>
                <a:blip r:embed="rId16"/>
                <a:stretch>
                  <a:fillRect/>
                </a:stretch>
              </a:blipFill>
            </p:spPr>
            <p:txBody>
              <a:bodyPr/>
              <a:lstStyle/>
              <a:p>
                <a:r>
                  <a:rPr lang="en-IN">
                    <a:noFill/>
                  </a:rPr>
                  <a:t> </a:t>
                </a:r>
              </a:p>
            </p:txBody>
          </p:sp>
        </mc:Fallback>
      </mc:AlternateContent>
      <p:sp>
        <p:nvSpPr>
          <p:cNvPr id="129" name="Down Arrow 128"/>
          <p:cNvSpPr/>
          <p:nvPr/>
        </p:nvSpPr>
        <p:spPr>
          <a:xfrm>
            <a:off x="2879807" y="3779236"/>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0" name="Down Arrow 129"/>
          <p:cNvSpPr/>
          <p:nvPr/>
        </p:nvSpPr>
        <p:spPr>
          <a:xfrm>
            <a:off x="1582099" y="3785526"/>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1" name="Down Arrow 130"/>
          <p:cNvSpPr/>
          <p:nvPr/>
        </p:nvSpPr>
        <p:spPr>
          <a:xfrm>
            <a:off x="2217599" y="4714143"/>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2" name="Down Arrow 131"/>
          <p:cNvSpPr/>
          <p:nvPr/>
        </p:nvSpPr>
        <p:spPr>
          <a:xfrm>
            <a:off x="2857274" y="4714143"/>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3" name="Down Arrow 132"/>
          <p:cNvSpPr/>
          <p:nvPr/>
        </p:nvSpPr>
        <p:spPr>
          <a:xfrm>
            <a:off x="1563920" y="4720433"/>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4" name="Down Arrow 133"/>
          <p:cNvSpPr/>
          <p:nvPr/>
        </p:nvSpPr>
        <p:spPr>
          <a:xfrm>
            <a:off x="2592993" y="5667352"/>
            <a:ext cx="175942" cy="345675"/>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mc:AlternateContent xmlns:mc="http://schemas.openxmlformats.org/markup-compatibility/2006" xmlns:a14="http://schemas.microsoft.com/office/drawing/2010/main">
        <mc:Choice Requires="a14">
          <p:sp>
            <p:nvSpPr>
              <p:cNvPr id="135" name="Rectangle 134"/>
              <p:cNvSpPr/>
              <p:nvPr/>
            </p:nvSpPr>
            <p:spPr>
              <a:xfrm>
                <a:off x="1826768" y="4800365"/>
                <a:ext cx="533415"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𝑤</m:t>
                          </m:r>
                        </m:e>
                        <m:sub>
                          <m:r>
                            <a:rPr lang="en-IN" sz="1600" b="0" i="1" smtClean="0">
                              <a:latin typeface="Cambria Math" panose="02040503050406030204" pitchFamily="18" charset="0"/>
                            </a:rPr>
                            <m:t>𝑒𝑖</m:t>
                          </m:r>
                        </m:sub>
                      </m:sSub>
                    </m:oMath>
                  </m:oMathPara>
                </a14:m>
                <a:endParaRPr lang="en-IN" sz="1400" dirty="0">
                  <a:latin typeface="Arial Narrow" panose="020B0606020202030204" pitchFamily="34" charset="0"/>
                </a:endParaRPr>
              </a:p>
            </p:txBody>
          </p:sp>
        </mc:Choice>
        <mc:Fallback xmlns="">
          <p:sp>
            <p:nvSpPr>
              <p:cNvPr id="135" name="Rectangle 134"/>
              <p:cNvSpPr>
                <a:spLocks noRot="1" noChangeAspect="1" noMove="1" noResize="1" noEditPoints="1" noAdjustHandles="1" noChangeArrowheads="1" noChangeShapeType="1" noTextEdit="1"/>
              </p:cNvSpPr>
              <p:nvPr/>
            </p:nvSpPr>
            <p:spPr>
              <a:xfrm>
                <a:off x="1826768" y="4800365"/>
                <a:ext cx="533415" cy="338554"/>
              </a:xfrm>
              <a:prstGeom prst="rect">
                <a:avLst/>
              </a:prstGeom>
              <a:blipFill>
                <a:blip r:embed="rId17"/>
                <a:stretch>
                  <a:fillRect b="-178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6" name="Rectangle 135"/>
              <p:cNvSpPr/>
              <p:nvPr/>
            </p:nvSpPr>
            <p:spPr>
              <a:xfrm>
                <a:off x="1467338" y="5620910"/>
                <a:ext cx="562473"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𝑤</m:t>
                          </m:r>
                        </m:e>
                        <m:sub>
                          <m:r>
                            <a:rPr lang="en-IN" sz="1600" b="0" i="1" smtClean="0">
                              <a:latin typeface="Cambria Math" panose="02040503050406030204" pitchFamily="18" charset="0"/>
                            </a:rPr>
                            <m:t>11</m:t>
                          </m:r>
                        </m:sub>
                      </m:sSub>
                    </m:oMath>
                  </m:oMathPara>
                </a14:m>
                <a:endParaRPr lang="en-IN" sz="1400" dirty="0">
                  <a:latin typeface="Arial Narrow" panose="020B0606020202030204" pitchFamily="34" charset="0"/>
                </a:endParaRPr>
              </a:p>
            </p:txBody>
          </p:sp>
        </mc:Choice>
        <mc:Fallback xmlns="">
          <p:sp>
            <p:nvSpPr>
              <p:cNvPr id="136" name="Rectangle 135"/>
              <p:cNvSpPr>
                <a:spLocks noRot="1" noChangeAspect="1" noMove="1" noResize="1" noEditPoints="1" noAdjustHandles="1" noChangeArrowheads="1" noChangeShapeType="1" noTextEdit="1"/>
              </p:cNvSpPr>
              <p:nvPr/>
            </p:nvSpPr>
            <p:spPr>
              <a:xfrm>
                <a:off x="1467338" y="5620910"/>
                <a:ext cx="562473" cy="338554"/>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7" name="Rectangle 136"/>
              <p:cNvSpPr/>
              <p:nvPr/>
            </p:nvSpPr>
            <p:spPr>
              <a:xfrm>
                <a:off x="2651036" y="5667350"/>
                <a:ext cx="559151"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𝑤</m:t>
                          </m:r>
                        </m:e>
                        <m:sub>
                          <m:r>
                            <a:rPr lang="en-IN" sz="1600" b="0" i="1" smtClean="0">
                              <a:latin typeface="Cambria Math" panose="02040503050406030204" pitchFamily="18" charset="0"/>
                            </a:rPr>
                            <m:t>𝑟</m:t>
                          </m:r>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137" name="Rectangle 136"/>
              <p:cNvSpPr>
                <a:spLocks noRot="1" noChangeAspect="1" noMove="1" noResize="1" noEditPoints="1" noAdjustHandles="1" noChangeArrowheads="1" noChangeShapeType="1" noTextEdit="1"/>
              </p:cNvSpPr>
              <p:nvPr/>
            </p:nvSpPr>
            <p:spPr>
              <a:xfrm>
                <a:off x="2651036" y="5667350"/>
                <a:ext cx="559151" cy="338554"/>
              </a:xfrm>
              <a:prstGeom prst="rect">
                <a:avLst/>
              </a:prstGeom>
              <a:blipFill>
                <a:blip r:embed="rId19"/>
                <a:stretch>
                  <a:fillRect/>
                </a:stretch>
              </a:blipFill>
            </p:spPr>
            <p:txBody>
              <a:bodyPr/>
              <a:lstStyle/>
              <a:p>
                <a:r>
                  <a:rPr lang="en-IN">
                    <a:noFill/>
                  </a:rPr>
                  <a:t> </a:t>
                </a:r>
              </a:p>
            </p:txBody>
          </p:sp>
        </mc:Fallback>
      </mc:AlternateContent>
      <p:sp>
        <p:nvSpPr>
          <p:cNvPr id="138" name="TextBox 137"/>
          <p:cNvSpPr txBox="1"/>
          <p:nvPr/>
        </p:nvSpPr>
        <p:spPr>
          <a:xfrm>
            <a:off x="2993353" y="4764512"/>
            <a:ext cx="1806718" cy="338554"/>
          </a:xfrm>
          <a:prstGeom prst="rect">
            <a:avLst/>
          </a:prstGeom>
          <a:noFill/>
        </p:spPr>
        <p:txBody>
          <a:bodyPr wrap="square" rtlCol="0">
            <a:spAutoFit/>
          </a:bodyPr>
          <a:lstStyle/>
          <a:p>
            <a:r>
              <a:rPr lang="en-IN" sz="1600" i="1" dirty="0">
                <a:latin typeface="Arial Narrow" panose="020B0606020202030204" pitchFamily="34" charset="0"/>
              </a:rPr>
              <a:t>k</a:t>
            </a:r>
            <a:r>
              <a:rPr lang="en-IN" sz="1600" dirty="0">
                <a:latin typeface="Arial Narrow" panose="020B0606020202030204" pitchFamily="34" charset="0"/>
              </a:rPr>
              <a:t> no. of hidden layers</a:t>
            </a:r>
          </a:p>
        </p:txBody>
      </p:sp>
      <p:sp>
        <p:nvSpPr>
          <p:cNvPr id="139" name="Rectangle 138"/>
          <p:cNvSpPr/>
          <p:nvPr/>
        </p:nvSpPr>
        <p:spPr>
          <a:xfrm>
            <a:off x="7342610" y="4500897"/>
            <a:ext cx="2639895" cy="526475"/>
          </a:xfrm>
          <a:prstGeom prst="rect">
            <a:avLst/>
          </a:prstGeom>
          <a:solidFill>
            <a:schemeClr val="accent4">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0" name="Rectangle 139"/>
          <p:cNvSpPr/>
          <p:nvPr/>
        </p:nvSpPr>
        <p:spPr>
          <a:xfrm>
            <a:off x="7342610" y="5531419"/>
            <a:ext cx="2639895" cy="526475"/>
          </a:xfrm>
          <a:prstGeom prst="rect">
            <a:avLst/>
          </a:prstGeom>
          <a:solidFill>
            <a:schemeClr val="accent2">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1" name="Rounded Rectangle 140"/>
          <p:cNvSpPr/>
          <p:nvPr/>
        </p:nvSpPr>
        <p:spPr>
          <a:xfrm>
            <a:off x="7512222" y="4596334"/>
            <a:ext cx="511396"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2" name="Rounded Rectangle 141"/>
          <p:cNvSpPr/>
          <p:nvPr/>
        </p:nvSpPr>
        <p:spPr>
          <a:xfrm>
            <a:off x="8395187" y="4592343"/>
            <a:ext cx="539597"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3" name="Rounded Rectangle 142"/>
          <p:cNvSpPr/>
          <p:nvPr/>
        </p:nvSpPr>
        <p:spPr>
          <a:xfrm>
            <a:off x="9354713" y="4592342"/>
            <a:ext cx="536351"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4" name="Oval 143"/>
          <p:cNvSpPr/>
          <p:nvPr/>
        </p:nvSpPr>
        <p:spPr>
          <a:xfrm>
            <a:off x="8093224" y="4739619"/>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5" name="Oval 144"/>
          <p:cNvSpPr/>
          <p:nvPr/>
        </p:nvSpPr>
        <p:spPr>
          <a:xfrm>
            <a:off x="8268396" y="4739619"/>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6" name="Oval 145"/>
          <p:cNvSpPr/>
          <p:nvPr/>
        </p:nvSpPr>
        <p:spPr>
          <a:xfrm>
            <a:off x="9005999" y="4739619"/>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7" name="Oval 146"/>
          <p:cNvSpPr/>
          <p:nvPr/>
        </p:nvSpPr>
        <p:spPr>
          <a:xfrm>
            <a:off x="9188793" y="4739619"/>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8" name="Rounded Rectangle 147"/>
          <p:cNvSpPr/>
          <p:nvPr/>
        </p:nvSpPr>
        <p:spPr>
          <a:xfrm>
            <a:off x="7550852" y="5626857"/>
            <a:ext cx="420923"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9" name="Rounded Rectangle 148"/>
          <p:cNvSpPr/>
          <p:nvPr/>
        </p:nvSpPr>
        <p:spPr>
          <a:xfrm>
            <a:off x="8462856" y="5622865"/>
            <a:ext cx="420923"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0" name="Rounded Rectangle 149"/>
          <p:cNvSpPr/>
          <p:nvPr/>
        </p:nvSpPr>
        <p:spPr>
          <a:xfrm>
            <a:off x="9374860" y="5622865"/>
            <a:ext cx="420923" cy="343586"/>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1" name="Oval 150"/>
          <p:cNvSpPr/>
          <p:nvPr/>
        </p:nvSpPr>
        <p:spPr>
          <a:xfrm>
            <a:off x="8093224" y="5770141"/>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2" name="Oval 151"/>
          <p:cNvSpPr/>
          <p:nvPr/>
        </p:nvSpPr>
        <p:spPr>
          <a:xfrm>
            <a:off x="8306496" y="5770141"/>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3" name="Oval 152"/>
          <p:cNvSpPr/>
          <p:nvPr/>
        </p:nvSpPr>
        <p:spPr>
          <a:xfrm>
            <a:off x="8990759" y="5770141"/>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4" name="Oval 153"/>
          <p:cNvSpPr/>
          <p:nvPr/>
        </p:nvSpPr>
        <p:spPr>
          <a:xfrm>
            <a:off x="9204033" y="5770141"/>
            <a:ext cx="67349" cy="7191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mc:AlternateContent xmlns:mc="http://schemas.openxmlformats.org/markup-compatibility/2006" xmlns:a14="http://schemas.microsoft.com/office/drawing/2010/main">
        <mc:Choice Requires="a14">
          <p:sp>
            <p:nvSpPr>
              <p:cNvPr id="155" name="Rectangle 154"/>
              <p:cNvSpPr/>
              <p:nvPr/>
            </p:nvSpPr>
            <p:spPr>
              <a:xfrm>
                <a:off x="7407972" y="4566566"/>
                <a:ext cx="731995"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−11</m:t>
                          </m:r>
                        </m:sub>
                      </m:sSub>
                    </m:oMath>
                  </m:oMathPara>
                </a14:m>
                <a:endParaRPr lang="en-IN" sz="1400" dirty="0">
                  <a:latin typeface="Arial Narrow" panose="020B0606020202030204" pitchFamily="34" charset="0"/>
                </a:endParaRPr>
              </a:p>
            </p:txBody>
          </p:sp>
        </mc:Choice>
        <mc:Fallback xmlns="">
          <p:sp>
            <p:nvSpPr>
              <p:cNvPr id="155" name="Rectangle 154"/>
              <p:cNvSpPr>
                <a:spLocks noRot="1" noChangeAspect="1" noMove="1" noResize="1" noEditPoints="1" noAdjustHandles="1" noChangeArrowheads="1" noChangeShapeType="1" noTextEdit="1"/>
              </p:cNvSpPr>
              <p:nvPr/>
            </p:nvSpPr>
            <p:spPr>
              <a:xfrm>
                <a:off x="7407972" y="4566566"/>
                <a:ext cx="731995" cy="357534"/>
              </a:xfrm>
              <a:prstGeom prst="rect">
                <a:avLst/>
              </a:prstGeom>
              <a:blipFill>
                <a:blip r:embed="rId20"/>
                <a:stretch>
                  <a:fillRect b="-33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6" name="Rectangle 155"/>
              <p:cNvSpPr/>
              <p:nvPr/>
            </p:nvSpPr>
            <p:spPr>
              <a:xfrm>
                <a:off x="9242133" y="4572523"/>
                <a:ext cx="787460"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−1</m:t>
                          </m:r>
                          <m:r>
                            <a:rPr lang="en-IN" sz="1600" b="0" i="1" smtClean="0">
                              <a:latin typeface="Cambria Math" panose="02040503050406030204" pitchFamily="18" charset="0"/>
                            </a:rPr>
                            <m:t>𝑚</m:t>
                          </m:r>
                        </m:sub>
                      </m:sSub>
                    </m:oMath>
                  </m:oMathPara>
                </a14:m>
                <a:endParaRPr lang="en-IN" sz="1400" dirty="0">
                  <a:latin typeface="Arial Narrow" panose="020B0606020202030204" pitchFamily="34" charset="0"/>
                </a:endParaRPr>
              </a:p>
            </p:txBody>
          </p:sp>
        </mc:Choice>
        <mc:Fallback xmlns="">
          <p:sp>
            <p:nvSpPr>
              <p:cNvPr id="156" name="Rectangle 155"/>
              <p:cNvSpPr>
                <a:spLocks noRot="1" noChangeAspect="1" noMove="1" noResize="1" noEditPoints="1" noAdjustHandles="1" noChangeArrowheads="1" noChangeShapeType="1" noTextEdit="1"/>
              </p:cNvSpPr>
              <p:nvPr/>
            </p:nvSpPr>
            <p:spPr>
              <a:xfrm>
                <a:off x="9242133" y="4572523"/>
                <a:ext cx="787460" cy="357534"/>
              </a:xfrm>
              <a:prstGeom prst="rect">
                <a:avLst/>
              </a:prstGeom>
              <a:blipFill>
                <a:blip r:embed="rId21"/>
                <a:stretch>
                  <a:fillRect b="-33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7" name="Rectangle 156"/>
              <p:cNvSpPr/>
              <p:nvPr/>
            </p:nvSpPr>
            <p:spPr>
              <a:xfrm>
                <a:off x="8316204" y="4576110"/>
                <a:ext cx="731739"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−1</m:t>
                          </m:r>
                          <m:r>
                            <a:rPr lang="en-IN" sz="1600" b="0" i="1" smtClean="0">
                              <a:latin typeface="Cambria Math" panose="02040503050406030204" pitchFamily="18" charset="0"/>
                            </a:rPr>
                            <m:t>𝑒</m:t>
                          </m:r>
                        </m:sub>
                      </m:sSub>
                    </m:oMath>
                  </m:oMathPara>
                </a14:m>
                <a:endParaRPr lang="en-IN" sz="1400" dirty="0">
                  <a:latin typeface="Arial Narrow" panose="020B0606020202030204" pitchFamily="34" charset="0"/>
                </a:endParaRPr>
              </a:p>
            </p:txBody>
          </p:sp>
        </mc:Choice>
        <mc:Fallback xmlns="">
          <p:sp>
            <p:nvSpPr>
              <p:cNvPr id="157" name="Rectangle 156"/>
              <p:cNvSpPr>
                <a:spLocks noRot="1" noChangeAspect="1" noMove="1" noResize="1" noEditPoints="1" noAdjustHandles="1" noChangeArrowheads="1" noChangeShapeType="1" noTextEdit="1"/>
              </p:cNvSpPr>
              <p:nvPr/>
            </p:nvSpPr>
            <p:spPr>
              <a:xfrm>
                <a:off x="8316204" y="4576110"/>
                <a:ext cx="731739" cy="357534"/>
              </a:xfrm>
              <a:prstGeom prst="rect">
                <a:avLst/>
              </a:prstGeom>
              <a:blipFill>
                <a:blip r:embed="rId22"/>
                <a:stretch>
                  <a:fillRect b="-344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8" name="Rectangle 157"/>
              <p:cNvSpPr/>
              <p:nvPr/>
            </p:nvSpPr>
            <p:spPr>
              <a:xfrm>
                <a:off x="9324242" y="5600991"/>
                <a:ext cx="566822"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 </m:t>
                          </m:r>
                          <m:r>
                            <a:rPr lang="en-IN" sz="1600" b="0" i="1" smtClean="0">
                              <a:latin typeface="Cambria Math" panose="02040503050406030204" pitchFamily="18" charset="0"/>
                            </a:rPr>
                            <m:t>𝑟</m:t>
                          </m:r>
                        </m:sub>
                      </m:sSub>
                    </m:oMath>
                  </m:oMathPara>
                </a14:m>
                <a:endParaRPr lang="en-IN" sz="1400" dirty="0">
                  <a:latin typeface="Arial Narrow" panose="020B0606020202030204" pitchFamily="34" charset="0"/>
                </a:endParaRPr>
              </a:p>
            </p:txBody>
          </p:sp>
        </mc:Choice>
        <mc:Fallback xmlns="">
          <p:sp>
            <p:nvSpPr>
              <p:cNvPr id="158" name="Rectangle 157"/>
              <p:cNvSpPr>
                <a:spLocks noRot="1" noChangeAspect="1" noMove="1" noResize="1" noEditPoints="1" noAdjustHandles="1" noChangeArrowheads="1" noChangeShapeType="1" noTextEdit="1"/>
              </p:cNvSpPr>
              <p:nvPr/>
            </p:nvSpPr>
            <p:spPr>
              <a:xfrm>
                <a:off x="9324242" y="5600991"/>
                <a:ext cx="566822" cy="357534"/>
              </a:xfrm>
              <a:prstGeom prst="rect">
                <a:avLst/>
              </a:prstGeom>
              <a:blipFill>
                <a:blip r:embed="rId23"/>
                <a:stretch>
                  <a:fillRect b="-344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9" name="Rectangle 158"/>
              <p:cNvSpPr/>
              <p:nvPr/>
            </p:nvSpPr>
            <p:spPr>
              <a:xfrm>
                <a:off x="7482261" y="5576805"/>
                <a:ext cx="570091"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 1</m:t>
                          </m:r>
                        </m:sub>
                      </m:sSub>
                    </m:oMath>
                  </m:oMathPara>
                </a14:m>
                <a:endParaRPr lang="en-IN" sz="1400" dirty="0">
                  <a:latin typeface="Arial Narrow" panose="020B0606020202030204" pitchFamily="34" charset="0"/>
                </a:endParaRPr>
              </a:p>
            </p:txBody>
          </p:sp>
        </mc:Choice>
        <mc:Fallback xmlns="">
          <p:sp>
            <p:nvSpPr>
              <p:cNvPr id="159" name="Rectangle 158"/>
              <p:cNvSpPr>
                <a:spLocks noRot="1" noChangeAspect="1" noMove="1" noResize="1" noEditPoints="1" noAdjustHandles="1" noChangeArrowheads="1" noChangeShapeType="1" noTextEdit="1"/>
              </p:cNvSpPr>
              <p:nvPr/>
            </p:nvSpPr>
            <p:spPr>
              <a:xfrm>
                <a:off x="7482261" y="5576805"/>
                <a:ext cx="570091" cy="357534"/>
              </a:xfrm>
              <a:prstGeom prst="rect">
                <a:avLst/>
              </a:prstGeom>
              <a:blipFill>
                <a:blip r:embed="rId24"/>
                <a:stretch>
                  <a:fillRect b="-344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0" name="Rectangle 159"/>
              <p:cNvSpPr/>
              <p:nvPr/>
            </p:nvSpPr>
            <p:spPr>
              <a:xfrm>
                <a:off x="8398223" y="5604474"/>
                <a:ext cx="541559"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𝑝</m:t>
                          </m:r>
                          <m:r>
                            <a:rPr lang="en-IN" sz="1600" b="0" i="1" smtClean="0">
                              <a:latin typeface="Cambria Math" panose="02040503050406030204" pitchFamily="18" charset="0"/>
                            </a:rPr>
                            <m:t> </m:t>
                          </m:r>
                          <m:r>
                            <a:rPr lang="en-IN" sz="1600" b="0" i="1" smtClean="0">
                              <a:latin typeface="Cambria Math" panose="02040503050406030204" pitchFamily="18" charset="0"/>
                            </a:rPr>
                            <m:t>𝑖</m:t>
                          </m:r>
                        </m:sub>
                      </m:sSub>
                    </m:oMath>
                  </m:oMathPara>
                </a14:m>
                <a:endParaRPr lang="en-IN" sz="1400" dirty="0">
                  <a:latin typeface="Arial Narrow" panose="020B0606020202030204" pitchFamily="34" charset="0"/>
                </a:endParaRPr>
              </a:p>
            </p:txBody>
          </p:sp>
        </mc:Choice>
        <mc:Fallback xmlns="">
          <p:sp>
            <p:nvSpPr>
              <p:cNvPr id="160" name="Rectangle 159"/>
              <p:cNvSpPr>
                <a:spLocks noRot="1" noChangeAspect="1" noMove="1" noResize="1" noEditPoints="1" noAdjustHandles="1" noChangeArrowheads="1" noChangeShapeType="1" noTextEdit="1"/>
              </p:cNvSpPr>
              <p:nvPr/>
            </p:nvSpPr>
            <p:spPr>
              <a:xfrm>
                <a:off x="8398223" y="5604474"/>
                <a:ext cx="541559" cy="357534"/>
              </a:xfrm>
              <a:prstGeom prst="rect">
                <a:avLst/>
              </a:prstGeom>
              <a:blipFill>
                <a:blip r:embed="rId25"/>
                <a:stretch>
                  <a:fillRect b="-3390"/>
                </a:stretch>
              </a:blipFill>
            </p:spPr>
            <p:txBody>
              <a:bodyPr/>
              <a:lstStyle/>
              <a:p>
                <a:r>
                  <a:rPr lang="en-IN">
                    <a:noFill/>
                  </a:rPr>
                  <a:t> </a:t>
                </a:r>
              </a:p>
            </p:txBody>
          </p:sp>
        </mc:Fallback>
      </mc:AlternateContent>
      <p:sp>
        <p:nvSpPr>
          <p:cNvPr id="161" name="Down Arrow 160"/>
          <p:cNvSpPr/>
          <p:nvPr/>
        </p:nvSpPr>
        <p:spPr>
          <a:xfrm>
            <a:off x="8533761" y="5028787"/>
            <a:ext cx="249513"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62" name="Down Arrow 161"/>
          <p:cNvSpPr/>
          <p:nvPr/>
        </p:nvSpPr>
        <p:spPr>
          <a:xfrm>
            <a:off x="9533415" y="5028787"/>
            <a:ext cx="249513"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63" name="Down Arrow 162"/>
          <p:cNvSpPr/>
          <p:nvPr/>
        </p:nvSpPr>
        <p:spPr>
          <a:xfrm>
            <a:off x="7512221" y="5035609"/>
            <a:ext cx="249513" cy="480758"/>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64" name="TextBox 163"/>
          <p:cNvSpPr txBox="1"/>
          <p:nvPr/>
        </p:nvSpPr>
        <p:spPr>
          <a:xfrm>
            <a:off x="5974445" y="4599151"/>
            <a:ext cx="1217000" cy="369332"/>
          </a:xfrm>
          <a:prstGeom prst="rect">
            <a:avLst/>
          </a:prstGeom>
          <a:noFill/>
        </p:spPr>
        <p:txBody>
          <a:bodyPr wrap="none" rtlCol="0">
            <a:spAutoFit/>
          </a:bodyPr>
          <a:lstStyle/>
          <a:p>
            <a:r>
              <a:rPr lang="en-IN" dirty="0">
                <a:latin typeface="Arial Narrow" panose="020B0606020202030204" pitchFamily="34" charset="0"/>
              </a:rPr>
              <a:t>(p-1)</a:t>
            </a:r>
            <a:r>
              <a:rPr lang="en-IN" baseline="30000" dirty="0" err="1">
                <a:latin typeface="Arial Narrow" panose="020B0606020202030204" pitchFamily="34" charset="0"/>
              </a:rPr>
              <a:t>th</a:t>
            </a:r>
            <a:r>
              <a:rPr lang="en-IN" dirty="0">
                <a:latin typeface="Arial Narrow" panose="020B0606020202030204" pitchFamily="34" charset="0"/>
              </a:rPr>
              <a:t> Layer</a:t>
            </a:r>
          </a:p>
        </p:txBody>
      </p:sp>
      <p:sp>
        <p:nvSpPr>
          <p:cNvPr id="165" name="TextBox 164"/>
          <p:cNvSpPr txBox="1"/>
          <p:nvPr/>
        </p:nvSpPr>
        <p:spPr>
          <a:xfrm>
            <a:off x="6328404" y="5597119"/>
            <a:ext cx="923651" cy="369332"/>
          </a:xfrm>
          <a:prstGeom prst="rect">
            <a:avLst/>
          </a:prstGeom>
          <a:noFill/>
        </p:spPr>
        <p:txBody>
          <a:bodyPr wrap="none" rtlCol="0">
            <a:spAutoFit/>
          </a:bodyPr>
          <a:lstStyle/>
          <a:p>
            <a:r>
              <a:rPr lang="en-IN" dirty="0" err="1">
                <a:latin typeface="Arial Narrow" panose="020B0606020202030204" pitchFamily="34" charset="0"/>
              </a:rPr>
              <a:t>p</a:t>
            </a:r>
            <a:r>
              <a:rPr lang="en-IN" baseline="30000" dirty="0" err="1">
                <a:latin typeface="Arial Narrow" panose="020B0606020202030204" pitchFamily="34" charset="0"/>
              </a:rPr>
              <a:t>th</a:t>
            </a:r>
            <a:r>
              <a:rPr lang="en-IN" dirty="0">
                <a:latin typeface="Arial Narrow" panose="020B0606020202030204" pitchFamily="34" charset="0"/>
              </a:rPr>
              <a:t> Layer</a:t>
            </a:r>
          </a:p>
        </p:txBody>
      </p:sp>
      <mc:AlternateContent xmlns:mc="http://schemas.openxmlformats.org/markup-compatibility/2006" xmlns:a14="http://schemas.microsoft.com/office/drawing/2010/main">
        <mc:Choice Requires="a14">
          <p:sp>
            <p:nvSpPr>
              <p:cNvPr id="166" name="Rectangle 165"/>
              <p:cNvSpPr/>
              <p:nvPr/>
            </p:nvSpPr>
            <p:spPr>
              <a:xfrm>
                <a:off x="7922987" y="5122301"/>
                <a:ext cx="518732" cy="367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IN" sz="1600" b="0" i="1" smtClean="0">
                              <a:latin typeface="Cambria Math" panose="02040503050406030204" pitchFamily="18" charset="0"/>
                            </a:rPr>
                          </m:ctrlPr>
                        </m:sSubSupPr>
                        <m:e>
                          <m:r>
                            <a:rPr lang="en-IN" sz="1600" i="1">
                              <a:latin typeface="Cambria Math" panose="02040503050406030204" pitchFamily="18" charset="0"/>
                            </a:rPr>
                            <m:t>𝑤</m:t>
                          </m:r>
                        </m:e>
                        <m:sub>
                          <m:r>
                            <a:rPr lang="en-IN" sz="1600" i="1">
                              <a:latin typeface="Cambria Math" panose="02040503050406030204" pitchFamily="18" charset="0"/>
                            </a:rPr>
                            <m:t>𝑒𝑖</m:t>
                          </m:r>
                        </m:sub>
                        <m:sup>
                          <m:r>
                            <a:rPr lang="en-IN" sz="1600" b="0" i="1" smtClean="0">
                              <a:latin typeface="Cambria Math" panose="02040503050406030204" pitchFamily="18" charset="0"/>
                            </a:rPr>
                            <m:t>𝑝</m:t>
                          </m:r>
                        </m:sup>
                      </m:sSubSup>
                    </m:oMath>
                  </m:oMathPara>
                </a14:m>
                <a:endParaRPr lang="en-IN" sz="1400" dirty="0">
                  <a:latin typeface="Arial Narrow" panose="020B0606020202030204" pitchFamily="34" charset="0"/>
                </a:endParaRPr>
              </a:p>
            </p:txBody>
          </p:sp>
        </mc:Choice>
        <mc:Fallback xmlns="">
          <p:sp>
            <p:nvSpPr>
              <p:cNvPr id="166" name="Rectangle 165"/>
              <p:cNvSpPr>
                <a:spLocks noRot="1" noChangeAspect="1" noMove="1" noResize="1" noEditPoints="1" noAdjustHandles="1" noChangeArrowheads="1" noChangeShapeType="1" noTextEdit="1"/>
              </p:cNvSpPr>
              <p:nvPr/>
            </p:nvSpPr>
            <p:spPr>
              <a:xfrm>
                <a:off x="7922987" y="5122301"/>
                <a:ext cx="518732" cy="367665"/>
              </a:xfrm>
              <a:prstGeom prst="rect">
                <a:avLst/>
              </a:prstGeom>
              <a:blipFill>
                <a:blip r:embed="rId26"/>
                <a:stretch>
                  <a:fillRect b="-1639"/>
                </a:stretch>
              </a:blipFill>
            </p:spPr>
            <p:txBody>
              <a:bodyPr/>
              <a:lstStyle/>
              <a:p>
                <a:r>
                  <a:rPr lang="en-IN">
                    <a:noFill/>
                  </a:rPr>
                  <a:t> </a:t>
                </a:r>
              </a:p>
            </p:txBody>
          </p:sp>
        </mc:Fallback>
      </mc:AlternateContent>
    </p:spTree>
    <p:extLst>
      <p:ext uri="{BB962C8B-B14F-4D97-AF65-F5344CB8AC3E}">
        <p14:creationId xmlns:p14="http://schemas.microsoft.com/office/powerpoint/2010/main" val="2733854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ounded Rectangle 179"/>
          <p:cNvSpPr/>
          <p:nvPr/>
        </p:nvSpPr>
        <p:spPr>
          <a:xfrm>
            <a:off x="7630631" y="1767722"/>
            <a:ext cx="4093012" cy="1243011"/>
          </a:xfrm>
          <a:prstGeom prst="roundRect">
            <a:avLst/>
          </a:prstGeom>
          <a:solidFill>
            <a:schemeClr val="accent1">
              <a:alpha val="0"/>
            </a:schemeClr>
          </a:solidFill>
          <a:ln w="158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806939" y="138830"/>
            <a:ext cx="10515600" cy="635000"/>
          </a:xfrm>
        </p:spPr>
        <p:txBody>
          <a:bodyPr>
            <a:normAutofit/>
          </a:bodyPr>
          <a:lstStyle/>
          <a:p>
            <a:r>
              <a:rPr lang="en-IN" sz="3600" dirty="0">
                <a:latin typeface="Century" panose="02040604050505020304" pitchFamily="18" charset="0"/>
              </a:rPr>
              <a:t>Forward Pass</a:t>
            </a:r>
          </a:p>
        </p:txBody>
      </p:sp>
      <p:sp>
        <p:nvSpPr>
          <p:cNvPr id="3" name="Content Placeholder 2"/>
          <p:cNvSpPr>
            <a:spLocks noGrp="1"/>
          </p:cNvSpPr>
          <p:nvPr>
            <p:ph idx="1"/>
          </p:nvPr>
        </p:nvSpPr>
        <p:spPr>
          <a:xfrm>
            <a:off x="838200" y="828637"/>
            <a:ext cx="9601200" cy="717550"/>
          </a:xfrm>
        </p:spPr>
        <p:txBody>
          <a:bodyPr>
            <a:normAutofit fontScale="92500" lnSpcReduction="10000"/>
          </a:bodyPr>
          <a:lstStyle/>
          <a:p>
            <a:pPr marL="0" lvl="1" indent="0">
              <a:buNone/>
            </a:pPr>
            <a:r>
              <a:rPr lang="en-IN" dirty="0">
                <a:solidFill>
                  <a:schemeClr val="accent5">
                    <a:lumMod val="75000"/>
                  </a:schemeClr>
                </a:solidFill>
                <a:latin typeface="Arial Narrow" panose="020B0606020202030204" pitchFamily="34" charset="0"/>
              </a:rPr>
              <a:t>4 Layers Neural Network </a:t>
            </a:r>
          </a:p>
          <a:p>
            <a:pPr marL="0" lvl="1" indent="0">
              <a:buNone/>
            </a:pPr>
            <a:r>
              <a:rPr lang="en-IN" dirty="0">
                <a:solidFill>
                  <a:schemeClr val="accent5">
                    <a:lumMod val="75000"/>
                  </a:schemeClr>
                </a:solidFill>
                <a:latin typeface="Arial Narrow" panose="020B0606020202030204" pitchFamily="34" charset="0"/>
              </a:rPr>
              <a:t>(One Input Layer, two Hidden Layers and one Output Layers)</a:t>
            </a:r>
          </a:p>
        </p:txBody>
      </p:sp>
      <p:grpSp>
        <p:nvGrpSpPr>
          <p:cNvPr id="4" name="Group 3"/>
          <p:cNvGrpSpPr/>
          <p:nvPr/>
        </p:nvGrpSpPr>
        <p:grpSpPr>
          <a:xfrm>
            <a:off x="3077913" y="1613299"/>
            <a:ext cx="4724967" cy="5185883"/>
            <a:chOff x="3077913" y="1613299"/>
            <a:chExt cx="4724967" cy="5185883"/>
          </a:xfrm>
        </p:grpSpPr>
        <p:sp>
          <p:nvSpPr>
            <p:cNvPr id="68" name="Rectangle 67"/>
            <p:cNvSpPr/>
            <p:nvPr/>
          </p:nvSpPr>
          <p:spPr>
            <a:xfrm>
              <a:off x="3213426" y="3238398"/>
              <a:ext cx="2769250" cy="9849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31" name="Rectangle 30"/>
            <p:cNvSpPr/>
            <p:nvPr/>
          </p:nvSpPr>
          <p:spPr>
            <a:xfrm>
              <a:off x="3480329" y="2782188"/>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32" name="Rectangle 31"/>
            <p:cNvSpPr/>
            <p:nvPr/>
          </p:nvSpPr>
          <p:spPr>
            <a:xfrm>
              <a:off x="5555480" y="2777726"/>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33" name="Rectangle 32"/>
            <p:cNvSpPr/>
            <p:nvPr/>
          </p:nvSpPr>
          <p:spPr>
            <a:xfrm>
              <a:off x="4894967" y="2790333"/>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34" name="Rectangle 33"/>
            <p:cNvSpPr/>
            <p:nvPr/>
          </p:nvSpPr>
          <p:spPr>
            <a:xfrm>
              <a:off x="4137428" y="2782188"/>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36" name="Right Brace 35"/>
            <p:cNvSpPr/>
            <p:nvPr/>
          </p:nvSpPr>
          <p:spPr>
            <a:xfrm rot="5400000" flipH="1">
              <a:off x="4579362" y="1430131"/>
              <a:ext cx="135664"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dirty="0"/>
            </a:p>
          </p:txBody>
        </p:sp>
        <p:sp>
          <p:nvSpPr>
            <p:cNvPr id="19" name="Rectangle 18"/>
            <p:cNvSpPr/>
            <p:nvPr/>
          </p:nvSpPr>
          <p:spPr>
            <a:xfrm>
              <a:off x="3428496" y="2184309"/>
              <a:ext cx="412460" cy="308912"/>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0" name="Rectangle 19"/>
            <p:cNvSpPr/>
            <p:nvPr/>
          </p:nvSpPr>
          <p:spPr>
            <a:xfrm>
              <a:off x="4146604" y="2176463"/>
              <a:ext cx="444446" cy="318430"/>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1" name="Rectangle 20"/>
            <p:cNvSpPr/>
            <p:nvPr/>
          </p:nvSpPr>
          <p:spPr>
            <a:xfrm>
              <a:off x="4824215" y="2174782"/>
              <a:ext cx="462430" cy="311241"/>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2" name="Rectangle 21"/>
            <p:cNvSpPr/>
            <p:nvPr/>
          </p:nvSpPr>
          <p:spPr>
            <a:xfrm>
              <a:off x="5453876" y="2174783"/>
              <a:ext cx="417014" cy="308912"/>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4" name="Right Brace 23"/>
            <p:cNvSpPr/>
            <p:nvPr/>
          </p:nvSpPr>
          <p:spPr>
            <a:xfrm rot="5400000">
              <a:off x="4606180" y="1216569"/>
              <a:ext cx="84117"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25" name="Right Brace 24"/>
            <p:cNvSpPr/>
            <p:nvPr/>
          </p:nvSpPr>
          <p:spPr>
            <a:xfrm rot="5400000" flipH="1">
              <a:off x="4582439" y="847928"/>
              <a:ext cx="135664"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dirty="0"/>
            </a:p>
          </p:txBody>
        </p:sp>
        <p:sp>
          <p:nvSpPr>
            <p:cNvPr id="7" name="Oval 6"/>
            <p:cNvSpPr/>
            <p:nvPr/>
          </p:nvSpPr>
          <p:spPr>
            <a:xfrm>
              <a:off x="5549301"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8" name="Oval 7"/>
            <p:cNvSpPr/>
            <p:nvPr/>
          </p:nvSpPr>
          <p:spPr>
            <a:xfrm>
              <a:off x="4834928"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9" name="Oval 8"/>
            <p:cNvSpPr/>
            <p:nvPr/>
          </p:nvSpPr>
          <p:spPr>
            <a:xfrm>
              <a:off x="3406182"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10" name="Oval 9"/>
            <p:cNvSpPr/>
            <p:nvPr/>
          </p:nvSpPr>
          <p:spPr>
            <a:xfrm>
              <a:off x="4120555"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mc:AlternateContent xmlns:mc="http://schemas.openxmlformats.org/markup-compatibility/2006" xmlns:a14="http://schemas.microsoft.com/office/drawing/2010/main">
          <mc:Choice Requires="a14">
            <p:sp>
              <p:nvSpPr>
                <p:cNvPr id="11" name="TextBox 10"/>
                <p:cNvSpPr txBox="1"/>
                <p:nvPr/>
              </p:nvSpPr>
              <p:spPr>
                <a:xfrm>
                  <a:off x="3443385" y="1613299"/>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1</m:t>
                            </m:r>
                          </m:sub>
                        </m:sSub>
                      </m:oMath>
                    </m:oMathPara>
                  </a14:m>
                  <a:endParaRPr lang="en-IN" dirty="0"/>
                </a:p>
              </p:txBody>
            </p:sp>
          </mc:Choice>
          <mc:Fallback xmlns="">
            <p:sp>
              <p:nvSpPr>
                <p:cNvPr id="11" name="TextBox 10"/>
                <p:cNvSpPr txBox="1">
                  <a:spLocks noRot="1" noChangeAspect="1" noMove="1" noResize="1" noEditPoints="1" noAdjustHandles="1" noChangeArrowheads="1" noChangeShapeType="1" noTextEdit="1"/>
                </p:cNvSpPr>
                <p:nvPr/>
              </p:nvSpPr>
              <p:spPr>
                <a:xfrm>
                  <a:off x="3443385" y="1613299"/>
                  <a:ext cx="357931" cy="276999"/>
                </a:xfrm>
                <a:prstGeom prst="rect">
                  <a:avLst/>
                </a:prstGeom>
                <a:blipFill>
                  <a:blip r:embed="rId2"/>
                  <a:stretch>
                    <a:fillRect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142330" y="1619711"/>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2</m:t>
                            </m:r>
                          </m:sub>
                        </m:sSub>
                      </m:oMath>
                    </m:oMathPara>
                  </a14:m>
                  <a:endParaRPr lang="en-IN" sz="1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4142330" y="1619711"/>
                  <a:ext cx="357931" cy="276999"/>
                </a:xfrm>
                <a:prstGeom prst="rect">
                  <a:avLst/>
                </a:prstGeom>
                <a:blipFill>
                  <a:blip r:embed="rId3"/>
                  <a:stretch>
                    <a:fillRect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871594" y="1613299"/>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3</m:t>
                            </m:r>
                          </m:sub>
                        </m:sSub>
                      </m:oMath>
                    </m:oMathPara>
                  </a14:m>
                  <a:endParaRPr lang="en-IN" dirty="0"/>
                </a:p>
              </p:txBody>
            </p:sp>
          </mc:Choice>
          <mc:Fallback xmlns="">
            <p:sp>
              <p:nvSpPr>
                <p:cNvPr id="13" name="TextBox 12"/>
                <p:cNvSpPr txBox="1">
                  <a:spLocks noRot="1" noChangeAspect="1" noMove="1" noResize="1" noEditPoints="1" noAdjustHandles="1" noChangeArrowheads="1" noChangeShapeType="1" noTextEdit="1"/>
                </p:cNvSpPr>
                <p:nvPr/>
              </p:nvSpPr>
              <p:spPr>
                <a:xfrm>
                  <a:off x="4871594" y="1613299"/>
                  <a:ext cx="357931" cy="276999"/>
                </a:xfrm>
                <a:prstGeom prst="rect">
                  <a:avLst/>
                </a:prstGeom>
                <a:blipFill>
                  <a:blip r:embed="rId4"/>
                  <a:stretch>
                    <a:fillRect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5545676" y="1613299"/>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4</m:t>
                            </m:r>
                          </m:sub>
                        </m:sSub>
                      </m:oMath>
                    </m:oMathPara>
                  </a14:m>
                  <a:endParaRPr lang="en-IN" dirty="0"/>
                </a:p>
              </p:txBody>
            </p:sp>
          </mc:Choice>
          <mc:Fallback xmlns="">
            <p:sp>
              <p:nvSpPr>
                <p:cNvPr id="14" name="TextBox 13"/>
                <p:cNvSpPr txBox="1">
                  <a:spLocks noRot="1" noChangeAspect="1" noMove="1" noResize="1" noEditPoints="1" noAdjustHandles="1" noChangeArrowheads="1" noChangeShapeType="1" noTextEdit="1"/>
                </p:cNvSpPr>
                <p:nvPr/>
              </p:nvSpPr>
              <p:spPr>
                <a:xfrm>
                  <a:off x="5545676" y="1613299"/>
                  <a:ext cx="357931" cy="276999"/>
                </a:xfrm>
                <a:prstGeom prst="rect">
                  <a:avLst/>
                </a:prstGeom>
                <a:blipFill>
                  <a:blip r:embed="rId5"/>
                  <a:stretch>
                    <a:fillRect b="-15556"/>
                  </a:stretch>
                </a:blipFill>
              </p:spPr>
              <p:txBody>
                <a:bodyPr/>
                <a:lstStyle/>
                <a:p>
                  <a:r>
                    <a:rPr lang="en-IN">
                      <a:noFill/>
                    </a:rPr>
                    <a:t> </a:t>
                  </a:r>
                </a:p>
              </p:txBody>
            </p:sp>
          </mc:Fallback>
        </mc:AlternateContent>
        <p:sp>
          <p:nvSpPr>
            <p:cNvPr id="17" name="Right Brace 16"/>
            <p:cNvSpPr/>
            <p:nvPr/>
          </p:nvSpPr>
          <p:spPr>
            <a:xfrm rot="5400000">
              <a:off x="4497962" y="616251"/>
              <a:ext cx="306902"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18" name="Down Arrow 17"/>
            <p:cNvSpPr/>
            <p:nvPr/>
          </p:nvSpPr>
          <p:spPr>
            <a:xfrm>
              <a:off x="4545195" y="1912373"/>
              <a:ext cx="212436" cy="239091"/>
            </a:xfrm>
            <a:prstGeom prst="downArrow">
              <a:avLst/>
            </a:prstGeom>
            <a:solidFill>
              <a:schemeClr val="accent1">
                <a:lumMod val="60000"/>
                <a:lumOff val="40000"/>
              </a:schemeClr>
            </a:solidFill>
            <a:ln w="12700">
              <a:solidFill>
                <a:srgbClr val="FF0000">
                  <a:alpha val="9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6" name="Down Arrow 25"/>
            <p:cNvSpPr/>
            <p:nvPr/>
          </p:nvSpPr>
          <p:spPr>
            <a:xfrm>
              <a:off x="4542020" y="2518051"/>
              <a:ext cx="212436" cy="215389"/>
            </a:xfrm>
            <a:prstGeom prst="downArrow">
              <a:avLst/>
            </a:prstGeom>
            <a:solidFill>
              <a:schemeClr val="accent1">
                <a:lumMod val="60000"/>
                <a:lumOff val="40000"/>
              </a:schemeClr>
            </a:solidFill>
            <a:ln w="12700">
              <a:solidFill>
                <a:srgbClr val="FF0000">
                  <a:alpha val="9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mc:AlternateContent xmlns:mc="http://schemas.openxmlformats.org/markup-compatibility/2006" xmlns:a14="http://schemas.microsoft.com/office/drawing/2010/main">
          <mc:Choice Requires="a14">
            <p:sp>
              <p:nvSpPr>
                <p:cNvPr id="27" name="TextBox 26"/>
                <p:cNvSpPr txBox="1"/>
                <p:nvPr/>
              </p:nvSpPr>
              <p:spPr>
                <a:xfrm>
                  <a:off x="3445281" y="2166994"/>
                  <a:ext cx="397865" cy="3075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1</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27" name="TextBox 26"/>
                <p:cNvSpPr txBox="1">
                  <a:spLocks noRot="1" noChangeAspect="1" noMove="1" noResize="1" noEditPoints="1" noAdjustHandles="1" noChangeArrowheads="1" noChangeShapeType="1" noTextEdit="1"/>
                </p:cNvSpPr>
                <p:nvPr/>
              </p:nvSpPr>
              <p:spPr>
                <a:xfrm>
                  <a:off x="3445281" y="2166994"/>
                  <a:ext cx="397865" cy="307520"/>
                </a:xfrm>
                <a:prstGeom prst="rect">
                  <a:avLst/>
                </a:prstGeom>
                <a:blipFill>
                  <a:blip r:embed="rId6"/>
                  <a:stretch>
                    <a:fillRect l="-16923" r="-10769" b="-235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490775" y="2162641"/>
                  <a:ext cx="397866" cy="3072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4</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28" name="TextBox 27"/>
                <p:cNvSpPr txBox="1">
                  <a:spLocks noRot="1" noChangeAspect="1" noMove="1" noResize="1" noEditPoints="1" noAdjustHandles="1" noChangeArrowheads="1" noChangeShapeType="1" noTextEdit="1"/>
                </p:cNvSpPr>
                <p:nvPr/>
              </p:nvSpPr>
              <p:spPr>
                <a:xfrm>
                  <a:off x="5490775" y="2162641"/>
                  <a:ext cx="397866" cy="307264"/>
                </a:xfrm>
                <a:prstGeom prst="rect">
                  <a:avLst/>
                </a:prstGeom>
                <a:blipFill>
                  <a:blip r:embed="rId7"/>
                  <a:stretch>
                    <a:fillRect l="-18462" r="-9231" b="-24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4889301" y="2171455"/>
                  <a:ext cx="397866" cy="3090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3</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29" name="TextBox 28"/>
                <p:cNvSpPr txBox="1">
                  <a:spLocks noRot="1" noChangeAspect="1" noMove="1" noResize="1" noEditPoints="1" noAdjustHandles="1" noChangeArrowheads="1" noChangeShapeType="1" noTextEdit="1"/>
                </p:cNvSpPr>
                <p:nvPr/>
              </p:nvSpPr>
              <p:spPr>
                <a:xfrm>
                  <a:off x="4889301" y="2171455"/>
                  <a:ext cx="397866" cy="309059"/>
                </a:xfrm>
                <a:prstGeom prst="rect">
                  <a:avLst/>
                </a:prstGeom>
                <a:blipFill>
                  <a:blip r:embed="rId8"/>
                  <a:stretch>
                    <a:fillRect l="-16923" r="-10769" b="-235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4201695" y="2177958"/>
                  <a:ext cx="39786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2</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30" name="TextBox 29"/>
                <p:cNvSpPr txBox="1">
                  <a:spLocks noRot="1" noChangeAspect="1" noMove="1" noResize="1" noEditPoints="1" noAdjustHandles="1" noChangeArrowheads="1" noChangeShapeType="1" noTextEdit="1"/>
                </p:cNvSpPr>
                <p:nvPr/>
              </p:nvSpPr>
              <p:spPr>
                <a:xfrm>
                  <a:off x="4201695" y="2177958"/>
                  <a:ext cx="397866" cy="307777"/>
                </a:xfrm>
                <a:prstGeom prst="rect">
                  <a:avLst/>
                </a:prstGeom>
                <a:blipFill>
                  <a:blip r:embed="rId9"/>
                  <a:stretch>
                    <a:fillRect l="-16667" r="-9091" b="-23529"/>
                  </a:stretch>
                </a:blipFill>
              </p:spPr>
              <p:txBody>
                <a:bodyPr/>
                <a:lstStyle/>
                <a:p>
                  <a:r>
                    <a:rPr lang="en-IN">
                      <a:noFill/>
                    </a:rPr>
                    <a:t> </a:t>
                  </a:r>
                </a:p>
              </p:txBody>
            </p:sp>
          </mc:Fallback>
        </mc:AlternateContent>
        <p:sp>
          <p:nvSpPr>
            <p:cNvPr id="37" name="Oval 36"/>
            <p:cNvSpPr/>
            <p:nvPr/>
          </p:nvSpPr>
          <p:spPr>
            <a:xfrm>
              <a:off x="3878703" y="3314880"/>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41" name="Oval 40"/>
            <p:cNvSpPr/>
            <p:nvPr/>
          </p:nvSpPr>
          <p:spPr>
            <a:xfrm>
              <a:off x="4995430" y="3315374"/>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42" name="Oval 41"/>
            <p:cNvSpPr/>
            <p:nvPr/>
          </p:nvSpPr>
          <p:spPr>
            <a:xfrm>
              <a:off x="3882726" y="3765108"/>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43" name="Oval 42"/>
            <p:cNvSpPr/>
            <p:nvPr/>
          </p:nvSpPr>
          <p:spPr>
            <a:xfrm>
              <a:off x="5000192" y="3749416"/>
              <a:ext cx="364913" cy="332552"/>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cxnSp>
          <p:nvCxnSpPr>
            <p:cNvPr id="45" name="Straight Arrow Connector 44"/>
            <p:cNvCxnSpPr>
              <a:stCxn id="31" idx="2"/>
              <a:endCxn id="37" idx="0"/>
            </p:cNvCxnSpPr>
            <p:nvPr/>
          </p:nvCxnSpPr>
          <p:spPr>
            <a:xfrm>
              <a:off x="3614558" y="3055953"/>
              <a:ext cx="443748" cy="25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4" idx="2"/>
              <a:endCxn id="37" idx="0"/>
            </p:cNvCxnSpPr>
            <p:nvPr/>
          </p:nvCxnSpPr>
          <p:spPr>
            <a:xfrm flipH="1">
              <a:off x="4058306" y="3055953"/>
              <a:ext cx="213351" cy="25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1" idx="2"/>
              <a:endCxn id="41" idx="0"/>
            </p:cNvCxnSpPr>
            <p:nvPr/>
          </p:nvCxnSpPr>
          <p:spPr>
            <a:xfrm>
              <a:off x="3614558" y="3055953"/>
              <a:ext cx="1560475" cy="25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2"/>
              <a:endCxn id="41" idx="0"/>
            </p:cNvCxnSpPr>
            <p:nvPr/>
          </p:nvCxnSpPr>
          <p:spPr>
            <a:xfrm>
              <a:off x="4271657" y="3055953"/>
              <a:ext cx="903376" cy="25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3" idx="2"/>
              <a:endCxn id="41" idx="0"/>
            </p:cNvCxnSpPr>
            <p:nvPr/>
          </p:nvCxnSpPr>
          <p:spPr>
            <a:xfrm>
              <a:off x="5029196" y="3064098"/>
              <a:ext cx="145837" cy="251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2" idx="2"/>
              <a:endCxn id="41" idx="0"/>
            </p:cNvCxnSpPr>
            <p:nvPr/>
          </p:nvCxnSpPr>
          <p:spPr>
            <a:xfrm flipH="1">
              <a:off x="5175033" y="3051491"/>
              <a:ext cx="514676" cy="263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33" idx="2"/>
              <a:endCxn id="37" idx="0"/>
            </p:cNvCxnSpPr>
            <p:nvPr/>
          </p:nvCxnSpPr>
          <p:spPr>
            <a:xfrm flipH="1">
              <a:off x="4058306" y="3064098"/>
              <a:ext cx="970890" cy="25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32" idx="2"/>
              <a:endCxn id="37" idx="0"/>
            </p:cNvCxnSpPr>
            <p:nvPr/>
          </p:nvCxnSpPr>
          <p:spPr>
            <a:xfrm flipH="1">
              <a:off x="4058306" y="3051491"/>
              <a:ext cx="1631403" cy="263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41" idx="4"/>
              <a:endCxn id="43" idx="0"/>
            </p:cNvCxnSpPr>
            <p:nvPr/>
          </p:nvCxnSpPr>
          <p:spPr>
            <a:xfrm>
              <a:off x="5175033" y="3631062"/>
              <a:ext cx="7616" cy="118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7" idx="4"/>
              <a:endCxn id="42" idx="0"/>
            </p:cNvCxnSpPr>
            <p:nvPr/>
          </p:nvCxnSpPr>
          <p:spPr>
            <a:xfrm>
              <a:off x="4058306" y="3630568"/>
              <a:ext cx="4023" cy="13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TextBox 68"/>
                <p:cNvSpPr txBox="1"/>
                <p:nvPr/>
              </p:nvSpPr>
              <p:spPr>
                <a:xfrm>
                  <a:off x="3881264" y="3330198"/>
                  <a:ext cx="342437"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69" name="TextBox 68"/>
                <p:cNvSpPr txBox="1">
                  <a:spLocks noRot="1" noChangeAspect="1" noMove="1" noResize="1" noEditPoints="1" noAdjustHandles="1" noChangeArrowheads="1" noChangeShapeType="1" noTextEdit="1"/>
                </p:cNvSpPr>
                <p:nvPr/>
              </p:nvSpPr>
              <p:spPr>
                <a:xfrm>
                  <a:off x="3881264" y="3330198"/>
                  <a:ext cx="342437" cy="268984"/>
                </a:xfrm>
                <a:prstGeom prst="rect">
                  <a:avLst/>
                </a:prstGeom>
                <a:blipFill>
                  <a:blip r:embed="rId10"/>
                  <a:stretch>
                    <a:fillRect l="-5357" t="-2273" r="-7143"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5006507" y="3322297"/>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5006507" y="3322297"/>
                  <a:ext cx="377649" cy="269241"/>
                </a:xfrm>
                <a:prstGeom prst="rect">
                  <a:avLst/>
                </a:prstGeom>
                <a:blipFill>
                  <a:blip r:embed="rId11"/>
                  <a:stretch>
                    <a:fillRect t="-4545" r="-3226"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3873556" y="3775187"/>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smtClean="0">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3873556" y="3775187"/>
                  <a:ext cx="377649" cy="268984"/>
                </a:xfrm>
                <a:prstGeom prst="rect">
                  <a:avLst/>
                </a:prstGeom>
                <a:blipFill>
                  <a:blip r:embed="rId12"/>
                  <a:stretch>
                    <a:fillRect l="-11290" t="-2273" r="-6452" b="-2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4993823" y="3770921"/>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4993823" y="3770921"/>
                  <a:ext cx="377649" cy="269241"/>
                </a:xfrm>
                <a:prstGeom prst="rect">
                  <a:avLst/>
                </a:prstGeom>
                <a:blipFill>
                  <a:blip r:embed="rId13"/>
                  <a:stretch>
                    <a:fillRect l="-11290" t="-4545" r="-6452" b="-22727"/>
                  </a:stretch>
                </a:blipFill>
              </p:spPr>
              <p:txBody>
                <a:bodyPr/>
                <a:lstStyle/>
                <a:p>
                  <a:r>
                    <a:rPr lang="en-IN">
                      <a:noFill/>
                    </a:rPr>
                    <a:t> </a:t>
                  </a:r>
                </a:p>
              </p:txBody>
            </p:sp>
          </mc:Fallback>
        </mc:AlternateContent>
        <p:sp>
          <p:nvSpPr>
            <p:cNvPr id="127" name="Left Bracket 126"/>
            <p:cNvSpPr/>
            <p:nvPr/>
          </p:nvSpPr>
          <p:spPr>
            <a:xfrm rot="16200000">
              <a:off x="4617130" y="1759451"/>
              <a:ext cx="56857" cy="2613115"/>
            </a:xfrm>
            <a:prstGeom prst="leftBracket">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128" name="Rectangle 127"/>
            <p:cNvSpPr/>
            <p:nvPr/>
          </p:nvSpPr>
          <p:spPr>
            <a:xfrm>
              <a:off x="3198584" y="4329933"/>
              <a:ext cx="2784092" cy="915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129" name="Oval 128"/>
            <p:cNvSpPr/>
            <p:nvPr/>
          </p:nvSpPr>
          <p:spPr>
            <a:xfrm>
              <a:off x="3867253" y="4417209"/>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30" name="Oval 129"/>
            <p:cNvSpPr/>
            <p:nvPr/>
          </p:nvSpPr>
          <p:spPr>
            <a:xfrm>
              <a:off x="4983980" y="4417703"/>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31" name="Oval 130"/>
            <p:cNvSpPr/>
            <p:nvPr/>
          </p:nvSpPr>
          <p:spPr>
            <a:xfrm>
              <a:off x="3871276" y="4867437"/>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32" name="Oval 131"/>
            <p:cNvSpPr/>
            <p:nvPr/>
          </p:nvSpPr>
          <p:spPr>
            <a:xfrm>
              <a:off x="4988743" y="4867437"/>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cxnSp>
          <p:nvCxnSpPr>
            <p:cNvPr id="133" name="Straight Arrow Connector 132"/>
            <p:cNvCxnSpPr>
              <a:stCxn id="130" idx="4"/>
              <a:endCxn id="132" idx="0"/>
            </p:cNvCxnSpPr>
            <p:nvPr/>
          </p:nvCxnSpPr>
          <p:spPr>
            <a:xfrm>
              <a:off x="5184068" y="4750780"/>
              <a:ext cx="4763" cy="116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a:stCxn id="129" idx="4"/>
              <a:endCxn id="131" idx="0"/>
            </p:cNvCxnSpPr>
            <p:nvPr/>
          </p:nvCxnSpPr>
          <p:spPr>
            <a:xfrm>
              <a:off x="4067341" y="4750286"/>
              <a:ext cx="4023" cy="117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5" name="TextBox 134"/>
                <p:cNvSpPr txBox="1"/>
                <p:nvPr/>
              </p:nvSpPr>
              <p:spPr>
                <a:xfrm>
                  <a:off x="3878877" y="4431336"/>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35" name="TextBox 134"/>
                <p:cNvSpPr txBox="1">
                  <a:spLocks noRot="1" noChangeAspect="1" noMove="1" noResize="1" noEditPoints="1" noAdjustHandles="1" noChangeArrowheads="1" noChangeShapeType="1" noTextEdit="1"/>
                </p:cNvSpPr>
                <p:nvPr/>
              </p:nvSpPr>
              <p:spPr>
                <a:xfrm>
                  <a:off x="3878877" y="4431336"/>
                  <a:ext cx="377649" cy="268984"/>
                </a:xfrm>
                <a:prstGeom prst="rect">
                  <a:avLst/>
                </a:prstGeom>
                <a:blipFill>
                  <a:blip r:embed="rId14"/>
                  <a:stretch>
                    <a:fillRect t="-4545" r="-3226"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6" name="TextBox 135"/>
                <p:cNvSpPr txBox="1"/>
                <p:nvPr/>
              </p:nvSpPr>
              <p:spPr>
                <a:xfrm>
                  <a:off x="4976987" y="4417222"/>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36" name="TextBox 135"/>
                <p:cNvSpPr txBox="1">
                  <a:spLocks noRot="1" noChangeAspect="1" noMove="1" noResize="1" noEditPoints="1" noAdjustHandles="1" noChangeArrowheads="1" noChangeShapeType="1" noTextEdit="1"/>
                </p:cNvSpPr>
                <p:nvPr/>
              </p:nvSpPr>
              <p:spPr>
                <a:xfrm>
                  <a:off x="4976987" y="4417222"/>
                  <a:ext cx="377649" cy="269241"/>
                </a:xfrm>
                <a:prstGeom prst="rect">
                  <a:avLst/>
                </a:prstGeom>
                <a:blipFill>
                  <a:blip r:embed="rId11"/>
                  <a:stretch>
                    <a:fillRect t="-4545" r="-3226"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7" name="TextBox 136"/>
                <p:cNvSpPr txBox="1"/>
                <p:nvPr/>
              </p:nvSpPr>
              <p:spPr>
                <a:xfrm>
                  <a:off x="3897790" y="4889001"/>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smtClean="0">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37" name="TextBox 136"/>
                <p:cNvSpPr txBox="1">
                  <a:spLocks noRot="1" noChangeAspect="1" noMove="1" noResize="1" noEditPoints="1" noAdjustHandles="1" noChangeArrowheads="1" noChangeShapeType="1" noTextEdit="1"/>
                </p:cNvSpPr>
                <p:nvPr/>
              </p:nvSpPr>
              <p:spPr>
                <a:xfrm>
                  <a:off x="3897790" y="4889001"/>
                  <a:ext cx="377649" cy="268984"/>
                </a:xfrm>
                <a:prstGeom prst="rect">
                  <a:avLst/>
                </a:prstGeom>
                <a:blipFill>
                  <a:blip r:embed="rId12"/>
                  <a:stretch>
                    <a:fillRect l="-11290" t="-2273" r="-6452" b="-2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8" name="TextBox 137"/>
                <p:cNvSpPr txBox="1"/>
                <p:nvPr/>
              </p:nvSpPr>
              <p:spPr>
                <a:xfrm>
                  <a:off x="5008860" y="4887836"/>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38" name="TextBox 137"/>
                <p:cNvSpPr txBox="1">
                  <a:spLocks noRot="1" noChangeAspect="1" noMove="1" noResize="1" noEditPoints="1" noAdjustHandles="1" noChangeArrowheads="1" noChangeShapeType="1" noTextEdit="1"/>
                </p:cNvSpPr>
                <p:nvPr/>
              </p:nvSpPr>
              <p:spPr>
                <a:xfrm>
                  <a:off x="5008860" y="4887836"/>
                  <a:ext cx="377649" cy="269241"/>
                </a:xfrm>
                <a:prstGeom prst="rect">
                  <a:avLst/>
                </a:prstGeom>
                <a:blipFill>
                  <a:blip r:embed="rId15"/>
                  <a:stretch>
                    <a:fillRect l="-12903" t="-4545" r="-4839" b="-22727"/>
                  </a:stretch>
                </a:blipFill>
              </p:spPr>
              <p:txBody>
                <a:bodyPr/>
                <a:lstStyle/>
                <a:p>
                  <a:r>
                    <a:rPr lang="en-IN">
                      <a:noFill/>
                    </a:rPr>
                    <a:t> </a:t>
                  </a:r>
                </a:p>
              </p:txBody>
            </p:sp>
          </mc:Fallback>
        </mc:AlternateContent>
        <p:cxnSp>
          <p:nvCxnSpPr>
            <p:cNvPr id="140" name="Straight Arrow Connector 139"/>
            <p:cNvCxnSpPr>
              <a:stCxn id="43" idx="4"/>
              <a:endCxn id="129" idx="0"/>
            </p:cNvCxnSpPr>
            <p:nvPr/>
          </p:nvCxnSpPr>
          <p:spPr>
            <a:xfrm flipH="1">
              <a:off x="4067341" y="4081968"/>
              <a:ext cx="1115308" cy="335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a:stCxn id="42" idx="4"/>
              <a:endCxn id="130" idx="0"/>
            </p:cNvCxnSpPr>
            <p:nvPr/>
          </p:nvCxnSpPr>
          <p:spPr>
            <a:xfrm>
              <a:off x="4062329" y="4080796"/>
              <a:ext cx="1121739" cy="3369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42" idx="4"/>
              <a:endCxn id="129" idx="0"/>
            </p:cNvCxnSpPr>
            <p:nvPr/>
          </p:nvCxnSpPr>
          <p:spPr>
            <a:xfrm>
              <a:off x="4062329" y="4080796"/>
              <a:ext cx="5012" cy="336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p:cNvCxnSpPr>
              <a:stCxn id="43" idx="4"/>
              <a:endCxn id="130" idx="0"/>
            </p:cNvCxnSpPr>
            <p:nvPr/>
          </p:nvCxnSpPr>
          <p:spPr>
            <a:xfrm>
              <a:off x="5182649" y="4081968"/>
              <a:ext cx="1419" cy="335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9" name="Oval 148"/>
            <p:cNvSpPr/>
            <p:nvPr/>
          </p:nvSpPr>
          <p:spPr>
            <a:xfrm>
              <a:off x="4474939" y="5425401"/>
              <a:ext cx="352947" cy="366713"/>
            </a:xfrm>
            <a:prstGeom prst="ellipse">
              <a:avLst/>
            </a:prstGeom>
            <a:solidFill>
              <a:schemeClr val="accent6"/>
            </a:solidFill>
            <a:ln w="19050">
              <a:solidFill>
                <a:srgbClr val="00B050">
                  <a:alpha val="1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cxnSp>
          <p:nvCxnSpPr>
            <p:cNvPr id="151" name="Straight Arrow Connector 150"/>
            <p:cNvCxnSpPr>
              <a:stCxn id="132" idx="4"/>
              <a:endCxn id="149" idx="0"/>
            </p:cNvCxnSpPr>
            <p:nvPr/>
          </p:nvCxnSpPr>
          <p:spPr>
            <a:xfrm flipH="1">
              <a:off x="4651413" y="5200514"/>
              <a:ext cx="537418" cy="224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a:stCxn id="131" idx="4"/>
              <a:endCxn id="149" idx="0"/>
            </p:cNvCxnSpPr>
            <p:nvPr/>
          </p:nvCxnSpPr>
          <p:spPr>
            <a:xfrm>
              <a:off x="4071364" y="5200514"/>
              <a:ext cx="580049" cy="224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6" name="Right Brace 155"/>
            <p:cNvSpPr/>
            <p:nvPr/>
          </p:nvSpPr>
          <p:spPr>
            <a:xfrm>
              <a:off x="6015073" y="1767722"/>
              <a:ext cx="107950" cy="132671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57" name="TextBox 156"/>
            <p:cNvSpPr txBox="1"/>
            <p:nvPr/>
          </p:nvSpPr>
          <p:spPr>
            <a:xfrm>
              <a:off x="6169152" y="2240877"/>
              <a:ext cx="1236236" cy="400110"/>
            </a:xfrm>
            <a:prstGeom prst="rect">
              <a:avLst/>
            </a:prstGeom>
            <a:noFill/>
          </p:spPr>
          <p:txBody>
            <a:bodyPr wrap="none" rtlCol="0">
              <a:spAutoFit/>
            </a:bodyPr>
            <a:lstStyle/>
            <a:p>
              <a:r>
                <a:rPr lang="en-IN" sz="2000" dirty="0">
                  <a:latin typeface="Arial Narrow" panose="020B0606020202030204" pitchFamily="34" charset="0"/>
                </a:rPr>
                <a:t>Input Layer</a:t>
              </a:r>
            </a:p>
          </p:txBody>
        </p:sp>
        <p:sp>
          <p:nvSpPr>
            <p:cNvPr id="158" name="Right Brace 157"/>
            <p:cNvSpPr/>
            <p:nvPr/>
          </p:nvSpPr>
          <p:spPr>
            <a:xfrm>
              <a:off x="6014112" y="3199060"/>
              <a:ext cx="92728" cy="97567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59" name="Right Brace 158"/>
            <p:cNvSpPr/>
            <p:nvPr/>
          </p:nvSpPr>
          <p:spPr>
            <a:xfrm>
              <a:off x="6007215" y="4281771"/>
              <a:ext cx="92728" cy="97567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60" name="TextBox 159"/>
            <p:cNvSpPr txBox="1"/>
            <p:nvPr/>
          </p:nvSpPr>
          <p:spPr>
            <a:xfrm>
              <a:off x="6124216" y="3494561"/>
              <a:ext cx="1611339" cy="400110"/>
            </a:xfrm>
            <a:prstGeom prst="rect">
              <a:avLst/>
            </a:prstGeom>
            <a:noFill/>
          </p:spPr>
          <p:txBody>
            <a:bodyPr wrap="none" rtlCol="0">
              <a:spAutoFit/>
            </a:bodyPr>
            <a:lstStyle/>
            <a:p>
              <a:r>
                <a:rPr lang="en-IN" sz="2000" dirty="0">
                  <a:latin typeface="Arial Narrow" panose="020B0606020202030204" pitchFamily="34" charset="0"/>
                </a:rPr>
                <a:t>Hidden Layer 1</a:t>
              </a:r>
            </a:p>
          </p:txBody>
        </p:sp>
        <p:sp>
          <p:nvSpPr>
            <p:cNvPr id="161" name="TextBox 160"/>
            <p:cNvSpPr txBox="1"/>
            <p:nvPr/>
          </p:nvSpPr>
          <p:spPr>
            <a:xfrm>
              <a:off x="6086408" y="4584943"/>
              <a:ext cx="1611339" cy="400110"/>
            </a:xfrm>
            <a:prstGeom prst="rect">
              <a:avLst/>
            </a:prstGeom>
            <a:noFill/>
          </p:spPr>
          <p:txBody>
            <a:bodyPr wrap="none" rtlCol="0">
              <a:spAutoFit/>
            </a:bodyPr>
            <a:lstStyle/>
            <a:p>
              <a:r>
                <a:rPr lang="en-IN" sz="2000" dirty="0">
                  <a:latin typeface="Arial Narrow" panose="020B0606020202030204" pitchFamily="34" charset="0"/>
                </a:rPr>
                <a:t>Hidden Layer 2</a:t>
              </a:r>
            </a:p>
          </p:txBody>
        </p:sp>
        <mc:AlternateContent xmlns:mc="http://schemas.openxmlformats.org/markup-compatibility/2006" xmlns:a14="http://schemas.microsoft.com/office/drawing/2010/main">
          <mc:Choice Requires="a14">
            <p:sp>
              <p:nvSpPr>
                <p:cNvPr id="162" name="TextBox 161">
                  <a:extLst>
                    <a:ext uri="{FF2B5EF4-FFF2-40B4-BE49-F238E27FC236}">
                      <a16:creationId xmlns:a16="http://schemas.microsoft.com/office/drawing/2014/main" id="{2F25022F-C5CE-4D64-85E9-FAB04369B89A}"/>
                    </a:ext>
                  </a:extLst>
                </p:cNvPr>
                <p:cNvSpPr txBox="1"/>
                <p:nvPr/>
              </p:nvSpPr>
              <p:spPr>
                <a:xfrm>
                  <a:off x="3181552" y="3246871"/>
                  <a:ext cx="572714" cy="3229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1</m:t>
                            </m:r>
                          </m:sub>
                          <m:sup>
                            <m:r>
                              <a:rPr lang="en-IN" sz="1200" b="0" i="1" smtClean="0">
                                <a:solidFill>
                                  <a:schemeClr val="accent5">
                                    <a:lumMod val="75000"/>
                                  </a:schemeClr>
                                </a:solidFill>
                                <a:latin typeface="Cambria Math" panose="02040503050406030204" pitchFamily="18" charset="0"/>
                              </a:rPr>
                              <m:t>(1)</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(1)</m:t>
                            </m:r>
                          </m:sup>
                        </m:sSup>
                      </m:oMath>
                    </m:oMathPara>
                  </a14:m>
                  <a:endParaRPr lang="en-IN" sz="1200" dirty="0">
                    <a:solidFill>
                      <a:schemeClr val="accent5">
                        <a:lumMod val="75000"/>
                      </a:schemeClr>
                    </a:solidFill>
                  </a:endParaRPr>
                </a:p>
              </p:txBody>
            </p:sp>
          </mc:Choice>
          <mc:Fallback xmlns="">
            <p:sp>
              <p:nvSpPr>
                <p:cNvPr id="162" name="TextBox 161">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3181552" y="3246871"/>
                  <a:ext cx="572714" cy="322974"/>
                </a:xfrm>
                <a:prstGeom prst="rect">
                  <a:avLst/>
                </a:prstGeom>
                <a:blipFill>
                  <a:blip r:embed="rId16"/>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2F25022F-C5CE-4D64-85E9-FAB04369B89A}"/>
                    </a:ext>
                  </a:extLst>
                </p:cNvPr>
                <p:cNvSpPr txBox="1"/>
                <p:nvPr/>
              </p:nvSpPr>
              <p:spPr>
                <a:xfrm>
                  <a:off x="5286645" y="3210059"/>
                  <a:ext cx="572714"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2</m:t>
                            </m:r>
                          </m:sub>
                          <m:sup>
                            <m:r>
                              <a:rPr lang="en-IN" sz="1200" b="0" i="1" smtClean="0">
                                <a:solidFill>
                                  <a:schemeClr val="accent5">
                                    <a:lumMod val="75000"/>
                                  </a:schemeClr>
                                </a:solidFill>
                                <a:latin typeface="Cambria Math" panose="02040503050406030204" pitchFamily="18" charset="0"/>
                              </a:rPr>
                              <m:t>(1)</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(1)</m:t>
                            </m:r>
                          </m:sup>
                        </m:sSup>
                      </m:oMath>
                    </m:oMathPara>
                  </a14:m>
                  <a:endParaRPr lang="en-IN" sz="1200" dirty="0">
                    <a:solidFill>
                      <a:schemeClr val="accent5">
                        <a:lumMod val="75000"/>
                      </a:schemeClr>
                    </a:solidFill>
                  </a:endParaRPr>
                </a:p>
              </p:txBody>
            </p:sp>
          </mc:Choice>
          <mc:Fallback xmlns="">
            <p:sp>
              <p:nvSpPr>
                <p:cNvPr id="163" name="TextBox 162">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5286645" y="3210059"/>
                  <a:ext cx="572714" cy="323165"/>
                </a:xfrm>
                <a:prstGeom prst="rect">
                  <a:avLst/>
                </a:prstGeom>
                <a:blipFill>
                  <a:blip r:embed="rId17"/>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5" name="Rectangle 164">
                  <a:extLst>
                    <a:ext uri="{FF2B5EF4-FFF2-40B4-BE49-F238E27FC236}">
                      <a16:creationId xmlns:a16="http://schemas.microsoft.com/office/drawing/2014/main" id="{7EB440A6-4A1A-4A1B-908B-419B7A1E9D77}"/>
                    </a:ext>
                  </a:extLst>
                </p:cNvPr>
                <p:cNvSpPr/>
                <p:nvPr/>
              </p:nvSpPr>
              <p:spPr>
                <a:xfrm>
                  <a:off x="3558129" y="3783602"/>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65" name="Rectangle 164">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3558129" y="3783602"/>
                  <a:ext cx="329449" cy="307777"/>
                </a:xfrm>
                <a:prstGeom prst="rect">
                  <a:avLst/>
                </a:prstGeom>
                <a:blipFill>
                  <a:blip r:embed="rId18"/>
                  <a:stretch>
                    <a:fillRect b="-1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6" name="Rectangle 165">
                  <a:extLst>
                    <a:ext uri="{FF2B5EF4-FFF2-40B4-BE49-F238E27FC236}">
                      <a16:creationId xmlns:a16="http://schemas.microsoft.com/office/drawing/2014/main" id="{7EB440A6-4A1A-4A1B-908B-419B7A1E9D77}"/>
                    </a:ext>
                  </a:extLst>
                </p:cNvPr>
                <p:cNvSpPr/>
                <p:nvPr/>
              </p:nvSpPr>
              <p:spPr>
                <a:xfrm>
                  <a:off x="5343928" y="3798064"/>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66" name="Rectangle 165">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5343928" y="3798064"/>
                  <a:ext cx="329449" cy="307777"/>
                </a:xfrm>
                <a:prstGeom prst="rect">
                  <a:avLst/>
                </a:prstGeom>
                <a:blipFill>
                  <a:blip r:embed="rId19"/>
                  <a:stretch>
                    <a:fillRect b="-78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7" name="TextBox 166">
                  <a:extLst>
                    <a:ext uri="{FF2B5EF4-FFF2-40B4-BE49-F238E27FC236}">
                      <a16:creationId xmlns:a16="http://schemas.microsoft.com/office/drawing/2014/main" id="{2F25022F-C5CE-4D64-85E9-FAB04369B89A}"/>
                    </a:ext>
                  </a:extLst>
                </p:cNvPr>
                <p:cNvSpPr txBox="1"/>
                <p:nvPr/>
              </p:nvSpPr>
              <p:spPr>
                <a:xfrm>
                  <a:off x="3172754" y="4299459"/>
                  <a:ext cx="572714" cy="3229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1</m:t>
                            </m:r>
                          </m:sub>
                          <m:sup>
                            <m:r>
                              <a:rPr lang="en-IN" sz="1200" b="0" i="1" smtClean="0">
                                <a:solidFill>
                                  <a:schemeClr val="accent5">
                                    <a:lumMod val="75000"/>
                                  </a:schemeClr>
                                </a:solidFill>
                                <a:latin typeface="Cambria Math" panose="02040503050406030204" pitchFamily="18" charset="0"/>
                              </a:rPr>
                              <m:t>(2)</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(2)</m:t>
                            </m:r>
                          </m:sup>
                        </m:sSup>
                      </m:oMath>
                    </m:oMathPara>
                  </a14:m>
                  <a:endParaRPr lang="en-IN" sz="1200" dirty="0">
                    <a:solidFill>
                      <a:schemeClr val="accent5">
                        <a:lumMod val="75000"/>
                      </a:schemeClr>
                    </a:solidFill>
                  </a:endParaRPr>
                </a:p>
              </p:txBody>
            </p:sp>
          </mc:Choice>
          <mc:Fallback xmlns="">
            <p:sp>
              <p:nvSpPr>
                <p:cNvPr id="167" name="TextBox 166">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3172754" y="4299459"/>
                  <a:ext cx="572714" cy="322974"/>
                </a:xfrm>
                <a:prstGeom prst="rect">
                  <a:avLst/>
                </a:prstGeom>
                <a:blipFill>
                  <a:blip r:embed="rId20"/>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F25022F-C5CE-4D64-85E9-FAB04369B89A}"/>
                    </a:ext>
                  </a:extLst>
                </p:cNvPr>
                <p:cNvSpPr txBox="1"/>
                <p:nvPr/>
              </p:nvSpPr>
              <p:spPr>
                <a:xfrm>
                  <a:off x="5291542" y="4299268"/>
                  <a:ext cx="572714"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2</m:t>
                            </m:r>
                          </m:sub>
                          <m:sup>
                            <m:r>
                              <a:rPr lang="en-IN" sz="1200" b="0" i="1" smtClean="0">
                                <a:solidFill>
                                  <a:schemeClr val="accent5">
                                    <a:lumMod val="75000"/>
                                  </a:schemeClr>
                                </a:solidFill>
                                <a:latin typeface="Cambria Math" panose="02040503050406030204" pitchFamily="18" charset="0"/>
                              </a:rPr>
                              <m:t>(2)</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(2)</m:t>
                            </m:r>
                          </m:sup>
                        </m:sSup>
                      </m:oMath>
                    </m:oMathPara>
                  </a14:m>
                  <a:endParaRPr lang="en-IN" sz="1200" dirty="0">
                    <a:solidFill>
                      <a:schemeClr val="accent5">
                        <a:lumMod val="75000"/>
                      </a:schemeClr>
                    </a:solidFill>
                  </a:endParaRPr>
                </a:p>
              </p:txBody>
            </p:sp>
          </mc:Choice>
          <mc:Fallback xmlns="">
            <p:sp>
              <p:nvSpPr>
                <p:cNvPr id="168" name="TextBox 167">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5291542" y="4299268"/>
                  <a:ext cx="572714" cy="323165"/>
                </a:xfrm>
                <a:prstGeom prst="rect">
                  <a:avLst/>
                </a:prstGeom>
                <a:blipFill>
                  <a:blip r:embed="rId21"/>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E3269ACA-A3F6-4183-B90D-3FF47837CA08}"/>
                    </a:ext>
                  </a:extLst>
                </p:cNvPr>
                <p:cNvSpPr txBox="1"/>
                <p:nvPr/>
              </p:nvSpPr>
              <p:spPr>
                <a:xfrm>
                  <a:off x="4885077" y="5257751"/>
                  <a:ext cx="494492" cy="348813"/>
                </a:xfrm>
                <a:prstGeom prst="rect">
                  <a:avLst/>
                </a:prstGeom>
                <a:ln>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solidFill>
                                  <a:srgbClr val="C00000"/>
                                </a:solidFill>
                                <a:latin typeface="Cambria Math" panose="02040503050406030204" pitchFamily="18" charset="0"/>
                              </a:rPr>
                            </m:ctrlPr>
                          </m:sSupPr>
                          <m:e>
                            <m:r>
                              <a:rPr lang="en-IN" sz="1600" b="0" i="1" smtClean="0">
                                <a:solidFill>
                                  <a:srgbClr val="C00000"/>
                                </a:solidFill>
                                <a:latin typeface="Cambria Math" panose="02040503050406030204" pitchFamily="18" charset="0"/>
                              </a:rPr>
                              <m:t>𝑊</m:t>
                            </m:r>
                          </m:e>
                          <m:sup>
                            <m:r>
                              <a:rPr lang="en-IN" sz="1600" b="0" i="1" smtClean="0">
                                <a:solidFill>
                                  <a:srgbClr val="C00000"/>
                                </a:solidFill>
                                <a:latin typeface="Cambria Math" panose="02040503050406030204" pitchFamily="18" charset="0"/>
                              </a:rPr>
                              <m:t>(3)</m:t>
                            </m:r>
                          </m:sup>
                        </m:sSup>
                      </m:oMath>
                    </m:oMathPara>
                  </a14:m>
                  <a:endParaRPr lang="en-IN" sz="1600" dirty="0"/>
                </a:p>
              </p:txBody>
            </p:sp>
          </mc:Choice>
          <mc:Fallback xmlns="">
            <p:sp>
              <p:nvSpPr>
                <p:cNvPr id="169" name="TextBox 168">
                  <a:extLst>
                    <a:ext uri="{FF2B5EF4-FFF2-40B4-BE49-F238E27FC236}">
                      <a16:creationId xmlns:a16="http://schemas.microsoft.com/office/drawing/2014/main" id="{E3269ACA-A3F6-4183-B90D-3FF47837CA08}"/>
                    </a:ext>
                  </a:extLst>
                </p:cNvPr>
                <p:cNvSpPr txBox="1">
                  <a:spLocks noRot="1" noChangeAspect="1" noMove="1" noResize="1" noEditPoints="1" noAdjustHandles="1" noChangeArrowheads="1" noChangeShapeType="1" noTextEdit="1"/>
                </p:cNvSpPr>
                <p:nvPr/>
              </p:nvSpPr>
              <p:spPr>
                <a:xfrm>
                  <a:off x="4885077" y="5257751"/>
                  <a:ext cx="494492" cy="348813"/>
                </a:xfrm>
                <a:prstGeom prst="rect">
                  <a:avLst/>
                </a:prstGeom>
                <a:blipFill>
                  <a:blip r:embed="rId22"/>
                  <a:stretch>
                    <a:fillRect r="-15854"/>
                  </a:stretch>
                </a:blipFill>
                <a:ln>
                  <a:tailEnd type="triangle"/>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0" name="Rectangle 169">
                  <a:extLst>
                    <a:ext uri="{FF2B5EF4-FFF2-40B4-BE49-F238E27FC236}">
                      <a16:creationId xmlns:a16="http://schemas.microsoft.com/office/drawing/2014/main" id="{CD36A2F3-4729-4D0F-A488-C4262AFA5133}"/>
                    </a:ext>
                  </a:extLst>
                </p:cNvPr>
                <p:cNvSpPr/>
                <p:nvPr/>
              </p:nvSpPr>
              <p:spPr>
                <a:xfrm>
                  <a:off x="4857093" y="5618097"/>
                  <a:ext cx="47513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rgbClr val="C00000"/>
                                </a:solidFill>
                                <a:latin typeface="Cambria Math" panose="02040503050406030204" pitchFamily="18" charset="0"/>
                              </a:rPr>
                            </m:ctrlPr>
                          </m:sSubPr>
                          <m:e>
                            <m:r>
                              <a:rPr lang="en-IN" sz="2000" i="1">
                                <a:solidFill>
                                  <a:srgbClr val="C00000"/>
                                </a:solidFill>
                                <a:latin typeface="Cambria Math" panose="02040503050406030204" pitchFamily="18" charset="0"/>
                              </a:rPr>
                              <m:t>𝑓</m:t>
                            </m:r>
                          </m:e>
                          <m:sub>
                            <m:r>
                              <a:rPr lang="en-IN" sz="2000" b="0" i="1" smtClean="0">
                                <a:solidFill>
                                  <a:srgbClr val="C00000"/>
                                </a:solidFill>
                                <a:latin typeface="Cambria Math" panose="02040503050406030204" pitchFamily="18" charset="0"/>
                              </a:rPr>
                              <m:t>𝑌</m:t>
                            </m:r>
                          </m:sub>
                        </m:sSub>
                      </m:oMath>
                    </m:oMathPara>
                  </a14:m>
                  <a:endParaRPr lang="en-IN" sz="2000" dirty="0"/>
                </a:p>
              </p:txBody>
            </p:sp>
          </mc:Choice>
          <mc:Fallback xmlns="">
            <p:sp>
              <p:nvSpPr>
                <p:cNvPr id="170" name="Rectangle 169">
                  <a:extLst>
                    <a:ext uri="{FF2B5EF4-FFF2-40B4-BE49-F238E27FC236}">
                      <a16:creationId xmlns:a16="http://schemas.microsoft.com/office/drawing/2014/main" id="{CD36A2F3-4729-4D0F-A488-C4262AFA5133}"/>
                    </a:ext>
                  </a:extLst>
                </p:cNvPr>
                <p:cNvSpPr>
                  <a:spLocks noRot="1" noChangeAspect="1" noMove="1" noResize="1" noEditPoints="1" noAdjustHandles="1" noChangeArrowheads="1" noChangeShapeType="1" noTextEdit="1"/>
                </p:cNvSpPr>
                <p:nvPr/>
              </p:nvSpPr>
              <p:spPr>
                <a:xfrm>
                  <a:off x="4857093" y="5618097"/>
                  <a:ext cx="475130" cy="400110"/>
                </a:xfrm>
                <a:prstGeom prst="rect">
                  <a:avLst/>
                </a:prstGeom>
                <a:blipFill>
                  <a:blip r:embed="rId23"/>
                  <a:stretch>
                    <a:fillRect b="-153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1" name="Rectangle 170">
                  <a:extLst>
                    <a:ext uri="{FF2B5EF4-FFF2-40B4-BE49-F238E27FC236}">
                      <a16:creationId xmlns:a16="http://schemas.microsoft.com/office/drawing/2014/main" id="{5728CEDD-2891-4DCE-AAC7-400712DAEA6F}"/>
                    </a:ext>
                  </a:extLst>
                </p:cNvPr>
                <p:cNvSpPr/>
                <p:nvPr/>
              </p:nvSpPr>
              <p:spPr>
                <a:xfrm>
                  <a:off x="4454587" y="5947857"/>
                  <a:ext cx="4025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000" b="0" i="1" smtClean="0">
                            <a:solidFill>
                              <a:srgbClr val="C00000"/>
                            </a:solidFill>
                            <a:latin typeface="Cambria Math" panose="02040503050406030204" pitchFamily="18" charset="0"/>
                          </a:rPr>
                          <m:t>𝑌</m:t>
                        </m:r>
                      </m:oMath>
                    </m:oMathPara>
                  </a14:m>
                  <a:endParaRPr lang="en-IN" sz="2000" dirty="0"/>
                </a:p>
              </p:txBody>
            </p:sp>
          </mc:Choice>
          <mc:Fallback xmlns="">
            <p:sp>
              <p:nvSpPr>
                <p:cNvPr id="171" name="Rectangle 170">
                  <a:extLst>
                    <a:ext uri="{FF2B5EF4-FFF2-40B4-BE49-F238E27FC236}">
                      <a16:creationId xmlns:a16="http://schemas.microsoft.com/office/drawing/2014/main" id="{5728CEDD-2891-4DCE-AAC7-400712DAEA6F}"/>
                    </a:ext>
                  </a:extLst>
                </p:cNvPr>
                <p:cNvSpPr>
                  <a:spLocks noRot="1" noChangeAspect="1" noMove="1" noResize="1" noEditPoints="1" noAdjustHandles="1" noChangeArrowheads="1" noChangeShapeType="1" noTextEdit="1"/>
                </p:cNvSpPr>
                <p:nvPr/>
              </p:nvSpPr>
              <p:spPr>
                <a:xfrm>
                  <a:off x="4454587" y="5947857"/>
                  <a:ext cx="402546" cy="400110"/>
                </a:xfrm>
                <a:prstGeom prst="rect">
                  <a:avLst/>
                </a:prstGeom>
                <a:blipFill>
                  <a:blip r:embed="rId24"/>
                  <a:stretch>
                    <a:fillRect/>
                  </a:stretch>
                </a:blipFill>
              </p:spPr>
              <p:txBody>
                <a:bodyPr/>
                <a:lstStyle/>
                <a:p>
                  <a:r>
                    <a:rPr lang="en-IN">
                      <a:noFill/>
                    </a:rPr>
                    <a:t> </a:t>
                  </a:r>
                </a:p>
              </p:txBody>
            </p:sp>
          </mc:Fallback>
        </mc:AlternateContent>
        <p:cxnSp>
          <p:nvCxnSpPr>
            <p:cNvPr id="173" name="Straight Arrow Connector 172"/>
            <p:cNvCxnSpPr>
              <a:stCxn id="149" idx="4"/>
              <a:endCxn id="171" idx="0"/>
            </p:cNvCxnSpPr>
            <p:nvPr/>
          </p:nvCxnSpPr>
          <p:spPr>
            <a:xfrm>
              <a:off x="4651413" y="5792114"/>
              <a:ext cx="4447" cy="155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4" name="Rectangle 173">
                  <a:extLst>
                    <a:ext uri="{FF2B5EF4-FFF2-40B4-BE49-F238E27FC236}">
                      <a16:creationId xmlns:a16="http://schemas.microsoft.com/office/drawing/2014/main" id="{7EB440A6-4A1A-4A1B-908B-419B7A1E9D77}"/>
                    </a:ext>
                  </a:extLst>
                </p:cNvPr>
                <p:cNvSpPr/>
                <p:nvPr/>
              </p:nvSpPr>
              <p:spPr>
                <a:xfrm>
                  <a:off x="5343928" y="4870375"/>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74" name="Rectangle 173">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5343928" y="4870375"/>
                  <a:ext cx="329449" cy="307777"/>
                </a:xfrm>
                <a:prstGeom prst="rect">
                  <a:avLst/>
                </a:prstGeom>
                <a:blipFill>
                  <a:blip r:embed="rId18"/>
                  <a:stretch>
                    <a:fillRect b="-1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5" name="Rectangle 174">
                  <a:extLst>
                    <a:ext uri="{FF2B5EF4-FFF2-40B4-BE49-F238E27FC236}">
                      <a16:creationId xmlns:a16="http://schemas.microsoft.com/office/drawing/2014/main" id="{7EB440A6-4A1A-4A1B-908B-419B7A1E9D77}"/>
                    </a:ext>
                  </a:extLst>
                </p:cNvPr>
                <p:cNvSpPr/>
                <p:nvPr/>
              </p:nvSpPr>
              <p:spPr>
                <a:xfrm>
                  <a:off x="3572327" y="4870375"/>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75" name="Rectangle 174">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3572327" y="4870375"/>
                  <a:ext cx="329449" cy="307777"/>
                </a:xfrm>
                <a:prstGeom prst="rect">
                  <a:avLst/>
                </a:prstGeom>
                <a:blipFill>
                  <a:blip r:embed="rId18"/>
                  <a:stretch>
                    <a:fillRect b="-10000"/>
                  </a:stretch>
                </a:blipFill>
              </p:spPr>
              <p:txBody>
                <a:bodyPr/>
                <a:lstStyle/>
                <a:p>
                  <a:r>
                    <a:rPr lang="en-IN">
                      <a:noFill/>
                    </a:rPr>
                    <a:t> </a:t>
                  </a:r>
                </a:p>
              </p:txBody>
            </p:sp>
          </mc:Fallback>
        </mc:AlternateContent>
        <p:sp>
          <p:nvSpPr>
            <p:cNvPr id="176" name="Right Brace 175"/>
            <p:cNvSpPr/>
            <p:nvPr/>
          </p:nvSpPr>
          <p:spPr>
            <a:xfrm>
              <a:off x="6008586" y="5297676"/>
              <a:ext cx="92728" cy="929292"/>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77" name="TextBox 176"/>
            <p:cNvSpPr txBox="1"/>
            <p:nvPr/>
          </p:nvSpPr>
          <p:spPr>
            <a:xfrm>
              <a:off x="6094129" y="5562749"/>
              <a:ext cx="1399742" cy="400110"/>
            </a:xfrm>
            <a:prstGeom prst="rect">
              <a:avLst/>
            </a:prstGeom>
            <a:noFill/>
          </p:spPr>
          <p:txBody>
            <a:bodyPr wrap="none" rtlCol="0">
              <a:spAutoFit/>
            </a:bodyPr>
            <a:lstStyle/>
            <a:p>
              <a:r>
                <a:rPr lang="en-IN" sz="2000" dirty="0">
                  <a:latin typeface="Arial Narrow" panose="020B0606020202030204" pitchFamily="34" charset="0"/>
                </a:rPr>
                <a:t>Output Layer</a:t>
              </a:r>
            </a:p>
          </p:txBody>
        </p:sp>
        <p:sp>
          <p:nvSpPr>
            <p:cNvPr id="178" name="TextBox 177">
              <a:extLst>
                <a:ext uri="{FF2B5EF4-FFF2-40B4-BE49-F238E27FC236}">
                  <a16:creationId xmlns:a16="http://schemas.microsoft.com/office/drawing/2014/main" id="{7A8C3D1D-5119-4D88-B83E-0DB1198D8F14}"/>
                </a:ext>
              </a:extLst>
            </p:cNvPr>
            <p:cNvSpPr txBox="1"/>
            <p:nvPr/>
          </p:nvSpPr>
          <p:spPr>
            <a:xfrm>
              <a:off x="3077913" y="6429850"/>
              <a:ext cx="4724967" cy="369332"/>
            </a:xfrm>
            <a:prstGeom prst="rect">
              <a:avLst/>
            </a:prstGeom>
            <a:noFill/>
          </p:spPr>
          <p:txBody>
            <a:bodyPr wrap="square" rtlCol="0">
              <a:spAutoFit/>
            </a:bodyPr>
            <a:lstStyle/>
            <a:p>
              <a:pPr algn="just"/>
              <a:r>
                <a:rPr lang="en-US" dirty="0">
                  <a:solidFill>
                    <a:schemeClr val="accent5">
                      <a:lumMod val="75000"/>
                    </a:schemeClr>
                  </a:solidFill>
                  <a:latin typeface="Arial Narrow" panose="020B0606020202030204" pitchFamily="34" charset="0"/>
                  <a:cs typeface="Times New Roman" panose="02020603050405020304" pitchFamily="18" charset="0"/>
                </a:rPr>
                <a:t>Input layer’s neurons copy to inputs to the next layers.</a:t>
              </a:r>
              <a:endParaRPr lang="en-IN" dirty="0"/>
            </a:p>
          </p:txBody>
        </p:sp>
      </p:grpSp>
      <mc:AlternateContent xmlns:mc="http://schemas.openxmlformats.org/markup-compatibility/2006">
        <mc:Choice xmlns:a14="http://schemas.microsoft.com/office/drawing/2010/main" Requires="a14">
          <p:sp>
            <p:nvSpPr>
              <p:cNvPr id="179" name="TextBox 178"/>
              <p:cNvSpPr txBox="1"/>
              <p:nvPr/>
            </p:nvSpPr>
            <p:spPr>
              <a:xfrm>
                <a:off x="7587984" y="1871643"/>
                <a:ext cx="4232103" cy="982705"/>
              </a:xfrm>
              <a:prstGeom prst="rect">
                <a:avLst/>
              </a:prstGeom>
              <a:noFill/>
            </p:spPr>
            <p:txBody>
              <a:bodyPr wrap="square" rtlCol="0">
                <a:spAutoFit/>
              </a:bodyPr>
              <a:lstStyle/>
              <a:p>
                <a:r>
                  <a:rPr lang="en-IN" dirty="0">
                    <a:latin typeface="Arial Narrow" panose="020B0606020202030204" pitchFamily="34" charset="0"/>
                  </a:rPr>
                  <a:t>Input Layer:</a:t>
                </a:r>
              </a:p>
              <a:p>
                <a:pPr/>
                <a14:m>
                  <m:oMathPara xmlns:m="http://schemas.openxmlformats.org/officeDocument/2006/math">
                    <m:oMathParaPr>
                      <m:jc m:val="centerGroup"/>
                    </m:oMathParaPr>
                    <m:oMath xmlns:m="http://schemas.openxmlformats.org/officeDocument/2006/math">
                      <m:sSubSup>
                        <m:sSubSupPr>
                          <m:ctrlPr>
                            <a:rPr lang="en-IN" i="1" dirty="0">
                              <a:latin typeface="Cambria Math" panose="02040503050406030204" pitchFamily="18" charset="0"/>
                            </a:rPr>
                          </m:ctrlPr>
                        </m:sSubSupPr>
                        <m:e>
                          <m:r>
                            <a:rPr lang="en-IN" i="1">
                              <a:latin typeface="Cambria Math" panose="02040503050406030204" pitchFamily="18" charset="0"/>
                              <a:ea typeface="Cambria Math" panose="02040503050406030204" pitchFamily="18" charset="0"/>
                            </a:rPr>
                            <m:t>𝛽</m:t>
                          </m:r>
                        </m:e>
                        <m:sub>
                          <m:r>
                            <a:rPr lang="en-IN" b="0" i="1" smtClean="0">
                              <a:latin typeface="Cambria Math" panose="02040503050406030204" pitchFamily="18" charset="0"/>
                              <a:ea typeface="Cambria Math" panose="02040503050406030204" pitchFamily="18" charset="0"/>
                            </a:rPr>
                            <m:t>𝑒</m:t>
                          </m:r>
                        </m:sub>
                        <m:sup>
                          <m:r>
                            <a:rPr lang="en-IN" i="1" dirty="0">
                              <a:latin typeface="Cambria Math" panose="02040503050406030204" pitchFamily="18" charset="0"/>
                            </a:rPr>
                            <m:t>(1)</m:t>
                          </m:r>
                        </m:sup>
                      </m:sSubSup>
                      <m:r>
                        <a:rPr lang="en-IN" i="1" dirty="0">
                          <a:latin typeface="Cambria Math" panose="02040503050406030204" pitchFamily="18" charset="0"/>
                        </a:rPr>
                        <m:t>= </m:t>
                      </m:r>
                      <m:sSub>
                        <m:sSubPr>
                          <m:ctrlPr>
                            <a:rPr lang="en-IN" i="1" dirty="0">
                              <a:latin typeface="Cambria Math" panose="02040503050406030204" pitchFamily="18" charset="0"/>
                            </a:rPr>
                          </m:ctrlPr>
                        </m:sSubPr>
                        <m:e>
                          <m:r>
                            <a:rPr lang="en-IN" b="0" i="1" dirty="0" smtClean="0">
                              <a:latin typeface="Cambria Math" panose="02040503050406030204" pitchFamily="18" charset="0"/>
                            </a:rPr>
                            <m:t>𝐼</m:t>
                          </m:r>
                        </m:e>
                        <m:sub>
                          <m:r>
                            <a:rPr lang="en-IN" b="0" i="1" dirty="0" smtClean="0">
                              <a:latin typeface="Cambria Math" panose="02040503050406030204" pitchFamily="18" charset="0"/>
                            </a:rPr>
                            <m:t>𝑒</m:t>
                          </m:r>
                        </m:sub>
                      </m:sSub>
                      <m:r>
                        <a:rPr lang="en-IN" i="1" dirty="0">
                          <a:latin typeface="Cambria Math" panose="02040503050406030204" pitchFamily="18" charset="0"/>
                        </a:rPr>
                        <m:t>,</m:t>
                      </m:r>
                      <m:r>
                        <a:rPr lang="en-IN" i="1" dirty="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𝑒</m:t>
                      </m:r>
                      <m:r>
                        <a:rPr lang="en-IN" i="1" dirty="0">
                          <a:latin typeface="Cambria Math" panose="02040503050406030204" pitchFamily="18" charset="0"/>
                          <a:ea typeface="Cambria Math" panose="02040503050406030204" pitchFamily="18" charset="0"/>
                        </a:rPr>
                        <m:t>∈1 </m:t>
                      </m:r>
                      <m:r>
                        <a:rPr lang="en-IN" i="1" dirty="0">
                          <a:latin typeface="Cambria Math" panose="02040503050406030204" pitchFamily="18" charset="0"/>
                          <a:ea typeface="Cambria Math" panose="02040503050406030204" pitchFamily="18" charset="0"/>
                        </a:rPr>
                        <m:t>𝑡𝑜</m:t>
                      </m:r>
                      <m:r>
                        <a:rPr lang="en-IN" i="1" dirty="0">
                          <a:latin typeface="Cambria Math" panose="02040503050406030204" pitchFamily="18" charset="0"/>
                          <a:ea typeface="Cambria Math" panose="02040503050406030204" pitchFamily="18" charset="0"/>
                        </a:rPr>
                        <m:t> 4 (</m:t>
                      </m:r>
                      <m:r>
                        <a:rPr lang="en-IN" i="1" dirty="0">
                          <a:latin typeface="Cambria Math" panose="02040503050406030204" pitchFamily="18" charset="0"/>
                          <a:ea typeface="Cambria Math" panose="02040503050406030204" pitchFamily="18" charset="0"/>
                        </a:rPr>
                        <m:t>𝑛𝑜</m:t>
                      </m:r>
                      <m:r>
                        <a:rPr lang="en-IN" i="1" dirty="0">
                          <a:latin typeface="Cambria Math" panose="02040503050406030204" pitchFamily="18" charset="0"/>
                          <a:ea typeface="Cambria Math" panose="02040503050406030204" pitchFamily="18" charset="0"/>
                        </a:rPr>
                        <m:t>. </m:t>
                      </m:r>
                      <m:r>
                        <a:rPr lang="en-IN" i="1" dirty="0">
                          <a:latin typeface="Cambria Math" panose="02040503050406030204" pitchFamily="18" charset="0"/>
                          <a:ea typeface="Cambria Math" panose="02040503050406030204" pitchFamily="18" charset="0"/>
                        </a:rPr>
                        <m:t>𝑜𝑓</m:t>
                      </m:r>
                      <m:r>
                        <a:rPr lang="en-IN" i="1" dirty="0">
                          <a:latin typeface="Cambria Math" panose="02040503050406030204" pitchFamily="18" charset="0"/>
                          <a:ea typeface="Cambria Math" panose="02040503050406030204" pitchFamily="18" charset="0"/>
                        </a:rPr>
                        <m:t> </m:t>
                      </m:r>
                      <m:r>
                        <a:rPr lang="en-IN" i="1" dirty="0">
                          <a:latin typeface="Cambria Math" panose="02040503050406030204" pitchFamily="18" charset="0"/>
                          <a:ea typeface="Cambria Math" panose="02040503050406030204" pitchFamily="18" charset="0"/>
                        </a:rPr>
                        <m:t>𝑖𝑛𝑝𝑢𝑡𝑠</m:t>
                      </m:r>
                      <m:r>
                        <a:rPr lang="en-IN" i="1" dirty="0">
                          <a:latin typeface="Cambria Math" panose="02040503050406030204" pitchFamily="18" charset="0"/>
                          <a:ea typeface="Cambria Math" panose="02040503050406030204" pitchFamily="18" charset="0"/>
                        </a:rPr>
                        <m:t>)</m:t>
                      </m:r>
                    </m:oMath>
                  </m:oMathPara>
                </a14:m>
                <a:endParaRPr lang="en-IN" dirty="0">
                  <a:latin typeface="Arial Narrow" panose="020B0606020202030204" pitchFamily="34" charset="0"/>
                </a:endParaRPr>
              </a:p>
              <a:p>
                <a:endParaRPr lang="en-IN" dirty="0"/>
              </a:p>
            </p:txBody>
          </p:sp>
        </mc:Choice>
        <mc:Fallback>
          <p:sp>
            <p:nvSpPr>
              <p:cNvPr id="179" name="TextBox 178"/>
              <p:cNvSpPr txBox="1">
                <a:spLocks noRot="1" noChangeAspect="1" noMove="1" noResize="1" noEditPoints="1" noAdjustHandles="1" noChangeArrowheads="1" noChangeShapeType="1" noTextEdit="1"/>
              </p:cNvSpPr>
              <p:nvPr/>
            </p:nvSpPr>
            <p:spPr>
              <a:xfrm>
                <a:off x="7587984" y="1871643"/>
                <a:ext cx="4232103" cy="982705"/>
              </a:xfrm>
              <a:prstGeom prst="rect">
                <a:avLst/>
              </a:prstGeom>
              <a:blipFill>
                <a:blip r:embed="rId25"/>
                <a:stretch>
                  <a:fillRect l="-1297" t="-2484"/>
                </a:stretch>
              </a:blipFill>
            </p:spPr>
            <p:txBody>
              <a:bodyPr/>
              <a:lstStyle/>
              <a:p>
                <a:r>
                  <a:rPr lang="en-GB">
                    <a:noFill/>
                  </a:rPr>
                  <a:t> </a:t>
                </a:r>
              </a:p>
            </p:txBody>
          </p:sp>
        </mc:Fallback>
      </mc:AlternateContent>
    </p:spTree>
    <p:extLst>
      <p:ext uri="{BB962C8B-B14F-4D97-AF65-F5344CB8AC3E}">
        <p14:creationId xmlns:p14="http://schemas.microsoft.com/office/powerpoint/2010/main" val="2779251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06939" y="138830"/>
            <a:ext cx="10515600" cy="635000"/>
          </a:xfrm>
        </p:spPr>
        <p:txBody>
          <a:bodyPr>
            <a:normAutofit/>
          </a:bodyPr>
          <a:lstStyle/>
          <a:p>
            <a:r>
              <a:rPr lang="en-IN" sz="3600" dirty="0">
                <a:latin typeface="Century" panose="02040604050505020304" pitchFamily="18" charset="0"/>
              </a:rPr>
              <a:t>Forward Pass</a:t>
            </a:r>
          </a:p>
        </p:txBody>
      </p:sp>
      <p:sp>
        <p:nvSpPr>
          <p:cNvPr id="5" name="Content Placeholder 2"/>
          <p:cNvSpPr>
            <a:spLocks noGrp="1"/>
          </p:cNvSpPr>
          <p:nvPr>
            <p:ph idx="1"/>
          </p:nvPr>
        </p:nvSpPr>
        <p:spPr>
          <a:xfrm>
            <a:off x="838200" y="824093"/>
            <a:ext cx="9601200" cy="717550"/>
          </a:xfrm>
        </p:spPr>
        <p:txBody>
          <a:bodyPr>
            <a:normAutofit fontScale="92500" lnSpcReduction="10000"/>
          </a:bodyPr>
          <a:lstStyle/>
          <a:p>
            <a:pPr marL="0" lvl="1" indent="0">
              <a:buNone/>
            </a:pPr>
            <a:r>
              <a:rPr lang="en-IN" dirty="0">
                <a:solidFill>
                  <a:schemeClr val="accent5">
                    <a:lumMod val="75000"/>
                  </a:schemeClr>
                </a:solidFill>
                <a:latin typeface="Arial Narrow" panose="020B0606020202030204" pitchFamily="34" charset="0"/>
              </a:rPr>
              <a:t>4 Layers Neural Network </a:t>
            </a:r>
          </a:p>
          <a:p>
            <a:pPr marL="0" lvl="1" indent="0">
              <a:buNone/>
            </a:pPr>
            <a:r>
              <a:rPr lang="en-IN" dirty="0">
                <a:solidFill>
                  <a:schemeClr val="accent5">
                    <a:lumMod val="75000"/>
                  </a:schemeClr>
                </a:solidFill>
                <a:latin typeface="Arial Narrow" panose="020B0606020202030204" pitchFamily="34" charset="0"/>
              </a:rPr>
              <a:t>(One Input Layer, two Hidden Layers and one Output Layers)</a:t>
            </a:r>
          </a:p>
        </p:txBody>
      </p:sp>
      <p:sp>
        <p:nvSpPr>
          <p:cNvPr id="92" name="Rectangle 91">
            <a:extLst>
              <a:ext uri="{FF2B5EF4-FFF2-40B4-BE49-F238E27FC236}">
                <a16:creationId xmlns:a16="http://schemas.microsoft.com/office/drawing/2014/main" id="{E8FF55B7-C194-4B56-8AB2-F3CA9C55E516}"/>
              </a:ext>
            </a:extLst>
          </p:cNvPr>
          <p:cNvSpPr/>
          <p:nvPr/>
        </p:nvSpPr>
        <p:spPr>
          <a:xfrm>
            <a:off x="1152910" y="1578020"/>
            <a:ext cx="5616571" cy="2354409"/>
          </a:xfrm>
          <a:prstGeom prst="rect">
            <a:avLst/>
          </a:prstGeom>
          <a:solidFill>
            <a:schemeClr val="accent2">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9423DB7D-896C-49CF-AA79-AF65A0577028}"/>
                  </a:ext>
                </a:extLst>
              </p:cNvPr>
              <p:cNvSpPr txBox="1"/>
              <p:nvPr/>
            </p:nvSpPr>
            <p:spPr>
              <a:xfrm>
                <a:off x="3257724" y="1549261"/>
                <a:ext cx="3239313" cy="95635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Sup>
                        <m:sSubSupPr>
                          <m:ctrlPr>
                            <a:rPr lang="en-IN" sz="2000" i="1" smtClean="0">
                              <a:latin typeface="Cambria Math" panose="02040503050406030204" pitchFamily="18" charset="0"/>
                            </a:rPr>
                          </m:ctrlPr>
                        </m:sSubSupPr>
                        <m:e>
                          <m:r>
                            <a:rPr lang="en-IN" sz="2000" b="0" i="1" smtClean="0">
                              <a:latin typeface="Cambria Math" panose="02040503050406030204" pitchFamily="18" charset="0"/>
                            </a:rPr>
                            <m:t>𝑠</m:t>
                          </m:r>
                        </m:e>
                        <m:sub>
                          <m:r>
                            <a:rPr lang="en-IN" sz="2000" b="0" i="1" smtClean="0">
                              <a:latin typeface="Cambria Math" panose="02040503050406030204" pitchFamily="18" charset="0"/>
                            </a:rPr>
                            <m:t>𝑖</m:t>
                          </m:r>
                        </m:sub>
                        <m:sup>
                          <m:r>
                            <a:rPr lang="en-IN" sz="2000" b="0" i="1" smtClean="0">
                              <a:latin typeface="Cambria Math" panose="02040503050406030204" pitchFamily="18" charset="0"/>
                            </a:rPr>
                            <m:t>(1)</m:t>
                          </m:r>
                        </m:sup>
                      </m:sSubSup>
                      <m:r>
                        <a:rPr lang="en-IN" sz="2000" b="0" i="1" smtClean="0">
                          <a:latin typeface="Cambria Math" panose="02040503050406030204" pitchFamily="18" charset="0"/>
                        </a:rPr>
                        <m:t>=</m:t>
                      </m:r>
                      <m:nary>
                        <m:naryPr>
                          <m:chr m:val="∑"/>
                          <m:ctrlPr>
                            <a:rPr lang="en-IN" sz="2000" b="0" i="1" smtClean="0">
                              <a:solidFill>
                                <a:schemeClr val="tx1"/>
                              </a:solidFill>
                              <a:latin typeface="Cambria Math" panose="02040503050406030204" pitchFamily="18" charset="0"/>
                            </a:rPr>
                          </m:ctrlPr>
                        </m:naryPr>
                        <m:sub>
                          <m:r>
                            <a:rPr lang="en-IN" sz="2000" b="0" i="1" smtClean="0">
                              <a:solidFill>
                                <a:schemeClr val="tx1"/>
                              </a:solidFill>
                              <a:latin typeface="Cambria Math" panose="02040503050406030204" pitchFamily="18" charset="0"/>
                            </a:rPr>
                            <m:t>𝑒</m:t>
                          </m:r>
                          <m:r>
                            <a:rPr lang="en-IN" sz="2000" b="0" i="1" smtClean="0">
                              <a:solidFill>
                                <a:schemeClr val="tx1"/>
                              </a:solidFill>
                              <a:latin typeface="Cambria Math" panose="02040503050406030204" pitchFamily="18" charset="0"/>
                            </a:rPr>
                            <m:t>=1</m:t>
                          </m:r>
                        </m:sub>
                        <m:sup>
                          <m:r>
                            <a:rPr lang="en-IN" sz="2000" b="0" i="1" smtClean="0">
                              <a:solidFill>
                                <a:schemeClr val="tx1"/>
                              </a:solidFill>
                              <a:latin typeface="Cambria Math" panose="02040503050406030204" pitchFamily="18" charset="0"/>
                            </a:rPr>
                            <m:t>4</m:t>
                          </m:r>
                        </m:sup>
                        <m:e>
                          <m:sSubSup>
                            <m:sSubSupPr>
                              <m:ctrlPr>
                                <a:rPr lang="en-IN" sz="2000" i="1">
                                  <a:solidFill>
                                    <a:schemeClr val="tx1"/>
                                  </a:solidFill>
                                  <a:latin typeface="Cambria Math" panose="02040503050406030204" pitchFamily="18" charset="0"/>
                                </a:rPr>
                              </m:ctrlPr>
                            </m:sSubSupPr>
                            <m:e>
                              <m:r>
                                <a:rPr lang="en-IN" sz="2000" i="1">
                                  <a:solidFill>
                                    <a:schemeClr val="tx1"/>
                                  </a:solidFill>
                                  <a:latin typeface="Cambria Math" panose="02040503050406030204" pitchFamily="18" charset="0"/>
                                </a:rPr>
                                <m:t>𝑊</m:t>
                              </m:r>
                            </m:e>
                            <m:sub>
                              <m:r>
                                <a:rPr lang="en-IN" sz="2000" b="0" i="1" smtClean="0">
                                  <a:solidFill>
                                    <a:schemeClr val="tx1"/>
                                  </a:solidFill>
                                  <a:latin typeface="Cambria Math" panose="02040503050406030204" pitchFamily="18" charset="0"/>
                                </a:rPr>
                                <m:t>𝑖</m:t>
                              </m:r>
                            </m:sub>
                            <m:sup>
                              <m:r>
                                <a:rPr lang="en-IN" sz="2000" i="1">
                                  <a:solidFill>
                                    <a:schemeClr val="tx1"/>
                                  </a:solidFill>
                                  <a:latin typeface="Cambria Math" panose="02040503050406030204" pitchFamily="18" charset="0"/>
                                </a:rPr>
                                <m:t>(1)</m:t>
                              </m:r>
                            </m:sup>
                          </m:sSubSup>
                          <m:sSubSup>
                            <m:sSubSupPr>
                              <m:ctrlPr>
                                <a:rPr lang="en-IN" sz="2000" i="1" dirty="0">
                                  <a:solidFill>
                                    <a:schemeClr val="tx1"/>
                                  </a:solidFill>
                                  <a:latin typeface="Cambria Math" panose="02040503050406030204" pitchFamily="18" charset="0"/>
                                </a:rPr>
                              </m:ctrlPr>
                            </m:sSubSupPr>
                            <m:e>
                              <m:r>
                                <a:rPr lang="en-IN" sz="2000" i="1" dirty="0" smtClean="0">
                                  <a:solidFill>
                                    <a:schemeClr val="tx1"/>
                                  </a:solidFill>
                                  <a:latin typeface="Cambria Math" panose="02040503050406030204" pitchFamily="18" charset="0"/>
                                  <a:ea typeface="Cambria Math" panose="02040503050406030204" pitchFamily="18" charset="0"/>
                                </a:rPr>
                                <m:t>𝛽</m:t>
                              </m:r>
                            </m:e>
                            <m:sub>
                              <m:r>
                                <a:rPr lang="en-IN" sz="2000" b="0" i="1" dirty="0" smtClean="0">
                                  <a:solidFill>
                                    <a:schemeClr val="tx1"/>
                                  </a:solidFill>
                                  <a:latin typeface="Cambria Math" panose="02040503050406030204" pitchFamily="18" charset="0"/>
                                  <a:ea typeface="Cambria Math" panose="02040503050406030204" pitchFamily="18" charset="0"/>
                                </a:rPr>
                                <m:t>𝑒</m:t>
                              </m:r>
                            </m:sub>
                            <m:sup>
                              <m:r>
                                <a:rPr lang="en-IN" sz="2000" i="1" dirty="0">
                                  <a:solidFill>
                                    <a:schemeClr val="tx1"/>
                                  </a:solidFill>
                                  <a:latin typeface="Cambria Math" panose="02040503050406030204" pitchFamily="18" charset="0"/>
                                </a:rPr>
                                <m:t>(</m:t>
                              </m:r>
                              <m:r>
                                <a:rPr lang="en-IN" sz="2000" b="0" i="1" dirty="0" smtClean="0">
                                  <a:solidFill>
                                    <a:schemeClr val="tx1"/>
                                  </a:solidFill>
                                  <a:latin typeface="Cambria Math" panose="02040503050406030204" pitchFamily="18" charset="0"/>
                                </a:rPr>
                                <m:t>0</m:t>
                              </m:r>
                              <m:r>
                                <a:rPr lang="en-IN" sz="2000" i="1" dirty="0">
                                  <a:solidFill>
                                    <a:schemeClr val="tx1"/>
                                  </a:solidFill>
                                  <a:latin typeface="Cambria Math" panose="02040503050406030204" pitchFamily="18" charset="0"/>
                                </a:rPr>
                                <m:t>)</m:t>
                              </m:r>
                            </m:sup>
                          </m:sSubSup>
                          <m:r>
                            <a:rPr lang="en-IN" sz="2000" b="0" i="1" smtClean="0">
                              <a:solidFill>
                                <a:schemeClr val="tx1"/>
                              </a:solidFill>
                              <a:latin typeface="Cambria Math" panose="02040503050406030204" pitchFamily="18" charset="0"/>
                            </a:rPr>
                            <m:t>+ </m:t>
                          </m:r>
                          <m:sSup>
                            <m:sSupPr>
                              <m:ctrlPr>
                                <a:rPr lang="en-IN" sz="2000" b="0" i="1" smtClean="0">
                                  <a:solidFill>
                                    <a:schemeClr val="tx1"/>
                                  </a:solidFill>
                                  <a:latin typeface="Cambria Math" panose="02040503050406030204" pitchFamily="18" charset="0"/>
                                </a:rPr>
                              </m:ctrlPr>
                            </m:sSupPr>
                            <m:e>
                              <m:r>
                                <a:rPr lang="en-IN" sz="2000" b="0" i="1" smtClean="0">
                                  <a:solidFill>
                                    <a:schemeClr val="tx1"/>
                                  </a:solidFill>
                                  <a:latin typeface="Cambria Math" panose="02040503050406030204" pitchFamily="18" charset="0"/>
                                </a:rPr>
                                <m:t>𝑏</m:t>
                              </m:r>
                            </m:e>
                            <m:sup>
                              <m:r>
                                <a:rPr lang="en-IN" sz="2000" b="0" i="1" smtClean="0">
                                  <a:solidFill>
                                    <a:schemeClr val="tx1"/>
                                  </a:solidFill>
                                  <a:latin typeface="Cambria Math" panose="02040503050406030204" pitchFamily="18" charset="0"/>
                                </a:rPr>
                                <m:t>(1)</m:t>
                              </m:r>
                            </m:sup>
                          </m:sSup>
                        </m:e>
                      </m:nary>
                    </m:oMath>
                  </m:oMathPara>
                </a14:m>
                <a:endParaRPr lang="en-IN" sz="2000" dirty="0"/>
              </a:p>
            </p:txBody>
          </p:sp>
        </mc:Choice>
        <mc:Fallback xmlns="">
          <p:sp>
            <p:nvSpPr>
              <p:cNvPr id="93" name="TextBox 92">
                <a:extLst>
                  <a:ext uri="{FF2B5EF4-FFF2-40B4-BE49-F238E27FC236}">
                    <a16:creationId xmlns:a16="http://schemas.microsoft.com/office/drawing/2014/main" id="{9423DB7D-896C-49CF-AA79-AF65A0577028}"/>
                  </a:ext>
                </a:extLst>
              </p:cNvPr>
              <p:cNvSpPr txBox="1">
                <a:spLocks noRot="1" noChangeAspect="1" noMove="1" noResize="1" noEditPoints="1" noAdjustHandles="1" noChangeArrowheads="1" noChangeShapeType="1" noTextEdit="1"/>
              </p:cNvSpPr>
              <p:nvPr/>
            </p:nvSpPr>
            <p:spPr>
              <a:xfrm>
                <a:off x="3257724" y="1549261"/>
                <a:ext cx="3239313" cy="956352"/>
              </a:xfrm>
              <a:prstGeom prst="rect">
                <a:avLst/>
              </a:prstGeom>
              <a:blipFill>
                <a:blip r:embed="rId3"/>
                <a:stretch>
                  <a:fillRect/>
                </a:stretch>
              </a:blipFill>
            </p:spPr>
            <p:txBody>
              <a:bodyPr/>
              <a:lstStyle/>
              <a:p>
                <a:r>
                  <a:rPr lang="en-IN">
                    <a:noFill/>
                  </a:rPr>
                  <a:t> </a:t>
                </a:r>
              </a:p>
            </p:txBody>
          </p:sp>
        </mc:Fallback>
      </mc:AlternateContent>
      <p:sp>
        <p:nvSpPr>
          <p:cNvPr id="94" name="TextBox 93">
            <a:extLst>
              <a:ext uri="{FF2B5EF4-FFF2-40B4-BE49-F238E27FC236}">
                <a16:creationId xmlns:a16="http://schemas.microsoft.com/office/drawing/2014/main" id="{B2C0D844-C5E3-4641-943F-2D5642140A9F}"/>
              </a:ext>
            </a:extLst>
          </p:cNvPr>
          <p:cNvSpPr txBox="1"/>
          <p:nvPr/>
        </p:nvSpPr>
        <p:spPr>
          <a:xfrm>
            <a:off x="1370562" y="1759545"/>
            <a:ext cx="1905000"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Hidden Layer 1: </a:t>
            </a:r>
          </a:p>
        </p:txBody>
      </p:sp>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2241B011-2BC0-46DB-A1A6-239033A2A1EE}"/>
                  </a:ext>
                </a:extLst>
              </p:cNvPr>
              <p:cNvSpPr/>
              <p:nvPr/>
            </p:nvSpPr>
            <p:spPr>
              <a:xfrm>
                <a:off x="1481712" y="2860819"/>
                <a:ext cx="5140510" cy="36933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ea typeface="Cambria Math" panose="02040503050406030204" pitchFamily="18" charset="0"/>
                        </a:rPr>
                        <m:t>𝑖</m:t>
                      </m:r>
                      <m:r>
                        <a:rPr lang="en-IN" i="1" dirty="0">
                          <a:latin typeface="Cambria Math" panose="02040503050406030204" pitchFamily="18" charset="0"/>
                          <a:ea typeface="Cambria Math" panose="02040503050406030204" pitchFamily="18" charset="0"/>
                        </a:rPr>
                        <m:t>∈1 </m:t>
                      </m:r>
                      <m:r>
                        <a:rPr lang="en-IN" i="1" dirty="0">
                          <a:latin typeface="Cambria Math" panose="02040503050406030204" pitchFamily="18" charset="0"/>
                          <a:ea typeface="Cambria Math" panose="02040503050406030204" pitchFamily="18" charset="0"/>
                        </a:rPr>
                        <m:t>𝑡𝑜</m:t>
                      </m:r>
                      <m:r>
                        <a:rPr lang="en-IN" i="1" dirty="0">
                          <a:latin typeface="Cambria Math" panose="02040503050406030204" pitchFamily="18" charset="0"/>
                          <a:ea typeface="Cambria Math" panose="02040503050406030204" pitchFamily="18" charset="0"/>
                        </a:rPr>
                        <m:t> 2 (</m:t>
                      </m:r>
                      <m:r>
                        <a:rPr lang="en-IN" i="1" dirty="0">
                          <a:latin typeface="Cambria Math" panose="02040503050406030204" pitchFamily="18" charset="0"/>
                          <a:ea typeface="Cambria Math" panose="02040503050406030204" pitchFamily="18" charset="0"/>
                        </a:rPr>
                        <m:t>𝑛𝑜</m:t>
                      </m:r>
                      <m:r>
                        <a:rPr lang="en-IN" i="1" dirty="0">
                          <a:latin typeface="Cambria Math" panose="02040503050406030204" pitchFamily="18" charset="0"/>
                          <a:ea typeface="Cambria Math" panose="02040503050406030204" pitchFamily="18" charset="0"/>
                        </a:rPr>
                        <m:t>. </m:t>
                      </m:r>
                      <m:r>
                        <a:rPr lang="en-IN" i="1" dirty="0">
                          <a:latin typeface="Cambria Math" panose="02040503050406030204" pitchFamily="18" charset="0"/>
                          <a:ea typeface="Cambria Math" panose="02040503050406030204" pitchFamily="18" charset="0"/>
                        </a:rPr>
                        <m:t>𝑜𝑓</m:t>
                      </m:r>
                      <m:r>
                        <a:rPr lang="en-IN" i="1" dirty="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𝑛𝑒𝑢𝑟𝑜𝑛𝑠</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𝑖𝑛</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𝑓𝑖𝑟𝑠𝑡</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h𝑖𝑑𝑑𝑒𝑛</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𝑙𝑎𝑦𝑒𝑟</m:t>
                      </m:r>
                      <m:r>
                        <a:rPr lang="en-IN" i="1" dirty="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95" name="Rectangle 94">
                <a:extLst>
                  <a:ext uri="{FF2B5EF4-FFF2-40B4-BE49-F238E27FC236}">
                    <a16:creationId xmlns:a16="http://schemas.microsoft.com/office/drawing/2014/main" id="{2241B011-2BC0-46DB-A1A6-239033A2A1EE}"/>
                  </a:ext>
                </a:extLst>
              </p:cNvPr>
              <p:cNvSpPr>
                <a:spLocks noRot="1" noChangeAspect="1" noMove="1" noResize="1" noEditPoints="1" noAdjustHandles="1" noChangeArrowheads="1" noChangeShapeType="1" noTextEdit="1"/>
              </p:cNvSpPr>
              <p:nvPr/>
            </p:nvSpPr>
            <p:spPr>
              <a:xfrm>
                <a:off x="1481712" y="2860819"/>
                <a:ext cx="5140510" cy="369332"/>
              </a:xfrm>
              <a:prstGeom prst="rect">
                <a:avLst/>
              </a:prstGeom>
              <a:blipFill>
                <a:blip r:embed="rId4"/>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Rectangle 95">
                <a:extLst>
                  <a:ext uri="{FF2B5EF4-FFF2-40B4-BE49-F238E27FC236}">
                    <a16:creationId xmlns:a16="http://schemas.microsoft.com/office/drawing/2014/main" id="{CB82B323-6253-4475-AACF-202B2B0CA3C3}"/>
                  </a:ext>
                </a:extLst>
              </p:cNvPr>
              <p:cNvSpPr/>
              <p:nvPr/>
            </p:nvSpPr>
            <p:spPr>
              <a:xfrm>
                <a:off x="1517512" y="2597317"/>
                <a:ext cx="4867615" cy="36933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ea typeface="Cambria Math" panose="02040503050406030204" pitchFamily="18" charset="0"/>
                        </a:rPr>
                        <m:t>𝑒</m:t>
                      </m:r>
                      <m:r>
                        <a:rPr lang="en-IN" i="1" dirty="0" smtClean="0">
                          <a:latin typeface="Cambria Math" panose="02040503050406030204" pitchFamily="18" charset="0"/>
                          <a:ea typeface="Cambria Math" panose="02040503050406030204" pitchFamily="18" charset="0"/>
                        </a:rPr>
                        <m:t>∈1 </m:t>
                      </m:r>
                      <m:r>
                        <a:rPr lang="en-IN" i="1" dirty="0" smtClean="0">
                          <a:latin typeface="Cambria Math" panose="02040503050406030204" pitchFamily="18" charset="0"/>
                          <a:ea typeface="Cambria Math" panose="02040503050406030204" pitchFamily="18" charset="0"/>
                        </a:rPr>
                        <m:t>𝑡𝑜</m:t>
                      </m:r>
                      <m:r>
                        <a:rPr lang="en-IN" i="1" dirty="0" smtClean="0">
                          <a:latin typeface="Cambria Math" panose="02040503050406030204" pitchFamily="18" charset="0"/>
                          <a:ea typeface="Cambria Math" panose="02040503050406030204" pitchFamily="18" charset="0"/>
                        </a:rPr>
                        <m:t> 4 (</m:t>
                      </m:r>
                      <m:r>
                        <a:rPr lang="en-IN" i="1" dirty="0">
                          <a:latin typeface="Cambria Math" panose="02040503050406030204" pitchFamily="18" charset="0"/>
                          <a:ea typeface="Cambria Math" panose="02040503050406030204" pitchFamily="18" charset="0"/>
                        </a:rPr>
                        <m:t>𝑛𝑜</m:t>
                      </m:r>
                      <m:r>
                        <a:rPr lang="en-IN" i="1" dirty="0">
                          <a:latin typeface="Cambria Math" panose="02040503050406030204" pitchFamily="18" charset="0"/>
                          <a:ea typeface="Cambria Math" panose="02040503050406030204" pitchFamily="18" charset="0"/>
                        </a:rPr>
                        <m:t>. </m:t>
                      </m:r>
                      <m:r>
                        <a:rPr lang="en-IN" i="1" dirty="0">
                          <a:latin typeface="Cambria Math" panose="02040503050406030204" pitchFamily="18" charset="0"/>
                          <a:ea typeface="Cambria Math" panose="02040503050406030204" pitchFamily="18" charset="0"/>
                        </a:rPr>
                        <m:t>𝑜𝑓</m:t>
                      </m:r>
                      <m:r>
                        <a:rPr lang="en-IN" i="1" dirty="0">
                          <a:latin typeface="Cambria Math" panose="02040503050406030204" pitchFamily="18" charset="0"/>
                          <a:ea typeface="Cambria Math" panose="02040503050406030204" pitchFamily="18" charset="0"/>
                        </a:rPr>
                        <m:t> </m:t>
                      </m:r>
                      <m:r>
                        <a:rPr lang="en-IN" i="1" dirty="0">
                          <a:latin typeface="Cambria Math" panose="02040503050406030204" pitchFamily="18" charset="0"/>
                          <a:ea typeface="Cambria Math" panose="02040503050406030204" pitchFamily="18" charset="0"/>
                        </a:rPr>
                        <m:t>𝑖𝑛𝑝𝑢𝑡𝑠</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𝑡𝑜</m:t>
                      </m:r>
                      <m:r>
                        <a:rPr lang="en-IN" b="0" i="1" dirty="0" smtClean="0">
                          <a:latin typeface="Cambria Math" panose="02040503050406030204" pitchFamily="18" charset="0"/>
                          <a:ea typeface="Cambria Math" panose="02040503050406030204" pitchFamily="18" charset="0"/>
                        </a:rPr>
                        <m:t> 1</m:t>
                      </m:r>
                      <m:r>
                        <a:rPr lang="en-IN" b="0" i="1" dirty="0" smtClean="0">
                          <a:latin typeface="Cambria Math" panose="02040503050406030204" pitchFamily="18" charset="0"/>
                          <a:ea typeface="Cambria Math" panose="02040503050406030204" pitchFamily="18" charset="0"/>
                        </a:rPr>
                        <m:t>𝑠𝑡</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𝐻𝑖𝑑𝑑𝑒𝑛</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𝐿𝑎𝑦𝑒𝑟</m:t>
                      </m:r>
                      <m:r>
                        <a:rPr lang="en-IN" i="1" dirty="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96" name="Rectangle 95">
                <a:extLst>
                  <a:ext uri="{FF2B5EF4-FFF2-40B4-BE49-F238E27FC236}">
                    <a16:creationId xmlns:a16="http://schemas.microsoft.com/office/drawing/2014/main" id="{CB82B323-6253-4475-AACF-202B2B0CA3C3}"/>
                  </a:ext>
                </a:extLst>
              </p:cNvPr>
              <p:cNvSpPr>
                <a:spLocks noRot="1" noChangeAspect="1" noMove="1" noResize="1" noEditPoints="1" noAdjustHandles="1" noChangeArrowheads="1" noChangeShapeType="1" noTextEdit="1"/>
              </p:cNvSpPr>
              <p:nvPr/>
            </p:nvSpPr>
            <p:spPr>
              <a:xfrm>
                <a:off x="1517512" y="2597317"/>
                <a:ext cx="4867615" cy="369332"/>
              </a:xfrm>
              <a:prstGeom prst="rect">
                <a:avLst/>
              </a:prstGeom>
              <a:blipFill>
                <a:blip r:embed="rId5"/>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Rectangle 96">
                <a:extLst>
                  <a:ext uri="{FF2B5EF4-FFF2-40B4-BE49-F238E27FC236}">
                    <a16:creationId xmlns:a16="http://schemas.microsoft.com/office/drawing/2014/main" id="{50E3275C-2830-4B3A-A806-5215664CF514}"/>
                  </a:ext>
                </a:extLst>
              </p:cNvPr>
              <p:cNvSpPr/>
              <p:nvPr/>
            </p:nvSpPr>
            <p:spPr>
              <a:xfrm>
                <a:off x="1988879" y="3240956"/>
                <a:ext cx="1700402" cy="447238"/>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panose="02040503050406030204" pitchFamily="18" charset="0"/>
                            </a:rPr>
                          </m:ctrlPr>
                        </m:sSubSupPr>
                        <m:e>
                          <m:r>
                            <a:rPr lang="en-IN" i="1" smtClean="0">
                              <a:latin typeface="Cambria Math" panose="02040503050406030204" pitchFamily="18" charset="0"/>
                              <a:ea typeface="Cambria Math" panose="02040503050406030204" pitchFamily="18" charset="0"/>
                            </a:rPr>
                            <m:t>𝛽</m:t>
                          </m:r>
                        </m:e>
                        <m:sub>
                          <m:r>
                            <a:rPr lang="en-IN" b="0" i="1" smtClean="0">
                              <a:latin typeface="Cambria Math" panose="02040503050406030204" pitchFamily="18" charset="0"/>
                              <a:ea typeface="Cambria Math" panose="02040503050406030204" pitchFamily="18" charset="0"/>
                            </a:rPr>
                            <m:t>𝑖</m:t>
                          </m:r>
                        </m:sub>
                        <m:sup>
                          <m:r>
                            <a:rPr lang="en-IN" i="1">
                              <a:latin typeface="Cambria Math" panose="02040503050406030204" pitchFamily="18" charset="0"/>
                            </a:rPr>
                            <m:t>(</m:t>
                          </m:r>
                          <m:r>
                            <a:rPr lang="en-IN" b="0" i="1" smtClean="0">
                              <a:latin typeface="Cambria Math" panose="02040503050406030204" pitchFamily="18" charset="0"/>
                            </a:rPr>
                            <m:t>1</m:t>
                          </m:r>
                          <m:r>
                            <a:rPr lang="en-IN" i="1">
                              <a:latin typeface="Cambria Math" panose="02040503050406030204" pitchFamily="18" charset="0"/>
                            </a:rPr>
                            <m:t>)</m:t>
                          </m:r>
                        </m:sup>
                      </m:sSubSup>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h</m:t>
                          </m:r>
                        </m:sub>
                      </m:sSub>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𝑠</m:t>
                          </m:r>
                        </m:e>
                        <m:sub>
                          <m:r>
                            <a:rPr lang="en-IN" b="0" i="1" smtClean="0">
                              <a:latin typeface="Cambria Math" panose="02040503050406030204" pitchFamily="18" charset="0"/>
                            </a:rPr>
                            <m:t>𝑖</m:t>
                          </m:r>
                        </m:sub>
                        <m:sup>
                          <m:d>
                            <m:dPr>
                              <m:ctrlPr>
                                <a:rPr lang="en-IN" i="1">
                                  <a:latin typeface="Cambria Math" panose="02040503050406030204" pitchFamily="18" charset="0"/>
                                </a:rPr>
                              </m:ctrlPr>
                            </m:dPr>
                            <m:e>
                              <m:r>
                                <a:rPr lang="en-IN" b="0" i="1" smtClean="0">
                                  <a:latin typeface="Cambria Math" panose="02040503050406030204" pitchFamily="18" charset="0"/>
                                </a:rPr>
                                <m:t>1</m:t>
                              </m:r>
                            </m:e>
                          </m:d>
                        </m:sup>
                      </m:sSubSup>
                      <m:r>
                        <a:rPr lang="en-IN" b="0" i="1" smtClean="0">
                          <a:latin typeface="Cambria Math" panose="02040503050406030204" pitchFamily="18" charset="0"/>
                        </a:rPr>
                        <m:t>)</m:t>
                      </m:r>
                    </m:oMath>
                  </m:oMathPara>
                </a14:m>
                <a:endParaRPr lang="en-IN" dirty="0"/>
              </a:p>
            </p:txBody>
          </p:sp>
        </mc:Choice>
        <mc:Fallback xmlns="">
          <p:sp>
            <p:nvSpPr>
              <p:cNvPr id="97" name="Rectangle 96">
                <a:extLst>
                  <a:ext uri="{FF2B5EF4-FFF2-40B4-BE49-F238E27FC236}">
                    <a16:creationId xmlns:a16="http://schemas.microsoft.com/office/drawing/2014/main" id="{50E3275C-2830-4B3A-A806-5215664CF514}"/>
                  </a:ext>
                </a:extLst>
              </p:cNvPr>
              <p:cNvSpPr>
                <a:spLocks noRot="1" noChangeAspect="1" noMove="1" noResize="1" noEditPoints="1" noAdjustHandles="1" noChangeArrowheads="1" noChangeShapeType="1" noTextEdit="1"/>
              </p:cNvSpPr>
              <p:nvPr/>
            </p:nvSpPr>
            <p:spPr>
              <a:xfrm>
                <a:off x="1988879" y="3240956"/>
                <a:ext cx="1700402" cy="447238"/>
              </a:xfrm>
              <a:prstGeom prst="rect">
                <a:avLst/>
              </a:prstGeom>
              <a:blipFill>
                <a:blip r:embed="rId6"/>
                <a:stretch>
                  <a:fillRect b="-684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Rectangle 97">
                <a:extLst>
                  <a:ext uri="{FF2B5EF4-FFF2-40B4-BE49-F238E27FC236}">
                    <a16:creationId xmlns:a16="http://schemas.microsoft.com/office/drawing/2014/main" id="{4814803A-301A-4339-9825-94643AB8DC77}"/>
                  </a:ext>
                </a:extLst>
              </p:cNvPr>
              <p:cNvSpPr/>
              <p:nvPr/>
            </p:nvSpPr>
            <p:spPr>
              <a:xfrm>
                <a:off x="1754661" y="3622524"/>
                <a:ext cx="4125104" cy="36933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h</m:t>
                          </m:r>
                        </m:sub>
                      </m:sSub>
                      <m:r>
                        <a:rPr lang="en-IN" b="0" i="0" smtClean="0">
                          <a:latin typeface="Cambria Math" panose="02040503050406030204" pitchFamily="18" charset="0"/>
                        </a:rPr>
                        <m:t>:</m:t>
                      </m:r>
                      <m:r>
                        <m:rPr>
                          <m:sty m:val="p"/>
                        </m:rPr>
                        <a:rPr lang="en-IN" b="0" i="0" smtClean="0">
                          <a:latin typeface="Cambria Math" panose="02040503050406030204" pitchFamily="18" charset="0"/>
                        </a:rPr>
                        <m:t>activation</m:t>
                      </m:r>
                      <m:r>
                        <a:rPr lang="en-IN" b="0" i="0" smtClean="0">
                          <a:latin typeface="Cambria Math" panose="02040503050406030204" pitchFamily="18" charset="0"/>
                        </a:rPr>
                        <m:t> </m:t>
                      </m:r>
                      <m:r>
                        <m:rPr>
                          <m:sty m:val="p"/>
                        </m:rPr>
                        <a:rPr lang="en-IN" b="0" i="0" smtClean="0">
                          <a:latin typeface="Cambria Math" panose="02040503050406030204" pitchFamily="18" charset="0"/>
                        </a:rPr>
                        <m:t>function</m:t>
                      </m:r>
                      <m:r>
                        <a:rPr lang="en-IN" b="0" i="0" smtClean="0">
                          <a:latin typeface="Cambria Math" panose="02040503050406030204" pitchFamily="18" charset="0"/>
                        </a:rPr>
                        <m:t> </m:t>
                      </m:r>
                      <m:r>
                        <m:rPr>
                          <m:sty m:val="p"/>
                        </m:rPr>
                        <a:rPr lang="en-IN" b="0" i="0" smtClean="0">
                          <a:latin typeface="Cambria Math" panose="02040503050406030204" pitchFamily="18" charset="0"/>
                        </a:rPr>
                        <m:t>for</m:t>
                      </m:r>
                      <m:r>
                        <a:rPr lang="en-IN" b="0" i="0" smtClean="0">
                          <a:latin typeface="Cambria Math" panose="02040503050406030204" pitchFamily="18" charset="0"/>
                        </a:rPr>
                        <m:t> </m:t>
                      </m:r>
                      <m:r>
                        <m:rPr>
                          <m:sty m:val="p"/>
                        </m:rPr>
                        <a:rPr lang="en-IN" b="0" i="0" smtClean="0">
                          <a:latin typeface="Cambria Math" panose="02040503050406030204" pitchFamily="18" charset="0"/>
                        </a:rPr>
                        <m:t>hidden</m:t>
                      </m:r>
                      <m:r>
                        <a:rPr lang="en-IN" b="0" i="0" smtClean="0">
                          <a:latin typeface="Cambria Math" panose="02040503050406030204" pitchFamily="18" charset="0"/>
                        </a:rPr>
                        <m:t> </m:t>
                      </m:r>
                      <m:r>
                        <m:rPr>
                          <m:sty m:val="p"/>
                        </m:rPr>
                        <a:rPr lang="en-IN" b="0" i="0" smtClean="0">
                          <a:latin typeface="Cambria Math" panose="02040503050406030204" pitchFamily="18" charset="0"/>
                        </a:rPr>
                        <m:t>layers</m:t>
                      </m:r>
                    </m:oMath>
                  </m:oMathPara>
                </a14:m>
                <a:endParaRPr lang="en-IN" dirty="0"/>
              </a:p>
            </p:txBody>
          </p:sp>
        </mc:Choice>
        <mc:Fallback xmlns="">
          <p:sp>
            <p:nvSpPr>
              <p:cNvPr id="98" name="Rectangle 97">
                <a:extLst>
                  <a:ext uri="{FF2B5EF4-FFF2-40B4-BE49-F238E27FC236}">
                    <a16:creationId xmlns:a16="http://schemas.microsoft.com/office/drawing/2014/main" id="{4814803A-301A-4339-9825-94643AB8DC77}"/>
                  </a:ext>
                </a:extLst>
              </p:cNvPr>
              <p:cNvSpPr>
                <a:spLocks noRot="1" noChangeAspect="1" noMove="1" noResize="1" noEditPoints="1" noAdjustHandles="1" noChangeArrowheads="1" noChangeShapeType="1" noTextEdit="1"/>
              </p:cNvSpPr>
              <p:nvPr/>
            </p:nvSpPr>
            <p:spPr>
              <a:xfrm>
                <a:off x="1754661" y="3622524"/>
                <a:ext cx="4125104" cy="369332"/>
              </a:xfrm>
              <a:prstGeom prst="rect">
                <a:avLst/>
              </a:prstGeom>
              <a:blipFill>
                <a:blip r:embed="rId7"/>
                <a:stretch>
                  <a:fillRect b="-13115"/>
                </a:stretch>
              </a:blipFill>
            </p:spPr>
            <p:txBody>
              <a:bodyPr/>
              <a:lstStyle/>
              <a:p>
                <a:r>
                  <a:rPr lang="en-IN">
                    <a:noFill/>
                  </a:rPr>
                  <a:t> </a:t>
                </a:r>
              </a:p>
            </p:txBody>
          </p:sp>
        </mc:Fallback>
      </mc:AlternateContent>
      <p:sp>
        <p:nvSpPr>
          <p:cNvPr id="99" name="Rectangle 98">
            <a:extLst>
              <a:ext uri="{FF2B5EF4-FFF2-40B4-BE49-F238E27FC236}">
                <a16:creationId xmlns:a16="http://schemas.microsoft.com/office/drawing/2014/main" id="{7C0772D8-A597-4862-B17E-B90F4004FA11}"/>
              </a:ext>
            </a:extLst>
          </p:cNvPr>
          <p:cNvSpPr/>
          <p:nvPr/>
        </p:nvSpPr>
        <p:spPr>
          <a:xfrm>
            <a:off x="1152910" y="4078944"/>
            <a:ext cx="5584166" cy="2358014"/>
          </a:xfrm>
          <a:prstGeom prst="rect">
            <a:avLst/>
          </a:prstGeom>
          <a:solidFill>
            <a:schemeClr val="accent6">
              <a:lumMod val="40000"/>
              <a:lumOff val="60000"/>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9C755CA7-D0A4-458B-A7EE-452C872FBEB5}"/>
                  </a:ext>
                </a:extLst>
              </p:cNvPr>
              <p:cNvSpPr txBox="1"/>
              <p:nvPr/>
            </p:nvSpPr>
            <p:spPr>
              <a:xfrm>
                <a:off x="3325020" y="4078943"/>
                <a:ext cx="3239313" cy="95763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Sup>
                        <m:sSubSupPr>
                          <m:ctrlPr>
                            <a:rPr lang="en-IN" sz="2000" i="1" smtClean="0">
                              <a:latin typeface="Cambria Math" panose="02040503050406030204" pitchFamily="18" charset="0"/>
                            </a:rPr>
                          </m:ctrlPr>
                        </m:sSubSupPr>
                        <m:e>
                          <m:r>
                            <a:rPr lang="en-IN" sz="2000" b="0" i="1" smtClean="0">
                              <a:latin typeface="Cambria Math" panose="02040503050406030204" pitchFamily="18" charset="0"/>
                            </a:rPr>
                            <m:t>𝑠</m:t>
                          </m:r>
                        </m:e>
                        <m:sub>
                          <m:r>
                            <a:rPr lang="en-IN" sz="2000" b="0" i="1" smtClean="0">
                              <a:latin typeface="Cambria Math" panose="02040503050406030204" pitchFamily="18" charset="0"/>
                            </a:rPr>
                            <m:t>𝑖</m:t>
                          </m:r>
                        </m:sub>
                        <m:sup>
                          <m:r>
                            <a:rPr lang="en-IN" sz="2000" b="0" i="1" smtClean="0">
                              <a:latin typeface="Cambria Math" panose="02040503050406030204" pitchFamily="18" charset="0"/>
                            </a:rPr>
                            <m:t>(2)</m:t>
                          </m:r>
                        </m:sup>
                      </m:sSubSup>
                      <m:r>
                        <a:rPr lang="en-IN" sz="2000" b="0" i="1" smtClean="0">
                          <a:latin typeface="Cambria Math" panose="02040503050406030204" pitchFamily="18" charset="0"/>
                        </a:rPr>
                        <m:t>=</m:t>
                      </m:r>
                      <m:nary>
                        <m:naryPr>
                          <m:chr m:val="∑"/>
                          <m:ctrlPr>
                            <a:rPr lang="en-IN" sz="2000" b="0" i="1" smtClean="0">
                              <a:solidFill>
                                <a:schemeClr val="tx1"/>
                              </a:solidFill>
                              <a:latin typeface="Cambria Math" panose="02040503050406030204" pitchFamily="18" charset="0"/>
                            </a:rPr>
                          </m:ctrlPr>
                        </m:naryPr>
                        <m:sub>
                          <m:r>
                            <a:rPr lang="en-IN" sz="2000" b="0" i="1" smtClean="0">
                              <a:solidFill>
                                <a:schemeClr val="tx1"/>
                              </a:solidFill>
                              <a:latin typeface="Cambria Math" panose="02040503050406030204" pitchFamily="18" charset="0"/>
                            </a:rPr>
                            <m:t>𝑒</m:t>
                          </m:r>
                          <m:r>
                            <a:rPr lang="en-IN" sz="2000" b="0" i="1" smtClean="0">
                              <a:solidFill>
                                <a:schemeClr val="tx1"/>
                              </a:solidFill>
                              <a:latin typeface="Cambria Math" panose="02040503050406030204" pitchFamily="18" charset="0"/>
                            </a:rPr>
                            <m:t>=1</m:t>
                          </m:r>
                        </m:sub>
                        <m:sup>
                          <m:r>
                            <a:rPr lang="en-IN" sz="2000" b="0" i="1" smtClean="0">
                              <a:solidFill>
                                <a:schemeClr val="tx1"/>
                              </a:solidFill>
                              <a:latin typeface="Cambria Math" panose="02040503050406030204" pitchFamily="18" charset="0"/>
                            </a:rPr>
                            <m:t>2</m:t>
                          </m:r>
                        </m:sup>
                        <m:e>
                          <m:sSubSup>
                            <m:sSubSupPr>
                              <m:ctrlPr>
                                <a:rPr lang="en-IN" sz="2000" i="1">
                                  <a:solidFill>
                                    <a:schemeClr val="tx1"/>
                                  </a:solidFill>
                                  <a:latin typeface="Cambria Math" panose="02040503050406030204" pitchFamily="18" charset="0"/>
                                </a:rPr>
                              </m:ctrlPr>
                            </m:sSubSupPr>
                            <m:e>
                              <m:r>
                                <a:rPr lang="en-IN" sz="2000" i="1">
                                  <a:solidFill>
                                    <a:schemeClr val="tx1"/>
                                  </a:solidFill>
                                  <a:latin typeface="Cambria Math" panose="02040503050406030204" pitchFamily="18" charset="0"/>
                                </a:rPr>
                                <m:t>𝑊</m:t>
                              </m:r>
                            </m:e>
                            <m:sub>
                              <m:r>
                                <a:rPr lang="en-IN" sz="2000" b="0" i="1" smtClean="0">
                                  <a:solidFill>
                                    <a:schemeClr val="tx1"/>
                                  </a:solidFill>
                                  <a:latin typeface="Cambria Math" panose="02040503050406030204" pitchFamily="18" charset="0"/>
                                </a:rPr>
                                <m:t>𝑖</m:t>
                              </m:r>
                            </m:sub>
                            <m:sup>
                              <m:r>
                                <a:rPr lang="en-IN" sz="2000" i="1">
                                  <a:solidFill>
                                    <a:schemeClr val="tx1"/>
                                  </a:solidFill>
                                  <a:latin typeface="Cambria Math" panose="02040503050406030204" pitchFamily="18" charset="0"/>
                                </a:rPr>
                                <m:t>(</m:t>
                              </m:r>
                              <m:r>
                                <a:rPr lang="en-IN" sz="2000" b="0" i="1" smtClean="0">
                                  <a:solidFill>
                                    <a:schemeClr val="tx1"/>
                                  </a:solidFill>
                                  <a:latin typeface="Cambria Math" panose="02040503050406030204" pitchFamily="18" charset="0"/>
                                </a:rPr>
                                <m:t>2</m:t>
                              </m:r>
                              <m:r>
                                <a:rPr lang="en-IN" sz="2000" i="1">
                                  <a:solidFill>
                                    <a:schemeClr val="tx1"/>
                                  </a:solidFill>
                                  <a:latin typeface="Cambria Math" panose="02040503050406030204" pitchFamily="18" charset="0"/>
                                </a:rPr>
                                <m:t>)</m:t>
                              </m:r>
                            </m:sup>
                          </m:sSubSup>
                          <m:sSubSup>
                            <m:sSubSupPr>
                              <m:ctrlPr>
                                <a:rPr lang="en-IN" sz="2000" i="1" dirty="0">
                                  <a:solidFill>
                                    <a:schemeClr val="tx1"/>
                                  </a:solidFill>
                                  <a:latin typeface="Cambria Math" panose="02040503050406030204" pitchFamily="18" charset="0"/>
                                </a:rPr>
                              </m:ctrlPr>
                            </m:sSubSupPr>
                            <m:e>
                              <m:r>
                                <a:rPr lang="en-IN" sz="2000" i="1" dirty="0" smtClean="0">
                                  <a:solidFill>
                                    <a:schemeClr val="tx1"/>
                                  </a:solidFill>
                                  <a:latin typeface="Cambria Math" panose="02040503050406030204" pitchFamily="18" charset="0"/>
                                  <a:ea typeface="Cambria Math" panose="02040503050406030204" pitchFamily="18" charset="0"/>
                                </a:rPr>
                                <m:t>𝛽</m:t>
                              </m:r>
                            </m:e>
                            <m:sub>
                              <m:r>
                                <a:rPr lang="en-IN" sz="2000" b="0" i="1" dirty="0" smtClean="0">
                                  <a:solidFill>
                                    <a:schemeClr val="tx1"/>
                                  </a:solidFill>
                                  <a:latin typeface="Cambria Math" panose="02040503050406030204" pitchFamily="18" charset="0"/>
                                  <a:ea typeface="Cambria Math" panose="02040503050406030204" pitchFamily="18" charset="0"/>
                                </a:rPr>
                                <m:t>𝑒</m:t>
                              </m:r>
                            </m:sub>
                            <m:sup>
                              <m:r>
                                <a:rPr lang="en-IN" sz="2000" i="1" dirty="0">
                                  <a:solidFill>
                                    <a:schemeClr val="tx1"/>
                                  </a:solidFill>
                                  <a:latin typeface="Cambria Math" panose="02040503050406030204" pitchFamily="18" charset="0"/>
                                </a:rPr>
                                <m:t>(</m:t>
                              </m:r>
                              <m:r>
                                <a:rPr lang="en-IN" sz="2000" b="0" i="1" dirty="0" smtClean="0">
                                  <a:solidFill>
                                    <a:schemeClr val="tx1"/>
                                  </a:solidFill>
                                  <a:latin typeface="Cambria Math" panose="02040503050406030204" pitchFamily="18" charset="0"/>
                                </a:rPr>
                                <m:t>1</m:t>
                              </m:r>
                              <m:r>
                                <a:rPr lang="en-IN" sz="2000" i="1" dirty="0">
                                  <a:solidFill>
                                    <a:schemeClr val="tx1"/>
                                  </a:solidFill>
                                  <a:latin typeface="Cambria Math" panose="02040503050406030204" pitchFamily="18" charset="0"/>
                                </a:rPr>
                                <m:t>)</m:t>
                              </m:r>
                            </m:sup>
                          </m:sSubSup>
                          <m:r>
                            <a:rPr lang="en-IN" sz="2000" b="0" i="1" smtClean="0">
                              <a:solidFill>
                                <a:schemeClr val="tx1"/>
                              </a:solidFill>
                              <a:latin typeface="Cambria Math" panose="02040503050406030204" pitchFamily="18" charset="0"/>
                            </a:rPr>
                            <m:t>+ </m:t>
                          </m:r>
                          <m:sSup>
                            <m:sSupPr>
                              <m:ctrlPr>
                                <a:rPr lang="en-IN" sz="2000" b="0" i="1" smtClean="0">
                                  <a:solidFill>
                                    <a:schemeClr val="tx1"/>
                                  </a:solidFill>
                                  <a:latin typeface="Cambria Math" panose="02040503050406030204" pitchFamily="18" charset="0"/>
                                </a:rPr>
                              </m:ctrlPr>
                            </m:sSupPr>
                            <m:e>
                              <m:r>
                                <a:rPr lang="en-IN" sz="2000" b="0" i="1" smtClean="0">
                                  <a:solidFill>
                                    <a:schemeClr val="tx1"/>
                                  </a:solidFill>
                                  <a:latin typeface="Cambria Math" panose="02040503050406030204" pitchFamily="18" charset="0"/>
                                </a:rPr>
                                <m:t>𝑏</m:t>
                              </m:r>
                            </m:e>
                            <m:sup>
                              <m:r>
                                <a:rPr lang="en-IN" sz="2000" b="0" i="1" smtClean="0">
                                  <a:solidFill>
                                    <a:schemeClr val="tx1"/>
                                  </a:solidFill>
                                  <a:latin typeface="Cambria Math" panose="02040503050406030204" pitchFamily="18" charset="0"/>
                                </a:rPr>
                                <m:t>(2)</m:t>
                              </m:r>
                            </m:sup>
                          </m:sSup>
                        </m:e>
                      </m:nary>
                    </m:oMath>
                  </m:oMathPara>
                </a14:m>
                <a:endParaRPr lang="en-IN" sz="2000" dirty="0"/>
              </a:p>
            </p:txBody>
          </p:sp>
        </mc:Choice>
        <mc:Fallback xmlns="">
          <p:sp>
            <p:nvSpPr>
              <p:cNvPr id="100" name="TextBox 99">
                <a:extLst>
                  <a:ext uri="{FF2B5EF4-FFF2-40B4-BE49-F238E27FC236}">
                    <a16:creationId xmlns:a16="http://schemas.microsoft.com/office/drawing/2014/main" id="{9C755CA7-D0A4-458B-A7EE-452C872FBEB5}"/>
                  </a:ext>
                </a:extLst>
              </p:cNvPr>
              <p:cNvSpPr txBox="1">
                <a:spLocks noRot="1" noChangeAspect="1" noMove="1" noResize="1" noEditPoints="1" noAdjustHandles="1" noChangeArrowheads="1" noChangeShapeType="1" noTextEdit="1"/>
              </p:cNvSpPr>
              <p:nvPr/>
            </p:nvSpPr>
            <p:spPr>
              <a:xfrm>
                <a:off x="3325020" y="4078943"/>
                <a:ext cx="3239313" cy="957634"/>
              </a:xfrm>
              <a:prstGeom prst="rect">
                <a:avLst/>
              </a:prstGeom>
              <a:blipFill>
                <a:blip r:embed="rId8"/>
                <a:stretch>
                  <a:fillRect/>
                </a:stretch>
              </a:blipFill>
            </p:spPr>
            <p:txBody>
              <a:bodyPr/>
              <a:lstStyle/>
              <a:p>
                <a:r>
                  <a:rPr lang="en-IN">
                    <a:noFill/>
                  </a:rPr>
                  <a:t> </a:t>
                </a:r>
              </a:p>
            </p:txBody>
          </p:sp>
        </mc:Fallback>
      </mc:AlternateContent>
      <p:sp>
        <p:nvSpPr>
          <p:cNvPr id="101" name="TextBox 100">
            <a:extLst>
              <a:ext uri="{FF2B5EF4-FFF2-40B4-BE49-F238E27FC236}">
                <a16:creationId xmlns:a16="http://schemas.microsoft.com/office/drawing/2014/main" id="{3072519D-C6B4-4ABE-BF86-D245CC26849A}"/>
              </a:ext>
            </a:extLst>
          </p:cNvPr>
          <p:cNvSpPr txBox="1"/>
          <p:nvPr/>
        </p:nvSpPr>
        <p:spPr>
          <a:xfrm>
            <a:off x="1437858" y="4289227"/>
            <a:ext cx="1905000"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Hidden Layer 2: </a:t>
            </a:r>
          </a:p>
        </p:txBody>
      </p:sp>
      <mc:AlternateContent xmlns:mc="http://schemas.openxmlformats.org/markup-compatibility/2006" xmlns:a14="http://schemas.microsoft.com/office/drawing/2010/main">
        <mc:Choice Requires="a14">
          <p:sp>
            <p:nvSpPr>
              <p:cNvPr id="102" name="Rectangle 101">
                <a:extLst>
                  <a:ext uri="{FF2B5EF4-FFF2-40B4-BE49-F238E27FC236}">
                    <a16:creationId xmlns:a16="http://schemas.microsoft.com/office/drawing/2014/main" id="{025975B2-F114-4882-B690-AD0F8AC3E20A}"/>
                  </a:ext>
                </a:extLst>
              </p:cNvPr>
              <p:cNvSpPr/>
              <p:nvPr/>
            </p:nvSpPr>
            <p:spPr>
              <a:xfrm>
                <a:off x="1766050" y="5032825"/>
                <a:ext cx="4936608" cy="36933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ea typeface="Cambria Math" panose="02040503050406030204" pitchFamily="18" charset="0"/>
                        </a:rPr>
                        <m:t>𝑒</m:t>
                      </m:r>
                      <m:r>
                        <a:rPr lang="en-IN" i="1" dirty="0" smtClean="0">
                          <a:latin typeface="Cambria Math" panose="02040503050406030204" pitchFamily="18" charset="0"/>
                          <a:ea typeface="Cambria Math" panose="02040503050406030204" pitchFamily="18" charset="0"/>
                        </a:rPr>
                        <m:t>∈1 </m:t>
                      </m:r>
                      <m:r>
                        <a:rPr lang="en-IN" i="1" dirty="0" smtClean="0">
                          <a:latin typeface="Cambria Math" panose="02040503050406030204" pitchFamily="18" charset="0"/>
                          <a:ea typeface="Cambria Math" panose="02040503050406030204" pitchFamily="18" charset="0"/>
                        </a:rPr>
                        <m:t>𝑡𝑜</m:t>
                      </m:r>
                      <m:r>
                        <a:rPr lang="en-IN" i="1" dirty="0" smtClean="0">
                          <a:latin typeface="Cambria Math" panose="02040503050406030204" pitchFamily="18" charset="0"/>
                          <a:ea typeface="Cambria Math" panose="02040503050406030204" pitchFamily="18" charset="0"/>
                        </a:rPr>
                        <m:t> 2 (</m:t>
                      </m:r>
                      <m:r>
                        <a:rPr lang="en-IN" i="1" dirty="0">
                          <a:latin typeface="Cambria Math" panose="02040503050406030204" pitchFamily="18" charset="0"/>
                          <a:ea typeface="Cambria Math" panose="02040503050406030204" pitchFamily="18" charset="0"/>
                        </a:rPr>
                        <m:t>𝑛𝑜</m:t>
                      </m:r>
                      <m:r>
                        <a:rPr lang="en-IN" i="1" dirty="0">
                          <a:latin typeface="Cambria Math" panose="02040503050406030204" pitchFamily="18" charset="0"/>
                          <a:ea typeface="Cambria Math" panose="02040503050406030204" pitchFamily="18" charset="0"/>
                        </a:rPr>
                        <m:t>. </m:t>
                      </m:r>
                      <m:r>
                        <a:rPr lang="en-IN" i="1" dirty="0">
                          <a:latin typeface="Cambria Math" panose="02040503050406030204" pitchFamily="18" charset="0"/>
                          <a:ea typeface="Cambria Math" panose="02040503050406030204" pitchFamily="18" charset="0"/>
                        </a:rPr>
                        <m:t>𝑜𝑓</m:t>
                      </m:r>
                      <m:r>
                        <a:rPr lang="en-IN" i="1" dirty="0">
                          <a:latin typeface="Cambria Math" panose="02040503050406030204" pitchFamily="18" charset="0"/>
                          <a:ea typeface="Cambria Math" panose="02040503050406030204" pitchFamily="18" charset="0"/>
                        </a:rPr>
                        <m:t> </m:t>
                      </m:r>
                      <m:r>
                        <a:rPr lang="en-IN" i="1" dirty="0">
                          <a:latin typeface="Cambria Math" panose="02040503050406030204" pitchFamily="18" charset="0"/>
                          <a:ea typeface="Cambria Math" panose="02040503050406030204" pitchFamily="18" charset="0"/>
                        </a:rPr>
                        <m:t>𝑖𝑛𝑝𝑢𝑡𝑠</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𝑡𝑜</m:t>
                      </m:r>
                      <m:r>
                        <a:rPr lang="en-IN" b="0" i="1" dirty="0" smtClean="0">
                          <a:latin typeface="Cambria Math" panose="02040503050406030204" pitchFamily="18" charset="0"/>
                          <a:ea typeface="Cambria Math" panose="02040503050406030204" pitchFamily="18" charset="0"/>
                        </a:rPr>
                        <m:t> 2</m:t>
                      </m:r>
                      <m:r>
                        <a:rPr lang="en-IN" b="0" i="1" dirty="0" smtClean="0">
                          <a:latin typeface="Cambria Math" panose="02040503050406030204" pitchFamily="18" charset="0"/>
                          <a:ea typeface="Cambria Math" panose="02040503050406030204" pitchFamily="18" charset="0"/>
                        </a:rPr>
                        <m:t>𝑛𝑑</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𝐻𝑖𝑑𝑑𝑒𝑛</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𝐿𝑎𝑦𝑒𝑟</m:t>
                      </m:r>
                      <m:r>
                        <a:rPr lang="en-IN" i="1" dirty="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102" name="Rectangle 101">
                <a:extLst>
                  <a:ext uri="{FF2B5EF4-FFF2-40B4-BE49-F238E27FC236}">
                    <a16:creationId xmlns:a16="http://schemas.microsoft.com/office/drawing/2014/main" id="{025975B2-F114-4882-B690-AD0F8AC3E20A}"/>
                  </a:ext>
                </a:extLst>
              </p:cNvPr>
              <p:cNvSpPr>
                <a:spLocks noRot="1" noChangeAspect="1" noMove="1" noResize="1" noEditPoints="1" noAdjustHandles="1" noChangeArrowheads="1" noChangeShapeType="1" noTextEdit="1"/>
              </p:cNvSpPr>
              <p:nvPr/>
            </p:nvSpPr>
            <p:spPr>
              <a:xfrm>
                <a:off x="1766050" y="5032825"/>
                <a:ext cx="4936608" cy="369332"/>
              </a:xfrm>
              <a:prstGeom prst="rect">
                <a:avLst/>
              </a:prstGeom>
              <a:blipFill>
                <a:blip r:embed="rId9"/>
                <a:stretch>
                  <a:fillRect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Rectangle 102">
                <a:extLst>
                  <a:ext uri="{FF2B5EF4-FFF2-40B4-BE49-F238E27FC236}">
                    <a16:creationId xmlns:a16="http://schemas.microsoft.com/office/drawing/2014/main" id="{ED330D71-22C3-472D-A0B1-673A63B2B5F3}"/>
                  </a:ext>
                </a:extLst>
              </p:cNvPr>
              <p:cNvSpPr/>
              <p:nvPr/>
            </p:nvSpPr>
            <p:spPr>
              <a:xfrm>
                <a:off x="2204550" y="5651769"/>
                <a:ext cx="1700402" cy="447238"/>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panose="02040503050406030204" pitchFamily="18" charset="0"/>
                            </a:rPr>
                          </m:ctrlPr>
                        </m:sSubSupPr>
                        <m:e>
                          <m:r>
                            <a:rPr lang="el-GR" i="1">
                              <a:latin typeface="Cambria Math" panose="02040503050406030204" pitchFamily="18" charset="0"/>
                              <a:ea typeface="Cambria Math" panose="02040503050406030204" pitchFamily="18" charset="0"/>
                            </a:rPr>
                            <m:t>𝛽</m:t>
                          </m:r>
                        </m:e>
                        <m:sub>
                          <m:r>
                            <a:rPr lang="en-IN" b="0" i="1" smtClean="0">
                              <a:latin typeface="Cambria Math" panose="02040503050406030204" pitchFamily="18" charset="0"/>
                              <a:ea typeface="Cambria Math" panose="02040503050406030204" pitchFamily="18" charset="0"/>
                            </a:rPr>
                            <m:t>𝑖</m:t>
                          </m:r>
                        </m:sub>
                        <m:sup>
                          <m:r>
                            <a:rPr lang="en-IN" i="1">
                              <a:latin typeface="Cambria Math" panose="02040503050406030204" pitchFamily="18" charset="0"/>
                            </a:rPr>
                            <m:t>(</m:t>
                          </m:r>
                          <m:r>
                            <a:rPr lang="en-IN" b="0" i="1" smtClean="0">
                              <a:latin typeface="Cambria Math" panose="02040503050406030204" pitchFamily="18" charset="0"/>
                            </a:rPr>
                            <m:t>2</m:t>
                          </m:r>
                          <m:r>
                            <a:rPr lang="en-IN" i="1">
                              <a:latin typeface="Cambria Math" panose="02040503050406030204" pitchFamily="18" charset="0"/>
                            </a:rPr>
                            <m:t>)</m:t>
                          </m:r>
                        </m:sup>
                      </m:sSubSup>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𝑓</m:t>
                          </m:r>
                        </m:e>
                        <m:sub>
                          <m:r>
                            <a:rPr lang="en-IN" b="0" i="1" smtClean="0">
                              <a:latin typeface="Cambria Math" panose="02040503050406030204" pitchFamily="18" charset="0"/>
                            </a:rPr>
                            <m:t>h</m:t>
                          </m:r>
                        </m:sub>
                      </m:sSub>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𝑠</m:t>
                          </m:r>
                        </m:e>
                        <m:sub>
                          <m:r>
                            <a:rPr lang="en-IN" b="0" i="1" smtClean="0">
                              <a:latin typeface="Cambria Math" panose="02040503050406030204" pitchFamily="18" charset="0"/>
                            </a:rPr>
                            <m:t>𝑖</m:t>
                          </m:r>
                        </m:sub>
                        <m:sup>
                          <m:d>
                            <m:dPr>
                              <m:ctrlPr>
                                <a:rPr lang="en-IN" i="1">
                                  <a:latin typeface="Cambria Math" panose="02040503050406030204" pitchFamily="18" charset="0"/>
                                </a:rPr>
                              </m:ctrlPr>
                            </m:dPr>
                            <m:e>
                              <m:r>
                                <a:rPr lang="en-IN" b="0" i="1" smtClean="0">
                                  <a:latin typeface="Cambria Math" panose="02040503050406030204" pitchFamily="18" charset="0"/>
                                </a:rPr>
                                <m:t>2</m:t>
                              </m:r>
                            </m:e>
                          </m:d>
                        </m:sup>
                      </m:sSubSup>
                      <m:r>
                        <a:rPr lang="en-IN" b="0" i="1" smtClean="0">
                          <a:latin typeface="Cambria Math" panose="02040503050406030204" pitchFamily="18" charset="0"/>
                        </a:rPr>
                        <m:t>)</m:t>
                      </m:r>
                    </m:oMath>
                  </m:oMathPara>
                </a14:m>
                <a:endParaRPr lang="en-IN" dirty="0"/>
              </a:p>
            </p:txBody>
          </p:sp>
        </mc:Choice>
        <mc:Fallback xmlns="">
          <p:sp>
            <p:nvSpPr>
              <p:cNvPr id="103" name="Rectangle 102">
                <a:extLst>
                  <a:ext uri="{FF2B5EF4-FFF2-40B4-BE49-F238E27FC236}">
                    <a16:creationId xmlns:a16="http://schemas.microsoft.com/office/drawing/2014/main" id="{ED330D71-22C3-472D-A0B1-673A63B2B5F3}"/>
                  </a:ext>
                </a:extLst>
              </p:cNvPr>
              <p:cNvSpPr>
                <a:spLocks noRot="1" noChangeAspect="1" noMove="1" noResize="1" noEditPoints="1" noAdjustHandles="1" noChangeArrowheads="1" noChangeShapeType="1" noTextEdit="1"/>
              </p:cNvSpPr>
              <p:nvPr/>
            </p:nvSpPr>
            <p:spPr>
              <a:xfrm>
                <a:off x="2204550" y="5651769"/>
                <a:ext cx="1700402" cy="447238"/>
              </a:xfrm>
              <a:prstGeom prst="rect">
                <a:avLst/>
              </a:prstGeom>
              <a:blipFill>
                <a:blip r:embed="rId10"/>
                <a:stretch>
                  <a:fillRect b="-821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4" name="Rectangle 103">
                <a:extLst>
                  <a:ext uri="{FF2B5EF4-FFF2-40B4-BE49-F238E27FC236}">
                    <a16:creationId xmlns:a16="http://schemas.microsoft.com/office/drawing/2014/main" id="{3484CDB9-59B4-4894-B5BE-D17588496A50}"/>
                  </a:ext>
                </a:extLst>
              </p:cNvPr>
              <p:cNvSpPr/>
              <p:nvPr/>
            </p:nvSpPr>
            <p:spPr>
              <a:xfrm>
                <a:off x="1751525" y="5376313"/>
                <a:ext cx="5028364" cy="36933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en-IN" b="0" i="1" dirty="0" smtClean="0">
                          <a:latin typeface="Cambria Math" panose="02040503050406030204" pitchFamily="18" charset="0"/>
                          <a:ea typeface="Cambria Math" panose="02040503050406030204" pitchFamily="18" charset="0"/>
                        </a:rPr>
                        <m:t>𝑖</m:t>
                      </m:r>
                      <m:r>
                        <a:rPr lang="en-IN" i="1" dirty="0">
                          <a:latin typeface="Cambria Math" panose="02040503050406030204" pitchFamily="18" charset="0"/>
                          <a:ea typeface="Cambria Math" panose="02040503050406030204" pitchFamily="18" charset="0"/>
                        </a:rPr>
                        <m:t>∈1 </m:t>
                      </m:r>
                      <m:r>
                        <a:rPr lang="en-IN" i="1" dirty="0">
                          <a:latin typeface="Cambria Math" panose="02040503050406030204" pitchFamily="18" charset="0"/>
                          <a:ea typeface="Cambria Math" panose="02040503050406030204" pitchFamily="18" charset="0"/>
                        </a:rPr>
                        <m:t>𝑡𝑜</m:t>
                      </m:r>
                      <m:r>
                        <a:rPr lang="en-IN" i="1" dirty="0">
                          <a:latin typeface="Cambria Math" panose="02040503050406030204" pitchFamily="18" charset="0"/>
                          <a:ea typeface="Cambria Math" panose="02040503050406030204" pitchFamily="18" charset="0"/>
                        </a:rPr>
                        <m:t> 2 (</m:t>
                      </m:r>
                      <m:r>
                        <a:rPr lang="en-IN" i="1" dirty="0">
                          <a:latin typeface="Cambria Math" panose="02040503050406030204" pitchFamily="18" charset="0"/>
                          <a:ea typeface="Cambria Math" panose="02040503050406030204" pitchFamily="18" charset="0"/>
                        </a:rPr>
                        <m:t>𝑛𝑜</m:t>
                      </m:r>
                      <m:r>
                        <a:rPr lang="en-IN" i="1" dirty="0">
                          <a:latin typeface="Cambria Math" panose="02040503050406030204" pitchFamily="18" charset="0"/>
                          <a:ea typeface="Cambria Math" panose="02040503050406030204" pitchFamily="18" charset="0"/>
                        </a:rPr>
                        <m:t>. </m:t>
                      </m:r>
                      <m:r>
                        <a:rPr lang="en-IN" i="1" dirty="0">
                          <a:latin typeface="Cambria Math" panose="02040503050406030204" pitchFamily="18" charset="0"/>
                          <a:ea typeface="Cambria Math" panose="02040503050406030204" pitchFamily="18" charset="0"/>
                        </a:rPr>
                        <m:t>𝑜𝑓</m:t>
                      </m:r>
                      <m:r>
                        <a:rPr lang="en-IN" i="1" dirty="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𝑛𝑒𝑢𝑟𝑜𝑛𝑠</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𝑖𝑛</m:t>
                      </m:r>
                      <m:r>
                        <a:rPr lang="en-IN" b="0" i="1" dirty="0" smtClean="0">
                          <a:latin typeface="Cambria Math" panose="02040503050406030204" pitchFamily="18" charset="0"/>
                          <a:ea typeface="Cambria Math" panose="02040503050406030204" pitchFamily="18" charset="0"/>
                        </a:rPr>
                        <m:t> 2</m:t>
                      </m:r>
                      <m:r>
                        <a:rPr lang="en-IN" i="1" dirty="0">
                          <a:latin typeface="Cambria Math" panose="02040503050406030204" pitchFamily="18" charset="0"/>
                          <a:ea typeface="Cambria Math" panose="02040503050406030204" pitchFamily="18" charset="0"/>
                        </a:rPr>
                        <m:t>𝑛𝑑</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h𝑖𝑑𝑑𝑒𝑛</m:t>
                      </m:r>
                      <m:r>
                        <a:rPr lang="en-IN" b="0" i="1" dirty="0" smtClean="0">
                          <a:latin typeface="Cambria Math" panose="02040503050406030204" pitchFamily="18" charset="0"/>
                          <a:ea typeface="Cambria Math" panose="02040503050406030204" pitchFamily="18" charset="0"/>
                        </a:rPr>
                        <m:t> </m:t>
                      </m:r>
                      <m:r>
                        <a:rPr lang="en-IN" b="0" i="1" dirty="0" smtClean="0">
                          <a:latin typeface="Cambria Math" panose="02040503050406030204" pitchFamily="18" charset="0"/>
                          <a:ea typeface="Cambria Math" panose="02040503050406030204" pitchFamily="18" charset="0"/>
                        </a:rPr>
                        <m:t>𝑙𝑎𝑦𝑒𝑟</m:t>
                      </m:r>
                      <m:r>
                        <a:rPr lang="en-IN" i="1" dirty="0">
                          <a:latin typeface="Cambria Math" panose="02040503050406030204" pitchFamily="18" charset="0"/>
                          <a:ea typeface="Cambria Math" panose="02040503050406030204" pitchFamily="18" charset="0"/>
                        </a:rPr>
                        <m:t>)</m:t>
                      </m:r>
                    </m:oMath>
                  </m:oMathPara>
                </a14:m>
                <a:endParaRPr lang="en-IN" sz="2400" dirty="0"/>
              </a:p>
            </p:txBody>
          </p:sp>
        </mc:Choice>
        <mc:Fallback xmlns="">
          <p:sp>
            <p:nvSpPr>
              <p:cNvPr id="104" name="Rectangle 103">
                <a:extLst>
                  <a:ext uri="{FF2B5EF4-FFF2-40B4-BE49-F238E27FC236}">
                    <a16:creationId xmlns:a16="http://schemas.microsoft.com/office/drawing/2014/main" id="{3484CDB9-59B4-4894-B5BE-D17588496A50}"/>
                  </a:ext>
                </a:extLst>
              </p:cNvPr>
              <p:cNvSpPr>
                <a:spLocks noRot="1" noChangeAspect="1" noMove="1" noResize="1" noEditPoints="1" noAdjustHandles="1" noChangeArrowheads="1" noChangeShapeType="1" noTextEdit="1"/>
              </p:cNvSpPr>
              <p:nvPr/>
            </p:nvSpPr>
            <p:spPr>
              <a:xfrm>
                <a:off x="1751525" y="5376313"/>
                <a:ext cx="5028364" cy="369332"/>
              </a:xfrm>
              <a:prstGeom prst="rect">
                <a:avLst/>
              </a:prstGeom>
              <a:blipFill>
                <a:blip r:embed="rId11"/>
                <a:stretch>
                  <a:fillRect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Rectangle 104">
                <a:extLst>
                  <a:ext uri="{FF2B5EF4-FFF2-40B4-BE49-F238E27FC236}">
                    <a16:creationId xmlns:a16="http://schemas.microsoft.com/office/drawing/2014/main" id="{2FB61F28-98AA-4737-973F-B0B0EAA74CDD}"/>
                  </a:ext>
                </a:extLst>
              </p:cNvPr>
              <p:cNvSpPr/>
              <p:nvPr/>
            </p:nvSpPr>
            <p:spPr>
              <a:xfrm>
                <a:off x="1701995" y="6083000"/>
                <a:ext cx="4125104" cy="36933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h</m:t>
                          </m:r>
                        </m:sub>
                      </m:sSub>
                      <m:r>
                        <a:rPr lang="en-IN" b="0" i="0" smtClean="0">
                          <a:latin typeface="Cambria Math" panose="02040503050406030204" pitchFamily="18" charset="0"/>
                        </a:rPr>
                        <m:t>:</m:t>
                      </m:r>
                      <m:r>
                        <m:rPr>
                          <m:sty m:val="p"/>
                        </m:rPr>
                        <a:rPr lang="en-IN" b="0" i="0" smtClean="0">
                          <a:latin typeface="Cambria Math" panose="02040503050406030204" pitchFamily="18" charset="0"/>
                        </a:rPr>
                        <m:t>activation</m:t>
                      </m:r>
                      <m:r>
                        <a:rPr lang="en-IN" b="0" i="0" smtClean="0">
                          <a:latin typeface="Cambria Math" panose="02040503050406030204" pitchFamily="18" charset="0"/>
                        </a:rPr>
                        <m:t> </m:t>
                      </m:r>
                      <m:r>
                        <m:rPr>
                          <m:sty m:val="p"/>
                        </m:rPr>
                        <a:rPr lang="en-IN" b="0" i="0" smtClean="0">
                          <a:latin typeface="Cambria Math" panose="02040503050406030204" pitchFamily="18" charset="0"/>
                        </a:rPr>
                        <m:t>function</m:t>
                      </m:r>
                      <m:r>
                        <a:rPr lang="en-IN" b="0" i="0" smtClean="0">
                          <a:latin typeface="Cambria Math" panose="02040503050406030204" pitchFamily="18" charset="0"/>
                        </a:rPr>
                        <m:t> </m:t>
                      </m:r>
                      <m:r>
                        <m:rPr>
                          <m:sty m:val="p"/>
                        </m:rPr>
                        <a:rPr lang="en-IN" b="0" i="0" smtClean="0">
                          <a:latin typeface="Cambria Math" panose="02040503050406030204" pitchFamily="18" charset="0"/>
                        </a:rPr>
                        <m:t>for</m:t>
                      </m:r>
                      <m:r>
                        <a:rPr lang="en-IN" b="0" i="0" smtClean="0">
                          <a:latin typeface="Cambria Math" panose="02040503050406030204" pitchFamily="18" charset="0"/>
                        </a:rPr>
                        <m:t> </m:t>
                      </m:r>
                      <m:r>
                        <m:rPr>
                          <m:sty m:val="p"/>
                        </m:rPr>
                        <a:rPr lang="en-IN" b="0" i="0" smtClean="0">
                          <a:latin typeface="Cambria Math" panose="02040503050406030204" pitchFamily="18" charset="0"/>
                        </a:rPr>
                        <m:t>hidden</m:t>
                      </m:r>
                      <m:r>
                        <a:rPr lang="en-IN" b="0" i="0" smtClean="0">
                          <a:latin typeface="Cambria Math" panose="02040503050406030204" pitchFamily="18" charset="0"/>
                        </a:rPr>
                        <m:t> </m:t>
                      </m:r>
                      <m:r>
                        <m:rPr>
                          <m:sty m:val="p"/>
                        </m:rPr>
                        <a:rPr lang="en-IN" b="0" i="0" smtClean="0">
                          <a:latin typeface="Cambria Math" panose="02040503050406030204" pitchFamily="18" charset="0"/>
                        </a:rPr>
                        <m:t>layers</m:t>
                      </m:r>
                    </m:oMath>
                  </m:oMathPara>
                </a14:m>
                <a:endParaRPr lang="en-IN" dirty="0"/>
              </a:p>
            </p:txBody>
          </p:sp>
        </mc:Choice>
        <mc:Fallback xmlns="">
          <p:sp>
            <p:nvSpPr>
              <p:cNvPr id="105" name="Rectangle 104">
                <a:extLst>
                  <a:ext uri="{FF2B5EF4-FFF2-40B4-BE49-F238E27FC236}">
                    <a16:creationId xmlns:a16="http://schemas.microsoft.com/office/drawing/2014/main" id="{2FB61F28-98AA-4737-973F-B0B0EAA74CDD}"/>
                  </a:ext>
                </a:extLst>
              </p:cNvPr>
              <p:cNvSpPr>
                <a:spLocks noRot="1" noChangeAspect="1" noMove="1" noResize="1" noEditPoints="1" noAdjustHandles="1" noChangeArrowheads="1" noChangeShapeType="1" noTextEdit="1"/>
              </p:cNvSpPr>
              <p:nvPr/>
            </p:nvSpPr>
            <p:spPr>
              <a:xfrm>
                <a:off x="1701995" y="6083000"/>
                <a:ext cx="4125104" cy="369332"/>
              </a:xfrm>
              <a:prstGeom prst="rect">
                <a:avLst/>
              </a:prstGeom>
              <a:blipFill>
                <a:blip r:embed="rId12"/>
                <a:stretch>
                  <a:fillRect b="-13333"/>
                </a:stretch>
              </a:blipFill>
            </p:spPr>
            <p:txBody>
              <a:bodyPr/>
              <a:lstStyle/>
              <a:p>
                <a:r>
                  <a:rPr lang="en-IN">
                    <a:noFill/>
                  </a:rPr>
                  <a:t> </a:t>
                </a:r>
              </a:p>
            </p:txBody>
          </p:sp>
        </mc:Fallback>
      </mc:AlternateContent>
      <p:grpSp>
        <p:nvGrpSpPr>
          <p:cNvPr id="106" name="Group 105"/>
          <p:cNvGrpSpPr/>
          <p:nvPr/>
        </p:nvGrpSpPr>
        <p:grpSpPr>
          <a:xfrm>
            <a:off x="7350216" y="1214248"/>
            <a:ext cx="4724967" cy="5185883"/>
            <a:chOff x="3077913" y="1613299"/>
            <a:chExt cx="4724967" cy="5185883"/>
          </a:xfrm>
        </p:grpSpPr>
        <p:sp>
          <p:nvSpPr>
            <p:cNvPr id="107" name="Rectangle 106"/>
            <p:cNvSpPr/>
            <p:nvPr/>
          </p:nvSpPr>
          <p:spPr>
            <a:xfrm>
              <a:off x="3213426" y="3238398"/>
              <a:ext cx="2769250" cy="9849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108" name="Rectangle 107"/>
            <p:cNvSpPr/>
            <p:nvPr/>
          </p:nvSpPr>
          <p:spPr>
            <a:xfrm>
              <a:off x="3480329" y="2782188"/>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09" name="Rectangle 108"/>
            <p:cNvSpPr/>
            <p:nvPr/>
          </p:nvSpPr>
          <p:spPr>
            <a:xfrm>
              <a:off x="5555480" y="2777726"/>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10" name="Rectangle 109"/>
            <p:cNvSpPr/>
            <p:nvPr/>
          </p:nvSpPr>
          <p:spPr>
            <a:xfrm>
              <a:off x="4894967" y="2790333"/>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11" name="Rectangle 110"/>
            <p:cNvSpPr/>
            <p:nvPr/>
          </p:nvSpPr>
          <p:spPr>
            <a:xfrm>
              <a:off x="4137428" y="2782188"/>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12" name="Right Brace 111"/>
            <p:cNvSpPr/>
            <p:nvPr/>
          </p:nvSpPr>
          <p:spPr>
            <a:xfrm rot="5400000" flipH="1">
              <a:off x="4579362" y="1430131"/>
              <a:ext cx="135664"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dirty="0"/>
            </a:p>
          </p:txBody>
        </p:sp>
        <p:sp>
          <p:nvSpPr>
            <p:cNvPr id="113" name="Rectangle 112"/>
            <p:cNvSpPr/>
            <p:nvPr/>
          </p:nvSpPr>
          <p:spPr>
            <a:xfrm>
              <a:off x="3428496" y="2184309"/>
              <a:ext cx="412460" cy="308912"/>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14" name="Rectangle 113"/>
            <p:cNvSpPr/>
            <p:nvPr/>
          </p:nvSpPr>
          <p:spPr>
            <a:xfrm>
              <a:off x="4146604" y="2176463"/>
              <a:ext cx="444446" cy="318430"/>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15" name="Rectangle 114"/>
            <p:cNvSpPr/>
            <p:nvPr/>
          </p:nvSpPr>
          <p:spPr>
            <a:xfrm>
              <a:off x="4824215" y="2174782"/>
              <a:ext cx="462430" cy="311241"/>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16" name="Rectangle 115"/>
            <p:cNvSpPr/>
            <p:nvPr/>
          </p:nvSpPr>
          <p:spPr>
            <a:xfrm>
              <a:off x="5453876" y="2174783"/>
              <a:ext cx="417014" cy="308912"/>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17" name="Right Brace 116"/>
            <p:cNvSpPr/>
            <p:nvPr/>
          </p:nvSpPr>
          <p:spPr>
            <a:xfrm rot="5400000">
              <a:off x="4606180" y="1216569"/>
              <a:ext cx="84117"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118" name="Right Brace 117"/>
            <p:cNvSpPr/>
            <p:nvPr/>
          </p:nvSpPr>
          <p:spPr>
            <a:xfrm rot="5400000" flipH="1">
              <a:off x="4582439" y="847928"/>
              <a:ext cx="135664"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dirty="0"/>
            </a:p>
          </p:txBody>
        </p:sp>
        <p:sp>
          <p:nvSpPr>
            <p:cNvPr id="119" name="Oval 118"/>
            <p:cNvSpPr/>
            <p:nvPr/>
          </p:nvSpPr>
          <p:spPr>
            <a:xfrm>
              <a:off x="5549301"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120" name="Oval 119"/>
            <p:cNvSpPr/>
            <p:nvPr/>
          </p:nvSpPr>
          <p:spPr>
            <a:xfrm>
              <a:off x="4834928"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121" name="Oval 120"/>
            <p:cNvSpPr/>
            <p:nvPr/>
          </p:nvSpPr>
          <p:spPr>
            <a:xfrm>
              <a:off x="3406182"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122" name="Oval 121"/>
            <p:cNvSpPr/>
            <p:nvPr/>
          </p:nvSpPr>
          <p:spPr>
            <a:xfrm>
              <a:off x="4120555"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mc:AlternateContent xmlns:mc="http://schemas.openxmlformats.org/markup-compatibility/2006" xmlns:a14="http://schemas.microsoft.com/office/drawing/2010/main">
          <mc:Choice Requires="a14">
            <p:sp>
              <p:nvSpPr>
                <p:cNvPr id="123" name="TextBox 122"/>
                <p:cNvSpPr txBox="1"/>
                <p:nvPr/>
              </p:nvSpPr>
              <p:spPr>
                <a:xfrm>
                  <a:off x="3443385" y="1613299"/>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1</m:t>
                            </m:r>
                          </m:sub>
                        </m:sSub>
                      </m:oMath>
                    </m:oMathPara>
                  </a14:m>
                  <a:endParaRPr lang="en-IN" dirty="0"/>
                </a:p>
              </p:txBody>
            </p:sp>
          </mc:Choice>
          <mc:Fallback xmlns="">
            <p:sp>
              <p:nvSpPr>
                <p:cNvPr id="123" name="TextBox 122"/>
                <p:cNvSpPr txBox="1">
                  <a:spLocks noRot="1" noChangeAspect="1" noMove="1" noResize="1" noEditPoints="1" noAdjustHandles="1" noChangeArrowheads="1" noChangeShapeType="1" noTextEdit="1"/>
                </p:cNvSpPr>
                <p:nvPr/>
              </p:nvSpPr>
              <p:spPr>
                <a:xfrm>
                  <a:off x="3443385" y="1613299"/>
                  <a:ext cx="357931" cy="276999"/>
                </a:xfrm>
                <a:prstGeom prst="rect">
                  <a:avLst/>
                </a:prstGeom>
                <a:blipFill>
                  <a:blip r:embed="rId13"/>
                  <a:stretch>
                    <a:fillRect b="-152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4142330" y="1619711"/>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2</m:t>
                            </m:r>
                          </m:sub>
                        </m:sSub>
                      </m:oMath>
                    </m:oMathPara>
                  </a14:m>
                  <a:endParaRPr lang="en-IN" sz="1400" dirty="0"/>
                </a:p>
              </p:txBody>
            </p:sp>
          </mc:Choice>
          <mc:Fallback xmlns="">
            <p:sp>
              <p:nvSpPr>
                <p:cNvPr id="124" name="TextBox 123"/>
                <p:cNvSpPr txBox="1">
                  <a:spLocks noRot="1" noChangeAspect="1" noMove="1" noResize="1" noEditPoints="1" noAdjustHandles="1" noChangeArrowheads="1" noChangeShapeType="1" noTextEdit="1"/>
                </p:cNvSpPr>
                <p:nvPr/>
              </p:nvSpPr>
              <p:spPr>
                <a:xfrm>
                  <a:off x="4142330" y="1619711"/>
                  <a:ext cx="357931" cy="276999"/>
                </a:xfrm>
                <a:prstGeom prst="rect">
                  <a:avLst/>
                </a:prstGeom>
                <a:blipFill>
                  <a:blip r:embed="rId14"/>
                  <a:stretch>
                    <a:fillRect b="-152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4871594" y="1613299"/>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3</m:t>
                            </m:r>
                          </m:sub>
                        </m:sSub>
                      </m:oMath>
                    </m:oMathPara>
                  </a14:m>
                  <a:endParaRPr lang="en-IN" dirty="0"/>
                </a:p>
              </p:txBody>
            </p:sp>
          </mc:Choice>
          <mc:Fallback xmlns="">
            <p:sp>
              <p:nvSpPr>
                <p:cNvPr id="125" name="TextBox 124"/>
                <p:cNvSpPr txBox="1">
                  <a:spLocks noRot="1" noChangeAspect="1" noMove="1" noResize="1" noEditPoints="1" noAdjustHandles="1" noChangeArrowheads="1" noChangeShapeType="1" noTextEdit="1"/>
                </p:cNvSpPr>
                <p:nvPr/>
              </p:nvSpPr>
              <p:spPr>
                <a:xfrm>
                  <a:off x="4871594" y="1613299"/>
                  <a:ext cx="357931" cy="276999"/>
                </a:xfrm>
                <a:prstGeom prst="rect">
                  <a:avLst/>
                </a:prstGeom>
                <a:blipFill>
                  <a:blip r:embed="rId15"/>
                  <a:stretch>
                    <a:fillRect b="-152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5545676" y="1613299"/>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4</m:t>
                            </m:r>
                          </m:sub>
                        </m:sSub>
                      </m:oMath>
                    </m:oMathPara>
                  </a14:m>
                  <a:endParaRPr lang="en-IN" dirty="0"/>
                </a:p>
              </p:txBody>
            </p:sp>
          </mc:Choice>
          <mc:Fallback xmlns="">
            <p:sp>
              <p:nvSpPr>
                <p:cNvPr id="126" name="TextBox 125"/>
                <p:cNvSpPr txBox="1">
                  <a:spLocks noRot="1" noChangeAspect="1" noMove="1" noResize="1" noEditPoints="1" noAdjustHandles="1" noChangeArrowheads="1" noChangeShapeType="1" noTextEdit="1"/>
                </p:cNvSpPr>
                <p:nvPr/>
              </p:nvSpPr>
              <p:spPr>
                <a:xfrm>
                  <a:off x="5545676" y="1613299"/>
                  <a:ext cx="357931" cy="276999"/>
                </a:xfrm>
                <a:prstGeom prst="rect">
                  <a:avLst/>
                </a:prstGeom>
                <a:blipFill>
                  <a:blip r:embed="rId16"/>
                  <a:stretch>
                    <a:fillRect b="-15217"/>
                  </a:stretch>
                </a:blipFill>
              </p:spPr>
              <p:txBody>
                <a:bodyPr/>
                <a:lstStyle/>
                <a:p>
                  <a:r>
                    <a:rPr lang="en-IN">
                      <a:noFill/>
                    </a:rPr>
                    <a:t> </a:t>
                  </a:r>
                </a:p>
              </p:txBody>
            </p:sp>
          </mc:Fallback>
        </mc:AlternateContent>
        <p:sp>
          <p:nvSpPr>
            <p:cNvPr id="127" name="Right Brace 126"/>
            <p:cNvSpPr/>
            <p:nvPr/>
          </p:nvSpPr>
          <p:spPr>
            <a:xfrm rot="5400000">
              <a:off x="4497962" y="616251"/>
              <a:ext cx="306902"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128" name="Down Arrow 127"/>
            <p:cNvSpPr/>
            <p:nvPr/>
          </p:nvSpPr>
          <p:spPr>
            <a:xfrm>
              <a:off x="4545195" y="1912373"/>
              <a:ext cx="212436" cy="239091"/>
            </a:xfrm>
            <a:prstGeom prst="downArrow">
              <a:avLst/>
            </a:prstGeom>
            <a:solidFill>
              <a:schemeClr val="accent1">
                <a:lumMod val="60000"/>
                <a:lumOff val="40000"/>
              </a:schemeClr>
            </a:solidFill>
            <a:ln w="12700">
              <a:solidFill>
                <a:srgbClr val="FF0000">
                  <a:alpha val="9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29" name="Down Arrow 128"/>
            <p:cNvSpPr/>
            <p:nvPr/>
          </p:nvSpPr>
          <p:spPr>
            <a:xfrm>
              <a:off x="4542020" y="2518051"/>
              <a:ext cx="212436" cy="215389"/>
            </a:xfrm>
            <a:prstGeom prst="downArrow">
              <a:avLst/>
            </a:prstGeom>
            <a:solidFill>
              <a:schemeClr val="accent1">
                <a:lumMod val="60000"/>
                <a:lumOff val="40000"/>
              </a:schemeClr>
            </a:solidFill>
            <a:ln w="12700">
              <a:solidFill>
                <a:srgbClr val="FF0000">
                  <a:alpha val="9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mc:AlternateContent xmlns:mc="http://schemas.openxmlformats.org/markup-compatibility/2006" xmlns:a14="http://schemas.microsoft.com/office/drawing/2010/main">
          <mc:Choice Requires="a14">
            <p:sp>
              <p:nvSpPr>
                <p:cNvPr id="130" name="TextBox 129"/>
                <p:cNvSpPr txBox="1"/>
                <p:nvPr/>
              </p:nvSpPr>
              <p:spPr>
                <a:xfrm>
                  <a:off x="3445281" y="2166994"/>
                  <a:ext cx="397865" cy="3075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1</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130" name="TextBox 129"/>
                <p:cNvSpPr txBox="1">
                  <a:spLocks noRot="1" noChangeAspect="1" noMove="1" noResize="1" noEditPoints="1" noAdjustHandles="1" noChangeArrowheads="1" noChangeShapeType="1" noTextEdit="1"/>
                </p:cNvSpPr>
                <p:nvPr/>
              </p:nvSpPr>
              <p:spPr>
                <a:xfrm>
                  <a:off x="3445281" y="2166994"/>
                  <a:ext cx="397865" cy="307520"/>
                </a:xfrm>
                <a:prstGeom prst="rect">
                  <a:avLst/>
                </a:prstGeom>
                <a:blipFill>
                  <a:blip r:embed="rId17"/>
                  <a:stretch>
                    <a:fillRect l="-16923" r="-10769" b="-26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1" name="TextBox 130"/>
                <p:cNvSpPr txBox="1"/>
                <p:nvPr/>
              </p:nvSpPr>
              <p:spPr>
                <a:xfrm>
                  <a:off x="5490775" y="2162641"/>
                  <a:ext cx="397866" cy="3072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4</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131" name="TextBox 130"/>
                <p:cNvSpPr txBox="1">
                  <a:spLocks noRot="1" noChangeAspect="1" noMove="1" noResize="1" noEditPoints="1" noAdjustHandles="1" noChangeArrowheads="1" noChangeShapeType="1" noTextEdit="1"/>
                </p:cNvSpPr>
                <p:nvPr/>
              </p:nvSpPr>
              <p:spPr>
                <a:xfrm>
                  <a:off x="5490775" y="2162641"/>
                  <a:ext cx="397866" cy="307264"/>
                </a:xfrm>
                <a:prstGeom prst="rect">
                  <a:avLst/>
                </a:prstGeom>
                <a:blipFill>
                  <a:blip r:embed="rId18"/>
                  <a:stretch>
                    <a:fillRect l="-18462" r="-9231" b="-235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2" name="TextBox 131"/>
                <p:cNvSpPr txBox="1"/>
                <p:nvPr/>
              </p:nvSpPr>
              <p:spPr>
                <a:xfrm>
                  <a:off x="4889301" y="2171455"/>
                  <a:ext cx="397866" cy="3090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3</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132" name="TextBox 131"/>
                <p:cNvSpPr txBox="1">
                  <a:spLocks noRot="1" noChangeAspect="1" noMove="1" noResize="1" noEditPoints="1" noAdjustHandles="1" noChangeArrowheads="1" noChangeShapeType="1" noTextEdit="1"/>
                </p:cNvSpPr>
                <p:nvPr/>
              </p:nvSpPr>
              <p:spPr>
                <a:xfrm>
                  <a:off x="4889301" y="2171455"/>
                  <a:ext cx="397866" cy="309059"/>
                </a:xfrm>
                <a:prstGeom prst="rect">
                  <a:avLst/>
                </a:prstGeom>
                <a:blipFill>
                  <a:blip r:embed="rId19"/>
                  <a:stretch>
                    <a:fillRect l="-18462" r="-9231" b="-24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3" name="TextBox 132"/>
                <p:cNvSpPr txBox="1"/>
                <p:nvPr/>
              </p:nvSpPr>
              <p:spPr>
                <a:xfrm>
                  <a:off x="4201695" y="2177958"/>
                  <a:ext cx="39786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2</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133" name="TextBox 132"/>
                <p:cNvSpPr txBox="1">
                  <a:spLocks noRot="1" noChangeAspect="1" noMove="1" noResize="1" noEditPoints="1" noAdjustHandles="1" noChangeArrowheads="1" noChangeShapeType="1" noTextEdit="1"/>
                </p:cNvSpPr>
                <p:nvPr/>
              </p:nvSpPr>
              <p:spPr>
                <a:xfrm>
                  <a:off x="4201695" y="2177958"/>
                  <a:ext cx="397866" cy="307777"/>
                </a:xfrm>
                <a:prstGeom prst="rect">
                  <a:avLst/>
                </a:prstGeom>
                <a:blipFill>
                  <a:blip r:embed="rId20"/>
                  <a:stretch>
                    <a:fillRect l="-16923" r="-10769" b="-24000"/>
                  </a:stretch>
                </a:blipFill>
              </p:spPr>
              <p:txBody>
                <a:bodyPr/>
                <a:lstStyle/>
                <a:p>
                  <a:r>
                    <a:rPr lang="en-IN">
                      <a:noFill/>
                    </a:rPr>
                    <a:t> </a:t>
                  </a:r>
                </a:p>
              </p:txBody>
            </p:sp>
          </mc:Fallback>
        </mc:AlternateContent>
        <p:sp>
          <p:nvSpPr>
            <p:cNvPr id="134" name="Oval 133"/>
            <p:cNvSpPr/>
            <p:nvPr/>
          </p:nvSpPr>
          <p:spPr>
            <a:xfrm>
              <a:off x="3878703" y="3314880"/>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35" name="Oval 134"/>
            <p:cNvSpPr/>
            <p:nvPr/>
          </p:nvSpPr>
          <p:spPr>
            <a:xfrm>
              <a:off x="4995430" y="3315374"/>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36" name="Oval 135"/>
            <p:cNvSpPr/>
            <p:nvPr/>
          </p:nvSpPr>
          <p:spPr>
            <a:xfrm>
              <a:off x="3882726" y="3765108"/>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37" name="Oval 136"/>
            <p:cNvSpPr/>
            <p:nvPr/>
          </p:nvSpPr>
          <p:spPr>
            <a:xfrm>
              <a:off x="5000192" y="3749416"/>
              <a:ext cx="364913" cy="332552"/>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cxnSp>
          <p:nvCxnSpPr>
            <p:cNvPr id="138" name="Straight Arrow Connector 137"/>
            <p:cNvCxnSpPr>
              <a:stCxn id="108" idx="2"/>
              <a:endCxn id="134" idx="0"/>
            </p:cNvCxnSpPr>
            <p:nvPr/>
          </p:nvCxnSpPr>
          <p:spPr>
            <a:xfrm>
              <a:off x="3614558" y="3055953"/>
              <a:ext cx="443748" cy="25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p:cNvCxnSpPr>
              <a:stCxn id="111" idx="2"/>
              <a:endCxn id="134" idx="0"/>
            </p:cNvCxnSpPr>
            <p:nvPr/>
          </p:nvCxnSpPr>
          <p:spPr>
            <a:xfrm flipH="1">
              <a:off x="4058306" y="3055953"/>
              <a:ext cx="213351" cy="25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p:cNvCxnSpPr>
              <a:stCxn id="108" idx="2"/>
              <a:endCxn id="135" idx="0"/>
            </p:cNvCxnSpPr>
            <p:nvPr/>
          </p:nvCxnSpPr>
          <p:spPr>
            <a:xfrm>
              <a:off x="3614558" y="3055953"/>
              <a:ext cx="1560475" cy="25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111" idx="2"/>
              <a:endCxn id="135" idx="0"/>
            </p:cNvCxnSpPr>
            <p:nvPr/>
          </p:nvCxnSpPr>
          <p:spPr>
            <a:xfrm>
              <a:off x="4271657" y="3055953"/>
              <a:ext cx="903376" cy="25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a:stCxn id="110" idx="2"/>
              <a:endCxn id="135" idx="0"/>
            </p:cNvCxnSpPr>
            <p:nvPr/>
          </p:nvCxnSpPr>
          <p:spPr>
            <a:xfrm>
              <a:off x="5029196" y="3064098"/>
              <a:ext cx="145837" cy="251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a:stCxn id="109" idx="2"/>
              <a:endCxn id="135" idx="0"/>
            </p:cNvCxnSpPr>
            <p:nvPr/>
          </p:nvCxnSpPr>
          <p:spPr>
            <a:xfrm flipH="1">
              <a:off x="5175033" y="3051491"/>
              <a:ext cx="514676" cy="263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110" idx="2"/>
              <a:endCxn id="134" idx="0"/>
            </p:cNvCxnSpPr>
            <p:nvPr/>
          </p:nvCxnSpPr>
          <p:spPr>
            <a:xfrm flipH="1">
              <a:off x="4058306" y="3064098"/>
              <a:ext cx="970890" cy="25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p:cNvCxnSpPr>
              <a:stCxn id="109" idx="2"/>
              <a:endCxn id="134" idx="0"/>
            </p:cNvCxnSpPr>
            <p:nvPr/>
          </p:nvCxnSpPr>
          <p:spPr>
            <a:xfrm flipH="1">
              <a:off x="4058306" y="3051491"/>
              <a:ext cx="1631403" cy="263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a:stCxn id="135" idx="4"/>
              <a:endCxn id="137" idx="0"/>
            </p:cNvCxnSpPr>
            <p:nvPr/>
          </p:nvCxnSpPr>
          <p:spPr>
            <a:xfrm>
              <a:off x="5175033" y="3631062"/>
              <a:ext cx="7616" cy="118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p:cNvCxnSpPr>
              <a:stCxn id="134" idx="4"/>
              <a:endCxn id="136" idx="0"/>
            </p:cNvCxnSpPr>
            <p:nvPr/>
          </p:nvCxnSpPr>
          <p:spPr>
            <a:xfrm>
              <a:off x="4058306" y="3630568"/>
              <a:ext cx="4023" cy="13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8" name="TextBox 147"/>
                <p:cNvSpPr txBox="1"/>
                <p:nvPr/>
              </p:nvSpPr>
              <p:spPr>
                <a:xfrm>
                  <a:off x="3881264" y="3330198"/>
                  <a:ext cx="342437"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48" name="TextBox 147"/>
                <p:cNvSpPr txBox="1">
                  <a:spLocks noRot="1" noChangeAspect="1" noMove="1" noResize="1" noEditPoints="1" noAdjustHandles="1" noChangeArrowheads="1" noChangeShapeType="1" noTextEdit="1"/>
                </p:cNvSpPr>
                <p:nvPr/>
              </p:nvSpPr>
              <p:spPr>
                <a:xfrm>
                  <a:off x="3881264" y="3330198"/>
                  <a:ext cx="342437" cy="268984"/>
                </a:xfrm>
                <a:prstGeom prst="rect">
                  <a:avLst/>
                </a:prstGeom>
                <a:blipFill>
                  <a:blip r:embed="rId21"/>
                  <a:stretch>
                    <a:fillRect l="-5357" t="-4545" r="-7143"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9" name="TextBox 148"/>
                <p:cNvSpPr txBox="1"/>
                <p:nvPr/>
              </p:nvSpPr>
              <p:spPr>
                <a:xfrm>
                  <a:off x="5006507" y="3322297"/>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49" name="TextBox 148"/>
                <p:cNvSpPr txBox="1">
                  <a:spLocks noRot="1" noChangeAspect="1" noMove="1" noResize="1" noEditPoints="1" noAdjustHandles="1" noChangeArrowheads="1" noChangeShapeType="1" noTextEdit="1"/>
                </p:cNvSpPr>
                <p:nvPr/>
              </p:nvSpPr>
              <p:spPr>
                <a:xfrm>
                  <a:off x="5006507" y="3322297"/>
                  <a:ext cx="377649" cy="269241"/>
                </a:xfrm>
                <a:prstGeom prst="rect">
                  <a:avLst/>
                </a:prstGeom>
                <a:blipFill>
                  <a:blip r:embed="rId22"/>
                  <a:stretch>
                    <a:fillRect t="-4545" r="-3226"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0" name="TextBox 149"/>
                <p:cNvSpPr txBox="1"/>
                <p:nvPr/>
              </p:nvSpPr>
              <p:spPr>
                <a:xfrm>
                  <a:off x="3873556" y="3775187"/>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smtClean="0">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50" name="TextBox 149"/>
                <p:cNvSpPr txBox="1">
                  <a:spLocks noRot="1" noChangeAspect="1" noMove="1" noResize="1" noEditPoints="1" noAdjustHandles="1" noChangeArrowheads="1" noChangeShapeType="1" noTextEdit="1"/>
                </p:cNvSpPr>
                <p:nvPr/>
              </p:nvSpPr>
              <p:spPr>
                <a:xfrm>
                  <a:off x="3873556" y="3775187"/>
                  <a:ext cx="377649" cy="268984"/>
                </a:xfrm>
                <a:prstGeom prst="rect">
                  <a:avLst/>
                </a:prstGeom>
                <a:blipFill>
                  <a:blip r:embed="rId23"/>
                  <a:stretch>
                    <a:fillRect l="-11290" t="-4545" r="-6452" b="-227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1" name="TextBox 150"/>
                <p:cNvSpPr txBox="1"/>
                <p:nvPr/>
              </p:nvSpPr>
              <p:spPr>
                <a:xfrm>
                  <a:off x="4993823" y="3770921"/>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51" name="TextBox 150"/>
                <p:cNvSpPr txBox="1">
                  <a:spLocks noRot="1" noChangeAspect="1" noMove="1" noResize="1" noEditPoints="1" noAdjustHandles="1" noChangeArrowheads="1" noChangeShapeType="1" noTextEdit="1"/>
                </p:cNvSpPr>
                <p:nvPr/>
              </p:nvSpPr>
              <p:spPr>
                <a:xfrm>
                  <a:off x="4993823" y="3770921"/>
                  <a:ext cx="377649" cy="269241"/>
                </a:xfrm>
                <a:prstGeom prst="rect">
                  <a:avLst/>
                </a:prstGeom>
                <a:blipFill>
                  <a:blip r:embed="rId24"/>
                  <a:stretch>
                    <a:fillRect l="-11290" t="-2273" r="-6452" b="-25000"/>
                  </a:stretch>
                </a:blipFill>
              </p:spPr>
              <p:txBody>
                <a:bodyPr/>
                <a:lstStyle/>
                <a:p>
                  <a:r>
                    <a:rPr lang="en-IN">
                      <a:noFill/>
                    </a:rPr>
                    <a:t> </a:t>
                  </a:r>
                </a:p>
              </p:txBody>
            </p:sp>
          </mc:Fallback>
        </mc:AlternateContent>
        <p:sp>
          <p:nvSpPr>
            <p:cNvPr id="152" name="Left Bracket 151"/>
            <p:cNvSpPr/>
            <p:nvPr/>
          </p:nvSpPr>
          <p:spPr>
            <a:xfrm rot="16200000">
              <a:off x="4617130" y="1759451"/>
              <a:ext cx="56857" cy="2613115"/>
            </a:xfrm>
            <a:prstGeom prst="leftBracket">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153" name="Rectangle 152"/>
            <p:cNvSpPr/>
            <p:nvPr/>
          </p:nvSpPr>
          <p:spPr>
            <a:xfrm>
              <a:off x="3198584" y="4329933"/>
              <a:ext cx="2784092" cy="915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154" name="Oval 153"/>
            <p:cNvSpPr/>
            <p:nvPr/>
          </p:nvSpPr>
          <p:spPr>
            <a:xfrm>
              <a:off x="3867253" y="4417209"/>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55" name="Oval 154"/>
            <p:cNvSpPr/>
            <p:nvPr/>
          </p:nvSpPr>
          <p:spPr>
            <a:xfrm>
              <a:off x="4983980" y="4417703"/>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56" name="Oval 155"/>
            <p:cNvSpPr/>
            <p:nvPr/>
          </p:nvSpPr>
          <p:spPr>
            <a:xfrm>
              <a:off x="3871276" y="4867437"/>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57" name="Oval 156"/>
            <p:cNvSpPr/>
            <p:nvPr/>
          </p:nvSpPr>
          <p:spPr>
            <a:xfrm>
              <a:off x="4988743" y="4867437"/>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cxnSp>
          <p:nvCxnSpPr>
            <p:cNvPr id="158" name="Straight Arrow Connector 157"/>
            <p:cNvCxnSpPr>
              <a:stCxn id="155" idx="4"/>
              <a:endCxn id="157" idx="0"/>
            </p:cNvCxnSpPr>
            <p:nvPr/>
          </p:nvCxnSpPr>
          <p:spPr>
            <a:xfrm>
              <a:off x="5184068" y="4750780"/>
              <a:ext cx="4763" cy="116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a:stCxn id="154" idx="4"/>
              <a:endCxn id="156" idx="0"/>
            </p:cNvCxnSpPr>
            <p:nvPr/>
          </p:nvCxnSpPr>
          <p:spPr>
            <a:xfrm>
              <a:off x="4067341" y="4750286"/>
              <a:ext cx="4023" cy="117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0" name="TextBox 159"/>
                <p:cNvSpPr txBox="1"/>
                <p:nvPr/>
              </p:nvSpPr>
              <p:spPr>
                <a:xfrm>
                  <a:off x="3878877" y="4431336"/>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60" name="TextBox 159"/>
                <p:cNvSpPr txBox="1">
                  <a:spLocks noRot="1" noChangeAspect="1" noMove="1" noResize="1" noEditPoints="1" noAdjustHandles="1" noChangeArrowheads="1" noChangeShapeType="1" noTextEdit="1"/>
                </p:cNvSpPr>
                <p:nvPr/>
              </p:nvSpPr>
              <p:spPr>
                <a:xfrm>
                  <a:off x="3878877" y="4431336"/>
                  <a:ext cx="377649" cy="268984"/>
                </a:xfrm>
                <a:prstGeom prst="rect">
                  <a:avLst/>
                </a:prstGeom>
                <a:blipFill>
                  <a:blip r:embed="rId25"/>
                  <a:stretch>
                    <a:fillRect t="-2222" r="-3226"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1" name="TextBox 160"/>
                <p:cNvSpPr txBox="1"/>
                <p:nvPr/>
              </p:nvSpPr>
              <p:spPr>
                <a:xfrm>
                  <a:off x="4976987" y="4417222"/>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61" name="TextBox 160"/>
                <p:cNvSpPr txBox="1">
                  <a:spLocks noRot="1" noChangeAspect="1" noMove="1" noResize="1" noEditPoints="1" noAdjustHandles="1" noChangeArrowheads="1" noChangeShapeType="1" noTextEdit="1"/>
                </p:cNvSpPr>
                <p:nvPr/>
              </p:nvSpPr>
              <p:spPr>
                <a:xfrm>
                  <a:off x="4976987" y="4417222"/>
                  <a:ext cx="377649" cy="269241"/>
                </a:xfrm>
                <a:prstGeom prst="rect">
                  <a:avLst/>
                </a:prstGeom>
                <a:blipFill>
                  <a:blip r:embed="rId26"/>
                  <a:stretch>
                    <a:fillRect t="-2273" r="-3226"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2" name="TextBox 161"/>
                <p:cNvSpPr txBox="1"/>
                <p:nvPr/>
              </p:nvSpPr>
              <p:spPr>
                <a:xfrm>
                  <a:off x="3897790" y="4889001"/>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smtClean="0">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62" name="TextBox 161"/>
                <p:cNvSpPr txBox="1">
                  <a:spLocks noRot="1" noChangeAspect="1" noMove="1" noResize="1" noEditPoints="1" noAdjustHandles="1" noChangeArrowheads="1" noChangeShapeType="1" noTextEdit="1"/>
                </p:cNvSpPr>
                <p:nvPr/>
              </p:nvSpPr>
              <p:spPr>
                <a:xfrm>
                  <a:off x="3897790" y="4889001"/>
                  <a:ext cx="377649" cy="268984"/>
                </a:xfrm>
                <a:prstGeom prst="rect">
                  <a:avLst/>
                </a:prstGeom>
                <a:blipFill>
                  <a:blip r:embed="rId23"/>
                  <a:stretch>
                    <a:fillRect l="-11290" t="-4545" r="-6452" b="-227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3" name="TextBox 162"/>
                <p:cNvSpPr txBox="1"/>
                <p:nvPr/>
              </p:nvSpPr>
              <p:spPr>
                <a:xfrm>
                  <a:off x="5008860" y="4887836"/>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63" name="TextBox 162"/>
                <p:cNvSpPr txBox="1">
                  <a:spLocks noRot="1" noChangeAspect="1" noMove="1" noResize="1" noEditPoints="1" noAdjustHandles="1" noChangeArrowheads="1" noChangeShapeType="1" noTextEdit="1"/>
                </p:cNvSpPr>
                <p:nvPr/>
              </p:nvSpPr>
              <p:spPr>
                <a:xfrm>
                  <a:off x="5008860" y="4887836"/>
                  <a:ext cx="377649" cy="269241"/>
                </a:xfrm>
                <a:prstGeom prst="rect">
                  <a:avLst/>
                </a:prstGeom>
                <a:blipFill>
                  <a:blip r:embed="rId27"/>
                  <a:stretch>
                    <a:fillRect l="-13115" t="-2222" r="-6557" b="-22222"/>
                  </a:stretch>
                </a:blipFill>
              </p:spPr>
              <p:txBody>
                <a:bodyPr/>
                <a:lstStyle/>
                <a:p>
                  <a:r>
                    <a:rPr lang="en-IN">
                      <a:noFill/>
                    </a:rPr>
                    <a:t> </a:t>
                  </a:r>
                </a:p>
              </p:txBody>
            </p:sp>
          </mc:Fallback>
        </mc:AlternateContent>
        <p:cxnSp>
          <p:nvCxnSpPr>
            <p:cNvPr id="164" name="Straight Arrow Connector 163"/>
            <p:cNvCxnSpPr>
              <a:stCxn id="137" idx="4"/>
              <a:endCxn id="154" idx="0"/>
            </p:cNvCxnSpPr>
            <p:nvPr/>
          </p:nvCxnSpPr>
          <p:spPr>
            <a:xfrm flipH="1">
              <a:off x="4067341" y="4081968"/>
              <a:ext cx="1115308" cy="335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164"/>
            <p:cNvCxnSpPr>
              <a:stCxn id="136" idx="4"/>
              <a:endCxn id="155" idx="0"/>
            </p:cNvCxnSpPr>
            <p:nvPr/>
          </p:nvCxnSpPr>
          <p:spPr>
            <a:xfrm>
              <a:off x="4062329" y="4080796"/>
              <a:ext cx="1121739" cy="3369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p:cNvCxnSpPr>
              <a:stCxn id="136" idx="4"/>
              <a:endCxn id="154" idx="0"/>
            </p:cNvCxnSpPr>
            <p:nvPr/>
          </p:nvCxnSpPr>
          <p:spPr>
            <a:xfrm>
              <a:off x="4062329" y="4080796"/>
              <a:ext cx="5012" cy="336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p:cNvCxnSpPr>
              <a:stCxn id="137" idx="4"/>
              <a:endCxn id="155" idx="0"/>
            </p:cNvCxnSpPr>
            <p:nvPr/>
          </p:nvCxnSpPr>
          <p:spPr>
            <a:xfrm>
              <a:off x="5182649" y="4081968"/>
              <a:ext cx="1419" cy="335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8" name="Oval 167"/>
            <p:cNvSpPr/>
            <p:nvPr/>
          </p:nvSpPr>
          <p:spPr>
            <a:xfrm>
              <a:off x="4474939" y="5425401"/>
              <a:ext cx="352947" cy="366713"/>
            </a:xfrm>
            <a:prstGeom prst="ellipse">
              <a:avLst/>
            </a:prstGeom>
            <a:solidFill>
              <a:schemeClr val="accent6"/>
            </a:solidFill>
            <a:ln w="19050">
              <a:solidFill>
                <a:srgbClr val="00B050">
                  <a:alpha val="1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cxnSp>
          <p:nvCxnSpPr>
            <p:cNvPr id="169" name="Straight Arrow Connector 168"/>
            <p:cNvCxnSpPr>
              <a:stCxn id="157" idx="4"/>
              <a:endCxn id="168" idx="0"/>
            </p:cNvCxnSpPr>
            <p:nvPr/>
          </p:nvCxnSpPr>
          <p:spPr>
            <a:xfrm flipH="1">
              <a:off x="4651413" y="5200514"/>
              <a:ext cx="537418" cy="224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a:stCxn id="156" idx="4"/>
              <a:endCxn id="168" idx="0"/>
            </p:cNvCxnSpPr>
            <p:nvPr/>
          </p:nvCxnSpPr>
          <p:spPr>
            <a:xfrm>
              <a:off x="4071364" y="5200514"/>
              <a:ext cx="580049" cy="224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1" name="Right Brace 170"/>
            <p:cNvSpPr/>
            <p:nvPr/>
          </p:nvSpPr>
          <p:spPr>
            <a:xfrm>
              <a:off x="6015073" y="1767722"/>
              <a:ext cx="107950" cy="132671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72" name="TextBox 171"/>
            <p:cNvSpPr txBox="1"/>
            <p:nvPr/>
          </p:nvSpPr>
          <p:spPr>
            <a:xfrm>
              <a:off x="6169152" y="2240877"/>
              <a:ext cx="1236236" cy="400110"/>
            </a:xfrm>
            <a:prstGeom prst="rect">
              <a:avLst/>
            </a:prstGeom>
            <a:noFill/>
          </p:spPr>
          <p:txBody>
            <a:bodyPr wrap="none" rtlCol="0">
              <a:spAutoFit/>
            </a:bodyPr>
            <a:lstStyle/>
            <a:p>
              <a:r>
                <a:rPr lang="en-IN" sz="2000" dirty="0">
                  <a:latin typeface="Arial Narrow" panose="020B0606020202030204" pitchFamily="34" charset="0"/>
                </a:rPr>
                <a:t>Input Layer</a:t>
              </a:r>
            </a:p>
          </p:txBody>
        </p:sp>
        <p:sp>
          <p:nvSpPr>
            <p:cNvPr id="173" name="Right Brace 172"/>
            <p:cNvSpPr/>
            <p:nvPr/>
          </p:nvSpPr>
          <p:spPr>
            <a:xfrm>
              <a:off x="6014112" y="3199060"/>
              <a:ext cx="92728" cy="97567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74" name="Right Brace 173"/>
            <p:cNvSpPr/>
            <p:nvPr/>
          </p:nvSpPr>
          <p:spPr>
            <a:xfrm>
              <a:off x="6007215" y="4281771"/>
              <a:ext cx="92728" cy="97567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75" name="TextBox 174"/>
            <p:cNvSpPr txBox="1"/>
            <p:nvPr/>
          </p:nvSpPr>
          <p:spPr>
            <a:xfrm>
              <a:off x="6124216" y="3494561"/>
              <a:ext cx="1611339" cy="400110"/>
            </a:xfrm>
            <a:prstGeom prst="rect">
              <a:avLst/>
            </a:prstGeom>
            <a:noFill/>
          </p:spPr>
          <p:txBody>
            <a:bodyPr wrap="none" rtlCol="0">
              <a:spAutoFit/>
            </a:bodyPr>
            <a:lstStyle/>
            <a:p>
              <a:r>
                <a:rPr lang="en-IN" sz="2000" dirty="0">
                  <a:latin typeface="Arial Narrow" panose="020B0606020202030204" pitchFamily="34" charset="0"/>
                </a:rPr>
                <a:t>Hidden Layer 1</a:t>
              </a:r>
            </a:p>
          </p:txBody>
        </p:sp>
        <p:sp>
          <p:nvSpPr>
            <p:cNvPr id="176" name="TextBox 175"/>
            <p:cNvSpPr txBox="1"/>
            <p:nvPr/>
          </p:nvSpPr>
          <p:spPr>
            <a:xfrm>
              <a:off x="6086408" y="4584943"/>
              <a:ext cx="1611339" cy="400110"/>
            </a:xfrm>
            <a:prstGeom prst="rect">
              <a:avLst/>
            </a:prstGeom>
            <a:noFill/>
          </p:spPr>
          <p:txBody>
            <a:bodyPr wrap="none" rtlCol="0">
              <a:spAutoFit/>
            </a:bodyPr>
            <a:lstStyle/>
            <a:p>
              <a:r>
                <a:rPr lang="en-IN" sz="2000" dirty="0">
                  <a:latin typeface="Arial Narrow" panose="020B0606020202030204" pitchFamily="34" charset="0"/>
                </a:rPr>
                <a:t>Hidden Layer 2</a:t>
              </a:r>
            </a:p>
          </p:txBody>
        </p:sp>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2F25022F-C5CE-4D64-85E9-FAB04369B89A}"/>
                    </a:ext>
                  </a:extLst>
                </p:cNvPr>
                <p:cNvSpPr txBox="1"/>
                <p:nvPr/>
              </p:nvSpPr>
              <p:spPr>
                <a:xfrm>
                  <a:off x="3181552" y="3246871"/>
                  <a:ext cx="572714" cy="3229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1</m:t>
                            </m:r>
                          </m:sub>
                          <m:sup>
                            <m:r>
                              <a:rPr lang="en-IN" sz="1200" b="0" i="1" smtClean="0">
                                <a:solidFill>
                                  <a:schemeClr val="accent5">
                                    <a:lumMod val="75000"/>
                                  </a:schemeClr>
                                </a:solidFill>
                                <a:latin typeface="Cambria Math" panose="02040503050406030204" pitchFamily="18" charset="0"/>
                              </a:rPr>
                              <m:t>(1)</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(1)</m:t>
                            </m:r>
                          </m:sup>
                        </m:sSup>
                      </m:oMath>
                    </m:oMathPara>
                  </a14:m>
                  <a:endParaRPr lang="en-IN" sz="1200" dirty="0">
                    <a:solidFill>
                      <a:schemeClr val="accent5">
                        <a:lumMod val="75000"/>
                      </a:schemeClr>
                    </a:solidFill>
                  </a:endParaRPr>
                </a:p>
              </p:txBody>
            </p:sp>
          </mc:Choice>
          <mc:Fallback xmlns="">
            <p:sp>
              <p:nvSpPr>
                <p:cNvPr id="177" name="TextBox 176">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3181552" y="3246871"/>
                  <a:ext cx="572714" cy="322974"/>
                </a:xfrm>
                <a:prstGeom prst="rect">
                  <a:avLst/>
                </a:prstGeom>
                <a:blipFill>
                  <a:blip r:embed="rId28"/>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2F25022F-C5CE-4D64-85E9-FAB04369B89A}"/>
                    </a:ext>
                  </a:extLst>
                </p:cNvPr>
                <p:cNvSpPr txBox="1"/>
                <p:nvPr/>
              </p:nvSpPr>
              <p:spPr>
                <a:xfrm>
                  <a:off x="5286645" y="3210059"/>
                  <a:ext cx="572714"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2</m:t>
                            </m:r>
                          </m:sub>
                          <m:sup>
                            <m:r>
                              <a:rPr lang="en-IN" sz="1200" b="0" i="1" smtClean="0">
                                <a:solidFill>
                                  <a:schemeClr val="accent5">
                                    <a:lumMod val="75000"/>
                                  </a:schemeClr>
                                </a:solidFill>
                                <a:latin typeface="Cambria Math" panose="02040503050406030204" pitchFamily="18" charset="0"/>
                              </a:rPr>
                              <m:t>(1)</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(1)</m:t>
                            </m:r>
                          </m:sup>
                        </m:sSup>
                      </m:oMath>
                    </m:oMathPara>
                  </a14:m>
                  <a:endParaRPr lang="en-IN" sz="1200" dirty="0">
                    <a:solidFill>
                      <a:schemeClr val="accent5">
                        <a:lumMod val="75000"/>
                      </a:schemeClr>
                    </a:solidFill>
                  </a:endParaRPr>
                </a:p>
              </p:txBody>
            </p:sp>
          </mc:Choice>
          <mc:Fallback xmlns="">
            <p:sp>
              <p:nvSpPr>
                <p:cNvPr id="178" name="TextBox 177">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5286645" y="3210059"/>
                  <a:ext cx="572714" cy="323165"/>
                </a:xfrm>
                <a:prstGeom prst="rect">
                  <a:avLst/>
                </a:prstGeom>
                <a:blipFill>
                  <a:blip r:embed="rId29"/>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9" name="Rectangle 178">
                  <a:extLst>
                    <a:ext uri="{FF2B5EF4-FFF2-40B4-BE49-F238E27FC236}">
                      <a16:creationId xmlns:a16="http://schemas.microsoft.com/office/drawing/2014/main" id="{7EB440A6-4A1A-4A1B-908B-419B7A1E9D77}"/>
                    </a:ext>
                  </a:extLst>
                </p:cNvPr>
                <p:cNvSpPr/>
                <p:nvPr/>
              </p:nvSpPr>
              <p:spPr>
                <a:xfrm>
                  <a:off x="3558129" y="3783602"/>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79" name="Rectangle 178">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3558129" y="3783602"/>
                  <a:ext cx="329449" cy="307777"/>
                </a:xfrm>
                <a:prstGeom prst="rect">
                  <a:avLst/>
                </a:prstGeom>
                <a:blipFill>
                  <a:blip r:embed="rId30"/>
                  <a:stretch>
                    <a:fillRect b="-78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0" name="Rectangle 179">
                  <a:extLst>
                    <a:ext uri="{FF2B5EF4-FFF2-40B4-BE49-F238E27FC236}">
                      <a16:creationId xmlns:a16="http://schemas.microsoft.com/office/drawing/2014/main" id="{7EB440A6-4A1A-4A1B-908B-419B7A1E9D77}"/>
                    </a:ext>
                  </a:extLst>
                </p:cNvPr>
                <p:cNvSpPr/>
                <p:nvPr/>
              </p:nvSpPr>
              <p:spPr>
                <a:xfrm>
                  <a:off x="5343928" y="3798064"/>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80" name="Rectangle 179">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5343928" y="3798064"/>
                  <a:ext cx="329449" cy="307777"/>
                </a:xfrm>
                <a:prstGeom prst="rect">
                  <a:avLst/>
                </a:prstGeom>
                <a:blipFill>
                  <a:blip r:embed="rId31"/>
                  <a:stretch>
                    <a:fillRect b="-1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2F25022F-C5CE-4D64-85E9-FAB04369B89A}"/>
                    </a:ext>
                  </a:extLst>
                </p:cNvPr>
                <p:cNvSpPr txBox="1"/>
                <p:nvPr/>
              </p:nvSpPr>
              <p:spPr>
                <a:xfrm>
                  <a:off x="3172754" y="4299459"/>
                  <a:ext cx="572714" cy="3229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1</m:t>
                            </m:r>
                          </m:sub>
                          <m:sup>
                            <m:r>
                              <a:rPr lang="en-IN" sz="1200" b="0" i="1" smtClean="0">
                                <a:solidFill>
                                  <a:schemeClr val="accent5">
                                    <a:lumMod val="75000"/>
                                  </a:schemeClr>
                                </a:solidFill>
                                <a:latin typeface="Cambria Math" panose="02040503050406030204" pitchFamily="18" charset="0"/>
                              </a:rPr>
                              <m:t>(2)</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(2)</m:t>
                            </m:r>
                          </m:sup>
                        </m:sSup>
                      </m:oMath>
                    </m:oMathPara>
                  </a14:m>
                  <a:endParaRPr lang="en-IN" sz="1200" dirty="0">
                    <a:solidFill>
                      <a:schemeClr val="accent5">
                        <a:lumMod val="75000"/>
                      </a:schemeClr>
                    </a:solidFill>
                  </a:endParaRPr>
                </a:p>
              </p:txBody>
            </p:sp>
          </mc:Choice>
          <mc:Fallback xmlns="">
            <p:sp>
              <p:nvSpPr>
                <p:cNvPr id="181" name="TextBox 180">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3172754" y="4299459"/>
                  <a:ext cx="572714" cy="322974"/>
                </a:xfrm>
                <a:prstGeom prst="rect">
                  <a:avLst/>
                </a:prstGeom>
                <a:blipFill>
                  <a:blip r:embed="rId32"/>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2F25022F-C5CE-4D64-85E9-FAB04369B89A}"/>
                    </a:ext>
                  </a:extLst>
                </p:cNvPr>
                <p:cNvSpPr txBox="1"/>
                <p:nvPr/>
              </p:nvSpPr>
              <p:spPr>
                <a:xfrm>
                  <a:off x="5291542" y="4299268"/>
                  <a:ext cx="572714"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2</m:t>
                            </m:r>
                          </m:sub>
                          <m:sup>
                            <m:r>
                              <a:rPr lang="en-IN" sz="1200" b="0" i="1" smtClean="0">
                                <a:solidFill>
                                  <a:schemeClr val="accent5">
                                    <a:lumMod val="75000"/>
                                  </a:schemeClr>
                                </a:solidFill>
                                <a:latin typeface="Cambria Math" panose="02040503050406030204" pitchFamily="18" charset="0"/>
                              </a:rPr>
                              <m:t>(2)</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(2)</m:t>
                            </m:r>
                          </m:sup>
                        </m:sSup>
                      </m:oMath>
                    </m:oMathPara>
                  </a14:m>
                  <a:endParaRPr lang="en-IN" sz="1200" dirty="0">
                    <a:solidFill>
                      <a:schemeClr val="accent5">
                        <a:lumMod val="75000"/>
                      </a:schemeClr>
                    </a:solidFill>
                  </a:endParaRPr>
                </a:p>
              </p:txBody>
            </p:sp>
          </mc:Choice>
          <mc:Fallback xmlns="">
            <p:sp>
              <p:nvSpPr>
                <p:cNvPr id="182" name="TextBox 181">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5291542" y="4299268"/>
                  <a:ext cx="572714" cy="323165"/>
                </a:xfrm>
                <a:prstGeom prst="rect">
                  <a:avLst/>
                </a:prstGeom>
                <a:blipFill>
                  <a:blip r:embed="rId33"/>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E3269ACA-A3F6-4183-B90D-3FF47837CA08}"/>
                    </a:ext>
                  </a:extLst>
                </p:cNvPr>
                <p:cNvSpPr txBox="1"/>
                <p:nvPr/>
              </p:nvSpPr>
              <p:spPr>
                <a:xfrm>
                  <a:off x="4785054" y="5257751"/>
                  <a:ext cx="494492" cy="348813"/>
                </a:xfrm>
                <a:prstGeom prst="rect">
                  <a:avLst/>
                </a:prstGeom>
                <a:ln>
                  <a:noFill/>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solidFill>
                                  <a:srgbClr val="C00000"/>
                                </a:solidFill>
                                <a:latin typeface="Cambria Math" panose="02040503050406030204" pitchFamily="18" charset="0"/>
                              </a:rPr>
                            </m:ctrlPr>
                          </m:sSupPr>
                          <m:e>
                            <m:r>
                              <a:rPr lang="en-IN" sz="1600" b="0" i="1" smtClean="0">
                                <a:solidFill>
                                  <a:srgbClr val="C00000"/>
                                </a:solidFill>
                                <a:latin typeface="Cambria Math" panose="02040503050406030204" pitchFamily="18" charset="0"/>
                              </a:rPr>
                              <m:t>𝑊</m:t>
                            </m:r>
                          </m:e>
                          <m:sup>
                            <m:r>
                              <a:rPr lang="en-IN" sz="1600" b="0" i="1" smtClean="0">
                                <a:solidFill>
                                  <a:srgbClr val="C00000"/>
                                </a:solidFill>
                                <a:latin typeface="Cambria Math" panose="02040503050406030204" pitchFamily="18" charset="0"/>
                              </a:rPr>
                              <m:t>(3)</m:t>
                            </m:r>
                          </m:sup>
                        </m:sSup>
                      </m:oMath>
                    </m:oMathPara>
                  </a14:m>
                  <a:endParaRPr lang="en-IN" sz="1600" dirty="0"/>
                </a:p>
              </p:txBody>
            </p:sp>
          </mc:Choice>
          <mc:Fallback xmlns="">
            <p:sp>
              <p:nvSpPr>
                <p:cNvPr id="183" name="TextBox 182">
                  <a:extLst>
                    <a:ext uri="{FF2B5EF4-FFF2-40B4-BE49-F238E27FC236}">
                      <a16:creationId xmlns:a16="http://schemas.microsoft.com/office/drawing/2014/main" id="{E3269ACA-A3F6-4183-B90D-3FF47837CA08}"/>
                    </a:ext>
                  </a:extLst>
                </p:cNvPr>
                <p:cNvSpPr txBox="1">
                  <a:spLocks noRot="1" noChangeAspect="1" noMove="1" noResize="1" noEditPoints="1" noAdjustHandles="1" noChangeArrowheads="1" noChangeShapeType="1" noTextEdit="1"/>
                </p:cNvSpPr>
                <p:nvPr/>
              </p:nvSpPr>
              <p:spPr>
                <a:xfrm>
                  <a:off x="4785054" y="5257751"/>
                  <a:ext cx="494492" cy="348813"/>
                </a:xfrm>
                <a:prstGeom prst="rect">
                  <a:avLst/>
                </a:prstGeom>
                <a:blipFill>
                  <a:blip r:embed="rId34"/>
                  <a:stretch>
                    <a:fillRect r="-16049"/>
                  </a:stretch>
                </a:blipFill>
                <a:ln>
                  <a:noFill/>
                  <a:tailEnd type="triangle"/>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4" name="Rectangle 183">
                  <a:extLst>
                    <a:ext uri="{FF2B5EF4-FFF2-40B4-BE49-F238E27FC236}">
                      <a16:creationId xmlns:a16="http://schemas.microsoft.com/office/drawing/2014/main" id="{CD36A2F3-4729-4D0F-A488-C4262AFA5133}"/>
                    </a:ext>
                  </a:extLst>
                </p:cNvPr>
                <p:cNvSpPr/>
                <p:nvPr/>
              </p:nvSpPr>
              <p:spPr>
                <a:xfrm>
                  <a:off x="4834928" y="5500653"/>
                  <a:ext cx="47513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rgbClr val="C00000"/>
                                </a:solidFill>
                                <a:latin typeface="Cambria Math" panose="02040503050406030204" pitchFamily="18" charset="0"/>
                              </a:rPr>
                            </m:ctrlPr>
                          </m:sSubPr>
                          <m:e>
                            <m:r>
                              <a:rPr lang="en-IN" sz="2000" i="1">
                                <a:solidFill>
                                  <a:srgbClr val="C00000"/>
                                </a:solidFill>
                                <a:latin typeface="Cambria Math" panose="02040503050406030204" pitchFamily="18" charset="0"/>
                              </a:rPr>
                              <m:t>𝑓</m:t>
                            </m:r>
                          </m:e>
                          <m:sub>
                            <m:r>
                              <a:rPr lang="en-IN" sz="2000" b="0" i="1" smtClean="0">
                                <a:solidFill>
                                  <a:srgbClr val="C00000"/>
                                </a:solidFill>
                                <a:latin typeface="Cambria Math" panose="02040503050406030204" pitchFamily="18" charset="0"/>
                              </a:rPr>
                              <m:t>𝑌</m:t>
                            </m:r>
                          </m:sub>
                        </m:sSub>
                      </m:oMath>
                    </m:oMathPara>
                  </a14:m>
                  <a:endParaRPr lang="en-IN" sz="2000" dirty="0"/>
                </a:p>
              </p:txBody>
            </p:sp>
          </mc:Choice>
          <mc:Fallback xmlns="">
            <p:sp>
              <p:nvSpPr>
                <p:cNvPr id="184" name="Rectangle 183">
                  <a:extLst>
                    <a:ext uri="{FF2B5EF4-FFF2-40B4-BE49-F238E27FC236}">
                      <a16:creationId xmlns:a16="http://schemas.microsoft.com/office/drawing/2014/main" id="{CD36A2F3-4729-4D0F-A488-C4262AFA5133}"/>
                    </a:ext>
                  </a:extLst>
                </p:cNvPr>
                <p:cNvSpPr>
                  <a:spLocks noRot="1" noChangeAspect="1" noMove="1" noResize="1" noEditPoints="1" noAdjustHandles="1" noChangeArrowheads="1" noChangeShapeType="1" noTextEdit="1"/>
                </p:cNvSpPr>
                <p:nvPr/>
              </p:nvSpPr>
              <p:spPr>
                <a:xfrm>
                  <a:off x="4834928" y="5500653"/>
                  <a:ext cx="475130" cy="400110"/>
                </a:xfrm>
                <a:prstGeom prst="rect">
                  <a:avLst/>
                </a:prstGeom>
                <a:blipFill>
                  <a:blip r:embed="rId35"/>
                  <a:stretch>
                    <a:fillRect b="-136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5" name="Rectangle 184">
                  <a:extLst>
                    <a:ext uri="{FF2B5EF4-FFF2-40B4-BE49-F238E27FC236}">
                      <a16:creationId xmlns:a16="http://schemas.microsoft.com/office/drawing/2014/main" id="{5728CEDD-2891-4DCE-AAC7-400712DAEA6F}"/>
                    </a:ext>
                  </a:extLst>
                </p:cNvPr>
                <p:cNvSpPr/>
                <p:nvPr/>
              </p:nvSpPr>
              <p:spPr>
                <a:xfrm>
                  <a:off x="4454587" y="5947857"/>
                  <a:ext cx="4025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000" b="0" i="1" smtClean="0">
                            <a:solidFill>
                              <a:srgbClr val="C00000"/>
                            </a:solidFill>
                            <a:latin typeface="Cambria Math" panose="02040503050406030204" pitchFamily="18" charset="0"/>
                          </a:rPr>
                          <m:t>𝑌</m:t>
                        </m:r>
                      </m:oMath>
                    </m:oMathPara>
                  </a14:m>
                  <a:endParaRPr lang="en-IN" sz="2000" dirty="0"/>
                </a:p>
              </p:txBody>
            </p:sp>
          </mc:Choice>
          <mc:Fallback xmlns="">
            <p:sp>
              <p:nvSpPr>
                <p:cNvPr id="185" name="Rectangle 184">
                  <a:extLst>
                    <a:ext uri="{FF2B5EF4-FFF2-40B4-BE49-F238E27FC236}">
                      <a16:creationId xmlns:a16="http://schemas.microsoft.com/office/drawing/2014/main" id="{5728CEDD-2891-4DCE-AAC7-400712DAEA6F}"/>
                    </a:ext>
                  </a:extLst>
                </p:cNvPr>
                <p:cNvSpPr>
                  <a:spLocks noRot="1" noChangeAspect="1" noMove="1" noResize="1" noEditPoints="1" noAdjustHandles="1" noChangeArrowheads="1" noChangeShapeType="1" noTextEdit="1"/>
                </p:cNvSpPr>
                <p:nvPr/>
              </p:nvSpPr>
              <p:spPr>
                <a:xfrm>
                  <a:off x="4454587" y="5947857"/>
                  <a:ext cx="402546" cy="400110"/>
                </a:xfrm>
                <a:prstGeom prst="rect">
                  <a:avLst/>
                </a:prstGeom>
                <a:blipFill>
                  <a:blip r:embed="rId36"/>
                  <a:stretch>
                    <a:fillRect/>
                  </a:stretch>
                </a:blipFill>
              </p:spPr>
              <p:txBody>
                <a:bodyPr/>
                <a:lstStyle/>
                <a:p>
                  <a:r>
                    <a:rPr lang="en-IN">
                      <a:noFill/>
                    </a:rPr>
                    <a:t> </a:t>
                  </a:r>
                </a:p>
              </p:txBody>
            </p:sp>
          </mc:Fallback>
        </mc:AlternateContent>
        <p:cxnSp>
          <p:nvCxnSpPr>
            <p:cNvPr id="186" name="Straight Arrow Connector 185"/>
            <p:cNvCxnSpPr>
              <a:stCxn id="168" idx="4"/>
              <a:endCxn id="185" idx="0"/>
            </p:cNvCxnSpPr>
            <p:nvPr/>
          </p:nvCxnSpPr>
          <p:spPr>
            <a:xfrm>
              <a:off x="4651413" y="5792114"/>
              <a:ext cx="4447" cy="155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7" name="Rectangle 186">
                  <a:extLst>
                    <a:ext uri="{FF2B5EF4-FFF2-40B4-BE49-F238E27FC236}">
                      <a16:creationId xmlns:a16="http://schemas.microsoft.com/office/drawing/2014/main" id="{7EB440A6-4A1A-4A1B-908B-419B7A1E9D77}"/>
                    </a:ext>
                  </a:extLst>
                </p:cNvPr>
                <p:cNvSpPr/>
                <p:nvPr/>
              </p:nvSpPr>
              <p:spPr>
                <a:xfrm>
                  <a:off x="5343928" y="4870375"/>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87" name="Rectangle 186">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5343928" y="4870375"/>
                  <a:ext cx="329449" cy="307777"/>
                </a:xfrm>
                <a:prstGeom prst="rect">
                  <a:avLst/>
                </a:prstGeom>
                <a:blipFill>
                  <a:blip r:embed="rId37"/>
                  <a:stretch>
                    <a:fillRect b="-78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8" name="Rectangle 187">
                  <a:extLst>
                    <a:ext uri="{FF2B5EF4-FFF2-40B4-BE49-F238E27FC236}">
                      <a16:creationId xmlns:a16="http://schemas.microsoft.com/office/drawing/2014/main" id="{7EB440A6-4A1A-4A1B-908B-419B7A1E9D77}"/>
                    </a:ext>
                  </a:extLst>
                </p:cNvPr>
                <p:cNvSpPr/>
                <p:nvPr/>
              </p:nvSpPr>
              <p:spPr>
                <a:xfrm>
                  <a:off x="3572327" y="4870375"/>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88" name="Rectangle 187">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3572327" y="4870375"/>
                  <a:ext cx="329449" cy="307777"/>
                </a:xfrm>
                <a:prstGeom prst="rect">
                  <a:avLst/>
                </a:prstGeom>
                <a:blipFill>
                  <a:blip r:embed="rId30"/>
                  <a:stretch>
                    <a:fillRect b="-7843"/>
                  </a:stretch>
                </a:blipFill>
              </p:spPr>
              <p:txBody>
                <a:bodyPr/>
                <a:lstStyle/>
                <a:p>
                  <a:r>
                    <a:rPr lang="en-IN">
                      <a:noFill/>
                    </a:rPr>
                    <a:t> </a:t>
                  </a:r>
                </a:p>
              </p:txBody>
            </p:sp>
          </mc:Fallback>
        </mc:AlternateContent>
        <p:sp>
          <p:nvSpPr>
            <p:cNvPr id="189" name="Right Brace 188"/>
            <p:cNvSpPr/>
            <p:nvPr/>
          </p:nvSpPr>
          <p:spPr>
            <a:xfrm>
              <a:off x="6008586" y="5297676"/>
              <a:ext cx="92728" cy="929292"/>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90" name="TextBox 189"/>
            <p:cNvSpPr txBox="1"/>
            <p:nvPr/>
          </p:nvSpPr>
          <p:spPr>
            <a:xfrm>
              <a:off x="6094129" y="5562749"/>
              <a:ext cx="1399742" cy="400110"/>
            </a:xfrm>
            <a:prstGeom prst="rect">
              <a:avLst/>
            </a:prstGeom>
            <a:noFill/>
          </p:spPr>
          <p:txBody>
            <a:bodyPr wrap="none" rtlCol="0">
              <a:spAutoFit/>
            </a:bodyPr>
            <a:lstStyle/>
            <a:p>
              <a:r>
                <a:rPr lang="en-IN" sz="2000" dirty="0">
                  <a:latin typeface="Arial Narrow" panose="020B0606020202030204" pitchFamily="34" charset="0"/>
                </a:rPr>
                <a:t>Output Layer</a:t>
              </a:r>
            </a:p>
          </p:txBody>
        </p:sp>
        <p:sp>
          <p:nvSpPr>
            <p:cNvPr id="276" name="TextBox 275">
              <a:extLst>
                <a:ext uri="{FF2B5EF4-FFF2-40B4-BE49-F238E27FC236}">
                  <a16:creationId xmlns:a16="http://schemas.microsoft.com/office/drawing/2014/main" id="{7A8C3D1D-5119-4D88-B83E-0DB1198D8F14}"/>
                </a:ext>
              </a:extLst>
            </p:cNvPr>
            <p:cNvSpPr txBox="1"/>
            <p:nvPr/>
          </p:nvSpPr>
          <p:spPr>
            <a:xfrm>
              <a:off x="3077913" y="6429850"/>
              <a:ext cx="4724967" cy="369332"/>
            </a:xfrm>
            <a:prstGeom prst="rect">
              <a:avLst/>
            </a:prstGeom>
            <a:noFill/>
          </p:spPr>
          <p:txBody>
            <a:bodyPr wrap="square" rtlCol="0">
              <a:spAutoFit/>
            </a:bodyPr>
            <a:lstStyle/>
            <a:p>
              <a:pPr algn="just"/>
              <a:r>
                <a:rPr lang="en-US" dirty="0">
                  <a:solidFill>
                    <a:schemeClr val="accent5">
                      <a:lumMod val="75000"/>
                    </a:schemeClr>
                  </a:solidFill>
                  <a:latin typeface="Arial Narrow" panose="020B0606020202030204" pitchFamily="34" charset="0"/>
                  <a:cs typeface="Times New Roman" panose="02020603050405020304" pitchFamily="18" charset="0"/>
                </a:rPr>
                <a:t>Input layer’s neurons copy to inputs to the next layers.</a:t>
              </a:r>
              <a:endParaRPr lang="en-IN" dirty="0"/>
            </a:p>
          </p:txBody>
        </p:sp>
      </p:grpSp>
    </p:spTree>
    <p:extLst>
      <p:ext uri="{BB962C8B-B14F-4D97-AF65-F5344CB8AC3E}">
        <p14:creationId xmlns:p14="http://schemas.microsoft.com/office/powerpoint/2010/main" val="2299922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p:cNvSpPr/>
          <p:nvPr/>
        </p:nvSpPr>
        <p:spPr>
          <a:xfrm>
            <a:off x="1488095" y="2723510"/>
            <a:ext cx="4384213" cy="2437521"/>
          </a:xfrm>
          <a:prstGeom prst="rect">
            <a:avLst/>
          </a:prstGeom>
          <a:solidFill>
            <a:schemeClr val="bg2">
              <a:lumMod val="50000"/>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6">
                  <a:lumMod val="75000"/>
                </a:schemeClr>
              </a:solidFill>
            </a:endParaRPr>
          </a:p>
        </p:txBody>
      </p:sp>
      <p:sp>
        <p:nvSpPr>
          <p:cNvPr id="91" name="Title 1"/>
          <p:cNvSpPr>
            <a:spLocks noGrp="1"/>
          </p:cNvSpPr>
          <p:nvPr>
            <p:ph type="title"/>
          </p:nvPr>
        </p:nvSpPr>
        <p:spPr>
          <a:xfrm>
            <a:off x="806939" y="138830"/>
            <a:ext cx="10515600" cy="635000"/>
          </a:xfrm>
        </p:spPr>
        <p:txBody>
          <a:bodyPr>
            <a:normAutofit/>
          </a:bodyPr>
          <a:lstStyle/>
          <a:p>
            <a:r>
              <a:rPr lang="en-IN" sz="3600" dirty="0">
                <a:latin typeface="Century" panose="02040604050505020304" pitchFamily="18" charset="0"/>
              </a:rPr>
              <a:t>Forward Pass</a:t>
            </a:r>
          </a:p>
        </p:txBody>
      </p:sp>
      <p:sp>
        <p:nvSpPr>
          <p:cNvPr id="92" name="Content Placeholder 2"/>
          <p:cNvSpPr>
            <a:spLocks noGrp="1"/>
          </p:cNvSpPr>
          <p:nvPr>
            <p:ph idx="1"/>
          </p:nvPr>
        </p:nvSpPr>
        <p:spPr>
          <a:xfrm>
            <a:off x="838200" y="857649"/>
            <a:ext cx="9601200" cy="717550"/>
          </a:xfrm>
        </p:spPr>
        <p:txBody>
          <a:bodyPr>
            <a:normAutofit fontScale="92500" lnSpcReduction="10000"/>
          </a:bodyPr>
          <a:lstStyle/>
          <a:p>
            <a:pPr marL="0" lvl="1" indent="0">
              <a:buNone/>
            </a:pPr>
            <a:r>
              <a:rPr lang="en-IN" dirty="0">
                <a:solidFill>
                  <a:schemeClr val="accent5">
                    <a:lumMod val="75000"/>
                  </a:schemeClr>
                </a:solidFill>
                <a:latin typeface="Arial Narrow" panose="020B0606020202030204" pitchFamily="34" charset="0"/>
              </a:rPr>
              <a:t>4 Layers Neural Network </a:t>
            </a:r>
          </a:p>
          <a:p>
            <a:pPr marL="0" lvl="1" indent="0">
              <a:buNone/>
            </a:pPr>
            <a:r>
              <a:rPr lang="en-IN" dirty="0">
                <a:solidFill>
                  <a:schemeClr val="accent5">
                    <a:lumMod val="75000"/>
                  </a:schemeClr>
                </a:solidFill>
                <a:latin typeface="Arial Narrow" panose="020B0606020202030204" pitchFamily="34" charset="0"/>
              </a:rPr>
              <a:t>(One Input Layer, two Hidden Layers and one Output Layers)</a:t>
            </a:r>
          </a:p>
        </p:txBody>
      </p:sp>
      <mc:AlternateContent xmlns:mc="http://schemas.openxmlformats.org/markup-compatibility/2006" xmlns:a14="http://schemas.microsoft.com/office/drawing/2010/main">
        <mc:Choice Requires="a14">
          <p:sp>
            <p:nvSpPr>
              <p:cNvPr id="178" name="Rectangle 177">
                <a:extLst>
                  <a:ext uri="{FF2B5EF4-FFF2-40B4-BE49-F238E27FC236}">
                    <a16:creationId xmlns:a16="http://schemas.microsoft.com/office/drawing/2014/main" id="{06B5EE80-4510-4F04-85DA-84ABEA7D82CB}"/>
                  </a:ext>
                </a:extLst>
              </p:cNvPr>
              <p:cNvSpPr/>
              <p:nvPr/>
            </p:nvSpPr>
            <p:spPr>
              <a:xfrm>
                <a:off x="3032623" y="3200686"/>
                <a:ext cx="2317878" cy="87107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en-IN" b="0" i="1" smtClean="0">
                          <a:solidFill>
                            <a:schemeClr val="accent6">
                              <a:lumMod val="75000"/>
                            </a:schemeClr>
                          </a:solidFill>
                          <a:latin typeface="Cambria Math" panose="02040503050406030204" pitchFamily="18" charset="0"/>
                        </a:rPr>
                        <m:t>𝑌</m:t>
                      </m:r>
                      <m:r>
                        <a:rPr lang="en-IN" i="1">
                          <a:solidFill>
                            <a:schemeClr val="accent6">
                              <a:lumMod val="75000"/>
                            </a:schemeClr>
                          </a:solidFill>
                          <a:latin typeface="Cambria Math" panose="02040503050406030204" pitchFamily="18" charset="0"/>
                        </a:rPr>
                        <m:t>=</m:t>
                      </m:r>
                      <m:sSub>
                        <m:sSubPr>
                          <m:ctrlPr>
                            <a:rPr lang="en-IN" i="1">
                              <a:solidFill>
                                <a:schemeClr val="accent6">
                                  <a:lumMod val="75000"/>
                                </a:schemeClr>
                              </a:solidFill>
                              <a:latin typeface="Cambria Math" panose="02040503050406030204" pitchFamily="18" charset="0"/>
                            </a:rPr>
                          </m:ctrlPr>
                        </m:sSubPr>
                        <m:e>
                          <m:r>
                            <a:rPr lang="en-IN" i="1">
                              <a:solidFill>
                                <a:schemeClr val="accent6">
                                  <a:lumMod val="75000"/>
                                </a:schemeClr>
                              </a:solidFill>
                              <a:latin typeface="Cambria Math" panose="02040503050406030204" pitchFamily="18" charset="0"/>
                            </a:rPr>
                            <m:t>𝑓</m:t>
                          </m:r>
                        </m:e>
                        <m:sub>
                          <m:r>
                            <a:rPr lang="en-IN" b="0" i="1" smtClean="0">
                              <a:solidFill>
                                <a:schemeClr val="accent6">
                                  <a:lumMod val="75000"/>
                                </a:schemeClr>
                              </a:solidFill>
                              <a:latin typeface="Cambria Math" panose="02040503050406030204" pitchFamily="18" charset="0"/>
                            </a:rPr>
                            <m:t>𝑌</m:t>
                          </m:r>
                        </m:sub>
                      </m:sSub>
                      <m:r>
                        <a:rPr lang="en-IN" b="0" i="1" smtClean="0">
                          <a:solidFill>
                            <a:schemeClr val="accent6">
                              <a:lumMod val="75000"/>
                            </a:schemeClr>
                          </a:solidFill>
                          <a:latin typeface="Cambria Math" panose="02040503050406030204" pitchFamily="18" charset="0"/>
                        </a:rPr>
                        <m:t>(</m:t>
                      </m:r>
                      <m:nary>
                        <m:naryPr>
                          <m:chr m:val="∑"/>
                          <m:ctrlPr>
                            <a:rPr lang="en-IN" i="1">
                              <a:solidFill>
                                <a:schemeClr val="accent6">
                                  <a:lumMod val="75000"/>
                                </a:schemeClr>
                              </a:solidFill>
                              <a:latin typeface="Cambria Math" panose="02040503050406030204" pitchFamily="18" charset="0"/>
                            </a:rPr>
                          </m:ctrlPr>
                        </m:naryPr>
                        <m:sub>
                          <m:r>
                            <a:rPr lang="en-IN" b="0" i="1" smtClean="0">
                              <a:solidFill>
                                <a:schemeClr val="accent6">
                                  <a:lumMod val="75000"/>
                                </a:schemeClr>
                              </a:solidFill>
                              <a:latin typeface="Cambria Math" panose="02040503050406030204" pitchFamily="18" charset="0"/>
                            </a:rPr>
                            <m:t>𝑒</m:t>
                          </m:r>
                          <m:r>
                            <a:rPr lang="en-IN" i="1">
                              <a:solidFill>
                                <a:schemeClr val="accent6">
                                  <a:lumMod val="75000"/>
                                </a:schemeClr>
                              </a:solidFill>
                              <a:latin typeface="Cambria Math" panose="02040503050406030204" pitchFamily="18" charset="0"/>
                            </a:rPr>
                            <m:t>=1</m:t>
                          </m:r>
                        </m:sub>
                        <m:sup>
                          <m:r>
                            <a:rPr lang="en-IN" i="1">
                              <a:solidFill>
                                <a:schemeClr val="accent6">
                                  <a:lumMod val="75000"/>
                                </a:schemeClr>
                              </a:solidFill>
                              <a:latin typeface="Cambria Math" panose="02040503050406030204" pitchFamily="18" charset="0"/>
                            </a:rPr>
                            <m:t>2</m:t>
                          </m:r>
                        </m:sup>
                        <m:e>
                          <m:sSup>
                            <m:sSupPr>
                              <m:ctrlPr>
                                <a:rPr lang="en-IN" i="1" smtClean="0">
                                  <a:solidFill>
                                    <a:schemeClr val="accent6">
                                      <a:lumMod val="75000"/>
                                    </a:schemeClr>
                                  </a:solidFill>
                                  <a:latin typeface="Cambria Math" panose="02040503050406030204" pitchFamily="18" charset="0"/>
                                </a:rPr>
                              </m:ctrlPr>
                            </m:sSupPr>
                            <m:e>
                              <m:r>
                                <a:rPr lang="en-IN" b="0" i="1" smtClean="0">
                                  <a:solidFill>
                                    <a:schemeClr val="accent6">
                                      <a:lumMod val="75000"/>
                                    </a:schemeClr>
                                  </a:solidFill>
                                  <a:latin typeface="Cambria Math" panose="02040503050406030204" pitchFamily="18" charset="0"/>
                                </a:rPr>
                                <m:t>𝑊</m:t>
                              </m:r>
                            </m:e>
                            <m:sup>
                              <m:r>
                                <a:rPr lang="en-IN" b="0" i="1" smtClean="0">
                                  <a:solidFill>
                                    <a:schemeClr val="accent6">
                                      <a:lumMod val="75000"/>
                                    </a:schemeClr>
                                  </a:solidFill>
                                  <a:latin typeface="Cambria Math" panose="02040503050406030204" pitchFamily="18" charset="0"/>
                                </a:rPr>
                                <m:t>(3)</m:t>
                              </m:r>
                            </m:sup>
                          </m:sSup>
                          <m:sSubSup>
                            <m:sSubSupPr>
                              <m:ctrlPr>
                                <a:rPr lang="en-IN" i="1" dirty="0">
                                  <a:solidFill>
                                    <a:schemeClr val="accent6">
                                      <a:lumMod val="75000"/>
                                    </a:schemeClr>
                                  </a:solidFill>
                                  <a:latin typeface="Cambria Math" panose="02040503050406030204" pitchFamily="18" charset="0"/>
                                </a:rPr>
                              </m:ctrlPr>
                            </m:sSubSupPr>
                            <m:e>
                              <m:r>
                                <a:rPr lang="en-IN" i="1" dirty="0" smtClean="0">
                                  <a:solidFill>
                                    <a:schemeClr val="accent6">
                                      <a:lumMod val="75000"/>
                                    </a:schemeClr>
                                  </a:solidFill>
                                  <a:latin typeface="Cambria Math" panose="02040503050406030204" pitchFamily="18" charset="0"/>
                                  <a:ea typeface="Cambria Math" panose="02040503050406030204" pitchFamily="18" charset="0"/>
                                </a:rPr>
                                <m:t>𝛽</m:t>
                              </m:r>
                            </m:e>
                            <m:sub>
                              <m:r>
                                <a:rPr lang="en-IN" b="0" i="1" dirty="0" smtClean="0">
                                  <a:solidFill>
                                    <a:schemeClr val="accent6">
                                      <a:lumMod val="75000"/>
                                    </a:schemeClr>
                                  </a:solidFill>
                                  <a:latin typeface="Cambria Math" panose="02040503050406030204" pitchFamily="18" charset="0"/>
                                  <a:ea typeface="Cambria Math" panose="02040503050406030204" pitchFamily="18" charset="0"/>
                                </a:rPr>
                                <m:t>𝑒</m:t>
                              </m:r>
                            </m:sub>
                            <m:sup>
                              <m:r>
                                <a:rPr lang="en-IN" i="1" dirty="0">
                                  <a:solidFill>
                                    <a:schemeClr val="accent6">
                                      <a:lumMod val="75000"/>
                                    </a:schemeClr>
                                  </a:solidFill>
                                  <a:latin typeface="Cambria Math" panose="02040503050406030204" pitchFamily="18" charset="0"/>
                                </a:rPr>
                                <m:t>(</m:t>
                              </m:r>
                              <m:r>
                                <a:rPr lang="en-IN" b="0" i="1" dirty="0" smtClean="0">
                                  <a:solidFill>
                                    <a:schemeClr val="accent6">
                                      <a:lumMod val="75000"/>
                                    </a:schemeClr>
                                  </a:solidFill>
                                  <a:latin typeface="Cambria Math" panose="02040503050406030204" pitchFamily="18" charset="0"/>
                                </a:rPr>
                                <m:t>2</m:t>
                              </m:r>
                              <m:r>
                                <a:rPr lang="en-IN" i="1" dirty="0">
                                  <a:solidFill>
                                    <a:schemeClr val="accent6">
                                      <a:lumMod val="75000"/>
                                    </a:schemeClr>
                                  </a:solidFill>
                                  <a:latin typeface="Cambria Math" panose="02040503050406030204" pitchFamily="18" charset="0"/>
                                </a:rPr>
                                <m:t>)</m:t>
                              </m:r>
                            </m:sup>
                          </m:sSubSup>
                          <m:r>
                            <a:rPr lang="en-IN" b="0" i="1" dirty="0" smtClean="0">
                              <a:solidFill>
                                <a:schemeClr val="accent6">
                                  <a:lumMod val="75000"/>
                                </a:schemeClr>
                              </a:solidFill>
                              <a:latin typeface="Cambria Math" panose="02040503050406030204" pitchFamily="18" charset="0"/>
                            </a:rPr>
                            <m:t>)</m:t>
                          </m:r>
                        </m:e>
                      </m:nary>
                    </m:oMath>
                  </m:oMathPara>
                </a14:m>
                <a:endParaRPr lang="en-IN" dirty="0">
                  <a:solidFill>
                    <a:schemeClr val="accent6">
                      <a:lumMod val="75000"/>
                    </a:schemeClr>
                  </a:solidFill>
                </a:endParaRPr>
              </a:p>
            </p:txBody>
          </p:sp>
        </mc:Choice>
        <mc:Fallback xmlns="">
          <p:sp>
            <p:nvSpPr>
              <p:cNvPr id="178" name="Rectangle 177">
                <a:extLst>
                  <a:ext uri="{FF2B5EF4-FFF2-40B4-BE49-F238E27FC236}">
                    <a16:creationId xmlns:a16="http://schemas.microsoft.com/office/drawing/2014/main" id="{06B5EE80-4510-4F04-85DA-84ABEA7D82CB}"/>
                  </a:ext>
                </a:extLst>
              </p:cNvPr>
              <p:cNvSpPr>
                <a:spLocks noRot="1" noChangeAspect="1" noMove="1" noResize="1" noEditPoints="1" noAdjustHandles="1" noChangeArrowheads="1" noChangeShapeType="1" noTextEdit="1"/>
              </p:cNvSpPr>
              <p:nvPr/>
            </p:nvSpPr>
            <p:spPr>
              <a:xfrm>
                <a:off x="3032623" y="3200686"/>
                <a:ext cx="2317878" cy="871072"/>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9" name="Rectangle 178">
                <a:extLst>
                  <a:ext uri="{FF2B5EF4-FFF2-40B4-BE49-F238E27FC236}">
                    <a16:creationId xmlns:a16="http://schemas.microsoft.com/office/drawing/2014/main" id="{C98FF2A9-0ADA-4CE0-ABC0-D7DC727EEDE9}"/>
                  </a:ext>
                </a:extLst>
              </p:cNvPr>
              <p:cNvSpPr/>
              <p:nvPr/>
            </p:nvSpPr>
            <p:spPr>
              <a:xfrm>
                <a:off x="1563597" y="4299308"/>
                <a:ext cx="4086632" cy="369332"/>
              </a:xfrm>
              <a:prstGeom prst="rect">
                <a:avLst/>
              </a:prstGeom>
              <a:noFill/>
              <a:ln>
                <a:no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i="1" smtClean="0">
                              <a:solidFill>
                                <a:schemeClr val="accent6">
                                  <a:lumMod val="75000"/>
                                </a:schemeClr>
                              </a:solidFill>
                              <a:latin typeface="Cambria Math" panose="02040503050406030204" pitchFamily="18" charset="0"/>
                            </a:rPr>
                          </m:ctrlPr>
                        </m:sSubPr>
                        <m:e>
                          <m:r>
                            <a:rPr lang="en-IN" i="1">
                              <a:solidFill>
                                <a:schemeClr val="accent6">
                                  <a:lumMod val="75000"/>
                                </a:schemeClr>
                              </a:solidFill>
                              <a:latin typeface="Cambria Math" panose="02040503050406030204" pitchFamily="18" charset="0"/>
                            </a:rPr>
                            <m:t>𝑓</m:t>
                          </m:r>
                        </m:e>
                        <m:sub>
                          <m:r>
                            <a:rPr lang="en-IN" b="0" i="1" smtClean="0">
                              <a:solidFill>
                                <a:schemeClr val="accent6">
                                  <a:lumMod val="75000"/>
                                </a:schemeClr>
                              </a:solidFill>
                              <a:latin typeface="Cambria Math" panose="02040503050406030204" pitchFamily="18" charset="0"/>
                            </a:rPr>
                            <m:t>𝑌</m:t>
                          </m:r>
                        </m:sub>
                      </m:sSub>
                      <m:r>
                        <a:rPr lang="en-IN">
                          <a:solidFill>
                            <a:schemeClr val="accent6">
                              <a:lumMod val="75000"/>
                            </a:schemeClr>
                          </a:solidFill>
                          <a:latin typeface="Cambria Math" panose="02040503050406030204" pitchFamily="18" charset="0"/>
                        </a:rPr>
                        <m:t>:</m:t>
                      </m:r>
                      <m:r>
                        <m:rPr>
                          <m:sty m:val="p"/>
                        </m:rPr>
                        <a:rPr lang="en-IN">
                          <a:solidFill>
                            <a:schemeClr val="accent6">
                              <a:lumMod val="75000"/>
                            </a:schemeClr>
                          </a:solidFill>
                          <a:latin typeface="Cambria Math" panose="02040503050406030204" pitchFamily="18" charset="0"/>
                        </a:rPr>
                        <m:t>activation</m:t>
                      </m:r>
                      <m:r>
                        <a:rPr lang="en-IN">
                          <a:solidFill>
                            <a:schemeClr val="accent6">
                              <a:lumMod val="75000"/>
                            </a:schemeClr>
                          </a:solidFill>
                          <a:latin typeface="Cambria Math" panose="02040503050406030204" pitchFamily="18" charset="0"/>
                        </a:rPr>
                        <m:t> </m:t>
                      </m:r>
                      <m:r>
                        <m:rPr>
                          <m:sty m:val="p"/>
                        </m:rPr>
                        <a:rPr lang="en-IN">
                          <a:solidFill>
                            <a:schemeClr val="accent6">
                              <a:lumMod val="75000"/>
                            </a:schemeClr>
                          </a:solidFill>
                          <a:latin typeface="Cambria Math" panose="02040503050406030204" pitchFamily="18" charset="0"/>
                        </a:rPr>
                        <m:t>function</m:t>
                      </m:r>
                      <m:r>
                        <a:rPr lang="en-IN">
                          <a:solidFill>
                            <a:schemeClr val="accent6">
                              <a:lumMod val="75000"/>
                            </a:schemeClr>
                          </a:solidFill>
                          <a:latin typeface="Cambria Math" panose="02040503050406030204" pitchFamily="18" charset="0"/>
                        </a:rPr>
                        <m:t> </m:t>
                      </m:r>
                      <m:r>
                        <m:rPr>
                          <m:sty m:val="p"/>
                        </m:rPr>
                        <a:rPr lang="en-IN">
                          <a:solidFill>
                            <a:schemeClr val="accent6">
                              <a:lumMod val="75000"/>
                            </a:schemeClr>
                          </a:solidFill>
                          <a:latin typeface="Cambria Math" panose="02040503050406030204" pitchFamily="18" charset="0"/>
                        </a:rPr>
                        <m:t>for</m:t>
                      </m:r>
                      <m:r>
                        <a:rPr lang="en-IN">
                          <a:solidFill>
                            <a:schemeClr val="accent6">
                              <a:lumMod val="75000"/>
                            </a:schemeClr>
                          </a:solidFill>
                          <a:latin typeface="Cambria Math" panose="02040503050406030204" pitchFamily="18" charset="0"/>
                        </a:rPr>
                        <m:t> </m:t>
                      </m:r>
                      <m:r>
                        <m:rPr>
                          <m:sty m:val="p"/>
                        </m:rPr>
                        <a:rPr lang="en-IN" b="0" i="0" smtClean="0">
                          <a:solidFill>
                            <a:schemeClr val="accent6">
                              <a:lumMod val="75000"/>
                            </a:schemeClr>
                          </a:solidFill>
                          <a:latin typeface="Cambria Math" panose="02040503050406030204" pitchFamily="18" charset="0"/>
                        </a:rPr>
                        <m:t>output</m:t>
                      </m:r>
                      <m:r>
                        <a:rPr lang="en-IN">
                          <a:solidFill>
                            <a:schemeClr val="accent6">
                              <a:lumMod val="75000"/>
                            </a:schemeClr>
                          </a:solidFill>
                          <a:latin typeface="Cambria Math" panose="02040503050406030204" pitchFamily="18" charset="0"/>
                        </a:rPr>
                        <m:t> </m:t>
                      </m:r>
                      <m:r>
                        <m:rPr>
                          <m:sty m:val="p"/>
                        </m:rPr>
                        <a:rPr lang="en-IN">
                          <a:solidFill>
                            <a:schemeClr val="accent6">
                              <a:lumMod val="75000"/>
                            </a:schemeClr>
                          </a:solidFill>
                          <a:latin typeface="Cambria Math" panose="02040503050406030204" pitchFamily="18" charset="0"/>
                        </a:rPr>
                        <m:t>layer</m:t>
                      </m:r>
                    </m:oMath>
                  </m:oMathPara>
                </a14:m>
                <a:endParaRPr lang="en-IN" dirty="0">
                  <a:solidFill>
                    <a:schemeClr val="accent6">
                      <a:lumMod val="75000"/>
                    </a:schemeClr>
                  </a:solidFill>
                </a:endParaRPr>
              </a:p>
            </p:txBody>
          </p:sp>
        </mc:Choice>
        <mc:Fallback xmlns="">
          <p:sp>
            <p:nvSpPr>
              <p:cNvPr id="179" name="Rectangle 178">
                <a:extLst>
                  <a:ext uri="{FF2B5EF4-FFF2-40B4-BE49-F238E27FC236}">
                    <a16:creationId xmlns:a16="http://schemas.microsoft.com/office/drawing/2014/main" id="{C98FF2A9-0ADA-4CE0-ABC0-D7DC727EEDE9}"/>
                  </a:ext>
                </a:extLst>
              </p:cNvPr>
              <p:cNvSpPr>
                <a:spLocks noRot="1" noChangeAspect="1" noMove="1" noResize="1" noEditPoints="1" noAdjustHandles="1" noChangeArrowheads="1" noChangeShapeType="1" noTextEdit="1"/>
              </p:cNvSpPr>
              <p:nvPr/>
            </p:nvSpPr>
            <p:spPr>
              <a:xfrm>
                <a:off x="1563597" y="4299308"/>
                <a:ext cx="4086632" cy="369332"/>
              </a:xfrm>
              <a:prstGeom prst="rect">
                <a:avLst/>
              </a:prstGeom>
              <a:blipFill>
                <a:blip r:embed="rId3"/>
                <a:stretch>
                  <a:fillRect b="-13115"/>
                </a:stretch>
              </a:blipFill>
              <a:ln>
                <a:noFill/>
              </a:ln>
            </p:spPr>
            <p:txBody>
              <a:bodyPr/>
              <a:lstStyle/>
              <a:p>
                <a:r>
                  <a:rPr lang="en-IN">
                    <a:noFill/>
                  </a:rPr>
                  <a:t> </a:t>
                </a:r>
              </a:p>
            </p:txBody>
          </p:sp>
        </mc:Fallback>
      </mc:AlternateContent>
      <p:grpSp>
        <p:nvGrpSpPr>
          <p:cNvPr id="93" name="Group 92"/>
          <p:cNvGrpSpPr/>
          <p:nvPr/>
        </p:nvGrpSpPr>
        <p:grpSpPr>
          <a:xfrm>
            <a:off x="7194757" y="1309980"/>
            <a:ext cx="4724967" cy="5185883"/>
            <a:chOff x="3077913" y="1613299"/>
            <a:chExt cx="4724967" cy="5185883"/>
          </a:xfrm>
        </p:grpSpPr>
        <p:sp>
          <p:nvSpPr>
            <p:cNvPr id="94" name="Rectangle 93"/>
            <p:cNvSpPr/>
            <p:nvPr/>
          </p:nvSpPr>
          <p:spPr>
            <a:xfrm>
              <a:off x="3213426" y="3238398"/>
              <a:ext cx="2769250" cy="9849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95" name="Rectangle 94"/>
            <p:cNvSpPr/>
            <p:nvPr/>
          </p:nvSpPr>
          <p:spPr>
            <a:xfrm>
              <a:off x="3480329" y="2782188"/>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96" name="Rectangle 95"/>
            <p:cNvSpPr/>
            <p:nvPr/>
          </p:nvSpPr>
          <p:spPr>
            <a:xfrm>
              <a:off x="5555480" y="2777726"/>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97" name="Rectangle 96"/>
            <p:cNvSpPr/>
            <p:nvPr/>
          </p:nvSpPr>
          <p:spPr>
            <a:xfrm>
              <a:off x="4894967" y="2790333"/>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98" name="Rectangle 97"/>
            <p:cNvSpPr/>
            <p:nvPr/>
          </p:nvSpPr>
          <p:spPr>
            <a:xfrm>
              <a:off x="4137428" y="2782188"/>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99" name="Right Brace 98"/>
            <p:cNvSpPr/>
            <p:nvPr/>
          </p:nvSpPr>
          <p:spPr>
            <a:xfrm rot="5400000" flipH="1">
              <a:off x="4579362" y="1430131"/>
              <a:ext cx="135664"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dirty="0"/>
            </a:p>
          </p:txBody>
        </p:sp>
        <p:sp>
          <p:nvSpPr>
            <p:cNvPr id="100" name="Rectangle 99"/>
            <p:cNvSpPr/>
            <p:nvPr/>
          </p:nvSpPr>
          <p:spPr>
            <a:xfrm>
              <a:off x="3428496" y="2184309"/>
              <a:ext cx="412460" cy="308912"/>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01" name="Rectangle 100"/>
            <p:cNvSpPr/>
            <p:nvPr/>
          </p:nvSpPr>
          <p:spPr>
            <a:xfrm>
              <a:off x="4146604" y="2176463"/>
              <a:ext cx="444446" cy="318430"/>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02" name="Rectangle 101"/>
            <p:cNvSpPr/>
            <p:nvPr/>
          </p:nvSpPr>
          <p:spPr>
            <a:xfrm>
              <a:off x="4824215" y="2174782"/>
              <a:ext cx="462430" cy="311241"/>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03" name="Rectangle 102"/>
            <p:cNvSpPr/>
            <p:nvPr/>
          </p:nvSpPr>
          <p:spPr>
            <a:xfrm>
              <a:off x="5453876" y="2174783"/>
              <a:ext cx="417014" cy="308912"/>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04" name="Right Brace 103"/>
            <p:cNvSpPr/>
            <p:nvPr/>
          </p:nvSpPr>
          <p:spPr>
            <a:xfrm rot="5400000">
              <a:off x="4606180" y="1216569"/>
              <a:ext cx="84117"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105" name="Right Brace 104"/>
            <p:cNvSpPr/>
            <p:nvPr/>
          </p:nvSpPr>
          <p:spPr>
            <a:xfrm rot="5400000" flipH="1">
              <a:off x="4582439" y="847928"/>
              <a:ext cx="135664"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dirty="0"/>
            </a:p>
          </p:txBody>
        </p:sp>
        <p:sp>
          <p:nvSpPr>
            <p:cNvPr id="106" name="Oval 105"/>
            <p:cNvSpPr/>
            <p:nvPr/>
          </p:nvSpPr>
          <p:spPr>
            <a:xfrm>
              <a:off x="5549301"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107" name="Oval 106"/>
            <p:cNvSpPr/>
            <p:nvPr/>
          </p:nvSpPr>
          <p:spPr>
            <a:xfrm>
              <a:off x="4834928"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108" name="Oval 107"/>
            <p:cNvSpPr/>
            <p:nvPr/>
          </p:nvSpPr>
          <p:spPr>
            <a:xfrm>
              <a:off x="3406182"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109" name="Oval 108"/>
            <p:cNvSpPr/>
            <p:nvPr/>
          </p:nvSpPr>
          <p:spPr>
            <a:xfrm>
              <a:off x="4120555" y="1625998"/>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mc:AlternateContent xmlns:mc="http://schemas.openxmlformats.org/markup-compatibility/2006" xmlns:a14="http://schemas.microsoft.com/office/drawing/2010/main">
          <mc:Choice Requires="a14">
            <p:sp>
              <p:nvSpPr>
                <p:cNvPr id="110" name="TextBox 109"/>
                <p:cNvSpPr txBox="1"/>
                <p:nvPr/>
              </p:nvSpPr>
              <p:spPr>
                <a:xfrm>
                  <a:off x="3443385" y="1613299"/>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1</m:t>
                            </m:r>
                          </m:sub>
                        </m:sSub>
                      </m:oMath>
                    </m:oMathPara>
                  </a14:m>
                  <a:endParaRPr lang="en-IN" dirty="0"/>
                </a:p>
              </p:txBody>
            </p:sp>
          </mc:Choice>
          <mc:Fallback xmlns="">
            <p:sp>
              <p:nvSpPr>
                <p:cNvPr id="110" name="TextBox 109"/>
                <p:cNvSpPr txBox="1">
                  <a:spLocks noRot="1" noChangeAspect="1" noMove="1" noResize="1" noEditPoints="1" noAdjustHandles="1" noChangeArrowheads="1" noChangeShapeType="1" noTextEdit="1"/>
                </p:cNvSpPr>
                <p:nvPr/>
              </p:nvSpPr>
              <p:spPr>
                <a:xfrm>
                  <a:off x="3443385" y="1613299"/>
                  <a:ext cx="357931" cy="276999"/>
                </a:xfrm>
                <a:prstGeom prst="rect">
                  <a:avLst/>
                </a:prstGeom>
                <a:blipFill>
                  <a:blip r:embed="rId4"/>
                  <a:stretch>
                    <a:fillRect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4142330" y="1619711"/>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2</m:t>
                            </m:r>
                          </m:sub>
                        </m:sSub>
                      </m:oMath>
                    </m:oMathPara>
                  </a14:m>
                  <a:endParaRPr lang="en-IN" sz="1400" dirty="0"/>
                </a:p>
              </p:txBody>
            </p:sp>
          </mc:Choice>
          <mc:Fallback xmlns="">
            <p:sp>
              <p:nvSpPr>
                <p:cNvPr id="111" name="TextBox 110"/>
                <p:cNvSpPr txBox="1">
                  <a:spLocks noRot="1" noChangeAspect="1" noMove="1" noResize="1" noEditPoints="1" noAdjustHandles="1" noChangeArrowheads="1" noChangeShapeType="1" noTextEdit="1"/>
                </p:cNvSpPr>
                <p:nvPr/>
              </p:nvSpPr>
              <p:spPr>
                <a:xfrm>
                  <a:off x="4142330" y="1619711"/>
                  <a:ext cx="357931" cy="276999"/>
                </a:xfrm>
                <a:prstGeom prst="rect">
                  <a:avLst/>
                </a:prstGeom>
                <a:blipFill>
                  <a:blip r:embed="rId5"/>
                  <a:stretch>
                    <a:fillRect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p:cNvSpPr txBox="1"/>
                <p:nvPr/>
              </p:nvSpPr>
              <p:spPr>
                <a:xfrm>
                  <a:off x="4871594" y="1613299"/>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3</m:t>
                            </m:r>
                          </m:sub>
                        </m:sSub>
                      </m:oMath>
                    </m:oMathPara>
                  </a14:m>
                  <a:endParaRPr lang="en-IN" dirty="0"/>
                </a:p>
              </p:txBody>
            </p:sp>
          </mc:Choice>
          <mc:Fallback xmlns="">
            <p:sp>
              <p:nvSpPr>
                <p:cNvPr id="112" name="TextBox 111"/>
                <p:cNvSpPr txBox="1">
                  <a:spLocks noRot="1" noChangeAspect="1" noMove="1" noResize="1" noEditPoints="1" noAdjustHandles="1" noChangeArrowheads="1" noChangeShapeType="1" noTextEdit="1"/>
                </p:cNvSpPr>
                <p:nvPr/>
              </p:nvSpPr>
              <p:spPr>
                <a:xfrm>
                  <a:off x="4871594" y="1613299"/>
                  <a:ext cx="357931" cy="276999"/>
                </a:xfrm>
                <a:prstGeom prst="rect">
                  <a:avLst/>
                </a:prstGeom>
                <a:blipFill>
                  <a:blip r:embed="rId6"/>
                  <a:stretch>
                    <a:fillRect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TextBox 112"/>
                <p:cNvSpPr txBox="1"/>
                <p:nvPr/>
              </p:nvSpPr>
              <p:spPr>
                <a:xfrm>
                  <a:off x="5545676" y="1613299"/>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4</m:t>
                            </m:r>
                          </m:sub>
                        </m:sSub>
                      </m:oMath>
                    </m:oMathPara>
                  </a14:m>
                  <a:endParaRPr lang="en-IN" dirty="0"/>
                </a:p>
              </p:txBody>
            </p:sp>
          </mc:Choice>
          <mc:Fallback xmlns="">
            <p:sp>
              <p:nvSpPr>
                <p:cNvPr id="113" name="TextBox 112"/>
                <p:cNvSpPr txBox="1">
                  <a:spLocks noRot="1" noChangeAspect="1" noMove="1" noResize="1" noEditPoints="1" noAdjustHandles="1" noChangeArrowheads="1" noChangeShapeType="1" noTextEdit="1"/>
                </p:cNvSpPr>
                <p:nvPr/>
              </p:nvSpPr>
              <p:spPr>
                <a:xfrm>
                  <a:off x="5545676" y="1613299"/>
                  <a:ext cx="357931" cy="276999"/>
                </a:xfrm>
                <a:prstGeom prst="rect">
                  <a:avLst/>
                </a:prstGeom>
                <a:blipFill>
                  <a:blip r:embed="rId7"/>
                  <a:stretch>
                    <a:fillRect b="-15556"/>
                  </a:stretch>
                </a:blipFill>
              </p:spPr>
              <p:txBody>
                <a:bodyPr/>
                <a:lstStyle/>
                <a:p>
                  <a:r>
                    <a:rPr lang="en-IN">
                      <a:noFill/>
                    </a:rPr>
                    <a:t> </a:t>
                  </a:r>
                </a:p>
              </p:txBody>
            </p:sp>
          </mc:Fallback>
        </mc:AlternateContent>
        <p:sp>
          <p:nvSpPr>
            <p:cNvPr id="114" name="Right Brace 113"/>
            <p:cNvSpPr/>
            <p:nvPr/>
          </p:nvSpPr>
          <p:spPr>
            <a:xfrm rot="5400000">
              <a:off x="4497962" y="616251"/>
              <a:ext cx="306902"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115" name="Down Arrow 114"/>
            <p:cNvSpPr/>
            <p:nvPr/>
          </p:nvSpPr>
          <p:spPr>
            <a:xfrm>
              <a:off x="4545195" y="1912373"/>
              <a:ext cx="212436" cy="239091"/>
            </a:xfrm>
            <a:prstGeom prst="downArrow">
              <a:avLst/>
            </a:prstGeom>
            <a:solidFill>
              <a:schemeClr val="accent1">
                <a:lumMod val="60000"/>
                <a:lumOff val="40000"/>
              </a:schemeClr>
            </a:solidFill>
            <a:ln w="12700">
              <a:solidFill>
                <a:srgbClr val="FF0000">
                  <a:alpha val="9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116" name="Down Arrow 115"/>
            <p:cNvSpPr/>
            <p:nvPr/>
          </p:nvSpPr>
          <p:spPr>
            <a:xfrm>
              <a:off x="4542020" y="2518051"/>
              <a:ext cx="212436" cy="215389"/>
            </a:xfrm>
            <a:prstGeom prst="downArrow">
              <a:avLst/>
            </a:prstGeom>
            <a:solidFill>
              <a:schemeClr val="accent1">
                <a:lumMod val="60000"/>
                <a:lumOff val="40000"/>
              </a:schemeClr>
            </a:solidFill>
            <a:ln w="12700">
              <a:solidFill>
                <a:srgbClr val="FF0000">
                  <a:alpha val="9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mc:AlternateContent xmlns:mc="http://schemas.openxmlformats.org/markup-compatibility/2006" xmlns:a14="http://schemas.microsoft.com/office/drawing/2010/main">
          <mc:Choice Requires="a14">
            <p:sp>
              <p:nvSpPr>
                <p:cNvPr id="117" name="TextBox 116"/>
                <p:cNvSpPr txBox="1"/>
                <p:nvPr/>
              </p:nvSpPr>
              <p:spPr>
                <a:xfrm>
                  <a:off x="3445281" y="2166994"/>
                  <a:ext cx="397865" cy="3075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1</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117" name="TextBox 116"/>
                <p:cNvSpPr txBox="1">
                  <a:spLocks noRot="1" noChangeAspect="1" noMove="1" noResize="1" noEditPoints="1" noAdjustHandles="1" noChangeArrowheads="1" noChangeShapeType="1" noTextEdit="1"/>
                </p:cNvSpPr>
                <p:nvPr/>
              </p:nvSpPr>
              <p:spPr>
                <a:xfrm>
                  <a:off x="3445281" y="2166994"/>
                  <a:ext cx="397865" cy="307520"/>
                </a:xfrm>
                <a:prstGeom prst="rect">
                  <a:avLst/>
                </a:prstGeom>
                <a:blipFill>
                  <a:blip r:embed="rId8"/>
                  <a:stretch>
                    <a:fillRect l="-18462" r="-9231" b="-24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8" name="TextBox 117"/>
                <p:cNvSpPr txBox="1"/>
                <p:nvPr/>
              </p:nvSpPr>
              <p:spPr>
                <a:xfrm>
                  <a:off x="5490775" y="2162641"/>
                  <a:ext cx="397866" cy="3072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4</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118" name="TextBox 117"/>
                <p:cNvSpPr txBox="1">
                  <a:spLocks noRot="1" noChangeAspect="1" noMove="1" noResize="1" noEditPoints="1" noAdjustHandles="1" noChangeArrowheads="1" noChangeShapeType="1" noTextEdit="1"/>
                </p:cNvSpPr>
                <p:nvPr/>
              </p:nvSpPr>
              <p:spPr>
                <a:xfrm>
                  <a:off x="5490775" y="2162641"/>
                  <a:ext cx="397866" cy="307264"/>
                </a:xfrm>
                <a:prstGeom prst="rect">
                  <a:avLst/>
                </a:prstGeom>
                <a:blipFill>
                  <a:blip r:embed="rId9"/>
                  <a:stretch>
                    <a:fillRect l="-16923" r="-10769" b="-26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Box 118"/>
                <p:cNvSpPr txBox="1"/>
                <p:nvPr/>
              </p:nvSpPr>
              <p:spPr>
                <a:xfrm>
                  <a:off x="4889301" y="2171455"/>
                  <a:ext cx="397866" cy="3090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3</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119" name="TextBox 118"/>
                <p:cNvSpPr txBox="1">
                  <a:spLocks noRot="1" noChangeAspect="1" noMove="1" noResize="1" noEditPoints="1" noAdjustHandles="1" noChangeArrowheads="1" noChangeShapeType="1" noTextEdit="1"/>
                </p:cNvSpPr>
                <p:nvPr/>
              </p:nvSpPr>
              <p:spPr>
                <a:xfrm>
                  <a:off x="4889301" y="2171455"/>
                  <a:ext cx="397866" cy="309059"/>
                </a:xfrm>
                <a:prstGeom prst="rect">
                  <a:avLst/>
                </a:prstGeom>
                <a:blipFill>
                  <a:blip r:embed="rId10"/>
                  <a:stretch>
                    <a:fillRect l="-16667" r="-9091" b="-235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TextBox 119"/>
                <p:cNvSpPr txBox="1"/>
                <p:nvPr/>
              </p:nvSpPr>
              <p:spPr>
                <a:xfrm>
                  <a:off x="4201695" y="2177958"/>
                  <a:ext cx="39786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2</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120" name="TextBox 119"/>
                <p:cNvSpPr txBox="1">
                  <a:spLocks noRot="1" noChangeAspect="1" noMove="1" noResize="1" noEditPoints="1" noAdjustHandles="1" noChangeArrowheads="1" noChangeShapeType="1" noTextEdit="1"/>
                </p:cNvSpPr>
                <p:nvPr/>
              </p:nvSpPr>
              <p:spPr>
                <a:xfrm>
                  <a:off x="4201695" y="2177958"/>
                  <a:ext cx="397866" cy="307777"/>
                </a:xfrm>
                <a:prstGeom prst="rect">
                  <a:avLst/>
                </a:prstGeom>
                <a:blipFill>
                  <a:blip r:embed="rId11"/>
                  <a:stretch>
                    <a:fillRect l="-18462" r="-9231" b="-24000"/>
                  </a:stretch>
                </a:blipFill>
              </p:spPr>
              <p:txBody>
                <a:bodyPr/>
                <a:lstStyle/>
                <a:p>
                  <a:r>
                    <a:rPr lang="en-IN">
                      <a:noFill/>
                    </a:rPr>
                    <a:t> </a:t>
                  </a:r>
                </a:p>
              </p:txBody>
            </p:sp>
          </mc:Fallback>
        </mc:AlternateContent>
        <p:sp>
          <p:nvSpPr>
            <p:cNvPr id="121" name="Oval 120"/>
            <p:cNvSpPr/>
            <p:nvPr/>
          </p:nvSpPr>
          <p:spPr>
            <a:xfrm>
              <a:off x="3878703" y="3314880"/>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22" name="Oval 121"/>
            <p:cNvSpPr/>
            <p:nvPr/>
          </p:nvSpPr>
          <p:spPr>
            <a:xfrm>
              <a:off x="4995430" y="3315374"/>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23" name="Oval 122"/>
            <p:cNvSpPr/>
            <p:nvPr/>
          </p:nvSpPr>
          <p:spPr>
            <a:xfrm>
              <a:off x="3882726" y="3765108"/>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24" name="Oval 123"/>
            <p:cNvSpPr/>
            <p:nvPr/>
          </p:nvSpPr>
          <p:spPr>
            <a:xfrm>
              <a:off x="5000192" y="3749416"/>
              <a:ext cx="364913" cy="332552"/>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cxnSp>
          <p:nvCxnSpPr>
            <p:cNvPr id="125" name="Straight Arrow Connector 124"/>
            <p:cNvCxnSpPr>
              <a:stCxn id="95" idx="2"/>
              <a:endCxn id="121" idx="0"/>
            </p:cNvCxnSpPr>
            <p:nvPr/>
          </p:nvCxnSpPr>
          <p:spPr>
            <a:xfrm>
              <a:off x="3614558" y="3055953"/>
              <a:ext cx="443748" cy="25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98" idx="2"/>
              <a:endCxn id="121" idx="0"/>
            </p:cNvCxnSpPr>
            <p:nvPr/>
          </p:nvCxnSpPr>
          <p:spPr>
            <a:xfrm flipH="1">
              <a:off x="4058306" y="3055953"/>
              <a:ext cx="213351" cy="25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stCxn id="95" idx="2"/>
              <a:endCxn id="122" idx="0"/>
            </p:cNvCxnSpPr>
            <p:nvPr/>
          </p:nvCxnSpPr>
          <p:spPr>
            <a:xfrm>
              <a:off x="3614558" y="3055953"/>
              <a:ext cx="1560475" cy="25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stCxn id="98" idx="2"/>
              <a:endCxn id="122" idx="0"/>
            </p:cNvCxnSpPr>
            <p:nvPr/>
          </p:nvCxnSpPr>
          <p:spPr>
            <a:xfrm>
              <a:off x="4271657" y="3055953"/>
              <a:ext cx="903376" cy="25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a:stCxn id="97" idx="2"/>
              <a:endCxn id="122" idx="0"/>
            </p:cNvCxnSpPr>
            <p:nvPr/>
          </p:nvCxnSpPr>
          <p:spPr>
            <a:xfrm>
              <a:off x="5029196" y="3064098"/>
              <a:ext cx="145837" cy="251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96" idx="2"/>
              <a:endCxn id="122" idx="0"/>
            </p:cNvCxnSpPr>
            <p:nvPr/>
          </p:nvCxnSpPr>
          <p:spPr>
            <a:xfrm flipH="1">
              <a:off x="5175033" y="3051491"/>
              <a:ext cx="514676" cy="263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a:stCxn id="97" idx="2"/>
              <a:endCxn id="121" idx="0"/>
            </p:cNvCxnSpPr>
            <p:nvPr/>
          </p:nvCxnSpPr>
          <p:spPr>
            <a:xfrm flipH="1">
              <a:off x="4058306" y="3064098"/>
              <a:ext cx="970890" cy="25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96" idx="2"/>
              <a:endCxn id="121" idx="0"/>
            </p:cNvCxnSpPr>
            <p:nvPr/>
          </p:nvCxnSpPr>
          <p:spPr>
            <a:xfrm flipH="1">
              <a:off x="4058306" y="3051491"/>
              <a:ext cx="1631403" cy="263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a:stCxn id="122" idx="4"/>
              <a:endCxn id="124" idx="0"/>
            </p:cNvCxnSpPr>
            <p:nvPr/>
          </p:nvCxnSpPr>
          <p:spPr>
            <a:xfrm>
              <a:off x="5175033" y="3631062"/>
              <a:ext cx="7616" cy="118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a:stCxn id="121" idx="4"/>
              <a:endCxn id="123" idx="0"/>
            </p:cNvCxnSpPr>
            <p:nvPr/>
          </p:nvCxnSpPr>
          <p:spPr>
            <a:xfrm>
              <a:off x="4058306" y="3630568"/>
              <a:ext cx="4023" cy="13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5" name="TextBox 134"/>
                <p:cNvSpPr txBox="1"/>
                <p:nvPr/>
              </p:nvSpPr>
              <p:spPr>
                <a:xfrm>
                  <a:off x="3881264" y="3330198"/>
                  <a:ext cx="342437"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35" name="TextBox 134"/>
                <p:cNvSpPr txBox="1">
                  <a:spLocks noRot="1" noChangeAspect="1" noMove="1" noResize="1" noEditPoints="1" noAdjustHandles="1" noChangeArrowheads="1" noChangeShapeType="1" noTextEdit="1"/>
                </p:cNvSpPr>
                <p:nvPr/>
              </p:nvSpPr>
              <p:spPr>
                <a:xfrm>
                  <a:off x="3881264" y="3330198"/>
                  <a:ext cx="342437" cy="268984"/>
                </a:xfrm>
                <a:prstGeom prst="rect">
                  <a:avLst/>
                </a:prstGeom>
                <a:blipFill>
                  <a:blip r:embed="rId12"/>
                  <a:stretch>
                    <a:fillRect l="-3571" t="-4545" r="-8929"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6" name="TextBox 135"/>
                <p:cNvSpPr txBox="1"/>
                <p:nvPr/>
              </p:nvSpPr>
              <p:spPr>
                <a:xfrm>
                  <a:off x="5006507" y="3322297"/>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36" name="TextBox 135"/>
                <p:cNvSpPr txBox="1">
                  <a:spLocks noRot="1" noChangeAspect="1" noMove="1" noResize="1" noEditPoints="1" noAdjustHandles="1" noChangeArrowheads="1" noChangeShapeType="1" noTextEdit="1"/>
                </p:cNvSpPr>
                <p:nvPr/>
              </p:nvSpPr>
              <p:spPr>
                <a:xfrm>
                  <a:off x="5006507" y="3322297"/>
                  <a:ext cx="377649" cy="269241"/>
                </a:xfrm>
                <a:prstGeom prst="rect">
                  <a:avLst/>
                </a:prstGeom>
                <a:blipFill>
                  <a:blip r:embed="rId13"/>
                  <a:stretch>
                    <a:fillRect t="-2273" r="-1613"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7" name="TextBox 136"/>
                <p:cNvSpPr txBox="1"/>
                <p:nvPr/>
              </p:nvSpPr>
              <p:spPr>
                <a:xfrm>
                  <a:off x="3873556" y="3775187"/>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smtClean="0">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37" name="TextBox 136"/>
                <p:cNvSpPr txBox="1">
                  <a:spLocks noRot="1" noChangeAspect="1" noMove="1" noResize="1" noEditPoints="1" noAdjustHandles="1" noChangeArrowheads="1" noChangeShapeType="1" noTextEdit="1"/>
                </p:cNvSpPr>
                <p:nvPr/>
              </p:nvSpPr>
              <p:spPr>
                <a:xfrm>
                  <a:off x="3873556" y="3775187"/>
                  <a:ext cx="377649" cy="268984"/>
                </a:xfrm>
                <a:prstGeom prst="rect">
                  <a:avLst/>
                </a:prstGeom>
                <a:blipFill>
                  <a:blip r:embed="rId14"/>
                  <a:stretch>
                    <a:fillRect l="-12903" t="-4545" r="-4839" b="-227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8" name="TextBox 137"/>
                <p:cNvSpPr txBox="1"/>
                <p:nvPr/>
              </p:nvSpPr>
              <p:spPr>
                <a:xfrm>
                  <a:off x="4993823" y="3770921"/>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38" name="TextBox 137"/>
                <p:cNvSpPr txBox="1">
                  <a:spLocks noRot="1" noChangeAspect="1" noMove="1" noResize="1" noEditPoints="1" noAdjustHandles="1" noChangeArrowheads="1" noChangeShapeType="1" noTextEdit="1"/>
                </p:cNvSpPr>
                <p:nvPr/>
              </p:nvSpPr>
              <p:spPr>
                <a:xfrm>
                  <a:off x="4993823" y="3770921"/>
                  <a:ext cx="377649" cy="269241"/>
                </a:xfrm>
                <a:prstGeom prst="rect">
                  <a:avLst/>
                </a:prstGeom>
                <a:blipFill>
                  <a:blip r:embed="rId15"/>
                  <a:stretch>
                    <a:fillRect l="-13115" t="-4545" r="-6557" b="-22727"/>
                  </a:stretch>
                </a:blipFill>
              </p:spPr>
              <p:txBody>
                <a:bodyPr/>
                <a:lstStyle/>
                <a:p>
                  <a:r>
                    <a:rPr lang="en-IN">
                      <a:noFill/>
                    </a:rPr>
                    <a:t> </a:t>
                  </a:r>
                </a:p>
              </p:txBody>
            </p:sp>
          </mc:Fallback>
        </mc:AlternateContent>
        <p:sp>
          <p:nvSpPr>
            <p:cNvPr id="139" name="Left Bracket 138"/>
            <p:cNvSpPr/>
            <p:nvPr/>
          </p:nvSpPr>
          <p:spPr>
            <a:xfrm rot="16200000">
              <a:off x="4617130" y="1759451"/>
              <a:ext cx="56857" cy="2613115"/>
            </a:xfrm>
            <a:prstGeom prst="leftBracket">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140" name="Rectangle 139"/>
            <p:cNvSpPr/>
            <p:nvPr/>
          </p:nvSpPr>
          <p:spPr>
            <a:xfrm>
              <a:off x="3198584" y="4329933"/>
              <a:ext cx="2784092" cy="915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141" name="Oval 140"/>
            <p:cNvSpPr/>
            <p:nvPr/>
          </p:nvSpPr>
          <p:spPr>
            <a:xfrm>
              <a:off x="3867253" y="4417209"/>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42" name="Oval 141"/>
            <p:cNvSpPr/>
            <p:nvPr/>
          </p:nvSpPr>
          <p:spPr>
            <a:xfrm>
              <a:off x="4983980" y="4417703"/>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43" name="Oval 142"/>
            <p:cNvSpPr/>
            <p:nvPr/>
          </p:nvSpPr>
          <p:spPr>
            <a:xfrm>
              <a:off x="3871276" y="4867437"/>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144" name="Oval 143"/>
            <p:cNvSpPr/>
            <p:nvPr/>
          </p:nvSpPr>
          <p:spPr>
            <a:xfrm>
              <a:off x="4988743" y="4867437"/>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cxnSp>
          <p:nvCxnSpPr>
            <p:cNvPr id="145" name="Straight Arrow Connector 144"/>
            <p:cNvCxnSpPr>
              <a:stCxn id="142" idx="4"/>
              <a:endCxn id="144" idx="0"/>
            </p:cNvCxnSpPr>
            <p:nvPr/>
          </p:nvCxnSpPr>
          <p:spPr>
            <a:xfrm>
              <a:off x="5184068" y="4750780"/>
              <a:ext cx="4763" cy="116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a:stCxn id="141" idx="4"/>
              <a:endCxn id="143" idx="0"/>
            </p:cNvCxnSpPr>
            <p:nvPr/>
          </p:nvCxnSpPr>
          <p:spPr>
            <a:xfrm>
              <a:off x="4067341" y="4750286"/>
              <a:ext cx="4023" cy="117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7" name="TextBox 146"/>
                <p:cNvSpPr txBox="1"/>
                <p:nvPr/>
              </p:nvSpPr>
              <p:spPr>
                <a:xfrm>
                  <a:off x="3878877" y="4431336"/>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47" name="TextBox 146"/>
                <p:cNvSpPr txBox="1">
                  <a:spLocks noRot="1" noChangeAspect="1" noMove="1" noResize="1" noEditPoints="1" noAdjustHandles="1" noChangeArrowheads="1" noChangeShapeType="1" noTextEdit="1"/>
                </p:cNvSpPr>
                <p:nvPr/>
              </p:nvSpPr>
              <p:spPr>
                <a:xfrm>
                  <a:off x="3878877" y="4431336"/>
                  <a:ext cx="377649" cy="268984"/>
                </a:xfrm>
                <a:prstGeom prst="rect">
                  <a:avLst/>
                </a:prstGeom>
                <a:blipFill>
                  <a:blip r:embed="rId16"/>
                  <a:stretch>
                    <a:fillRect t="-2273" r="-1613"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8" name="TextBox 147"/>
                <p:cNvSpPr txBox="1"/>
                <p:nvPr/>
              </p:nvSpPr>
              <p:spPr>
                <a:xfrm>
                  <a:off x="4976987" y="4417222"/>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48" name="TextBox 147"/>
                <p:cNvSpPr txBox="1">
                  <a:spLocks noRot="1" noChangeAspect="1" noMove="1" noResize="1" noEditPoints="1" noAdjustHandles="1" noChangeArrowheads="1" noChangeShapeType="1" noTextEdit="1"/>
                </p:cNvSpPr>
                <p:nvPr/>
              </p:nvSpPr>
              <p:spPr>
                <a:xfrm>
                  <a:off x="4976987" y="4417222"/>
                  <a:ext cx="377649" cy="269241"/>
                </a:xfrm>
                <a:prstGeom prst="rect">
                  <a:avLst/>
                </a:prstGeom>
                <a:blipFill>
                  <a:blip r:embed="rId17"/>
                  <a:stretch>
                    <a:fillRect t="-4545" r="-1613"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9" name="TextBox 148"/>
                <p:cNvSpPr txBox="1"/>
                <p:nvPr/>
              </p:nvSpPr>
              <p:spPr>
                <a:xfrm>
                  <a:off x="3897790" y="4889001"/>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smtClean="0">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49" name="TextBox 148"/>
                <p:cNvSpPr txBox="1">
                  <a:spLocks noRot="1" noChangeAspect="1" noMove="1" noResize="1" noEditPoints="1" noAdjustHandles="1" noChangeArrowheads="1" noChangeShapeType="1" noTextEdit="1"/>
                </p:cNvSpPr>
                <p:nvPr/>
              </p:nvSpPr>
              <p:spPr>
                <a:xfrm>
                  <a:off x="3897790" y="4889001"/>
                  <a:ext cx="377649" cy="268984"/>
                </a:xfrm>
                <a:prstGeom prst="rect">
                  <a:avLst/>
                </a:prstGeom>
                <a:blipFill>
                  <a:blip r:embed="rId18"/>
                  <a:stretch>
                    <a:fillRect l="-12903" t="-2273" r="-4839" b="-2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0" name="TextBox 149"/>
                <p:cNvSpPr txBox="1"/>
                <p:nvPr/>
              </p:nvSpPr>
              <p:spPr>
                <a:xfrm>
                  <a:off x="5008860" y="4887836"/>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150" name="TextBox 149"/>
                <p:cNvSpPr txBox="1">
                  <a:spLocks noRot="1" noChangeAspect="1" noMove="1" noResize="1" noEditPoints="1" noAdjustHandles="1" noChangeArrowheads="1" noChangeShapeType="1" noTextEdit="1"/>
                </p:cNvSpPr>
                <p:nvPr/>
              </p:nvSpPr>
              <p:spPr>
                <a:xfrm>
                  <a:off x="5008860" y="4887836"/>
                  <a:ext cx="377649" cy="269241"/>
                </a:xfrm>
                <a:prstGeom prst="rect">
                  <a:avLst/>
                </a:prstGeom>
                <a:blipFill>
                  <a:blip r:embed="rId19"/>
                  <a:stretch>
                    <a:fillRect l="-12903" t="-2273" r="-4839" b="-25000"/>
                  </a:stretch>
                </a:blipFill>
              </p:spPr>
              <p:txBody>
                <a:bodyPr/>
                <a:lstStyle/>
                <a:p>
                  <a:r>
                    <a:rPr lang="en-IN">
                      <a:noFill/>
                    </a:rPr>
                    <a:t> </a:t>
                  </a:r>
                </a:p>
              </p:txBody>
            </p:sp>
          </mc:Fallback>
        </mc:AlternateContent>
        <p:cxnSp>
          <p:nvCxnSpPr>
            <p:cNvPr id="151" name="Straight Arrow Connector 150"/>
            <p:cNvCxnSpPr>
              <a:stCxn id="124" idx="4"/>
              <a:endCxn id="141" idx="0"/>
            </p:cNvCxnSpPr>
            <p:nvPr/>
          </p:nvCxnSpPr>
          <p:spPr>
            <a:xfrm flipH="1">
              <a:off x="4067341" y="4081968"/>
              <a:ext cx="1115308" cy="335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p:cNvCxnSpPr>
              <a:stCxn id="123" idx="4"/>
              <a:endCxn id="142" idx="0"/>
            </p:cNvCxnSpPr>
            <p:nvPr/>
          </p:nvCxnSpPr>
          <p:spPr>
            <a:xfrm>
              <a:off x="4062329" y="4080796"/>
              <a:ext cx="1121739" cy="3369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a:stCxn id="123" idx="4"/>
              <a:endCxn id="141" idx="0"/>
            </p:cNvCxnSpPr>
            <p:nvPr/>
          </p:nvCxnSpPr>
          <p:spPr>
            <a:xfrm>
              <a:off x="4062329" y="4080796"/>
              <a:ext cx="5012" cy="336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a:stCxn id="124" idx="4"/>
              <a:endCxn id="142" idx="0"/>
            </p:cNvCxnSpPr>
            <p:nvPr/>
          </p:nvCxnSpPr>
          <p:spPr>
            <a:xfrm>
              <a:off x="5182649" y="4081968"/>
              <a:ext cx="1419" cy="335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5" name="Oval 154"/>
            <p:cNvSpPr/>
            <p:nvPr/>
          </p:nvSpPr>
          <p:spPr>
            <a:xfrm>
              <a:off x="4474939" y="5425401"/>
              <a:ext cx="352947" cy="366713"/>
            </a:xfrm>
            <a:prstGeom prst="ellipse">
              <a:avLst/>
            </a:prstGeom>
            <a:solidFill>
              <a:schemeClr val="accent6"/>
            </a:solidFill>
            <a:ln w="19050">
              <a:solidFill>
                <a:srgbClr val="00B050">
                  <a:alpha val="1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cxnSp>
          <p:nvCxnSpPr>
            <p:cNvPr id="156" name="Straight Arrow Connector 155"/>
            <p:cNvCxnSpPr>
              <a:stCxn id="144" idx="4"/>
              <a:endCxn id="155" idx="0"/>
            </p:cNvCxnSpPr>
            <p:nvPr/>
          </p:nvCxnSpPr>
          <p:spPr>
            <a:xfrm flipH="1">
              <a:off x="4651413" y="5200514"/>
              <a:ext cx="537418" cy="224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a:stCxn id="143" idx="4"/>
              <a:endCxn id="155" idx="0"/>
            </p:cNvCxnSpPr>
            <p:nvPr/>
          </p:nvCxnSpPr>
          <p:spPr>
            <a:xfrm>
              <a:off x="4071364" y="5200514"/>
              <a:ext cx="580049" cy="224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8" name="Right Brace 157"/>
            <p:cNvSpPr/>
            <p:nvPr/>
          </p:nvSpPr>
          <p:spPr>
            <a:xfrm>
              <a:off x="6015073" y="1767722"/>
              <a:ext cx="107950" cy="132671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59" name="TextBox 158"/>
            <p:cNvSpPr txBox="1"/>
            <p:nvPr/>
          </p:nvSpPr>
          <p:spPr>
            <a:xfrm>
              <a:off x="6169152" y="2240877"/>
              <a:ext cx="1236236" cy="400110"/>
            </a:xfrm>
            <a:prstGeom prst="rect">
              <a:avLst/>
            </a:prstGeom>
            <a:noFill/>
          </p:spPr>
          <p:txBody>
            <a:bodyPr wrap="none" rtlCol="0">
              <a:spAutoFit/>
            </a:bodyPr>
            <a:lstStyle/>
            <a:p>
              <a:r>
                <a:rPr lang="en-IN" sz="2000" dirty="0">
                  <a:latin typeface="Arial Narrow" panose="020B0606020202030204" pitchFamily="34" charset="0"/>
                </a:rPr>
                <a:t>Input Layer</a:t>
              </a:r>
            </a:p>
          </p:txBody>
        </p:sp>
        <p:sp>
          <p:nvSpPr>
            <p:cNvPr id="160" name="Right Brace 159"/>
            <p:cNvSpPr/>
            <p:nvPr/>
          </p:nvSpPr>
          <p:spPr>
            <a:xfrm>
              <a:off x="6014112" y="3199060"/>
              <a:ext cx="92728" cy="97567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61" name="Right Brace 160"/>
            <p:cNvSpPr/>
            <p:nvPr/>
          </p:nvSpPr>
          <p:spPr>
            <a:xfrm>
              <a:off x="6007215" y="4281771"/>
              <a:ext cx="92728" cy="97567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62" name="TextBox 161"/>
            <p:cNvSpPr txBox="1"/>
            <p:nvPr/>
          </p:nvSpPr>
          <p:spPr>
            <a:xfrm>
              <a:off x="6124216" y="3494561"/>
              <a:ext cx="1611339" cy="400110"/>
            </a:xfrm>
            <a:prstGeom prst="rect">
              <a:avLst/>
            </a:prstGeom>
            <a:noFill/>
          </p:spPr>
          <p:txBody>
            <a:bodyPr wrap="none" rtlCol="0">
              <a:spAutoFit/>
            </a:bodyPr>
            <a:lstStyle/>
            <a:p>
              <a:r>
                <a:rPr lang="en-IN" sz="2000" dirty="0">
                  <a:latin typeface="Arial Narrow" panose="020B0606020202030204" pitchFamily="34" charset="0"/>
                </a:rPr>
                <a:t>Hidden Layer 1</a:t>
              </a:r>
            </a:p>
          </p:txBody>
        </p:sp>
        <p:sp>
          <p:nvSpPr>
            <p:cNvPr id="163" name="TextBox 162"/>
            <p:cNvSpPr txBox="1"/>
            <p:nvPr/>
          </p:nvSpPr>
          <p:spPr>
            <a:xfrm>
              <a:off x="6086408" y="4584943"/>
              <a:ext cx="1611339" cy="400110"/>
            </a:xfrm>
            <a:prstGeom prst="rect">
              <a:avLst/>
            </a:prstGeom>
            <a:noFill/>
          </p:spPr>
          <p:txBody>
            <a:bodyPr wrap="none" rtlCol="0">
              <a:spAutoFit/>
            </a:bodyPr>
            <a:lstStyle/>
            <a:p>
              <a:r>
                <a:rPr lang="en-IN" sz="2000" dirty="0">
                  <a:latin typeface="Arial Narrow" panose="020B0606020202030204" pitchFamily="34" charset="0"/>
                </a:rPr>
                <a:t>Hidden Layer 2</a:t>
              </a:r>
            </a:p>
          </p:txBody>
        </p:sp>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2F25022F-C5CE-4D64-85E9-FAB04369B89A}"/>
                    </a:ext>
                  </a:extLst>
                </p:cNvPr>
                <p:cNvSpPr txBox="1"/>
                <p:nvPr/>
              </p:nvSpPr>
              <p:spPr>
                <a:xfrm>
                  <a:off x="3181552" y="3246871"/>
                  <a:ext cx="572714" cy="3229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1</m:t>
                            </m:r>
                          </m:sub>
                          <m:sup>
                            <m:r>
                              <a:rPr lang="en-IN" sz="1200" b="0" i="1" smtClean="0">
                                <a:solidFill>
                                  <a:schemeClr val="accent5">
                                    <a:lumMod val="75000"/>
                                  </a:schemeClr>
                                </a:solidFill>
                                <a:latin typeface="Cambria Math" panose="02040503050406030204" pitchFamily="18" charset="0"/>
                              </a:rPr>
                              <m:t>(1)</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(1)</m:t>
                            </m:r>
                          </m:sup>
                        </m:sSup>
                      </m:oMath>
                    </m:oMathPara>
                  </a14:m>
                  <a:endParaRPr lang="en-IN" sz="1200" dirty="0">
                    <a:solidFill>
                      <a:schemeClr val="accent5">
                        <a:lumMod val="75000"/>
                      </a:schemeClr>
                    </a:solidFill>
                  </a:endParaRPr>
                </a:p>
              </p:txBody>
            </p:sp>
          </mc:Choice>
          <mc:Fallback xmlns="">
            <p:sp>
              <p:nvSpPr>
                <p:cNvPr id="164" name="TextBox 163">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3181552" y="3246871"/>
                  <a:ext cx="572714" cy="322974"/>
                </a:xfrm>
                <a:prstGeom prst="rect">
                  <a:avLst/>
                </a:prstGeom>
                <a:blipFill>
                  <a:blip r:embed="rId20"/>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2F25022F-C5CE-4D64-85E9-FAB04369B89A}"/>
                    </a:ext>
                  </a:extLst>
                </p:cNvPr>
                <p:cNvSpPr txBox="1"/>
                <p:nvPr/>
              </p:nvSpPr>
              <p:spPr>
                <a:xfrm>
                  <a:off x="5286645" y="3210059"/>
                  <a:ext cx="572714"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2</m:t>
                            </m:r>
                          </m:sub>
                          <m:sup>
                            <m:r>
                              <a:rPr lang="en-IN" sz="1200" b="0" i="1" smtClean="0">
                                <a:solidFill>
                                  <a:schemeClr val="accent5">
                                    <a:lumMod val="75000"/>
                                  </a:schemeClr>
                                </a:solidFill>
                                <a:latin typeface="Cambria Math" panose="02040503050406030204" pitchFamily="18" charset="0"/>
                              </a:rPr>
                              <m:t>(1)</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(1)</m:t>
                            </m:r>
                          </m:sup>
                        </m:sSup>
                      </m:oMath>
                    </m:oMathPara>
                  </a14:m>
                  <a:endParaRPr lang="en-IN" sz="1200" dirty="0">
                    <a:solidFill>
                      <a:schemeClr val="accent5">
                        <a:lumMod val="75000"/>
                      </a:schemeClr>
                    </a:solidFill>
                  </a:endParaRPr>
                </a:p>
              </p:txBody>
            </p:sp>
          </mc:Choice>
          <mc:Fallback xmlns="">
            <p:sp>
              <p:nvSpPr>
                <p:cNvPr id="165" name="TextBox 164">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5286645" y="3210059"/>
                  <a:ext cx="572714" cy="323165"/>
                </a:xfrm>
                <a:prstGeom prst="rect">
                  <a:avLst/>
                </a:prstGeom>
                <a:blipFill>
                  <a:blip r:embed="rId21"/>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6" name="Rectangle 165">
                  <a:extLst>
                    <a:ext uri="{FF2B5EF4-FFF2-40B4-BE49-F238E27FC236}">
                      <a16:creationId xmlns:a16="http://schemas.microsoft.com/office/drawing/2014/main" id="{7EB440A6-4A1A-4A1B-908B-419B7A1E9D77}"/>
                    </a:ext>
                  </a:extLst>
                </p:cNvPr>
                <p:cNvSpPr/>
                <p:nvPr/>
              </p:nvSpPr>
              <p:spPr>
                <a:xfrm>
                  <a:off x="3558129" y="3783602"/>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66" name="Rectangle 165">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3558129" y="3783602"/>
                  <a:ext cx="329449" cy="307777"/>
                </a:xfrm>
                <a:prstGeom prst="rect">
                  <a:avLst/>
                </a:prstGeom>
                <a:blipFill>
                  <a:blip r:embed="rId22"/>
                  <a:stretch>
                    <a:fillRect b="-1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7" name="Rectangle 166">
                  <a:extLst>
                    <a:ext uri="{FF2B5EF4-FFF2-40B4-BE49-F238E27FC236}">
                      <a16:creationId xmlns:a16="http://schemas.microsoft.com/office/drawing/2014/main" id="{7EB440A6-4A1A-4A1B-908B-419B7A1E9D77}"/>
                    </a:ext>
                  </a:extLst>
                </p:cNvPr>
                <p:cNvSpPr/>
                <p:nvPr/>
              </p:nvSpPr>
              <p:spPr>
                <a:xfrm>
                  <a:off x="5343928" y="3798064"/>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67" name="Rectangle 166">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5343928" y="3798064"/>
                  <a:ext cx="329449" cy="307777"/>
                </a:xfrm>
                <a:prstGeom prst="rect">
                  <a:avLst/>
                </a:prstGeom>
                <a:blipFill>
                  <a:blip r:embed="rId23"/>
                  <a:stretch>
                    <a:fillRect b="-78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F25022F-C5CE-4D64-85E9-FAB04369B89A}"/>
                    </a:ext>
                  </a:extLst>
                </p:cNvPr>
                <p:cNvSpPr txBox="1"/>
                <p:nvPr/>
              </p:nvSpPr>
              <p:spPr>
                <a:xfrm>
                  <a:off x="3172754" y="4299459"/>
                  <a:ext cx="572714" cy="3229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1</m:t>
                            </m:r>
                          </m:sub>
                          <m:sup>
                            <m:r>
                              <a:rPr lang="en-IN" sz="1200" b="0" i="1" smtClean="0">
                                <a:solidFill>
                                  <a:schemeClr val="accent5">
                                    <a:lumMod val="75000"/>
                                  </a:schemeClr>
                                </a:solidFill>
                                <a:latin typeface="Cambria Math" panose="02040503050406030204" pitchFamily="18" charset="0"/>
                              </a:rPr>
                              <m:t>(2)</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(2)</m:t>
                            </m:r>
                          </m:sup>
                        </m:sSup>
                      </m:oMath>
                    </m:oMathPara>
                  </a14:m>
                  <a:endParaRPr lang="en-IN" sz="1200" dirty="0">
                    <a:solidFill>
                      <a:schemeClr val="accent5">
                        <a:lumMod val="75000"/>
                      </a:schemeClr>
                    </a:solidFill>
                  </a:endParaRPr>
                </a:p>
              </p:txBody>
            </p:sp>
          </mc:Choice>
          <mc:Fallback xmlns="">
            <p:sp>
              <p:nvSpPr>
                <p:cNvPr id="168" name="TextBox 167">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3172754" y="4299459"/>
                  <a:ext cx="572714" cy="322974"/>
                </a:xfrm>
                <a:prstGeom prst="rect">
                  <a:avLst/>
                </a:prstGeom>
                <a:blipFill>
                  <a:blip r:embed="rId24"/>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2F25022F-C5CE-4D64-85E9-FAB04369B89A}"/>
                    </a:ext>
                  </a:extLst>
                </p:cNvPr>
                <p:cNvSpPr txBox="1"/>
                <p:nvPr/>
              </p:nvSpPr>
              <p:spPr>
                <a:xfrm>
                  <a:off x="5291542" y="4299268"/>
                  <a:ext cx="572714"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2</m:t>
                            </m:r>
                          </m:sub>
                          <m:sup>
                            <m:r>
                              <a:rPr lang="en-IN" sz="1200" b="0" i="1" smtClean="0">
                                <a:solidFill>
                                  <a:schemeClr val="accent5">
                                    <a:lumMod val="75000"/>
                                  </a:schemeClr>
                                </a:solidFill>
                                <a:latin typeface="Cambria Math" panose="02040503050406030204" pitchFamily="18" charset="0"/>
                              </a:rPr>
                              <m:t>(2)</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(2)</m:t>
                            </m:r>
                          </m:sup>
                        </m:sSup>
                      </m:oMath>
                    </m:oMathPara>
                  </a14:m>
                  <a:endParaRPr lang="en-IN" sz="1200" dirty="0">
                    <a:solidFill>
                      <a:schemeClr val="accent5">
                        <a:lumMod val="75000"/>
                      </a:schemeClr>
                    </a:solidFill>
                  </a:endParaRPr>
                </a:p>
              </p:txBody>
            </p:sp>
          </mc:Choice>
          <mc:Fallback xmlns="">
            <p:sp>
              <p:nvSpPr>
                <p:cNvPr id="169" name="TextBox 168">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5291542" y="4299268"/>
                  <a:ext cx="572714" cy="323165"/>
                </a:xfrm>
                <a:prstGeom prst="rect">
                  <a:avLst/>
                </a:prstGeom>
                <a:blipFill>
                  <a:blip r:embed="rId25"/>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0" name="TextBox 169">
                  <a:extLst>
                    <a:ext uri="{FF2B5EF4-FFF2-40B4-BE49-F238E27FC236}">
                      <a16:creationId xmlns:a16="http://schemas.microsoft.com/office/drawing/2014/main" id="{E3269ACA-A3F6-4183-B90D-3FF47837CA08}"/>
                    </a:ext>
                  </a:extLst>
                </p:cNvPr>
                <p:cNvSpPr txBox="1"/>
                <p:nvPr/>
              </p:nvSpPr>
              <p:spPr>
                <a:xfrm>
                  <a:off x="4785054" y="5257751"/>
                  <a:ext cx="494492" cy="348813"/>
                </a:xfrm>
                <a:prstGeom prst="rect">
                  <a:avLst/>
                </a:prstGeom>
                <a:ln>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solidFill>
                                  <a:srgbClr val="C00000"/>
                                </a:solidFill>
                                <a:latin typeface="Cambria Math" panose="02040503050406030204" pitchFamily="18" charset="0"/>
                              </a:rPr>
                            </m:ctrlPr>
                          </m:sSupPr>
                          <m:e>
                            <m:r>
                              <a:rPr lang="en-IN" sz="1600" b="0" i="1" smtClean="0">
                                <a:solidFill>
                                  <a:srgbClr val="C00000"/>
                                </a:solidFill>
                                <a:latin typeface="Cambria Math" panose="02040503050406030204" pitchFamily="18" charset="0"/>
                              </a:rPr>
                              <m:t>𝑊</m:t>
                            </m:r>
                          </m:e>
                          <m:sup>
                            <m:r>
                              <a:rPr lang="en-IN" sz="1600" b="0" i="1" smtClean="0">
                                <a:solidFill>
                                  <a:srgbClr val="C00000"/>
                                </a:solidFill>
                                <a:latin typeface="Cambria Math" panose="02040503050406030204" pitchFamily="18" charset="0"/>
                              </a:rPr>
                              <m:t>(3)</m:t>
                            </m:r>
                          </m:sup>
                        </m:sSup>
                      </m:oMath>
                    </m:oMathPara>
                  </a14:m>
                  <a:endParaRPr lang="en-IN" sz="1600" dirty="0"/>
                </a:p>
              </p:txBody>
            </p:sp>
          </mc:Choice>
          <mc:Fallback xmlns="">
            <p:sp>
              <p:nvSpPr>
                <p:cNvPr id="170" name="TextBox 169">
                  <a:extLst>
                    <a:ext uri="{FF2B5EF4-FFF2-40B4-BE49-F238E27FC236}">
                      <a16:creationId xmlns:a16="http://schemas.microsoft.com/office/drawing/2014/main" id="{E3269ACA-A3F6-4183-B90D-3FF47837CA08}"/>
                    </a:ext>
                  </a:extLst>
                </p:cNvPr>
                <p:cNvSpPr txBox="1">
                  <a:spLocks noRot="1" noChangeAspect="1" noMove="1" noResize="1" noEditPoints="1" noAdjustHandles="1" noChangeArrowheads="1" noChangeShapeType="1" noTextEdit="1"/>
                </p:cNvSpPr>
                <p:nvPr/>
              </p:nvSpPr>
              <p:spPr>
                <a:xfrm>
                  <a:off x="4785054" y="5257751"/>
                  <a:ext cx="494492" cy="348813"/>
                </a:xfrm>
                <a:prstGeom prst="rect">
                  <a:avLst/>
                </a:prstGeom>
                <a:blipFill>
                  <a:blip r:embed="rId26"/>
                  <a:stretch>
                    <a:fillRect r="-15854"/>
                  </a:stretch>
                </a:blipFill>
                <a:ln>
                  <a:tailEnd type="triangle"/>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1" name="Rectangle 170">
                  <a:extLst>
                    <a:ext uri="{FF2B5EF4-FFF2-40B4-BE49-F238E27FC236}">
                      <a16:creationId xmlns:a16="http://schemas.microsoft.com/office/drawing/2014/main" id="{CD36A2F3-4729-4D0F-A488-C4262AFA5133}"/>
                    </a:ext>
                  </a:extLst>
                </p:cNvPr>
                <p:cNvSpPr/>
                <p:nvPr/>
              </p:nvSpPr>
              <p:spPr>
                <a:xfrm>
                  <a:off x="4834928" y="5500653"/>
                  <a:ext cx="47513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rgbClr val="C00000"/>
                                </a:solidFill>
                                <a:latin typeface="Cambria Math" panose="02040503050406030204" pitchFamily="18" charset="0"/>
                              </a:rPr>
                            </m:ctrlPr>
                          </m:sSubPr>
                          <m:e>
                            <m:r>
                              <a:rPr lang="en-IN" sz="2000" i="1">
                                <a:solidFill>
                                  <a:srgbClr val="C00000"/>
                                </a:solidFill>
                                <a:latin typeface="Cambria Math" panose="02040503050406030204" pitchFamily="18" charset="0"/>
                              </a:rPr>
                              <m:t>𝑓</m:t>
                            </m:r>
                          </m:e>
                          <m:sub>
                            <m:r>
                              <a:rPr lang="en-IN" sz="2000" b="0" i="1" smtClean="0">
                                <a:solidFill>
                                  <a:srgbClr val="C00000"/>
                                </a:solidFill>
                                <a:latin typeface="Cambria Math" panose="02040503050406030204" pitchFamily="18" charset="0"/>
                              </a:rPr>
                              <m:t>𝑌</m:t>
                            </m:r>
                          </m:sub>
                        </m:sSub>
                      </m:oMath>
                    </m:oMathPara>
                  </a14:m>
                  <a:endParaRPr lang="en-IN" sz="2000" dirty="0"/>
                </a:p>
              </p:txBody>
            </p:sp>
          </mc:Choice>
          <mc:Fallback xmlns="">
            <p:sp>
              <p:nvSpPr>
                <p:cNvPr id="171" name="Rectangle 170">
                  <a:extLst>
                    <a:ext uri="{FF2B5EF4-FFF2-40B4-BE49-F238E27FC236}">
                      <a16:creationId xmlns:a16="http://schemas.microsoft.com/office/drawing/2014/main" id="{CD36A2F3-4729-4D0F-A488-C4262AFA5133}"/>
                    </a:ext>
                  </a:extLst>
                </p:cNvPr>
                <p:cNvSpPr>
                  <a:spLocks noRot="1" noChangeAspect="1" noMove="1" noResize="1" noEditPoints="1" noAdjustHandles="1" noChangeArrowheads="1" noChangeShapeType="1" noTextEdit="1"/>
                </p:cNvSpPr>
                <p:nvPr/>
              </p:nvSpPr>
              <p:spPr>
                <a:xfrm>
                  <a:off x="4834928" y="5500653"/>
                  <a:ext cx="475130" cy="400110"/>
                </a:xfrm>
                <a:prstGeom prst="rect">
                  <a:avLst/>
                </a:prstGeom>
                <a:blipFill>
                  <a:blip r:embed="rId27"/>
                  <a:stretch>
                    <a:fillRect b="-153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2" name="Rectangle 171">
                  <a:extLst>
                    <a:ext uri="{FF2B5EF4-FFF2-40B4-BE49-F238E27FC236}">
                      <a16:creationId xmlns:a16="http://schemas.microsoft.com/office/drawing/2014/main" id="{5728CEDD-2891-4DCE-AAC7-400712DAEA6F}"/>
                    </a:ext>
                  </a:extLst>
                </p:cNvPr>
                <p:cNvSpPr/>
                <p:nvPr/>
              </p:nvSpPr>
              <p:spPr>
                <a:xfrm>
                  <a:off x="4454587" y="5947857"/>
                  <a:ext cx="4025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000" b="0" i="1" smtClean="0">
                            <a:solidFill>
                              <a:srgbClr val="C00000"/>
                            </a:solidFill>
                            <a:latin typeface="Cambria Math" panose="02040503050406030204" pitchFamily="18" charset="0"/>
                          </a:rPr>
                          <m:t>𝑌</m:t>
                        </m:r>
                      </m:oMath>
                    </m:oMathPara>
                  </a14:m>
                  <a:endParaRPr lang="en-IN" sz="2000" dirty="0"/>
                </a:p>
              </p:txBody>
            </p:sp>
          </mc:Choice>
          <mc:Fallback xmlns="">
            <p:sp>
              <p:nvSpPr>
                <p:cNvPr id="172" name="Rectangle 171">
                  <a:extLst>
                    <a:ext uri="{FF2B5EF4-FFF2-40B4-BE49-F238E27FC236}">
                      <a16:creationId xmlns:a16="http://schemas.microsoft.com/office/drawing/2014/main" id="{5728CEDD-2891-4DCE-AAC7-400712DAEA6F}"/>
                    </a:ext>
                  </a:extLst>
                </p:cNvPr>
                <p:cNvSpPr>
                  <a:spLocks noRot="1" noChangeAspect="1" noMove="1" noResize="1" noEditPoints="1" noAdjustHandles="1" noChangeArrowheads="1" noChangeShapeType="1" noTextEdit="1"/>
                </p:cNvSpPr>
                <p:nvPr/>
              </p:nvSpPr>
              <p:spPr>
                <a:xfrm>
                  <a:off x="4454587" y="5947857"/>
                  <a:ext cx="402546" cy="400110"/>
                </a:xfrm>
                <a:prstGeom prst="rect">
                  <a:avLst/>
                </a:prstGeom>
                <a:blipFill>
                  <a:blip r:embed="rId28"/>
                  <a:stretch>
                    <a:fillRect/>
                  </a:stretch>
                </a:blipFill>
              </p:spPr>
              <p:txBody>
                <a:bodyPr/>
                <a:lstStyle/>
                <a:p>
                  <a:r>
                    <a:rPr lang="en-IN">
                      <a:noFill/>
                    </a:rPr>
                    <a:t> </a:t>
                  </a:r>
                </a:p>
              </p:txBody>
            </p:sp>
          </mc:Fallback>
        </mc:AlternateContent>
        <p:cxnSp>
          <p:nvCxnSpPr>
            <p:cNvPr id="173" name="Straight Arrow Connector 172"/>
            <p:cNvCxnSpPr>
              <a:stCxn id="155" idx="4"/>
              <a:endCxn id="172" idx="0"/>
            </p:cNvCxnSpPr>
            <p:nvPr/>
          </p:nvCxnSpPr>
          <p:spPr>
            <a:xfrm>
              <a:off x="4651413" y="5792114"/>
              <a:ext cx="4447" cy="155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4" name="Rectangle 173">
                  <a:extLst>
                    <a:ext uri="{FF2B5EF4-FFF2-40B4-BE49-F238E27FC236}">
                      <a16:creationId xmlns:a16="http://schemas.microsoft.com/office/drawing/2014/main" id="{7EB440A6-4A1A-4A1B-908B-419B7A1E9D77}"/>
                    </a:ext>
                  </a:extLst>
                </p:cNvPr>
                <p:cNvSpPr/>
                <p:nvPr/>
              </p:nvSpPr>
              <p:spPr>
                <a:xfrm>
                  <a:off x="5343928" y="4870375"/>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74" name="Rectangle 173">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5343928" y="4870375"/>
                  <a:ext cx="329449" cy="307777"/>
                </a:xfrm>
                <a:prstGeom prst="rect">
                  <a:avLst/>
                </a:prstGeom>
                <a:blipFill>
                  <a:blip r:embed="rId23"/>
                  <a:stretch>
                    <a:fillRect b="-78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5" name="Rectangle 174">
                  <a:extLst>
                    <a:ext uri="{FF2B5EF4-FFF2-40B4-BE49-F238E27FC236}">
                      <a16:creationId xmlns:a16="http://schemas.microsoft.com/office/drawing/2014/main" id="{7EB440A6-4A1A-4A1B-908B-419B7A1E9D77}"/>
                    </a:ext>
                  </a:extLst>
                </p:cNvPr>
                <p:cNvSpPr/>
                <p:nvPr/>
              </p:nvSpPr>
              <p:spPr>
                <a:xfrm>
                  <a:off x="3572327" y="4870375"/>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75" name="Rectangle 174">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3572327" y="4870375"/>
                  <a:ext cx="329449" cy="307777"/>
                </a:xfrm>
                <a:prstGeom prst="rect">
                  <a:avLst/>
                </a:prstGeom>
                <a:blipFill>
                  <a:blip r:embed="rId23"/>
                  <a:stretch>
                    <a:fillRect b="-7843"/>
                  </a:stretch>
                </a:blipFill>
              </p:spPr>
              <p:txBody>
                <a:bodyPr/>
                <a:lstStyle/>
                <a:p>
                  <a:r>
                    <a:rPr lang="en-IN">
                      <a:noFill/>
                    </a:rPr>
                    <a:t> </a:t>
                  </a:r>
                </a:p>
              </p:txBody>
            </p:sp>
          </mc:Fallback>
        </mc:AlternateContent>
        <p:sp>
          <p:nvSpPr>
            <p:cNvPr id="176" name="Right Brace 175"/>
            <p:cNvSpPr/>
            <p:nvPr/>
          </p:nvSpPr>
          <p:spPr>
            <a:xfrm>
              <a:off x="6008586" y="5297676"/>
              <a:ext cx="92728" cy="929292"/>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77" name="TextBox 176"/>
            <p:cNvSpPr txBox="1"/>
            <p:nvPr/>
          </p:nvSpPr>
          <p:spPr>
            <a:xfrm>
              <a:off x="6094129" y="5562749"/>
              <a:ext cx="1399742" cy="400110"/>
            </a:xfrm>
            <a:prstGeom prst="rect">
              <a:avLst/>
            </a:prstGeom>
            <a:noFill/>
          </p:spPr>
          <p:txBody>
            <a:bodyPr wrap="none" rtlCol="0">
              <a:spAutoFit/>
            </a:bodyPr>
            <a:lstStyle/>
            <a:p>
              <a:r>
                <a:rPr lang="en-IN" sz="2000" dirty="0">
                  <a:latin typeface="Arial Narrow" panose="020B0606020202030204" pitchFamily="34" charset="0"/>
                </a:rPr>
                <a:t>Output Layer</a:t>
              </a:r>
            </a:p>
          </p:txBody>
        </p:sp>
        <p:sp>
          <p:nvSpPr>
            <p:cNvPr id="266" name="TextBox 265">
              <a:extLst>
                <a:ext uri="{FF2B5EF4-FFF2-40B4-BE49-F238E27FC236}">
                  <a16:creationId xmlns:a16="http://schemas.microsoft.com/office/drawing/2014/main" id="{7A8C3D1D-5119-4D88-B83E-0DB1198D8F14}"/>
                </a:ext>
              </a:extLst>
            </p:cNvPr>
            <p:cNvSpPr txBox="1"/>
            <p:nvPr/>
          </p:nvSpPr>
          <p:spPr>
            <a:xfrm>
              <a:off x="3077913" y="6429850"/>
              <a:ext cx="4724967" cy="369332"/>
            </a:xfrm>
            <a:prstGeom prst="rect">
              <a:avLst/>
            </a:prstGeom>
            <a:noFill/>
          </p:spPr>
          <p:txBody>
            <a:bodyPr wrap="square" rtlCol="0">
              <a:spAutoFit/>
            </a:bodyPr>
            <a:lstStyle/>
            <a:p>
              <a:pPr algn="just"/>
              <a:r>
                <a:rPr lang="en-US" dirty="0">
                  <a:solidFill>
                    <a:schemeClr val="accent5">
                      <a:lumMod val="75000"/>
                    </a:schemeClr>
                  </a:solidFill>
                  <a:latin typeface="Arial Narrow" panose="020B0606020202030204" pitchFamily="34" charset="0"/>
                  <a:cs typeface="Times New Roman" panose="02020603050405020304" pitchFamily="18" charset="0"/>
                </a:rPr>
                <a:t>Input layer’s neurons copy to inputs to the next layers.</a:t>
              </a:r>
              <a:endParaRPr lang="en-IN" dirty="0"/>
            </a:p>
          </p:txBody>
        </p:sp>
      </p:grpSp>
    </p:spTree>
    <p:extLst>
      <p:ext uri="{BB962C8B-B14F-4D97-AF65-F5344CB8AC3E}">
        <p14:creationId xmlns:p14="http://schemas.microsoft.com/office/powerpoint/2010/main" val="3455153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582" y="99432"/>
            <a:ext cx="10515600" cy="946439"/>
          </a:xfrm>
        </p:spPr>
        <p:txBody>
          <a:bodyPr>
            <a:normAutofit/>
          </a:bodyPr>
          <a:lstStyle/>
          <a:p>
            <a:r>
              <a:rPr lang="en-IN" sz="3600" dirty="0">
                <a:latin typeface="Century" panose="02040604050505020304" pitchFamily="18" charset="0"/>
              </a:rPr>
              <a:t>Backward Pass : Backpropagation</a:t>
            </a:r>
          </a:p>
        </p:txBody>
      </p:sp>
      <p:sp>
        <p:nvSpPr>
          <p:cNvPr id="3" name="Content Placeholder 2"/>
          <p:cNvSpPr>
            <a:spLocks noGrp="1"/>
          </p:cNvSpPr>
          <p:nvPr>
            <p:ph idx="1"/>
          </p:nvPr>
        </p:nvSpPr>
        <p:spPr>
          <a:xfrm>
            <a:off x="930859" y="1124335"/>
            <a:ext cx="5623208" cy="5374905"/>
          </a:xfrm>
        </p:spPr>
        <p:txBody>
          <a:bodyPr>
            <a:normAutofit fontScale="92500" lnSpcReduction="10000"/>
          </a:bodyPr>
          <a:lstStyle/>
          <a:p>
            <a:pPr algn="just"/>
            <a:r>
              <a:rPr lang="en-US" sz="2400" dirty="0">
                <a:latin typeface="Arial Narrow" panose="020B0606020202030204" pitchFamily="34" charset="0"/>
              </a:rPr>
              <a:t>Backpropagation minimizes the cost (loss) function by </a:t>
            </a:r>
            <a:r>
              <a:rPr lang="en-US" sz="2400" dirty="0">
                <a:solidFill>
                  <a:srgbClr val="00B0F0"/>
                </a:solidFill>
                <a:latin typeface="Arial Narrow" panose="020B0606020202030204" pitchFamily="34" charset="0"/>
              </a:rPr>
              <a:t>updating the network's weights and biases</a:t>
            </a:r>
            <a:r>
              <a:rPr lang="en-US" sz="2400" dirty="0">
                <a:latin typeface="Arial Narrow" panose="020B0606020202030204" pitchFamily="34" charset="0"/>
              </a:rPr>
              <a:t> using an optimization algorithm such as </a:t>
            </a:r>
            <a:r>
              <a:rPr lang="en-US" sz="2400" dirty="0">
                <a:solidFill>
                  <a:srgbClr val="00B0F0"/>
                </a:solidFill>
                <a:latin typeface="Arial Narrow" panose="020B0606020202030204" pitchFamily="34" charset="0"/>
              </a:rPr>
              <a:t>gradient descent</a:t>
            </a:r>
            <a:r>
              <a:rPr lang="en-US" sz="2400" dirty="0">
                <a:latin typeface="Arial Narrow" panose="020B0606020202030204" pitchFamily="34" charset="0"/>
              </a:rPr>
              <a:t>.</a:t>
            </a:r>
          </a:p>
          <a:p>
            <a:pPr algn="just"/>
            <a:endParaRPr lang="en-US" sz="2400" dirty="0">
              <a:latin typeface="Arial Narrow" panose="020B0606020202030204" pitchFamily="34" charset="0"/>
            </a:endParaRPr>
          </a:p>
          <a:p>
            <a:pPr algn="just"/>
            <a:r>
              <a:rPr lang="en-US" sz="2400" dirty="0">
                <a:latin typeface="Arial Narrow" panose="020B0606020202030204" pitchFamily="34" charset="0"/>
              </a:rPr>
              <a:t>The </a:t>
            </a:r>
            <a:r>
              <a:rPr lang="en-US" sz="2400" dirty="0">
                <a:solidFill>
                  <a:srgbClr val="00B0F0"/>
                </a:solidFill>
                <a:latin typeface="Arial Narrow" panose="020B0606020202030204" pitchFamily="34" charset="0"/>
              </a:rPr>
              <a:t>error gradient with help of learning rate </a:t>
            </a:r>
            <a:r>
              <a:rPr lang="en-US" sz="2400" dirty="0">
                <a:latin typeface="Arial Narrow" panose="020B0606020202030204" pitchFamily="34" charset="0"/>
              </a:rPr>
              <a:t>indicates how much each parameter should be changed, and in which direction, to reduce the loss.</a:t>
            </a:r>
          </a:p>
          <a:p>
            <a:pPr algn="just"/>
            <a:endParaRPr lang="en-US" sz="2400" dirty="0">
              <a:latin typeface="Arial Narrow" panose="020B0606020202030204" pitchFamily="34" charset="0"/>
            </a:endParaRPr>
          </a:p>
          <a:p>
            <a:pPr algn="just"/>
            <a:r>
              <a:rPr lang="en-US" sz="2400" dirty="0">
                <a:latin typeface="Arial Narrow" panose="020B0606020202030204" pitchFamily="34" charset="0"/>
              </a:rPr>
              <a:t>During backpropagation, these gradients are propagated from the output layer back to the input layer, hence the name </a:t>
            </a:r>
            <a:r>
              <a:rPr lang="en-US" sz="2400" i="1" dirty="0">
                <a:latin typeface="Arial Narrow" panose="020B0606020202030204" pitchFamily="34" charset="0"/>
              </a:rPr>
              <a:t>backpropagation</a:t>
            </a:r>
            <a:r>
              <a:rPr lang="en-US" sz="2400" dirty="0">
                <a:latin typeface="Arial Narrow" panose="020B0606020202030204" pitchFamily="34" charset="0"/>
              </a:rPr>
              <a:t>.</a:t>
            </a:r>
          </a:p>
          <a:p>
            <a:pPr algn="just"/>
            <a:endParaRPr lang="en-US" sz="2400" dirty="0">
              <a:latin typeface="Arial Narrow" panose="020B0606020202030204" pitchFamily="34" charset="0"/>
            </a:endParaRPr>
          </a:p>
          <a:p>
            <a:pPr algn="just"/>
            <a:r>
              <a:rPr lang="en-US" sz="2400" dirty="0">
                <a:latin typeface="Arial Narrow" panose="020B0606020202030204" pitchFamily="34" charset="0"/>
              </a:rPr>
              <a:t>Gradients are computed directly at the </a:t>
            </a:r>
            <a:r>
              <a:rPr lang="en-US" sz="2400" dirty="0">
                <a:solidFill>
                  <a:srgbClr val="00B0F0"/>
                </a:solidFill>
                <a:latin typeface="Arial Narrow" panose="020B0606020202030204" pitchFamily="34" charset="0"/>
              </a:rPr>
              <a:t>output layer </a:t>
            </a:r>
            <a:r>
              <a:rPr lang="en-US" sz="2400" dirty="0">
                <a:latin typeface="Arial Narrow" panose="020B0606020202030204" pitchFamily="34" charset="0"/>
              </a:rPr>
              <a:t>and then propagated through the hidden layers using the </a:t>
            </a:r>
            <a:r>
              <a:rPr lang="en-US" sz="2400" dirty="0">
                <a:solidFill>
                  <a:srgbClr val="00B0F0"/>
                </a:solidFill>
                <a:latin typeface="Arial Narrow" panose="020B0606020202030204" pitchFamily="34" charset="0"/>
              </a:rPr>
              <a:t>chain rule </a:t>
            </a:r>
            <a:r>
              <a:rPr lang="en-US" sz="2400" dirty="0">
                <a:latin typeface="Arial Narrow" panose="020B0606020202030204" pitchFamily="34" charset="0"/>
              </a:rPr>
              <a:t>of calculus.</a:t>
            </a:r>
          </a:p>
          <a:p>
            <a:pPr marL="0" indent="0" algn="just">
              <a:buNone/>
            </a:pPr>
            <a:endParaRPr lang="en-IN" dirty="0">
              <a:latin typeface="Arial Narrow" panose="020B0606020202030204" pitchFamily="34" charset="0"/>
            </a:endParaRPr>
          </a:p>
        </p:txBody>
      </p:sp>
      <p:sp>
        <p:nvSpPr>
          <p:cNvPr id="4" name="Rectangle 3"/>
          <p:cNvSpPr/>
          <p:nvPr/>
        </p:nvSpPr>
        <p:spPr>
          <a:xfrm>
            <a:off x="8244111" y="2777306"/>
            <a:ext cx="1861491" cy="485423"/>
          </a:xfrm>
          <a:prstGeom prst="rect">
            <a:avLst/>
          </a:prstGeom>
          <a:solidFill>
            <a:schemeClr val="accent4">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5" name="Rectangle 4"/>
          <p:cNvSpPr/>
          <p:nvPr/>
        </p:nvSpPr>
        <p:spPr>
          <a:xfrm>
            <a:off x="8234875" y="3727472"/>
            <a:ext cx="1861491" cy="485423"/>
          </a:xfrm>
          <a:prstGeom prst="rect">
            <a:avLst/>
          </a:prstGeom>
          <a:solidFill>
            <a:schemeClr val="accent2">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6" name="Rounded Rectangle 5"/>
          <p:cNvSpPr/>
          <p:nvPr/>
        </p:nvSpPr>
        <p:spPr>
          <a:xfrm>
            <a:off x="8011710" y="1924639"/>
            <a:ext cx="296809" cy="316795"/>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7" name="Rounded Rectangle 6"/>
          <p:cNvSpPr/>
          <p:nvPr/>
        </p:nvSpPr>
        <p:spPr>
          <a:xfrm>
            <a:off x="8465112" y="1924639"/>
            <a:ext cx="296809" cy="316795"/>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8" name="Rounded Rectangle 7"/>
          <p:cNvSpPr/>
          <p:nvPr/>
        </p:nvSpPr>
        <p:spPr>
          <a:xfrm>
            <a:off x="9247565" y="1924639"/>
            <a:ext cx="296809" cy="316795"/>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9" name="Rounded Rectangle 8"/>
          <p:cNvSpPr/>
          <p:nvPr/>
        </p:nvSpPr>
        <p:spPr>
          <a:xfrm>
            <a:off x="9970314" y="1924639"/>
            <a:ext cx="296809" cy="316795"/>
          </a:xfrm>
          <a:prstGeom prst="roundRect">
            <a:avLst/>
          </a:prstGeom>
          <a:solidFill>
            <a:schemeClr val="accent1">
              <a:alpha val="4000"/>
            </a:schemeClr>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0" name="Oval 9"/>
          <p:cNvSpPr/>
          <p:nvPr/>
        </p:nvSpPr>
        <p:spPr>
          <a:xfrm>
            <a:off x="8819749" y="2083035"/>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1" name="Oval 10"/>
          <p:cNvSpPr/>
          <p:nvPr/>
        </p:nvSpPr>
        <p:spPr>
          <a:xfrm>
            <a:off x="8956222" y="2083035"/>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2" name="Oval 11"/>
          <p:cNvSpPr/>
          <p:nvPr/>
        </p:nvSpPr>
        <p:spPr>
          <a:xfrm>
            <a:off x="9092694" y="2083035"/>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3" name="Oval 12"/>
          <p:cNvSpPr/>
          <p:nvPr/>
        </p:nvSpPr>
        <p:spPr>
          <a:xfrm>
            <a:off x="9585593" y="2083035"/>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4" name="Oval 13"/>
          <p:cNvSpPr/>
          <p:nvPr/>
        </p:nvSpPr>
        <p:spPr>
          <a:xfrm>
            <a:off x="9722066" y="2083035"/>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5" name="Oval 14"/>
          <p:cNvSpPr/>
          <p:nvPr/>
        </p:nvSpPr>
        <p:spPr>
          <a:xfrm>
            <a:off x="9858538" y="2083035"/>
            <a:ext cx="47491" cy="6630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6" name="Rounded Rectangle 15"/>
          <p:cNvSpPr/>
          <p:nvPr/>
        </p:nvSpPr>
        <p:spPr>
          <a:xfrm>
            <a:off x="8389590" y="2865301"/>
            <a:ext cx="357151"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7" name="Rounded Rectangle 16"/>
          <p:cNvSpPr/>
          <p:nvPr/>
        </p:nvSpPr>
        <p:spPr>
          <a:xfrm>
            <a:off x="8970816" y="2861622"/>
            <a:ext cx="350514"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8" name="Rounded Rectangle 17"/>
          <p:cNvSpPr/>
          <p:nvPr/>
        </p:nvSpPr>
        <p:spPr>
          <a:xfrm>
            <a:off x="9581484" y="2861621"/>
            <a:ext cx="349997"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19" name="Oval 18"/>
          <p:cNvSpPr/>
          <p:nvPr/>
        </p:nvSpPr>
        <p:spPr>
          <a:xfrm>
            <a:off x="8761372" y="2997414"/>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0" name="Oval 19"/>
          <p:cNvSpPr/>
          <p:nvPr/>
        </p:nvSpPr>
        <p:spPr>
          <a:xfrm>
            <a:off x="8872443" y="2997414"/>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1" name="Oval 20"/>
          <p:cNvSpPr/>
          <p:nvPr/>
        </p:nvSpPr>
        <p:spPr>
          <a:xfrm>
            <a:off x="9373800" y="2997414"/>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2" name="Oval 21"/>
          <p:cNvSpPr/>
          <p:nvPr/>
        </p:nvSpPr>
        <p:spPr>
          <a:xfrm>
            <a:off x="9472173" y="2997414"/>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3" name="Rectangle 22"/>
          <p:cNvSpPr/>
          <p:nvPr/>
        </p:nvSpPr>
        <p:spPr>
          <a:xfrm>
            <a:off x="7863895" y="1842489"/>
            <a:ext cx="2601675" cy="485423"/>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latin typeface="Arial Narrow" panose="020B0606020202030204" pitchFamily="34" charset="0"/>
            </a:endParaRPr>
          </a:p>
        </p:txBody>
      </p:sp>
      <p:sp>
        <p:nvSpPr>
          <p:cNvPr id="24" name="Rounded Rectangle 23"/>
          <p:cNvSpPr/>
          <p:nvPr/>
        </p:nvSpPr>
        <p:spPr>
          <a:xfrm>
            <a:off x="8389591" y="3815469"/>
            <a:ext cx="324048"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5" name="Rounded Rectangle 24"/>
          <p:cNvSpPr/>
          <p:nvPr/>
        </p:nvSpPr>
        <p:spPr>
          <a:xfrm>
            <a:off x="8997898" y="3811788"/>
            <a:ext cx="327204"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6" name="Rounded Rectangle 25"/>
          <p:cNvSpPr/>
          <p:nvPr/>
        </p:nvSpPr>
        <p:spPr>
          <a:xfrm>
            <a:off x="9562533" y="3811788"/>
            <a:ext cx="350693"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7" name="Oval 26"/>
          <p:cNvSpPr/>
          <p:nvPr/>
        </p:nvSpPr>
        <p:spPr>
          <a:xfrm>
            <a:off x="8761372" y="3947580"/>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8" name="Oval 27"/>
          <p:cNvSpPr/>
          <p:nvPr/>
        </p:nvSpPr>
        <p:spPr>
          <a:xfrm>
            <a:off x="8897843" y="3947580"/>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29" name="Oval 28"/>
          <p:cNvSpPr/>
          <p:nvPr/>
        </p:nvSpPr>
        <p:spPr>
          <a:xfrm>
            <a:off x="9335700" y="3947580"/>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30" name="Oval 29"/>
          <p:cNvSpPr/>
          <p:nvPr/>
        </p:nvSpPr>
        <p:spPr>
          <a:xfrm>
            <a:off x="9472173" y="3947580"/>
            <a:ext cx="47491" cy="663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31" name="Down Arrow 30"/>
          <p:cNvSpPr/>
          <p:nvPr/>
        </p:nvSpPr>
        <p:spPr>
          <a:xfrm>
            <a:off x="9052739" y="2329127"/>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32" name="Rounded Rectangle 31"/>
          <p:cNvSpPr/>
          <p:nvPr/>
        </p:nvSpPr>
        <p:spPr>
          <a:xfrm>
            <a:off x="8708421" y="4647234"/>
            <a:ext cx="296809"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33" name="Rounded Rectangle 32"/>
          <p:cNvSpPr/>
          <p:nvPr/>
        </p:nvSpPr>
        <p:spPr>
          <a:xfrm>
            <a:off x="9267245" y="4650925"/>
            <a:ext cx="296809" cy="316795"/>
          </a:xfrm>
          <a:prstGeom prst="roundRect">
            <a:avLst/>
          </a:prstGeom>
          <a:solidFill>
            <a:schemeClr val="accent1">
              <a:lumMod val="60000"/>
              <a:lumOff val="40000"/>
              <a:alpha val="4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34" name="Rectangle 33"/>
          <p:cNvSpPr/>
          <p:nvPr/>
        </p:nvSpPr>
        <p:spPr>
          <a:xfrm>
            <a:off x="8539755" y="4562920"/>
            <a:ext cx="1272324" cy="485423"/>
          </a:xfrm>
          <a:prstGeom prst="rect">
            <a:avLst/>
          </a:prstGeom>
          <a:solidFill>
            <a:schemeClr val="tx2">
              <a:lumMod val="60000"/>
              <a:lumOff val="40000"/>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cxnSp>
        <p:nvCxnSpPr>
          <p:cNvPr id="35" name="Straight Arrow Connector 34"/>
          <p:cNvCxnSpPr>
            <a:stCxn id="36" idx="1"/>
            <a:endCxn id="23" idx="3"/>
          </p:cNvCxnSpPr>
          <p:nvPr/>
        </p:nvCxnSpPr>
        <p:spPr>
          <a:xfrm flipH="1">
            <a:off x="10465570" y="2083262"/>
            <a:ext cx="352425" cy="1939"/>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10817995" y="1913985"/>
            <a:ext cx="1055930" cy="338554"/>
          </a:xfrm>
          <a:prstGeom prst="rect">
            <a:avLst/>
          </a:prstGeom>
          <a:noFill/>
        </p:spPr>
        <p:txBody>
          <a:bodyPr wrap="square" rtlCol="0">
            <a:spAutoFit/>
          </a:bodyPr>
          <a:lstStyle/>
          <a:p>
            <a:r>
              <a:rPr lang="en-IN" sz="1600" dirty="0">
                <a:latin typeface="Arial Narrow" panose="020B0606020202030204" pitchFamily="34" charset="0"/>
              </a:rPr>
              <a:t>Input Layer</a:t>
            </a:r>
          </a:p>
        </p:txBody>
      </p:sp>
      <p:cxnSp>
        <p:nvCxnSpPr>
          <p:cNvPr id="37" name="Straight Arrow Connector 36"/>
          <p:cNvCxnSpPr>
            <a:stCxn id="38" idx="1"/>
            <a:endCxn id="34" idx="3"/>
          </p:cNvCxnSpPr>
          <p:nvPr/>
        </p:nvCxnSpPr>
        <p:spPr>
          <a:xfrm flipH="1">
            <a:off x="9812079" y="4803738"/>
            <a:ext cx="770771" cy="1894"/>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0582850" y="4634461"/>
            <a:ext cx="1443242" cy="338554"/>
          </a:xfrm>
          <a:prstGeom prst="rect">
            <a:avLst/>
          </a:prstGeom>
          <a:noFill/>
        </p:spPr>
        <p:txBody>
          <a:bodyPr wrap="square" rtlCol="0">
            <a:spAutoFit/>
          </a:bodyPr>
          <a:lstStyle/>
          <a:p>
            <a:r>
              <a:rPr lang="en-IN" sz="1600" dirty="0">
                <a:latin typeface="Arial Narrow" panose="020B0606020202030204" pitchFamily="34" charset="0"/>
              </a:rPr>
              <a:t>Output Layer</a:t>
            </a:r>
          </a:p>
        </p:txBody>
      </p:sp>
      <p:sp>
        <p:nvSpPr>
          <p:cNvPr id="39" name="Down Arrow 38"/>
          <p:cNvSpPr/>
          <p:nvPr/>
        </p:nvSpPr>
        <p:spPr>
          <a:xfrm>
            <a:off x="8724636" y="4210544"/>
            <a:ext cx="175942" cy="345675"/>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cxnSp>
        <p:nvCxnSpPr>
          <p:cNvPr id="40" name="Straight Arrow Connector 39"/>
          <p:cNvCxnSpPr>
            <a:stCxn id="41" idx="1"/>
            <a:endCxn id="4" idx="3"/>
          </p:cNvCxnSpPr>
          <p:nvPr/>
        </p:nvCxnSpPr>
        <p:spPr>
          <a:xfrm flipH="1">
            <a:off x="10105602" y="3018139"/>
            <a:ext cx="287983" cy="1879"/>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10393585" y="2725751"/>
            <a:ext cx="1661339" cy="584775"/>
          </a:xfrm>
          <a:prstGeom prst="rect">
            <a:avLst/>
          </a:prstGeom>
          <a:noFill/>
        </p:spPr>
        <p:txBody>
          <a:bodyPr wrap="square" rtlCol="0">
            <a:spAutoFit/>
          </a:bodyPr>
          <a:lstStyle/>
          <a:p>
            <a:pPr algn="ctr"/>
            <a:r>
              <a:rPr lang="en-IN" sz="1600" dirty="0">
                <a:latin typeface="Arial Narrow" panose="020B0606020202030204" pitchFamily="34" charset="0"/>
              </a:rPr>
              <a:t>Hidden Layer with </a:t>
            </a:r>
            <a:r>
              <a:rPr lang="en-IN" sz="1600" i="1" dirty="0">
                <a:latin typeface="Cambria" panose="02040503050406030204" pitchFamily="18" charset="0"/>
                <a:ea typeface="Cambria" panose="02040503050406030204" pitchFamily="18" charset="0"/>
              </a:rPr>
              <a:t>m</a:t>
            </a:r>
            <a:r>
              <a:rPr lang="en-IN" sz="1600" i="1" dirty="0">
                <a:latin typeface="Arial Narrow" panose="020B0606020202030204" pitchFamily="34" charset="0"/>
              </a:rPr>
              <a:t> </a:t>
            </a:r>
            <a:r>
              <a:rPr lang="en-IN" sz="1600" dirty="0">
                <a:latin typeface="Arial Narrow" panose="020B0606020202030204" pitchFamily="34" charset="0"/>
              </a:rPr>
              <a:t>No. of neurons</a:t>
            </a:r>
          </a:p>
        </p:txBody>
      </p:sp>
      <p:cxnSp>
        <p:nvCxnSpPr>
          <p:cNvPr id="42" name="Straight Arrow Connector 41"/>
          <p:cNvCxnSpPr>
            <a:stCxn id="43" idx="1"/>
            <a:endCxn id="5" idx="3"/>
          </p:cNvCxnSpPr>
          <p:nvPr/>
        </p:nvCxnSpPr>
        <p:spPr>
          <a:xfrm flipH="1">
            <a:off x="10096366" y="3966089"/>
            <a:ext cx="339727" cy="4095"/>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0436093" y="3673701"/>
            <a:ext cx="1767027" cy="584775"/>
          </a:xfrm>
          <a:prstGeom prst="rect">
            <a:avLst/>
          </a:prstGeom>
          <a:noFill/>
        </p:spPr>
        <p:txBody>
          <a:bodyPr wrap="square" rtlCol="0">
            <a:spAutoFit/>
          </a:bodyPr>
          <a:lstStyle/>
          <a:p>
            <a:pPr algn="ctr"/>
            <a:r>
              <a:rPr lang="en-IN" sz="1600" dirty="0">
                <a:latin typeface="Arial Narrow" panose="020B0606020202030204" pitchFamily="34" charset="0"/>
              </a:rPr>
              <a:t>Hidden Layer with </a:t>
            </a:r>
            <a:r>
              <a:rPr lang="en-IN" sz="1600" i="1" dirty="0">
                <a:latin typeface="Cambria" panose="02040503050406030204" pitchFamily="18" charset="0"/>
                <a:ea typeface="Cambria" panose="02040503050406030204" pitchFamily="18" charset="0"/>
              </a:rPr>
              <a:t>r</a:t>
            </a:r>
            <a:r>
              <a:rPr lang="en-IN" sz="1600" i="1" dirty="0">
                <a:latin typeface="Arial Narrow" panose="020B0606020202030204" pitchFamily="34" charset="0"/>
              </a:rPr>
              <a:t> </a:t>
            </a:r>
            <a:r>
              <a:rPr lang="en-IN" sz="1600" dirty="0">
                <a:latin typeface="Arial Narrow" panose="020B0606020202030204" pitchFamily="34" charset="0"/>
              </a:rPr>
              <a:t>No. of neurons</a:t>
            </a:r>
          </a:p>
        </p:txBody>
      </p:sp>
      <mc:AlternateContent xmlns:mc="http://schemas.openxmlformats.org/markup-compatibility/2006" xmlns:a14="http://schemas.microsoft.com/office/drawing/2010/main">
        <mc:Choice Requires="a14">
          <p:sp>
            <p:nvSpPr>
              <p:cNvPr id="44" name="Rectangle 43"/>
              <p:cNvSpPr/>
              <p:nvPr/>
            </p:nvSpPr>
            <p:spPr>
              <a:xfrm>
                <a:off x="8013208" y="1912087"/>
                <a:ext cx="399133"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0</m:t>
                          </m:r>
                        </m:sub>
                      </m:sSub>
                    </m:oMath>
                  </m:oMathPara>
                </a14:m>
                <a:endParaRPr lang="en-IN" sz="1400" dirty="0">
                  <a:latin typeface="Arial Narrow" panose="020B0606020202030204" pitchFamily="34" charset="0"/>
                </a:endParaRPr>
              </a:p>
            </p:txBody>
          </p:sp>
        </mc:Choice>
        <mc:Fallback xmlns="">
          <p:sp>
            <p:nvSpPr>
              <p:cNvPr id="44" name="Rectangle 43"/>
              <p:cNvSpPr>
                <a:spLocks noRot="1" noChangeAspect="1" noMove="1" noResize="1" noEditPoints="1" noAdjustHandles="1" noChangeArrowheads="1" noChangeShapeType="1" noTextEdit="1"/>
              </p:cNvSpPr>
              <p:nvPr/>
            </p:nvSpPr>
            <p:spPr>
              <a:xfrm>
                <a:off x="8013208" y="1912087"/>
                <a:ext cx="399133" cy="338554"/>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8458876" y="1910586"/>
                <a:ext cx="394311"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45" name="Rectangle 44"/>
              <p:cNvSpPr>
                <a:spLocks noRot="1" noChangeAspect="1" noMove="1" noResize="1" noEditPoints="1" noAdjustHandles="1" noChangeArrowheads="1" noChangeShapeType="1" noTextEdit="1"/>
              </p:cNvSpPr>
              <p:nvPr/>
            </p:nvSpPr>
            <p:spPr>
              <a:xfrm>
                <a:off x="8458876" y="1910586"/>
                <a:ext cx="394311" cy="33855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9231197" y="1901392"/>
                <a:ext cx="370140"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𝑙</m:t>
                          </m:r>
                        </m:sub>
                      </m:sSub>
                    </m:oMath>
                  </m:oMathPara>
                </a14:m>
                <a:endParaRPr lang="en-IN" sz="1400" dirty="0">
                  <a:latin typeface="Arial Narrow" panose="020B0606020202030204" pitchFamily="34" charset="0"/>
                </a:endParaRPr>
              </a:p>
            </p:txBody>
          </p:sp>
        </mc:Choice>
        <mc:Fallback xmlns="">
          <p:sp>
            <p:nvSpPr>
              <p:cNvPr id="46" name="Rectangle 45"/>
              <p:cNvSpPr>
                <a:spLocks noRot="1" noChangeAspect="1" noMove="1" noResize="1" noEditPoints="1" noAdjustHandles="1" noChangeArrowheads="1" noChangeShapeType="1" noTextEdit="1"/>
              </p:cNvSpPr>
              <p:nvPr/>
            </p:nvSpPr>
            <p:spPr>
              <a:xfrm>
                <a:off x="9231197" y="1901392"/>
                <a:ext cx="370140" cy="338554"/>
              </a:xfrm>
              <a:prstGeom prst="rect">
                <a:avLst/>
              </a:prstGeom>
              <a:blipFill>
                <a:blip r:embed="rId4"/>
                <a:stretch>
                  <a:fillRect b="-18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9927492" y="1910586"/>
                <a:ext cx="455490"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𝐼</m:t>
                          </m:r>
                        </m:e>
                        <m:sub>
                          <m:r>
                            <a:rPr lang="en-IN" sz="1600" b="0" i="1" smtClean="0">
                              <a:latin typeface="Cambria Math" panose="02040503050406030204" pitchFamily="18" charset="0"/>
                            </a:rPr>
                            <m:t>𝑛</m:t>
                          </m:r>
                        </m:sub>
                      </m:sSub>
                    </m:oMath>
                  </m:oMathPara>
                </a14:m>
                <a:endParaRPr lang="en-IN" sz="1400" dirty="0">
                  <a:latin typeface="Arial Narrow" panose="020B0606020202030204" pitchFamily="34" charset="0"/>
                </a:endParaRPr>
              </a:p>
            </p:txBody>
          </p:sp>
        </mc:Choice>
        <mc:Fallback xmlns="">
          <p:sp>
            <p:nvSpPr>
              <p:cNvPr id="47" name="Rectangle 46"/>
              <p:cNvSpPr>
                <a:spLocks noRot="1" noChangeAspect="1" noMove="1" noResize="1" noEditPoints="1" noAdjustHandles="1" noChangeArrowheads="1" noChangeShapeType="1" noTextEdit="1"/>
              </p:cNvSpPr>
              <p:nvPr/>
            </p:nvSpPr>
            <p:spPr>
              <a:xfrm>
                <a:off x="9927492" y="1910586"/>
                <a:ext cx="455490" cy="33855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Rectangle 47"/>
              <p:cNvSpPr/>
              <p:nvPr/>
            </p:nvSpPr>
            <p:spPr>
              <a:xfrm>
                <a:off x="8322881" y="2837855"/>
                <a:ext cx="530287"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11</m:t>
                          </m:r>
                        </m:sub>
                      </m:sSub>
                    </m:oMath>
                  </m:oMathPara>
                </a14:m>
                <a:endParaRPr lang="en-IN" sz="1400" dirty="0">
                  <a:latin typeface="Arial Narrow" panose="020B0606020202030204" pitchFamily="34" charset="0"/>
                </a:endParaRPr>
              </a:p>
            </p:txBody>
          </p:sp>
        </mc:Choice>
        <mc:Fallback xmlns="">
          <p:sp>
            <p:nvSpPr>
              <p:cNvPr id="48" name="Rectangle 47"/>
              <p:cNvSpPr>
                <a:spLocks noRot="1" noChangeAspect="1" noMove="1" noResize="1" noEditPoints="1" noAdjustHandles="1" noChangeArrowheads="1" noChangeShapeType="1" noTextEdit="1"/>
              </p:cNvSpPr>
              <p:nvPr/>
            </p:nvSpPr>
            <p:spPr>
              <a:xfrm>
                <a:off x="8322881" y="2837855"/>
                <a:ext cx="530287" cy="338554"/>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Rectangle 48"/>
              <p:cNvSpPr/>
              <p:nvPr/>
            </p:nvSpPr>
            <p:spPr>
              <a:xfrm>
                <a:off x="9494398" y="2843347"/>
                <a:ext cx="544295"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1</m:t>
                          </m:r>
                          <m:r>
                            <a:rPr lang="en-IN" sz="1600" b="0" i="1" smtClean="0">
                              <a:latin typeface="Cambria Math" panose="02040503050406030204" pitchFamily="18" charset="0"/>
                            </a:rPr>
                            <m:t>𝑚</m:t>
                          </m:r>
                        </m:sub>
                      </m:sSub>
                    </m:oMath>
                  </m:oMathPara>
                </a14:m>
                <a:endParaRPr lang="en-IN" sz="1400" dirty="0">
                  <a:latin typeface="Arial Narrow" panose="020B0606020202030204" pitchFamily="34" charset="0"/>
                </a:endParaRPr>
              </a:p>
            </p:txBody>
          </p:sp>
        </mc:Choice>
        <mc:Fallback xmlns="">
          <p:sp>
            <p:nvSpPr>
              <p:cNvPr id="49" name="Rectangle 48"/>
              <p:cNvSpPr>
                <a:spLocks noRot="1" noChangeAspect="1" noMove="1" noResize="1" noEditPoints="1" noAdjustHandles="1" noChangeArrowheads="1" noChangeShapeType="1" noTextEdit="1"/>
              </p:cNvSpPr>
              <p:nvPr/>
            </p:nvSpPr>
            <p:spPr>
              <a:xfrm>
                <a:off x="9494398" y="2843347"/>
                <a:ext cx="544295" cy="33855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8904056" y="2846654"/>
                <a:ext cx="530027"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1</m:t>
                          </m:r>
                          <m:r>
                            <a:rPr lang="en-IN" sz="1600" b="0" i="1" smtClean="0">
                              <a:latin typeface="Cambria Math" panose="02040503050406030204" pitchFamily="18" charset="0"/>
                            </a:rPr>
                            <m:t>𝑒</m:t>
                          </m:r>
                        </m:sub>
                      </m:sSub>
                    </m:oMath>
                  </m:oMathPara>
                </a14:m>
                <a:endParaRPr lang="en-IN" sz="1400" dirty="0">
                  <a:latin typeface="Arial Narrow" panose="020B0606020202030204" pitchFamily="34" charset="0"/>
                </a:endParaRPr>
              </a:p>
            </p:txBody>
          </p:sp>
        </mc:Choice>
        <mc:Fallback xmlns="">
          <p:sp>
            <p:nvSpPr>
              <p:cNvPr id="50" name="Rectangle 49"/>
              <p:cNvSpPr>
                <a:spLocks noRot="1" noChangeAspect="1" noMove="1" noResize="1" noEditPoints="1" noAdjustHandles="1" noChangeArrowheads="1" noChangeShapeType="1" noTextEdit="1"/>
              </p:cNvSpPr>
              <p:nvPr/>
            </p:nvSpPr>
            <p:spPr>
              <a:xfrm>
                <a:off x="8904056" y="2846654"/>
                <a:ext cx="530027" cy="338554"/>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Rectangle 50"/>
              <p:cNvSpPr/>
              <p:nvPr/>
            </p:nvSpPr>
            <p:spPr>
              <a:xfrm>
                <a:off x="9478556" y="3788024"/>
                <a:ext cx="536673"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𝑘𝑟</m:t>
                          </m:r>
                        </m:sub>
                      </m:sSub>
                    </m:oMath>
                  </m:oMathPara>
                </a14:m>
                <a:endParaRPr lang="en-IN" sz="1400" dirty="0">
                  <a:latin typeface="Arial Narrow" panose="020B0606020202030204" pitchFamily="34" charset="0"/>
                </a:endParaRPr>
              </a:p>
            </p:txBody>
          </p:sp>
        </mc:Choice>
        <mc:Fallback xmlns="">
          <p:sp>
            <p:nvSpPr>
              <p:cNvPr id="51" name="Rectangle 50"/>
              <p:cNvSpPr>
                <a:spLocks noRot="1" noChangeAspect="1" noMove="1" noResize="1" noEditPoints="1" noAdjustHandles="1" noChangeArrowheads="1" noChangeShapeType="1" noTextEdit="1"/>
              </p:cNvSpPr>
              <p:nvPr/>
            </p:nvSpPr>
            <p:spPr>
              <a:xfrm>
                <a:off x="9478556" y="3788024"/>
                <a:ext cx="536673" cy="33855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Rectangle 51"/>
              <p:cNvSpPr/>
              <p:nvPr/>
            </p:nvSpPr>
            <p:spPr>
              <a:xfrm>
                <a:off x="8312314" y="3776414"/>
                <a:ext cx="539996"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𝑘</m:t>
                          </m:r>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52" name="Rectangle 51"/>
              <p:cNvSpPr>
                <a:spLocks noRot="1" noChangeAspect="1" noMove="1" noResize="1" noEditPoints="1" noAdjustHandles="1" noChangeArrowheads="1" noChangeShapeType="1" noTextEdit="1"/>
              </p:cNvSpPr>
              <p:nvPr/>
            </p:nvSpPr>
            <p:spPr>
              <a:xfrm>
                <a:off x="8312314" y="3776414"/>
                <a:ext cx="539996" cy="338554"/>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Rectangle 52"/>
              <p:cNvSpPr/>
              <p:nvPr/>
            </p:nvSpPr>
            <p:spPr>
              <a:xfrm>
                <a:off x="8912062" y="3786819"/>
                <a:ext cx="511003"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h</m:t>
                          </m:r>
                        </m:e>
                        <m:sub>
                          <m:r>
                            <a:rPr lang="en-IN" sz="1600" b="0" i="1" smtClean="0">
                              <a:latin typeface="Cambria Math" panose="02040503050406030204" pitchFamily="18" charset="0"/>
                            </a:rPr>
                            <m:t>𝑘𝑖</m:t>
                          </m:r>
                        </m:sub>
                      </m:sSub>
                    </m:oMath>
                  </m:oMathPara>
                </a14:m>
                <a:endParaRPr lang="en-IN" sz="1400" dirty="0">
                  <a:latin typeface="Arial Narrow" panose="020B0606020202030204" pitchFamily="34" charset="0"/>
                </a:endParaRPr>
              </a:p>
            </p:txBody>
          </p:sp>
        </mc:Choice>
        <mc:Fallback xmlns="">
          <p:sp>
            <p:nvSpPr>
              <p:cNvPr id="53" name="Rectangle 52"/>
              <p:cNvSpPr>
                <a:spLocks noRot="1" noChangeAspect="1" noMove="1" noResize="1" noEditPoints="1" noAdjustHandles="1" noChangeArrowheads="1" noChangeShapeType="1" noTextEdit="1"/>
              </p:cNvSpPr>
              <p:nvPr/>
            </p:nvSpPr>
            <p:spPr>
              <a:xfrm>
                <a:off x="8912062" y="3786819"/>
                <a:ext cx="511003" cy="338554"/>
              </a:xfrm>
              <a:prstGeom prst="rect">
                <a:avLst/>
              </a:prstGeom>
              <a:blipFill>
                <a:blip r:embed="rId11"/>
                <a:stretch>
                  <a:fillRect b="-178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Rectangle 53"/>
              <p:cNvSpPr/>
              <p:nvPr/>
            </p:nvSpPr>
            <p:spPr>
              <a:xfrm>
                <a:off x="8683656" y="4619886"/>
                <a:ext cx="417897"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𝑌</m:t>
                          </m:r>
                        </m:e>
                        <m:sub>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54" name="Rectangle 53"/>
              <p:cNvSpPr>
                <a:spLocks noRot="1" noChangeAspect="1" noMove="1" noResize="1" noEditPoints="1" noAdjustHandles="1" noChangeArrowheads="1" noChangeShapeType="1" noTextEdit="1"/>
              </p:cNvSpPr>
              <p:nvPr/>
            </p:nvSpPr>
            <p:spPr>
              <a:xfrm>
                <a:off x="8683656" y="4619886"/>
                <a:ext cx="417897" cy="338554"/>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Rectangle 54"/>
              <p:cNvSpPr/>
              <p:nvPr/>
            </p:nvSpPr>
            <p:spPr>
              <a:xfrm>
                <a:off x="9247565" y="4619608"/>
                <a:ext cx="422719"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𝑌</m:t>
                          </m:r>
                        </m:e>
                        <m:sub>
                          <m:r>
                            <a:rPr lang="en-IN" sz="1600" b="0" i="1" smtClean="0">
                              <a:latin typeface="Cambria Math" panose="02040503050406030204" pitchFamily="18" charset="0"/>
                            </a:rPr>
                            <m:t>2</m:t>
                          </m:r>
                        </m:sub>
                      </m:sSub>
                    </m:oMath>
                  </m:oMathPara>
                </a14:m>
                <a:endParaRPr lang="en-IN" sz="1400" dirty="0">
                  <a:latin typeface="Arial Narrow" panose="020B0606020202030204" pitchFamily="34" charset="0"/>
                </a:endParaRPr>
              </a:p>
            </p:txBody>
          </p:sp>
        </mc:Choice>
        <mc:Fallback xmlns="">
          <p:sp>
            <p:nvSpPr>
              <p:cNvPr id="55" name="Rectangle 54"/>
              <p:cNvSpPr>
                <a:spLocks noRot="1" noChangeAspect="1" noMove="1" noResize="1" noEditPoints="1" noAdjustHandles="1" noChangeArrowheads="1" noChangeShapeType="1" noTextEdit="1"/>
              </p:cNvSpPr>
              <p:nvPr/>
            </p:nvSpPr>
            <p:spPr>
              <a:xfrm>
                <a:off x="9247565" y="4619608"/>
                <a:ext cx="422719" cy="338554"/>
              </a:xfrm>
              <a:prstGeom prst="rect">
                <a:avLst/>
              </a:prstGeom>
              <a:blipFill>
                <a:blip r:embed="rId13"/>
                <a:stretch>
                  <a:fillRect/>
                </a:stretch>
              </a:blipFill>
            </p:spPr>
            <p:txBody>
              <a:bodyPr/>
              <a:lstStyle/>
              <a:p>
                <a:r>
                  <a:rPr lang="en-IN">
                    <a:noFill/>
                  </a:rPr>
                  <a:t> </a:t>
                </a:r>
              </a:p>
            </p:txBody>
          </p:sp>
        </mc:Fallback>
      </mc:AlternateContent>
      <p:sp>
        <p:nvSpPr>
          <p:cNvPr id="56" name="Down Arrow 55"/>
          <p:cNvSpPr/>
          <p:nvPr/>
        </p:nvSpPr>
        <p:spPr>
          <a:xfrm>
            <a:off x="9705477" y="2329127"/>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57" name="Down Arrow 56"/>
          <p:cNvSpPr/>
          <p:nvPr/>
        </p:nvSpPr>
        <p:spPr>
          <a:xfrm>
            <a:off x="8407769" y="2335417"/>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58" name="Down Arrow 57"/>
          <p:cNvSpPr/>
          <p:nvPr/>
        </p:nvSpPr>
        <p:spPr>
          <a:xfrm>
            <a:off x="9043269" y="3264034"/>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59" name="Down Arrow 58"/>
          <p:cNvSpPr/>
          <p:nvPr/>
        </p:nvSpPr>
        <p:spPr>
          <a:xfrm>
            <a:off x="9682944" y="3264034"/>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60" name="Down Arrow 59"/>
          <p:cNvSpPr/>
          <p:nvPr/>
        </p:nvSpPr>
        <p:spPr>
          <a:xfrm>
            <a:off x="8389590" y="3270324"/>
            <a:ext cx="175942" cy="443270"/>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p:sp>
        <p:nvSpPr>
          <p:cNvPr id="61" name="Down Arrow 60"/>
          <p:cNvSpPr/>
          <p:nvPr/>
        </p:nvSpPr>
        <p:spPr>
          <a:xfrm>
            <a:off x="9418663" y="4217243"/>
            <a:ext cx="175942" cy="345675"/>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Arial Narrow" panose="020B0606020202030204" pitchFamily="34" charset="0"/>
            </a:endParaRPr>
          </a:p>
        </p:txBody>
      </p:sp>
      <mc:AlternateContent xmlns:mc="http://schemas.openxmlformats.org/markup-compatibility/2006" xmlns:a14="http://schemas.microsoft.com/office/drawing/2010/main">
        <mc:Choice Requires="a14">
          <p:sp>
            <p:nvSpPr>
              <p:cNvPr id="62" name="Rectangle 61"/>
              <p:cNvSpPr/>
              <p:nvPr/>
            </p:nvSpPr>
            <p:spPr>
              <a:xfrm>
                <a:off x="8652438" y="3350256"/>
                <a:ext cx="533415"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𝑤</m:t>
                          </m:r>
                        </m:e>
                        <m:sub>
                          <m:r>
                            <a:rPr lang="en-IN" sz="1600" b="0" i="1" smtClean="0">
                              <a:latin typeface="Cambria Math" panose="02040503050406030204" pitchFamily="18" charset="0"/>
                            </a:rPr>
                            <m:t>𝑒𝑖</m:t>
                          </m:r>
                        </m:sub>
                      </m:sSub>
                    </m:oMath>
                  </m:oMathPara>
                </a14:m>
                <a:endParaRPr lang="en-IN" sz="1400" dirty="0">
                  <a:latin typeface="Arial Narrow" panose="020B0606020202030204" pitchFamily="34" charset="0"/>
                </a:endParaRPr>
              </a:p>
            </p:txBody>
          </p:sp>
        </mc:Choice>
        <mc:Fallback xmlns="">
          <p:sp>
            <p:nvSpPr>
              <p:cNvPr id="62" name="Rectangle 61"/>
              <p:cNvSpPr>
                <a:spLocks noRot="1" noChangeAspect="1" noMove="1" noResize="1" noEditPoints="1" noAdjustHandles="1" noChangeArrowheads="1" noChangeShapeType="1" noTextEdit="1"/>
              </p:cNvSpPr>
              <p:nvPr/>
            </p:nvSpPr>
            <p:spPr>
              <a:xfrm>
                <a:off x="8652438" y="3350256"/>
                <a:ext cx="533415" cy="338554"/>
              </a:xfrm>
              <a:prstGeom prst="rect">
                <a:avLst/>
              </a:prstGeom>
              <a:blipFill>
                <a:blip r:embed="rId14"/>
                <a:stretch>
                  <a:fillRect b="-18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Rectangle 62"/>
              <p:cNvSpPr/>
              <p:nvPr/>
            </p:nvSpPr>
            <p:spPr>
              <a:xfrm>
                <a:off x="8293008" y="4170801"/>
                <a:ext cx="562473"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𝑤</m:t>
                          </m:r>
                        </m:e>
                        <m:sub>
                          <m:r>
                            <a:rPr lang="en-IN" sz="1600" b="0" i="1" smtClean="0">
                              <a:latin typeface="Cambria Math" panose="02040503050406030204" pitchFamily="18" charset="0"/>
                            </a:rPr>
                            <m:t>11</m:t>
                          </m:r>
                        </m:sub>
                      </m:sSub>
                    </m:oMath>
                  </m:oMathPara>
                </a14:m>
                <a:endParaRPr lang="en-IN" sz="1400" dirty="0">
                  <a:latin typeface="Arial Narrow" panose="020B0606020202030204" pitchFamily="34" charset="0"/>
                </a:endParaRPr>
              </a:p>
            </p:txBody>
          </p:sp>
        </mc:Choice>
        <mc:Fallback xmlns="">
          <p:sp>
            <p:nvSpPr>
              <p:cNvPr id="63" name="Rectangle 62"/>
              <p:cNvSpPr>
                <a:spLocks noRot="1" noChangeAspect="1" noMove="1" noResize="1" noEditPoints="1" noAdjustHandles="1" noChangeArrowheads="1" noChangeShapeType="1" noTextEdit="1"/>
              </p:cNvSpPr>
              <p:nvPr/>
            </p:nvSpPr>
            <p:spPr>
              <a:xfrm>
                <a:off x="8293008" y="4170801"/>
                <a:ext cx="562473" cy="338554"/>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Rectangle 63"/>
              <p:cNvSpPr/>
              <p:nvPr/>
            </p:nvSpPr>
            <p:spPr>
              <a:xfrm>
                <a:off x="9476706" y="4217241"/>
                <a:ext cx="559151"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rPr>
                          </m:ctrlPr>
                        </m:sSubPr>
                        <m:e>
                          <m:r>
                            <a:rPr lang="en-IN" sz="1600" b="0" i="1" smtClean="0">
                              <a:latin typeface="Cambria Math" panose="02040503050406030204" pitchFamily="18" charset="0"/>
                            </a:rPr>
                            <m:t>𝑤</m:t>
                          </m:r>
                        </m:e>
                        <m:sub>
                          <m:r>
                            <a:rPr lang="en-IN" sz="1600" b="0" i="1" smtClean="0">
                              <a:latin typeface="Cambria Math" panose="02040503050406030204" pitchFamily="18" charset="0"/>
                            </a:rPr>
                            <m:t>𝑟</m:t>
                          </m:r>
                          <m:r>
                            <a:rPr lang="en-IN" sz="1600" b="0" i="1" smtClean="0">
                              <a:latin typeface="Cambria Math" panose="02040503050406030204" pitchFamily="18" charset="0"/>
                            </a:rPr>
                            <m:t>1</m:t>
                          </m:r>
                        </m:sub>
                      </m:sSub>
                    </m:oMath>
                  </m:oMathPara>
                </a14:m>
                <a:endParaRPr lang="en-IN" sz="1400" dirty="0">
                  <a:latin typeface="Arial Narrow" panose="020B0606020202030204" pitchFamily="34" charset="0"/>
                </a:endParaRPr>
              </a:p>
            </p:txBody>
          </p:sp>
        </mc:Choice>
        <mc:Fallback xmlns="">
          <p:sp>
            <p:nvSpPr>
              <p:cNvPr id="64" name="Rectangle 63"/>
              <p:cNvSpPr>
                <a:spLocks noRot="1" noChangeAspect="1" noMove="1" noResize="1" noEditPoints="1" noAdjustHandles="1" noChangeArrowheads="1" noChangeShapeType="1" noTextEdit="1"/>
              </p:cNvSpPr>
              <p:nvPr/>
            </p:nvSpPr>
            <p:spPr>
              <a:xfrm>
                <a:off x="9476706" y="4217241"/>
                <a:ext cx="559151" cy="338554"/>
              </a:xfrm>
              <a:prstGeom prst="rect">
                <a:avLst/>
              </a:prstGeom>
              <a:blipFill>
                <a:blip r:embed="rId16"/>
                <a:stretch>
                  <a:fillRect/>
                </a:stretch>
              </a:blipFill>
            </p:spPr>
            <p:txBody>
              <a:bodyPr/>
              <a:lstStyle/>
              <a:p>
                <a:r>
                  <a:rPr lang="en-IN">
                    <a:noFill/>
                  </a:rPr>
                  <a:t> </a:t>
                </a:r>
              </a:p>
            </p:txBody>
          </p:sp>
        </mc:Fallback>
      </mc:AlternateContent>
      <p:sp>
        <p:nvSpPr>
          <p:cNvPr id="65" name="TextBox 64"/>
          <p:cNvSpPr txBox="1"/>
          <p:nvPr/>
        </p:nvSpPr>
        <p:spPr>
          <a:xfrm>
            <a:off x="9819023" y="3314403"/>
            <a:ext cx="1806718" cy="338554"/>
          </a:xfrm>
          <a:prstGeom prst="rect">
            <a:avLst/>
          </a:prstGeom>
          <a:noFill/>
        </p:spPr>
        <p:txBody>
          <a:bodyPr wrap="square" rtlCol="0">
            <a:spAutoFit/>
          </a:bodyPr>
          <a:lstStyle/>
          <a:p>
            <a:r>
              <a:rPr lang="en-IN" sz="1600" i="1" dirty="0">
                <a:latin typeface="Arial Narrow" panose="020B0606020202030204" pitchFamily="34" charset="0"/>
              </a:rPr>
              <a:t>k</a:t>
            </a:r>
            <a:r>
              <a:rPr lang="en-IN" sz="1600" dirty="0">
                <a:latin typeface="Arial Narrow" panose="020B0606020202030204" pitchFamily="34" charset="0"/>
              </a:rPr>
              <a:t> no. of hidden layers</a:t>
            </a:r>
          </a:p>
        </p:txBody>
      </p:sp>
      <p:cxnSp>
        <p:nvCxnSpPr>
          <p:cNvPr id="74" name="Straight Arrow Connector 73"/>
          <p:cNvCxnSpPr/>
          <p:nvPr/>
        </p:nvCxnSpPr>
        <p:spPr>
          <a:xfrm flipH="1">
            <a:off x="7408180" y="1653309"/>
            <a:ext cx="416" cy="1871962"/>
          </a:xfrm>
          <a:prstGeom prst="straightConnector1">
            <a:avLst/>
          </a:prstGeom>
          <a:ln w="38100">
            <a:headEnd type="none" w="sm" len="sm"/>
            <a:tailEnd type="stealth" w="med" len="lg"/>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flipH="1" flipV="1">
            <a:off x="7623095" y="3154542"/>
            <a:ext cx="15202" cy="2708798"/>
          </a:xfrm>
          <a:prstGeom prst="straightConnector1">
            <a:avLst/>
          </a:prstGeom>
          <a:ln w="38100">
            <a:headEnd type="none" w="sm" len="sm"/>
            <a:tailEnd type="stealth" w="med" len="lg"/>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6968637" y="1949994"/>
            <a:ext cx="461665" cy="1260923"/>
          </a:xfrm>
          <a:prstGeom prst="rect">
            <a:avLst/>
          </a:prstGeom>
          <a:noFill/>
        </p:spPr>
        <p:txBody>
          <a:bodyPr vert="vert270" wrap="none" rtlCol="0">
            <a:spAutoFit/>
          </a:bodyPr>
          <a:lstStyle/>
          <a:p>
            <a:r>
              <a:rPr lang="en-IN" dirty="0">
                <a:latin typeface="Arial Narrow" panose="020B0606020202030204" pitchFamily="34" charset="0"/>
              </a:rPr>
              <a:t>Forward Pass</a:t>
            </a:r>
          </a:p>
        </p:txBody>
      </p:sp>
      <p:sp>
        <p:nvSpPr>
          <p:cNvPr id="83" name="Rectangle 82"/>
          <p:cNvSpPr/>
          <p:nvPr/>
        </p:nvSpPr>
        <p:spPr>
          <a:xfrm>
            <a:off x="7640672" y="3044531"/>
            <a:ext cx="461665" cy="2929648"/>
          </a:xfrm>
          <a:prstGeom prst="rect">
            <a:avLst/>
          </a:prstGeom>
        </p:spPr>
        <p:txBody>
          <a:bodyPr vert="vert" wrap="none">
            <a:spAutoFit/>
          </a:bodyPr>
          <a:lstStyle/>
          <a:p>
            <a:r>
              <a:rPr lang="en-IN" dirty="0">
                <a:latin typeface="Arial Narrow" panose="020B0606020202030204" pitchFamily="34" charset="0"/>
              </a:rPr>
              <a:t>Backward Pass: Backpropagation</a:t>
            </a:r>
          </a:p>
        </p:txBody>
      </p:sp>
    </p:spTree>
    <p:extLst>
      <p:ext uri="{BB962C8B-B14F-4D97-AF65-F5344CB8AC3E}">
        <p14:creationId xmlns:p14="http://schemas.microsoft.com/office/powerpoint/2010/main" val="1128103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ounded Rectangle 51"/>
          <p:cNvSpPr/>
          <p:nvPr/>
        </p:nvSpPr>
        <p:spPr>
          <a:xfrm>
            <a:off x="4452408" y="4984491"/>
            <a:ext cx="2400300" cy="455253"/>
          </a:xfrm>
          <a:prstGeom prst="roundRect">
            <a:avLst/>
          </a:prstGeom>
          <a:solidFill>
            <a:schemeClr val="accent4">
              <a:lumMod val="60000"/>
              <a:lumOff val="40000"/>
              <a:alpha val="2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ounded Rectangle 42"/>
          <p:cNvSpPr/>
          <p:nvPr/>
        </p:nvSpPr>
        <p:spPr>
          <a:xfrm>
            <a:off x="4412603" y="3930343"/>
            <a:ext cx="2400300" cy="455253"/>
          </a:xfrm>
          <a:prstGeom prst="roundRect">
            <a:avLst/>
          </a:prstGeom>
          <a:solidFill>
            <a:schemeClr val="accent4">
              <a:lumMod val="60000"/>
              <a:lumOff val="40000"/>
              <a:alpha val="2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ounded Rectangle 34"/>
          <p:cNvSpPr/>
          <p:nvPr/>
        </p:nvSpPr>
        <p:spPr>
          <a:xfrm>
            <a:off x="4412603" y="3168343"/>
            <a:ext cx="2400300" cy="455253"/>
          </a:xfrm>
          <a:prstGeom prst="roundRect">
            <a:avLst/>
          </a:prstGeom>
          <a:solidFill>
            <a:schemeClr val="accent4">
              <a:lumMod val="60000"/>
              <a:lumOff val="40000"/>
              <a:alpha val="2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ounded Rectangle 16"/>
          <p:cNvSpPr/>
          <p:nvPr/>
        </p:nvSpPr>
        <p:spPr>
          <a:xfrm>
            <a:off x="4406688" y="1120239"/>
            <a:ext cx="2400300" cy="455253"/>
          </a:xfrm>
          <a:prstGeom prst="roundRect">
            <a:avLst/>
          </a:prstGeom>
          <a:solidFill>
            <a:schemeClr val="accent4">
              <a:lumMod val="60000"/>
              <a:lumOff val="40000"/>
              <a:alpha val="2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ounded Rectangle 25"/>
          <p:cNvSpPr/>
          <p:nvPr/>
        </p:nvSpPr>
        <p:spPr>
          <a:xfrm>
            <a:off x="4406688" y="1837789"/>
            <a:ext cx="2400300" cy="455253"/>
          </a:xfrm>
          <a:prstGeom prst="roundRect">
            <a:avLst/>
          </a:prstGeom>
          <a:solidFill>
            <a:schemeClr val="accent4">
              <a:lumMod val="60000"/>
              <a:lumOff val="40000"/>
              <a:alpha val="2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ounded Rectangle 2"/>
          <p:cNvSpPr/>
          <p:nvPr/>
        </p:nvSpPr>
        <p:spPr>
          <a:xfrm>
            <a:off x="7443452" y="4530413"/>
            <a:ext cx="4094956" cy="1118394"/>
          </a:xfrm>
          <a:prstGeom prst="roundRect">
            <a:avLst/>
          </a:prstGeom>
          <a:solidFill>
            <a:schemeClr val="accent4">
              <a:lumMod val="20000"/>
              <a:lumOff val="80000"/>
              <a:alpha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542637" y="69562"/>
            <a:ext cx="6513945" cy="734002"/>
          </a:xfrm>
        </p:spPr>
        <p:txBody>
          <a:bodyPr>
            <a:normAutofit/>
          </a:bodyPr>
          <a:lstStyle/>
          <a:p>
            <a:r>
              <a:rPr lang="en-IN" sz="3600" dirty="0">
                <a:latin typeface="Century" panose="02040604050505020304" pitchFamily="18" charset="0"/>
              </a:rPr>
              <a:t>Backpropagation : Algorithm</a:t>
            </a:r>
          </a:p>
        </p:txBody>
      </p:sp>
      <p:sp>
        <p:nvSpPr>
          <p:cNvPr id="6" name="Oval 5"/>
          <p:cNvSpPr/>
          <p:nvPr/>
        </p:nvSpPr>
        <p:spPr>
          <a:xfrm>
            <a:off x="4528493" y="1176482"/>
            <a:ext cx="368109"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Oval 6"/>
          <p:cNvSpPr/>
          <p:nvPr/>
        </p:nvSpPr>
        <p:spPr>
          <a:xfrm>
            <a:off x="5445202" y="1170130"/>
            <a:ext cx="368109"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p:cNvSpPr/>
          <p:nvPr/>
        </p:nvSpPr>
        <p:spPr>
          <a:xfrm>
            <a:off x="6330161" y="1170130"/>
            <a:ext cx="368109"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ounded Rectangle 10"/>
          <p:cNvSpPr/>
          <p:nvPr/>
        </p:nvSpPr>
        <p:spPr>
          <a:xfrm>
            <a:off x="5067386" y="1340067"/>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ounded Rectangle 11"/>
          <p:cNvSpPr/>
          <p:nvPr/>
        </p:nvSpPr>
        <p:spPr>
          <a:xfrm>
            <a:off x="5233722" y="1340067"/>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ounded Rectangle 12"/>
          <p:cNvSpPr/>
          <p:nvPr/>
        </p:nvSpPr>
        <p:spPr>
          <a:xfrm>
            <a:off x="5968856" y="1327367"/>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ounded Rectangle 13"/>
          <p:cNvSpPr/>
          <p:nvPr/>
        </p:nvSpPr>
        <p:spPr>
          <a:xfrm>
            <a:off x="6135192" y="1327367"/>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p:cNvSpPr/>
          <p:nvPr/>
        </p:nvSpPr>
        <p:spPr>
          <a:xfrm>
            <a:off x="4528493" y="1894032"/>
            <a:ext cx="368109"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p:cNvSpPr/>
          <p:nvPr/>
        </p:nvSpPr>
        <p:spPr>
          <a:xfrm>
            <a:off x="5445202" y="1887680"/>
            <a:ext cx="368109"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p:cNvSpPr/>
          <p:nvPr/>
        </p:nvSpPr>
        <p:spPr>
          <a:xfrm>
            <a:off x="6330161" y="1887680"/>
            <a:ext cx="368109"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ounded Rectangle 29"/>
          <p:cNvSpPr/>
          <p:nvPr/>
        </p:nvSpPr>
        <p:spPr>
          <a:xfrm>
            <a:off x="5067386" y="2057617"/>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ounded Rectangle 30"/>
          <p:cNvSpPr/>
          <p:nvPr/>
        </p:nvSpPr>
        <p:spPr>
          <a:xfrm>
            <a:off x="5233722" y="2057617"/>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ounded Rectangle 31"/>
          <p:cNvSpPr/>
          <p:nvPr/>
        </p:nvSpPr>
        <p:spPr>
          <a:xfrm>
            <a:off x="5968856" y="2044917"/>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ounded Rectangle 32"/>
          <p:cNvSpPr/>
          <p:nvPr/>
        </p:nvSpPr>
        <p:spPr>
          <a:xfrm>
            <a:off x="6135192" y="2044917"/>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Down Arrow 33"/>
          <p:cNvSpPr/>
          <p:nvPr/>
        </p:nvSpPr>
        <p:spPr>
          <a:xfrm>
            <a:off x="5519207" y="1582974"/>
            <a:ext cx="175261" cy="246380"/>
          </a:xfrm>
          <a:prstGeom prst="downArrow">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p:cNvSpPr/>
          <p:nvPr/>
        </p:nvSpPr>
        <p:spPr>
          <a:xfrm>
            <a:off x="4471278" y="3224586"/>
            <a:ext cx="486654"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ounded Rectangle 38"/>
          <p:cNvSpPr/>
          <p:nvPr/>
        </p:nvSpPr>
        <p:spPr>
          <a:xfrm>
            <a:off x="5073301" y="3388171"/>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ounded Rectangle 39"/>
          <p:cNvSpPr/>
          <p:nvPr/>
        </p:nvSpPr>
        <p:spPr>
          <a:xfrm>
            <a:off x="5239637" y="3388171"/>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ounded Rectangle 40"/>
          <p:cNvSpPr/>
          <p:nvPr/>
        </p:nvSpPr>
        <p:spPr>
          <a:xfrm>
            <a:off x="5974771" y="3375471"/>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ounded Rectangle 41"/>
          <p:cNvSpPr/>
          <p:nvPr/>
        </p:nvSpPr>
        <p:spPr>
          <a:xfrm>
            <a:off x="6141107" y="3375471"/>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ounded Rectangle 46"/>
          <p:cNvSpPr/>
          <p:nvPr/>
        </p:nvSpPr>
        <p:spPr>
          <a:xfrm>
            <a:off x="5073301" y="4150171"/>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ounded Rectangle 47"/>
          <p:cNvSpPr/>
          <p:nvPr/>
        </p:nvSpPr>
        <p:spPr>
          <a:xfrm>
            <a:off x="5239637" y="4150171"/>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ounded Rectangle 48"/>
          <p:cNvSpPr/>
          <p:nvPr/>
        </p:nvSpPr>
        <p:spPr>
          <a:xfrm>
            <a:off x="5974771" y="4137471"/>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ounded Rectangle 49"/>
          <p:cNvSpPr/>
          <p:nvPr/>
        </p:nvSpPr>
        <p:spPr>
          <a:xfrm>
            <a:off x="6141107" y="4137471"/>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Down Arrow 50"/>
          <p:cNvSpPr/>
          <p:nvPr/>
        </p:nvSpPr>
        <p:spPr>
          <a:xfrm>
            <a:off x="5540362" y="3631078"/>
            <a:ext cx="175261" cy="274264"/>
          </a:xfrm>
          <a:prstGeom prst="downArrow">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p:cNvSpPr/>
          <p:nvPr/>
        </p:nvSpPr>
        <p:spPr>
          <a:xfrm>
            <a:off x="4574213" y="5040734"/>
            <a:ext cx="368109"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4" name="Oval 53"/>
          <p:cNvSpPr/>
          <p:nvPr/>
        </p:nvSpPr>
        <p:spPr>
          <a:xfrm>
            <a:off x="5490922" y="5034382"/>
            <a:ext cx="368109"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5" name="Oval 54"/>
          <p:cNvSpPr/>
          <p:nvPr/>
        </p:nvSpPr>
        <p:spPr>
          <a:xfrm>
            <a:off x="6375881" y="5034382"/>
            <a:ext cx="368109"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6" name="Rounded Rectangle 55"/>
          <p:cNvSpPr/>
          <p:nvPr/>
        </p:nvSpPr>
        <p:spPr>
          <a:xfrm>
            <a:off x="5113106" y="5204319"/>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ounded Rectangle 56"/>
          <p:cNvSpPr/>
          <p:nvPr/>
        </p:nvSpPr>
        <p:spPr>
          <a:xfrm>
            <a:off x="5279442" y="5204319"/>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ounded Rectangle 57"/>
          <p:cNvSpPr/>
          <p:nvPr/>
        </p:nvSpPr>
        <p:spPr>
          <a:xfrm>
            <a:off x="6014576" y="5191619"/>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Rounded Rectangle 58"/>
          <p:cNvSpPr/>
          <p:nvPr/>
        </p:nvSpPr>
        <p:spPr>
          <a:xfrm>
            <a:off x="6180912" y="5191619"/>
            <a:ext cx="50966" cy="48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Rounded Rectangle 59"/>
          <p:cNvSpPr/>
          <p:nvPr/>
        </p:nvSpPr>
        <p:spPr>
          <a:xfrm>
            <a:off x="5578290" y="2546934"/>
            <a:ext cx="50966" cy="48700"/>
          </a:xfrm>
          <a:prstGeom prst="round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Rounded Rectangle 60"/>
          <p:cNvSpPr/>
          <p:nvPr/>
        </p:nvSpPr>
        <p:spPr>
          <a:xfrm>
            <a:off x="5578290" y="2698971"/>
            <a:ext cx="50966" cy="48700"/>
          </a:xfrm>
          <a:prstGeom prst="round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Rounded Rectangle 61"/>
          <p:cNvSpPr/>
          <p:nvPr/>
        </p:nvSpPr>
        <p:spPr>
          <a:xfrm>
            <a:off x="5584004" y="2855552"/>
            <a:ext cx="50966" cy="48700"/>
          </a:xfrm>
          <a:prstGeom prst="round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Down Arrow 62"/>
          <p:cNvSpPr/>
          <p:nvPr/>
        </p:nvSpPr>
        <p:spPr>
          <a:xfrm>
            <a:off x="5519205" y="2293578"/>
            <a:ext cx="175261" cy="246380"/>
          </a:xfrm>
          <a:prstGeom prst="downArrow">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Down Arrow 63"/>
          <p:cNvSpPr/>
          <p:nvPr/>
        </p:nvSpPr>
        <p:spPr>
          <a:xfrm>
            <a:off x="5520157" y="2906046"/>
            <a:ext cx="175261" cy="246380"/>
          </a:xfrm>
          <a:prstGeom prst="downArrow">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Down Arrow 64"/>
          <p:cNvSpPr/>
          <p:nvPr/>
        </p:nvSpPr>
        <p:spPr>
          <a:xfrm>
            <a:off x="5525122" y="4391269"/>
            <a:ext cx="215064" cy="593222"/>
          </a:xfrm>
          <a:prstGeom prst="downArrow">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Down Arrow 65"/>
          <p:cNvSpPr/>
          <p:nvPr/>
        </p:nvSpPr>
        <p:spPr>
          <a:xfrm>
            <a:off x="5516142" y="707673"/>
            <a:ext cx="175261" cy="393898"/>
          </a:xfrm>
          <a:prstGeom prst="downArrow">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EBCB6762-58BF-4917-90BC-12BB4CB80FF9}"/>
                  </a:ext>
                </a:extLst>
              </p:cNvPr>
              <p:cNvSpPr/>
              <p:nvPr/>
            </p:nvSpPr>
            <p:spPr>
              <a:xfrm>
                <a:off x="7269361" y="1388767"/>
                <a:ext cx="4395242" cy="573106"/>
              </a:xfrm>
              <a:prstGeom prst="rect">
                <a:avLst/>
              </a:prstGeom>
              <a:solidFill>
                <a:schemeClr val="accent4">
                  <a:lumMod val="60000"/>
                  <a:lumOff val="40000"/>
                  <a:alpha val="36000"/>
                </a:schemeClr>
              </a:solid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1400" b="1" i="1" smtClean="0">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𝑾</m:t>
                              </m:r>
                            </m:e>
                            <m:sub>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𝒉</m:t>
                                  </m:r>
                                </m:e>
                                <m:sub>
                                  <m:r>
                                    <a:rPr lang="en-IN" sz="1400" b="1" i="1" smtClean="0">
                                      <a:latin typeface="Cambria Math" panose="02040503050406030204" pitchFamily="18" charset="0"/>
                                    </a:rPr>
                                    <m:t>𝟏</m:t>
                                  </m:r>
                                </m:sub>
                              </m:sSub>
                            </m:sub>
                          </m:sSub>
                        </m:den>
                      </m:f>
                      <m:r>
                        <a:rPr lang="en-IN" sz="1400" b="1" i="1">
                          <a:latin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smtClean="0">
                                      <a:latin typeface="Cambria Math" panose="02040503050406030204" pitchFamily="18" charset="0"/>
                                    </a:rPr>
                                    <m:t>𝟐</m:t>
                                  </m:r>
                                </m:sub>
                              </m:sSub>
                            </m:sub>
                          </m:sSub>
                        </m:num>
                        <m:den>
                          <m:r>
                            <a:rPr lang="en-IN" sz="1400" b="1" i="1">
                              <a:latin typeface="Cambria Math" panose="02040503050406030204" pitchFamily="18" charset="0"/>
                            </a:rPr>
                            <m:t>𝝏</m:t>
                          </m:r>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𝑾</m:t>
                              </m:r>
                            </m:e>
                            <m:sub>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𝒉</m:t>
                                  </m:r>
                                </m:e>
                                <m:sub>
                                  <m:r>
                                    <a:rPr lang="en-IN" sz="1400" b="1" i="1" smtClean="0">
                                      <a:latin typeface="Cambria Math" panose="02040503050406030204" pitchFamily="18" charset="0"/>
                                    </a:rPr>
                                    <m:t>𝟏</m:t>
                                  </m:r>
                                </m:sub>
                              </m:sSub>
                            </m:sub>
                          </m:sSub>
                        </m:den>
                      </m:f>
                      <m:r>
                        <a:rPr lang="en-IN" sz="1400" b="1" i="1">
                          <a:latin typeface="Cambria Math" panose="02040503050406030204" pitchFamily="18" charset="0"/>
                          <a:ea typeface="Cambria Math" panose="02040503050406030204" pitchFamily="18" charset="0"/>
                        </a:rPr>
                        <m:t>×</m:t>
                      </m:r>
                      <m:f>
                        <m:fPr>
                          <m:ctrlPr>
                            <a:rPr lang="en-IN" sz="1400" b="1" i="1">
                              <a:latin typeface="Cambria Math" panose="02040503050406030204" pitchFamily="18" charset="0"/>
                              <a:ea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smtClean="0">
                                      <a:latin typeface="Cambria Math" panose="02040503050406030204" pitchFamily="18" charset="0"/>
                                    </a:rPr>
                                    <m:t>𝟑</m:t>
                                  </m:r>
                                </m:sub>
                              </m:sSub>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a:latin typeface="Cambria Math" panose="02040503050406030204" pitchFamily="18" charset="0"/>
                                    </a:rPr>
                                    <m:t>𝟐</m:t>
                                  </m:r>
                                </m:sub>
                              </m:sSub>
                            </m:sub>
                          </m:sSub>
                        </m:den>
                      </m:f>
                      <m:r>
                        <a:rPr lang="en-IN" sz="1400" b="1" i="1">
                          <a:latin typeface="Cambria Math" panose="02040503050406030204" pitchFamily="18" charset="0"/>
                          <a:ea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smtClean="0">
                                      <a:latin typeface="Cambria Math" panose="02040503050406030204" pitchFamily="18" charset="0"/>
                                    </a:rPr>
                                    <m:t>𝒌</m:t>
                                  </m:r>
                                </m:sub>
                              </m:sSub>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smtClean="0">
                                      <a:latin typeface="Cambria Math" panose="02040503050406030204" pitchFamily="18" charset="0"/>
                                    </a:rPr>
                                    <m:t>𝒌</m:t>
                                  </m:r>
                                  <m:r>
                                    <a:rPr lang="en-IN" sz="1400" b="1" i="1" smtClean="0">
                                      <a:latin typeface="Cambria Math" panose="02040503050406030204" pitchFamily="18" charset="0"/>
                                    </a:rPr>
                                    <m:t>−</m:t>
                                  </m:r>
                                  <m:r>
                                    <a:rPr lang="en-IN" sz="1400" b="1" i="1" smtClean="0">
                                      <a:latin typeface="Cambria Math" panose="02040503050406030204" pitchFamily="18" charset="0"/>
                                    </a:rPr>
                                    <m:t>𝟏</m:t>
                                  </m:r>
                                </m:sub>
                              </m:sSub>
                            </m:sub>
                          </m:sSub>
                        </m:den>
                      </m:f>
                      <m:r>
                        <a:rPr lang="en-IN" sz="1400" b="1" i="1">
                          <a:latin typeface="Cambria Math" panose="02040503050406030204" pitchFamily="18" charset="0"/>
                          <a:ea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a:latin typeface="Cambria Math" panose="02040503050406030204" pitchFamily="18" charset="0"/>
                                    </a:rPr>
                                    <m:t>𝒌</m:t>
                                  </m:r>
                                </m:sub>
                              </m:sSub>
                            </m:sub>
                          </m:sSub>
                        </m:den>
                      </m:f>
                      <m:r>
                        <a:rPr lang="en-IN" sz="1400" b="1" i="1">
                          <a:latin typeface="Cambria Math" panose="02040503050406030204" pitchFamily="18" charset="0"/>
                          <a:ea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den>
                      </m:f>
                    </m:oMath>
                  </m:oMathPara>
                </a14:m>
                <a:endParaRPr lang="en-IN" sz="1400" dirty="0"/>
              </a:p>
            </p:txBody>
          </p:sp>
        </mc:Choice>
        <mc:Fallback xmlns="">
          <p:sp>
            <p:nvSpPr>
              <p:cNvPr id="73" name="Rectangle 72">
                <a:extLst>
                  <a:ext uri="{FF2B5EF4-FFF2-40B4-BE49-F238E27FC236}">
                    <a16:creationId xmlns:a16="http://schemas.microsoft.com/office/drawing/2014/main" id="{EBCB6762-58BF-4917-90BC-12BB4CB80FF9}"/>
                  </a:ext>
                </a:extLst>
              </p:cNvPr>
              <p:cNvSpPr>
                <a:spLocks noRot="1" noChangeAspect="1" noMove="1" noResize="1" noEditPoints="1" noAdjustHandles="1" noChangeArrowheads="1" noChangeShapeType="1" noTextEdit="1"/>
              </p:cNvSpPr>
              <p:nvPr/>
            </p:nvSpPr>
            <p:spPr>
              <a:xfrm>
                <a:off x="7269361" y="1388767"/>
                <a:ext cx="4395242" cy="573106"/>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Rectangle 79">
                <a:extLst>
                  <a:ext uri="{FF2B5EF4-FFF2-40B4-BE49-F238E27FC236}">
                    <a16:creationId xmlns:a16="http://schemas.microsoft.com/office/drawing/2014/main" id="{642FCB87-D051-4C84-A426-ABD357AD4499}"/>
                  </a:ext>
                </a:extLst>
              </p:cNvPr>
              <p:cNvSpPr/>
              <p:nvPr/>
            </p:nvSpPr>
            <p:spPr>
              <a:xfrm>
                <a:off x="7216702" y="3424171"/>
                <a:ext cx="3663054" cy="710644"/>
              </a:xfrm>
              <a:prstGeom prst="rect">
                <a:avLst/>
              </a:prstGeom>
              <a:solidFill>
                <a:srgbClr val="FFFF00">
                  <a:alpha val="51000"/>
                </a:srgbClr>
              </a:solid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a:latin typeface="Cambria Math" panose="02040503050406030204" pitchFamily="18" charset="0"/>
                            </a:rPr>
                            <m:t>𝝏</m:t>
                          </m:r>
                          <m:sSub>
                            <m:sSubPr>
                              <m:ctrlPr>
                                <a:rPr lang="en-IN" b="1" i="1">
                                  <a:latin typeface="Cambria Math" panose="02040503050406030204" pitchFamily="18" charset="0"/>
                                </a:rPr>
                              </m:ctrlPr>
                            </m:sSubPr>
                            <m:e>
                              <m:r>
                                <a:rPr lang="en-IN" b="1" i="1">
                                  <a:latin typeface="Cambria Math" panose="02040503050406030204" pitchFamily="18" charset="0"/>
                                </a:rPr>
                                <m:t>𝑬</m:t>
                              </m:r>
                            </m:e>
                            <m:sub>
                              <m:r>
                                <a:rPr lang="en-IN" b="1" i="1" smtClean="0">
                                  <a:latin typeface="Cambria Math" panose="02040503050406030204" pitchFamily="18" charset="0"/>
                                </a:rPr>
                                <m:t>𝒀</m:t>
                              </m:r>
                            </m:sub>
                          </m:sSub>
                        </m:num>
                        <m:den>
                          <m:r>
                            <a:rPr lang="en-IN" b="1" i="1">
                              <a:latin typeface="Cambria Math" panose="02040503050406030204" pitchFamily="18" charset="0"/>
                            </a:rPr>
                            <m:t>𝝏</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𝑾</m:t>
                              </m:r>
                            </m:e>
                            <m:sub>
                              <m:sSub>
                                <m:sSubPr>
                                  <m:ctrlPr>
                                    <a:rPr lang="en-IN" b="1" i="1" smtClean="0">
                                      <a:latin typeface="Cambria Math" panose="02040503050406030204" pitchFamily="18" charset="0"/>
                                    </a:rPr>
                                  </m:ctrlPr>
                                </m:sSubPr>
                                <m:e>
                                  <m:r>
                                    <a:rPr lang="en-IN" b="1" i="1" smtClean="0">
                                      <a:latin typeface="Cambria Math" panose="02040503050406030204" pitchFamily="18" charset="0"/>
                                    </a:rPr>
                                    <m:t>𝒉</m:t>
                                  </m:r>
                                </m:e>
                                <m:sub>
                                  <m:r>
                                    <a:rPr lang="en-IN" b="1" i="1" smtClean="0">
                                      <a:latin typeface="Cambria Math" panose="02040503050406030204" pitchFamily="18" charset="0"/>
                                    </a:rPr>
                                    <m:t>𝒌</m:t>
                                  </m:r>
                                  <m:r>
                                    <a:rPr lang="en-IN" b="1" i="1" smtClean="0">
                                      <a:latin typeface="Cambria Math" panose="02040503050406030204" pitchFamily="18" charset="0"/>
                                    </a:rPr>
                                    <m:t>−</m:t>
                                  </m:r>
                                  <m:r>
                                    <a:rPr lang="en-IN" b="1" i="1" smtClean="0">
                                      <a:latin typeface="Cambria Math" panose="02040503050406030204" pitchFamily="18" charset="0"/>
                                    </a:rPr>
                                    <m:t>𝟏</m:t>
                                  </m:r>
                                </m:sub>
                              </m:sSub>
                            </m:sub>
                          </m:sSub>
                        </m:den>
                      </m:f>
                      <m:r>
                        <a:rPr lang="en-IN" b="1" i="1">
                          <a:latin typeface="Cambria Math" panose="02040503050406030204" pitchFamily="18" charset="0"/>
                        </a:rPr>
                        <m:t>=</m:t>
                      </m:r>
                      <m:f>
                        <m:fPr>
                          <m:ctrlPr>
                            <a:rPr lang="en-IN" b="1" i="1">
                              <a:latin typeface="Cambria Math" panose="02040503050406030204" pitchFamily="18" charset="0"/>
                            </a:rPr>
                          </m:ctrlPr>
                        </m:fPr>
                        <m:num>
                          <m:r>
                            <a:rPr lang="en-IN" b="1" i="1">
                              <a:latin typeface="Cambria Math" panose="02040503050406030204" pitchFamily="18" charset="0"/>
                            </a:rPr>
                            <m:t>𝝏</m:t>
                          </m:r>
                          <m:sSub>
                            <m:sSubPr>
                              <m:ctrlPr>
                                <a:rPr lang="en-IN" b="1" i="1">
                                  <a:latin typeface="Cambria Math" panose="02040503050406030204" pitchFamily="18" charset="0"/>
                                </a:rPr>
                              </m:ctrlPr>
                            </m:sSubPr>
                            <m:e>
                              <m:r>
                                <a:rPr lang="en-IN" b="1" i="1">
                                  <a:latin typeface="Cambria Math" panose="02040503050406030204" pitchFamily="18" charset="0"/>
                                </a:rPr>
                                <m:t>𝑾</m:t>
                              </m:r>
                            </m:e>
                            <m:sub>
                              <m:sSub>
                                <m:sSubPr>
                                  <m:ctrlPr>
                                    <a:rPr lang="en-IN" b="1" i="1">
                                      <a:latin typeface="Cambria Math" panose="02040503050406030204" pitchFamily="18" charset="0"/>
                                    </a:rPr>
                                  </m:ctrlPr>
                                </m:sSubPr>
                                <m:e>
                                  <m:r>
                                    <a:rPr lang="en-IN" b="1" i="1">
                                      <a:latin typeface="Cambria Math" panose="02040503050406030204" pitchFamily="18" charset="0"/>
                                    </a:rPr>
                                    <m:t>𝒉</m:t>
                                  </m:r>
                                </m:e>
                                <m:sub>
                                  <m:r>
                                    <a:rPr lang="en-IN" b="1" i="1">
                                      <a:latin typeface="Cambria Math" panose="02040503050406030204" pitchFamily="18" charset="0"/>
                                    </a:rPr>
                                    <m:t>𝒌</m:t>
                                  </m:r>
                                </m:sub>
                              </m:sSub>
                            </m:sub>
                          </m:sSub>
                        </m:num>
                        <m:den>
                          <m:r>
                            <a:rPr lang="en-IN" b="1" i="1">
                              <a:latin typeface="Cambria Math" panose="02040503050406030204" pitchFamily="18" charset="0"/>
                            </a:rPr>
                            <m:t>𝝏</m:t>
                          </m:r>
                          <m:sSub>
                            <m:sSubPr>
                              <m:ctrlPr>
                                <a:rPr lang="en-IN" b="1" i="1">
                                  <a:latin typeface="Cambria Math" panose="02040503050406030204" pitchFamily="18" charset="0"/>
                                </a:rPr>
                              </m:ctrlPr>
                            </m:sSubPr>
                            <m:e>
                              <m:r>
                                <a:rPr lang="en-IN" b="1" i="1">
                                  <a:latin typeface="Cambria Math" panose="02040503050406030204" pitchFamily="18" charset="0"/>
                                </a:rPr>
                                <m:t>𝑾</m:t>
                              </m:r>
                            </m:e>
                            <m:sub>
                              <m:sSub>
                                <m:sSubPr>
                                  <m:ctrlPr>
                                    <a:rPr lang="en-IN" b="1" i="1">
                                      <a:latin typeface="Cambria Math" panose="02040503050406030204" pitchFamily="18" charset="0"/>
                                    </a:rPr>
                                  </m:ctrlPr>
                                </m:sSubPr>
                                <m:e>
                                  <m:r>
                                    <a:rPr lang="en-IN" b="1" i="1">
                                      <a:latin typeface="Cambria Math" panose="02040503050406030204" pitchFamily="18" charset="0"/>
                                    </a:rPr>
                                    <m:t>𝒉</m:t>
                                  </m:r>
                                </m:e>
                                <m:sub>
                                  <m:r>
                                    <a:rPr lang="en-IN" b="1" i="1">
                                      <a:latin typeface="Cambria Math" panose="02040503050406030204" pitchFamily="18" charset="0"/>
                                    </a:rPr>
                                    <m:t>𝒌</m:t>
                                  </m:r>
                                  <m:r>
                                    <a:rPr lang="en-IN" b="1" i="1" smtClean="0">
                                      <a:latin typeface="Cambria Math" panose="02040503050406030204" pitchFamily="18" charset="0"/>
                                    </a:rPr>
                                    <m:t>−</m:t>
                                  </m:r>
                                  <m:r>
                                    <a:rPr lang="en-IN" b="1" i="1" smtClean="0">
                                      <a:latin typeface="Cambria Math" panose="02040503050406030204" pitchFamily="18" charset="0"/>
                                    </a:rPr>
                                    <m:t>𝟏</m:t>
                                  </m:r>
                                </m:sub>
                              </m:sSub>
                            </m:sub>
                          </m:sSub>
                        </m:den>
                      </m:f>
                      <m:r>
                        <a:rPr lang="en-IN" b="1" i="1">
                          <a:latin typeface="Cambria Math" panose="02040503050406030204" pitchFamily="18" charset="0"/>
                          <a:ea typeface="Cambria Math" panose="02040503050406030204" pitchFamily="18" charset="0"/>
                        </a:rPr>
                        <m:t>×</m:t>
                      </m:r>
                      <m:f>
                        <m:fPr>
                          <m:ctrlPr>
                            <a:rPr lang="en-IN" b="1" i="1">
                              <a:latin typeface="Cambria Math" panose="02040503050406030204" pitchFamily="18" charset="0"/>
                            </a:rPr>
                          </m:ctrlPr>
                        </m:fPr>
                        <m:num>
                          <m:r>
                            <a:rPr lang="en-IN" b="1" i="1">
                              <a:latin typeface="Cambria Math" panose="02040503050406030204" pitchFamily="18" charset="0"/>
                            </a:rPr>
                            <m:t>𝝏</m:t>
                          </m:r>
                          <m:sSub>
                            <m:sSubPr>
                              <m:ctrlPr>
                                <a:rPr lang="en-IN" b="1" i="1" smtClean="0">
                                  <a:latin typeface="Cambria Math" panose="02040503050406030204" pitchFamily="18" charset="0"/>
                                </a:rPr>
                              </m:ctrlPr>
                            </m:sSubPr>
                            <m:e>
                              <m:r>
                                <a:rPr lang="en-IN" b="1" i="1">
                                  <a:latin typeface="Cambria Math" panose="02040503050406030204" pitchFamily="18" charset="0"/>
                                </a:rPr>
                                <m:t>𝑾</m:t>
                              </m:r>
                            </m:e>
                            <m:sub>
                              <m:r>
                                <a:rPr lang="en-IN" b="1" i="1" smtClean="0">
                                  <a:latin typeface="Cambria Math" panose="02040503050406030204" pitchFamily="18" charset="0"/>
                                </a:rPr>
                                <m:t>𝒀</m:t>
                              </m:r>
                            </m:sub>
                          </m:sSub>
                        </m:num>
                        <m:den>
                          <m:r>
                            <a:rPr lang="en-IN" b="1" i="1">
                              <a:latin typeface="Cambria Math" panose="02040503050406030204" pitchFamily="18" charset="0"/>
                            </a:rPr>
                            <m:t>𝝏</m:t>
                          </m:r>
                          <m:sSub>
                            <m:sSubPr>
                              <m:ctrlPr>
                                <a:rPr lang="en-IN" b="1" i="1">
                                  <a:latin typeface="Cambria Math" panose="02040503050406030204" pitchFamily="18" charset="0"/>
                                </a:rPr>
                              </m:ctrlPr>
                            </m:sSubPr>
                            <m:e>
                              <m:r>
                                <a:rPr lang="en-IN" b="1" i="1">
                                  <a:latin typeface="Cambria Math" panose="02040503050406030204" pitchFamily="18" charset="0"/>
                                </a:rPr>
                                <m:t>𝑾</m:t>
                              </m:r>
                            </m:e>
                            <m:sub>
                              <m:sSub>
                                <m:sSubPr>
                                  <m:ctrlPr>
                                    <a:rPr lang="en-IN" b="1" i="1">
                                      <a:latin typeface="Cambria Math" panose="02040503050406030204" pitchFamily="18" charset="0"/>
                                    </a:rPr>
                                  </m:ctrlPr>
                                </m:sSubPr>
                                <m:e>
                                  <m:r>
                                    <a:rPr lang="en-IN" b="1" i="1">
                                      <a:latin typeface="Cambria Math" panose="02040503050406030204" pitchFamily="18" charset="0"/>
                                    </a:rPr>
                                    <m:t>𝒉</m:t>
                                  </m:r>
                                </m:e>
                                <m:sub>
                                  <m:r>
                                    <a:rPr lang="en-IN" b="1" i="1">
                                      <a:latin typeface="Cambria Math" panose="02040503050406030204" pitchFamily="18" charset="0"/>
                                    </a:rPr>
                                    <m:t>𝒌</m:t>
                                  </m:r>
                                </m:sub>
                              </m:sSub>
                            </m:sub>
                          </m:sSub>
                        </m:den>
                      </m:f>
                      <m:r>
                        <a:rPr lang="en-IN" b="1" i="1">
                          <a:latin typeface="Cambria Math" panose="02040503050406030204" pitchFamily="18" charset="0"/>
                          <a:ea typeface="Cambria Math" panose="02040503050406030204" pitchFamily="18" charset="0"/>
                        </a:rPr>
                        <m:t>×</m:t>
                      </m:r>
                      <m:f>
                        <m:fPr>
                          <m:ctrlPr>
                            <a:rPr lang="en-IN" b="1" i="1">
                              <a:latin typeface="Cambria Math" panose="02040503050406030204" pitchFamily="18" charset="0"/>
                            </a:rPr>
                          </m:ctrlPr>
                        </m:fPr>
                        <m:num>
                          <m:r>
                            <a:rPr lang="en-IN" b="1" i="1">
                              <a:latin typeface="Cambria Math" panose="02040503050406030204" pitchFamily="18" charset="0"/>
                            </a:rPr>
                            <m:t>𝝏</m:t>
                          </m:r>
                          <m:sSub>
                            <m:sSubPr>
                              <m:ctrlPr>
                                <a:rPr lang="en-IN" b="1" i="1">
                                  <a:latin typeface="Cambria Math" panose="02040503050406030204" pitchFamily="18" charset="0"/>
                                </a:rPr>
                              </m:ctrlPr>
                            </m:sSubPr>
                            <m:e>
                              <m:r>
                                <a:rPr lang="en-IN" b="1" i="1">
                                  <a:latin typeface="Cambria Math" panose="02040503050406030204" pitchFamily="18" charset="0"/>
                                </a:rPr>
                                <m:t>𝑬</m:t>
                              </m:r>
                            </m:e>
                            <m:sub>
                              <m:r>
                                <a:rPr lang="en-IN" b="1" i="1" smtClean="0">
                                  <a:latin typeface="Cambria Math" panose="02040503050406030204" pitchFamily="18" charset="0"/>
                                </a:rPr>
                                <m:t>𝒀</m:t>
                              </m:r>
                            </m:sub>
                          </m:sSub>
                        </m:num>
                        <m:den>
                          <m:r>
                            <a:rPr lang="en-IN" b="1" i="1">
                              <a:latin typeface="Cambria Math" panose="02040503050406030204" pitchFamily="18" charset="0"/>
                            </a:rPr>
                            <m:t>𝝏</m:t>
                          </m:r>
                          <m:sSub>
                            <m:sSubPr>
                              <m:ctrlPr>
                                <a:rPr lang="en-IN" b="1" i="1" smtClean="0">
                                  <a:latin typeface="Cambria Math" panose="02040503050406030204" pitchFamily="18" charset="0"/>
                                </a:rPr>
                              </m:ctrlPr>
                            </m:sSubPr>
                            <m:e>
                              <m:r>
                                <a:rPr lang="en-IN" b="1" i="1">
                                  <a:latin typeface="Cambria Math" panose="02040503050406030204" pitchFamily="18" charset="0"/>
                                </a:rPr>
                                <m:t>𝑾</m:t>
                              </m:r>
                            </m:e>
                            <m:sub>
                              <m:r>
                                <a:rPr lang="en-IN" b="1" i="1" smtClean="0">
                                  <a:latin typeface="Cambria Math" panose="02040503050406030204" pitchFamily="18" charset="0"/>
                                </a:rPr>
                                <m:t>𝒀</m:t>
                              </m:r>
                            </m:sub>
                          </m:sSub>
                        </m:den>
                      </m:f>
                    </m:oMath>
                  </m:oMathPara>
                </a14:m>
                <a:endParaRPr lang="en-IN" dirty="0"/>
              </a:p>
            </p:txBody>
          </p:sp>
        </mc:Choice>
        <mc:Fallback xmlns="">
          <p:sp>
            <p:nvSpPr>
              <p:cNvPr id="80" name="Rectangle 79">
                <a:extLst>
                  <a:ext uri="{FF2B5EF4-FFF2-40B4-BE49-F238E27FC236}">
                    <a16:creationId xmlns:a16="http://schemas.microsoft.com/office/drawing/2014/main" id="{642FCB87-D051-4C84-A426-ABD357AD4499}"/>
                  </a:ext>
                </a:extLst>
              </p:cNvPr>
              <p:cNvSpPr>
                <a:spLocks noRot="1" noChangeAspect="1" noMove="1" noResize="1" noEditPoints="1" noAdjustHandles="1" noChangeArrowheads="1" noChangeShapeType="1" noTextEdit="1"/>
              </p:cNvSpPr>
              <p:nvPr/>
            </p:nvSpPr>
            <p:spPr>
              <a:xfrm>
                <a:off x="7216702" y="3424171"/>
                <a:ext cx="3663054" cy="71064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871A56DB-2D74-42A1-A62D-6454818B978D}"/>
                  </a:ext>
                </a:extLst>
              </p:cNvPr>
              <p:cNvSpPr/>
              <p:nvPr/>
            </p:nvSpPr>
            <p:spPr>
              <a:xfrm>
                <a:off x="31481" y="2436768"/>
                <a:ext cx="3741537" cy="573106"/>
              </a:xfrm>
              <a:prstGeom prst="rect">
                <a:avLst/>
              </a:prstGeom>
              <a:solidFill>
                <a:schemeClr val="tx2">
                  <a:lumMod val="60000"/>
                  <a:lumOff val="40000"/>
                  <a:alpha val="26000"/>
                </a:schemeClr>
              </a:solid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1400" b="1" i="1" smtClean="0">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𝑾</m:t>
                              </m:r>
                            </m:e>
                            <m:sub>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𝒉</m:t>
                                  </m:r>
                                </m:e>
                                <m:sub>
                                  <m:r>
                                    <a:rPr lang="en-IN" sz="1400" b="1" i="1" smtClean="0">
                                      <a:latin typeface="Cambria Math" panose="02040503050406030204" pitchFamily="18" charset="0"/>
                                    </a:rPr>
                                    <m:t>𝟐</m:t>
                                  </m:r>
                                </m:sub>
                              </m:sSub>
                            </m:sub>
                          </m:sSub>
                        </m:den>
                      </m:f>
                      <m:r>
                        <a:rPr lang="en-IN" sz="1400" b="1" i="1">
                          <a:latin typeface="Cambria Math" panose="02040503050406030204" pitchFamily="18" charset="0"/>
                        </a:rPr>
                        <m:t>=</m:t>
                      </m:r>
                      <m:f>
                        <m:fPr>
                          <m:ctrlPr>
                            <a:rPr lang="en-IN" sz="1400" b="1" i="1">
                              <a:latin typeface="Cambria Math" panose="02040503050406030204" pitchFamily="18" charset="0"/>
                              <a:ea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smtClean="0">
                                      <a:latin typeface="Cambria Math" panose="02040503050406030204" pitchFamily="18" charset="0"/>
                                    </a:rPr>
                                    <m:t>𝟑</m:t>
                                  </m:r>
                                </m:sub>
                              </m:sSub>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a:latin typeface="Cambria Math" panose="02040503050406030204" pitchFamily="18" charset="0"/>
                                    </a:rPr>
                                    <m:t>𝟐</m:t>
                                  </m:r>
                                </m:sub>
                              </m:sSub>
                            </m:sub>
                          </m:sSub>
                        </m:den>
                      </m:f>
                      <m:r>
                        <a:rPr lang="en-IN" sz="1400" b="1" i="1">
                          <a:latin typeface="Cambria Math" panose="02040503050406030204" pitchFamily="18" charset="0"/>
                          <a:ea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smtClean="0">
                                      <a:latin typeface="Cambria Math" panose="02040503050406030204" pitchFamily="18" charset="0"/>
                                    </a:rPr>
                                    <m:t>𝒌</m:t>
                                  </m:r>
                                </m:sub>
                              </m:sSub>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smtClean="0">
                                      <a:latin typeface="Cambria Math" panose="02040503050406030204" pitchFamily="18" charset="0"/>
                                    </a:rPr>
                                    <m:t>𝒌</m:t>
                                  </m:r>
                                  <m:r>
                                    <a:rPr lang="en-IN" sz="1400" b="1" i="1" smtClean="0">
                                      <a:latin typeface="Cambria Math" panose="02040503050406030204" pitchFamily="18" charset="0"/>
                                    </a:rPr>
                                    <m:t>−</m:t>
                                  </m:r>
                                  <m:r>
                                    <a:rPr lang="en-IN" sz="1400" b="1" i="1" smtClean="0">
                                      <a:latin typeface="Cambria Math" panose="02040503050406030204" pitchFamily="18" charset="0"/>
                                    </a:rPr>
                                    <m:t>𝟏</m:t>
                                  </m:r>
                                </m:sub>
                              </m:sSub>
                            </m:sub>
                          </m:sSub>
                        </m:den>
                      </m:f>
                      <m:r>
                        <a:rPr lang="en-IN" sz="1400" b="1" i="1">
                          <a:latin typeface="Cambria Math" panose="02040503050406030204" pitchFamily="18" charset="0"/>
                          <a:ea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a:latin typeface="Cambria Math" panose="02040503050406030204" pitchFamily="18" charset="0"/>
                                    </a:rPr>
                                    <m:t>𝒌</m:t>
                                  </m:r>
                                </m:sub>
                              </m:sSub>
                            </m:sub>
                          </m:sSub>
                        </m:den>
                      </m:f>
                      <m:r>
                        <a:rPr lang="en-IN" sz="1400" b="1" i="1">
                          <a:latin typeface="Cambria Math" panose="02040503050406030204" pitchFamily="18" charset="0"/>
                          <a:ea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den>
                      </m:f>
                    </m:oMath>
                  </m:oMathPara>
                </a14:m>
                <a:endParaRPr lang="en-IN" sz="1400" dirty="0"/>
              </a:p>
            </p:txBody>
          </p:sp>
        </mc:Choice>
        <mc:Fallback xmlns="">
          <p:sp>
            <p:nvSpPr>
              <p:cNvPr id="100" name="Rectangle 99">
                <a:extLst>
                  <a:ext uri="{FF2B5EF4-FFF2-40B4-BE49-F238E27FC236}">
                    <a16:creationId xmlns:a16="http://schemas.microsoft.com/office/drawing/2014/main" id="{871A56DB-2D74-42A1-A62D-6454818B978D}"/>
                  </a:ext>
                </a:extLst>
              </p:cNvPr>
              <p:cNvSpPr>
                <a:spLocks noRot="1" noChangeAspect="1" noMove="1" noResize="1" noEditPoints="1" noAdjustHandles="1" noChangeArrowheads="1" noChangeShapeType="1" noTextEdit="1"/>
              </p:cNvSpPr>
              <p:nvPr/>
            </p:nvSpPr>
            <p:spPr>
              <a:xfrm>
                <a:off x="31481" y="2436768"/>
                <a:ext cx="3741537" cy="57310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Rectangle 112">
                <a:extLst>
                  <a:ext uri="{FF2B5EF4-FFF2-40B4-BE49-F238E27FC236}">
                    <a16:creationId xmlns:a16="http://schemas.microsoft.com/office/drawing/2014/main" id="{4AA384B1-0617-BDFC-5F76-4C3B2DD57B62}"/>
                  </a:ext>
                </a:extLst>
              </p:cNvPr>
              <p:cNvSpPr/>
              <p:nvPr/>
            </p:nvSpPr>
            <p:spPr>
              <a:xfrm>
                <a:off x="1446966" y="4412167"/>
                <a:ext cx="2189574" cy="632417"/>
              </a:xfrm>
              <a:prstGeom prst="rect">
                <a:avLst/>
              </a:prstGeom>
              <a:solidFill>
                <a:schemeClr val="accent1">
                  <a:alpha val="58000"/>
                </a:schemeClr>
              </a:solidFill>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IN" sz="1600" b="1" i="1" smtClean="0">
                              <a:latin typeface="Cambria Math" panose="02040503050406030204" pitchFamily="18" charset="0"/>
                            </a:rPr>
                          </m:ctrlPr>
                        </m:fPr>
                        <m:num>
                          <m:r>
                            <a:rPr lang="en-IN" sz="1600" b="1" i="1">
                              <a:latin typeface="Cambria Math" panose="02040503050406030204" pitchFamily="18" charset="0"/>
                            </a:rPr>
                            <m:t>𝝏</m:t>
                          </m:r>
                          <m:sSub>
                            <m:sSubPr>
                              <m:ctrlPr>
                                <a:rPr lang="en-IN" sz="1600" b="1" i="1">
                                  <a:latin typeface="Cambria Math" panose="02040503050406030204" pitchFamily="18" charset="0"/>
                                </a:rPr>
                              </m:ctrlPr>
                            </m:sSubPr>
                            <m:e>
                              <m:r>
                                <a:rPr lang="en-IN" sz="1600" b="1" i="1">
                                  <a:latin typeface="Cambria Math" panose="02040503050406030204" pitchFamily="18" charset="0"/>
                                </a:rPr>
                                <m:t>𝑬</m:t>
                              </m:r>
                            </m:e>
                            <m:sub>
                              <m:r>
                                <a:rPr lang="en-IN" sz="1600" b="1" i="1" smtClean="0">
                                  <a:latin typeface="Cambria Math" panose="02040503050406030204" pitchFamily="18" charset="0"/>
                                </a:rPr>
                                <m:t>𝒀</m:t>
                              </m:r>
                            </m:sub>
                          </m:sSub>
                        </m:num>
                        <m:den>
                          <m:r>
                            <a:rPr lang="en-IN" sz="1600" b="1" i="1">
                              <a:latin typeface="Cambria Math" panose="02040503050406030204" pitchFamily="18" charset="0"/>
                            </a:rPr>
                            <m:t>𝝏</m:t>
                          </m:r>
                          <m:sSub>
                            <m:sSubPr>
                              <m:ctrlPr>
                                <a:rPr lang="en-IN" sz="1600" b="1" i="1">
                                  <a:latin typeface="Cambria Math" panose="02040503050406030204" pitchFamily="18" charset="0"/>
                                </a:rPr>
                              </m:ctrlPr>
                            </m:sSubPr>
                            <m:e>
                              <m:r>
                                <a:rPr lang="en-IN" sz="1600" b="1" i="1">
                                  <a:latin typeface="Cambria Math" panose="02040503050406030204" pitchFamily="18" charset="0"/>
                                </a:rPr>
                                <m:t>𝑾</m:t>
                              </m:r>
                            </m:e>
                            <m:sub>
                              <m:sSub>
                                <m:sSubPr>
                                  <m:ctrlPr>
                                    <a:rPr lang="en-IN" sz="1600" b="1" i="1">
                                      <a:latin typeface="Cambria Math" panose="02040503050406030204" pitchFamily="18" charset="0"/>
                                    </a:rPr>
                                  </m:ctrlPr>
                                </m:sSubPr>
                                <m:e>
                                  <m:r>
                                    <a:rPr lang="en-IN" sz="1600" b="1" i="1">
                                      <a:latin typeface="Cambria Math" panose="02040503050406030204" pitchFamily="18" charset="0"/>
                                    </a:rPr>
                                    <m:t>𝒉</m:t>
                                  </m:r>
                                </m:e>
                                <m:sub>
                                  <m:r>
                                    <a:rPr lang="en-IN" sz="1600" b="1" i="1">
                                      <a:latin typeface="Cambria Math" panose="02040503050406030204" pitchFamily="18" charset="0"/>
                                    </a:rPr>
                                    <m:t>𝒌</m:t>
                                  </m:r>
                                </m:sub>
                              </m:sSub>
                            </m:sub>
                          </m:sSub>
                        </m:den>
                      </m:f>
                      <m:r>
                        <a:rPr lang="en-IN" sz="1600" b="1" i="1">
                          <a:latin typeface="Cambria Math" panose="02040503050406030204" pitchFamily="18" charset="0"/>
                        </a:rPr>
                        <m:t>=</m:t>
                      </m:r>
                      <m:f>
                        <m:fPr>
                          <m:ctrlPr>
                            <a:rPr lang="en-IN" sz="1600" b="1" i="1">
                              <a:latin typeface="Cambria Math" panose="02040503050406030204" pitchFamily="18" charset="0"/>
                            </a:rPr>
                          </m:ctrlPr>
                        </m:fPr>
                        <m:num>
                          <m:r>
                            <a:rPr lang="en-IN" sz="1600" b="1" i="1">
                              <a:latin typeface="Cambria Math" panose="02040503050406030204" pitchFamily="18" charset="0"/>
                            </a:rPr>
                            <m:t>𝝏</m:t>
                          </m:r>
                          <m:sSub>
                            <m:sSubPr>
                              <m:ctrlPr>
                                <a:rPr lang="en-IN" sz="1600" b="1" i="1">
                                  <a:latin typeface="Cambria Math" panose="02040503050406030204" pitchFamily="18" charset="0"/>
                                </a:rPr>
                              </m:ctrlPr>
                            </m:sSubPr>
                            <m:e>
                              <m:r>
                                <a:rPr lang="en-IN" sz="1600" b="1" i="1">
                                  <a:latin typeface="Cambria Math" panose="02040503050406030204" pitchFamily="18" charset="0"/>
                                </a:rPr>
                                <m:t>𝑾</m:t>
                              </m:r>
                            </m:e>
                            <m:sub>
                              <m:r>
                                <a:rPr lang="en-IN" sz="1600" b="1" i="1" smtClean="0">
                                  <a:latin typeface="Cambria Math" panose="02040503050406030204" pitchFamily="18" charset="0"/>
                                </a:rPr>
                                <m:t>𝒀</m:t>
                              </m:r>
                            </m:sub>
                          </m:sSub>
                        </m:num>
                        <m:den>
                          <m:r>
                            <a:rPr lang="en-IN" sz="1600" b="1" i="1">
                              <a:latin typeface="Cambria Math" panose="02040503050406030204" pitchFamily="18" charset="0"/>
                            </a:rPr>
                            <m:t>𝝏</m:t>
                          </m:r>
                          <m:sSub>
                            <m:sSubPr>
                              <m:ctrlPr>
                                <a:rPr lang="en-IN" sz="1600" b="1" i="1">
                                  <a:latin typeface="Cambria Math" panose="02040503050406030204" pitchFamily="18" charset="0"/>
                                </a:rPr>
                              </m:ctrlPr>
                            </m:sSubPr>
                            <m:e>
                              <m:r>
                                <a:rPr lang="en-IN" sz="1600" b="1" i="1">
                                  <a:latin typeface="Cambria Math" panose="02040503050406030204" pitchFamily="18" charset="0"/>
                                </a:rPr>
                                <m:t>𝑾</m:t>
                              </m:r>
                            </m:e>
                            <m:sub>
                              <m:sSub>
                                <m:sSubPr>
                                  <m:ctrlPr>
                                    <a:rPr lang="en-IN" sz="1600" b="1" i="1">
                                      <a:latin typeface="Cambria Math" panose="02040503050406030204" pitchFamily="18" charset="0"/>
                                    </a:rPr>
                                  </m:ctrlPr>
                                </m:sSubPr>
                                <m:e>
                                  <m:r>
                                    <a:rPr lang="en-IN" sz="1600" b="1" i="1">
                                      <a:latin typeface="Cambria Math" panose="02040503050406030204" pitchFamily="18" charset="0"/>
                                    </a:rPr>
                                    <m:t>𝒉</m:t>
                                  </m:r>
                                </m:e>
                                <m:sub>
                                  <m:r>
                                    <a:rPr lang="en-IN" sz="1600" b="1" i="1">
                                      <a:latin typeface="Cambria Math" panose="02040503050406030204" pitchFamily="18" charset="0"/>
                                    </a:rPr>
                                    <m:t>𝒌</m:t>
                                  </m:r>
                                </m:sub>
                              </m:sSub>
                            </m:sub>
                          </m:sSub>
                        </m:den>
                      </m:f>
                      <m:r>
                        <a:rPr lang="en-IN" sz="1600" b="1" i="1">
                          <a:latin typeface="Cambria Math" panose="02040503050406030204" pitchFamily="18" charset="0"/>
                          <a:ea typeface="Cambria Math" panose="02040503050406030204" pitchFamily="18" charset="0"/>
                        </a:rPr>
                        <m:t>×</m:t>
                      </m:r>
                      <m:f>
                        <m:fPr>
                          <m:ctrlPr>
                            <a:rPr lang="en-IN" sz="1600" b="1" i="1">
                              <a:latin typeface="Cambria Math" panose="02040503050406030204" pitchFamily="18" charset="0"/>
                            </a:rPr>
                          </m:ctrlPr>
                        </m:fPr>
                        <m:num>
                          <m:r>
                            <a:rPr lang="en-IN" sz="1600" b="1" i="1">
                              <a:latin typeface="Cambria Math" panose="02040503050406030204" pitchFamily="18" charset="0"/>
                            </a:rPr>
                            <m:t>𝝏</m:t>
                          </m:r>
                          <m:sSub>
                            <m:sSubPr>
                              <m:ctrlPr>
                                <a:rPr lang="en-IN" sz="1600" b="1" i="1">
                                  <a:latin typeface="Cambria Math" panose="02040503050406030204" pitchFamily="18" charset="0"/>
                                </a:rPr>
                              </m:ctrlPr>
                            </m:sSubPr>
                            <m:e>
                              <m:r>
                                <a:rPr lang="en-IN" sz="1600" b="1" i="1">
                                  <a:latin typeface="Cambria Math" panose="02040503050406030204" pitchFamily="18" charset="0"/>
                                </a:rPr>
                                <m:t>𝑬</m:t>
                              </m:r>
                            </m:e>
                            <m:sub>
                              <m:r>
                                <a:rPr lang="en-IN" sz="1600" b="1" i="1" smtClean="0">
                                  <a:latin typeface="Cambria Math" panose="02040503050406030204" pitchFamily="18" charset="0"/>
                                </a:rPr>
                                <m:t>𝒀</m:t>
                              </m:r>
                            </m:sub>
                          </m:sSub>
                        </m:num>
                        <m:den>
                          <m:r>
                            <a:rPr lang="en-IN" sz="1600" b="1" i="1">
                              <a:latin typeface="Cambria Math" panose="02040503050406030204" pitchFamily="18" charset="0"/>
                            </a:rPr>
                            <m:t>𝝏</m:t>
                          </m:r>
                          <m:sSub>
                            <m:sSubPr>
                              <m:ctrlPr>
                                <a:rPr lang="en-IN" sz="1600" b="1" i="1">
                                  <a:latin typeface="Cambria Math" panose="02040503050406030204" pitchFamily="18" charset="0"/>
                                </a:rPr>
                              </m:ctrlPr>
                            </m:sSubPr>
                            <m:e>
                              <m:r>
                                <a:rPr lang="en-IN" sz="1600" b="1" i="1">
                                  <a:latin typeface="Cambria Math" panose="02040503050406030204" pitchFamily="18" charset="0"/>
                                </a:rPr>
                                <m:t>𝑾</m:t>
                              </m:r>
                            </m:e>
                            <m:sub>
                              <m:r>
                                <a:rPr lang="en-IN" sz="1600" b="1" i="1" smtClean="0">
                                  <a:latin typeface="Cambria Math" panose="02040503050406030204" pitchFamily="18" charset="0"/>
                                </a:rPr>
                                <m:t>𝒀</m:t>
                              </m:r>
                            </m:sub>
                          </m:sSub>
                        </m:den>
                      </m:f>
                    </m:oMath>
                  </m:oMathPara>
                </a14:m>
                <a:endParaRPr lang="en-IN" sz="1600" b="1" dirty="0"/>
              </a:p>
            </p:txBody>
          </p:sp>
        </mc:Choice>
        <mc:Fallback xmlns="">
          <p:sp>
            <p:nvSpPr>
              <p:cNvPr id="113" name="Rectangle 112">
                <a:extLst>
                  <a:ext uri="{FF2B5EF4-FFF2-40B4-BE49-F238E27FC236}">
                    <a16:creationId xmlns:a16="http://schemas.microsoft.com/office/drawing/2014/main" id="{4AA384B1-0617-BDFC-5F76-4C3B2DD57B62}"/>
                  </a:ext>
                </a:extLst>
              </p:cNvPr>
              <p:cNvSpPr>
                <a:spLocks noRot="1" noChangeAspect="1" noMove="1" noResize="1" noEditPoints="1" noAdjustHandles="1" noChangeArrowheads="1" noChangeShapeType="1" noTextEdit="1"/>
              </p:cNvSpPr>
              <p:nvPr/>
            </p:nvSpPr>
            <p:spPr>
              <a:xfrm>
                <a:off x="1446966" y="4412167"/>
                <a:ext cx="2189574" cy="63241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Rectangle 113">
                <a:extLst>
                  <a:ext uri="{FF2B5EF4-FFF2-40B4-BE49-F238E27FC236}">
                    <a16:creationId xmlns:a16="http://schemas.microsoft.com/office/drawing/2014/main" id="{AC9ACC70-A2A1-4CE0-9268-7638B879AAD2}"/>
                  </a:ext>
                </a:extLst>
              </p:cNvPr>
              <p:cNvSpPr/>
              <p:nvPr/>
            </p:nvSpPr>
            <p:spPr>
              <a:xfrm>
                <a:off x="6681356" y="5574582"/>
                <a:ext cx="600870" cy="537198"/>
              </a:xfrm>
              <a:prstGeom prst="rect">
                <a:avLst/>
              </a:prstGeom>
              <a:solidFill>
                <a:srgbClr val="002060">
                  <a:alpha val="30000"/>
                </a:srgbClr>
              </a:solid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1400" b="1" i="1" smtClean="0">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smtClean="0">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den>
                      </m:f>
                    </m:oMath>
                  </m:oMathPara>
                </a14:m>
                <a:endParaRPr lang="en-IN" sz="1400" dirty="0"/>
              </a:p>
            </p:txBody>
          </p:sp>
        </mc:Choice>
        <mc:Fallback xmlns="">
          <p:sp>
            <p:nvSpPr>
              <p:cNvPr id="114" name="Rectangle 113">
                <a:extLst>
                  <a:ext uri="{FF2B5EF4-FFF2-40B4-BE49-F238E27FC236}">
                    <a16:creationId xmlns:a16="http://schemas.microsoft.com/office/drawing/2014/main" id="{AC9ACC70-A2A1-4CE0-9268-7638B879AAD2}"/>
                  </a:ext>
                </a:extLst>
              </p:cNvPr>
              <p:cNvSpPr>
                <a:spLocks noRot="1" noChangeAspect="1" noMove="1" noResize="1" noEditPoints="1" noAdjustHandles="1" noChangeArrowheads="1" noChangeShapeType="1" noTextEdit="1"/>
              </p:cNvSpPr>
              <p:nvPr/>
            </p:nvSpPr>
            <p:spPr>
              <a:xfrm>
                <a:off x="6681356" y="5574582"/>
                <a:ext cx="600870" cy="537198"/>
              </a:xfrm>
              <a:prstGeom prst="rect">
                <a:avLst/>
              </a:prstGeom>
              <a:blipFill>
                <a:blip r:embed="rId6"/>
                <a:stretch>
                  <a:fillRect/>
                </a:stretch>
              </a:blipFill>
            </p:spPr>
            <p:txBody>
              <a:bodyPr/>
              <a:lstStyle/>
              <a:p>
                <a:r>
                  <a:rPr lang="en-IN">
                    <a:noFill/>
                  </a:rPr>
                  <a:t> </a:t>
                </a:r>
              </a:p>
            </p:txBody>
          </p:sp>
        </mc:Fallback>
      </mc:AlternateContent>
      <p:sp>
        <p:nvSpPr>
          <p:cNvPr id="115" name="Down Arrow 114"/>
          <p:cNvSpPr/>
          <p:nvPr/>
        </p:nvSpPr>
        <p:spPr>
          <a:xfrm>
            <a:off x="5561862" y="5448343"/>
            <a:ext cx="175261" cy="246380"/>
          </a:xfrm>
          <a:prstGeom prst="downArrow">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16" name="TextBox 91">
                <a:extLst>
                  <a:ext uri="{FF2B5EF4-FFF2-40B4-BE49-F238E27FC236}">
                    <a16:creationId xmlns:a16="http://schemas.microsoft.com/office/drawing/2014/main" id="{17140076-35EE-FC9C-9B3E-EDFDB8FD6B2F}"/>
                  </a:ext>
                </a:extLst>
              </p:cNvPr>
              <p:cNvSpPr txBox="1"/>
              <p:nvPr/>
            </p:nvSpPr>
            <p:spPr>
              <a:xfrm>
                <a:off x="4675962" y="5536623"/>
                <a:ext cx="1844168" cy="5761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IN" sz="2000" i="1" smtClean="0">
                          <a:latin typeface="Cambria Math" panose="02040503050406030204" pitchFamily="18" charset="0"/>
                        </a:rPr>
                        <m:t>𝐸</m:t>
                      </m:r>
                      <m:r>
                        <a:rPr lang="en-IN" sz="2000" i="1" smtClean="0">
                          <a:latin typeface="Cambria Math" panose="02040503050406030204" pitchFamily="18" charset="0"/>
                        </a:rPr>
                        <m:t>=</m:t>
                      </m:r>
                      <m:f>
                        <m:fPr>
                          <m:ctrlPr>
                            <a:rPr lang="en-IN" sz="2000" i="1">
                              <a:latin typeface="Cambria Math" panose="02040503050406030204" pitchFamily="18" charset="0"/>
                            </a:rPr>
                          </m:ctrlPr>
                        </m:fPr>
                        <m:num>
                          <m:r>
                            <a:rPr lang="en-IN" sz="2000" i="1">
                              <a:latin typeface="Cambria Math" panose="02040503050406030204" pitchFamily="18" charset="0"/>
                            </a:rPr>
                            <m:t>1</m:t>
                          </m:r>
                        </m:num>
                        <m:den>
                          <m:r>
                            <a:rPr lang="en-IN" sz="2000" i="1">
                              <a:latin typeface="Cambria Math" panose="02040503050406030204" pitchFamily="18" charset="0"/>
                            </a:rPr>
                            <m:t>2</m:t>
                          </m:r>
                        </m:den>
                      </m:f>
                      <m:sSup>
                        <m:sSupPr>
                          <m:ctrlPr>
                            <a:rPr lang="en-IN" sz="2000" i="1" smtClean="0">
                              <a:latin typeface="Cambria Math" panose="02040503050406030204" pitchFamily="18" charset="0"/>
                            </a:rPr>
                          </m:ctrlPr>
                        </m:sSupPr>
                        <m:e>
                          <m:r>
                            <a:rPr lang="en-IN" sz="2000" i="1">
                              <a:latin typeface="Cambria Math" panose="02040503050406030204" pitchFamily="18" charset="0"/>
                            </a:rPr>
                            <m:t>(</m:t>
                          </m:r>
                          <m:r>
                            <a:rPr lang="en-IN" sz="2000" i="1">
                              <a:latin typeface="Cambria Math" panose="02040503050406030204" pitchFamily="18" charset="0"/>
                            </a:rPr>
                            <m:t>𝐷</m:t>
                          </m:r>
                          <m:r>
                            <a:rPr lang="en-IN" sz="2000" i="1">
                              <a:latin typeface="Cambria Math" panose="02040503050406030204" pitchFamily="18" charset="0"/>
                            </a:rPr>
                            <m:t>−</m:t>
                          </m:r>
                          <m:r>
                            <a:rPr lang="en-IN" sz="2000" i="1">
                              <a:latin typeface="Cambria Math" panose="02040503050406030204" pitchFamily="18" charset="0"/>
                            </a:rPr>
                            <m:t>𝑑</m:t>
                          </m:r>
                          <m:r>
                            <a:rPr lang="en-IN" sz="2000" i="1">
                              <a:latin typeface="Cambria Math" panose="02040503050406030204" pitchFamily="18" charset="0"/>
                            </a:rPr>
                            <m:t>)</m:t>
                          </m:r>
                        </m:e>
                        <m:sup>
                          <m:r>
                            <a:rPr lang="en-IN" sz="2000" b="0" i="1" smtClean="0">
                              <a:latin typeface="Cambria Math" panose="02040503050406030204" pitchFamily="18" charset="0"/>
                            </a:rPr>
                            <m:t>2</m:t>
                          </m:r>
                        </m:sup>
                      </m:sSup>
                    </m:oMath>
                  </m:oMathPara>
                </a14:m>
                <a:endParaRPr lang="en-IN" sz="2000" dirty="0"/>
              </a:p>
            </p:txBody>
          </p:sp>
        </mc:Choice>
        <mc:Fallback xmlns="">
          <p:sp>
            <p:nvSpPr>
              <p:cNvPr id="116" name="TextBox 91">
                <a:extLst>
                  <a:ext uri="{FF2B5EF4-FFF2-40B4-BE49-F238E27FC236}">
                    <a16:creationId xmlns:a16="http://schemas.microsoft.com/office/drawing/2014/main" id="{17140076-35EE-FC9C-9B3E-EDFDB8FD6B2F}"/>
                  </a:ext>
                </a:extLst>
              </p:cNvPr>
              <p:cNvSpPr txBox="1">
                <a:spLocks noRot="1" noChangeAspect="1" noMove="1" noResize="1" noEditPoints="1" noAdjustHandles="1" noChangeArrowheads="1" noChangeShapeType="1" noTextEdit="1"/>
              </p:cNvSpPr>
              <p:nvPr/>
            </p:nvSpPr>
            <p:spPr>
              <a:xfrm>
                <a:off x="4675962" y="5536623"/>
                <a:ext cx="1844168" cy="576183"/>
              </a:xfrm>
              <a:prstGeom prst="rect">
                <a:avLst/>
              </a:prstGeom>
              <a:blipFill>
                <a:blip r:embed="rId7"/>
                <a:stretch>
                  <a:fillRect/>
                </a:stretch>
              </a:blipFill>
            </p:spPr>
            <p:txBody>
              <a:bodyPr/>
              <a:lstStyle/>
              <a:p>
                <a:r>
                  <a:rPr lang="en-IN">
                    <a:noFill/>
                  </a:rPr>
                  <a:t> </a:t>
                </a:r>
              </a:p>
            </p:txBody>
          </p:sp>
        </mc:Fallback>
      </mc:AlternateContent>
      <p:sp>
        <p:nvSpPr>
          <p:cNvPr id="117" name="TextBox 90">
            <a:extLst>
              <a:ext uri="{FF2B5EF4-FFF2-40B4-BE49-F238E27FC236}">
                <a16:creationId xmlns:a16="http://schemas.microsoft.com/office/drawing/2014/main" id="{70457DF1-0375-A88F-9692-486C3E81F8D3}"/>
              </a:ext>
            </a:extLst>
          </p:cNvPr>
          <p:cNvSpPr txBox="1"/>
          <p:nvPr/>
        </p:nvSpPr>
        <p:spPr>
          <a:xfrm>
            <a:off x="2599028" y="6250107"/>
            <a:ext cx="7123294"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dirty="0">
                <a:latin typeface="Arial Narrow" panose="020B0606020202030204" pitchFamily="34" charset="0"/>
              </a:rPr>
              <a:t>Weight Updation in a Backward direction (Backpropagation) using chain rule</a:t>
            </a:r>
          </a:p>
        </p:txBody>
      </p:sp>
      <mc:AlternateContent xmlns:mc="http://schemas.openxmlformats.org/markup-compatibility/2006">
        <mc:Choice xmlns:a14="http://schemas.microsoft.com/office/drawing/2010/main" Requires="a14">
          <p:sp>
            <p:nvSpPr>
              <p:cNvPr id="118" name="TextBox 97">
                <a:extLst>
                  <a:ext uri="{FF2B5EF4-FFF2-40B4-BE49-F238E27FC236}">
                    <a16:creationId xmlns:a16="http://schemas.microsoft.com/office/drawing/2014/main" id="{D0720F64-0CFB-E7AE-5264-10505D1DADBE}"/>
                  </a:ext>
                </a:extLst>
              </p:cNvPr>
              <p:cNvSpPr txBox="1"/>
              <p:nvPr/>
            </p:nvSpPr>
            <p:spPr>
              <a:xfrm>
                <a:off x="7632381" y="4793566"/>
                <a:ext cx="3799053" cy="63722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Sup>
                        <m:sSubSupPr>
                          <m:ctrlPr>
                            <a:rPr lang="en-IN" sz="2000" b="0" i="1" smtClean="0">
                              <a:solidFill>
                                <a:srgbClr val="C00000"/>
                              </a:solidFill>
                              <a:latin typeface="Cambria Math" panose="02040503050406030204" pitchFamily="18" charset="0"/>
                            </a:rPr>
                          </m:ctrlPr>
                        </m:sSubSupPr>
                        <m:e>
                          <m:r>
                            <a:rPr lang="en-IN" sz="2000" b="0" i="1" smtClean="0">
                              <a:solidFill>
                                <a:srgbClr val="C00000"/>
                              </a:solidFill>
                              <a:latin typeface="Cambria Math" panose="02040503050406030204" pitchFamily="18" charset="0"/>
                            </a:rPr>
                            <m:t>𝑤</m:t>
                          </m:r>
                        </m:e>
                        <m:sub>
                          <m:r>
                            <a:rPr lang="en-IN" sz="2000" b="0" i="1" smtClean="0">
                              <a:solidFill>
                                <a:srgbClr val="C00000"/>
                              </a:solidFill>
                              <a:latin typeface="Cambria Math" panose="02040503050406030204" pitchFamily="18" charset="0"/>
                            </a:rPr>
                            <m:t>𝑒𝑖</m:t>
                          </m:r>
                        </m:sub>
                        <m:sup>
                          <m:r>
                            <a:rPr lang="en-IN" sz="2000" b="0" i="1" smtClean="0">
                              <a:solidFill>
                                <a:srgbClr val="C00000"/>
                              </a:solidFill>
                              <a:latin typeface="Cambria Math" panose="02040503050406030204" pitchFamily="18" charset="0"/>
                            </a:rPr>
                            <m:t>𝑘</m:t>
                          </m:r>
                          <m:r>
                            <a:rPr lang="en-IN" sz="2000" b="0" i="1" smtClean="0">
                              <a:solidFill>
                                <a:srgbClr val="C00000"/>
                              </a:solidFill>
                              <a:latin typeface="Cambria Math" panose="02040503050406030204" pitchFamily="18" charset="0"/>
                            </a:rPr>
                            <m:t>−1</m:t>
                          </m:r>
                        </m:sup>
                      </m:sSubSup>
                      <m:r>
                        <a:rPr lang="en-IN" sz="2000" b="0" i="1" smtClean="0">
                          <a:solidFill>
                            <a:srgbClr val="C00000"/>
                          </a:solidFill>
                          <a:latin typeface="Cambria Math" panose="02040503050406030204" pitchFamily="18" charset="0"/>
                        </a:rPr>
                        <m:t>(</m:t>
                      </m:r>
                      <m:r>
                        <a:rPr lang="en-IN" sz="2000" b="0" i="1" smtClean="0">
                          <a:solidFill>
                            <a:srgbClr val="C00000"/>
                          </a:solidFill>
                          <a:latin typeface="Cambria Math" panose="02040503050406030204" pitchFamily="18" charset="0"/>
                        </a:rPr>
                        <m:t>𝑡</m:t>
                      </m:r>
                      <m:r>
                        <a:rPr lang="en-IN" sz="2000" b="0" i="1" smtClean="0">
                          <a:solidFill>
                            <a:srgbClr val="C00000"/>
                          </a:solidFill>
                          <a:latin typeface="Cambria Math" panose="02040503050406030204" pitchFamily="18" charset="0"/>
                        </a:rPr>
                        <m:t>+1)=</m:t>
                      </m:r>
                      <m:sSubSup>
                        <m:sSubSupPr>
                          <m:ctrlPr>
                            <a:rPr lang="en-IN" sz="2000" b="0" i="1" smtClean="0">
                              <a:solidFill>
                                <a:srgbClr val="C00000"/>
                              </a:solidFill>
                              <a:latin typeface="Cambria Math" panose="02040503050406030204" pitchFamily="18" charset="0"/>
                            </a:rPr>
                          </m:ctrlPr>
                        </m:sSubSupPr>
                        <m:e>
                          <m:r>
                            <a:rPr lang="en-IN" sz="2000" b="0" i="1" smtClean="0">
                              <a:solidFill>
                                <a:srgbClr val="C00000"/>
                              </a:solidFill>
                              <a:latin typeface="Cambria Math" panose="02040503050406030204" pitchFamily="18" charset="0"/>
                            </a:rPr>
                            <m:t>𝑤</m:t>
                          </m:r>
                        </m:e>
                        <m:sub>
                          <m:r>
                            <a:rPr lang="en-IN" sz="2000" b="0" i="1" smtClean="0">
                              <a:solidFill>
                                <a:srgbClr val="C00000"/>
                              </a:solidFill>
                              <a:latin typeface="Cambria Math" panose="02040503050406030204" pitchFamily="18" charset="0"/>
                            </a:rPr>
                            <m:t>𝑒𝑖</m:t>
                          </m:r>
                        </m:sub>
                        <m:sup>
                          <m:r>
                            <a:rPr lang="en-IN" sz="2000" b="0" i="1" smtClean="0">
                              <a:solidFill>
                                <a:srgbClr val="C00000"/>
                              </a:solidFill>
                              <a:latin typeface="Cambria Math" panose="02040503050406030204" pitchFamily="18" charset="0"/>
                            </a:rPr>
                            <m:t>𝑘</m:t>
                          </m:r>
                          <m:r>
                            <a:rPr lang="en-IN" sz="2000" b="0" i="1" smtClean="0">
                              <a:solidFill>
                                <a:srgbClr val="C00000"/>
                              </a:solidFill>
                              <a:latin typeface="Cambria Math" panose="02040503050406030204" pitchFamily="18" charset="0"/>
                            </a:rPr>
                            <m:t>−1</m:t>
                          </m:r>
                        </m:sup>
                      </m:sSubSup>
                      <m:d>
                        <m:dPr>
                          <m:ctrlPr>
                            <a:rPr lang="en-IN" sz="2000" b="0" i="1" smtClean="0">
                              <a:solidFill>
                                <a:srgbClr val="C00000"/>
                              </a:solidFill>
                              <a:latin typeface="Cambria Math" panose="02040503050406030204" pitchFamily="18" charset="0"/>
                            </a:rPr>
                          </m:ctrlPr>
                        </m:dPr>
                        <m:e>
                          <m:r>
                            <a:rPr lang="en-IN" sz="2000" b="0" i="1" smtClean="0">
                              <a:solidFill>
                                <a:srgbClr val="C00000"/>
                              </a:solidFill>
                              <a:latin typeface="Cambria Math" panose="02040503050406030204" pitchFamily="18" charset="0"/>
                            </a:rPr>
                            <m:t>𝑡</m:t>
                          </m:r>
                        </m:e>
                      </m:d>
                      <m:r>
                        <a:rPr lang="en-IN" sz="2000" b="0" i="1" smtClean="0">
                          <a:solidFill>
                            <a:srgbClr val="C00000"/>
                          </a:solidFill>
                          <a:latin typeface="Cambria Math" panose="02040503050406030204" pitchFamily="18" charset="0"/>
                        </a:rPr>
                        <m:t>−</m:t>
                      </m:r>
                      <m:r>
                        <a:rPr lang="en-IN" sz="2000" b="0" i="1" smtClean="0">
                          <a:solidFill>
                            <a:srgbClr val="C00000"/>
                          </a:solidFill>
                          <a:latin typeface="Cambria Math" panose="02040503050406030204" pitchFamily="18" charset="0"/>
                        </a:rPr>
                        <m:t>𝜂</m:t>
                      </m:r>
                      <m:f>
                        <m:fPr>
                          <m:ctrlPr>
                            <a:rPr lang="en-IN" sz="2000" i="1" smtClean="0">
                              <a:solidFill>
                                <a:srgbClr val="C00000"/>
                              </a:solidFill>
                              <a:latin typeface="Cambria Math" panose="02040503050406030204" pitchFamily="18" charset="0"/>
                            </a:rPr>
                          </m:ctrlPr>
                        </m:fPr>
                        <m:num>
                          <m:r>
                            <a:rPr lang="en-IN" sz="2000" i="1" smtClean="0">
                              <a:solidFill>
                                <a:srgbClr val="C00000"/>
                              </a:solidFill>
                              <a:latin typeface="Cambria Math" panose="02040503050406030204" pitchFamily="18" charset="0"/>
                            </a:rPr>
                            <m:t>𝜕</m:t>
                          </m:r>
                          <m:sSub>
                            <m:sSubPr>
                              <m:ctrlPr>
                                <a:rPr lang="en-IN" sz="2000" i="1" smtClean="0">
                                  <a:solidFill>
                                    <a:srgbClr val="C00000"/>
                                  </a:solidFill>
                                  <a:latin typeface="Cambria Math" panose="02040503050406030204" pitchFamily="18" charset="0"/>
                                </a:rPr>
                              </m:ctrlPr>
                            </m:sSubPr>
                            <m:e>
                              <m:r>
                                <a:rPr lang="en-IN" sz="2000" b="0" i="1" smtClean="0">
                                  <a:solidFill>
                                    <a:srgbClr val="C00000"/>
                                  </a:solidFill>
                                  <a:latin typeface="Cambria Math" panose="02040503050406030204" pitchFamily="18" charset="0"/>
                                </a:rPr>
                                <m:t>𝐸</m:t>
                              </m:r>
                            </m:e>
                            <m:sub>
                              <m:r>
                                <a:rPr lang="en-IN" sz="2000" b="0" i="1" smtClean="0">
                                  <a:solidFill>
                                    <a:srgbClr val="C00000"/>
                                  </a:solidFill>
                                  <a:latin typeface="Cambria Math" panose="02040503050406030204" pitchFamily="18" charset="0"/>
                                </a:rPr>
                                <m:t>𝑌</m:t>
                              </m:r>
                            </m:sub>
                          </m:sSub>
                        </m:num>
                        <m:den>
                          <m:r>
                            <a:rPr lang="en-IN" sz="2000" i="1" smtClean="0">
                              <a:solidFill>
                                <a:srgbClr val="C00000"/>
                              </a:solidFill>
                              <a:latin typeface="Cambria Math" panose="02040503050406030204" pitchFamily="18" charset="0"/>
                            </a:rPr>
                            <m:t>𝜕</m:t>
                          </m:r>
                          <m:sSub>
                            <m:sSubPr>
                              <m:ctrlPr>
                                <a:rPr lang="en-IN" sz="2000" i="1" smtClean="0">
                                  <a:solidFill>
                                    <a:srgbClr val="C00000"/>
                                  </a:solidFill>
                                  <a:latin typeface="Cambria Math" panose="02040503050406030204" pitchFamily="18" charset="0"/>
                                </a:rPr>
                              </m:ctrlPr>
                            </m:sSubPr>
                            <m:e>
                              <m:r>
                                <a:rPr lang="en-IN" sz="2000" b="0" i="1" smtClean="0">
                                  <a:solidFill>
                                    <a:srgbClr val="C00000"/>
                                  </a:solidFill>
                                  <a:latin typeface="Cambria Math" panose="02040503050406030204" pitchFamily="18" charset="0"/>
                                </a:rPr>
                                <m:t>h</m:t>
                              </m:r>
                            </m:e>
                            <m:sub>
                              <m:r>
                                <a:rPr lang="en-IN" sz="2000" b="0" i="1" smtClean="0">
                                  <a:solidFill>
                                    <a:srgbClr val="C00000"/>
                                  </a:solidFill>
                                  <a:latin typeface="Cambria Math" panose="02040503050406030204" pitchFamily="18" charset="0"/>
                                </a:rPr>
                                <m:t>𝑘</m:t>
                              </m:r>
                              <m:r>
                                <a:rPr lang="en-IN" sz="2000" b="0" i="1" smtClean="0">
                                  <a:solidFill>
                                    <a:srgbClr val="C00000"/>
                                  </a:solidFill>
                                  <a:latin typeface="Cambria Math" panose="02040503050406030204" pitchFamily="18" charset="0"/>
                                </a:rPr>
                                <m:t>−1</m:t>
                              </m:r>
                            </m:sub>
                          </m:sSub>
                        </m:den>
                      </m:f>
                    </m:oMath>
                  </m:oMathPara>
                </a14:m>
                <a:endParaRPr lang="en-IN" sz="2000" dirty="0"/>
              </a:p>
            </p:txBody>
          </p:sp>
        </mc:Choice>
        <mc:Fallback>
          <p:sp>
            <p:nvSpPr>
              <p:cNvPr id="118" name="TextBox 97">
                <a:extLst>
                  <a:ext uri="{FF2B5EF4-FFF2-40B4-BE49-F238E27FC236}">
                    <a16:creationId xmlns:a16="http://schemas.microsoft.com/office/drawing/2014/main" id="{D0720F64-0CFB-E7AE-5264-10505D1DADBE}"/>
                  </a:ext>
                </a:extLst>
              </p:cNvPr>
              <p:cNvSpPr txBox="1">
                <a:spLocks noRot="1" noChangeAspect="1" noMove="1" noResize="1" noEditPoints="1" noAdjustHandles="1" noChangeArrowheads="1" noChangeShapeType="1" noTextEdit="1"/>
              </p:cNvSpPr>
              <p:nvPr/>
            </p:nvSpPr>
            <p:spPr>
              <a:xfrm>
                <a:off x="7632381" y="4793566"/>
                <a:ext cx="3799053" cy="637226"/>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4530833" y="1187906"/>
                <a:ext cx="3809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11</m:t>
                          </m:r>
                        </m:sub>
                      </m:sSub>
                    </m:oMath>
                  </m:oMathPara>
                </a14:m>
                <a:endParaRPr lang="en-IN" dirty="0"/>
              </a:p>
            </p:txBody>
          </p:sp>
        </mc:Choice>
        <mc:Fallback xmlns="">
          <p:sp>
            <p:nvSpPr>
              <p:cNvPr id="4" name="TextBox 3"/>
              <p:cNvSpPr txBox="1">
                <a:spLocks noRot="1" noChangeAspect="1" noMove="1" noResize="1" noEditPoints="1" noAdjustHandles="1" noChangeArrowheads="1" noChangeShapeType="1" noTextEdit="1"/>
              </p:cNvSpPr>
              <p:nvPr/>
            </p:nvSpPr>
            <p:spPr>
              <a:xfrm>
                <a:off x="4530833" y="1187906"/>
                <a:ext cx="380938" cy="276999"/>
              </a:xfrm>
              <a:prstGeom prst="rect">
                <a:avLst/>
              </a:prstGeom>
              <a:blipFill>
                <a:blip r:embed="rId9"/>
                <a:stretch>
                  <a:fillRect l="-15873" r="-4762"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p:cNvSpPr txBox="1"/>
              <p:nvPr/>
            </p:nvSpPr>
            <p:spPr>
              <a:xfrm>
                <a:off x="5458671" y="1182168"/>
                <a:ext cx="3795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1</m:t>
                          </m:r>
                          <m:r>
                            <a:rPr lang="en-IN" b="0" i="1" smtClean="0">
                              <a:latin typeface="Cambria Math" panose="02040503050406030204" pitchFamily="18" charset="0"/>
                            </a:rPr>
                            <m:t>𝑒</m:t>
                          </m:r>
                        </m:sub>
                      </m:sSub>
                    </m:oMath>
                  </m:oMathPara>
                </a14:m>
                <a:endParaRPr lang="en-IN" dirty="0"/>
              </a:p>
            </p:txBody>
          </p:sp>
        </mc:Choice>
        <mc:Fallback xmlns="">
          <p:sp>
            <p:nvSpPr>
              <p:cNvPr id="85" name="TextBox 84"/>
              <p:cNvSpPr txBox="1">
                <a:spLocks noRot="1" noChangeAspect="1" noMove="1" noResize="1" noEditPoints="1" noAdjustHandles="1" noChangeArrowheads="1" noChangeShapeType="1" noTextEdit="1"/>
              </p:cNvSpPr>
              <p:nvPr/>
            </p:nvSpPr>
            <p:spPr>
              <a:xfrm>
                <a:off x="5458671" y="1182168"/>
                <a:ext cx="379591" cy="276999"/>
              </a:xfrm>
              <a:prstGeom prst="rect">
                <a:avLst/>
              </a:prstGeom>
              <a:blipFill>
                <a:blip r:embed="rId10"/>
                <a:stretch>
                  <a:fillRect l="-14286" r="-4762"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p:cNvSpPr txBox="1"/>
              <p:nvPr/>
            </p:nvSpPr>
            <p:spPr>
              <a:xfrm>
                <a:off x="6322158" y="1192070"/>
                <a:ext cx="39504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1</m:t>
                          </m:r>
                          <m:r>
                            <a:rPr lang="en-IN" b="0" i="1" smtClean="0">
                              <a:latin typeface="Cambria Math" panose="02040503050406030204" pitchFamily="18" charset="0"/>
                            </a:rPr>
                            <m:t>𝑛</m:t>
                          </m:r>
                        </m:sub>
                      </m:sSub>
                    </m:oMath>
                  </m:oMathPara>
                </a14:m>
                <a:endParaRPr lang="en-IN" dirty="0"/>
              </a:p>
            </p:txBody>
          </p:sp>
        </mc:Choice>
        <mc:Fallback xmlns="">
          <p:sp>
            <p:nvSpPr>
              <p:cNvPr id="86" name="TextBox 85"/>
              <p:cNvSpPr txBox="1">
                <a:spLocks noRot="1" noChangeAspect="1" noMove="1" noResize="1" noEditPoints="1" noAdjustHandles="1" noChangeArrowheads="1" noChangeShapeType="1" noTextEdit="1"/>
              </p:cNvSpPr>
              <p:nvPr/>
            </p:nvSpPr>
            <p:spPr>
              <a:xfrm>
                <a:off x="6322158" y="1192070"/>
                <a:ext cx="395045" cy="276999"/>
              </a:xfrm>
              <a:prstGeom prst="rect">
                <a:avLst/>
              </a:prstGeom>
              <a:blipFill>
                <a:blip r:embed="rId11"/>
                <a:stretch>
                  <a:fillRect l="-13846" r="-6154"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p:cNvSpPr txBox="1"/>
              <p:nvPr/>
            </p:nvSpPr>
            <p:spPr>
              <a:xfrm>
                <a:off x="4529363" y="1902884"/>
                <a:ext cx="3862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21</m:t>
                          </m:r>
                        </m:sub>
                      </m:sSub>
                    </m:oMath>
                  </m:oMathPara>
                </a14:m>
                <a:endParaRPr lang="en-IN" dirty="0"/>
              </a:p>
            </p:txBody>
          </p:sp>
        </mc:Choice>
        <mc:Fallback xmlns="">
          <p:sp>
            <p:nvSpPr>
              <p:cNvPr id="87" name="TextBox 86"/>
              <p:cNvSpPr txBox="1">
                <a:spLocks noRot="1" noChangeAspect="1" noMove="1" noResize="1" noEditPoints="1" noAdjustHandles="1" noChangeArrowheads="1" noChangeShapeType="1" noTextEdit="1"/>
              </p:cNvSpPr>
              <p:nvPr/>
            </p:nvSpPr>
            <p:spPr>
              <a:xfrm>
                <a:off x="4529363" y="1902884"/>
                <a:ext cx="386260" cy="276999"/>
              </a:xfrm>
              <a:prstGeom prst="rect">
                <a:avLst/>
              </a:prstGeom>
              <a:blipFill>
                <a:blip r:embed="rId12"/>
                <a:stretch>
                  <a:fillRect l="-14286" r="-7937" b="-152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p:cNvSpPr txBox="1"/>
              <p:nvPr/>
            </p:nvSpPr>
            <p:spPr>
              <a:xfrm>
                <a:off x="5438057" y="1918443"/>
                <a:ext cx="3849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2</m:t>
                          </m:r>
                          <m:r>
                            <a:rPr lang="en-IN" b="0" i="1" smtClean="0">
                              <a:latin typeface="Cambria Math" panose="02040503050406030204" pitchFamily="18" charset="0"/>
                            </a:rPr>
                            <m:t>𝑒</m:t>
                          </m:r>
                        </m:sub>
                      </m:sSub>
                    </m:oMath>
                  </m:oMathPara>
                </a14:m>
                <a:endParaRPr lang="en-IN" dirty="0"/>
              </a:p>
            </p:txBody>
          </p:sp>
        </mc:Choice>
        <mc:Fallback xmlns="">
          <p:sp>
            <p:nvSpPr>
              <p:cNvPr id="88" name="TextBox 87"/>
              <p:cNvSpPr txBox="1">
                <a:spLocks noRot="1" noChangeAspect="1" noMove="1" noResize="1" noEditPoints="1" noAdjustHandles="1" noChangeArrowheads="1" noChangeShapeType="1" noTextEdit="1"/>
              </p:cNvSpPr>
              <p:nvPr/>
            </p:nvSpPr>
            <p:spPr>
              <a:xfrm>
                <a:off x="5438057" y="1918443"/>
                <a:ext cx="384914" cy="276999"/>
              </a:xfrm>
              <a:prstGeom prst="rect">
                <a:avLst/>
              </a:prstGeom>
              <a:blipFill>
                <a:blip r:embed="rId13"/>
                <a:stretch>
                  <a:fillRect l="-14286" r="-6349"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p:cNvSpPr txBox="1"/>
              <p:nvPr/>
            </p:nvSpPr>
            <p:spPr>
              <a:xfrm>
                <a:off x="6314565" y="1899331"/>
                <a:ext cx="4003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2</m:t>
                          </m:r>
                          <m:r>
                            <a:rPr lang="en-IN" b="0" i="1" smtClean="0">
                              <a:latin typeface="Cambria Math" panose="02040503050406030204" pitchFamily="18" charset="0"/>
                            </a:rPr>
                            <m:t>𝑛</m:t>
                          </m:r>
                        </m:sub>
                      </m:sSub>
                    </m:oMath>
                  </m:oMathPara>
                </a14:m>
                <a:endParaRPr lang="en-IN" dirty="0"/>
              </a:p>
            </p:txBody>
          </p:sp>
        </mc:Choice>
        <mc:Fallback xmlns="">
          <p:sp>
            <p:nvSpPr>
              <p:cNvPr id="89" name="TextBox 88"/>
              <p:cNvSpPr txBox="1">
                <a:spLocks noRot="1" noChangeAspect="1" noMove="1" noResize="1" noEditPoints="1" noAdjustHandles="1" noChangeArrowheads="1" noChangeShapeType="1" noTextEdit="1"/>
              </p:cNvSpPr>
              <p:nvPr/>
            </p:nvSpPr>
            <p:spPr>
              <a:xfrm>
                <a:off x="6314565" y="1899331"/>
                <a:ext cx="400366" cy="276999"/>
              </a:xfrm>
              <a:prstGeom prst="rect">
                <a:avLst/>
              </a:prstGeom>
              <a:blipFill>
                <a:blip r:embed="rId14"/>
                <a:stretch>
                  <a:fillRect l="-13636" r="-4545"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p:cNvSpPr txBox="1"/>
              <p:nvPr/>
            </p:nvSpPr>
            <p:spPr>
              <a:xfrm>
                <a:off x="4033678" y="1187906"/>
                <a:ext cx="2831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1</m:t>
                          </m:r>
                        </m:sub>
                      </m:sSub>
                    </m:oMath>
                  </m:oMathPara>
                </a14:m>
                <a:endParaRPr lang="en-IN" dirty="0"/>
              </a:p>
            </p:txBody>
          </p:sp>
        </mc:Choice>
        <mc:Fallback xmlns="">
          <p:sp>
            <p:nvSpPr>
              <p:cNvPr id="90" name="TextBox 89"/>
              <p:cNvSpPr txBox="1">
                <a:spLocks noRot="1" noChangeAspect="1" noMove="1" noResize="1" noEditPoints="1" noAdjustHandles="1" noChangeArrowheads="1" noChangeShapeType="1" noTextEdit="1"/>
              </p:cNvSpPr>
              <p:nvPr/>
            </p:nvSpPr>
            <p:spPr>
              <a:xfrm>
                <a:off x="4033678" y="1187906"/>
                <a:ext cx="283154" cy="276999"/>
              </a:xfrm>
              <a:prstGeom prst="rect">
                <a:avLst/>
              </a:prstGeom>
              <a:blipFill>
                <a:blip r:embed="rId15"/>
                <a:stretch>
                  <a:fillRect l="-21739" r="-6522"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TextBox 90"/>
              <p:cNvSpPr txBox="1"/>
              <p:nvPr/>
            </p:nvSpPr>
            <p:spPr>
              <a:xfrm>
                <a:off x="4056627" y="1906417"/>
                <a:ext cx="2884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2</m:t>
                          </m:r>
                        </m:sub>
                      </m:sSub>
                    </m:oMath>
                  </m:oMathPara>
                </a14:m>
                <a:endParaRPr lang="en-IN" dirty="0"/>
              </a:p>
            </p:txBody>
          </p:sp>
        </mc:Choice>
        <mc:Fallback xmlns="">
          <p:sp>
            <p:nvSpPr>
              <p:cNvPr id="91" name="TextBox 90"/>
              <p:cNvSpPr txBox="1">
                <a:spLocks noRot="1" noChangeAspect="1" noMove="1" noResize="1" noEditPoints="1" noAdjustHandles="1" noChangeArrowheads="1" noChangeShapeType="1" noTextEdit="1"/>
              </p:cNvSpPr>
              <p:nvPr/>
            </p:nvSpPr>
            <p:spPr>
              <a:xfrm>
                <a:off x="4056627" y="1906417"/>
                <a:ext cx="288477" cy="276999"/>
              </a:xfrm>
              <a:prstGeom prst="rect">
                <a:avLst/>
              </a:prstGeom>
              <a:blipFill>
                <a:blip r:embed="rId16"/>
                <a:stretch>
                  <a:fillRect l="-20833" r="-6250"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p:cNvSpPr txBox="1"/>
              <p:nvPr/>
            </p:nvSpPr>
            <p:spPr>
              <a:xfrm>
                <a:off x="3917617" y="3236648"/>
                <a:ext cx="5178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𝑘</m:t>
                          </m:r>
                          <m:r>
                            <a:rPr lang="en-IN" b="0" i="1" smtClean="0">
                              <a:latin typeface="Cambria Math" panose="02040503050406030204" pitchFamily="18" charset="0"/>
                            </a:rPr>
                            <m:t>−1</m:t>
                          </m:r>
                        </m:sub>
                      </m:sSub>
                    </m:oMath>
                  </m:oMathPara>
                </a14:m>
                <a:endParaRPr lang="en-IN" dirty="0"/>
              </a:p>
            </p:txBody>
          </p:sp>
        </mc:Choice>
        <mc:Fallback xmlns="">
          <p:sp>
            <p:nvSpPr>
              <p:cNvPr id="92" name="TextBox 91"/>
              <p:cNvSpPr txBox="1">
                <a:spLocks noRot="1" noChangeAspect="1" noMove="1" noResize="1" noEditPoints="1" noAdjustHandles="1" noChangeArrowheads="1" noChangeShapeType="1" noTextEdit="1"/>
              </p:cNvSpPr>
              <p:nvPr/>
            </p:nvSpPr>
            <p:spPr>
              <a:xfrm>
                <a:off x="3917617" y="3236648"/>
                <a:ext cx="517834" cy="276999"/>
              </a:xfrm>
              <a:prstGeom prst="rect">
                <a:avLst/>
              </a:prstGeom>
              <a:blipFill>
                <a:blip r:embed="rId17"/>
                <a:stretch>
                  <a:fillRect l="-10588" r="-3529" b="-17778"/>
                </a:stretch>
              </a:blipFill>
            </p:spPr>
            <p:txBody>
              <a:bodyPr/>
              <a:lstStyle/>
              <a:p>
                <a:r>
                  <a:rPr lang="en-IN">
                    <a:noFill/>
                  </a:rPr>
                  <a:t> </a:t>
                </a:r>
              </a:p>
            </p:txBody>
          </p:sp>
        </mc:Fallback>
      </mc:AlternateContent>
      <p:sp>
        <p:nvSpPr>
          <p:cNvPr id="93" name="Oval 92"/>
          <p:cNvSpPr/>
          <p:nvPr/>
        </p:nvSpPr>
        <p:spPr>
          <a:xfrm>
            <a:off x="6275786" y="3229356"/>
            <a:ext cx="468203"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Oval 93"/>
          <p:cNvSpPr/>
          <p:nvPr/>
        </p:nvSpPr>
        <p:spPr>
          <a:xfrm>
            <a:off x="5376165" y="3224586"/>
            <a:ext cx="482866"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Oval 94"/>
          <p:cNvSpPr/>
          <p:nvPr/>
        </p:nvSpPr>
        <p:spPr>
          <a:xfrm>
            <a:off x="4510690" y="3978151"/>
            <a:ext cx="504324"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Oval 95"/>
          <p:cNvSpPr/>
          <p:nvPr/>
        </p:nvSpPr>
        <p:spPr>
          <a:xfrm>
            <a:off x="6270739" y="3982921"/>
            <a:ext cx="514726"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7" name="Oval 96"/>
          <p:cNvSpPr/>
          <p:nvPr/>
        </p:nvSpPr>
        <p:spPr>
          <a:xfrm>
            <a:off x="5371116" y="3978151"/>
            <a:ext cx="521897" cy="356804"/>
          </a:xfrm>
          <a:prstGeom prst="ellipse">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1" name="TextBox 100"/>
              <p:cNvSpPr txBox="1"/>
              <p:nvPr/>
            </p:nvSpPr>
            <p:spPr>
              <a:xfrm>
                <a:off x="4473746" y="3271336"/>
                <a:ext cx="47455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i="1" smtClean="0">
                              <a:latin typeface="Cambria Math" panose="02040503050406030204" pitchFamily="18" charset="0"/>
                            </a:rPr>
                          </m:ctrlPr>
                        </m:sSubPr>
                        <m:e>
                          <m:r>
                            <a:rPr lang="en-IN" sz="1400" b="0" i="1" smtClean="0">
                              <a:latin typeface="Cambria Math" panose="02040503050406030204" pitchFamily="18" charset="0"/>
                            </a:rPr>
                            <m:t>h</m:t>
                          </m:r>
                        </m:e>
                        <m:sub>
                          <m:r>
                            <a:rPr lang="en-IN" sz="1400" b="0" i="1" smtClean="0">
                              <a:latin typeface="Cambria Math" panose="02040503050406030204" pitchFamily="18" charset="0"/>
                            </a:rPr>
                            <m:t>𝑘</m:t>
                          </m:r>
                          <m:r>
                            <a:rPr lang="en-IN" sz="1400" b="0" i="1" smtClean="0">
                              <a:latin typeface="Cambria Math" panose="02040503050406030204" pitchFamily="18" charset="0"/>
                            </a:rPr>
                            <m:t>−11</m:t>
                          </m:r>
                        </m:sub>
                      </m:sSub>
                    </m:oMath>
                  </m:oMathPara>
                </a14:m>
                <a:endParaRPr lang="en-IN" sz="1400" dirty="0"/>
              </a:p>
            </p:txBody>
          </p:sp>
        </mc:Choice>
        <mc:Fallback xmlns="">
          <p:sp>
            <p:nvSpPr>
              <p:cNvPr id="101" name="TextBox 100"/>
              <p:cNvSpPr txBox="1">
                <a:spLocks noRot="1" noChangeAspect="1" noMove="1" noResize="1" noEditPoints="1" noAdjustHandles="1" noChangeArrowheads="1" noChangeShapeType="1" noTextEdit="1"/>
              </p:cNvSpPr>
              <p:nvPr/>
            </p:nvSpPr>
            <p:spPr>
              <a:xfrm>
                <a:off x="4473746" y="3271336"/>
                <a:ext cx="474553" cy="215444"/>
              </a:xfrm>
              <a:prstGeom prst="rect">
                <a:avLst/>
              </a:prstGeom>
              <a:blipFill>
                <a:blip r:embed="rId18"/>
                <a:stretch>
                  <a:fillRect l="-8974" r="-1282" b="-1428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TextBox 102"/>
              <p:cNvSpPr txBox="1"/>
              <p:nvPr/>
            </p:nvSpPr>
            <p:spPr>
              <a:xfrm>
                <a:off x="5389585" y="3271439"/>
                <a:ext cx="47371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i="1" smtClean="0">
                              <a:latin typeface="Cambria Math" panose="02040503050406030204" pitchFamily="18" charset="0"/>
                            </a:rPr>
                          </m:ctrlPr>
                        </m:sSubPr>
                        <m:e>
                          <m:r>
                            <a:rPr lang="en-IN" sz="1400" b="0" i="1" smtClean="0">
                              <a:latin typeface="Cambria Math" panose="02040503050406030204" pitchFamily="18" charset="0"/>
                            </a:rPr>
                            <m:t>h</m:t>
                          </m:r>
                        </m:e>
                        <m:sub>
                          <m:r>
                            <a:rPr lang="en-IN" sz="1400" b="0" i="1" smtClean="0">
                              <a:latin typeface="Cambria Math" panose="02040503050406030204" pitchFamily="18" charset="0"/>
                            </a:rPr>
                            <m:t>𝑘</m:t>
                          </m:r>
                          <m:r>
                            <a:rPr lang="en-IN" sz="1400" b="0" i="1" smtClean="0">
                              <a:latin typeface="Cambria Math" panose="02040503050406030204" pitchFamily="18" charset="0"/>
                            </a:rPr>
                            <m:t>−1</m:t>
                          </m:r>
                          <m:r>
                            <a:rPr lang="en-IN" sz="1400" b="0" i="1" smtClean="0">
                              <a:latin typeface="Cambria Math" panose="02040503050406030204" pitchFamily="18" charset="0"/>
                            </a:rPr>
                            <m:t>𝑒</m:t>
                          </m:r>
                        </m:sub>
                      </m:sSub>
                    </m:oMath>
                  </m:oMathPara>
                </a14:m>
                <a:endParaRPr lang="en-IN" sz="1400" dirty="0"/>
              </a:p>
            </p:txBody>
          </p:sp>
        </mc:Choice>
        <mc:Fallback xmlns="">
          <p:sp>
            <p:nvSpPr>
              <p:cNvPr id="103" name="TextBox 102"/>
              <p:cNvSpPr txBox="1">
                <a:spLocks noRot="1" noChangeAspect="1" noMove="1" noResize="1" noEditPoints="1" noAdjustHandles="1" noChangeArrowheads="1" noChangeShapeType="1" noTextEdit="1"/>
              </p:cNvSpPr>
              <p:nvPr/>
            </p:nvSpPr>
            <p:spPr>
              <a:xfrm>
                <a:off x="5389585" y="3271439"/>
                <a:ext cx="473719" cy="215444"/>
              </a:xfrm>
              <a:prstGeom prst="rect">
                <a:avLst/>
              </a:prstGeom>
              <a:blipFill>
                <a:blip r:embed="rId19"/>
                <a:stretch>
                  <a:fillRect l="-7692" b="-1428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6" name="TextBox 105"/>
              <p:cNvSpPr txBox="1"/>
              <p:nvPr/>
            </p:nvSpPr>
            <p:spPr>
              <a:xfrm>
                <a:off x="6277146" y="3284036"/>
                <a:ext cx="48641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i="1" smtClean="0">
                              <a:latin typeface="Cambria Math" panose="02040503050406030204" pitchFamily="18" charset="0"/>
                            </a:rPr>
                          </m:ctrlPr>
                        </m:sSubPr>
                        <m:e>
                          <m:r>
                            <a:rPr lang="en-IN" sz="1400" b="0" i="1" smtClean="0">
                              <a:latin typeface="Cambria Math" panose="02040503050406030204" pitchFamily="18" charset="0"/>
                            </a:rPr>
                            <m:t>h</m:t>
                          </m:r>
                        </m:e>
                        <m:sub>
                          <m:r>
                            <a:rPr lang="en-IN" sz="1400" b="0" i="1" smtClean="0">
                              <a:latin typeface="Cambria Math" panose="02040503050406030204" pitchFamily="18" charset="0"/>
                            </a:rPr>
                            <m:t>𝑘</m:t>
                          </m:r>
                          <m:r>
                            <a:rPr lang="en-IN" sz="1400" b="0" i="1" smtClean="0">
                              <a:latin typeface="Cambria Math" panose="02040503050406030204" pitchFamily="18" charset="0"/>
                            </a:rPr>
                            <m:t>−1</m:t>
                          </m:r>
                          <m:r>
                            <a:rPr lang="en-IN" sz="1400" b="0" i="1" smtClean="0">
                              <a:latin typeface="Cambria Math" panose="02040503050406030204" pitchFamily="18" charset="0"/>
                            </a:rPr>
                            <m:t>𝑛</m:t>
                          </m:r>
                        </m:sub>
                      </m:sSub>
                    </m:oMath>
                  </m:oMathPara>
                </a14:m>
                <a:endParaRPr lang="en-IN" sz="1400" dirty="0"/>
              </a:p>
            </p:txBody>
          </p:sp>
        </mc:Choice>
        <mc:Fallback xmlns="">
          <p:sp>
            <p:nvSpPr>
              <p:cNvPr id="106" name="TextBox 105"/>
              <p:cNvSpPr txBox="1">
                <a:spLocks noRot="1" noChangeAspect="1" noMove="1" noResize="1" noEditPoints="1" noAdjustHandles="1" noChangeArrowheads="1" noChangeShapeType="1" noTextEdit="1"/>
              </p:cNvSpPr>
              <p:nvPr/>
            </p:nvSpPr>
            <p:spPr>
              <a:xfrm>
                <a:off x="6277146" y="3284036"/>
                <a:ext cx="486415" cy="215444"/>
              </a:xfrm>
              <a:prstGeom prst="rect">
                <a:avLst/>
              </a:prstGeom>
              <a:blipFill>
                <a:blip r:embed="rId20"/>
                <a:stretch>
                  <a:fillRect l="-8750" r="-1250" b="-1428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 name="TextBox 106"/>
              <p:cNvSpPr txBox="1"/>
              <p:nvPr/>
            </p:nvSpPr>
            <p:spPr>
              <a:xfrm>
                <a:off x="4098392" y="4007584"/>
                <a:ext cx="2982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𝑘</m:t>
                          </m:r>
                        </m:sub>
                      </m:sSub>
                    </m:oMath>
                  </m:oMathPara>
                </a14:m>
                <a:endParaRPr lang="en-IN" dirty="0"/>
              </a:p>
            </p:txBody>
          </p:sp>
        </mc:Choice>
        <mc:Fallback xmlns="">
          <p:sp>
            <p:nvSpPr>
              <p:cNvPr id="107" name="TextBox 106"/>
              <p:cNvSpPr txBox="1">
                <a:spLocks noRot="1" noChangeAspect="1" noMove="1" noResize="1" noEditPoints="1" noAdjustHandles="1" noChangeArrowheads="1" noChangeShapeType="1" noTextEdit="1"/>
              </p:cNvSpPr>
              <p:nvPr/>
            </p:nvSpPr>
            <p:spPr>
              <a:xfrm>
                <a:off x="4098392" y="4007584"/>
                <a:ext cx="298222" cy="276999"/>
              </a:xfrm>
              <a:prstGeom prst="rect">
                <a:avLst/>
              </a:prstGeom>
              <a:blipFill>
                <a:blip r:embed="rId21"/>
                <a:stretch>
                  <a:fillRect l="-20408" r="-6122" b="-152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8" name="TextBox 107"/>
              <p:cNvSpPr txBox="1"/>
              <p:nvPr/>
            </p:nvSpPr>
            <p:spPr>
              <a:xfrm>
                <a:off x="4570710" y="3995418"/>
                <a:ext cx="3910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𝑘</m:t>
                          </m:r>
                          <m:r>
                            <a:rPr lang="en-IN" b="0" i="1" smtClean="0">
                              <a:latin typeface="Cambria Math" panose="02040503050406030204" pitchFamily="18" charset="0"/>
                            </a:rPr>
                            <m:t>1</m:t>
                          </m:r>
                        </m:sub>
                      </m:sSub>
                    </m:oMath>
                  </m:oMathPara>
                </a14:m>
                <a:endParaRPr lang="en-IN" dirty="0"/>
              </a:p>
            </p:txBody>
          </p:sp>
        </mc:Choice>
        <mc:Fallback xmlns="">
          <p:sp>
            <p:nvSpPr>
              <p:cNvPr id="108" name="TextBox 107"/>
              <p:cNvSpPr txBox="1">
                <a:spLocks noRot="1" noChangeAspect="1" noMove="1" noResize="1" noEditPoints="1" noAdjustHandles="1" noChangeArrowheads="1" noChangeShapeType="1" noTextEdit="1"/>
              </p:cNvSpPr>
              <p:nvPr/>
            </p:nvSpPr>
            <p:spPr>
              <a:xfrm>
                <a:off x="4570710" y="3995418"/>
                <a:ext cx="391069" cy="276999"/>
              </a:xfrm>
              <a:prstGeom prst="rect">
                <a:avLst/>
              </a:prstGeom>
              <a:blipFill>
                <a:blip r:embed="rId22"/>
                <a:stretch>
                  <a:fillRect l="-14063" r="-7813" b="-152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9" name="TextBox 108"/>
              <p:cNvSpPr txBox="1"/>
              <p:nvPr/>
            </p:nvSpPr>
            <p:spPr>
              <a:xfrm>
                <a:off x="5472794" y="3989528"/>
                <a:ext cx="3897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𝑘𝑒</m:t>
                          </m:r>
                        </m:sub>
                      </m:sSub>
                    </m:oMath>
                  </m:oMathPara>
                </a14:m>
                <a:endParaRPr lang="en-IN" dirty="0"/>
              </a:p>
            </p:txBody>
          </p:sp>
        </mc:Choice>
        <mc:Fallback xmlns="">
          <p:sp>
            <p:nvSpPr>
              <p:cNvPr id="109" name="TextBox 108"/>
              <p:cNvSpPr txBox="1">
                <a:spLocks noRot="1" noChangeAspect="1" noMove="1" noResize="1" noEditPoints="1" noAdjustHandles="1" noChangeArrowheads="1" noChangeShapeType="1" noTextEdit="1"/>
              </p:cNvSpPr>
              <p:nvPr/>
            </p:nvSpPr>
            <p:spPr>
              <a:xfrm>
                <a:off x="5472794" y="3989528"/>
                <a:ext cx="389722" cy="276999"/>
              </a:xfrm>
              <a:prstGeom prst="rect">
                <a:avLst/>
              </a:prstGeom>
              <a:blipFill>
                <a:blip r:embed="rId23"/>
                <a:stretch>
                  <a:fillRect l="-14063" r="-6250" b="-152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6358488" y="3994978"/>
                <a:ext cx="40517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𝑘𝑛</m:t>
                          </m:r>
                        </m:sub>
                      </m:sSub>
                    </m:oMath>
                  </m:oMathPara>
                </a14:m>
                <a:endParaRPr lang="en-IN" dirty="0"/>
              </a:p>
            </p:txBody>
          </p:sp>
        </mc:Choice>
        <mc:Fallback xmlns="">
          <p:sp>
            <p:nvSpPr>
              <p:cNvPr id="110" name="TextBox 109"/>
              <p:cNvSpPr txBox="1">
                <a:spLocks noRot="1" noChangeAspect="1" noMove="1" noResize="1" noEditPoints="1" noAdjustHandles="1" noChangeArrowheads="1" noChangeShapeType="1" noTextEdit="1"/>
              </p:cNvSpPr>
              <p:nvPr/>
            </p:nvSpPr>
            <p:spPr>
              <a:xfrm>
                <a:off x="6358488" y="3994978"/>
                <a:ext cx="405176" cy="276999"/>
              </a:xfrm>
              <a:prstGeom prst="rect">
                <a:avLst/>
              </a:prstGeom>
              <a:blipFill>
                <a:blip r:embed="rId24"/>
                <a:stretch>
                  <a:fillRect l="-13433" r="-5970" b="-152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4633548" y="5060598"/>
                <a:ext cx="2564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𝑌</m:t>
                          </m:r>
                        </m:e>
                        <m:sub>
                          <m:r>
                            <a:rPr lang="en-IN" b="0" i="1" smtClean="0">
                              <a:latin typeface="Cambria Math" panose="02040503050406030204" pitchFamily="18" charset="0"/>
                            </a:rPr>
                            <m:t>1</m:t>
                          </m:r>
                        </m:sub>
                      </m:sSub>
                    </m:oMath>
                  </m:oMathPara>
                </a14:m>
                <a:endParaRPr lang="en-IN" dirty="0"/>
              </a:p>
            </p:txBody>
          </p:sp>
        </mc:Choice>
        <mc:Fallback xmlns="">
          <p:sp>
            <p:nvSpPr>
              <p:cNvPr id="111" name="TextBox 110"/>
              <p:cNvSpPr txBox="1">
                <a:spLocks noRot="1" noChangeAspect="1" noMove="1" noResize="1" noEditPoints="1" noAdjustHandles="1" noChangeArrowheads="1" noChangeShapeType="1" noTextEdit="1"/>
              </p:cNvSpPr>
              <p:nvPr/>
            </p:nvSpPr>
            <p:spPr>
              <a:xfrm>
                <a:off x="4633548" y="5060598"/>
                <a:ext cx="256480" cy="276999"/>
              </a:xfrm>
              <a:prstGeom prst="rect">
                <a:avLst/>
              </a:prstGeom>
              <a:blipFill>
                <a:blip r:embed="rId25"/>
                <a:stretch>
                  <a:fillRect l="-21429" r="-9524" b="-152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 name="TextBox 111"/>
              <p:cNvSpPr txBox="1"/>
              <p:nvPr/>
            </p:nvSpPr>
            <p:spPr>
              <a:xfrm>
                <a:off x="6437190" y="5040734"/>
                <a:ext cx="271869"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𝑌</m:t>
                          </m:r>
                        </m:e>
                        <m:sub>
                          <m:r>
                            <a:rPr lang="en-IN" b="0" i="1" smtClean="0">
                              <a:latin typeface="Cambria Math" panose="02040503050406030204" pitchFamily="18" charset="0"/>
                            </a:rPr>
                            <m:t>𝑝</m:t>
                          </m:r>
                        </m:sub>
                      </m:sSub>
                    </m:oMath>
                  </m:oMathPara>
                </a14:m>
                <a:endParaRPr lang="en-IN" dirty="0"/>
              </a:p>
            </p:txBody>
          </p:sp>
        </mc:Choice>
        <mc:Fallback xmlns="">
          <p:sp>
            <p:nvSpPr>
              <p:cNvPr id="112" name="TextBox 111"/>
              <p:cNvSpPr txBox="1">
                <a:spLocks noRot="1" noChangeAspect="1" noMove="1" noResize="1" noEditPoints="1" noAdjustHandles="1" noChangeArrowheads="1" noChangeShapeType="1" noTextEdit="1"/>
              </p:cNvSpPr>
              <p:nvPr/>
            </p:nvSpPr>
            <p:spPr>
              <a:xfrm>
                <a:off x="6437190" y="5040734"/>
                <a:ext cx="271869" cy="298415"/>
              </a:xfrm>
              <a:prstGeom prst="rect">
                <a:avLst/>
              </a:prstGeom>
              <a:blipFill>
                <a:blip r:embed="rId26"/>
                <a:stretch>
                  <a:fillRect l="-22222" r="-8889" b="-2040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Box 118"/>
              <p:cNvSpPr txBox="1"/>
              <p:nvPr/>
            </p:nvSpPr>
            <p:spPr>
              <a:xfrm>
                <a:off x="5546313" y="5066048"/>
                <a:ext cx="2618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𝑌</m:t>
                          </m:r>
                        </m:e>
                        <m:sub>
                          <m:r>
                            <a:rPr lang="en-IN" b="0" i="1" smtClean="0">
                              <a:latin typeface="Cambria Math" panose="02040503050406030204" pitchFamily="18" charset="0"/>
                            </a:rPr>
                            <m:t>2</m:t>
                          </m:r>
                        </m:sub>
                      </m:sSub>
                    </m:oMath>
                  </m:oMathPara>
                </a14:m>
                <a:endParaRPr lang="en-IN" dirty="0"/>
              </a:p>
            </p:txBody>
          </p:sp>
        </mc:Choice>
        <mc:Fallback xmlns="">
          <p:sp>
            <p:nvSpPr>
              <p:cNvPr id="119" name="TextBox 118"/>
              <p:cNvSpPr txBox="1">
                <a:spLocks noRot="1" noChangeAspect="1" noMove="1" noResize="1" noEditPoints="1" noAdjustHandles="1" noChangeArrowheads="1" noChangeShapeType="1" noTextEdit="1"/>
              </p:cNvSpPr>
              <p:nvPr/>
            </p:nvSpPr>
            <p:spPr>
              <a:xfrm>
                <a:off x="5546313" y="5066048"/>
                <a:ext cx="261802" cy="276999"/>
              </a:xfrm>
              <a:prstGeom prst="rect">
                <a:avLst/>
              </a:prstGeom>
              <a:blipFill>
                <a:blip r:embed="rId27"/>
                <a:stretch>
                  <a:fillRect l="-23256" r="-6977" b="-177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TextBox 119"/>
              <p:cNvSpPr txBox="1"/>
              <p:nvPr/>
            </p:nvSpPr>
            <p:spPr>
              <a:xfrm>
                <a:off x="5808115" y="723440"/>
                <a:ext cx="444352" cy="3007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solidFill>
                                <a:schemeClr val="accent1">
                                  <a:lumMod val="75000"/>
                                </a:schemeClr>
                              </a:solidFill>
                              <a:latin typeface="Cambria Math" panose="02040503050406030204" pitchFamily="18" charset="0"/>
                            </a:rPr>
                          </m:ctrlPr>
                        </m:sSubPr>
                        <m:e>
                          <m:r>
                            <a:rPr lang="en-IN" b="0" i="1" smtClean="0">
                              <a:solidFill>
                                <a:schemeClr val="accent1">
                                  <a:lumMod val="75000"/>
                                </a:schemeClr>
                              </a:solidFill>
                              <a:latin typeface="Cambria Math" panose="02040503050406030204" pitchFamily="18" charset="0"/>
                            </a:rPr>
                            <m:t>𝑊</m:t>
                          </m:r>
                        </m:e>
                        <m:sub>
                          <m:sSub>
                            <m:sSubPr>
                              <m:ctrlPr>
                                <a:rPr lang="en-IN" i="1">
                                  <a:solidFill>
                                    <a:schemeClr val="accent1">
                                      <a:lumMod val="75000"/>
                                    </a:schemeClr>
                                  </a:solidFill>
                                  <a:latin typeface="Cambria Math" panose="02040503050406030204" pitchFamily="18" charset="0"/>
                                </a:rPr>
                              </m:ctrlPr>
                            </m:sSubPr>
                            <m:e>
                              <m:r>
                                <a:rPr lang="en-IN" i="1">
                                  <a:solidFill>
                                    <a:schemeClr val="accent1">
                                      <a:lumMod val="75000"/>
                                    </a:schemeClr>
                                  </a:solidFill>
                                  <a:latin typeface="Cambria Math" panose="02040503050406030204" pitchFamily="18" charset="0"/>
                                </a:rPr>
                                <m:t>h</m:t>
                              </m:r>
                            </m:e>
                            <m:sub>
                              <m:r>
                                <a:rPr lang="en-IN" i="1">
                                  <a:solidFill>
                                    <a:schemeClr val="accent1">
                                      <a:lumMod val="75000"/>
                                    </a:schemeClr>
                                  </a:solidFill>
                                  <a:latin typeface="Cambria Math" panose="02040503050406030204" pitchFamily="18" charset="0"/>
                                </a:rPr>
                                <m:t>1</m:t>
                              </m:r>
                            </m:sub>
                          </m:sSub>
                        </m:sub>
                      </m:sSub>
                    </m:oMath>
                  </m:oMathPara>
                </a14:m>
                <a:endParaRPr lang="en-IN" dirty="0"/>
              </a:p>
            </p:txBody>
          </p:sp>
        </mc:Choice>
        <mc:Fallback xmlns="">
          <p:sp>
            <p:nvSpPr>
              <p:cNvPr id="120" name="TextBox 119"/>
              <p:cNvSpPr txBox="1">
                <a:spLocks noRot="1" noChangeAspect="1" noMove="1" noResize="1" noEditPoints="1" noAdjustHandles="1" noChangeArrowheads="1" noChangeShapeType="1" noTextEdit="1"/>
              </p:cNvSpPr>
              <p:nvPr/>
            </p:nvSpPr>
            <p:spPr>
              <a:xfrm>
                <a:off x="5808115" y="723440"/>
                <a:ext cx="444352" cy="300788"/>
              </a:xfrm>
              <a:prstGeom prst="rect">
                <a:avLst/>
              </a:prstGeom>
              <a:blipFill>
                <a:blip r:embed="rId28"/>
                <a:stretch>
                  <a:fillRect l="-12329" b="-163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5822971" y="1523071"/>
                <a:ext cx="444352" cy="3007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solidFill>
                                <a:schemeClr val="accent1">
                                  <a:lumMod val="75000"/>
                                </a:schemeClr>
                              </a:solidFill>
                              <a:latin typeface="Cambria Math" panose="02040503050406030204" pitchFamily="18" charset="0"/>
                            </a:rPr>
                          </m:ctrlPr>
                        </m:sSubPr>
                        <m:e>
                          <m:r>
                            <a:rPr lang="en-IN" b="0" i="1" smtClean="0">
                              <a:solidFill>
                                <a:schemeClr val="accent1">
                                  <a:lumMod val="75000"/>
                                </a:schemeClr>
                              </a:solidFill>
                              <a:latin typeface="Cambria Math" panose="02040503050406030204" pitchFamily="18" charset="0"/>
                            </a:rPr>
                            <m:t>𝑊</m:t>
                          </m:r>
                        </m:e>
                        <m:sub>
                          <m:sSub>
                            <m:sSubPr>
                              <m:ctrlPr>
                                <a:rPr lang="en-IN" i="1">
                                  <a:solidFill>
                                    <a:schemeClr val="accent1">
                                      <a:lumMod val="75000"/>
                                    </a:schemeClr>
                                  </a:solidFill>
                                  <a:latin typeface="Cambria Math" panose="02040503050406030204" pitchFamily="18" charset="0"/>
                                </a:rPr>
                              </m:ctrlPr>
                            </m:sSubPr>
                            <m:e>
                              <m:r>
                                <a:rPr lang="en-IN" i="1">
                                  <a:solidFill>
                                    <a:schemeClr val="accent1">
                                      <a:lumMod val="75000"/>
                                    </a:schemeClr>
                                  </a:solidFill>
                                  <a:latin typeface="Cambria Math" panose="02040503050406030204" pitchFamily="18" charset="0"/>
                                </a:rPr>
                                <m:t>h</m:t>
                              </m:r>
                            </m:e>
                            <m:sub>
                              <m:r>
                                <a:rPr lang="en-IN" b="0" i="1" smtClean="0">
                                  <a:solidFill>
                                    <a:schemeClr val="accent1">
                                      <a:lumMod val="75000"/>
                                    </a:schemeClr>
                                  </a:solidFill>
                                  <a:latin typeface="Cambria Math" panose="02040503050406030204" pitchFamily="18" charset="0"/>
                                </a:rPr>
                                <m:t>2</m:t>
                              </m:r>
                            </m:sub>
                          </m:sSub>
                        </m:sub>
                      </m:sSub>
                    </m:oMath>
                  </m:oMathPara>
                </a14:m>
                <a:endParaRPr lang="en-IN" dirty="0"/>
              </a:p>
            </p:txBody>
          </p:sp>
        </mc:Choice>
        <mc:Fallback xmlns="">
          <p:sp>
            <p:nvSpPr>
              <p:cNvPr id="123" name="TextBox 122"/>
              <p:cNvSpPr txBox="1">
                <a:spLocks noRot="1" noChangeAspect="1" noMove="1" noResize="1" noEditPoints="1" noAdjustHandles="1" noChangeArrowheads="1" noChangeShapeType="1" noTextEdit="1"/>
              </p:cNvSpPr>
              <p:nvPr/>
            </p:nvSpPr>
            <p:spPr>
              <a:xfrm>
                <a:off x="5822971" y="1523071"/>
                <a:ext cx="444352" cy="300788"/>
              </a:xfrm>
              <a:prstGeom prst="rect">
                <a:avLst/>
              </a:prstGeom>
              <a:blipFill>
                <a:blip r:embed="rId29"/>
                <a:stretch>
                  <a:fillRect l="-10959" b="-163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5812872" y="2256969"/>
                <a:ext cx="444352" cy="3020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solidFill>
                                <a:schemeClr val="accent1">
                                  <a:lumMod val="75000"/>
                                </a:schemeClr>
                              </a:solidFill>
                              <a:latin typeface="Cambria Math" panose="02040503050406030204" pitchFamily="18" charset="0"/>
                            </a:rPr>
                          </m:ctrlPr>
                        </m:sSubPr>
                        <m:e>
                          <m:r>
                            <a:rPr lang="en-IN" b="0" i="1" smtClean="0">
                              <a:solidFill>
                                <a:schemeClr val="accent1">
                                  <a:lumMod val="75000"/>
                                </a:schemeClr>
                              </a:solidFill>
                              <a:latin typeface="Cambria Math" panose="02040503050406030204" pitchFamily="18" charset="0"/>
                            </a:rPr>
                            <m:t>𝑊</m:t>
                          </m:r>
                        </m:e>
                        <m:sub>
                          <m:sSub>
                            <m:sSubPr>
                              <m:ctrlPr>
                                <a:rPr lang="en-IN" i="1" smtClean="0">
                                  <a:solidFill>
                                    <a:schemeClr val="accent1">
                                      <a:lumMod val="75000"/>
                                    </a:schemeClr>
                                  </a:solidFill>
                                  <a:latin typeface="Cambria Math" panose="02040503050406030204" pitchFamily="18" charset="0"/>
                                </a:rPr>
                              </m:ctrlPr>
                            </m:sSubPr>
                            <m:e>
                              <m:r>
                                <a:rPr lang="en-IN" i="1">
                                  <a:solidFill>
                                    <a:schemeClr val="accent1">
                                      <a:lumMod val="75000"/>
                                    </a:schemeClr>
                                  </a:solidFill>
                                  <a:latin typeface="Cambria Math" panose="02040503050406030204" pitchFamily="18" charset="0"/>
                                </a:rPr>
                                <m:t>h</m:t>
                              </m:r>
                            </m:e>
                            <m:sub>
                              <m:r>
                                <a:rPr lang="en-IN" b="0" i="1" smtClean="0">
                                  <a:solidFill>
                                    <a:schemeClr val="accent1">
                                      <a:lumMod val="75000"/>
                                    </a:schemeClr>
                                  </a:solidFill>
                                  <a:latin typeface="Cambria Math" panose="02040503050406030204" pitchFamily="18" charset="0"/>
                                </a:rPr>
                                <m:t>3</m:t>
                              </m:r>
                            </m:sub>
                          </m:sSub>
                        </m:sub>
                      </m:sSub>
                    </m:oMath>
                  </m:oMathPara>
                </a14:m>
                <a:endParaRPr lang="en-IN" dirty="0"/>
              </a:p>
            </p:txBody>
          </p:sp>
        </mc:Choice>
        <mc:Fallback xmlns="">
          <p:sp>
            <p:nvSpPr>
              <p:cNvPr id="124" name="TextBox 123"/>
              <p:cNvSpPr txBox="1">
                <a:spLocks noRot="1" noChangeAspect="1" noMove="1" noResize="1" noEditPoints="1" noAdjustHandles="1" noChangeArrowheads="1" noChangeShapeType="1" noTextEdit="1"/>
              </p:cNvSpPr>
              <p:nvPr/>
            </p:nvSpPr>
            <p:spPr>
              <a:xfrm>
                <a:off x="5812872" y="2256969"/>
                <a:ext cx="444352" cy="302070"/>
              </a:xfrm>
              <a:prstGeom prst="rect">
                <a:avLst/>
              </a:prstGeom>
              <a:blipFill>
                <a:blip r:embed="rId30"/>
                <a:stretch>
                  <a:fillRect l="-12500" r="-1389" b="-14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5772163" y="2838787"/>
                <a:ext cx="638316" cy="3030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solidFill>
                                <a:schemeClr val="accent1">
                                  <a:lumMod val="75000"/>
                                </a:schemeClr>
                              </a:solidFill>
                              <a:latin typeface="Cambria Math" panose="02040503050406030204" pitchFamily="18" charset="0"/>
                            </a:rPr>
                          </m:ctrlPr>
                        </m:sSubPr>
                        <m:e>
                          <m:r>
                            <a:rPr lang="en-IN" b="0" i="1" smtClean="0">
                              <a:solidFill>
                                <a:schemeClr val="accent1">
                                  <a:lumMod val="75000"/>
                                </a:schemeClr>
                              </a:solidFill>
                              <a:latin typeface="Cambria Math" panose="02040503050406030204" pitchFamily="18" charset="0"/>
                            </a:rPr>
                            <m:t>𝑊</m:t>
                          </m:r>
                        </m:e>
                        <m:sub>
                          <m:sSub>
                            <m:sSubPr>
                              <m:ctrlPr>
                                <a:rPr lang="en-IN" i="1">
                                  <a:solidFill>
                                    <a:schemeClr val="accent1">
                                      <a:lumMod val="75000"/>
                                    </a:schemeClr>
                                  </a:solidFill>
                                  <a:latin typeface="Cambria Math" panose="02040503050406030204" pitchFamily="18" charset="0"/>
                                </a:rPr>
                              </m:ctrlPr>
                            </m:sSubPr>
                            <m:e>
                              <m:r>
                                <a:rPr lang="en-IN" i="1">
                                  <a:solidFill>
                                    <a:schemeClr val="accent1">
                                      <a:lumMod val="75000"/>
                                    </a:schemeClr>
                                  </a:solidFill>
                                  <a:latin typeface="Cambria Math" panose="02040503050406030204" pitchFamily="18" charset="0"/>
                                </a:rPr>
                                <m:t>h</m:t>
                              </m:r>
                            </m:e>
                            <m:sub>
                              <m:r>
                                <a:rPr lang="en-IN" b="0" i="1" smtClean="0">
                                  <a:solidFill>
                                    <a:schemeClr val="accent1">
                                      <a:lumMod val="75000"/>
                                    </a:schemeClr>
                                  </a:solidFill>
                                  <a:latin typeface="Cambria Math" panose="02040503050406030204" pitchFamily="18" charset="0"/>
                                </a:rPr>
                                <m:t>𝑘</m:t>
                              </m:r>
                              <m:r>
                                <a:rPr lang="en-IN" b="0" i="1" smtClean="0">
                                  <a:solidFill>
                                    <a:schemeClr val="accent1">
                                      <a:lumMod val="75000"/>
                                    </a:schemeClr>
                                  </a:solidFill>
                                  <a:latin typeface="Cambria Math" panose="02040503050406030204" pitchFamily="18" charset="0"/>
                                </a:rPr>
                                <m:t>−1</m:t>
                              </m:r>
                            </m:sub>
                          </m:sSub>
                        </m:sub>
                      </m:sSub>
                    </m:oMath>
                  </m:oMathPara>
                </a14:m>
                <a:endParaRPr lang="en-IN" dirty="0"/>
              </a:p>
            </p:txBody>
          </p:sp>
        </mc:Choice>
        <mc:Fallback xmlns="">
          <p:sp>
            <p:nvSpPr>
              <p:cNvPr id="125" name="TextBox 124"/>
              <p:cNvSpPr txBox="1">
                <a:spLocks noRot="1" noChangeAspect="1" noMove="1" noResize="1" noEditPoints="1" noAdjustHandles="1" noChangeArrowheads="1" noChangeShapeType="1" noTextEdit="1"/>
              </p:cNvSpPr>
              <p:nvPr/>
            </p:nvSpPr>
            <p:spPr>
              <a:xfrm>
                <a:off x="5772163" y="2838787"/>
                <a:ext cx="638316" cy="303096"/>
              </a:xfrm>
              <a:prstGeom prst="rect">
                <a:avLst/>
              </a:prstGeom>
              <a:blipFill>
                <a:blip r:embed="rId31"/>
                <a:stretch>
                  <a:fillRect l="-8571" b="-183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5808115" y="3602246"/>
                <a:ext cx="452367" cy="3030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solidFill>
                                <a:schemeClr val="accent1">
                                  <a:lumMod val="75000"/>
                                </a:schemeClr>
                              </a:solidFill>
                              <a:latin typeface="Cambria Math" panose="02040503050406030204" pitchFamily="18" charset="0"/>
                            </a:rPr>
                          </m:ctrlPr>
                        </m:sSubPr>
                        <m:e>
                          <m:r>
                            <a:rPr lang="en-IN" b="0" i="1" smtClean="0">
                              <a:solidFill>
                                <a:schemeClr val="accent1">
                                  <a:lumMod val="75000"/>
                                </a:schemeClr>
                              </a:solidFill>
                              <a:latin typeface="Cambria Math" panose="02040503050406030204" pitchFamily="18" charset="0"/>
                            </a:rPr>
                            <m:t>𝑊</m:t>
                          </m:r>
                        </m:e>
                        <m:sub>
                          <m:sSub>
                            <m:sSubPr>
                              <m:ctrlPr>
                                <a:rPr lang="en-IN" i="1">
                                  <a:solidFill>
                                    <a:schemeClr val="accent1">
                                      <a:lumMod val="75000"/>
                                    </a:schemeClr>
                                  </a:solidFill>
                                  <a:latin typeface="Cambria Math" panose="02040503050406030204" pitchFamily="18" charset="0"/>
                                </a:rPr>
                              </m:ctrlPr>
                            </m:sSubPr>
                            <m:e>
                              <m:r>
                                <a:rPr lang="en-IN" i="1">
                                  <a:solidFill>
                                    <a:schemeClr val="accent1">
                                      <a:lumMod val="75000"/>
                                    </a:schemeClr>
                                  </a:solidFill>
                                  <a:latin typeface="Cambria Math" panose="02040503050406030204" pitchFamily="18" charset="0"/>
                                </a:rPr>
                                <m:t>h</m:t>
                              </m:r>
                            </m:e>
                            <m:sub>
                              <m:r>
                                <a:rPr lang="en-IN" b="0" i="1" smtClean="0">
                                  <a:solidFill>
                                    <a:schemeClr val="accent1">
                                      <a:lumMod val="75000"/>
                                    </a:schemeClr>
                                  </a:solidFill>
                                  <a:latin typeface="Cambria Math" panose="02040503050406030204" pitchFamily="18" charset="0"/>
                                </a:rPr>
                                <m:t>𝑘</m:t>
                              </m:r>
                            </m:sub>
                          </m:sSub>
                        </m:sub>
                      </m:sSub>
                    </m:oMath>
                  </m:oMathPara>
                </a14:m>
                <a:endParaRPr lang="en-IN" dirty="0"/>
              </a:p>
            </p:txBody>
          </p:sp>
        </mc:Choice>
        <mc:Fallback xmlns="">
          <p:sp>
            <p:nvSpPr>
              <p:cNvPr id="126" name="TextBox 125"/>
              <p:cNvSpPr txBox="1">
                <a:spLocks noRot="1" noChangeAspect="1" noMove="1" noResize="1" noEditPoints="1" noAdjustHandles="1" noChangeArrowheads="1" noChangeShapeType="1" noTextEdit="1"/>
              </p:cNvSpPr>
              <p:nvPr/>
            </p:nvSpPr>
            <p:spPr>
              <a:xfrm>
                <a:off x="5808115" y="3602246"/>
                <a:ext cx="452367" cy="303096"/>
              </a:xfrm>
              <a:prstGeom prst="rect">
                <a:avLst/>
              </a:prstGeom>
              <a:blipFill>
                <a:blip r:embed="rId32"/>
                <a:stretch>
                  <a:fillRect l="-12162" r="-2703" b="-16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5877806" y="4542402"/>
                <a:ext cx="36093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solidFill>
                                <a:schemeClr val="accent1">
                                  <a:lumMod val="75000"/>
                                </a:schemeClr>
                              </a:solidFill>
                              <a:latin typeface="Cambria Math" panose="02040503050406030204" pitchFamily="18" charset="0"/>
                            </a:rPr>
                          </m:ctrlPr>
                        </m:sSubPr>
                        <m:e>
                          <m:r>
                            <a:rPr lang="en-IN" b="0" i="1" smtClean="0">
                              <a:solidFill>
                                <a:schemeClr val="accent1">
                                  <a:lumMod val="75000"/>
                                </a:schemeClr>
                              </a:solidFill>
                              <a:latin typeface="Cambria Math" panose="02040503050406030204" pitchFamily="18" charset="0"/>
                            </a:rPr>
                            <m:t>𝑊</m:t>
                          </m:r>
                        </m:e>
                        <m:sub>
                          <m:r>
                            <a:rPr lang="en-IN" b="0" i="1" smtClean="0">
                              <a:solidFill>
                                <a:schemeClr val="accent1">
                                  <a:lumMod val="75000"/>
                                </a:schemeClr>
                              </a:solidFill>
                              <a:latin typeface="Cambria Math" panose="02040503050406030204" pitchFamily="18" charset="0"/>
                            </a:rPr>
                            <m:t>𝑌</m:t>
                          </m:r>
                        </m:sub>
                      </m:sSub>
                    </m:oMath>
                  </m:oMathPara>
                </a14:m>
                <a:endParaRPr lang="en-IN" dirty="0"/>
              </a:p>
            </p:txBody>
          </p:sp>
        </mc:Choice>
        <mc:Fallback xmlns="">
          <p:sp>
            <p:nvSpPr>
              <p:cNvPr id="127" name="TextBox 126"/>
              <p:cNvSpPr txBox="1">
                <a:spLocks noRot="1" noChangeAspect="1" noMove="1" noResize="1" noEditPoints="1" noAdjustHandles="1" noChangeArrowheads="1" noChangeShapeType="1" noTextEdit="1"/>
              </p:cNvSpPr>
              <p:nvPr/>
            </p:nvSpPr>
            <p:spPr>
              <a:xfrm>
                <a:off x="5877806" y="4542402"/>
                <a:ext cx="360932" cy="276999"/>
              </a:xfrm>
              <a:prstGeom prst="rect">
                <a:avLst/>
              </a:prstGeom>
              <a:blipFill>
                <a:blip r:embed="rId33"/>
                <a:stretch>
                  <a:fillRect l="-13559" r="-6780" b="-15217"/>
                </a:stretch>
              </a:blipFill>
            </p:spPr>
            <p:txBody>
              <a:bodyPr/>
              <a:lstStyle/>
              <a:p>
                <a:r>
                  <a:rPr lang="en-IN">
                    <a:noFill/>
                  </a:rPr>
                  <a:t> </a:t>
                </a:r>
              </a:p>
            </p:txBody>
          </p:sp>
        </mc:Fallback>
      </mc:AlternateContent>
      <p:sp>
        <p:nvSpPr>
          <p:cNvPr id="10" name="Arrow: Curved Down 9">
            <a:extLst>
              <a:ext uri="{FF2B5EF4-FFF2-40B4-BE49-F238E27FC236}">
                <a16:creationId xmlns:a16="http://schemas.microsoft.com/office/drawing/2014/main" id="{944388FE-1BB8-4BEB-98FA-0FD9D8991589}"/>
              </a:ext>
            </a:extLst>
          </p:cNvPr>
          <p:cNvSpPr/>
          <p:nvPr/>
        </p:nvSpPr>
        <p:spPr>
          <a:xfrm rot="16200000">
            <a:off x="3415522" y="4643866"/>
            <a:ext cx="1102852" cy="351070"/>
          </a:xfrm>
          <a:prstGeom prst="curved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urved Up 14">
            <a:extLst>
              <a:ext uri="{FF2B5EF4-FFF2-40B4-BE49-F238E27FC236}">
                <a16:creationId xmlns:a16="http://schemas.microsoft.com/office/drawing/2014/main" id="{4E766560-710B-4BC2-909A-7721E90DE976}"/>
              </a:ext>
            </a:extLst>
          </p:cNvPr>
          <p:cNvSpPr/>
          <p:nvPr/>
        </p:nvSpPr>
        <p:spPr>
          <a:xfrm rot="16200000">
            <a:off x="6460856" y="3627299"/>
            <a:ext cx="1020983" cy="269811"/>
          </a:xfrm>
          <a:prstGeom prst="curved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9" name="Arrow: Curved Down 98">
            <a:extLst>
              <a:ext uri="{FF2B5EF4-FFF2-40B4-BE49-F238E27FC236}">
                <a16:creationId xmlns:a16="http://schemas.microsoft.com/office/drawing/2014/main" id="{31B666FF-1EF6-4436-AC71-49A78928ADC0}"/>
              </a:ext>
            </a:extLst>
          </p:cNvPr>
          <p:cNvSpPr/>
          <p:nvPr/>
        </p:nvSpPr>
        <p:spPr>
          <a:xfrm rot="16200000">
            <a:off x="3397127" y="2522371"/>
            <a:ext cx="1102852" cy="351070"/>
          </a:xfrm>
          <a:prstGeom prst="curved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2" name="Arrow: Curved Up 101">
            <a:extLst>
              <a:ext uri="{FF2B5EF4-FFF2-40B4-BE49-F238E27FC236}">
                <a16:creationId xmlns:a16="http://schemas.microsoft.com/office/drawing/2014/main" id="{F7E63DEB-EE9A-465C-A4B7-327A9B21053C}"/>
              </a:ext>
            </a:extLst>
          </p:cNvPr>
          <p:cNvSpPr/>
          <p:nvPr/>
        </p:nvSpPr>
        <p:spPr>
          <a:xfrm rot="16200000">
            <a:off x="6488779" y="1574870"/>
            <a:ext cx="1020983" cy="269811"/>
          </a:xfrm>
          <a:prstGeom prst="curved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888502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28675" y="1625257"/>
            <a:ext cx="3526213" cy="691724"/>
          </a:xfrm>
        </p:spPr>
        <p:txBody>
          <a:bodyPr>
            <a:normAutofit/>
          </a:bodyPr>
          <a:lstStyle/>
          <a:p>
            <a:pPr algn="just"/>
            <a:r>
              <a:rPr lang="en-IN" sz="2400" dirty="0">
                <a:latin typeface="Arial Narrow" panose="020B0606020202030204" pitchFamily="34" charset="0"/>
              </a:rPr>
              <a:t>Sigmoidal Non-linearity</a:t>
            </a:r>
          </a:p>
        </p:txBody>
      </p:sp>
      <p:sp>
        <p:nvSpPr>
          <p:cNvPr id="7" name="Title 1"/>
          <p:cNvSpPr txBox="1">
            <a:spLocks/>
          </p:cNvSpPr>
          <p:nvPr/>
        </p:nvSpPr>
        <p:spPr>
          <a:xfrm>
            <a:off x="542637" y="193387"/>
            <a:ext cx="6513945" cy="734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latin typeface="Century" panose="02040604050505020304" pitchFamily="18" charset="0"/>
              </a:rPr>
              <a:t>Backpropagation : Algorithm</a:t>
            </a:r>
          </a:p>
        </p:txBody>
      </p:sp>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id="{78AFAC5C-AA32-1DE1-572A-52A9A800A9B0}"/>
                  </a:ext>
                </a:extLst>
              </p:cNvPr>
              <p:cNvSpPr/>
              <p:nvPr/>
            </p:nvSpPr>
            <p:spPr>
              <a:xfrm>
                <a:off x="828675" y="2414465"/>
                <a:ext cx="1599925" cy="55027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 xmlns:m="http://schemas.openxmlformats.org/officeDocument/2006/math">
                    <m:r>
                      <a:rPr lang="en-IN" sz="2100" i="1" dirty="0">
                        <a:latin typeface="Cambria Math" panose="02040503050406030204" pitchFamily="18" charset="0"/>
                        <a:cs typeface="Times New Roman" panose="02020603050405020304" pitchFamily="18" charset="0"/>
                      </a:rPr>
                      <m:t>𝑅</m:t>
                    </m:r>
                    <m:r>
                      <a:rPr lang="en-IN" sz="2100" i="1" dirty="0">
                        <a:latin typeface="Cambria Math" panose="02040503050406030204" pitchFamily="18" charset="0"/>
                        <a:cs typeface="Times New Roman" panose="02020603050405020304" pitchFamily="18" charset="0"/>
                      </a:rPr>
                      <m:t>(</m:t>
                    </m:r>
                    <m:r>
                      <a:rPr lang="en-IN" sz="2100" i="1" dirty="0">
                        <a:latin typeface="Cambria Math" panose="02040503050406030204" pitchFamily="18" charset="0"/>
                        <a:cs typeface="Times New Roman" panose="02020603050405020304" pitchFamily="18" charset="0"/>
                      </a:rPr>
                      <m:t>𝑆</m:t>
                    </m:r>
                    <m:r>
                      <a:rPr lang="en-IN" sz="2100" i="1" dirty="0">
                        <a:latin typeface="Cambria Math" panose="02040503050406030204" pitchFamily="18" charset="0"/>
                        <a:cs typeface="Times New Roman" panose="02020603050405020304" pitchFamily="18" charset="0"/>
                      </a:rPr>
                      <m:t>) </m:t>
                    </m:r>
                  </m:oMath>
                </a14:m>
                <a:r>
                  <a:rPr lang="en-IN" sz="2100" dirty="0">
                    <a:latin typeface="Times New Roman" panose="02020603050405020304" pitchFamily="18" charset="0"/>
                    <a:cs typeface="Times New Roman" panose="02020603050405020304" pitchFamily="18" charset="0"/>
                  </a:rPr>
                  <a:t>= </a:t>
                </a:r>
                <a14:m>
                  <m:oMath xmlns:m="http://schemas.openxmlformats.org/officeDocument/2006/math">
                    <m:f>
                      <m:fPr>
                        <m:ctrlPr>
                          <a:rPr lang="en-IN" sz="2100" i="1">
                            <a:latin typeface="Cambria Math" panose="02040503050406030204" pitchFamily="18" charset="0"/>
                            <a:cs typeface="Times New Roman" panose="02020603050405020304" pitchFamily="18" charset="0"/>
                          </a:rPr>
                        </m:ctrlPr>
                      </m:fPr>
                      <m:num>
                        <m:r>
                          <a:rPr lang="en-IN" sz="2100" i="1">
                            <a:latin typeface="Cambria Math" panose="02040503050406030204" pitchFamily="18" charset="0"/>
                            <a:cs typeface="Times New Roman" panose="02020603050405020304" pitchFamily="18" charset="0"/>
                          </a:rPr>
                          <m:t>1</m:t>
                        </m:r>
                      </m:num>
                      <m:den>
                        <m:r>
                          <a:rPr lang="en-IN" sz="2100" i="1">
                            <a:latin typeface="Cambria Math" panose="02040503050406030204" pitchFamily="18" charset="0"/>
                            <a:cs typeface="Times New Roman" panose="02020603050405020304" pitchFamily="18" charset="0"/>
                          </a:rPr>
                          <m:t>1+</m:t>
                        </m:r>
                        <m:sSup>
                          <m:sSupPr>
                            <m:ctrlPr>
                              <a:rPr lang="en-IN" sz="2100" i="1">
                                <a:latin typeface="Cambria Math" panose="02040503050406030204" pitchFamily="18" charset="0"/>
                                <a:cs typeface="Times New Roman" panose="02020603050405020304" pitchFamily="18" charset="0"/>
                              </a:rPr>
                            </m:ctrlPr>
                          </m:sSupPr>
                          <m:e>
                            <m:r>
                              <a:rPr lang="en-IN" sz="2100" i="1">
                                <a:latin typeface="Cambria Math" panose="02040503050406030204" pitchFamily="18" charset="0"/>
                                <a:cs typeface="Times New Roman" panose="02020603050405020304" pitchFamily="18" charset="0"/>
                              </a:rPr>
                              <m:t>𝑒</m:t>
                            </m:r>
                          </m:e>
                          <m:sup>
                            <m:r>
                              <a:rPr lang="en-IN" sz="2100" i="1">
                                <a:latin typeface="Cambria Math" panose="02040503050406030204" pitchFamily="18" charset="0"/>
                                <a:cs typeface="Times New Roman" panose="02020603050405020304" pitchFamily="18" charset="0"/>
                              </a:rPr>
                              <m:t>−</m:t>
                            </m:r>
                            <m:r>
                              <a:rPr lang="en-IN" sz="2100" i="1">
                                <a:latin typeface="Cambria Math" panose="02040503050406030204" pitchFamily="18" charset="0"/>
                                <a:cs typeface="Times New Roman" panose="02020603050405020304" pitchFamily="18" charset="0"/>
                              </a:rPr>
                              <m:t>𝑠</m:t>
                            </m:r>
                          </m:sup>
                        </m:sSup>
                      </m:den>
                    </m:f>
                  </m:oMath>
                </a14:m>
                <a:endParaRPr lang="en-IN" sz="2100" dirty="0">
                  <a:latin typeface="Times New Roman" panose="02020603050405020304" pitchFamily="18" charset="0"/>
                  <a:cs typeface="Times New Roman" panose="02020603050405020304" pitchFamily="18" charset="0"/>
                </a:endParaRPr>
              </a:p>
            </p:txBody>
          </p:sp>
        </mc:Choice>
        <mc:Fallback>
          <p:sp>
            <p:nvSpPr>
              <p:cNvPr id="8" name="Rectangle 7">
                <a:extLst>
                  <a:ext uri="{FF2B5EF4-FFF2-40B4-BE49-F238E27FC236}">
                    <a16:creationId xmlns:a16="http://schemas.microsoft.com/office/drawing/2014/main" id="{78AFAC5C-AA32-1DE1-572A-52A9A800A9B0}"/>
                  </a:ext>
                </a:extLst>
              </p:cNvPr>
              <p:cNvSpPr>
                <a:spLocks noRot="1" noChangeAspect="1" noMove="1" noResize="1" noEditPoints="1" noAdjustHandles="1" noChangeArrowheads="1" noChangeShapeType="1" noTextEdit="1"/>
              </p:cNvSpPr>
              <p:nvPr/>
            </p:nvSpPr>
            <p:spPr>
              <a:xfrm>
                <a:off x="828675" y="2414465"/>
                <a:ext cx="1599925" cy="550279"/>
              </a:xfrm>
              <a:prstGeom prst="rect">
                <a:avLst/>
              </a:prstGeom>
              <a:blipFill>
                <a:blip r:embed="rId2"/>
                <a:stretch>
                  <a:fillRect b="-8889"/>
                </a:stretch>
              </a:blipFill>
            </p:spPr>
            <p:txBody>
              <a:bodyPr/>
              <a:lstStyle/>
              <a:p>
                <a:r>
                  <a:rPr lang="en-GB">
                    <a:noFill/>
                  </a:rPr>
                  <a:t> </a:t>
                </a:r>
              </a:p>
            </p:txBody>
          </p:sp>
        </mc:Fallback>
      </mc:AlternateContent>
      <p:pic>
        <p:nvPicPr>
          <p:cNvPr id="9" name="Picture 8">
            <a:extLst>
              <a:ext uri="{FF2B5EF4-FFF2-40B4-BE49-F238E27FC236}">
                <a16:creationId xmlns:a16="http://schemas.microsoft.com/office/drawing/2014/main" id="{0CF6541C-8B00-ED97-0125-2D6779857310}"/>
              </a:ext>
            </a:extLst>
          </p:cNvPr>
          <p:cNvPicPr>
            <a:picLocks noChangeAspect="1"/>
          </p:cNvPicPr>
          <p:nvPr/>
        </p:nvPicPr>
        <p:blipFill>
          <a:blip r:embed="rId3"/>
          <a:stretch>
            <a:fillRect/>
          </a:stretch>
        </p:blipFill>
        <p:spPr>
          <a:xfrm>
            <a:off x="1142929" y="3775393"/>
            <a:ext cx="2987632" cy="2051552"/>
          </a:xfrm>
          <a:prstGeom prst="rect">
            <a:avLst/>
          </a:prstGeom>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BBC37D14-16F2-F37B-159D-7BAB70AE2B80}"/>
                  </a:ext>
                </a:extLst>
              </p:cNvPr>
              <p:cNvSpPr txBox="1"/>
              <p:nvPr/>
            </p:nvSpPr>
            <p:spPr>
              <a:xfrm>
                <a:off x="828675" y="3062228"/>
                <a:ext cx="2916754" cy="61568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IN" sz="2100" i="1">
                              <a:latin typeface="Cambria Math" panose="02040503050406030204" pitchFamily="18" charset="0"/>
                            </a:rPr>
                          </m:ctrlPr>
                        </m:fPr>
                        <m:num>
                          <m:r>
                            <a:rPr lang="en-IN" sz="2100" i="1">
                              <a:latin typeface="Cambria Math" panose="02040503050406030204" pitchFamily="18" charset="0"/>
                            </a:rPr>
                            <m:t>𝜕</m:t>
                          </m:r>
                          <m:r>
                            <a:rPr lang="en-IN" sz="2100" i="1">
                              <a:latin typeface="Cambria Math" panose="02040503050406030204" pitchFamily="18" charset="0"/>
                            </a:rPr>
                            <m:t> </m:t>
                          </m:r>
                          <m:r>
                            <a:rPr lang="en-IN" sz="2100" i="1">
                              <a:latin typeface="Cambria Math" panose="02040503050406030204" pitchFamily="18" charset="0"/>
                            </a:rPr>
                            <m:t>𝑅</m:t>
                          </m:r>
                          <m:r>
                            <a:rPr lang="en-IN" sz="2100" i="1">
                              <a:latin typeface="Cambria Math" panose="02040503050406030204" pitchFamily="18" charset="0"/>
                            </a:rPr>
                            <m:t>(</m:t>
                          </m:r>
                          <m:r>
                            <a:rPr lang="en-IN" sz="2100" i="1">
                              <a:latin typeface="Cambria Math" panose="02040503050406030204" pitchFamily="18" charset="0"/>
                            </a:rPr>
                            <m:t>𝑆</m:t>
                          </m:r>
                          <m:r>
                            <a:rPr lang="en-IN" sz="2100" i="1">
                              <a:latin typeface="Cambria Math" panose="02040503050406030204" pitchFamily="18" charset="0"/>
                            </a:rPr>
                            <m:t>)</m:t>
                          </m:r>
                        </m:num>
                        <m:den>
                          <m:r>
                            <a:rPr lang="en-IN" sz="2100" i="1">
                              <a:latin typeface="Cambria Math" panose="02040503050406030204" pitchFamily="18" charset="0"/>
                            </a:rPr>
                            <m:t>𝜕</m:t>
                          </m:r>
                          <m:r>
                            <a:rPr lang="en-IN" sz="2100" i="1">
                              <a:latin typeface="Cambria Math" panose="02040503050406030204" pitchFamily="18" charset="0"/>
                            </a:rPr>
                            <m:t>𝑆</m:t>
                          </m:r>
                        </m:den>
                      </m:f>
                      <m:r>
                        <a:rPr lang="en-IN" sz="2100" i="1">
                          <a:latin typeface="Cambria Math" panose="02040503050406030204" pitchFamily="18" charset="0"/>
                        </a:rPr>
                        <m:t>=</m:t>
                      </m:r>
                      <m:r>
                        <a:rPr lang="en-IN" sz="2100" i="1">
                          <a:latin typeface="Cambria Math" panose="02040503050406030204" pitchFamily="18" charset="0"/>
                        </a:rPr>
                        <m:t>𝑅</m:t>
                      </m:r>
                      <m:d>
                        <m:dPr>
                          <m:ctrlPr>
                            <a:rPr lang="en-IN" sz="2100" i="1">
                              <a:latin typeface="Cambria Math" panose="02040503050406030204" pitchFamily="18" charset="0"/>
                            </a:rPr>
                          </m:ctrlPr>
                        </m:dPr>
                        <m:e>
                          <m:r>
                            <a:rPr lang="en-IN" sz="2100" i="1">
                              <a:latin typeface="Cambria Math" panose="02040503050406030204" pitchFamily="18" charset="0"/>
                            </a:rPr>
                            <m:t>𝑆</m:t>
                          </m:r>
                        </m:e>
                      </m:d>
                      <m:r>
                        <a:rPr lang="en-IN" sz="2100" i="1">
                          <a:latin typeface="Cambria Math" panose="02040503050406030204" pitchFamily="18" charset="0"/>
                        </a:rPr>
                        <m:t>[1−</m:t>
                      </m:r>
                      <m:r>
                        <a:rPr lang="en-IN" sz="2100" i="1">
                          <a:latin typeface="Cambria Math" panose="02040503050406030204" pitchFamily="18" charset="0"/>
                        </a:rPr>
                        <m:t>𝑅</m:t>
                      </m:r>
                      <m:d>
                        <m:dPr>
                          <m:ctrlPr>
                            <a:rPr lang="en-IN" sz="2100" i="1">
                              <a:latin typeface="Cambria Math" panose="02040503050406030204" pitchFamily="18" charset="0"/>
                            </a:rPr>
                          </m:ctrlPr>
                        </m:dPr>
                        <m:e>
                          <m:r>
                            <a:rPr lang="en-IN" sz="2100" i="1">
                              <a:latin typeface="Cambria Math" panose="02040503050406030204" pitchFamily="18" charset="0"/>
                            </a:rPr>
                            <m:t>𝑆</m:t>
                          </m:r>
                        </m:e>
                      </m:d>
                      <m:r>
                        <a:rPr lang="en-IN" sz="2100" i="1">
                          <a:latin typeface="Cambria Math" panose="02040503050406030204" pitchFamily="18" charset="0"/>
                        </a:rPr>
                        <m:t>]</m:t>
                      </m:r>
                    </m:oMath>
                  </m:oMathPara>
                </a14:m>
                <a:endParaRPr lang="en-IN" sz="2100" dirty="0"/>
              </a:p>
            </p:txBody>
          </p:sp>
        </mc:Choice>
        <mc:Fallback>
          <p:sp>
            <p:nvSpPr>
              <p:cNvPr id="10" name="TextBox 9">
                <a:extLst>
                  <a:ext uri="{FF2B5EF4-FFF2-40B4-BE49-F238E27FC236}">
                    <a16:creationId xmlns:a16="http://schemas.microsoft.com/office/drawing/2014/main" id="{BBC37D14-16F2-F37B-159D-7BAB70AE2B80}"/>
                  </a:ext>
                </a:extLst>
              </p:cNvPr>
              <p:cNvSpPr txBox="1">
                <a:spLocks noRot="1" noChangeAspect="1" noMove="1" noResize="1" noEditPoints="1" noAdjustHandles="1" noChangeArrowheads="1" noChangeShapeType="1" noTextEdit="1"/>
              </p:cNvSpPr>
              <p:nvPr/>
            </p:nvSpPr>
            <p:spPr>
              <a:xfrm>
                <a:off x="828675" y="3062228"/>
                <a:ext cx="2916754" cy="615681"/>
              </a:xfrm>
              <a:prstGeom prst="rect">
                <a:avLst/>
              </a:prstGeom>
              <a:blipFill>
                <a:blip r:embed="rId4"/>
                <a:stretch>
                  <a:fillRect/>
                </a:stretch>
              </a:blipFill>
            </p:spPr>
            <p:txBody>
              <a:bodyPr/>
              <a:lstStyle/>
              <a:p>
                <a:r>
                  <a:rPr lang="en-GB">
                    <a:noFill/>
                  </a:rPr>
                  <a:t> </a:t>
                </a:r>
              </a:p>
            </p:txBody>
          </p:sp>
        </mc:Fallback>
      </mc:AlternateContent>
      <p:cxnSp>
        <p:nvCxnSpPr>
          <p:cNvPr id="12" name="Straight Connector 11"/>
          <p:cNvCxnSpPr/>
          <p:nvPr/>
        </p:nvCxnSpPr>
        <p:spPr>
          <a:xfrm flipH="1">
            <a:off x="5324475" y="1133475"/>
            <a:ext cx="19050" cy="50196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Rectangle 13"/>
              <p:cNvSpPr/>
              <p:nvPr/>
            </p:nvSpPr>
            <p:spPr>
              <a:xfrm>
                <a:off x="5343525" y="1529791"/>
                <a:ext cx="6096000" cy="1793171"/>
              </a:xfrm>
              <a:prstGeom prst="rect">
                <a:avLst/>
              </a:prstGeom>
            </p:spPr>
            <p:txBody>
              <a:bodyPr>
                <a:normAutofit/>
              </a:bodyPr>
              <a:lstStyle/>
              <a:p>
                <a:pPr marL="342900" indent="-342900">
                  <a:buFont typeface="Arial" panose="020B0604020202020204" pitchFamily="34" charset="0"/>
                  <a:buChar char="•"/>
                </a:pPr>
                <a:r>
                  <a:rPr lang="en-IN" sz="2100" dirty="0">
                    <a:latin typeface="Arial Narrow" panose="020B0606020202030204" pitchFamily="34" charset="0"/>
                    <a:cs typeface="Times New Roman" panose="02020603050405020304" pitchFamily="18" charset="0"/>
                  </a:rPr>
                  <a:t>Let we have an K layer MLP: </a:t>
                </a:r>
              </a:p>
              <a:p>
                <a:pPr marL="742950" lvl="1" indent="-285750">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It consists of 1 input layer and K hidden layers</a:t>
                </a:r>
              </a:p>
              <a:p>
                <a:pPr marL="742950" lvl="1" indent="-285750" algn="just">
                  <a:buFont typeface="Arial" panose="020B0604020202020204" pitchFamily="34" charset="0"/>
                  <a:buChar char="•"/>
                </a:pPr>
                <a:r>
                  <a:rPr lang="en-IN" sz="2000" dirty="0">
                    <a:latin typeface="Arial Narrow" panose="020B0606020202030204" pitchFamily="34" charset="0"/>
                    <a:cs typeface="Times New Roman" panose="02020603050405020304" pitchFamily="18" charset="0"/>
                  </a:rPr>
                  <a:t>Now the e</a:t>
                </a:r>
                <a:r>
                  <a:rPr lang="en-IN" sz="2000" baseline="30000" dirty="0">
                    <a:latin typeface="Arial Narrow" panose="020B0606020202030204" pitchFamily="34" charset="0"/>
                    <a:cs typeface="Times New Roman" panose="02020603050405020304" pitchFamily="18" charset="0"/>
                  </a:rPr>
                  <a:t>th</a:t>
                </a:r>
                <a:r>
                  <a:rPr lang="en-IN" sz="2000" dirty="0">
                    <a:latin typeface="Arial Narrow" panose="020B0606020202030204" pitchFamily="34" charset="0"/>
                    <a:cs typeface="Times New Roman" panose="02020603050405020304" pitchFamily="18" charset="0"/>
                  </a:rPr>
                  <a:t> node of the k</a:t>
                </a:r>
                <a:r>
                  <a:rPr lang="en-IN" sz="2000" baseline="30000" dirty="0">
                    <a:latin typeface="Arial Narrow" panose="020B0606020202030204" pitchFamily="34" charset="0"/>
                    <a:cs typeface="Times New Roman" panose="02020603050405020304" pitchFamily="18" charset="0"/>
                  </a:rPr>
                  <a:t>th</a:t>
                </a:r>
                <a:r>
                  <a:rPr lang="en-IN" sz="2000" dirty="0">
                    <a:latin typeface="Arial Narrow" panose="020B0606020202030204" pitchFamily="34" charset="0"/>
                    <a:cs typeface="Times New Roman" panose="02020603050405020304" pitchFamily="18" charset="0"/>
                  </a:rPr>
                  <a:t> layer neuron is denoted by </a:t>
                </a:r>
                <a14:m>
                  <m:oMath xmlns:m="http://schemas.openxmlformats.org/officeDocument/2006/math">
                    <m:sSubSup>
                      <m:sSubSupPr>
                        <m:ctrlPr>
                          <a:rPr lang="en-IN" sz="2000" i="1" smtClean="0">
                            <a:solidFill>
                              <a:srgbClr val="00B0F0"/>
                            </a:solidFill>
                            <a:latin typeface="Cambria Math" panose="02040503050406030204" pitchFamily="18" charset="0"/>
                            <a:cs typeface="Times New Roman" panose="02020603050405020304" pitchFamily="18" charset="0"/>
                          </a:rPr>
                        </m:ctrlPr>
                      </m:sSubSupPr>
                      <m:e>
                        <m:r>
                          <a:rPr lang="en-GB" sz="2000" b="0" i="1" smtClean="0">
                            <a:solidFill>
                              <a:srgbClr val="00B0F0"/>
                            </a:solidFill>
                            <a:latin typeface="Cambria Math" panose="02040503050406030204" pitchFamily="18" charset="0"/>
                            <a:cs typeface="Times New Roman" panose="02020603050405020304" pitchFamily="18" charset="0"/>
                          </a:rPr>
                          <m:t>𝐼</m:t>
                        </m:r>
                      </m:e>
                      <m:sub>
                        <m:r>
                          <a:rPr lang="en-IN" sz="2000" b="0" i="1" smtClean="0">
                            <a:solidFill>
                              <a:srgbClr val="00B0F0"/>
                            </a:solidFill>
                            <a:latin typeface="Cambria Math" panose="02040503050406030204" pitchFamily="18" charset="0"/>
                            <a:cs typeface="Times New Roman" panose="02020603050405020304" pitchFamily="18" charset="0"/>
                          </a:rPr>
                          <m:t>𝑒</m:t>
                        </m:r>
                      </m:sub>
                      <m:sup>
                        <m:r>
                          <a:rPr lang="en-IN" sz="2000" i="1">
                            <a:solidFill>
                              <a:srgbClr val="00B0F0"/>
                            </a:solidFill>
                            <a:latin typeface="Cambria Math" panose="02040503050406030204" pitchFamily="18" charset="0"/>
                            <a:cs typeface="Times New Roman" panose="02020603050405020304" pitchFamily="18" charset="0"/>
                          </a:rPr>
                          <m:t>(</m:t>
                        </m:r>
                        <m:r>
                          <a:rPr lang="en-IN" sz="2000" i="1">
                            <a:solidFill>
                              <a:srgbClr val="00B0F0"/>
                            </a:solidFill>
                            <a:latin typeface="Cambria Math" panose="02040503050406030204" pitchFamily="18" charset="0"/>
                            <a:cs typeface="Times New Roman" panose="02020603050405020304" pitchFamily="18" charset="0"/>
                          </a:rPr>
                          <m:t>𝑘</m:t>
                        </m:r>
                        <m:r>
                          <a:rPr lang="en-IN" sz="2000" i="1">
                            <a:solidFill>
                              <a:srgbClr val="00B0F0"/>
                            </a:solidFill>
                            <a:latin typeface="Cambria Math" panose="02040503050406030204" pitchFamily="18" charset="0"/>
                            <a:cs typeface="Times New Roman" panose="02020603050405020304" pitchFamily="18" charset="0"/>
                          </a:rPr>
                          <m:t>)</m:t>
                        </m:r>
                      </m:sup>
                    </m:sSubSup>
                  </m:oMath>
                </a14:m>
                <a:r>
                  <a:rPr lang="en-IN" sz="2000" dirty="0">
                    <a:latin typeface="Arial Narrow" panose="020B0606020202030204" pitchFamily="34" charset="0"/>
                    <a:cs typeface="Times New Roman" panose="02020603050405020304" pitchFamily="18" charset="0"/>
                  </a:rPr>
                  <a:t>which is the output of the e</a:t>
                </a:r>
                <a:r>
                  <a:rPr lang="en-IN" sz="2000" baseline="30000" dirty="0">
                    <a:latin typeface="Arial Narrow" panose="020B0606020202030204" pitchFamily="34" charset="0"/>
                    <a:cs typeface="Times New Roman" panose="02020603050405020304" pitchFamily="18" charset="0"/>
                  </a:rPr>
                  <a:t>th</a:t>
                </a:r>
                <a:r>
                  <a:rPr lang="en-IN" sz="2000" dirty="0">
                    <a:latin typeface="Arial Narrow" panose="020B0606020202030204" pitchFamily="34" charset="0"/>
                    <a:cs typeface="Times New Roman" panose="02020603050405020304" pitchFamily="18" charset="0"/>
                  </a:rPr>
                  <a:t> neuron (node) of the k</a:t>
                </a:r>
                <a:r>
                  <a:rPr lang="en-IN" sz="2000" baseline="30000" dirty="0">
                    <a:latin typeface="Arial Narrow" panose="020B0606020202030204" pitchFamily="34" charset="0"/>
                    <a:cs typeface="Times New Roman" panose="02020603050405020304" pitchFamily="18" charset="0"/>
                  </a:rPr>
                  <a:t>th</a:t>
                </a:r>
                <a:r>
                  <a:rPr lang="en-IN" sz="2000" dirty="0">
                    <a:latin typeface="Arial Narrow" panose="020B0606020202030204" pitchFamily="34" charset="0"/>
                    <a:cs typeface="Times New Roman" panose="02020603050405020304" pitchFamily="18" charset="0"/>
                  </a:rPr>
                  <a:t> layer</a:t>
                </a:r>
              </a:p>
            </p:txBody>
          </p:sp>
        </mc:Choice>
        <mc:Fallback>
          <p:sp>
            <p:nvSpPr>
              <p:cNvPr id="14" name="Rectangle 13"/>
              <p:cNvSpPr>
                <a:spLocks noRot="1" noChangeAspect="1" noMove="1" noResize="1" noEditPoints="1" noAdjustHandles="1" noChangeArrowheads="1" noChangeShapeType="1" noTextEdit="1"/>
              </p:cNvSpPr>
              <p:nvPr/>
            </p:nvSpPr>
            <p:spPr>
              <a:xfrm>
                <a:off x="5343525" y="1529791"/>
                <a:ext cx="6096000" cy="1793171"/>
              </a:xfrm>
              <a:prstGeom prst="rect">
                <a:avLst/>
              </a:prstGeom>
              <a:blipFill>
                <a:blip r:embed="rId5"/>
                <a:stretch>
                  <a:fillRect l="-1000" t="-2041" r="-1000" b="-680"/>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5" name="Rectangle 14">
                <a:extLst>
                  <a:ext uri="{FF2B5EF4-FFF2-40B4-BE49-F238E27FC236}">
                    <a16:creationId xmlns:a16="http://schemas.microsoft.com/office/drawing/2014/main" id="{2965915D-ACFF-70E1-F38E-0B1FBD245160}"/>
                  </a:ext>
                </a:extLst>
              </p:cNvPr>
              <p:cNvSpPr/>
              <p:nvPr/>
            </p:nvSpPr>
            <p:spPr>
              <a:xfrm>
                <a:off x="6111437" y="3322962"/>
                <a:ext cx="3657924" cy="1131143"/>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Sup>
                        <m:sSubSupPr>
                          <m:ctrlPr>
                            <a:rPr lang="en-IN" sz="2400" i="1" smtClean="0">
                              <a:solidFill>
                                <a:srgbClr val="00B0F0"/>
                              </a:solidFill>
                              <a:latin typeface="Cambria Math" panose="02040503050406030204" pitchFamily="18" charset="0"/>
                              <a:cs typeface="Times New Roman" panose="02020603050405020304" pitchFamily="18" charset="0"/>
                            </a:rPr>
                          </m:ctrlPr>
                        </m:sSubSupPr>
                        <m:e>
                          <m:r>
                            <a:rPr lang="en-GB" sz="2400" b="0" i="1" smtClean="0">
                              <a:solidFill>
                                <a:srgbClr val="00B0F0"/>
                              </a:solidFill>
                              <a:latin typeface="Cambria Math" panose="02040503050406030204" pitchFamily="18" charset="0"/>
                              <a:cs typeface="Times New Roman" panose="02020603050405020304" pitchFamily="18" charset="0"/>
                            </a:rPr>
                            <m:t>𝐼</m:t>
                          </m:r>
                        </m:e>
                        <m:sub>
                          <m:r>
                            <a:rPr lang="en-IN" sz="2400" b="0" i="1" smtClean="0">
                              <a:solidFill>
                                <a:srgbClr val="00B0F0"/>
                              </a:solidFill>
                              <a:latin typeface="Cambria Math" panose="02040503050406030204" pitchFamily="18" charset="0"/>
                              <a:cs typeface="Times New Roman" panose="02020603050405020304" pitchFamily="18" charset="0"/>
                            </a:rPr>
                            <m:t>𝑖</m:t>
                          </m:r>
                        </m:sub>
                        <m:sup>
                          <m:r>
                            <a:rPr lang="en-IN" sz="2400" i="1">
                              <a:solidFill>
                                <a:srgbClr val="00B0F0"/>
                              </a:solidFill>
                              <a:latin typeface="Cambria Math" panose="02040503050406030204" pitchFamily="18" charset="0"/>
                              <a:cs typeface="Times New Roman" panose="02020603050405020304" pitchFamily="18" charset="0"/>
                            </a:rPr>
                            <m:t>𝑘</m:t>
                          </m:r>
                          <m:r>
                            <a:rPr lang="en-IN" sz="2400" i="1">
                              <a:solidFill>
                                <a:srgbClr val="00B0F0"/>
                              </a:solidFill>
                              <a:latin typeface="Cambria Math" panose="02040503050406030204" pitchFamily="18" charset="0"/>
                              <a:cs typeface="Times New Roman" panose="02020603050405020304" pitchFamily="18" charset="0"/>
                            </a:rPr>
                            <m:t>+1</m:t>
                          </m:r>
                        </m:sup>
                      </m:sSubSup>
                      <m:r>
                        <a:rPr lang="en-IN" sz="2400" i="1">
                          <a:solidFill>
                            <a:srgbClr val="00B0F0"/>
                          </a:solidFill>
                          <a:latin typeface="Cambria Math" panose="02040503050406030204" pitchFamily="18" charset="0"/>
                          <a:cs typeface="Times New Roman" panose="02020603050405020304" pitchFamily="18" charset="0"/>
                        </a:rPr>
                        <m:t>=</m:t>
                      </m:r>
                      <m:r>
                        <a:rPr lang="en-IN" sz="2400" i="1">
                          <a:solidFill>
                            <a:srgbClr val="00B0F0"/>
                          </a:solidFill>
                          <a:latin typeface="Cambria Math" panose="02040503050406030204" pitchFamily="18" charset="0"/>
                          <a:cs typeface="Times New Roman" panose="02020603050405020304" pitchFamily="18" charset="0"/>
                        </a:rPr>
                        <m:t>𝑅</m:t>
                      </m:r>
                      <m:r>
                        <a:rPr lang="en-IN" sz="2400" i="1">
                          <a:solidFill>
                            <a:srgbClr val="00B0F0"/>
                          </a:solidFill>
                          <a:latin typeface="Cambria Math" panose="02040503050406030204" pitchFamily="18" charset="0"/>
                          <a:cs typeface="Times New Roman" panose="02020603050405020304" pitchFamily="18" charset="0"/>
                        </a:rPr>
                        <m:t>(</m:t>
                      </m:r>
                      <m:nary>
                        <m:naryPr>
                          <m:chr m:val="∑"/>
                          <m:ctrlPr>
                            <a:rPr lang="en-IN" sz="2400" i="1">
                              <a:solidFill>
                                <a:srgbClr val="00B0F0"/>
                              </a:solidFill>
                              <a:latin typeface="Cambria Math" panose="02040503050406030204" pitchFamily="18" charset="0"/>
                              <a:cs typeface="Times New Roman" panose="02020603050405020304" pitchFamily="18" charset="0"/>
                            </a:rPr>
                          </m:ctrlPr>
                        </m:naryPr>
                        <m:sub>
                          <m:r>
                            <a:rPr lang="en-IN" sz="2400" b="0" i="1" smtClean="0">
                              <a:solidFill>
                                <a:srgbClr val="00B0F0"/>
                              </a:solidFill>
                              <a:latin typeface="Cambria Math" panose="02040503050406030204" pitchFamily="18" charset="0"/>
                              <a:cs typeface="Times New Roman" panose="02020603050405020304" pitchFamily="18" charset="0"/>
                            </a:rPr>
                            <m:t>𝑒</m:t>
                          </m:r>
                          <m:r>
                            <a:rPr lang="en-IN" sz="2400" i="1">
                              <a:solidFill>
                                <a:srgbClr val="00B0F0"/>
                              </a:solidFill>
                              <a:latin typeface="Cambria Math" panose="02040503050406030204" pitchFamily="18" charset="0"/>
                              <a:cs typeface="Times New Roman" panose="02020603050405020304" pitchFamily="18" charset="0"/>
                            </a:rPr>
                            <m:t>=0</m:t>
                          </m:r>
                        </m:sub>
                        <m:sup>
                          <m:sSub>
                            <m:sSubPr>
                              <m:ctrlPr>
                                <a:rPr lang="en-IN" sz="2400" i="1">
                                  <a:solidFill>
                                    <a:srgbClr val="00B0F0"/>
                                  </a:solidFill>
                                  <a:latin typeface="Cambria Math" panose="02040503050406030204" pitchFamily="18" charset="0"/>
                                  <a:cs typeface="Times New Roman" panose="02020603050405020304" pitchFamily="18" charset="0"/>
                                </a:rPr>
                              </m:ctrlPr>
                            </m:sSubPr>
                            <m:e>
                              <m:r>
                                <a:rPr lang="en-IN" sz="2400" i="1">
                                  <a:solidFill>
                                    <a:srgbClr val="00B0F0"/>
                                  </a:solidFill>
                                  <a:latin typeface="Cambria Math" panose="02040503050406030204" pitchFamily="18" charset="0"/>
                                  <a:cs typeface="Times New Roman" panose="02020603050405020304" pitchFamily="18" charset="0"/>
                                </a:rPr>
                                <m:t>𝑀</m:t>
                              </m:r>
                            </m:e>
                            <m:sub>
                              <m:r>
                                <a:rPr lang="en-IN" sz="2400" i="1">
                                  <a:solidFill>
                                    <a:srgbClr val="00B0F0"/>
                                  </a:solidFill>
                                  <a:latin typeface="Cambria Math" panose="02040503050406030204" pitchFamily="18" charset="0"/>
                                  <a:cs typeface="Times New Roman" panose="02020603050405020304" pitchFamily="18" charset="0"/>
                                </a:rPr>
                                <m:t>𝐾</m:t>
                              </m:r>
                            </m:sub>
                          </m:sSub>
                        </m:sup>
                        <m:e>
                          <m:sSubSup>
                            <m:sSubSupPr>
                              <m:ctrlPr>
                                <a:rPr lang="en-IN" sz="2400" i="1" smtClean="0">
                                  <a:solidFill>
                                    <a:srgbClr val="00B0F0"/>
                                  </a:solidFill>
                                  <a:latin typeface="Cambria Math" panose="02040503050406030204" pitchFamily="18" charset="0"/>
                                  <a:cs typeface="Times New Roman" panose="02020603050405020304" pitchFamily="18" charset="0"/>
                                </a:rPr>
                              </m:ctrlPr>
                            </m:sSubSupPr>
                            <m:e>
                              <m:r>
                                <a:rPr lang="en-IN" sz="2400" i="1">
                                  <a:solidFill>
                                    <a:srgbClr val="00B0F0"/>
                                  </a:solidFill>
                                  <a:latin typeface="Cambria Math" panose="02040503050406030204" pitchFamily="18" charset="0"/>
                                  <a:cs typeface="Times New Roman" panose="02020603050405020304" pitchFamily="18" charset="0"/>
                                </a:rPr>
                                <m:t>𝑤</m:t>
                              </m:r>
                            </m:e>
                            <m:sub>
                              <m:r>
                                <a:rPr lang="en-IN" sz="2400" b="0" i="1" smtClean="0">
                                  <a:solidFill>
                                    <a:srgbClr val="00B0F0"/>
                                  </a:solidFill>
                                  <a:latin typeface="Cambria Math" panose="02040503050406030204" pitchFamily="18" charset="0"/>
                                  <a:cs typeface="Times New Roman" panose="02020603050405020304" pitchFamily="18" charset="0"/>
                                </a:rPr>
                                <m:t>𝑒</m:t>
                              </m:r>
                              <m:r>
                                <a:rPr lang="en-IN" sz="2400" i="1">
                                  <a:solidFill>
                                    <a:srgbClr val="00B0F0"/>
                                  </a:solidFill>
                                  <a:latin typeface="Cambria Math" panose="02040503050406030204" pitchFamily="18" charset="0"/>
                                  <a:cs typeface="Times New Roman" panose="02020603050405020304" pitchFamily="18" charset="0"/>
                                </a:rPr>
                                <m:t>𝑖</m:t>
                              </m:r>
                            </m:sub>
                            <m:sup>
                              <m:r>
                                <a:rPr lang="en-IN" sz="2400" i="1">
                                  <a:solidFill>
                                    <a:srgbClr val="00B0F0"/>
                                  </a:solidFill>
                                  <a:latin typeface="Cambria Math" panose="02040503050406030204" pitchFamily="18" charset="0"/>
                                  <a:cs typeface="Times New Roman" panose="02020603050405020304" pitchFamily="18" charset="0"/>
                                </a:rPr>
                                <m:t>(</m:t>
                              </m:r>
                              <m:r>
                                <a:rPr lang="en-IN" sz="2400" i="1">
                                  <a:solidFill>
                                    <a:srgbClr val="00B0F0"/>
                                  </a:solidFill>
                                  <a:latin typeface="Cambria Math" panose="02040503050406030204" pitchFamily="18" charset="0"/>
                                  <a:cs typeface="Times New Roman" panose="02020603050405020304" pitchFamily="18" charset="0"/>
                                </a:rPr>
                                <m:t>𝑘</m:t>
                              </m:r>
                              <m:r>
                                <a:rPr lang="en-IN" sz="2400" i="1">
                                  <a:solidFill>
                                    <a:srgbClr val="00B0F0"/>
                                  </a:solidFill>
                                  <a:latin typeface="Cambria Math" panose="02040503050406030204" pitchFamily="18" charset="0"/>
                                  <a:cs typeface="Times New Roman" panose="02020603050405020304" pitchFamily="18" charset="0"/>
                                </a:rPr>
                                <m:t>+1)</m:t>
                              </m:r>
                            </m:sup>
                          </m:sSubSup>
                        </m:e>
                      </m:nary>
                      <m:sSubSup>
                        <m:sSubSupPr>
                          <m:ctrlPr>
                            <a:rPr lang="en-IN" sz="2400" i="1">
                              <a:solidFill>
                                <a:srgbClr val="00B0F0"/>
                              </a:solidFill>
                              <a:latin typeface="Cambria Math" panose="02040503050406030204" pitchFamily="18" charset="0"/>
                              <a:cs typeface="Times New Roman" panose="02020603050405020304" pitchFamily="18" charset="0"/>
                            </a:rPr>
                          </m:ctrlPr>
                        </m:sSubSupPr>
                        <m:e>
                          <m:r>
                            <a:rPr lang="en-GB" sz="2400" b="0" i="1" smtClean="0">
                              <a:solidFill>
                                <a:srgbClr val="00B0F0"/>
                              </a:solidFill>
                              <a:latin typeface="Cambria Math" panose="02040503050406030204" pitchFamily="18" charset="0"/>
                              <a:cs typeface="Times New Roman" panose="02020603050405020304" pitchFamily="18" charset="0"/>
                            </a:rPr>
                            <m:t>𝐼</m:t>
                          </m:r>
                        </m:e>
                        <m:sub>
                          <m:r>
                            <a:rPr lang="en-IN" sz="2400" b="0" i="1" smtClean="0">
                              <a:solidFill>
                                <a:srgbClr val="00B0F0"/>
                              </a:solidFill>
                              <a:latin typeface="Cambria Math" panose="02040503050406030204" pitchFamily="18" charset="0"/>
                              <a:cs typeface="Times New Roman" panose="02020603050405020304" pitchFamily="18" charset="0"/>
                            </a:rPr>
                            <m:t>𝑒</m:t>
                          </m:r>
                        </m:sub>
                        <m:sup>
                          <m:r>
                            <a:rPr lang="en-IN" sz="2400" i="1">
                              <a:solidFill>
                                <a:srgbClr val="00B0F0"/>
                              </a:solidFill>
                              <a:latin typeface="Cambria Math" panose="02040503050406030204" pitchFamily="18" charset="0"/>
                              <a:cs typeface="Times New Roman" panose="02020603050405020304" pitchFamily="18" charset="0"/>
                            </a:rPr>
                            <m:t>(</m:t>
                          </m:r>
                          <m:r>
                            <a:rPr lang="en-IN" sz="2400" i="1">
                              <a:solidFill>
                                <a:srgbClr val="00B0F0"/>
                              </a:solidFill>
                              <a:latin typeface="Cambria Math" panose="02040503050406030204" pitchFamily="18" charset="0"/>
                              <a:cs typeface="Times New Roman" panose="02020603050405020304" pitchFamily="18" charset="0"/>
                            </a:rPr>
                            <m:t>𝑘</m:t>
                          </m:r>
                          <m:r>
                            <a:rPr lang="en-IN" sz="2400" i="1">
                              <a:solidFill>
                                <a:srgbClr val="00B0F0"/>
                              </a:solidFill>
                              <a:latin typeface="Cambria Math" panose="02040503050406030204" pitchFamily="18" charset="0"/>
                              <a:cs typeface="Times New Roman" panose="02020603050405020304" pitchFamily="18" charset="0"/>
                            </a:rPr>
                            <m:t>)</m:t>
                          </m:r>
                        </m:sup>
                      </m:sSubSup>
                      <m:r>
                        <a:rPr lang="en-IN" sz="2400" i="1">
                          <a:solidFill>
                            <a:srgbClr val="00B0F0"/>
                          </a:solidFill>
                          <a:latin typeface="Cambria Math" panose="02040503050406030204" pitchFamily="18" charset="0"/>
                          <a:cs typeface="Times New Roman" panose="02020603050405020304" pitchFamily="18" charset="0"/>
                        </a:rPr>
                        <m:t>)</m:t>
                      </m:r>
                    </m:oMath>
                  </m:oMathPara>
                </a14:m>
                <a:endParaRPr lang="en-IN" sz="2400" dirty="0">
                  <a:solidFill>
                    <a:srgbClr val="00B0F0"/>
                  </a:solidFill>
                </a:endParaRPr>
              </a:p>
            </p:txBody>
          </p:sp>
        </mc:Choice>
        <mc:Fallback>
          <p:sp>
            <p:nvSpPr>
              <p:cNvPr id="15" name="Rectangle 14">
                <a:extLst>
                  <a:ext uri="{FF2B5EF4-FFF2-40B4-BE49-F238E27FC236}">
                    <a16:creationId xmlns:a16="http://schemas.microsoft.com/office/drawing/2014/main" id="{2965915D-ACFF-70E1-F38E-0B1FBD245160}"/>
                  </a:ext>
                </a:extLst>
              </p:cNvPr>
              <p:cNvSpPr>
                <a:spLocks noRot="1" noChangeAspect="1" noMove="1" noResize="1" noEditPoints="1" noAdjustHandles="1" noChangeArrowheads="1" noChangeShapeType="1" noTextEdit="1"/>
              </p:cNvSpPr>
              <p:nvPr/>
            </p:nvSpPr>
            <p:spPr>
              <a:xfrm>
                <a:off x="6111437" y="3322962"/>
                <a:ext cx="3657924" cy="113114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6" name="Rectangle 15"/>
              <p:cNvSpPr/>
              <p:nvPr/>
            </p:nvSpPr>
            <p:spPr>
              <a:xfrm>
                <a:off x="5800725" y="4708218"/>
                <a:ext cx="6181725" cy="391095"/>
              </a:xfrm>
              <a:prstGeom prst="rect">
                <a:avLst/>
              </a:prstGeom>
            </p:spPr>
            <p:txBody>
              <a:bodyPr vert="horz" lIns="91440" tIns="45720" rIns="91440" bIns="45720" rtlCol="0">
                <a:normAutofit/>
              </a:bodyPr>
              <a:lstStyle/>
              <a:p>
                <a:pPr algn="just">
                  <a:lnSpc>
                    <a:spcPct val="90000"/>
                  </a:lnSpc>
                  <a:spcBef>
                    <a:spcPts val="1000"/>
                  </a:spcBef>
                </a:pPr>
                <a:r>
                  <a:rPr lang="en-IN" sz="2000" dirty="0">
                    <a:latin typeface="Arial Narrow" panose="020B0606020202030204" pitchFamily="34" charset="0"/>
                  </a:rPr>
                  <a:t>where </a:t>
                </a:r>
                <a14:m>
                  <m:oMath xmlns:m="http://schemas.openxmlformats.org/officeDocument/2006/math">
                    <m:sSub>
                      <m:sSubPr>
                        <m:ctrlPr>
                          <a:rPr lang="en-IN" sz="2000" i="1">
                            <a:latin typeface="Cambria Math" panose="02040503050406030204" pitchFamily="18" charset="0"/>
                          </a:rPr>
                        </m:ctrlPr>
                      </m:sSubPr>
                      <m:e>
                        <m:r>
                          <a:rPr lang="en-IN" sz="2000">
                            <a:latin typeface="Cambria Math" panose="02040503050406030204" pitchFamily="18" charset="0"/>
                          </a:rPr>
                          <m:t>𝑀</m:t>
                        </m:r>
                      </m:e>
                      <m:sub>
                        <m:r>
                          <a:rPr lang="en-IN" sz="2000">
                            <a:latin typeface="Cambria Math" panose="02040503050406030204" pitchFamily="18" charset="0"/>
                          </a:rPr>
                          <m:t>𝐾</m:t>
                        </m:r>
                        <m:r>
                          <a:rPr lang="en-IN" sz="2000">
                            <a:latin typeface="Cambria Math" panose="02040503050406030204" pitchFamily="18" charset="0"/>
                          </a:rPr>
                          <m:t> </m:t>
                        </m:r>
                      </m:sub>
                    </m:sSub>
                  </m:oMath>
                </a14:m>
                <a:r>
                  <a:rPr lang="en-IN" sz="2000" dirty="0">
                    <a:latin typeface="Arial Narrow" panose="020B0606020202030204" pitchFamily="34" charset="0"/>
                  </a:rPr>
                  <a:t> is the number of nodes in the kth hidden layer. </a:t>
                </a:r>
              </a:p>
            </p:txBody>
          </p:sp>
        </mc:Choice>
        <mc:Fallback>
          <p:sp>
            <p:nvSpPr>
              <p:cNvPr id="16" name="Rectangle 15"/>
              <p:cNvSpPr>
                <a:spLocks noRot="1" noChangeAspect="1" noMove="1" noResize="1" noEditPoints="1" noAdjustHandles="1" noChangeArrowheads="1" noChangeShapeType="1" noTextEdit="1"/>
              </p:cNvSpPr>
              <p:nvPr/>
            </p:nvSpPr>
            <p:spPr>
              <a:xfrm>
                <a:off x="5800725" y="4708218"/>
                <a:ext cx="6181725" cy="391095"/>
              </a:xfrm>
              <a:prstGeom prst="rect">
                <a:avLst/>
              </a:prstGeom>
              <a:blipFill>
                <a:blip r:embed="rId7"/>
                <a:stretch>
                  <a:fillRect l="-1085" t="-15385" b="-20000"/>
                </a:stretch>
              </a:blipFill>
            </p:spPr>
            <p:txBody>
              <a:bodyPr/>
              <a:lstStyle/>
              <a:p>
                <a:r>
                  <a:rPr lang="en-GB">
                    <a:noFill/>
                  </a:rPr>
                  <a:t> </a:t>
                </a:r>
              </a:p>
            </p:txBody>
          </p:sp>
        </mc:Fallback>
      </mc:AlternateContent>
    </p:spTree>
    <p:extLst>
      <p:ext uri="{BB962C8B-B14F-4D97-AF65-F5344CB8AC3E}">
        <p14:creationId xmlns:p14="http://schemas.microsoft.com/office/powerpoint/2010/main" val="3865065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750" y="271769"/>
            <a:ext cx="6539990" cy="926874"/>
          </a:xfrm>
        </p:spPr>
        <p:txBody>
          <a:bodyPr>
            <a:normAutofit/>
          </a:bodyPr>
          <a:lstStyle/>
          <a:p>
            <a:r>
              <a:rPr lang="en-IN" sz="3600" dirty="0">
                <a:latin typeface="Century" panose="02040604050505020304" pitchFamily="18" charset="0"/>
              </a:rPr>
              <a:t>Backpropagation : Algorithm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35831F2-71F4-1D3C-FC60-66B21E15757D}"/>
                  </a:ext>
                </a:extLst>
              </p:cNvPr>
              <p:cNvSpPr txBox="1"/>
              <p:nvPr/>
            </p:nvSpPr>
            <p:spPr>
              <a:xfrm>
                <a:off x="3366399" y="1971571"/>
                <a:ext cx="3078087" cy="661720"/>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IN" sz="2100" i="1" smtClean="0">
                          <a:latin typeface="Cambria Math" panose="02040503050406030204" pitchFamily="18" charset="0"/>
                        </a:rPr>
                        <m:t>𝐸</m:t>
                      </m:r>
                      <m:r>
                        <a:rPr lang="en-IN" sz="2100" i="1" smtClean="0">
                          <a:latin typeface="Cambria Math" panose="02040503050406030204" pitchFamily="18" charset="0"/>
                        </a:rPr>
                        <m:t>= </m:t>
                      </m:r>
                      <m:f>
                        <m:fPr>
                          <m:ctrlPr>
                            <a:rPr lang="en-IN" sz="2100" i="1">
                              <a:latin typeface="Cambria Math" panose="02040503050406030204" pitchFamily="18" charset="0"/>
                            </a:rPr>
                          </m:ctrlPr>
                        </m:fPr>
                        <m:num>
                          <m:r>
                            <a:rPr lang="en-IN" sz="2100" i="1">
                              <a:latin typeface="Cambria Math" panose="02040503050406030204" pitchFamily="18" charset="0"/>
                            </a:rPr>
                            <m:t>1</m:t>
                          </m:r>
                        </m:num>
                        <m:den>
                          <m:r>
                            <a:rPr lang="en-IN" sz="2100" i="1">
                              <a:latin typeface="Cambria Math" panose="02040503050406030204" pitchFamily="18" charset="0"/>
                            </a:rPr>
                            <m:t>2</m:t>
                          </m:r>
                        </m:den>
                      </m:f>
                      <m:nary>
                        <m:naryPr>
                          <m:chr m:val="∑"/>
                          <m:limLoc m:val="subSup"/>
                          <m:ctrlPr>
                            <a:rPr lang="en-IN" sz="2100" i="1">
                              <a:latin typeface="Cambria Math" panose="02040503050406030204" pitchFamily="18" charset="0"/>
                            </a:rPr>
                          </m:ctrlPr>
                        </m:naryPr>
                        <m:sub>
                          <m:r>
                            <m:rPr>
                              <m:brk m:alnAt="1"/>
                            </m:rPr>
                            <a:rPr lang="en-IN" sz="2100" b="0" i="1" smtClean="0">
                              <a:latin typeface="Cambria Math" panose="02040503050406030204" pitchFamily="18" charset="0"/>
                            </a:rPr>
                            <m:t>𝑖</m:t>
                          </m:r>
                          <m:r>
                            <a:rPr lang="en-IN" sz="2100" i="1">
                              <a:latin typeface="Cambria Math" panose="02040503050406030204" pitchFamily="18" charset="0"/>
                            </a:rPr>
                            <m:t>=0</m:t>
                          </m:r>
                        </m:sub>
                        <m:sup>
                          <m:sSub>
                            <m:sSubPr>
                              <m:ctrlPr>
                                <a:rPr lang="en-IN" sz="2100" i="1">
                                  <a:latin typeface="Cambria Math" panose="02040503050406030204" pitchFamily="18" charset="0"/>
                                </a:rPr>
                              </m:ctrlPr>
                            </m:sSubPr>
                            <m:e>
                              <m:r>
                                <a:rPr lang="en-IN" sz="2100" i="1">
                                  <a:latin typeface="Cambria Math" panose="02040503050406030204" pitchFamily="18" charset="0"/>
                                </a:rPr>
                                <m:t>𝑀</m:t>
                              </m:r>
                            </m:e>
                            <m:sub>
                              <m:r>
                                <a:rPr lang="en-IN" sz="2100" i="1">
                                  <a:latin typeface="Cambria Math" panose="02040503050406030204" pitchFamily="18" charset="0"/>
                                </a:rPr>
                                <m:t>𝐾</m:t>
                              </m:r>
                            </m:sub>
                          </m:sSub>
                        </m:sup>
                        <m:e>
                          <m:sSup>
                            <m:sSupPr>
                              <m:ctrlPr>
                                <a:rPr lang="en-IN" sz="2100" i="1">
                                  <a:latin typeface="Cambria Math" panose="02040503050406030204" pitchFamily="18" charset="0"/>
                                </a:rPr>
                              </m:ctrlPr>
                            </m:sSupPr>
                            <m:e>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i="1">
                                      <a:latin typeface="Cambria Math" panose="02040503050406030204" pitchFamily="18" charset="0"/>
                                    </a:rPr>
                                    <m:t>𝑑</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r>
                                <a:rPr lang="en-IN" sz="2100" i="1">
                                  <a:latin typeface="Cambria Math" panose="02040503050406030204" pitchFamily="18" charset="0"/>
                                </a:rPr>
                                <m:t>)</m:t>
                              </m:r>
                            </m:e>
                            <m:sup>
                              <m:r>
                                <a:rPr lang="en-IN" sz="2100" i="1">
                                  <a:latin typeface="Cambria Math" panose="02040503050406030204" pitchFamily="18" charset="0"/>
                                </a:rPr>
                                <m:t>2</m:t>
                              </m:r>
                            </m:sup>
                          </m:sSup>
                        </m:e>
                      </m:nary>
                    </m:oMath>
                  </m:oMathPara>
                </a14:m>
                <a:endParaRPr lang="en-IN" sz="2100" dirty="0">
                  <a:latin typeface="Arial Narrow" panose="020B0606020202030204" pitchFamily="34" charset="0"/>
                </a:endParaRPr>
              </a:p>
            </p:txBody>
          </p:sp>
        </mc:Choice>
        <mc:Fallback xmlns="">
          <p:sp>
            <p:nvSpPr>
              <p:cNvPr id="5" name="TextBox 4">
                <a:extLst>
                  <a:ext uri="{FF2B5EF4-FFF2-40B4-BE49-F238E27FC236}">
                    <a16:creationId xmlns:a16="http://schemas.microsoft.com/office/drawing/2014/main" id="{835831F2-71F4-1D3C-FC60-66B21E15757D}"/>
                  </a:ext>
                </a:extLst>
              </p:cNvPr>
              <p:cNvSpPr txBox="1">
                <a:spLocks noRot="1" noChangeAspect="1" noMove="1" noResize="1" noEditPoints="1" noAdjustHandles="1" noChangeArrowheads="1" noChangeShapeType="1" noTextEdit="1"/>
              </p:cNvSpPr>
              <p:nvPr/>
            </p:nvSpPr>
            <p:spPr>
              <a:xfrm>
                <a:off x="3366399" y="1971571"/>
                <a:ext cx="3078087" cy="661720"/>
              </a:xfrm>
              <a:prstGeom prst="rect">
                <a:avLst/>
              </a:prstGeom>
              <a:blipFill>
                <a:blip r:embed="rId2"/>
                <a:stretch>
                  <a:fillRect/>
                </a:stretch>
              </a:blipFill>
            </p:spPr>
            <p:txBody>
              <a:bodyPr/>
              <a:lstStyle/>
              <a:p>
                <a:r>
                  <a:rPr lang="en-IN">
                    <a:noFill/>
                  </a:rPr>
                  <a:t> </a:t>
                </a:r>
              </a:p>
            </p:txBody>
          </p:sp>
        </mc:Fallback>
      </mc:AlternateContent>
      <p:sp>
        <p:nvSpPr>
          <p:cNvPr id="6" name="TextBox 4">
            <a:extLst>
              <a:ext uri="{FF2B5EF4-FFF2-40B4-BE49-F238E27FC236}">
                <a16:creationId xmlns:a16="http://schemas.microsoft.com/office/drawing/2014/main" id="{D6D0AD70-EF26-A65A-766C-9A5CC45765B1}"/>
              </a:ext>
            </a:extLst>
          </p:cNvPr>
          <p:cNvSpPr txBox="1"/>
          <p:nvPr/>
        </p:nvSpPr>
        <p:spPr>
          <a:xfrm>
            <a:off x="2492664" y="2147174"/>
            <a:ext cx="982540" cy="41549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100" dirty="0">
                <a:latin typeface="Arial Narrow" panose="020B0606020202030204" pitchFamily="34" charset="0"/>
                <a:cs typeface="Times New Roman" panose="02020603050405020304" pitchFamily="18" charset="0"/>
              </a:rPr>
              <a:t>Error:</a:t>
            </a:r>
          </a:p>
        </p:txBody>
      </p:sp>
      <p:sp>
        <p:nvSpPr>
          <p:cNvPr id="7" name="TextBox 5">
            <a:extLst>
              <a:ext uri="{FF2B5EF4-FFF2-40B4-BE49-F238E27FC236}">
                <a16:creationId xmlns:a16="http://schemas.microsoft.com/office/drawing/2014/main" id="{F89CB2B8-F655-889C-EBA1-DD06A4275FA1}"/>
              </a:ext>
            </a:extLst>
          </p:cNvPr>
          <p:cNvSpPr txBox="1"/>
          <p:nvPr/>
        </p:nvSpPr>
        <p:spPr>
          <a:xfrm>
            <a:off x="7206740" y="2240530"/>
            <a:ext cx="1661035"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000" dirty="0">
                <a:solidFill>
                  <a:srgbClr val="00B0F0"/>
                </a:solidFill>
                <a:latin typeface="Arial Narrow" panose="020B0606020202030204" pitchFamily="34" charset="0"/>
                <a:cs typeface="Times New Roman" panose="02020603050405020304" pitchFamily="18" charset="0"/>
              </a:rPr>
              <a:t>at output layer</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0E5BB68-1C85-B95A-119A-997D70760DFE}"/>
                  </a:ext>
                </a:extLst>
              </p:cNvPr>
              <p:cNvSpPr/>
              <p:nvPr/>
            </p:nvSpPr>
            <p:spPr>
              <a:xfrm>
                <a:off x="2828702" y="2715193"/>
                <a:ext cx="3836666" cy="97033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IN" sz="2100" i="1" smtClean="0">
                              <a:latin typeface="Cambria Math" panose="02040503050406030204" pitchFamily="18" charset="0"/>
                            </a:rPr>
                          </m:ctrlPr>
                        </m:fPr>
                        <m:num>
                          <m:r>
                            <a:rPr lang="en-IN" sz="2100" i="1">
                              <a:latin typeface="Cambria Math" panose="02040503050406030204" pitchFamily="18" charset="0"/>
                            </a:rPr>
                            <m:t>𝜕</m:t>
                          </m:r>
                          <m:r>
                            <a:rPr lang="en-IN" sz="2100" i="1">
                              <a:latin typeface="Cambria Math" panose="02040503050406030204" pitchFamily="18" charset="0"/>
                            </a:rPr>
                            <m:t>𝐸</m:t>
                          </m:r>
                        </m:num>
                        <m:den>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i="1">
                                  <a:latin typeface="Cambria Math" panose="02040503050406030204" pitchFamily="18" charset="0"/>
                                </a:rPr>
                                <m:t>𝑤</m:t>
                              </m:r>
                            </m:e>
                            <m:sub>
                              <m:r>
                                <a:rPr lang="en-IN" sz="2100" b="0" i="1" smtClean="0">
                                  <a:latin typeface="Cambria Math" panose="02040503050406030204" pitchFamily="18" charset="0"/>
                                </a:rPr>
                                <m:t>𝑒</m:t>
                              </m:r>
                              <m:r>
                                <a:rPr lang="en-IN" sz="2100" i="1">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den>
                      </m:f>
                      <m:r>
                        <a:rPr lang="en-IN" sz="2100" i="1">
                          <a:latin typeface="Cambria Math" panose="02040503050406030204" pitchFamily="18" charset="0"/>
                        </a:rPr>
                        <m:t>=</m:t>
                      </m:r>
                      <m:d>
                        <m:dPr>
                          <m:ctrlPr>
                            <a:rPr lang="en-IN" sz="2100" i="1">
                              <a:latin typeface="Cambria Math" panose="02040503050406030204" pitchFamily="18" charset="0"/>
                            </a:rPr>
                          </m:ctrlPr>
                        </m:dPr>
                        <m:e>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i="1">
                                  <a:latin typeface="Cambria Math" panose="02040503050406030204" pitchFamily="18" charset="0"/>
                                </a:rPr>
                                <m:t>𝑑</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e>
                      </m:d>
                      <m:r>
                        <a:rPr lang="en-IN" sz="2100" i="1">
                          <a:latin typeface="Cambria Math" panose="02040503050406030204" pitchFamily="18" charset="0"/>
                        </a:rPr>
                        <m:t>[</m:t>
                      </m:r>
                      <m:f>
                        <m:fPr>
                          <m:ctrlPr>
                            <a:rPr lang="en-IN" sz="2100" i="1">
                              <a:latin typeface="Cambria Math" panose="02040503050406030204" pitchFamily="18" charset="0"/>
                            </a:rPr>
                          </m:ctrlPr>
                        </m:fPr>
                        <m:num>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num>
                        <m:den>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i="1">
                                  <a:latin typeface="Cambria Math" panose="02040503050406030204" pitchFamily="18" charset="0"/>
                                </a:rPr>
                                <m:t>𝑤</m:t>
                              </m:r>
                            </m:e>
                            <m:sub>
                              <m:r>
                                <a:rPr lang="en-IN" sz="2100" b="0" i="1" smtClean="0">
                                  <a:latin typeface="Cambria Math" panose="02040503050406030204" pitchFamily="18" charset="0"/>
                                </a:rPr>
                                <m:t>𝑒</m:t>
                              </m:r>
                              <m:r>
                                <a:rPr lang="en-IN" sz="2100" i="1">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den>
                      </m:f>
                      <m:r>
                        <a:rPr lang="en-IN" sz="2100" i="1">
                          <a:latin typeface="Cambria Math" panose="02040503050406030204" pitchFamily="18" charset="0"/>
                        </a:rPr>
                        <m:t>]</m:t>
                      </m:r>
                    </m:oMath>
                  </m:oMathPara>
                </a14:m>
                <a:endParaRPr lang="en-IN" sz="2100" dirty="0">
                  <a:latin typeface="Arial Narrow" panose="020B0606020202030204" pitchFamily="34" charset="0"/>
                </a:endParaRPr>
              </a:p>
            </p:txBody>
          </p:sp>
        </mc:Choice>
        <mc:Fallback xmlns="">
          <p:sp>
            <p:nvSpPr>
              <p:cNvPr id="8" name="Rectangle 7">
                <a:extLst>
                  <a:ext uri="{FF2B5EF4-FFF2-40B4-BE49-F238E27FC236}">
                    <a16:creationId xmlns:a16="http://schemas.microsoft.com/office/drawing/2014/main" id="{90E5BB68-1C85-B95A-119A-997D70760DFE}"/>
                  </a:ext>
                </a:extLst>
              </p:cNvPr>
              <p:cNvSpPr>
                <a:spLocks noRot="1" noChangeAspect="1" noMove="1" noResize="1" noEditPoints="1" noAdjustHandles="1" noChangeArrowheads="1" noChangeShapeType="1" noTextEdit="1"/>
              </p:cNvSpPr>
              <p:nvPr/>
            </p:nvSpPr>
            <p:spPr>
              <a:xfrm>
                <a:off x="2828702" y="2715193"/>
                <a:ext cx="3836666" cy="970330"/>
              </a:xfrm>
              <a:prstGeom prst="rect">
                <a:avLst/>
              </a:prstGeom>
              <a:blipFill>
                <a:blip r:embed="rId3"/>
                <a:stretch>
                  <a:fillRect/>
                </a:stretch>
              </a:blipFill>
            </p:spPr>
            <p:txBody>
              <a:bodyPr/>
              <a:lstStyle/>
              <a:p>
                <a:r>
                  <a:rPr lang="en-IN">
                    <a:noFill/>
                  </a:rPr>
                  <a:t> </a:t>
                </a:r>
              </a:p>
            </p:txBody>
          </p:sp>
        </mc:Fallback>
      </mc:AlternateContent>
      <p:sp>
        <p:nvSpPr>
          <p:cNvPr id="9" name="TextBox 7">
            <a:extLst>
              <a:ext uri="{FF2B5EF4-FFF2-40B4-BE49-F238E27FC236}">
                <a16:creationId xmlns:a16="http://schemas.microsoft.com/office/drawing/2014/main" id="{B6B5BAFE-753E-782A-B87E-B14743F2B514}"/>
              </a:ext>
            </a:extLst>
          </p:cNvPr>
          <p:cNvSpPr txBox="1"/>
          <p:nvPr/>
        </p:nvSpPr>
        <p:spPr>
          <a:xfrm>
            <a:off x="2410269" y="3977687"/>
            <a:ext cx="818860" cy="41549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100" dirty="0">
                <a:latin typeface="Arial Narrow" panose="020B0606020202030204" pitchFamily="34" charset="0"/>
                <a:cs typeface="Times New Roman" panose="02020603050405020304" pitchFamily="18" charset="0"/>
              </a:rPr>
              <a:t>Now,</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6DF5FE74-30BE-0E76-FBFE-CEB034BB731C}"/>
                  </a:ext>
                </a:extLst>
              </p:cNvPr>
              <p:cNvSpPr/>
              <p:nvPr/>
            </p:nvSpPr>
            <p:spPr>
              <a:xfrm>
                <a:off x="3277755" y="3663724"/>
                <a:ext cx="4725333" cy="97033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IN" sz="2100" i="1" smtClean="0">
                              <a:latin typeface="Cambria Math" panose="02040503050406030204" pitchFamily="18" charset="0"/>
                            </a:rPr>
                          </m:ctrlPr>
                        </m:fPr>
                        <m:num>
                          <m:r>
                            <a:rPr lang="en-IN" sz="2100" i="1">
                              <a:latin typeface="Cambria Math" panose="02040503050406030204" pitchFamily="18" charset="0"/>
                            </a:rPr>
                            <m:t>𝜕</m:t>
                          </m:r>
                          <m:sSubSup>
                            <m:sSubSupPr>
                              <m:ctrlPr>
                                <a:rPr lang="en-IN" sz="2100" i="1" smtClean="0">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num>
                        <m:den>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i="1">
                                  <a:latin typeface="Cambria Math" panose="02040503050406030204" pitchFamily="18" charset="0"/>
                                </a:rPr>
                                <m:t>𝑤</m:t>
                              </m:r>
                            </m:e>
                            <m:sub>
                              <m:r>
                                <a:rPr lang="en-IN" sz="2100" b="0" i="1" smtClean="0">
                                  <a:latin typeface="Cambria Math" panose="02040503050406030204" pitchFamily="18" charset="0"/>
                                </a:rPr>
                                <m:t>𝑒</m:t>
                              </m:r>
                              <m:r>
                                <a:rPr lang="en-IN" sz="2100" i="1">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den>
                      </m:f>
                      <m:r>
                        <a:rPr lang="en-IN" sz="2100" i="1">
                          <a:latin typeface="Cambria Math" panose="02040503050406030204" pitchFamily="18" charset="0"/>
                        </a:rPr>
                        <m:t>= </m:t>
                      </m:r>
                      <m:f>
                        <m:fPr>
                          <m:ctrlPr>
                            <a:rPr lang="en-IN" sz="2100" i="1">
                              <a:latin typeface="Cambria Math" panose="02040503050406030204" pitchFamily="18" charset="0"/>
                            </a:rPr>
                          </m:ctrlPr>
                        </m:fPr>
                        <m:num>
                          <m:r>
                            <a:rPr lang="en-IN" sz="2100" i="1">
                              <a:latin typeface="Cambria Math" panose="02040503050406030204" pitchFamily="18" charset="0"/>
                            </a:rPr>
                            <m:t>𝜕</m:t>
                          </m:r>
                        </m:num>
                        <m:den>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i="1">
                                  <a:latin typeface="Cambria Math" panose="02040503050406030204" pitchFamily="18" charset="0"/>
                                </a:rPr>
                                <m:t>𝑤</m:t>
                              </m:r>
                            </m:e>
                            <m:sub>
                              <m:r>
                                <a:rPr lang="en-IN" sz="2100" b="0" i="1" smtClean="0">
                                  <a:latin typeface="Cambria Math" panose="02040503050406030204" pitchFamily="18" charset="0"/>
                                </a:rPr>
                                <m:t>𝑒</m:t>
                              </m:r>
                              <m:r>
                                <a:rPr lang="en-IN" sz="2100" i="1">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den>
                      </m:f>
                      <m:r>
                        <a:rPr lang="en-IN" sz="2100" i="1">
                          <a:latin typeface="Cambria Math" panose="02040503050406030204" pitchFamily="18" charset="0"/>
                        </a:rPr>
                        <m:t> </m:t>
                      </m:r>
                      <m:r>
                        <a:rPr lang="en-IN" sz="2100" i="1">
                          <a:latin typeface="Cambria Math" panose="02040503050406030204" pitchFamily="18" charset="0"/>
                        </a:rPr>
                        <m:t>𝑅</m:t>
                      </m:r>
                      <m:r>
                        <a:rPr lang="en-IN" sz="2100" i="1">
                          <a:latin typeface="Cambria Math" panose="02040503050406030204" pitchFamily="18" charset="0"/>
                        </a:rPr>
                        <m:t>(</m:t>
                      </m:r>
                      <m:nary>
                        <m:naryPr>
                          <m:chr m:val="∑"/>
                          <m:limLoc m:val="subSup"/>
                          <m:ctrlPr>
                            <a:rPr lang="en-IN" sz="2100" i="1">
                              <a:latin typeface="Cambria Math" panose="02040503050406030204" pitchFamily="18" charset="0"/>
                            </a:rPr>
                          </m:ctrlPr>
                        </m:naryPr>
                        <m:sub>
                          <m:r>
                            <m:rPr>
                              <m:brk m:alnAt="1"/>
                            </m:rPr>
                            <a:rPr lang="en-IN" sz="2100" b="0" i="1" smtClean="0">
                              <a:latin typeface="Cambria Math" panose="02040503050406030204" pitchFamily="18" charset="0"/>
                            </a:rPr>
                            <m:t>𝑖</m:t>
                          </m:r>
                          <m:r>
                            <a:rPr lang="en-IN" sz="2100" i="1">
                              <a:latin typeface="Cambria Math" panose="02040503050406030204" pitchFamily="18" charset="0"/>
                            </a:rPr>
                            <m:t>=0</m:t>
                          </m:r>
                        </m:sub>
                        <m:sup>
                          <m:sSub>
                            <m:sSubPr>
                              <m:ctrlPr>
                                <a:rPr lang="en-IN" sz="2100" i="1">
                                  <a:latin typeface="Cambria Math" panose="02040503050406030204" pitchFamily="18" charset="0"/>
                                </a:rPr>
                              </m:ctrlPr>
                            </m:sSubPr>
                            <m:e>
                              <m:r>
                                <a:rPr lang="en-IN" sz="2100" i="1">
                                  <a:latin typeface="Cambria Math" panose="02040503050406030204" pitchFamily="18" charset="0"/>
                                </a:rPr>
                                <m:t>𝑀</m:t>
                              </m:r>
                            </m:e>
                            <m:sub>
                              <m:r>
                                <a:rPr lang="en-IN" sz="2100" i="1">
                                  <a:latin typeface="Cambria Math" panose="02040503050406030204" pitchFamily="18" charset="0"/>
                                </a:rPr>
                                <m:t>𝑘</m:t>
                              </m:r>
                              <m:r>
                                <a:rPr lang="en-IN" sz="2100" i="1">
                                  <a:latin typeface="Cambria Math" panose="02040503050406030204" pitchFamily="18" charset="0"/>
                                </a:rPr>
                                <m:t>−1</m:t>
                              </m:r>
                            </m:sub>
                          </m:sSub>
                        </m:sup>
                        <m:e>
                          <m:sSubSup>
                            <m:sSubSupPr>
                              <m:ctrlPr>
                                <a:rPr lang="en-IN" sz="2100" i="1">
                                  <a:latin typeface="Cambria Math" panose="02040503050406030204" pitchFamily="18" charset="0"/>
                                </a:rPr>
                              </m:ctrlPr>
                            </m:sSubSupPr>
                            <m:e>
                              <m:r>
                                <a:rPr lang="en-IN" sz="2100" i="1">
                                  <a:latin typeface="Cambria Math" panose="02040503050406030204" pitchFamily="18" charset="0"/>
                                </a:rPr>
                                <m:t>𝑤</m:t>
                              </m:r>
                            </m:e>
                            <m:sub>
                              <m:r>
                                <a:rPr lang="en-IN" sz="2100" b="0" i="1" smtClean="0">
                                  <a:latin typeface="Cambria Math" panose="02040503050406030204" pitchFamily="18" charset="0"/>
                                </a:rPr>
                                <m:t>𝑒</m:t>
                              </m:r>
                              <m:r>
                                <a:rPr lang="en-IN" sz="2100" i="1">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𝑗</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−1)</m:t>
                              </m:r>
                            </m:sup>
                          </m:sSubSup>
                        </m:e>
                      </m:nary>
                      <m:r>
                        <a:rPr lang="en-IN" sz="2100" i="1">
                          <a:latin typeface="Cambria Math" panose="02040503050406030204" pitchFamily="18" charset="0"/>
                        </a:rPr>
                        <m:t>)</m:t>
                      </m:r>
                    </m:oMath>
                  </m:oMathPara>
                </a14:m>
                <a:endParaRPr lang="en-IN" sz="2100" dirty="0">
                  <a:latin typeface="Arial Narrow" panose="020B0606020202030204" pitchFamily="34" charset="0"/>
                </a:endParaRPr>
              </a:p>
            </p:txBody>
          </p:sp>
        </mc:Choice>
        <mc:Fallback xmlns="">
          <p:sp>
            <p:nvSpPr>
              <p:cNvPr id="10" name="Rectangle 9">
                <a:extLst>
                  <a:ext uri="{FF2B5EF4-FFF2-40B4-BE49-F238E27FC236}">
                    <a16:creationId xmlns:a16="http://schemas.microsoft.com/office/drawing/2014/main" id="{6DF5FE74-30BE-0E76-FBFE-CEB034BB731C}"/>
                  </a:ext>
                </a:extLst>
              </p:cNvPr>
              <p:cNvSpPr>
                <a:spLocks noRot="1" noChangeAspect="1" noMove="1" noResize="1" noEditPoints="1" noAdjustHandles="1" noChangeArrowheads="1" noChangeShapeType="1" noTextEdit="1"/>
              </p:cNvSpPr>
              <p:nvPr/>
            </p:nvSpPr>
            <p:spPr>
              <a:xfrm>
                <a:off x="3277755" y="3663724"/>
                <a:ext cx="4725333" cy="97033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9">
                <a:extLst>
                  <a:ext uri="{FF2B5EF4-FFF2-40B4-BE49-F238E27FC236}">
                    <a16:creationId xmlns:a16="http://schemas.microsoft.com/office/drawing/2014/main" id="{92C67CB7-B91D-1923-B1C3-CC255C218D48}"/>
                  </a:ext>
                </a:extLst>
              </p:cNvPr>
              <p:cNvSpPr txBox="1"/>
              <p:nvPr/>
            </p:nvSpPr>
            <p:spPr>
              <a:xfrm>
                <a:off x="4124736" y="4851327"/>
                <a:ext cx="2371290" cy="418191"/>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100" dirty="0">
                    <a:latin typeface="Arial Narrow" panose="020B0606020202030204" pitchFamily="34" charset="0"/>
                    <a:cs typeface="Times New Roman" panose="02020603050405020304" pitchFamily="18" charset="0"/>
                  </a:rPr>
                  <a:t>= </a:t>
                </a:r>
                <a14:m>
                  <m:oMath xmlns:m="http://schemas.openxmlformats.org/officeDocument/2006/math">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r>
                      <a:rPr lang="en-IN" sz="2100" i="1">
                        <a:latin typeface="Cambria Math" panose="02040503050406030204" pitchFamily="18" charset="0"/>
                      </a:rPr>
                      <m:t>(1−</m:t>
                    </m:r>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𝑒</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−1)</m:t>
                        </m:r>
                      </m:sup>
                    </m:sSubSup>
                  </m:oMath>
                </a14:m>
                <a:endParaRPr lang="en-IN" sz="2100" dirty="0">
                  <a:latin typeface="Arial Narrow" panose="020B0606020202030204" pitchFamily="34" charset="0"/>
                  <a:cs typeface="Times New Roman" panose="02020603050405020304" pitchFamily="18" charset="0"/>
                </a:endParaRPr>
              </a:p>
            </p:txBody>
          </p:sp>
        </mc:Choice>
        <mc:Fallback xmlns="">
          <p:sp>
            <p:nvSpPr>
              <p:cNvPr id="11" name="TextBox 9">
                <a:extLst>
                  <a:ext uri="{FF2B5EF4-FFF2-40B4-BE49-F238E27FC236}">
                    <a16:creationId xmlns:a16="http://schemas.microsoft.com/office/drawing/2014/main" id="{92C67CB7-B91D-1923-B1C3-CC255C218D48}"/>
                  </a:ext>
                </a:extLst>
              </p:cNvPr>
              <p:cNvSpPr txBox="1">
                <a:spLocks noRot="1" noChangeAspect="1" noMove="1" noResize="1" noEditPoints="1" noAdjustHandles="1" noChangeArrowheads="1" noChangeShapeType="1" noTextEdit="1"/>
              </p:cNvSpPr>
              <p:nvPr/>
            </p:nvSpPr>
            <p:spPr>
              <a:xfrm>
                <a:off x="4124736" y="4851327"/>
                <a:ext cx="2371290" cy="418191"/>
              </a:xfrm>
              <a:prstGeom prst="rect">
                <a:avLst/>
              </a:prstGeom>
              <a:blipFill>
                <a:blip r:embed="rId5"/>
                <a:stretch>
                  <a:fillRect l="-6941" t="-7353" b="-30882"/>
                </a:stretch>
              </a:blipFill>
            </p:spPr>
            <p:txBody>
              <a:bodyPr/>
              <a:lstStyle/>
              <a:p>
                <a:r>
                  <a:rPr lang="en-IN">
                    <a:noFill/>
                  </a:rPr>
                  <a:t> </a:t>
                </a:r>
              </a:p>
            </p:txBody>
          </p:sp>
        </mc:Fallback>
      </mc:AlternateContent>
      <p:sp>
        <p:nvSpPr>
          <p:cNvPr id="12" name="TextBox 10">
            <a:extLst>
              <a:ext uri="{FF2B5EF4-FFF2-40B4-BE49-F238E27FC236}">
                <a16:creationId xmlns:a16="http://schemas.microsoft.com/office/drawing/2014/main" id="{A6BFCFEC-8B56-4C2C-DF14-41B2B04F9551}"/>
              </a:ext>
            </a:extLst>
          </p:cNvPr>
          <p:cNvSpPr txBox="1"/>
          <p:nvPr/>
        </p:nvSpPr>
        <p:spPr>
          <a:xfrm>
            <a:off x="2162953" y="4809848"/>
            <a:ext cx="2017835"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dirty="0">
                <a:latin typeface="Arial Narrow" panose="020B0606020202030204" pitchFamily="34" charset="0"/>
                <a:cs typeface="Times New Roman" panose="02020603050405020304" pitchFamily="18" charset="0"/>
              </a:rPr>
              <a:t>After Some Algebraic </a:t>
            </a:r>
          </a:p>
          <a:p>
            <a:r>
              <a:rPr lang="en-IN" sz="1600" dirty="0">
                <a:latin typeface="Arial Narrow" panose="020B0606020202030204" pitchFamily="34" charset="0"/>
                <a:cs typeface="Times New Roman" panose="02020603050405020304" pitchFamily="18" charset="0"/>
              </a:rPr>
              <a:t>Manipulations</a:t>
            </a:r>
          </a:p>
        </p:txBody>
      </p:sp>
    </p:spTree>
    <p:extLst>
      <p:ext uri="{BB962C8B-B14F-4D97-AF65-F5344CB8AC3E}">
        <p14:creationId xmlns:p14="http://schemas.microsoft.com/office/powerpoint/2010/main" val="1025145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E2AF01B2-50D4-09D1-1F1F-969B0D6B0B9D}"/>
                  </a:ext>
                </a:extLst>
              </p:cNvPr>
              <p:cNvSpPr/>
              <p:nvPr/>
            </p:nvSpPr>
            <p:spPr>
              <a:xfrm>
                <a:off x="1991916" y="1641444"/>
                <a:ext cx="4762458" cy="685637"/>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 xmlns:m="http://schemas.openxmlformats.org/officeDocument/2006/math">
                    <m:f>
                      <m:fPr>
                        <m:ctrlPr>
                          <a:rPr lang="en-IN" sz="2100" i="1" smtClean="0">
                            <a:latin typeface="Cambria Math" panose="02040503050406030204" pitchFamily="18" charset="0"/>
                          </a:rPr>
                        </m:ctrlPr>
                      </m:fPr>
                      <m:num>
                        <m:r>
                          <a:rPr lang="en-IN" sz="2100" i="1">
                            <a:latin typeface="Cambria Math" panose="02040503050406030204" pitchFamily="18" charset="0"/>
                          </a:rPr>
                          <m:t>𝜕</m:t>
                        </m:r>
                        <m:r>
                          <a:rPr lang="en-IN" sz="2100" i="1">
                            <a:latin typeface="Cambria Math" panose="02040503050406030204" pitchFamily="18" charset="0"/>
                          </a:rPr>
                          <m:t>𝐸</m:t>
                        </m:r>
                      </m:num>
                      <m:den>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i="1">
                                <a:latin typeface="Cambria Math" panose="02040503050406030204" pitchFamily="18" charset="0"/>
                              </a:rPr>
                              <m:t>𝑤</m:t>
                            </m:r>
                          </m:e>
                          <m:sub>
                            <m:r>
                              <a:rPr lang="en-IN" sz="2100" b="0" i="1" smtClean="0">
                                <a:latin typeface="Cambria Math" panose="02040503050406030204" pitchFamily="18" charset="0"/>
                              </a:rPr>
                              <m:t>𝑒</m:t>
                            </m:r>
                            <m:r>
                              <a:rPr lang="en-IN" sz="2100" i="1">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den>
                    </m:f>
                    <m:r>
                      <a:rPr lang="en-IN" sz="2100" i="1">
                        <a:latin typeface="Cambria Math" panose="02040503050406030204" pitchFamily="18" charset="0"/>
                      </a:rPr>
                      <m:t>= </m:t>
                    </m:r>
                  </m:oMath>
                </a14:m>
                <a:r>
                  <a:rPr lang="en-IN" sz="2100" dirty="0">
                    <a:latin typeface="Arial Narrow" panose="020B0606020202030204" pitchFamily="34" charset="0"/>
                    <a:cs typeface="Times New Roman" panose="02020603050405020304" pitchFamily="18" charset="0"/>
                  </a:rPr>
                  <a:t>(</a:t>
                </a:r>
                <a14:m>
                  <m:oMath xmlns:m="http://schemas.openxmlformats.org/officeDocument/2006/math">
                    <m:sSubSup>
                      <m:sSubSupPr>
                        <m:ctrlPr>
                          <a:rPr lang="en-IN" sz="2100" i="1" dirty="0">
                            <a:latin typeface="Cambria Math" panose="02040503050406030204" pitchFamily="18" charset="0"/>
                            <a:cs typeface="Times New Roman" panose="02020603050405020304" pitchFamily="18" charset="0"/>
                          </a:rPr>
                        </m:ctrlPr>
                      </m:sSubSupPr>
                      <m:e>
                        <m:r>
                          <a:rPr lang="en-IN" sz="2100" b="0" i="1" dirty="0" smtClean="0">
                            <a:latin typeface="Cambria Math" panose="02040503050406030204" pitchFamily="18" charset="0"/>
                            <a:cs typeface="Times New Roman" panose="02020603050405020304" pitchFamily="18" charset="0"/>
                          </a:rPr>
                          <m:t>𝐼</m:t>
                        </m:r>
                      </m:e>
                      <m:sub>
                        <m:r>
                          <a:rPr lang="en-IN" sz="2100" b="0" i="1" dirty="0" smtClean="0">
                            <a:latin typeface="Cambria Math" panose="02040503050406030204" pitchFamily="18" charset="0"/>
                            <a:cs typeface="Times New Roman" panose="02020603050405020304" pitchFamily="18" charset="0"/>
                          </a:rPr>
                          <m:t>𝑖</m:t>
                        </m:r>
                      </m:sub>
                      <m:sup>
                        <m:r>
                          <a:rPr lang="en-IN" sz="2100" i="1" dirty="0">
                            <a:latin typeface="Cambria Math" panose="02040503050406030204" pitchFamily="18" charset="0"/>
                            <a:cs typeface="Times New Roman" panose="02020603050405020304" pitchFamily="18" charset="0"/>
                          </a:rPr>
                          <m:t>(</m:t>
                        </m:r>
                        <m:r>
                          <a:rPr lang="en-IN" sz="2100" i="1" dirty="0">
                            <a:latin typeface="Cambria Math" panose="02040503050406030204" pitchFamily="18" charset="0"/>
                            <a:cs typeface="Times New Roman" panose="02020603050405020304" pitchFamily="18" charset="0"/>
                          </a:rPr>
                          <m:t>𝑘</m:t>
                        </m:r>
                        <m:r>
                          <a:rPr lang="en-IN" sz="2100" i="1" dirty="0">
                            <a:latin typeface="Cambria Math" panose="02040503050406030204" pitchFamily="18" charset="0"/>
                            <a:cs typeface="Times New Roman" panose="02020603050405020304" pitchFamily="18" charset="0"/>
                          </a:rPr>
                          <m:t>)</m:t>
                        </m:r>
                      </m:sup>
                    </m:sSubSup>
                    <m:r>
                      <a:rPr lang="en-IN" sz="2100" i="1" dirty="0">
                        <a:latin typeface="Cambria Math" panose="02040503050406030204" pitchFamily="18" charset="0"/>
                        <a:cs typeface="Times New Roman" panose="02020603050405020304" pitchFamily="18" charset="0"/>
                      </a:rPr>
                      <m:t>−</m:t>
                    </m:r>
                    <m:sSubSup>
                      <m:sSubSupPr>
                        <m:ctrlPr>
                          <a:rPr lang="en-IN" sz="2100" i="1" dirty="0">
                            <a:latin typeface="Cambria Math" panose="02040503050406030204" pitchFamily="18" charset="0"/>
                            <a:cs typeface="Times New Roman" panose="02020603050405020304" pitchFamily="18" charset="0"/>
                          </a:rPr>
                        </m:ctrlPr>
                      </m:sSubSupPr>
                      <m:e>
                        <m:r>
                          <a:rPr lang="en-IN" sz="2100" i="1" dirty="0">
                            <a:latin typeface="Cambria Math" panose="02040503050406030204" pitchFamily="18" charset="0"/>
                            <a:cs typeface="Times New Roman" panose="02020603050405020304" pitchFamily="18" charset="0"/>
                          </a:rPr>
                          <m:t>𝑑</m:t>
                        </m:r>
                      </m:e>
                      <m:sub>
                        <m:r>
                          <a:rPr lang="en-IN" sz="2100" b="0" i="1" dirty="0" smtClean="0">
                            <a:latin typeface="Cambria Math" panose="02040503050406030204" pitchFamily="18" charset="0"/>
                            <a:cs typeface="Times New Roman" panose="02020603050405020304" pitchFamily="18" charset="0"/>
                          </a:rPr>
                          <m:t>𝑖</m:t>
                        </m:r>
                      </m:sub>
                      <m:sup>
                        <m:r>
                          <a:rPr lang="en-IN" sz="2100" i="1" dirty="0">
                            <a:latin typeface="Cambria Math" panose="02040503050406030204" pitchFamily="18" charset="0"/>
                            <a:cs typeface="Times New Roman" panose="02020603050405020304" pitchFamily="18" charset="0"/>
                          </a:rPr>
                          <m:t>(</m:t>
                        </m:r>
                        <m:r>
                          <a:rPr lang="en-IN" sz="2100" i="1" dirty="0">
                            <a:latin typeface="Cambria Math" panose="02040503050406030204" pitchFamily="18" charset="0"/>
                            <a:cs typeface="Times New Roman" panose="02020603050405020304" pitchFamily="18" charset="0"/>
                          </a:rPr>
                          <m:t>𝑘</m:t>
                        </m:r>
                        <m:r>
                          <a:rPr lang="en-IN" sz="2100" i="1" dirty="0">
                            <a:latin typeface="Cambria Math" panose="02040503050406030204" pitchFamily="18" charset="0"/>
                            <a:cs typeface="Times New Roman" panose="02020603050405020304" pitchFamily="18" charset="0"/>
                          </a:rPr>
                          <m:t>)</m:t>
                        </m:r>
                      </m:sup>
                    </m:sSubSup>
                    <m:r>
                      <a:rPr lang="en-IN" sz="2100" i="1" dirty="0">
                        <a:latin typeface="Cambria Math" panose="02040503050406030204" pitchFamily="18" charset="0"/>
                        <a:cs typeface="Times New Roman" panose="02020603050405020304" pitchFamily="18" charset="0"/>
                      </a:rPr>
                      <m:t>)</m:t>
                    </m:r>
                    <m:sSubSup>
                      <m:sSubSupPr>
                        <m:ctrlPr>
                          <a:rPr lang="en-IN" sz="2100" i="1" dirty="0">
                            <a:latin typeface="Cambria Math" panose="02040503050406030204" pitchFamily="18" charset="0"/>
                            <a:cs typeface="Times New Roman" panose="02020603050405020304" pitchFamily="18" charset="0"/>
                          </a:rPr>
                        </m:ctrlPr>
                      </m:sSubSupPr>
                      <m:e>
                        <m:r>
                          <a:rPr lang="en-IN" sz="2100" b="0" i="1" dirty="0" smtClean="0">
                            <a:latin typeface="Cambria Math" panose="02040503050406030204" pitchFamily="18" charset="0"/>
                            <a:cs typeface="Times New Roman" panose="02020603050405020304" pitchFamily="18" charset="0"/>
                          </a:rPr>
                          <m:t>𝐼</m:t>
                        </m:r>
                      </m:e>
                      <m:sub>
                        <m:r>
                          <a:rPr lang="en-IN" sz="2100" b="0" i="1" dirty="0" smtClean="0">
                            <a:latin typeface="Cambria Math" panose="02040503050406030204" pitchFamily="18" charset="0"/>
                            <a:cs typeface="Times New Roman" panose="02020603050405020304" pitchFamily="18" charset="0"/>
                          </a:rPr>
                          <m:t>𝑖</m:t>
                        </m:r>
                      </m:sub>
                      <m:sup>
                        <m:r>
                          <a:rPr lang="en-IN" sz="2100" i="1" dirty="0">
                            <a:latin typeface="Cambria Math" panose="02040503050406030204" pitchFamily="18" charset="0"/>
                            <a:cs typeface="Times New Roman" panose="02020603050405020304" pitchFamily="18" charset="0"/>
                          </a:rPr>
                          <m:t>(</m:t>
                        </m:r>
                        <m:r>
                          <a:rPr lang="en-IN" sz="2100" i="1" dirty="0">
                            <a:latin typeface="Cambria Math" panose="02040503050406030204" pitchFamily="18" charset="0"/>
                            <a:cs typeface="Times New Roman" panose="02020603050405020304" pitchFamily="18" charset="0"/>
                          </a:rPr>
                          <m:t>𝑘</m:t>
                        </m:r>
                        <m:r>
                          <a:rPr lang="en-IN" sz="2100" i="1" dirty="0">
                            <a:latin typeface="Cambria Math" panose="02040503050406030204" pitchFamily="18" charset="0"/>
                            <a:cs typeface="Times New Roman" panose="02020603050405020304" pitchFamily="18" charset="0"/>
                          </a:rPr>
                          <m:t>)</m:t>
                        </m:r>
                      </m:sup>
                    </m:sSubSup>
                    <m:r>
                      <a:rPr lang="en-IN" sz="2100" i="1" dirty="0">
                        <a:latin typeface="Cambria Math" panose="02040503050406030204" pitchFamily="18" charset="0"/>
                        <a:cs typeface="Times New Roman" panose="02020603050405020304" pitchFamily="18" charset="0"/>
                      </a:rPr>
                      <m:t>(1−</m:t>
                    </m:r>
                    <m:sSubSup>
                      <m:sSubSupPr>
                        <m:ctrlPr>
                          <a:rPr lang="en-IN" sz="2100" i="1" dirty="0">
                            <a:latin typeface="Cambria Math" panose="02040503050406030204" pitchFamily="18" charset="0"/>
                            <a:cs typeface="Times New Roman" panose="02020603050405020304" pitchFamily="18" charset="0"/>
                          </a:rPr>
                        </m:ctrlPr>
                      </m:sSubSupPr>
                      <m:e>
                        <m:r>
                          <a:rPr lang="en-IN" sz="2100" b="0" i="1" dirty="0" smtClean="0">
                            <a:latin typeface="Cambria Math" panose="02040503050406030204" pitchFamily="18" charset="0"/>
                            <a:cs typeface="Times New Roman" panose="02020603050405020304" pitchFamily="18" charset="0"/>
                          </a:rPr>
                          <m:t>𝐼</m:t>
                        </m:r>
                      </m:e>
                      <m:sub>
                        <m:r>
                          <a:rPr lang="en-IN" sz="2100" b="0" i="1" dirty="0" smtClean="0">
                            <a:latin typeface="Cambria Math" panose="02040503050406030204" pitchFamily="18" charset="0"/>
                            <a:cs typeface="Times New Roman" panose="02020603050405020304" pitchFamily="18" charset="0"/>
                          </a:rPr>
                          <m:t>𝑖</m:t>
                        </m:r>
                      </m:sub>
                      <m:sup>
                        <m:r>
                          <a:rPr lang="en-IN" sz="2100" i="1" dirty="0">
                            <a:latin typeface="Cambria Math" panose="02040503050406030204" pitchFamily="18" charset="0"/>
                            <a:cs typeface="Times New Roman" panose="02020603050405020304" pitchFamily="18" charset="0"/>
                          </a:rPr>
                          <m:t>(</m:t>
                        </m:r>
                        <m:r>
                          <a:rPr lang="en-IN" sz="2100" i="1" dirty="0">
                            <a:latin typeface="Cambria Math" panose="02040503050406030204" pitchFamily="18" charset="0"/>
                            <a:cs typeface="Times New Roman" panose="02020603050405020304" pitchFamily="18" charset="0"/>
                          </a:rPr>
                          <m:t>𝑘</m:t>
                        </m:r>
                        <m:r>
                          <a:rPr lang="en-IN" sz="2100" i="1" dirty="0">
                            <a:latin typeface="Cambria Math" panose="02040503050406030204" pitchFamily="18" charset="0"/>
                            <a:cs typeface="Times New Roman" panose="02020603050405020304" pitchFamily="18" charset="0"/>
                          </a:rPr>
                          <m:t>)</m:t>
                        </m:r>
                      </m:sup>
                    </m:sSubSup>
                    <m:r>
                      <a:rPr lang="en-IN" sz="2100" i="1" dirty="0">
                        <a:latin typeface="Cambria Math" panose="02040503050406030204" pitchFamily="18" charset="0"/>
                        <a:cs typeface="Times New Roman" panose="02020603050405020304" pitchFamily="18" charset="0"/>
                      </a:rPr>
                      <m:t>)</m:t>
                    </m:r>
                    <m:sSubSup>
                      <m:sSubSupPr>
                        <m:ctrlPr>
                          <a:rPr lang="en-IN" sz="2100" i="1" dirty="0" smtClean="0">
                            <a:latin typeface="Cambria Math" panose="02040503050406030204" pitchFamily="18" charset="0"/>
                            <a:cs typeface="Times New Roman" panose="02020603050405020304" pitchFamily="18" charset="0"/>
                          </a:rPr>
                        </m:ctrlPr>
                      </m:sSubSupPr>
                      <m:e>
                        <m:r>
                          <a:rPr lang="en-IN" sz="2100" b="0" i="1" dirty="0" smtClean="0">
                            <a:latin typeface="Cambria Math" panose="02040503050406030204" pitchFamily="18" charset="0"/>
                            <a:cs typeface="Times New Roman" panose="02020603050405020304" pitchFamily="18" charset="0"/>
                          </a:rPr>
                          <m:t>𝐼</m:t>
                        </m:r>
                      </m:e>
                      <m:sub>
                        <m:r>
                          <a:rPr lang="en-IN" sz="2100" b="0" i="1" dirty="0" smtClean="0">
                            <a:latin typeface="Cambria Math" panose="02040503050406030204" pitchFamily="18" charset="0"/>
                            <a:cs typeface="Times New Roman" panose="02020603050405020304" pitchFamily="18" charset="0"/>
                          </a:rPr>
                          <m:t>𝑒</m:t>
                        </m:r>
                      </m:sub>
                      <m:sup>
                        <m:r>
                          <a:rPr lang="en-IN" sz="2100" i="1" dirty="0">
                            <a:latin typeface="Cambria Math" panose="02040503050406030204" pitchFamily="18" charset="0"/>
                            <a:cs typeface="Times New Roman" panose="02020603050405020304" pitchFamily="18" charset="0"/>
                          </a:rPr>
                          <m:t>(</m:t>
                        </m:r>
                        <m:r>
                          <a:rPr lang="en-IN" sz="2100" i="1" dirty="0">
                            <a:latin typeface="Cambria Math" panose="02040503050406030204" pitchFamily="18" charset="0"/>
                            <a:cs typeface="Times New Roman" panose="02020603050405020304" pitchFamily="18" charset="0"/>
                          </a:rPr>
                          <m:t>𝑘</m:t>
                        </m:r>
                        <m:r>
                          <a:rPr lang="en-IN" sz="2100" i="1" dirty="0">
                            <a:latin typeface="Cambria Math" panose="02040503050406030204" pitchFamily="18" charset="0"/>
                            <a:cs typeface="Times New Roman" panose="02020603050405020304" pitchFamily="18" charset="0"/>
                          </a:rPr>
                          <m:t>−1)</m:t>
                        </m:r>
                      </m:sup>
                    </m:sSubSup>
                  </m:oMath>
                </a14:m>
                <a:endParaRPr lang="en-IN" sz="2100" dirty="0">
                  <a:latin typeface="Arial Narrow" panose="020B0606020202030204" pitchFamily="34"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E2AF01B2-50D4-09D1-1F1F-969B0D6B0B9D}"/>
                  </a:ext>
                </a:extLst>
              </p:cNvPr>
              <p:cNvSpPr>
                <a:spLocks noRot="1" noChangeAspect="1" noMove="1" noResize="1" noEditPoints="1" noAdjustHandles="1" noChangeArrowheads="1" noChangeShapeType="1" noTextEdit="1"/>
              </p:cNvSpPr>
              <p:nvPr/>
            </p:nvSpPr>
            <p:spPr>
              <a:xfrm>
                <a:off x="1991916" y="1641444"/>
                <a:ext cx="4762458" cy="685637"/>
              </a:xfrm>
              <a:prstGeom prst="rect">
                <a:avLst/>
              </a:prstGeom>
              <a:blipFill>
                <a:blip r:embed="rId2"/>
                <a:stretch>
                  <a:fillRect/>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B5C08F1F-7FE5-DC91-F9F4-56250C580904}"/>
              </a:ext>
            </a:extLst>
          </p:cNvPr>
          <p:cNvSpPr txBox="1"/>
          <p:nvPr/>
        </p:nvSpPr>
        <p:spPr>
          <a:xfrm>
            <a:off x="1991914" y="2406421"/>
            <a:ext cx="518881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latin typeface="Arial Narrow" panose="020B0606020202030204" pitchFamily="34" charset="0"/>
                <a:cs typeface="Times New Roman" panose="02020603050405020304" pitchFamily="18" charset="0"/>
              </a:rPr>
              <a:t>So the weight updation step at output layer is follows:</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07B42F47-F904-3BFE-B546-C9A75254F9D8}"/>
                  </a:ext>
                </a:extLst>
              </p:cNvPr>
              <p:cNvSpPr/>
              <p:nvPr/>
            </p:nvSpPr>
            <p:spPr>
              <a:xfrm>
                <a:off x="1991915" y="3677830"/>
                <a:ext cx="7035324" cy="508665"/>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Sup>
                        <m:sSubSupPr>
                          <m:ctrlPr>
                            <a:rPr lang="en-IN" sz="2100" i="1" smtClean="0">
                              <a:latin typeface="Cambria Math" panose="02040503050406030204" pitchFamily="18" charset="0"/>
                            </a:rPr>
                          </m:ctrlPr>
                        </m:sSubSupPr>
                        <m:e>
                          <m:r>
                            <a:rPr lang="en-IN" sz="2100" i="1">
                              <a:latin typeface="Cambria Math" panose="02040503050406030204" pitchFamily="18" charset="0"/>
                            </a:rPr>
                            <m:t>𝑤</m:t>
                          </m:r>
                        </m:e>
                        <m:sub>
                          <m:r>
                            <a:rPr lang="en-IN" sz="2100" b="0" i="1" smtClean="0">
                              <a:latin typeface="Cambria Math" panose="02040503050406030204" pitchFamily="18" charset="0"/>
                            </a:rPr>
                            <m:t>𝑒</m:t>
                          </m:r>
                          <m:r>
                            <a:rPr lang="en-IN" sz="2100" i="1">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d>
                        <m:dPr>
                          <m:ctrlPr>
                            <a:rPr lang="en-IN" sz="2100" i="1">
                              <a:latin typeface="Cambria Math" panose="02040503050406030204" pitchFamily="18" charset="0"/>
                            </a:rPr>
                          </m:ctrlPr>
                        </m:dPr>
                        <m:e>
                          <m:r>
                            <a:rPr lang="en-IN" sz="2100" i="1">
                              <a:latin typeface="Cambria Math" panose="02040503050406030204" pitchFamily="18" charset="0"/>
                            </a:rPr>
                            <m:t>𝑡</m:t>
                          </m:r>
                          <m:r>
                            <a:rPr lang="en-IN" sz="2100" i="1">
                              <a:latin typeface="Cambria Math" panose="02040503050406030204" pitchFamily="18" charset="0"/>
                            </a:rPr>
                            <m:t>+1</m:t>
                          </m:r>
                        </m:e>
                      </m:d>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i="1">
                              <a:latin typeface="Cambria Math" panose="02040503050406030204" pitchFamily="18" charset="0"/>
                            </a:rPr>
                            <m:t>𝑤</m:t>
                          </m:r>
                        </m:e>
                        <m:sub>
                          <m:r>
                            <a:rPr lang="en-IN" sz="2100" b="0" i="1" smtClean="0">
                              <a:latin typeface="Cambria Math" panose="02040503050406030204" pitchFamily="18" charset="0"/>
                            </a:rPr>
                            <m:t>𝑒</m:t>
                          </m:r>
                          <m:r>
                            <a:rPr lang="en-IN" sz="2100" i="1">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d>
                        <m:dPr>
                          <m:ctrlPr>
                            <a:rPr lang="en-IN" sz="2100" i="1">
                              <a:latin typeface="Cambria Math" panose="02040503050406030204" pitchFamily="18" charset="0"/>
                            </a:rPr>
                          </m:ctrlPr>
                        </m:dPr>
                        <m:e>
                          <m:r>
                            <a:rPr lang="en-IN" sz="2100" i="1">
                              <a:latin typeface="Cambria Math" panose="02040503050406030204" pitchFamily="18" charset="0"/>
                            </a:rPr>
                            <m:t>𝑡</m:t>
                          </m:r>
                        </m:e>
                      </m:d>
                      <m:r>
                        <a:rPr lang="en-IN" sz="2100" i="1">
                          <a:latin typeface="Cambria Math" panose="02040503050406030204" pitchFamily="18" charset="0"/>
                        </a:rPr>
                        <m:t>− </m:t>
                      </m:r>
                      <m:r>
                        <a:rPr lang="en-IN" sz="2100" i="1">
                          <a:latin typeface="Cambria Math" panose="02040503050406030204" pitchFamily="18" charset="0"/>
                        </a:rPr>
                        <m:t>𝜂</m:t>
                      </m:r>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i="1">
                              <a:latin typeface="Cambria Math" panose="02040503050406030204" pitchFamily="18" charset="0"/>
                            </a:rPr>
                            <m:t>𝑑</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r>
                        <a:rPr lang="en-IN" sz="2100" i="1">
                          <a:latin typeface="Cambria Math" panose="02040503050406030204" pitchFamily="18" charset="0"/>
                        </a:rPr>
                        <m:t>(1−</m:t>
                      </m:r>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𝑒</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−1)</m:t>
                          </m:r>
                        </m:sup>
                      </m:sSubSup>
                    </m:oMath>
                  </m:oMathPara>
                </a14:m>
                <a:endParaRPr lang="en-IN" sz="2100" dirty="0">
                  <a:latin typeface="Arial Narrow" panose="020B0606020202030204" pitchFamily="34" charset="0"/>
                  <a:cs typeface="Times New Roman" panose="02020603050405020304" pitchFamily="18" charset="0"/>
                </a:endParaRPr>
              </a:p>
            </p:txBody>
          </p:sp>
        </mc:Choice>
        <mc:Fallback xmlns="">
          <p:sp>
            <p:nvSpPr>
              <p:cNvPr id="6" name="Rectangle 5">
                <a:extLst>
                  <a:ext uri="{FF2B5EF4-FFF2-40B4-BE49-F238E27FC236}">
                    <a16:creationId xmlns:a16="http://schemas.microsoft.com/office/drawing/2014/main" id="{07B42F47-F904-3BFE-B546-C9A75254F9D8}"/>
                  </a:ext>
                </a:extLst>
              </p:cNvPr>
              <p:cNvSpPr>
                <a:spLocks noRot="1" noChangeAspect="1" noMove="1" noResize="1" noEditPoints="1" noAdjustHandles="1" noChangeArrowheads="1" noChangeShapeType="1" noTextEdit="1"/>
              </p:cNvSpPr>
              <p:nvPr/>
            </p:nvSpPr>
            <p:spPr>
              <a:xfrm>
                <a:off x="1991915" y="3677830"/>
                <a:ext cx="7035324" cy="508665"/>
              </a:xfrm>
              <a:prstGeom prst="rect">
                <a:avLst/>
              </a:prstGeom>
              <a:blipFill>
                <a:blip r:embed="rId3"/>
                <a:stretch>
                  <a:fillRect/>
                </a:stretch>
              </a:blipFill>
            </p:spPr>
            <p:txBody>
              <a:bodyPr/>
              <a:lstStyle/>
              <a:p>
                <a:r>
                  <a:rPr lang="en-IN">
                    <a:noFill/>
                  </a:rPr>
                  <a:t> </a:t>
                </a:r>
              </a:p>
            </p:txBody>
          </p:sp>
        </mc:Fallback>
      </mc:AlternateContent>
      <p:sp>
        <p:nvSpPr>
          <p:cNvPr id="7" name="TextBox 7">
            <a:extLst>
              <a:ext uri="{FF2B5EF4-FFF2-40B4-BE49-F238E27FC236}">
                <a16:creationId xmlns:a16="http://schemas.microsoft.com/office/drawing/2014/main" id="{ED334A76-57E0-AA3C-2EF4-2A0EC17D6A13}"/>
              </a:ext>
            </a:extLst>
          </p:cNvPr>
          <p:cNvSpPr txBox="1"/>
          <p:nvPr/>
        </p:nvSpPr>
        <p:spPr>
          <a:xfrm>
            <a:off x="1991916" y="4280308"/>
            <a:ext cx="8208169"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rgbClr val="00B0F0"/>
                </a:solidFill>
                <a:latin typeface="Arial Narrow" panose="020B0606020202030204" pitchFamily="34" charset="0"/>
                <a:cs typeface="Times New Roman" panose="02020603050405020304" pitchFamily="18" charset="0"/>
              </a:rPr>
              <a:t>Thus the error is propagated from output to input layer. So the name “Backpropagation Algorithm.”</a:t>
            </a:r>
          </a:p>
        </p:txBody>
      </p:sp>
      <mc:AlternateContent xmlns:mc="http://schemas.openxmlformats.org/markup-compatibility/2006">
        <mc:Choice xmlns:a14="http://schemas.microsoft.com/office/drawing/2010/main" Requires="a14">
          <p:sp>
            <p:nvSpPr>
              <p:cNvPr id="8" name="TextBox 11">
                <a:extLst>
                  <a:ext uri="{FF2B5EF4-FFF2-40B4-BE49-F238E27FC236}">
                    <a16:creationId xmlns:a16="http://schemas.microsoft.com/office/drawing/2014/main" id="{459BADC8-ADD2-A2D2-3340-744263378982}"/>
                  </a:ext>
                </a:extLst>
              </p:cNvPr>
              <p:cNvSpPr txBox="1"/>
              <p:nvPr/>
            </p:nvSpPr>
            <p:spPr>
              <a:xfrm>
                <a:off x="6828201" y="3219863"/>
                <a:ext cx="520014" cy="411331"/>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Sup>
                        <m:sSubSupPr>
                          <m:ctrlPr>
                            <a:rPr lang="en-IN" sz="2100" i="1" smtClean="0">
                              <a:solidFill>
                                <a:srgbClr val="00B0F0"/>
                              </a:solidFill>
                              <a:latin typeface="Cambria Math" panose="02040503050406030204" pitchFamily="18" charset="0"/>
                            </a:rPr>
                          </m:ctrlPr>
                        </m:sSubSupPr>
                        <m:e>
                          <m:r>
                            <a:rPr lang="en-IN" sz="2100" i="1">
                              <a:solidFill>
                                <a:srgbClr val="00B0F0"/>
                              </a:solidFill>
                              <a:latin typeface="Cambria Math" panose="02040503050406030204" pitchFamily="18" charset="0"/>
                            </a:rPr>
                            <m:t>𝛿</m:t>
                          </m:r>
                        </m:e>
                        <m:sub>
                          <m:r>
                            <a:rPr lang="en-GB" sz="2100" b="0" i="1" smtClean="0">
                              <a:solidFill>
                                <a:srgbClr val="00B0F0"/>
                              </a:solidFill>
                              <a:latin typeface="Cambria Math" panose="02040503050406030204" pitchFamily="18" charset="0"/>
                            </a:rPr>
                            <m:t>𝑖</m:t>
                          </m:r>
                        </m:sub>
                        <m:sup>
                          <m:r>
                            <a:rPr lang="en-IN" sz="2100" i="1">
                              <a:solidFill>
                                <a:srgbClr val="00B0F0"/>
                              </a:solidFill>
                              <a:latin typeface="Cambria Math" panose="02040503050406030204" pitchFamily="18" charset="0"/>
                            </a:rPr>
                            <m:t>(</m:t>
                          </m:r>
                          <m:r>
                            <a:rPr lang="en-IN" sz="2100" i="1">
                              <a:solidFill>
                                <a:srgbClr val="00B0F0"/>
                              </a:solidFill>
                              <a:latin typeface="Cambria Math" panose="02040503050406030204" pitchFamily="18" charset="0"/>
                            </a:rPr>
                            <m:t>𝑘</m:t>
                          </m:r>
                          <m:r>
                            <a:rPr lang="en-IN" sz="2100" i="1">
                              <a:solidFill>
                                <a:srgbClr val="00B0F0"/>
                              </a:solidFill>
                              <a:latin typeface="Cambria Math" panose="02040503050406030204" pitchFamily="18" charset="0"/>
                            </a:rPr>
                            <m:t>)</m:t>
                          </m:r>
                        </m:sup>
                      </m:sSubSup>
                    </m:oMath>
                  </m:oMathPara>
                </a14:m>
                <a:endParaRPr lang="en-IN" sz="2100" dirty="0">
                  <a:solidFill>
                    <a:srgbClr val="00B0F0"/>
                  </a:solidFill>
                  <a:latin typeface="Arial Narrow" panose="020B0606020202030204" pitchFamily="34" charset="0"/>
                  <a:cs typeface="Times New Roman" panose="02020603050405020304" pitchFamily="18" charset="0"/>
                </a:endParaRPr>
              </a:p>
            </p:txBody>
          </p:sp>
        </mc:Choice>
        <mc:Fallback>
          <p:sp>
            <p:nvSpPr>
              <p:cNvPr id="8" name="TextBox 11">
                <a:extLst>
                  <a:ext uri="{FF2B5EF4-FFF2-40B4-BE49-F238E27FC236}">
                    <a16:creationId xmlns:a16="http://schemas.microsoft.com/office/drawing/2014/main" id="{459BADC8-ADD2-A2D2-3340-744263378982}"/>
                  </a:ext>
                </a:extLst>
              </p:cNvPr>
              <p:cNvSpPr txBox="1">
                <a:spLocks noRot="1" noChangeAspect="1" noMove="1" noResize="1" noEditPoints="1" noAdjustHandles="1" noChangeArrowheads="1" noChangeShapeType="1" noTextEdit="1"/>
              </p:cNvSpPr>
              <p:nvPr/>
            </p:nvSpPr>
            <p:spPr>
              <a:xfrm>
                <a:off x="6828201" y="3219863"/>
                <a:ext cx="520014" cy="41133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94818AB5-49AB-618B-743C-5E10FA46E954}"/>
                  </a:ext>
                </a:extLst>
              </p:cNvPr>
              <p:cNvSpPr/>
              <p:nvPr/>
            </p:nvSpPr>
            <p:spPr>
              <a:xfrm>
                <a:off x="1991915" y="4988822"/>
                <a:ext cx="4423903" cy="503664"/>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Sup>
                        <m:sSubSupPr>
                          <m:ctrlPr>
                            <a:rPr lang="en-IN" sz="2100" i="1" smtClean="0">
                              <a:latin typeface="Cambria Math" panose="02040503050406030204" pitchFamily="18" charset="0"/>
                            </a:rPr>
                          </m:ctrlPr>
                        </m:sSubSupPr>
                        <m:e>
                          <m:r>
                            <a:rPr lang="en-IN" sz="2100" i="1">
                              <a:latin typeface="Cambria Math" panose="02040503050406030204" pitchFamily="18" charset="0"/>
                            </a:rPr>
                            <m:t>𝑤</m:t>
                          </m:r>
                        </m:e>
                        <m:sub>
                          <m:r>
                            <a:rPr lang="en-IN" sz="2100" b="0" i="1" smtClean="0">
                              <a:latin typeface="Cambria Math" panose="02040503050406030204" pitchFamily="18" charset="0"/>
                            </a:rPr>
                            <m:t>𝑒</m:t>
                          </m:r>
                          <m:r>
                            <a:rPr lang="en-IN" sz="2100" i="1">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d>
                        <m:dPr>
                          <m:ctrlPr>
                            <a:rPr lang="en-IN" sz="2100" i="1">
                              <a:latin typeface="Cambria Math" panose="02040503050406030204" pitchFamily="18" charset="0"/>
                            </a:rPr>
                          </m:ctrlPr>
                        </m:dPr>
                        <m:e>
                          <m:r>
                            <a:rPr lang="en-IN" sz="2100" i="1">
                              <a:latin typeface="Cambria Math" panose="02040503050406030204" pitchFamily="18" charset="0"/>
                            </a:rPr>
                            <m:t>𝑡</m:t>
                          </m:r>
                          <m:r>
                            <a:rPr lang="en-IN" sz="2100" i="1">
                              <a:latin typeface="Cambria Math" panose="02040503050406030204" pitchFamily="18" charset="0"/>
                            </a:rPr>
                            <m:t>+1</m:t>
                          </m:r>
                        </m:e>
                      </m:d>
                      <m:r>
                        <a:rPr lang="en-IN" sz="2100" i="1">
                          <a:latin typeface="Cambria Math" panose="02040503050406030204" pitchFamily="18" charset="0"/>
                        </a:rPr>
                        <m:t>=</m:t>
                      </m:r>
                      <m:sSubSup>
                        <m:sSubSupPr>
                          <m:ctrlPr>
                            <a:rPr lang="en-IN" sz="2100" i="1">
                              <a:latin typeface="Cambria Math" panose="02040503050406030204" pitchFamily="18" charset="0"/>
                            </a:rPr>
                          </m:ctrlPr>
                        </m:sSubSupPr>
                        <m:e>
                          <m:r>
                            <a:rPr lang="en-GB" sz="2100" b="0" i="1" smtClean="0">
                              <a:latin typeface="Cambria Math" panose="02040503050406030204" pitchFamily="18" charset="0"/>
                            </a:rPr>
                            <m:t>𝑤</m:t>
                          </m:r>
                        </m:e>
                        <m:sub>
                          <m:r>
                            <a:rPr lang="en-IN" sz="2100" b="0" i="1" smtClean="0">
                              <a:latin typeface="Cambria Math" panose="02040503050406030204" pitchFamily="18" charset="0"/>
                            </a:rPr>
                            <m:t>𝑒</m:t>
                          </m:r>
                          <m:r>
                            <a:rPr lang="en-IN" sz="2100" i="1">
                              <a:latin typeface="Cambria Math" panose="02040503050406030204" pitchFamily="18" charset="0"/>
                            </a:rPr>
                            <m:t>𝑖</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m:t>
                          </m:r>
                        </m:sup>
                      </m:sSubSup>
                      <m:d>
                        <m:dPr>
                          <m:ctrlPr>
                            <a:rPr lang="en-IN" sz="2100" i="1">
                              <a:latin typeface="Cambria Math" panose="02040503050406030204" pitchFamily="18" charset="0"/>
                            </a:rPr>
                          </m:ctrlPr>
                        </m:dPr>
                        <m:e>
                          <m:r>
                            <a:rPr lang="en-IN" sz="2100" i="1">
                              <a:latin typeface="Cambria Math" panose="02040503050406030204" pitchFamily="18" charset="0"/>
                            </a:rPr>
                            <m:t>𝑡</m:t>
                          </m:r>
                        </m:e>
                      </m:d>
                      <m:r>
                        <a:rPr lang="en-IN" sz="2100" i="1">
                          <a:latin typeface="Cambria Math" panose="02040503050406030204" pitchFamily="18" charset="0"/>
                        </a:rPr>
                        <m:t>− </m:t>
                      </m:r>
                      <m:r>
                        <a:rPr lang="en-IN" sz="2100" i="1">
                          <a:latin typeface="Cambria Math" panose="02040503050406030204" pitchFamily="18" charset="0"/>
                        </a:rPr>
                        <m:t>𝜂</m:t>
                      </m:r>
                      <m:sSubSup>
                        <m:sSubSupPr>
                          <m:ctrlPr>
                            <a:rPr lang="en-IN" sz="2100" i="1" smtClean="0">
                              <a:solidFill>
                                <a:srgbClr val="00B0F0"/>
                              </a:solidFill>
                              <a:latin typeface="Cambria Math" panose="02040503050406030204" pitchFamily="18" charset="0"/>
                            </a:rPr>
                          </m:ctrlPr>
                        </m:sSubSupPr>
                        <m:e>
                          <m:r>
                            <a:rPr lang="en-IN" sz="2100" i="1">
                              <a:solidFill>
                                <a:srgbClr val="00B0F0"/>
                              </a:solidFill>
                              <a:latin typeface="Cambria Math" panose="02040503050406030204" pitchFamily="18" charset="0"/>
                            </a:rPr>
                            <m:t>𝛿</m:t>
                          </m:r>
                        </m:e>
                        <m:sub>
                          <m:r>
                            <a:rPr lang="en-IN" sz="2100" b="0" i="1" smtClean="0">
                              <a:solidFill>
                                <a:srgbClr val="00B0F0"/>
                              </a:solidFill>
                              <a:latin typeface="Cambria Math" panose="02040503050406030204" pitchFamily="18" charset="0"/>
                            </a:rPr>
                            <m:t>𝑖</m:t>
                          </m:r>
                        </m:sub>
                        <m:sup>
                          <m:r>
                            <a:rPr lang="en-IN" sz="2100" i="1">
                              <a:solidFill>
                                <a:srgbClr val="00B0F0"/>
                              </a:solidFill>
                              <a:latin typeface="Cambria Math" panose="02040503050406030204" pitchFamily="18" charset="0"/>
                            </a:rPr>
                            <m:t>(</m:t>
                          </m:r>
                          <m:r>
                            <a:rPr lang="en-IN" sz="2100" i="1">
                              <a:solidFill>
                                <a:srgbClr val="00B0F0"/>
                              </a:solidFill>
                              <a:latin typeface="Cambria Math" panose="02040503050406030204" pitchFamily="18" charset="0"/>
                            </a:rPr>
                            <m:t>𝑘</m:t>
                          </m:r>
                          <m:r>
                            <a:rPr lang="en-IN" sz="2100" i="1">
                              <a:solidFill>
                                <a:srgbClr val="00B0F0"/>
                              </a:solidFill>
                              <a:latin typeface="Cambria Math" panose="02040503050406030204" pitchFamily="18" charset="0"/>
                            </a:rPr>
                            <m:t>)</m:t>
                          </m:r>
                        </m:sup>
                      </m:sSubSup>
                      <m:sSubSup>
                        <m:sSubSupPr>
                          <m:ctrlPr>
                            <a:rPr lang="en-IN" sz="2100" i="1">
                              <a:latin typeface="Cambria Math" panose="02040503050406030204" pitchFamily="18" charset="0"/>
                            </a:rPr>
                          </m:ctrlPr>
                        </m:sSubSupPr>
                        <m:e>
                          <m:r>
                            <a:rPr lang="en-IN" sz="2100" b="0" i="1" smtClean="0">
                              <a:latin typeface="Cambria Math" panose="02040503050406030204" pitchFamily="18" charset="0"/>
                            </a:rPr>
                            <m:t>𝐼</m:t>
                          </m:r>
                        </m:e>
                        <m:sub>
                          <m:r>
                            <a:rPr lang="en-IN" sz="2100" b="0" i="1" smtClean="0">
                              <a:latin typeface="Cambria Math" panose="02040503050406030204" pitchFamily="18" charset="0"/>
                            </a:rPr>
                            <m:t>𝑒</m:t>
                          </m:r>
                        </m:sub>
                        <m:sup>
                          <m:r>
                            <a:rPr lang="en-IN" sz="2100" i="1">
                              <a:latin typeface="Cambria Math" panose="02040503050406030204" pitchFamily="18" charset="0"/>
                            </a:rPr>
                            <m:t>(</m:t>
                          </m:r>
                          <m:r>
                            <a:rPr lang="en-IN" sz="2100" i="1">
                              <a:latin typeface="Cambria Math" panose="02040503050406030204" pitchFamily="18" charset="0"/>
                            </a:rPr>
                            <m:t>𝑘</m:t>
                          </m:r>
                          <m:r>
                            <a:rPr lang="en-IN" sz="2100" i="1">
                              <a:latin typeface="Cambria Math" panose="02040503050406030204" pitchFamily="18" charset="0"/>
                            </a:rPr>
                            <m:t>−1)</m:t>
                          </m:r>
                        </m:sup>
                      </m:sSubSup>
                    </m:oMath>
                  </m:oMathPara>
                </a14:m>
                <a:endParaRPr lang="en-IN" sz="2100" dirty="0">
                  <a:latin typeface="Arial Narrow" panose="020B0606020202030204" pitchFamily="34" charset="0"/>
                  <a:cs typeface="Times New Roman" panose="02020603050405020304" pitchFamily="18" charset="0"/>
                </a:endParaRPr>
              </a:p>
            </p:txBody>
          </p:sp>
        </mc:Choice>
        <mc:Fallback>
          <p:sp>
            <p:nvSpPr>
              <p:cNvPr id="9" name="Rectangle 8">
                <a:extLst>
                  <a:ext uri="{FF2B5EF4-FFF2-40B4-BE49-F238E27FC236}">
                    <a16:creationId xmlns:a16="http://schemas.microsoft.com/office/drawing/2014/main" id="{94818AB5-49AB-618B-743C-5E10FA46E954}"/>
                  </a:ext>
                </a:extLst>
              </p:cNvPr>
              <p:cNvSpPr>
                <a:spLocks noRot="1" noChangeAspect="1" noMove="1" noResize="1" noEditPoints="1" noAdjustHandles="1" noChangeArrowheads="1" noChangeShapeType="1" noTextEdit="1"/>
              </p:cNvSpPr>
              <p:nvPr/>
            </p:nvSpPr>
            <p:spPr>
              <a:xfrm>
                <a:off x="1991915" y="4988822"/>
                <a:ext cx="4423903" cy="503664"/>
              </a:xfrm>
              <a:prstGeom prst="rect">
                <a:avLst/>
              </a:prstGeom>
              <a:blipFill>
                <a:blip r:embed="rId5"/>
                <a:stretch>
                  <a:fillRect/>
                </a:stretch>
              </a:blipFill>
            </p:spPr>
            <p:txBody>
              <a:bodyPr/>
              <a:lstStyle/>
              <a:p>
                <a:r>
                  <a:rPr lang="en-GB">
                    <a:noFill/>
                  </a:rPr>
                  <a:t> </a:t>
                </a:r>
              </a:p>
            </p:txBody>
          </p:sp>
        </mc:Fallback>
      </mc:AlternateContent>
      <p:sp>
        <p:nvSpPr>
          <p:cNvPr id="10" name="TextBox 13">
            <a:extLst>
              <a:ext uri="{FF2B5EF4-FFF2-40B4-BE49-F238E27FC236}">
                <a16:creationId xmlns:a16="http://schemas.microsoft.com/office/drawing/2014/main" id="{08BD6571-C88D-ACD3-1530-975762D4752B}"/>
              </a:ext>
            </a:extLst>
          </p:cNvPr>
          <p:cNvSpPr txBox="1"/>
          <p:nvPr/>
        </p:nvSpPr>
        <p:spPr>
          <a:xfrm>
            <a:off x="1991915" y="5591299"/>
            <a:ext cx="466071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rgbClr val="00B0F0"/>
                </a:solidFill>
                <a:latin typeface="Arial Narrow" panose="020B0606020202030204" pitchFamily="34" charset="0"/>
                <a:cs typeface="Times New Roman" panose="02020603050405020304" pitchFamily="18" charset="0"/>
              </a:rPr>
              <a:t>Feed forward Backpropagation Algorithm</a:t>
            </a:r>
            <a:endParaRPr lang="en-IN" dirty="0">
              <a:solidFill>
                <a:srgbClr val="00B0F0"/>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11" name="Rectangle 10">
                <a:extLst>
                  <a:ext uri="{FF2B5EF4-FFF2-40B4-BE49-F238E27FC236}">
                    <a16:creationId xmlns:a16="http://schemas.microsoft.com/office/drawing/2014/main" id="{38923C63-33DB-45CC-B354-51D3A2E72463}"/>
                  </a:ext>
                </a:extLst>
              </p:cNvPr>
              <p:cNvSpPr/>
              <p:nvPr/>
            </p:nvSpPr>
            <p:spPr>
              <a:xfrm>
                <a:off x="1991915" y="2898900"/>
                <a:ext cx="3474541" cy="760144"/>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Sup>
                        <m:sSubSupPr>
                          <m:ctrlPr>
                            <a:rPr lang="en-IN" i="1" smtClean="0">
                              <a:latin typeface="Cambria Math" panose="02040503050406030204" pitchFamily="18" charset="0"/>
                            </a:rPr>
                          </m:ctrlPr>
                        </m:sSubSupPr>
                        <m:e>
                          <m:r>
                            <a:rPr lang="en-IN" i="1">
                              <a:latin typeface="Cambria Math" panose="02040503050406030204" pitchFamily="18" charset="0"/>
                            </a:rPr>
                            <m:t>𝑤</m:t>
                          </m:r>
                        </m:e>
                        <m:sub>
                          <m:r>
                            <a:rPr lang="en-IN" b="0" i="1" smtClean="0">
                              <a:latin typeface="Cambria Math" panose="02040503050406030204" pitchFamily="18" charset="0"/>
                            </a:rPr>
                            <m:t>𝑒</m:t>
                          </m:r>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𝑘</m:t>
                          </m:r>
                          <m:r>
                            <a:rPr lang="en-IN" i="1">
                              <a:latin typeface="Cambria Math" panose="02040503050406030204" pitchFamily="18" charset="0"/>
                            </a:rPr>
                            <m:t>)</m:t>
                          </m:r>
                        </m:sup>
                      </m:sSubSup>
                      <m:d>
                        <m:dPr>
                          <m:ctrlPr>
                            <a:rPr lang="en-IN" i="1">
                              <a:latin typeface="Cambria Math" panose="02040503050406030204" pitchFamily="18" charset="0"/>
                            </a:rPr>
                          </m:ctrlPr>
                        </m:dPr>
                        <m:e>
                          <m:r>
                            <a:rPr lang="en-IN" i="1">
                              <a:latin typeface="Cambria Math" panose="02040503050406030204" pitchFamily="18" charset="0"/>
                            </a:rPr>
                            <m:t>𝑡</m:t>
                          </m:r>
                          <m:r>
                            <a:rPr lang="en-IN" i="1">
                              <a:latin typeface="Cambria Math" panose="02040503050406030204" pitchFamily="18" charset="0"/>
                            </a:rPr>
                            <m:t>+1</m:t>
                          </m:r>
                        </m:e>
                      </m:d>
                      <m:r>
                        <a:rPr lang="en-IN" i="1">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𝑤</m:t>
                          </m:r>
                        </m:e>
                        <m:sub>
                          <m:r>
                            <a:rPr lang="en-IN" b="0" i="1" smtClean="0">
                              <a:latin typeface="Cambria Math" panose="02040503050406030204" pitchFamily="18" charset="0"/>
                            </a:rPr>
                            <m:t>𝑒</m:t>
                          </m:r>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𝑘</m:t>
                          </m:r>
                          <m:r>
                            <a:rPr lang="en-IN" i="1">
                              <a:latin typeface="Cambria Math" panose="02040503050406030204" pitchFamily="18" charset="0"/>
                            </a:rPr>
                            <m:t>)</m:t>
                          </m:r>
                        </m:sup>
                      </m:sSubSup>
                      <m:d>
                        <m:dPr>
                          <m:ctrlPr>
                            <a:rPr lang="en-IN" i="1">
                              <a:latin typeface="Cambria Math" panose="02040503050406030204" pitchFamily="18" charset="0"/>
                            </a:rPr>
                          </m:ctrlPr>
                        </m:dPr>
                        <m:e>
                          <m:r>
                            <a:rPr lang="en-IN" i="1">
                              <a:latin typeface="Cambria Math" panose="02040503050406030204" pitchFamily="18" charset="0"/>
                            </a:rPr>
                            <m:t>𝑡</m:t>
                          </m:r>
                        </m:e>
                      </m:d>
                      <m:r>
                        <a:rPr lang="en-IN" i="1">
                          <a:latin typeface="Cambria Math" panose="02040503050406030204" pitchFamily="18" charset="0"/>
                        </a:rPr>
                        <m:t>− </m:t>
                      </m:r>
                      <m:r>
                        <a:rPr lang="en-IN" i="1">
                          <a:latin typeface="Cambria Math" panose="02040503050406030204" pitchFamily="18" charset="0"/>
                        </a:rPr>
                        <m:t>𝜂</m:t>
                      </m:r>
                      <m:f>
                        <m:fPr>
                          <m:ctrlPr>
                            <a:rPr lang="en-IN" i="1">
                              <a:latin typeface="Cambria Math" panose="02040503050406030204" pitchFamily="18" charset="0"/>
                            </a:rPr>
                          </m:ctrlPr>
                        </m:fPr>
                        <m:num>
                          <m:r>
                            <a:rPr lang="en-IN" i="1">
                              <a:latin typeface="Cambria Math" panose="02040503050406030204" pitchFamily="18" charset="0"/>
                            </a:rPr>
                            <m:t>𝜕</m:t>
                          </m:r>
                          <m:r>
                            <a:rPr lang="en-IN" i="1">
                              <a:latin typeface="Cambria Math" panose="02040503050406030204" pitchFamily="18" charset="0"/>
                            </a:rPr>
                            <m:t>𝐸</m:t>
                          </m:r>
                        </m:num>
                        <m:den>
                          <m:r>
                            <a:rPr lang="en-IN" i="1">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𝑤</m:t>
                              </m:r>
                            </m:e>
                            <m:sub>
                              <m:r>
                                <a:rPr lang="en-IN" b="0" i="1" smtClean="0">
                                  <a:latin typeface="Cambria Math" panose="02040503050406030204" pitchFamily="18" charset="0"/>
                                </a:rPr>
                                <m:t>𝑒</m:t>
                              </m:r>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𝑘</m:t>
                              </m:r>
                              <m:r>
                                <a:rPr lang="en-IN" i="1">
                                  <a:latin typeface="Cambria Math" panose="02040503050406030204" pitchFamily="18" charset="0"/>
                                </a:rPr>
                                <m:t>)</m:t>
                              </m:r>
                            </m:sup>
                          </m:sSubSup>
                        </m:den>
                      </m:f>
                    </m:oMath>
                  </m:oMathPara>
                </a14:m>
                <a:endParaRPr lang="en-IN" dirty="0">
                  <a:latin typeface="Arial Narrow" panose="020B0606020202030204" pitchFamily="34" charset="0"/>
                  <a:cs typeface="Times New Roman" panose="02020603050405020304" pitchFamily="18" charset="0"/>
                </a:endParaRPr>
              </a:p>
            </p:txBody>
          </p:sp>
        </mc:Choice>
        <mc:Fallback>
          <p:sp>
            <p:nvSpPr>
              <p:cNvPr id="11" name="Rectangle 10">
                <a:extLst>
                  <a:ext uri="{FF2B5EF4-FFF2-40B4-BE49-F238E27FC236}">
                    <a16:creationId xmlns:a16="http://schemas.microsoft.com/office/drawing/2014/main" id="{38923C63-33DB-45CC-B354-51D3A2E72463}"/>
                  </a:ext>
                </a:extLst>
              </p:cNvPr>
              <p:cNvSpPr>
                <a:spLocks noRot="1" noChangeAspect="1" noMove="1" noResize="1" noEditPoints="1" noAdjustHandles="1" noChangeArrowheads="1" noChangeShapeType="1" noTextEdit="1"/>
              </p:cNvSpPr>
              <p:nvPr/>
            </p:nvSpPr>
            <p:spPr>
              <a:xfrm>
                <a:off x="1991915" y="2898900"/>
                <a:ext cx="3474541" cy="760144"/>
              </a:xfrm>
              <a:prstGeom prst="rect">
                <a:avLst/>
              </a:prstGeom>
              <a:blipFill>
                <a:blip r:embed="rId6"/>
                <a:stretch>
                  <a:fillRect/>
                </a:stretch>
              </a:blipFill>
            </p:spPr>
            <p:txBody>
              <a:bodyPr/>
              <a:lstStyle/>
              <a:p>
                <a:r>
                  <a:rPr lang="en-GB">
                    <a:noFill/>
                  </a:rPr>
                  <a:t> </a:t>
                </a:r>
              </a:p>
            </p:txBody>
          </p:sp>
        </mc:Fallback>
      </mc:AlternateContent>
      <p:sp>
        <p:nvSpPr>
          <p:cNvPr id="12" name="TextBox 5">
            <a:extLst>
              <a:ext uri="{FF2B5EF4-FFF2-40B4-BE49-F238E27FC236}">
                <a16:creationId xmlns:a16="http://schemas.microsoft.com/office/drawing/2014/main" id="{85722559-B75A-46CE-9A00-A5CFA23E6B90}"/>
              </a:ext>
            </a:extLst>
          </p:cNvPr>
          <p:cNvSpPr txBox="1"/>
          <p:nvPr/>
        </p:nvSpPr>
        <p:spPr>
          <a:xfrm>
            <a:off x="6828201" y="1795190"/>
            <a:ext cx="146188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rgbClr val="00B0F0"/>
                </a:solidFill>
                <a:latin typeface="Arial Narrow" panose="020B0606020202030204" pitchFamily="34" charset="0"/>
                <a:cs typeface="Times New Roman" panose="02020603050405020304" pitchFamily="18" charset="0"/>
              </a:rPr>
              <a:t>at output layer</a:t>
            </a:r>
          </a:p>
        </p:txBody>
      </p:sp>
      <p:sp>
        <p:nvSpPr>
          <p:cNvPr id="13" name="TextBox 5">
            <a:extLst>
              <a:ext uri="{FF2B5EF4-FFF2-40B4-BE49-F238E27FC236}">
                <a16:creationId xmlns:a16="http://schemas.microsoft.com/office/drawing/2014/main" id="{347404BD-AC82-49FE-BFC5-D2A1D89EEACE}"/>
              </a:ext>
            </a:extLst>
          </p:cNvPr>
          <p:cNvSpPr txBox="1"/>
          <p:nvPr/>
        </p:nvSpPr>
        <p:spPr>
          <a:xfrm>
            <a:off x="6574625" y="5043247"/>
            <a:ext cx="146188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rgbClr val="00B0F0"/>
                </a:solidFill>
                <a:latin typeface="Arial Narrow" panose="020B0606020202030204" pitchFamily="34" charset="0"/>
                <a:cs typeface="Times New Roman" panose="02020603050405020304" pitchFamily="18" charset="0"/>
              </a:rPr>
              <a:t>at output layer</a:t>
            </a:r>
          </a:p>
        </p:txBody>
      </p:sp>
      <p:sp>
        <p:nvSpPr>
          <p:cNvPr id="14" name="Rounded Rectangle 13"/>
          <p:cNvSpPr/>
          <p:nvPr/>
        </p:nvSpPr>
        <p:spPr>
          <a:xfrm>
            <a:off x="5234940" y="3714865"/>
            <a:ext cx="2903220" cy="503177"/>
          </a:xfrm>
          <a:prstGeom prst="round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itle 1"/>
          <p:cNvSpPr>
            <a:spLocks noGrp="1"/>
          </p:cNvSpPr>
          <p:nvPr>
            <p:ph type="title"/>
          </p:nvPr>
        </p:nvSpPr>
        <p:spPr>
          <a:xfrm>
            <a:off x="666750" y="271769"/>
            <a:ext cx="6539990" cy="926874"/>
          </a:xfrm>
        </p:spPr>
        <p:txBody>
          <a:bodyPr>
            <a:normAutofit/>
          </a:bodyPr>
          <a:lstStyle/>
          <a:p>
            <a:r>
              <a:rPr lang="en-IN" sz="3600" dirty="0">
                <a:latin typeface="Century" panose="02040604050505020304" pitchFamily="18" charset="0"/>
              </a:rPr>
              <a:t>Backpropagation : Algorithm </a:t>
            </a:r>
          </a:p>
        </p:txBody>
      </p:sp>
    </p:spTree>
    <p:extLst>
      <p:ext uri="{BB962C8B-B14F-4D97-AF65-F5344CB8AC3E}">
        <p14:creationId xmlns:p14="http://schemas.microsoft.com/office/powerpoint/2010/main" val="1982303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333850"/>
                <a:ext cx="10515600" cy="5125673"/>
              </a:xfrm>
            </p:spPr>
            <p:txBody>
              <a:bodyPr>
                <a:normAutofit fontScale="92500" lnSpcReduction="10000"/>
              </a:bodyPr>
              <a:lstStyle/>
              <a:p>
                <a:pPr marL="457200" indent="-457200" algn="just">
                  <a:buFont typeface="+mj-lt"/>
                  <a:buAutoNum type="arabicPeriod"/>
                </a:pPr>
                <a:r>
                  <a:rPr lang="en-IN" sz="2000" dirty="0">
                    <a:latin typeface="Arial Narrow" panose="020B0606020202030204" pitchFamily="34" charset="0"/>
                    <a:cs typeface="Times New Roman" panose="02020603050405020304" pitchFamily="18" charset="0"/>
                  </a:rPr>
                  <a:t>Initialize </a:t>
                </a:r>
                <a14:m>
                  <m:oMath xmlns:m="http://schemas.openxmlformats.org/officeDocument/2006/math">
                    <m:sSubSup>
                      <m:sSubSupPr>
                        <m:ctrlPr>
                          <a:rPr lang="en-IN" sz="2000" i="1">
                            <a:latin typeface="Cambria Math" panose="02040503050406030204" pitchFamily="18" charset="0"/>
                          </a:rPr>
                        </m:ctrlPr>
                      </m:sSubSupPr>
                      <m:e>
                        <m:r>
                          <a:rPr lang="en-IN" sz="2000" i="1">
                            <a:latin typeface="Cambria Math" panose="02040503050406030204" pitchFamily="18" charset="0"/>
                          </a:rPr>
                          <m:t>𝑤</m:t>
                        </m:r>
                      </m:e>
                      <m:sub>
                        <m:r>
                          <a:rPr lang="en-IN" sz="2000" b="0" i="1" smtClean="0">
                            <a:latin typeface="Cambria Math" panose="02040503050406030204" pitchFamily="18" charset="0"/>
                          </a:rPr>
                          <m:t>𝑒</m:t>
                        </m:r>
                        <m:r>
                          <a:rPr lang="en-IN" sz="2000" i="1">
                            <a:latin typeface="Cambria Math" panose="02040503050406030204" pitchFamily="18" charset="0"/>
                          </a:rPr>
                          <m:t>𝑖</m:t>
                        </m:r>
                      </m:sub>
                      <m:sup>
                        <m:r>
                          <a:rPr lang="en-IN" sz="2000" i="1">
                            <a:latin typeface="Cambria Math" panose="02040503050406030204" pitchFamily="18" charset="0"/>
                          </a:rPr>
                          <m:t>(</m:t>
                        </m:r>
                        <m:r>
                          <a:rPr lang="en-IN" sz="2000" i="1">
                            <a:latin typeface="Cambria Math" panose="02040503050406030204" pitchFamily="18" charset="0"/>
                          </a:rPr>
                          <m:t>𝑘</m:t>
                        </m:r>
                        <m:r>
                          <a:rPr lang="en-IN" sz="2000" i="1">
                            <a:latin typeface="Cambria Math" panose="02040503050406030204" pitchFamily="18" charset="0"/>
                          </a:rPr>
                          <m:t>)</m:t>
                        </m:r>
                      </m:sup>
                    </m:sSubSup>
                  </m:oMath>
                </a14:m>
                <a:r>
                  <a:rPr lang="en-IN" sz="2000" dirty="0">
                    <a:latin typeface="Arial Narrow" panose="020B0606020202030204" pitchFamily="34" charset="0"/>
                    <a:cs typeface="Times New Roman" panose="02020603050405020304" pitchFamily="18" charset="0"/>
                  </a:rPr>
                  <a:t>randomly.</a:t>
                </a:r>
              </a:p>
              <a:p>
                <a:pPr marL="457200" indent="-457200" algn="just">
                  <a:buFont typeface="+mj-lt"/>
                  <a:buAutoNum type="arabicPeriod"/>
                </a:pPr>
                <a:r>
                  <a:rPr lang="en-IN" sz="2000" dirty="0">
                    <a:latin typeface="Arial Narrow" panose="020B0606020202030204" pitchFamily="34" charset="0"/>
                    <a:cs typeface="Times New Roman" panose="02020603050405020304" pitchFamily="18" charset="0"/>
                  </a:rPr>
                  <a:t>Feed training samples</a:t>
                </a:r>
              </a:p>
              <a:p>
                <a:pPr marL="457200" indent="-457200" algn="just">
                  <a:buFont typeface="+mj-lt"/>
                  <a:buAutoNum type="arabicPeriod"/>
                </a:pPr>
                <a:r>
                  <a:rPr lang="en-IN" sz="2000" dirty="0">
                    <a:latin typeface="Arial Narrow" panose="020B0606020202030204" pitchFamily="34" charset="0"/>
                    <a:cs typeface="Times New Roman" panose="02020603050405020304" pitchFamily="18" charset="0"/>
                  </a:rPr>
                  <a:t>Feed forward</a:t>
                </a:r>
              </a:p>
              <a:p>
                <a:pPr marL="342900" lvl="1" indent="0" algn="just">
                  <a:buNone/>
                </a:pPr>
                <a:r>
                  <a:rPr lang="en-IN" sz="2000" dirty="0">
                    <a:latin typeface="Arial Narrow" panose="020B0606020202030204" pitchFamily="34" charset="0"/>
                    <a:cs typeface="Times New Roman" panose="02020603050405020304" pitchFamily="18" charset="0"/>
                  </a:rPr>
                  <a:t>For k=0 to K-1 Compute</a:t>
                </a:r>
              </a:p>
              <a:p>
                <a:pPr marL="685800" lvl="2" indent="0" algn="just">
                  <a:buNone/>
                </a:pPr>
                <a:r>
                  <a:rPr lang="en-IN" dirty="0">
                    <a:latin typeface="Arial Narrow" panose="020B0606020202030204" pitchFamily="34" charset="0"/>
                    <a:cs typeface="Times New Roman" panose="02020603050405020304" pitchFamily="18" charset="0"/>
                  </a:rPr>
                  <a:t>	 </a:t>
                </a:r>
                <a14:m>
                  <m:oMath xmlns:m="http://schemas.openxmlformats.org/officeDocument/2006/math">
                    <m:sSubSup>
                      <m:sSubSupPr>
                        <m:ctrlPr>
                          <a:rPr lang="en-IN" i="1" dirty="0">
                            <a:latin typeface="Cambria Math" panose="02040503050406030204" pitchFamily="18" charset="0"/>
                            <a:cs typeface="Times New Roman" panose="02020603050405020304" pitchFamily="18" charset="0"/>
                          </a:rPr>
                        </m:ctrlPr>
                      </m:sSubSupPr>
                      <m:e>
                        <m:r>
                          <a:rPr lang="en-IN" b="0" i="1" dirty="0" smtClean="0">
                            <a:latin typeface="Cambria Math" panose="02040503050406030204" pitchFamily="18" charset="0"/>
                            <a:cs typeface="Times New Roman" panose="02020603050405020304" pitchFamily="18" charset="0"/>
                          </a:rPr>
                          <m:t>𝐼</m:t>
                        </m:r>
                      </m:e>
                      <m:sub>
                        <m:r>
                          <a:rPr lang="en-IN" b="0" i="1" dirty="0" smtClean="0">
                            <a:latin typeface="Cambria Math" panose="02040503050406030204" pitchFamily="18" charset="0"/>
                            <a:cs typeface="Times New Roman" panose="02020603050405020304" pitchFamily="18" charset="0"/>
                          </a:rPr>
                          <m:t>𝑖</m:t>
                        </m:r>
                      </m:sub>
                      <m:sup>
                        <m:r>
                          <a:rPr lang="en-IN" i="1" dirty="0">
                            <a:latin typeface="Cambria Math" panose="02040503050406030204" pitchFamily="18" charset="0"/>
                            <a:cs typeface="Times New Roman" panose="02020603050405020304" pitchFamily="18" charset="0"/>
                          </a:rPr>
                          <m:t>(</m:t>
                        </m:r>
                        <m:r>
                          <a:rPr lang="en-IN" i="1" dirty="0">
                            <a:latin typeface="Cambria Math" panose="02040503050406030204" pitchFamily="18" charset="0"/>
                            <a:cs typeface="Times New Roman" panose="02020603050405020304" pitchFamily="18" charset="0"/>
                          </a:rPr>
                          <m:t>𝑘</m:t>
                        </m:r>
                        <m:r>
                          <a:rPr lang="en-IN" i="1" dirty="0">
                            <a:latin typeface="Cambria Math" panose="02040503050406030204" pitchFamily="18" charset="0"/>
                            <a:cs typeface="Times New Roman" panose="02020603050405020304" pitchFamily="18" charset="0"/>
                          </a:rPr>
                          <m:t>+1)</m:t>
                        </m:r>
                      </m:sup>
                    </m:sSubSup>
                    <m:r>
                      <a:rPr lang="en-IN" i="1" dirty="0">
                        <a:latin typeface="Cambria Math" panose="02040503050406030204" pitchFamily="18" charset="0"/>
                        <a:cs typeface="Times New Roman" panose="02020603050405020304" pitchFamily="18" charset="0"/>
                      </a:rPr>
                      <m:t>= </m:t>
                    </m:r>
                    <m:r>
                      <a:rPr lang="en-IN" i="1">
                        <a:latin typeface="Cambria Math" panose="02040503050406030204" pitchFamily="18" charset="0"/>
                      </a:rPr>
                      <m:t>𝑅</m:t>
                    </m:r>
                    <m:r>
                      <a:rPr lang="en-IN" i="1">
                        <a:latin typeface="Cambria Math" panose="02040503050406030204" pitchFamily="18" charset="0"/>
                      </a:rPr>
                      <m:t>(</m:t>
                    </m:r>
                    <m:nary>
                      <m:naryPr>
                        <m:chr m:val="∑"/>
                        <m:limLoc m:val="subSup"/>
                        <m:ctrlPr>
                          <a:rPr lang="en-IN" i="1">
                            <a:latin typeface="Cambria Math" panose="02040503050406030204" pitchFamily="18" charset="0"/>
                          </a:rPr>
                        </m:ctrlPr>
                      </m:naryPr>
                      <m:sub>
                        <m:r>
                          <m:rPr>
                            <m:brk m:alnAt="1"/>
                          </m:rPr>
                          <a:rPr lang="en-IN" b="0" i="1" smtClean="0">
                            <a:latin typeface="Cambria Math" panose="02040503050406030204" pitchFamily="18" charset="0"/>
                          </a:rPr>
                          <m:t>𝑖</m:t>
                        </m:r>
                        <m:r>
                          <a:rPr lang="en-IN" i="1">
                            <a:latin typeface="Cambria Math" panose="02040503050406030204" pitchFamily="18" charset="0"/>
                          </a:rPr>
                          <m:t>=0</m:t>
                        </m:r>
                      </m:sub>
                      <m:sup>
                        <m:sSub>
                          <m:sSubPr>
                            <m:ctrlPr>
                              <a:rPr lang="en-IN" i="1">
                                <a:latin typeface="Cambria Math" panose="02040503050406030204" pitchFamily="18" charset="0"/>
                              </a:rPr>
                            </m:ctrlPr>
                          </m:sSubPr>
                          <m:e>
                            <m:r>
                              <a:rPr lang="en-IN" i="1">
                                <a:latin typeface="Cambria Math" panose="02040503050406030204" pitchFamily="18" charset="0"/>
                              </a:rPr>
                              <m:t>𝑀</m:t>
                            </m:r>
                          </m:e>
                          <m:sub>
                            <m:r>
                              <a:rPr lang="en-IN" i="1">
                                <a:latin typeface="Cambria Math" panose="02040503050406030204" pitchFamily="18" charset="0"/>
                              </a:rPr>
                              <m:t>𝑘</m:t>
                            </m:r>
                            <m:r>
                              <a:rPr lang="en-IN" i="1">
                                <a:latin typeface="Cambria Math" panose="02040503050406030204" pitchFamily="18" charset="0"/>
                              </a:rPr>
                              <m:t>−1</m:t>
                            </m:r>
                          </m:sub>
                        </m:sSub>
                      </m:sup>
                      <m:e>
                        <m:sSubSup>
                          <m:sSubSupPr>
                            <m:ctrlPr>
                              <a:rPr lang="en-IN" i="1">
                                <a:latin typeface="Cambria Math" panose="02040503050406030204" pitchFamily="18" charset="0"/>
                              </a:rPr>
                            </m:ctrlPr>
                          </m:sSubSupPr>
                          <m:e>
                            <m:r>
                              <a:rPr lang="en-IN" i="1">
                                <a:latin typeface="Cambria Math" panose="02040503050406030204" pitchFamily="18" charset="0"/>
                              </a:rPr>
                              <m:t>𝑤</m:t>
                            </m:r>
                          </m:e>
                          <m:sub>
                            <m:r>
                              <a:rPr lang="en-IN" b="0" i="1" smtClean="0">
                                <a:latin typeface="Cambria Math" panose="02040503050406030204" pitchFamily="18" charset="0"/>
                              </a:rPr>
                              <m:t>𝑒</m:t>
                            </m:r>
                            <m:r>
                              <a:rPr lang="en-IN" i="1">
                                <a:latin typeface="Cambria Math" panose="02040503050406030204" pitchFamily="18" charset="0"/>
                              </a:rPr>
                              <m:t>𝑖</m:t>
                            </m:r>
                          </m:sub>
                          <m:sup>
                            <m:r>
                              <a:rPr lang="en-IN" i="1">
                                <a:latin typeface="Cambria Math" panose="02040503050406030204" pitchFamily="18" charset="0"/>
                              </a:rPr>
                              <m:t>(</m:t>
                            </m:r>
                            <m:r>
                              <a:rPr lang="en-IN" i="1">
                                <a:latin typeface="Cambria Math" panose="02040503050406030204" pitchFamily="18" charset="0"/>
                              </a:rPr>
                              <m:t>𝑘</m:t>
                            </m:r>
                            <m:r>
                              <a:rPr lang="en-IN" i="1">
                                <a:latin typeface="Cambria Math" panose="02040503050406030204" pitchFamily="18" charset="0"/>
                              </a:rPr>
                              <m:t>+1)</m:t>
                            </m:r>
                          </m:sup>
                        </m:sSubSup>
                        <m:sSubSup>
                          <m:sSubSupPr>
                            <m:ctrlPr>
                              <a:rPr lang="en-IN" i="1">
                                <a:latin typeface="Cambria Math" panose="02040503050406030204" pitchFamily="18" charset="0"/>
                              </a:rPr>
                            </m:ctrlPr>
                          </m:sSubSupPr>
                          <m:e>
                            <m:r>
                              <a:rPr lang="en-IN" b="0" i="1" smtClean="0">
                                <a:latin typeface="Cambria Math" panose="02040503050406030204" pitchFamily="18" charset="0"/>
                              </a:rPr>
                              <m:t>𝐼</m:t>
                            </m:r>
                          </m:e>
                          <m:sub>
                            <m:r>
                              <a:rPr lang="en-IN" b="0" i="1" smtClean="0">
                                <a:latin typeface="Cambria Math" panose="02040503050406030204" pitchFamily="18" charset="0"/>
                              </a:rPr>
                              <m:t>𝑒</m:t>
                            </m:r>
                          </m:sub>
                          <m:sup>
                            <m:r>
                              <a:rPr lang="en-IN" i="1">
                                <a:latin typeface="Cambria Math" panose="02040503050406030204" pitchFamily="18" charset="0"/>
                              </a:rPr>
                              <m:t>(</m:t>
                            </m:r>
                            <m:r>
                              <a:rPr lang="en-IN" i="1">
                                <a:latin typeface="Cambria Math" panose="02040503050406030204" pitchFamily="18" charset="0"/>
                              </a:rPr>
                              <m:t>𝑘</m:t>
                            </m:r>
                            <m:r>
                              <a:rPr lang="en-IN" i="1">
                                <a:latin typeface="Cambria Math" panose="02040503050406030204" pitchFamily="18" charset="0"/>
                              </a:rPr>
                              <m:t>)</m:t>
                            </m:r>
                          </m:sup>
                        </m:sSubSup>
                        <m:r>
                          <a:rPr lang="en-IN" i="1">
                            <a:latin typeface="Cambria Math" panose="02040503050406030204" pitchFamily="18" charset="0"/>
                          </a:rPr>
                          <m:t>)</m:t>
                        </m:r>
                      </m:e>
                    </m:nary>
                    <m:r>
                      <a:rPr lang="en-IN" i="1">
                        <a:latin typeface="Cambria Math" panose="02040503050406030204" pitchFamily="18" charset="0"/>
                      </a:rPr>
                      <m:t> </m:t>
                    </m:r>
                  </m:oMath>
                </a14:m>
                <a:r>
                  <a:rPr lang="en-IN" dirty="0">
                    <a:latin typeface="Arial Narrow" panose="020B0606020202030204" pitchFamily="34" charset="0"/>
                    <a:cs typeface="Times New Roman" panose="02020603050405020304" pitchFamily="18" charset="0"/>
                  </a:rPr>
                  <a:t>  for nodes </a:t>
                </a:r>
                <a:r>
                  <a:rPr lang="en-IN" dirty="0" err="1">
                    <a:latin typeface="Arial Narrow" panose="020B0606020202030204" pitchFamily="34" charset="0"/>
                    <a:cs typeface="Times New Roman" panose="02020603050405020304" pitchFamily="18" charset="0"/>
                  </a:rPr>
                  <a:t>i</a:t>
                </a:r>
                <a:r>
                  <a:rPr lang="en-IN" dirty="0">
                    <a:latin typeface="Arial Narrow" panose="020B0606020202030204" pitchFamily="34" charset="0"/>
                    <a:cs typeface="Times New Roman" panose="02020603050405020304" pitchFamily="18" charset="0"/>
                  </a:rPr>
                  <a:t>=1 to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cs typeface="Times New Roman" panose="02020603050405020304" pitchFamily="18" charset="0"/>
                          </a:rPr>
                          <m:t>𝑀</m:t>
                        </m:r>
                      </m:e>
                      <m:sub>
                        <m:r>
                          <a:rPr lang="en-IN" i="1">
                            <a:latin typeface="Cambria Math" panose="02040503050406030204" pitchFamily="18" charset="0"/>
                            <a:cs typeface="Times New Roman" panose="02020603050405020304" pitchFamily="18" charset="0"/>
                          </a:rPr>
                          <m:t>𝐾</m:t>
                        </m:r>
                        <m:r>
                          <a:rPr lang="en-IN" i="1">
                            <a:latin typeface="Cambria Math" panose="02040503050406030204" pitchFamily="18" charset="0"/>
                            <a:cs typeface="Times New Roman" panose="02020603050405020304" pitchFamily="18" charset="0"/>
                          </a:rPr>
                          <m:t>+1</m:t>
                        </m:r>
                      </m:sub>
                    </m:sSub>
                  </m:oMath>
                </a14:m>
                <a:r>
                  <a:rPr lang="en-IN" dirty="0">
                    <a:latin typeface="Arial Narrow" panose="020B0606020202030204" pitchFamily="34" charset="0"/>
                    <a:cs typeface="Times New Roman" panose="02020603050405020304" pitchFamily="18" charset="0"/>
                  </a:rPr>
                  <a:t>                </a:t>
                </a:r>
              </a:p>
              <a:p>
                <a:pPr marL="457200" indent="-457200" algn="just">
                  <a:buFont typeface="+mj-lt"/>
                  <a:buAutoNum type="arabicPeriod"/>
                </a:pPr>
                <a:r>
                  <a:rPr lang="en-IN" sz="2000" dirty="0">
                    <a:latin typeface="Arial Narrow" panose="020B0606020202030204" pitchFamily="34" charset="0"/>
                    <a:cs typeface="Times New Roman" panose="02020603050405020304" pitchFamily="18" charset="0"/>
                  </a:rPr>
                  <a:t>Backpropagation </a:t>
                </a:r>
              </a:p>
              <a:p>
                <a:pPr marL="0" indent="0" algn="just">
                  <a:buNone/>
                </a:pPr>
                <a:r>
                  <a:rPr lang="en-IN" sz="2000" dirty="0">
                    <a:latin typeface="Arial Narrow" panose="020B0606020202030204" pitchFamily="34" charset="0"/>
                    <a:cs typeface="Times New Roman" panose="02020603050405020304" pitchFamily="18" charset="0"/>
                  </a:rPr>
                  <a:t>           for nodes in the output layer				</a:t>
                </a:r>
              </a:p>
              <a:p>
                <a:pPr marL="342900" lvl="1" indent="0" algn="just">
                  <a:buNone/>
                </a:pPr>
                <a:r>
                  <a:rPr lang="en-IN" sz="2000" dirty="0">
                    <a:latin typeface="Arial Narrow" panose="020B0606020202030204" pitchFamily="34" charset="0"/>
                    <a:cs typeface="Times New Roman" panose="02020603050405020304" pitchFamily="18" charset="0"/>
                  </a:rPr>
                  <a:t>		for </a:t>
                </a:r>
                <a:r>
                  <a:rPr lang="en-IN" sz="2000" dirty="0" err="1">
                    <a:latin typeface="Arial Narrow" panose="020B0606020202030204" pitchFamily="34" charset="0"/>
                    <a:cs typeface="Times New Roman" panose="02020603050405020304" pitchFamily="18" charset="0"/>
                  </a:rPr>
                  <a:t>i</a:t>
                </a:r>
                <a:r>
                  <a:rPr lang="en-IN" sz="2000" dirty="0">
                    <a:latin typeface="Arial Narrow" panose="020B0606020202030204" pitchFamily="34" charset="0"/>
                    <a:cs typeface="Times New Roman" panose="02020603050405020304" pitchFamily="18" charset="0"/>
                  </a:rPr>
                  <a:t>=1 to M</a:t>
                </a:r>
                <a:r>
                  <a:rPr lang="en-IN" sz="2000" baseline="-25000" dirty="0">
                    <a:latin typeface="Arial Narrow" panose="020B0606020202030204" pitchFamily="34" charset="0"/>
                    <a:cs typeface="Times New Roman" panose="02020603050405020304" pitchFamily="18" charset="0"/>
                  </a:rPr>
                  <a:t>k </a:t>
                </a:r>
                <a:r>
                  <a:rPr lang="en-IN" sz="2000" dirty="0">
                    <a:latin typeface="Arial Narrow" panose="020B0606020202030204" pitchFamily="34" charset="0"/>
                    <a:cs typeface="Times New Roman" panose="02020603050405020304" pitchFamily="18" charset="0"/>
                  </a:rPr>
                  <a:t>Compute</a:t>
                </a:r>
              </a:p>
              <a:p>
                <a:pPr marL="342900" lvl="1" indent="0" algn="just">
                  <a:buNone/>
                </a:pPr>
                <a:r>
                  <a:rPr lang="en-IN" sz="2000" dirty="0">
                    <a:latin typeface="Arial Narrow" panose="020B0606020202030204" pitchFamily="34" charset="0"/>
                    <a:cs typeface="Times New Roman" panose="02020603050405020304" pitchFamily="18" charset="0"/>
                  </a:rPr>
                  <a:t>                                    </a:t>
                </a:r>
                <a14:m>
                  <m:oMath xmlns:m="http://schemas.openxmlformats.org/officeDocument/2006/math">
                    <m:sSubSup>
                      <m:sSubSupPr>
                        <m:ctrlPr>
                          <a:rPr lang="en-IN" sz="2000" i="1">
                            <a:latin typeface="Cambria Math" panose="02040503050406030204" pitchFamily="18" charset="0"/>
                          </a:rPr>
                        </m:ctrlPr>
                      </m:sSubSupPr>
                      <m:e>
                        <m:r>
                          <a:rPr lang="en-IN" sz="2000" i="1">
                            <a:latin typeface="Cambria Math" panose="02040503050406030204" pitchFamily="18" charset="0"/>
                          </a:rPr>
                          <m:t>𝛿</m:t>
                        </m:r>
                      </m:e>
                      <m:sub>
                        <m:r>
                          <a:rPr lang="en-IN" sz="2000" b="0" i="1" smtClean="0">
                            <a:latin typeface="Cambria Math" panose="02040503050406030204" pitchFamily="18" charset="0"/>
                          </a:rPr>
                          <m:t>𝑖</m:t>
                        </m:r>
                      </m:sub>
                      <m:sup>
                        <m:r>
                          <a:rPr lang="en-IN" sz="2000" i="1">
                            <a:latin typeface="Cambria Math" panose="02040503050406030204" pitchFamily="18" charset="0"/>
                          </a:rPr>
                          <m:t>(</m:t>
                        </m:r>
                        <m:r>
                          <a:rPr lang="en-IN" sz="2000" i="1">
                            <a:latin typeface="Cambria Math" panose="02040503050406030204" pitchFamily="18" charset="0"/>
                          </a:rPr>
                          <m:t>𝑘</m:t>
                        </m:r>
                        <m:r>
                          <a:rPr lang="en-IN" sz="2000" i="1">
                            <a:latin typeface="Cambria Math" panose="02040503050406030204" pitchFamily="18" charset="0"/>
                          </a:rPr>
                          <m:t>)</m:t>
                        </m:r>
                      </m:sup>
                    </m:sSubSup>
                  </m:oMath>
                </a14:m>
                <a:r>
                  <a:rPr lang="en-IN" sz="2000" baseline="-25000" dirty="0">
                    <a:latin typeface="Arial Narrow" panose="020B0606020202030204" pitchFamily="34" charset="0"/>
                    <a:cs typeface="Times New Roman" panose="02020603050405020304" pitchFamily="18" charset="0"/>
                  </a:rPr>
                  <a:t>= </a:t>
                </a:r>
                <a14:m>
                  <m:oMath xmlns:m="http://schemas.openxmlformats.org/officeDocument/2006/math">
                    <m:d>
                      <m:dPr>
                        <m:ctrlPr>
                          <a:rPr lang="en-IN" sz="2000" i="1">
                            <a:latin typeface="Cambria Math" panose="02040503050406030204" pitchFamily="18" charset="0"/>
                          </a:rPr>
                        </m:ctrlPr>
                      </m:dPr>
                      <m:e>
                        <m:sSubSup>
                          <m:sSubSupPr>
                            <m:ctrlPr>
                              <a:rPr lang="en-IN" sz="2000" i="1">
                                <a:latin typeface="Cambria Math" panose="02040503050406030204" pitchFamily="18" charset="0"/>
                              </a:rPr>
                            </m:ctrlPr>
                          </m:sSubSupPr>
                          <m:e>
                            <m:r>
                              <a:rPr lang="en-IN" sz="2000" b="0" i="1" smtClean="0">
                                <a:latin typeface="Cambria Math" panose="02040503050406030204" pitchFamily="18" charset="0"/>
                              </a:rPr>
                              <m:t>𝐼</m:t>
                            </m:r>
                          </m:e>
                          <m:sub>
                            <m:r>
                              <a:rPr lang="en-IN" sz="2000" b="0" i="1" smtClean="0">
                                <a:latin typeface="Cambria Math" panose="02040503050406030204" pitchFamily="18" charset="0"/>
                              </a:rPr>
                              <m:t>𝑖</m:t>
                            </m:r>
                          </m:sub>
                          <m:sup>
                            <m:d>
                              <m:dPr>
                                <m:ctrlPr>
                                  <a:rPr lang="en-IN" sz="2000" i="1">
                                    <a:latin typeface="Cambria Math" panose="02040503050406030204" pitchFamily="18" charset="0"/>
                                  </a:rPr>
                                </m:ctrlPr>
                              </m:dPr>
                              <m:e>
                                <m:r>
                                  <a:rPr lang="en-IN" sz="2000" i="1">
                                    <a:latin typeface="Cambria Math" panose="02040503050406030204" pitchFamily="18" charset="0"/>
                                  </a:rPr>
                                  <m:t>𝑘</m:t>
                                </m:r>
                              </m:e>
                            </m:d>
                          </m:sup>
                        </m:sSubSup>
                        <m:r>
                          <a:rPr lang="en-IN" sz="2000" i="1">
                            <a:latin typeface="Cambria Math" panose="02040503050406030204" pitchFamily="18" charset="0"/>
                          </a:rPr>
                          <m:t>−</m:t>
                        </m:r>
                        <m:sSubSup>
                          <m:sSubSupPr>
                            <m:ctrlPr>
                              <a:rPr lang="en-IN" sz="2000" i="1">
                                <a:latin typeface="Cambria Math" panose="02040503050406030204" pitchFamily="18" charset="0"/>
                              </a:rPr>
                            </m:ctrlPr>
                          </m:sSubSupPr>
                          <m:e>
                            <m:r>
                              <a:rPr lang="en-IN" sz="2000" i="1">
                                <a:latin typeface="Cambria Math" panose="02040503050406030204" pitchFamily="18" charset="0"/>
                              </a:rPr>
                              <m:t>𝑑</m:t>
                            </m:r>
                          </m:e>
                          <m:sub>
                            <m:r>
                              <a:rPr lang="en-IN" sz="2000" b="0" i="1" smtClean="0">
                                <a:latin typeface="Cambria Math" panose="02040503050406030204" pitchFamily="18" charset="0"/>
                              </a:rPr>
                              <m:t>𝑖</m:t>
                            </m:r>
                          </m:sub>
                          <m:sup>
                            <m:d>
                              <m:dPr>
                                <m:ctrlPr>
                                  <a:rPr lang="en-IN" sz="2000" i="1">
                                    <a:latin typeface="Cambria Math" panose="02040503050406030204" pitchFamily="18" charset="0"/>
                                  </a:rPr>
                                </m:ctrlPr>
                              </m:dPr>
                              <m:e>
                                <m:r>
                                  <a:rPr lang="en-IN" sz="2000" i="1">
                                    <a:latin typeface="Cambria Math" panose="02040503050406030204" pitchFamily="18" charset="0"/>
                                  </a:rPr>
                                  <m:t>𝑘</m:t>
                                </m:r>
                              </m:e>
                            </m:d>
                          </m:sup>
                        </m:sSubSup>
                      </m:e>
                    </m:d>
                    <m:sSubSup>
                      <m:sSubSupPr>
                        <m:ctrlPr>
                          <a:rPr lang="en-IN" sz="2000" i="1">
                            <a:latin typeface="Cambria Math" panose="02040503050406030204" pitchFamily="18" charset="0"/>
                          </a:rPr>
                        </m:ctrlPr>
                      </m:sSubSupPr>
                      <m:e>
                        <m:r>
                          <a:rPr lang="en-IN" sz="2000" b="0" i="1" smtClean="0">
                            <a:latin typeface="Cambria Math" panose="02040503050406030204" pitchFamily="18" charset="0"/>
                          </a:rPr>
                          <m:t>𝐼</m:t>
                        </m:r>
                      </m:e>
                      <m:sub>
                        <m:r>
                          <a:rPr lang="en-IN" sz="2000" b="0" i="1" smtClean="0">
                            <a:latin typeface="Cambria Math" panose="02040503050406030204" pitchFamily="18" charset="0"/>
                          </a:rPr>
                          <m:t>𝑖</m:t>
                        </m:r>
                      </m:sub>
                      <m:sup>
                        <m:d>
                          <m:dPr>
                            <m:ctrlPr>
                              <a:rPr lang="en-IN" sz="2000" i="1">
                                <a:latin typeface="Cambria Math" panose="02040503050406030204" pitchFamily="18" charset="0"/>
                              </a:rPr>
                            </m:ctrlPr>
                          </m:dPr>
                          <m:e>
                            <m:r>
                              <a:rPr lang="en-IN" sz="2000" i="1">
                                <a:latin typeface="Cambria Math" panose="02040503050406030204" pitchFamily="18" charset="0"/>
                              </a:rPr>
                              <m:t>𝑘</m:t>
                            </m:r>
                          </m:e>
                        </m:d>
                      </m:sup>
                    </m:sSubSup>
                    <m:d>
                      <m:dPr>
                        <m:ctrlPr>
                          <a:rPr lang="en-IN" sz="2000" i="1">
                            <a:latin typeface="Cambria Math" panose="02040503050406030204" pitchFamily="18" charset="0"/>
                          </a:rPr>
                        </m:ctrlPr>
                      </m:dPr>
                      <m:e>
                        <m:r>
                          <a:rPr lang="en-IN" sz="2000" i="1">
                            <a:latin typeface="Cambria Math" panose="02040503050406030204" pitchFamily="18" charset="0"/>
                          </a:rPr>
                          <m:t>1−</m:t>
                        </m:r>
                        <m:sSubSup>
                          <m:sSubSupPr>
                            <m:ctrlPr>
                              <a:rPr lang="en-IN" sz="2000" i="1">
                                <a:latin typeface="Cambria Math" panose="02040503050406030204" pitchFamily="18" charset="0"/>
                              </a:rPr>
                            </m:ctrlPr>
                          </m:sSubSupPr>
                          <m:e>
                            <m:r>
                              <a:rPr lang="en-IN" sz="2000" b="0" i="1" smtClean="0">
                                <a:latin typeface="Cambria Math" panose="02040503050406030204" pitchFamily="18" charset="0"/>
                              </a:rPr>
                              <m:t>𝐼</m:t>
                            </m:r>
                          </m:e>
                          <m:sub>
                            <m:r>
                              <a:rPr lang="en-IN" sz="2000" b="0" i="1" smtClean="0">
                                <a:latin typeface="Cambria Math" panose="02040503050406030204" pitchFamily="18" charset="0"/>
                              </a:rPr>
                              <m:t>𝑖</m:t>
                            </m:r>
                          </m:sub>
                          <m:sup>
                            <m:d>
                              <m:dPr>
                                <m:ctrlPr>
                                  <a:rPr lang="en-IN" sz="2000" i="1">
                                    <a:latin typeface="Cambria Math" panose="02040503050406030204" pitchFamily="18" charset="0"/>
                                  </a:rPr>
                                </m:ctrlPr>
                              </m:dPr>
                              <m:e>
                                <m:r>
                                  <a:rPr lang="en-IN" sz="2000" i="1">
                                    <a:latin typeface="Cambria Math" panose="02040503050406030204" pitchFamily="18" charset="0"/>
                                  </a:rPr>
                                  <m:t>𝑘</m:t>
                                </m:r>
                              </m:e>
                            </m:d>
                          </m:sup>
                        </m:sSubSup>
                      </m:e>
                    </m:d>
                  </m:oMath>
                </a14:m>
                <a:endParaRPr lang="en-IN" sz="2000" dirty="0">
                  <a:latin typeface="Arial Narrow" panose="020B0606020202030204" pitchFamily="34" charset="0"/>
                  <a:cs typeface="Times New Roman" panose="02020603050405020304" pitchFamily="18" charset="0"/>
                </a:endParaRPr>
              </a:p>
              <a:p>
                <a:pPr marL="342900" lvl="1" indent="0" algn="just">
                  <a:buNone/>
                </a:pPr>
                <a:r>
                  <a:rPr lang="en-US" sz="2000" dirty="0">
                    <a:latin typeface="Arial Narrow" panose="020B0606020202030204" pitchFamily="34" charset="0"/>
                    <a:cs typeface="Times New Roman" panose="02020603050405020304" pitchFamily="18" charset="0"/>
                  </a:rPr>
                  <a:t>  for layer k-1 to 1, compute</a:t>
                </a:r>
              </a:p>
              <a:p>
                <a:pPr marL="342900" lvl="1" indent="0" algn="just">
                  <a:buNone/>
                </a:pPr>
                <a:r>
                  <a:rPr lang="en-US" sz="2000" dirty="0">
                    <a:latin typeface="Arial Narrow" panose="020B0606020202030204" pitchFamily="34" charset="0"/>
                    <a:cs typeface="Times New Roman" panose="02020603050405020304" pitchFamily="18" charset="0"/>
                  </a:rPr>
                  <a:t>                                    </a:t>
                </a:r>
                <a14:m>
                  <m:oMath xmlns:m="http://schemas.openxmlformats.org/officeDocument/2006/math">
                    <m:sSubSup>
                      <m:sSubSupPr>
                        <m:ctrlPr>
                          <a:rPr lang="en-IN" sz="2000" i="1">
                            <a:latin typeface="Cambria Math" panose="02040503050406030204" pitchFamily="18" charset="0"/>
                          </a:rPr>
                        </m:ctrlPr>
                      </m:sSubSupPr>
                      <m:e>
                        <m:r>
                          <a:rPr lang="en-IN" sz="2000" i="1">
                            <a:latin typeface="Cambria Math" panose="02040503050406030204" pitchFamily="18" charset="0"/>
                          </a:rPr>
                          <m:t>𝛿</m:t>
                        </m:r>
                      </m:e>
                      <m:sub>
                        <m:r>
                          <a:rPr lang="en-IN" sz="2000" b="0" i="1" smtClean="0">
                            <a:latin typeface="Cambria Math" panose="02040503050406030204" pitchFamily="18" charset="0"/>
                          </a:rPr>
                          <m:t>𝑒</m:t>
                        </m:r>
                      </m:sub>
                      <m:sup>
                        <m:r>
                          <a:rPr lang="en-IN" sz="2000" i="1">
                            <a:latin typeface="Cambria Math" panose="02040503050406030204" pitchFamily="18" charset="0"/>
                          </a:rPr>
                          <m:t>(</m:t>
                        </m:r>
                        <m:r>
                          <a:rPr lang="en-IN" sz="2000" i="1">
                            <a:latin typeface="Cambria Math" panose="02040503050406030204" pitchFamily="18" charset="0"/>
                          </a:rPr>
                          <m:t>𝑘</m:t>
                        </m:r>
                        <m:r>
                          <a:rPr lang="en-IN" sz="2000" i="1">
                            <a:latin typeface="Cambria Math" panose="02040503050406030204" pitchFamily="18" charset="0"/>
                          </a:rPr>
                          <m:t>)</m:t>
                        </m:r>
                      </m:sup>
                    </m:sSubSup>
                  </m:oMath>
                </a14:m>
                <a:r>
                  <a:rPr lang="en-IN" sz="2000" baseline="-25000" dirty="0">
                    <a:latin typeface="Arial Narrow" panose="020B0606020202030204" pitchFamily="34" charset="0"/>
                    <a:cs typeface="Times New Roman" panose="02020603050405020304" pitchFamily="18" charset="0"/>
                  </a:rPr>
                  <a:t>=  </a:t>
                </a:r>
                <a14:m>
                  <m:oMath xmlns:m="http://schemas.openxmlformats.org/officeDocument/2006/math">
                    <m:sSubSup>
                      <m:sSubSupPr>
                        <m:ctrlPr>
                          <a:rPr lang="en-IN" sz="2000" i="1">
                            <a:latin typeface="Cambria Math" panose="02040503050406030204" pitchFamily="18" charset="0"/>
                          </a:rPr>
                        </m:ctrlPr>
                      </m:sSubSupPr>
                      <m:e>
                        <m:r>
                          <a:rPr lang="en-IN" sz="2000" b="0" i="1" smtClean="0">
                            <a:latin typeface="Cambria Math" panose="02040503050406030204" pitchFamily="18" charset="0"/>
                          </a:rPr>
                          <m:t>𝐼</m:t>
                        </m:r>
                      </m:e>
                      <m:sub>
                        <m:r>
                          <a:rPr lang="en-IN" sz="2000" b="0" i="1" smtClean="0">
                            <a:latin typeface="Cambria Math" panose="02040503050406030204" pitchFamily="18" charset="0"/>
                          </a:rPr>
                          <m:t>𝑒</m:t>
                        </m:r>
                      </m:sub>
                      <m:sup>
                        <m:d>
                          <m:dPr>
                            <m:ctrlPr>
                              <a:rPr lang="en-IN" sz="2000" i="1">
                                <a:latin typeface="Cambria Math" panose="02040503050406030204" pitchFamily="18" charset="0"/>
                              </a:rPr>
                            </m:ctrlPr>
                          </m:dPr>
                          <m:e>
                            <m:r>
                              <a:rPr lang="en-IN" sz="2000" i="1">
                                <a:latin typeface="Cambria Math" panose="02040503050406030204" pitchFamily="18" charset="0"/>
                              </a:rPr>
                              <m:t>𝑘</m:t>
                            </m:r>
                          </m:e>
                        </m:d>
                      </m:sup>
                    </m:sSubSup>
                    <m:d>
                      <m:dPr>
                        <m:ctrlPr>
                          <a:rPr lang="en-IN" sz="2000" i="1">
                            <a:latin typeface="Cambria Math" panose="02040503050406030204" pitchFamily="18" charset="0"/>
                          </a:rPr>
                        </m:ctrlPr>
                      </m:dPr>
                      <m:e>
                        <m:r>
                          <a:rPr lang="en-IN" sz="2000" i="1">
                            <a:latin typeface="Cambria Math" panose="02040503050406030204" pitchFamily="18" charset="0"/>
                          </a:rPr>
                          <m:t>1−</m:t>
                        </m:r>
                        <m:sSubSup>
                          <m:sSubSupPr>
                            <m:ctrlPr>
                              <a:rPr lang="en-IN" sz="2000" i="1" smtClean="0">
                                <a:latin typeface="Cambria Math" panose="02040503050406030204" pitchFamily="18" charset="0"/>
                              </a:rPr>
                            </m:ctrlPr>
                          </m:sSubSupPr>
                          <m:e>
                            <m:r>
                              <a:rPr lang="en-IN" sz="2000" b="0" i="1" smtClean="0">
                                <a:latin typeface="Cambria Math" panose="02040503050406030204" pitchFamily="18" charset="0"/>
                              </a:rPr>
                              <m:t>𝐼</m:t>
                            </m:r>
                          </m:e>
                          <m:sub>
                            <m:r>
                              <a:rPr lang="en-IN" sz="2000" b="0" i="1" smtClean="0">
                                <a:latin typeface="Cambria Math" panose="02040503050406030204" pitchFamily="18" charset="0"/>
                              </a:rPr>
                              <m:t>𝑒</m:t>
                            </m:r>
                          </m:sub>
                          <m:sup>
                            <m:d>
                              <m:dPr>
                                <m:ctrlPr>
                                  <a:rPr lang="en-IN" sz="2000" i="1">
                                    <a:latin typeface="Cambria Math" panose="02040503050406030204" pitchFamily="18" charset="0"/>
                                  </a:rPr>
                                </m:ctrlPr>
                              </m:dPr>
                              <m:e>
                                <m:r>
                                  <a:rPr lang="en-IN" sz="2000" i="1">
                                    <a:latin typeface="Cambria Math" panose="02040503050406030204" pitchFamily="18" charset="0"/>
                                  </a:rPr>
                                  <m:t>𝑘</m:t>
                                </m:r>
                              </m:e>
                            </m:d>
                          </m:sup>
                        </m:sSubSup>
                      </m:e>
                    </m:d>
                    <m:nary>
                      <m:naryPr>
                        <m:chr m:val="∑"/>
                        <m:limLoc m:val="subSup"/>
                        <m:ctrlPr>
                          <a:rPr lang="en-IN" sz="2000" i="1">
                            <a:latin typeface="Cambria Math" panose="02040503050406030204" pitchFamily="18" charset="0"/>
                          </a:rPr>
                        </m:ctrlPr>
                      </m:naryPr>
                      <m:sub>
                        <m:r>
                          <m:rPr>
                            <m:brk m:alnAt="1"/>
                          </m:rPr>
                          <a:rPr lang="en-IN" sz="2000" b="0" i="1" smtClean="0">
                            <a:latin typeface="Cambria Math" panose="02040503050406030204" pitchFamily="18" charset="0"/>
                          </a:rPr>
                          <m:t>𝑖</m:t>
                        </m:r>
                        <m:r>
                          <a:rPr lang="en-IN" sz="2000" i="1">
                            <a:latin typeface="Cambria Math" panose="02040503050406030204" pitchFamily="18" charset="0"/>
                          </a:rPr>
                          <m:t>=1</m:t>
                        </m:r>
                      </m:sub>
                      <m:sup>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i="1">
                                <a:latin typeface="Cambria Math" panose="02040503050406030204" pitchFamily="18" charset="0"/>
                              </a:rPr>
                              <m:t>𝑘</m:t>
                            </m:r>
                            <m:r>
                              <a:rPr lang="en-IN" sz="2000" i="1">
                                <a:latin typeface="Cambria Math" panose="02040503050406030204" pitchFamily="18" charset="0"/>
                              </a:rPr>
                              <m:t>+1</m:t>
                            </m:r>
                          </m:sub>
                        </m:sSub>
                      </m:sup>
                      <m:e>
                        <m:sSubSup>
                          <m:sSubSupPr>
                            <m:ctrlPr>
                              <a:rPr lang="en-IN" sz="2000" i="1">
                                <a:latin typeface="Cambria Math" panose="02040503050406030204" pitchFamily="18" charset="0"/>
                              </a:rPr>
                            </m:ctrlPr>
                          </m:sSubSupPr>
                          <m:e>
                            <m:r>
                              <a:rPr lang="en-IN" sz="2000" i="1">
                                <a:latin typeface="Cambria Math" panose="02040503050406030204" pitchFamily="18" charset="0"/>
                              </a:rPr>
                              <m:t>𝛿</m:t>
                            </m:r>
                          </m:e>
                          <m:sub>
                            <m:r>
                              <a:rPr lang="en-IN" sz="2000" b="0" i="1" smtClean="0">
                                <a:latin typeface="Cambria Math" panose="02040503050406030204" pitchFamily="18" charset="0"/>
                              </a:rPr>
                              <m:t>𝑒</m:t>
                            </m:r>
                          </m:sub>
                          <m:sup>
                            <m:r>
                              <a:rPr lang="en-IN" sz="2000" i="1">
                                <a:latin typeface="Cambria Math" panose="02040503050406030204" pitchFamily="18" charset="0"/>
                              </a:rPr>
                              <m:t>(</m:t>
                            </m:r>
                            <m:r>
                              <a:rPr lang="en-IN" sz="2000" i="1">
                                <a:latin typeface="Cambria Math" panose="02040503050406030204" pitchFamily="18" charset="0"/>
                              </a:rPr>
                              <m:t>𝑘</m:t>
                            </m:r>
                            <m:r>
                              <a:rPr lang="en-IN" sz="2000" i="1">
                                <a:latin typeface="Cambria Math" panose="02040503050406030204" pitchFamily="18" charset="0"/>
                              </a:rPr>
                              <m:t>+1)</m:t>
                            </m:r>
                          </m:sup>
                        </m:sSubSup>
                        <m:sSubSup>
                          <m:sSubSupPr>
                            <m:ctrlPr>
                              <a:rPr lang="en-IN" sz="2000" i="1">
                                <a:latin typeface="Cambria Math" panose="02040503050406030204" pitchFamily="18" charset="0"/>
                              </a:rPr>
                            </m:ctrlPr>
                          </m:sSubSupPr>
                          <m:e>
                            <m:r>
                              <a:rPr lang="en-IN" sz="2000" i="1">
                                <a:latin typeface="Cambria Math" panose="02040503050406030204" pitchFamily="18" charset="0"/>
                              </a:rPr>
                              <m:t>𝑤</m:t>
                            </m:r>
                          </m:e>
                          <m:sub>
                            <m:r>
                              <a:rPr lang="en-IN" sz="2000" b="0" i="1" smtClean="0">
                                <a:latin typeface="Cambria Math" panose="02040503050406030204" pitchFamily="18" charset="0"/>
                              </a:rPr>
                              <m:t>𝑒</m:t>
                            </m:r>
                            <m:r>
                              <a:rPr lang="en-IN" sz="2000" i="1">
                                <a:latin typeface="Cambria Math" panose="02040503050406030204" pitchFamily="18" charset="0"/>
                              </a:rPr>
                              <m:t>𝑖</m:t>
                            </m:r>
                          </m:sub>
                          <m:sup>
                            <m:r>
                              <a:rPr lang="en-IN" sz="2000" i="1">
                                <a:latin typeface="Cambria Math" panose="02040503050406030204" pitchFamily="18" charset="0"/>
                              </a:rPr>
                              <m:t>(</m:t>
                            </m:r>
                            <m:r>
                              <a:rPr lang="en-IN" sz="2000" i="1">
                                <a:latin typeface="Cambria Math" panose="02040503050406030204" pitchFamily="18" charset="0"/>
                              </a:rPr>
                              <m:t>𝑘</m:t>
                            </m:r>
                            <m:r>
                              <a:rPr lang="en-IN" sz="2000" i="1">
                                <a:latin typeface="Cambria Math" panose="02040503050406030204" pitchFamily="18" charset="0"/>
                              </a:rPr>
                              <m:t>+1)</m:t>
                            </m:r>
                          </m:sup>
                        </m:sSubSup>
                      </m:e>
                    </m:nary>
                  </m:oMath>
                </a14:m>
                <a:r>
                  <a:rPr lang="en-IN" sz="2000" dirty="0">
                    <a:latin typeface="Arial Narrow" panose="020B0606020202030204" pitchFamily="34" charset="0"/>
                    <a:cs typeface="Times New Roman" panose="02020603050405020304" pitchFamily="18" charset="0"/>
                  </a:rPr>
                  <a:t> </a:t>
                </a:r>
                <a14:m>
                  <m:oMath xmlns:m="http://schemas.openxmlformats.org/officeDocument/2006/math">
                    <m:r>
                      <a:rPr lang="en-IN" sz="2000" i="1" dirty="0">
                        <a:latin typeface="Cambria Math" panose="02040503050406030204" pitchFamily="18" charset="0"/>
                        <a:cs typeface="Times New Roman" panose="02020603050405020304" pitchFamily="18" charset="0"/>
                      </a:rPr>
                      <m:t>𝑓𝑜𝑟</m:t>
                    </m:r>
                    <m:r>
                      <a:rPr lang="en-IN" sz="2000" i="1" dirty="0">
                        <a:latin typeface="Cambria Math" panose="02040503050406030204" pitchFamily="18" charset="0"/>
                        <a:cs typeface="Times New Roman" panose="02020603050405020304" pitchFamily="18" charset="0"/>
                      </a:rPr>
                      <m:t> </m:t>
                    </m:r>
                    <m:r>
                      <a:rPr lang="en-IN" sz="2000" b="0" i="1" dirty="0" smtClean="0">
                        <a:latin typeface="Cambria Math" panose="02040503050406030204" pitchFamily="18" charset="0"/>
                        <a:cs typeface="Times New Roman" panose="02020603050405020304" pitchFamily="18" charset="0"/>
                      </a:rPr>
                      <m:t>𝑒</m:t>
                    </m:r>
                    <m:r>
                      <a:rPr lang="en-IN" sz="2000" i="1" dirty="0">
                        <a:latin typeface="Cambria Math" panose="02040503050406030204" pitchFamily="18" charset="0"/>
                        <a:cs typeface="Times New Roman" panose="02020603050405020304" pitchFamily="18" charset="0"/>
                      </a:rPr>
                      <m:t>= 1 </m:t>
                    </m:r>
                    <m:r>
                      <a:rPr lang="en-IN" sz="2000" i="1" dirty="0">
                        <a:latin typeface="Cambria Math" panose="02040503050406030204" pitchFamily="18" charset="0"/>
                        <a:cs typeface="Times New Roman" panose="02020603050405020304" pitchFamily="18" charset="0"/>
                      </a:rPr>
                      <m:t>𝑡𝑜</m:t>
                    </m:r>
                    <m:r>
                      <a:rPr lang="en-IN" sz="2000" i="1" dirty="0">
                        <a:latin typeface="Cambria Math" panose="02040503050406030204" pitchFamily="18" charset="0"/>
                        <a:cs typeface="Times New Roman" panose="02020603050405020304" pitchFamily="18" charset="0"/>
                      </a:rPr>
                      <m:t> </m:t>
                    </m:r>
                    <m:sSub>
                      <m:sSubPr>
                        <m:ctrlPr>
                          <a:rPr lang="en-IN" sz="2000" i="1">
                            <a:latin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cs typeface="Times New Roman" panose="02020603050405020304" pitchFamily="18" charset="0"/>
                          </a:rPr>
                          <m:t>𝑀</m:t>
                        </m:r>
                      </m:e>
                      <m:sub>
                        <m:r>
                          <a:rPr lang="en-IN" sz="2000" i="1">
                            <a:latin typeface="Cambria Math" panose="02040503050406030204" pitchFamily="18" charset="0"/>
                            <a:cs typeface="Times New Roman" panose="02020603050405020304" pitchFamily="18" charset="0"/>
                          </a:rPr>
                          <m:t>𝐾</m:t>
                        </m:r>
                      </m:sub>
                    </m:sSub>
                  </m:oMath>
                </a14:m>
                <a:endParaRPr lang="en-IN" sz="2000" dirty="0">
                  <a:latin typeface="Arial Narrow" panose="020B0606020202030204" pitchFamily="34" charset="0"/>
                  <a:cs typeface="Times New Roman" panose="02020603050405020304" pitchFamily="18" charset="0"/>
                </a:endParaRPr>
              </a:p>
              <a:p>
                <a:pPr marL="457200" indent="-457200" algn="just">
                  <a:buFont typeface="+mj-lt"/>
                  <a:buAutoNum type="arabicPeriod" startAt="5"/>
                </a:pPr>
                <a:r>
                  <a:rPr lang="en-IN" sz="2000" dirty="0">
                    <a:latin typeface="Arial Narrow" panose="020B0606020202030204" pitchFamily="34" charset="0"/>
                    <a:cs typeface="Times New Roman" panose="02020603050405020304" pitchFamily="18" charset="0"/>
                  </a:rPr>
                  <a:t>Update the weights</a:t>
                </a:r>
              </a:p>
              <a:p>
                <a:pPr marL="342900" lvl="1" indent="0" algn="just">
                  <a:buNone/>
                </a:pPr>
                <a:r>
                  <a:rPr lang="en-IN" sz="2000" dirty="0">
                    <a:latin typeface="Arial Narrow" panose="020B0606020202030204" pitchFamily="34" charset="0"/>
                    <a:cs typeface="Times New Roman" panose="02020603050405020304" pitchFamily="18" charset="0"/>
                  </a:rPr>
                  <a:t>            </a:t>
                </a:r>
                <a14:m>
                  <m:oMath xmlns:m="http://schemas.openxmlformats.org/officeDocument/2006/math">
                    <m:sSubSup>
                      <m:sSubSupPr>
                        <m:ctrlPr>
                          <a:rPr lang="en-IN" sz="2000" i="1">
                            <a:latin typeface="Cambria Math" panose="02040503050406030204" pitchFamily="18" charset="0"/>
                          </a:rPr>
                        </m:ctrlPr>
                      </m:sSubSupPr>
                      <m:e>
                        <m:r>
                          <a:rPr lang="en-IN" sz="2000" i="1">
                            <a:latin typeface="Cambria Math" panose="02040503050406030204" pitchFamily="18" charset="0"/>
                          </a:rPr>
                          <m:t>𝑤</m:t>
                        </m:r>
                      </m:e>
                      <m:sub>
                        <m:r>
                          <a:rPr lang="en-IN" sz="2000" b="0" i="1" smtClean="0">
                            <a:latin typeface="Cambria Math" panose="02040503050406030204" pitchFamily="18" charset="0"/>
                          </a:rPr>
                          <m:t>𝑒</m:t>
                        </m:r>
                        <m:r>
                          <a:rPr lang="en-IN" sz="2000" i="1">
                            <a:latin typeface="Cambria Math" panose="02040503050406030204" pitchFamily="18" charset="0"/>
                          </a:rPr>
                          <m:t>𝑖</m:t>
                        </m:r>
                      </m:sub>
                      <m:sup>
                        <m:r>
                          <a:rPr lang="en-IN" sz="2000" i="1">
                            <a:latin typeface="Cambria Math" panose="02040503050406030204" pitchFamily="18" charset="0"/>
                          </a:rPr>
                          <m:t>(</m:t>
                        </m:r>
                        <m:r>
                          <a:rPr lang="en-IN" sz="2000" i="1">
                            <a:latin typeface="Cambria Math" panose="02040503050406030204" pitchFamily="18" charset="0"/>
                          </a:rPr>
                          <m:t>𝑘</m:t>
                        </m:r>
                        <m:r>
                          <a:rPr lang="en-IN" sz="2000" i="1">
                            <a:latin typeface="Cambria Math" panose="02040503050406030204" pitchFamily="18" charset="0"/>
                          </a:rPr>
                          <m:t>)</m:t>
                        </m:r>
                      </m:sup>
                    </m:sSubSup>
                    <m:d>
                      <m:dPr>
                        <m:ctrlPr>
                          <a:rPr lang="en-IN" sz="2000" i="1">
                            <a:latin typeface="Cambria Math" panose="02040503050406030204" pitchFamily="18" charset="0"/>
                          </a:rPr>
                        </m:ctrlPr>
                      </m:dPr>
                      <m:e>
                        <m:r>
                          <a:rPr lang="en-IN" sz="2000" i="1">
                            <a:latin typeface="Cambria Math" panose="02040503050406030204" pitchFamily="18" charset="0"/>
                          </a:rPr>
                          <m:t>𝑡</m:t>
                        </m:r>
                        <m:r>
                          <a:rPr lang="en-IN" sz="2000" i="1">
                            <a:latin typeface="Cambria Math" panose="02040503050406030204" pitchFamily="18" charset="0"/>
                          </a:rPr>
                          <m:t>+1</m:t>
                        </m:r>
                      </m:e>
                    </m:d>
                    <m:r>
                      <a:rPr lang="en-IN" sz="2000" i="1">
                        <a:latin typeface="Cambria Math" panose="02040503050406030204" pitchFamily="18" charset="0"/>
                      </a:rPr>
                      <m:t>=</m:t>
                    </m:r>
                    <m:sSubSup>
                      <m:sSubSupPr>
                        <m:ctrlPr>
                          <a:rPr lang="en-IN" sz="2000" i="1">
                            <a:latin typeface="Cambria Math" panose="02040503050406030204" pitchFamily="18" charset="0"/>
                          </a:rPr>
                        </m:ctrlPr>
                      </m:sSubSupPr>
                      <m:e>
                        <m:r>
                          <a:rPr lang="en-IN" sz="2000" i="1">
                            <a:latin typeface="Cambria Math" panose="02040503050406030204" pitchFamily="18" charset="0"/>
                          </a:rPr>
                          <m:t>𝑤</m:t>
                        </m:r>
                      </m:e>
                      <m:sub>
                        <m:r>
                          <a:rPr lang="en-IN" sz="2000" b="0" i="1" smtClean="0">
                            <a:latin typeface="Cambria Math" panose="02040503050406030204" pitchFamily="18" charset="0"/>
                          </a:rPr>
                          <m:t>𝑒</m:t>
                        </m:r>
                        <m:r>
                          <a:rPr lang="en-IN" sz="2000" i="1">
                            <a:latin typeface="Cambria Math" panose="02040503050406030204" pitchFamily="18" charset="0"/>
                          </a:rPr>
                          <m:t>𝑖</m:t>
                        </m:r>
                      </m:sub>
                      <m:sup>
                        <m:r>
                          <a:rPr lang="en-IN" sz="2000" i="1">
                            <a:latin typeface="Cambria Math" panose="02040503050406030204" pitchFamily="18" charset="0"/>
                          </a:rPr>
                          <m:t>(</m:t>
                        </m:r>
                        <m:r>
                          <a:rPr lang="en-IN" sz="2000" i="1">
                            <a:latin typeface="Cambria Math" panose="02040503050406030204" pitchFamily="18" charset="0"/>
                          </a:rPr>
                          <m:t>𝑘</m:t>
                        </m:r>
                        <m:r>
                          <a:rPr lang="en-IN" sz="2000" i="1">
                            <a:latin typeface="Cambria Math" panose="02040503050406030204" pitchFamily="18" charset="0"/>
                          </a:rPr>
                          <m:t>)</m:t>
                        </m:r>
                      </m:sup>
                    </m:sSubSup>
                    <m:d>
                      <m:dPr>
                        <m:ctrlPr>
                          <a:rPr lang="en-IN" sz="2000" i="1">
                            <a:latin typeface="Cambria Math" panose="02040503050406030204" pitchFamily="18" charset="0"/>
                          </a:rPr>
                        </m:ctrlPr>
                      </m:dPr>
                      <m:e>
                        <m:r>
                          <a:rPr lang="en-IN" sz="2000" i="1">
                            <a:latin typeface="Cambria Math" panose="02040503050406030204" pitchFamily="18" charset="0"/>
                          </a:rPr>
                          <m:t>𝑡</m:t>
                        </m:r>
                      </m:e>
                    </m:d>
                    <m:r>
                      <a:rPr lang="en-IN" sz="2000" i="1">
                        <a:latin typeface="Cambria Math" panose="02040503050406030204" pitchFamily="18" charset="0"/>
                      </a:rPr>
                      <m:t>− </m:t>
                    </m:r>
                    <m:r>
                      <a:rPr lang="en-IN" sz="2000" i="1">
                        <a:latin typeface="Cambria Math" panose="02040503050406030204" pitchFamily="18" charset="0"/>
                      </a:rPr>
                      <m:t>𝜂</m:t>
                    </m:r>
                    <m:sSubSup>
                      <m:sSubSupPr>
                        <m:ctrlPr>
                          <a:rPr lang="en-IN" sz="2000" i="1">
                            <a:latin typeface="Cambria Math" panose="02040503050406030204" pitchFamily="18" charset="0"/>
                          </a:rPr>
                        </m:ctrlPr>
                      </m:sSubSupPr>
                      <m:e>
                        <m:r>
                          <a:rPr lang="en-IN" sz="2000" i="1">
                            <a:latin typeface="Cambria Math" panose="02040503050406030204" pitchFamily="18" charset="0"/>
                          </a:rPr>
                          <m:t>𝛿</m:t>
                        </m:r>
                      </m:e>
                      <m:sub>
                        <m:r>
                          <a:rPr lang="en-IN" sz="2000" b="0" i="1" smtClean="0">
                            <a:latin typeface="Cambria Math" panose="02040503050406030204" pitchFamily="18" charset="0"/>
                          </a:rPr>
                          <m:t>𝑖</m:t>
                        </m:r>
                      </m:sub>
                      <m:sup>
                        <m:r>
                          <a:rPr lang="en-IN" sz="2000" i="1">
                            <a:latin typeface="Cambria Math" panose="02040503050406030204" pitchFamily="18" charset="0"/>
                          </a:rPr>
                          <m:t>(</m:t>
                        </m:r>
                        <m:r>
                          <a:rPr lang="en-IN" sz="2000" i="1">
                            <a:latin typeface="Cambria Math" panose="02040503050406030204" pitchFamily="18" charset="0"/>
                          </a:rPr>
                          <m:t>𝑘</m:t>
                        </m:r>
                        <m:r>
                          <a:rPr lang="en-IN" sz="2000" i="1">
                            <a:latin typeface="Cambria Math" panose="02040503050406030204" pitchFamily="18" charset="0"/>
                          </a:rPr>
                          <m:t>)</m:t>
                        </m:r>
                      </m:sup>
                    </m:sSubSup>
                    <m:sSubSup>
                      <m:sSubSupPr>
                        <m:ctrlPr>
                          <a:rPr lang="en-IN" sz="2000" i="1" smtClean="0">
                            <a:latin typeface="Cambria Math" panose="02040503050406030204" pitchFamily="18" charset="0"/>
                          </a:rPr>
                        </m:ctrlPr>
                      </m:sSubSupPr>
                      <m:e>
                        <m:r>
                          <a:rPr lang="en-IN" sz="2000" b="0" i="1" smtClean="0">
                            <a:latin typeface="Cambria Math" panose="02040503050406030204" pitchFamily="18" charset="0"/>
                          </a:rPr>
                          <m:t>𝐼</m:t>
                        </m:r>
                      </m:e>
                      <m:sub>
                        <m:r>
                          <a:rPr lang="en-IN" sz="2000" b="0" i="1" smtClean="0">
                            <a:latin typeface="Cambria Math" panose="02040503050406030204" pitchFamily="18" charset="0"/>
                          </a:rPr>
                          <m:t>𝑒</m:t>
                        </m:r>
                      </m:sub>
                      <m:sup>
                        <m:r>
                          <a:rPr lang="en-IN" sz="2000" i="1">
                            <a:latin typeface="Cambria Math" panose="02040503050406030204" pitchFamily="18" charset="0"/>
                          </a:rPr>
                          <m:t>(</m:t>
                        </m:r>
                        <m:r>
                          <a:rPr lang="en-IN" sz="2000" i="1">
                            <a:latin typeface="Cambria Math" panose="02040503050406030204" pitchFamily="18" charset="0"/>
                          </a:rPr>
                          <m:t>𝑘</m:t>
                        </m:r>
                        <m:r>
                          <a:rPr lang="en-IN" sz="2000" i="1">
                            <a:latin typeface="Cambria Math" panose="02040503050406030204" pitchFamily="18" charset="0"/>
                          </a:rPr>
                          <m:t>−1)</m:t>
                        </m:r>
                      </m:sup>
                    </m:sSubSup>
                  </m:oMath>
                </a14:m>
                <a:endParaRPr lang="en-IN" sz="2000" dirty="0">
                  <a:latin typeface="Arial Narrow" panose="020B0606020202030204" pitchFamily="34" charset="0"/>
                  <a:cs typeface="Times New Roman" panose="02020603050405020304" pitchFamily="18" charset="0"/>
                </a:endParaRPr>
              </a:p>
              <a:p>
                <a:pPr marL="457200" indent="-457200" algn="just">
                  <a:buFont typeface="+mj-lt"/>
                  <a:buAutoNum type="arabicPeriod" startAt="5"/>
                </a:pPr>
                <a:r>
                  <a:rPr lang="en-IN" sz="2000" dirty="0">
                    <a:latin typeface="Arial Narrow" panose="020B0606020202030204" pitchFamily="34" charset="0"/>
                    <a:cs typeface="Times New Roman" panose="02020603050405020304" pitchFamily="18" charset="0"/>
                  </a:rPr>
                  <a:t>     Repeats steps 2 to 5 until convergence.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333850"/>
                <a:ext cx="10515600" cy="5125673"/>
              </a:xfrm>
              <a:blipFill>
                <a:blip r:embed="rId2"/>
                <a:stretch>
                  <a:fillRect l="-464" t="-951"/>
                </a:stretch>
              </a:blipFill>
            </p:spPr>
            <p:txBody>
              <a:bodyPr/>
              <a:lstStyle/>
              <a:p>
                <a:r>
                  <a:rPr lang="en-IN">
                    <a:noFill/>
                  </a:rPr>
                  <a:t> </a:t>
                </a:r>
              </a:p>
            </p:txBody>
          </p:sp>
        </mc:Fallback>
      </mc:AlternateContent>
      <p:sp>
        <p:nvSpPr>
          <p:cNvPr id="5" name="Title 1"/>
          <p:cNvSpPr>
            <a:spLocks noGrp="1"/>
          </p:cNvSpPr>
          <p:nvPr>
            <p:ph type="title"/>
          </p:nvPr>
        </p:nvSpPr>
        <p:spPr>
          <a:xfrm>
            <a:off x="666750" y="271769"/>
            <a:ext cx="6539990" cy="926874"/>
          </a:xfrm>
        </p:spPr>
        <p:txBody>
          <a:bodyPr>
            <a:normAutofit/>
          </a:bodyPr>
          <a:lstStyle/>
          <a:p>
            <a:r>
              <a:rPr lang="en-IN" sz="3600" dirty="0">
                <a:latin typeface="Century" panose="02040604050505020304" pitchFamily="18" charset="0"/>
              </a:rPr>
              <a:t>Backpropagation : Algorithm </a:t>
            </a:r>
          </a:p>
        </p:txBody>
      </p:sp>
    </p:spTree>
    <p:extLst>
      <p:ext uri="{BB962C8B-B14F-4D97-AF65-F5344CB8AC3E}">
        <p14:creationId xmlns:p14="http://schemas.microsoft.com/office/powerpoint/2010/main" val="2697496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668154" y="912392"/>
            <a:ext cx="5341841" cy="5250497"/>
            <a:chOff x="668154" y="912392"/>
            <a:chExt cx="5341841" cy="5250497"/>
          </a:xfrm>
        </p:grpSpPr>
        <mc:AlternateContent xmlns:mc="http://schemas.openxmlformats.org/markup-compatibility/2006" xmlns:a14="http://schemas.microsoft.com/office/drawing/2010/main">
          <mc:Choice Requires="a14">
            <p:sp>
              <p:nvSpPr>
                <p:cNvPr id="4" name="TextBox 91">
                  <a:extLst>
                    <a:ext uri="{FF2B5EF4-FFF2-40B4-BE49-F238E27FC236}">
                      <a16:creationId xmlns:a16="http://schemas.microsoft.com/office/drawing/2014/main" id="{CAB6134F-885E-489B-B6C4-B8B7576CFCE0}"/>
                    </a:ext>
                  </a:extLst>
                </p:cNvPr>
                <p:cNvSpPr txBox="1"/>
                <p:nvPr/>
              </p:nvSpPr>
              <p:spPr>
                <a:xfrm>
                  <a:off x="769132" y="1222853"/>
                  <a:ext cx="2134076" cy="5761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𝐸</m:t>
                            </m:r>
                          </m:e>
                          <m:sub>
                            <m:r>
                              <a:rPr lang="en-IN" sz="2000" b="0" i="1" smtClean="0">
                                <a:latin typeface="Cambria Math" panose="02040503050406030204" pitchFamily="18" charset="0"/>
                              </a:rPr>
                              <m:t>𝑌</m:t>
                            </m:r>
                          </m:sub>
                        </m:sSub>
                        <m:r>
                          <a:rPr lang="en-IN" sz="2000" i="1" smtClean="0">
                            <a:latin typeface="Cambria Math" panose="02040503050406030204" pitchFamily="18" charset="0"/>
                          </a:rPr>
                          <m:t>=</m:t>
                        </m:r>
                        <m:f>
                          <m:fPr>
                            <m:ctrlPr>
                              <a:rPr lang="en-IN" sz="2000" i="1">
                                <a:latin typeface="Cambria Math" panose="02040503050406030204" pitchFamily="18" charset="0"/>
                              </a:rPr>
                            </m:ctrlPr>
                          </m:fPr>
                          <m:num>
                            <m:r>
                              <a:rPr lang="en-IN" sz="2000" i="1">
                                <a:latin typeface="Cambria Math" panose="02040503050406030204" pitchFamily="18" charset="0"/>
                              </a:rPr>
                              <m:t>1</m:t>
                            </m:r>
                          </m:num>
                          <m:den>
                            <m:r>
                              <a:rPr lang="en-IN" sz="2000" i="1">
                                <a:latin typeface="Cambria Math" panose="02040503050406030204" pitchFamily="18" charset="0"/>
                              </a:rPr>
                              <m:t>2</m:t>
                            </m:r>
                          </m:den>
                        </m:f>
                        <m:sSup>
                          <m:sSupPr>
                            <m:ctrlPr>
                              <a:rPr lang="en-IN" sz="2000" i="1" smtClean="0">
                                <a:latin typeface="Cambria Math" panose="02040503050406030204" pitchFamily="18" charset="0"/>
                              </a:rPr>
                            </m:ctrlPr>
                          </m:sSupPr>
                          <m:e>
                            <m:r>
                              <a:rPr lang="en-IN" sz="2000" i="1">
                                <a:latin typeface="Cambria Math" panose="02040503050406030204" pitchFamily="18" charset="0"/>
                              </a:rPr>
                              <m:t>(</m:t>
                            </m:r>
                            <m:r>
                              <a:rPr lang="en-IN" sz="2000" i="1">
                                <a:latin typeface="Cambria Math" panose="02040503050406030204" pitchFamily="18" charset="0"/>
                              </a:rPr>
                              <m:t>𝐷</m:t>
                            </m:r>
                            <m:r>
                              <a:rPr lang="en-IN" sz="2000" i="1">
                                <a:latin typeface="Cambria Math" panose="02040503050406030204" pitchFamily="18" charset="0"/>
                              </a:rPr>
                              <m:t>−</m:t>
                            </m:r>
                            <m:r>
                              <a:rPr lang="en-IN" sz="2000" i="1">
                                <a:latin typeface="Cambria Math" panose="02040503050406030204" pitchFamily="18" charset="0"/>
                              </a:rPr>
                              <m:t>𝑑</m:t>
                            </m:r>
                            <m:r>
                              <a:rPr lang="en-IN" sz="2000" i="1">
                                <a:latin typeface="Cambria Math" panose="02040503050406030204" pitchFamily="18" charset="0"/>
                              </a:rPr>
                              <m:t>)</m:t>
                            </m:r>
                          </m:e>
                          <m:sup>
                            <m:r>
                              <a:rPr lang="en-IN" sz="2000" b="0" i="1" smtClean="0">
                                <a:latin typeface="Cambria Math" panose="02040503050406030204" pitchFamily="18" charset="0"/>
                              </a:rPr>
                              <m:t>2</m:t>
                            </m:r>
                          </m:sup>
                        </m:sSup>
                      </m:oMath>
                    </m:oMathPara>
                  </a14:m>
                  <a:endParaRPr lang="en-IN" sz="2000" dirty="0">
                    <a:latin typeface="Arial Narrow" panose="020B0606020202030204" pitchFamily="34" charset="0"/>
                  </a:endParaRPr>
                </a:p>
              </p:txBody>
            </p:sp>
          </mc:Choice>
          <mc:Fallback xmlns="">
            <p:sp>
              <p:nvSpPr>
                <p:cNvPr id="4" name="TextBox 91">
                  <a:extLst>
                    <a:ext uri="{FF2B5EF4-FFF2-40B4-BE49-F238E27FC236}">
                      <a16:creationId xmlns:a16="http://schemas.microsoft.com/office/drawing/2014/main" id="{CAB6134F-885E-489B-B6C4-B8B7576CFCE0}"/>
                    </a:ext>
                  </a:extLst>
                </p:cNvPr>
                <p:cNvSpPr txBox="1">
                  <a:spLocks noRot="1" noChangeAspect="1" noMove="1" noResize="1" noEditPoints="1" noAdjustHandles="1" noChangeArrowheads="1" noChangeShapeType="1" noTextEdit="1"/>
                </p:cNvSpPr>
                <p:nvPr/>
              </p:nvSpPr>
              <p:spPr>
                <a:xfrm>
                  <a:off x="769132" y="1222853"/>
                  <a:ext cx="2134076" cy="576183"/>
                </a:xfrm>
                <a:prstGeom prst="rect">
                  <a:avLst/>
                </a:prstGeom>
                <a:blipFill>
                  <a:blip r:embed="rId3"/>
                  <a:stretch>
                    <a:fillRect/>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C8BEB76B-5A5F-4D45-BF5E-9392729AE083}"/>
                </a:ext>
              </a:extLst>
            </p:cNvPr>
            <p:cNvSpPr txBox="1"/>
            <p:nvPr/>
          </p:nvSpPr>
          <p:spPr>
            <a:xfrm>
              <a:off x="838200" y="912392"/>
              <a:ext cx="908560"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Loss:</a:t>
              </a:r>
            </a:p>
          </p:txBody>
        </p:sp>
        <p:sp>
          <p:nvSpPr>
            <p:cNvPr id="6" name="TextBox 5">
              <a:extLst>
                <a:ext uri="{FF2B5EF4-FFF2-40B4-BE49-F238E27FC236}">
                  <a16:creationId xmlns:a16="http://schemas.microsoft.com/office/drawing/2014/main" id="{B2D474A7-8353-4B37-9C85-D75DC9D8A5BC}"/>
                </a:ext>
              </a:extLst>
            </p:cNvPr>
            <p:cNvSpPr txBox="1"/>
            <p:nvPr/>
          </p:nvSpPr>
          <p:spPr>
            <a:xfrm>
              <a:off x="668154" y="1799036"/>
              <a:ext cx="5341841" cy="369332"/>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where D is target value and d is the predicted value</a:t>
              </a:r>
            </a:p>
          </p:txBody>
        </p:sp>
        <p:sp>
          <p:nvSpPr>
            <p:cNvPr id="9" name="TextBox 8">
              <a:extLst>
                <a:ext uri="{FF2B5EF4-FFF2-40B4-BE49-F238E27FC236}">
                  <a16:creationId xmlns:a16="http://schemas.microsoft.com/office/drawing/2014/main" id="{DC873110-FDE5-4689-964E-4197A68EDEAD}"/>
                </a:ext>
              </a:extLst>
            </p:cNvPr>
            <p:cNvSpPr txBox="1"/>
            <p:nvPr/>
          </p:nvSpPr>
          <p:spPr>
            <a:xfrm>
              <a:off x="675391" y="2314162"/>
              <a:ext cx="4487160" cy="646331"/>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Gradient of Loss at Output Layer with respect to the output layer weight parameters </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D0FA93A-2E9A-4279-87F4-72E0FDA305D8}"/>
                    </a:ext>
                  </a:extLst>
                </p:cNvPr>
                <p:cNvSpPr/>
                <p:nvPr/>
              </p:nvSpPr>
              <p:spPr>
                <a:xfrm>
                  <a:off x="2612124" y="2955893"/>
                  <a:ext cx="602473" cy="537198"/>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1400" b="1" i="1" smtClean="0">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den>
                        </m:f>
                      </m:oMath>
                    </m:oMathPara>
                  </a14:m>
                  <a:endParaRPr lang="en-IN" sz="1400" dirty="0">
                    <a:latin typeface="Arial Narrow" panose="020B0606020202030204" pitchFamily="34" charset="0"/>
                  </a:endParaRPr>
                </a:p>
              </p:txBody>
            </p:sp>
          </mc:Choice>
          <mc:Fallback xmlns="">
            <p:sp>
              <p:nvSpPr>
                <p:cNvPr id="10" name="Rectangle 9">
                  <a:extLst>
                    <a:ext uri="{FF2B5EF4-FFF2-40B4-BE49-F238E27FC236}">
                      <a16:creationId xmlns:a16="http://schemas.microsoft.com/office/drawing/2014/main" id="{BD0FA93A-2E9A-4279-87F4-72E0FDA305D8}"/>
                    </a:ext>
                  </a:extLst>
                </p:cNvPr>
                <p:cNvSpPr>
                  <a:spLocks noRot="1" noChangeAspect="1" noMove="1" noResize="1" noEditPoints="1" noAdjustHandles="1" noChangeArrowheads="1" noChangeShapeType="1" noTextEdit="1"/>
                </p:cNvSpPr>
                <p:nvPr/>
              </p:nvSpPr>
              <p:spPr>
                <a:xfrm>
                  <a:off x="2612124" y="2955893"/>
                  <a:ext cx="602473" cy="537198"/>
                </a:xfrm>
                <a:prstGeom prst="rect">
                  <a:avLst/>
                </a:prstGeom>
                <a:blipFill>
                  <a:blip r:embed="rId4"/>
                  <a:stretch>
                    <a:fillRect/>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D6BB021C-E028-44F9-850E-E21551B63B4B}"/>
                </a:ext>
              </a:extLst>
            </p:cNvPr>
            <p:cNvSpPr txBox="1"/>
            <p:nvPr/>
          </p:nvSpPr>
          <p:spPr>
            <a:xfrm>
              <a:off x="675391" y="3561740"/>
              <a:ext cx="4204537" cy="646331"/>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Gradient of Loss at Hidden Layer 2 with respect to corresponding weight parameters </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FC4FE57F-9306-4C5C-A728-B09F5D4752C8}"/>
                    </a:ext>
                  </a:extLst>
                </p:cNvPr>
                <p:cNvSpPr/>
                <p:nvPr/>
              </p:nvSpPr>
              <p:spPr>
                <a:xfrm>
                  <a:off x="2038150" y="4208098"/>
                  <a:ext cx="1973169" cy="56387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1400" b="1" i="1" smtClean="0">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𝑾</m:t>
                                </m:r>
                              </m:e>
                              <m:sub>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𝒉</m:t>
                                    </m:r>
                                  </m:e>
                                  <m:sub>
                                    <m:r>
                                      <a:rPr lang="en-IN" sz="1400" b="1" i="1" smtClean="0">
                                        <a:latin typeface="Cambria Math" panose="02040503050406030204" pitchFamily="18" charset="0"/>
                                      </a:rPr>
                                      <m:t>𝟐</m:t>
                                    </m:r>
                                  </m:sub>
                                </m:sSub>
                              </m:sub>
                            </m:sSub>
                          </m:den>
                        </m:f>
                        <m:r>
                          <a:rPr lang="en-IN" sz="1400" b="1" i="1">
                            <a:latin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a:latin typeface="Cambria Math" panose="02040503050406030204" pitchFamily="18" charset="0"/>
                                      </a:rPr>
                                      <m:t>𝟐</m:t>
                                    </m:r>
                                  </m:sub>
                                </m:sSub>
                              </m:sub>
                            </m:sSub>
                          </m:den>
                        </m:f>
                        <m:r>
                          <a:rPr lang="en-IN" sz="1400" b="1" i="1">
                            <a:latin typeface="Cambria Math" panose="02040503050406030204" pitchFamily="18" charset="0"/>
                            <a:ea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den>
                        </m:f>
                      </m:oMath>
                    </m:oMathPara>
                  </a14:m>
                  <a:endParaRPr lang="en-IN" sz="1400" dirty="0">
                    <a:latin typeface="Arial Narrow" panose="020B0606020202030204" pitchFamily="34" charset="0"/>
                  </a:endParaRPr>
                </a:p>
              </p:txBody>
            </p:sp>
          </mc:Choice>
          <mc:Fallback xmlns="">
            <p:sp>
              <p:nvSpPr>
                <p:cNvPr id="12" name="Rectangle 11">
                  <a:extLst>
                    <a:ext uri="{FF2B5EF4-FFF2-40B4-BE49-F238E27FC236}">
                      <a16:creationId xmlns:a16="http://schemas.microsoft.com/office/drawing/2014/main" id="{FC4FE57F-9306-4C5C-A728-B09F5D4752C8}"/>
                    </a:ext>
                  </a:extLst>
                </p:cNvPr>
                <p:cNvSpPr>
                  <a:spLocks noRot="1" noChangeAspect="1" noMove="1" noResize="1" noEditPoints="1" noAdjustHandles="1" noChangeArrowheads="1" noChangeShapeType="1" noTextEdit="1"/>
                </p:cNvSpPr>
                <p:nvPr/>
              </p:nvSpPr>
              <p:spPr>
                <a:xfrm>
                  <a:off x="2038150" y="4208098"/>
                  <a:ext cx="1973169" cy="563872"/>
                </a:xfrm>
                <a:prstGeom prst="rect">
                  <a:avLst/>
                </a:prstGeom>
                <a:blipFill>
                  <a:blip r:embed="rId5"/>
                  <a:stretch>
                    <a:fillRect/>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EEF33FBF-748B-41A5-BBB4-92C509C4701C}"/>
                </a:ext>
              </a:extLst>
            </p:cNvPr>
            <p:cNvSpPr txBox="1"/>
            <p:nvPr/>
          </p:nvSpPr>
          <p:spPr>
            <a:xfrm>
              <a:off x="769132" y="4829177"/>
              <a:ext cx="4487160" cy="646331"/>
            </a:xfrm>
            <a:prstGeom prst="rect">
              <a:avLst/>
            </a:prstGeom>
            <a:noFill/>
          </p:spPr>
          <p:txBody>
            <a:bodyPr wrap="square" rtlCol="0">
              <a:spAutoFit/>
            </a:bodyPr>
            <a:lstStyle/>
            <a:p>
              <a:r>
                <a:rPr lang="en-IN" dirty="0">
                  <a:latin typeface="Arial Narrow" panose="020B0606020202030204" pitchFamily="34" charset="0"/>
                  <a:cs typeface="Times New Roman" panose="02020603050405020304" pitchFamily="18" charset="0"/>
                </a:rPr>
                <a:t>Gradient of Loss at Hidden Layer 1with respect to corresponding weight parameters </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A230F0FE-D75D-4947-B441-EA32AA623F3E}"/>
                    </a:ext>
                  </a:extLst>
                </p:cNvPr>
                <p:cNvSpPr/>
                <p:nvPr/>
              </p:nvSpPr>
              <p:spPr>
                <a:xfrm>
                  <a:off x="1836170" y="5589783"/>
                  <a:ext cx="2668551" cy="573106"/>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1400" b="1" i="1" smtClean="0">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𝑾</m:t>
                                </m:r>
                              </m:e>
                              <m:sub>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𝒉</m:t>
                                    </m:r>
                                  </m:e>
                                  <m:sub>
                                    <m:r>
                                      <a:rPr lang="en-IN" sz="1400" b="1" i="1" smtClean="0">
                                        <a:latin typeface="Cambria Math" panose="02040503050406030204" pitchFamily="18" charset="0"/>
                                      </a:rPr>
                                      <m:t>𝟏</m:t>
                                    </m:r>
                                  </m:sub>
                                </m:sSub>
                              </m:sub>
                            </m:sSub>
                          </m:den>
                        </m:f>
                        <m:r>
                          <a:rPr lang="en-IN" sz="1400" b="1" i="1">
                            <a:latin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smtClean="0">
                                        <a:latin typeface="Cambria Math" panose="02040503050406030204" pitchFamily="18" charset="0"/>
                                      </a:rPr>
                                      <m:t>𝟐</m:t>
                                    </m:r>
                                  </m:sub>
                                </m:sSub>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smtClean="0">
                                        <a:latin typeface="Cambria Math" panose="02040503050406030204" pitchFamily="18" charset="0"/>
                                      </a:rPr>
                                      <m:t>𝟏</m:t>
                                    </m:r>
                                  </m:sub>
                                </m:sSub>
                              </m:sub>
                            </m:sSub>
                          </m:den>
                        </m:f>
                        <m:r>
                          <a:rPr lang="en-IN" sz="1400" b="1" i="1">
                            <a:latin typeface="Cambria Math" panose="02040503050406030204" pitchFamily="18" charset="0"/>
                            <a:ea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sSub>
                                  <m:sSubPr>
                                    <m:ctrlPr>
                                      <a:rPr lang="en-IN" sz="1400" b="1" i="1">
                                        <a:latin typeface="Cambria Math" panose="02040503050406030204" pitchFamily="18" charset="0"/>
                                      </a:rPr>
                                    </m:ctrlPr>
                                  </m:sSubPr>
                                  <m:e>
                                    <m:r>
                                      <a:rPr lang="en-IN" sz="1400" b="1" i="1">
                                        <a:latin typeface="Cambria Math" panose="02040503050406030204" pitchFamily="18" charset="0"/>
                                      </a:rPr>
                                      <m:t>𝒉</m:t>
                                    </m:r>
                                  </m:e>
                                  <m:sub>
                                    <m:r>
                                      <a:rPr lang="en-IN" sz="1400" b="1" i="1" smtClean="0">
                                        <a:latin typeface="Cambria Math" panose="02040503050406030204" pitchFamily="18" charset="0"/>
                                      </a:rPr>
                                      <m:t>𝟐</m:t>
                                    </m:r>
                                  </m:sub>
                                </m:sSub>
                              </m:sub>
                            </m:sSub>
                          </m:den>
                        </m:f>
                        <m:r>
                          <a:rPr lang="en-IN" sz="1400" b="1" i="1">
                            <a:latin typeface="Cambria Math" panose="02040503050406030204" pitchFamily="18" charset="0"/>
                            <a:ea typeface="Cambria Math" panose="02040503050406030204" pitchFamily="18" charset="0"/>
                          </a:rPr>
                          <m:t>×</m:t>
                        </m:r>
                        <m:f>
                          <m:fPr>
                            <m:ctrlPr>
                              <a:rPr lang="en-IN" sz="1400" b="1" i="1">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den>
                        </m:f>
                      </m:oMath>
                    </m:oMathPara>
                  </a14:m>
                  <a:endParaRPr lang="en-IN" sz="1400" dirty="0">
                    <a:latin typeface="Arial Narrow" panose="020B0606020202030204" pitchFamily="34" charset="0"/>
                  </a:endParaRPr>
                </a:p>
              </p:txBody>
            </p:sp>
          </mc:Choice>
          <mc:Fallback xmlns="">
            <p:sp>
              <p:nvSpPr>
                <p:cNvPr id="14" name="Rectangle 13">
                  <a:extLst>
                    <a:ext uri="{FF2B5EF4-FFF2-40B4-BE49-F238E27FC236}">
                      <a16:creationId xmlns:a16="http://schemas.microsoft.com/office/drawing/2014/main" id="{A230F0FE-D75D-4947-B441-EA32AA623F3E}"/>
                    </a:ext>
                  </a:extLst>
                </p:cNvPr>
                <p:cNvSpPr>
                  <a:spLocks noRot="1" noChangeAspect="1" noMove="1" noResize="1" noEditPoints="1" noAdjustHandles="1" noChangeArrowheads="1" noChangeShapeType="1" noTextEdit="1"/>
                </p:cNvSpPr>
                <p:nvPr/>
              </p:nvSpPr>
              <p:spPr>
                <a:xfrm>
                  <a:off x="1836170" y="5589783"/>
                  <a:ext cx="2668551" cy="573106"/>
                </a:xfrm>
                <a:prstGeom prst="rect">
                  <a:avLst/>
                </a:prstGeom>
                <a:blipFill>
                  <a:blip r:embed="rId6"/>
                  <a:stretch>
                    <a:fillRect/>
                  </a:stretch>
                </a:blipFill>
              </p:spPr>
              <p:txBody>
                <a:bodyPr/>
                <a:lstStyle/>
                <a:p>
                  <a:r>
                    <a:rPr lang="en-IN">
                      <a:noFill/>
                    </a:rPr>
                    <a:t> </a:t>
                  </a:r>
                </a:p>
              </p:txBody>
            </p:sp>
          </mc:Fallback>
        </mc:AlternateContent>
      </p:grpSp>
      <p:sp>
        <p:nvSpPr>
          <p:cNvPr id="15" name="Title 1"/>
          <p:cNvSpPr>
            <a:spLocks noGrp="1"/>
          </p:cNvSpPr>
          <p:nvPr>
            <p:ph type="title"/>
          </p:nvPr>
        </p:nvSpPr>
        <p:spPr>
          <a:xfrm>
            <a:off x="668154" y="55483"/>
            <a:ext cx="6896100" cy="969913"/>
          </a:xfrm>
        </p:spPr>
        <p:txBody>
          <a:bodyPr vert="horz" lIns="91440" tIns="45720" rIns="91440" bIns="45720" rtlCol="0" anchor="ctr">
            <a:normAutofit/>
          </a:bodyPr>
          <a:lstStyle/>
          <a:p>
            <a:r>
              <a:rPr lang="en-IN" sz="3600" dirty="0">
                <a:latin typeface="Century" panose="02040604050505020304" pitchFamily="18" charset="0"/>
              </a:rPr>
              <a:t>Example of Backpropagation</a:t>
            </a:r>
          </a:p>
        </p:txBody>
      </p:sp>
      <p:sp>
        <p:nvSpPr>
          <p:cNvPr id="19" name="Rectangle 18"/>
          <p:cNvSpPr/>
          <p:nvPr/>
        </p:nvSpPr>
        <p:spPr>
          <a:xfrm>
            <a:off x="7331713" y="2466371"/>
            <a:ext cx="2769250" cy="9849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20" name="Rectangle 19"/>
          <p:cNvSpPr/>
          <p:nvPr/>
        </p:nvSpPr>
        <p:spPr>
          <a:xfrm>
            <a:off x="7604966" y="2081281"/>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1" name="Rectangle 20"/>
          <p:cNvSpPr/>
          <p:nvPr/>
        </p:nvSpPr>
        <p:spPr>
          <a:xfrm>
            <a:off x="9680117" y="2076819"/>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2" name="Rectangle 21"/>
          <p:cNvSpPr/>
          <p:nvPr/>
        </p:nvSpPr>
        <p:spPr>
          <a:xfrm>
            <a:off x="9019604" y="2089426"/>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3" name="Rectangle 22"/>
          <p:cNvSpPr/>
          <p:nvPr/>
        </p:nvSpPr>
        <p:spPr>
          <a:xfrm>
            <a:off x="8262065" y="2081281"/>
            <a:ext cx="268457" cy="273765"/>
          </a:xfrm>
          <a:prstGeom prst="rect">
            <a:avLst/>
          </a:prstGeom>
          <a:solidFill>
            <a:schemeClr val="accent4">
              <a:lumMod val="60000"/>
              <a:lumOff val="40000"/>
            </a:schemeClr>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4" name="Right Brace 23"/>
          <p:cNvSpPr/>
          <p:nvPr/>
        </p:nvSpPr>
        <p:spPr>
          <a:xfrm rot="5400000" flipH="1">
            <a:off x="8703999" y="729224"/>
            <a:ext cx="135664"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dirty="0"/>
          </a:p>
        </p:txBody>
      </p:sp>
      <p:sp>
        <p:nvSpPr>
          <p:cNvPr id="25" name="Rectangle 24"/>
          <p:cNvSpPr/>
          <p:nvPr/>
        </p:nvSpPr>
        <p:spPr>
          <a:xfrm>
            <a:off x="7553133" y="1483402"/>
            <a:ext cx="412460" cy="308912"/>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6" name="Rectangle 25"/>
          <p:cNvSpPr/>
          <p:nvPr/>
        </p:nvSpPr>
        <p:spPr>
          <a:xfrm>
            <a:off x="8271241" y="1475556"/>
            <a:ext cx="444446" cy="318430"/>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7" name="Rectangle 26"/>
          <p:cNvSpPr/>
          <p:nvPr/>
        </p:nvSpPr>
        <p:spPr>
          <a:xfrm>
            <a:off x="8948852" y="1473875"/>
            <a:ext cx="462430" cy="311241"/>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8" name="Rectangle 27"/>
          <p:cNvSpPr/>
          <p:nvPr/>
        </p:nvSpPr>
        <p:spPr>
          <a:xfrm>
            <a:off x="9578513" y="1473876"/>
            <a:ext cx="417014" cy="308912"/>
          </a:xfrm>
          <a:prstGeom prst="rect">
            <a:avLst/>
          </a:prstGeom>
          <a:solidFill>
            <a:schemeClr val="accent1">
              <a:alpha val="0"/>
            </a:schemeClr>
          </a:solidFill>
          <a:ln w="2222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29" name="Right Brace 28"/>
          <p:cNvSpPr/>
          <p:nvPr/>
        </p:nvSpPr>
        <p:spPr>
          <a:xfrm rot="5400000">
            <a:off x="8730817" y="515662"/>
            <a:ext cx="84117"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30" name="Right Brace 29"/>
          <p:cNvSpPr/>
          <p:nvPr/>
        </p:nvSpPr>
        <p:spPr>
          <a:xfrm rot="5400000" flipH="1">
            <a:off x="8707076" y="147021"/>
            <a:ext cx="135664"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dirty="0"/>
          </a:p>
        </p:txBody>
      </p:sp>
      <p:sp>
        <p:nvSpPr>
          <p:cNvPr id="31" name="Oval 30"/>
          <p:cNvSpPr/>
          <p:nvPr/>
        </p:nvSpPr>
        <p:spPr>
          <a:xfrm>
            <a:off x="9673938" y="925091"/>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32" name="Oval 31"/>
          <p:cNvSpPr/>
          <p:nvPr/>
        </p:nvSpPr>
        <p:spPr>
          <a:xfrm>
            <a:off x="8959565" y="925091"/>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33" name="Oval 32"/>
          <p:cNvSpPr/>
          <p:nvPr/>
        </p:nvSpPr>
        <p:spPr>
          <a:xfrm>
            <a:off x="7530819" y="925091"/>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34" name="Oval 33"/>
          <p:cNvSpPr/>
          <p:nvPr/>
        </p:nvSpPr>
        <p:spPr>
          <a:xfrm>
            <a:off x="8245192" y="925091"/>
            <a:ext cx="345122" cy="264215"/>
          </a:xfrm>
          <a:prstGeom prst="ellipse">
            <a:avLst/>
          </a:prstGeom>
          <a:solidFill>
            <a:schemeClr val="accent1">
              <a:alpha val="0"/>
            </a:schemeClr>
          </a:solid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mc:AlternateContent xmlns:mc="http://schemas.openxmlformats.org/markup-compatibility/2006" xmlns:a14="http://schemas.microsoft.com/office/drawing/2010/main">
        <mc:Choice Requires="a14">
          <p:sp>
            <p:nvSpPr>
              <p:cNvPr id="35" name="TextBox 34"/>
              <p:cNvSpPr txBox="1"/>
              <p:nvPr/>
            </p:nvSpPr>
            <p:spPr>
              <a:xfrm>
                <a:off x="7568022" y="912392"/>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1</m:t>
                          </m:r>
                        </m:sub>
                      </m:sSub>
                    </m:oMath>
                  </m:oMathPara>
                </a14:m>
                <a:endParaRPr lang="en-IN" dirty="0"/>
              </a:p>
            </p:txBody>
          </p:sp>
        </mc:Choice>
        <mc:Fallback xmlns="">
          <p:sp>
            <p:nvSpPr>
              <p:cNvPr id="35" name="TextBox 34"/>
              <p:cNvSpPr txBox="1">
                <a:spLocks noRot="1" noChangeAspect="1" noMove="1" noResize="1" noEditPoints="1" noAdjustHandles="1" noChangeArrowheads="1" noChangeShapeType="1" noTextEdit="1"/>
              </p:cNvSpPr>
              <p:nvPr/>
            </p:nvSpPr>
            <p:spPr>
              <a:xfrm>
                <a:off x="7568022" y="912392"/>
                <a:ext cx="357931" cy="276999"/>
              </a:xfrm>
              <a:prstGeom prst="rect">
                <a:avLst/>
              </a:prstGeom>
              <a:blipFill>
                <a:blip r:embed="rId7"/>
                <a:stretch>
                  <a:fillRect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8266967" y="918804"/>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2</m:t>
                          </m:r>
                        </m:sub>
                      </m:sSub>
                    </m:oMath>
                  </m:oMathPara>
                </a14:m>
                <a:endParaRPr lang="en-IN" sz="1400" dirty="0"/>
              </a:p>
            </p:txBody>
          </p:sp>
        </mc:Choice>
        <mc:Fallback xmlns="">
          <p:sp>
            <p:nvSpPr>
              <p:cNvPr id="36" name="TextBox 35"/>
              <p:cNvSpPr txBox="1">
                <a:spLocks noRot="1" noChangeAspect="1" noMove="1" noResize="1" noEditPoints="1" noAdjustHandles="1" noChangeArrowheads="1" noChangeShapeType="1" noTextEdit="1"/>
              </p:cNvSpPr>
              <p:nvPr/>
            </p:nvSpPr>
            <p:spPr>
              <a:xfrm>
                <a:off x="8266967" y="918804"/>
                <a:ext cx="357931" cy="276999"/>
              </a:xfrm>
              <a:prstGeom prst="rect">
                <a:avLst/>
              </a:prstGeom>
              <a:blipFill>
                <a:blip r:embed="rId8"/>
                <a:stretch>
                  <a:fillRect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8996231" y="912392"/>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3</m:t>
                          </m:r>
                        </m:sub>
                      </m:sSub>
                    </m:oMath>
                  </m:oMathPara>
                </a14:m>
                <a:endParaRPr lang="en-IN" dirty="0"/>
              </a:p>
            </p:txBody>
          </p:sp>
        </mc:Choice>
        <mc:Fallback xmlns="">
          <p:sp>
            <p:nvSpPr>
              <p:cNvPr id="37" name="TextBox 36"/>
              <p:cNvSpPr txBox="1">
                <a:spLocks noRot="1" noChangeAspect="1" noMove="1" noResize="1" noEditPoints="1" noAdjustHandles="1" noChangeArrowheads="1" noChangeShapeType="1" noTextEdit="1"/>
              </p:cNvSpPr>
              <p:nvPr/>
            </p:nvSpPr>
            <p:spPr>
              <a:xfrm>
                <a:off x="8996231" y="912392"/>
                <a:ext cx="357931" cy="276999"/>
              </a:xfrm>
              <a:prstGeom prst="rect">
                <a:avLst/>
              </a:prstGeom>
              <a:blipFill>
                <a:blip r:embed="rId9"/>
                <a:stretch>
                  <a:fillRect b="-1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9670313" y="912392"/>
                <a:ext cx="35793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𝐼</m:t>
                          </m:r>
                        </m:e>
                        <m:sub>
                          <m:r>
                            <a:rPr lang="en-IN" b="0" i="1" smtClean="0">
                              <a:latin typeface="Cambria Math" panose="02040503050406030204" pitchFamily="18" charset="0"/>
                            </a:rPr>
                            <m:t>4</m:t>
                          </m:r>
                        </m:sub>
                      </m:sSub>
                    </m:oMath>
                  </m:oMathPara>
                </a14:m>
                <a:endParaRPr lang="en-IN" dirty="0"/>
              </a:p>
            </p:txBody>
          </p:sp>
        </mc:Choice>
        <mc:Fallback xmlns="">
          <p:sp>
            <p:nvSpPr>
              <p:cNvPr id="38" name="TextBox 37"/>
              <p:cNvSpPr txBox="1">
                <a:spLocks noRot="1" noChangeAspect="1" noMove="1" noResize="1" noEditPoints="1" noAdjustHandles="1" noChangeArrowheads="1" noChangeShapeType="1" noTextEdit="1"/>
              </p:cNvSpPr>
              <p:nvPr/>
            </p:nvSpPr>
            <p:spPr>
              <a:xfrm>
                <a:off x="9670313" y="912392"/>
                <a:ext cx="357931" cy="276999"/>
              </a:xfrm>
              <a:prstGeom prst="rect">
                <a:avLst/>
              </a:prstGeom>
              <a:blipFill>
                <a:blip r:embed="rId10"/>
                <a:stretch>
                  <a:fillRect b="-15556"/>
                </a:stretch>
              </a:blipFill>
            </p:spPr>
            <p:txBody>
              <a:bodyPr/>
              <a:lstStyle/>
              <a:p>
                <a:r>
                  <a:rPr lang="en-IN">
                    <a:noFill/>
                  </a:rPr>
                  <a:t> </a:t>
                </a:r>
              </a:p>
            </p:txBody>
          </p:sp>
        </mc:Fallback>
      </mc:AlternateContent>
      <p:sp>
        <p:nvSpPr>
          <p:cNvPr id="39" name="Right Brace 38"/>
          <p:cNvSpPr/>
          <p:nvPr/>
        </p:nvSpPr>
        <p:spPr>
          <a:xfrm rot="5400000">
            <a:off x="8622599" y="-84656"/>
            <a:ext cx="306902" cy="2609844"/>
          </a:xfrm>
          <a:prstGeom prst="rightBrace">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40" name="Down Arrow 39"/>
          <p:cNvSpPr/>
          <p:nvPr/>
        </p:nvSpPr>
        <p:spPr>
          <a:xfrm>
            <a:off x="8669832" y="1211466"/>
            <a:ext cx="212436" cy="239091"/>
          </a:xfrm>
          <a:prstGeom prst="downArrow">
            <a:avLst/>
          </a:prstGeom>
          <a:solidFill>
            <a:schemeClr val="accent1">
              <a:lumMod val="60000"/>
              <a:lumOff val="40000"/>
            </a:schemeClr>
          </a:solidFill>
          <a:ln w="12700">
            <a:solidFill>
              <a:srgbClr val="FF0000">
                <a:alpha val="9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41" name="Down Arrow 40"/>
          <p:cNvSpPr/>
          <p:nvPr/>
        </p:nvSpPr>
        <p:spPr>
          <a:xfrm>
            <a:off x="8666657" y="1817144"/>
            <a:ext cx="212436" cy="215389"/>
          </a:xfrm>
          <a:prstGeom prst="downArrow">
            <a:avLst/>
          </a:prstGeom>
          <a:solidFill>
            <a:schemeClr val="accent1">
              <a:lumMod val="60000"/>
              <a:lumOff val="40000"/>
            </a:schemeClr>
          </a:solidFill>
          <a:ln w="12700">
            <a:solidFill>
              <a:srgbClr val="FF0000">
                <a:alpha val="9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mc:AlternateContent xmlns:mc="http://schemas.openxmlformats.org/markup-compatibility/2006" xmlns:a14="http://schemas.microsoft.com/office/drawing/2010/main">
        <mc:Choice Requires="a14">
          <p:sp>
            <p:nvSpPr>
              <p:cNvPr id="42" name="TextBox 41"/>
              <p:cNvSpPr txBox="1"/>
              <p:nvPr/>
            </p:nvSpPr>
            <p:spPr>
              <a:xfrm>
                <a:off x="7569918" y="1466087"/>
                <a:ext cx="397865" cy="3075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1</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42" name="TextBox 41"/>
              <p:cNvSpPr txBox="1">
                <a:spLocks noRot="1" noChangeAspect="1" noMove="1" noResize="1" noEditPoints="1" noAdjustHandles="1" noChangeArrowheads="1" noChangeShapeType="1" noTextEdit="1"/>
              </p:cNvSpPr>
              <p:nvPr/>
            </p:nvSpPr>
            <p:spPr>
              <a:xfrm>
                <a:off x="7569918" y="1466087"/>
                <a:ext cx="397865" cy="307520"/>
              </a:xfrm>
              <a:prstGeom prst="rect">
                <a:avLst/>
              </a:prstGeom>
              <a:blipFill>
                <a:blip r:embed="rId11"/>
                <a:stretch>
                  <a:fillRect l="-18462" r="-9231" b="-235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9615412" y="1461734"/>
                <a:ext cx="397866" cy="3072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4</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43" name="TextBox 42"/>
              <p:cNvSpPr txBox="1">
                <a:spLocks noRot="1" noChangeAspect="1" noMove="1" noResize="1" noEditPoints="1" noAdjustHandles="1" noChangeArrowheads="1" noChangeShapeType="1" noTextEdit="1"/>
              </p:cNvSpPr>
              <p:nvPr/>
            </p:nvSpPr>
            <p:spPr>
              <a:xfrm>
                <a:off x="9615412" y="1461734"/>
                <a:ext cx="397866" cy="307264"/>
              </a:xfrm>
              <a:prstGeom prst="rect">
                <a:avLst/>
              </a:prstGeom>
              <a:blipFill>
                <a:blip r:embed="rId12"/>
                <a:stretch>
                  <a:fillRect l="-16667" r="-9091" b="-24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9013938" y="1470548"/>
                <a:ext cx="397866" cy="3090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3</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44" name="TextBox 43"/>
              <p:cNvSpPr txBox="1">
                <a:spLocks noRot="1" noChangeAspect="1" noMove="1" noResize="1" noEditPoints="1" noAdjustHandles="1" noChangeArrowheads="1" noChangeShapeType="1" noTextEdit="1"/>
              </p:cNvSpPr>
              <p:nvPr/>
            </p:nvSpPr>
            <p:spPr>
              <a:xfrm>
                <a:off x="9013938" y="1470548"/>
                <a:ext cx="397866" cy="309059"/>
              </a:xfrm>
              <a:prstGeom prst="rect">
                <a:avLst/>
              </a:prstGeom>
              <a:blipFill>
                <a:blip r:embed="rId13"/>
                <a:stretch>
                  <a:fillRect l="-18462" r="-9231" b="-235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8326332" y="1477051"/>
                <a:ext cx="39786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600" i="1" smtClean="0">
                              <a:latin typeface="Cambria Math" panose="02040503050406030204" pitchFamily="18" charset="0"/>
                            </a:rPr>
                          </m:ctrlPr>
                        </m:sSubSupPr>
                        <m:e>
                          <m:r>
                            <a:rPr lang="en-IN" sz="1600" i="1" smtClean="0">
                              <a:latin typeface="Cambria Math" panose="02040503050406030204" pitchFamily="18" charset="0"/>
                              <a:ea typeface="Cambria Math" panose="02040503050406030204" pitchFamily="18" charset="0"/>
                            </a:rPr>
                            <m:t>𝛽</m:t>
                          </m:r>
                        </m:e>
                        <m:sub>
                          <m:r>
                            <a:rPr lang="en-IN" sz="1600" b="0" i="1" smtClean="0">
                              <a:latin typeface="Cambria Math" panose="02040503050406030204" pitchFamily="18" charset="0"/>
                            </a:rPr>
                            <m:t>2</m:t>
                          </m:r>
                        </m:sub>
                        <m:sup>
                          <m:r>
                            <a:rPr lang="en-IN" sz="1600" b="0" i="1" smtClean="0">
                              <a:latin typeface="Cambria Math" panose="02040503050406030204" pitchFamily="18" charset="0"/>
                            </a:rPr>
                            <m:t>(0)</m:t>
                          </m:r>
                        </m:sup>
                      </m:sSubSup>
                    </m:oMath>
                  </m:oMathPara>
                </a14:m>
                <a:endParaRPr lang="en-IN" sz="1600" dirty="0"/>
              </a:p>
            </p:txBody>
          </p:sp>
        </mc:Choice>
        <mc:Fallback xmlns="">
          <p:sp>
            <p:nvSpPr>
              <p:cNvPr id="45" name="TextBox 44"/>
              <p:cNvSpPr txBox="1">
                <a:spLocks noRot="1" noChangeAspect="1" noMove="1" noResize="1" noEditPoints="1" noAdjustHandles="1" noChangeArrowheads="1" noChangeShapeType="1" noTextEdit="1"/>
              </p:cNvSpPr>
              <p:nvPr/>
            </p:nvSpPr>
            <p:spPr>
              <a:xfrm>
                <a:off x="8326332" y="1477051"/>
                <a:ext cx="397866" cy="307777"/>
              </a:xfrm>
              <a:prstGeom prst="rect">
                <a:avLst/>
              </a:prstGeom>
              <a:blipFill>
                <a:blip r:embed="rId14"/>
                <a:stretch>
                  <a:fillRect l="-18462" r="-9231" b="-23529"/>
                </a:stretch>
              </a:blipFill>
            </p:spPr>
            <p:txBody>
              <a:bodyPr/>
              <a:lstStyle/>
              <a:p>
                <a:r>
                  <a:rPr lang="en-IN">
                    <a:noFill/>
                  </a:rPr>
                  <a:t> </a:t>
                </a:r>
              </a:p>
            </p:txBody>
          </p:sp>
        </mc:Fallback>
      </mc:AlternateContent>
      <p:sp>
        <p:nvSpPr>
          <p:cNvPr id="46" name="Oval 45"/>
          <p:cNvSpPr/>
          <p:nvPr/>
        </p:nvSpPr>
        <p:spPr>
          <a:xfrm>
            <a:off x="8003340" y="2613973"/>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47" name="Oval 46"/>
          <p:cNvSpPr/>
          <p:nvPr/>
        </p:nvSpPr>
        <p:spPr>
          <a:xfrm>
            <a:off x="9120067" y="2614467"/>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48" name="Oval 47"/>
          <p:cNvSpPr/>
          <p:nvPr/>
        </p:nvSpPr>
        <p:spPr>
          <a:xfrm>
            <a:off x="8007363" y="3064201"/>
            <a:ext cx="359206" cy="315688"/>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49" name="Oval 48"/>
          <p:cNvSpPr/>
          <p:nvPr/>
        </p:nvSpPr>
        <p:spPr>
          <a:xfrm>
            <a:off x="9124829" y="3048509"/>
            <a:ext cx="364913" cy="332552"/>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cxnSp>
        <p:nvCxnSpPr>
          <p:cNvPr id="50" name="Straight Arrow Connector 49"/>
          <p:cNvCxnSpPr>
            <a:stCxn id="20" idx="2"/>
            <a:endCxn id="46" idx="0"/>
          </p:cNvCxnSpPr>
          <p:nvPr/>
        </p:nvCxnSpPr>
        <p:spPr>
          <a:xfrm>
            <a:off x="7739195" y="2355046"/>
            <a:ext cx="443748" cy="25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23" idx="2"/>
            <a:endCxn id="46" idx="0"/>
          </p:cNvCxnSpPr>
          <p:nvPr/>
        </p:nvCxnSpPr>
        <p:spPr>
          <a:xfrm flipH="1">
            <a:off x="8182943" y="2355046"/>
            <a:ext cx="213351" cy="25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20" idx="2"/>
            <a:endCxn id="47" idx="0"/>
          </p:cNvCxnSpPr>
          <p:nvPr/>
        </p:nvCxnSpPr>
        <p:spPr>
          <a:xfrm>
            <a:off x="7739195" y="2355046"/>
            <a:ext cx="1560475" cy="25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23" idx="2"/>
            <a:endCxn id="47" idx="0"/>
          </p:cNvCxnSpPr>
          <p:nvPr/>
        </p:nvCxnSpPr>
        <p:spPr>
          <a:xfrm>
            <a:off x="8396294" y="2355046"/>
            <a:ext cx="903376" cy="25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2" idx="2"/>
            <a:endCxn id="47" idx="0"/>
          </p:cNvCxnSpPr>
          <p:nvPr/>
        </p:nvCxnSpPr>
        <p:spPr>
          <a:xfrm>
            <a:off x="9153833" y="2363191"/>
            <a:ext cx="145837" cy="251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21" idx="2"/>
            <a:endCxn id="47" idx="0"/>
          </p:cNvCxnSpPr>
          <p:nvPr/>
        </p:nvCxnSpPr>
        <p:spPr>
          <a:xfrm flipH="1">
            <a:off x="9299670" y="2350584"/>
            <a:ext cx="514676" cy="263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22" idx="2"/>
            <a:endCxn id="46" idx="0"/>
          </p:cNvCxnSpPr>
          <p:nvPr/>
        </p:nvCxnSpPr>
        <p:spPr>
          <a:xfrm flipH="1">
            <a:off x="8182943" y="2363191"/>
            <a:ext cx="970890" cy="25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21" idx="2"/>
            <a:endCxn id="46" idx="0"/>
          </p:cNvCxnSpPr>
          <p:nvPr/>
        </p:nvCxnSpPr>
        <p:spPr>
          <a:xfrm flipH="1">
            <a:off x="8182943" y="2350584"/>
            <a:ext cx="1631403" cy="263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7" idx="4"/>
            <a:endCxn id="49" idx="0"/>
          </p:cNvCxnSpPr>
          <p:nvPr/>
        </p:nvCxnSpPr>
        <p:spPr>
          <a:xfrm>
            <a:off x="9299670" y="2930155"/>
            <a:ext cx="7616" cy="118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46" idx="4"/>
            <a:endCxn id="48" idx="0"/>
          </p:cNvCxnSpPr>
          <p:nvPr/>
        </p:nvCxnSpPr>
        <p:spPr>
          <a:xfrm>
            <a:off x="8182943" y="2929661"/>
            <a:ext cx="4023" cy="134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TextBox 59"/>
              <p:cNvSpPr txBox="1"/>
              <p:nvPr/>
            </p:nvSpPr>
            <p:spPr>
              <a:xfrm>
                <a:off x="8005901" y="2629291"/>
                <a:ext cx="342437"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8005901" y="2629291"/>
                <a:ext cx="342437" cy="268984"/>
              </a:xfrm>
              <a:prstGeom prst="rect">
                <a:avLst/>
              </a:prstGeom>
              <a:blipFill>
                <a:blip r:embed="rId15"/>
                <a:stretch>
                  <a:fillRect l="-3571" t="-2273" r="-8929"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9131144" y="2621390"/>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61" name="TextBox 60"/>
              <p:cNvSpPr txBox="1">
                <a:spLocks noRot="1" noChangeAspect="1" noMove="1" noResize="1" noEditPoints="1" noAdjustHandles="1" noChangeArrowheads="1" noChangeShapeType="1" noTextEdit="1"/>
              </p:cNvSpPr>
              <p:nvPr/>
            </p:nvSpPr>
            <p:spPr>
              <a:xfrm>
                <a:off x="9131144" y="2621390"/>
                <a:ext cx="377649" cy="269241"/>
              </a:xfrm>
              <a:prstGeom prst="rect">
                <a:avLst/>
              </a:prstGeom>
              <a:blipFill>
                <a:blip r:embed="rId16"/>
                <a:stretch>
                  <a:fillRect t="-2273" r="-1613"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7998193" y="3074280"/>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smtClean="0">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62" name="TextBox 61"/>
              <p:cNvSpPr txBox="1">
                <a:spLocks noRot="1" noChangeAspect="1" noMove="1" noResize="1" noEditPoints="1" noAdjustHandles="1" noChangeArrowheads="1" noChangeShapeType="1" noTextEdit="1"/>
              </p:cNvSpPr>
              <p:nvPr/>
            </p:nvSpPr>
            <p:spPr>
              <a:xfrm>
                <a:off x="7998193" y="3074280"/>
                <a:ext cx="377649" cy="268984"/>
              </a:xfrm>
              <a:prstGeom prst="rect">
                <a:avLst/>
              </a:prstGeom>
              <a:blipFill>
                <a:blip r:embed="rId17"/>
                <a:stretch>
                  <a:fillRect l="-11290" t="-2273" r="-6452" b="-2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9118460" y="3070014"/>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63" name="TextBox 62"/>
              <p:cNvSpPr txBox="1">
                <a:spLocks noRot="1" noChangeAspect="1" noMove="1" noResize="1" noEditPoints="1" noAdjustHandles="1" noChangeArrowheads="1" noChangeShapeType="1" noTextEdit="1"/>
              </p:cNvSpPr>
              <p:nvPr/>
            </p:nvSpPr>
            <p:spPr>
              <a:xfrm>
                <a:off x="9118460" y="3070014"/>
                <a:ext cx="377649" cy="269241"/>
              </a:xfrm>
              <a:prstGeom prst="rect">
                <a:avLst/>
              </a:prstGeom>
              <a:blipFill>
                <a:blip r:embed="rId18"/>
                <a:stretch>
                  <a:fillRect l="-12903" t="-4545" r="-4839" b="-22727"/>
                </a:stretch>
              </a:blipFill>
            </p:spPr>
            <p:txBody>
              <a:bodyPr/>
              <a:lstStyle/>
              <a:p>
                <a:r>
                  <a:rPr lang="en-IN">
                    <a:noFill/>
                  </a:rPr>
                  <a:t> </a:t>
                </a:r>
              </a:p>
            </p:txBody>
          </p:sp>
        </mc:Fallback>
      </mc:AlternateContent>
      <p:sp>
        <p:nvSpPr>
          <p:cNvPr id="64" name="Left Bracket 63"/>
          <p:cNvSpPr/>
          <p:nvPr/>
        </p:nvSpPr>
        <p:spPr>
          <a:xfrm rot="16200000">
            <a:off x="8741767" y="1058544"/>
            <a:ext cx="56857" cy="2613115"/>
          </a:xfrm>
          <a:prstGeom prst="leftBracket">
            <a:avLst/>
          </a:prstGeom>
          <a:ln w="19050">
            <a:solidFill>
              <a:schemeClr val="accent1">
                <a:alpha val="98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p>
        </p:txBody>
      </p:sp>
      <p:sp>
        <p:nvSpPr>
          <p:cNvPr id="65" name="Rectangle 64"/>
          <p:cNvSpPr/>
          <p:nvPr/>
        </p:nvSpPr>
        <p:spPr>
          <a:xfrm>
            <a:off x="7323221" y="3629026"/>
            <a:ext cx="2784092" cy="915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p>
        </p:txBody>
      </p:sp>
      <p:sp>
        <p:nvSpPr>
          <p:cNvPr id="66" name="Oval 65"/>
          <p:cNvSpPr/>
          <p:nvPr/>
        </p:nvSpPr>
        <p:spPr>
          <a:xfrm>
            <a:off x="7991890" y="3716302"/>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67" name="Oval 66"/>
          <p:cNvSpPr/>
          <p:nvPr/>
        </p:nvSpPr>
        <p:spPr>
          <a:xfrm>
            <a:off x="9108617" y="3716796"/>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68" name="Oval 67"/>
          <p:cNvSpPr/>
          <p:nvPr/>
        </p:nvSpPr>
        <p:spPr>
          <a:xfrm>
            <a:off x="7995913" y="4166530"/>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sp>
        <p:nvSpPr>
          <p:cNvPr id="69" name="Oval 68"/>
          <p:cNvSpPr/>
          <p:nvPr/>
        </p:nvSpPr>
        <p:spPr>
          <a:xfrm>
            <a:off x="9113380" y="4166530"/>
            <a:ext cx="400176" cy="333077"/>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p>
        </p:txBody>
      </p:sp>
      <p:cxnSp>
        <p:nvCxnSpPr>
          <p:cNvPr id="70" name="Straight Arrow Connector 69"/>
          <p:cNvCxnSpPr>
            <a:stCxn id="67" idx="4"/>
            <a:endCxn id="69" idx="0"/>
          </p:cNvCxnSpPr>
          <p:nvPr/>
        </p:nvCxnSpPr>
        <p:spPr>
          <a:xfrm>
            <a:off x="9308705" y="4049873"/>
            <a:ext cx="4763" cy="116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6" idx="4"/>
            <a:endCxn id="68" idx="0"/>
          </p:cNvCxnSpPr>
          <p:nvPr/>
        </p:nvCxnSpPr>
        <p:spPr>
          <a:xfrm>
            <a:off x="8191978" y="4049379"/>
            <a:ext cx="4023" cy="117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p:cNvSpPr txBox="1"/>
              <p:nvPr/>
            </p:nvSpPr>
            <p:spPr>
              <a:xfrm>
                <a:off x="8003514" y="3730429"/>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3514" y="3730429"/>
                <a:ext cx="377649" cy="268984"/>
              </a:xfrm>
              <a:prstGeom prst="rect">
                <a:avLst/>
              </a:prstGeom>
              <a:blipFill>
                <a:blip r:embed="rId19"/>
                <a:stretch>
                  <a:fillRect t="-4545" r="-1613"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9101624" y="3716315"/>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b="0" i="1" smtClean="0">
                              <a:solidFill>
                                <a:schemeClr val="tx1"/>
                              </a:solidFill>
                              <a:latin typeface="Cambria Math" panose="02040503050406030204" pitchFamily="18" charset="0"/>
                            </a:rPr>
                            <m:t>𝑠</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73" name="TextBox 72"/>
              <p:cNvSpPr txBox="1">
                <a:spLocks noRot="1" noChangeAspect="1" noMove="1" noResize="1" noEditPoints="1" noAdjustHandles="1" noChangeArrowheads="1" noChangeShapeType="1" noTextEdit="1"/>
              </p:cNvSpPr>
              <p:nvPr/>
            </p:nvSpPr>
            <p:spPr>
              <a:xfrm>
                <a:off x="9101624" y="3716315"/>
                <a:ext cx="377649" cy="269241"/>
              </a:xfrm>
              <a:prstGeom prst="rect">
                <a:avLst/>
              </a:prstGeom>
              <a:blipFill>
                <a:blip r:embed="rId20"/>
                <a:stretch>
                  <a:fillRect t="-4545" r="-3226"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8022427" y="4188094"/>
                <a:ext cx="377649" cy="2689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smtClean="0">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1</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8022427" y="4188094"/>
                <a:ext cx="377649" cy="268984"/>
              </a:xfrm>
              <a:prstGeom prst="rect">
                <a:avLst/>
              </a:prstGeom>
              <a:blipFill>
                <a:blip r:embed="rId17"/>
                <a:stretch>
                  <a:fillRect l="-11290" t="-2273" r="-6452" b="-2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9133497" y="4186929"/>
                <a:ext cx="377649" cy="2692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1400" i="1" smtClean="0">
                              <a:solidFill>
                                <a:schemeClr val="tx1"/>
                              </a:solidFill>
                              <a:latin typeface="Cambria Math" panose="02040503050406030204" pitchFamily="18" charset="0"/>
                            </a:rPr>
                          </m:ctrlPr>
                        </m:sSubSupPr>
                        <m:e>
                          <m:r>
                            <a:rPr lang="en-IN" sz="1400" i="1">
                              <a:solidFill>
                                <a:schemeClr val="tx1"/>
                              </a:solidFill>
                              <a:latin typeface="Cambria Math" panose="02040503050406030204" pitchFamily="18" charset="0"/>
                              <a:ea typeface="Cambria Math" panose="02040503050406030204" pitchFamily="18" charset="0"/>
                            </a:rPr>
                            <m:t>𝛽</m:t>
                          </m:r>
                        </m:e>
                        <m:sub>
                          <m:r>
                            <a:rPr lang="en-IN" sz="1400" b="0" i="1" smtClean="0">
                              <a:solidFill>
                                <a:schemeClr val="tx1"/>
                              </a:solidFill>
                              <a:latin typeface="Cambria Math" panose="02040503050406030204" pitchFamily="18" charset="0"/>
                            </a:rPr>
                            <m:t>2</m:t>
                          </m:r>
                        </m:sub>
                        <m:sup>
                          <m:r>
                            <a:rPr lang="en-IN" sz="1400" b="0" i="1" smtClean="0">
                              <a:solidFill>
                                <a:schemeClr val="tx1"/>
                              </a:solidFill>
                              <a:latin typeface="Cambria Math" panose="02040503050406030204" pitchFamily="18" charset="0"/>
                            </a:rPr>
                            <m:t>(1)</m:t>
                          </m:r>
                        </m:sup>
                      </m:sSubSup>
                    </m:oMath>
                  </m:oMathPara>
                </a14:m>
                <a:endParaRPr lang="en-IN" sz="1400" dirty="0">
                  <a:solidFill>
                    <a:schemeClr val="tx1"/>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9133497" y="4186929"/>
                <a:ext cx="377649" cy="269241"/>
              </a:xfrm>
              <a:prstGeom prst="rect">
                <a:avLst/>
              </a:prstGeom>
              <a:blipFill>
                <a:blip r:embed="rId21"/>
                <a:stretch>
                  <a:fillRect l="-11290" t="-4545" r="-6452" b="-22727"/>
                </a:stretch>
              </a:blipFill>
            </p:spPr>
            <p:txBody>
              <a:bodyPr/>
              <a:lstStyle/>
              <a:p>
                <a:r>
                  <a:rPr lang="en-IN">
                    <a:noFill/>
                  </a:rPr>
                  <a:t> </a:t>
                </a:r>
              </a:p>
            </p:txBody>
          </p:sp>
        </mc:Fallback>
      </mc:AlternateContent>
      <p:cxnSp>
        <p:nvCxnSpPr>
          <p:cNvPr id="76" name="Straight Arrow Connector 75"/>
          <p:cNvCxnSpPr>
            <a:stCxn id="49" idx="4"/>
            <a:endCxn id="66" idx="0"/>
          </p:cNvCxnSpPr>
          <p:nvPr/>
        </p:nvCxnSpPr>
        <p:spPr>
          <a:xfrm flipH="1">
            <a:off x="8191978" y="3381061"/>
            <a:ext cx="1115308" cy="335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48" idx="4"/>
            <a:endCxn id="67" idx="0"/>
          </p:cNvCxnSpPr>
          <p:nvPr/>
        </p:nvCxnSpPr>
        <p:spPr>
          <a:xfrm>
            <a:off x="8186966" y="3379889"/>
            <a:ext cx="1121739" cy="3369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48" idx="4"/>
            <a:endCxn id="66" idx="0"/>
          </p:cNvCxnSpPr>
          <p:nvPr/>
        </p:nvCxnSpPr>
        <p:spPr>
          <a:xfrm>
            <a:off x="8186966" y="3379889"/>
            <a:ext cx="5012" cy="336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49" idx="4"/>
            <a:endCxn id="67" idx="0"/>
          </p:cNvCxnSpPr>
          <p:nvPr/>
        </p:nvCxnSpPr>
        <p:spPr>
          <a:xfrm>
            <a:off x="9307286" y="3381061"/>
            <a:ext cx="1419" cy="335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p:cNvSpPr/>
          <p:nvPr/>
        </p:nvSpPr>
        <p:spPr>
          <a:xfrm>
            <a:off x="8599576" y="4724494"/>
            <a:ext cx="352947" cy="366713"/>
          </a:xfrm>
          <a:prstGeom prst="ellipse">
            <a:avLst/>
          </a:prstGeom>
          <a:solidFill>
            <a:schemeClr val="accent6"/>
          </a:solidFill>
          <a:ln w="19050">
            <a:solidFill>
              <a:srgbClr val="00B050">
                <a:alpha val="14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cxnSp>
        <p:nvCxnSpPr>
          <p:cNvPr id="81" name="Straight Arrow Connector 80"/>
          <p:cNvCxnSpPr>
            <a:stCxn id="69" idx="4"/>
            <a:endCxn id="80" idx="0"/>
          </p:cNvCxnSpPr>
          <p:nvPr/>
        </p:nvCxnSpPr>
        <p:spPr>
          <a:xfrm flipH="1">
            <a:off x="8776050" y="4499607"/>
            <a:ext cx="537418" cy="224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68" idx="4"/>
            <a:endCxn id="80" idx="0"/>
          </p:cNvCxnSpPr>
          <p:nvPr/>
        </p:nvCxnSpPr>
        <p:spPr>
          <a:xfrm>
            <a:off x="8196001" y="4499607"/>
            <a:ext cx="580049" cy="224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Right Brace 82"/>
          <p:cNvSpPr/>
          <p:nvPr/>
        </p:nvSpPr>
        <p:spPr>
          <a:xfrm>
            <a:off x="10139710" y="1066815"/>
            <a:ext cx="107950" cy="132671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84" name="TextBox 83"/>
          <p:cNvSpPr txBox="1"/>
          <p:nvPr/>
        </p:nvSpPr>
        <p:spPr>
          <a:xfrm>
            <a:off x="10293789" y="1539970"/>
            <a:ext cx="1236236" cy="400110"/>
          </a:xfrm>
          <a:prstGeom prst="rect">
            <a:avLst/>
          </a:prstGeom>
          <a:noFill/>
        </p:spPr>
        <p:txBody>
          <a:bodyPr wrap="none" rtlCol="0">
            <a:spAutoFit/>
          </a:bodyPr>
          <a:lstStyle/>
          <a:p>
            <a:r>
              <a:rPr lang="en-IN" sz="2000" dirty="0">
                <a:latin typeface="Arial Narrow" panose="020B0606020202030204" pitchFamily="34" charset="0"/>
              </a:rPr>
              <a:t>Input Layer</a:t>
            </a:r>
          </a:p>
        </p:txBody>
      </p:sp>
      <p:sp>
        <p:nvSpPr>
          <p:cNvPr id="85" name="Right Brace 84"/>
          <p:cNvSpPr/>
          <p:nvPr/>
        </p:nvSpPr>
        <p:spPr>
          <a:xfrm>
            <a:off x="10138749" y="2498153"/>
            <a:ext cx="92728" cy="97567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86" name="Right Brace 85"/>
          <p:cNvSpPr/>
          <p:nvPr/>
        </p:nvSpPr>
        <p:spPr>
          <a:xfrm>
            <a:off x="10131852" y="3580864"/>
            <a:ext cx="92728" cy="975676"/>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87" name="TextBox 86"/>
          <p:cNvSpPr txBox="1"/>
          <p:nvPr/>
        </p:nvSpPr>
        <p:spPr>
          <a:xfrm>
            <a:off x="10248853" y="2793654"/>
            <a:ext cx="1611339" cy="400110"/>
          </a:xfrm>
          <a:prstGeom prst="rect">
            <a:avLst/>
          </a:prstGeom>
          <a:noFill/>
        </p:spPr>
        <p:txBody>
          <a:bodyPr wrap="none" rtlCol="0">
            <a:spAutoFit/>
          </a:bodyPr>
          <a:lstStyle/>
          <a:p>
            <a:r>
              <a:rPr lang="en-IN" sz="2000" dirty="0">
                <a:latin typeface="Arial Narrow" panose="020B0606020202030204" pitchFamily="34" charset="0"/>
              </a:rPr>
              <a:t>Hidden Layer 1</a:t>
            </a:r>
          </a:p>
        </p:txBody>
      </p:sp>
      <p:sp>
        <p:nvSpPr>
          <p:cNvPr id="88" name="TextBox 87"/>
          <p:cNvSpPr txBox="1"/>
          <p:nvPr/>
        </p:nvSpPr>
        <p:spPr>
          <a:xfrm>
            <a:off x="10211045" y="3884036"/>
            <a:ext cx="1611339" cy="400110"/>
          </a:xfrm>
          <a:prstGeom prst="rect">
            <a:avLst/>
          </a:prstGeom>
          <a:noFill/>
        </p:spPr>
        <p:txBody>
          <a:bodyPr wrap="none" rtlCol="0">
            <a:spAutoFit/>
          </a:bodyPr>
          <a:lstStyle/>
          <a:p>
            <a:r>
              <a:rPr lang="en-IN" sz="2000" dirty="0">
                <a:latin typeface="Arial Narrow" panose="020B0606020202030204" pitchFamily="34" charset="0"/>
              </a:rPr>
              <a:t>Hidden Layer 2</a:t>
            </a:r>
          </a:p>
        </p:txBody>
      </p: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2F25022F-C5CE-4D64-85E9-FAB04369B89A}"/>
                  </a:ext>
                </a:extLst>
              </p:cNvPr>
              <p:cNvSpPr txBox="1"/>
              <p:nvPr/>
            </p:nvSpPr>
            <p:spPr>
              <a:xfrm>
                <a:off x="7306189" y="2545964"/>
                <a:ext cx="572714" cy="3229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1</m:t>
                          </m:r>
                        </m:sub>
                        <m:sup>
                          <m:r>
                            <a:rPr lang="en-IN" sz="1200" b="0" i="1" smtClean="0">
                              <a:solidFill>
                                <a:schemeClr val="accent5">
                                  <a:lumMod val="75000"/>
                                </a:schemeClr>
                              </a:solidFill>
                              <a:latin typeface="Cambria Math" panose="02040503050406030204" pitchFamily="18" charset="0"/>
                            </a:rPr>
                            <m:t>(1)</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(1)</m:t>
                          </m:r>
                        </m:sup>
                      </m:sSup>
                    </m:oMath>
                  </m:oMathPara>
                </a14:m>
                <a:endParaRPr lang="en-IN" sz="1200" dirty="0">
                  <a:solidFill>
                    <a:schemeClr val="accent5">
                      <a:lumMod val="75000"/>
                    </a:schemeClr>
                  </a:solidFill>
                </a:endParaRPr>
              </a:p>
            </p:txBody>
          </p:sp>
        </mc:Choice>
        <mc:Fallback xmlns="">
          <p:sp>
            <p:nvSpPr>
              <p:cNvPr id="89" name="TextBox 88">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7306189" y="2545964"/>
                <a:ext cx="572714" cy="322974"/>
              </a:xfrm>
              <a:prstGeom prst="rect">
                <a:avLst/>
              </a:prstGeom>
              <a:blipFill>
                <a:blip r:embed="rId22"/>
                <a:stretch>
                  <a:fillRect r="-344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2F25022F-C5CE-4D64-85E9-FAB04369B89A}"/>
                  </a:ext>
                </a:extLst>
              </p:cNvPr>
              <p:cNvSpPr txBox="1"/>
              <p:nvPr/>
            </p:nvSpPr>
            <p:spPr>
              <a:xfrm>
                <a:off x="9411282" y="2509152"/>
                <a:ext cx="572714"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2</m:t>
                          </m:r>
                        </m:sub>
                        <m:sup>
                          <m:r>
                            <a:rPr lang="en-IN" sz="1200" b="0" i="1" smtClean="0">
                              <a:solidFill>
                                <a:schemeClr val="accent5">
                                  <a:lumMod val="75000"/>
                                </a:schemeClr>
                              </a:solidFill>
                              <a:latin typeface="Cambria Math" panose="02040503050406030204" pitchFamily="18" charset="0"/>
                            </a:rPr>
                            <m:t>(1)</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(1)</m:t>
                          </m:r>
                        </m:sup>
                      </m:sSup>
                    </m:oMath>
                  </m:oMathPara>
                </a14:m>
                <a:endParaRPr lang="en-IN" sz="1200" dirty="0">
                  <a:solidFill>
                    <a:schemeClr val="accent5">
                      <a:lumMod val="75000"/>
                    </a:schemeClr>
                  </a:solidFill>
                </a:endParaRPr>
              </a:p>
            </p:txBody>
          </p:sp>
        </mc:Choice>
        <mc:Fallback xmlns="">
          <p:sp>
            <p:nvSpPr>
              <p:cNvPr id="90" name="TextBox 89">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9411282" y="2509152"/>
                <a:ext cx="572714" cy="323165"/>
              </a:xfrm>
              <a:prstGeom prst="rect">
                <a:avLst/>
              </a:prstGeom>
              <a:blipFill>
                <a:blip r:embed="rId23"/>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Rectangle 90">
                <a:extLst>
                  <a:ext uri="{FF2B5EF4-FFF2-40B4-BE49-F238E27FC236}">
                    <a16:creationId xmlns:a16="http://schemas.microsoft.com/office/drawing/2014/main" id="{7EB440A6-4A1A-4A1B-908B-419B7A1E9D77}"/>
                  </a:ext>
                </a:extLst>
              </p:cNvPr>
              <p:cNvSpPr/>
              <p:nvPr/>
            </p:nvSpPr>
            <p:spPr>
              <a:xfrm>
                <a:off x="7682766" y="3082695"/>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91" name="Rectangle 90">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7682766" y="3082695"/>
                <a:ext cx="329449" cy="307777"/>
              </a:xfrm>
              <a:prstGeom prst="rect">
                <a:avLst/>
              </a:prstGeom>
              <a:blipFill>
                <a:blip r:embed="rId24"/>
                <a:stretch>
                  <a:fillRect b="-1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Rectangle 91">
                <a:extLst>
                  <a:ext uri="{FF2B5EF4-FFF2-40B4-BE49-F238E27FC236}">
                    <a16:creationId xmlns:a16="http://schemas.microsoft.com/office/drawing/2014/main" id="{7EB440A6-4A1A-4A1B-908B-419B7A1E9D77}"/>
                  </a:ext>
                </a:extLst>
              </p:cNvPr>
              <p:cNvSpPr/>
              <p:nvPr/>
            </p:nvSpPr>
            <p:spPr>
              <a:xfrm>
                <a:off x="9468565" y="3097157"/>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92" name="Rectangle 91">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9468565" y="3097157"/>
                <a:ext cx="329449" cy="307777"/>
              </a:xfrm>
              <a:prstGeom prst="rect">
                <a:avLst/>
              </a:prstGeom>
              <a:blipFill>
                <a:blip r:embed="rId25"/>
                <a:stretch>
                  <a:fillRect b="-78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2F25022F-C5CE-4D64-85E9-FAB04369B89A}"/>
                  </a:ext>
                </a:extLst>
              </p:cNvPr>
              <p:cNvSpPr txBox="1"/>
              <p:nvPr/>
            </p:nvSpPr>
            <p:spPr>
              <a:xfrm>
                <a:off x="7297391" y="3598552"/>
                <a:ext cx="572714" cy="3229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1</m:t>
                          </m:r>
                        </m:sub>
                        <m:sup>
                          <m:r>
                            <a:rPr lang="en-IN" sz="1200" b="0" i="1" smtClean="0">
                              <a:solidFill>
                                <a:schemeClr val="accent5">
                                  <a:lumMod val="75000"/>
                                </a:schemeClr>
                              </a:solidFill>
                              <a:latin typeface="Cambria Math" panose="02040503050406030204" pitchFamily="18" charset="0"/>
                            </a:rPr>
                            <m:t>(2)</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(2)</m:t>
                          </m:r>
                        </m:sup>
                      </m:sSup>
                    </m:oMath>
                  </m:oMathPara>
                </a14:m>
                <a:endParaRPr lang="en-IN" sz="1200" dirty="0">
                  <a:solidFill>
                    <a:schemeClr val="accent5">
                      <a:lumMod val="75000"/>
                    </a:schemeClr>
                  </a:solidFill>
                </a:endParaRPr>
              </a:p>
            </p:txBody>
          </p:sp>
        </mc:Choice>
        <mc:Fallback xmlns="">
          <p:sp>
            <p:nvSpPr>
              <p:cNvPr id="93" name="TextBox 92">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7297391" y="3598552"/>
                <a:ext cx="572714" cy="322974"/>
              </a:xfrm>
              <a:prstGeom prst="rect">
                <a:avLst/>
              </a:prstGeom>
              <a:blipFill>
                <a:blip r:embed="rId26"/>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2F25022F-C5CE-4D64-85E9-FAB04369B89A}"/>
                  </a:ext>
                </a:extLst>
              </p:cNvPr>
              <p:cNvSpPr txBox="1"/>
              <p:nvPr/>
            </p:nvSpPr>
            <p:spPr>
              <a:xfrm>
                <a:off x="9416179" y="3598361"/>
                <a:ext cx="572714" cy="323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IN" sz="1200" i="1" smtClean="0">
                              <a:solidFill>
                                <a:schemeClr val="accent5">
                                  <a:lumMod val="75000"/>
                                </a:schemeClr>
                              </a:solidFill>
                              <a:latin typeface="Cambria Math" panose="02040503050406030204" pitchFamily="18" charset="0"/>
                            </a:rPr>
                          </m:ctrlPr>
                        </m:sSubSupPr>
                        <m:e>
                          <m:r>
                            <a:rPr lang="en-IN" sz="1200" b="0" i="1" smtClean="0">
                              <a:solidFill>
                                <a:schemeClr val="accent5">
                                  <a:lumMod val="75000"/>
                                </a:schemeClr>
                              </a:solidFill>
                              <a:latin typeface="Cambria Math" panose="02040503050406030204" pitchFamily="18" charset="0"/>
                            </a:rPr>
                            <m:t>𝑊</m:t>
                          </m:r>
                        </m:e>
                        <m:sub>
                          <m:r>
                            <a:rPr lang="en-IN" sz="1200" b="0" i="1" smtClean="0">
                              <a:solidFill>
                                <a:schemeClr val="accent5">
                                  <a:lumMod val="75000"/>
                                </a:schemeClr>
                              </a:solidFill>
                              <a:latin typeface="Cambria Math" panose="02040503050406030204" pitchFamily="18" charset="0"/>
                            </a:rPr>
                            <m:t>2</m:t>
                          </m:r>
                        </m:sub>
                        <m:sup>
                          <m:r>
                            <a:rPr lang="en-IN" sz="1200" b="0" i="1" smtClean="0">
                              <a:solidFill>
                                <a:schemeClr val="accent5">
                                  <a:lumMod val="75000"/>
                                </a:schemeClr>
                              </a:solidFill>
                              <a:latin typeface="Cambria Math" panose="02040503050406030204" pitchFamily="18" charset="0"/>
                            </a:rPr>
                            <m:t>(2)</m:t>
                          </m:r>
                        </m:sup>
                      </m:sSubSup>
                      <m:sSup>
                        <m:sSupPr>
                          <m:ctrlPr>
                            <a:rPr lang="en-IN" sz="1200" i="1" smtClean="0">
                              <a:solidFill>
                                <a:schemeClr val="accent5">
                                  <a:lumMod val="75000"/>
                                </a:schemeClr>
                              </a:solidFill>
                              <a:latin typeface="Cambria Math" panose="02040503050406030204" pitchFamily="18" charset="0"/>
                            </a:rPr>
                          </m:ctrlPr>
                        </m:sSupPr>
                        <m:e>
                          <m:r>
                            <a:rPr lang="en-IN" sz="1200" b="0" i="1" smtClean="0">
                              <a:solidFill>
                                <a:schemeClr val="accent5">
                                  <a:lumMod val="75000"/>
                                </a:schemeClr>
                              </a:solidFill>
                              <a:latin typeface="Cambria Math" panose="02040503050406030204" pitchFamily="18" charset="0"/>
                            </a:rPr>
                            <m:t>,</m:t>
                          </m:r>
                          <m:r>
                            <a:rPr lang="en-IN" sz="1200" b="0" i="1" smtClean="0">
                              <a:solidFill>
                                <a:schemeClr val="accent5">
                                  <a:lumMod val="75000"/>
                                </a:schemeClr>
                              </a:solidFill>
                              <a:latin typeface="Cambria Math" panose="02040503050406030204" pitchFamily="18" charset="0"/>
                            </a:rPr>
                            <m:t>𝑏</m:t>
                          </m:r>
                        </m:e>
                        <m:sup>
                          <m:r>
                            <a:rPr lang="en-IN" sz="1200" b="0" i="1" smtClean="0">
                              <a:solidFill>
                                <a:schemeClr val="accent5">
                                  <a:lumMod val="75000"/>
                                </a:schemeClr>
                              </a:solidFill>
                              <a:latin typeface="Cambria Math" panose="02040503050406030204" pitchFamily="18" charset="0"/>
                            </a:rPr>
                            <m:t>(2)</m:t>
                          </m:r>
                        </m:sup>
                      </m:sSup>
                    </m:oMath>
                  </m:oMathPara>
                </a14:m>
                <a:endParaRPr lang="en-IN" sz="1200" dirty="0">
                  <a:solidFill>
                    <a:schemeClr val="accent5">
                      <a:lumMod val="75000"/>
                    </a:schemeClr>
                  </a:solidFill>
                </a:endParaRPr>
              </a:p>
            </p:txBody>
          </p:sp>
        </mc:Choice>
        <mc:Fallback xmlns="">
          <p:sp>
            <p:nvSpPr>
              <p:cNvPr id="94" name="TextBox 93">
                <a:extLst>
                  <a:ext uri="{FF2B5EF4-FFF2-40B4-BE49-F238E27FC236}">
                    <a16:creationId xmlns:a16="http://schemas.microsoft.com/office/drawing/2014/main" id="{2F25022F-C5CE-4D64-85E9-FAB04369B89A}"/>
                  </a:ext>
                </a:extLst>
              </p:cNvPr>
              <p:cNvSpPr txBox="1">
                <a:spLocks noRot="1" noChangeAspect="1" noMove="1" noResize="1" noEditPoints="1" noAdjustHandles="1" noChangeArrowheads="1" noChangeShapeType="1" noTextEdit="1"/>
              </p:cNvSpPr>
              <p:nvPr/>
            </p:nvSpPr>
            <p:spPr>
              <a:xfrm>
                <a:off x="9416179" y="3598361"/>
                <a:ext cx="572714" cy="323165"/>
              </a:xfrm>
              <a:prstGeom prst="rect">
                <a:avLst/>
              </a:prstGeom>
              <a:blipFill>
                <a:blip r:embed="rId27"/>
                <a:stretch>
                  <a:fillRect r="-3297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E3269ACA-A3F6-4183-B90D-3FF47837CA08}"/>
                  </a:ext>
                </a:extLst>
              </p:cNvPr>
              <p:cNvSpPr txBox="1"/>
              <p:nvPr/>
            </p:nvSpPr>
            <p:spPr>
              <a:xfrm>
                <a:off x="8909691" y="4556844"/>
                <a:ext cx="494492" cy="348813"/>
              </a:xfrm>
              <a:prstGeom prst="rect">
                <a:avLst/>
              </a:prstGeom>
              <a:ln>
                <a:noFill/>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1600" i="1" smtClean="0">
                              <a:solidFill>
                                <a:srgbClr val="C00000"/>
                              </a:solidFill>
                              <a:latin typeface="Cambria Math" panose="02040503050406030204" pitchFamily="18" charset="0"/>
                            </a:rPr>
                          </m:ctrlPr>
                        </m:sSupPr>
                        <m:e>
                          <m:r>
                            <a:rPr lang="en-IN" sz="1600" b="0" i="1" smtClean="0">
                              <a:solidFill>
                                <a:srgbClr val="C00000"/>
                              </a:solidFill>
                              <a:latin typeface="Cambria Math" panose="02040503050406030204" pitchFamily="18" charset="0"/>
                            </a:rPr>
                            <m:t>𝑊</m:t>
                          </m:r>
                        </m:e>
                        <m:sup>
                          <m:r>
                            <a:rPr lang="en-IN" sz="1600" b="0" i="1" smtClean="0">
                              <a:solidFill>
                                <a:srgbClr val="C00000"/>
                              </a:solidFill>
                              <a:latin typeface="Cambria Math" panose="02040503050406030204" pitchFamily="18" charset="0"/>
                            </a:rPr>
                            <m:t>(3)</m:t>
                          </m:r>
                        </m:sup>
                      </m:sSup>
                    </m:oMath>
                  </m:oMathPara>
                </a14:m>
                <a:endParaRPr lang="en-IN" sz="1600" dirty="0"/>
              </a:p>
            </p:txBody>
          </p:sp>
        </mc:Choice>
        <mc:Fallback xmlns="">
          <p:sp>
            <p:nvSpPr>
              <p:cNvPr id="95" name="TextBox 94">
                <a:extLst>
                  <a:ext uri="{FF2B5EF4-FFF2-40B4-BE49-F238E27FC236}">
                    <a16:creationId xmlns:a16="http://schemas.microsoft.com/office/drawing/2014/main" id="{E3269ACA-A3F6-4183-B90D-3FF47837CA08}"/>
                  </a:ext>
                </a:extLst>
              </p:cNvPr>
              <p:cNvSpPr txBox="1">
                <a:spLocks noRot="1" noChangeAspect="1" noMove="1" noResize="1" noEditPoints="1" noAdjustHandles="1" noChangeArrowheads="1" noChangeShapeType="1" noTextEdit="1"/>
              </p:cNvSpPr>
              <p:nvPr/>
            </p:nvSpPr>
            <p:spPr>
              <a:xfrm>
                <a:off x="8909691" y="4556844"/>
                <a:ext cx="494492" cy="348813"/>
              </a:xfrm>
              <a:prstGeom prst="rect">
                <a:avLst/>
              </a:prstGeom>
              <a:blipFill>
                <a:blip r:embed="rId28"/>
                <a:stretch>
                  <a:fillRect r="-16049"/>
                </a:stretch>
              </a:blipFill>
              <a:ln>
                <a:noFill/>
                <a:tailEnd type="triangle"/>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Rectangle 95">
                <a:extLst>
                  <a:ext uri="{FF2B5EF4-FFF2-40B4-BE49-F238E27FC236}">
                    <a16:creationId xmlns:a16="http://schemas.microsoft.com/office/drawing/2014/main" id="{CD36A2F3-4729-4D0F-A488-C4262AFA5133}"/>
                  </a:ext>
                </a:extLst>
              </p:cNvPr>
              <p:cNvSpPr/>
              <p:nvPr/>
            </p:nvSpPr>
            <p:spPr>
              <a:xfrm>
                <a:off x="8959565" y="4799746"/>
                <a:ext cx="47513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rgbClr val="C00000"/>
                              </a:solidFill>
                              <a:latin typeface="Cambria Math" panose="02040503050406030204" pitchFamily="18" charset="0"/>
                            </a:rPr>
                          </m:ctrlPr>
                        </m:sSubPr>
                        <m:e>
                          <m:r>
                            <a:rPr lang="en-IN" sz="2000" i="1">
                              <a:solidFill>
                                <a:srgbClr val="C00000"/>
                              </a:solidFill>
                              <a:latin typeface="Cambria Math" panose="02040503050406030204" pitchFamily="18" charset="0"/>
                            </a:rPr>
                            <m:t>𝑓</m:t>
                          </m:r>
                        </m:e>
                        <m:sub>
                          <m:r>
                            <a:rPr lang="en-IN" sz="2000" b="0" i="1" smtClean="0">
                              <a:solidFill>
                                <a:srgbClr val="C00000"/>
                              </a:solidFill>
                              <a:latin typeface="Cambria Math" panose="02040503050406030204" pitchFamily="18" charset="0"/>
                            </a:rPr>
                            <m:t>𝑌</m:t>
                          </m:r>
                        </m:sub>
                      </m:sSub>
                    </m:oMath>
                  </m:oMathPara>
                </a14:m>
                <a:endParaRPr lang="en-IN" sz="2000" dirty="0"/>
              </a:p>
            </p:txBody>
          </p:sp>
        </mc:Choice>
        <mc:Fallback xmlns="">
          <p:sp>
            <p:nvSpPr>
              <p:cNvPr id="96" name="Rectangle 95">
                <a:extLst>
                  <a:ext uri="{FF2B5EF4-FFF2-40B4-BE49-F238E27FC236}">
                    <a16:creationId xmlns:a16="http://schemas.microsoft.com/office/drawing/2014/main" id="{CD36A2F3-4729-4D0F-A488-C4262AFA5133}"/>
                  </a:ext>
                </a:extLst>
              </p:cNvPr>
              <p:cNvSpPr>
                <a:spLocks noRot="1" noChangeAspect="1" noMove="1" noResize="1" noEditPoints="1" noAdjustHandles="1" noChangeArrowheads="1" noChangeShapeType="1" noTextEdit="1"/>
              </p:cNvSpPr>
              <p:nvPr/>
            </p:nvSpPr>
            <p:spPr>
              <a:xfrm>
                <a:off x="8959565" y="4799746"/>
                <a:ext cx="475130" cy="400110"/>
              </a:xfrm>
              <a:prstGeom prst="rect">
                <a:avLst/>
              </a:prstGeom>
              <a:blipFill>
                <a:blip r:embed="rId29"/>
                <a:stretch>
                  <a:fillRect b="-136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Rectangle 96">
                <a:extLst>
                  <a:ext uri="{FF2B5EF4-FFF2-40B4-BE49-F238E27FC236}">
                    <a16:creationId xmlns:a16="http://schemas.microsoft.com/office/drawing/2014/main" id="{5728CEDD-2891-4DCE-AAC7-400712DAEA6F}"/>
                  </a:ext>
                </a:extLst>
              </p:cNvPr>
              <p:cNvSpPr/>
              <p:nvPr/>
            </p:nvSpPr>
            <p:spPr>
              <a:xfrm>
                <a:off x="8579224" y="5246950"/>
                <a:ext cx="4025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000" b="0" i="1" smtClean="0">
                          <a:solidFill>
                            <a:srgbClr val="C00000"/>
                          </a:solidFill>
                          <a:latin typeface="Cambria Math" panose="02040503050406030204" pitchFamily="18" charset="0"/>
                        </a:rPr>
                        <m:t>𝑌</m:t>
                      </m:r>
                    </m:oMath>
                  </m:oMathPara>
                </a14:m>
                <a:endParaRPr lang="en-IN" sz="2000" dirty="0"/>
              </a:p>
            </p:txBody>
          </p:sp>
        </mc:Choice>
        <mc:Fallback xmlns="">
          <p:sp>
            <p:nvSpPr>
              <p:cNvPr id="97" name="Rectangle 96">
                <a:extLst>
                  <a:ext uri="{FF2B5EF4-FFF2-40B4-BE49-F238E27FC236}">
                    <a16:creationId xmlns:a16="http://schemas.microsoft.com/office/drawing/2014/main" id="{5728CEDD-2891-4DCE-AAC7-400712DAEA6F}"/>
                  </a:ext>
                </a:extLst>
              </p:cNvPr>
              <p:cNvSpPr>
                <a:spLocks noRot="1" noChangeAspect="1" noMove="1" noResize="1" noEditPoints="1" noAdjustHandles="1" noChangeArrowheads="1" noChangeShapeType="1" noTextEdit="1"/>
              </p:cNvSpPr>
              <p:nvPr/>
            </p:nvSpPr>
            <p:spPr>
              <a:xfrm>
                <a:off x="8579224" y="5246950"/>
                <a:ext cx="402546" cy="400110"/>
              </a:xfrm>
              <a:prstGeom prst="rect">
                <a:avLst/>
              </a:prstGeom>
              <a:blipFill>
                <a:blip r:embed="rId30"/>
                <a:stretch>
                  <a:fillRect/>
                </a:stretch>
              </a:blipFill>
            </p:spPr>
            <p:txBody>
              <a:bodyPr/>
              <a:lstStyle/>
              <a:p>
                <a:r>
                  <a:rPr lang="en-IN">
                    <a:noFill/>
                  </a:rPr>
                  <a:t> </a:t>
                </a:r>
              </a:p>
            </p:txBody>
          </p:sp>
        </mc:Fallback>
      </mc:AlternateContent>
      <p:cxnSp>
        <p:nvCxnSpPr>
          <p:cNvPr id="98" name="Straight Arrow Connector 97"/>
          <p:cNvCxnSpPr>
            <a:stCxn id="80" idx="4"/>
            <a:endCxn id="97" idx="0"/>
          </p:cNvCxnSpPr>
          <p:nvPr/>
        </p:nvCxnSpPr>
        <p:spPr>
          <a:xfrm>
            <a:off x="8776050" y="5091207"/>
            <a:ext cx="4447" cy="155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9" name="Rectangle 98">
                <a:extLst>
                  <a:ext uri="{FF2B5EF4-FFF2-40B4-BE49-F238E27FC236}">
                    <a16:creationId xmlns:a16="http://schemas.microsoft.com/office/drawing/2014/main" id="{7EB440A6-4A1A-4A1B-908B-419B7A1E9D77}"/>
                  </a:ext>
                </a:extLst>
              </p:cNvPr>
              <p:cNvSpPr/>
              <p:nvPr/>
            </p:nvSpPr>
            <p:spPr>
              <a:xfrm>
                <a:off x="9468565" y="4169468"/>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99" name="Rectangle 98">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9468565" y="4169468"/>
                <a:ext cx="329449" cy="307777"/>
              </a:xfrm>
              <a:prstGeom prst="rect">
                <a:avLst/>
              </a:prstGeom>
              <a:blipFill>
                <a:blip r:embed="rId24"/>
                <a:stretch>
                  <a:fillRect b="-1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7EB440A6-4A1A-4A1B-908B-419B7A1E9D77}"/>
                  </a:ext>
                </a:extLst>
              </p:cNvPr>
              <p:cNvSpPr/>
              <p:nvPr/>
            </p:nvSpPr>
            <p:spPr>
              <a:xfrm>
                <a:off x="7696964" y="4169468"/>
                <a:ext cx="32944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400" i="1">
                              <a:solidFill>
                                <a:schemeClr val="accent5">
                                  <a:lumMod val="75000"/>
                                </a:schemeClr>
                              </a:solidFill>
                              <a:latin typeface="Cambria Math" panose="02040503050406030204" pitchFamily="18" charset="0"/>
                            </a:rPr>
                          </m:ctrlPr>
                        </m:sSubPr>
                        <m:e>
                          <m:r>
                            <a:rPr lang="en-IN" sz="1400" i="1">
                              <a:solidFill>
                                <a:schemeClr val="accent5">
                                  <a:lumMod val="75000"/>
                                </a:schemeClr>
                              </a:solidFill>
                              <a:latin typeface="Cambria Math" panose="02040503050406030204" pitchFamily="18" charset="0"/>
                            </a:rPr>
                            <m:t>𝑓</m:t>
                          </m:r>
                        </m:e>
                        <m:sub>
                          <m:r>
                            <a:rPr lang="en-IN" sz="1400" i="1">
                              <a:solidFill>
                                <a:schemeClr val="accent5">
                                  <a:lumMod val="75000"/>
                                </a:schemeClr>
                              </a:solidFill>
                              <a:latin typeface="Cambria Math" panose="02040503050406030204" pitchFamily="18" charset="0"/>
                            </a:rPr>
                            <m:t>h</m:t>
                          </m:r>
                        </m:sub>
                      </m:sSub>
                    </m:oMath>
                  </m:oMathPara>
                </a14:m>
                <a:endParaRPr lang="en-IN" sz="1400" i="1" dirty="0">
                  <a:solidFill>
                    <a:schemeClr val="accent5">
                      <a:lumMod val="75000"/>
                    </a:schemeClr>
                  </a:solidFill>
                  <a:latin typeface="Cambria Math" panose="02040503050406030204" pitchFamily="18" charset="0"/>
                </a:endParaRPr>
              </a:p>
            </p:txBody>
          </p:sp>
        </mc:Choice>
        <mc:Fallback xmlns="">
          <p:sp>
            <p:nvSpPr>
              <p:cNvPr id="100" name="Rectangle 99">
                <a:extLst>
                  <a:ext uri="{FF2B5EF4-FFF2-40B4-BE49-F238E27FC236}">
                    <a16:creationId xmlns:a16="http://schemas.microsoft.com/office/drawing/2014/main" id="{7EB440A6-4A1A-4A1B-908B-419B7A1E9D77}"/>
                  </a:ext>
                </a:extLst>
              </p:cNvPr>
              <p:cNvSpPr>
                <a:spLocks noRot="1" noChangeAspect="1" noMove="1" noResize="1" noEditPoints="1" noAdjustHandles="1" noChangeArrowheads="1" noChangeShapeType="1" noTextEdit="1"/>
              </p:cNvSpPr>
              <p:nvPr/>
            </p:nvSpPr>
            <p:spPr>
              <a:xfrm>
                <a:off x="7696964" y="4169468"/>
                <a:ext cx="329449" cy="307777"/>
              </a:xfrm>
              <a:prstGeom prst="rect">
                <a:avLst/>
              </a:prstGeom>
              <a:blipFill>
                <a:blip r:embed="rId24"/>
                <a:stretch>
                  <a:fillRect b="-10000"/>
                </a:stretch>
              </a:blipFill>
            </p:spPr>
            <p:txBody>
              <a:bodyPr/>
              <a:lstStyle/>
              <a:p>
                <a:r>
                  <a:rPr lang="en-IN">
                    <a:noFill/>
                  </a:rPr>
                  <a:t> </a:t>
                </a:r>
              </a:p>
            </p:txBody>
          </p:sp>
        </mc:Fallback>
      </mc:AlternateContent>
      <p:sp>
        <p:nvSpPr>
          <p:cNvPr id="101" name="Right Brace 100"/>
          <p:cNvSpPr/>
          <p:nvPr/>
        </p:nvSpPr>
        <p:spPr>
          <a:xfrm>
            <a:off x="10133223" y="4596769"/>
            <a:ext cx="92728" cy="929292"/>
          </a:xfrm>
          <a:prstGeom prst="rightBrac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102" name="TextBox 101"/>
          <p:cNvSpPr txBox="1"/>
          <p:nvPr/>
        </p:nvSpPr>
        <p:spPr>
          <a:xfrm>
            <a:off x="10218766" y="4861842"/>
            <a:ext cx="1399742" cy="400110"/>
          </a:xfrm>
          <a:prstGeom prst="rect">
            <a:avLst/>
          </a:prstGeom>
          <a:noFill/>
        </p:spPr>
        <p:txBody>
          <a:bodyPr wrap="none" rtlCol="0">
            <a:spAutoFit/>
          </a:bodyPr>
          <a:lstStyle/>
          <a:p>
            <a:r>
              <a:rPr lang="en-IN" sz="2000" dirty="0">
                <a:latin typeface="Arial Narrow" panose="020B0606020202030204" pitchFamily="34" charset="0"/>
              </a:rPr>
              <a:t>Output Layer</a:t>
            </a:r>
          </a:p>
        </p:txBody>
      </p:sp>
      <p:sp>
        <p:nvSpPr>
          <p:cNvPr id="104" name="TextBox 103"/>
          <p:cNvSpPr txBox="1"/>
          <p:nvPr/>
        </p:nvSpPr>
        <p:spPr>
          <a:xfrm>
            <a:off x="7858634" y="5714958"/>
            <a:ext cx="636713" cy="369332"/>
          </a:xfrm>
          <a:prstGeom prst="rect">
            <a:avLst/>
          </a:prstGeom>
          <a:noFill/>
        </p:spPr>
        <p:txBody>
          <a:bodyPr wrap="none" rtlCol="0">
            <a:spAutoFit/>
          </a:bodyPr>
          <a:lstStyle/>
          <a:p>
            <a:r>
              <a:rPr lang="en-IN" dirty="0"/>
              <a:t>Loss </a:t>
            </a:r>
          </a:p>
        </p:txBody>
      </p:sp>
      <mc:AlternateContent xmlns:mc="http://schemas.openxmlformats.org/markup-compatibility/2006" xmlns:a14="http://schemas.microsoft.com/office/drawing/2010/main">
        <mc:Choice Requires="a14">
          <p:sp>
            <p:nvSpPr>
              <p:cNvPr id="105" name="TextBox 104"/>
              <p:cNvSpPr txBox="1"/>
              <p:nvPr/>
            </p:nvSpPr>
            <p:spPr>
              <a:xfrm>
                <a:off x="8401269" y="5613663"/>
                <a:ext cx="1706044"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𝐸</m:t>
                          </m:r>
                        </m:e>
                        <m:sub>
                          <m:r>
                            <a:rPr lang="en-IN" b="0" i="1" smtClean="0">
                              <a:latin typeface="Cambria Math" panose="02040503050406030204" pitchFamily="18" charset="0"/>
                            </a:rPr>
                            <m:t>𝑌</m:t>
                          </m:r>
                        </m:sub>
                      </m:sSub>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2</m:t>
                          </m:r>
                        </m:den>
                      </m:f>
                      <m:sSup>
                        <m:sSupPr>
                          <m:ctrlPr>
                            <a:rPr lang="en-IN" b="0" i="1" smtClean="0">
                              <a:latin typeface="Cambria Math" panose="02040503050406030204" pitchFamily="18" charset="0"/>
                            </a:rPr>
                          </m:ctrlPr>
                        </m:sSupPr>
                        <m:e>
                          <m:r>
                            <a:rPr lang="en-IN" i="1">
                              <a:latin typeface="Cambria Math" panose="02040503050406030204" pitchFamily="18" charset="0"/>
                            </a:rPr>
                            <m:t>(</m:t>
                          </m:r>
                          <m:r>
                            <a:rPr lang="en-IN" i="1">
                              <a:latin typeface="Cambria Math" panose="02040503050406030204" pitchFamily="18" charset="0"/>
                            </a:rPr>
                            <m:t>𝐷</m:t>
                          </m:r>
                          <m:r>
                            <a:rPr lang="en-IN" i="1">
                              <a:latin typeface="Cambria Math" panose="02040503050406030204" pitchFamily="18" charset="0"/>
                            </a:rPr>
                            <m:t>−</m:t>
                          </m:r>
                          <m:r>
                            <a:rPr lang="en-IN" i="1">
                              <a:latin typeface="Cambria Math" panose="02040503050406030204" pitchFamily="18" charset="0"/>
                            </a:rPr>
                            <m:t>𝑑</m:t>
                          </m:r>
                          <m:r>
                            <a:rPr lang="en-IN" i="1">
                              <a:latin typeface="Cambria Math" panose="02040503050406030204" pitchFamily="18" charset="0"/>
                            </a:rPr>
                            <m:t>)</m:t>
                          </m:r>
                        </m:e>
                        <m:sup>
                          <m:r>
                            <a:rPr lang="en-IN" b="0" i="1" smtClean="0">
                              <a:latin typeface="Cambria Math" panose="02040503050406030204" pitchFamily="18" charset="0"/>
                            </a:rPr>
                            <m:t>2</m:t>
                          </m:r>
                        </m:sup>
                      </m:sSup>
                    </m:oMath>
                  </m:oMathPara>
                </a14:m>
                <a:endParaRPr lang="en-IN" dirty="0"/>
              </a:p>
            </p:txBody>
          </p:sp>
        </mc:Choice>
        <mc:Fallback xmlns="">
          <p:sp>
            <p:nvSpPr>
              <p:cNvPr id="105" name="TextBox 104"/>
              <p:cNvSpPr txBox="1">
                <a:spLocks noRot="1" noChangeAspect="1" noMove="1" noResize="1" noEditPoints="1" noAdjustHandles="1" noChangeArrowheads="1" noChangeShapeType="1" noTextEdit="1"/>
              </p:cNvSpPr>
              <p:nvPr/>
            </p:nvSpPr>
            <p:spPr>
              <a:xfrm>
                <a:off x="8401269" y="5613663"/>
                <a:ext cx="1706044" cy="518604"/>
              </a:xfrm>
              <a:prstGeom prst="rect">
                <a:avLst/>
              </a:prstGeom>
              <a:blipFill>
                <a:blip r:embed="rId31"/>
                <a:stretch>
                  <a:fillRect/>
                </a:stretch>
              </a:blipFill>
            </p:spPr>
            <p:txBody>
              <a:bodyPr/>
              <a:lstStyle/>
              <a:p>
                <a:r>
                  <a:rPr lang="en-IN">
                    <a:noFill/>
                  </a:rPr>
                  <a:t> </a:t>
                </a:r>
              </a:p>
            </p:txBody>
          </p:sp>
        </mc:Fallback>
      </mc:AlternateContent>
      <p:cxnSp>
        <p:nvCxnSpPr>
          <p:cNvPr id="107" name="Straight Connector 106"/>
          <p:cNvCxnSpPr/>
          <p:nvPr/>
        </p:nvCxnSpPr>
        <p:spPr>
          <a:xfrm flipH="1">
            <a:off x="6497664" y="5901211"/>
            <a:ext cx="1360970" cy="37"/>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V="1">
            <a:off x="6497663" y="2955893"/>
            <a:ext cx="8761" cy="2950118"/>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endCxn id="19" idx="1"/>
          </p:cNvCxnSpPr>
          <p:nvPr/>
        </p:nvCxnSpPr>
        <p:spPr>
          <a:xfrm>
            <a:off x="6502481" y="2955893"/>
            <a:ext cx="829232" cy="2951"/>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a:endCxn id="65" idx="1"/>
          </p:cNvCxnSpPr>
          <p:nvPr/>
        </p:nvCxnSpPr>
        <p:spPr>
          <a:xfrm>
            <a:off x="6506424" y="4079875"/>
            <a:ext cx="816797" cy="671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9" name="Rectangle 118">
                <a:extLst>
                  <a:ext uri="{FF2B5EF4-FFF2-40B4-BE49-F238E27FC236}">
                    <a16:creationId xmlns:a16="http://schemas.microsoft.com/office/drawing/2014/main" id="{BD0FA93A-2E9A-4279-87F4-72E0FDA305D8}"/>
                  </a:ext>
                </a:extLst>
              </p:cNvPr>
              <p:cNvSpPr/>
              <p:nvPr/>
            </p:nvSpPr>
            <p:spPr>
              <a:xfrm>
                <a:off x="6894221" y="5930127"/>
                <a:ext cx="602473" cy="537198"/>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1400" b="1" i="1" smtClean="0">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𝑾</m:t>
                              </m:r>
                            </m:e>
                            <m:sub>
                              <m:r>
                                <a:rPr lang="en-IN" sz="1400" b="1" i="1" smtClean="0">
                                  <a:latin typeface="Cambria Math" panose="02040503050406030204" pitchFamily="18" charset="0"/>
                                </a:rPr>
                                <m:t>𝒀</m:t>
                              </m:r>
                            </m:sub>
                          </m:sSub>
                        </m:den>
                      </m:f>
                    </m:oMath>
                  </m:oMathPara>
                </a14:m>
                <a:endParaRPr lang="en-IN" sz="1400" dirty="0">
                  <a:latin typeface="Arial Narrow" panose="020B0606020202030204" pitchFamily="34" charset="0"/>
                </a:endParaRPr>
              </a:p>
            </p:txBody>
          </p:sp>
        </mc:Choice>
        <mc:Fallback xmlns="">
          <p:sp>
            <p:nvSpPr>
              <p:cNvPr id="119" name="Rectangle 118">
                <a:extLst>
                  <a:ext uri="{FF2B5EF4-FFF2-40B4-BE49-F238E27FC236}">
                    <a16:creationId xmlns:a16="http://schemas.microsoft.com/office/drawing/2014/main" id="{BD0FA93A-2E9A-4279-87F4-72E0FDA305D8}"/>
                  </a:ext>
                </a:extLst>
              </p:cNvPr>
              <p:cNvSpPr>
                <a:spLocks noRot="1" noChangeAspect="1" noMove="1" noResize="1" noEditPoints="1" noAdjustHandles="1" noChangeArrowheads="1" noChangeShapeType="1" noTextEdit="1"/>
              </p:cNvSpPr>
              <p:nvPr/>
            </p:nvSpPr>
            <p:spPr>
              <a:xfrm>
                <a:off x="6894221" y="5930127"/>
                <a:ext cx="602473" cy="537198"/>
              </a:xfrm>
              <a:prstGeom prst="rect">
                <a:avLst/>
              </a:prstGeom>
              <a:blipFill>
                <a:blip r:embed="rId3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Rectangle 119">
                <a:extLst>
                  <a:ext uri="{FF2B5EF4-FFF2-40B4-BE49-F238E27FC236}">
                    <a16:creationId xmlns:a16="http://schemas.microsoft.com/office/drawing/2014/main" id="{BD0FA93A-2E9A-4279-87F4-72E0FDA305D8}"/>
                  </a:ext>
                </a:extLst>
              </p:cNvPr>
              <p:cNvSpPr/>
              <p:nvPr/>
            </p:nvSpPr>
            <p:spPr>
              <a:xfrm>
                <a:off x="6575913" y="4164391"/>
                <a:ext cx="543161" cy="537198"/>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1400" b="1" i="1" smtClean="0">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smtClean="0">
                                  <a:latin typeface="Cambria Math" panose="02040503050406030204" pitchFamily="18" charset="0"/>
                                </a:rPr>
                                <m:t>𝒉</m:t>
                              </m:r>
                            </m:e>
                            <m:sub>
                              <m:r>
                                <a:rPr lang="en-IN" sz="1400" b="1" i="1" smtClean="0">
                                  <a:latin typeface="Cambria Math" panose="02040503050406030204" pitchFamily="18" charset="0"/>
                                </a:rPr>
                                <m:t>𝟐</m:t>
                              </m:r>
                            </m:sub>
                          </m:sSub>
                        </m:den>
                      </m:f>
                    </m:oMath>
                  </m:oMathPara>
                </a14:m>
                <a:endParaRPr lang="en-IN" sz="1400" dirty="0">
                  <a:latin typeface="Arial Narrow" panose="020B0606020202030204" pitchFamily="34" charset="0"/>
                </a:endParaRPr>
              </a:p>
            </p:txBody>
          </p:sp>
        </mc:Choice>
        <mc:Fallback xmlns="">
          <p:sp>
            <p:nvSpPr>
              <p:cNvPr id="120" name="Rectangle 119">
                <a:extLst>
                  <a:ext uri="{FF2B5EF4-FFF2-40B4-BE49-F238E27FC236}">
                    <a16:creationId xmlns:a16="http://schemas.microsoft.com/office/drawing/2014/main" id="{BD0FA93A-2E9A-4279-87F4-72E0FDA305D8}"/>
                  </a:ext>
                </a:extLst>
              </p:cNvPr>
              <p:cNvSpPr>
                <a:spLocks noRot="1" noChangeAspect="1" noMove="1" noResize="1" noEditPoints="1" noAdjustHandles="1" noChangeArrowheads="1" noChangeShapeType="1" noTextEdit="1"/>
              </p:cNvSpPr>
              <p:nvPr/>
            </p:nvSpPr>
            <p:spPr>
              <a:xfrm>
                <a:off x="6575913" y="4164391"/>
                <a:ext cx="543161" cy="537198"/>
              </a:xfrm>
              <a:prstGeom prst="rect">
                <a:avLst/>
              </a:prstGeom>
              <a:blipFill>
                <a:blip r:embed="rId3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BD0FA93A-2E9A-4279-87F4-72E0FDA305D8}"/>
                  </a:ext>
                </a:extLst>
              </p:cNvPr>
              <p:cNvSpPr/>
              <p:nvPr/>
            </p:nvSpPr>
            <p:spPr>
              <a:xfrm>
                <a:off x="6652296" y="2438108"/>
                <a:ext cx="543162" cy="537198"/>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1400" b="1" i="1" smtClean="0">
                              <a:latin typeface="Cambria Math" panose="02040503050406030204" pitchFamily="18" charset="0"/>
                            </a:rPr>
                          </m:ctrlPr>
                        </m:fPr>
                        <m:num>
                          <m:r>
                            <a:rPr lang="en-IN" sz="1400" b="1" i="1">
                              <a:latin typeface="Cambria Math" panose="02040503050406030204" pitchFamily="18" charset="0"/>
                            </a:rPr>
                            <m:t>𝝏</m:t>
                          </m:r>
                          <m:sSub>
                            <m:sSubPr>
                              <m:ctrlPr>
                                <a:rPr lang="en-IN" sz="1400" b="1" i="1">
                                  <a:latin typeface="Cambria Math" panose="02040503050406030204" pitchFamily="18" charset="0"/>
                                </a:rPr>
                              </m:ctrlPr>
                            </m:sSubPr>
                            <m:e>
                              <m:r>
                                <a:rPr lang="en-IN" sz="1400" b="1" i="1">
                                  <a:latin typeface="Cambria Math" panose="02040503050406030204" pitchFamily="18" charset="0"/>
                                </a:rPr>
                                <m:t>𝑬</m:t>
                              </m:r>
                            </m:e>
                            <m:sub>
                              <m:r>
                                <a:rPr lang="en-IN" sz="1400" b="1" i="1" smtClean="0">
                                  <a:latin typeface="Cambria Math" panose="02040503050406030204" pitchFamily="18" charset="0"/>
                                </a:rPr>
                                <m:t>𝒀</m:t>
                              </m:r>
                            </m:sub>
                          </m:sSub>
                        </m:num>
                        <m:den>
                          <m:r>
                            <a:rPr lang="en-IN" sz="1400" b="1" i="1">
                              <a:latin typeface="Cambria Math" panose="02040503050406030204" pitchFamily="18" charset="0"/>
                            </a:rPr>
                            <m:t>𝝏</m:t>
                          </m:r>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𝒉</m:t>
                              </m:r>
                            </m:e>
                            <m:sub>
                              <m:r>
                                <a:rPr lang="en-IN" sz="1400" b="1" i="1" smtClean="0">
                                  <a:latin typeface="Cambria Math" panose="02040503050406030204" pitchFamily="18" charset="0"/>
                                </a:rPr>
                                <m:t>𝟏</m:t>
                              </m:r>
                            </m:sub>
                          </m:sSub>
                        </m:den>
                      </m:f>
                    </m:oMath>
                  </m:oMathPara>
                </a14:m>
                <a:endParaRPr lang="en-IN" sz="1400" dirty="0">
                  <a:latin typeface="Arial Narrow" panose="020B0606020202030204" pitchFamily="34" charset="0"/>
                </a:endParaRPr>
              </a:p>
            </p:txBody>
          </p:sp>
        </mc:Choice>
        <mc:Fallback xmlns="">
          <p:sp>
            <p:nvSpPr>
              <p:cNvPr id="121" name="Rectangle 120">
                <a:extLst>
                  <a:ext uri="{FF2B5EF4-FFF2-40B4-BE49-F238E27FC236}">
                    <a16:creationId xmlns:a16="http://schemas.microsoft.com/office/drawing/2014/main" id="{BD0FA93A-2E9A-4279-87F4-72E0FDA305D8}"/>
                  </a:ext>
                </a:extLst>
              </p:cNvPr>
              <p:cNvSpPr>
                <a:spLocks noRot="1" noChangeAspect="1" noMove="1" noResize="1" noEditPoints="1" noAdjustHandles="1" noChangeArrowheads="1" noChangeShapeType="1" noTextEdit="1"/>
              </p:cNvSpPr>
              <p:nvPr/>
            </p:nvSpPr>
            <p:spPr>
              <a:xfrm>
                <a:off x="6652296" y="2438108"/>
                <a:ext cx="543162" cy="537198"/>
              </a:xfrm>
              <a:prstGeom prst="rect">
                <a:avLst/>
              </a:prstGeom>
              <a:blipFill>
                <a:blip r:embed="rId3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793946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8751"/>
            <a:ext cx="10515600" cy="1325563"/>
          </a:xfrm>
        </p:spPr>
        <p:txBody>
          <a:bodyPr/>
          <a:lstStyle/>
          <a:p>
            <a:r>
              <a:rPr lang="en-IN" sz="3600" dirty="0">
                <a:latin typeface="Century" panose="02040604050505020304" pitchFamily="18" charset="0"/>
              </a:rPr>
              <a:t>Backpropagation</a:t>
            </a:r>
            <a:br>
              <a:rPr lang="en-IN" dirty="0">
                <a:latin typeface="Century" panose="02040604050505020304" pitchFamily="18" charset="0"/>
              </a:rPr>
            </a:br>
            <a:r>
              <a:rPr lang="en-IN" sz="2800" dirty="0">
                <a:latin typeface="Century" panose="02040604050505020304" pitchFamily="18" charset="0"/>
              </a:rPr>
              <a:t>Computational complexity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324598"/>
                <a:ext cx="10515600" cy="5144568"/>
              </a:xfrm>
            </p:spPr>
            <p:txBody>
              <a:bodyPr>
                <a:normAutofit fontScale="70000" lnSpcReduction="20000"/>
              </a:bodyPr>
              <a:lstStyle/>
              <a:p>
                <a:pPr algn="just">
                  <a:lnSpc>
                    <a:spcPct val="120000"/>
                  </a:lnSpc>
                </a:pPr>
                <a:r>
                  <a:rPr lang="en-US" sz="2400" dirty="0">
                    <a:latin typeface="Arial Narrow" panose="020B0606020202030204" pitchFamily="34" charset="0"/>
                  </a:rPr>
                  <a:t>The computational cost of backpropagation is dominated by </a:t>
                </a:r>
                <a:r>
                  <a:rPr lang="en-US" sz="2400" dirty="0">
                    <a:solidFill>
                      <a:srgbClr val="00B0F0"/>
                    </a:solidFill>
                    <a:latin typeface="Arial Narrow" panose="020B0606020202030204" pitchFamily="34" charset="0"/>
                  </a:rPr>
                  <a:t>matrix multiplication </a:t>
                </a:r>
                <a:r>
                  <a:rPr lang="en-US" sz="2400" dirty="0">
                    <a:latin typeface="Arial Narrow" panose="020B0606020202030204" pitchFamily="34" charset="0"/>
                  </a:rPr>
                  <a:t>operations carried out during the forward and backward passes. As the number of these operations scales with the total number of trainable parameters, the computational complexity is given by O(W).</a:t>
                </a:r>
              </a:p>
              <a:p>
                <a:pPr algn="just">
                  <a:lnSpc>
                    <a:spcPct val="120000"/>
                  </a:lnSpc>
                </a:pPr>
                <a:r>
                  <a:rPr lang="en-US" altLang="en-US" sz="2400" dirty="0">
                    <a:latin typeface="Arial Narrow" panose="020B0606020202030204" pitchFamily="34" charset="0"/>
                  </a:rPr>
                  <a:t>‘W’ denotes the total number of trainable parameters (weights and biases)</a:t>
                </a:r>
              </a:p>
              <a:p>
                <a:pPr algn="just">
                  <a:lnSpc>
                    <a:spcPct val="120000"/>
                  </a:lnSpc>
                </a:pPr>
                <a:r>
                  <a:rPr lang="en-US" altLang="en-US" sz="2400" dirty="0">
                    <a:latin typeface="Arial Narrow" panose="020B0606020202030204" pitchFamily="34" charset="0"/>
                  </a:rPr>
                  <a:t>‘L’ is the number of layers in the network, and </a:t>
                </a:r>
              </a:p>
              <a:p>
                <a:pPr algn="just">
                  <a:lnSpc>
                    <a:spcPct val="120000"/>
                  </a:lnSpc>
                </a:pPr>
                <a:r>
                  <a:rPr lang="en-IN" sz="2400" dirty="0">
                    <a:cs typeface="Times New Roman" panose="02020603050405020304" pitchFamily="18" charset="0"/>
                  </a:rPr>
                  <a:t>‘</a:t>
                </a:r>
                <a14:m>
                  <m:oMath xmlns:m="http://schemas.openxmlformats.org/officeDocument/2006/math">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𝑛</m:t>
                        </m:r>
                      </m:e>
                      <m:sub>
                        <m:r>
                          <a:rPr lang="en-IN" sz="2400" i="1">
                            <a:latin typeface="Cambria Math" panose="02040503050406030204" pitchFamily="18" charset="0"/>
                            <a:cs typeface="Times New Roman" panose="02020603050405020304" pitchFamily="18" charset="0"/>
                          </a:rPr>
                          <m:t>𝑙</m:t>
                        </m:r>
                      </m:sub>
                    </m:sSub>
                  </m:oMath>
                </a14:m>
                <a:r>
                  <a:rPr lang="en-US" altLang="en-US" sz="2400" dirty="0">
                    <a:latin typeface="Cambria Math" panose="02040503050406030204" pitchFamily="18" charset="0"/>
                    <a:ea typeface="Cambria Math" panose="02040503050406030204" pitchFamily="18" charset="0"/>
                  </a:rPr>
                  <a:t>’ </a:t>
                </a:r>
                <a:r>
                  <a:rPr lang="en-US" altLang="en-US" sz="2400" dirty="0">
                    <a:latin typeface="Arial Narrow" panose="020B0606020202030204" pitchFamily="34" charset="0"/>
                  </a:rPr>
                  <a:t>represents the number of neurons in layer </a:t>
                </a:r>
                <a14:m>
                  <m:oMath xmlns:m="http://schemas.openxmlformats.org/officeDocument/2006/math">
                    <m:r>
                      <a:rPr lang="en-IN" sz="2400" i="1">
                        <a:latin typeface="Cambria Math" panose="02040503050406030204" pitchFamily="18" charset="0"/>
                        <a:cs typeface="Times New Roman" panose="02020603050405020304" pitchFamily="18" charset="0"/>
                      </a:rPr>
                      <m:t>𝑙</m:t>
                    </m:r>
                  </m:oMath>
                </a14:m>
                <a:r>
                  <a:rPr lang="en-US" altLang="en-US" sz="2400" dirty="0">
                    <a:latin typeface="Arial Narrow" panose="020B0606020202030204" pitchFamily="34" charset="0"/>
                  </a:rPr>
                  <a:t> </a:t>
                </a:r>
              </a:p>
              <a:p>
                <a:pPr marL="0" indent="0" algn="just">
                  <a:lnSpc>
                    <a:spcPct val="120000"/>
                  </a:lnSpc>
                  <a:buNone/>
                </a:pPr>
                <a14:m>
                  <m:oMathPara xmlns:m="http://schemas.openxmlformats.org/officeDocument/2006/math">
                    <m:oMathParaPr>
                      <m:jc m:val="centerGroup"/>
                    </m:oMathParaPr>
                    <m:oMath xmlns:m="http://schemas.openxmlformats.org/officeDocument/2006/math">
                      <m:r>
                        <a:rPr lang="en-IN" i="1" smtClean="0">
                          <a:solidFill>
                            <a:srgbClr val="00B0F0"/>
                          </a:solidFill>
                          <a:latin typeface="Cambria Math" panose="02040503050406030204" pitchFamily="18" charset="0"/>
                          <a:cs typeface="Times New Roman" panose="02020603050405020304" pitchFamily="18" charset="0"/>
                        </a:rPr>
                        <m:t>𝑊</m:t>
                      </m:r>
                      <m:r>
                        <a:rPr lang="en-IN" i="1" smtClean="0">
                          <a:solidFill>
                            <a:srgbClr val="00B0F0"/>
                          </a:solidFill>
                          <a:latin typeface="Cambria Math" panose="02040503050406030204" pitchFamily="18" charset="0"/>
                          <a:cs typeface="Times New Roman" panose="02020603050405020304" pitchFamily="18" charset="0"/>
                        </a:rPr>
                        <m:t>= </m:t>
                      </m:r>
                      <m:nary>
                        <m:naryPr>
                          <m:chr m:val="∑"/>
                          <m:ctrlPr>
                            <a:rPr lang="en-IN" i="1">
                              <a:solidFill>
                                <a:srgbClr val="00B0F0"/>
                              </a:solidFill>
                              <a:latin typeface="Cambria Math" panose="02040503050406030204" pitchFamily="18" charset="0"/>
                              <a:cs typeface="Times New Roman" panose="02020603050405020304" pitchFamily="18" charset="0"/>
                            </a:rPr>
                          </m:ctrlPr>
                        </m:naryPr>
                        <m:sub>
                          <m:r>
                            <m:rPr>
                              <m:brk m:alnAt="23"/>
                            </m:rPr>
                            <a:rPr lang="en-IN" i="1">
                              <a:solidFill>
                                <a:srgbClr val="00B0F0"/>
                              </a:solidFill>
                              <a:latin typeface="Cambria Math" panose="02040503050406030204" pitchFamily="18" charset="0"/>
                              <a:cs typeface="Times New Roman" panose="02020603050405020304" pitchFamily="18" charset="0"/>
                            </a:rPr>
                            <m:t>𝑙</m:t>
                          </m:r>
                          <m:r>
                            <a:rPr lang="en-IN" i="1">
                              <a:solidFill>
                                <a:srgbClr val="00B0F0"/>
                              </a:solidFill>
                              <a:latin typeface="Cambria Math" panose="02040503050406030204" pitchFamily="18" charset="0"/>
                              <a:cs typeface="Times New Roman" panose="02020603050405020304" pitchFamily="18" charset="0"/>
                            </a:rPr>
                            <m:t>=1</m:t>
                          </m:r>
                        </m:sub>
                        <m:sup>
                          <m:r>
                            <a:rPr lang="en-IN" i="1">
                              <a:solidFill>
                                <a:srgbClr val="00B0F0"/>
                              </a:solidFill>
                              <a:latin typeface="Cambria Math" panose="02040503050406030204" pitchFamily="18" charset="0"/>
                              <a:cs typeface="Times New Roman" panose="02020603050405020304" pitchFamily="18" charset="0"/>
                            </a:rPr>
                            <m:t>𝐿</m:t>
                          </m:r>
                        </m:sup>
                        <m:e>
                          <m:sSub>
                            <m:sSubPr>
                              <m:ctrlPr>
                                <a:rPr lang="en-IN" i="1">
                                  <a:solidFill>
                                    <a:srgbClr val="00B0F0"/>
                                  </a:solidFill>
                                  <a:latin typeface="Cambria Math" panose="02040503050406030204" pitchFamily="18" charset="0"/>
                                  <a:cs typeface="Times New Roman" panose="02020603050405020304" pitchFamily="18" charset="0"/>
                                </a:rPr>
                              </m:ctrlPr>
                            </m:sSubPr>
                            <m:e>
                              <m:r>
                                <a:rPr lang="en-IN" i="1">
                                  <a:solidFill>
                                    <a:srgbClr val="00B0F0"/>
                                  </a:solidFill>
                                  <a:latin typeface="Cambria Math" panose="02040503050406030204" pitchFamily="18" charset="0"/>
                                  <a:cs typeface="Times New Roman" panose="02020603050405020304" pitchFamily="18" charset="0"/>
                                </a:rPr>
                                <m:t>𝑛</m:t>
                              </m:r>
                            </m:e>
                            <m:sub>
                              <m:r>
                                <a:rPr lang="en-IN" i="1">
                                  <a:solidFill>
                                    <a:srgbClr val="00B0F0"/>
                                  </a:solidFill>
                                  <a:latin typeface="Cambria Math" panose="02040503050406030204" pitchFamily="18" charset="0"/>
                                  <a:cs typeface="Times New Roman" panose="02020603050405020304" pitchFamily="18" charset="0"/>
                                </a:rPr>
                                <m:t>𝑙</m:t>
                              </m:r>
                              <m:r>
                                <a:rPr lang="en-IN" i="1">
                                  <a:solidFill>
                                    <a:srgbClr val="00B0F0"/>
                                  </a:solidFill>
                                  <a:latin typeface="Cambria Math" panose="02040503050406030204" pitchFamily="18" charset="0"/>
                                  <a:cs typeface="Times New Roman" panose="02020603050405020304" pitchFamily="18" charset="0"/>
                                </a:rPr>
                                <m:t>−1</m:t>
                              </m:r>
                            </m:sub>
                          </m:sSub>
                          <m:sSub>
                            <m:sSubPr>
                              <m:ctrlPr>
                                <a:rPr lang="en-IN" i="1">
                                  <a:solidFill>
                                    <a:srgbClr val="00B0F0"/>
                                  </a:solidFill>
                                  <a:latin typeface="Cambria Math" panose="02040503050406030204" pitchFamily="18" charset="0"/>
                                  <a:cs typeface="Times New Roman" panose="02020603050405020304" pitchFamily="18" charset="0"/>
                                </a:rPr>
                              </m:ctrlPr>
                            </m:sSubPr>
                            <m:e>
                              <m:r>
                                <a:rPr lang="en-IN" i="1">
                                  <a:solidFill>
                                    <a:srgbClr val="00B0F0"/>
                                  </a:solidFill>
                                  <a:latin typeface="Cambria Math" panose="02040503050406030204" pitchFamily="18" charset="0"/>
                                  <a:cs typeface="Times New Roman" panose="02020603050405020304" pitchFamily="18" charset="0"/>
                                </a:rPr>
                                <m:t>𝑛</m:t>
                              </m:r>
                            </m:e>
                            <m:sub>
                              <m:r>
                                <a:rPr lang="en-IN" i="1">
                                  <a:solidFill>
                                    <a:srgbClr val="00B0F0"/>
                                  </a:solidFill>
                                  <a:latin typeface="Cambria Math" panose="02040503050406030204" pitchFamily="18" charset="0"/>
                                  <a:cs typeface="Times New Roman" panose="02020603050405020304" pitchFamily="18" charset="0"/>
                                </a:rPr>
                                <m:t>𝑙</m:t>
                              </m:r>
                            </m:sub>
                          </m:sSub>
                        </m:e>
                      </m:nary>
                    </m:oMath>
                  </m:oMathPara>
                </a14:m>
                <a:endParaRPr lang="en-IN" dirty="0">
                  <a:latin typeface="Times New Roman" panose="02020603050405020304" pitchFamily="18" charset="0"/>
                  <a:cs typeface="Times New Roman" panose="02020603050405020304" pitchFamily="18" charset="0"/>
                </a:endParaRPr>
              </a:p>
              <a:p>
                <a:pPr algn="just">
                  <a:lnSpc>
                    <a:spcPct val="120000"/>
                  </a:lnSpc>
                </a:pPr>
                <a:r>
                  <a:rPr lang="en-IN" sz="2600" dirty="0">
                    <a:latin typeface="Arial Narrow" panose="020B0606020202030204" pitchFamily="34" charset="0"/>
                    <a:cs typeface="Times New Roman" panose="02020603050405020304" pitchFamily="18" charset="0"/>
                  </a:rPr>
                  <a:t>Computational Complexity in Forward pass = O(W)</a:t>
                </a:r>
              </a:p>
              <a:p>
                <a:pPr algn="just">
                  <a:lnSpc>
                    <a:spcPct val="120000"/>
                  </a:lnSpc>
                </a:pPr>
                <a:r>
                  <a:rPr lang="en-IN" sz="2600" dirty="0">
                    <a:latin typeface="Arial Narrow" panose="020B0606020202030204" pitchFamily="34" charset="0"/>
                    <a:cs typeface="Times New Roman" panose="02020603050405020304" pitchFamily="18" charset="0"/>
                  </a:rPr>
                  <a:t>Computational Complexity in the Backward pass (Backpropagation) considers gradients with respect to the weights and gradient with respect to the activations, both are order of O(W)</a:t>
                </a:r>
              </a:p>
              <a:p>
                <a:pPr algn="just">
                  <a:lnSpc>
                    <a:spcPct val="120000"/>
                  </a:lnSpc>
                </a:pPr>
                <a:r>
                  <a:rPr lang="en-IN" sz="2600" dirty="0">
                    <a:latin typeface="Arial Narrow" panose="020B0606020202030204" pitchFamily="34" charset="0"/>
                    <a:cs typeface="Times New Roman" panose="02020603050405020304" pitchFamily="18" charset="0"/>
                  </a:rPr>
                  <a:t>So, total </a:t>
                </a:r>
                <a:r>
                  <a:rPr lang="en-IN" sz="2600" dirty="0">
                    <a:solidFill>
                      <a:srgbClr val="00B0F0"/>
                    </a:solidFill>
                    <a:latin typeface="Arial Narrow" panose="020B0606020202030204" pitchFamily="34" charset="0"/>
                    <a:cs typeface="Times New Roman" panose="02020603050405020304" pitchFamily="18" charset="0"/>
                  </a:rPr>
                  <a:t>computational complexity </a:t>
                </a:r>
                <a:r>
                  <a:rPr lang="en-IN" sz="2600" dirty="0">
                    <a:latin typeface="Arial Narrow" panose="020B0606020202030204" pitchFamily="34" charset="0"/>
                    <a:cs typeface="Times New Roman" panose="02020603050405020304" pitchFamily="18" charset="0"/>
                  </a:rPr>
                  <a:t>for the training per sample = O(W) </a:t>
                </a:r>
              </a:p>
              <a:p>
                <a:pPr algn="just">
                  <a:lnSpc>
                    <a:spcPct val="120000"/>
                  </a:lnSpc>
                </a:pPr>
                <a:r>
                  <a:rPr lang="en-IN" sz="2600" dirty="0">
                    <a:latin typeface="Arial Narrow" panose="020B0606020202030204" pitchFamily="34" charset="0"/>
                    <a:cs typeface="Times New Roman" panose="02020603050405020304" pitchFamily="18" charset="0"/>
                  </a:rPr>
                  <a:t>For Batch size B, the training complexity is O(B.W).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324598"/>
                <a:ext cx="10515600" cy="5144568"/>
              </a:xfrm>
              <a:blipFill>
                <a:blip r:embed="rId2"/>
                <a:stretch>
                  <a:fillRect l="-406" t="-237" r="-464"/>
                </a:stretch>
              </a:blipFill>
            </p:spPr>
            <p:txBody>
              <a:bodyPr/>
              <a:lstStyle/>
              <a:p>
                <a:r>
                  <a:rPr lang="en-IN">
                    <a:noFill/>
                  </a:rPr>
                  <a:t> </a:t>
                </a:r>
              </a:p>
            </p:txBody>
          </p:sp>
        </mc:Fallback>
      </mc:AlternateContent>
    </p:spTree>
    <p:extLst>
      <p:ext uri="{BB962C8B-B14F-4D97-AF65-F5344CB8AC3E}">
        <p14:creationId xmlns:p14="http://schemas.microsoft.com/office/powerpoint/2010/main" val="4287040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833" y="117297"/>
            <a:ext cx="10515600" cy="1325563"/>
          </a:xfrm>
        </p:spPr>
        <p:txBody>
          <a:bodyPr/>
          <a:lstStyle/>
          <a:p>
            <a:r>
              <a:rPr lang="en-IN" sz="3600" dirty="0">
                <a:latin typeface="Century" panose="02040604050505020304" pitchFamily="18" charset="0"/>
              </a:rPr>
              <a:t>Backpropagation</a:t>
            </a:r>
            <a:br>
              <a:rPr lang="en-IN" dirty="0">
                <a:latin typeface="Century" panose="02040604050505020304" pitchFamily="18" charset="0"/>
              </a:rPr>
            </a:br>
            <a:r>
              <a:rPr lang="en-IN" sz="2800" dirty="0">
                <a:latin typeface="Century" panose="02040604050505020304" pitchFamily="18" charset="0"/>
              </a:rPr>
              <a:t>Space Complexity</a:t>
            </a:r>
          </a:p>
        </p:txBody>
      </p:sp>
      <p:sp>
        <p:nvSpPr>
          <p:cNvPr id="3" name="Content Placeholder 2"/>
          <p:cNvSpPr>
            <a:spLocks noGrp="1"/>
          </p:cNvSpPr>
          <p:nvPr>
            <p:ph idx="1"/>
          </p:nvPr>
        </p:nvSpPr>
        <p:spPr>
          <a:xfrm>
            <a:off x="727105" y="1468498"/>
            <a:ext cx="10558328" cy="4734103"/>
          </a:xfrm>
        </p:spPr>
        <p:txBody>
          <a:bodyPr>
            <a:normAutofit fontScale="92500" lnSpcReduction="10000"/>
          </a:bodyPr>
          <a:lstStyle/>
          <a:p>
            <a:r>
              <a:rPr lang="en-US" sz="2000" dirty="0">
                <a:latin typeface="Arial Narrow" panose="020B0606020202030204" pitchFamily="34" charset="0"/>
              </a:rPr>
              <a:t>The space complexity of backpropagation is determined by the memory required to store the model parameters, intermediate activations, and gradients during training.</a:t>
            </a:r>
          </a:p>
          <a:p>
            <a:pPr marL="0" indent="0">
              <a:buNone/>
            </a:pPr>
            <a:endParaRPr lang="en-US" sz="2000" b="1" dirty="0">
              <a:latin typeface="Arial Narrow" panose="020B0606020202030204" pitchFamily="34" charset="0"/>
            </a:endParaRPr>
          </a:p>
          <a:p>
            <a:r>
              <a:rPr lang="en-US" sz="2000" b="1" dirty="0">
                <a:latin typeface="Arial Narrow" panose="020B0606020202030204" pitchFamily="34" charset="0"/>
              </a:rPr>
              <a:t>Storing Model Parameters: </a:t>
            </a:r>
            <a:r>
              <a:rPr lang="en-US" sz="2000" dirty="0">
                <a:latin typeface="Arial Narrow" panose="020B0606020202030204" pitchFamily="34" charset="0"/>
              </a:rPr>
              <a:t>The weights and biases of the network are stored throughout training. If </a:t>
            </a:r>
            <a:r>
              <a:rPr lang="en-US" sz="2000" b="1" dirty="0">
                <a:latin typeface="Arial Narrow" panose="020B0606020202030204" pitchFamily="34" charset="0"/>
              </a:rPr>
              <a:t>W</a:t>
            </a:r>
            <a:r>
              <a:rPr lang="en-US" sz="2000" dirty="0">
                <a:latin typeface="Arial Narrow" panose="020B0606020202030204" pitchFamily="34" charset="0"/>
              </a:rPr>
              <a:t> is the total number of trainable parameters, the required memory is </a:t>
            </a:r>
            <a:r>
              <a:rPr lang="en-US" sz="2000" b="1" dirty="0">
                <a:latin typeface="Arial Narrow" panose="020B0606020202030204" pitchFamily="34" charset="0"/>
              </a:rPr>
              <a:t>O(W)</a:t>
            </a:r>
            <a:r>
              <a:rPr lang="en-US" sz="2000" dirty="0">
                <a:latin typeface="Arial Narrow" panose="020B0606020202030204" pitchFamily="34" charset="0"/>
              </a:rPr>
              <a:t>. </a:t>
            </a:r>
          </a:p>
          <a:p>
            <a:endParaRPr lang="en-US" sz="2000" b="1" dirty="0">
              <a:latin typeface="Arial Narrow" panose="020B0606020202030204" pitchFamily="34" charset="0"/>
            </a:endParaRPr>
          </a:p>
          <a:p>
            <a:r>
              <a:rPr lang="en-US" sz="2000" b="1" dirty="0">
                <a:latin typeface="Arial Narrow" panose="020B0606020202030204" pitchFamily="34" charset="0"/>
              </a:rPr>
              <a:t>Storing Intermediate Activations: </a:t>
            </a:r>
            <a:r>
              <a:rPr lang="en-US" sz="2000" dirty="0">
                <a:latin typeface="Arial Narrow" panose="020B0606020202030204" pitchFamily="34" charset="0"/>
              </a:rPr>
              <a:t>The output activations of each layer are cached during the forward pass for use in gradient computation during backpropagation. The memory required grows linearly with the number of layers and neurons. </a:t>
            </a:r>
          </a:p>
          <a:p>
            <a:endParaRPr lang="en-US" sz="2000" b="1" dirty="0">
              <a:latin typeface="Arial Narrow" panose="020B0606020202030204" pitchFamily="34" charset="0"/>
            </a:endParaRPr>
          </a:p>
          <a:p>
            <a:r>
              <a:rPr lang="en-US" sz="2000" b="1" dirty="0">
                <a:latin typeface="Arial Narrow" panose="020B0606020202030204" pitchFamily="34" charset="0"/>
              </a:rPr>
              <a:t>Storing Gradients: </a:t>
            </a:r>
            <a:r>
              <a:rPr lang="en-US" sz="2000" dirty="0">
                <a:latin typeface="Arial Narrow" panose="020B0606020202030204" pitchFamily="34" charset="0"/>
              </a:rPr>
              <a:t>Backpropagation stores the gradient corresponding to each trainable parameter. Since there is one gradient per weight and bias, the memory required is </a:t>
            </a:r>
            <a:r>
              <a:rPr lang="en-US" sz="2000" b="1" dirty="0">
                <a:latin typeface="Arial Narrow" panose="020B0606020202030204" pitchFamily="34" charset="0"/>
              </a:rPr>
              <a:t>O(W)</a:t>
            </a:r>
            <a:r>
              <a:rPr lang="en-US" sz="2000" dirty="0">
                <a:latin typeface="Arial Narrow" panose="020B0606020202030204" pitchFamily="34" charset="0"/>
              </a:rPr>
              <a:t>. </a:t>
            </a:r>
          </a:p>
          <a:p>
            <a:endParaRPr lang="en-US" sz="2000" b="1" dirty="0">
              <a:latin typeface="Arial Narrow" panose="020B0606020202030204" pitchFamily="34" charset="0"/>
            </a:endParaRPr>
          </a:p>
          <a:p>
            <a:r>
              <a:rPr lang="en-US" sz="2000" b="1" dirty="0">
                <a:latin typeface="Arial Narrow" panose="020B0606020202030204" pitchFamily="34" charset="0"/>
              </a:rPr>
              <a:t>Overall Space Complexity: </a:t>
            </a:r>
            <a:r>
              <a:rPr lang="en-US" sz="2000" dirty="0">
                <a:latin typeface="Arial Narrow" panose="020B0606020202030204" pitchFamily="34" charset="0"/>
              </a:rPr>
              <a:t>The overall space complexity is </a:t>
            </a:r>
            <a:r>
              <a:rPr lang="en-US" sz="2000" b="1" dirty="0">
                <a:latin typeface="Arial Narrow" panose="020B0606020202030204" pitchFamily="34" charset="0"/>
              </a:rPr>
              <a:t>O(W)</a:t>
            </a:r>
            <a:r>
              <a:rPr lang="en-US" sz="2000" dirty="0">
                <a:latin typeface="Arial Narrow" panose="020B0606020202030204" pitchFamily="34" charset="0"/>
              </a:rPr>
              <a:t>, with additional memory required for storing intermediate activations during training.</a:t>
            </a:r>
          </a:p>
        </p:txBody>
      </p:sp>
    </p:spTree>
    <p:extLst>
      <p:ext uri="{BB962C8B-B14F-4D97-AF65-F5344CB8AC3E}">
        <p14:creationId xmlns:p14="http://schemas.microsoft.com/office/powerpoint/2010/main" val="22059027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84666"/>
            <a:ext cx="8104465" cy="1174351"/>
          </a:xfrm>
        </p:spPr>
        <p:txBody>
          <a:bodyPr>
            <a:normAutofit fontScale="90000"/>
          </a:bodyPr>
          <a:lstStyle/>
          <a:p>
            <a:r>
              <a:rPr lang="en-IN" sz="4000" dirty="0">
                <a:latin typeface="Century" panose="02040604050505020304" pitchFamily="18" charset="0"/>
              </a:rPr>
              <a:t>Backpropagation</a:t>
            </a:r>
            <a:br>
              <a:rPr lang="en-IN" dirty="0">
                <a:latin typeface="Century" panose="02040604050505020304" pitchFamily="18" charset="0"/>
              </a:rPr>
            </a:br>
            <a:r>
              <a:rPr lang="en-IN" sz="2800" dirty="0">
                <a:latin typeface="Century" panose="02040604050505020304" pitchFamily="18" charset="0"/>
              </a:rPr>
              <a:t>Space Complexity (Optimization : </a:t>
            </a:r>
            <a:r>
              <a:rPr lang="en-IN" sz="2800" dirty="0" err="1">
                <a:latin typeface="Century" panose="02040604050505020304" pitchFamily="18" charset="0"/>
              </a:rPr>
              <a:t>Checkpointing</a:t>
            </a:r>
            <a:r>
              <a:rPr lang="en-IN" sz="2800" dirty="0">
                <a:latin typeface="Century" panose="02040604050505020304" pitchFamily="18" charset="0"/>
              </a:rPr>
              <a:t>)</a:t>
            </a:r>
          </a:p>
        </p:txBody>
      </p:sp>
      <p:sp>
        <p:nvSpPr>
          <p:cNvPr id="3" name="Content Placeholder 2"/>
          <p:cNvSpPr>
            <a:spLocks noGrp="1"/>
          </p:cNvSpPr>
          <p:nvPr>
            <p:ph idx="1"/>
          </p:nvPr>
        </p:nvSpPr>
        <p:spPr/>
        <p:txBody>
          <a:bodyPr>
            <a:normAutofit/>
          </a:bodyPr>
          <a:lstStyle/>
          <a:p>
            <a:pPr algn="just"/>
            <a:r>
              <a:rPr lang="en-US" sz="2000" b="1" dirty="0">
                <a:latin typeface="Arial Narrow" panose="020B0606020202030204" pitchFamily="34" charset="0"/>
              </a:rPr>
              <a:t>Standard implementation</a:t>
            </a:r>
            <a:r>
              <a:rPr lang="en-US" sz="2000" dirty="0">
                <a:latin typeface="Arial Narrow" panose="020B0606020202030204" pitchFamily="34" charset="0"/>
              </a:rPr>
              <a:t> requires </a:t>
            </a:r>
            <a:r>
              <a:rPr lang="en-US" sz="2000" b="1" dirty="0">
                <a:latin typeface="Arial Narrow" panose="020B0606020202030204" pitchFamily="34" charset="0"/>
              </a:rPr>
              <a:t>O(N)</a:t>
            </a:r>
            <a:r>
              <a:rPr lang="en-US" sz="2000" dirty="0">
                <a:latin typeface="Arial Narrow" panose="020B0606020202030204" pitchFamily="34" charset="0"/>
              </a:rPr>
              <a:t> space to store activations. </a:t>
            </a:r>
            <a:r>
              <a:rPr lang="en-US" sz="2000" b="1" dirty="0" err="1">
                <a:latin typeface="Arial Narrow" panose="020B0606020202030204" pitchFamily="34" charset="0"/>
              </a:rPr>
              <a:t>Checkpointing</a:t>
            </a:r>
            <a:r>
              <a:rPr lang="en-US" sz="2000" dirty="0">
                <a:latin typeface="Arial Narrow" panose="020B0606020202030204" pitchFamily="34" charset="0"/>
              </a:rPr>
              <a:t> (or selective re-computation) trades computation time for reduced memory usage.</a:t>
            </a:r>
          </a:p>
          <a:p>
            <a:endParaRPr lang="en-US" altLang="en-US" sz="2000" b="1" dirty="0">
              <a:latin typeface="Arial Narrow" panose="020B0606020202030204" pitchFamily="34" charset="0"/>
            </a:endParaRPr>
          </a:p>
          <a:p>
            <a:pPr algn="just" eaLnBrk="0" fontAlgn="base" hangingPunct="0">
              <a:lnSpc>
                <a:spcPct val="100000"/>
              </a:lnSpc>
              <a:spcBef>
                <a:spcPct val="0"/>
              </a:spcBef>
              <a:spcAft>
                <a:spcPct val="0"/>
              </a:spcAft>
            </a:pPr>
            <a:r>
              <a:rPr lang="en-US" altLang="en-US" sz="2000" b="1" dirty="0">
                <a:latin typeface="Arial Narrow" panose="020B0606020202030204" pitchFamily="34" charset="0"/>
              </a:rPr>
              <a:t>Standard approach (O(N) space):</a:t>
            </a:r>
            <a:r>
              <a:rPr lang="en-US" altLang="en-US" sz="2000" dirty="0">
                <a:latin typeface="Arial Narrow" panose="020B0606020202030204" pitchFamily="34" charset="0"/>
              </a:rPr>
              <a:t> Store all intermediate activations during the forward pass. Fast computation but high memory usage. </a:t>
            </a:r>
          </a:p>
          <a:p>
            <a:pPr algn="just" eaLnBrk="0" fontAlgn="base" hangingPunct="0">
              <a:lnSpc>
                <a:spcPct val="100000"/>
              </a:lnSpc>
              <a:spcBef>
                <a:spcPct val="0"/>
              </a:spcBef>
              <a:spcAft>
                <a:spcPct val="0"/>
              </a:spcAft>
            </a:pPr>
            <a:endParaRPr lang="en-US" altLang="en-US" sz="2000" b="1" dirty="0">
              <a:latin typeface="Arial Narrow" panose="020B0606020202030204" pitchFamily="34" charset="0"/>
            </a:endParaRPr>
          </a:p>
          <a:p>
            <a:pPr algn="just" eaLnBrk="0" fontAlgn="base" hangingPunct="0">
              <a:lnSpc>
                <a:spcPct val="100000"/>
              </a:lnSpc>
              <a:spcBef>
                <a:spcPct val="0"/>
              </a:spcBef>
              <a:spcAft>
                <a:spcPct val="0"/>
              </a:spcAft>
            </a:pPr>
            <a:r>
              <a:rPr lang="en-US" altLang="en-US" sz="2000" b="1" dirty="0">
                <a:latin typeface="Arial Narrow" panose="020B0606020202030204" pitchFamily="34" charset="0"/>
              </a:rPr>
              <a:t>Re-computation approach (O(1) space, O(N²) time):</a:t>
            </a:r>
            <a:r>
              <a:rPr lang="en-US" altLang="en-US" sz="2000" dirty="0">
                <a:latin typeface="Arial Narrow" panose="020B0606020202030204" pitchFamily="34" charset="0"/>
              </a:rPr>
              <a:t> </a:t>
            </a:r>
            <a:r>
              <a:rPr lang="en-US" altLang="en-US" sz="2000" dirty="0" err="1">
                <a:latin typeface="Arial Narrow" panose="020B0606020202030204" pitchFamily="34" charset="0"/>
              </a:rPr>
              <a:t>Recompute</a:t>
            </a:r>
            <a:r>
              <a:rPr lang="en-US" altLang="en-US" sz="2000" dirty="0">
                <a:latin typeface="Arial Narrow" panose="020B0606020202030204" pitchFamily="34" charset="0"/>
              </a:rPr>
              <a:t> activations during the backward pass instead of storing them. Minimizes memory usage but increases computation time. </a:t>
            </a:r>
          </a:p>
          <a:p>
            <a:pPr algn="just" eaLnBrk="0" fontAlgn="base" hangingPunct="0">
              <a:lnSpc>
                <a:spcPct val="100000"/>
              </a:lnSpc>
              <a:spcBef>
                <a:spcPct val="0"/>
              </a:spcBef>
              <a:spcAft>
                <a:spcPct val="0"/>
              </a:spcAft>
            </a:pPr>
            <a:endParaRPr lang="en-US" altLang="en-US" sz="2000" b="1" dirty="0">
              <a:latin typeface="Arial Narrow" panose="020B0606020202030204" pitchFamily="34" charset="0"/>
            </a:endParaRPr>
          </a:p>
          <a:p>
            <a:pPr algn="just" eaLnBrk="0" fontAlgn="base" hangingPunct="0">
              <a:lnSpc>
                <a:spcPct val="100000"/>
              </a:lnSpc>
              <a:spcBef>
                <a:spcPct val="0"/>
              </a:spcBef>
              <a:spcAft>
                <a:spcPct val="0"/>
              </a:spcAft>
            </a:pPr>
            <a:r>
              <a:rPr lang="en-US" altLang="en-US" sz="2000" b="1" dirty="0" err="1">
                <a:latin typeface="Arial Narrow" panose="020B0606020202030204" pitchFamily="34" charset="0"/>
              </a:rPr>
              <a:t>Checkpointing</a:t>
            </a:r>
            <a:r>
              <a:rPr lang="en-US" altLang="en-US" sz="2000" b="1" dirty="0">
                <a:latin typeface="Arial Narrow" panose="020B0606020202030204" pitchFamily="34" charset="0"/>
              </a:rPr>
              <a:t>:</a:t>
            </a:r>
            <a:r>
              <a:rPr lang="en-US" altLang="en-US" sz="2000" dirty="0">
                <a:latin typeface="Arial Narrow" panose="020B0606020202030204" pitchFamily="34" charset="0"/>
              </a:rPr>
              <a:t> Store only selected activations and </a:t>
            </a:r>
            <a:r>
              <a:rPr lang="en-US" altLang="en-US" sz="2000" dirty="0" err="1">
                <a:latin typeface="Arial Narrow" panose="020B0606020202030204" pitchFamily="34" charset="0"/>
              </a:rPr>
              <a:t>recompute</a:t>
            </a:r>
            <a:r>
              <a:rPr lang="en-US" altLang="en-US" sz="2000" dirty="0">
                <a:latin typeface="Arial Narrow" panose="020B0606020202030204" pitchFamily="34" charset="0"/>
              </a:rPr>
              <a:t> the rest as needed. Balances memory and computation, with space complexity between </a:t>
            </a:r>
            <a:r>
              <a:rPr lang="en-US" altLang="en-US" sz="2000" b="1" dirty="0">
                <a:latin typeface="Arial Narrow" panose="020B0606020202030204" pitchFamily="34" charset="0"/>
              </a:rPr>
              <a:t>O(1)</a:t>
            </a:r>
            <a:r>
              <a:rPr lang="en-US" altLang="en-US" sz="2000" dirty="0">
                <a:latin typeface="Arial Narrow" panose="020B0606020202030204" pitchFamily="34" charset="0"/>
              </a:rPr>
              <a:t> and </a:t>
            </a:r>
            <a:r>
              <a:rPr lang="en-US" altLang="en-US" sz="2000" b="1" dirty="0">
                <a:latin typeface="Arial Narrow" panose="020B0606020202030204" pitchFamily="34" charset="0"/>
              </a:rPr>
              <a:t>O(N)</a:t>
            </a:r>
            <a:r>
              <a:rPr lang="en-US" altLang="en-US" sz="2000" dirty="0">
                <a:latin typeface="Arial Narrow" panose="020B0606020202030204" pitchFamily="34" charset="0"/>
              </a:rPr>
              <a:t>. </a:t>
            </a:r>
          </a:p>
        </p:txBody>
      </p:sp>
      <p:sp>
        <p:nvSpPr>
          <p:cNvPr id="4"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8561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77B3-BB0C-E8EF-D796-A0B6C8D4107F}"/>
              </a:ext>
            </a:extLst>
          </p:cNvPr>
          <p:cNvSpPr>
            <a:spLocks noGrp="1"/>
          </p:cNvSpPr>
          <p:nvPr>
            <p:ph type="title"/>
          </p:nvPr>
        </p:nvSpPr>
        <p:spPr>
          <a:xfrm>
            <a:off x="838200" y="184455"/>
            <a:ext cx="10515600" cy="1325563"/>
          </a:xfrm>
        </p:spPr>
        <p:txBody>
          <a:bodyPr>
            <a:normAutofit/>
          </a:bodyPr>
          <a:lstStyle/>
          <a:p>
            <a:r>
              <a:rPr lang="en-US" dirty="0">
                <a:latin typeface="Century" panose="02040604050505020304" pitchFamily="18" charset="0"/>
                <a:ea typeface="Calibri Light"/>
                <a:cs typeface="Calibri Light"/>
              </a:rPr>
              <a:t>Summary</a:t>
            </a:r>
          </a:p>
        </p:txBody>
      </p:sp>
      <p:sp>
        <p:nvSpPr>
          <p:cNvPr id="3" name="Content Placeholder 2">
            <a:extLst>
              <a:ext uri="{FF2B5EF4-FFF2-40B4-BE49-F238E27FC236}">
                <a16:creationId xmlns:a16="http://schemas.microsoft.com/office/drawing/2014/main" id="{79001286-9349-A4FD-CF1F-79D5D7F990F7}"/>
              </a:ext>
            </a:extLst>
          </p:cNvPr>
          <p:cNvSpPr>
            <a:spLocks noGrp="1"/>
          </p:cNvSpPr>
          <p:nvPr>
            <p:ph idx="1"/>
          </p:nvPr>
        </p:nvSpPr>
        <p:spPr>
          <a:xfrm>
            <a:off x="838200" y="1510018"/>
            <a:ext cx="10515600" cy="4857226"/>
          </a:xfrm>
        </p:spPr>
        <p:txBody>
          <a:bodyPr vert="horz" lIns="91440" tIns="45720" rIns="91440" bIns="45720" rtlCol="0" anchor="t">
            <a:normAutofit fontScale="92500"/>
          </a:bodyPr>
          <a:lstStyle/>
          <a:p>
            <a:pPr marL="457200" indent="-457200">
              <a:lnSpc>
                <a:spcPct val="150000"/>
              </a:lnSpc>
            </a:pPr>
            <a:r>
              <a:rPr lang="en-US" sz="2400" dirty="0">
                <a:latin typeface="Arial Narrow" panose="020B0606020202030204" pitchFamily="34" charset="0"/>
                <a:cs typeface="Times New Roman" panose="02020603050405020304" pitchFamily="18" charset="0"/>
              </a:rPr>
              <a:t>Feed Forward Neural Network</a:t>
            </a:r>
          </a:p>
          <a:p>
            <a:pPr marL="457200" indent="-457200">
              <a:lnSpc>
                <a:spcPct val="150000"/>
              </a:lnSpc>
            </a:pPr>
            <a:r>
              <a:rPr lang="en-US" sz="2400" dirty="0">
                <a:latin typeface="Arial Narrow" panose="020B0606020202030204" pitchFamily="34" charset="0"/>
                <a:cs typeface="Times New Roman" panose="02020603050405020304" pitchFamily="18" charset="0"/>
              </a:rPr>
              <a:t>Notations</a:t>
            </a:r>
          </a:p>
          <a:p>
            <a:pPr marL="457200" indent="-457200">
              <a:lnSpc>
                <a:spcPct val="150000"/>
              </a:lnSpc>
            </a:pPr>
            <a:r>
              <a:rPr lang="en-US" sz="2400" dirty="0">
                <a:latin typeface="Arial Narrow" panose="020B0606020202030204" pitchFamily="34" charset="0"/>
                <a:cs typeface="Times New Roman" panose="02020603050405020304" pitchFamily="18" charset="0"/>
              </a:rPr>
              <a:t>Training of the Neural Network</a:t>
            </a:r>
          </a:p>
          <a:p>
            <a:pPr marL="914400" lvl="1" indent="-457200">
              <a:lnSpc>
                <a:spcPct val="150000"/>
              </a:lnSpc>
            </a:pPr>
            <a:r>
              <a:rPr lang="en-US" dirty="0">
                <a:latin typeface="Arial Narrow" panose="020B0606020202030204" pitchFamily="34" charset="0"/>
                <a:cs typeface="Times New Roman" panose="02020603050405020304" pitchFamily="18" charset="0"/>
              </a:rPr>
              <a:t>Forward Pass</a:t>
            </a:r>
          </a:p>
          <a:p>
            <a:pPr marL="914400" lvl="1" indent="-457200">
              <a:lnSpc>
                <a:spcPct val="150000"/>
              </a:lnSpc>
            </a:pPr>
            <a:r>
              <a:rPr lang="en-US" dirty="0">
                <a:latin typeface="Arial Narrow" panose="020B0606020202030204" pitchFamily="34" charset="0"/>
                <a:cs typeface="Times New Roman" panose="02020603050405020304" pitchFamily="18" charset="0"/>
              </a:rPr>
              <a:t>Backward Pass (Backpropagation)</a:t>
            </a:r>
          </a:p>
          <a:p>
            <a:pPr marL="457200" indent="-457200">
              <a:lnSpc>
                <a:spcPct val="150000"/>
              </a:lnSpc>
            </a:pPr>
            <a:r>
              <a:rPr lang="en-US" sz="2400" dirty="0">
                <a:latin typeface="Arial Narrow" panose="020B0606020202030204" pitchFamily="34" charset="0"/>
                <a:cs typeface="Times New Roman" panose="02020603050405020304" pitchFamily="18" charset="0"/>
              </a:rPr>
              <a:t>Training of the Neural Network: 4 Layers Neural Network</a:t>
            </a:r>
          </a:p>
          <a:p>
            <a:pPr marL="457200" indent="-457200">
              <a:lnSpc>
                <a:spcPct val="150000"/>
              </a:lnSpc>
            </a:pPr>
            <a:r>
              <a:rPr lang="en-US" sz="2400" dirty="0">
                <a:latin typeface="Arial Narrow" panose="020B0606020202030204" pitchFamily="34" charset="0"/>
                <a:cs typeface="Times New Roman" panose="02020603050405020304" pitchFamily="18" charset="0"/>
              </a:rPr>
              <a:t>Computational Complexity of the Training</a:t>
            </a:r>
          </a:p>
          <a:p>
            <a:pPr marL="457200" indent="-457200">
              <a:lnSpc>
                <a:spcPct val="150000"/>
              </a:lnSpc>
            </a:pPr>
            <a:r>
              <a:rPr lang="en-US" sz="2400" dirty="0">
                <a:latin typeface="Arial Narrow" panose="020B0606020202030204" pitchFamily="34" charset="0"/>
                <a:cs typeface="Times New Roman" panose="02020603050405020304" pitchFamily="18" charset="0"/>
              </a:rPr>
              <a:t>Space Complexity</a:t>
            </a:r>
            <a:endParaRPr lang="en-IN" sz="24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2347502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543688"/>
            <a:ext cx="9144000" cy="2387600"/>
          </a:xfrm>
        </p:spPr>
        <p:txBody>
          <a:bodyPr>
            <a:normAutofit/>
          </a:bodyPr>
          <a:lstStyle/>
          <a:p>
            <a:r>
              <a:rPr lang="en-IN" sz="4000" dirty="0">
                <a:solidFill>
                  <a:srgbClr val="002060"/>
                </a:solidFill>
                <a:latin typeface="Arial Narrow" panose="020B0606020202030204" pitchFamily="34" charset="0"/>
              </a:rPr>
              <a:t>Optimizing Supervised Model</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Next</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Lecture 3: Part 4</a:t>
            </a:r>
          </a:p>
        </p:txBody>
      </p:sp>
    </p:spTree>
    <p:extLst>
      <p:ext uri="{BB962C8B-B14F-4D97-AF65-F5344CB8AC3E}">
        <p14:creationId xmlns:p14="http://schemas.microsoft.com/office/powerpoint/2010/main" val="757281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597</TotalTime>
  <Words>2299</Words>
  <Application>Microsoft Office PowerPoint</Application>
  <PresentationFormat>Widescreen</PresentationFormat>
  <Paragraphs>462</Paragraphs>
  <Slides>22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Arial Narrow</vt:lpstr>
      <vt:lpstr>Book Antiqua</vt:lpstr>
      <vt:lpstr>Calibri</vt:lpstr>
      <vt:lpstr>Calibri Light</vt:lpstr>
      <vt:lpstr>Cambria</vt:lpstr>
      <vt:lpstr>Cambria Math</vt:lpstr>
      <vt:lpstr>Century</vt:lpstr>
      <vt:lpstr>Times New Roman</vt:lpstr>
      <vt:lpstr>Office Theme</vt:lpstr>
      <vt:lpstr>Neural Network Fundamentals Backpropagation </vt:lpstr>
      <vt:lpstr>Content</vt:lpstr>
      <vt:lpstr>Feed Forward Neural Network</vt:lpstr>
      <vt:lpstr>Feed forward Neural Network (Notations)</vt:lpstr>
      <vt:lpstr>Training of The Neural Network</vt:lpstr>
      <vt:lpstr>Training of The Neural Network</vt:lpstr>
      <vt:lpstr>Computation of the MLP Output</vt:lpstr>
      <vt:lpstr>Forward Pass</vt:lpstr>
      <vt:lpstr>Forward Pass</vt:lpstr>
      <vt:lpstr>Forward Pass</vt:lpstr>
      <vt:lpstr>Backward Pass : Backpropagation</vt:lpstr>
      <vt:lpstr>Backpropagation : Algorithm</vt:lpstr>
      <vt:lpstr>PowerPoint Presentation</vt:lpstr>
      <vt:lpstr>Backpropagation : Algorithm </vt:lpstr>
      <vt:lpstr>Backpropagation : Algorithm </vt:lpstr>
      <vt:lpstr>Backpropagation : Algorithm </vt:lpstr>
      <vt:lpstr>Example of Backpropagation</vt:lpstr>
      <vt:lpstr>Backpropagation Computational complexity</vt:lpstr>
      <vt:lpstr>Backpropagation Space Complexity</vt:lpstr>
      <vt:lpstr>Backpropagation Space Complexity (Optimization : Checkpointing)</vt:lpstr>
      <vt:lpstr>Summary</vt:lpstr>
      <vt:lpstr>Optimizing Supervised Model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 Fundamentals Backpropagation </dc:title>
  <dc:creator>IITG</dc:creator>
  <cp:lastModifiedBy>HP</cp:lastModifiedBy>
  <cp:revision>20</cp:revision>
  <dcterms:created xsi:type="dcterms:W3CDTF">2026-07-07T08:57:48Z</dcterms:created>
  <dcterms:modified xsi:type="dcterms:W3CDTF">2026-07-10T17:18:52Z</dcterms:modified>
</cp:coreProperties>
</file>