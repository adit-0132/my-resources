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7" r:id="rId2"/>
    <p:sldId id="258" r:id="rId3"/>
    <p:sldId id="294" r:id="rId4"/>
    <p:sldId id="295" r:id="rId5"/>
    <p:sldId id="297" r:id="rId6"/>
    <p:sldId id="298" r:id="rId7"/>
    <p:sldId id="307" r:id="rId8"/>
    <p:sldId id="308" r:id="rId9"/>
    <p:sldId id="309" r:id="rId10"/>
    <p:sldId id="310" r:id="rId11"/>
    <p:sldId id="302" r:id="rId12"/>
    <p:sldId id="303" r:id="rId13"/>
    <p:sldId id="304" r:id="rId14"/>
    <p:sldId id="305" r:id="rId15"/>
    <p:sldId id="306" r:id="rId16"/>
    <p:sldId id="286" r:id="rId17"/>
    <p:sldId id="267" r:id="rId18"/>
    <p:sldId id="299" r:id="rId19"/>
    <p:sldId id="300" r:id="rId20"/>
    <p:sldId id="301" r:id="rId21"/>
    <p:sldId id="288" r:id="rId22"/>
    <p:sldId id="289" r:id="rId23"/>
    <p:sldId id="290" r:id="rId24"/>
    <p:sldId id="291" r:id="rId25"/>
    <p:sldId id="292" r:id="rId26"/>
    <p:sldId id="29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1146A-2471-40E6-A12C-C44AA2FF6D9A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49EDE-5211-438D-BB0D-D309D8B46B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511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D5D21-1FC0-4340-AABE-3506A642F39E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38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D5D21-1FC0-4340-AABE-3506A642F39E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100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CE908-0FE4-4169-BB39-E9AC5541B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50572-E740-4F0E-8A2A-425764DC0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E271A-6B98-4C6F-A243-60B72CD7C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2F226-1E13-4DA9-88EF-7CB88443A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4EE5-9EE2-4DA2-BC07-3E91EEB5F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2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3D0E8-1A95-4709-8D36-86AFDE2D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FE83E-D868-46B6-8E97-9E7D7AC8B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A6BB5-9D93-4373-89B2-D07B743E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5C57C-9608-414D-8937-BDED25A22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93DE3-8F18-4C74-8CE2-5E2AB5C9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01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D83F-5AAA-4CE1-8523-28D7F1AF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08937-2599-4509-AC6E-2E67E7F82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E7B67-2ACC-4F3E-B675-B9F31B1BC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49C3A-437B-4ADE-BF0A-B090B616B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6EF75-A5C3-47B1-9D82-38A1B50D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17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D559F-DD00-4FE6-9556-9F59DA9E6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208B8-0DEC-40B1-98F3-06FA431D9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D95F6-0755-4BCB-B89C-3E84BE2BF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4E369-DE0C-4A95-B457-A3628D55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82910-3444-4BAA-8AD0-6922B485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D2BF1-65A9-488E-952D-E34E1F52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51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51E6-61F6-494E-BCB5-EEEF5B4B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39A88-F482-4613-87F7-EC7369DFA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8E7D6-29C7-4AC3-B575-2268D0608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532BAD-2C65-4C2A-B6D6-A89834AF0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DF0008-675F-4483-BBB8-DE8518189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9F79EC-1C38-4A81-A019-35B5A958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6D936E-3CFE-4302-8D77-2D55E3ED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CEAB49-1A33-4E0F-B2FD-B2BBF327E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65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B355-0EDE-4F3C-8D13-24738977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7A7EC-B4BD-4B4D-A3D7-B24F90A1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3FD1D-B61E-4F27-82E5-15EA3BA9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411C8-7DE4-4413-9A10-7DDBAFDD2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90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A58B5-3348-4280-B2D4-D9317F89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E6B65D-1CF3-4938-A123-36373C767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DE492-D2F7-4201-8FF2-6B59EC59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972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C900-2525-42BC-832D-43157C13A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E026A-4A49-42EA-A613-498BD9F32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8D068-41BF-473F-832B-DB0B63B12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34C12-3CD8-45EB-8CAB-38245B43A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63B8F-9056-4D12-917D-484D1AA33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AFEFA-3E3B-4838-8BFD-2F6E79D8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61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4A95F-1BBD-49DD-82B4-6CB92143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072EF7-819C-451A-8542-E468A3895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DA06D-414C-4F89-B9E9-EBF3FB5D7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7C82E-3606-4FF5-A641-0CB88976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8B4C9-29A7-41C3-A4D6-2C304A06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4345E-A81B-4DBE-9ED6-7193E639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53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CA44-2786-4157-8B9E-33455C53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F0A03-8BD6-49B7-8134-04A6BA846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45BBA-EE1C-40E2-8024-5D39EAE0A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8992A-75D6-4A26-9BD9-F73DAC7C0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FD8A5-6E08-44EB-8A86-53008241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232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01B1B-0A73-4007-9BBF-89B3B7CCE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2EE6B-8793-4912-980C-C2E615238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5D765-7D4C-4DA2-A620-E83269C0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6926D-3E5A-4D30-BDA3-02E0D3DF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D0636-E234-474E-B1A0-02726DDC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939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CEB7B-FF36-4DD5-8B06-32EAB548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D5C5F-D170-4A6C-A2A5-71A41EC82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799B3-3880-4505-BCE1-8C9590D80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448D1-D393-49C3-A679-A1BB6D92881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7D006-9260-4822-BC09-2737839F8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D4F88-90FE-42E6-95B0-B322D540A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E2134-AAF6-49BB-99CA-A6CFC1D255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07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image" Target="../media/image76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18" Type="http://schemas.openxmlformats.org/officeDocument/2006/relationships/image" Target="../media/image97.png"/><Relationship Id="rId26" Type="http://schemas.openxmlformats.org/officeDocument/2006/relationships/image" Target="../media/image105.png"/><Relationship Id="rId39" Type="http://schemas.openxmlformats.org/officeDocument/2006/relationships/image" Target="../media/image118.png"/><Relationship Id="rId3" Type="http://schemas.openxmlformats.org/officeDocument/2006/relationships/image" Target="../media/image77.png"/><Relationship Id="rId21" Type="http://schemas.openxmlformats.org/officeDocument/2006/relationships/image" Target="../media/image100.png"/><Relationship Id="rId34" Type="http://schemas.openxmlformats.org/officeDocument/2006/relationships/image" Target="../media/image113.png"/><Relationship Id="rId12" Type="http://schemas.openxmlformats.org/officeDocument/2006/relationships/image" Target="../media/image86.pn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38" Type="http://schemas.openxmlformats.org/officeDocument/2006/relationships/image" Target="../media/image117.png"/><Relationship Id="rId2" Type="http://schemas.openxmlformats.org/officeDocument/2006/relationships/image" Target="../media/image93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108.png"/><Relationship Id="rId41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5.png"/><Relationship Id="rId24" Type="http://schemas.openxmlformats.org/officeDocument/2006/relationships/image" Target="../media/image103.png"/><Relationship Id="rId32" Type="http://schemas.openxmlformats.org/officeDocument/2006/relationships/image" Target="../media/image111.png"/><Relationship Id="rId37" Type="http://schemas.openxmlformats.org/officeDocument/2006/relationships/image" Target="../media/image116.png"/><Relationship Id="rId40" Type="http://schemas.openxmlformats.org/officeDocument/2006/relationships/image" Target="../media/image119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36" Type="http://schemas.openxmlformats.org/officeDocument/2006/relationships/image" Target="../media/image115.pn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14" Type="http://schemas.openxmlformats.org/officeDocument/2006/relationships/image" Target="../media/image88.png"/><Relationship Id="rId9" Type="http://schemas.openxmlformats.org/officeDocument/2006/relationships/image" Target="../media/image83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Relationship Id="rId30" Type="http://schemas.openxmlformats.org/officeDocument/2006/relationships/image" Target="../media/image109.png"/><Relationship Id="rId35" Type="http://schemas.openxmlformats.org/officeDocument/2006/relationships/image" Target="../media/image114.png"/><Relationship Id="rId8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8" Type="http://schemas.openxmlformats.org/officeDocument/2006/relationships/image" Target="../media/image82.png"/><Relationship Id="rId18" Type="http://schemas.openxmlformats.org/officeDocument/2006/relationships/image" Target="../media/image97.png"/><Relationship Id="rId26" Type="http://schemas.openxmlformats.org/officeDocument/2006/relationships/image" Target="../media/image126.png"/><Relationship Id="rId3" Type="http://schemas.openxmlformats.org/officeDocument/2006/relationships/image" Target="../media/image77.png"/><Relationship Id="rId21" Type="http://schemas.openxmlformats.org/officeDocument/2006/relationships/image" Target="../media/image100.png"/><Relationship Id="rId34" Type="http://schemas.openxmlformats.org/officeDocument/2006/relationships/image" Target="../media/image134.png"/><Relationship Id="rId12" Type="http://schemas.openxmlformats.org/officeDocument/2006/relationships/image" Target="../media/image86.png"/><Relationship Id="rId17" Type="http://schemas.openxmlformats.org/officeDocument/2006/relationships/image" Target="../media/image122.png"/><Relationship Id="rId25" Type="http://schemas.openxmlformats.org/officeDocument/2006/relationships/image" Target="../media/image125.png"/><Relationship Id="rId33" Type="http://schemas.openxmlformats.org/officeDocument/2006/relationships/image" Target="../media/image133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5.png"/><Relationship Id="rId24" Type="http://schemas.openxmlformats.org/officeDocument/2006/relationships/image" Target="../media/image124.png"/><Relationship Id="rId32" Type="http://schemas.openxmlformats.org/officeDocument/2006/relationships/image" Target="../media/image132.png"/><Relationship Id="rId15" Type="http://schemas.openxmlformats.org/officeDocument/2006/relationships/image" Target="../media/image121.png"/><Relationship Id="rId23" Type="http://schemas.openxmlformats.org/officeDocument/2006/relationships/image" Target="../media/image108.png"/><Relationship Id="rId28" Type="http://schemas.openxmlformats.org/officeDocument/2006/relationships/image" Target="../media/image128.png"/><Relationship Id="rId19" Type="http://schemas.openxmlformats.org/officeDocument/2006/relationships/image" Target="../media/image98.png"/><Relationship Id="rId31" Type="http://schemas.openxmlformats.org/officeDocument/2006/relationships/image" Target="../media/image131.png"/><Relationship Id="rId14" Type="http://schemas.openxmlformats.org/officeDocument/2006/relationships/image" Target="../media/image88.png"/><Relationship Id="rId9" Type="http://schemas.openxmlformats.org/officeDocument/2006/relationships/image" Target="../media/image83.png"/><Relationship Id="rId22" Type="http://schemas.openxmlformats.org/officeDocument/2006/relationships/image" Target="../media/image123.pn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Relationship Id="rId35" Type="http://schemas.openxmlformats.org/officeDocument/2006/relationships/image" Target="../media/image135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png"/><Relationship Id="rId18" Type="http://schemas.openxmlformats.org/officeDocument/2006/relationships/image" Target="../media/image96.png"/><Relationship Id="rId26" Type="http://schemas.openxmlformats.org/officeDocument/2006/relationships/image" Target="../media/image108.png"/><Relationship Id="rId3" Type="http://schemas.openxmlformats.org/officeDocument/2006/relationships/image" Target="../media/image137.png"/><Relationship Id="rId21" Type="http://schemas.openxmlformats.org/officeDocument/2006/relationships/image" Target="../media/image99.png"/><Relationship Id="rId34" Type="http://schemas.openxmlformats.org/officeDocument/2006/relationships/image" Target="../media/image143.png"/><Relationship Id="rId12" Type="http://schemas.openxmlformats.org/officeDocument/2006/relationships/image" Target="../media/image77.pn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33" Type="http://schemas.openxmlformats.org/officeDocument/2006/relationships/image" Target="../media/image142.png"/><Relationship Id="rId38" Type="http://schemas.openxmlformats.org/officeDocument/2006/relationships/image" Target="../media/image147.png"/><Relationship Id="rId2" Type="http://schemas.openxmlformats.org/officeDocument/2006/relationships/image" Target="../media/image136.png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29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5.png"/><Relationship Id="rId24" Type="http://schemas.openxmlformats.org/officeDocument/2006/relationships/image" Target="../media/image102.png"/><Relationship Id="rId32" Type="http://schemas.openxmlformats.org/officeDocument/2006/relationships/image" Target="../media/image128.png"/><Relationship Id="rId37" Type="http://schemas.openxmlformats.org/officeDocument/2006/relationships/image" Target="../media/image146.png"/><Relationship Id="rId15" Type="http://schemas.openxmlformats.org/officeDocument/2006/relationships/image" Target="../media/image88.png"/><Relationship Id="rId23" Type="http://schemas.openxmlformats.org/officeDocument/2006/relationships/image" Target="../media/image101.png"/><Relationship Id="rId28" Type="http://schemas.openxmlformats.org/officeDocument/2006/relationships/image" Target="../media/image138.png"/><Relationship Id="rId36" Type="http://schemas.openxmlformats.org/officeDocument/2006/relationships/image" Target="../media/image145.png"/><Relationship Id="rId19" Type="http://schemas.openxmlformats.org/officeDocument/2006/relationships/image" Target="../media/image97.png"/><Relationship Id="rId31" Type="http://schemas.openxmlformats.org/officeDocument/2006/relationships/image" Target="../media/image141.png"/><Relationship Id="rId14" Type="http://schemas.openxmlformats.org/officeDocument/2006/relationships/image" Target="../media/image87.png"/><Relationship Id="rId9" Type="http://schemas.openxmlformats.org/officeDocument/2006/relationships/image" Target="../media/image83.png"/><Relationship Id="rId22" Type="http://schemas.openxmlformats.org/officeDocument/2006/relationships/image" Target="../media/image100.png"/><Relationship Id="rId27" Type="http://schemas.openxmlformats.org/officeDocument/2006/relationships/image" Target="../media/image124.png"/><Relationship Id="rId30" Type="http://schemas.openxmlformats.org/officeDocument/2006/relationships/image" Target="../media/image140.png"/><Relationship Id="rId35" Type="http://schemas.openxmlformats.org/officeDocument/2006/relationships/image" Target="../media/image144.png"/><Relationship Id="rId8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18" Type="http://schemas.openxmlformats.org/officeDocument/2006/relationships/image" Target="../media/image97.png"/><Relationship Id="rId26" Type="http://schemas.openxmlformats.org/officeDocument/2006/relationships/image" Target="../media/image107.png"/><Relationship Id="rId39" Type="http://schemas.openxmlformats.org/officeDocument/2006/relationships/image" Target="../media/image160.png"/><Relationship Id="rId3" Type="http://schemas.openxmlformats.org/officeDocument/2006/relationships/image" Target="../media/image77.png"/><Relationship Id="rId21" Type="http://schemas.openxmlformats.org/officeDocument/2006/relationships/image" Target="../media/image100.png"/><Relationship Id="rId34" Type="http://schemas.openxmlformats.org/officeDocument/2006/relationships/image" Target="../media/image155.png"/><Relationship Id="rId12" Type="http://schemas.openxmlformats.org/officeDocument/2006/relationships/image" Target="../media/image86.pn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54.png"/><Relationship Id="rId38" Type="http://schemas.openxmlformats.org/officeDocument/2006/relationships/image" Target="../media/image159.png"/><Relationship Id="rId2" Type="http://schemas.openxmlformats.org/officeDocument/2006/relationships/image" Target="../media/image148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5.png"/><Relationship Id="rId24" Type="http://schemas.openxmlformats.org/officeDocument/2006/relationships/image" Target="../media/image103.png"/><Relationship Id="rId32" Type="http://schemas.openxmlformats.org/officeDocument/2006/relationships/image" Target="../media/image153.png"/><Relationship Id="rId37" Type="http://schemas.openxmlformats.org/officeDocument/2006/relationships/image" Target="../media/image158.png"/><Relationship Id="rId40" Type="http://schemas.openxmlformats.org/officeDocument/2006/relationships/image" Target="../media/image161.png"/><Relationship Id="rId15" Type="http://schemas.openxmlformats.org/officeDocument/2006/relationships/image" Target="../media/image121.png"/><Relationship Id="rId23" Type="http://schemas.openxmlformats.org/officeDocument/2006/relationships/image" Target="../media/image102.png"/><Relationship Id="rId28" Type="http://schemas.openxmlformats.org/officeDocument/2006/relationships/image" Target="../media/image149.png"/><Relationship Id="rId36" Type="http://schemas.openxmlformats.org/officeDocument/2006/relationships/image" Target="../media/image157.png"/><Relationship Id="rId19" Type="http://schemas.openxmlformats.org/officeDocument/2006/relationships/image" Target="../media/image98.png"/><Relationship Id="rId31" Type="http://schemas.openxmlformats.org/officeDocument/2006/relationships/image" Target="../media/image152.png"/><Relationship Id="rId14" Type="http://schemas.openxmlformats.org/officeDocument/2006/relationships/image" Target="../media/image88.png"/><Relationship Id="rId9" Type="http://schemas.openxmlformats.org/officeDocument/2006/relationships/image" Target="../media/image83.png"/><Relationship Id="rId22" Type="http://schemas.openxmlformats.org/officeDocument/2006/relationships/image" Target="../media/image101.png"/><Relationship Id="rId27" Type="http://schemas.openxmlformats.org/officeDocument/2006/relationships/image" Target="../media/image108.png"/><Relationship Id="rId30" Type="http://schemas.openxmlformats.org/officeDocument/2006/relationships/image" Target="../media/image151.png"/><Relationship Id="rId35" Type="http://schemas.openxmlformats.org/officeDocument/2006/relationships/image" Target="../media/image156.png"/><Relationship Id="rId8" Type="http://schemas.openxmlformats.org/officeDocument/2006/relationships/image" Target="../media/image82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18" Type="http://schemas.openxmlformats.org/officeDocument/2006/relationships/image" Target="../media/image97.png"/><Relationship Id="rId26" Type="http://schemas.openxmlformats.org/officeDocument/2006/relationships/image" Target="../media/image105.png"/><Relationship Id="rId39" Type="http://schemas.openxmlformats.org/officeDocument/2006/relationships/image" Target="../media/image118.png"/><Relationship Id="rId21" Type="http://schemas.openxmlformats.org/officeDocument/2006/relationships/image" Target="../media/image100.png"/><Relationship Id="rId34" Type="http://schemas.openxmlformats.org/officeDocument/2006/relationships/image" Target="../media/image113.png"/><Relationship Id="rId42" Type="http://schemas.openxmlformats.org/officeDocument/2006/relationships/image" Target="../media/image166.png"/><Relationship Id="rId12" Type="http://schemas.openxmlformats.org/officeDocument/2006/relationships/image" Target="../media/image86.pn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38" Type="http://schemas.openxmlformats.org/officeDocument/2006/relationships/image" Target="../media/image164.png"/><Relationship Id="rId2" Type="http://schemas.openxmlformats.org/officeDocument/2006/relationships/image" Target="../media/image162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108.png"/><Relationship Id="rId41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5.png"/><Relationship Id="rId24" Type="http://schemas.openxmlformats.org/officeDocument/2006/relationships/image" Target="../media/image103.png"/><Relationship Id="rId32" Type="http://schemas.openxmlformats.org/officeDocument/2006/relationships/image" Target="../media/image111.png"/><Relationship Id="rId37" Type="http://schemas.openxmlformats.org/officeDocument/2006/relationships/image" Target="../media/image116.png"/><Relationship Id="rId40" Type="http://schemas.openxmlformats.org/officeDocument/2006/relationships/image" Target="../media/image165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36" Type="http://schemas.openxmlformats.org/officeDocument/2006/relationships/image" Target="../media/image163.pn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44" Type="http://schemas.openxmlformats.org/officeDocument/2006/relationships/image" Target="../media/image168.png"/><Relationship Id="rId14" Type="http://schemas.openxmlformats.org/officeDocument/2006/relationships/image" Target="../media/image88.png"/><Relationship Id="rId9" Type="http://schemas.openxmlformats.org/officeDocument/2006/relationships/image" Target="../media/image83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Relationship Id="rId30" Type="http://schemas.openxmlformats.org/officeDocument/2006/relationships/image" Target="../media/image109.png"/><Relationship Id="rId35" Type="http://schemas.openxmlformats.org/officeDocument/2006/relationships/image" Target="../media/image114.png"/><Relationship Id="rId43" Type="http://schemas.openxmlformats.org/officeDocument/2006/relationships/image" Target="../media/image167.png"/><Relationship Id="rId8" Type="http://schemas.openxmlformats.org/officeDocument/2006/relationships/image" Target="../media/image82.png"/><Relationship Id="rId3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69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10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26" Type="http://schemas.openxmlformats.org/officeDocument/2006/relationships/image" Target="../media/image43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16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69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45.png"/><Relationship Id="rId16" Type="http://schemas.openxmlformats.org/officeDocument/2006/relationships/image" Target="../media/image14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10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69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47.png"/><Relationship Id="rId16" Type="http://schemas.openxmlformats.org/officeDocument/2006/relationships/image" Target="../media/image14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10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" Type="http://schemas.openxmlformats.org/officeDocument/2006/relationships/image" Target="../media/image48.png"/><Relationship Id="rId21" Type="http://schemas.openxmlformats.org/officeDocument/2006/relationships/image" Target="../media/image64.png"/><Relationship Id="rId7" Type="http://schemas.openxmlformats.org/officeDocument/2006/relationships/image" Target="../media/image52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5" Type="http://schemas.openxmlformats.org/officeDocument/2006/relationships/image" Target="../media/image50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10" Type="http://schemas.openxmlformats.org/officeDocument/2006/relationships/image" Target="../media/image22.png"/><Relationship Id="rId19" Type="http://schemas.openxmlformats.org/officeDocument/2006/relationships/image" Target="../media/image62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Relationship Id="rId30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570220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Sequence Modeling - II</a:t>
            </a:r>
            <a:br>
              <a:rPr lang="en-IN" sz="4000" dirty="0"/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6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4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Sequence to Sequence Modelling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How to Compute Attention through RNN?</a:t>
            </a:r>
          </a:p>
          <a:p>
            <a:pPr marL="457200" indent="-457200">
              <a:lnSpc>
                <a:spcPct val="150000"/>
              </a:lnSpc>
            </a:pPr>
            <a:endParaRPr 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083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91973"/>
            <a:ext cx="10515600" cy="97904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Sequence 2 Sequence Model using RNN/LSTM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633601"/>
            <a:ext cx="5998464" cy="4904359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>
                <a:latin typeface="Arial Narrow" panose="020B0606020202030204" pitchFamily="34" charset="0"/>
              </a:rPr>
              <a:t>While Recurrent Neural Networks (RNNs) and Long Short-Term Memory networks (LSTMs) have long been staples for processing sequential data, the standard paradigm for </a:t>
            </a:r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sequence-to-sequence (seq2seq) tasks relies on the encoder-decoder architecture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10000"/>
              </a:lnSpc>
            </a:pPr>
            <a:endParaRPr lang="en-US" sz="2400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Arial Narrow" panose="020B0606020202030204" pitchFamily="34" charset="0"/>
              </a:rPr>
              <a:t>In this setup, the encoder's final hidden state serves as the </a:t>
            </a:r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context vector</a:t>
            </a:r>
            <a:r>
              <a:rPr lang="en-US" sz="2400" dirty="0">
                <a:latin typeface="Arial Narrow" panose="020B0606020202030204" pitchFamily="34" charset="0"/>
              </a:rPr>
              <a:t>, which is then passed directly to the decoder to drive generation.</a:t>
            </a:r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4B6E4-1760-493F-A36F-7DFC2AB8420C}"/>
              </a:ext>
            </a:extLst>
          </p:cNvPr>
          <p:cNvSpPr txBox="1"/>
          <p:nvPr/>
        </p:nvSpPr>
        <p:spPr>
          <a:xfrm>
            <a:off x="6422707" y="6550223"/>
            <a:ext cx="5769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Alammar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J., &amp; </a:t>
            </a:r>
            <a:r>
              <a:rPr lang="en-US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Grootendorst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M. (2024). Hands-On Large Language Models. O’Reilly. </a:t>
            </a:r>
            <a:endParaRPr lang="en-IN" sz="1400" dirty="0">
              <a:solidFill>
                <a:srgbClr val="00B0F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986" y="2183137"/>
            <a:ext cx="5677692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308" y="1897395"/>
            <a:ext cx="5677692" cy="26197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114285"/>
            <a:ext cx="10515600" cy="116192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Sequence 2 Sequence Model using RNN/LSTM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5216" y="1163582"/>
                <a:ext cx="5815584" cy="5200642"/>
              </a:xfrm>
            </p:spPr>
            <p:txBody>
              <a:bodyPr>
                <a:normAutofit fontScale="85000" lnSpcReduction="10000"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en-US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For RNN/LSTM Encoder Decoder Model:</a:t>
                </a:r>
              </a:p>
              <a:p>
                <a:pPr lvl="1" algn="just">
                  <a:lnSpc>
                    <a:spcPct val="11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In the RNN/LSTM Encoder–Decoder model, each hidden state has access to the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current input </a:t>
                </a:r>
                <a:r>
                  <a:rPr lang="en-US" dirty="0">
                    <a:latin typeface="Arial Narrow" panose="020B0606020202030204" pitchFamily="34" charset="0"/>
                  </a:rPr>
                  <a:t>as well as information from all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previously processed inputs</a:t>
                </a:r>
                <a:r>
                  <a:rPr lang="en-US" dirty="0">
                    <a:latin typeface="Arial Narrow" panose="020B0606020202030204" pitchFamily="34" charset="0"/>
                  </a:rPr>
                  <a:t>. </a:t>
                </a:r>
              </a:p>
              <a:p>
                <a:pPr lvl="1" algn="just">
                  <a:lnSpc>
                    <a:spcPct val="11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lvl="1" algn="just">
                  <a:lnSpc>
                    <a:spcPct val="11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As the sequence is processed, information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​</a:t>
                </a:r>
                <a:r>
                  <a:rPr lang="en-US" dirty="0">
                    <a:latin typeface="Arial Narrow" panose="020B0606020202030204" pitchFamily="34" charset="0"/>
                  </a:rPr>
                  <a:t> is carried forward in a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compressed representation</a:t>
                </a:r>
                <a:r>
                  <a:rPr lang="en-US" dirty="0">
                    <a:latin typeface="Arial Narrow" panose="020B0606020202030204" pitchFamily="34" charset="0"/>
                  </a:rPr>
                  <a:t> within the hidden state at time step t. </a:t>
                </a:r>
              </a:p>
              <a:p>
                <a:pPr lvl="1" algn="just">
                  <a:lnSpc>
                    <a:spcPct val="11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lvl="1" algn="just">
                  <a:lnSpc>
                    <a:spcPct val="11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Consequently, the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encoder's final hidden state, known as the context vector, is expected to capture the essential information of the entire input sequence.</a:t>
                </a:r>
              </a:p>
              <a:p>
                <a:pPr lvl="1" algn="just">
                  <a:lnSpc>
                    <a:spcPct val="11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lvl="1" algn="just">
                  <a:lnSpc>
                    <a:spcPct val="11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 This context vector is then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passed to the decoder </a:t>
                </a:r>
                <a:r>
                  <a:rPr lang="en-US" dirty="0">
                    <a:latin typeface="Arial Narrow" panose="020B0606020202030204" pitchFamily="34" charset="0"/>
                  </a:rPr>
                  <a:t>to generate the output sequence.</a:t>
                </a:r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216" y="1163582"/>
                <a:ext cx="5815584" cy="5200642"/>
              </a:xfrm>
              <a:blipFill>
                <a:blip r:embed="rId3"/>
                <a:stretch>
                  <a:fillRect l="-1363" t="-938" r="-1048" b="-1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DB32677-8F03-42F3-AD31-2C91A7A29159}"/>
              </a:ext>
            </a:extLst>
          </p:cNvPr>
          <p:cNvSpPr txBox="1"/>
          <p:nvPr/>
        </p:nvSpPr>
        <p:spPr>
          <a:xfrm>
            <a:off x="6627043" y="4332470"/>
            <a:ext cx="348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s</a:t>
            </a:r>
            <a:r>
              <a:rPr lang="en-IN" sz="1600" baseline="-25000" dirty="0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F80FB-0CCE-490B-B169-321C83380D1E}"/>
              </a:ext>
            </a:extLst>
          </p:cNvPr>
          <p:cNvSpPr txBox="1"/>
          <p:nvPr/>
        </p:nvSpPr>
        <p:spPr>
          <a:xfrm>
            <a:off x="7241356" y="4332470"/>
            <a:ext cx="348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s</a:t>
            </a:r>
            <a:r>
              <a:rPr lang="en-IN" sz="1600" baseline="-25000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498FD-F1B1-4608-A507-3296176B3AEA}"/>
              </a:ext>
            </a:extLst>
          </p:cNvPr>
          <p:cNvSpPr txBox="1"/>
          <p:nvPr/>
        </p:nvSpPr>
        <p:spPr>
          <a:xfrm>
            <a:off x="7748832" y="4301692"/>
            <a:ext cx="45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7E2CF-FA94-4701-A416-81C381588E91}"/>
              </a:ext>
            </a:extLst>
          </p:cNvPr>
          <p:cNvSpPr txBox="1"/>
          <p:nvPr/>
        </p:nvSpPr>
        <p:spPr>
          <a:xfrm>
            <a:off x="8314827" y="4347859"/>
            <a:ext cx="452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s</a:t>
            </a:r>
            <a:r>
              <a:rPr lang="en-IN" sz="1600" baseline="-25000" dirty="0">
                <a:latin typeface="Arial Narrow" panose="020B0606020202030204" pitchFamily="34" charset="0"/>
              </a:rPr>
              <a:t>t-1</a:t>
            </a:r>
          </a:p>
        </p:txBody>
      </p:sp>
    </p:spTree>
    <p:extLst>
      <p:ext uri="{BB962C8B-B14F-4D97-AF65-F5344CB8AC3E}">
        <p14:creationId xmlns:p14="http://schemas.microsoft.com/office/powerpoint/2010/main" val="1566880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761" y="1427992"/>
            <a:ext cx="6098797" cy="5133061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The RNN/LSTM Encoder–Decoder model compresses the entire source sequence into a fixed-length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context vector </a:t>
            </a:r>
            <a:r>
              <a:rPr lang="en-US" dirty="0">
                <a:latin typeface="Arial Narrow" panose="020B0606020202030204" pitchFamily="34" charset="0"/>
              </a:rPr>
              <a:t>before passing it to the decoder. 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This creates an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information bottleneck</a:t>
            </a:r>
            <a:r>
              <a:rPr lang="en-US" dirty="0">
                <a:latin typeface="Arial Narrow" panose="020B0606020202030204" pitchFamily="34" charset="0"/>
              </a:rPr>
              <a:t>, as all the relevant information must be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encoded into a single vector</a:t>
            </a:r>
            <a:r>
              <a:rPr lang="en-US" dirty="0">
                <a:latin typeface="Arial Narrow" panose="020B0606020202030204" pitchFamily="34" charset="0"/>
              </a:rPr>
              <a:t>. Consequently, the model struggles to handle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long or complex input </a:t>
            </a:r>
            <a:r>
              <a:rPr lang="en-US" dirty="0">
                <a:latin typeface="Arial Narrow" panose="020B0606020202030204" pitchFamily="34" charset="0"/>
              </a:rPr>
              <a:t>sequences, especially those longer than the sequences seen during training. 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limited capacity of the context vector </a:t>
            </a:r>
            <a:r>
              <a:rPr lang="en-US" dirty="0">
                <a:latin typeface="Arial Narrow" panose="020B0606020202030204" pitchFamily="34" charset="0"/>
              </a:rPr>
              <a:t>can lead to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loss of important information</a:t>
            </a:r>
            <a:r>
              <a:rPr lang="en-US" dirty="0">
                <a:latin typeface="Arial Narrow" panose="020B0606020202030204" pitchFamily="34" charset="0"/>
              </a:rPr>
              <a:t>. Furthermore, the decoder must generate the entire output sequence using only this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single context vector</a:t>
            </a:r>
            <a:r>
              <a:rPr lang="en-US" dirty="0">
                <a:latin typeface="Arial Narrow" panose="020B0606020202030204" pitchFamily="34" charset="0"/>
              </a:rPr>
              <a:t>, making it difficult to accurately recover all the information from the source sequence. 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As a result, the model's performance often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degrades for long sequences and complex translation tasks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5761" y="349665"/>
            <a:ext cx="10515600" cy="869315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Problems with this approach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558" y="2135139"/>
            <a:ext cx="5677692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51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7013"/>
            <a:ext cx="10515600" cy="106939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712" y="1440450"/>
            <a:ext cx="10838576" cy="8449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The attention mechanism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enables the decoder to consider all encoder hidden states when generating each output</a:t>
            </a:r>
            <a:r>
              <a:rPr lang="en-US" sz="2000" dirty="0">
                <a:latin typeface="Arial Narrow" panose="020B0606020202030204" pitchFamily="34" charset="0"/>
              </a:rPr>
              <a:t>, rather than relying on a single fixed context vector as in the vanilla Encoder–Decoder architecture.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grpSp>
        <p:nvGrpSpPr>
          <p:cNvPr id="122" name="Group 121"/>
          <p:cNvGrpSpPr/>
          <p:nvPr/>
        </p:nvGrpSpPr>
        <p:grpSpPr>
          <a:xfrm>
            <a:off x="374904" y="2521204"/>
            <a:ext cx="5530596" cy="3579082"/>
            <a:chOff x="374904" y="2521204"/>
            <a:chExt cx="5530596" cy="3579082"/>
          </a:xfrm>
        </p:grpSpPr>
        <p:sp>
          <p:nvSpPr>
            <p:cNvPr id="197" name="Rectangle 196"/>
            <p:cNvSpPr/>
            <p:nvPr/>
          </p:nvSpPr>
          <p:spPr>
            <a:xfrm>
              <a:off x="374904" y="4670505"/>
              <a:ext cx="5530596" cy="1429781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6000"/>
              </a:schemeClr>
            </a:solidFill>
            <a:ln w="952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1112010" y="2812971"/>
              <a:ext cx="269426" cy="392997"/>
              <a:chOff x="2447922" y="2814638"/>
              <a:chExt cx="318135" cy="402431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2447922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34483" r="-27586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/>
            <p:cNvGrpSpPr/>
            <p:nvPr/>
          </p:nvGrpSpPr>
          <p:grpSpPr>
            <a:xfrm>
              <a:off x="481636" y="2773280"/>
              <a:ext cx="376542" cy="479108"/>
              <a:chOff x="1585519" y="2759978"/>
              <a:chExt cx="444617" cy="511728"/>
            </a:xfrm>
          </p:grpSpPr>
          <p:sp>
            <p:nvSpPr>
              <p:cNvPr id="7" name="Diamond 6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2" name="Straight Arrow Connector 21"/>
            <p:cNvCxnSpPr>
              <a:stCxn id="7" idx="3"/>
              <a:endCxn id="9" idx="1"/>
            </p:cNvCxnSpPr>
            <p:nvPr/>
          </p:nvCxnSpPr>
          <p:spPr>
            <a:xfrm flipV="1">
              <a:off x="858178" y="3009470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1711406" y="2768834"/>
              <a:ext cx="376542" cy="479108"/>
              <a:chOff x="1585519" y="2759978"/>
              <a:chExt cx="444617" cy="511728"/>
            </a:xfrm>
          </p:grpSpPr>
          <p:sp>
            <p:nvSpPr>
              <p:cNvPr id="26" name="Diamond 25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2857" r="-5714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oup 27"/>
            <p:cNvGrpSpPr/>
            <p:nvPr/>
          </p:nvGrpSpPr>
          <p:grpSpPr>
            <a:xfrm>
              <a:off x="2383944" y="2813288"/>
              <a:ext cx="269426" cy="392997"/>
              <a:chOff x="2524125" y="2814638"/>
              <a:chExt cx="318135" cy="402431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2543048" y="2892929"/>
                    <a:ext cx="280210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0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80210" cy="22061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7949" r="-256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Straight Arrow Connector 30"/>
            <p:cNvCxnSpPr>
              <a:stCxn id="26" idx="3"/>
              <a:endCxn id="29" idx="1"/>
            </p:cNvCxnSpPr>
            <p:nvPr/>
          </p:nvCxnSpPr>
          <p:spPr>
            <a:xfrm>
              <a:off x="2087948" y="3008388"/>
              <a:ext cx="295996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9" idx="3"/>
              <a:endCxn id="26" idx="1"/>
            </p:cNvCxnSpPr>
            <p:nvPr/>
          </p:nvCxnSpPr>
          <p:spPr>
            <a:xfrm flipV="1">
              <a:off x="1381436" y="3008388"/>
              <a:ext cx="329970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/>
            <p:cNvGrpSpPr/>
            <p:nvPr/>
          </p:nvGrpSpPr>
          <p:grpSpPr>
            <a:xfrm>
              <a:off x="2965591" y="2768834"/>
              <a:ext cx="376542" cy="479108"/>
              <a:chOff x="1585519" y="2759978"/>
              <a:chExt cx="444617" cy="511728"/>
            </a:xfrm>
          </p:grpSpPr>
          <p:sp>
            <p:nvSpPr>
              <p:cNvPr id="50" name="Diamond 49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8919" r="-2703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2" name="Straight Arrow Connector 51"/>
            <p:cNvCxnSpPr>
              <a:stCxn id="29" idx="3"/>
              <a:endCxn id="50" idx="1"/>
            </p:cNvCxnSpPr>
            <p:nvPr/>
          </p:nvCxnSpPr>
          <p:spPr>
            <a:xfrm flipV="1">
              <a:off x="2653370" y="3008388"/>
              <a:ext cx="312221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50" idx="3"/>
            </p:cNvCxnSpPr>
            <p:nvPr/>
          </p:nvCxnSpPr>
          <p:spPr>
            <a:xfrm>
              <a:off x="3342133" y="3008388"/>
              <a:ext cx="277780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3520506" y="2653026"/>
              <a:ext cx="623889" cy="52322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2800" dirty="0">
                  <a:latin typeface="Baskerville Old Face" panose="02020602080505020303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…..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4065734" y="2768517"/>
              <a:ext cx="445572" cy="479108"/>
              <a:chOff x="1585519" y="2759978"/>
              <a:chExt cx="526127" cy="511728"/>
            </a:xfrm>
          </p:grpSpPr>
          <p:sp>
            <p:nvSpPr>
              <p:cNvPr id="61" name="Diamond 60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1664390" y="2905534"/>
                    <a:ext cx="366523" cy="18080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100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IN" sz="11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IN" sz="1100" i="0" dirty="0"/>
                  </a:p>
                </p:txBody>
              </p:sp>
            </mc:Choice>
            <mc:Fallback xmlns="">
              <p:sp>
                <p:nvSpPr>
                  <p:cNvPr id="62" name="TextBox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366523" cy="18080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1765" r="-5882" b="-2142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" name="Group 62"/>
            <p:cNvGrpSpPr/>
            <p:nvPr/>
          </p:nvGrpSpPr>
          <p:grpSpPr>
            <a:xfrm>
              <a:off x="4738271" y="2812971"/>
              <a:ext cx="269426" cy="392997"/>
              <a:chOff x="2524125" y="2814638"/>
              <a:chExt cx="318135" cy="402431"/>
            </a:xfrm>
          </p:grpSpPr>
          <p:sp>
            <p:nvSpPr>
              <p:cNvPr id="64" name="Rounded Rectangle 63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2543048" y="2892929"/>
                    <a:ext cx="280210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5" name="TextBox 6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80210" cy="22061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7949" r="-256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6" name="Straight Arrow Connector 65"/>
            <p:cNvCxnSpPr>
              <a:stCxn id="61" idx="3"/>
              <a:endCxn id="64" idx="1"/>
            </p:cNvCxnSpPr>
            <p:nvPr/>
          </p:nvCxnSpPr>
          <p:spPr>
            <a:xfrm>
              <a:off x="4511306" y="3008071"/>
              <a:ext cx="226965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>
              <a:off x="5313568" y="2768517"/>
              <a:ext cx="376542" cy="479108"/>
              <a:chOff x="1585519" y="2759978"/>
              <a:chExt cx="444617" cy="511728"/>
            </a:xfrm>
          </p:grpSpPr>
          <p:sp>
            <p:nvSpPr>
              <p:cNvPr id="68" name="Diamond 67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/>
                  <p:cNvSpPr txBox="1"/>
                  <p:nvPr/>
                </p:nvSpPr>
                <p:spPr>
                  <a:xfrm>
                    <a:off x="1676618" y="2905534"/>
                    <a:ext cx="26431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9" name="TextBox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4312" cy="23011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8919" r="-5405" b="-16667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0" name="Straight Arrow Connector 69"/>
            <p:cNvCxnSpPr>
              <a:stCxn id="64" idx="3"/>
              <a:endCxn id="68" idx="1"/>
            </p:cNvCxnSpPr>
            <p:nvPr/>
          </p:nvCxnSpPr>
          <p:spPr>
            <a:xfrm flipV="1">
              <a:off x="5007697" y="3008071"/>
              <a:ext cx="305871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/>
            <p:cNvGrpSpPr/>
            <p:nvPr/>
          </p:nvGrpSpPr>
          <p:grpSpPr>
            <a:xfrm>
              <a:off x="1063135" y="3463588"/>
              <a:ext cx="353709" cy="359111"/>
              <a:chOff x="1063135" y="3603288"/>
              <a:chExt cx="353709" cy="359111"/>
            </a:xfrm>
          </p:grpSpPr>
          <p:sp>
            <p:nvSpPr>
              <p:cNvPr id="71" name="Oval 70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2" name="TextBox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714" r="-28571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/>
            <p:cNvGrpSpPr/>
            <p:nvPr/>
          </p:nvGrpSpPr>
          <p:grpSpPr>
            <a:xfrm>
              <a:off x="2341769" y="3463588"/>
              <a:ext cx="353709" cy="359111"/>
              <a:chOff x="1063135" y="3603288"/>
              <a:chExt cx="353709" cy="359111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6" name="TextBox 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5714" r="-32143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7" name="Group 76"/>
            <p:cNvGrpSpPr/>
            <p:nvPr/>
          </p:nvGrpSpPr>
          <p:grpSpPr>
            <a:xfrm>
              <a:off x="4696096" y="3463587"/>
              <a:ext cx="353709" cy="359111"/>
              <a:chOff x="1063135" y="3603288"/>
              <a:chExt cx="353709" cy="359111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9" name="TextBox 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5714" r="-35714" b="-16667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0" name="TextBox 129"/>
            <p:cNvSpPr txBox="1"/>
            <p:nvPr/>
          </p:nvSpPr>
          <p:spPr>
            <a:xfrm>
              <a:off x="2649315" y="4208605"/>
              <a:ext cx="732893" cy="307777"/>
            </a:xfrm>
            <a:prstGeom prst="rect">
              <a:avLst/>
            </a:prstGeom>
            <a:solidFill>
              <a:srgbClr val="00B0F0"/>
            </a:solidFill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14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Context</a:t>
              </a:r>
            </a:p>
          </p:txBody>
        </p:sp>
        <p:cxnSp>
          <p:nvCxnSpPr>
            <p:cNvPr id="137" name="Straight Arrow Connector 136"/>
            <p:cNvCxnSpPr>
              <a:stCxn id="71" idx="0"/>
              <a:endCxn id="9" idx="2"/>
            </p:cNvCxnSpPr>
            <p:nvPr/>
          </p:nvCxnSpPr>
          <p:spPr>
            <a:xfrm flipV="1">
              <a:off x="1239990" y="3205968"/>
              <a:ext cx="6733" cy="25762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stCxn id="75" idx="0"/>
              <a:endCxn id="29" idx="2"/>
            </p:cNvCxnSpPr>
            <p:nvPr/>
          </p:nvCxnSpPr>
          <p:spPr>
            <a:xfrm flipV="1">
              <a:off x="2518624" y="3206285"/>
              <a:ext cx="33" cy="257303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78" idx="0"/>
              <a:endCxn id="64" idx="2"/>
            </p:cNvCxnSpPr>
            <p:nvPr/>
          </p:nvCxnSpPr>
          <p:spPr>
            <a:xfrm flipV="1">
              <a:off x="4872951" y="3205968"/>
              <a:ext cx="33" cy="25761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81"/>
            <p:cNvSpPr/>
            <p:nvPr/>
          </p:nvSpPr>
          <p:spPr>
            <a:xfrm>
              <a:off x="374904" y="2521204"/>
              <a:ext cx="5530596" cy="1429781"/>
            </a:xfrm>
            <a:prstGeom prst="rect">
              <a:avLst/>
            </a:prstGeom>
            <a:solidFill>
              <a:srgbClr val="22CCEE">
                <a:alpha val="9000"/>
              </a:srgbClr>
            </a:solidFill>
            <a:ln w="952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53" name="Group 152"/>
            <p:cNvGrpSpPr/>
            <p:nvPr/>
          </p:nvGrpSpPr>
          <p:grpSpPr>
            <a:xfrm>
              <a:off x="1112010" y="4962272"/>
              <a:ext cx="269426" cy="392997"/>
              <a:chOff x="2447922" y="2814638"/>
              <a:chExt cx="318135" cy="402431"/>
            </a:xfrm>
          </p:grpSpPr>
          <p:sp>
            <p:nvSpPr>
              <p:cNvPr id="154" name="Rounded Rectangle 153"/>
              <p:cNvSpPr/>
              <p:nvPr/>
            </p:nvSpPr>
            <p:spPr>
              <a:xfrm>
                <a:off x="2447922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TextBox 154"/>
                  <p:cNvSpPr txBox="1"/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5" name="TextBox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4483" r="-2069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6" name="Group 155"/>
            <p:cNvGrpSpPr/>
            <p:nvPr/>
          </p:nvGrpSpPr>
          <p:grpSpPr>
            <a:xfrm>
              <a:off x="481636" y="4922581"/>
              <a:ext cx="376542" cy="479108"/>
              <a:chOff x="1585519" y="2759978"/>
              <a:chExt cx="444617" cy="511728"/>
            </a:xfrm>
          </p:grpSpPr>
          <p:sp>
            <p:nvSpPr>
              <p:cNvPr id="157" name="Diamond 156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TextBox 157"/>
                  <p:cNvSpPr txBox="1"/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8" name="TextBox 1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59" name="Straight Arrow Connector 158"/>
            <p:cNvCxnSpPr>
              <a:stCxn id="157" idx="3"/>
              <a:endCxn id="154" idx="1"/>
            </p:cNvCxnSpPr>
            <p:nvPr/>
          </p:nvCxnSpPr>
          <p:spPr>
            <a:xfrm flipV="1">
              <a:off x="858178" y="5158771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0" name="Group 159"/>
            <p:cNvGrpSpPr/>
            <p:nvPr/>
          </p:nvGrpSpPr>
          <p:grpSpPr>
            <a:xfrm>
              <a:off x="1711406" y="4918135"/>
              <a:ext cx="376542" cy="479108"/>
              <a:chOff x="1585519" y="2759978"/>
              <a:chExt cx="444617" cy="511728"/>
            </a:xfrm>
          </p:grpSpPr>
          <p:sp>
            <p:nvSpPr>
              <p:cNvPr id="161" name="Diamond 160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2" name="TextBox 161"/>
                  <p:cNvSpPr txBox="1"/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62" name="TextBox 1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2857" r="-571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3" name="Group 162"/>
            <p:cNvGrpSpPr/>
            <p:nvPr/>
          </p:nvGrpSpPr>
          <p:grpSpPr>
            <a:xfrm>
              <a:off x="2383944" y="4962589"/>
              <a:ext cx="269426" cy="392997"/>
              <a:chOff x="2524125" y="2814638"/>
              <a:chExt cx="318135" cy="402431"/>
            </a:xfrm>
          </p:grpSpPr>
          <p:sp>
            <p:nvSpPr>
              <p:cNvPr id="164" name="Rounded Rectangle 163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5" name="TextBox 164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5" name="TextBox 16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66" name="Straight Arrow Connector 165"/>
            <p:cNvCxnSpPr>
              <a:stCxn id="161" idx="3"/>
              <a:endCxn id="164" idx="1"/>
            </p:cNvCxnSpPr>
            <p:nvPr/>
          </p:nvCxnSpPr>
          <p:spPr>
            <a:xfrm>
              <a:off x="2087948" y="5157689"/>
              <a:ext cx="295996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>
              <a:stCxn id="154" idx="3"/>
              <a:endCxn id="161" idx="1"/>
            </p:cNvCxnSpPr>
            <p:nvPr/>
          </p:nvCxnSpPr>
          <p:spPr>
            <a:xfrm flipV="1">
              <a:off x="1381436" y="5157689"/>
              <a:ext cx="329970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8" name="Group 167"/>
            <p:cNvGrpSpPr/>
            <p:nvPr/>
          </p:nvGrpSpPr>
          <p:grpSpPr>
            <a:xfrm>
              <a:off x="2965591" y="4918135"/>
              <a:ext cx="376542" cy="479108"/>
              <a:chOff x="1585519" y="2759978"/>
              <a:chExt cx="444617" cy="511728"/>
            </a:xfrm>
          </p:grpSpPr>
          <p:sp>
            <p:nvSpPr>
              <p:cNvPr id="169" name="Diamond 168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TextBox 169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0" name="TextBox 1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1" name="Straight Arrow Connector 170"/>
            <p:cNvCxnSpPr>
              <a:stCxn id="164" idx="3"/>
              <a:endCxn id="169" idx="1"/>
            </p:cNvCxnSpPr>
            <p:nvPr/>
          </p:nvCxnSpPr>
          <p:spPr>
            <a:xfrm flipV="1">
              <a:off x="2653370" y="5157689"/>
              <a:ext cx="312221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/>
            <p:cNvCxnSpPr>
              <a:stCxn id="169" idx="3"/>
            </p:cNvCxnSpPr>
            <p:nvPr/>
          </p:nvCxnSpPr>
          <p:spPr>
            <a:xfrm>
              <a:off x="3342133" y="5157689"/>
              <a:ext cx="277780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/>
            <p:cNvSpPr txBox="1"/>
            <p:nvPr/>
          </p:nvSpPr>
          <p:spPr>
            <a:xfrm>
              <a:off x="3520506" y="4802327"/>
              <a:ext cx="623889" cy="52322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2800" dirty="0">
                  <a:latin typeface="Baskerville Old Face" panose="02020602080505020303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…..</a:t>
              </a:r>
            </a:p>
          </p:txBody>
        </p:sp>
        <p:grpSp>
          <p:nvGrpSpPr>
            <p:cNvPr id="174" name="Group 173"/>
            <p:cNvGrpSpPr/>
            <p:nvPr/>
          </p:nvGrpSpPr>
          <p:grpSpPr>
            <a:xfrm>
              <a:off x="4065734" y="4917818"/>
              <a:ext cx="445572" cy="479108"/>
              <a:chOff x="1585519" y="2759978"/>
              <a:chExt cx="526127" cy="511728"/>
            </a:xfrm>
          </p:grpSpPr>
          <p:sp>
            <p:nvSpPr>
              <p:cNvPr id="175" name="Diamond 174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TextBox 175"/>
                  <p:cNvSpPr txBox="1"/>
                  <p:nvPr/>
                </p:nvSpPr>
                <p:spPr>
                  <a:xfrm>
                    <a:off x="1664390" y="2905534"/>
                    <a:ext cx="341917" cy="18080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100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IN" sz="11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IN" sz="1100" i="0" dirty="0"/>
                  </a:p>
                </p:txBody>
              </p:sp>
            </mc:Choice>
            <mc:Fallback xmlns="">
              <p:sp>
                <p:nvSpPr>
                  <p:cNvPr id="176" name="TextBox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341917" cy="18080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2766" r="-8511" b="-17857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7" name="Group 176"/>
            <p:cNvGrpSpPr/>
            <p:nvPr/>
          </p:nvGrpSpPr>
          <p:grpSpPr>
            <a:xfrm>
              <a:off x="4738271" y="4962272"/>
              <a:ext cx="269426" cy="392997"/>
              <a:chOff x="2524125" y="2814638"/>
              <a:chExt cx="318135" cy="402431"/>
            </a:xfrm>
          </p:grpSpPr>
          <p:sp>
            <p:nvSpPr>
              <p:cNvPr id="178" name="Rounded Rectangle 177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TextBox 178"/>
                  <p:cNvSpPr txBox="1"/>
                  <p:nvPr/>
                </p:nvSpPr>
                <p:spPr>
                  <a:xfrm>
                    <a:off x="2543048" y="2892929"/>
                    <a:ext cx="237812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9" name="TextBox 1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37812" cy="22061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1212" r="-6061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80" name="Straight Arrow Connector 179"/>
            <p:cNvCxnSpPr>
              <a:stCxn id="175" idx="3"/>
              <a:endCxn id="178" idx="1"/>
            </p:cNvCxnSpPr>
            <p:nvPr/>
          </p:nvCxnSpPr>
          <p:spPr>
            <a:xfrm>
              <a:off x="4511306" y="5157372"/>
              <a:ext cx="226965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1" name="Group 180"/>
            <p:cNvGrpSpPr/>
            <p:nvPr/>
          </p:nvGrpSpPr>
          <p:grpSpPr>
            <a:xfrm>
              <a:off x="5313568" y="4917818"/>
              <a:ext cx="376542" cy="479108"/>
              <a:chOff x="1585519" y="2759978"/>
              <a:chExt cx="444617" cy="511728"/>
            </a:xfrm>
          </p:grpSpPr>
          <p:sp>
            <p:nvSpPr>
              <p:cNvPr id="182" name="Diamond 181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TextBox 182"/>
                  <p:cNvSpPr txBox="1"/>
                  <p:nvPr/>
                </p:nvSpPr>
                <p:spPr>
                  <a:xfrm>
                    <a:off x="1676618" y="2905534"/>
                    <a:ext cx="234027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3" name="TextBox 18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34027" cy="23011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1212" r="-303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84" name="Straight Arrow Connector 183"/>
            <p:cNvCxnSpPr>
              <a:stCxn id="178" idx="3"/>
              <a:endCxn id="182" idx="1"/>
            </p:cNvCxnSpPr>
            <p:nvPr/>
          </p:nvCxnSpPr>
          <p:spPr>
            <a:xfrm flipV="1">
              <a:off x="5007697" y="5157372"/>
              <a:ext cx="305871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Group 184"/>
            <p:cNvGrpSpPr/>
            <p:nvPr/>
          </p:nvGrpSpPr>
          <p:grpSpPr>
            <a:xfrm>
              <a:off x="1063135" y="5612889"/>
              <a:ext cx="353709" cy="359111"/>
              <a:chOff x="1063135" y="3603288"/>
              <a:chExt cx="353709" cy="359111"/>
            </a:xfrm>
          </p:grpSpPr>
          <p:sp>
            <p:nvSpPr>
              <p:cNvPr id="186" name="Oval 185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TextBox 186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7" name="TextBox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714" r="-2857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8" name="Group 187"/>
            <p:cNvGrpSpPr/>
            <p:nvPr/>
          </p:nvGrpSpPr>
          <p:grpSpPr>
            <a:xfrm>
              <a:off x="2341769" y="5612889"/>
              <a:ext cx="353709" cy="359111"/>
              <a:chOff x="1063135" y="3603288"/>
              <a:chExt cx="353709" cy="359111"/>
            </a:xfrm>
          </p:grpSpPr>
          <p:sp>
            <p:nvSpPr>
              <p:cNvPr id="189" name="Oval 188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TextBox 189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0" name="TextBox 1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5714" r="-3214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1" name="Group 190"/>
            <p:cNvGrpSpPr/>
            <p:nvPr/>
          </p:nvGrpSpPr>
          <p:grpSpPr>
            <a:xfrm>
              <a:off x="4696096" y="5612888"/>
              <a:ext cx="353709" cy="359111"/>
              <a:chOff x="1063135" y="3603288"/>
              <a:chExt cx="353709" cy="359111"/>
            </a:xfrm>
          </p:grpSpPr>
          <p:sp>
            <p:nvSpPr>
              <p:cNvPr id="192" name="Oval 191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TextBox 192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3" name="TextBox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5714" r="-17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94" name="Straight Arrow Connector 193"/>
            <p:cNvCxnSpPr>
              <a:stCxn id="186" idx="0"/>
              <a:endCxn id="154" idx="2"/>
            </p:cNvCxnSpPr>
            <p:nvPr/>
          </p:nvCxnSpPr>
          <p:spPr>
            <a:xfrm flipV="1">
              <a:off x="1239990" y="5355269"/>
              <a:ext cx="6733" cy="25762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/>
            <p:cNvCxnSpPr>
              <a:stCxn id="189" idx="0"/>
              <a:endCxn id="164" idx="2"/>
            </p:cNvCxnSpPr>
            <p:nvPr/>
          </p:nvCxnSpPr>
          <p:spPr>
            <a:xfrm flipV="1">
              <a:off x="2518624" y="5355586"/>
              <a:ext cx="33" cy="257303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/>
            <p:cNvCxnSpPr>
              <a:stCxn id="192" idx="0"/>
              <a:endCxn id="178" idx="2"/>
            </p:cNvCxnSpPr>
            <p:nvPr/>
          </p:nvCxnSpPr>
          <p:spPr>
            <a:xfrm flipV="1">
              <a:off x="4872951" y="5355269"/>
              <a:ext cx="33" cy="25761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/>
            <p:cNvCxnSpPr>
              <a:endCxn id="130" idx="3"/>
            </p:cNvCxnSpPr>
            <p:nvPr/>
          </p:nvCxnSpPr>
          <p:spPr>
            <a:xfrm flipH="1" flipV="1">
              <a:off x="3382208" y="4362494"/>
              <a:ext cx="2119632" cy="547244"/>
            </a:xfrm>
            <a:prstGeom prst="bentConnector3">
              <a:avLst>
                <a:gd name="adj1" fmla="val 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lbow Connector 133"/>
            <p:cNvCxnSpPr>
              <a:stCxn id="130" idx="1"/>
              <a:endCxn id="7" idx="2"/>
            </p:cNvCxnSpPr>
            <p:nvPr/>
          </p:nvCxnSpPr>
          <p:spPr>
            <a:xfrm rot="10800000">
              <a:off x="669907" y="3252388"/>
              <a:ext cx="1979408" cy="1110106"/>
            </a:xfrm>
            <a:prstGeom prst="bentConnector2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TextBox 198"/>
            <p:cNvSpPr txBox="1"/>
            <p:nvPr/>
          </p:nvSpPr>
          <p:spPr>
            <a:xfrm>
              <a:off x="3390679" y="3433866"/>
              <a:ext cx="662361" cy="27699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Decoder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3398299" y="5617577"/>
              <a:ext cx="655949" cy="27699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Encoder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6403723" y="2521204"/>
            <a:ext cx="5530596" cy="3579082"/>
            <a:chOff x="6403723" y="2521204"/>
            <a:chExt cx="5530596" cy="3579082"/>
          </a:xfrm>
        </p:grpSpPr>
        <p:sp>
          <p:nvSpPr>
            <p:cNvPr id="247" name="Rectangle 246"/>
            <p:cNvSpPr/>
            <p:nvPr/>
          </p:nvSpPr>
          <p:spPr>
            <a:xfrm>
              <a:off x="6403723" y="2521204"/>
              <a:ext cx="5530596" cy="1429781"/>
            </a:xfrm>
            <a:prstGeom prst="rect">
              <a:avLst/>
            </a:prstGeom>
            <a:solidFill>
              <a:srgbClr val="22CCEE">
                <a:alpha val="9000"/>
              </a:srgbClr>
            </a:solidFill>
            <a:ln w="952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6403723" y="4670505"/>
              <a:ext cx="5530596" cy="1429781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6000"/>
              </a:schemeClr>
            </a:solidFill>
            <a:ln w="9525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02" name="Group 201"/>
            <p:cNvGrpSpPr/>
            <p:nvPr/>
          </p:nvGrpSpPr>
          <p:grpSpPr>
            <a:xfrm>
              <a:off x="7140829" y="2812971"/>
              <a:ext cx="269426" cy="392997"/>
              <a:chOff x="2447922" y="2814638"/>
              <a:chExt cx="318135" cy="402431"/>
            </a:xfrm>
          </p:grpSpPr>
          <p:sp>
            <p:nvSpPr>
              <p:cNvPr id="203" name="Rounded Rectangle 202"/>
              <p:cNvSpPr/>
              <p:nvPr/>
            </p:nvSpPr>
            <p:spPr>
              <a:xfrm>
                <a:off x="2447922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TextBox 203"/>
                  <p:cNvSpPr txBox="1"/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4" name="TextBox 20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34483" r="-27586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5" name="Group 204"/>
            <p:cNvGrpSpPr/>
            <p:nvPr/>
          </p:nvGrpSpPr>
          <p:grpSpPr>
            <a:xfrm>
              <a:off x="6510455" y="2773280"/>
              <a:ext cx="376542" cy="479108"/>
              <a:chOff x="1585519" y="2759978"/>
              <a:chExt cx="444617" cy="511728"/>
            </a:xfrm>
          </p:grpSpPr>
          <p:sp>
            <p:nvSpPr>
              <p:cNvPr id="206" name="Diamond 205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/>
                  <p:cNvSpPr txBox="1"/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7" name="TextBox 2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8" name="Straight Arrow Connector 207"/>
            <p:cNvCxnSpPr>
              <a:stCxn id="206" idx="3"/>
              <a:endCxn id="203" idx="1"/>
            </p:cNvCxnSpPr>
            <p:nvPr/>
          </p:nvCxnSpPr>
          <p:spPr>
            <a:xfrm flipV="1">
              <a:off x="6886997" y="3009470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9" name="Group 208"/>
            <p:cNvGrpSpPr/>
            <p:nvPr/>
          </p:nvGrpSpPr>
          <p:grpSpPr>
            <a:xfrm>
              <a:off x="7740225" y="2768834"/>
              <a:ext cx="376542" cy="479108"/>
              <a:chOff x="1585519" y="2759978"/>
              <a:chExt cx="444617" cy="511728"/>
            </a:xfrm>
          </p:grpSpPr>
          <p:sp>
            <p:nvSpPr>
              <p:cNvPr id="210" name="Diamond 209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1" name="TextBox 210"/>
                  <p:cNvSpPr txBox="1"/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211" name="TextBox 2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2857" r="-5714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2" name="Group 211"/>
            <p:cNvGrpSpPr/>
            <p:nvPr/>
          </p:nvGrpSpPr>
          <p:grpSpPr>
            <a:xfrm>
              <a:off x="8412763" y="2813288"/>
              <a:ext cx="269426" cy="392997"/>
              <a:chOff x="2524125" y="2814638"/>
              <a:chExt cx="318135" cy="402431"/>
            </a:xfrm>
          </p:grpSpPr>
          <p:sp>
            <p:nvSpPr>
              <p:cNvPr id="213" name="Rounded Rectangle 212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4" name="TextBox 213"/>
                  <p:cNvSpPr txBox="1"/>
                  <p:nvPr/>
                </p:nvSpPr>
                <p:spPr>
                  <a:xfrm>
                    <a:off x="2543048" y="2892929"/>
                    <a:ext cx="280210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4" name="TextBox 2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80210" cy="22061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7949" r="-256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15" name="Straight Arrow Connector 214"/>
            <p:cNvCxnSpPr>
              <a:stCxn id="210" idx="3"/>
              <a:endCxn id="213" idx="1"/>
            </p:cNvCxnSpPr>
            <p:nvPr/>
          </p:nvCxnSpPr>
          <p:spPr>
            <a:xfrm>
              <a:off x="8116767" y="3008388"/>
              <a:ext cx="295996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/>
            <p:cNvCxnSpPr>
              <a:stCxn id="203" idx="3"/>
              <a:endCxn id="210" idx="1"/>
            </p:cNvCxnSpPr>
            <p:nvPr/>
          </p:nvCxnSpPr>
          <p:spPr>
            <a:xfrm flipV="1">
              <a:off x="7410255" y="3008388"/>
              <a:ext cx="329970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7" name="Group 216"/>
            <p:cNvGrpSpPr/>
            <p:nvPr/>
          </p:nvGrpSpPr>
          <p:grpSpPr>
            <a:xfrm>
              <a:off x="8994410" y="2768834"/>
              <a:ext cx="376542" cy="479108"/>
              <a:chOff x="1585519" y="2759978"/>
              <a:chExt cx="444617" cy="511728"/>
            </a:xfrm>
          </p:grpSpPr>
          <p:sp>
            <p:nvSpPr>
              <p:cNvPr id="218" name="Diamond 217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9" name="TextBox 2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8919" r="-2703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20" name="Straight Arrow Connector 219"/>
            <p:cNvCxnSpPr>
              <a:stCxn id="213" idx="3"/>
              <a:endCxn id="218" idx="1"/>
            </p:cNvCxnSpPr>
            <p:nvPr/>
          </p:nvCxnSpPr>
          <p:spPr>
            <a:xfrm flipV="1">
              <a:off x="8682189" y="3008388"/>
              <a:ext cx="312221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Arrow Connector 220"/>
            <p:cNvCxnSpPr>
              <a:stCxn id="218" idx="3"/>
            </p:cNvCxnSpPr>
            <p:nvPr/>
          </p:nvCxnSpPr>
          <p:spPr>
            <a:xfrm>
              <a:off x="9370952" y="3008388"/>
              <a:ext cx="277780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/>
            <p:cNvSpPr txBox="1"/>
            <p:nvPr/>
          </p:nvSpPr>
          <p:spPr>
            <a:xfrm>
              <a:off x="9549325" y="2653026"/>
              <a:ext cx="623889" cy="52322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2800" dirty="0">
                  <a:latin typeface="Baskerville Old Face" panose="02020602080505020303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…..</a:t>
              </a:r>
            </a:p>
          </p:txBody>
        </p:sp>
        <p:grpSp>
          <p:nvGrpSpPr>
            <p:cNvPr id="223" name="Group 222"/>
            <p:cNvGrpSpPr/>
            <p:nvPr/>
          </p:nvGrpSpPr>
          <p:grpSpPr>
            <a:xfrm>
              <a:off x="10094553" y="2768517"/>
              <a:ext cx="445572" cy="479108"/>
              <a:chOff x="1585519" y="2759978"/>
              <a:chExt cx="526127" cy="511728"/>
            </a:xfrm>
          </p:grpSpPr>
          <p:sp>
            <p:nvSpPr>
              <p:cNvPr id="224" name="Diamond 223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TextBox 224"/>
                  <p:cNvSpPr txBox="1"/>
                  <p:nvPr/>
                </p:nvSpPr>
                <p:spPr>
                  <a:xfrm>
                    <a:off x="1664390" y="2905534"/>
                    <a:ext cx="366523" cy="18080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100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IN" sz="11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IN" sz="1100" i="0" dirty="0"/>
                  </a:p>
                </p:txBody>
              </p:sp>
            </mc:Choice>
            <mc:Fallback xmlns="">
              <p:sp>
                <p:nvSpPr>
                  <p:cNvPr id="225" name="TextBox 2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366523" cy="18080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1765" r="-5882" b="-2142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6" name="Group 225"/>
            <p:cNvGrpSpPr/>
            <p:nvPr/>
          </p:nvGrpSpPr>
          <p:grpSpPr>
            <a:xfrm>
              <a:off x="10767090" y="2812971"/>
              <a:ext cx="269426" cy="392997"/>
              <a:chOff x="2524125" y="2814638"/>
              <a:chExt cx="318135" cy="402431"/>
            </a:xfrm>
          </p:grpSpPr>
          <p:sp>
            <p:nvSpPr>
              <p:cNvPr id="227" name="Rounded Rectangle 226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/>
                  <p:cNvSpPr txBox="1"/>
                  <p:nvPr/>
                </p:nvSpPr>
                <p:spPr>
                  <a:xfrm>
                    <a:off x="2543048" y="2892929"/>
                    <a:ext cx="280210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8" name="TextBox 2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80210" cy="22061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7949" r="-256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29" name="Straight Arrow Connector 228"/>
            <p:cNvCxnSpPr>
              <a:stCxn id="224" idx="3"/>
              <a:endCxn id="227" idx="1"/>
            </p:cNvCxnSpPr>
            <p:nvPr/>
          </p:nvCxnSpPr>
          <p:spPr>
            <a:xfrm>
              <a:off x="10540125" y="3008071"/>
              <a:ext cx="226965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Group 229"/>
            <p:cNvGrpSpPr/>
            <p:nvPr/>
          </p:nvGrpSpPr>
          <p:grpSpPr>
            <a:xfrm>
              <a:off x="11342387" y="2768517"/>
              <a:ext cx="376542" cy="479108"/>
              <a:chOff x="1585519" y="2759978"/>
              <a:chExt cx="444617" cy="511728"/>
            </a:xfrm>
          </p:grpSpPr>
          <p:sp>
            <p:nvSpPr>
              <p:cNvPr id="231" name="Diamond 230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2" name="TextBox 231"/>
                  <p:cNvSpPr txBox="1"/>
                  <p:nvPr/>
                </p:nvSpPr>
                <p:spPr>
                  <a:xfrm>
                    <a:off x="1676618" y="2905534"/>
                    <a:ext cx="26431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32" name="TextBox 2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4312" cy="23011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8919" r="-5405" b="-16667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33" name="Straight Arrow Connector 232"/>
            <p:cNvCxnSpPr>
              <a:stCxn id="227" idx="3"/>
              <a:endCxn id="231" idx="1"/>
            </p:cNvCxnSpPr>
            <p:nvPr/>
          </p:nvCxnSpPr>
          <p:spPr>
            <a:xfrm flipV="1">
              <a:off x="11036516" y="3008071"/>
              <a:ext cx="305871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4" name="Group 233"/>
            <p:cNvGrpSpPr/>
            <p:nvPr/>
          </p:nvGrpSpPr>
          <p:grpSpPr>
            <a:xfrm>
              <a:off x="7091954" y="3463588"/>
              <a:ext cx="353709" cy="359111"/>
              <a:chOff x="1063135" y="3603288"/>
              <a:chExt cx="353709" cy="359111"/>
            </a:xfrm>
          </p:grpSpPr>
          <p:sp>
            <p:nvSpPr>
              <p:cNvPr id="235" name="Oval 234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TextBox 235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36" name="TextBox 2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714" r="-28571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7" name="Group 236"/>
            <p:cNvGrpSpPr/>
            <p:nvPr/>
          </p:nvGrpSpPr>
          <p:grpSpPr>
            <a:xfrm>
              <a:off x="8370588" y="3463588"/>
              <a:ext cx="353709" cy="359111"/>
              <a:chOff x="1063135" y="3603288"/>
              <a:chExt cx="353709" cy="359111"/>
            </a:xfrm>
          </p:grpSpPr>
          <p:sp>
            <p:nvSpPr>
              <p:cNvPr id="238" name="Oval 237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9" name="TextBox 238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39" name="TextBox 2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5714" r="-32143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0" name="Group 239"/>
            <p:cNvGrpSpPr/>
            <p:nvPr/>
          </p:nvGrpSpPr>
          <p:grpSpPr>
            <a:xfrm>
              <a:off x="10724915" y="3463587"/>
              <a:ext cx="353709" cy="359111"/>
              <a:chOff x="1063135" y="3603288"/>
              <a:chExt cx="353709" cy="359111"/>
            </a:xfrm>
          </p:grpSpPr>
          <p:sp>
            <p:nvSpPr>
              <p:cNvPr id="241" name="Oval 240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2" name="TextBox 241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2" name="TextBox 2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5714" r="-35714" b="-16667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3" name="TextBox 242"/>
            <p:cNvSpPr txBox="1"/>
            <p:nvPr/>
          </p:nvSpPr>
          <p:spPr>
            <a:xfrm>
              <a:off x="8173769" y="4140591"/>
              <a:ext cx="1795583" cy="307777"/>
            </a:xfrm>
            <a:prstGeom prst="rect">
              <a:avLst/>
            </a:prstGeom>
            <a:solidFill>
              <a:srgbClr val="00B0F0"/>
            </a:solidFill>
            <a:ln w="158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14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Attention (Linear Sum)</a:t>
              </a:r>
            </a:p>
          </p:txBody>
        </p:sp>
        <p:cxnSp>
          <p:nvCxnSpPr>
            <p:cNvPr id="244" name="Straight Arrow Connector 243"/>
            <p:cNvCxnSpPr>
              <a:stCxn id="235" idx="0"/>
              <a:endCxn id="203" idx="2"/>
            </p:cNvCxnSpPr>
            <p:nvPr/>
          </p:nvCxnSpPr>
          <p:spPr>
            <a:xfrm flipV="1">
              <a:off x="7268809" y="3205968"/>
              <a:ext cx="6733" cy="25762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/>
            <p:cNvCxnSpPr>
              <a:stCxn id="238" idx="0"/>
              <a:endCxn id="213" idx="2"/>
            </p:cNvCxnSpPr>
            <p:nvPr/>
          </p:nvCxnSpPr>
          <p:spPr>
            <a:xfrm flipV="1">
              <a:off x="8547443" y="3206285"/>
              <a:ext cx="33" cy="257303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/>
            <p:cNvCxnSpPr>
              <a:stCxn id="241" idx="0"/>
              <a:endCxn id="227" idx="2"/>
            </p:cNvCxnSpPr>
            <p:nvPr/>
          </p:nvCxnSpPr>
          <p:spPr>
            <a:xfrm flipV="1">
              <a:off x="10901770" y="3205968"/>
              <a:ext cx="33" cy="25761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8" name="Group 247"/>
            <p:cNvGrpSpPr/>
            <p:nvPr/>
          </p:nvGrpSpPr>
          <p:grpSpPr>
            <a:xfrm>
              <a:off x="7140829" y="4962272"/>
              <a:ext cx="269426" cy="392997"/>
              <a:chOff x="2447922" y="2814638"/>
              <a:chExt cx="318135" cy="402431"/>
            </a:xfrm>
          </p:grpSpPr>
          <p:sp>
            <p:nvSpPr>
              <p:cNvPr id="249" name="Rounded Rectangle 248"/>
              <p:cNvSpPr/>
              <p:nvPr/>
            </p:nvSpPr>
            <p:spPr>
              <a:xfrm>
                <a:off x="2447922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0" name="TextBox 249"/>
                  <p:cNvSpPr txBox="1"/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0" name="TextBox 2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4483" r="-2069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1" name="Group 250"/>
            <p:cNvGrpSpPr/>
            <p:nvPr/>
          </p:nvGrpSpPr>
          <p:grpSpPr>
            <a:xfrm>
              <a:off x="6510455" y="4922581"/>
              <a:ext cx="376542" cy="479108"/>
              <a:chOff x="1585519" y="2759978"/>
              <a:chExt cx="444617" cy="511728"/>
            </a:xfrm>
          </p:grpSpPr>
          <p:sp>
            <p:nvSpPr>
              <p:cNvPr id="252" name="Diamond 251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3" name="TextBox 252"/>
                  <p:cNvSpPr txBox="1"/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3" name="TextBox 2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4" name="Straight Arrow Connector 253"/>
            <p:cNvCxnSpPr>
              <a:stCxn id="252" idx="3"/>
              <a:endCxn id="249" idx="1"/>
            </p:cNvCxnSpPr>
            <p:nvPr/>
          </p:nvCxnSpPr>
          <p:spPr>
            <a:xfrm flipV="1">
              <a:off x="6886997" y="5158771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5" name="Group 254"/>
            <p:cNvGrpSpPr/>
            <p:nvPr/>
          </p:nvGrpSpPr>
          <p:grpSpPr>
            <a:xfrm>
              <a:off x="7740225" y="4918135"/>
              <a:ext cx="376542" cy="479108"/>
              <a:chOff x="1585519" y="2759978"/>
              <a:chExt cx="444617" cy="511728"/>
            </a:xfrm>
          </p:grpSpPr>
          <p:sp>
            <p:nvSpPr>
              <p:cNvPr id="256" name="Diamond 255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7" name="TextBox 256"/>
                  <p:cNvSpPr txBox="1"/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257" name="TextBox 2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2857" r="-571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8" name="Group 257"/>
            <p:cNvGrpSpPr/>
            <p:nvPr/>
          </p:nvGrpSpPr>
          <p:grpSpPr>
            <a:xfrm>
              <a:off x="8412763" y="4962589"/>
              <a:ext cx="269426" cy="392997"/>
              <a:chOff x="2524125" y="2814638"/>
              <a:chExt cx="318135" cy="402431"/>
            </a:xfrm>
          </p:grpSpPr>
          <p:sp>
            <p:nvSpPr>
              <p:cNvPr id="259" name="Rounded Rectangle 258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0" name="TextBox 259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60" name="TextBox 25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61" name="Straight Arrow Connector 260"/>
            <p:cNvCxnSpPr>
              <a:stCxn id="256" idx="3"/>
              <a:endCxn id="259" idx="1"/>
            </p:cNvCxnSpPr>
            <p:nvPr/>
          </p:nvCxnSpPr>
          <p:spPr>
            <a:xfrm>
              <a:off x="8116767" y="5157689"/>
              <a:ext cx="295996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261"/>
            <p:cNvCxnSpPr>
              <a:stCxn id="249" idx="3"/>
              <a:endCxn id="256" idx="1"/>
            </p:cNvCxnSpPr>
            <p:nvPr/>
          </p:nvCxnSpPr>
          <p:spPr>
            <a:xfrm flipV="1">
              <a:off x="7410255" y="5157689"/>
              <a:ext cx="329970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3" name="Group 262"/>
            <p:cNvGrpSpPr/>
            <p:nvPr/>
          </p:nvGrpSpPr>
          <p:grpSpPr>
            <a:xfrm>
              <a:off x="8994410" y="4918135"/>
              <a:ext cx="376542" cy="479108"/>
              <a:chOff x="1585519" y="2759978"/>
              <a:chExt cx="444617" cy="511728"/>
            </a:xfrm>
          </p:grpSpPr>
          <p:sp>
            <p:nvSpPr>
              <p:cNvPr id="264" name="Diamond 263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5" name="TextBox 264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65" name="TextBox 26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66" name="Straight Arrow Connector 265"/>
            <p:cNvCxnSpPr>
              <a:stCxn id="259" idx="3"/>
              <a:endCxn id="264" idx="1"/>
            </p:cNvCxnSpPr>
            <p:nvPr/>
          </p:nvCxnSpPr>
          <p:spPr>
            <a:xfrm flipV="1">
              <a:off x="8682189" y="5157689"/>
              <a:ext cx="312221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>
              <a:stCxn id="264" idx="3"/>
            </p:cNvCxnSpPr>
            <p:nvPr/>
          </p:nvCxnSpPr>
          <p:spPr>
            <a:xfrm>
              <a:off x="9370952" y="5157689"/>
              <a:ext cx="277780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TextBox 267"/>
            <p:cNvSpPr txBox="1"/>
            <p:nvPr/>
          </p:nvSpPr>
          <p:spPr>
            <a:xfrm>
              <a:off x="9549325" y="4802327"/>
              <a:ext cx="623889" cy="52322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2800" dirty="0">
                  <a:latin typeface="Baskerville Old Face" panose="02020602080505020303" pitchFamily="18" charset="0"/>
                  <a:ea typeface="Verdana" panose="020B0604030504040204" pitchFamily="34" charset="0"/>
                  <a:cs typeface="Times New Roman" panose="02020603050405020304" pitchFamily="18" charset="0"/>
                </a:rPr>
                <a:t>…..</a:t>
              </a:r>
            </a:p>
          </p:txBody>
        </p:sp>
        <p:grpSp>
          <p:nvGrpSpPr>
            <p:cNvPr id="269" name="Group 268"/>
            <p:cNvGrpSpPr/>
            <p:nvPr/>
          </p:nvGrpSpPr>
          <p:grpSpPr>
            <a:xfrm>
              <a:off x="10094553" y="4917818"/>
              <a:ext cx="445572" cy="479108"/>
              <a:chOff x="1585519" y="2759978"/>
              <a:chExt cx="526127" cy="511728"/>
            </a:xfrm>
          </p:grpSpPr>
          <p:sp>
            <p:nvSpPr>
              <p:cNvPr id="270" name="Diamond 269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1" name="TextBox 270"/>
                  <p:cNvSpPr txBox="1"/>
                  <p:nvPr/>
                </p:nvSpPr>
                <p:spPr>
                  <a:xfrm>
                    <a:off x="1664390" y="2905534"/>
                    <a:ext cx="341917" cy="18080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100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1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IN" sz="11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IN" sz="1100" i="0" dirty="0"/>
                  </a:p>
                </p:txBody>
              </p:sp>
            </mc:Choice>
            <mc:Fallback xmlns="">
              <p:sp>
                <p:nvSpPr>
                  <p:cNvPr id="271" name="TextBox 2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341917" cy="18080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2766" r="-8511" b="-17857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2" name="Group 271"/>
            <p:cNvGrpSpPr/>
            <p:nvPr/>
          </p:nvGrpSpPr>
          <p:grpSpPr>
            <a:xfrm>
              <a:off x="10767090" y="4962272"/>
              <a:ext cx="269426" cy="392997"/>
              <a:chOff x="2524125" y="2814638"/>
              <a:chExt cx="318135" cy="402431"/>
            </a:xfrm>
          </p:grpSpPr>
          <p:sp>
            <p:nvSpPr>
              <p:cNvPr id="273" name="Rounded Rectangle 272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4" name="TextBox 273"/>
                  <p:cNvSpPr txBox="1"/>
                  <p:nvPr/>
                </p:nvSpPr>
                <p:spPr>
                  <a:xfrm>
                    <a:off x="2543048" y="2892929"/>
                    <a:ext cx="237812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4" name="TextBox 2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37812" cy="22061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1212" r="-6061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75" name="Straight Arrow Connector 274"/>
            <p:cNvCxnSpPr>
              <a:stCxn id="270" idx="3"/>
              <a:endCxn id="273" idx="1"/>
            </p:cNvCxnSpPr>
            <p:nvPr/>
          </p:nvCxnSpPr>
          <p:spPr>
            <a:xfrm>
              <a:off x="10540125" y="5157372"/>
              <a:ext cx="226965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11342387" y="4917818"/>
              <a:ext cx="376542" cy="479108"/>
              <a:chOff x="1585519" y="2759978"/>
              <a:chExt cx="444617" cy="511728"/>
            </a:xfrm>
          </p:grpSpPr>
          <p:sp>
            <p:nvSpPr>
              <p:cNvPr id="277" name="Diamond 276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8" name="TextBox 277"/>
                  <p:cNvSpPr txBox="1"/>
                  <p:nvPr/>
                </p:nvSpPr>
                <p:spPr>
                  <a:xfrm>
                    <a:off x="1676618" y="2905534"/>
                    <a:ext cx="234027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78" name="TextBox 2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34027" cy="23011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1212" r="-303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79" name="Straight Arrow Connector 278"/>
            <p:cNvCxnSpPr>
              <a:stCxn id="273" idx="3"/>
              <a:endCxn id="277" idx="1"/>
            </p:cNvCxnSpPr>
            <p:nvPr/>
          </p:nvCxnSpPr>
          <p:spPr>
            <a:xfrm flipV="1">
              <a:off x="11036516" y="5157372"/>
              <a:ext cx="305871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0" name="Group 279"/>
            <p:cNvGrpSpPr/>
            <p:nvPr/>
          </p:nvGrpSpPr>
          <p:grpSpPr>
            <a:xfrm>
              <a:off x="7091954" y="5612889"/>
              <a:ext cx="353709" cy="359111"/>
              <a:chOff x="1063135" y="3603288"/>
              <a:chExt cx="353709" cy="359111"/>
            </a:xfrm>
          </p:grpSpPr>
          <p:sp>
            <p:nvSpPr>
              <p:cNvPr id="281" name="Oval 280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2" name="TextBox 281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2" name="TextBox 28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714" r="-2857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3" name="Group 282"/>
            <p:cNvGrpSpPr/>
            <p:nvPr/>
          </p:nvGrpSpPr>
          <p:grpSpPr>
            <a:xfrm>
              <a:off x="8370588" y="5612889"/>
              <a:ext cx="353709" cy="359111"/>
              <a:chOff x="1063135" y="3603288"/>
              <a:chExt cx="353709" cy="359111"/>
            </a:xfrm>
          </p:grpSpPr>
          <p:sp>
            <p:nvSpPr>
              <p:cNvPr id="284" name="Oval 283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5" name="TextBox 284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5" name="TextBox 2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5714" r="-3214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6" name="Group 285"/>
            <p:cNvGrpSpPr/>
            <p:nvPr/>
          </p:nvGrpSpPr>
          <p:grpSpPr>
            <a:xfrm>
              <a:off x="10724915" y="5612888"/>
              <a:ext cx="353709" cy="359111"/>
              <a:chOff x="1063135" y="3603288"/>
              <a:chExt cx="353709" cy="359111"/>
            </a:xfrm>
          </p:grpSpPr>
          <p:sp>
            <p:nvSpPr>
              <p:cNvPr id="287" name="Oval 286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8" name="TextBox 287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8" name="TextBox 2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5714" r="-17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9" name="Straight Arrow Connector 288"/>
            <p:cNvCxnSpPr>
              <a:stCxn id="281" idx="0"/>
              <a:endCxn id="249" idx="2"/>
            </p:cNvCxnSpPr>
            <p:nvPr/>
          </p:nvCxnSpPr>
          <p:spPr>
            <a:xfrm flipV="1">
              <a:off x="7268809" y="5355269"/>
              <a:ext cx="6733" cy="25762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Arrow Connector 289"/>
            <p:cNvCxnSpPr>
              <a:stCxn id="284" idx="0"/>
              <a:endCxn id="259" idx="2"/>
            </p:cNvCxnSpPr>
            <p:nvPr/>
          </p:nvCxnSpPr>
          <p:spPr>
            <a:xfrm flipV="1">
              <a:off x="8547443" y="5355586"/>
              <a:ext cx="33" cy="257303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Arrow Connector 290"/>
            <p:cNvCxnSpPr>
              <a:stCxn id="287" idx="0"/>
              <a:endCxn id="273" idx="2"/>
            </p:cNvCxnSpPr>
            <p:nvPr/>
          </p:nvCxnSpPr>
          <p:spPr>
            <a:xfrm flipV="1">
              <a:off x="10901770" y="5355269"/>
              <a:ext cx="33" cy="25761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Elbow Connector 291"/>
            <p:cNvCxnSpPr>
              <a:stCxn id="277" idx="0"/>
              <a:endCxn id="243" idx="2"/>
            </p:cNvCxnSpPr>
            <p:nvPr/>
          </p:nvCxnSpPr>
          <p:spPr>
            <a:xfrm rot="16200000" flipV="1">
              <a:off x="10066385" y="3453544"/>
              <a:ext cx="469450" cy="2459097"/>
            </a:xfrm>
            <a:prstGeom prst="bentConnector3">
              <a:avLst>
                <a:gd name="adj1" fmla="val 62681"/>
              </a:avLst>
            </a:prstGeom>
            <a:ln w="15875">
              <a:solidFill>
                <a:schemeClr val="accent3">
                  <a:lumMod val="50000"/>
                  <a:alpha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TextBox 293"/>
            <p:cNvSpPr txBox="1"/>
            <p:nvPr/>
          </p:nvSpPr>
          <p:spPr>
            <a:xfrm>
              <a:off x="9524273" y="3433866"/>
              <a:ext cx="662361" cy="27699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Decoder</a:t>
              </a:r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9539513" y="5665147"/>
              <a:ext cx="655949" cy="27699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sz="1200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Encoder</a:t>
              </a:r>
            </a:p>
          </p:txBody>
        </p:sp>
        <p:cxnSp>
          <p:nvCxnSpPr>
            <p:cNvPr id="18" name="Elbow Connector 17"/>
            <p:cNvCxnSpPr>
              <a:stCxn id="252" idx="0"/>
              <a:endCxn id="243" idx="2"/>
            </p:cNvCxnSpPr>
            <p:nvPr/>
          </p:nvCxnSpPr>
          <p:spPr>
            <a:xfrm rot="5400000" flipH="1" flipV="1">
              <a:off x="7648037" y="3499058"/>
              <a:ext cx="474213" cy="2372835"/>
            </a:xfrm>
            <a:prstGeom prst="bentConnector3">
              <a:avLst>
                <a:gd name="adj1" fmla="val 63056"/>
              </a:avLst>
            </a:prstGeom>
            <a:ln w="15875">
              <a:solidFill>
                <a:schemeClr val="accent3">
                  <a:lumMod val="50000"/>
                  <a:alpha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Elbow Connector 389"/>
            <p:cNvCxnSpPr>
              <a:stCxn id="256" idx="0"/>
              <a:endCxn id="243" idx="2"/>
            </p:cNvCxnSpPr>
            <p:nvPr/>
          </p:nvCxnSpPr>
          <p:spPr>
            <a:xfrm rot="5400000" flipH="1" flipV="1">
              <a:off x="8265145" y="4111720"/>
              <a:ext cx="469767" cy="1143065"/>
            </a:xfrm>
            <a:prstGeom prst="bentConnector3">
              <a:avLst>
                <a:gd name="adj1" fmla="val 62166"/>
              </a:avLst>
            </a:prstGeom>
            <a:ln w="15875">
              <a:solidFill>
                <a:schemeClr val="accent3">
                  <a:lumMod val="50000"/>
                  <a:alpha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Elbow Connector 390"/>
            <p:cNvCxnSpPr>
              <a:stCxn id="264" idx="0"/>
              <a:endCxn id="243" idx="2"/>
            </p:cNvCxnSpPr>
            <p:nvPr/>
          </p:nvCxnSpPr>
          <p:spPr>
            <a:xfrm rot="16200000" flipV="1">
              <a:off x="8892238" y="4627692"/>
              <a:ext cx="469767" cy="111120"/>
            </a:xfrm>
            <a:prstGeom prst="bentConnector3">
              <a:avLst>
                <a:gd name="adj1" fmla="val 62165"/>
              </a:avLst>
            </a:prstGeom>
            <a:ln w="15875">
              <a:solidFill>
                <a:schemeClr val="accent3">
                  <a:lumMod val="50000"/>
                  <a:alpha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Elbow Connector 391"/>
            <p:cNvCxnSpPr>
              <a:stCxn id="270" idx="0"/>
              <a:endCxn id="243" idx="2"/>
            </p:cNvCxnSpPr>
            <p:nvPr/>
          </p:nvCxnSpPr>
          <p:spPr>
            <a:xfrm rot="16200000" flipV="1">
              <a:off x="9459725" y="4060204"/>
              <a:ext cx="469450" cy="1245778"/>
            </a:xfrm>
            <a:prstGeom prst="bentConnector3">
              <a:avLst>
                <a:gd name="adj1" fmla="val 62174"/>
              </a:avLst>
            </a:prstGeom>
            <a:ln w="15875">
              <a:solidFill>
                <a:schemeClr val="accent3">
                  <a:lumMod val="50000"/>
                  <a:alpha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Elbow Connector 393"/>
            <p:cNvCxnSpPr>
              <a:stCxn id="243" idx="0"/>
            </p:cNvCxnSpPr>
            <p:nvPr/>
          </p:nvCxnSpPr>
          <p:spPr>
            <a:xfrm rot="16200000" flipV="1">
              <a:off x="7471239" y="2540269"/>
              <a:ext cx="1099520" cy="2101124"/>
            </a:xfrm>
            <a:prstGeom prst="bentConnector3">
              <a:avLst>
                <a:gd name="adj1" fmla="val 8634"/>
              </a:avLst>
            </a:prstGeom>
            <a:ln w="15875">
              <a:solidFill>
                <a:schemeClr val="accent3">
                  <a:lumMod val="50000"/>
                  <a:alpha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Elbow Connector 400"/>
            <p:cNvCxnSpPr>
              <a:stCxn id="243" idx="0"/>
            </p:cNvCxnSpPr>
            <p:nvPr/>
          </p:nvCxnSpPr>
          <p:spPr>
            <a:xfrm rot="5400000" flipH="1" flipV="1">
              <a:off x="9289569" y="2824051"/>
              <a:ext cx="1098533" cy="1534548"/>
            </a:xfrm>
            <a:prstGeom prst="bentConnector3">
              <a:avLst>
                <a:gd name="adj1" fmla="val 8595"/>
              </a:avLst>
            </a:prstGeom>
            <a:ln w="15875">
              <a:solidFill>
                <a:schemeClr val="accent3">
                  <a:lumMod val="50000"/>
                  <a:alpha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Elbow Connector 401"/>
            <p:cNvCxnSpPr>
              <a:stCxn id="243" idx="0"/>
            </p:cNvCxnSpPr>
            <p:nvPr/>
          </p:nvCxnSpPr>
          <p:spPr>
            <a:xfrm rot="16200000" flipV="1">
              <a:off x="8095837" y="3164867"/>
              <a:ext cx="1099520" cy="851928"/>
            </a:xfrm>
            <a:prstGeom prst="bentConnector3">
              <a:avLst>
                <a:gd name="adj1" fmla="val 8634"/>
              </a:avLst>
            </a:prstGeom>
            <a:ln w="15875">
              <a:solidFill>
                <a:schemeClr val="accent3">
                  <a:lumMod val="50000"/>
                  <a:alpha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Elbow Connector 402"/>
            <p:cNvCxnSpPr>
              <a:stCxn id="243" idx="0"/>
            </p:cNvCxnSpPr>
            <p:nvPr/>
          </p:nvCxnSpPr>
          <p:spPr>
            <a:xfrm rot="5400000" flipH="1" flipV="1">
              <a:off x="8716560" y="3398212"/>
              <a:ext cx="1097381" cy="387378"/>
            </a:xfrm>
            <a:prstGeom prst="bentConnector3">
              <a:avLst>
                <a:gd name="adj1" fmla="val 8554"/>
              </a:avLst>
            </a:prstGeom>
            <a:ln w="15875">
              <a:solidFill>
                <a:schemeClr val="accent3">
                  <a:lumMod val="50000"/>
                  <a:alpha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TextBox 123"/>
          <p:cNvSpPr txBox="1"/>
          <p:nvPr/>
        </p:nvSpPr>
        <p:spPr>
          <a:xfrm>
            <a:off x="1318222" y="6186606"/>
            <a:ext cx="3655809" cy="40011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Vanilla RNN Encoder-Decoder Model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7226566" y="6157534"/>
            <a:ext cx="4512774" cy="40011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Attention-based RNN Encoder-Decoder Model</a:t>
            </a:r>
          </a:p>
        </p:txBody>
      </p:sp>
    </p:spTree>
    <p:extLst>
      <p:ext uri="{BB962C8B-B14F-4D97-AF65-F5344CB8AC3E}">
        <p14:creationId xmlns:p14="http://schemas.microsoft.com/office/powerpoint/2010/main" val="331234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231EA-23B5-4205-BE03-8FBFB955F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808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attention mechanism enhances an RNN-LSTM model by enabling it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selectively focus on the most relevant information within a sequence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 a conventional LSTM, information from sequential inputs is encoded into hidden states, and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model may struggle to preserve and effectively utilize important information when processing long sequences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The attention mechanism addresses this limitation by assigning a learned attention weight to each LSTM hidden state </a:t>
            </a:r>
            <a:r>
              <a:rPr lang="en-US" sz="2000" dirty="0">
                <a:latin typeface="Arial Narrow" panose="020B0606020202030204" pitchFamily="34" charset="0"/>
              </a:rPr>
              <a:t>according to its relevance to the current prediction.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These weights are typically computed using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scoring function followed by a 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softmax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operation</a:t>
            </a:r>
            <a:r>
              <a:rPr lang="en-US" sz="2000" dirty="0">
                <a:latin typeface="Arial Narrow" panose="020B0606020202030204" pitchFamily="34" charset="0"/>
              </a:rPr>
              <a:t>, producing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normalized importance values across the sequence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24817E-9D59-49DF-A483-512769C4C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007"/>
            <a:ext cx="10515600" cy="108617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2048492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74F9E-7E97-4DA9-A764-2FD4138A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9064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A context vector is then generated as the weighted sum of the LSTM hidden states, allowing the model to emphasize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informative time steps while reducing the influence of irrelevant ones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By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dynamically selecting relevant temporal features</a:t>
            </a:r>
            <a:r>
              <a:rPr lang="en-US" sz="2000" dirty="0">
                <a:latin typeface="Arial Narrow" panose="020B0606020202030204" pitchFamily="34" charset="0"/>
              </a:rPr>
              <a:t>, attention improves the ability of the RNN-LSTM model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capture long-range dependencies, enhance feature representation, and improve prediction accuracy, particularly for long and complex sequential data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61A09D-B646-455C-9C01-B316B4BCD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007"/>
            <a:ext cx="10515600" cy="108617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3977319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9519-BBC7-4757-869E-C9C710D8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Problems with Context-based Seq2Seq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31456-1A7E-4A2D-8B51-B98D7B253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647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Arial Narrow" panose="020B0606020202030204" pitchFamily="34" charset="0"/>
              </a:rPr>
              <a:t>In a conventional Sequence-to-Sequence (Seq2Seq) model, an encoder processes the entire input sequence and compresses it into a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single fixed-length context vector</a:t>
            </a:r>
            <a:r>
              <a:rPr lang="en-US" sz="2200" dirty="0">
                <a:latin typeface="Arial Narrow" panose="020B0606020202030204" pitchFamily="34" charset="0"/>
              </a:rPr>
              <a:t>, which is then used by the decoder to generate the output sequence.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This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fixed-length representation creates a significant information bottleneck</a:t>
            </a:r>
            <a:r>
              <a:rPr lang="en-US" sz="2200" dirty="0">
                <a:latin typeface="Arial Narrow" panose="020B0606020202030204" pitchFamily="34" charset="0"/>
              </a:rPr>
              <a:t>, particularly when the input sequence is long or contains complex dependencies.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As the sequence length increases, the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context vector may fail to preserve all relevant information</a:t>
            </a:r>
            <a:r>
              <a:rPr lang="en-US" sz="2200" dirty="0">
                <a:latin typeface="Arial Narrow" panose="020B0606020202030204" pitchFamily="34" charset="0"/>
              </a:rPr>
              <a:t>,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resulting in information loss and reduced performance</a:t>
            </a:r>
            <a:r>
              <a:rPr lang="en-US" sz="22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Furthermore, the decoder has access to the same compressed representation at every decoding step and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cannot directly identify which parts of the input are most relevant to the current output</a:t>
            </a:r>
            <a:r>
              <a:rPr lang="en-US" sz="2200" dirty="0">
                <a:latin typeface="Arial Narrow" panose="020B0606020202030204" pitchFamily="34" charset="0"/>
              </a:rPr>
              <a:t>. </a:t>
            </a:r>
            <a:endParaRPr lang="en-IN" sz="2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536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12F82-A0F3-421F-8992-81C907320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518"/>
            <a:ext cx="10515600" cy="4880889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attention mechanism addresses these limitations by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allowing the decoder to dynamically access all encoder hidden states rather than relying solely on a single context vector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At each decoding step, attention calculates relevance scores for the encoder hidden states, converts these scores into normalized attention weights, and computes a weighted sum to generate a step-specific context vector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Consequently, the decoder can focus on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different portions of the input sequence when generating different output tokens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This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reduces the information bottleneck</a:t>
            </a:r>
            <a:r>
              <a:rPr lang="en-US" sz="2000" dirty="0">
                <a:latin typeface="Arial Narrow" panose="020B0606020202030204" pitchFamily="34" charset="0"/>
              </a:rPr>
              <a:t>, improves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handling of long sequences and long-term dependencies</a:t>
            </a:r>
            <a:r>
              <a:rPr lang="en-US" sz="2000" dirty="0">
                <a:latin typeface="Arial Narrow" panose="020B0606020202030204" pitchFamily="34" charset="0"/>
              </a:rPr>
              <a:t>, and enables the model to align relevant input and output elements more effectively.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Thus, attention transforms the fixed-context Seq2Seq architecture into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more flexible model capable of selectively retrieving the information required for each decoding step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9FA55C-0C35-48C7-A87A-1D2586E23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939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</a:rPr>
              <a:t>How Attention Solves This?</a:t>
            </a:r>
            <a:endParaRPr lang="en-IN" sz="3600" dirty="0">
              <a:solidFill>
                <a:schemeClr val="tx1">
                  <a:lumMod val="95000"/>
                  <a:lumOff val="5000"/>
                </a:schemeClr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49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001" y="129203"/>
            <a:ext cx="10515600" cy="98515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2">
                    <a:lumMod val="10000"/>
                  </a:schemeClr>
                </a:solidFill>
                <a:latin typeface="Century" panose="02040604050505020304" pitchFamily="18" charset="0"/>
              </a:rPr>
              <a:t>How to Compute Attention (Context Vector)?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458" y="1114674"/>
            <a:ext cx="10735189" cy="84129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But how does it decide which states are more or less useful for every prediction </a:t>
            </a:r>
          </a:p>
          <a:p>
            <a:pPr marL="0" indent="0">
              <a:buNone/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   at every time step of decoder? </a:t>
            </a:r>
            <a:endParaRPr lang="en-IN" sz="2400" dirty="0">
              <a:latin typeface="Arial Narrow" panose="020B0606020202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5BFB1D25-0CA6-42A5-8B1F-3EA116A1192A}"/>
                  </a:ext>
                </a:extLst>
              </p:cNvPr>
              <p:cNvSpPr txBox="1"/>
              <p:nvPr/>
            </p:nvSpPr>
            <p:spPr>
              <a:xfrm>
                <a:off x="658746" y="2099829"/>
                <a:ext cx="5190452" cy="4482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Use a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Neural Network to “learn” which hidden encoder states to “attend” to and by how much.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First, compute alignment score: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𝑎𝑡𝑡</m:t>
                          </m:r>
                        </m:sub>
                      </m:sSub>
                      <m:d>
                        <m:dPr>
                          <m:ctrlP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000" b="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Normalize this score using SoftMax: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𝑆𝑜𝑓𝑡𝑚𝑎𝑥</m:t>
                      </m:r>
                      <m:d>
                        <m:d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 the context vector is computed as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linear combination of hidden states</a:t>
                </a:r>
              </a:p>
              <a:p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where T=4</a:t>
                </a:r>
              </a:p>
              <a:p>
                <a:endParaRPr lang="en-US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 this context vector used in decoder</a:t>
                </a:r>
              </a:p>
              <a:p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𝑑𝑒𝑐𝑜𝑑𝑒𝑟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5BFB1D25-0CA6-42A5-8B1F-3EA116A11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46" y="2099829"/>
                <a:ext cx="5190452" cy="4482061"/>
              </a:xfrm>
              <a:prstGeom prst="rect">
                <a:avLst/>
              </a:prstGeom>
              <a:blipFill>
                <a:blip r:embed="rId2"/>
                <a:stretch>
                  <a:fillRect l="-1174" t="-6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6" name="Group 365"/>
          <p:cNvGrpSpPr/>
          <p:nvPr/>
        </p:nvGrpSpPr>
        <p:grpSpPr>
          <a:xfrm>
            <a:off x="5279010" y="1838228"/>
            <a:ext cx="6711086" cy="4831126"/>
            <a:chOff x="5522728" y="2223704"/>
            <a:chExt cx="6467368" cy="4445649"/>
          </a:xfrm>
        </p:grpSpPr>
        <p:sp>
          <p:nvSpPr>
            <p:cNvPr id="231" name="Rounded Rectangle 230"/>
            <p:cNvSpPr/>
            <p:nvPr/>
          </p:nvSpPr>
          <p:spPr>
            <a:xfrm>
              <a:off x="6900892" y="4386368"/>
              <a:ext cx="2529381" cy="532233"/>
            </a:xfrm>
            <a:prstGeom prst="roundRect">
              <a:avLst/>
            </a:prstGeom>
            <a:solidFill>
              <a:srgbClr val="FFFF00">
                <a:alpha val="1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7348022" y="5531339"/>
              <a:ext cx="269426" cy="392997"/>
              <a:chOff x="2447922" y="2814638"/>
              <a:chExt cx="318135" cy="402431"/>
            </a:xfrm>
          </p:grpSpPr>
          <p:sp>
            <p:nvSpPr>
              <p:cNvPr id="76" name="Rounded Rectangle 75"/>
              <p:cNvSpPr/>
              <p:nvPr/>
            </p:nvSpPr>
            <p:spPr>
              <a:xfrm>
                <a:off x="2447922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5" name="TextBox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4483" r="-2069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/>
            <p:cNvGrpSpPr/>
            <p:nvPr/>
          </p:nvGrpSpPr>
          <p:grpSpPr>
            <a:xfrm>
              <a:off x="6717648" y="5491648"/>
              <a:ext cx="376542" cy="479108"/>
              <a:chOff x="1585519" y="2759978"/>
              <a:chExt cx="444617" cy="511728"/>
            </a:xfrm>
          </p:grpSpPr>
          <p:sp>
            <p:nvSpPr>
              <p:cNvPr id="74" name="Diamond 73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8" name="TextBox 1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2" name="Straight Arrow Connector 31"/>
            <p:cNvCxnSpPr>
              <a:stCxn id="74" idx="3"/>
              <a:endCxn id="76" idx="1"/>
            </p:cNvCxnSpPr>
            <p:nvPr/>
          </p:nvCxnSpPr>
          <p:spPr>
            <a:xfrm flipV="1">
              <a:off x="7094190" y="5727838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/>
          </p:nvGrpSpPr>
          <p:grpSpPr>
            <a:xfrm>
              <a:off x="7868036" y="5487202"/>
              <a:ext cx="376542" cy="479108"/>
              <a:chOff x="1585519" y="2759978"/>
              <a:chExt cx="444617" cy="511728"/>
            </a:xfrm>
          </p:grpSpPr>
          <p:sp>
            <p:nvSpPr>
              <p:cNvPr id="72" name="Diamond 71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62" name="TextBox 1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2857" r="-571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/>
            <p:cNvGrpSpPr/>
            <p:nvPr/>
          </p:nvGrpSpPr>
          <p:grpSpPr>
            <a:xfrm>
              <a:off x="8522325" y="5531656"/>
              <a:ext cx="269426" cy="392997"/>
              <a:chOff x="2524125" y="2814638"/>
              <a:chExt cx="318135" cy="402431"/>
            </a:xfrm>
          </p:grpSpPr>
          <p:sp>
            <p:nvSpPr>
              <p:cNvPr id="70" name="Rounded Rectangle 69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1" name="TextBox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7" name="Group 36"/>
            <p:cNvGrpSpPr/>
            <p:nvPr/>
          </p:nvGrpSpPr>
          <p:grpSpPr>
            <a:xfrm>
              <a:off x="9057135" y="5487202"/>
              <a:ext cx="376542" cy="479108"/>
              <a:chOff x="1585519" y="2759978"/>
              <a:chExt cx="444617" cy="511728"/>
            </a:xfrm>
          </p:grpSpPr>
          <p:sp>
            <p:nvSpPr>
              <p:cNvPr id="68" name="Diamond 67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0" name="TextBox 1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Group 40"/>
            <p:cNvGrpSpPr/>
            <p:nvPr/>
          </p:nvGrpSpPr>
          <p:grpSpPr>
            <a:xfrm>
              <a:off x="10256499" y="5486885"/>
              <a:ext cx="394774" cy="479108"/>
              <a:chOff x="1585519" y="2759978"/>
              <a:chExt cx="526127" cy="511728"/>
            </a:xfrm>
          </p:grpSpPr>
          <p:sp>
            <p:nvSpPr>
              <p:cNvPr id="66" name="Diamond 65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/>
                  <p:cNvSpPr txBox="1"/>
                  <p:nvPr/>
                </p:nvSpPr>
                <p:spPr>
                  <a:xfrm>
                    <a:off x="1717227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67" name="TextBox 6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7227" y="2905534"/>
                    <a:ext cx="262419" cy="23011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1250" r="-12500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Group 41"/>
            <p:cNvGrpSpPr/>
            <p:nvPr/>
          </p:nvGrpSpPr>
          <p:grpSpPr>
            <a:xfrm>
              <a:off x="10927446" y="5531339"/>
              <a:ext cx="269426" cy="392997"/>
              <a:chOff x="2524125" y="2814638"/>
              <a:chExt cx="318135" cy="402431"/>
            </a:xfrm>
          </p:grpSpPr>
          <p:sp>
            <p:nvSpPr>
              <p:cNvPr id="64" name="Rounded Rectangle 63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5" name="TextBox 6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4" name="Group 43"/>
            <p:cNvGrpSpPr/>
            <p:nvPr/>
          </p:nvGrpSpPr>
          <p:grpSpPr>
            <a:xfrm>
              <a:off x="11468614" y="5486885"/>
              <a:ext cx="376542" cy="479108"/>
              <a:chOff x="1585519" y="2759978"/>
              <a:chExt cx="444617" cy="511728"/>
            </a:xfrm>
          </p:grpSpPr>
          <p:sp>
            <p:nvSpPr>
              <p:cNvPr id="62" name="Diamond 61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3" name="TextBox 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2222" r="-5556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6" name="Group 45"/>
            <p:cNvGrpSpPr/>
            <p:nvPr/>
          </p:nvGrpSpPr>
          <p:grpSpPr>
            <a:xfrm>
              <a:off x="7305497" y="6181956"/>
              <a:ext cx="353709" cy="359111"/>
              <a:chOff x="1063135" y="3603288"/>
              <a:chExt cx="353709" cy="359111"/>
            </a:xfrm>
          </p:grpSpPr>
          <p:sp>
            <p:nvSpPr>
              <p:cNvPr id="60" name="Oval 59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7" name="TextBox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714" r="-2857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7" name="Group 46"/>
            <p:cNvGrpSpPr/>
            <p:nvPr/>
          </p:nvGrpSpPr>
          <p:grpSpPr>
            <a:xfrm>
              <a:off x="8477766" y="6181956"/>
              <a:ext cx="353709" cy="359111"/>
              <a:chOff x="1063135" y="3603288"/>
              <a:chExt cx="353709" cy="359111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0" name="TextBox 1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5714" r="-3214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Group 47"/>
            <p:cNvGrpSpPr/>
            <p:nvPr/>
          </p:nvGrpSpPr>
          <p:grpSpPr>
            <a:xfrm>
              <a:off x="10882892" y="6181955"/>
              <a:ext cx="353709" cy="359111"/>
              <a:chOff x="1063135" y="3603288"/>
              <a:chExt cx="353709" cy="359111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7" name="TextBox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4483" r="-27586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/>
            <p:cNvCxnSpPr>
              <a:stCxn id="60" idx="0"/>
              <a:endCxn id="76" idx="2"/>
            </p:cNvCxnSpPr>
            <p:nvPr/>
          </p:nvCxnSpPr>
          <p:spPr>
            <a:xfrm flipV="1">
              <a:off x="7482352" y="5924336"/>
              <a:ext cx="383" cy="25762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58" idx="0"/>
              <a:endCxn id="70" idx="2"/>
            </p:cNvCxnSpPr>
            <p:nvPr/>
          </p:nvCxnSpPr>
          <p:spPr>
            <a:xfrm flipV="1">
              <a:off x="8654621" y="5924653"/>
              <a:ext cx="2417" cy="257303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56" idx="0"/>
              <a:endCxn id="64" idx="2"/>
            </p:cNvCxnSpPr>
            <p:nvPr/>
          </p:nvCxnSpPr>
          <p:spPr>
            <a:xfrm flipV="1">
              <a:off x="11059747" y="5924336"/>
              <a:ext cx="2412" cy="25761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8968340" y="6213940"/>
              <a:ext cx="646331" cy="2616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Encoder</a:t>
              </a:r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9712328" y="5531339"/>
              <a:ext cx="276338" cy="392997"/>
              <a:chOff x="2524125" y="2814638"/>
              <a:chExt cx="318135" cy="402431"/>
            </a:xfrm>
          </p:grpSpPr>
          <p:sp>
            <p:nvSpPr>
              <p:cNvPr id="101" name="Rounded Rectangle 100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/>
                  <p:cNvSpPr txBox="1"/>
                  <p:nvPr/>
                </p:nvSpPr>
                <p:spPr>
                  <a:xfrm>
                    <a:off x="2543048" y="2892929"/>
                    <a:ext cx="259545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2" name="TextBox 1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59545" cy="22061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6" name="Straight Arrow Connector 105"/>
            <p:cNvCxnSpPr>
              <a:stCxn id="76" idx="3"/>
              <a:endCxn id="72" idx="1"/>
            </p:cNvCxnSpPr>
            <p:nvPr/>
          </p:nvCxnSpPr>
          <p:spPr>
            <a:xfrm flipV="1">
              <a:off x="7617448" y="5726756"/>
              <a:ext cx="250588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stCxn id="72" idx="3"/>
              <a:endCxn id="70" idx="1"/>
            </p:cNvCxnSpPr>
            <p:nvPr/>
          </p:nvCxnSpPr>
          <p:spPr>
            <a:xfrm>
              <a:off x="8244578" y="5726756"/>
              <a:ext cx="277747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70" idx="3"/>
              <a:endCxn id="68" idx="1"/>
            </p:cNvCxnSpPr>
            <p:nvPr/>
          </p:nvCxnSpPr>
          <p:spPr>
            <a:xfrm flipV="1">
              <a:off x="8791751" y="5726756"/>
              <a:ext cx="265384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>
              <a:stCxn id="68" idx="3"/>
              <a:endCxn id="101" idx="1"/>
            </p:cNvCxnSpPr>
            <p:nvPr/>
          </p:nvCxnSpPr>
          <p:spPr>
            <a:xfrm>
              <a:off x="9433677" y="5726756"/>
              <a:ext cx="278651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>
              <a:stCxn id="101" idx="3"/>
              <a:endCxn id="66" idx="1"/>
            </p:cNvCxnSpPr>
            <p:nvPr/>
          </p:nvCxnSpPr>
          <p:spPr>
            <a:xfrm flipV="1">
              <a:off x="9988666" y="5726439"/>
              <a:ext cx="26783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stCxn id="66" idx="3"/>
              <a:endCxn id="64" idx="1"/>
            </p:cNvCxnSpPr>
            <p:nvPr/>
          </p:nvCxnSpPr>
          <p:spPr>
            <a:xfrm>
              <a:off x="10651273" y="5726439"/>
              <a:ext cx="27617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>
              <a:stCxn id="64" idx="3"/>
              <a:endCxn id="62" idx="1"/>
            </p:cNvCxnSpPr>
            <p:nvPr/>
          </p:nvCxnSpPr>
          <p:spPr>
            <a:xfrm flipV="1">
              <a:off x="11196872" y="5726439"/>
              <a:ext cx="271742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Group 181"/>
            <p:cNvGrpSpPr/>
            <p:nvPr/>
          </p:nvGrpSpPr>
          <p:grpSpPr>
            <a:xfrm>
              <a:off x="7348022" y="3304072"/>
              <a:ext cx="269426" cy="392997"/>
              <a:chOff x="7306493" y="2589003"/>
              <a:chExt cx="269426" cy="392997"/>
            </a:xfrm>
          </p:grpSpPr>
          <p:sp>
            <p:nvSpPr>
              <p:cNvPr id="134" name="Rounded Rectangle 133"/>
              <p:cNvSpPr/>
              <p:nvPr/>
            </p:nvSpPr>
            <p:spPr>
              <a:xfrm>
                <a:off x="7306493" y="2589003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TextBox 134"/>
                  <p:cNvSpPr txBox="1"/>
                  <p:nvPr/>
                </p:nvSpPr>
                <p:spPr>
                  <a:xfrm>
                    <a:off x="7336199" y="2665776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5" name="TextBox 1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665776"/>
                    <a:ext cx="173190" cy="21544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34483" r="-24138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6" name="Group 135"/>
            <p:cNvGrpSpPr/>
            <p:nvPr/>
          </p:nvGrpSpPr>
          <p:grpSpPr>
            <a:xfrm>
              <a:off x="6717648" y="3264381"/>
              <a:ext cx="376542" cy="479108"/>
              <a:chOff x="1585519" y="2759978"/>
              <a:chExt cx="444617" cy="511728"/>
            </a:xfrm>
          </p:grpSpPr>
          <p:sp>
            <p:nvSpPr>
              <p:cNvPr id="137" name="Diamond 136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TextBox 137"/>
                  <p:cNvSpPr txBox="1"/>
                  <p:nvPr/>
                </p:nvSpPr>
                <p:spPr>
                  <a:xfrm>
                    <a:off x="1688897" y="2900981"/>
                    <a:ext cx="25106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8" name="TextBox 1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51062" cy="23011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20000" r="-2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9" name="Straight Arrow Connector 138"/>
            <p:cNvCxnSpPr>
              <a:stCxn id="137" idx="3"/>
              <a:endCxn id="134" idx="1"/>
            </p:cNvCxnSpPr>
            <p:nvPr/>
          </p:nvCxnSpPr>
          <p:spPr>
            <a:xfrm flipV="1">
              <a:off x="7094190" y="3500571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/>
            <p:cNvGrpSpPr/>
            <p:nvPr/>
          </p:nvGrpSpPr>
          <p:grpSpPr>
            <a:xfrm>
              <a:off x="7868036" y="3259935"/>
              <a:ext cx="376542" cy="479108"/>
              <a:chOff x="1585519" y="2759978"/>
              <a:chExt cx="444617" cy="511728"/>
            </a:xfrm>
          </p:grpSpPr>
          <p:sp>
            <p:nvSpPr>
              <p:cNvPr id="141" name="Diamond 140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Box 141"/>
                  <p:cNvSpPr txBox="1"/>
                  <p:nvPr/>
                </p:nvSpPr>
                <p:spPr>
                  <a:xfrm>
                    <a:off x="1664390" y="2905534"/>
                    <a:ext cx="242507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42" name="TextBox 1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42507" cy="23011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1212" r="-606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3" name="Group 182"/>
            <p:cNvGrpSpPr/>
            <p:nvPr/>
          </p:nvGrpSpPr>
          <p:grpSpPr>
            <a:xfrm>
              <a:off x="8522325" y="3304389"/>
              <a:ext cx="269426" cy="392997"/>
              <a:chOff x="8480796" y="2589320"/>
              <a:chExt cx="269426" cy="392997"/>
            </a:xfrm>
          </p:grpSpPr>
          <p:sp>
            <p:nvSpPr>
              <p:cNvPr id="144" name="Rounded Rectangle 143"/>
              <p:cNvSpPr/>
              <p:nvPr/>
            </p:nvSpPr>
            <p:spPr>
              <a:xfrm>
                <a:off x="8480796" y="2589320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TextBox 144"/>
                  <p:cNvSpPr txBox="1"/>
                  <p:nvPr/>
                </p:nvSpPr>
                <p:spPr>
                  <a:xfrm>
                    <a:off x="8496822" y="2665776"/>
                    <a:ext cx="241476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5" name="TextBox 1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96822" y="2665776"/>
                    <a:ext cx="241476" cy="21544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7949" r="-5128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6" name="Group 145"/>
            <p:cNvGrpSpPr/>
            <p:nvPr/>
          </p:nvGrpSpPr>
          <p:grpSpPr>
            <a:xfrm>
              <a:off x="9057135" y="3259935"/>
              <a:ext cx="376542" cy="479108"/>
              <a:chOff x="1585519" y="2759978"/>
              <a:chExt cx="444617" cy="511728"/>
            </a:xfrm>
          </p:grpSpPr>
          <p:sp>
            <p:nvSpPr>
              <p:cNvPr id="147" name="Diamond 146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/>
                  <p:cNvSpPr txBox="1"/>
                  <p:nvPr/>
                </p:nvSpPr>
                <p:spPr>
                  <a:xfrm>
                    <a:off x="1676618" y="2905534"/>
                    <a:ext cx="25106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8" name="TextBox 1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51062" cy="23011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20000" r="-2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9" name="Group 148"/>
            <p:cNvGrpSpPr/>
            <p:nvPr/>
          </p:nvGrpSpPr>
          <p:grpSpPr>
            <a:xfrm>
              <a:off x="10256499" y="3259618"/>
              <a:ext cx="394774" cy="479108"/>
              <a:chOff x="1585519" y="2759978"/>
              <a:chExt cx="526127" cy="511728"/>
            </a:xfrm>
          </p:grpSpPr>
          <p:sp>
            <p:nvSpPr>
              <p:cNvPr id="150" name="Diamond 149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TextBox 150"/>
                  <p:cNvSpPr txBox="1"/>
                  <p:nvPr/>
                </p:nvSpPr>
                <p:spPr>
                  <a:xfrm>
                    <a:off x="1717227" y="2905534"/>
                    <a:ext cx="28336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51" name="TextBox 1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7227" y="2905534"/>
                    <a:ext cx="283368" cy="23011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20000" r="-2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5" name="Group 184"/>
            <p:cNvGrpSpPr/>
            <p:nvPr/>
          </p:nvGrpSpPr>
          <p:grpSpPr>
            <a:xfrm>
              <a:off x="10927446" y="3304072"/>
              <a:ext cx="269426" cy="392997"/>
              <a:chOff x="10885917" y="2589003"/>
              <a:chExt cx="269426" cy="392997"/>
            </a:xfrm>
          </p:grpSpPr>
          <p:sp>
            <p:nvSpPr>
              <p:cNvPr id="153" name="Rounded Rectangle 152"/>
              <p:cNvSpPr/>
              <p:nvPr/>
            </p:nvSpPr>
            <p:spPr>
              <a:xfrm>
                <a:off x="10885917" y="2589003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TextBox 153"/>
                  <p:cNvSpPr txBox="1"/>
                  <p:nvPr/>
                </p:nvSpPr>
                <p:spPr>
                  <a:xfrm>
                    <a:off x="10901943" y="2665459"/>
                    <a:ext cx="241476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4" name="TextBox 1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1943" y="2665459"/>
                    <a:ext cx="241476" cy="215444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17500" r="-250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5" name="Group 154"/>
            <p:cNvGrpSpPr/>
            <p:nvPr/>
          </p:nvGrpSpPr>
          <p:grpSpPr>
            <a:xfrm>
              <a:off x="11468614" y="3259618"/>
              <a:ext cx="376542" cy="479108"/>
              <a:chOff x="1585519" y="2759978"/>
              <a:chExt cx="444617" cy="511728"/>
            </a:xfrm>
          </p:grpSpPr>
          <p:sp>
            <p:nvSpPr>
              <p:cNvPr id="156" name="Diamond 155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7" name="TextBox 156"/>
                  <p:cNvSpPr txBox="1"/>
                  <p:nvPr/>
                </p:nvSpPr>
                <p:spPr>
                  <a:xfrm>
                    <a:off x="1676618" y="2905534"/>
                    <a:ext cx="24742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7" name="TextBox 1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47429" cy="23011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20588" r="-5882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0" name="TextBox 169"/>
            <p:cNvSpPr txBox="1"/>
            <p:nvPr/>
          </p:nvSpPr>
          <p:spPr>
            <a:xfrm>
              <a:off x="8867273" y="2987371"/>
              <a:ext cx="646331" cy="2616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Decoder</a:t>
              </a:r>
            </a:p>
          </p:txBody>
        </p:sp>
        <p:grpSp>
          <p:nvGrpSpPr>
            <p:cNvPr id="184" name="Group 183"/>
            <p:cNvGrpSpPr/>
            <p:nvPr/>
          </p:nvGrpSpPr>
          <p:grpSpPr>
            <a:xfrm>
              <a:off x="9712328" y="3304072"/>
              <a:ext cx="276338" cy="392997"/>
              <a:chOff x="9670799" y="2589003"/>
              <a:chExt cx="276338" cy="392997"/>
            </a:xfrm>
          </p:grpSpPr>
          <p:sp>
            <p:nvSpPr>
              <p:cNvPr id="172" name="Rounded Rectangle 171"/>
              <p:cNvSpPr/>
              <p:nvPr/>
            </p:nvSpPr>
            <p:spPr>
              <a:xfrm>
                <a:off x="9670799" y="2589003"/>
                <a:ext cx="276338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TextBox 172"/>
                  <p:cNvSpPr txBox="1"/>
                  <p:nvPr/>
                </p:nvSpPr>
                <p:spPr>
                  <a:xfrm>
                    <a:off x="9687236" y="2665459"/>
                    <a:ext cx="241476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3" name="TextBox 17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7236" y="2665459"/>
                    <a:ext cx="241476" cy="21544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7500" r="-250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4" name="Straight Arrow Connector 173"/>
            <p:cNvCxnSpPr>
              <a:stCxn id="134" idx="3"/>
              <a:endCxn id="141" idx="1"/>
            </p:cNvCxnSpPr>
            <p:nvPr/>
          </p:nvCxnSpPr>
          <p:spPr>
            <a:xfrm flipV="1">
              <a:off x="7617448" y="3499489"/>
              <a:ext cx="250588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141" idx="3"/>
              <a:endCxn id="144" idx="1"/>
            </p:cNvCxnSpPr>
            <p:nvPr/>
          </p:nvCxnSpPr>
          <p:spPr>
            <a:xfrm>
              <a:off x="8244578" y="3499489"/>
              <a:ext cx="277747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/>
            <p:cNvCxnSpPr>
              <a:stCxn id="144" idx="3"/>
              <a:endCxn id="147" idx="1"/>
            </p:cNvCxnSpPr>
            <p:nvPr/>
          </p:nvCxnSpPr>
          <p:spPr>
            <a:xfrm flipV="1">
              <a:off x="8791751" y="3499489"/>
              <a:ext cx="265384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/>
            <p:cNvCxnSpPr>
              <a:stCxn id="147" idx="3"/>
              <a:endCxn id="172" idx="1"/>
            </p:cNvCxnSpPr>
            <p:nvPr/>
          </p:nvCxnSpPr>
          <p:spPr>
            <a:xfrm>
              <a:off x="9433677" y="3499489"/>
              <a:ext cx="278651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/>
            <p:cNvCxnSpPr>
              <a:stCxn id="172" idx="3"/>
              <a:endCxn id="150" idx="1"/>
            </p:cNvCxnSpPr>
            <p:nvPr/>
          </p:nvCxnSpPr>
          <p:spPr>
            <a:xfrm flipV="1">
              <a:off x="9988666" y="3499172"/>
              <a:ext cx="26783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/>
            <p:cNvCxnSpPr>
              <a:stCxn id="150" idx="3"/>
              <a:endCxn id="153" idx="1"/>
            </p:cNvCxnSpPr>
            <p:nvPr/>
          </p:nvCxnSpPr>
          <p:spPr>
            <a:xfrm>
              <a:off x="10651273" y="3499172"/>
              <a:ext cx="27617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/>
            <p:cNvCxnSpPr>
              <a:stCxn id="153" idx="3"/>
              <a:endCxn id="156" idx="1"/>
            </p:cNvCxnSpPr>
            <p:nvPr/>
          </p:nvCxnSpPr>
          <p:spPr>
            <a:xfrm flipV="1">
              <a:off x="11196872" y="3499172"/>
              <a:ext cx="271742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6" name="Group 185"/>
            <p:cNvGrpSpPr/>
            <p:nvPr/>
          </p:nvGrpSpPr>
          <p:grpSpPr>
            <a:xfrm>
              <a:off x="9674745" y="6163890"/>
              <a:ext cx="353709" cy="359111"/>
              <a:chOff x="1063135" y="3603288"/>
              <a:chExt cx="353709" cy="359111"/>
            </a:xfrm>
          </p:grpSpPr>
          <p:sp>
            <p:nvSpPr>
              <p:cNvPr id="187" name="Oval 186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TextBox 187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8" name="TextBox 1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35714" r="-32143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89" name="Straight Arrow Connector 188"/>
            <p:cNvCxnSpPr>
              <a:stCxn id="187" idx="0"/>
              <a:endCxn id="101" idx="2"/>
            </p:cNvCxnSpPr>
            <p:nvPr/>
          </p:nvCxnSpPr>
          <p:spPr>
            <a:xfrm flipH="1" flipV="1">
              <a:off x="9850497" y="5924336"/>
              <a:ext cx="1103" cy="23955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4" name="Group 193"/>
            <p:cNvGrpSpPr/>
            <p:nvPr/>
          </p:nvGrpSpPr>
          <p:grpSpPr>
            <a:xfrm>
              <a:off x="7356431" y="2595091"/>
              <a:ext cx="261939" cy="273612"/>
              <a:chOff x="7291824" y="2242585"/>
              <a:chExt cx="261939" cy="273612"/>
            </a:xfrm>
          </p:grpSpPr>
          <p:sp>
            <p:nvSpPr>
              <p:cNvPr id="193" name="Rectangle 192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TextBox 191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2" name="TextBox 19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35714" r="-17857" b="-25714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96" name="Straight Arrow Connector 195"/>
            <p:cNvCxnSpPr>
              <a:stCxn id="134" idx="0"/>
              <a:endCxn id="193" idx="2"/>
            </p:cNvCxnSpPr>
            <p:nvPr/>
          </p:nvCxnSpPr>
          <p:spPr>
            <a:xfrm flipV="1">
              <a:off x="7482735" y="2868703"/>
              <a:ext cx="4666" cy="435369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197" name="Group 196"/>
            <p:cNvGrpSpPr/>
            <p:nvPr/>
          </p:nvGrpSpPr>
          <p:grpSpPr>
            <a:xfrm>
              <a:off x="8526960" y="2594910"/>
              <a:ext cx="261939" cy="273612"/>
              <a:chOff x="7291824" y="2242585"/>
              <a:chExt cx="261939" cy="273612"/>
            </a:xfrm>
          </p:grpSpPr>
          <p:sp>
            <p:nvSpPr>
              <p:cNvPr id="198" name="Rectangle 197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9" name="TextBox 198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9" name="TextBox 19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35714" r="-21429" b="-25714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0" name="Straight Arrow Connector 199"/>
            <p:cNvCxnSpPr>
              <a:stCxn id="144" idx="0"/>
              <a:endCxn id="198" idx="2"/>
            </p:cNvCxnSpPr>
            <p:nvPr/>
          </p:nvCxnSpPr>
          <p:spPr>
            <a:xfrm flipV="1">
              <a:off x="8657038" y="2868522"/>
              <a:ext cx="892" cy="435867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201" name="Group 200"/>
            <p:cNvGrpSpPr/>
            <p:nvPr/>
          </p:nvGrpSpPr>
          <p:grpSpPr>
            <a:xfrm>
              <a:off x="10927790" y="2595670"/>
              <a:ext cx="261939" cy="273612"/>
              <a:chOff x="7291824" y="2242585"/>
              <a:chExt cx="261939" cy="273612"/>
            </a:xfrm>
          </p:grpSpPr>
          <p:sp>
            <p:nvSpPr>
              <p:cNvPr id="202" name="Rectangle 201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3" name="TextBox 202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3" name="TextBox 20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39286" r="-17857" b="-28571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4" name="Straight Arrow Connector 203"/>
            <p:cNvCxnSpPr>
              <a:stCxn id="153" idx="0"/>
              <a:endCxn id="202" idx="2"/>
            </p:cNvCxnSpPr>
            <p:nvPr/>
          </p:nvCxnSpPr>
          <p:spPr>
            <a:xfrm flipH="1" flipV="1">
              <a:off x="11058760" y="2869282"/>
              <a:ext cx="3399" cy="434790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205" name="Group 204"/>
            <p:cNvGrpSpPr/>
            <p:nvPr/>
          </p:nvGrpSpPr>
          <p:grpSpPr>
            <a:xfrm>
              <a:off x="9719239" y="2599977"/>
              <a:ext cx="261939" cy="273612"/>
              <a:chOff x="7291824" y="2242585"/>
              <a:chExt cx="261939" cy="273612"/>
            </a:xfrm>
          </p:grpSpPr>
          <p:sp>
            <p:nvSpPr>
              <p:cNvPr id="206" name="Rectangle 205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7" name="TextBox 2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39286" r="-21429" b="-25714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8" name="Straight Arrow Connector 207"/>
            <p:cNvCxnSpPr>
              <a:stCxn id="172" idx="0"/>
              <a:endCxn id="206" idx="2"/>
            </p:cNvCxnSpPr>
            <p:nvPr/>
          </p:nvCxnSpPr>
          <p:spPr>
            <a:xfrm flipH="1" flipV="1">
              <a:off x="9850209" y="2873589"/>
              <a:ext cx="288" cy="430483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19" name="Freeform 218"/>
            <p:cNvSpPr/>
            <p:nvPr/>
          </p:nvSpPr>
          <p:spPr>
            <a:xfrm>
              <a:off x="7483887" y="2223704"/>
              <a:ext cx="1113472" cy="1761337"/>
            </a:xfrm>
            <a:custGeom>
              <a:avLst/>
              <a:gdLst>
                <a:gd name="connsiteX0" fmla="*/ 0 w 1127760"/>
                <a:gd name="connsiteY0" fmla="*/ 396589 h 1923797"/>
                <a:gd name="connsiteX1" fmla="*/ 419100 w 1127760"/>
                <a:gd name="connsiteY1" fmla="*/ 91789 h 1923797"/>
                <a:gd name="connsiteX2" fmla="*/ 944880 w 1127760"/>
                <a:gd name="connsiteY2" fmla="*/ 1829149 h 1923797"/>
                <a:gd name="connsiteX3" fmla="*/ 1127760 w 1127760"/>
                <a:gd name="connsiteY3" fmla="*/ 1539589 h 1923797"/>
                <a:gd name="connsiteX0" fmla="*/ 0 w 1108710"/>
                <a:gd name="connsiteY0" fmla="*/ 396589 h 1969681"/>
                <a:gd name="connsiteX1" fmla="*/ 419100 w 1108710"/>
                <a:gd name="connsiteY1" fmla="*/ 91789 h 1969681"/>
                <a:gd name="connsiteX2" fmla="*/ 944880 w 1108710"/>
                <a:gd name="connsiteY2" fmla="*/ 1829149 h 1969681"/>
                <a:gd name="connsiteX3" fmla="*/ 1108710 w 1108710"/>
                <a:gd name="connsiteY3" fmla="*/ 1683607 h 1969681"/>
                <a:gd name="connsiteX0" fmla="*/ 0 w 1072991"/>
                <a:gd name="connsiteY0" fmla="*/ 396589 h 1965627"/>
                <a:gd name="connsiteX1" fmla="*/ 419100 w 1072991"/>
                <a:gd name="connsiteY1" fmla="*/ 91789 h 1965627"/>
                <a:gd name="connsiteX2" fmla="*/ 944880 w 1072991"/>
                <a:gd name="connsiteY2" fmla="*/ 1829149 h 1965627"/>
                <a:gd name="connsiteX3" fmla="*/ 1072991 w 1072991"/>
                <a:gd name="connsiteY3" fmla="*/ 1672939 h 1965627"/>
                <a:gd name="connsiteX0" fmla="*/ 0 w 1072991"/>
                <a:gd name="connsiteY0" fmla="*/ 397549 h 1976000"/>
                <a:gd name="connsiteX1" fmla="*/ 419100 w 1072991"/>
                <a:gd name="connsiteY1" fmla="*/ 92749 h 1976000"/>
                <a:gd name="connsiteX2" fmla="*/ 875824 w 1072991"/>
                <a:gd name="connsiteY2" fmla="*/ 1843444 h 1976000"/>
                <a:gd name="connsiteX3" fmla="*/ 1072991 w 1072991"/>
                <a:gd name="connsiteY3" fmla="*/ 1673899 h 1976000"/>
                <a:gd name="connsiteX0" fmla="*/ 0 w 1072991"/>
                <a:gd name="connsiteY0" fmla="*/ 397549 h 1976001"/>
                <a:gd name="connsiteX1" fmla="*/ 471488 w 1072991"/>
                <a:gd name="connsiteY1" fmla="*/ 92749 h 1976001"/>
                <a:gd name="connsiteX2" fmla="*/ 875824 w 1072991"/>
                <a:gd name="connsiteY2" fmla="*/ 1843444 h 1976001"/>
                <a:gd name="connsiteX3" fmla="*/ 1072991 w 1072991"/>
                <a:gd name="connsiteY3" fmla="*/ 1673899 h 1976001"/>
                <a:gd name="connsiteX0" fmla="*/ 0 w 1106328"/>
                <a:gd name="connsiteY0" fmla="*/ 391589 h 1978042"/>
                <a:gd name="connsiteX1" fmla="*/ 504825 w 1106328"/>
                <a:gd name="connsiteY1" fmla="*/ 94790 h 1978042"/>
                <a:gd name="connsiteX2" fmla="*/ 909161 w 1106328"/>
                <a:gd name="connsiteY2" fmla="*/ 1845485 h 1978042"/>
                <a:gd name="connsiteX3" fmla="*/ 1106328 w 1106328"/>
                <a:gd name="connsiteY3" fmla="*/ 1675940 h 1978042"/>
                <a:gd name="connsiteX0" fmla="*/ 0 w 1113472"/>
                <a:gd name="connsiteY0" fmla="*/ 407581 h 1972698"/>
                <a:gd name="connsiteX1" fmla="*/ 511969 w 1113472"/>
                <a:gd name="connsiteY1" fmla="*/ 89446 h 1972698"/>
                <a:gd name="connsiteX2" fmla="*/ 916305 w 1113472"/>
                <a:gd name="connsiteY2" fmla="*/ 1840141 h 1972698"/>
                <a:gd name="connsiteX3" fmla="*/ 1113472 w 1113472"/>
                <a:gd name="connsiteY3" fmla="*/ 1670596 h 197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3472" h="1972698">
                  <a:moveTo>
                    <a:pt x="0" y="407581"/>
                  </a:moveTo>
                  <a:cubicBezTo>
                    <a:pt x="130810" y="135801"/>
                    <a:pt x="359252" y="-149314"/>
                    <a:pt x="511969" y="89446"/>
                  </a:cubicBezTo>
                  <a:cubicBezTo>
                    <a:pt x="664686" y="328206"/>
                    <a:pt x="816055" y="1576616"/>
                    <a:pt x="916305" y="1840141"/>
                  </a:cubicBezTo>
                  <a:cubicBezTo>
                    <a:pt x="1016556" y="2103666"/>
                    <a:pt x="1081087" y="1936026"/>
                    <a:pt x="1113472" y="1670596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0" name="Freeform 219"/>
            <p:cNvSpPr/>
            <p:nvPr/>
          </p:nvSpPr>
          <p:spPr>
            <a:xfrm>
              <a:off x="8669655" y="2230054"/>
              <a:ext cx="1113472" cy="1761337"/>
            </a:xfrm>
            <a:custGeom>
              <a:avLst/>
              <a:gdLst>
                <a:gd name="connsiteX0" fmla="*/ 0 w 1127760"/>
                <a:gd name="connsiteY0" fmla="*/ 396589 h 1923797"/>
                <a:gd name="connsiteX1" fmla="*/ 419100 w 1127760"/>
                <a:gd name="connsiteY1" fmla="*/ 91789 h 1923797"/>
                <a:gd name="connsiteX2" fmla="*/ 944880 w 1127760"/>
                <a:gd name="connsiteY2" fmla="*/ 1829149 h 1923797"/>
                <a:gd name="connsiteX3" fmla="*/ 1127760 w 1127760"/>
                <a:gd name="connsiteY3" fmla="*/ 1539589 h 1923797"/>
                <a:gd name="connsiteX0" fmla="*/ 0 w 1108710"/>
                <a:gd name="connsiteY0" fmla="*/ 396589 h 1969681"/>
                <a:gd name="connsiteX1" fmla="*/ 419100 w 1108710"/>
                <a:gd name="connsiteY1" fmla="*/ 91789 h 1969681"/>
                <a:gd name="connsiteX2" fmla="*/ 944880 w 1108710"/>
                <a:gd name="connsiteY2" fmla="*/ 1829149 h 1969681"/>
                <a:gd name="connsiteX3" fmla="*/ 1108710 w 1108710"/>
                <a:gd name="connsiteY3" fmla="*/ 1683607 h 1969681"/>
                <a:gd name="connsiteX0" fmla="*/ 0 w 1072991"/>
                <a:gd name="connsiteY0" fmla="*/ 396589 h 1965627"/>
                <a:gd name="connsiteX1" fmla="*/ 419100 w 1072991"/>
                <a:gd name="connsiteY1" fmla="*/ 91789 h 1965627"/>
                <a:gd name="connsiteX2" fmla="*/ 944880 w 1072991"/>
                <a:gd name="connsiteY2" fmla="*/ 1829149 h 1965627"/>
                <a:gd name="connsiteX3" fmla="*/ 1072991 w 1072991"/>
                <a:gd name="connsiteY3" fmla="*/ 1672939 h 1965627"/>
                <a:gd name="connsiteX0" fmla="*/ 0 w 1072991"/>
                <a:gd name="connsiteY0" fmla="*/ 397549 h 1976000"/>
                <a:gd name="connsiteX1" fmla="*/ 419100 w 1072991"/>
                <a:gd name="connsiteY1" fmla="*/ 92749 h 1976000"/>
                <a:gd name="connsiteX2" fmla="*/ 875824 w 1072991"/>
                <a:gd name="connsiteY2" fmla="*/ 1843444 h 1976000"/>
                <a:gd name="connsiteX3" fmla="*/ 1072991 w 1072991"/>
                <a:gd name="connsiteY3" fmla="*/ 1673899 h 1976000"/>
                <a:gd name="connsiteX0" fmla="*/ 0 w 1072991"/>
                <a:gd name="connsiteY0" fmla="*/ 397549 h 1976001"/>
                <a:gd name="connsiteX1" fmla="*/ 471488 w 1072991"/>
                <a:gd name="connsiteY1" fmla="*/ 92749 h 1976001"/>
                <a:gd name="connsiteX2" fmla="*/ 875824 w 1072991"/>
                <a:gd name="connsiteY2" fmla="*/ 1843444 h 1976001"/>
                <a:gd name="connsiteX3" fmla="*/ 1072991 w 1072991"/>
                <a:gd name="connsiteY3" fmla="*/ 1673899 h 1976001"/>
                <a:gd name="connsiteX0" fmla="*/ 0 w 1106328"/>
                <a:gd name="connsiteY0" fmla="*/ 391589 h 1978042"/>
                <a:gd name="connsiteX1" fmla="*/ 504825 w 1106328"/>
                <a:gd name="connsiteY1" fmla="*/ 94790 h 1978042"/>
                <a:gd name="connsiteX2" fmla="*/ 909161 w 1106328"/>
                <a:gd name="connsiteY2" fmla="*/ 1845485 h 1978042"/>
                <a:gd name="connsiteX3" fmla="*/ 1106328 w 1106328"/>
                <a:gd name="connsiteY3" fmla="*/ 1675940 h 1978042"/>
                <a:gd name="connsiteX0" fmla="*/ 0 w 1113472"/>
                <a:gd name="connsiteY0" fmla="*/ 407581 h 1972698"/>
                <a:gd name="connsiteX1" fmla="*/ 511969 w 1113472"/>
                <a:gd name="connsiteY1" fmla="*/ 89446 h 1972698"/>
                <a:gd name="connsiteX2" fmla="*/ 916305 w 1113472"/>
                <a:gd name="connsiteY2" fmla="*/ 1840141 h 1972698"/>
                <a:gd name="connsiteX3" fmla="*/ 1113472 w 1113472"/>
                <a:gd name="connsiteY3" fmla="*/ 1670596 h 197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3472" h="1972698">
                  <a:moveTo>
                    <a:pt x="0" y="407581"/>
                  </a:moveTo>
                  <a:cubicBezTo>
                    <a:pt x="130810" y="135801"/>
                    <a:pt x="359252" y="-149314"/>
                    <a:pt x="511969" y="89446"/>
                  </a:cubicBezTo>
                  <a:cubicBezTo>
                    <a:pt x="664686" y="328206"/>
                    <a:pt x="816055" y="1576616"/>
                    <a:pt x="916305" y="1840141"/>
                  </a:cubicBezTo>
                  <a:cubicBezTo>
                    <a:pt x="1016556" y="2103666"/>
                    <a:pt x="1081087" y="1936026"/>
                    <a:pt x="1113472" y="1670596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1" name="Freeform 220"/>
            <p:cNvSpPr/>
            <p:nvPr/>
          </p:nvSpPr>
          <p:spPr>
            <a:xfrm>
              <a:off x="9866106" y="2230054"/>
              <a:ext cx="1138378" cy="1761337"/>
            </a:xfrm>
            <a:custGeom>
              <a:avLst/>
              <a:gdLst>
                <a:gd name="connsiteX0" fmla="*/ 0 w 1127760"/>
                <a:gd name="connsiteY0" fmla="*/ 396589 h 1923797"/>
                <a:gd name="connsiteX1" fmla="*/ 419100 w 1127760"/>
                <a:gd name="connsiteY1" fmla="*/ 91789 h 1923797"/>
                <a:gd name="connsiteX2" fmla="*/ 944880 w 1127760"/>
                <a:gd name="connsiteY2" fmla="*/ 1829149 h 1923797"/>
                <a:gd name="connsiteX3" fmla="*/ 1127760 w 1127760"/>
                <a:gd name="connsiteY3" fmla="*/ 1539589 h 1923797"/>
                <a:gd name="connsiteX0" fmla="*/ 0 w 1108710"/>
                <a:gd name="connsiteY0" fmla="*/ 396589 h 1969681"/>
                <a:gd name="connsiteX1" fmla="*/ 419100 w 1108710"/>
                <a:gd name="connsiteY1" fmla="*/ 91789 h 1969681"/>
                <a:gd name="connsiteX2" fmla="*/ 944880 w 1108710"/>
                <a:gd name="connsiteY2" fmla="*/ 1829149 h 1969681"/>
                <a:gd name="connsiteX3" fmla="*/ 1108710 w 1108710"/>
                <a:gd name="connsiteY3" fmla="*/ 1683607 h 1969681"/>
                <a:gd name="connsiteX0" fmla="*/ 0 w 1072991"/>
                <a:gd name="connsiteY0" fmla="*/ 396589 h 1965627"/>
                <a:gd name="connsiteX1" fmla="*/ 419100 w 1072991"/>
                <a:gd name="connsiteY1" fmla="*/ 91789 h 1965627"/>
                <a:gd name="connsiteX2" fmla="*/ 944880 w 1072991"/>
                <a:gd name="connsiteY2" fmla="*/ 1829149 h 1965627"/>
                <a:gd name="connsiteX3" fmla="*/ 1072991 w 1072991"/>
                <a:gd name="connsiteY3" fmla="*/ 1672939 h 1965627"/>
                <a:gd name="connsiteX0" fmla="*/ 0 w 1072991"/>
                <a:gd name="connsiteY0" fmla="*/ 397549 h 1976000"/>
                <a:gd name="connsiteX1" fmla="*/ 419100 w 1072991"/>
                <a:gd name="connsiteY1" fmla="*/ 92749 h 1976000"/>
                <a:gd name="connsiteX2" fmla="*/ 875824 w 1072991"/>
                <a:gd name="connsiteY2" fmla="*/ 1843444 h 1976000"/>
                <a:gd name="connsiteX3" fmla="*/ 1072991 w 1072991"/>
                <a:gd name="connsiteY3" fmla="*/ 1673899 h 1976000"/>
                <a:gd name="connsiteX0" fmla="*/ 0 w 1072991"/>
                <a:gd name="connsiteY0" fmla="*/ 397549 h 1976001"/>
                <a:gd name="connsiteX1" fmla="*/ 471488 w 1072991"/>
                <a:gd name="connsiteY1" fmla="*/ 92749 h 1976001"/>
                <a:gd name="connsiteX2" fmla="*/ 875824 w 1072991"/>
                <a:gd name="connsiteY2" fmla="*/ 1843444 h 1976001"/>
                <a:gd name="connsiteX3" fmla="*/ 1072991 w 1072991"/>
                <a:gd name="connsiteY3" fmla="*/ 1673899 h 1976001"/>
                <a:gd name="connsiteX0" fmla="*/ 0 w 1106328"/>
                <a:gd name="connsiteY0" fmla="*/ 391589 h 1978042"/>
                <a:gd name="connsiteX1" fmla="*/ 504825 w 1106328"/>
                <a:gd name="connsiteY1" fmla="*/ 94790 h 1978042"/>
                <a:gd name="connsiteX2" fmla="*/ 909161 w 1106328"/>
                <a:gd name="connsiteY2" fmla="*/ 1845485 h 1978042"/>
                <a:gd name="connsiteX3" fmla="*/ 1106328 w 1106328"/>
                <a:gd name="connsiteY3" fmla="*/ 1675940 h 1978042"/>
                <a:gd name="connsiteX0" fmla="*/ 0 w 1113472"/>
                <a:gd name="connsiteY0" fmla="*/ 407581 h 1972698"/>
                <a:gd name="connsiteX1" fmla="*/ 511969 w 1113472"/>
                <a:gd name="connsiteY1" fmla="*/ 89446 h 1972698"/>
                <a:gd name="connsiteX2" fmla="*/ 916305 w 1113472"/>
                <a:gd name="connsiteY2" fmla="*/ 1840141 h 1972698"/>
                <a:gd name="connsiteX3" fmla="*/ 1113472 w 1113472"/>
                <a:gd name="connsiteY3" fmla="*/ 1670596 h 197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3472" h="1972698">
                  <a:moveTo>
                    <a:pt x="0" y="407581"/>
                  </a:moveTo>
                  <a:cubicBezTo>
                    <a:pt x="130810" y="135801"/>
                    <a:pt x="359252" y="-149314"/>
                    <a:pt x="511969" y="89446"/>
                  </a:cubicBezTo>
                  <a:cubicBezTo>
                    <a:pt x="664686" y="328206"/>
                    <a:pt x="816055" y="1576616"/>
                    <a:pt x="916305" y="1840141"/>
                  </a:cubicBezTo>
                  <a:cubicBezTo>
                    <a:pt x="1016556" y="2103666"/>
                    <a:pt x="1081087" y="1936026"/>
                    <a:pt x="1113472" y="1670596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TextBox 223"/>
                <p:cNvSpPr txBox="1"/>
                <p:nvPr/>
              </p:nvSpPr>
              <p:spPr>
                <a:xfrm>
                  <a:off x="7148727" y="4564851"/>
                  <a:ext cx="570326" cy="19351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83000"/>
                  </a:schemeClr>
                </a:solid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att</m:t>
                          </m:r>
                        </m:sub>
                      </m:sSub>
                    </m:oMath>
                  </a14:m>
                  <a:r>
                    <a:rPr lang="en-IN" sz="9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(MLP)</a:t>
                  </a:r>
                </a:p>
              </p:txBody>
            </p:sp>
          </mc:Choice>
          <mc:Fallback xmlns="">
            <p:sp>
              <p:nvSpPr>
                <p:cNvPr id="224" name="TextBox 2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727" y="4564851"/>
                  <a:ext cx="570326" cy="193513"/>
                </a:xfrm>
                <a:prstGeom prst="rect">
                  <a:avLst/>
                </a:prstGeom>
                <a:blipFill>
                  <a:blip r:embed="rId34"/>
                  <a:stretch>
                    <a:fillRect t="-5882" r="-6316" b="-14706"/>
                  </a:stretch>
                </a:blip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5" name="TextBox 224"/>
            <p:cNvSpPr txBox="1"/>
            <p:nvPr/>
          </p:nvSpPr>
          <p:spPr>
            <a:xfrm>
              <a:off x="7716813" y="4564706"/>
              <a:ext cx="433265" cy="1935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rgbClr val="C00000">
                  <a:alpha val="68000"/>
                </a:srgb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IN" sz="900" dirty="0" err="1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SoftMax</a:t>
              </a:r>
              <a:endParaRPr lang="en-IN" sz="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TextBox 225"/>
                <p:cNvSpPr txBox="1"/>
                <p:nvPr/>
              </p:nvSpPr>
              <p:spPr>
                <a:xfrm>
                  <a:off x="8883503" y="4564851"/>
                  <a:ext cx="217735" cy="19351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l-GR" sz="5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IN" sz="5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IN" sz="5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6" name="TextBox 2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3503" y="4564851"/>
                  <a:ext cx="217735" cy="193513"/>
                </a:xfrm>
                <a:prstGeom prst="rect">
                  <a:avLst/>
                </a:prstGeom>
                <a:blipFill>
                  <a:blip r:embed="rId35"/>
                  <a:stretch>
                    <a:fillRect l="-76316" t="-123529" r="-39474" b="-170588"/>
                  </a:stretch>
                </a:blip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7" name="TextBox 226"/>
            <p:cNvSpPr txBox="1"/>
            <p:nvPr/>
          </p:nvSpPr>
          <p:spPr>
            <a:xfrm>
              <a:off x="9098999" y="4564706"/>
              <a:ext cx="192197" cy="19351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C00000">
                  <a:alpha val="68000"/>
                </a:srgb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IN" sz="1000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cxnSp>
          <p:nvCxnSpPr>
            <p:cNvPr id="229" name="Straight Arrow Connector 228"/>
            <p:cNvCxnSpPr>
              <a:stCxn id="225" idx="3"/>
              <a:endCxn id="226" idx="1"/>
            </p:cNvCxnSpPr>
            <p:nvPr/>
          </p:nvCxnSpPr>
          <p:spPr>
            <a:xfrm>
              <a:off x="8150078" y="4661463"/>
              <a:ext cx="733425" cy="145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TextBox 229"/>
                <p:cNvSpPr txBox="1"/>
                <p:nvPr/>
              </p:nvSpPr>
              <p:spPr>
                <a:xfrm>
                  <a:off x="8200149" y="4419165"/>
                  <a:ext cx="676404" cy="16863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0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0" name="TextBox 2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149" y="4419165"/>
                  <a:ext cx="676404" cy="168636"/>
                </a:xfrm>
                <a:prstGeom prst="rect">
                  <a:avLst/>
                </a:prstGeom>
                <a:blipFill>
                  <a:blip r:embed="rId36"/>
                  <a:stretch>
                    <a:fillRect b="-10714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TextBox 231"/>
                <p:cNvSpPr txBox="1"/>
                <p:nvPr/>
              </p:nvSpPr>
              <p:spPr>
                <a:xfrm>
                  <a:off x="8104647" y="4784944"/>
                  <a:ext cx="841577" cy="10772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7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ttention</m:t>
                        </m:r>
                        <m: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Mechanism</m:t>
                        </m:r>
                      </m:oMath>
                    </m:oMathPara>
                  </a14:m>
                  <a:endParaRPr lang="en-IN" sz="700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2" name="TextBox 2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647" y="4784944"/>
                  <a:ext cx="841577" cy="107722"/>
                </a:xfrm>
                <a:prstGeom prst="rect">
                  <a:avLst/>
                </a:prstGeom>
                <a:blipFill>
                  <a:blip r:embed="rId37"/>
                  <a:stretch>
                    <a:fillRect l="-2899" r="-1449" b="-11111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9" name="Elbow Connector 238"/>
            <p:cNvCxnSpPr>
              <a:stCxn id="134" idx="2"/>
              <a:endCxn id="153" idx="2"/>
            </p:cNvCxnSpPr>
            <p:nvPr/>
          </p:nvCxnSpPr>
          <p:spPr>
            <a:xfrm rot="16200000" flipH="1">
              <a:off x="9272447" y="1907357"/>
              <a:ext cx="12700" cy="3579424"/>
            </a:xfrm>
            <a:prstGeom prst="bentConnector3">
              <a:avLst>
                <a:gd name="adj1" fmla="val 3150000"/>
              </a:avLst>
            </a:prstGeom>
            <a:ln w="15875">
              <a:solidFill>
                <a:schemeClr val="accent6">
                  <a:lumMod val="75000"/>
                  <a:alpha val="93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241"/>
            <p:cNvCxnSpPr>
              <a:endCxn id="172" idx="2"/>
            </p:cNvCxnSpPr>
            <p:nvPr/>
          </p:nvCxnSpPr>
          <p:spPr>
            <a:xfrm flipV="1">
              <a:off x="9846921" y="3697069"/>
              <a:ext cx="3576" cy="386329"/>
            </a:xfrm>
            <a:prstGeom prst="straightConnector1">
              <a:avLst/>
            </a:prstGeom>
            <a:ln w="15875">
              <a:solidFill>
                <a:schemeClr val="accent6">
                  <a:lumMod val="75000"/>
                  <a:alpha val="93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/>
            <p:cNvCxnSpPr>
              <a:endCxn id="144" idx="2"/>
            </p:cNvCxnSpPr>
            <p:nvPr/>
          </p:nvCxnSpPr>
          <p:spPr>
            <a:xfrm flipV="1">
              <a:off x="8657030" y="3697386"/>
              <a:ext cx="8" cy="392679"/>
            </a:xfrm>
            <a:prstGeom prst="straightConnector1">
              <a:avLst/>
            </a:prstGeom>
            <a:ln w="15875">
              <a:solidFill>
                <a:schemeClr val="accent6">
                  <a:lumMod val="75000"/>
                  <a:alpha val="93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Elbow Connector 249"/>
            <p:cNvCxnSpPr>
              <a:stCxn id="227" idx="3"/>
            </p:cNvCxnSpPr>
            <p:nvPr/>
          </p:nvCxnSpPr>
          <p:spPr>
            <a:xfrm flipV="1">
              <a:off x="9291196" y="4089748"/>
              <a:ext cx="731408" cy="571715"/>
            </a:xfrm>
            <a:prstGeom prst="bentConnector3">
              <a:avLst>
                <a:gd name="adj1" fmla="val 107301"/>
              </a:avLst>
            </a:prstGeom>
            <a:ln w="15875">
              <a:solidFill>
                <a:schemeClr val="accent6">
                  <a:lumMod val="75000"/>
                  <a:alpha val="93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Elbow Connector 256"/>
            <p:cNvCxnSpPr>
              <a:stCxn id="150" idx="2"/>
            </p:cNvCxnSpPr>
            <p:nvPr/>
          </p:nvCxnSpPr>
          <p:spPr>
            <a:xfrm rot="5400000">
              <a:off x="8317200" y="2493238"/>
              <a:ext cx="891199" cy="3382175"/>
            </a:xfrm>
            <a:prstGeom prst="bentConnector4">
              <a:avLst>
                <a:gd name="adj1" fmla="val 50802"/>
                <a:gd name="adj2" fmla="val 117461"/>
              </a:avLst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Elbow Connector 262"/>
            <p:cNvCxnSpPr/>
            <p:nvPr/>
          </p:nvCxnSpPr>
          <p:spPr>
            <a:xfrm>
              <a:off x="6479381" y="4282767"/>
              <a:ext cx="2614429" cy="258011"/>
            </a:xfrm>
            <a:prstGeom prst="bentConnector3">
              <a:avLst>
                <a:gd name="adj1" fmla="val 100034"/>
              </a:avLst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>
              <a:stCxn id="147" idx="2"/>
            </p:cNvCxnSpPr>
            <p:nvPr/>
          </p:nvCxnSpPr>
          <p:spPr>
            <a:xfrm flipH="1">
              <a:off x="9245060" y="3739043"/>
              <a:ext cx="346" cy="447099"/>
            </a:xfrm>
            <a:prstGeom prst="line">
              <a:avLst/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>
              <a:stCxn id="141" idx="2"/>
            </p:cNvCxnSpPr>
            <p:nvPr/>
          </p:nvCxnSpPr>
          <p:spPr>
            <a:xfrm flipH="1">
              <a:off x="8053640" y="3739043"/>
              <a:ext cx="2667" cy="452899"/>
            </a:xfrm>
            <a:prstGeom prst="line">
              <a:avLst/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>
              <a:stCxn id="137" idx="2"/>
            </p:cNvCxnSpPr>
            <p:nvPr/>
          </p:nvCxnSpPr>
          <p:spPr>
            <a:xfrm flipH="1">
              <a:off x="6900892" y="3743489"/>
              <a:ext cx="5027" cy="448453"/>
            </a:xfrm>
            <a:prstGeom prst="line">
              <a:avLst/>
            </a:prstGeom>
            <a:ln w="15875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Elbow Connector 299"/>
            <p:cNvCxnSpPr>
              <a:stCxn id="62" idx="0"/>
            </p:cNvCxnSpPr>
            <p:nvPr/>
          </p:nvCxnSpPr>
          <p:spPr>
            <a:xfrm rot="16200000" flipV="1">
              <a:off x="8991188" y="2821188"/>
              <a:ext cx="746221" cy="4585174"/>
            </a:xfrm>
            <a:prstGeom prst="bentConnector4">
              <a:avLst>
                <a:gd name="adj1" fmla="val 46490"/>
                <a:gd name="adj2" fmla="val 113156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Elbow Connector 310"/>
            <p:cNvCxnSpPr/>
            <p:nvPr/>
          </p:nvCxnSpPr>
          <p:spPr>
            <a:xfrm flipV="1">
              <a:off x="6470268" y="4764574"/>
              <a:ext cx="2621857" cy="252693"/>
            </a:xfrm>
            <a:prstGeom prst="bentConnector3">
              <a:avLst>
                <a:gd name="adj1" fmla="val 99989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>
              <a:stCxn id="66" idx="0"/>
            </p:cNvCxnSpPr>
            <p:nvPr/>
          </p:nvCxnSpPr>
          <p:spPr>
            <a:xfrm flipH="1" flipV="1">
              <a:off x="10453776" y="5128833"/>
              <a:ext cx="110" cy="358052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>
              <a:stCxn id="68" idx="0"/>
            </p:cNvCxnSpPr>
            <p:nvPr/>
          </p:nvCxnSpPr>
          <p:spPr>
            <a:xfrm flipV="1">
              <a:off x="9245406" y="5140906"/>
              <a:ext cx="5370" cy="346296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>
              <a:stCxn id="72" idx="0"/>
            </p:cNvCxnSpPr>
            <p:nvPr/>
          </p:nvCxnSpPr>
          <p:spPr>
            <a:xfrm flipV="1">
              <a:off x="8056307" y="5133632"/>
              <a:ext cx="2703" cy="353570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3" name="TextBox 332"/>
                <p:cNvSpPr txBox="1"/>
                <p:nvPr/>
              </p:nvSpPr>
              <p:spPr>
                <a:xfrm>
                  <a:off x="9493923" y="4446973"/>
                  <a:ext cx="571951" cy="16863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05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0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3" name="TextBox 3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3923" y="4446973"/>
                  <a:ext cx="571951" cy="168636"/>
                </a:xfrm>
                <a:prstGeom prst="rect">
                  <a:avLst/>
                </a:prstGeom>
                <a:blipFill>
                  <a:blip r:embed="rId38"/>
                  <a:stretch>
                    <a:fillRect l="-2128" r="-1064" b="-10714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3" name="Straight Arrow Connector 342"/>
            <p:cNvCxnSpPr/>
            <p:nvPr/>
          </p:nvCxnSpPr>
          <p:spPr>
            <a:xfrm flipV="1">
              <a:off x="6455598" y="3499172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4" name="TextBox 343"/>
                <p:cNvSpPr txBox="1"/>
                <p:nvPr/>
              </p:nvSpPr>
              <p:spPr>
                <a:xfrm>
                  <a:off x="5522728" y="3129359"/>
                  <a:ext cx="1192321" cy="738664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050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From final hidden state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IN" sz="1050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: </a:t>
                  </a:r>
                </a:p>
                <a:p>
                  <a:r>
                    <a:rPr lang="en-IN" sz="1050" b="1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Initial Decoder State</a:t>
                  </a:r>
                </a:p>
              </p:txBody>
            </p:sp>
          </mc:Choice>
          <mc:Fallback xmlns="">
            <p:sp>
              <p:nvSpPr>
                <p:cNvPr id="344" name="TextBox 3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728" y="3129359"/>
                  <a:ext cx="1192321" cy="738664"/>
                </a:xfrm>
                <a:prstGeom prst="rect">
                  <a:avLst/>
                </a:prstGeom>
                <a:blipFill>
                  <a:blip r:embed="rId39"/>
                  <a:stretch>
                    <a:fillRect b="-3279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5" name="TextBox 344"/>
                <p:cNvSpPr txBox="1"/>
                <p:nvPr/>
              </p:nvSpPr>
              <p:spPr>
                <a:xfrm>
                  <a:off x="5786086" y="4319312"/>
                  <a:ext cx="565796" cy="16863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05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5" name="TextBox 3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6086" y="4319312"/>
                  <a:ext cx="565796" cy="168636"/>
                </a:xfrm>
                <a:prstGeom prst="rect">
                  <a:avLst/>
                </a:prstGeom>
                <a:blipFill>
                  <a:blip r:embed="rId40"/>
                  <a:stretch>
                    <a:fillRect l="-2151" r="-2151" b="-11111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6" name="TextBox 345"/>
                <p:cNvSpPr txBox="1"/>
                <p:nvPr/>
              </p:nvSpPr>
              <p:spPr>
                <a:xfrm>
                  <a:off x="5739090" y="4784944"/>
                  <a:ext cx="636328" cy="16863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05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3,</m:t>
                            </m:r>
                          </m:sub>
                        </m:sSub>
                        <m:sSub>
                          <m:sSubPr>
                            <m:ctrlPr>
                              <a:rPr lang="en-IN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05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05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6" name="TextBox 3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090" y="4784944"/>
                  <a:ext cx="636328" cy="168636"/>
                </a:xfrm>
                <a:prstGeom prst="rect">
                  <a:avLst/>
                </a:prstGeom>
                <a:blipFill>
                  <a:blip r:embed="rId41"/>
                  <a:stretch>
                    <a:fillRect l="-4762" r="-952" b="-10714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0" name="Straight Connector 349"/>
            <p:cNvCxnSpPr>
              <a:stCxn id="62" idx="0"/>
            </p:cNvCxnSpPr>
            <p:nvPr/>
          </p:nvCxnSpPr>
          <p:spPr>
            <a:xfrm flipV="1">
              <a:off x="11656885" y="5135764"/>
              <a:ext cx="1" cy="351121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/>
          </p:nvCxnSpPr>
          <p:spPr>
            <a:xfrm>
              <a:off x="10453776" y="4021931"/>
              <a:ext cx="0" cy="168973"/>
            </a:xfrm>
            <a:prstGeom prst="line">
              <a:avLst/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/>
          </p:nvCxnSpPr>
          <p:spPr>
            <a:xfrm flipH="1">
              <a:off x="6900892" y="4031455"/>
              <a:ext cx="2381" cy="164211"/>
            </a:xfrm>
            <a:prstGeom prst="line">
              <a:avLst/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6670928" y="5313701"/>
              <a:ext cx="5286375" cy="135565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6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6670928" y="2960108"/>
              <a:ext cx="5319168" cy="1038082"/>
            </a:xfrm>
            <a:prstGeom prst="rect">
              <a:avLst/>
            </a:prstGeom>
            <a:solidFill>
              <a:srgbClr val="00B0F0">
                <a:alpha val="13000"/>
              </a:srgbClr>
            </a:solidFill>
            <a:ln w="19050">
              <a:solidFill>
                <a:srgbClr val="7030A0">
                  <a:alpha val="5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230158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201" y="118930"/>
            <a:ext cx="10515600" cy="1139529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bg2">
                    <a:lumMod val="10000"/>
                  </a:schemeClr>
                </a:solidFill>
                <a:latin typeface="Century" panose="02040604050505020304" pitchFamily="18" charset="0"/>
              </a:rPr>
              <a:t>How to Compute Attention (Context Vector)?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800" dirty="0">
                <a:solidFill>
                  <a:srgbClr val="7030A0"/>
                </a:solidFill>
                <a:latin typeface="Century" panose="02040604050505020304" pitchFamily="18" charset="0"/>
              </a:rPr>
              <a:t>Iteration One</a:t>
            </a:r>
            <a:endParaRPr lang="en-IN" sz="3600" dirty="0">
              <a:solidFill>
                <a:srgbClr val="7030A0"/>
              </a:solidFill>
              <a:latin typeface="Century" panose="02040604050505020304" pitchFamily="18" charset="0"/>
            </a:endParaRPr>
          </a:p>
        </p:txBody>
      </p:sp>
      <p:grpSp>
        <p:nvGrpSpPr>
          <p:cNvPr id="181" name="Group 180"/>
          <p:cNvGrpSpPr/>
          <p:nvPr/>
        </p:nvGrpSpPr>
        <p:grpSpPr>
          <a:xfrm>
            <a:off x="5598928" y="2499841"/>
            <a:ext cx="6467368" cy="4074262"/>
            <a:chOff x="5598928" y="2271241"/>
            <a:chExt cx="6467368" cy="4074262"/>
          </a:xfrm>
        </p:grpSpPr>
        <p:sp>
          <p:nvSpPr>
            <p:cNvPr id="88" name="Rectangle 87"/>
            <p:cNvSpPr/>
            <p:nvPr/>
          </p:nvSpPr>
          <p:spPr>
            <a:xfrm>
              <a:off x="6747128" y="2636258"/>
              <a:ext cx="5319168" cy="1038082"/>
            </a:xfrm>
            <a:prstGeom prst="rect">
              <a:avLst/>
            </a:prstGeom>
            <a:solidFill>
              <a:srgbClr val="00B0F0">
                <a:alpha val="13000"/>
              </a:srgbClr>
            </a:solidFill>
            <a:ln w="19050">
              <a:solidFill>
                <a:srgbClr val="7030A0">
                  <a:alpha val="5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977092" y="4062518"/>
              <a:ext cx="2529381" cy="532233"/>
            </a:xfrm>
            <a:prstGeom prst="roundRect">
              <a:avLst/>
            </a:prstGeom>
            <a:solidFill>
              <a:srgbClr val="FFFF00">
                <a:alpha val="1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424222" y="5207489"/>
              <a:ext cx="269426" cy="392997"/>
              <a:chOff x="2447922" y="2814638"/>
              <a:chExt cx="318135" cy="402431"/>
            </a:xfrm>
          </p:grpSpPr>
          <p:sp>
            <p:nvSpPr>
              <p:cNvPr id="140" name="Rounded Rectangle 139"/>
              <p:cNvSpPr/>
              <p:nvPr/>
            </p:nvSpPr>
            <p:spPr>
              <a:xfrm>
                <a:off x="2447922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/>
                  <p:cNvSpPr txBox="1"/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5" name="TextBox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4483" r="-2069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/>
            <p:cNvGrpSpPr/>
            <p:nvPr/>
          </p:nvGrpSpPr>
          <p:grpSpPr>
            <a:xfrm>
              <a:off x="6793848" y="5167798"/>
              <a:ext cx="376542" cy="479108"/>
              <a:chOff x="1585519" y="2759978"/>
              <a:chExt cx="444617" cy="511728"/>
            </a:xfrm>
          </p:grpSpPr>
          <p:sp>
            <p:nvSpPr>
              <p:cNvPr id="138" name="Diamond 137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TextBox 138"/>
                  <p:cNvSpPr txBox="1"/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8" name="TextBox 1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/>
            <p:cNvCxnSpPr>
              <a:stCxn id="138" idx="3"/>
              <a:endCxn id="140" idx="1"/>
            </p:cNvCxnSpPr>
            <p:nvPr/>
          </p:nvCxnSpPr>
          <p:spPr>
            <a:xfrm flipV="1">
              <a:off x="7170390" y="5403988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7944236" y="5163352"/>
              <a:ext cx="376542" cy="479108"/>
              <a:chOff x="1585519" y="2759978"/>
              <a:chExt cx="444617" cy="511728"/>
            </a:xfrm>
          </p:grpSpPr>
          <p:sp>
            <p:nvSpPr>
              <p:cNvPr id="136" name="Diamond 135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TextBox 136"/>
                  <p:cNvSpPr txBox="1"/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62" name="TextBox 1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2857" r="-571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Group 9"/>
            <p:cNvGrpSpPr/>
            <p:nvPr/>
          </p:nvGrpSpPr>
          <p:grpSpPr>
            <a:xfrm>
              <a:off x="8598525" y="5207806"/>
              <a:ext cx="269426" cy="392997"/>
              <a:chOff x="2524125" y="2814638"/>
              <a:chExt cx="318135" cy="402431"/>
            </a:xfrm>
          </p:grpSpPr>
          <p:sp>
            <p:nvSpPr>
              <p:cNvPr id="134" name="Rounded Rectangle 133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TextBox 134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5" name="TextBox 1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919" r="-5405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9133335" y="5163352"/>
              <a:ext cx="376542" cy="479108"/>
              <a:chOff x="1585519" y="2759978"/>
              <a:chExt cx="444617" cy="511728"/>
            </a:xfrm>
          </p:grpSpPr>
          <p:sp>
            <p:nvSpPr>
              <p:cNvPr id="132" name="Diamond 131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TextBox 132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0" name="TextBox 1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/>
            <p:cNvGrpSpPr/>
            <p:nvPr/>
          </p:nvGrpSpPr>
          <p:grpSpPr>
            <a:xfrm>
              <a:off x="10332699" y="5163035"/>
              <a:ext cx="394774" cy="479108"/>
              <a:chOff x="1585519" y="2759978"/>
              <a:chExt cx="526127" cy="511728"/>
            </a:xfrm>
          </p:grpSpPr>
          <p:sp>
            <p:nvSpPr>
              <p:cNvPr id="130" name="Diamond 129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Box 130"/>
                  <p:cNvSpPr txBox="1"/>
                  <p:nvPr/>
                </p:nvSpPr>
                <p:spPr>
                  <a:xfrm>
                    <a:off x="1717227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31" name="TextBox 1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7227" y="2905534"/>
                    <a:ext cx="262419" cy="23011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7273" r="-909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/>
            <p:cNvGrpSpPr/>
            <p:nvPr/>
          </p:nvGrpSpPr>
          <p:grpSpPr>
            <a:xfrm>
              <a:off x="11003646" y="5207489"/>
              <a:ext cx="269426" cy="392997"/>
              <a:chOff x="2524125" y="2814638"/>
              <a:chExt cx="318135" cy="402431"/>
            </a:xfrm>
          </p:grpSpPr>
          <p:sp>
            <p:nvSpPr>
              <p:cNvPr id="128" name="Rounded Rectangle 127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9" name="TextBox 1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8919" r="-5405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11544814" y="5163035"/>
              <a:ext cx="376542" cy="479108"/>
              <a:chOff x="1585519" y="2759978"/>
              <a:chExt cx="444617" cy="511728"/>
            </a:xfrm>
          </p:grpSpPr>
          <p:sp>
            <p:nvSpPr>
              <p:cNvPr id="126" name="Diamond 125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TextBox 126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7" name="TextBox 1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/>
            <p:cNvGrpSpPr/>
            <p:nvPr/>
          </p:nvGrpSpPr>
          <p:grpSpPr>
            <a:xfrm>
              <a:off x="7381697" y="5858106"/>
              <a:ext cx="353709" cy="359111"/>
              <a:chOff x="1063135" y="3603288"/>
              <a:chExt cx="353709" cy="359111"/>
            </a:xfrm>
          </p:grpSpPr>
          <p:sp>
            <p:nvSpPr>
              <p:cNvPr id="124" name="Oval 123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TextBox 124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7" name="TextBox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714" r="-2857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/>
            <p:cNvGrpSpPr/>
            <p:nvPr/>
          </p:nvGrpSpPr>
          <p:grpSpPr>
            <a:xfrm>
              <a:off x="8553966" y="5858106"/>
              <a:ext cx="353709" cy="359111"/>
              <a:chOff x="1063135" y="3603288"/>
              <a:chExt cx="353709" cy="359111"/>
            </a:xfrm>
          </p:grpSpPr>
          <p:sp>
            <p:nvSpPr>
              <p:cNvPr id="122" name="Oval 121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TextBox 122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0" name="TextBox 1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5714" r="-3214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10959092" y="5858105"/>
              <a:ext cx="353709" cy="359111"/>
              <a:chOff x="1063135" y="3603288"/>
              <a:chExt cx="353709" cy="359111"/>
            </a:xfrm>
          </p:grpSpPr>
          <p:sp>
            <p:nvSpPr>
              <p:cNvPr id="120" name="Oval 119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TextBox 120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1" name="TextBox 1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5714" r="-32143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8" name="Straight Arrow Connector 17"/>
            <p:cNvCxnSpPr>
              <a:stCxn id="124" idx="0"/>
              <a:endCxn id="140" idx="2"/>
            </p:cNvCxnSpPr>
            <p:nvPr/>
          </p:nvCxnSpPr>
          <p:spPr>
            <a:xfrm flipV="1">
              <a:off x="7558552" y="5600486"/>
              <a:ext cx="383" cy="25762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2" idx="0"/>
              <a:endCxn id="134" idx="2"/>
            </p:cNvCxnSpPr>
            <p:nvPr/>
          </p:nvCxnSpPr>
          <p:spPr>
            <a:xfrm flipV="1">
              <a:off x="8730821" y="5600803"/>
              <a:ext cx="2417" cy="257303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20" idx="0"/>
              <a:endCxn id="128" idx="2"/>
            </p:cNvCxnSpPr>
            <p:nvPr/>
          </p:nvCxnSpPr>
          <p:spPr>
            <a:xfrm flipV="1">
              <a:off x="11135947" y="5600486"/>
              <a:ext cx="2412" cy="25761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9044540" y="5890090"/>
              <a:ext cx="646331" cy="2616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Encoder</a:t>
              </a: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9788528" y="5207489"/>
              <a:ext cx="276338" cy="392997"/>
              <a:chOff x="2524125" y="2814638"/>
              <a:chExt cx="318135" cy="402431"/>
            </a:xfrm>
          </p:grpSpPr>
          <p:sp>
            <p:nvSpPr>
              <p:cNvPr id="118" name="Rounded Rectangle 117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TextBox 118"/>
                  <p:cNvSpPr txBox="1"/>
                  <p:nvPr/>
                </p:nvSpPr>
                <p:spPr>
                  <a:xfrm>
                    <a:off x="2543048" y="2892929"/>
                    <a:ext cx="259545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9" name="TextBox 1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59545" cy="22061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8919" r="-5405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3" name="Straight Arrow Connector 22"/>
            <p:cNvCxnSpPr>
              <a:stCxn id="140" idx="3"/>
              <a:endCxn id="136" idx="1"/>
            </p:cNvCxnSpPr>
            <p:nvPr/>
          </p:nvCxnSpPr>
          <p:spPr>
            <a:xfrm flipV="1">
              <a:off x="7693648" y="5402906"/>
              <a:ext cx="250588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36" idx="3"/>
              <a:endCxn id="134" idx="1"/>
            </p:cNvCxnSpPr>
            <p:nvPr/>
          </p:nvCxnSpPr>
          <p:spPr>
            <a:xfrm>
              <a:off x="8320778" y="5402906"/>
              <a:ext cx="277747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34" idx="3"/>
              <a:endCxn id="132" idx="1"/>
            </p:cNvCxnSpPr>
            <p:nvPr/>
          </p:nvCxnSpPr>
          <p:spPr>
            <a:xfrm flipV="1">
              <a:off x="8867951" y="5402906"/>
              <a:ext cx="265384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32" idx="3"/>
              <a:endCxn id="118" idx="1"/>
            </p:cNvCxnSpPr>
            <p:nvPr/>
          </p:nvCxnSpPr>
          <p:spPr>
            <a:xfrm>
              <a:off x="9509877" y="5402906"/>
              <a:ext cx="278651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18" idx="3"/>
              <a:endCxn id="130" idx="1"/>
            </p:cNvCxnSpPr>
            <p:nvPr/>
          </p:nvCxnSpPr>
          <p:spPr>
            <a:xfrm flipV="1">
              <a:off x="10064866" y="5402589"/>
              <a:ext cx="26783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30" idx="3"/>
              <a:endCxn id="128" idx="1"/>
            </p:cNvCxnSpPr>
            <p:nvPr/>
          </p:nvCxnSpPr>
          <p:spPr>
            <a:xfrm>
              <a:off x="10727473" y="5402589"/>
              <a:ext cx="27617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8" idx="3"/>
              <a:endCxn id="126" idx="1"/>
            </p:cNvCxnSpPr>
            <p:nvPr/>
          </p:nvCxnSpPr>
          <p:spPr>
            <a:xfrm flipV="1">
              <a:off x="11273072" y="5402589"/>
              <a:ext cx="271742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7424222" y="2980222"/>
              <a:ext cx="269426" cy="392997"/>
              <a:chOff x="7306493" y="2589003"/>
              <a:chExt cx="269426" cy="392997"/>
            </a:xfrm>
          </p:grpSpPr>
          <p:sp>
            <p:nvSpPr>
              <p:cNvPr id="116" name="Rounded Rectangle 115"/>
              <p:cNvSpPr/>
              <p:nvPr/>
            </p:nvSpPr>
            <p:spPr>
              <a:xfrm>
                <a:off x="7306493" y="2589003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/>
                  <p:cNvSpPr txBox="1"/>
                  <p:nvPr/>
                </p:nvSpPr>
                <p:spPr>
                  <a:xfrm>
                    <a:off x="7336199" y="2665776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7" name="TextBox 1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665776"/>
                    <a:ext cx="173190" cy="21544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35714" r="-2857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/>
            <p:cNvGrpSpPr/>
            <p:nvPr/>
          </p:nvGrpSpPr>
          <p:grpSpPr>
            <a:xfrm>
              <a:off x="6793848" y="2940531"/>
              <a:ext cx="376542" cy="479108"/>
              <a:chOff x="1585519" y="2759978"/>
              <a:chExt cx="444617" cy="511728"/>
            </a:xfrm>
          </p:grpSpPr>
          <p:sp>
            <p:nvSpPr>
              <p:cNvPr id="114" name="Diamond 113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/>
                  <p:cNvSpPr txBox="1"/>
                  <p:nvPr/>
                </p:nvSpPr>
                <p:spPr>
                  <a:xfrm>
                    <a:off x="1688897" y="2900981"/>
                    <a:ext cx="25106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5" name="TextBox 1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51062" cy="23011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20000" r="-2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2" name="Straight Arrow Connector 31"/>
            <p:cNvCxnSpPr>
              <a:stCxn id="114" idx="3"/>
              <a:endCxn id="116" idx="1"/>
            </p:cNvCxnSpPr>
            <p:nvPr/>
          </p:nvCxnSpPr>
          <p:spPr>
            <a:xfrm flipV="1">
              <a:off x="7170390" y="3176721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/>
          </p:nvGrpSpPr>
          <p:grpSpPr>
            <a:xfrm>
              <a:off x="7944236" y="2936085"/>
              <a:ext cx="376542" cy="479108"/>
              <a:chOff x="1585519" y="2759978"/>
              <a:chExt cx="444617" cy="511728"/>
            </a:xfrm>
          </p:grpSpPr>
          <p:sp>
            <p:nvSpPr>
              <p:cNvPr id="112" name="Diamond 111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Box 112"/>
                  <p:cNvSpPr txBox="1"/>
                  <p:nvPr/>
                </p:nvSpPr>
                <p:spPr>
                  <a:xfrm>
                    <a:off x="1664390" y="2905534"/>
                    <a:ext cx="242507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13" name="TextBox 1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42507" cy="23011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0588" r="-2941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1" name="Straight Arrow Connector 40"/>
            <p:cNvCxnSpPr>
              <a:stCxn id="116" idx="3"/>
              <a:endCxn id="112" idx="1"/>
            </p:cNvCxnSpPr>
            <p:nvPr/>
          </p:nvCxnSpPr>
          <p:spPr>
            <a:xfrm flipV="1">
              <a:off x="7693648" y="3175639"/>
              <a:ext cx="250588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/>
            <p:cNvGrpSpPr/>
            <p:nvPr/>
          </p:nvGrpSpPr>
          <p:grpSpPr>
            <a:xfrm>
              <a:off x="9750945" y="5840040"/>
              <a:ext cx="353709" cy="359111"/>
              <a:chOff x="1063135" y="3603288"/>
              <a:chExt cx="353709" cy="359111"/>
            </a:xfrm>
          </p:grpSpPr>
          <p:sp>
            <p:nvSpPr>
              <p:cNvPr id="98" name="Oval 97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35714" r="-32143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/>
            <p:cNvCxnSpPr>
              <a:stCxn id="98" idx="0"/>
              <a:endCxn id="118" idx="2"/>
            </p:cNvCxnSpPr>
            <p:nvPr/>
          </p:nvCxnSpPr>
          <p:spPr>
            <a:xfrm flipH="1" flipV="1">
              <a:off x="9926697" y="5600486"/>
              <a:ext cx="1103" cy="23955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/>
            <p:cNvGrpSpPr/>
            <p:nvPr/>
          </p:nvGrpSpPr>
          <p:grpSpPr>
            <a:xfrm>
              <a:off x="7432631" y="2271241"/>
              <a:ext cx="261939" cy="273612"/>
              <a:chOff x="7291824" y="2242585"/>
              <a:chExt cx="261939" cy="273612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7" name="TextBox 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39286" r="-17857" b="-25000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1" name="Straight Arrow Connector 50"/>
            <p:cNvCxnSpPr>
              <a:stCxn id="116" idx="0"/>
              <a:endCxn id="96" idx="2"/>
            </p:cNvCxnSpPr>
            <p:nvPr/>
          </p:nvCxnSpPr>
          <p:spPr>
            <a:xfrm flipV="1">
              <a:off x="7558935" y="2544853"/>
              <a:ext cx="4666" cy="435369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7224927" y="4241001"/>
                  <a:ext cx="570326" cy="19351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83000"/>
                  </a:schemeClr>
                </a:solid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att</m:t>
                          </m:r>
                        </m:sub>
                      </m:sSub>
                    </m:oMath>
                  </a14:m>
                  <a:r>
                    <a:rPr lang="en-IN" sz="9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(MLP)</a:t>
                  </a:r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4927" y="4241001"/>
                  <a:ext cx="570326" cy="193513"/>
                </a:xfrm>
                <a:prstGeom prst="rect">
                  <a:avLst/>
                </a:prstGeom>
                <a:blipFill>
                  <a:blip r:embed="rId25"/>
                  <a:stretch>
                    <a:fillRect t="-2941" r="-5208" b="-17647"/>
                  </a:stretch>
                </a:blip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Box 61"/>
            <p:cNvSpPr txBox="1"/>
            <p:nvPr/>
          </p:nvSpPr>
          <p:spPr>
            <a:xfrm>
              <a:off x="7793013" y="4240856"/>
              <a:ext cx="433265" cy="1935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rgbClr val="C00000">
                  <a:alpha val="68000"/>
                </a:srgb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IN" sz="900" dirty="0" err="1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SoftMax</a:t>
              </a:r>
              <a:endParaRPr lang="en-IN" sz="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8959703" y="4241001"/>
                  <a:ext cx="217735" cy="19351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l-GR" sz="5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IN" sz="5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IN" sz="5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9703" y="4241001"/>
                  <a:ext cx="217735" cy="193513"/>
                </a:xfrm>
                <a:prstGeom prst="rect">
                  <a:avLst/>
                </a:prstGeom>
                <a:blipFill>
                  <a:blip r:embed="rId26"/>
                  <a:stretch>
                    <a:fillRect l="-81081" t="-123529" r="-40541" b="-170588"/>
                  </a:stretch>
                </a:blip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/>
            <p:cNvSpPr txBox="1"/>
            <p:nvPr/>
          </p:nvSpPr>
          <p:spPr>
            <a:xfrm>
              <a:off x="9175199" y="4240856"/>
              <a:ext cx="192197" cy="19351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C00000">
                  <a:alpha val="68000"/>
                </a:srgb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IN" sz="1000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cxnSp>
          <p:nvCxnSpPr>
            <p:cNvPr id="65" name="Straight Arrow Connector 64"/>
            <p:cNvCxnSpPr>
              <a:stCxn id="62" idx="3"/>
              <a:endCxn id="63" idx="1"/>
            </p:cNvCxnSpPr>
            <p:nvPr/>
          </p:nvCxnSpPr>
          <p:spPr>
            <a:xfrm>
              <a:off x="8226278" y="4337613"/>
              <a:ext cx="733425" cy="145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8160798" y="4043618"/>
                  <a:ext cx="839845" cy="160685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11,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12,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13,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IN" sz="1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0798" y="4043618"/>
                  <a:ext cx="839845" cy="160685"/>
                </a:xfrm>
                <a:prstGeom prst="rect">
                  <a:avLst/>
                </a:prstGeom>
                <a:blipFill>
                  <a:blip r:embed="rId27"/>
                  <a:stretch>
                    <a:fillRect l="-2190" r="-2190" b="-11538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8180847" y="4461094"/>
                  <a:ext cx="841577" cy="10772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7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ttention</m:t>
                        </m:r>
                        <m: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Mechanism</m:t>
                        </m:r>
                      </m:oMath>
                    </m:oMathPara>
                  </a14:m>
                  <a:endParaRPr lang="en-IN" sz="700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0847" y="4461094"/>
                  <a:ext cx="841577" cy="107722"/>
                </a:xfrm>
                <a:prstGeom prst="rect">
                  <a:avLst/>
                </a:prstGeom>
                <a:blipFill>
                  <a:blip r:embed="rId28"/>
                  <a:stretch>
                    <a:fillRect l="-2174" r="-2174" b="-11111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Elbow Connector 70"/>
            <p:cNvCxnSpPr>
              <a:stCxn id="64" idx="3"/>
              <a:endCxn id="116" idx="2"/>
            </p:cNvCxnSpPr>
            <p:nvPr/>
          </p:nvCxnSpPr>
          <p:spPr>
            <a:xfrm flipH="1" flipV="1">
              <a:off x="7558935" y="3373219"/>
              <a:ext cx="1808461" cy="964394"/>
            </a:xfrm>
            <a:prstGeom prst="bentConnector4">
              <a:avLst>
                <a:gd name="adj1" fmla="val -54607"/>
                <a:gd name="adj2" fmla="val 62601"/>
              </a:avLst>
            </a:prstGeom>
            <a:ln w="15875">
              <a:solidFill>
                <a:schemeClr val="accent6">
                  <a:lumMod val="75000"/>
                  <a:alpha val="93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lbow Connector 71"/>
            <p:cNvCxnSpPr>
              <a:stCxn id="114" idx="2"/>
            </p:cNvCxnSpPr>
            <p:nvPr/>
          </p:nvCxnSpPr>
          <p:spPr>
            <a:xfrm rot="5400000">
              <a:off x="6336046" y="3645210"/>
              <a:ext cx="871645" cy="420503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lbow Connector 72"/>
            <p:cNvCxnSpPr/>
            <p:nvPr/>
          </p:nvCxnSpPr>
          <p:spPr>
            <a:xfrm>
              <a:off x="6555581" y="3958917"/>
              <a:ext cx="2614429" cy="258011"/>
            </a:xfrm>
            <a:prstGeom prst="bentConnector3">
              <a:avLst>
                <a:gd name="adj1" fmla="val 100034"/>
              </a:avLst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>
              <a:stCxn id="126" idx="0"/>
            </p:cNvCxnSpPr>
            <p:nvPr/>
          </p:nvCxnSpPr>
          <p:spPr>
            <a:xfrm rot="16200000" flipV="1">
              <a:off x="9067388" y="2497338"/>
              <a:ext cx="746221" cy="4585174"/>
            </a:xfrm>
            <a:prstGeom prst="bentConnector4">
              <a:avLst>
                <a:gd name="adj1" fmla="val 46490"/>
                <a:gd name="adj2" fmla="val 113156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/>
            <p:cNvCxnSpPr/>
            <p:nvPr/>
          </p:nvCxnSpPr>
          <p:spPr>
            <a:xfrm flipV="1">
              <a:off x="6546468" y="4440724"/>
              <a:ext cx="2621857" cy="252693"/>
            </a:xfrm>
            <a:prstGeom prst="bentConnector3">
              <a:avLst>
                <a:gd name="adj1" fmla="val 99989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130" idx="0"/>
            </p:cNvCxnSpPr>
            <p:nvPr/>
          </p:nvCxnSpPr>
          <p:spPr>
            <a:xfrm flipH="1" flipV="1">
              <a:off x="10529976" y="4804983"/>
              <a:ext cx="110" cy="358052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132" idx="0"/>
            </p:cNvCxnSpPr>
            <p:nvPr/>
          </p:nvCxnSpPr>
          <p:spPr>
            <a:xfrm flipV="1">
              <a:off x="9321606" y="4817056"/>
              <a:ext cx="5370" cy="346296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136" idx="0"/>
            </p:cNvCxnSpPr>
            <p:nvPr/>
          </p:nvCxnSpPr>
          <p:spPr>
            <a:xfrm flipV="1">
              <a:off x="8132507" y="4809782"/>
              <a:ext cx="2703" cy="353570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9570123" y="4115108"/>
                  <a:ext cx="168956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0123" y="4115108"/>
                  <a:ext cx="168956" cy="184666"/>
                </a:xfrm>
                <a:prstGeom prst="rect">
                  <a:avLst/>
                </a:prstGeom>
                <a:blipFill>
                  <a:blip r:embed="rId29"/>
                  <a:stretch>
                    <a:fillRect l="-14286" r="-3571" b="-16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Arrow Connector 83"/>
            <p:cNvCxnSpPr/>
            <p:nvPr/>
          </p:nvCxnSpPr>
          <p:spPr>
            <a:xfrm flipV="1">
              <a:off x="6531798" y="3175322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5598928" y="2805509"/>
                  <a:ext cx="1192321" cy="738664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050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From final hidden state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IN" sz="1050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: </a:t>
                  </a:r>
                </a:p>
                <a:p>
                  <a:r>
                    <a:rPr lang="en-IN" sz="1050" b="1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Initial Decoder State</a:t>
                  </a: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8928" y="2805509"/>
                  <a:ext cx="1192321" cy="738664"/>
                </a:xfrm>
                <a:prstGeom prst="rect">
                  <a:avLst/>
                </a:prstGeom>
                <a:blipFill>
                  <a:blip r:embed="rId30"/>
                  <a:stretch>
                    <a:fillRect b="-4132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6287791" y="4034316"/>
                  <a:ext cx="171522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7791" y="4034316"/>
                  <a:ext cx="171522" cy="184666"/>
                </a:xfrm>
                <a:prstGeom prst="rect">
                  <a:avLst/>
                </a:prstGeom>
                <a:blipFill>
                  <a:blip r:embed="rId31"/>
                  <a:stretch>
                    <a:fillRect l="-10345" r="-3448" b="-12903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/>
                <p:cNvSpPr txBox="1"/>
                <p:nvPr/>
              </p:nvSpPr>
              <p:spPr>
                <a:xfrm>
                  <a:off x="5815290" y="4448976"/>
                  <a:ext cx="725776" cy="192873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5290" y="4448976"/>
                  <a:ext cx="725776" cy="192873"/>
                </a:xfrm>
                <a:prstGeom prst="rect">
                  <a:avLst/>
                </a:prstGeom>
                <a:blipFill>
                  <a:blip r:embed="rId32"/>
                  <a:stretch>
                    <a:fillRect l="-5882" r="-1681" b="-9375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Straight Connector 158"/>
            <p:cNvCxnSpPr/>
            <p:nvPr/>
          </p:nvCxnSpPr>
          <p:spPr>
            <a:xfrm>
              <a:off x="6555581" y="4288903"/>
              <a:ext cx="583599" cy="0"/>
            </a:xfrm>
            <a:prstGeom prst="line">
              <a:avLst/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 flipH="1">
              <a:off x="6981818" y="3728632"/>
              <a:ext cx="2455" cy="127819"/>
            </a:xfrm>
            <a:prstGeom prst="line">
              <a:avLst/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11733085" y="4804983"/>
              <a:ext cx="0" cy="242720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/>
                <p:cNvSpPr txBox="1"/>
                <p:nvPr/>
              </p:nvSpPr>
              <p:spPr>
                <a:xfrm>
                  <a:off x="7408277" y="3419554"/>
                  <a:ext cx="168956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0" name="TextBox 1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8277" y="3419554"/>
                  <a:ext cx="168956" cy="184666"/>
                </a:xfrm>
                <a:prstGeom prst="rect">
                  <a:avLst/>
                </a:prstGeom>
                <a:blipFill>
                  <a:blip r:embed="rId33"/>
                  <a:stretch>
                    <a:fillRect l="-10714" r="-3571" b="-16129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Rectangle 88"/>
            <p:cNvSpPr/>
            <p:nvPr/>
          </p:nvSpPr>
          <p:spPr>
            <a:xfrm>
              <a:off x="6747128" y="4949047"/>
              <a:ext cx="5286375" cy="1396456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6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Content Placeholder 2">
                <a:extLst>
                  <a:ext uri="{FF2B5EF4-FFF2-40B4-BE49-F238E27FC236}">
                    <a16:creationId xmlns:a16="http://schemas.microsoft.com/office/drawing/2014/main" id="{7A339417-2637-4049-B8C5-C3EDF20C52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7472" y="1387041"/>
                <a:ext cx="10515600" cy="863787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For example, a RNN (LSTM) with four states is taken as both Encoder and Decoder. In the first iteration,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} are input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𝑎𝑡𝑡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are obtained. So,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sSub>
                      <m:sSub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are fed to first level of decoder to get </a:t>
                </a:r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2" name="Content Placeholder 2">
                <a:extLst>
                  <a:ext uri="{FF2B5EF4-FFF2-40B4-BE49-F238E27FC236}">
                    <a16:creationId xmlns:a16="http://schemas.microsoft.com/office/drawing/2014/main" id="{7A339417-2637-4049-B8C5-C3EDF20C52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7472" y="1387041"/>
                <a:ext cx="10515600" cy="863787"/>
              </a:xfrm>
              <a:blipFill>
                <a:blip r:embed="rId34"/>
                <a:stretch>
                  <a:fillRect l="-522" t="-11348" r="-638" b="-9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5BFB1D25-0CA6-42A5-8B1F-3EA116A1192A}"/>
                  </a:ext>
                </a:extLst>
              </p:cNvPr>
              <p:cNvSpPr txBox="1"/>
              <p:nvPr/>
            </p:nvSpPr>
            <p:spPr>
              <a:xfrm>
                <a:off x="750336" y="2374727"/>
                <a:ext cx="5040265" cy="41993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indent="0" algn="just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000">
                    <a:latin typeface="Arial Narrow" panose="020B0606020202030204" pitchFamily="34" charset="0"/>
                    <a:cs typeface="Times New Roman" panose="02020603050405020304" pitchFamily="18" charset="0"/>
                  </a:defRPr>
                </a:lvl1pPr>
                <a:lvl2pPr marL="685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/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/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First, compute alignment score: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IN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𝑎𝑡𝑡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Normalize this score using SoftMax: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IN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𝑆𝑜𝑓𝑡𝑚𝑎𝑥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IN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Now, the context vector is computed as</a:t>
                </a:r>
              </a:p>
              <a:p>
                <a:r>
                  <a:rPr lang="en-US" dirty="0"/>
                  <a:t>linear combination of hidden states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IN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      where T=4</a:t>
                </a:r>
              </a:p>
              <a:p>
                <a:endParaRPr lang="en-US" dirty="0"/>
              </a:p>
              <a:p>
                <a:r>
                  <a:rPr lang="en-US" dirty="0"/>
                  <a:t>Now, this context vector used in decoder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𝑑𝑒𝑐𝑜𝑑𝑒𝑟</m:t>
                    </m:r>
                    <m:r>
                      <a:rPr lang="en-I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          </a:t>
                </a:r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5BFB1D25-0CA6-42A5-8B1F-3EA116A11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36" y="2374727"/>
                <a:ext cx="5040265" cy="4199376"/>
              </a:xfrm>
              <a:prstGeom prst="rect">
                <a:avLst/>
              </a:prstGeom>
              <a:blipFill>
                <a:blip r:embed="rId35"/>
                <a:stretch>
                  <a:fillRect l="-1209" t="-15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078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50" y="109795"/>
            <a:ext cx="10515600" cy="124764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bg2">
                    <a:lumMod val="10000"/>
                  </a:schemeClr>
                </a:solidFill>
                <a:latin typeface="Century" panose="02040604050505020304" pitchFamily="18" charset="0"/>
              </a:rPr>
              <a:t>How to Compute Attention (Context Vector)?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800" dirty="0">
                <a:solidFill>
                  <a:srgbClr val="7030A0"/>
                </a:solidFill>
                <a:latin typeface="Century" panose="02040604050505020304" pitchFamily="18" charset="0"/>
              </a:rPr>
              <a:t>Iteration Two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3816" y="2396292"/>
                <a:ext cx="4587049" cy="422252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First, compute alignment score: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𝑎𝑡𝑡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Normalize this score using SoftMax: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𝑆𝑜𝑓𝑡𝑚𝑎𝑥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2,</m:t>
                              </m:r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 the context vector is computed as linear combination of hidden states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where T=4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 this context vector used in decoder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𝑑𝑒𝑐𝑜𝑑𝑒𝑟</m:t>
                    </m:r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</a:t>
                </a:r>
                <a:endParaRPr lang="en-IN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3816" y="2396292"/>
                <a:ext cx="4587049" cy="4222526"/>
              </a:xfrm>
              <a:blipFill>
                <a:blip r:embed="rId2"/>
                <a:stretch>
                  <a:fillRect l="-1729" t="-866" r="-1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Content Placeholder 2">
                <a:extLst>
                  <a:ext uri="{FF2B5EF4-FFF2-40B4-BE49-F238E27FC236}">
                    <a16:creationId xmlns:a16="http://schemas.microsoft.com/office/drawing/2014/main" id="{7A339417-2637-4049-B8C5-C3EDF20C52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8897" y="1304524"/>
                <a:ext cx="10515600" cy="8879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For example, a RNN (LSTM) with four states is taken as both Encoder and Decoder. In the second iteration,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}</a:t>
                </a:r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are input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𝑎𝑡𝑡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are obtained. So,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are fed to second node of decoder to get </a:t>
                </a:r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66" name="Content Placeholder 2">
                <a:extLst>
                  <a:ext uri="{FF2B5EF4-FFF2-40B4-BE49-F238E27FC236}">
                    <a16:creationId xmlns:a16="http://schemas.microsoft.com/office/drawing/2014/main" id="{7A339417-2637-4049-B8C5-C3EDF20C5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97" y="1304524"/>
                <a:ext cx="10515600" cy="887932"/>
              </a:xfrm>
              <a:prstGeom prst="rect">
                <a:avLst/>
              </a:prstGeom>
              <a:blipFill>
                <a:blip r:embed="rId3"/>
                <a:stretch>
                  <a:fillRect l="-522" t="-7534" r="-580" b="-16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8" name="Group 167"/>
          <p:cNvGrpSpPr/>
          <p:nvPr/>
        </p:nvGrpSpPr>
        <p:grpSpPr>
          <a:xfrm>
            <a:off x="5570353" y="2023679"/>
            <a:ext cx="6467368" cy="4445649"/>
            <a:chOff x="5570353" y="2023679"/>
            <a:chExt cx="6467368" cy="4445649"/>
          </a:xfrm>
        </p:grpSpPr>
        <p:sp>
          <p:nvSpPr>
            <p:cNvPr id="7" name="Rounded Rectangle 6"/>
            <p:cNvSpPr/>
            <p:nvPr/>
          </p:nvSpPr>
          <p:spPr>
            <a:xfrm>
              <a:off x="6948517" y="4186343"/>
              <a:ext cx="2529381" cy="532233"/>
            </a:xfrm>
            <a:prstGeom prst="roundRect">
              <a:avLst/>
            </a:prstGeom>
            <a:solidFill>
              <a:srgbClr val="FFFF00">
                <a:alpha val="1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7395647" y="5331314"/>
              <a:ext cx="269426" cy="392997"/>
              <a:chOff x="2447922" y="2814638"/>
              <a:chExt cx="318135" cy="402431"/>
            </a:xfrm>
          </p:grpSpPr>
          <p:sp>
            <p:nvSpPr>
              <p:cNvPr id="143" name="Rounded Rectangle 142"/>
              <p:cNvSpPr/>
              <p:nvPr/>
            </p:nvSpPr>
            <p:spPr>
              <a:xfrm>
                <a:off x="2447922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/>
                  <p:cNvSpPr txBox="1"/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5" name="TextBox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4483" r="-2069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Group 8"/>
            <p:cNvGrpSpPr/>
            <p:nvPr/>
          </p:nvGrpSpPr>
          <p:grpSpPr>
            <a:xfrm>
              <a:off x="6765273" y="5291623"/>
              <a:ext cx="376542" cy="479108"/>
              <a:chOff x="1585519" y="2759978"/>
              <a:chExt cx="444617" cy="511728"/>
            </a:xfrm>
          </p:grpSpPr>
          <p:sp>
            <p:nvSpPr>
              <p:cNvPr id="141" name="Diamond 140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Box 141"/>
                  <p:cNvSpPr txBox="1"/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8" name="TextBox 1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" name="Straight Arrow Connector 9"/>
            <p:cNvCxnSpPr>
              <a:stCxn id="141" idx="3"/>
              <a:endCxn id="143" idx="1"/>
            </p:cNvCxnSpPr>
            <p:nvPr/>
          </p:nvCxnSpPr>
          <p:spPr>
            <a:xfrm flipV="1">
              <a:off x="7141815" y="5527813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/>
            <p:cNvGrpSpPr/>
            <p:nvPr/>
          </p:nvGrpSpPr>
          <p:grpSpPr>
            <a:xfrm>
              <a:off x="7915661" y="5287177"/>
              <a:ext cx="376542" cy="479108"/>
              <a:chOff x="1585519" y="2759978"/>
              <a:chExt cx="444617" cy="511728"/>
            </a:xfrm>
          </p:grpSpPr>
          <p:sp>
            <p:nvSpPr>
              <p:cNvPr id="139" name="Diamond 138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Box 139"/>
                  <p:cNvSpPr txBox="1"/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62" name="TextBox 1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2857" r="-571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/>
            <p:cNvGrpSpPr/>
            <p:nvPr/>
          </p:nvGrpSpPr>
          <p:grpSpPr>
            <a:xfrm>
              <a:off x="8569950" y="5331631"/>
              <a:ext cx="269426" cy="392997"/>
              <a:chOff x="2524125" y="2814638"/>
              <a:chExt cx="318135" cy="402431"/>
            </a:xfrm>
          </p:grpSpPr>
          <p:sp>
            <p:nvSpPr>
              <p:cNvPr id="137" name="Rounded Rectangle 136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TextBox 137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8" name="TextBox 1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/>
            <p:cNvGrpSpPr/>
            <p:nvPr/>
          </p:nvGrpSpPr>
          <p:grpSpPr>
            <a:xfrm>
              <a:off x="9104760" y="5287177"/>
              <a:ext cx="376542" cy="479108"/>
              <a:chOff x="1585519" y="2759978"/>
              <a:chExt cx="444617" cy="511728"/>
            </a:xfrm>
          </p:grpSpPr>
          <p:sp>
            <p:nvSpPr>
              <p:cNvPr id="135" name="Diamond 134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TextBox 135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0" name="TextBox 1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10304124" y="5286860"/>
              <a:ext cx="394774" cy="479108"/>
              <a:chOff x="1585519" y="2759978"/>
              <a:chExt cx="526127" cy="511728"/>
            </a:xfrm>
          </p:grpSpPr>
          <p:sp>
            <p:nvSpPr>
              <p:cNvPr id="133" name="Diamond 132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TextBox 133"/>
                  <p:cNvSpPr txBox="1"/>
                  <p:nvPr/>
                </p:nvSpPr>
                <p:spPr>
                  <a:xfrm>
                    <a:off x="1717227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34" name="TextBox 1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7227" y="2905534"/>
                    <a:ext cx="262419" cy="23011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31250" r="-1250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/>
            <p:cNvGrpSpPr/>
            <p:nvPr/>
          </p:nvGrpSpPr>
          <p:grpSpPr>
            <a:xfrm>
              <a:off x="10975071" y="5331314"/>
              <a:ext cx="269426" cy="392997"/>
              <a:chOff x="2524125" y="2814638"/>
              <a:chExt cx="318135" cy="402431"/>
            </a:xfrm>
          </p:grpSpPr>
          <p:sp>
            <p:nvSpPr>
              <p:cNvPr id="131" name="Rounded Rectangle 130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TextBox 131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2" name="TextBox 1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/>
            <p:cNvGrpSpPr/>
            <p:nvPr/>
          </p:nvGrpSpPr>
          <p:grpSpPr>
            <a:xfrm>
              <a:off x="11516239" y="5286860"/>
              <a:ext cx="376542" cy="479108"/>
              <a:chOff x="1585519" y="2759978"/>
              <a:chExt cx="444617" cy="511728"/>
            </a:xfrm>
          </p:grpSpPr>
          <p:sp>
            <p:nvSpPr>
              <p:cNvPr id="129" name="Diamond 128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0" name="TextBox 1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22222" r="-5556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7353122" y="5981931"/>
              <a:ext cx="353709" cy="359111"/>
              <a:chOff x="1063135" y="3603288"/>
              <a:chExt cx="353709" cy="359111"/>
            </a:xfrm>
          </p:grpSpPr>
          <p:sp>
            <p:nvSpPr>
              <p:cNvPr id="127" name="Oval 126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7" name="TextBox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714" r="-2857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/>
            <p:cNvGrpSpPr/>
            <p:nvPr/>
          </p:nvGrpSpPr>
          <p:grpSpPr>
            <a:xfrm>
              <a:off x="8525391" y="5981931"/>
              <a:ext cx="353709" cy="359111"/>
              <a:chOff x="1063135" y="3603288"/>
              <a:chExt cx="353709" cy="359111"/>
            </a:xfrm>
          </p:grpSpPr>
          <p:sp>
            <p:nvSpPr>
              <p:cNvPr id="125" name="Oval 124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0" name="TextBox 1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5714" r="-3214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/>
            <p:cNvGrpSpPr/>
            <p:nvPr/>
          </p:nvGrpSpPr>
          <p:grpSpPr>
            <a:xfrm>
              <a:off x="10930517" y="5981930"/>
              <a:ext cx="353709" cy="359111"/>
              <a:chOff x="1063135" y="3603288"/>
              <a:chExt cx="353709" cy="359111"/>
            </a:xfrm>
          </p:grpSpPr>
          <p:sp>
            <p:nvSpPr>
              <p:cNvPr id="123" name="Oval 122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TextBox 123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4" name="TextBox 1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35714" r="-32143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" name="Straight Arrow Connector 19"/>
            <p:cNvCxnSpPr>
              <a:stCxn id="127" idx="0"/>
              <a:endCxn id="143" idx="2"/>
            </p:cNvCxnSpPr>
            <p:nvPr/>
          </p:nvCxnSpPr>
          <p:spPr>
            <a:xfrm flipV="1">
              <a:off x="7529977" y="5724311"/>
              <a:ext cx="383" cy="25762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25" idx="0"/>
              <a:endCxn id="137" idx="2"/>
            </p:cNvCxnSpPr>
            <p:nvPr/>
          </p:nvCxnSpPr>
          <p:spPr>
            <a:xfrm flipV="1">
              <a:off x="8702246" y="5724628"/>
              <a:ext cx="2417" cy="257303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23" idx="0"/>
              <a:endCxn id="131" idx="2"/>
            </p:cNvCxnSpPr>
            <p:nvPr/>
          </p:nvCxnSpPr>
          <p:spPr>
            <a:xfrm flipV="1">
              <a:off x="11107372" y="5724311"/>
              <a:ext cx="2412" cy="25761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9015965" y="6013915"/>
              <a:ext cx="646331" cy="2616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Encoder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9759953" y="5331314"/>
              <a:ext cx="276338" cy="392997"/>
              <a:chOff x="2524125" y="2814638"/>
              <a:chExt cx="318135" cy="402431"/>
            </a:xfrm>
          </p:grpSpPr>
          <p:sp>
            <p:nvSpPr>
              <p:cNvPr id="121" name="Rounded Rectangle 120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TextBox 121"/>
                  <p:cNvSpPr txBox="1"/>
                  <p:nvPr/>
                </p:nvSpPr>
                <p:spPr>
                  <a:xfrm>
                    <a:off x="2543048" y="2892929"/>
                    <a:ext cx="259545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2" name="TextBox 1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59545" cy="220616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" name="Straight Arrow Connector 24"/>
            <p:cNvCxnSpPr>
              <a:stCxn id="143" idx="3"/>
              <a:endCxn id="139" idx="1"/>
            </p:cNvCxnSpPr>
            <p:nvPr/>
          </p:nvCxnSpPr>
          <p:spPr>
            <a:xfrm flipV="1">
              <a:off x="7665073" y="5526731"/>
              <a:ext cx="250588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39" idx="3"/>
              <a:endCxn id="137" idx="1"/>
            </p:cNvCxnSpPr>
            <p:nvPr/>
          </p:nvCxnSpPr>
          <p:spPr>
            <a:xfrm>
              <a:off x="8292203" y="5526731"/>
              <a:ext cx="277747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37" idx="3"/>
              <a:endCxn id="135" idx="1"/>
            </p:cNvCxnSpPr>
            <p:nvPr/>
          </p:nvCxnSpPr>
          <p:spPr>
            <a:xfrm flipV="1">
              <a:off x="8839376" y="5526731"/>
              <a:ext cx="265384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35" idx="3"/>
              <a:endCxn id="121" idx="1"/>
            </p:cNvCxnSpPr>
            <p:nvPr/>
          </p:nvCxnSpPr>
          <p:spPr>
            <a:xfrm>
              <a:off x="9481302" y="5526731"/>
              <a:ext cx="278651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1" idx="3"/>
              <a:endCxn id="133" idx="1"/>
            </p:cNvCxnSpPr>
            <p:nvPr/>
          </p:nvCxnSpPr>
          <p:spPr>
            <a:xfrm flipV="1">
              <a:off x="10036291" y="5526414"/>
              <a:ext cx="26783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33" idx="3"/>
              <a:endCxn id="131" idx="1"/>
            </p:cNvCxnSpPr>
            <p:nvPr/>
          </p:nvCxnSpPr>
          <p:spPr>
            <a:xfrm>
              <a:off x="10698898" y="5526414"/>
              <a:ext cx="27617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31" idx="3"/>
              <a:endCxn id="129" idx="1"/>
            </p:cNvCxnSpPr>
            <p:nvPr/>
          </p:nvCxnSpPr>
          <p:spPr>
            <a:xfrm flipV="1">
              <a:off x="11244497" y="5526414"/>
              <a:ext cx="271742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/>
            <p:cNvGrpSpPr/>
            <p:nvPr/>
          </p:nvGrpSpPr>
          <p:grpSpPr>
            <a:xfrm>
              <a:off x="7395647" y="3104047"/>
              <a:ext cx="269426" cy="392997"/>
              <a:chOff x="7306493" y="2589003"/>
              <a:chExt cx="269426" cy="392997"/>
            </a:xfrm>
          </p:grpSpPr>
          <p:sp>
            <p:nvSpPr>
              <p:cNvPr id="119" name="Rounded Rectangle 118"/>
              <p:cNvSpPr/>
              <p:nvPr/>
            </p:nvSpPr>
            <p:spPr>
              <a:xfrm>
                <a:off x="7306493" y="2589003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7336199" y="2665776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0" name="TextBox 1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665776"/>
                    <a:ext cx="173190" cy="21544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35714" r="-2857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Group 32"/>
            <p:cNvGrpSpPr/>
            <p:nvPr/>
          </p:nvGrpSpPr>
          <p:grpSpPr>
            <a:xfrm>
              <a:off x="6765273" y="3064356"/>
              <a:ext cx="376542" cy="479108"/>
              <a:chOff x="1585519" y="2759978"/>
              <a:chExt cx="444617" cy="511728"/>
            </a:xfrm>
          </p:grpSpPr>
          <p:sp>
            <p:nvSpPr>
              <p:cNvPr id="117" name="Diamond 116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TextBox 117"/>
                  <p:cNvSpPr txBox="1"/>
                  <p:nvPr/>
                </p:nvSpPr>
                <p:spPr>
                  <a:xfrm>
                    <a:off x="1688897" y="2900981"/>
                    <a:ext cx="25106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8" name="TextBox 1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51062" cy="23011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0000" r="-2857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4" name="Straight Arrow Connector 33"/>
            <p:cNvCxnSpPr>
              <a:stCxn id="117" idx="3"/>
              <a:endCxn id="119" idx="1"/>
            </p:cNvCxnSpPr>
            <p:nvPr/>
          </p:nvCxnSpPr>
          <p:spPr>
            <a:xfrm flipV="1">
              <a:off x="7141815" y="3300546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/>
            <p:cNvGrpSpPr/>
            <p:nvPr/>
          </p:nvGrpSpPr>
          <p:grpSpPr>
            <a:xfrm>
              <a:off x="7915661" y="3059910"/>
              <a:ext cx="376542" cy="479108"/>
              <a:chOff x="1585519" y="2759978"/>
              <a:chExt cx="444617" cy="511728"/>
            </a:xfrm>
          </p:grpSpPr>
          <p:sp>
            <p:nvSpPr>
              <p:cNvPr id="115" name="Diamond 114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TextBox 115"/>
                  <p:cNvSpPr txBox="1"/>
                  <p:nvPr/>
                </p:nvSpPr>
                <p:spPr>
                  <a:xfrm>
                    <a:off x="1664390" y="2905534"/>
                    <a:ext cx="242507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16" name="TextBox 1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42507" cy="23011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20588" r="-2941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Group 35"/>
            <p:cNvGrpSpPr/>
            <p:nvPr/>
          </p:nvGrpSpPr>
          <p:grpSpPr>
            <a:xfrm>
              <a:off x="8569950" y="3104364"/>
              <a:ext cx="269426" cy="392997"/>
              <a:chOff x="8480796" y="2589320"/>
              <a:chExt cx="269426" cy="392997"/>
            </a:xfrm>
          </p:grpSpPr>
          <p:sp>
            <p:nvSpPr>
              <p:cNvPr id="113" name="Rounded Rectangle 112"/>
              <p:cNvSpPr/>
              <p:nvPr/>
            </p:nvSpPr>
            <p:spPr>
              <a:xfrm>
                <a:off x="8480796" y="2589320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/>
                  <p:cNvSpPr txBox="1"/>
                  <p:nvPr/>
                </p:nvSpPr>
                <p:spPr>
                  <a:xfrm>
                    <a:off x="8496822" y="2665776"/>
                    <a:ext cx="241476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4" name="TextBox 1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96822" y="2665776"/>
                    <a:ext cx="241476" cy="21544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17500" r="-250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7" name="Group 36"/>
            <p:cNvGrpSpPr/>
            <p:nvPr/>
          </p:nvGrpSpPr>
          <p:grpSpPr>
            <a:xfrm>
              <a:off x="9104760" y="3059910"/>
              <a:ext cx="376542" cy="479108"/>
              <a:chOff x="1585519" y="2759978"/>
              <a:chExt cx="444617" cy="511728"/>
            </a:xfrm>
          </p:grpSpPr>
          <p:sp>
            <p:nvSpPr>
              <p:cNvPr id="111" name="Diamond 110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TextBox 111"/>
                  <p:cNvSpPr txBox="1"/>
                  <p:nvPr/>
                </p:nvSpPr>
                <p:spPr>
                  <a:xfrm>
                    <a:off x="1676618" y="2905534"/>
                    <a:ext cx="25106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2" name="TextBox 1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51062" cy="23011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20000" r="-2857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1" name="TextBox 40"/>
            <p:cNvSpPr txBox="1"/>
            <p:nvPr/>
          </p:nvSpPr>
          <p:spPr>
            <a:xfrm>
              <a:off x="8974296" y="2818958"/>
              <a:ext cx="646331" cy="21127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noFill/>
            </a:ln>
          </p:spPr>
          <p:txBody>
            <a:bodyPr wrap="none" rtlCol="0" anchor="ctr">
              <a:noAutofit/>
            </a:bodyPr>
            <a:lstStyle/>
            <a:p>
              <a:r>
                <a:rPr lang="en-IN" sz="11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Decoder</a:t>
              </a:r>
            </a:p>
          </p:txBody>
        </p:sp>
        <p:cxnSp>
          <p:nvCxnSpPr>
            <p:cNvPr id="43" name="Straight Arrow Connector 42"/>
            <p:cNvCxnSpPr>
              <a:stCxn id="119" idx="3"/>
              <a:endCxn id="115" idx="1"/>
            </p:cNvCxnSpPr>
            <p:nvPr/>
          </p:nvCxnSpPr>
          <p:spPr>
            <a:xfrm flipV="1">
              <a:off x="7665073" y="3299464"/>
              <a:ext cx="250588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115" idx="3"/>
              <a:endCxn id="113" idx="1"/>
            </p:cNvCxnSpPr>
            <p:nvPr/>
          </p:nvCxnSpPr>
          <p:spPr>
            <a:xfrm>
              <a:off x="8292203" y="3299464"/>
              <a:ext cx="277747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13" idx="3"/>
              <a:endCxn id="111" idx="1"/>
            </p:cNvCxnSpPr>
            <p:nvPr/>
          </p:nvCxnSpPr>
          <p:spPr>
            <a:xfrm flipV="1">
              <a:off x="8839376" y="3299464"/>
              <a:ext cx="265384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/>
            <p:cNvGrpSpPr/>
            <p:nvPr/>
          </p:nvGrpSpPr>
          <p:grpSpPr>
            <a:xfrm>
              <a:off x="9722370" y="5963865"/>
              <a:ext cx="353709" cy="359111"/>
              <a:chOff x="1063135" y="3603288"/>
              <a:chExt cx="353709" cy="359111"/>
            </a:xfrm>
          </p:grpSpPr>
          <p:sp>
            <p:nvSpPr>
              <p:cNvPr id="101" name="Oval 100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2" name="TextBox 1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35714" r="-32143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1" name="Straight Arrow Connector 50"/>
            <p:cNvCxnSpPr>
              <a:stCxn id="101" idx="0"/>
              <a:endCxn id="121" idx="2"/>
            </p:cNvCxnSpPr>
            <p:nvPr/>
          </p:nvCxnSpPr>
          <p:spPr>
            <a:xfrm flipH="1" flipV="1">
              <a:off x="9898122" y="5724311"/>
              <a:ext cx="1103" cy="23955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/>
            <p:cNvGrpSpPr/>
            <p:nvPr/>
          </p:nvGrpSpPr>
          <p:grpSpPr>
            <a:xfrm>
              <a:off x="7404056" y="2395066"/>
              <a:ext cx="261939" cy="273612"/>
              <a:chOff x="7291824" y="2242585"/>
              <a:chExt cx="261939" cy="273612"/>
            </a:xfrm>
          </p:grpSpPr>
          <p:sp>
            <p:nvSpPr>
              <p:cNvPr id="99" name="Rectangle 98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0" name="TextBox 9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39286" r="-17857" b="-28571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3" name="Straight Arrow Connector 52"/>
            <p:cNvCxnSpPr>
              <a:stCxn id="119" idx="0"/>
              <a:endCxn id="99" idx="2"/>
            </p:cNvCxnSpPr>
            <p:nvPr/>
          </p:nvCxnSpPr>
          <p:spPr>
            <a:xfrm flipV="1">
              <a:off x="7530360" y="2668678"/>
              <a:ext cx="4666" cy="435369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54" name="Group 53"/>
            <p:cNvGrpSpPr/>
            <p:nvPr/>
          </p:nvGrpSpPr>
          <p:grpSpPr>
            <a:xfrm>
              <a:off x="8574585" y="2394885"/>
              <a:ext cx="261939" cy="273612"/>
              <a:chOff x="7291824" y="2242585"/>
              <a:chExt cx="261939" cy="273612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39286" r="-21429" b="-28571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5" name="Straight Arrow Connector 54"/>
            <p:cNvCxnSpPr>
              <a:stCxn id="113" idx="0"/>
              <a:endCxn id="97" idx="2"/>
            </p:cNvCxnSpPr>
            <p:nvPr/>
          </p:nvCxnSpPr>
          <p:spPr>
            <a:xfrm flipV="1">
              <a:off x="8704663" y="2668497"/>
              <a:ext cx="892" cy="435867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60" name="Freeform 59"/>
            <p:cNvSpPr/>
            <p:nvPr/>
          </p:nvSpPr>
          <p:spPr>
            <a:xfrm>
              <a:off x="7531512" y="2023679"/>
              <a:ext cx="1113472" cy="1761337"/>
            </a:xfrm>
            <a:custGeom>
              <a:avLst/>
              <a:gdLst>
                <a:gd name="connsiteX0" fmla="*/ 0 w 1127760"/>
                <a:gd name="connsiteY0" fmla="*/ 396589 h 1923797"/>
                <a:gd name="connsiteX1" fmla="*/ 419100 w 1127760"/>
                <a:gd name="connsiteY1" fmla="*/ 91789 h 1923797"/>
                <a:gd name="connsiteX2" fmla="*/ 944880 w 1127760"/>
                <a:gd name="connsiteY2" fmla="*/ 1829149 h 1923797"/>
                <a:gd name="connsiteX3" fmla="*/ 1127760 w 1127760"/>
                <a:gd name="connsiteY3" fmla="*/ 1539589 h 1923797"/>
                <a:gd name="connsiteX0" fmla="*/ 0 w 1108710"/>
                <a:gd name="connsiteY0" fmla="*/ 396589 h 1969681"/>
                <a:gd name="connsiteX1" fmla="*/ 419100 w 1108710"/>
                <a:gd name="connsiteY1" fmla="*/ 91789 h 1969681"/>
                <a:gd name="connsiteX2" fmla="*/ 944880 w 1108710"/>
                <a:gd name="connsiteY2" fmla="*/ 1829149 h 1969681"/>
                <a:gd name="connsiteX3" fmla="*/ 1108710 w 1108710"/>
                <a:gd name="connsiteY3" fmla="*/ 1683607 h 1969681"/>
                <a:gd name="connsiteX0" fmla="*/ 0 w 1072991"/>
                <a:gd name="connsiteY0" fmla="*/ 396589 h 1965627"/>
                <a:gd name="connsiteX1" fmla="*/ 419100 w 1072991"/>
                <a:gd name="connsiteY1" fmla="*/ 91789 h 1965627"/>
                <a:gd name="connsiteX2" fmla="*/ 944880 w 1072991"/>
                <a:gd name="connsiteY2" fmla="*/ 1829149 h 1965627"/>
                <a:gd name="connsiteX3" fmla="*/ 1072991 w 1072991"/>
                <a:gd name="connsiteY3" fmla="*/ 1672939 h 1965627"/>
                <a:gd name="connsiteX0" fmla="*/ 0 w 1072991"/>
                <a:gd name="connsiteY0" fmla="*/ 397549 h 1976000"/>
                <a:gd name="connsiteX1" fmla="*/ 419100 w 1072991"/>
                <a:gd name="connsiteY1" fmla="*/ 92749 h 1976000"/>
                <a:gd name="connsiteX2" fmla="*/ 875824 w 1072991"/>
                <a:gd name="connsiteY2" fmla="*/ 1843444 h 1976000"/>
                <a:gd name="connsiteX3" fmla="*/ 1072991 w 1072991"/>
                <a:gd name="connsiteY3" fmla="*/ 1673899 h 1976000"/>
                <a:gd name="connsiteX0" fmla="*/ 0 w 1072991"/>
                <a:gd name="connsiteY0" fmla="*/ 397549 h 1976001"/>
                <a:gd name="connsiteX1" fmla="*/ 471488 w 1072991"/>
                <a:gd name="connsiteY1" fmla="*/ 92749 h 1976001"/>
                <a:gd name="connsiteX2" fmla="*/ 875824 w 1072991"/>
                <a:gd name="connsiteY2" fmla="*/ 1843444 h 1976001"/>
                <a:gd name="connsiteX3" fmla="*/ 1072991 w 1072991"/>
                <a:gd name="connsiteY3" fmla="*/ 1673899 h 1976001"/>
                <a:gd name="connsiteX0" fmla="*/ 0 w 1106328"/>
                <a:gd name="connsiteY0" fmla="*/ 391589 h 1978042"/>
                <a:gd name="connsiteX1" fmla="*/ 504825 w 1106328"/>
                <a:gd name="connsiteY1" fmla="*/ 94790 h 1978042"/>
                <a:gd name="connsiteX2" fmla="*/ 909161 w 1106328"/>
                <a:gd name="connsiteY2" fmla="*/ 1845485 h 1978042"/>
                <a:gd name="connsiteX3" fmla="*/ 1106328 w 1106328"/>
                <a:gd name="connsiteY3" fmla="*/ 1675940 h 1978042"/>
                <a:gd name="connsiteX0" fmla="*/ 0 w 1113472"/>
                <a:gd name="connsiteY0" fmla="*/ 407581 h 1972698"/>
                <a:gd name="connsiteX1" fmla="*/ 511969 w 1113472"/>
                <a:gd name="connsiteY1" fmla="*/ 89446 h 1972698"/>
                <a:gd name="connsiteX2" fmla="*/ 916305 w 1113472"/>
                <a:gd name="connsiteY2" fmla="*/ 1840141 h 1972698"/>
                <a:gd name="connsiteX3" fmla="*/ 1113472 w 1113472"/>
                <a:gd name="connsiteY3" fmla="*/ 1670596 h 197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3472" h="1972698">
                  <a:moveTo>
                    <a:pt x="0" y="407581"/>
                  </a:moveTo>
                  <a:cubicBezTo>
                    <a:pt x="130810" y="135801"/>
                    <a:pt x="359252" y="-149314"/>
                    <a:pt x="511969" y="89446"/>
                  </a:cubicBezTo>
                  <a:cubicBezTo>
                    <a:pt x="664686" y="328206"/>
                    <a:pt x="816055" y="1576616"/>
                    <a:pt x="916305" y="1840141"/>
                  </a:cubicBezTo>
                  <a:cubicBezTo>
                    <a:pt x="1016556" y="2103666"/>
                    <a:pt x="1081087" y="1936026"/>
                    <a:pt x="1113472" y="1670596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7196352" y="4364826"/>
                  <a:ext cx="570326" cy="19351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83000"/>
                  </a:schemeClr>
                </a:solid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att</m:t>
                          </m:r>
                        </m:sub>
                      </m:sSub>
                    </m:oMath>
                  </a14:m>
                  <a:r>
                    <a:rPr lang="en-IN" sz="9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(MLP)</a:t>
                  </a:r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6352" y="4364826"/>
                  <a:ext cx="570326" cy="193513"/>
                </a:xfrm>
                <a:prstGeom prst="rect">
                  <a:avLst/>
                </a:prstGeom>
                <a:blipFill>
                  <a:blip r:embed="rId29"/>
                  <a:stretch>
                    <a:fillRect t="-5882" r="-6316" b="-17647"/>
                  </a:stretch>
                </a:blip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/>
            <p:cNvSpPr txBox="1"/>
            <p:nvPr/>
          </p:nvSpPr>
          <p:spPr>
            <a:xfrm>
              <a:off x="7764438" y="4364681"/>
              <a:ext cx="433265" cy="1935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rgbClr val="C00000">
                  <a:alpha val="68000"/>
                </a:srgb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IN" sz="900" dirty="0" err="1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SoftMax</a:t>
              </a:r>
              <a:endParaRPr lang="en-IN" sz="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8931128" y="4364826"/>
                  <a:ext cx="217735" cy="19351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l-GR" sz="5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IN" sz="5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IN" sz="5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1128" y="4364826"/>
                  <a:ext cx="217735" cy="193513"/>
                </a:xfrm>
                <a:prstGeom prst="rect">
                  <a:avLst/>
                </a:prstGeom>
                <a:blipFill>
                  <a:blip r:embed="rId30"/>
                  <a:stretch>
                    <a:fillRect l="-78947" t="-123529" r="-36842" b="-170588"/>
                  </a:stretch>
                </a:blip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TextBox 65"/>
            <p:cNvSpPr txBox="1"/>
            <p:nvPr/>
          </p:nvSpPr>
          <p:spPr>
            <a:xfrm>
              <a:off x="9146624" y="4364681"/>
              <a:ext cx="192197" cy="19351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C00000">
                  <a:alpha val="68000"/>
                </a:srgb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IN" sz="1000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cxnSp>
          <p:nvCxnSpPr>
            <p:cNvPr id="67" name="Straight Arrow Connector 66"/>
            <p:cNvCxnSpPr>
              <a:stCxn id="64" idx="3"/>
              <a:endCxn id="65" idx="1"/>
            </p:cNvCxnSpPr>
            <p:nvPr/>
          </p:nvCxnSpPr>
          <p:spPr>
            <a:xfrm>
              <a:off x="8197703" y="4461438"/>
              <a:ext cx="733425" cy="145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8124725" y="4157970"/>
                  <a:ext cx="851643" cy="160685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21,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22,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23,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24</m:t>
                            </m:r>
                          </m:sub>
                        </m:sSub>
                      </m:oMath>
                    </m:oMathPara>
                  </a14:m>
                  <a:endParaRPr lang="en-IN" sz="1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4725" y="4157970"/>
                  <a:ext cx="851643" cy="160685"/>
                </a:xfrm>
                <a:prstGeom prst="rect">
                  <a:avLst/>
                </a:prstGeom>
                <a:blipFill>
                  <a:blip r:embed="rId31"/>
                  <a:stretch>
                    <a:fillRect l="-2143" r="-1429" b="-11538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8152272" y="4584919"/>
                  <a:ext cx="841577" cy="10772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7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ttention</m:t>
                        </m:r>
                        <m: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Mechanism</m:t>
                        </m:r>
                      </m:oMath>
                    </m:oMathPara>
                  </a14:m>
                  <a:endParaRPr lang="en-IN" sz="700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2272" y="4584919"/>
                  <a:ext cx="841577" cy="107722"/>
                </a:xfrm>
                <a:prstGeom prst="rect">
                  <a:avLst/>
                </a:prstGeom>
                <a:blipFill>
                  <a:blip r:embed="rId32"/>
                  <a:stretch>
                    <a:fillRect l="-2174" r="-2174" b="-11111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Elbow Connector 73"/>
            <p:cNvCxnSpPr/>
            <p:nvPr/>
          </p:nvCxnSpPr>
          <p:spPr>
            <a:xfrm rot="10800000" flipV="1">
              <a:off x="7118922" y="3985851"/>
              <a:ext cx="981841" cy="445621"/>
            </a:xfrm>
            <a:prstGeom prst="bentConnector3">
              <a:avLst>
                <a:gd name="adj1" fmla="val 160875"/>
              </a:avLst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Elbow Connector 74"/>
            <p:cNvCxnSpPr/>
            <p:nvPr/>
          </p:nvCxnSpPr>
          <p:spPr>
            <a:xfrm>
              <a:off x="6527006" y="4082742"/>
              <a:ext cx="2614429" cy="258011"/>
            </a:xfrm>
            <a:prstGeom prst="bentConnector3">
              <a:avLst>
                <a:gd name="adj1" fmla="val 100034"/>
              </a:avLst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115" idx="2"/>
            </p:cNvCxnSpPr>
            <p:nvPr/>
          </p:nvCxnSpPr>
          <p:spPr>
            <a:xfrm flipH="1">
              <a:off x="8101265" y="3539018"/>
              <a:ext cx="2667" cy="452899"/>
            </a:xfrm>
            <a:prstGeom prst="line">
              <a:avLst/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Elbow Connector 78"/>
            <p:cNvCxnSpPr>
              <a:stCxn id="129" idx="0"/>
            </p:cNvCxnSpPr>
            <p:nvPr/>
          </p:nvCxnSpPr>
          <p:spPr>
            <a:xfrm rot="16200000" flipV="1">
              <a:off x="9038813" y="2621163"/>
              <a:ext cx="746221" cy="4585174"/>
            </a:xfrm>
            <a:prstGeom prst="bentConnector4">
              <a:avLst>
                <a:gd name="adj1" fmla="val 46490"/>
                <a:gd name="adj2" fmla="val 113156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Elbow Connector 79"/>
            <p:cNvCxnSpPr/>
            <p:nvPr/>
          </p:nvCxnSpPr>
          <p:spPr>
            <a:xfrm flipV="1">
              <a:off x="6517893" y="4564549"/>
              <a:ext cx="2621857" cy="252693"/>
            </a:xfrm>
            <a:prstGeom prst="bentConnector3">
              <a:avLst>
                <a:gd name="adj1" fmla="val 99989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133" idx="0"/>
            </p:cNvCxnSpPr>
            <p:nvPr/>
          </p:nvCxnSpPr>
          <p:spPr>
            <a:xfrm flipH="1" flipV="1">
              <a:off x="10501401" y="4928808"/>
              <a:ext cx="110" cy="358052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135" idx="0"/>
            </p:cNvCxnSpPr>
            <p:nvPr/>
          </p:nvCxnSpPr>
          <p:spPr>
            <a:xfrm flipV="1">
              <a:off x="9293031" y="4940881"/>
              <a:ext cx="5370" cy="346296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139" idx="0"/>
            </p:cNvCxnSpPr>
            <p:nvPr/>
          </p:nvCxnSpPr>
          <p:spPr>
            <a:xfrm flipV="1">
              <a:off x="8103932" y="4933607"/>
              <a:ext cx="2703" cy="353570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9541548" y="4238933"/>
                  <a:ext cx="172548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1548" y="4238933"/>
                  <a:ext cx="172548" cy="184666"/>
                </a:xfrm>
                <a:prstGeom prst="rect">
                  <a:avLst/>
                </a:prstGeom>
                <a:blipFill>
                  <a:blip r:embed="rId33"/>
                  <a:stretch>
                    <a:fillRect l="-10345" r="-3448" b="-16129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Straight Arrow Connector 85"/>
            <p:cNvCxnSpPr/>
            <p:nvPr/>
          </p:nvCxnSpPr>
          <p:spPr>
            <a:xfrm flipV="1">
              <a:off x="6503223" y="3299147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/>
                <p:cNvSpPr txBox="1"/>
                <p:nvPr/>
              </p:nvSpPr>
              <p:spPr>
                <a:xfrm>
                  <a:off x="5570353" y="2929334"/>
                  <a:ext cx="1192321" cy="738664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050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From final hidden state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IN" sz="1050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: </a:t>
                  </a:r>
                </a:p>
                <a:p>
                  <a:r>
                    <a:rPr lang="en-IN" sz="1050" b="1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Initial Decoder State</a:t>
                  </a:r>
                </a:p>
              </p:txBody>
            </p:sp>
          </mc:Choice>
          <mc:Fallback xmlns=""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353" y="2929334"/>
                  <a:ext cx="1192321" cy="738664"/>
                </a:xfrm>
                <a:prstGeom prst="rect">
                  <a:avLst/>
                </a:prstGeom>
                <a:blipFill>
                  <a:blip r:embed="rId34"/>
                  <a:stretch>
                    <a:fillRect b="-4132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/>
                <p:cNvSpPr txBox="1"/>
                <p:nvPr/>
              </p:nvSpPr>
              <p:spPr>
                <a:xfrm>
                  <a:off x="6274154" y="4141776"/>
                  <a:ext cx="167930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8" name="TextBox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4154" y="4141776"/>
                  <a:ext cx="167930" cy="184666"/>
                </a:xfrm>
                <a:prstGeom prst="rect">
                  <a:avLst/>
                </a:prstGeom>
                <a:blipFill>
                  <a:blip r:embed="rId35"/>
                  <a:stretch>
                    <a:fillRect l="-10714" r="-3571" b="-16129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/>
                <p:cNvSpPr txBox="1"/>
                <p:nvPr/>
              </p:nvSpPr>
              <p:spPr>
                <a:xfrm>
                  <a:off x="5783004" y="4622139"/>
                  <a:ext cx="725776" cy="192873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9" name="TextBox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3004" y="4622139"/>
                  <a:ext cx="725776" cy="192873"/>
                </a:xfrm>
                <a:prstGeom prst="rect">
                  <a:avLst/>
                </a:prstGeom>
                <a:blipFill>
                  <a:blip r:embed="rId36"/>
                  <a:stretch>
                    <a:fillRect l="-5882" r="-1681" b="-9375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Straight Connector 89"/>
            <p:cNvCxnSpPr>
              <a:stCxn id="129" idx="0"/>
            </p:cNvCxnSpPr>
            <p:nvPr/>
          </p:nvCxnSpPr>
          <p:spPr>
            <a:xfrm flipV="1">
              <a:off x="11704510" y="4935739"/>
              <a:ext cx="1" cy="351121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/>
                <p:cNvSpPr txBox="1"/>
                <p:nvPr/>
              </p:nvSpPr>
              <p:spPr>
                <a:xfrm>
                  <a:off x="8735531" y="3556674"/>
                  <a:ext cx="172548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7" name="TextBox 1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5531" y="3556674"/>
                  <a:ext cx="172548" cy="184666"/>
                </a:xfrm>
                <a:prstGeom prst="rect">
                  <a:avLst/>
                </a:prstGeom>
                <a:blipFill>
                  <a:blip r:embed="rId37"/>
                  <a:stretch>
                    <a:fillRect l="-14286" r="-7143" b="-16129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/>
                <p:cNvSpPr txBox="1"/>
                <p:nvPr/>
              </p:nvSpPr>
              <p:spPr>
                <a:xfrm>
                  <a:off x="8441063" y="3504971"/>
                  <a:ext cx="184088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5" name="TextBox 1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1063" y="3504971"/>
                  <a:ext cx="184088" cy="184666"/>
                </a:xfrm>
                <a:prstGeom prst="rect">
                  <a:avLst/>
                </a:prstGeom>
                <a:blipFill>
                  <a:blip r:embed="rId38"/>
                  <a:stretch>
                    <a:fillRect l="-20000" r="-3333" b="-26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Elbow Connector 72"/>
            <p:cNvCxnSpPr>
              <a:stCxn id="66" idx="3"/>
              <a:endCxn id="113" idx="2"/>
            </p:cNvCxnSpPr>
            <p:nvPr/>
          </p:nvCxnSpPr>
          <p:spPr>
            <a:xfrm flipH="1" flipV="1">
              <a:off x="8704663" y="3497361"/>
              <a:ext cx="634158" cy="964077"/>
            </a:xfrm>
            <a:prstGeom prst="bentConnector4">
              <a:avLst>
                <a:gd name="adj1" fmla="val -135780"/>
                <a:gd name="adj2" fmla="val 55018"/>
              </a:avLst>
            </a:prstGeom>
            <a:ln w="15875">
              <a:solidFill>
                <a:schemeClr val="accent6">
                  <a:lumMod val="75000"/>
                  <a:alpha val="93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6718553" y="2760083"/>
              <a:ext cx="5319168" cy="1038082"/>
            </a:xfrm>
            <a:prstGeom prst="rect">
              <a:avLst/>
            </a:prstGeom>
            <a:solidFill>
              <a:srgbClr val="00B0F0">
                <a:alpha val="13000"/>
              </a:srgbClr>
            </a:solidFill>
            <a:ln w="19050">
              <a:solidFill>
                <a:srgbClr val="7030A0">
                  <a:alpha val="5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718553" y="5087741"/>
              <a:ext cx="5286375" cy="138158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6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77535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718" y="323127"/>
            <a:ext cx="10515600" cy="111364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bg2">
                    <a:lumMod val="10000"/>
                  </a:schemeClr>
                </a:solidFill>
                <a:latin typeface="Century" panose="02040604050505020304" pitchFamily="18" charset="0"/>
              </a:rPr>
              <a:t>How to Compute Attention (Context Vector)?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800" dirty="0">
                <a:solidFill>
                  <a:srgbClr val="7030A0"/>
                </a:solidFill>
                <a:latin typeface="Century" panose="02040604050505020304" pitchFamily="18" charset="0"/>
              </a:rPr>
              <a:t>Iteration Three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9321" y="2457764"/>
                <a:ext cx="4401301" cy="4273961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-230400" algn="just">
                  <a:lnSpc>
                    <a:spcPct val="120000"/>
                  </a:lnSpc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First, compute alignment score:</a:t>
                </a: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3,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𝑎𝑡𝑡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Normalize this score using SoftMax:</a:t>
                </a: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𝑆𝑜𝑓𝑡𝑚𝑎𝑥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3,</m:t>
                              </m:r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 the context vector is computed as linear combination of hidden states</a:t>
                </a: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where T=4</a:t>
                </a: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 this context vector used in decoder</a:t>
                </a: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𝑑𝑒𝑐𝑜𝑑𝑒𝑟</m:t>
                    </m:r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</a:t>
                </a:r>
                <a:endParaRPr lang="en-IN" dirty="0">
                  <a:solidFill>
                    <a:srgbClr val="7030A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9321" y="2457764"/>
                <a:ext cx="4401301" cy="4273961"/>
              </a:xfrm>
              <a:blipFill>
                <a:blip r:embed="rId2"/>
                <a:stretch>
                  <a:fillRect l="-1524" t="-713" r="-1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7" name="Group 166"/>
          <p:cNvGrpSpPr/>
          <p:nvPr/>
        </p:nvGrpSpPr>
        <p:grpSpPr>
          <a:xfrm>
            <a:off x="5551303" y="2167459"/>
            <a:ext cx="6467368" cy="4439299"/>
            <a:chOff x="5551303" y="2211004"/>
            <a:chExt cx="6467368" cy="4439299"/>
          </a:xfrm>
        </p:grpSpPr>
        <p:sp>
          <p:nvSpPr>
            <p:cNvPr id="5" name="Rounded Rectangle 4"/>
            <p:cNvSpPr/>
            <p:nvPr/>
          </p:nvSpPr>
          <p:spPr>
            <a:xfrm>
              <a:off x="6929467" y="4367318"/>
              <a:ext cx="2529381" cy="532233"/>
            </a:xfrm>
            <a:prstGeom prst="roundRect">
              <a:avLst/>
            </a:prstGeom>
            <a:solidFill>
              <a:srgbClr val="FFFF00">
                <a:alpha val="1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376597" y="5512289"/>
              <a:ext cx="269426" cy="392997"/>
              <a:chOff x="2447922" y="2814638"/>
              <a:chExt cx="318135" cy="402431"/>
            </a:xfrm>
          </p:grpSpPr>
          <p:sp>
            <p:nvSpPr>
              <p:cNvPr id="143" name="Rounded Rectangle 142"/>
              <p:cNvSpPr/>
              <p:nvPr/>
            </p:nvSpPr>
            <p:spPr>
              <a:xfrm>
                <a:off x="2447922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/>
                  <p:cNvSpPr txBox="1"/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5" name="TextBox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4483" r="-2069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/>
            <p:cNvGrpSpPr/>
            <p:nvPr/>
          </p:nvGrpSpPr>
          <p:grpSpPr>
            <a:xfrm>
              <a:off x="6746223" y="5472598"/>
              <a:ext cx="376542" cy="479108"/>
              <a:chOff x="1585519" y="2759978"/>
              <a:chExt cx="444617" cy="511728"/>
            </a:xfrm>
          </p:grpSpPr>
          <p:sp>
            <p:nvSpPr>
              <p:cNvPr id="141" name="Diamond 140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Box 141"/>
                  <p:cNvSpPr txBox="1"/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8" name="TextBox 1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/>
            <p:cNvCxnSpPr>
              <a:stCxn id="141" idx="3"/>
              <a:endCxn id="143" idx="1"/>
            </p:cNvCxnSpPr>
            <p:nvPr/>
          </p:nvCxnSpPr>
          <p:spPr>
            <a:xfrm flipV="1">
              <a:off x="7122765" y="5708788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7896611" y="5468152"/>
              <a:ext cx="376542" cy="479108"/>
              <a:chOff x="1585519" y="2759978"/>
              <a:chExt cx="444617" cy="511728"/>
            </a:xfrm>
          </p:grpSpPr>
          <p:sp>
            <p:nvSpPr>
              <p:cNvPr id="139" name="Diamond 138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Box 139"/>
                  <p:cNvSpPr txBox="1"/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62" name="TextBox 1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2857" r="-571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Group 9"/>
            <p:cNvGrpSpPr/>
            <p:nvPr/>
          </p:nvGrpSpPr>
          <p:grpSpPr>
            <a:xfrm>
              <a:off x="8550900" y="5512606"/>
              <a:ext cx="269426" cy="392997"/>
              <a:chOff x="2524125" y="2814638"/>
              <a:chExt cx="318135" cy="402431"/>
            </a:xfrm>
          </p:grpSpPr>
          <p:sp>
            <p:nvSpPr>
              <p:cNvPr id="137" name="Rounded Rectangle 136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TextBox 137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8" name="TextBox 1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9085710" y="5468152"/>
              <a:ext cx="376542" cy="479108"/>
              <a:chOff x="1585519" y="2759978"/>
              <a:chExt cx="444617" cy="511728"/>
            </a:xfrm>
          </p:grpSpPr>
          <p:sp>
            <p:nvSpPr>
              <p:cNvPr id="135" name="Diamond 134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TextBox 135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0" name="TextBox 1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/>
            <p:cNvGrpSpPr/>
            <p:nvPr/>
          </p:nvGrpSpPr>
          <p:grpSpPr>
            <a:xfrm>
              <a:off x="10285074" y="5467835"/>
              <a:ext cx="394774" cy="479108"/>
              <a:chOff x="1585519" y="2759978"/>
              <a:chExt cx="526127" cy="511728"/>
            </a:xfrm>
          </p:grpSpPr>
          <p:sp>
            <p:nvSpPr>
              <p:cNvPr id="133" name="Diamond 132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TextBox 133"/>
                  <p:cNvSpPr txBox="1"/>
                  <p:nvPr/>
                </p:nvSpPr>
                <p:spPr>
                  <a:xfrm>
                    <a:off x="1717227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34" name="TextBox 1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7227" y="2905534"/>
                    <a:ext cx="262419" cy="23011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7273" r="-9091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/>
            <p:cNvGrpSpPr/>
            <p:nvPr/>
          </p:nvGrpSpPr>
          <p:grpSpPr>
            <a:xfrm>
              <a:off x="10956021" y="5512289"/>
              <a:ext cx="269426" cy="392997"/>
              <a:chOff x="2524125" y="2814638"/>
              <a:chExt cx="318135" cy="402431"/>
            </a:xfrm>
          </p:grpSpPr>
          <p:sp>
            <p:nvSpPr>
              <p:cNvPr id="131" name="Rounded Rectangle 130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TextBox 131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2" name="TextBox 1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11497189" y="5467835"/>
              <a:ext cx="376542" cy="479108"/>
              <a:chOff x="1585519" y="2759978"/>
              <a:chExt cx="444617" cy="511728"/>
            </a:xfrm>
          </p:grpSpPr>
          <p:sp>
            <p:nvSpPr>
              <p:cNvPr id="129" name="Diamond 128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0" name="TextBox 1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2222" r="-5556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/>
            <p:cNvGrpSpPr/>
            <p:nvPr/>
          </p:nvGrpSpPr>
          <p:grpSpPr>
            <a:xfrm>
              <a:off x="7334072" y="6162906"/>
              <a:ext cx="353709" cy="359111"/>
              <a:chOff x="1063135" y="3603288"/>
              <a:chExt cx="353709" cy="359111"/>
            </a:xfrm>
          </p:grpSpPr>
          <p:sp>
            <p:nvSpPr>
              <p:cNvPr id="127" name="Oval 126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7" name="TextBox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714" r="-2857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/>
            <p:cNvGrpSpPr/>
            <p:nvPr/>
          </p:nvGrpSpPr>
          <p:grpSpPr>
            <a:xfrm>
              <a:off x="8506341" y="6162906"/>
              <a:ext cx="353709" cy="359111"/>
              <a:chOff x="1063135" y="3603288"/>
              <a:chExt cx="353709" cy="359111"/>
            </a:xfrm>
          </p:grpSpPr>
          <p:sp>
            <p:nvSpPr>
              <p:cNvPr id="125" name="Oval 124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TextBox 125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0" name="TextBox 1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5714" r="-3214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10911467" y="6162905"/>
              <a:ext cx="353709" cy="359111"/>
              <a:chOff x="1063135" y="3603288"/>
              <a:chExt cx="353709" cy="359111"/>
            </a:xfrm>
          </p:grpSpPr>
          <p:sp>
            <p:nvSpPr>
              <p:cNvPr id="123" name="Oval 122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TextBox 123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4" name="TextBox 1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5714" r="-3214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8" name="Straight Arrow Connector 17"/>
            <p:cNvCxnSpPr>
              <a:stCxn id="127" idx="0"/>
              <a:endCxn id="143" idx="2"/>
            </p:cNvCxnSpPr>
            <p:nvPr/>
          </p:nvCxnSpPr>
          <p:spPr>
            <a:xfrm flipV="1">
              <a:off x="7510927" y="5905286"/>
              <a:ext cx="383" cy="25762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5" idx="0"/>
              <a:endCxn id="137" idx="2"/>
            </p:cNvCxnSpPr>
            <p:nvPr/>
          </p:nvCxnSpPr>
          <p:spPr>
            <a:xfrm flipV="1">
              <a:off x="8683196" y="5905603"/>
              <a:ext cx="2417" cy="257303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23" idx="0"/>
              <a:endCxn id="131" idx="2"/>
            </p:cNvCxnSpPr>
            <p:nvPr/>
          </p:nvCxnSpPr>
          <p:spPr>
            <a:xfrm flipV="1">
              <a:off x="11088322" y="5905286"/>
              <a:ext cx="2412" cy="25761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996915" y="6194890"/>
              <a:ext cx="646331" cy="2616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Encoder</a:t>
              </a: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9740903" y="5512289"/>
              <a:ext cx="276338" cy="392997"/>
              <a:chOff x="2524125" y="2814638"/>
              <a:chExt cx="318135" cy="402431"/>
            </a:xfrm>
          </p:grpSpPr>
          <p:sp>
            <p:nvSpPr>
              <p:cNvPr id="121" name="Rounded Rectangle 120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TextBox 121"/>
                  <p:cNvSpPr txBox="1"/>
                  <p:nvPr/>
                </p:nvSpPr>
                <p:spPr>
                  <a:xfrm>
                    <a:off x="2543048" y="2892929"/>
                    <a:ext cx="259545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2" name="TextBox 1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59545" cy="22061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3" name="Straight Arrow Connector 22"/>
            <p:cNvCxnSpPr>
              <a:stCxn id="143" idx="3"/>
              <a:endCxn id="139" idx="1"/>
            </p:cNvCxnSpPr>
            <p:nvPr/>
          </p:nvCxnSpPr>
          <p:spPr>
            <a:xfrm flipV="1">
              <a:off x="7646023" y="5707706"/>
              <a:ext cx="250588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39" idx="3"/>
              <a:endCxn id="137" idx="1"/>
            </p:cNvCxnSpPr>
            <p:nvPr/>
          </p:nvCxnSpPr>
          <p:spPr>
            <a:xfrm>
              <a:off x="8273153" y="5707706"/>
              <a:ext cx="277747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37" idx="3"/>
              <a:endCxn id="135" idx="1"/>
            </p:cNvCxnSpPr>
            <p:nvPr/>
          </p:nvCxnSpPr>
          <p:spPr>
            <a:xfrm flipV="1">
              <a:off x="8820326" y="5707706"/>
              <a:ext cx="265384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35" idx="3"/>
              <a:endCxn id="121" idx="1"/>
            </p:cNvCxnSpPr>
            <p:nvPr/>
          </p:nvCxnSpPr>
          <p:spPr>
            <a:xfrm>
              <a:off x="9462252" y="5707706"/>
              <a:ext cx="278651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21" idx="3"/>
              <a:endCxn id="133" idx="1"/>
            </p:cNvCxnSpPr>
            <p:nvPr/>
          </p:nvCxnSpPr>
          <p:spPr>
            <a:xfrm flipV="1">
              <a:off x="10017241" y="5707389"/>
              <a:ext cx="26783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33" idx="3"/>
              <a:endCxn id="131" idx="1"/>
            </p:cNvCxnSpPr>
            <p:nvPr/>
          </p:nvCxnSpPr>
          <p:spPr>
            <a:xfrm>
              <a:off x="10679848" y="5707389"/>
              <a:ext cx="27617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31" idx="3"/>
              <a:endCxn id="129" idx="1"/>
            </p:cNvCxnSpPr>
            <p:nvPr/>
          </p:nvCxnSpPr>
          <p:spPr>
            <a:xfrm flipV="1">
              <a:off x="11225447" y="5707389"/>
              <a:ext cx="271742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7376597" y="3285022"/>
              <a:ext cx="269426" cy="392997"/>
              <a:chOff x="7306493" y="2589003"/>
              <a:chExt cx="269426" cy="392997"/>
            </a:xfrm>
          </p:grpSpPr>
          <p:sp>
            <p:nvSpPr>
              <p:cNvPr id="119" name="Rounded Rectangle 118"/>
              <p:cNvSpPr/>
              <p:nvPr/>
            </p:nvSpPr>
            <p:spPr>
              <a:xfrm>
                <a:off x="7306493" y="2589003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7336199" y="2665776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0" name="TextBox 1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665776"/>
                    <a:ext cx="173190" cy="21544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35714" r="-28571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/>
            <p:cNvGrpSpPr/>
            <p:nvPr/>
          </p:nvGrpSpPr>
          <p:grpSpPr>
            <a:xfrm>
              <a:off x="6746223" y="3245331"/>
              <a:ext cx="376542" cy="479108"/>
              <a:chOff x="1585519" y="2759978"/>
              <a:chExt cx="444617" cy="511728"/>
            </a:xfrm>
          </p:grpSpPr>
          <p:sp>
            <p:nvSpPr>
              <p:cNvPr id="117" name="Diamond 116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TextBox 117"/>
                  <p:cNvSpPr txBox="1"/>
                  <p:nvPr/>
                </p:nvSpPr>
                <p:spPr>
                  <a:xfrm>
                    <a:off x="1688897" y="2900981"/>
                    <a:ext cx="25106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8" name="TextBox 1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51062" cy="23011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20000" r="-2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2" name="Straight Arrow Connector 31"/>
            <p:cNvCxnSpPr>
              <a:stCxn id="117" idx="3"/>
              <a:endCxn id="119" idx="1"/>
            </p:cNvCxnSpPr>
            <p:nvPr/>
          </p:nvCxnSpPr>
          <p:spPr>
            <a:xfrm flipV="1">
              <a:off x="7122765" y="3481521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/>
          </p:nvGrpSpPr>
          <p:grpSpPr>
            <a:xfrm>
              <a:off x="7896611" y="3240885"/>
              <a:ext cx="376542" cy="479108"/>
              <a:chOff x="1585519" y="2759978"/>
              <a:chExt cx="444617" cy="511728"/>
            </a:xfrm>
          </p:grpSpPr>
          <p:sp>
            <p:nvSpPr>
              <p:cNvPr id="115" name="Diamond 114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TextBox 115"/>
                  <p:cNvSpPr txBox="1"/>
                  <p:nvPr/>
                </p:nvSpPr>
                <p:spPr>
                  <a:xfrm>
                    <a:off x="1664390" y="2905534"/>
                    <a:ext cx="242507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16" name="TextBox 1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42507" cy="23011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0588" r="-294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/>
            <p:cNvGrpSpPr/>
            <p:nvPr/>
          </p:nvGrpSpPr>
          <p:grpSpPr>
            <a:xfrm>
              <a:off x="8550900" y="3285339"/>
              <a:ext cx="269426" cy="392997"/>
              <a:chOff x="8480796" y="2589320"/>
              <a:chExt cx="269426" cy="392997"/>
            </a:xfrm>
          </p:grpSpPr>
          <p:sp>
            <p:nvSpPr>
              <p:cNvPr id="113" name="Rounded Rectangle 112"/>
              <p:cNvSpPr/>
              <p:nvPr/>
            </p:nvSpPr>
            <p:spPr>
              <a:xfrm>
                <a:off x="8480796" y="2589320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/>
                  <p:cNvSpPr txBox="1"/>
                  <p:nvPr/>
                </p:nvSpPr>
                <p:spPr>
                  <a:xfrm>
                    <a:off x="8496822" y="2665776"/>
                    <a:ext cx="241476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4" name="TextBox 1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96822" y="2665776"/>
                    <a:ext cx="241476" cy="21544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7500" r="-2500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9085710" y="3240885"/>
              <a:ext cx="376542" cy="479108"/>
              <a:chOff x="1585519" y="2759978"/>
              <a:chExt cx="444617" cy="511728"/>
            </a:xfrm>
          </p:grpSpPr>
          <p:sp>
            <p:nvSpPr>
              <p:cNvPr id="111" name="Diamond 110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TextBox 111"/>
                  <p:cNvSpPr txBox="1"/>
                  <p:nvPr/>
                </p:nvSpPr>
                <p:spPr>
                  <a:xfrm>
                    <a:off x="1676618" y="2905534"/>
                    <a:ext cx="25106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2" name="TextBox 1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51062" cy="23011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20000" r="-2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Group 35"/>
            <p:cNvGrpSpPr/>
            <p:nvPr/>
          </p:nvGrpSpPr>
          <p:grpSpPr>
            <a:xfrm>
              <a:off x="10285074" y="3240568"/>
              <a:ext cx="394774" cy="479108"/>
              <a:chOff x="1585519" y="2759978"/>
              <a:chExt cx="526127" cy="511728"/>
            </a:xfrm>
          </p:grpSpPr>
          <p:sp>
            <p:nvSpPr>
              <p:cNvPr id="109" name="Diamond 108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TextBox 109"/>
                  <p:cNvSpPr txBox="1"/>
                  <p:nvPr/>
                </p:nvSpPr>
                <p:spPr>
                  <a:xfrm>
                    <a:off x="1717227" y="2905534"/>
                    <a:ext cx="28336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10" name="Text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7227" y="2905534"/>
                    <a:ext cx="283368" cy="23011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20000" r="-2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TextBox 38"/>
            <p:cNvSpPr txBox="1"/>
            <p:nvPr/>
          </p:nvSpPr>
          <p:spPr>
            <a:xfrm>
              <a:off x="8880608" y="2960701"/>
              <a:ext cx="646331" cy="2616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Decoder</a:t>
              </a:r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9740903" y="3285022"/>
              <a:ext cx="276338" cy="392997"/>
              <a:chOff x="9670799" y="2589003"/>
              <a:chExt cx="276338" cy="392997"/>
            </a:xfrm>
          </p:grpSpPr>
          <p:sp>
            <p:nvSpPr>
              <p:cNvPr id="103" name="Rounded Rectangle 102"/>
              <p:cNvSpPr/>
              <p:nvPr/>
            </p:nvSpPr>
            <p:spPr>
              <a:xfrm>
                <a:off x="9670799" y="2589003"/>
                <a:ext cx="276338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/>
                  <p:cNvSpPr txBox="1"/>
                  <p:nvPr/>
                </p:nvSpPr>
                <p:spPr>
                  <a:xfrm>
                    <a:off x="9687236" y="2665459"/>
                    <a:ext cx="241476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4" name="TextBox 10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7236" y="2665459"/>
                    <a:ext cx="241476" cy="215444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17949" r="-5128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1" name="Straight Arrow Connector 40"/>
            <p:cNvCxnSpPr>
              <a:stCxn id="119" idx="3"/>
              <a:endCxn id="115" idx="1"/>
            </p:cNvCxnSpPr>
            <p:nvPr/>
          </p:nvCxnSpPr>
          <p:spPr>
            <a:xfrm flipV="1">
              <a:off x="7646023" y="3480439"/>
              <a:ext cx="250588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15" idx="3"/>
              <a:endCxn id="113" idx="1"/>
            </p:cNvCxnSpPr>
            <p:nvPr/>
          </p:nvCxnSpPr>
          <p:spPr>
            <a:xfrm>
              <a:off x="8273153" y="3480439"/>
              <a:ext cx="277747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113" idx="3"/>
              <a:endCxn id="111" idx="1"/>
            </p:cNvCxnSpPr>
            <p:nvPr/>
          </p:nvCxnSpPr>
          <p:spPr>
            <a:xfrm flipV="1">
              <a:off x="8820326" y="3480439"/>
              <a:ext cx="265384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111" idx="3"/>
              <a:endCxn id="103" idx="1"/>
            </p:cNvCxnSpPr>
            <p:nvPr/>
          </p:nvCxnSpPr>
          <p:spPr>
            <a:xfrm>
              <a:off x="9462252" y="3480439"/>
              <a:ext cx="278651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03" idx="3"/>
              <a:endCxn id="109" idx="1"/>
            </p:cNvCxnSpPr>
            <p:nvPr/>
          </p:nvCxnSpPr>
          <p:spPr>
            <a:xfrm flipV="1">
              <a:off x="10017241" y="3480122"/>
              <a:ext cx="26783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/>
            <p:cNvGrpSpPr/>
            <p:nvPr/>
          </p:nvGrpSpPr>
          <p:grpSpPr>
            <a:xfrm>
              <a:off x="9703320" y="6144840"/>
              <a:ext cx="353709" cy="359111"/>
              <a:chOff x="1063135" y="3603288"/>
              <a:chExt cx="353709" cy="359111"/>
            </a:xfrm>
          </p:grpSpPr>
          <p:sp>
            <p:nvSpPr>
              <p:cNvPr id="101" name="Oval 100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2" name="TextBox 1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35714" r="-3214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/>
            <p:cNvCxnSpPr>
              <a:stCxn id="101" idx="0"/>
              <a:endCxn id="121" idx="2"/>
            </p:cNvCxnSpPr>
            <p:nvPr/>
          </p:nvCxnSpPr>
          <p:spPr>
            <a:xfrm flipH="1" flipV="1">
              <a:off x="9879072" y="5905286"/>
              <a:ext cx="1103" cy="23955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/>
            <p:cNvGrpSpPr/>
            <p:nvPr/>
          </p:nvGrpSpPr>
          <p:grpSpPr>
            <a:xfrm>
              <a:off x="7385006" y="2576041"/>
              <a:ext cx="261939" cy="273612"/>
              <a:chOff x="7291824" y="2242585"/>
              <a:chExt cx="261939" cy="273612"/>
            </a:xfrm>
          </p:grpSpPr>
          <p:sp>
            <p:nvSpPr>
              <p:cNvPr id="99" name="Rectangle 98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0" name="TextBox 9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39286" r="-17857" b="-25714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1" name="Straight Arrow Connector 50"/>
            <p:cNvCxnSpPr>
              <a:stCxn id="119" idx="0"/>
              <a:endCxn id="99" idx="2"/>
            </p:cNvCxnSpPr>
            <p:nvPr/>
          </p:nvCxnSpPr>
          <p:spPr>
            <a:xfrm flipV="1">
              <a:off x="7511310" y="2849653"/>
              <a:ext cx="4666" cy="435369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52" name="Group 51"/>
            <p:cNvGrpSpPr/>
            <p:nvPr/>
          </p:nvGrpSpPr>
          <p:grpSpPr>
            <a:xfrm>
              <a:off x="8555535" y="2575860"/>
              <a:ext cx="261939" cy="273612"/>
              <a:chOff x="7291824" y="2242585"/>
              <a:chExt cx="261939" cy="273612"/>
            </a:xfrm>
          </p:grpSpPr>
          <p:sp>
            <p:nvSpPr>
              <p:cNvPr id="97" name="Rectangle 96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39286" r="-21429" b="-25714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3" name="Straight Arrow Connector 52"/>
            <p:cNvCxnSpPr>
              <a:stCxn id="113" idx="0"/>
              <a:endCxn id="97" idx="2"/>
            </p:cNvCxnSpPr>
            <p:nvPr/>
          </p:nvCxnSpPr>
          <p:spPr>
            <a:xfrm flipV="1">
              <a:off x="8685613" y="2849472"/>
              <a:ext cx="892" cy="435867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56" name="Group 55"/>
            <p:cNvGrpSpPr/>
            <p:nvPr/>
          </p:nvGrpSpPr>
          <p:grpSpPr>
            <a:xfrm>
              <a:off x="9747814" y="2580927"/>
              <a:ext cx="261939" cy="273612"/>
              <a:chOff x="7291824" y="2242585"/>
              <a:chExt cx="261939" cy="273612"/>
            </a:xfrm>
          </p:grpSpPr>
          <p:sp>
            <p:nvSpPr>
              <p:cNvPr id="93" name="Rectangle 92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34483" r="-17241" b="-25000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Straight Arrow Connector 56"/>
            <p:cNvCxnSpPr>
              <a:stCxn id="103" idx="0"/>
              <a:endCxn id="93" idx="2"/>
            </p:cNvCxnSpPr>
            <p:nvPr/>
          </p:nvCxnSpPr>
          <p:spPr>
            <a:xfrm flipH="1" flipV="1">
              <a:off x="9878784" y="2854539"/>
              <a:ext cx="288" cy="430483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9" name="Freeform 58"/>
            <p:cNvSpPr/>
            <p:nvPr/>
          </p:nvSpPr>
          <p:spPr>
            <a:xfrm>
              <a:off x="8698230" y="2211004"/>
              <a:ext cx="1113472" cy="1761337"/>
            </a:xfrm>
            <a:custGeom>
              <a:avLst/>
              <a:gdLst>
                <a:gd name="connsiteX0" fmla="*/ 0 w 1127760"/>
                <a:gd name="connsiteY0" fmla="*/ 396589 h 1923797"/>
                <a:gd name="connsiteX1" fmla="*/ 419100 w 1127760"/>
                <a:gd name="connsiteY1" fmla="*/ 91789 h 1923797"/>
                <a:gd name="connsiteX2" fmla="*/ 944880 w 1127760"/>
                <a:gd name="connsiteY2" fmla="*/ 1829149 h 1923797"/>
                <a:gd name="connsiteX3" fmla="*/ 1127760 w 1127760"/>
                <a:gd name="connsiteY3" fmla="*/ 1539589 h 1923797"/>
                <a:gd name="connsiteX0" fmla="*/ 0 w 1108710"/>
                <a:gd name="connsiteY0" fmla="*/ 396589 h 1969681"/>
                <a:gd name="connsiteX1" fmla="*/ 419100 w 1108710"/>
                <a:gd name="connsiteY1" fmla="*/ 91789 h 1969681"/>
                <a:gd name="connsiteX2" fmla="*/ 944880 w 1108710"/>
                <a:gd name="connsiteY2" fmla="*/ 1829149 h 1969681"/>
                <a:gd name="connsiteX3" fmla="*/ 1108710 w 1108710"/>
                <a:gd name="connsiteY3" fmla="*/ 1683607 h 1969681"/>
                <a:gd name="connsiteX0" fmla="*/ 0 w 1072991"/>
                <a:gd name="connsiteY0" fmla="*/ 396589 h 1965627"/>
                <a:gd name="connsiteX1" fmla="*/ 419100 w 1072991"/>
                <a:gd name="connsiteY1" fmla="*/ 91789 h 1965627"/>
                <a:gd name="connsiteX2" fmla="*/ 944880 w 1072991"/>
                <a:gd name="connsiteY2" fmla="*/ 1829149 h 1965627"/>
                <a:gd name="connsiteX3" fmla="*/ 1072991 w 1072991"/>
                <a:gd name="connsiteY3" fmla="*/ 1672939 h 1965627"/>
                <a:gd name="connsiteX0" fmla="*/ 0 w 1072991"/>
                <a:gd name="connsiteY0" fmla="*/ 397549 h 1976000"/>
                <a:gd name="connsiteX1" fmla="*/ 419100 w 1072991"/>
                <a:gd name="connsiteY1" fmla="*/ 92749 h 1976000"/>
                <a:gd name="connsiteX2" fmla="*/ 875824 w 1072991"/>
                <a:gd name="connsiteY2" fmla="*/ 1843444 h 1976000"/>
                <a:gd name="connsiteX3" fmla="*/ 1072991 w 1072991"/>
                <a:gd name="connsiteY3" fmla="*/ 1673899 h 1976000"/>
                <a:gd name="connsiteX0" fmla="*/ 0 w 1072991"/>
                <a:gd name="connsiteY0" fmla="*/ 397549 h 1976001"/>
                <a:gd name="connsiteX1" fmla="*/ 471488 w 1072991"/>
                <a:gd name="connsiteY1" fmla="*/ 92749 h 1976001"/>
                <a:gd name="connsiteX2" fmla="*/ 875824 w 1072991"/>
                <a:gd name="connsiteY2" fmla="*/ 1843444 h 1976001"/>
                <a:gd name="connsiteX3" fmla="*/ 1072991 w 1072991"/>
                <a:gd name="connsiteY3" fmla="*/ 1673899 h 1976001"/>
                <a:gd name="connsiteX0" fmla="*/ 0 w 1106328"/>
                <a:gd name="connsiteY0" fmla="*/ 391589 h 1978042"/>
                <a:gd name="connsiteX1" fmla="*/ 504825 w 1106328"/>
                <a:gd name="connsiteY1" fmla="*/ 94790 h 1978042"/>
                <a:gd name="connsiteX2" fmla="*/ 909161 w 1106328"/>
                <a:gd name="connsiteY2" fmla="*/ 1845485 h 1978042"/>
                <a:gd name="connsiteX3" fmla="*/ 1106328 w 1106328"/>
                <a:gd name="connsiteY3" fmla="*/ 1675940 h 1978042"/>
                <a:gd name="connsiteX0" fmla="*/ 0 w 1113472"/>
                <a:gd name="connsiteY0" fmla="*/ 407581 h 1972698"/>
                <a:gd name="connsiteX1" fmla="*/ 511969 w 1113472"/>
                <a:gd name="connsiteY1" fmla="*/ 89446 h 1972698"/>
                <a:gd name="connsiteX2" fmla="*/ 916305 w 1113472"/>
                <a:gd name="connsiteY2" fmla="*/ 1840141 h 1972698"/>
                <a:gd name="connsiteX3" fmla="*/ 1113472 w 1113472"/>
                <a:gd name="connsiteY3" fmla="*/ 1670596 h 197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3472" h="1972698">
                  <a:moveTo>
                    <a:pt x="0" y="407581"/>
                  </a:moveTo>
                  <a:cubicBezTo>
                    <a:pt x="130810" y="135801"/>
                    <a:pt x="359252" y="-149314"/>
                    <a:pt x="511969" y="89446"/>
                  </a:cubicBezTo>
                  <a:cubicBezTo>
                    <a:pt x="664686" y="328206"/>
                    <a:pt x="816055" y="1576616"/>
                    <a:pt x="916305" y="1840141"/>
                  </a:cubicBezTo>
                  <a:cubicBezTo>
                    <a:pt x="1016556" y="2103666"/>
                    <a:pt x="1081087" y="1936026"/>
                    <a:pt x="1113472" y="1670596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7177302" y="4545801"/>
                  <a:ext cx="570326" cy="19351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83000"/>
                  </a:schemeClr>
                </a:solid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att</m:t>
                          </m:r>
                        </m:sub>
                      </m:sSub>
                    </m:oMath>
                  </a14:m>
                  <a:r>
                    <a:rPr lang="en-IN" sz="9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(MLP)</a:t>
                  </a:r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7302" y="4545801"/>
                  <a:ext cx="570326" cy="193513"/>
                </a:xfrm>
                <a:prstGeom prst="rect">
                  <a:avLst/>
                </a:prstGeom>
                <a:blipFill>
                  <a:blip r:embed="rId31"/>
                  <a:stretch>
                    <a:fillRect t="-6061" r="-5208" b="-18182"/>
                  </a:stretch>
                </a:blip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Box 61"/>
            <p:cNvSpPr txBox="1"/>
            <p:nvPr/>
          </p:nvSpPr>
          <p:spPr>
            <a:xfrm>
              <a:off x="7745388" y="4545656"/>
              <a:ext cx="433265" cy="1935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rgbClr val="C00000">
                  <a:alpha val="68000"/>
                </a:srgb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IN" sz="900" dirty="0" err="1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SoftMax</a:t>
              </a:r>
              <a:endParaRPr lang="en-IN" sz="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8912078" y="4545801"/>
                  <a:ext cx="217735" cy="19351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l-GR" sz="5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IN" sz="5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IN" sz="5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2078" y="4545801"/>
                  <a:ext cx="217735" cy="193513"/>
                </a:xfrm>
                <a:prstGeom prst="rect">
                  <a:avLst/>
                </a:prstGeom>
                <a:blipFill>
                  <a:blip r:embed="rId32"/>
                  <a:stretch>
                    <a:fillRect l="-78947" t="-127273" r="-36842" b="-178788"/>
                  </a:stretch>
                </a:blip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/>
            <p:cNvSpPr txBox="1"/>
            <p:nvPr/>
          </p:nvSpPr>
          <p:spPr>
            <a:xfrm>
              <a:off x="9127574" y="4545656"/>
              <a:ext cx="192197" cy="19351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C00000">
                  <a:alpha val="68000"/>
                </a:srgb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IN" sz="1000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cxnSp>
          <p:nvCxnSpPr>
            <p:cNvPr id="65" name="Straight Arrow Connector 64"/>
            <p:cNvCxnSpPr>
              <a:stCxn id="62" idx="3"/>
              <a:endCxn id="63" idx="1"/>
            </p:cNvCxnSpPr>
            <p:nvPr/>
          </p:nvCxnSpPr>
          <p:spPr>
            <a:xfrm>
              <a:off x="8178653" y="4642413"/>
              <a:ext cx="733425" cy="145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8113937" y="4349577"/>
                  <a:ext cx="851643" cy="160685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31,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32,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33,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34</m:t>
                            </m:r>
                          </m:sub>
                        </m:sSub>
                      </m:oMath>
                    </m:oMathPara>
                  </a14:m>
                  <a:endParaRPr lang="en-IN" sz="1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3937" y="4349577"/>
                  <a:ext cx="851643" cy="160685"/>
                </a:xfrm>
                <a:prstGeom prst="rect">
                  <a:avLst/>
                </a:prstGeom>
                <a:blipFill>
                  <a:blip r:embed="rId33"/>
                  <a:stretch>
                    <a:fillRect l="-1429" r="-1429" b="-740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8133222" y="4765894"/>
                  <a:ext cx="841577" cy="10772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7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ttention</m:t>
                        </m:r>
                        <m: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Mechanism</m:t>
                        </m:r>
                      </m:oMath>
                    </m:oMathPara>
                  </a14:m>
                  <a:endParaRPr lang="en-IN" sz="700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3222" y="4765894"/>
                  <a:ext cx="841577" cy="107722"/>
                </a:xfrm>
                <a:prstGeom prst="rect">
                  <a:avLst/>
                </a:prstGeom>
                <a:blipFill>
                  <a:blip r:embed="rId34"/>
                  <a:stretch>
                    <a:fillRect l="-2174" r="-2174" b="-11765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Arrow Connector 68"/>
            <p:cNvCxnSpPr>
              <a:endCxn id="103" idx="2"/>
            </p:cNvCxnSpPr>
            <p:nvPr/>
          </p:nvCxnSpPr>
          <p:spPr>
            <a:xfrm flipV="1">
              <a:off x="9875496" y="3678019"/>
              <a:ext cx="3576" cy="386329"/>
            </a:xfrm>
            <a:prstGeom prst="straightConnector1">
              <a:avLst/>
            </a:prstGeom>
            <a:ln w="15875">
              <a:solidFill>
                <a:schemeClr val="accent6">
                  <a:lumMod val="75000"/>
                  <a:alpha val="93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lbow Connector 70"/>
            <p:cNvCxnSpPr>
              <a:stCxn id="64" idx="3"/>
            </p:cNvCxnSpPr>
            <p:nvPr/>
          </p:nvCxnSpPr>
          <p:spPr>
            <a:xfrm flipV="1">
              <a:off x="9319771" y="4012405"/>
              <a:ext cx="555725" cy="630008"/>
            </a:xfrm>
            <a:prstGeom prst="bentConnector2">
              <a:avLst/>
            </a:prstGeom>
            <a:ln w="15875">
              <a:solidFill>
                <a:schemeClr val="accent6">
                  <a:lumMod val="75000"/>
                  <a:alpha val="93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lbow Connector 71"/>
            <p:cNvCxnSpPr>
              <a:stCxn id="111" idx="2"/>
            </p:cNvCxnSpPr>
            <p:nvPr/>
          </p:nvCxnSpPr>
          <p:spPr>
            <a:xfrm rot="5400000">
              <a:off x="7743182" y="3082456"/>
              <a:ext cx="893263" cy="2168336"/>
            </a:xfrm>
            <a:prstGeom prst="bentConnector4">
              <a:avLst>
                <a:gd name="adj1" fmla="val 45879"/>
                <a:gd name="adj2" fmla="val 127675"/>
              </a:avLst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lbow Connector 72"/>
            <p:cNvCxnSpPr/>
            <p:nvPr/>
          </p:nvCxnSpPr>
          <p:spPr>
            <a:xfrm>
              <a:off x="6507956" y="4263717"/>
              <a:ext cx="2614429" cy="258011"/>
            </a:xfrm>
            <a:prstGeom prst="bentConnector3">
              <a:avLst>
                <a:gd name="adj1" fmla="val 100034"/>
              </a:avLst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>
              <a:stCxn id="129" idx="0"/>
            </p:cNvCxnSpPr>
            <p:nvPr/>
          </p:nvCxnSpPr>
          <p:spPr>
            <a:xfrm rot="16200000" flipV="1">
              <a:off x="9019763" y="2802138"/>
              <a:ext cx="746221" cy="4585174"/>
            </a:xfrm>
            <a:prstGeom prst="bentConnector4">
              <a:avLst>
                <a:gd name="adj1" fmla="val 46490"/>
                <a:gd name="adj2" fmla="val 113156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/>
            <p:cNvCxnSpPr/>
            <p:nvPr/>
          </p:nvCxnSpPr>
          <p:spPr>
            <a:xfrm flipV="1">
              <a:off x="6498843" y="4745524"/>
              <a:ext cx="2621857" cy="252693"/>
            </a:xfrm>
            <a:prstGeom prst="bentConnector3">
              <a:avLst>
                <a:gd name="adj1" fmla="val 99989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133" idx="0"/>
            </p:cNvCxnSpPr>
            <p:nvPr/>
          </p:nvCxnSpPr>
          <p:spPr>
            <a:xfrm flipH="1" flipV="1">
              <a:off x="10482351" y="5109783"/>
              <a:ext cx="110" cy="358052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135" idx="0"/>
            </p:cNvCxnSpPr>
            <p:nvPr/>
          </p:nvCxnSpPr>
          <p:spPr>
            <a:xfrm flipV="1">
              <a:off x="9273981" y="5121856"/>
              <a:ext cx="5370" cy="346296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139" idx="0"/>
            </p:cNvCxnSpPr>
            <p:nvPr/>
          </p:nvCxnSpPr>
          <p:spPr>
            <a:xfrm flipV="1">
              <a:off x="8084882" y="5114582"/>
              <a:ext cx="2703" cy="353570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9522498" y="4419908"/>
                  <a:ext cx="172548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2498" y="4419908"/>
                  <a:ext cx="172548" cy="184666"/>
                </a:xfrm>
                <a:prstGeom prst="rect">
                  <a:avLst/>
                </a:prstGeom>
                <a:blipFill>
                  <a:blip r:embed="rId35"/>
                  <a:stretch>
                    <a:fillRect l="-10714" r="-7143" b="-16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Arrow Connector 83"/>
            <p:cNvCxnSpPr/>
            <p:nvPr/>
          </p:nvCxnSpPr>
          <p:spPr>
            <a:xfrm flipV="1">
              <a:off x="6484173" y="3480122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5551303" y="3110309"/>
                  <a:ext cx="1192321" cy="738664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050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From final hidden state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IN" sz="1050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: </a:t>
                  </a:r>
                </a:p>
                <a:p>
                  <a:r>
                    <a:rPr lang="en-IN" sz="1050" b="1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Initial Decoder State</a:t>
                  </a: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1303" y="3110309"/>
                  <a:ext cx="1192321" cy="738664"/>
                </a:xfrm>
                <a:prstGeom prst="rect">
                  <a:avLst/>
                </a:prstGeom>
                <a:blipFill>
                  <a:blip r:embed="rId36"/>
                  <a:stretch>
                    <a:fillRect b="-4132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6327885" y="4351532"/>
                  <a:ext cx="171522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7885" y="4351532"/>
                  <a:ext cx="171522" cy="184666"/>
                </a:xfrm>
                <a:prstGeom prst="rect">
                  <a:avLst/>
                </a:prstGeom>
                <a:blipFill>
                  <a:blip r:embed="rId37"/>
                  <a:stretch>
                    <a:fillRect l="-10714" r="-7143" b="-16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/>
                <p:cNvSpPr txBox="1"/>
                <p:nvPr/>
              </p:nvSpPr>
              <p:spPr>
                <a:xfrm>
                  <a:off x="5767665" y="4753776"/>
                  <a:ext cx="725776" cy="192873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7665" y="4753776"/>
                  <a:ext cx="725776" cy="192873"/>
                </a:xfrm>
                <a:prstGeom prst="rect">
                  <a:avLst/>
                </a:prstGeom>
                <a:blipFill>
                  <a:blip r:embed="rId38"/>
                  <a:stretch>
                    <a:fillRect l="-5042" r="-1681" b="-12903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Straight Connector 87"/>
            <p:cNvCxnSpPr>
              <a:stCxn id="129" idx="0"/>
            </p:cNvCxnSpPr>
            <p:nvPr/>
          </p:nvCxnSpPr>
          <p:spPr>
            <a:xfrm flipV="1">
              <a:off x="11685460" y="5116714"/>
              <a:ext cx="1" cy="351121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/>
            <p:cNvSpPr/>
            <p:nvPr/>
          </p:nvSpPr>
          <p:spPr>
            <a:xfrm>
              <a:off x="6699503" y="5294651"/>
              <a:ext cx="5286375" cy="135565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6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89" name="Straight Connector 88"/>
            <p:cNvCxnSpPr/>
            <p:nvPr/>
          </p:nvCxnSpPr>
          <p:spPr>
            <a:xfrm>
              <a:off x="9276666" y="3967578"/>
              <a:ext cx="0" cy="168973"/>
            </a:xfrm>
            <a:prstGeom prst="line">
              <a:avLst/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/>
                <p:cNvSpPr txBox="1"/>
                <p:nvPr/>
              </p:nvSpPr>
              <p:spPr>
                <a:xfrm>
                  <a:off x="9906188" y="3693016"/>
                  <a:ext cx="172548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6188" y="3693016"/>
                  <a:ext cx="172548" cy="184666"/>
                </a:xfrm>
                <a:prstGeom prst="rect">
                  <a:avLst/>
                </a:prstGeom>
                <a:blipFill>
                  <a:blip r:embed="rId35"/>
                  <a:stretch>
                    <a:fillRect l="-10714" r="-7143" b="-16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/>
                <p:cNvSpPr txBox="1"/>
                <p:nvPr/>
              </p:nvSpPr>
              <p:spPr>
                <a:xfrm>
                  <a:off x="9612390" y="3716322"/>
                  <a:ext cx="173190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4" name="TextBox 1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390" y="3716322"/>
                  <a:ext cx="173190" cy="184666"/>
                </a:xfrm>
                <a:prstGeom prst="rect">
                  <a:avLst/>
                </a:prstGeom>
                <a:blipFill>
                  <a:blip r:embed="rId39"/>
                  <a:stretch>
                    <a:fillRect l="-25000" r="-10714" b="-22581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Rectangle 90"/>
            <p:cNvSpPr/>
            <p:nvPr/>
          </p:nvSpPr>
          <p:spPr>
            <a:xfrm>
              <a:off x="6699503" y="2941058"/>
              <a:ext cx="5319168" cy="1038082"/>
            </a:xfrm>
            <a:prstGeom prst="rect">
              <a:avLst/>
            </a:prstGeom>
            <a:solidFill>
              <a:srgbClr val="00B0F0">
                <a:alpha val="13000"/>
              </a:srgbClr>
            </a:solidFill>
            <a:ln w="19050">
              <a:solidFill>
                <a:srgbClr val="7030A0">
                  <a:alpha val="5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Content Placeholder 2">
                <a:extLst>
                  <a:ext uri="{FF2B5EF4-FFF2-40B4-BE49-F238E27FC236}">
                    <a16:creationId xmlns:a16="http://schemas.microsoft.com/office/drawing/2014/main" id="{9FD66FF9-9430-471C-B185-36D5D44FB0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8029" y="1382508"/>
                <a:ext cx="10515600" cy="9375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For example, a RNN (LSTM) with four states is taken as both Encoder and Decoder. In the third iteration,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} </a:t>
                </a:r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are input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𝑎𝑡𝑡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are obtained. So,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are fed to second node of decoder to get </a:t>
                </a:r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</a:t>
                </a:r>
                <a:endParaRPr lang="en-IN" sz="2000" dirty="0">
                  <a:solidFill>
                    <a:schemeClr val="tx1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8" name="Content Placeholder 2">
                <a:extLst>
                  <a:ext uri="{FF2B5EF4-FFF2-40B4-BE49-F238E27FC236}">
                    <a16:creationId xmlns:a16="http://schemas.microsoft.com/office/drawing/2014/main" id="{9FD66FF9-9430-471C-B185-36D5D44FB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29" y="1382508"/>
                <a:ext cx="10515600" cy="937561"/>
              </a:xfrm>
              <a:prstGeom prst="rect">
                <a:avLst/>
              </a:prstGeom>
              <a:blipFill>
                <a:blip r:embed="rId40"/>
                <a:stretch>
                  <a:fillRect l="-522" t="-7143" r="-580" b="-10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280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479" y="204161"/>
            <a:ext cx="10515600" cy="1122864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bg2">
                    <a:lumMod val="10000"/>
                  </a:schemeClr>
                </a:solidFill>
                <a:latin typeface="Century" panose="02040604050505020304" pitchFamily="18" charset="0"/>
              </a:rPr>
              <a:t>How to Compute Attention (Context Vector)?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800" dirty="0">
                <a:solidFill>
                  <a:srgbClr val="7030A0"/>
                </a:solidFill>
                <a:latin typeface="Century" panose="02040604050505020304" pitchFamily="18" charset="0"/>
              </a:rPr>
              <a:t>Iteration Four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 flipH="1">
                <a:off x="770359" y="2407441"/>
                <a:ext cx="4817532" cy="423840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First, compute alignment score: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𝑎𝑡𝑡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Normalize this score using SoftMax: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𝑆𝑜𝑓𝑡𝑚𝑎𝑥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4,</m:t>
                              </m:r>
                              <m:r>
                                <a:rPr lang="en-I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 the context vector is computed as linear combination of hidden states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where T=4</a:t>
                </a:r>
              </a:p>
              <a:p>
                <a:pPr marL="0" indent="0">
                  <a:buNone/>
                </a:pPr>
                <a:endParaRPr lang="en-US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 this context vector used in decoder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𝑑𝑒𝑐𝑜𝑑𝑒𝑟</m:t>
                    </m:r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</a:t>
                </a:r>
                <a:endParaRPr lang="en-IN" dirty="0">
                  <a:solidFill>
                    <a:srgbClr val="00B0F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 flipH="1">
                <a:off x="770359" y="2407441"/>
                <a:ext cx="4817532" cy="4238400"/>
              </a:xfrm>
              <a:blipFill>
                <a:blip r:embed="rId2"/>
                <a:stretch>
                  <a:fillRect l="-1896" t="-2734" r="-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8" name="Group 147"/>
          <p:cNvGrpSpPr/>
          <p:nvPr/>
        </p:nvGrpSpPr>
        <p:grpSpPr>
          <a:xfrm>
            <a:off x="5522728" y="2230054"/>
            <a:ext cx="6467368" cy="4439299"/>
            <a:chOff x="5522728" y="2230054"/>
            <a:chExt cx="6467368" cy="4439299"/>
          </a:xfrm>
        </p:grpSpPr>
        <p:sp>
          <p:nvSpPr>
            <p:cNvPr id="91" name="Rectangle 90"/>
            <p:cNvSpPr/>
            <p:nvPr/>
          </p:nvSpPr>
          <p:spPr>
            <a:xfrm>
              <a:off x="6670928" y="2960108"/>
              <a:ext cx="5319168" cy="1038082"/>
            </a:xfrm>
            <a:prstGeom prst="rect">
              <a:avLst/>
            </a:prstGeom>
            <a:solidFill>
              <a:srgbClr val="00B0F0">
                <a:alpha val="13000"/>
              </a:srgbClr>
            </a:solidFill>
            <a:ln w="19050">
              <a:solidFill>
                <a:srgbClr val="7030A0">
                  <a:alpha val="5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900892" y="4386368"/>
              <a:ext cx="2529381" cy="532233"/>
            </a:xfrm>
            <a:prstGeom prst="roundRect">
              <a:avLst/>
            </a:prstGeom>
            <a:solidFill>
              <a:srgbClr val="FFFF00">
                <a:alpha val="1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348022" y="5531339"/>
              <a:ext cx="269426" cy="392997"/>
              <a:chOff x="2447922" y="2814638"/>
              <a:chExt cx="318135" cy="402431"/>
            </a:xfrm>
          </p:grpSpPr>
          <p:sp>
            <p:nvSpPr>
              <p:cNvPr id="142" name="Rounded Rectangle 141"/>
              <p:cNvSpPr/>
              <p:nvPr/>
            </p:nvSpPr>
            <p:spPr>
              <a:xfrm>
                <a:off x="2447922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TextBox 142"/>
                  <p:cNvSpPr txBox="1"/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5" name="TextBox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998" y="2893254"/>
                    <a:ext cx="204501" cy="22061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4483" r="-2069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/>
            <p:cNvGrpSpPr/>
            <p:nvPr/>
          </p:nvGrpSpPr>
          <p:grpSpPr>
            <a:xfrm>
              <a:off x="6717648" y="5491648"/>
              <a:ext cx="376542" cy="479108"/>
              <a:chOff x="1585519" y="2759978"/>
              <a:chExt cx="444617" cy="511728"/>
            </a:xfrm>
          </p:grpSpPr>
          <p:sp>
            <p:nvSpPr>
              <p:cNvPr id="140" name="Diamond 139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/>
                  <p:cNvSpPr txBox="1"/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8" name="TextBox 1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62419" cy="23011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/>
            <p:cNvCxnSpPr>
              <a:stCxn id="140" idx="3"/>
              <a:endCxn id="142" idx="1"/>
            </p:cNvCxnSpPr>
            <p:nvPr/>
          </p:nvCxnSpPr>
          <p:spPr>
            <a:xfrm flipV="1">
              <a:off x="7094190" y="5727838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7868036" y="5487202"/>
              <a:ext cx="376542" cy="479108"/>
              <a:chOff x="1585519" y="2759978"/>
              <a:chExt cx="444617" cy="511728"/>
            </a:xfrm>
          </p:grpSpPr>
          <p:sp>
            <p:nvSpPr>
              <p:cNvPr id="138" name="Diamond 137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TextBox 138"/>
                  <p:cNvSpPr txBox="1"/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62" name="TextBox 1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57498" cy="23011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2857" r="-5714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Group 9"/>
            <p:cNvGrpSpPr/>
            <p:nvPr/>
          </p:nvGrpSpPr>
          <p:grpSpPr>
            <a:xfrm>
              <a:off x="8522325" y="5531656"/>
              <a:ext cx="269426" cy="392997"/>
              <a:chOff x="2524125" y="2814638"/>
              <a:chExt cx="318135" cy="402431"/>
            </a:xfrm>
          </p:grpSpPr>
          <p:sp>
            <p:nvSpPr>
              <p:cNvPr id="136" name="Rounded Rectangle 135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TextBox 136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7" name="TextBox 1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9057135" y="5487202"/>
              <a:ext cx="376542" cy="479108"/>
              <a:chOff x="1585519" y="2759978"/>
              <a:chExt cx="444617" cy="511728"/>
            </a:xfrm>
          </p:grpSpPr>
          <p:sp>
            <p:nvSpPr>
              <p:cNvPr id="134" name="Diamond 133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TextBox 134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0" name="TextBox 1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8919" r="-270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/>
            <p:cNvGrpSpPr/>
            <p:nvPr/>
          </p:nvGrpSpPr>
          <p:grpSpPr>
            <a:xfrm>
              <a:off x="10256499" y="5486885"/>
              <a:ext cx="394774" cy="479108"/>
              <a:chOff x="1585519" y="2759978"/>
              <a:chExt cx="526127" cy="511728"/>
            </a:xfrm>
          </p:grpSpPr>
          <p:sp>
            <p:nvSpPr>
              <p:cNvPr id="132" name="Diamond 131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TextBox 132"/>
                  <p:cNvSpPr txBox="1"/>
                  <p:nvPr/>
                </p:nvSpPr>
                <p:spPr>
                  <a:xfrm>
                    <a:off x="1717227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33" name="TextBox 1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7227" y="2905534"/>
                    <a:ext cx="262419" cy="23011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1250" r="-12500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" name="Group 12"/>
            <p:cNvGrpSpPr/>
            <p:nvPr/>
          </p:nvGrpSpPr>
          <p:grpSpPr>
            <a:xfrm>
              <a:off x="10927446" y="5531339"/>
              <a:ext cx="269426" cy="392997"/>
              <a:chOff x="2524125" y="2814638"/>
              <a:chExt cx="318135" cy="402431"/>
            </a:xfrm>
          </p:grpSpPr>
          <p:sp>
            <p:nvSpPr>
              <p:cNvPr id="130" name="Rounded Rectangle 129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Box 130"/>
                  <p:cNvSpPr txBox="1"/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1" name="TextBox 1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66204" cy="22061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11468614" y="5486885"/>
              <a:ext cx="376542" cy="479108"/>
              <a:chOff x="1585519" y="2759978"/>
              <a:chExt cx="444617" cy="511728"/>
            </a:xfrm>
          </p:grpSpPr>
          <p:sp>
            <p:nvSpPr>
              <p:cNvPr id="128" name="Diamond 127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/>
                  <p:cNvSpPr txBox="1"/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9" name="TextBox 1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62419" cy="23011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2222" r="-5556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/>
            <p:cNvGrpSpPr/>
            <p:nvPr/>
          </p:nvGrpSpPr>
          <p:grpSpPr>
            <a:xfrm>
              <a:off x="7305497" y="6181956"/>
              <a:ext cx="353709" cy="359111"/>
              <a:chOff x="1063135" y="3603288"/>
              <a:chExt cx="353709" cy="359111"/>
            </a:xfrm>
          </p:grpSpPr>
          <p:sp>
            <p:nvSpPr>
              <p:cNvPr id="126" name="Oval 125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TextBox 126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7" name="TextBox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5714" r="-2857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/>
            <p:cNvGrpSpPr/>
            <p:nvPr/>
          </p:nvGrpSpPr>
          <p:grpSpPr>
            <a:xfrm>
              <a:off x="8477766" y="6181956"/>
              <a:ext cx="353709" cy="359111"/>
              <a:chOff x="1063135" y="3603288"/>
              <a:chExt cx="353709" cy="359111"/>
            </a:xfrm>
          </p:grpSpPr>
          <p:sp>
            <p:nvSpPr>
              <p:cNvPr id="124" name="Oval 123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TextBox 124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0" name="TextBox 1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5714" r="-32143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10882892" y="6181955"/>
              <a:ext cx="353709" cy="359111"/>
              <a:chOff x="1063135" y="3603288"/>
              <a:chExt cx="353709" cy="359111"/>
            </a:xfrm>
          </p:grpSpPr>
          <p:sp>
            <p:nvSpPr>
              <p:cNvPr id="122" name="Oval 121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TextBox 122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3" name="TextBox 1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4483" r="-27586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8" name="Straight Arrow Connector 17"/>
            <p:cNvCxnSpPr>
              <a:stCxn id="126" idx="0"/>
              <a:endCxn id="142" idx="2"/>
            </p:cNvCxnSpPr>
            <p:nvPr/>
          </p:nvCxnSpPr>
          <p:spPr>
            <a:xfrm flipV="1">
              <a:off x="7482352" y="5924336"/>
              <a:ext cx="383" cy="25762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4" idx="0"/>
              <a:endCxn id="136" idx="2"/>
            </p:cNvCxnSpPr>
            <p:nvPr/>
          </p:nvCxnSpPr>
          <p:spPr>
            <a:xfrm flipV="1">
              <a:off x="8654621" y="5924653"/>
              <a:ext cx="2417" cy="257303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22" idx="0"/>
              <a:endCxn id="130" idx="2"/>
            </p:cNvCxnSpPr>
            <p:nvPr/>
          </p:nvCxnSpPr>
          <p:spPr>
            <a:xfrm flipV="1">
              <a:off x="11059747" y="5924336"/>
              <a:ext cx="2412" cy="25761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968340" y="6213940"/>
              <a:ext cx="646331" cy="2616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Encoder</a:t>
              </a: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9712328" y="5531339"/>
              <a:ext cx="276338" cy="392997"/>
              <a:chOff x="2524125" y="2814638"/>
              <a:chExt cx="318135" cy="402431"/>
            </a:xfrm>
          </p:grpSpPr>
          <p:sp>
            <p:nvSpPr>
              <p:cNvPr id="120" name="Rounded Rectangle 119"/>
              <p:cNvSpPr/>
              <p:nvPr/>
            </p:nvSpPr>
            <p:spPr>
              <a:xfrm>
                <a:off x="2524125" y="2814638"/>
                <a:ext cx="318135" cy="402431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chemeClr val="accent6">
                    <a:lumMod val="75000"/>
                    <a:alpha val="5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TextBox 120"/>
                  <p:cNvSpPr txBox="1"/>
                  <p:nvPr/>
                </p:nvSpPr>
                <p:spPr>
                  <a:xfrm>
                    <a:off x="2543048" y="2892929"/>
                    <a:ext cx="259545" cy="220616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1" name="TextBox 1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43048" y="2892929"/>
                    <a:ext cx="259545" cy="22061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8919" r="-5405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3" name="Straight Arrow Connector 22"/>
            <p:cNvCxnSpPr>
              <a:stCxn id="142" idx="3"/>
              <a:endCxn id="138" idx="1"/>
            </p:cNvCxnSpPr>
            <p:nvPr/>
          </p:nvCxnSpPr>
          <p:spPr>
            <a:xfrm flipV="1">
              <a:off x="7617448" y="5726756"/>
              <a:ext cx="250588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38" idx="3"/>
              <a:endCxn id="136" idx="1"/>
            </p:cNvCxnSpPr>
            <p:nvPr/>
          </p:nvCxnSpPr>
          <p:spPr>
            <a:xfrm>
              <a:off x="8244578" y="5726756"/>
              <a:ext cx="277747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36" idx="3"/>
              <a:endCxn id="134" idx="1"/>
            </p:cNvCxnSpPr>
            <p:nvPr/>
          </p:nvCxnSpPr>
          <p:spPr>
            <a:xfrm flipV="1">
              <a:off x="8791751" y="5726756"/>
              <a:ext cx="265384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34" idx="3"/>
              <a:endCxn id="120" idx="1"/>
            </p:cNvCxnSpPr>
            <p:nvPr/>
          </p:nvCxnSpPr>
          <p:spPr>
            <a:xfrm>
              <a:off x="9433677" y="5726756"/>
              <a:ext cx="278651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20" idx="3"/>
              <a:endCxn id="132" idx="1"/>
            </p:cNvCxnSpPr>
            <p:nvPr/>
          </p:nvCxnSpPr>
          <p:spPr>
            <a:xfrm flipV="1">
              <a:off x="9988666" y="5726439"/>
              <a:ext cx="26783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32" idx="3"/>
              <a:endCxn id="130" idx="1"/>
            </p:cNvCxnSpPr>
            <p:nvPr/>
          </p:nvCxnSpPr>
          <p:spPr>
            <a:xfrm>
              <a:off x="10651273" y="5726439"/>
              <a:ext cx="27617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30" idx="3"/>
              <a:endCxn id="128" idx="1"/>
            </p:cNvCxnSpPr>
            <p:nvPr/>
          </p:nvCxnSpPr>
          <p:spPr>
            <a:xfrm flipV="1">
              <a:off x="11196872" y="5726439"/>
              <a:ext cx="271742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7348022" y="3304072"/>
              <a:ext cx="269426" cy="392997"/>
              <a:chOff x="7306493" y="2589003"/>
              <a:chExt cx="269426" cy="392997"/>
            </a:xfrm>
          </p:grpSpPr>
          <p:sp>
            <p:nvSpPr>
              <p:cNvPr id="118" name="Rounded Rectangle 117"/>
              <p:cNvSpPr/>
              <p:nvPr/>
            </p:nvSpPr>
            <p:spPr>
              <a:xfrm>
                <a:off x="7306493" y="2589003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TextBox 118"/>
                  <p:cNvSpPr txBox="1"/>
                  <p:nvPr/>
                </p:nvSpPr>
                <p:spPr>
                  <a:xfrm>
                    <a:off x="7336199" y="2665776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9" name="TextBox 1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665776"/>
                    <a:ext cx="173190" cy="21544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34483" r="-24138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/>
            <p:cNvGrpSpPr/>
            <p:nvPr/>
          </p:nvGrpSpPr>
          <p:grpSpPr>
            <a:xfrm>
              <a:off x="6717648" y="3264381"/>
              <a:ext cx="376542" cy="479108"/>
              <a:chOff x="1585519" y="2759978"/>
              <a:chExt cx="444617" cy="511728"/>
            </a:xfrm>
          </p:grpSpPr>
          <p:sp>
            <p:nvSpPr>
              <p:cNvPr id="116" name="Diamond 115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/>
                  <p:cNvSpPr txBox="1"/>
                  <p:nvPr/>
                </p:nvSpPr>
                <p:spPr>
                  <a:xfrm>
                    <a:off x="1688897" y="2900981"/>
                    <a:ext cx="25106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7" name="TextBox 1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8897" y="2900981"/>
                    <a:ext cx="251062" cy="23011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20000" r="-2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2" name="Straight Arrow Connector 31"/>
            <p:cNvCxnSpPr>
              <a:stCxn id="116" idx="3"/>
              <a:endCxn id="118" idx="1"/>
            </p:cNvCxnSpPr>
            <p:nvPr/>
          </p:nvCxnSpPr>
          <p:spPr>
            <a:xfrm flipV="1">
              <a:off x="7094190" y="3500571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/>
          </p:nvGrpSpPr>
          <p:grpSpPr>
            <a:xfrm>
              <a:off x="7868036" y="3259935"/>
              <a:ext cx="376542" cy="479108"/>
              <a:chOff x="1585519" y="2759978"/>
              <a:chExt cx="444617" cy="511728"/>
            </a:xfrm>
          </p:grpSpPr>
          <p:sp>
            <p:nvSpPr>
              <p:cNvPr id="114" name="Diamond 113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/>
                  <p:cNvSpPr txBox="1"/>
                  <p:nvPr/>
                </p:nvSpPr>
                <p:spPr>
                  <a:xfrm>
                    <a:off x="1664390" y="2905534"/>
                    <a:ext cx="242507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15" name="TextBox 1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4390" y="2905534"/>
                    <a:ext cx="242507" cy="23011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1212" r="-6061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/>
            <p:cNvGrpSpPr/>
            <p:nvPr/>
          </p:nvGrpSpPr>
          <p:grpSpPr>
            <a:xfrm>
              <a:off x="8522325" y="3304389"/>
              <a:ext cx="269426" cy="392997"/>
              <a:chOff x="8480796" y="2589320"/>
              <a:chExt cx="269426" cy="392997"/>
            </a:xfrm>
          </p:grpSpPr>
          <p:sp>
            <p:nvSpPr>
              <p:cNvPr id="112" name="Rounded Rectangle 111"/>
              <p:cNvSpPr/>
              <p:nvPr/>
            </p:nvSpPr>
            <p:spPr>
              <a:xfrm>
                <a:off x="8480796" y="2589320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Box 112"/>
                  <p:cNvSpPr txBox="1"/>
                  <p:nvPr/>
                </p:nvSpPr>
                <p:spPr>
                  <a:xfrm>
                    <a:off x="8496822" y="2665776"/>
                    <a:ext cx="241476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3" name="TextBox 1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96822" y="2665776"/>
                    <a:ext cx="241476" cy="21544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7949" r="-5128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9057135" y="3259935"/>
              <a:ext cx="376542" cy="479108"/>
              <a:chOff x="1585519" y="2759978"/>
              <a:chExt cx="444617" cy="511728"/>
            </a:xfrm>
          </p:grpSpPr>
          <p:sp>
            <p:nvSpPr>
              <p:cNvPr id="110" name="Diamond 109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TextBox 110"/>
                  <p:cNvSpPr txBox="1"/>
                  <p:nvPr/>
                </p:nvSpPr>
                <p:spPr>
                  <a:xfrm>
                    <a:off x="1676618" y="2905534"/>
                    <a:ext cx="251062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1" name="Text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51062" cy="23011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20000" r="-2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Group 35"/>
            <p:cNvGrpSpPr/>
            <p:nvPr/>
          </p:nvGrpSpPr>
          <p:grpSpPr>
            <a:xfrm>
              <a:off x="10256499" y="3259618"/>
              <a:ext cx="394774" cy="479108"/>
              <a:chOff x="1585519" y="2759978"/>
              <a:chExt cx="526127" cy="511728"/>
            </a:xfrm>
          </p:grpSpPr>
          <p:sp>
            <p:nvSpPr>
              <p:cNvPr id="108" name="Diamond 107"/>
              <p:cNvSpPr/>
              <p:nvPr/>
            </p:nvSpPr>
            <p:spPr>
              <a:xfrm>
                <a:off x="1585519" y="2759978"/>
                <a:ext cx="52612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Box 108"/>
                  <p:cNvSpPr txBox="1"/>
                  <p:nvPr/>
                </p:nvSpPr>
                <p:spPr>
                  <a:xfrm>
                    <a:off x="1717227" y="2905534"/>
                    <a:ext cx="283368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i="0" dirty="0"/>
                  </a:p>
                </p:txBody>
              </p:sp>
            </mc:Choice>
            <mc:Fallback xmlns="">
              <p:sp>
                <p:nvSpPr>
                  <p:cNvPr id="109" name="TextBox 10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7227" y="2905534"/>
                    <a:ext cx="283368" cy="23011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20000" r="-2857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7" name="Group 36"/>
            <p:cNvGrpSpPr/>
            <p:nvPr/>
          </p:nvGrpSpPr>
          <p:grpSpPr>
            <a:xfrm>
              <a:off x="10927446" y="3304072"/>
              <a:ext cx="269426" cy="392997"/>
              <a:chOff x="10885917" y="2589003"/>
              <a:chExt cx="269426" cy="392997"/>
            </a:xfrm>
          </p:grpSpPr>
          <p:sp>
            <p:nvSpPr>
              <p:cNvPr id="106" name="Rounded Rectangle 105"/>
              <p:cNvSpPr/>
              <p:nvPr/>
            </p:nvSpPr>
            <p:spPr>
              <a:xfrm>
                <a:off x="10885917" y="2589003"/>
                <a:ext cx="269426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10901943" y="2665459"/>
                    <a:ext cx="241476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7" name="TextBox 1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1943" y="2665459"/>
                    <a:ext cx="241476" cy="215444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17500" r="-250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11468614" y="3259618"/>
              <a:ext cx="376542" cy="479108"/>
              <a:chOff x="1585519" y="2759978"/>
              <a:chExt cx="444617" cy="511728"/>
            </a:xfrm>
          </p:grpSpPr>
          <p:sp>
            <p:nvSpPr>
              <p:cNvPr id="104" name="Diamond 103"/>
              <p:cNvSpPr/>
              <p:nvPr/>
            </p:nvSpPr>
            <p:spPr>
              <a:xfrm>
                <a:off x="1585519" y="2759978"/>
                <a:ext cx="444617" cy="511728"/>
              </a:xfrm>
              <a:prstGeom prst="diamond">
                <a:avLst/>
              </a:prstGeom>
              <a:solidFill>
                <a:schemeClr val="accent3">
                  <a:lumMod val="60000"/>
                  <a:lumOff val="40000"/>
                  <a:alpha val="71000"/>
                </a:schemeClr>
              </a:solidFill>
              <a:ln w="19050">
                <a:solidFill>
                  <a:schemeClr val="accent4">
                    <a:lumMod val="60000"/>
                    <a:lumOff val="40000"/>
                    <a:alpha val="67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TextBox 104"/>
                  <p:cNvSpPr txBox="1"/>
                  <p:nvPr/>
                </p:nvSpPr>
                <p:spPr>
                  <a:xfrm>
                    <a:off x="1676618" y="2905534"/>
                    <a:ext cx="247429" cy="230112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5" name="TextBox 10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6618" y="2905534"/>
                    <a:ext cx="247429" cy="23011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20588" r="-5882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TextBox 38"/>
            <p:cNvSpPr txBox="1"/>
            <p:nvPr/>
          </p:nvSpPr>
          <p:spPr>
            <a:xfrm>
              <a:off x="8867273" y="2987371"/>
              <a:ext cx="646331" cy="2616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58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N" sz="11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Decoder</a:t>
              </a:r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9712328" y="3304072"/>
              <a:ext cx="276338" cy="392997"/>
              <a:chOff x="9670799" y="2589003"/>
              <a:chExt cx="276338" cy="392997"/>
            </a:xfrm>
          </p:grpSpPr>
          <p:sp>
            <p:nvSpPr>
              <p:cNvPr id="102" name="Rounded Rectangle 101"/>
              <p:cNvSpPr/>
              <p:nvPr/>
            </p:nvSpPr>
            <p:spPr>
              <a:xfrm>
                <a:off x="9670799" y="2589003"/>
                <a:ext cx="276338" cy="392997"/>
              </a:xfrm>
              <a:prstGeom prst="roundRect">
                <a:avLst>
                  <a:gd name="adj" fmla="val 31818"/>
                </a:avLst>
              </a:prstGeom>
              <a:solidFill>
                <a:srgbClr val="FFC000">
                  <a:alpha val="28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102"/>
                  <p:cNvSpPr txBox="1"/>
                  <p:nvPr/>
                </p:nvSpPr>
                <p:spPr>
                  <a:xfrm>
                    <a:off x="9687236" y="2665459"/>
                    <a:ext cx="241476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3" name="TextBox 10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7236" y="2665459"/>
                    <a:ext cx="241476" cy="215444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7500" r="-2500" b="-17143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1" name="Straight Arrow Connector 40"/>
            <p:cNvCxnSpPr>
              <a:stCxn id="118" idx="3"/>
              <a:endCxn id="114" idx="1"/>
            </p:cNvCxnSpPr>
            <p:nvPr/>
          </p:nvCxnSpPr>
          <p:spPr>
            <a:xfrm flipV="1">
              <a:off x="7617448" y="3499489"/>
              <a:ext cx="250588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14" idx="3"/>
              <a:endCxn id="112" idx="1"/>
            </p:cNvCxnSpPr>
            <p:nvPr/>
          </p:nvCxnSpPr>
          <p:spPr>
            <a:xfrm>
              <a:off x="8244578" y="3499489"/>
              <a:ext cx="277747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112" idx="3"/>
              <a:endCxn id="110" idx="1"/>
            </p:cNvCxnSpPr>
            <p:nvPr/>
          </p:nvCxnSpPr>
          <p:spPr>
            <a:xfrm flipV="1">
              <a:off x="8791751" y="3499489"/>
              <a:ext cx="265384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110" idx="3"/>
              <a:endCxn id="102" idx="1"/>
            </p:cNvCxnSpPr>
            <p:nvPr/>
          </p:nvCxnSpPr>
          <p:spPr>
            <a:xfrm>
              <a:off x="9433677" y="3499489"/>
              <a:ext cx="278651" cy="1082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02" idx="3"/>
              <a:endCxn id="108" idx="1"/>
            </p:cNvCxnSpPr>
            <p:nvPr/>
          </p:nvCxnSpPr>
          <p:spPr>
            <a:xfrm flipV="1">
              <a:off x="9988666" y="3499172"/>
              <a:ext cx="26783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08" idx="3"/>
              <a:endCxn id="106" idx="1"/>
            </p:cNvCxnSpPr>
            <p:nvPr/>
          </p:nvCxnSpPr>
          <p:spPr>
            <a:xfrm>
              <a:off x="10651273" y="3499172"/>
              <a:ext cx="276173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06" idx="3"/>
              <a:endCxn id="104" idx="1"/>
            </p:cNvCxnSpPr>
            <p:nvPr/>
          </p:nvCxnSpPr>
          <p:spPr>
            <a:xfrm flipV="1">
              <a:off x="11196872" y="3499172"/>
              <a:ext cx="271742" cy="1399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/>
            <p:cNvGrpSpPr/>
            <p:nvPr/>
          </p:nvGrpSpPr>
          <p:grpSpPr>
            <a:xfrm>
              <a:off x="9674745" y="6163890"/>
              <a:ext cx="353709" cy="359111"/>
              <a:chOff x="1063135" y="3603288"/>
              <a:chExt cx="353709" cy="359111"/>
            </a:xfrm>
          </p:grpSpPr>
          <p:sp>
            <p:nvSpPr>
              <p:cNvPr id="100" name="Oval 99"/>
              <p:cNvSpPr/>
              <p:nvPr/>
            </p:nvSpPr>
            <p:spPr>
              <a:xfrm>
                <a:off x="1063135" y="3603288"/>
                <a:ext cx="353709" cy="359111"/>
              </a:xfrm>
              <a:prstGeom prst="ellipse">
                <a:avLst/>
              </a:prstGeom>
              <a:solidFill>
                <a:srgbClr val="7030A0">
                  <a:alpha val="39000"/>
                </a:srgbClr>
              </a:solidFill>
              <a:ln>
                <a:solidFill>
                  <a:srgbClr val="FF0000">
                    <a:alpha val="37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/>
                  <p:cNvSpPr txBox="1"/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1" name="TextBox 10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9730" y="3651597"/>
                    <a:ext cx="171162" cy="216951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35714" r="-32143" b="-13889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" name="Straight Arrow Connector 48"/>
            <p:cNvCxnSpPr>
              <a:stCxn id="100" idx="0"/>
              <a:endCxn id="120" idx="2"/>
            </p:cNvCxnSpPr>
            <p:nvPr/>
          </p:nvCxnSpPr>
          <p:spPr>
            <a:xfrm flipH="1" flipV="1">
              <a:off x="9850497" y="5924336"/>
              <a:ext cx="1103" cy="23955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/>
            <p:cNvGrpSpPr/>
            <p:nvPr/>
          </p:nvGrpSpPr>
          <p:grpSpPr>
            <a:xfrm>
              <a:off x="7356431" y="2595091"/>
              <a:ext cx="261939" cy="273612"/>
              <a:chOff x="7291824" y="2242585"/>
              <a:chExt cx="261939" cy="273612"/>
            </a:xfrm>
          </p:grpSpPr>
          <p:sp>
            <p:nvSpPr>
              <p:cNvPr id="98" name="Rectangle 97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35714" r="-17857" b="-25714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1" name="Straight Arrow Connector 50"/>
            <p:cNvCxnSpPr>
              <a:stCxn id="118" idx="0"/>
              <a:endCxn id="98" idx="2"/>
            </p:cNvCxnSpPr>
            <p:nvPr/>
          </p:nvCxnSpPr>
          <p:spPr>
            <a:xfrm flipV="1">
              <a:off x="7482735" y="2868703"/>
              <a:ext cx="4666" cy="435369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52" name="Group 51"/>
            <p:cNvGrpSpPr/>
            <p:nvPr/>
          </p:nvGrpSpPr>
          <p:grpSpPr>
            <a:xfrm>
              <a:off x="8526960" y="2594910"/>
              <a:ext cx="261939" cy="273612"/>
              <a:chOff x="7291824" y="2242585"/>
              <a:chExt cx="261939" cy="273612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7" name="TextBox 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35714" r="-21429" b="-25714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3" name="Straight Arrow Connector 52"/>
            <p:cNvCxnSpPr>
              <a:stCxn id="112" idx="0"/>
              <a:endCxn id="96" idx="2"/>
            </p:cNvCxnSpPr>
            <p:nvPr/>
          </p:nvCxnSpPr>
          <p:spPr>
            <a:xfrm flipV="1">
              <a:off x="8657038" y="2868522"/>
              <a:ext cx="892" cy="435867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54" name="Group 53"/>
            <p:cNvGrpSpPr/>
            <p:nvPr/>
          </p:nvGrpSpPr>
          <p:grpSpPr>
            <a:xfrm>
              <a:off x="10927790" y="2595670"/>
              <a:ext cx="261939" cy="273612"/>
              <a:chOff x="7291824" y="2242585"/>
              <a:chExt cx="261939" cy="273612"/>
            </a:xfrm>
          </p:grpSpPr>
          <p:sp>
            <p:nvSpPr>
              <p:cNvPr id="94" name="Rectangle 93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TextBox 94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5" name="TextBox 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39286" r="-17857" b="-28571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5" name="Straight Arrow Connector 54"/>
            <p:cNvCxnSpPr>
              <a:stCxn id="106" idx="0"/>
              <a:endCxn id="94" idx="2"/>
            </p:cNvCxnSpPr>
            <p:nvPr/>
          </p:nvCxnSpPr>
          <p:spPr>
            <a:xfrm flipH="1" flipV="1">
              <a:off x="11058760" y="2869282"/>
              <a:ext cx="3399" cy="434790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56" name="Group 55"/>
            <p:cNvGrpSpPr/>
            <p:nvPr/>
          </p:nvGrpSpPr>
          <p:grpSpPr>
            <a:xfrm>
              <a:off x="9719239" y="2599977"/>
              <a:ext cx="261939" cy="273612"/>
              <a:chOff x="7291824" y="2242585"/>
              <a:chExt cx="261939" cy="273612"/>
            </a:xfrm>
          </p:grpSpPr>
          <p:sp>
            <p:nvSpPr>
              <p:cNvPr id="92" name="Rectangle 91"/>
              <p:cNvSpPr/>
              <p:nvPr/>
            </p:nvSpPr>
            <p:spPr>
              <a:xfrm>
                <a:off x="7291824" y="2242585"/>
                <a:ext cx="261939" cy="273612"/>
              </a:xfrm>
              <a:prstGeom prst="rect">
                <a:avLst/>
              </a:prstGeom>
              <a:solidFill>
                <a:srgbClr val="C00000">
                  <a:alpha val="4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/>
                  <p:cNvSpPr txBox="1"/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noFill/>
                  <a:ln w="15875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sz="14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6199" y="2262280"/>
                    <a:ext cx="173190" cy="215444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39286" r="-21429" b="-25714"/>
                    </a:stretch>
                  </a:blipFill>
                  <a:ln w="15875"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Straight Arrow Connector 56"/>
            <p:cNvCxnSpPr>
              <a:stCxn id="102" idx="0"/>
              <a:endCxn id="92" idx="2"/>
            </p:cNvCxnSpPr>
            <p:nvPr/>
          </p:nvCxnSpPr>
          <p:spPr>
            <a:xfrm flipH="1" flipV="1">
              <a:off x="9850209" y="2873589"/>
              <a:ext cx="288" cy="430483"/>
            </a:xfrm>
            <a:prstGeom prst="straightConnector1">
              <a:avLst/>
            </a:prstGeom>
            <a:ln w="15875" cap="flat">
              <a:miter lim="800000"/>
              <a:tailEnd type="triangle" w="med" len="sm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60" name="Freeform 59"/>
            <p:cNvSpPr/>
            <p:nvPr/>
          </p:nvSpPr>
          <p:spPr>
            <a:xfrm>
              <a:off x="9866106" y="2230054"/>
              <a:ext cx="1138378" cy="1761337"/>
            </a:xfrm>
            <a:custGeom>
              <a:avLst/>
              <a:gdLst>
                <a:gd name="connsiteX0" fmla="*/ 0 w 1127760"/>
                <a:gd name="connsiteY0" fmla="*/ 396589 h 1923797"/>
                <a:gd name="connsiteX1" fmla="*/ 419100 w 1127760"/>
                <a:gd name="connsiteY1" fmla="*/ 91789 h 1923797"/>
                <a:gd name="connsiteX2" fmla="*/ 944880 w 1127760"/>
                <a:gd name="connsiteY2" fmla="*/ 1829149 h 1923797"/>
                <a:gd name="connsiteX3" fmla="*/ 1127760 w 1127760"/>
                <a:gd name="connsiteY3" fmla="*/ 1539589 h 1923797"/>
                <a:gd name="connsiteX0" fmla="*/ 0 w 1108710"/>
                <a:gd name="connsiteY0" fmla="*/ 396589 h 1969681"/>
                <a:gd name="connsiteX1" fmla="*/ 419100 w 1108710"/>
                <a:gd name="connsiteY1" fmla="*/ 91789 h 1969681"/>
                <a:gd name="connsiteX2" fmla="*/ 944880 w 1108710"/>
                <a:gd name="connsiteY2" fmla="*/ 1829149 h 1969681"/>
                <a:gd name="connsiteX3" fmla="*/ 1108710 w 1108710"/>
                <a:gd name="connsiteY3" fmla="*/ 1683607 h 1969681"/>
                <a:gd name="connsiteX0" fmla="*/ 0 w 1072991"/>
                <a:gd name="connsiteY0" fmla="*/ 396589 h 1965627"/>
                <a:gd name="connsiteX1" fmla="*/ 419100 w 1072991"/>
                <a:gd name="connsiteY1" fmla="*/ 91789 h 1965627"/>
                <a:gd name="connsiteX2" fmla="*/ 944880 w 1072991"/>
                <a:gd name="connsiteY2" fmla="*/ 1829149 h 1965627"/>
                <a:gd name="connsiteX3" fmla="*/ 1072991 w 1072991"/>
                <a:gd name="connsiteY3" fmla="*/ 1672939 h 1965627"/>
                <a:gd name="connsiteX0" fmla="*/ 0 w 1072991"/>
                <a:gd name="connsiteY0" fmla="*/ 397549 h 1976000"/>
                <a:gd name="connsiteX1" fmla="*/ 419100 w 1072991"/>
                <a:gd name="connsiteY1" fmla="*/ 92749 h 1976000"/>
                <a:gd name="connsiteX2" fmla="*/ 875824 w 1072991"/>
                <a:gd name="connsiteY2" fmla="*/ 1843444 h 1976000"/>
                <a:gd name="connsiteX3" fmla="*/ 1072991 w 1072991"/>
                <a:gd name="connsiteY3" fmla="*/ 1673899 h 1976000"/>
                <a:gd name="connsiteX0" fmla="*/ 0 w 1072991"/>
                <a:gd name="connsiteY0" fmla="*/ 397549 h 1976001"/>
                <a:gd name="connsiteX1" fmla="*/ 471488 w 1072991"/>
                <a:gd name="connsiteY1" fmla="*/ 92749 h 1976001"/>
                <a:gd name="connsiteX2" fmla="*/ 875824 w 1072991"/>
                <a:gd name="connsiteY2" fmla="*/ 1843444 h 1976001"/>
                <a:gd name="connsiteX3" fmla="*/ 1072991 w 1072991"/>
                <a:gd name="connsiteY3" fmla="*/ 1673899 h 1976001"/>
                <a:gd name="connsiteX0" fmla="*/ 0 w 1106328"/>
                <a:gd name="connsiteY0" fmla="*/ 391589 h 1978042"/>
                <a:gd name="connsiteX1" fmla="*/ 504825 w 1106328"/>
                <a:gd name="connsiteY1" fmla="*/ 94790 h 1978042"/>
                <a:gd name="connsiteX2" fmla="*/ 909161 w 1106328"/>
                <a:gd name="connsiteY2" fmla="*/ 1845485 h 1978042"/>
                <a:gd name="connsiteX3" fmla="*/ 1106328 w 1106328"/>
                <a:gd name="connsiteY3" fmla="*/ 1675940 h 1978042"/>
                <a:gd name="connsiteX0" fmla="*/ 0 w 1113472"/>
                <a:gd name="connsiteY0" fmla="*/ 407581 h 1972698"/>
                <a:gd name="connsiteX1" fmla="*/ 511969 w 1113472"/>
                <a:gd name="connsiteY1" fmla="*/ 89446 h 1972698"/>
                <a:gd name="connsiteX2" fmla="*/ 916305 w 1113472"/>
                <a:gd name="connsiteY2" fmla="*/ 1840141 h 1972698"/>
                <a:gd name="connsiteX3" fmla="*/ 1113472 w 1113472"/>
                <a:gd name="connsiteY3" fmla="*/ 1670596 h 197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3472" h="1972698">
                  <a:moveTo>
                    <a:pt x="0" y="407581"/>
                  </a:moveTo>
                  <a:cubicBezTo>
                    <a:pt x="130810" y="135801"/>
                    <a:pt x="359252" y="-149314"/>
                    <a:pt x="511969" y="89446"/>
                  </a:cubicBezTo>
                  <a:cubicBezTo>
                    <a:pt x="664686" y="328206"/>
                    <a:pt x="816055" y="1576616"/>
                    <a:pt x="916305" y="1840141"/>
                  </a:cubicBezTo>
                  <a:cubicBezTo>
                    <a:pt x="1016556" y="2103666"/>
                    <a:pt x="1081087" y="1936026"/>
                    <a:pt x="1113472" y="1670596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7148727" y="4564851"/>
                  <a:ext cx="570326" cy="19351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83000"/>
                  </a:schemeClr>
                </a:solid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9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9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att</m:t>
                          </m:r>
                        </m:sub>
                      </m:sSub>
                    </m:oMath>
                  </a14:m>
                  <a:r>
                    <a:rPr lang="en-IN" sz="9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(MLP)</a:t>
                  </a:r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727" y="4564851"/>
                  <a:ext cx="570326" cy="193513"/>
                </a:xfrm>
                <a:prstGeom prst="rect">
                  <a:avLst/>
                </a:prstGeom>
                <a:blipFill>
                  <a:blip r:embed="rId34"/>
                  <a:stretch>
                    <a:fillRect t="-5882" r="-6316" b="-14706"/>
                  </a:stretch>
                </a:blip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Box 61"/>
            <p:cNvSpPr txBox="1"/>
            <p:nvPr/>
          </p:nvSpPr>
          <p:spPr>
            <a:xfrm>
              <a:off x="7716813" y="4564706"/>
              <a:ext cx="433265" cy="19351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rgbClr val="C00000">
                  <a:alpha val="68000"/>
                </a:srgb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IN" sz="900" dirty="0" err="1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SoftMax</a:t>
              </a:r>
              <a:endParaRPr lang="en-IN" sz="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8883503" y="4564851"/>
                  <a:ext cx="217735" cy="19351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l-GR" sz="5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IN" sz="5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IN" sz="5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3503" y="4564851"/>
                  <a:ext cx="217735" cy="193513"/>
                </a:xfrm>
                <a:prstGeom prst="rect">
                  <a:avLst/>
                </a:prstGeom>
                <a:blipFill>
                  <a:blip r:embed="rId35"/>
                  <a:stretch>
                    <a:fillRect l="-76316" t="-123529" r="-39474" b="-170588"/>
                  </a:stretch>
                </a:blipFill>
                <a:ln w="9525">
                  <a:solidFill>
                    <a:srgbClr val="C00000">
                      <a:alpha val="68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/>
            <p:cNvSpPr txBox="1"/>
            <p:nvPr/>
          </p:nvSpPr>
          <p:spPr>
            <a:xfrm>
              <a:off x="9098999" y="4564706"/>
              <a:ext cx="192197" cy="19351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C00000">
                  <a:alpha val="68000"/>
                </a:srgb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IN" sz="1000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cxnSp>
          <p:nvCxnSpPr>
            <p:cNvPr id="65" name="Straight Arrow Connector 64"/>
            <p:cNvCxnSpPr>
              <a:stCxn id="62" idx="3"/>
              <a:endCxn id="63" idx="1"/>
            </p:cNvCxnSpPr>
            <p:nvPr/>
          </p:nvCxnSpPr>
          <p:spPr>
            <a:xfrm>
              <a:off x="8150078" y="4661463"/>
              <a:ext cx="733425" cy="145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8090968" y="4379866"/>
                  <a:ext cx="851643" cy="160685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41,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42,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43,</m:t>
                            </m:r>
                          </m:sub>
                        </m:sSub>
                        <m:sSub>
                          <m:sSubPr>
                            <m:ctrlP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1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44</m:t>
                            </m:r>
                          </m:sub>
                        </m:sSub>
                      </m:oMath>
                    </m:oMathPara>
                  </a14:m>
                  <a:endParaRPr lang="en-IN" sz="1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968" y="4379866"/>
                  <a:ext cx="851643" cy="160685"/>
                </a:xfrm>
                <a:prstGeom prst="rect">
                  <a:avLst/>
                </a:prstGeom>
                <a:blipFill>
                  <a:blip r:embed="rId36"/>
                  <a:stretch>
                    <a:fillRect l="-1429" r="-1429" b="-11111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8104647" y="4784944"/>
                  <a:ext cx="841577" cy="10772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70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ttention</m:t>
                        </m:r>
                        <m: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7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Mechanism</m:t>
                        </m:r>
                      </m:oMath>
                    </m:oMathPara>
                  </a14:m>
                  <a:endParaRPr lang="en-IN" sz="700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647" y="4784944"/>
                  <a:ext cx="841577" cy="107722"/>
                </a:xfrm>
                <a:prstGeom prst="rect">
                  <a:avLst/>
                </a:prstGeom>
                <a:blipFill>
                  <a:blip r:embed="rId37"/>
                  <a:stretch>
                    <a:fillRect l="-2899" r="-1449" b="-11111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Elbow Connector 70"/>
            <p:cNvCxnSpPr>
              <a:stCxn id="64" idx="3"/>
              <a:endCxn id="106" idx="2"/>
            </p:cNvCxnSpPr>
            <p:nvPr/>
          </p:nvCxnSpPr>
          <p:spPr>
            <a:xfrm flipV="1">
              <a:off x="9291196" y="3697069"/>
              <a:ext cx="1770963" cy="964394"/>
            </a:xfrm>
            <a:prstGeom prst="bentConnector2">
              <a:avLst/>
            </a:prstGeom>
            <a:ln w="15875">
              <a:solidFill>
                <a:schemeClr val="accent6">
                  <a:lumMod val="75000"/>
                  <a:alpha val="93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Elbow Connector 71"/>
            <p:cNvCxnSpPr>
              <a:stCxn id="108" idx="2"/>
            </p:cNvCxnSpPr>
            <p:nvPr/>
          </p:nvCxnSpPr>
          <p:spPr>
            <a:xfrm rot="5400000">
              <a:off x="8317200" y="2493238"/>
              <a:ext cx="891199" cy="3382175"/>
            </a:xfrm>
            <a:prstGeom prst="bentConnector4">
              <a:avLst>
                <a:gd name="adj1" fmla="val 50802"/>
                <a:gd name="adj2" fmla="val 117461"/>
              </a:avLst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Elbow Connector 72"/>
            <p:cNvCxnSpPr/>
            <p:nvPr/>
          </p:nvCxnSpPr>
          <p:spPr>
            <a:xfrm>
              <a:off x="6479381" y="4285942"/>
              <a:ext cx="2614429" cy="258011"/>
            </a:xfrm>
            <a:prstGeom prst="bentConnector3">
              <a:avLst>
                <a:gd name="adj1" fmla="val 100034"/>
              </a:avLst>
            </a:prstGeom>
            <a:ln w="158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>
              <a:stCxn id="128" idx="0"/>
            </p:cNvCxnSpPr>
            <p:nvPr/>
          </p:nvCxnSpPr>
          <p:spPr>
            <a:xfrm rot="16200000" flipV="1">
              <a:off x="8991188" y="2821188"/>
              <a:ext cx="746221" cy="4585174"/>
            </a:xfrm>
            <a:prstGeom prst="bentConnector4">
              <a:avLst>
                <a:gd name="adj1" fmla="val 46490"/>
                <a:gd name="adj2" fmla="val 113156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/>
            <p:cNvCxnSpPr/>
            <p:nvPr/>
          </p:nvCxnSpPr>
          <p:spPr>
            <a:xfrm flipV="1">
              <a:off x="6470268" y="4764574"/>
              <a:ext cx="2621857" cy="252693"/>
            </a:xfrm>
            <a:prstGeom prst="bentConnector3">
              <a:avLst>
                <a:gd name="adj1" fmla="val 99989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132" idx="0"/>
            </p:cNvCxnSpPr>
            <p:nvPr/>
          </p:nvCxnSpPr>
          <p:spPr>
            <a:xfrm flipH="1" flipV="1">
              <a:off x="10453776" y="5128833"/>
              <a:ext cx="110" cy="358052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134" idx="0"/>
            </p:cNvCxnSpPr>
            <p:nvPr/>
          </p:nvCxnSpPr>
          <p:spPr>
            <a:xfrm flipV="1">
              <a:off x="9245406" y="5140906"/>
              <a:ext cx="5370" cy="346296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138" idx="0"/>
            </p:cNvCxnSpPr>
            <p:nvPr/>
          </p:nvCxnSpPr>
          <p:spPr>
            <a:xfrm flipV="1">
              <a:off x="8056307" y="5133632"/>
              <a:ext cx="2703" cy="353570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9493923" y="4438958"/>
                  <a:ext cx="172548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3923" y="4438958"/>
                  <a:ext cx="172548" cy="184666"/>
                </a:xfrm>
                <a:prstGeom prst="rect">
                  <a:avLst/>
                </a:prstGeom>
                <a:blipFill>
                  <a:blip r:embed="rId38"/>
                  <a:stretch>
                    <a:fillRect l="-10345" r="-3448" b="-16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Straight Arrow Connector 82"/>
            <p:cNvCxnSpPr/>
            <p:nvPr/>
          </p:nvCxnSpPr>
          <p:spPr>
            <a:xfrm flipV="1">
              <a:off x="6455598" y="3499172"/>
              <a:ext cx="253832" cy="3364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5522728" y="3129359"/>
                  <a:ext cx="1192321" cy="738664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050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From final hidden state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0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IN" sz="1050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: </a:t>
                  </a:r>
                </a:p>
                <a:p>
                  <a:r>
                    <a:rPr lang="en-IN" sz="1050" b="1" dirty="0">
                      <a:latin typeface="Arial Narrow" panose="020B0606020202030204" pitchFamily="34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Initial Decoder State</a:t>
                  </a:r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728" y="3129359"/>
                  <a:ext cx="1192321" cy="738664"/>
                </a:xfrm>
                <a:prstGeom prst="rect">
                  <a:avLst/>
                </a:prstGeom>
                <a:blipFill>
                  <a:blip r:embed="rId39"/>
                  <a:stretch>
                    <a:fillRect b="-3279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6250913" y="4326832"/>
                  <a:ext cx="171522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913" y="4326832"/>
                  <a:ext cx="171522" cy="184666"/>
                </a:xfrm>
                <a:prstGeom prst="rect">
                  <a:avLst/>
                </a:prstGeom>
                <a:blipFill>
                  <a:blip r:embed="rId40"/>
                  <a:stretch>
                    <a:fillRect l="-10345" r="-3448" b="-16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5739090" y="4772826"/>
                  <a:ext cx="725776" cy="192873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3,</m:t>
                            </m:r>
                          </m:sub>
                        </m:sSub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090" y="4772826"/>
                  <a:ext cx="725776" cy="192873"/>
                </a:xfrm>
                <a:prstGeom prst="rect">
                  <a:avLst/>
                </a:prstGeom>
                <a:blipFill>
                  <a:blip r:embed="rId41"/>
                  <a:stretch>
                    <a:fillRect l="-5000" r="-833" b="-9375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Straight Connector 86"/>
            <p:cNvCxnSpPr>
              <a:stCxn id="128" idx="0"/>
            </p:cNvCxnSpPr>
            <p:nvPr/>
          </p:nvCxnSpPr>
          <p:spPr>
            <a:xfrm flipV="1">
              <a:off x="11656885" y="5135764"/>
              <a:ext cx="1" cy="351121"/>
            </a:xfrm>
            <a:prstGeom prst="line">
              <a:avLst/>
            </a:prstGeom>
            <a:ln w="15875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10452982" y="4021931"/>
              <a:ext cx="0" cy="168973"/>
            </a:xfrm>
            <a:prstGeom prst="line">
              <a:avLst/>
            </a:prstGeom>
            <a:ln w="31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 89"/>
            <p:cNvSpPr/>
            <p:nvPr/>
          </p:nvSpPr>
          <p:spPr>
            <a:xfrm>
              <a:off x="6670928" y="5313701"/>
              <a:ext cx="5286375" cy="135565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6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/>
                <p:cNvSpPr txBox="1"/>
                <p:nvPr/>
              </p:nvSpPr>
              <p:spPr>
                <a:xfrm>
                  <a:off x="11077498" y="3752082"/>
                  <a:ext cx="172548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1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6" name="TextBox 1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7498" y="3752082"/>
                  <a:ext cx="172548" cy="184666"/>
                </a:xfrm>
                <a:prstGeom prst="rect">
                  <a:avLst/>
                </a:prstGeom>
                <a:blipFill>
                  <a:blip r:embed="rId42"/>
                  <a:stretch>
                    <a:fillRect l="-10714" r="-7143" b="-16129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/>
                <p:cNvSpPr txBox="1"/>
                <p:nvPr/>
              </p:nvSpPr>
              <p:spPr>
                <a:xfrm>
                  <a:off x="10817169" y="3722892"/>
                  <a:ext cx="173190" cy="18466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7" name="TextBox 1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7169" y="3722892"/>
                  <a:ext cx="173190" cy="184666"/>
                </a:xfrm>
                <a:prstGeom prst="rect">
                  <a:avLst/>
                </a:prstGeom>
                <a:blipFill>
                  <a:blip r:embed="rId43"/>
                  <a:stretch>
                    <a:fillRect l="-24138" r="-6897" b="-26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Content Placeholder 2">
                <a:extLst>
                  <a:ext uri="{FF2B5EF4-FFF2-40B4-BE49-F238E27FC236}">
                    <a16:creationId xmlns:a16="http://schemas.microsoft.com/office/drawing/2014/main" id="{390DAD30-44A8-46F5-9B02-CB6794DD9E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9479" y="1343018"/>
                <a:ext cx="10515600" cy="9036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For example, a RNN (LSTM) with four states is taken as both Encoder and Decoder. In the fourth and final iteration,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} </a:t>
                </a:r>
                <a:r>
                  <a:rPr lang="en-I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are input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𝑎𝑡𝑡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are obtained. So,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are fed to second node of decoder to get </a:t>
                </a: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9" name="Content Placeholder 2">
                <a:extLst>
                  <a:ext uri="{FF2B5EF4-FFF2-40B4-BE49-F238E27FC236}">
                    <a16:creationId xmlns:a16="http://schemas.microsoft.com/office/drawing/2014/main" id="{390DAD30-44A8-46F5-9B02-CB6794DD9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79" y="1343018"/>
                <a:ext cx="10515600" cy="903626"/>
              </a:xfrm>
              <a:prstGeom prst="rect">
                <a:avLst/>
              </a:prstGeom>
              <a:blipFill>
                <a:blip r:embed="rId44"/>
                <a:stretch>
                  <a:fillRect l="-522" t="-6711" r="-580" b="-14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77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Summery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>
                <a:latin typeface="Arial Narrow" panose="020B0606020202030204" pitchFamily="34" charset="0"/>
                <a:cs typeface="Times New Roman" panose="02020603050405020304" pitchFamily="18" charset="0"/>
              </a:rPr>
              <a:t>Sequence </a:t>
            </a: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to Sequence Modelling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Attention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How to Compute Attention through RNN?</a:t>
            </a:r>
          </a:p>
        </p:txBody>
      </p:sp>
    </p:spTree>
    <p:extLst>
      <p:ext uri="{BB962C8B-B14F-4D97-AF65-F5344CB8AC3E}">
        <p14:creationId xmlns:p14="http://schemas.microsoft.com/office/powerpoint/2010/main" val="3276024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74233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Generative AI for Vision Tasks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7: Part 1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2178"/>
            <a:ext cx="10515600" cy="108617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6"/>
            <a:ext cx="10515600" cy="5267324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Attention</a:t>
            </a:r>
            <a:r>
              <a:rPr lang="en-US" dirty="0">
                <a:latin typeface="Arial Narrow" panose="020B0606020202030204" pitchFamily="34" charset="0"/>
              </a:rPr>
              <a:t> is a mechanism that enables a neural network to focus on the most relevant parts of the input while making predictions.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Instead of relying on a single fixed-length context vector, it assigns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different importance (weights) </a:t>
            </a:r>
            <a:r>
              <a:rPr lang="en-US" dirty="0">
                <a:latin typeface="Arial Narrow" panose="020B0606020202030204" pitchFamily="34" charset="0"/>
              </a:rPr>
              <a:t>to different input elements, allowing the model to access the most relevant information at each step.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Why is Attention Needed?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latin typeface="Arial Narrow" panose="020B0606020202030204" pitchFamily="34" charset="0"/>
              </a:rPr>
              <a:t>Traditional Encoder–Decoder:</a:t>
            </a:r>
            <a:r>
              <a:rPr lang="en-US" dirty="0">
                <a:latin typeface="Arial Narrow" panose="020B0606020202030204" pitchFamily="34" charset="0"/>
              </a:rPr>
              <a:t>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Compresses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entire input sequence </a:t>
            </a:r>
            <a:r>
              <a:rPr lang="en-US" dirty="0">
                <a:latin typeface="Arial Narrow" panose="020B0606020202030204" pitchFamily="34" charset="0"/>
              </a:rPr>
              <a:t>into a single fixed-size context vector.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May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lose important information</a:t>
            </a:r>
            <a:r>
              <a:rPr lang="en-US" dirty="0">
                <a:latin typeface="Arial Narrow" panose="020B0606020202030204" pitchFamily="34" charset="0"/>
              </a:rPr>
              <a:t>, especially for long sequences.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latin typeface="Arial Narrow" panose="020B0606020202030204" pitchFamily="34" charset="0"/>
              </a:rPr>
              <a:t>Attention Mechanism:</a:t>
            </a:r>
            <a:r>
              <a:rPr lang="en-US" dirty="0">
                <a:latin typeface="Arial Narrow" panose="020B0606020202030204" pitchFamily="34" charset="0"/>
              </a:rPr>
              <a:t>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Dynamically focuses on the most relevant parts of the input sequence for each prediction.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latin typeface="Arial Narrow" panose="020B0606020202030204" pitchFamily="34" charset="0"/>
              </a:rPr>
              <a:t>Benefits:</a:t>
            </a:r>
            <a:r>
              <a:rPr lang="en-US" dirty="0">
                <a:latin typeface="Arial Narrow" panose="020B0606020202030204" pitchFamily="34" charset="0"/>
              </a:rPr>
              <a:t>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Better handling of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long sequences.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Improved translation and sequence modeling performance.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Greater interpretability </a:t>
            </a:r>
            <a:r>
              <a:rPr lang="en-US" dirty="0">
                <a:latin typeface="Arial Narrow" panose="020B0606020202030204" pitchFamily="34" charset="0"/>
              </a:rPr>
              <a:t>by showing which input elements the model attends to.</a:t>
            </a:r>
          </a:p>
        </p:txBody>
      </p:sp>
    </p:spTree>
    <p:extLst>
      <p:ext uri="{BB962C8B-B14F-4D97-AF65-F5344CB8AC3E}">
        <p14:creationId xmlns:p14="http://schemas.microsoft.com/office/powerpoint/2010/main" val="4087883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4458"/>
            <a:ext cx="10515600" cy="951946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entury" panose="02040604050505020304" pitchFamily="18" charset="0"/>
              </a:rPr>
              <a:t>Attention in Sequence-to-Sequence (Seq2Seq) Models</a:t>
            </a:r>
            <a:endParaRPr lang="en-IN" sz="32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0294"/>
            <a:ext cx="10515600" cy="5301843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In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Sequence-to-Sequence (Seq2Seq) model</a:t>
            </a:r>
            <a:r>
              <a:rPr lang="en-US" dirty="0">
                <a:latin typeface="Arial Narrow" panose="020B0606020202030204" pitchFamily="34" charset="0"/>
              </a:rPr>
              <a:t>, attention is a mechanism that enables the decoder to focus on the most relevant parts of the input sequence while generating each output token, rather than relying solely on a single fixed-length context vector.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b="1" dirty="0">
                <a:latin typeface="Arial Narrow" panose="020B0606020202030204" pitchFamily="34" charset="0"/>
              </a:rPr>
              <a:t> In the basic Seq2Seq architecture :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An encoder </a:t>
            </a:r>
            <a:r>
              <a:rPr lang="en-US" dirty="0">
                <a:latin typeface="Arial Narrow" panose="020B0606020202030204" pitchFamily="34" charset="0"/>
              </a:rPr>
              <a:t>(typically an RNN, LSTM, or GRU) processes the input sequence.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It compresses all the information into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single context vector.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Which is then used by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the decoder </a:t>
            </a:r>
            <a:r>
              <a:rPr lang="en-US" dirty="0">
                <a:latin typeface="Arial Narrow" panose="020B0606020202030204" pitchFamily="34" charset="0"/>
              </a:rPr>
              <a:t>to generate the output sequence. </a:t>
            </a:r>
          </a:p>
          <a:p>
            <a:pPr algn="just">
              <a:lnSpc>
                <a:spcPct val="110000"/>
              </a:lnSpc>
            </a:pPr>
            <a:endParaRPr lang="en-IN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IN" b="1" dirty="0">
                <a:latin typeface="Arial Narrow" panose="020B0606020202030204" pitchFamily="34" charset="0"/>
              </a:rPr>
              <a:t>Limitations of Basic Seq2Seq : </a:t>
            </a:r>
            <a:r>
              <a:rPr lang="en-US" b="1" dirty="0">
                <a:latin typeface="Arial Narrow" panose="020B0606020202030204" pitchFamily="34" charset="0"/>
              </a:rPr>
              <a:t>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Compressing the entire input into a single context vector can cause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information loss </a:t>
            </a:r>
            <a:r>
              <a:rPr lang="en-US" dirty="0">
                <a:latin typeface="Arial Narrow" panose="020B0606020202030204" pitchFamily="34" charset="0"/>
              </a:rPr>
              <a:t>for longer sequences.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As a result, it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performs poorly </a:t>
            </a:r>
            <a:r>
              <a:rPr lang="en-US" dirty="0">
                <a:latin typeface="Arial Narrow" panose="020B0606020202030204" pitchFamily="34" charset="0"/>
              </a:rPr>
              <a:t>on long sentences and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struggles to capture long-range dependencies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1867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9392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</a:rPr>
              <a:t>How Attention Solves This?</a:t>
            </a:r>
            <a:endParaRPr lang="en-IN" sz="3600" dirty="0">
              <a:solidFill>
                <a:schemeClr val="tx1">
                  <a:lumMod val="95000"/>
                  <a:lumOff val="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7511"/>
            <a:ext cx="10515600" cy="476812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Attention eliminates the fixed-length context vector bottleneck by allowing the decoder to dynamically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access all encoder hidden states </a:t>
            </a:r>
            <a:r>
              <a:rPr lang="en-US" dirty="0">
                <a:latin typeface="Arial Narrow" panose="020B0606020202030204" pitchFamily="34" charset="0"/>
              </a:rPr>
              <a:t>during decoding.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At each decoding steps: </a:t>
            </a:r>
          </a:p>
          <a:p>
            <a:pPr lvl="1"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The decoder computes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attention scores </a:t>
            </a:r>
            <a:r>
              <a:rPr lang="en-US" dirty="0">
                <a:latin typeface="Arial Narrow" panose="020B0606020202030204" pitchFamily="34" charset="0"/>
              </a:rPr>
              <a:t>with all encoder hidden states. </a:t>
            </a:r>
          </a:p>
          <a:p>
            <a:pPr lvl="1"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Converts these scores into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attention weights </a:t>
            </a:r>
            <a:r>
              <a:rPr lang="en-US" dirty="0">
                <a:latin typeface="Arial Narrow" panose="020B0606020202030204" pitchFamily="34" charset="0"/>
              </a:rPr>
              <a:t>using the Softmax function. </a:t>
            </a:r>
          </a:p>
          <a:p>
            <a:pPr lvl="1"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And generates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dynamic context vector </a:t>
            </a:r>
            <a:r>
              <a:rPr lang="en-US" dirty="0">
                <a:latin typeface="Arial Narrow" panose="020B0606020202030204" pitchFamily="34" charset="0"/>
              </a:rPr>
              <a:t>as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weighted sum </a:t>
            </a:r>
            <a:r>
              <a:rPr lang="en-US" dirty="0">
                <a:latin typeface="Arial Narrow" panose="020B0606020202030204" pitchFamily="34" charset="0"/>
              </a:rPr>
              <a:t>of the encoder hidden states. 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This enables the decoder to focus on the most relevant parts of the input sequence at each decoding step, reducing information loss and improving the handling of long-range dependencies.</a:t>
            </a: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075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364494" y="2479874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10497693" y="2483934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10497693" y="2865552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ounded Rectangle 18"/>
          <p:cNvSpPr/>
          <p:nvPr/>
        </p:nvSpPr>
        <p:spPr>
          <a:xfrm>
            <a:off x="9833717" y="3392220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ounded Rectangle 21"/>
          <p:cNvSpPr/>
          <p:nvPr/>
        </p:nvSpPr>
        <p:spPr>
          <a:xfrm>
            <a:off x="9160854" y="3394538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ounded Rectangle 33"/>
          <p:cNvSpPr/>
          <p:nvPr/>
        </p:nvSpPr>
        <p:spPr>
          <a:xfrm>
            <a:off x="9626961" y="4538311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ounded Rectangle 36"/>
          <p:cNvSpPr/>
          <p:nvPr/>
        </p:nvSpPr>
        <p:spPr>
          <a:xfrm>
            <a:off x="10497693" y="4531117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ounded Rectangle 30"/>
          <p:cNvSpPr/>
          <p:nvPr/>
        </p:nvSpPr>
        <p:spPr>
          <a:xfrm>
            <a:off x="8129859" y="4436870"/>
            <a:ext cx="672493" cy="4644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076141" y="4458761"/>
                <a:ext cx="778546" cy="415498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Update </a:t>
                </a:r>
              </a:p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IN" sz="105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𝐭</m:t>
                        </m:r>
                      </m:sub>
                    </m:sSub>
                    <m:r>
                      <a:rPr lang="en-IN" sz="105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105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𝛔</m:t>
                    </m:r>
                  </m:oMath>
                </a14:m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6141" y="4458761"/>
                <a:ext cx="778546" cy="415498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9694319" y="2842184"/>
            <a:ext cx="488950" cy="298450"/>
          </a:xfrm>
          <a:prstGeom prst="ellipse">
            <a:avLst/>
          </a:prstGeom>
          <a:solidFill>
            <a:schemeClr val="accent2">
              <a:lumMod val="20000"/>
              <a:lumOff val="80000"/>
              <a:alpha val="28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15" name="TextBox 14"/>
          <p:cNvSpPr txBox="1"/>
          <p:nvPr/>
        </p:nvSpPr>
        <p:spPr>
          <a:xfrm>
            <a:off x="9717328" y="2851263"/>
            <a:ext cx="478016" cy="276999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1200" b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tanh</a:t>
            </a:r>
            <a:endParaRPr lang="en-IN" sz="12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53609" y="2811641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542" y="3239574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770" y="3340627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3545" y="4472208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9518" y="4378471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9518" y="2352429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0410" y="2435489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1737" y="3917758"/>
            <a:ext cx="672493" cy="4644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1859"/>
            <a:ext cx="10515600" cy="109969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ook Antiqua" panose="02040602050305030304" pitchFamily="18" charset="0"/>
              </a:rPr>
              <a:t>Gated Recurrent Unit (GRU)</a:t>
            </a:r>
            <a:br>
              <a:rPr lang="en-US" sz="3200" dirty="0">
                <a:solidFill>
                  <a:srgbClr val="C00000"/>
                </a:solidFill>
                <a:latin typeface="Book Antiqua" panose="02040602050305030304" pitchFamily="18" charset="0"/>
              </a:rPr>
            </a:b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Kyunghyun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Cho, 2014</a:t>
            </a:r>
            <a:endParaRPr lang="en-IN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439" y="1590288"/>
            <a:ext cx="5613169" cy="490009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GRU (Gated Recurrent Unit) is a type of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Recurrent Neural Network </a:t>
            </a:r>
            <a:r>
              <a:rPr lang="en-US" dirty="0">
                <a:latin typeface="Arial Narrow" panose="020B0606020202030204" pitchFamily="34" charset="0"/>
              </a:rPr>
              <a:t>(RNN) designed to process sequential data while overcoming the vanishing gradient problem of traditional RNNs.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It is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simpler and more efficient alternative </a:t>
            </a:r>
            <a:r>
              <a:rPr lang="en-US" dirty="0">
                <a:latin typeface="Arial Narrow" panose="020B0606020202030204" pitchFamily="34" charset="0"/>
              </a:rPr>
              <a:t>to Long Short-Term Memory (LSTM).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GRUs achieve this by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introducing gating mechanisms</a:t>
            </a:r>
            <a:r>
              <a:rPr lang="en-US" dirty="0">
                <a:latin typeface="Arial Narrow" panose="020B0606020202030204" pitchFamily="34" charset="0"/>
              </a:rPr>
              <a:t> that regulate the flow of information across time steps, enabling the network to capture long-term dependencies effectively.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336537" y="2212404"/>
            <a:ext cx="3688080" cy="3453414"/>
          </a:xfrm>
          <a:prstGeom prst="rect">
            <a:avLst/>
          </a:prstGeom>
          <a:solidFill>
            <a:schemeClr val="accent2">
              <a:lumMod val="40000"/>
              <a:lumOff val="60000"/>
              <a:alpha val="17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880615" y="3932375"/>
                <a:ext cx="756554" cy="415498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Reset  </a:t>
                </a:r>
              </a:p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05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𝐫</m:t>
                        </m:r>
                      </m:e>
                      <m:sub>
                        <m:r>
                          <a:rPr lang="en-IN" sz="105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𝐭</m:t>
                        </m:r>
                      </m:sub>
                    </m:sSub>
                    <m:r>
                      <a:rPr lang="en-IN" sz="105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105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𝛔</m:t>
                    </m:r>
                  </m:oMath>
                </a14:m>
                <a:endParaRPr lang="en-IN" sz="105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615" y="3932375"/>
                <a:ext cx="756554" cy="415498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 flipV="1">
            <a:off x="9260745" y="3639455"/>
            <a:ext cx="2910" cy="269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266411" y="4043613"/>
            <a:ext cx="672493" cy="255833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322154" y="4040337"/>
                <a:ext cx="559512" cy="253916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5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IN" sz="105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05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sz="105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</m:t>
                          </m:r>
                        </m:sub>
                      </m:sSub>
                    </m:oMath>
                  </m:oMathPara>
                </a14:m>
                <a:endParaRPr lang="en-IN" sz="105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154" y="4040337"/>
                <a:ext cx="559512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9592778" y="5212846"/>
                <a:ext cx="288675" cy="24622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10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778" y="5212846"/>
                <a:ext cx="288675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0470203" y="5210676"/>
                <a:ext cx="290464" cy="24622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10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203" y="5210676"/>
                <a:ext cx="290464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/>
          <p:cNvCxnSpPr>
            <a:endCxn id="5" idx="1"/>
          </p:cNvCxnSpPr>
          <p:nvPr/>
        </p:nvCxnSpPr>
        <p:spPr>
          <a:xfrm>
            <a:off x="6531547" y="2607890"/>
            <a:ext cx="1832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5" idx="3"/>
            <a:endCxn id="6" idx="1"/>
          </p:cNvCxnSpPr>
          <p:nvPr/>
        </p:nvCxnSpPr>
        <p:spPr>
          <a:xfrm>
            <a:off x="8574806" y="2607890"/>
            <a:ext cx="1922887" cy="4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6" idx="3"/>
          </p:cNvCxnSpPr>
          <p:nvPr/>
        </p:nvCxnSpPr>
        <p:spPr>
          <a:xfrm>
            <a:off x="10708005" y="2611950"/>
            <a:ext cx="11109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2" idx="0"/>
            <a:endCxn id="37" idx="2"/>
          </p:cNvCxnSpPr>
          <p:nvPr/>
        </p:nvCxnSpPr>
        <p:spPr>
          <a:xfrm flipH="1" flipV="1">
            <a:off x="10602849" y="4787149"/>
            <a:ext cx="12586" cy="423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37" idx="0"/>
            <a:endCxn id="39" idx="2"/>
          </p:cNvCxnSpPr>
          <p:nvPr/>
        </p:nvCxnSpPr>
        <p:spPr>
          <a:xfrm flipH="1" flipV="1">
            <a:off x="10602658" y="4299446"/>
            <a:ext cx="191" cy="23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0" idx="0"/>
            <a:endCxn id="10" idx="2"/>
          </p:cNvCxnSpPr>
          <p:nvPr/>
        </p:nvCxnSpPr>
        <p:spPr>
          <a:xfrm flipV="1">
            <a:off x="10601910" y="3121584"/>
            <a:ext cx="939" cy="918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10" idx="0"/>
            <a:endCxn id="6" idx="2"/>
          </p:cNvCxnSpPr>
          <p:nvPr/>
        </p:nvCxnSpPr>
        <p:spPr>
          <a:xfrm flipV="1">
            <a:off x="10602849" y="2739966"/>
            <a:ext cx="0" cy="125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16" idx="6"/>
            <a:endCxn id="10" idx="1"/>
          </p:cNvCxnSpPr>
          <p:nvPr/>
        </p:nvCxnSpPr>
        <p:spPr>
          <a:xfrm>
            <a:off x="10183269" y="2991409"/>
            <a:ext cx="314424" cy="2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8250446" y="5883742"/>
                <a:ext cx="444930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0446" y="5883742"/>
                <a:ext cx="44493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Elbow Connector 72"/>
          <p:cNvCxnSpPr>
            <a:endCxn id="31" idx="1"/>
          </p:cNvCxnSpPr>
          <p:nvPr/>
        </p:nvCxnSpPr>
        <p:spPr>
          <a:xfrm rot="16200000" flipH="1">
            <a:off x="6789971" y="3329190"/>
            <a:ext cx="2061187" cy="6185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endCxn id="27" idx="1"/>
          </p:cNvCxnSpPr>
          <p:nvPr/>
        </p:nvCxnSpPr>
        <p:spPr>
          <a:xfrm>
            <a:off x="7511269" y="4149967"/>
            <a:ext cx="14004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endCxn id="22" idx="1"/>
          </p:cNvCxnSpPr>
          <p:nvPr/>
        </p:nvCxnSpPr>
        <p:spPr>
          <a:xfrm>
            <a:off x="7511269" y="3520236"/>
            <a:ext cx="1649585" cy="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22" idx="3"/>
            <a:endCxn id="19" idx="1"/>
          </p:cNvCxnSpPr>
          <p:nvPr/>
        </p:nvCxnSpPr>
        <p:spPr>
          <a:xfrm flipV="1">
            <a:off x="9371166" y="3520236"/>
            <a:ext cx="462551" cy="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19" idx="0"/>
            <a:endCxn id="16" idx="4"/>
          </p:cNvCxnSpPr>
          <p:nvPr/>
        </p:nvCxnSpPr>
        <p:spPr>
          <a:xfrm flipH="1" flipV="1">
            <a:off x="9938794" y="3140634"/>
            <a:ext cx="79" cy="251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31" idx="0"/>
            <a:endCxn id="5" idx="2"/>
          </p:cNvCxnSpPr>
          <p:nvPr/>
        </p:nvCxnSpPr>
        <p:spPr>
          <a:xfrm flipV="1">
            <a:off x="8466106" y="2735906"/>
            <a:ext cx="3544" cy="1700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71" idx="0"/>
            <a:endCxn id="31" idx="2"/>
          </p:cNvCxnSpPr>
          <p:nvPr/>
        </p:nvCxnSpPr>
        <p:spPr>
          <a:xfrm flipH="1" flipV="1">
            <a:off x="8466106" y="4901288"/>
            <a:ext cx="6805" cy="982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/>
          <p:cNvCxnSpPr>
            <a:endCxn id="19" idx="2"/>
          </p:cNvCxnSpPr>
          <p:nvPr/>
        </p:nvCxnSpPr>
        <p:spPr>
          <a:xfrm flipV="1">
            <a:off x="8472911" y="3648252"/>
            <a:ext cx="1465962" cy="14601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31" idx="3"/>
            <a:endCxn id="34" idx="1"/>
          </p:cNvCxnSpPr>
          <p:nvPr/>
        </p:nvCxnSpPr>
        <p:spPr>
          <a:xfrm flipV="1">
            <a:off x="8802352" y="4666327"/>
            <a:ext cx="824609" cy="2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endCxn id="27" idx="2"/>
          </p:cNvCxnSpPr>
          <p:nvPr/>
        </p:nvCxnSpPr>
        <p:spPr>
          <a:xfrm flipH="1" flipV="1">
            <a:off x="9247984" y="4382176"/>
            <a:ext cx="7998" cy="726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41" idx="0"/>
            <a:endCxn id="34" idx="2"/>
          </p:cNvCxnSpPr>
          <p:nvPr/>
        </p:nvCxnSpPr>
        <p:spPr>
          <a:xfrm flipH="1" flipV="1">
            <a:off x="9732117" y="4794343"/>
            <a:ext cx="4999" cy="41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0185788" y="1602781"/>
            <a:ext cx="846707" cy="224704"/>
          </a:xfrm>
          <a:prstGeom prst="rect">
            <a:avLst/>
          </a:prstGeom>
          <a:solidFill>
            <a:schemeClr val="accent6">
              <a:lumMod val="60000"/>
              <a:lumOff val="40000"/>
              <a:alpha val="52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 anchor="ctr" anchorCtr="0">
            <a:noAutofit/>
          </a:bodyPr>
          <a:lstStyle/>
          <a:p>
            <a:r>
              <a:rPr lang="en-IN" sz="1600" b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</a:p>
        </p:txBody>
      </p:sp>
      <p:cxnSp>
        <p:nvCxnSpPr>
          <p:cNvPr id="112" name="Straight Arrow Connector 111"/>
          <p:cNvCxnSpPr>
            <a:stCxn id="6" idx="0"/>
            <a:endCxn id="110" idx="2"/>
          </p:cNvCxnSpPr>
          <p:nvPr/>
        </p:nvCxnSpPr>
        <p:spPr>
          <a:xfrm flipV="1">
            <a:off x="10602849" y="1827485"/>
            <a:ext cx="6293" cy="65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34" idx="3"/>
            <a:endCxn id="37" idx="1"/>
          </p:cNvCxnSpPr>
          <p:nvPr/>
        </p:nvCxnSpPr>
        <p:spPr>
          <a:xfrm flipV="1">
            <a:off x="9837273" y="4659133"/>
            <a:ext cx="660420" cy="7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6531547" y="2186889"/>
                <a:ext cx="67159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547" y="2186889"/>
                <a:ext cx="671594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10099689" y="1811702"/>
                <a:ext cx="518668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689" y="1811702"/>
                <a:ext cx="51866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8377000" y="2883005"/>
                <a:ext cx="430311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000" y="2883005"/>
                <a:ext cx="43031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7691910" y="3135219"/>
                <a:ext cx="542969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910" y="3135219"/>
                <a:ext cx="542969" cy="369332"/>
              </a:xfrm>
              <a:prstGeom prst="rect">
                <a:avLst/>
              </a:prstGeom>
              <a:blipFill>
                <a:blip r:embed="rId12"/>
                <a:stretch>
                  <a:fillRect b="-1639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9195085" y="3548138"/>
                <a:ext cx="40735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085" y="3548138"/>
                <a:ext cx="40735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8486323" y="3829373"/>
                <a:ext cx="405303" cy="28309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323" y="3829373"/>
                <a:ext cx="405303" cy="283091"/>
              </a:xfrm>
              <a:prstGeom prst="rect">
                <a:avLst/>
              </a:prstGeom>
              <a:blipFill>
                <a:blip r:embed="rId14"/>
                <a:stretch>
                  <a:fillRect l="-10448" b="-17021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564918" y="4378350"/>
                <a:ext cx="406778" cy="276999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b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918" y="4378350"/>
                <a:ext cx="406778" cy="276999"/>
              </a:xfrm>
              <a:prstGeom prst="rect">
                <a:avLst/>
              </a:prstGeom>
              <a:blipFill>
                <a:blip r:embed="rId15"/>
                <a:stretch>
                  <a:fillRect l="-14925" b="-19565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8723178" y="4332984"/>
                <a:ext cx="430311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178" y="4332984"/>
                <a:ext cx="43031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8070167" y="4950488"/>
                <a:ext cx="362150" cy="24622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bSup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167" y="4950488"/>
                <a:ext cx="362150" cy="246221"/>
              </a:xfrm>
              <a:prstGeom prst="rect">
                <a:avLst/>
              </a:prstGeom>
              <a:blipFill>
                <a:blip r:embed="rId17"/>
                <a:stretch>
                  <a:fillRect l="-13559" b="-15000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9227582" y="4782172"/>
                <a:ext cx="345094" cy="24622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582" y="4782172"/>
                <a:ext cx="345094" cy="246221"/>
              </a:xfrm>
              <a:prstGeom prst="rect">
                <a:avLst/>
              </a:prstGeom>
              <a:blipFill>
                <a:blip r:embed="rId18"/>
                <a:stretch>
                  <a:fillRect l="-14286" b="-12195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9825650" y="4043456"/>
                <a:ext cx="519437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650" y="4043456"/>
                <a:ext cx="51943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10066074" y="2594963"/>
                <a:ext cx="451983" cy="381643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6074" y="2594963"/>
                <a:ext cx="451983" cy="381643"/>
              </a:xfrm>
              <a:prstGeom prst="rect">
                <a:avLst/>
              </a:prstGeom>
              <a:blipFill>
                <a:blip r:embed="rId20"/>
                <a:stretch>
                  <a:fillRect t="-1613" r="-6757" b="-1613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11137038" y="2228631"/>
                <a:ext cx="451983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7038" y="2228631"/>
                <a:ext cx="45198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/>
          <p:cNvCxnSpPr>
            <a:stCxn id="110" idx="0"/>
          </p:cNvCxnSpPr>
          <p:nvPr/>
        </p:nvCxnSpPr>
        <p:spPr>
          <a:xfrm flipV="1">
            <a:off x="10609142" y="1414177"/>
            <a:ext cx="0" cy="188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649E12C-0A4E-4D3A-B43F-45FDFBAA34D6}"/>
              </a:ext>
            </a:extLst>
          </p:cNvPr>
          <p:cNvSpPr txBox="1"/>
          <p:nvPr/>
        </p:nvSpPr>
        <p:spPr>
          <a:xfrm>
            <a:off x="8099772" y="6498863"/>
            <a:ext cx="4103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Sequence model lecture of Andrew Ng </a:t>
            </a:r>
          </a:p>
        </p:txBody>
      </p:sp>
    </p:spTree>
    <p:extLst>
      <p:ext uri="{BB962C8B-B14F-4D97-AF65-F5344CB8AC3E}">
        <p14:creationId xmlns:p14="http://schemas.microsoft.com/office/powerpoint/2010/main" val="4139492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0428"/>
            <a:ext cx="10515600" cy="103390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Gated Recurrent Unit (GRU)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8438"/>
            <a:ext cx="10515600" cy="5190425"/>
          </a:xfrm>
        </p:spPr>
        <p:txBody>
          <a:bodyPr>
            <a:normAutofit fontScale="85000" lnSpcReduction="20000"/>
          </a:bodyPr>
          <a:lstStyle/>
          <a:p>
            <a:pPr indent="-230400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naïve RNN </a:t>
            </a:r>
            <a:r>
              <a:rPr lang="en-US" dirty="0">
                <a:latin typeface="Arial Narrow" panose="020B0606020202030204" pitchFamily="34" charset="0"/>
              </a:rPr>
              <a:t>suffers from two major limitations:</a:t>
            </a:r>
          </a:p>
          <a:p>
            <a:pPr lvl="1" indent="-230400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Vanishing (or exploding) gradients, leading to slow or unstable training. </a:t>
            </a:r>
          </a:p>
          <a:p>
            <a:pPr lvl="1" indent="-230400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Poor ability to capture long-term dependencies in sequential data. </a:t>
            </a:r>
          </a:p>
          <a:p>
            <a:pPr indent="-230400" algn="just">
              <a:lnSpc>
                <a:spcPct val="10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indent="-230400" algn="just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GRU addresses these limitations by introducing gating mechanisms that regulate the flow of information over time.</a:t>
            </a:r>
          </a:p>
          <a:p>
            <a:pPr indent="-230400" algn="just">
              <a:lnSpc>
                <a:spcPct val="10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indent="-230400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It uses two gates:</a:t>
            </a:r>
          </a:p>
          <a:p>
            <a:pPr lvl="1" indent="-230400"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Update gate </a:t>
            </a:r>
            <a:r>
              <a:rPr lang="en-US" dirty="0">
                <a:latin typeface="Arial Narrow" panose="020B0606020202030204" pitchFamily="34" charset="0"/>
              </a:rPr>
              <a:t>– controls how much past information is retained. </a:t>
            </a:r>
          </a:p>
          <a:p>
            <a:pPr lvl="1" indent="-230400"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Reset gate </a:t>
            </a:r>
            <a:r>
              <a:rPr lang="en-US" dirty="0">
                <a:latin typeface="Arial Narrow" panose="020B0606020202030204" pitchFamily="34" charset="0"/>
              </a:rPr>
              <a:t>– controls how much past information is forgotten. </a:t>
            </a:r>
          </a:p>
          <a:p>
            <a:pPr indent="-230400" algn="just">
              <a:lnSpc>
                <a:spcPct val="10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indent="-230400" algn="just">
              <a:lnSpc>
                <a:spcPct val="100000"/>
              </a:lnSpc>
            </a:pPr>
            <a:r>
              <a:rPr lang="en-US" dirty="0">
                <a:latin typeface="Arial Narrow" panose="020B0606020202030204" pitchFamily="34" charset="0"/>
              </a:rPr>
              <a:t>Hence, GRUs have a simpler architecture, train faster than LSTMs, and effectively capture long-term dependencies in sequential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9E12C-0A4E-4D3A-B43F-45FDFBAA34D6}"/>
              </a:ext>
            </a:extLst>
          </p:cNvPr>
          <p:cNvSpPr txBox="1"/>
          <p:nvPr/>
        </p:nvSpPr>
        <p:spPr>
          <a:xfrm>
            <a:off x="8099772" y="6498863"/>
            <a:ext cx="4103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Sequence model lecture of Andrew Ng </a:t>
            </a:r>
          </a:p>
        </p:txBody>
      </p:sp>
    </p:spTree>
    <p:extLst>
      <p:ext uri="{BB962C8B-B14F-4D97-AF65-F5344CB8AC3E}">
        <p14:creationId xmlns:p14="http://schemas.microsoft.com/office/powerpoint/2010/main" val="366495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525" y="191063"/>
            <a:ext cx="10515600" cy="108877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The Naïve RNN Vs. GRU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5798" y="2330989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4928997" y="2335049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4928997" y="2716667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4265021" y="3243335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3592158" y="3245653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ounded Rectangle 8"/>
          <p:cNvSpPr/>
          <p:nvPr/>
        </p:nvSpPr>
        <p:spPr>
          <a:xfrm>
            <a:off x="4058265" y="4389426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4928997" y="4382232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2561163" y="4287985"/>
            <a:ext cx="672493" cy="4644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507445" y="4309876"/>
                <a:ext cx="778546" cy="415498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Update </a:t>
                </a:r>
              </a:p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IN" sz="105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𝐭</m:t>
                        </m:r>
                      </m:sub>
                    </m:sSub>
                    <m:r>
                      <a:rPr lang="en-IN" sz="105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105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𝛔</m:t>
                    </m:r>
                  </m:oMath>
                </a14:m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445" y="4309876"/>
                <a:ext cx="778546" cy="415498"/>
              </a:xfrm>
              <a:prstGeom prst="rect">
                <a:avLst/>
              </a:prstGeom>
              <a:blipFill>
                <a:blip r:embed="rId2"/>
                <a:stretch>
                  <a:fillRect b="-8824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4125623" y="2693299"/>
            <a:ext cx="488950" cy="298450"/>
          </a:xfrm>
          <a:prstGeom prst="ellipse">
            <a:avLst/>
          </a:prstGeom>
          <a:solidFill>
            <a:schemeClr val="accent2">
              <a:lumMod val="20000"/>
              <a:lumOff val="80000"/>
              <a:alpha val="28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14" name="TextBox 13"/>
          <p:cNvSpPr txBox="1"/>
          <p:nvPr/>
        </p:nvSpPr>
        <p:spPr>
          <a:xfrm>
            <a:off x="4148632" y="2702378"/>
            <a:ext cx="478016" cy="276999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1200" b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tanh</a:t>
            </a:r>
            <a:endParaRPr lang="en-IN" sz="12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84913" y="2662756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6846" y="3090689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8074" y="3191742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4849" y="4323323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822" y="4229586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822" y="2203544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1714" y="2286604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43041" y="3768873"/>
            <a:ext cx="672493" cy="4644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752163" y="2030165"/>
            <a:ext cx="3688080" cy="3453414"/>
          </a:xfrm>
          <a:prstGeom prst="rect">
            <a:avLst/>
          </a:prstGeom>
          <a:solidFill>
            <a:schemeClr val="accent2">
              <a:lumMod val="40000"/>
              <a:lumOff val="60000"/>
              <a:alpha val="17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311919" y="3783490"/>
                <a:ext cx="756554" cy="415498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Reset  </a:t>
                </a:r>
              </a:p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05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𝐫</m:t>
                        </m:r>
                      </m:e>
                      <m:sub>
                        <m:r>
                          <a:rPr lang="en-IN" sz="105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𝐭</m:t>
                        </m:r>
                      </m:sub>
                    </m:sSub>
                    <m:r>
                      <a:rPr lang="en-IN" sz="105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105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𝛔</m:t>
                    </m:r>
                  </m:oMath>
                </a14:m>
                <a:endParaRPr lang="en-IN" sz="105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919" y="3783490"/>
                <a:ext cx="756554" cy="415498"/>
              </a:xfrm>
              <a:prstGeom prst="rect">
                <a:avLst/>
              </a:prstGeom>
              <a:blipFill>
                <a:blip r:embed="rId3"/>
                <a:stretch>
                  <a:fillRect b="-8824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H="1" flipV="1">
            <a:off x="3692049" y="3490570"/>
            <a:ext cx="2910" cy="269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97715" y="3894728"/>
            <a:ext cx="672493" cy="255833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753458" y="3891452"/>
                <a:ext cx="559512" cy="253916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5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IN" sz="105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05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sz="105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</m:t>
                          </m:r>
                        </m:sub>
                      </m:sSub>
                    </m:oMath>
                  </m:oMathPara>
                </a14:m>
                <a:endParaRPr lang="en-IN" sz="105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58" y="3891452"/>
                <a:ext cx="559512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024082" y="5063961"/>
                <a:ext cx="288675" cy="24622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10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082" y="5063961"/>
                <a:ext cx="288675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901507" y="5061791"/>
                <a:ext cx="290464" cy="24622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10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507" y="5061791"/>
                <a:ext cx="290464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endCxn id="4" idx="1"/>
          </p:cNvCxnSpPr>
          <p:nvPr/>
        </p:nvCxnSpPr>
        <p:spPr>
          <a:xfrm>
            <a:off x="962851" y="2459005"/>
            <a:ext cx="1832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4" idx="3"/>
            <a:endCxn id="5" idx="1"/>
          </p:cNvCxnSpPr>
          <p:nvPr/>
        </p:nvCxnSpPr>
        <p:spPr>
          <a:xfrm>
            <a:off x="3006110" y="2459005"/>
            <a:ext cx="1922887" cy="4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5" idx="3"/>
          </p:cNvCxnSpPr>
          <p:nvPr/>
        </p:nvCxnSpPr>
        <p:spPr>
          <a:xfrm>
            <a:off x="5139309" y="2463065"/>
            <a:ext cx="11109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0"/>
            <a:endCxn id="10" idx="2"/>
          </p:cNvCxnSpPr>
          <p:nvPr/>
        </p:nvCxnSpPr>
        <p:spPr>
          <a:xfrm flipH="1" flipV="1">
            <a:off x="5034153" y="4638264"/>
            <a:ext cx="12586" cy="423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0" idx="0"/>
            <a:endCxn id="26" idx="2"/>
          </p:cNvCxnSpPr>
          <p:nvPr/>
        </p:nvCxnSpPr>
        <p:spPr>
          <a:xfrm flipH="1" flipV="1">
            <a:off x="5033962" y="4150561"/>
            <a:ext cx="191" cy="23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7" idx="0"/>
            <a:endCxn id="6" idx="2"/>
          </p:cNvCxnSpPr>
          <p:nvPr/>
        </p:nvCxnSpPr>
        <p:spPr>
          <a:xfrm flipV="1">
            <a:off x="5033214" y="2972699"/>
            <a:ext cx="939" cy="918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6" idx="0"/>
            <a:endCxn id="5" idx="2"/>
          </p:cNvCxnSpPr>
          <p:nvPr/>
        </p:nvCxnSpPr>
        <p:spPr>
          <a:xfrm flipV="1">
            <a:off x="5034153" y="2591081"/>
            <a:ext cx="0" cy="125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3" idx="6"/>
            <a:endCxn id="6" idx="1"/>
          </p:cNvCxnSpPr>
          <p:nvPr/>
        </p:nvCxnSpPr>
        <p:spPr>
          <a:xfrm>
            <a:off x="4614573" y="2842524"/>
            <a:ext cx="314424" cy="2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681750" y="5734857"/>
                <a:ext cx="444930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750" y="5734857"/>
                <a:ext cx="4449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Elbow Connector 38"/>
          <p:cNvCxnSpPr>
            <a:endCxn id="11" idx="1"/>
          </p:cNvCxnSpPr>
          <p:nvPr/>
        </p:nvCxnSpPr>
        <p:spPr>
          <a:xfrm rot="16200000" flipH="1">
            <a:off x="1221275" y="3180305"/>
            <a:ext cx="2061187" cy="6185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22" idx="1"/>
          </p:cNvCxnSpPr>
          <p:nvPr/>
        </p:nvCxnSpPr>
        <p:spPr>
          <a:xfrm>
            <a:off x="1942573" y="4001082"/>
            <a:ext cx="14004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8" idx="1"/>
          </p:cNvCxnSpPr>
          <p:nvPr/>
        </p:nvCxnSpPr>
        <p:spPr>
          <a:xfrm>
            <a:off x="1942573" y="3371351"/>
            <a:ext cx="1649585" cy="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8" idx="3"/>
            <a:endCxn id="7" idx="1"/>
          </p:cNvCxnSpPr>
          <p:nvPr/>
        </p:nvCxnSpPr>
        <p:spPr>
          <a:xfrm flipV="1">
            <a:off x="3802470" y="3371351"/>
            <a:ext cx="462551" cy="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7" idx="0"/>
            <a:endCxn id="13" idx="4"/>
          </p:cNvCxnSpPr>
          <p:nvPr/>
        </p:nvCxnSpPr>
        <p:spPr>
          <a:xfrm flipH="1" flipV="1">
            <a:off x="4370098" y="2991749"/>
            <a:ext cx="79" cy="251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1" idx="0"/>
            <a:endCxn id="4" idx="2"/>
          </p:cNvCxnSpPr>
          <p:nvPr/>
        </p:nvCxnSpPr>
        <p:spPr>
          <a:xfrm flipV="1">
            <a:off x="2897410" y="2587021"/>
            <a:ext cx="3544" cy="1700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8" idx="0"/>
            <a:endCxn id="11" idx="2"/>
          </p:cNvCxnSpPr>
          <p:nvPr/>
        </p:nvCxnSpPr>
        <p:spPr>
          <a:xfrm flipH="1" flipV="1">
            <a:off x="2897410" y="4752403"/>
            <a:ext cx="6805" cy="982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endCxn id="7" idx="2"/>
          </p:cNvCxnSpPr>
          <p:nvPr/>
        </p:nvCxnSpPr>
        <p:spPr>
          <a:xfrm flipV="1">
            <a:off x="2904215" y="3499367"/>
            <a:ext cx="1465962" cy="14601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1" idx="3"/>
            <a:endCxn id="9" idx="1"/>
          </p:cNvCxnSpPr>
          <p:nvPr/>
        </p:nvCxnSpPr>
        <p:spPr>
          <a:xfrm flipV="1">
            <a:off x="3233656" y="4517442"/>
            <a:ext cx="824609" cy="2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22" idx="2"/>
          </p:cNvCxnSpPr>
          <p:nvPr/>
        </p:nvCxnSpPr>
        <p:spPr>
          <a:xfrm flipH="1" flipV="1">
            <a:off x="3679288" y="4233291"/>
            <a:ext cx="7998" cy="726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0"/>
            <a:endCxn id="9" idx="2"/>
          </p:cNvCxnSpPr>
          <p:nvPr/>
        </p:nvCxnSpPr>
        <p:spPr>
          <a:xfrm flipH="1" flipV="1">
            <a:off x="4163421" y="4645458"/>
            <a:ext cx="4999" cy="41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17092" y="1453896"/>
            <a:ext cx="846707" cy="224704"/>
          </a:xfrm>
          <a:prstGeom prst="rect">
            <a:avLst/>
          </a:prstGeom>
          <a:solidFill>
            <a:schemeClr val="accent6">
              <a:lumMod val="60000"/>
              <a:lumOff val="40000"/>
              <a:alpha val="52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 anchor="ctr" anchorCtr="0">
            <a:noAutofit/>
          </a:bodyPr>
          <a:lstStyle/>
          <a:p>
            <a:r>
              <a:rPr lang="en-IN" sz="1600" b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</a:p>
        </p:txBody>
      </p:sp>
      <p:cxnSp>
        <p:nvCxnSpPr>
          <p:cNvPr id="51" name="Straight Arrow Connector 50"/>
          <p:cNvCxnSpPr>
            <a:stCxn id="5" idx="0"/>
            <a:endCxn id="50" idx="2"/>
          </p:cNvCxnSpPr>
          <p:nvPr/>
        </p:nvCxnSpPr>
        <p:spPr>
          <a:xfrm flipV="1">
            <a:off x="5034153" y="1678600"/>
            <a:ext cx="6293" cy="65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9" idx="3"/>
            <a:endCxn id="10" idx="1"/>
          </p:cNvCxnSpPr>
          <p:nvPr/>
        </p:nvCxnSpPr>
        <p:spPr>
          <a:xfrm flipV="1">
            <a:off x="4268577" y="4510248"/>
            <a:ext cx="660420" cy="7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962851" y="2038004"/>
                <a:ext cx="67159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51" y="2038004"/>
                <a:ext cx="67159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530993" y="1662817"/>
                <a:ext cx="518668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993" y="1662817"/>
                <a:ext cx="51866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808304" y="2734120"/>
                <a:ext cx="430311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304" y="2734120"/>
                <a:ext cx="43031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123214" y="2986334"/>
                <a:ext cx="542969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214" y="2986334"/>
                <a:ext cx="542969" cy="369332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3626389" y="3399253"/>
                <a:ext cx="40735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389" y="3399253"/>
                <a:ext cx="40735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917627" y="3680488"/>
                <a:ext cx="405303" cy="28309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627" y="3680488"/>
                <a:ext cx="405303" cy="283091"/>
              </a:xfrm>
              <a:prstGeom prst="rect">
                <a:avLst/>
              </a:prstGeom>
              <a:blipFill>
                <a:blip r:embed="rId13"/>
                <a:stretch>
                  <a:fillRect l="-12121" b="-19565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996222" y="4229465"/>
                <a:ext cx="406778" cy="276999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b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222" y="4229465"/>
                <a:ext cx="406778" cy="276999"/>
              </a:xfrm>
              <a:prstGeom prst="rect">
                <a:avLst/>
              </a:prstGeom>
              <a:blipFill>
                <a:blip r:embed="rId14"/>
                <a:stretch>
                  <a:fillRect l="-13433" r="-1493" b="-22222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154482" y="4184099"/>
                <a:ext cx="430311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482" y="4184099"/>
                <a:ext cx="43031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2501471" y="4801603"/>
                <a:ext cx="362150" cy="24622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bSup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471" y="4801603"/>
                <a:ext cx="362150" cy="246221"/>
              </a:xfrm>
              <a:prstGeom prst="rect">
                <a:avLst/>
              </a:prstGeom>
              <a:blipFill>
                <a:blip r:embed="rId16"/>
                <a:stretch>
                  <a:fillRect l="-11667" b="-12500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658886" y="4633287"/>
                <a:ext cx="345094" cy="24622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8886" y="4633287"/>
                <a:ext cx="345094" cy="246221"/>
              </a:xfrm>
              <a:prstGeom prst="rect">
                <a:avLst/>
              </a:prstGeom>
              <a:blipFill>
                <a:blip r:embed="rId17"/>
                <a:stretch>
                  <a:fillRect l="-12281" b="-15000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4256954" y="3894571"/>
                <a:ext cx="519437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954" y="3894571"/>
                <a:ext cx="51943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497378" y="2446078"/>
                <a:ext cx="451983" cy="381643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378" y="2446078"/>
                <a:ext cx="451983" cy="381643"/>
              </a:xfrm>
              <a:prstGeom prst="rect">
                <a:avLst/>
              </a:prstGeom>
              <a:blipFill>
                <a:blip r:embed="rId19"/>
                <a:stretch>
                  <a:fillRect t="-1587" r="-5405" b="-158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5568342" y="2079746"/>
                <a:ext cx="451983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342" y="2079746"/>
                <a:ext cx="45198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/>
          <p:cNvCxnSpPr>
            <a:stCxn id="50" idx="0"/>
          </p:cNvCxnSpPr>
          <p:nvPr/>
        </p:nvCxnSpPr>
        <p:spPr>
          <a:xfrm flipV="1">
            <a:off x="5040446" y="1265292"/>
            <a:ext cx="0" cy="188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385048" y="2968893"/>
            <a:ext cx="184731" cy="369332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endParaRPr lang="en-IN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233656" y="5808867"/>
            <a:ext cx="1024639" cy="646331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7030A0"/>
                </a:solidFill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GRU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3E5B304-E2C8-498C-B5F8-7CC98EDC60BE}"/>
              </a:ext>
            </a:extLst>
          </p:cNvPr>
          <p:cNvSpPr/>
          <p:nvPr/>
        </p:nvSpPr>
        <p:spPr>
          <a:xfrm>
            <a:off x="8934089" y="3119418"/>
            <a:ext cx="2088232" cy="158417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9CB1B79-FF28-4836-AE78-7A63F3CB76A1}"/>
              </a:ext>
            </a:extLst>
          </p:cNvPr>
          <p:cNvSpPr txBox="1"/>
          <p:nvPr/>
        </p:nvSpPr>
        <p:spPr>
          <a:xfrm>
            <a:off x="9654169" y="3839498"/>
            <a:ext cx="79208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tanh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6AFE56A-18B6-4072-9E45-DFC124B44D78}"/>
              </a:ext>
            </a:extLst>
          </p:cNvPr>
          <p:cNvCxnSpPr/>
          <p:nvPr/>
        </p:nvCxnSpPr>
        <p:spPr>
          <a:xfrm>
            <a:off x="8142001" y="4487570"/>
            <a:ext cx="194421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78F97FF-8BD1-4C50-81D8-3B2B6C7F54CD}"/>
              </a:ext>
            </a:extLst>
          </p:cNvPr>
          <p:cNvCxnSpPr/>
          <p:nvPr/>
        </p:nvCxnSpPr>
        <p:spPr>
          <a:xfrm>
            <a:off x="10446257" y="4055522"/>
            <a:ext cx="93610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173EB62-8778-4D6F-9D23-348037840494}"/>
              </a:ext>
            </a:extLst>
          </p:cNvPr>
          <p:cNvSpPr txBox="1"/>
          <p:nvPr/>
        </p:nvSpPr>
        <p:spPr>
          <a:xfrm>
            <a:off x="10266237" y="2347111"/>
            <a:ext cx="93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i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softmax</a:t>
            </a:r>
            <a:endParaRPr lang="en-IN" i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19E46DB-21F9-4988-8455-A2B4B2591FBA}"/>
              </a:ext>
            </a:extLst>
          </p:cNvPr>
          <p:cNvCxnSpPr/>
          <p:nvPr/>
        </p:nvCxnSpPr>
        <p:spPr>
          <a:xfrm flipV="1">
            <a:off x="10086217" y="4219294"/>
            <a:ext cx="0" cy="864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120A22B-CF72-4A19-AE22-4F1BCDC9BB05}"/>
              </a:ext>
            </a:extLst>
          </p:cNvPr>
          <p:cNvCxnSpPr>
            <a:cxnSpLocks/>
            <a:endCxn id="74" idx="2"/>
          </p:cNvCxnSpPr>
          <p:nvPr/>
        </p:nvCxnSpPr>
        <p:spPr>
          <a:xfrm flipV="1">
            <a:off x="10734289" y="2716443"/>
            <a:ext cx="0" cy="13390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44A50B6-67A3-4D12-B238-607C035A9947}"/>
              </a:ext>
            </a:extLst>
          </p:cNvPr>
          <p:cNvCxnSpPr>
            <a:cxnSpLocks/>
          </p:cNvCxnSpPr>
          <p:nvPr/>
        </p:nvCxnSpPr>
        <p:spPr>
          <a:xfrm flipV="1">
            <a:off x="10734289" y="1843055"/>
            <a:ext cx="0" cy="5040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35892BBC-9513-4151-A107-CC911CA5BA2C}"/>
                  </a:ext>
                </a:extLst>
              </p:cNvPr>
              <p:cNvSpPr/>
              <p:nvPr/>
            </p:nvSpPr>
            <p:spPr>
              <a:xfrm>
                <a:off x="9906197" y="5002062"/>
                <a:ext cx="4465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35892BBC-9513-4151-A107-CC911CA5BA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197" y="5002062"/>
                <a:ext cx="44653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E2367C7-53D0-4059-846F-670A6D01075D}"/>
                  </a:ext>
                </a:extLst>
              </p:cNvPr>
              <p:cNvSpPr/>
              <p:nvPr/>
            </p:nvSpPr>
            <p:spPr>
              <a:xfrm>
                <a:off x="11334105" y="3851076"/>
                <a:ext cx="4535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E2367C7-53D0-4059-846F-670A6D010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4105" y="3851076"/>
                <a:ext cx="45358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EF88425-86FF-4C46-B2F8-FD09B24E3C62}"/>
                  </a:ext>
                </a:extLst>
              </p:cNvPr>
              <p:cNvSpPr/>
              <p:nvPr/>
            </p:nvSpPr>
            <p:spPr>
              <a:xfrm>
                <a:off x="10521648" y="1492229"/>
                <a:ext cx="4482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EF88425-86FF-4C46-B2F8-FD09B24E3C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1648" y="1492229"/>
                <a:ext cx="448200" cy="369332"/>
              </a:xfrm>
              <a:prstGeom prst="rect">
                <a:avLst/>
              </a:prstGeom>
              <a:blipFill>
                <a:blip r:embed="rId2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7B6715C7-75E4-4AB7-90CA-258E48F6B84C}"/>
                  </a:ext>
                </a:extLst>
              </p:cNvPr>
              <p:cNvSpPr/>
              <p:nvPr/>
            </p:nvSpPr>
            <p:spPr>
              <a:xfrm>
                <a:off x="9620001" y="4714058"/>
                <a:ext cx="521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7B6715C7-75E4-4AB7-90CA-258E48F6B8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001" y="4714058"/>
                <a:ext cx="52104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E2ADA6E-81E6-4A18-B95B-67F0BE85F53E}"/>
                  </a:ext>
                </a:extLst>
              </p:cNvPr>
              <p:cNvSpPr/>
              <p:nvPr/>
            </p:nvSpPr>
            <p:spPr>
              <a:xfrm>
                <a:off x="7617618" y="4326835"/>
                <a:ext cx="6731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E2ADA6E-81E6-4A18-B95B-67F0BE85F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7618" y="4326835"/>
                <a:ext cx="673198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59D5557B-9CE4-465B-8DDA-FFF18F699C85}"/>
                  </a:ext>
                </a:extLst>
              </p:cNvPr>
              <p:cNvSpPr/>
              <p:nvPr/>
            </p:nvSpPr>
            <p:spPr>
              <a:xfrm>
                <a:off x="8409792" y="4094308"/>
                <a:ext cx="544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59D5557B-9CE4-465B-8DDA-FFF18F699C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792" y="4094308"/>
                <a:ext cx="544573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3287AC9-BC9A-4151-A410-3844435B26EA}"/>
                  </a:ext>
                </a:extLst>
              </p:cNvPr>
              <p:cNvSpPr/>
              <p:nvPr/>
            </p:nvSpPr>
            <p:spPr>
              <a:xfrm>
                <a:off x="10266237" y="2724592"/>
                <a:ext cx="5202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3287AC9-BC9A-4151-A410-3844435B2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6237" y="2724592"/>
                <a:ext cx="520271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/>
          <p:cNvSpPr txBox="1"/>
          <p:nvPr/>
        </p:nvSpPr>
        <p:spPr>
          <a:xfrm>
            <a:off x="9447305" y="5608374"/>
            <a:ext cx="1002197" cy="646331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7030A0"/>
                </a:solidFill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RNN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649E12C-0A4E-4D3A-B43F-45FDFBAA34D6}"/>
              </a:ext>
            </a:extLst>
          </p:cNvPr>
          <p:cNvSpPr txBox="1"/>
          <p:nvPr/>
        </p:nvSpPr>
        <p:spPr>
          <a:xfrm>
            <a:off x="8099772" y="6498863"/>
            <a:ext cx="4103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Sequence model lecture of Andrew Ng </a:t>
            </a:r>
          </a:p>
        </p:txBody>
      </p:sp>
    </p:spTree>
    <p:extLst>
      <p:ext uri="{BB962C8B-B14F-4D97-AF65-F5344CB8AC3E}">
        <p14:creationId xmlns:p14="http://schemas.microsoft.com/office/powerpoint/2010/main" val="2301872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17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GRU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6073" y="1225296"/>
                <a:ext cx="6149128" cy="5349240"/>
              </a:xfrm>
            </p:spPr>
            <p:txBody>
              <a:bodyPr>
                <a:normAutofit fontScale="70000" lnSpcReduction="20000"/>
              </a:bodyPr>
              <a:lstStyle/>
              <a:p>
                <a:pPr indent="-230400" algn="just">
                  <a:lnSpc>
                    <a:spcPct val="120000"/>
                  </a:lnSpc>
                </a:pPr>
                <a:r>
                  <a:rPr lang="en-US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Update Gate 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): </a:t>
                </a:r>
                <a:r>
                  <a:rPr lang="en-US" dirty="0">
                    <a:latin typeface="Arial Narrow" panose="020B0606020202030204" pitchFamily="34" charset="0"/>
                  </a:rPr>
                  <a:t>Controls how much information from the previous hidden state is retained for the current time step.</a:t>
                </a:r>
              </a:p>
              <a:p>
                <a:pPr marL="914400" lvl="2" indent="-230400" algn="just">
                  <a:lnSpc>
                    <a:spcPct val="120000"/>
                  </a:lnSpc>
                  <a:buNone/>
                </a:pPr>
                <a:endParaRPr lang="en-US" sz="33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914400" lvl="2" indent="-23040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3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33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p>
                      </m:sSubSup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33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3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p>
                      </m:sSubSup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33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3300" dirty="0">
                  <a:solidFill>
                    <a:srgbClr val="7030A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b="1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Reset Gate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 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): </a:t>
                </a:r>
                <a:r>
                  <a:rPr lang="en-US" dirty="0">
                    <a:latin typeface="Arial Narrow" panose="020B0606020202030204" pitchFamily="34" charset="0"/>
                  </a:rPr>
                  <a:t>Controls how much information from the previous hidden state is forgotten when computing the new hidden state.</a:t>
                </a:r>
              </a:p>
              <a:p>
                <a:pPr marL="912600" lvl="2" indent="-230400" algn="just">
                  <a:lnSpc>
                    <a:spcPct val="120000"/>
                  </a:lnSpc>
                  <a:buNone/>
                </a:pPr>
                <a:endParaRPr lang="en-US" sz="33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912600" lvl="2" indent="-23040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3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33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33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3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33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33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33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3300" dirty="0">
                  <a:solidFill>
                    <a:srgbClr val="7030A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These two gates regulate the flow of information, enabling GRUs to capture long-term dependencies more effectively than traditional RNNs, which rely only on the hidden state.</a:t>
                </a:r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073" y="1225296"/>
                <a:ext cx="6149128" cy="5349240"/>
              </a:xfrm>
              <a:blipFill>
                <a:blip r:embed="rId2"/>
                <a:stretch>
                  <a:fillRect l="-893" t="-569" r="-1091" b="-13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8693677" y="2589602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10826876" y="2593662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10826876" y="2975280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10162900" y="3501948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9490037" y="3504266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ounded Rectangle 8"/>
          <p:cNvSpPr/>
          <p:nvPr/>
        </p:nvSpPr>
        <p:spPr>
          <a:xfrm>
            <a:off x="9956144" y="4648039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10826876" y="4640845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8459042" y="4546598"/>
            <a:ext cx="672493" cy="4644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405324" y="4568489"/>
                <a:ext cx="778546" cy="415498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Update </a:t>
                </a:r>
              </a:p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IN" sz="105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𝐭</m:t>
                        </m:r>
                      </m:sub>
                    </m:sSub>
                    <m:r>
                      <a:rPr lang="en-IN" sz="105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105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𝛔</m:t>
                    </m:r>
                  </m:oMath>
                </a14:m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324" y="4568489"/>
                <a:ext cx="778546" cy="415498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10023502" y="2951912"/>
            <a:ext cx="488950" cy="298450"/>
          </a:xfrm>
          <a:prstGeom prst="ellipse">
            <a:avLst/>
          </a:prstGeom>
          <a:solidFill>
            <a:schemeClr val="accent2">
              <a:lumMod val="20000"/>
              <a:lumOff val="80000"/>
              <a:alpha val="28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14" name="TextBox 13"/>
          <p:cNvSpPr txBox="1"/>
          <p:nvPr/>
        </p:nvSpPr>
        <p:spPr>
          <a:xfrm>
            <a:off x="10046511" y="2960991"/>
            <a:ext cx="478016" cy="276999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1200" b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tanh</a:t>
            </a:r>
            <a:endParaRPr lang="en-IN" sz="12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2792" y="2921369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4725" y="3349302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953" y="3450355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2728" y="4581936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8701" y="4488199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58701" y="2462157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9593" y="2545217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0920" y="4027486"/>
            <a:ext cx="672493" cy="4644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7665720" y="2322132"/>
            <a:ext cx="3688080" cy="3453414"/>
          </a:xfrm>
          <a:prstGeom prst="rect">
            <a:avLst/>
          </a:prstGeom>
          <a:solidFill>
            <a:schemeClr val="accent2">
              <a:lumMod val="40000"/>
              <a:lumOff val="60000"/>
              <a:alpha val="17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209798" y="4042103"/>
                <a:ext cx="756554" cy="415498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Reset  </a:t>
                </a:r>
              </a:p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05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𝐫</m:t>
                        </m:r>
                      </m:e>
                      <m:sub>
                        <m:r>
                          <a:rPr lang="en-IN" sz="105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𝐭</m:t>
                        </m:r>
                      </m:sub>
                    </m:sSub>
                    <m:r>
                      <a:rPr lang="en-IN" sz="105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105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𝛔</m:t>
                    </m:r>
                  </m:oMath>
                </a14:m>
                <a:endParaRPr lang="en-IN" sz="105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798" y="4042103"/>
                <a:ext cx="756554" cy="415498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H="1" flipV="1">
            <a:off x="9589928" y="3749183"/>
            <a:ext cx="2910" cy="269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595594" y="4153341"/>
            <a:ext cx="672493" cy="255833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0651337" y="4150065"/>
                <a:ext cx="559512" cy="253916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5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IN" sz="105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05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sz="105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</m:t>
                          </m:r>
                        </m:sub>
                      </m:sSub>
                    </m:oMath>
                  </m:oMathPara>
                </a14:m>
                <a:endParaRPr lang="en-IN" sz="105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337" y="4150065"/>
                <a:ext cx="559512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921961" y="5322574"/>
                <a:ext cx="288675" cy="24622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10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1961" y="5322574"/>
                <a:ext cx="288675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0799386" y="5320404"/>
                <a:ext cx="290464" cy="24622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10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386" y="5320404"/>
                <a:ext cx="290464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endCxn id="4" idx="1"/>
          </p:cNvCxnSpPr>
          <p:nvPr/>
        </p:nvCxnSpPr>
        <p:spPr>
          <a:xfrm>
            <a:off x="6860730" y="2717618"/>
            <a:ext cx="1832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4" idx="3"/>
            <a:endCxn id="5" idx="1"/>
          </p:cNvCxnSpPr>
          <p:nvPr/>
        </p:nvCxnSpPr>
        <p:spPr>
          <a:xfrm>
            <a:off x="8903989" y="2717618"/>
            <a:ext cx="1922887" cy="4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5" idx="3"/>
          </p:cNvCxnSpPr>
          <p:nvPr/>
        </p:nvCxnSpPr>
        <p:spPr>
          <a:xfrm>
            <a:off x="11037188" y="2721678"/>
            <a:ext cx="11109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0"/>
            <a:endCxn id="10" idx="2"/>
          </p:cNvCxnSpPr>
          <p:nvPr/>
        </p:nvCxnSpPr>
        <p:spPr>
          <a:xfrm flipH="1" flipV="1">
            <a:off x="10932032" y="4896877"/>
            <a:ext cx="12586" cy="423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0" idx="0"/>
            <a:endCxn id="26" idx="2"/>
          </p:cNvCxnSpPr>
          <p:nvPr/>
        </p:nvCxnSpPr>
        <p:spPr>
          <a:xfrm flipH="1" flipV="1">
            <a:off x="10931841" y="4409174"/>
            <a:ext cx="191" cy="23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7" idx="0"/>
            <a:endCxn id="6" idx="2"/>
          </p:cNvCxnSpPr>
          <p:nvPr/>
        </p:nvCxnSpPr>
        <p:spPr>
          <a:xfrm flipV="1">
            <a:off x="10931093" y="3231312"/>
            <a:ext cx="939" cy="918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6" idx="0"/>
            <a:endCxn id="5" idx="2"/>
          </p:cNvCxnSpPr>
          <p:nvPr/>
        </p:nvCxnSpPr>
        <p:spPr>
          <a:xfrm flipV="1">
            <a:off x="10932032" y="2849694"/>
            <a:ext cx="0" cy="125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3" idx="6"/>
            <a:endCxn id="6" idx="1"/>
          </p:cNvCxnSpPr>
          <p:nvPr/>
        </p:nvCxnSpPr>
        <p:spPr>
          <a:xfrm>
            <a:off x="10512452" y="3101137"/>
            <a:ext cx="314424" cy="2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579629" y="5993470"/>
                <a:ext cx="444930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629" y="5993470"/>
                <a:ext cx="44493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Elbow Connector 38"/>
          <p:cNvCxnSpPr>
            <a:endCxn id="11" idx="1"/>
          </p:cNvCxnSpPr>
          <p:nvPr/>
        </p:nvCxnSpPr>
        <p:spPr>
          <a:xfrm rot="16200000" flipH="1">
            <a:off x="7119154" y="3438918"/>
            <a:ext cx="2061187" cy="6185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22" idx="1"/>
          </p:cNvCxnSpPr>
          <p:nvPr/>
        </p:nvCxnSpPr>
        <p:spPr>
          <a:xfrm>
            <a:off x="7840452" y="4259695"/>
            <a:ext cx="14004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8" idx="1"/>
          </p:cNvCxnSpPr>
          <p:nvPr/>
        </p:nvCxnSpPr>
        <p:spPr>
          <a:xfrm>
            <a:off x="7840452" y="3629964"/>
            <a:ext cx="1649585" cy="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8" idx="3"/>
            <a:endCxn id="7" idx="1"/>
          </p:cNvCxnSpPr>
          <p:nvPr/>
        </p:nvCxnSpPr>
        <p:spPr>
          <a:xfrm flipV="1">
            <a:off x="9700349" y="3629964"/>
            <a:ext cx="462551" cy="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7" idx="0"/>
            <a:endCxn id="13" idx="4"/>
          </p:cNvCxnSpPr>
          <p:nvPr/>
        </p:nvCxnSpPr>
        <p:spPr>
          <a:xfrm flipH="1" flipV="1">
            <a:off x="10267977" y="3250362"/>
            <a:ext cx="79" cy="251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1" idx="0"/>
            <a:endCxn id="4" idx="2"/>
          </p:cNvCxnSpPr>
          <p:nvPr/>
        </p:nvCxnSpPr>
        <p:spPr>
          <a:xfrm flipV="1">
            <a:off x="8795289" y="2845634"/>
            <a:ext cx="3544" cy="1700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8" idx="0"/>
            <a:endCxn id="11" idx="2"/>
          </p:cNvCxnSpPr>
          <p:nvPr/>
        </p:nvCxnSpPr>
        <p:spPr>
          <a:xfrm flipH="1" flipV="1">
            <a:off x="8795289" y="5011016"/>
            <a:ext cx="6805" cy="982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endCxn id="7" idx="2"/>
          </p:cNvCxnSpPr>
          <p:nvPr/>
        </p:nvCxnSpPr>
        <p:spPr>
          <a:xfrm flipV="1">
            <a:off x="8802094" y="3757980"/>
            <a:ext cx="1465962" cy="14601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1" idx="3"/>
            <a:endCxn id="9" idx="1"/>
          </p:cNvCxnSpPr>
          <p:nvPr/>
        </p:nvCxnSpPr>
        <p:spPr>
          <a:xfrm flipV="1">
            <a:off x="9131535" y="4776055"/>
            <a:ext cx="824609" cy="2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22" idx="2"/>
          </p:cNvCxnSpPr>
          <p:nvPr/>
        </p:nvCxnSpPr>
        <p:spPr>
          <a:xfrm flipH="1" flipV="1">
            <a:off x="9577167" y="4491904"/>
            <a:ext cx="7998" cy="726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0"/>
            <a:endCxn id="9" idx="2"/>
          </p:cNvCxnSpPr>
          <p:nvPr/>
        </p:nvCxnSpPr>
        <p:spPr>
          <a:xfrm flipH="1" flipV="1">
            <a:off x="10061300" y="4904071"/>
            <a:ext cx="4999" cy="41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514971" y="1712509"/>
            <a:ext cx="846707" cy="224704"/>
          </a:xfrm>
          <a:prstGeom prst="rect">
            <a:avLst/>
          </a:prstGeom>
          <a:solidFill>
            <a:schemeClr val="accent6">
              <a:lumMod val="60000"/>
              <a:lumOff val="40000"/>
              <a:alpha val="52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 anchor="ctr" anchorCtr="0">
            <a:noAutofit/>
          </a:bodyPr>
          <a:lstStyle/>
          <a:p>
            <a:r>
              <a:rPr lang="en-IN" sz="1600" b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</a:p>
        </p:txBody>
      </p:sp>
      <p:cxnSp>
        <p:nvCxnSpPr>
          <p:cNvPr id="51" name="Straight Arrow Connector 50"/>
          <p:cNvCxnSpPr>
            <a:stCxn id="5" idx="0"/>
            <a:endCxn id="50" idx="2"/>
          </p:cNvCxnSpPr>
          <p:nvPr/>
        </p:nvCxnSpPr>
        <p:spPr>
          <a:xfrm flipV="1">
            <a:off x="10932032" y="1937213"/>
            <a:ext cx="6293" cy="65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9" idx="3"/>
            <a:endCxn id="10" idx="1"/>
          </p:cNvCxnSpPr>
          <p:nvPr/>
        </p:nvCxnSpPr>
        <p:spPr>
          <a:xfrm flipV="1">
            <a:off x="10166456" y="4768861"/>
            <a:ext cx="660420" cy="7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6860730" y="2296617"/>
                <a:ext cx="67159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730" y="2296617"/>
                <a:ext cx="671594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0428872" y="1921430"/>
                <a:ext cx="518668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872" y="1921430"/>
                <a:ext cx="51866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8706183" y="2992733"/>
                <a:ext cx="430311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183" y="2992733"/>
                <a:ext cx="43031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021093" y="3244947"/>
                <a:ext cx="542969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093" y="3244947"/>
                <a:ext cx="542969" cy="369332"/>
              </a:xfrm>
              <a:prstGeom prst="rect">
                <a:avLst/>
              </a:prstGeom>
              <a:blipFill>
                <a:blip r:embed="rId12"/>
                <a:stretch>
                  <a:fillRect b="-1639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9524268" y="3657866"/>
                <a:ext cx="40735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4268" y="3657866"/>
                <a:ext cx="40735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8815506" y="3939101"/>
                <a:ext cx="405303" cy="28309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506" y="3939101"/>
                <a:ext cx="405303" cy="283091"/>
              </a:xfrm>
              <a:prstGeom prst="rect">
                <a:avLst/>
              </a:prstGeom>
              <a:blipFill>
                <a:blip r:embed="rId14"/>
                <a:stretch>
                  <a:fillRect l="-10448" b="-17021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7894101" y="4488078"/>
                <a:ext cx="406778" cy="276999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b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101" y="4488078"/>
                <a:ext cx="406778" cy="276999"/>
              </a:xfrm>
              <a:prstGeom prst="rect">
                <a:avLst/>
              </a:prstGeom>
              <a:blipFill>
                <a:blip r:embed="rId15"/>
                <a:stretch>
                  <a:fillRect l="-14925" b="-19565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9052361" y="4442712"/>
                <a:ext cx="430311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361" y="4442712"/>
                <a:ext cx="43031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8399350" y="5060216"/>
                <a:ext cx="362150" cy="24622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bSup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350" y="5060216"/>
                <a:ext cx="362150" cy="246221"/>
              </a:xfrm>
              <a:prstGeom prst="rect">
                <a:avLst/>
              </a:prstGeom>
              <a:blipFill>
                <a:blip r:embed="rId17"/>
                <a:stretch>
                  <a:fillRect l="-13559" b="-15000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9556765" y="4891900"/>
                <a:ext cx="345094" cy="24622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765" y="4891900"/>
                <a:ext cx="345094" cy="246221"/>
              </a:xfrm>
              <a:prstGeom prst="rect">
                <a:avLst/>
              </a:prstGeom>
              <a:blipFill>
                <a:blip r:embed="rId18"/>
                <a:stretch>
                  <a:fillRect l="-14286" b="-12195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0154833" y="4153184"/>
                <a:ext cx="519437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4833" y="4153184"/>
                <a:ext cx="51943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10395257" y="2704691"/>
                <a:ext cx="451983" cy="381643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257" y="2704691"/>
                <a:ext cx="451983" cy="381643"/>
              </a:xfrm>
              <a:prstGeom prst="rect">
                <a:avLst/>
              </a:prstGeom>
              <a:blipFill>
                <a:blip r:embed="rId20"/>
                <a:stretch>
                  <a:fillRect t="-1613" r="-6757" b="-1613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11466221" y="2338359"/>
                <a:ext cx="451983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221" y="2338359"/>
                <a:ext cx="45198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/>
          <p:cNvCxnSpPr>
            <a:stCxn id="50" idx="0"/>
          </p:cNvCxnSpPr>
          <p:nvPr/>
        </p:nvCxnSpPr>
        <p:spPr>
          <a:xfrm flipV="1">
            <a:off x="10938325" y="1523905"/>
            <a:ext cx="0" cy="188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649E12C-0A4E-4D3A-B43F-45FDFBAA34D6}"/>
              </a:ext>
            </a:extLst>
          </p:cNvPr>
          <p:cNvSpPr txBox="1"/>
          <p:nvPr/>
        </p:nvSpPr>
        <p:spPr>
          <a:xfrm>
            <a:off x="8099772" y="6498863"/>
            <a:ext cx="4103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Sequence model lecture of Andrew Ng </a:t>
            </a:r>
          </a:p>
        </p:txBody>
      </p:sp>
    </p:spTree>
    <p:extLst>
      <p:ext uri="{BB962C8B-B14F-4D97-AF65-F5344CB8AC3E}">
        <p14:creationId xmlns:p14="http://schemas.microsoft.com/office/powerpoint/2010/main" val="4093281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09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GRU Architecture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2458" y="1523905"/>
                <a:ext cx="6083480" cy="5107714"/>
              </a:xfrm>
            </p:spPr>
            <p:txBody>
              <a:bodyPr>
                <a:normAutofit fontScale="62500" lnSpcReduction="20000"/>
              </a:bodyPr>
              <a:lstStyle/>
              <a:p>
                <a:pPr indent="-230400" algn="just">
                  <a:lnSpc>
                    <a:spcPct val="120000"/>
                  </a:lnSpc>
                </a:pPr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Candidate Hidden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): </a:t>
                </a:r>
                <a:r>
                  <a:rPr lang="en-US" dirty="0">
                    <a:latin typeface="Arial Narrow" panose="020B0606020202030204" pitchFamily="34" charset="0"/>
                  </a:rPr>
                  <a:t>The candidate hidden state represents the new information that can be added to the hidden state based on the current input and the previous hidden state.</a:t>
                </a: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:r>
                  <a:rPr lang="en-US" dirty="0">
                    <a:latin typeface="Arial Narrow" panose="020B060602020203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5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N" sz="35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35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35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35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𝑡𝑎𝑛h</m:t>
                    </m:r>
                    <m:r>
                      <a:rPr lang="en-IN" sz="35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sz="35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35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b>
                      <m:sSubPr>
                        <m:ctrlPr>
                          <a:rPr lang="en-IN" sz="35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sz="35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35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sz="35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sSub>
                      <m:sSubPr>
                        <m:ctrlPr>
                          <a:rPr lang="en-IN" sz="35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IN" sz="35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b>
                      <m:sSubPr>
                        <m:ctrlPr>
                          <a:rPr lang="en-IN" sz="35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sz="35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IN" sz="35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35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:endParaRPr lang="en-US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Hidden state 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): </a:t>
                </a:r>
                <a:r>
                  <a:rPr lang="en-US" dirty="0">
                    <a:latin typeface="Arial Narrow" panose="020B0606020202030204" pitchFamily="34" charset="0"/>
                  </a:rPr>
                  <a:t>The final hidden state is computed by combining the previous hidden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latin typeface="Arial Narrow" panose="020B0606020202030204" pitchFamily="34" charset="0"/>
                  </a:rPr>
                  <a:t>) and the candidate hidden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Arial Narrow" panose="020B0606020202030204" pitchFamily="34" charset="0"/>
                  </a:rPr>
                  <a:t>), with the update 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Arial Narrow" panose="020B0606020202030204" pitchFamily="34" charset="0"/>
                  </a:rPr>
                  <a:t>​) determining how much information is retained from the past and how much is updated with new information.</a:t>
                </a:r>
                <a:endParaRPr lang="en-US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:endParaRPr lang="en-IN" i="1" dirty="0">
                  <a:latin typeface="Arial Narrow" panose="020B0606020202030204" pitchFamily="34" charset="0"/>
                </a:endParaRP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5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IN" sz="35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5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35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35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5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35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35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35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5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35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35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35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35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5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IN" sz="35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5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IN" sz="35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IN" sz="35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35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sz="35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35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35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5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458" y="1523905"/>
                <a:ext cx="6083480" cy="5107714"/>
              </a:xfrm>
              <a:blipFill>
                <a:blip r:embed="rId2"/>
                <a:stretch>
                  <a:fillRect l="-701" t="-358" r="-8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8693677" y="2589602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10826876" y="2593662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10826876" y="2975280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10162900" y="3501948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9490037" y="3504266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ounded Rectangle 8"/>
          <p:cNvSpPr/>
          <p:nvPr/>
        </p:nvSpPr>
        <p:spPr>
          <a:xfrm>
            <a:off x="9956144" y="4648039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10826876" y="4640845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8459042" y="4546598"/>
            <a:ext cx="672493" cy="4644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405324" y="4568489"/>
                <a:ext cx="778546" cy="415498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Update </a:t>
                </a:r>
              </a:p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IN" sz="105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𝐭</m:t>
                        </m:r>
                      </m:sub>
                    </m:sSub>
                    <m:r>
                      <a:rPr lang="en-IN" sz="105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105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𝛔</m:t>
                    </m:r>
                  </m:oMath>
                </a14:m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324" y="4568489"/>
                <a:ext cx="778546" cy="415498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10023502" y="2951912"/>
            <a:ext cx="488950" cy="298450"/>
          </a:xfrm>
          <a:prstGeom prst="ellipse">
            <a:avLst/>
          </a:prstGeom>
          <a:solidFill>
            <a:schemeClr val="accent2">
              <a:lumMod val="20000"/>
              <a:lumOff val="80000"/>
              <a:alpha val="28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14" name="TextBox 13"/>
          <p:cNvSpPr txBox="1"/>
          <p:nvPr/>
        </p:nvSpPr>
        <p:spPr>
          <a:xfrm>
            <a:off x="10046511" y="2960991"/>
            <a:ext cx="478016" cy="276999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1200" b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tanh</a:t>
            </a:r>
            <a:endParaRPr lang="en-IN" sz="12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82792" y="2921369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4725" y="3349302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953" y="3450355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2728" y="4581936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8701" y="4488199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58701" y="2462157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9593" y="2545217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0920" y="4027486"/>
            <a:ext cx="672493" cy="4644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7665720" y="2322132"/>
            <a:ext cx="3688080" cy="3453414"/>
          </a:xfrm>
          <a:prstGeom prst="rect">
            <a:avLst/>
          </a:prstGeom>
          <a:solidFill>
            <a:schemeClr val="accent2">
              <a:lumMod val="40000"/>
              <a:lumOff val="60000"/>
              <a:alpha val="17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209798" y="4042103"/>
                <a:ext cx="756554" cy="415498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Reset  </a:t>
                </a:r>
              </a:p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05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𝐫</m:t>
                        </m:r>
                      </m:e>
                      <m:sub>
                        <m:r>
                          <a:rPr lang="en-IN" sz="105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𝐭</m:t>
                        </m:r>
                      </m:sub>
                    </m:sSub>
                    <m:r>
                      <a:rPr lang="en-IN" sz="105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105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𝛔</m:t>
                    </m:r>
                  </m:oMath>
                </a14:m>
                <a:endParaRPr lang="en-IN" sz="105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798" y="4042103"/>
                <a:ext cx="756554" cy="415498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H="1" flipV="1">
            <a:off x="9589928" y="3749183"/>
            <a:ext cx="2910" cy="269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595594" y="4153341"/>
            <a:ext cx="672493" cy="255833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0651337" y="4150065"/>
                <a:ext cx="559512" cy="253916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5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IN" sz="105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05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sz="105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</m:t>
                          </m:r>
                        </m:sub>
                      </m:sSub>
                    </m:oMath>
                  </m:oMathPara>
                </a14:m>
                <a:endParaRPr lang="en-IN" sz="105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1337" y="4150065"/>
                <a:ext cx="559512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921961" y="5322574"/>
                <a:ext cx="288675" cy="24622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10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1961" y="5322574"/>
                <a:ext cx="288675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0799386" y="5320404"/>
                <a:ext cx="290464" cy="24622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10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386" y="5320404"/>
                <a:ext cx="290464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endCxn id="4" idx="1"/>
          </p:cNvCxnSpPr>
          <p:nvPr/>
        </p:nvCxnSpPr>
        <p:spPr>
          <a:xfrm>
            <a:off x="6860730" y="2717618"/>
            <a:ext cx="1832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4" idx="3"/>
            <a:endCxn id="5" idx="1"/>
          </p:cNvCxnSpPr>
          <p:nvPr/>
        </p:nvCxnSpPr>
        <p:spPr>
          <a:xfrm>
            <a:off x="8903989" y="2717618"/>
            <a:ext cx="1922887" cy="4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5" idx="3"/>
          </p:cNvCxnSpPr>
          <p:nvPr/>
        </p:nvCxnSpPr>
        <p:spPr>
          <a:xfrm>
            <a:off x="11037188" y="2721678"/>
            <a:ext cx="11109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0"/>
            <a:endCxn id="10" idx="2"/>
          </p:cNvCxnSpPr>
          <p:nvPr/>
        </p:nvCxnSpPr>
        <p:spPr>
          <a:xfrm flipH="1" flipV="1">
            <a:off x="10932032" y="4896877"/>
            <a:ext cx="12586" cy="423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0" idx="0"/>
            <a:endCxn id="26" idx="2"/>
          </p:cNvCxnSpPr>
          <p:nvPr/>
        </p:nvCxnSpPr>
        <p:spPr>
          <a:xfrm flipH="1" flipV="1">
            <a:off x="10931841" y="4409174"/>
            <a:ext cx="191" cy="23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7" idx="0"/>
            <a:endCxn id="6" idx="2"/>
          </p:cNvCxnSpPr>
          <p:nvPr/>
        </p:nvCxnSpPr>
        <p:spPr>
          <a:xfrm flipV="1">
            <a:off x="10931093" y="3231312"/>
            <a:ext cx="939" cy="918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6" idx="0"/>
            <a:endCxn id="5" idx="2"/>
          </p:cNvCxnSpPr>
          <p:nvPr/>
        </p:nvCxnSpPr>
        <p:spPr>
          <a:xfrm flipV="1">
            <a:off x="10932032" y="2849694"/>
            <a:ext cx="0" cy="125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3" idx="6"/>
            <a:endCxn id="6" idx="1"/>
          </p:cNvCxnSpPr>
          <p:nvPr/>
        </p:nvCxnSpPr>
        <p:spPr>
          <a:xfrm>
            <a:off x="10512452" y="3101137"/>
            <a:ext cx="314424" cy="2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579629" y="5993470"/>
                <a:ext cx="444930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629" y="5993470"/>
                <a:ext cx="44493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Elbow Connector 38"/>
          <p:cNvCxnSpPr>
            <a:endCxn id="11" idx="1"/>
          </p:cNvCxnSpPr>
          <p:nvPr/>
        </p:nvCxnSpPr>
        <p:spPr>
          <a:xfrm rot="16200000" flipH="1">
            <a:off x="7119154" y="3438918"/>
            <a:ext cx="2061187" cy="6185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22" idx="1"/>
          </p:cNvCxnSpPr>
          <p:nvPr/>
        </p:nvCxnSpPr>
        <p:spPr>
          <a:xfrm>
            <a:off x="7840452" y="4259695"/>
            <a:ext cx="14004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8" idx="1"/>
          </p:cNvCxnSpPr>
          <p:nvPr/>
        </p:nvCxnSpPr>
        <p:spPr>
          <a:xfrm>
            <a:off x="7840452" y="3629964"/>
            <a:ext cx="1649585" cy="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8" idx="3"/>
            <a:endCxn id="7" idx="1"/>
          </p:cNvCxnSpPr>
          <p:nvPr/>
        </p:nvCxnSpPr>
        <p:spPr>
          <a:xfrm flipV="1">
            <a:off x="9700349" y="3629964"/>
            <a:ext cx="462551" cy="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7" idx="0"/>
            <a:endCxn id="13" idx="4"/>
          </p:cNvCxnSpPr>
          <p:nvPr/>
        </p:nvCxnSpPr>
        <p:spPr>
          <a:xfrm flipH="1" flipV="1">
            <a:off x="10267977" y="3250362"/>
            <a:ext cx="79" cy="251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1" idx="0"/>
            <a:endCxn id="4" idx="2"/>
          </p:cNvCxnSpPr>
          <p:nvPr/>
        </p:nvCxnSpPr>
        <p:spPr>
          <a:xfrm flipV="1">
            <a:off x="8795289" y="2845634"/>
            <a:ext cx="3544" cy="1700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8" idx="0"/>
            <a:endCxn id="11" idx="2"/>
          </p:cNvCxnSpPr>
          <p:nvPr/>
        </p:nvCxnSpPr>
        <p:spPr>
          <a:xfrm flipH="1" flipV="1">
            <a:off x="8795289" y="5011016"/>
            <a:ext cx="6805" cy="982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endCxn id="7" idx="2"/>
          </p:cNvCxnSpPr>
          <p:nvPr/>
        </p:nvCxnSpPr>
        <p:spPr>
          <a:xfrm flipV="1">
            <a:off x="8802094" y="3757980"/>
            <a:ext cx="1465962" cy="14601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1" idx="3"/>
            <a:endCxn id="9" idx="1"/>
          </p:cNvCxnSpPr>
          <p:nvPr/>
        </p:nvCxnSpPr>
        <p:spPr>
          <a:xfrm flipV="1">
            <a:off x="9131535" y="4776055"/>
            <a:ext cx="824609" cy="2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22" idx="2"/>
          </p:cNvCxnSpPr>
          <p:nvPr/>
        </p:nvCxnSpPr>
        <p:spPr>
          <a:xfrm flipH="1" flipV="1">
            <a:off x="9577167" y="4491904"/>
            <a:ext cx="7998" cy="726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0"/>
            <a:endCxn id="9" idx="2"/>
          </p:cNvCxnSpPr>
          <p:nvPr/>
        </p:nvCxnSpPr>
        <p:spPr>
          <a:xfrm flipH="1" flipV="1">
            <a:off x="10061300" y="4904071"/>
            <a:ext cx="4999" cy="41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514971" y="1712509"/>
            <a:ext cx="846707" cy="224704"/>
          </a:xfrm>
          <a:prstGeom prst="rect">
            <a:avLst/>
          </a:prstGeom>
          <a:solidFill>
            <a:schemeClr val="accent6">
              <a:lumMod val="60000"/>
              <a:lumOff val="40000"/>
              <a:alpha val="52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 anchor="ctr" anchorCtr="0">
            <a:noAutofit/>
          </a:bodyPr>
          <a:lstStyle/>
          <a:p>
            <a:r>
              <a:rPr lang="en-IN" sz="1600" b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</a:p>
        </p:txBody>
      </p:sp>
      <p:cxnSp>
        <p:nvCxnSpPr>
          <p:cNvPr id="51" name="Straight Arrow Connector 50"/>
          <p:cNvCxnSpPr>
            <a:stCxn id="5" idx="0"/>
            <a:endCxn id="50" idx="2"/>
          </p:cNvCxnSpPr>
          <p:nvPr/>
        </p:nvCxnSpPr>
        <p:spPr>
          <a:xfrm flipV="1">
            <a:off x="10932032" y="1937213"/>
            <a:ext cx="6293" cy="65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9" idx="3"/>
            <a:endCxn id="10" idx="1"/>
          </p:cNvCxnSpPr>
          <p:nvPr/>
        </p:nvCxnSpPr>
        <p:spPr>
          <a:xfrm flipV="1">
            <a:off x="10166456" y="4768861"/>
            <a:ext cx="660420" cy="7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6860730" y="2296617"/>
                <a:ext cx="67159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730" y="2296617"/>
                <a:ext cx="671594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0428872" y="1921430"/>
                <a:ext cx="518668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8872" y="1921430"/>
                <a:ext cx="51866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8706183" y="2992733"/>
                <a:ext cx="430311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183" y="2992733"/>
                <a:ext cx="43031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021093" y="3244947"/>
                <a:ext cx="542969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093" y="3244947"/>
                <a:ext cx="542969" cy="369332"/>
              </a:xfrm>
              <a:prstGeom prst="rect">
                <a:avLst/>
              </a:prstGeom>
              <a:blipFill>
                <a:blip r:embed="rId12"/>
                <a:stretch>
                  <a:fillRect b="-1639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9524268" y="3657866"/>
                <a:ext cx="40735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4268" y="3657866"/>
                <a:ext cx="40735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8815506" y="3939101"/>
                <a:ext cx="405303" cy="28309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506" y="3939101"/>
                <a:ext cx="405303" cy="283091"/>
              </a:xfrm>
              <a:prstGeom prst="rect">
                <a:avLst/>
              </a:prstGeom>
              <a:blipFill>
                <a:blip r:embed="rId14"/>
                <a:stretch>
                  <a:fillRect l="-10448" b="-17021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7894101" y="4488078"/>
                <a:ext cx="406778" cy="276999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b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101" y="4488078"/>
                <a:ext cx="406778" cy="276999"/>
              </a:xfrm>
              <a:prstGeom prst="rect">
                <a:avLst/>
              </a:prstGeom>
              <a:blipFill>
                <a:blip r:embed="rId15"/>
                <a:stretch>
                  <a:fillRect l="-14925" b="-19565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9052361" y="4442712"/>
                <a:ext cx="430311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361" y="4442712"/>
                <a:ext cx="43031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8399350" y="5060216"/>
                <a:ext cx="362150" cy="24622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bSup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350" y="5060216"/>
                <a:ext cx="362150" cy="246221"/>
              </a:xfrm>
              <a:prstGeom prst="rect">
                <a:avLst/>
              </a:prstGeom>
              <a:blipFill>
                <a:blip r:embed="rId17"/>
                <a:stretch>
                  <a:fillRect l="-13559" b="-15000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9556765" y="4891900"/>
                <a:ext cx="345094" cy="24622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765" y="4891900"/>
                <a:ext cx="345094" cy="246221"/>
              </a:xfrm>
              <a:prstGeom prst="rect">
                <a:avLst/>
              </a:prstGeom>
              <a:blipFill>
                <a:blip r:embed="rId18"/>
                <a:stretch>
                  <a:fillRect l="-14286" b="-12195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0154833" y="4153184"/>
                <a:ext cx="519437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4833" y="4153184"/>
                <a:ext cx="51943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10395257" y="2704691"/>
                <a:ext cx="451983" cy="381643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257" y="2704691"/>
                <a:ext cx="451983" cy="381643"/>
              </a:xfrm>
              <a:prstGeom prst="rect">
                <a:avLst/>
              </a:prstGeom>
              <a:blipFill>
                <a:blip r:embed="rId20"/>
                <a:stretch>
                  <a:fillRect t="-1613" r="-6757" b="-1613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11466221" y="2338359"/>
                <a:ext cx="451983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6221" y="2338359"/>
                <a:ext cx="45198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/>
          <p:cNvCxnSpPr>
            <a:stCxn id="50" idx="0"/>
          </p:cNvCxnSpPr>
          <p:nvPr/>
        </p:nvCxnSpPr>
        <p:spPr>
          <a:xfrm flipV="1">
            <a:off x="10938325" y="1523905"/>
            <a:ext cx="0" cy="188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649E12C-0A4E-4D3A-B43F-45FDFBAA34D6}"/>
              </a:ext>
            </a:extLst>
          </p:cNvPr>
          <p:cNvSpPr txBox="1"/>
          <p:nvPr/>
        </p:nvSpPr>
        <p:spPr>
          <a:xfrm>
            <a:off x="8099772" y="6498863"/>
            <a:ext cx="4103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Sequence model lecture of Andrew Ng </a:t>
            </a:r>
          </a:p>
        </p:txBody>
      </p:sp>
    </p:spTree>
    <p:extLst>
      <p:ext uri="{BB962C8B-B14F-4D97-AF65-F5344CB8AC3E}">
        <p14:creationId xmlns:p14="http://schemas.microsoft.com/office/powerpoint/2010/main" val="309921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967" y="217768"/>
            <a:ext cx="10515600" cy="957648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How GRU solves long range dependency issue?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31760" y="174431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Reset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6005" y="1294031"/>
            <a:ext cx="1404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Update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1760" y="2192071"/>
            <a:ext cx="229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New memory content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542" y="1259999"/>
                <a:ext cx="3024931" cy="320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>
                        <m:sSub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>
                        <m:sSub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42" y="1259999"/>
                <a:ext cx="3024931" cy="320601"/>
              </a:xfrm>
              <a:prstGeom prst="rect">
                <a:avLst/>
              </a:prstGeom>
              <a:blipFill>
                <a:blip r:embed="rId3"/>
                <a:stretch>
                  <a:fillRect l="-806" t="-3846" r="-2823" b="-384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400541" y="1700407"/>
                <a:ext cx="3005182" cy="320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>
                        <m:sSub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>
                        <m:sSub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41" y="1700407"/>
                <a:ext cx="3005182" cy="320601"/>
              </a:xfrm>
              <a:prstGeom prst="rect">
                <a:avLst/>
              </a:prstGeom>
              <a:blipFill>
                <a:blip r:embed="rId4"/>
                <a:stretch>
                  <a:fillRect l="-811" t="-3774" r="-2840" b="-358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400542" y="2197535"/>
                <a:ext cx="3225883" cy="321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0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42" y="2197535"/>
                <a:ext cx="3225883" cy="321498"/>
              </a:xfrm>
              <a:prstGeom prst="rect">
                <a:avLst/>
              </a:prstGeom>
              <a:blipFill>
                <a:blip r:embed="rId5"/>
                <a:stretch>
                  <a:fillRect l="-1512" t="-18868" r="-2647" b="-358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400541" y="2730830"/>
                <a:ext cx="3457357" cy="321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541" y="2730830"/>
                <a:ext cx="3457357" cy="321498"/>
              </a:xfrm>
              <a:prstGeom prst="rect">
                <a:avLst/>
              </a:prstGeom>
              <a:blipFill>
                <a:blip r:embed="rId6"/>
                <a:stretch>
                  <a:fillRect l="-1411" t="-20755" r="-6878" b="-169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825579" y="3656423"/>
            <a:ext cx="6516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watching the cartoon channel in the TV,   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very happy.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watching the cartoon channel in the TV, </a:t>
            </a:r>
            <a:r>
              <a:rPr lang="en-I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happy.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92877" y="2391050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ounded Rectangle 15"/>
          <p:cNvSpPr/>
          <p:nvPr/>
        </p:nvSpPr>
        <p:spPr>
          <a:xfrm>
            <a:off x="4426076" y="2395110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ounded Rectangle 16"/>
          <p:cNvSpPr/>
          <p:nvPr/>
        </p:nvSpPr>
        <p:spPr>
          <a:xfrm>
            <a:off x="4426076" y="2776728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ounded Rectangle 17"/>
          <p:cNvSpPr/>
          <p:nvPr/>
        </p:nvSpPr>
        <p:spPr>
          <a:xfrm>
            <a:off x="3762100" y="3303396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ounded Rectangle 18"/>
          <p:cNvSpPr/>
          <p:nvPr/>
        </p:nvSpPr>
        <p:spPr>
          <a:xfrm>
            <a:off x="3089237" y="3305714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ounded Rectangle 19"/>
          <p:cNvSpPr/>
          <p:nvPr/>
        </p:nvSpPr>
        <p:spPr>
          <a:xfrm>
            <a:off x="3555344" y="4449487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ounded Rectangle 20"/>
          <p:cNvSpPr/>
          <p:nvPr/>
        </p:nvSpPr>
        <p:spPr>
          <a:xfrm>
            <a:off x="4426076" y="4442293"/>
            <a:ext cx="210312" cy="256032"/>
          </a:xfrm>
          <a:prstGeom prst="roundRect">
            <a:avLst>
              <a:gd name="adj" fmla="val 42331"/>
            </a:avLst>
          </a:prstGeom>
          <a:solidFill>
            <a:schemeClr val="accent4">
              <a:lumMod val="60000"/>
              <a:lumOff val="40000"/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ounded Rectangle 21"/>
          <p:cNvSpPr/>
          <p:nvPr/>
        </p:nvSpPr>
        <p:spPr>
          <a:xfrm>
            <a:off x="2058242" y="4348046"/>
            <a:ext cx="672493" cy="4644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004524" y="4369937"/>
                <a:ext cx="778546" cy="415498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Update </a:t>
                </a:r>
              </a:p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IN" sz="105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𝐭</m:t>
                        </m:r>
                      </m:sub>
                    </m:sSub>
                    <m:r>
                      <a:rPr lang="en-IN" sz="105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105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𝛔</m:t>
                    </m:r>
                  </m:oMath>
                </a14:m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524" y="4369937"/>
                <a:ext cx="778546" cy="415498"/>
              </a:xfrm>
              <a:prstGeom prst="rect">
                <a:avLst/>
              </a:prstGeom>
              <a:blipFill>
                <a:blip r:embed="rId7"/>
                <a:stretch>
                  <a:fillRect b="-8824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/>
          <p:cNvSpPr/>
          <p:nvPr/>
        </p:nvSpPr>
        <p:spPr>
          <a:xfrm>
            <a:off x="3622702" y="2753360"/>
            <a:ext cx="488950" cy="298450"/>
          </a:xfrm>
          <a:prstGeom prst="ellipse">
            <a:avLst/>
          </a:prstGeom>
          <a:solidFill>
            <a:schemeClr val="accent2">
              <a:lumMod val="20000"/>
              <a:lumOff val="80000"/>
              <a:alpha val="28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25" name="TextBox 24"/>
          <p:cNvSpPr txBox="1"/>
          <p:nvPr/>
        </p:nvSpPr>
        <p:spPr>
          <a:xfrm>
            <a:off x="3645711" y="2762439"/>
            <a:ext cx="478016" cy="276999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1200" b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tanh</a:t>
            </a:r>
            <a:endParaRPr lang="en-IN" sz="12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81992" y="2722817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3925" y="3150750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5153" y="3251803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1928" y="4383384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7901" y="4289647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7901" y="2263605"/>
            <a:ext cx="356188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8793" y="2346665"/>
            <a:ext cx="298480" cy="523220"/>
          </a:xfrm>
          <a:prstGeom prst="rect">
            <a:avLst/>
          </a:prstGeom>
          <a:noFill/>
          <a:ln w="15875">
            <a:noFill/>
          </a:ln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40120" y="3828934"/>
            <a:ext cx="672493" cy="464418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/>
          <p:cNvSpPr/>
          <p:nvPr/>
        </p:nvSpPr>
        <p:spPr>
          <a:xfrm>
            <a:off x="1264920" y="2123580"/>
            <a:ext cx="3688080" cy="3453414"/>
          </a:xfrm>
          <a:prstGeom prst="rect">
            <a:avLst/>
          </a:prstGeom>
          <a:solidFill>
            <a:schemeClr val="accent2">
              <a:lumMod val="40000"/>
              <a:lumOff val="60000"/>
              <a:alpha val="17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808998" y="3843551"/>
                <a:ext cx="756554" cy="415498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Reset  </a:t>
                </a:r>
              </a:p>
              <a:p>
                <a:pPr algn="ctr"/>
                <a:r>
                  <a:rPr lang="en-IN" sz="1050" b="1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05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𝐫</m:t>
                        </m:r>
                      </m:e>
                      <m:sub>
                        <m:r>
                          <a:rPr lang="en-IN" sz="105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𝐭</m:t>
                        </m:r>
                      </m:sub>
                    </m:sSub>
                    <m:r>
                      <a:rPr lang="en-IN" sz="105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105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𝛔</m:t>
                    </m:r>
                  </m:oMath>
                </a14:m>
                <a:endParaRPr lang="en-IN" sz="105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998" y="3843551"/>
                <a:ext cx="756554" cy="415498"/>
              </a:xfrm>
              <a:prstGeom prst="rect">
                <a:avLst/>
              </a:prstGeom>
              <a:blipFill>
                <a:blip r:embed="rId8"/>
                <a:stretch>
                  <a:fillRect b="-8824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H="1" flipV="1">
            <a:off x="3189128" y="3550631"/>
            <a:ext cx="2910" cy="269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94794" y="3954789"/>
            <a:ext cx="672493" cy="255833"/>
          </a:xfrm>
          <a:prstGeom prst="roundRect">
            <a:avLst/>
          </a:prstGeom>
          <a:solidFill>
            <a:schemeClr val="accent3">
              <a:lumMod val="20000"/>
              <a:lumOff val="8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250537" y="3951513"/>
                <a:ext cx="559512" cy="253916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5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IN" sz="105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05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sz="105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</m:t>
                          </m:r>
                        </m:sub>
                      </m:sSub>
                    </m:oMath>
                  </m:oMathPara>
                </a14:m>
                <a:endParaRPr lang="en-IN" sz="105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537" y="3951513"/>
                <a:ext cx="559512" cy="2539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521161" y="5124022"/>
                <a:ext cx="288675" cy="24622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10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161" y="5124022"/>
                <a:ext cx="288675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398586" y="5121852"/>
                <a:ext cx="290464" cy="24622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IN" sz="1000" b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586" y="5121852"/>
                <a:ext cx="290464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endCxn id="15" idx="1"/>
          </p:cNvCxnSpPr>
          <p:nvPr/>
        </p:nvCxnSpPr>
        <p:spPr>
          <a:xfrm>
            <a:off x="459930" y="2519066"/>
            <a:ext cx="1832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5" idx="3"/>
            <a:endCxn id="16" idx="1"/>
          </p:cNvCxnSpPr>
          <p:nvPr/>
        </p:nvCxnSpPr>
        <p:spPr>
          <a:xfrm>
            <a:off x="2503189" y="2519066"/>
            <a:ext cx="1922887" cy="4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6" idx="3"/>
          </p:cNvCxnSpPr>
          <p:nvPr/>
        </p:nvCxnSpPr>
        <p:spPr>
          <a:xfrm>
            <a:off x="4636388" y="2523126"/>
            <a:ext cx="11109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0" idx="0"/>
            <a:endCxn id="21" idx="2"/>
          </p:cNvCxnSpPr>
          <p:nvPr/>
        </p:nvCxnSpPr>
        <p:spPr>
          <a:xfrm flipH="1" flipV="1">
            <a:off x="4531232" y="4698325"/>
            <a:ext cx="12586" cy="423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1" idx="0"/>
            <a:endCxn id="37" idx="2"/>
          </p:cNvCxnSpPr>
          <p:nvPr/>
        </p:nvCxnSpPr>
        <p:spPr>
          <a:xfrm flipH="1" flipV="1">
            <a:off x="4531041" y="4210622"/>
            <a:ext cx="191" cy="23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8" idx="0"/>
            <a:endCxn id="17" idx="2"/>
          </p:cNvCxnSpPr>
          <p:nvPr/>
        </p:nvCxnSpPr>
        <p:spPr>
          <a:xfrm flipV="1">
            <a:off x="4530293" y="3032760"/>
            <a:ext cx="939" cy="918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7" idx="0"/>
            <a:endCxn id="16" idx="2"/>
          </p:cNvCxnSpPr>
          <p:nvPr/>
        </p:nvCxnSpPr>
        <p:spPr>
          <a:xfrm flipV="1">
            <a:off x="4531232" y="2651142"/>
            <a:ext cx="0" cy="125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4" idx="6"/>
            <a:endCxn id="17" idx="1"/>
          </p:cNvCxnSpPr>
          <p:nvPr/>
        </p:nvCxnSpPr>
        <p:spPr>
          <a:xfrm>
            <a:off x="4111652" y="2902585"/>
            <a:ext cx="314424" cy="2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178829" y="5794918"/>
                <a:ext cx="444930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829" y="5794918"/>
                <a:ext cx="44493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Elbow Connector 49"/>
          <p:cNvCxnSpPr>
            <a:endCxn id="22" idx="1"/>
          </p:cNvCxnSpPr>
          <p:nvPr/>
        </p:nvCxnSpPr>
        <p:spPr>
          <a:xfrm rot="16200000" flipH="1">
            <a:off x="718354" y="3240366"/>
            <a:ext cx="2061187" cy="6185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3" idx="1"/>
          </p:cNvCxnSpPr>
          <p:nvPr/>
        </p:nvCxnSpPr>
        <p:spPr>
          <a:xfrm>
            <a:off x="1439652" y="4061143"/>
            <a:ext cx="14004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19" idx="1"/>
          </p:cNvCxnSpPr>
          <p:nvPr/>
        </p:nvCxnSpPr>
        <p:spPr>
          <a:xfrm>
            <a:off x="1439652" y="3431412"/>
            <a:ext cx="1649585" cy="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9" idx="3"/>
            <a:endCxn id="18" idx="1"/>
          </p:cNvCxnSpPr>
          <p:nvPr/>
        </p:nvCxnSpPr>
        <p:spPr>
          <a:xfrm flipV="1">
            <a:off x="3299549" y="3431412"/>
            <a:ext cx="462551" cy="2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8" idx="0"/>
            <a:endCxn id="24" idx="4"/>
          </p:cNvCxnSpPr>
          <p:nvPr/>
        </p:nvCxnSpPr>
        <p:spPr>
          <a:xfrm flipH="1" flipV="1">
            <a:off x="3867177" y="3051810"/>
            <a:ext cx="79" cy="251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22" idx="0"/>
            <a:endCxn id="15" idx="2"/>
          </p:cNvCxnSpPr>
          <p:nvPr/>
        </p:nvCxnSpPr>
        <p:spPr>
          <a:xfrm flipV="1">
            <a:off x="2394489" y="2647082"/>
            <a:ext cx="3544" cy="1700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9" idx="0"/>
            <a:endCxn id="22" idx="2"/>
          </p:cNvCxnSpPr>
          <p:nvPr/>
        </p:nvCxnSpPr>
        <p:spPr>
          <a:xfrm flipH="1" flipV="1">
            <a:off x="2394489" y="4812464"/>
            <a:ext cx="6805" cy="982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endCxn id="18" idx="2"/>
          </p:cNvCxnSpPr>
          <p:nvPr/>
        </p:nvCxnSpPr>
        <p:spPr>
          <a:xfrm flipV="1">
            <a:off x="2401294" y="3559428"/>
            <a:ext cx="1465962" cy="14601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22" idx="3"/>
            <a:endCxn id="20" idx="1"/>
          </p:cNvCxnSpPr>
          <p:nvPr/>
        </p:nvCxnSpPr>
        <p:spPr>
          <a:xfrm flipV="1">
            <a:off x="2730735" y="4577503"/>
            <a:ext cx="824609" cy="2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endCxn id="33" idx="2"/>
          </p:cNvCxnSpPr>
          <p:nvPr/>
        </p:nvCxnSpPr>
        <p:spPr>
          <a:xfrm flipH="1" flipV="1">
            <a:off x="3176367" y="4293352"/>
            <a:ext cx="7998" cy="726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39" idx="0"/>
            <a:endCxn id="20" idx="2"/>
          </p:cNvCxnSpPr>
          <p:nvPr/>
        </p:nvCxnSpPr>
        <p:spPr>
          <a:xfrm flipH="1" flipV="1">
            <a:off x="3660500" y="4705519"/>
            <a:ext cx="4999" cy="41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114171" y="1513957"/>
            <a:ext cx="846707" cy="224704"/>
          </a:xfrm>
          <a:prstGeom prst="rect">
            <a:avLst/>
          </a:prstGeom>
          <a:solidFill>
            <a:schemeClr val="accent6">
              <a:lumMod val="60000"/>
              <a:lumOff val="40000"/>
              <a:alpha val="52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 anchor="ctr" anchorCtr="0">
            <a:noAutofit/>
          </a:bodyPr>
          <a:lstStyle/>
          <a:p>
            <a:r>
              <a:rPr lang="en-IN" sz="1600" b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</a:p>
        </p:txBody>
      </p:sp>
      <p:cxnSp>
        <p:nvCxnSpPr>
          <p:cNvPr id="62" name="Straight Arrow Connector 61"/>
          <p:cNvCxnSpPr>
            <a:stCxn id="16" idx="0"/>
            <a:endCxn id="61" idx="2"/>
          </p:cNvCxnSpPr>
          <p:nvPr/>
        </p:nvCxnSpPr>
        <p:spPr>
          <a:xfrm flipV="1">
            <a:off x="4531232" y="1738661"/>
            <a:ext cx="6293" cy="65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20" idx="3"/>
            <a:endCxn id="21" idx="1"/>
          </p:cNvCxnSpPr>
          <p:nvPr/>
        </p:nvCxnSpPr>
        <p:spPr>
          <a:xfrm flipV="1">
            <a:off x="3765656" y="4570309"/>
            <a:ext cx="660420" cy="7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59930" y="2098065"/>
                <a:ext cx="671594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30" y="2098065"/>
                <a:ext cx="67159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4028072" y="1722878"/>
                <a:ext cx="518668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072" y="1722878"/>
                <a:ext cx="51866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2305383" y="2794181"/>
                <a:ext cx="430311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383" y="2794181"/>
                <a:ext cx="43031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620293" y="3046395"/>
                <a:ext cx="542969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293" y="3046395"/>
                <a:ext cx="542969" cy="369332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3123468" y="3459314"/>
                <a:ext cx="40735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468" y="3459314"/>
                <a:ext cx="40735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2414706" y="3740549"/>
                <a:ext cx="405303" cy="28309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706" y="3740549"/>
                <a:ext cx="405303" cy="283091"/>
              </a:xfrm>
              <a:prstGeom prst="rect">
                <a:avLst/>
              </a:prstGeom>
              <a:blipFill>
                <a:blip r:embed="rId18"/>
                <a:stretch>
                  <a:fillRect l="-10448" b="-19565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1493301" y="4289526"/>
                <a:ext cx="406778" cy="276999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bSup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301" y="4289526"/>
                <a:ext cx="406778" cy="276999"/>
              </a:xfrm>
              <a:prstGeom prst="rect">
                <a:avLst/>
              </a:prstGeom>
              <a:blipFill>
                <a:blip r:embed="rId19"/>
                <a:stretch>
                  <a:fillRect l="-14925" b="-22222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651561" y="4244160"/>
                <a:ext cx="430311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561" y="4244160"/>
                <a:ext cx="43031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1998550" y="4861664"/>
                <a:ext cx="362150" cy="24622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bSup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550" y="4861664"/>
                <a:ext cx="362150" cy="246221"/>
              </a:xfrm>
              <a:prstGeom prst="rect">
                <a:avLst/>
              </a:prstGeom>
              <a:blipFill>
                <a:blip r:embed="rId21"/>
                <a:stretch>
                  <a:fillRect l="-13559" b="-12500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3155965" y="4693348"/>
                <a:ext cx="345094" cy="246221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965" y="4693348"/>
                <a:ext cx="345094" cy="246221"/>
              </a:xfrm>
              <a:prstGeom prst="rect">
                <a:avLst/>
              </a:prstGeom>
              <a:blipFill>
                <a:blip r:embed="rId22"/>
                <a:stretch>
                  <a:fillRect l="-14286" b="-12500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3754033" y="3954632"/>
                <a:ext cx="519437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4033" y="3954632"/>
                <a:ext cx="519437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3994457" y="2506139"/>
                <a:ext cx="451983" cy="381643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457" y="2506139"/>
                <a:ext cx="451983" cy="381643"/>
              </a:xfrm>
              <a:prstGeom prst="rect">
                <a:avLst/>
              </a:prstGeom>
              <a:blipFill>
                <a:blip r:embed="rId24"/>
                <a:stretch>
                  <a:fillRect t="-1587" r="-6757" b="-158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5065421" y="2073132"/>
                <a:ext cx="451983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5421" y="2073132"/>
                <a:ext cx="451983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/>
          <p:cNvCxnSpPr>
            <a:stCxn id="61" idx="0"/>
          </p:cNvCxnSpPr>
          <p:nvPr/>
        </p:nvCxnSpPr>
        <p:spPr>
          <a:xfrm flipV="1">
            <a:off x="4537525" y="1325353"/>
            <a:ext cx="0" cy="188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6217920" y="3493551"/>
            <a:ext cx="613819" cy="1184029"/>
          </a:xfrm>
          <a:prstGeom prst="roundRect">
            <a:avLst/>
          </a:prstGeom>
          <a:solidFill>
            <a:srgbClr val="0070C0">
              <a:alpha val="2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ounded Rectangle 78"/>
          <p:cNvSpPr/>
          <p:nvPr/>
        </p:nvSpPr>
        <p:spPr>
          <a:xfrm>
            <a:off x="10359869" y="3551801"/>
            <a:ext cx="475771" cy="1184029"/>
          </a:xfrm>
          <a:prstGeom prst="roundRect">
            <a:avLst/>
          </a:prstGeom>
          <a:solidFill>
            <a:srgbClr val="0070C0">
              <a:alpha val="2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ight Bracket 79"/>
          <p:cNvSpPr/>
          <p:nvPr/>
        </p:nvSpPr>
        <p:spPr>
          <a:xfrm rot="5400000">
            <a:off x="8416491" y="3052018"/>
            <a:ext cx="358626" cy="3282696"/>
          </a:xfrm>
          <a:prstGeom prst="rightBracket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3" name="Straight Arrow Connector 82"/>
          <p:cNvCxnSpPr>
            <a:stCxn id="78" idx="2"/>
            <a:endCxn id="93" idx="0"/>
          </p:cNvCxnSpPr>
          <p:nvPr/>
        </p:nvCxnSpPr>
        <p:spPr>
          <a:xfrm>
            <a:off x="6524830" y="4677580"/>
            <a:ext cx="13582" cy="695250"/>
          </a:xfrm>
          <a:prstGeom prst="straightConnector1">
            <a:avLst/>
          </a:prstGeom>
          <a:ln w="19050"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0" idx="2"/>
            <a:endCxn id="94" idx="0"/>
          </p:cNvCxnSpPr>
          <p:nvPr/>
        </p:nvCxnSpPr>
        <p:spPr>
          <a:xfrm>
            <a:off x="8595804" y="4872679"/>
            <a:ext cx="204" cy="509784"/>
          </a:xfrm>
          <a:prstGeom prst="straightConnector1">
            <a:avLst/>
          </a:prstGeom>
          <a:ln w="19050"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79" idx="2"/>
            <a:endCxn id="95" idx="0"/>
          </p:cNvCxnSpPr>
          <p:nvPr/>
        </p:nvCxnSpPr>
        <p:spPr>
          <a:xfrm flipH="1">
            <a:off x="10597754" y="4735830"/>
            <a:ext cx="1" cy="675880"/>
          </a:xfrm>
          <a:prstGeom prst="straightConnector1">
            <a:avLst/>
          </a:prstGeom>
          <a:ln w="19050">
            <a:solidFill>
              <a:srgbClr val="FF00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/>
              <p:cNvSpPr/>
              <p:nvPr/>
            </p:nvSpPr>
            <p:spPr>
              <a:xfrm>
                <a:off x="6093482" y="5372830"/>
                <a:ext cx="88985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9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3" name="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482" y="5372830"/>
                <a:ext cx="889859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Rectangle 93"/>
              <p:cNvSpPr/>
              <p:nvPr/>
            </p:nvSpPr>
            <p:spPr>
              <a:xfrm>
                <a:off x="8203721" y="5382463"/>
                <a:ext cx="784574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9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dirty="0"/>
                  <a:t>1</a:t>
                </a:r>
              </a:p>
            </p:txBody>
          </p:sp>
        </mc:Choice>
        <mc:Fallback xmlns="">
          <p:sp>
            <p:nvSpPr>
              <p:cNvPr id="94" name="Rectangle 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721" y="5382463"/>
                <a:ext cx="784574" cy="369332"/>
              </a:xfrm>
              <a:prstGeom prst="rect">
                <a:avLst/>
              </a:prstGeom>
              <a:blipFill>
                <a:blip r:embed="rId27"/>
                <a:stretch>
                  <a:fillRect t="-7937" r="-4615" b="-22222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10152824" y="5411710"/>
                <a:ext cx="889859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9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824" y="5411710"/>
                <a:ext cx="889859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4964837" y="5969805"/>
                <a:ext cx="67836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When               ,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so maintaining the previous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valuesa</a:t>
                </a: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837" y="5969805"/>
                <a:ext cx="6783679" cy="369332"/>
              </a:xfrm>
              <a:prstGeom prst="rect">
                <a:avLst/>
              </a:prstGeom>
              <a:blipFill>
                <a:blip r:embed="rId29"/>
                <a:stretch>
                  <a:fillRect l="-719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/>
              <p:cNvSpPr/>
              <p:nvPr/>
            </p:nvSpPr>
            <p:spPr>
              <a:xfrm>
                <a:off x="5504822" y="5969805"/>
                <a:ext cx="8615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7" name="Rectangle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822" y="5969805"/>
                <a:ext cx="861518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5649E12C-0A4E-4D3A-B43F-45FDFBAA34D6}"/>
              </a:ext>
            </a:extLst>
          </p:cNvPr>
          <p:cNvSpPr txBox="1"/>
          <p:nvPr/>
        </p:nvSpPr>
        <p:spPr>
          <a:xfrm>
            <a:off x="8099772" y="6498863"/>
            <a:ext cx="4103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Sequence model lecture of Andrew Ng </a:t>
            </a:r>
          </a:p>
        </p:txBody>
      </p:sp>
    </p:spTree>
    <p:extLst>
      <p:ext uri="{BB962C8B-B14F-4D97-AF65-F5344CB8AC3E}">
        <p14:creationId xmlns:p14="http://schemas.microsoft.com/office/powerpoint/2010/main" val="187364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3060</Words>
  <Application>Microsoft Office PowerPoint</Application>
  <PresentationFormat>Widescreen</PresentationFormat>
  <Paragraphs>629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Arial Narrow</vt:lpstr>
      <vt:lpstr>Baskerville Old Face</vt:lpstr>
      <vt:lpstr>Book Antiqua</vt:lpstr>
      <vt:lpstr>Calibri</vt:lpstr>
      <vt:lpstr>Calibri Light</vt:lpstr>
      <vt:lpstr>Cambria Math</vt:lpstr>
      <vt:lpstr>Century</vt:lpstr>
      <vt:lpstr>Times New Roman</vt:lpstr>
      <vt:lpstr>Verdana</vt:lpstr>
      <vt:lpstr>Office Theme</vt:lpstr>
      <vt:lpstr>     Sequence Modeling - II  </vt:lpstr>
      <vt:lpstr>Content</vt:lpstr>
      <vt:lpstr>Sequence 2 Sequence Model using RNN/LSTM</vt:lpstr>
      <vt:lpstr>Sequence 2 Sequence Model using RNN/LSTM</vt:lpstr>
      <vt:lpstr>Problems with this approach</vt:lpstr>
      <vt:lpstr>Attention</vt:lpstr>
      <vt:lpstr>Attention</vt:lpstr>
      <vt:lpstr>Attention</vt:lpstr>
      <vt:lpstr>Problems with Context-based Seq2Seq Models</vt:lpstr>
      <vt:lpstr>How Attention Solves This?</vt:lpstr>
      <vt:lpstr>How to Compute Attention (Context Vector)?</vt:lpstr>
      <vt:lpstr>How to Compute Attention (Context Vector)? Iteration One</vt:lpstr>
      <vt:lpstr>How to Compute Attention (Context Vector)? Iteration Two</vt:lpstr>
      <vt:lpstr>How to Compute Attention (Context Vector)? Iteration Three</vt:lpstr>
      <vt:lpstr>How to Compute Attention (Context Vector)? Iteration Four</vt:lpstr>
      <vt:lpstr>Summery</vt:lpstr>
      <vt:lpstr>Generative AI for Vision Tasks </vt:lpstr>
      <vt:lpstr>Attention</vt:lpstr>
      <vt:lpstr>Attention in Sequence-to-Sequence (Seq2Seq) Models</vt:lpstr>
      <vt:lpstr>How Attention Solves This?</vt:lpstr>
      <vt:lpstr>Gated Recurrent Unit (GRU) Kyunghyun Cho, 2014</vt:lpstr>
      <vt:lpstr>Gated Recurrent Unit (GRU)</vt:lpstr>
      <vt:lpstr>The Naïve RNN Vs. GRU</vt:lpstr>
      <vt:lpstr>GRU Architecture</vt:lpstr>
      <vt:lpstr>GRU Architecture</vt:lpstr>
      <vt:lpstr>How GRU solves long range dependency issue?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Sequence Modeling - II  </dc:title>
  <dc:creator>IITG</dc:creator>
  <cp:lastModifiedBy>HP</cp:lastModifiedBy>
  <cp:revision>12</cp:revision>
  <dcterms:created xsi:type="dcterms:W3CDTF">2026-08-03T07:10:30Z</dcterms:created>
  <dcterms:modified xsi:type="dcterms:W3CDTF">2026-08-11T17:05:53Z</dcterms:modified>
</cp:coreProperties>
</file>