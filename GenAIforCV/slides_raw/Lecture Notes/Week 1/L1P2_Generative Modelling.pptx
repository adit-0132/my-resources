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8" r:id="rId3"/>
    <p:sldId id="269" r:id="rId4"/>
    <p:sldId id="380" r:id="rId5"/>
    <p:sldId id="357" r:id="rId6"/>
    <p:sldId id="358" r:id="rId7"/>
    <p:sldId id="359" r:id="rId8"/>
    <p:sldId id="360" r:id="rId9"/>
    <p:sldId id="361" r:id="rId10"/>
    <p:sldId id="362" r:id="rId11"/>
    <p:sldId id="363" r:id="rId12"/>
    <p:sldId id="365" r:id="rId13"/>
    <p:sldId id="364" r:id="rId14"/>
    <p:sldId id="368" r:id="rId15"/>
    <p:sldId id="369" r:id="rId16"/>
    <p:sldId id="366" r:id="rId17"/>
    <p:sldId id="370" r:id="rId18"/>
    <p:sldId id="371" r:id="rId19"/>
    <p:sldId id="374" r:id="rId20"/>
    <p:sldId id="382" r:id="rId21"/>
    <p:sldId id="383" r:id="rId22"/>
    <p:sldId id="377" r:id="rId23"/>
    <p:sldId id="384"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F4E06-936C-4C9A-A443-CCF57BAF2A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AFD70C-4F7B-465C-A52C-EF37965AD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2793F44-4EEA-4866-8C31-3611075388DB}"/>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5" name="Footer Placeholder 4">
            <a:extLst>
              <a:ext uri="{FF2B5EF4-FFF2-40B4-BE49-F238E27FC236}">
                <a16:creationId xmlns:a16="http://schemas.microsoft.com/office/drawing/2014/main" id="{3756C2EB-1B9D-44CB-9F78-DB5DA09317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C8115F-3574-4C94-851D-247364DA6F7B}"/>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2713233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C01B-C3EF-4B0F-B965-019AD66C87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781B5C-65B8-4D2F-8DF7-CC194551FC8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579556-A9DE-485C-B840-E03395B6F1E4}"/>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5" name="Footer Placeholder 4">
            <a:extLst>
              <a:ext uri="{FF2B5EF4-FFF2-40B4-BE49-F238E27FC236}">
                <a16:creationId xmlns:a16="http://schemas.microsoft.com/office/drawing/2014/main" id="{0AC00451-7760-43ED-A054-C6EB7E08A0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573544-0041-4CDD-A487-58795ADABF8E}"/>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1963800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D719-6087-4504-8365-49BEC4E984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FCC250B-51C0-4E7C-94F7-F302CA10F0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82C47AE-82F6-48D8-A070-2CB3FE6925B8}"/>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5" name="Footer Placeholder 4">
            <a:extLst>
              <a:ext uri="{FF2B5EF4-FFF2-40B4-BE49-F238E27FC236}">
                <a16:creationId xmlns:a16="http://schemas.microsoft.com/office/drawing/2014/main" id="{CA65E7FF-7B62-43A6-A04E-A1DCB09B34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9B26AB-2D35-4161-AE32-981840AD7E0C}"/>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16496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7B9E7-B522-4DF7-8144-4AEF67BBEA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D72D84-1C16-440F-BF0E-14BBC2879B7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6766E0-6A67-44BA-A647-E03D7A4AA9B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517FA0-25AA-4B2F-A8E8-743C7E33556A}"/>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6" name="Footer Placeholder 5">
            <a:extLst>
              <a:ext uri="{FF2B5EF4-FFF2-40B4-BE49-F238E27FC236}">
                <a16:creationId xmlns:a16="http://schemas.microsoft.com/office/drawing/2014/main" id="{3DE146DA-38F8-4685-A520-C570B28C6B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39A5D1-F2BF-4E2C-AB6A-920F6317B4FC}"/>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1485070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7FFAB-7138-4AF2-8D3E-6F153E9FF3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F0C684-991E-41DB-8F1C-626C9A68A9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BBEDF53-0238-42AC-A3FE-3E20AD339D1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AAB0F5-756C-4193-9141-1210DFF98F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6C8BEC2-FE44-4C36-BA69-C5077A51962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D026CB-0CDB-43D5-BD12-CCE17812809A}"/>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8" name="Footer Placeholder 7">
            <a:extLst>
              <a:ext uri="{FF2B5EF4-FFF2-40B4-BE49-F238E27FC236}">
                <a16:creationId xmlns:a16="http://schemas.microsoft.com/office/drawing/2014/main" id="{475CEBCB-C026-4A0C-9F82-6CE5EB7A58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5C2B47-62E9-4BC3-B4B5-FA667F08E728}"/>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4138887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73F13-E582-4CA7-B722-56DFCCD90E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4DF4CA-E518-4372-A8D0-636A03DDF1F4}"/>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4" name="Footer Placeholder 3">
            <a:extLst>
              <a:ext uri="{FF2B5EF4-FFF2-40B4-BE49-F238E27FC236}">
                <a16:creationId xmlns:a16="http://schemas.microsoft.com/office/drawing/2014/main" id="{BEDC39A2-F53A-4FAE-A4CE-6165265958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9D27E8-3F14-4D4E-AE05-AA951902D3F3}"/>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2562823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95949-897E-4B9C-A106-283AFC0E370B}"/>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3" name="Footer Placeholder 2">
            <a:extLst>
              <a:ext uri="{FF2B5EF4-FFF2-40B4-BE49-F238E27FC236}">
                <a16:creationId xmlns:a16="http://schemas.microsoft.com/office/drawing/2014/main" id="{AFF1F60A-BE53-43D9-9040-A4E6406D9A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96DC14C-A7E8-4160-B40A-DB36BC853C03}"/>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1796242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2D790-E5F8-42D0-BA67-3958DDB990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71023F5-43BF-4431-9350-14A466C380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3D9348-3355-49C8-A3AA-6CFC874FB6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F10BBA2-D033-477F-8557-B0E882A61962}"/>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6" name="Footer Placeholder 5">
            <a:extLst>
              <a:ext uri="{FF2B5EF4-FFF2-40B4-BE49-F238E27FC236}">
                <a16:creationId xmlns:a16="http://schemas.microsoft.com/office/drawing/2014/main" id="{FEE8C1BD-FCA6-43DA-B0EC-4CB5EE63EE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315B8A-8698-405F-9BBD-FD27CA8BCD8E}"/>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2277592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C1990-F896-4D0E-8CC1-9C72E90432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23B6FC-E596-4305-A611-22023BB578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EFCD49C-5311-4BF0-9E50-610ED66D8C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ACEB5A4-6215-4578-8510-94D65C5AFB5E}"/>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6" name="Footer Placeholder 5">
            <a:extLst>
              <a:ext uri="{FF2B5EF4-FFF2-40B4-BE49-F238E27FC236}">
                <a16:creationId xmlns:a16="http://schemas.microsoft.com/office/drawing/2014/main" id="{420DD5B0-C788-453F-BA4C-99CA4428EE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62FD6D-2C20-4ABA-88C3-CAFDFF4FE293}"/>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19641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08DC1-B458-41D3-BC8F-C2ADEE7BEA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0EB1A4-DBDF-48DE-A778-52A58699D30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87BDE5-3626-4AC0-B63F-709921DE0F68}"/>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5" name="Footer Placeholder 4">
            <a:extLst>
              <a:ext uri="{FF2B5EF4-FFF2-40B4-BE49-F238E27FC236}">
                <a16:creationId xmlns:a16="http://schemas.microsoft.com/office/drawing/2014/main" id="{E64B6FA1-98C8-499A-B26E-F5E951AC82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BD3015-BC23-411D-9E7A-B8F200574604}"/>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997959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74D25-CE9D-41FE-8483-80D88096AF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C3B9D7-F349-4ACA-A244-43632C4B3D6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247345-7C67-4ECA-8CA1-3B37CAF6F6EC}"/>
              </a:ext>
            </a:extLst>
          </p:cNvPr>
          <p:cNvSpPr>
            <a:spLocks noGrp="1"/>
          </p:cNvSpPr>
          <p:nvPr>
            <p:ph type="dt" sz="half" idx="10"/>
          </p:nvPr>
        </p:nvSpPr>
        <p:spPr/>
        <p:txBody>
          <a:bodyPr/>
          <a:lstStyle/>
          <a:p>
            <a:fld id="{6F6C755A-AA41-4886-BC50-F49AAAEC7E81}" type="datetimeFigureOut">
              <a:rPr lang="en-IN" smtClean="0"/>
              <a:t>08-07-2026</a:t>
            </a:fld>
            <a:endParaRPr lang="en-IN"/>
          </a:p>
        </p:txBody>
      </p:sp>
      <p:sp>
        <p:nvSpPr>
          <p:cNvPr id="5" name="Footer Placeholder 4">
            <a:extLst>
              <a:ext uri="{FF2B5EF4-FFF2-40B4-BE49-F238E27FC236}">
                <a16:creationId xmlns:a16="http://schemas.microsoft.com/office/drawing/2014/main" id="{CC32B8BE-F80D-40E7-A9A7-304DF9850A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860068-535F-41C2-A0CC-3F374DA2500C}"/>
              </a:ext>
            </a:extLst>
          </p:cNvPr>
          <p:cNvSpPr>
            <a:spLocks noGrp="1"/>
          </p:cNvSpPr>
          <p:nvPr>
            <p:ph type="sldNum" sz="quarter" idx="12"/>
          </p:nvPr>
        </p:nvSpPr>
        <p:spPr/>
        <p:txBody>
          <a:bodyPr/>
          <a:lstStyle/>
          <a:p>
            <a:fld id="{B1B04C4F-EDD3-4605-906D-8510B88DEA61}" type="slidenum">
              <a:rPr lang="en-IN" smtClean="0"/>
              <a:t>‹#›</a:t>
            </a:fld>
            <a:endParaRPr lang="en-IN"/>
          </a:p>
        </p:txBody>
      </p:sp>
    </p:spTree>
    <p:extLst>
      <p:ext uri="{BB962C8B-B14F-4D97-AF65-F5344CB8AC3E}">
        <p14:creationId xmlns:p14="http://schemas.microsoft.com/office/powerpoint/2010/main" val="3031208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EBB02E-948F-4DE1-9855-73C0AD7904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8DE8AA-240B-423E-842F-7141E76B1A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93423D-A803-45E0-842B-E849EF7787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6C755A-AA41-4886-BC50-F49AAAEC7E81}" type="datetimeFigureOut">
              <a:rPr lang="en-IN" smtClean="0"/>
              <a:t>08-07-2026</a:t>
            </a:fld>
            <a:endParaRPr lang="en-IN"/>
          </a:p>
        </p:txBody>
      </p:sp>
      <p:sp>
        <p:nvSpPr>
          <p:cNvPr id="5" name="Footer Placeholder 4">
            <a:extLst>
              <a:ext uri="{FF2B5EF4-FFF2-40B4-BE49-F238E27FC236}">
                <a16:creationId xmlns:a16="http://schemas.microsoft.com/office/drawing/2014/main" id="{A2076B3C-6A23-4BBB-87B9-BD266E40CB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74A177-F4D2-4FEA-9390-A31AD72758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B04C4F-EDD3-4605-906D-8510B88DEA61}" type="slidenum">
              <a:rPr lang="en-IN" smtClean="0"/>
              <a:t>‹#›</a:t>
            </a:fld>
            <a:endParaRPr lang="en-IN"/>
          </a:p>
        </p:txBody>
      </p:sp>
    </p:spTree>
    <p:extLst>
      <p:ext uri="{BB962C8B-B14F-4D97-AF65-F5344CB8AC3E}">
        <p14:creationId xmlns:p14="http://schemas.microsoft.com/office/powerpoint/2010/main" val="1160400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jpe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png"/><Relationship Id="rId1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8" Type="http://schemas.openxmlformats.org/officeDocument/2006/relationships/image" Target="../media/image27.jpg"/><Relationship Id="rId13" Type="http://schemas.openxmlformats.org/officeDocument/2006/relationships/image" Target="../media/image32.jpg"/><Relationship Id="rId3" Type="http://schemas.openxmlformats.org/officeDocument/2006/relationships/image" Target="../media/image34.png"/><Relationship Id="rId7" Type="http://schemas.openxmlformats.org/officeDocument/2006/relationships/image" Target="../media/image26.jpg"/><Relationship Id="rId12" Type="http://schemas.openxmlformats.org/officeDocument/2006/relationships/image" Target="../media/image31.jp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25.jpg"/><Relationship Id="rId11" Type="http://schemas.openxmlformats.org/officeDocument/2006/relationships/image" Target="../media/image30.jpg"/><Relationship Id="rId5" Type="http://schemas.openxmlformats.org/officeDocument/2006/relationships/image" Target="../media/image24.jpg"/><Relationship Id="rId10" Type="http://schemas.openxmlformats.org/officeDocument/2006/relationships/image" Target="../media/image29.jpg"/><Relationship Id="rId4" Type="http://schemas.openxmlformats.org/officeDocument/2006/relationships/image" Target="../media/image23.jpeg"/><Relationship Id="rId9" Type="http://schemas.openxmlformats.org/officeDocument/2006/relationships/image" Target="../media/image28.jpg"/><Relationship Id="rId14" Type="http://schemas.openxmlformats.org/officeDocument/2006/relationships/image" Target="../media/image3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543688"/>
            <a:ext cx="9144000" cy="2387600"/>
          </a:xfrm>
        </p:spPr>
        <p:txBody>
          <a:bodyPr>
            <a:normAutofit/>
          </a:bodyPr>
          <a:lstStyle/>
          <a:p>
            <a:r>
              <a:rPr lang="en-IN" sz="4000" dirty="0">
                <a:solidFill>
                  <a:srgbClr val="002060"/>
                </a:solidFill>
                <a:latin typeface="Arial Narrow" panose="020B0606020202030204" pitchFamily="34" charset="0"/>
              </a:rPr>
              <a:t>Generative Modelling</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1</a:t>
            </a:r>
          </a:p>
          <a:p>
            <a:pPr algn="ctr"/>
            <a:endParaRPr lang="en-IN" sz="2800" dirty="0">
              <a:latin typeface="Arial Narrow" panose="020B0606020202030204" pitchFamily="34" charset="0"/>
            </a:endParaRPr>
          </a:p>
          <a:p>
            <a:pPr algn="ctr"/>
            <a:r>
              <a:rPr lang="en-IN" sz="2800">
                <a:latin typeface="Arial Narrow" panose="020B0606020202030204" pitchFamily="34" charset="0"/>
              </a:rPr>
              <a:t>Part 2</a:t>
            </a:r>
            <a:endParaRPr lang="en-IN" sz="2800" dirty="0">
              <a:latin typeface="Arial Narrow" panose="020B0606020202030204" pitchFamily="34" charset="0"/>
            </a:endParaRP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77B3-BB0C-E8EF-D796-A0B6C8D4107F}"/>
              </a:ext>
            </a:extLst>
          </p:cNvPr>
          <p:cNvSpPr>
            <a:spLocks noGrp="1"/>
          </p:cNvSpPr>
          <p:nvPr>
            <p:ph type="title"/>
          </p:nvPr>
        </p:nvSpPr>
        <p:spPr/>
        <p:txBody>
          <a:bodyPr>
            <a:normAutofit/>
          </a:bodyPr>
          <a:lstStyle/>
          <a:p>
            <a:r>
              <a:rPr lang="en-US" sz="3600" dirty="0">
                <a:latin typeface="Century" panose="02040604050505020304" pitchFamily="18" charset="0"/>
                <a:ea typeface="Calibri Light"/>
                <a:cs typeface="Calibri Light"/>
              </a:rPr>
              <a:t>Content</a:t>
            </a:r>
          </a:p>
        </p:txBody>
      </p:sp>
      <p:sp>
        <p:nvSpPr>
          <p:cNvPr id="3" name="Content Placeholder 2">
            <a:extLst>
              <a:ext uri="{FF2B5EF4-FFF2-40B4-BE49-F238E27FC236}">
                <a16:creationId xmlns:a16="http://schemas.microsoft.com/office/drawing/2014/main" id="{79001286-9349-A4FD-CF1F-79D5D7F990F7}"/>
              </a:ext>
            </a:extLst>
          </p:cNvPr>
          <p:cNvSpPr>
            <a:spLocks noGrp="1"/>
          </p:cNvSpPr>
          <p:nvPr>
            <p:ph idx="1"/>
          </p:nvPr>
        </p:nvSpPr>
        <p:spPr/>
        <p:txBody>
          <a:bodyPr vert="horz" lIns="91440" tIns="45720" rIns="91440" bIns="45720" rtlCol="0" anchor="t">
            <a:normAutofit/>
          </a:bodyPr>
          <a:lstStyle/>
          <a:p>
            <a:r>
              <a:rPr lang="en-US" sz="2200" dirty="0">
                <a:latin typeface="Arial Narrow" panose="020B0606020202030204" pitchFamily="34" charset="0"/>
                <a:ea typeface="+mn-lt"/>
                <a:cs typeface="+mn-lt"/>
              </a:rPr>
              <a:t>Generative Modelling</a:t>
            </a:r>
          </a:p>
          <a:p>
            <a:endParaRPr lang="en-US" sz="2200" dirty="0">
              <a:latin typeface="Arial Narrow" panose="020B0606020202030204" pitchFamily="34" charset="0"/>
              <a:ea typeface="+mn-lt"/>
              <a:cs typeface="+mn-lt"/>
            </a:endParaRPr>
          </a:p>
          <a:p>
            <a:r>
              <a:rPr lang="en-IN" sz="2200" dirty="0">
                <a:latin typeface="Arial Narrow" panose="020B0606020202030204" pitchFamily="34" charset="0"/>
              </a:rPr>
              <a:t>Synthetic Data Generation</a:t>
            </a:r>
          </a:p>
          <a:p>
            <a:endParaRPr lang="en-IN" sz="2200" dirty="0">
              <a:latin typeface="Arial Narrow" panose="020B0606020202030204" pitchFamily="34" charset="0"/>
            </a:endParaRPr>
          </a:p>
          <a:p>
            <a:r>
              <a:rPr lang="en-IN" sz="2200" dirty="0">
                <a:latin typeface="Arial Narrow" panose="020B0606020202030204" pitchFamily="34" charset="0"/>
              </a:rPr>
              <a:t>Discriminative Learning </a:t>
            </a:r>
          </a:p>
          <a:p>
            <a:pPr marL="0" indent="0">
              <a:buNone/>
            </a:pPr>
            <a:endParaRPr lang="en-IN" sz="2200" dirty="0">
              <a:latin typeface="Arial Narrow" panose="020B0606020202030204" pitchFamily="34" charset="0"/>
            </a:endParaRPr>
          </a:p>
          <a:p>
            <a:r>
              <a:rPr lang="en-IN" sz="2200" dirty="0">
                <a:latin typeface="Arial Narrow" panose="020B0606020202030204" pitchFamily="34" charset="0"/>
              </a:rPr>
              <a:t>Generative Learning</a:t>
            </a:r>
          </a:p>
          <a:p>
            <a:endParaRPr lang="en-IN" sz="2200" dirty="0">
              <a:latin typeface="Arial Narrow" panose="020B0606020202030204" pitchFamily="34" charset="0"/>
            </a:endParaRPr>
          </a:p>
          <a:p>
            <a:r>
              <a:rPr lang="en-US" sz="2200" dirty="0">
                <a:latin typeface="Arial Narrow" panose="020B0606020202030204" pitchFamily="34" charset="0"/>
                <a:ea typeface="+mn-lt"/>
                <a:cs typeface="+mn-lt"/>
              </a:rPr>
              <a:t>Generative vs Discriminative Learning</a:t>
            </a:r>
          </a:p>
        </p:txBody>
      </p:sp>
    </p:spTree>
    <p:extLst>
      <p:ext uri="{BB962C8B-B14F-4D97-AF65-F5344CB8AC3E}">
        <p14:creationId xmlns:p14="http://schemas.microsoft.com/office/powerpoint/2010/main" val="15706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142C8-16C1-41DF-A0ED-150C9912A7BE}"/>
              </a:ext>
            </a:extLst>
          </p:cNvPr>
          <p:cNvSpPr>
            <a:spLocks noGrp="1"/>
          </p:cNvSpPr>
          <p:nvPr>
            <p:ph type="title"/>
          </p:nvPr>
        </p:nvSpPr>
        <p:spPr/>
        <p:txBody>
          <a:bodyPr>
            <a:normAutofit/>
          </a:bodyPr>
          <a:lstStyle/>
          <a:p>
            <a:r>
              <a:rPr lang="en-IN" sz="3600" dirty="0">
                <a:latin typeface="Century" panose="02040604050505020304" pitchFamily="18" charset="0"/>
              </a:rPr>
              <a:t>Generative Modelling</a:t>
            </a:r>
          </a:p>
        </p:txBody>
      </p:sp>
      <p:sp>
        <p:nvSpPr>
          <p:cNvPr id="3" name="Content Placeholder 2">
            <a:extLst>
              <a:ext uri="{FF2B5EF4-FFF2-40B4-BE49-F238E27FC236}">
                <a16:creationId xmlns:a16="http://schemas.microsoft.com/office/drawing/2014/main" id="{E107234D-4ED5-4855-AC9F-7E5EF3C3C2C4}"/>
              </a:ext>
            </a:extLst>
          </p:cNvPr>
          <p:cNvSpPr>
            <a:spLocks noGrp="1"/>
          </p:cNvSpPr>
          <p:nvPr>
            <p:ph idx="1"/>
          </p:nvPr>
        </p:nvSpPr>
        <p:spPr/>
        <p:txBody>
          <a:bodyPr>
            <a:normAutofit fontScale="92500" lnSpcReduction="10000"/>
          </a:bodyPr>
          <a:lstStyle/>
          <a:p>
            <a:pPr marL="285750" indent="-285750">
              <a:spcAft>
                <a:spcPts val="1200"/>
              </a:spcAft>
            </a:pPr>
            <a:r>
              <a:rPr lang="en-US" sz="2400" dirty="0">
                <a:latin typeface="Arial Narrow" panose="020B0606020202030204" pitchFamily="34" charset="0"/>
                <a:cs typeface="Times New Roman" panose="02020603050405020304" pitchFamily="18" charset="0"/>
              </a:rPr>
              <a:t>Generative Modelling</a:t>
            </a:r>
          </a:p>
          <a:p>
            <a:pPr marL="742950" lvl="1" indent="-285750" algn="just">
              <a:spcAft>
                <a:spcPts val="1200"/>
              </a:spcAft>
            </a:pPr>
            <a:r>
              <a:rPr lang="en-GB" sz="2000" dirty="0">
                <a:solidFill>
                  <a:srgbClr val="00B0F0"/>
                </a:solidFill>
                <a:latin typeface="Arial Narrow" panose="020B0606020202030204" pitchFamily="34" charset="0"/>
              </a:rPr>
              <a:t>Generative Modelling </a:t>
            </a:r>
            <a:r>
              <a:rPr lang="en-GB" sz="2000" dirty="0">
                <a:latin typeface="Arial Narrow" panose="020B0606020202030204" pitchFamily="34" charset="0"/>
              </a:rPr>
              <a:t>is a branch of machine learning that focuses on learning the underlying probability distribution of data so that new, realistic samples can be generated.</a:t>
            </a:r>
          </a:p>
          <a:p>
            <a:pPr marL="742950" lvl="1" indent="-285750" algn="just">
              <a:spcAft>
                <a:spcPts val="1200"/>
              </a:spcAft>
            </a:pPr>
            <a:r>
              <a:rPr lang="en-GB" sz="2200" dirty="0">
                <a:latin typeface="Arial Narrow" panose="020B0606020202030204" pitchFamily="34" charset="0"/>
                <a:cs typeface="Times New Roman" panose="02020603050405020304" pitchFamily="18" charset="0"/>
              </a:rPr>
              <a:t>Suppose we have thousands of images of cats. A generative model learns the patterns, structure, and variations in those images. </a:t>
            </a:r>
          </a:p>
          <a:p>
            <a:pPr marL="742950" lvl="1" indent="-285750" algn="just">
              <a:spcAft>
                <a:spcPts val="1200"/>
              </a:spcAft>
            </a:pPr>
            <a:r>
              <a:rPr lang="en-GB" sz="2200" dirty="0">
                <a:latin typeface="Arial Narrow" panose="020B0606020202030204" pitchFamily="34" charset="0"/>
                <a:cs typeface="Times New Roman" panose="02020603050405020304" pitchFamily="18" charset="0"/>
              </a:rPr>
              <a:t>After training, it can create entirely new cat images that were never in the dataset.</a:t>
            </a:r>
          </a:p>
          <a:p>
            <a:pPr marL="742950" lvl="1" indent="-285750" algn="just">
              <a:spcAft>
                <a:spcPts val="1200"/>
              </a:spcAft>
            </a:pPr>
            <a:r>
              <a:rPr lang="en-GB" sz="2200" dirty="0">
                <a:latin typeface="Arial Narrow" panose="020B0606020202030204" pitchFamily="34" charset="0"/>
                <a:cs typeface="Times New Roman" panose="02020603050405020304" pitchFamily="18" charset="0"/>
              </a:rPr>
              <a:t>In contrast, a </a:t>
            </a:r>
            <a:r>
              <a:rPr lang="en-GB" sz="2200" dirty="0">
                <a:solidFill>
                  <a:srgbClr val="00B0F0"/>
                </a:solidFill>
                <a:latin typeface="Arial Narrow" panose="020B0606020202030204" pitchFamily="34" charset="0"/>
                <a:cs typeface="Times New Roman" panose="02020603050405020304" pitchFamily="18" charset="0"/>
              </a:rPr>
              <a:t>discriminative model</a:t>
            </a:r>
            <a:r>
              <a:rPr lang="en-GB" sz="2200" dirty="0">
                <a:latin typeface="Arial Narrow" panose="020B0606020202030204" pitchFamily="34" charset="0"/>
                <a:cs typeface="Times New Roman" panose="02020603050405020304" pitchFamily="18" charset="0"/>
              </a:rPr>
              <a:t> learns to distinguish between categories (e.g., cat vs. dog) rather than generate new examples.</a:t>
            </a:r>
            <a:endParaRPr lang="en-US" sz="2200" dirty="0">
              <a:latin typeface="Arial Narrow" panose="020B0606020202030204" pitchFamily="34" charset="0"/>
              <a:cs typeface="Times New Roman" panose="02020603050405020304" pitchFamily="18" charset="0"/>
            </a:endParaRPr>
          </a:p>
          <a:p>
            <a:pPr marL="742950" lvl="1" indent="-285750" algn="just">
              <a:spcAft>
                <a:spcPts val="1200"/>
              </a:spcAft>
            </a:pPr>
            <a:r>
              <a:rPr lang="en-US" sz="2200" dirty="0">
                <a:latin typeface="Arial Narrow" panose="020B0606020202030204" pitchFamily="34" charset="0"/>
                <a:cs typeface="Times New Roman" panose="02020603050405020304" pitchFamily="18" charset="0"/>
              </a:rPr>
              <a:t>In general generative models are unsupervised in nature. </a:t>
            </a:r>
          </a:p>
          <a:p>
            <a:pPr marL="742950" lvl="1" indent="-285750" algn="just">
              <a:spcAft>
                <a:spcPts val="1200"/>
              </a:spcAft>
            </a:pPr>
            <a:r>
              <a:rPr lang="en-US" sz="2200" dirty="0">
                <a:latin typeface="Arial Narrow" panose="020B0606020202030204" pitchFamily="34" charset="0"/>
                <a:cs typeface="Times New Roman" panose="02020603050405020304" pitchFamily="18" charset="0"/>
              </a:rPr>
              <a:t>Learns the </a:t>
            </a:r>
            <a:r>
              <a:rPr lang="en-US" sz="2200" dirty="0">
                <a:solidFill>
                  <a:srgbClr val="00B0F0"/>
                </a:solidFill>
                <a:latin typeface="Arial Narrow" panose="020B0606020202030204" pitchFamily="34" charset="0"/>
                <a:cs typeface="Times New Roman" panose="02020603050405020304" pitchFamily="18" charset="0"/>
              </a:rPr>
              <a:t>patterns of input data from a given distribution </a:t>
            </a:r>
            <a:r>
              <a:rPr lang="en-US" sz="2200" dirty="0">
                <a:latin typeface="Arial Narrow" panose="020B0606020202030204" pitchFamily="34" charset="0"/>
                <a:cs typeface="Times New Roman" panose="02020603050405020304" pitchFamily="18" charset="0"/>
              </a:rPr>
              <a:t>to </a:t>
            </a:r>
            <a:r>
              <a:rPr lang="en-US" sz="2200" dirty="0">
                <a:solidFill>
                  <a:srgbClr val="00B0F0"/>
                </a:solidFill>
                <a:latin typeface="Arial Narrow" panose="020B0606020202030204" pitchFamily="34" charset="0"/>
                <a:cs typeface="Times New Roman" panose="02020603050405020304" pitchFamily="18" charset="0"/>
              </a:rPr>
              <a:t>generate new examples </a:t>
            </a:r>
            <a:r>
              <a:rPr lang="en-US" sz="2200" dirty="0">
                <a:latin typeface="Arial Narrow" panose="020B0606020202030204" pitchFamily="34" charset="0"/>
                <a:cs typeface="Times New Roman" panose="02020603050405020304" pitchFamily="18" charset="0"/>
              </a:rPr>
              <a:t>which belong to the </a:t>
            </a:r>
            <a:r>
              <a:rPr lang="en-US" sz="2200" dirty="0">
                <a:solidFill>
                  <a:srgbClr val="00B0F0"/>
                </a:solidFill>
                <a:latin typeface="Arial Narrow" panose="020B0606020202030204" pitchFamily="34" charset="0"/>
                <a:cs typeface="Times New Roman" panose="02020603050405020304" pitchFamily="18" charset="0"/>
              </a:rPr>
              <a:t>similar distribution</a:t>
            </a:r>
            <a:r>
              <a:rPr lang="en-US" sz="2200" dirty="0">
                <a:latin typeface="Arial Narrow" panose="020B0606020202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385886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419D-D90A-49E4-91CC-690FBA238DEA}"/>
              </a:ext>
            </a:extLst>
          </p:cNvPr>
          <p:cNvSpPr>
            <a:spLocks noGrp="1"/>
          </p:cNvSpPr>
          <p:nvPr>
            <p:ph type="title"/>
          </p:nvPr>
        </p:nvSpPr>
        <p:spPr/>
        <p:txBody>
          <a:bodyPr>
            <a:normAutofit/>
          </a:bodyPr>
          <a:lstStyle/>
          <a:p>
            <a:r>
              <a:rPr lang="en-GB" sz="3600" dirty="0">
                <a:latin typeface="Century" panose="02040604050505020304" pitchFamily="18" charset="0"/>
              </a:rPr>
              <a:t>Generative Modelling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C941BA-14D4-40D8-8F9D-A51FA612CC40}"/>
                  </a:ext>
                </a:extLst>
              </p:cNvPr>
              <p:cNvSpPr>
                <a:spLocks noGrp="1"/>
              </p:cNvSpPr>
              <p:nvPr>
                <p:ph idx="1"/>
              </p:nvPr>
            </p:nvSpPr>
            <p:spPr/>
            <p:txBody>
              <a:bodyPr>
                <a:normAutofit/>
              </a:bodyPr>
              <a:lstStyle/>
              <a:p>
                <a:r>
                  <a:rPr lang="en-GB" sz="2000" dirty="0">
                    <a:latin typeface="Arial Narrow" panose="020B0606020202030204" pitchFamily="34" charset="0"/>
                  </a:rPr>
                  <a:t>A generative model tries to learn the data distribution:</a:t>
                </a:r>
              </a:p>
              <a:p>
                <a:pPr marL="0" indent="0">
                  <a:buNone/>
                </a:pPr>
                <a:r>
                  <a:rPr lang="en-GB" sz="2000" b="0" dirty="0"/>
                  <a:t>                                                         </a:t>
                </a:r>
                <a14:m>
                  <m:oMath xmlns:m="http://schemas.openxmlformats.org/officeDocument/2006/math">
                    <m:r>
                      <a:rPr lang="en-GB" sz="2000" b="0" i="1" smtClean="0">
                        <a:latin typeface="Cambria Math" panose="02040503050406030204" pitchFamily="18" charset="0"/>
                      </a:rPr>
                      <m:t>𝑃</m:t>
                    </m:r>
                    <m:d>
                      <m:dPr>
                        <m:ctrlPr>
                          <a:rPr lang="en-GB" sz="2000" b="0" i="1" smtClean="0">
                            <a:latin typeface="Cambria Math" panose="02040503050406030204" pitchFamily="18" charset="0"/>
                          </a:rPr>
                        </m:ctrlPr>
                      </m:dPr>
                      <m:e>
                        <m:r>
                          <a:rPr lang="en-GB" sz="2000" b="0" i="1" smtClean="0">
                            <a:latin typeface="Cambria Math" panose="02040503050406030204" pitchFamily="18" charset="0"/>
                          </a:rPr>
                          <m:t>𝑋</m:t>
                        </m:r>
                      </m:e>
                    </m:d>
                  </m:oMath>
                </a14:m>
                <a:r>
                  <a:rPr lang="en-GB" sz="2000" dirty="0">
                    <a:latin typeface="Arial Narrow" panose="020B0606020202030204" pitchFamily="34" charset="0"/>
                  </a:rPr>
                  <a:t> or</a:t>
                </a:r>
              </a:p>
              <a:p>
                <a:pPr marL="0" indent="0">
                  <a:buNone/>
                </a:pPr>
                <a:r>
                  <a:rPr lang="en-GB" sz="2000" dirty="0">
                    <a:latin typeface="Arial Narrow" panose="020B0606020202030204" pitchFamily="34" charset="0"/>
                  </a:rPr>
                  <a:t>                             the joint distribution:</a:t>
                </a:r>
              </a:p>
              <a:p>
                <a:pPr marL="0" indent="0">
                  <a:buNone/>
                </a:pPr>
                <a:r>
                  <a:rPr lang="en-GB" sz="2000" b="0" dirty="0"/>
                  <a:t>                                                        </a:t>
                </a:r>
                <a14:m>
                  <m:oMath xmlns:m="http://schemas.openxmlformats.org/officeDocument/2006/math">
                    <m:r>
                      <a:rPr lang="en-GB" sz="2000" b="0" i="1" smtClean="0">
                        <a:latin typeface="Cambria Math" panose="02040503050406030204" pitchFamily="18" charset="0"/>
                      </a:rPr>
                      <m:t>𝑃</m:t>
                    </m:r>
                    <m:d>
                      <m:dPr>
                        <m:ctrlPr>
                          <a:rPr lang="en-GB" sz="2000" b="0" i="1" smtClean="0">
                            <a:latin typeface="Cambria Math" panose="02040503050406030204" pitchFamily="18" charset="0"/>
                          </a:rPr>
                        </m:ctrlPr>
                      </m:dPr>
                      <m:e>
                        <m:r>
                          <a:rPr lang="en-GB" sz="2000" b="0" i="1" smtClean="0">
                            <a:latin typeface="Cambria Math" panose="02040503050406030204" pitchFamily="18" charset="0"/>
                          </a:rPr>
                          <m:t>𝑋</m:t>
                        </m:r>
                        <m:r>
                          <a:rPr lang="en-GB" sz="2000" b="0" i="1" smtClean="0">
                            <a:latin typeface="Cambria Math" panose="02040503050406030204" pitchFamily="18" charset="0"/>
                          </a:rPr>
                          <m:t>,</m:t>
                        </m:r>
                        <m:r>
                          <a:rPr lang="en-GB" sz="2000" b="0" i="1" smtClean="0">
                            <a:latin typeface="Cambria Math" panose="02040503050406030204" pitchFamily="18" charset="0"/>
                          </a:rPr>
                          <m:t>𝑌</m:t>
                        </m:r>
                      </m:e>
                    </m:d>
                  </m:oMath>
                </a14:m>
                <a:r>
                  <a:rPr lang="en-GB" sz="2000" dirty="0">
                    <a:latin typeface="Arial Narrow" panose="020B0606020202030204" pitchFamily="34" charset="0"/>
                  </a:rPr>
                  <a:t> </a:t>
                </a:r>
              </a:p>
              <a:p>
                <a:pPr marL="0" indent="0">
                  <a:buNone/>
                </a:pPr>
                <a:r>
                  <a:rPr lang="en-GB" sz="2000" dirty="0">
                    <a:latin typeface="Arial Narrow" panose="020B0606020202030204" pitchFamily="34" charset="0"/>
                  </a:rPr>
                  <a:t>                                        where: X = input data, Y = labels (if available)</a:t>
                </a:r>
              </a:p>
              <a:p>
                <a:pPr marL="0" indent="0">
                  <a:buNone/>
                </a:pPr>
                <a:endParaRPr lang="en-GB" sz="2000" dirty="0">
                  <a:latin typeface="Arial Narrow" panose="020B0606020202030204" pitchFamily="34" charset="0"/>
                </a:endParaRPr>
              </a:p>
              <a:p>
                <a:r>
                  <a:rPr lang="en-GB" sz="2000" dirty="0">
                    <a:latin typeface="Arial Narrow" panose="020B0606020202030204" pitchFamily="34" charset="0"/>
                  </a:rPr>
                  <a:t>Once the distribution is learned, the model can sample new data points from it.</a:t>
                </a:r>
              </a:p>
              <a:p>
                <a:endParaRPr lang="en-GB"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ABC941BA-14D4-40D8-8F9D-A51FA612CC40}"/>
                  </a:ext>
                </a:extLst>
              </p:cNvPr>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en-GB">
                    <a:noFill/>
                  </a:rPr>
                  <a:t> </a:t>
                </a:r>
              </a:p>
            </p:txBody>
          </p:sp>
        </mc:Fallback>
      </mc:AlternateContent>
    </p:spTree>
    <p:extLst>
      <p:ext uri="{BB962C8B-B14F-4D97-AF65-F5344CB8AC3E}">
        <p14:creationId xmlns:p14="http://schemas.microsoft.com/office/powerpoint/2010/main" val="2363811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73077-74F0-41CD-B5AF-58C9D9B487AC}"/>
              </a:ext>
            </a:extLst>
          </p:cNvPr>
          <p:cNvSpPr>
            <a:spLocks noGrp="1"/>
          </p:cNvSpPr>
          <p:nvPr>
            <p:ph type="title"/>
          </p:nvPr>
        </p:nvSpPr>
        <p:spPr/>
        <p:txBody>
          <a:bodyPr>
            <a:normAutofit/>
          </a:bodyPr>
          <a:lstStyle/>
          <a:p>
            <a:r>
              <a:rPr lang="en-IN" sz="3600" dirty="0">
                <a:latin typeface="Century" panose="02040604050505020304" pitchFamily="18" charset="0"/>
              </a:rPr>
              <a:t>Why Synthetic Image Generation is required?</a:t>
            </a:r>
          </a:p>
        </p:txBody>
      </p:sp>
      <p:sp>
        <p:nvSpPr>
          <p:cNvPr id="3" name="Content Placeholder 2">
            <a:extLst>
              <a:ext uri="{FF2B5EF4-FFF2-40B4-BE49-F238E27FC236}">
                <a16:creationId xmlns:a16="http://schemas.microsoft.com/office/drawing/2014/main" id="{3186FC15-75D4-4285-8FCD-37168F95AEB2}"/>
              </a:ext>
            </a:extLst>
          </p:cNvPr>
          <p:cNvSpPr>
            <a:spLocks noGrp="1"/>
          </p:cNvSpPr>
          <p:nvPr>
            <p:ph idx="1"/>
          </p:nvPr>
        </p:nvSpPr>
        <p:spPr/>
        <p:txBody>
          <a:bodyPr>
            <a:normAutofit/>
          </a:bodyPr>
          <a:lstStyle/>
          <a:p>
            <a:pPr algn="just"/>
            <a:r>
              <a:rPr lang="en-US" sz="2000" dirty="0">
                <a:solidFill>
                  <a:srgbClr val="00B0F0"/>
                </a:solidFill>
                <a:latin typeface="Arial Narrow" panose="020B0606020202030204" pitchFamily="34" charset="0"/>
                <a:cs typeface="Times New Roman" panose="02020603050405020304" pitchFamily="18" charset="0"/>
              </a:rPr>
              <a:t>Supervised classification </a:t>
            </a:r>
            <a:r>
              <a:rPr lang="en-US" sz="2000" dirty="0">
                <a:latin typeface="Arial Narrow" panose="020B0606020202030204" pitchFamily="34" charset="0"/>
                <a:cs typeface="Times New Roman" panose="02020603050405020304" pitchFamily="18" charset="0"/>
              </a:rPr>
              <a:t>methods have achieved significant success in computer vision today, especially making a substantial progress in the era of </a:t>
            </a:r>
            <a:r>
              <a:rPr lang="en-IN" sz="2000" dirty="0">
                <a:latin typeface="Arial Narrow" panose="020B0606020202030204" pitchFamily="34" charset="0"/>
                <a:cs typeface="Times New Roman" panose="02020603050405020304" pitchFamily="18" charset="0"/>
              </a:rPr>
              <a:t>deep learning.</a:t>
            </a:r>
          </a:p>
          <a:p>
            <a:pPr algn="just"/>
            <a:endParaRPr lang="en-IN" sz="2000" dirty="0">
              <a:latin typeface="Arial Narrow" panose="020B0606020202030204" pitchFamily="34" charset="0"/>
              <a:cs typeface="Times New Roman" panose="02020603050405020304" pitchFamily="18" charset="0"/>
            </a:endParaRPr>
          </a:p>
          <a:p>
            <a:pPr algn="just"/>
            <a:r>
              <a:rPr lang="en-US" sz="2000" dirty="0">
                <a:latin typeface="Arial Narrow" panose="020B0606020202030204" pitchFamily="34" charset="0"/>
                <a:cs typeface="Times New Roman" panose="02020603050405020304" pitchFamily="18" charset="0"/>
              </a:rPr>
              <a:t>But, Deep learning models </a:t>
            </a:r>
            <a:r>
              <a:rPr lang="en-US" sz="2000" dirty="0">
                <a:solidFill>
                  <a:srgbClr val="00B0F0"/>
                </a:solidFill>
                <a:latin typeface="Arial Narrow" panose="020B0606020202030204" pitchFamily="34" charset="0"/>
                <a:cs typeface="Times New Roman" panose="02020603050405020304" pitchFamily="18" charset="0"/>
              </a:rPr>
              <a:t>require large </a:t>
            </a:r>
            <a:r>
              <a:rPr lang="en-US" sz="2000" dirty="0">
                <a:latin typeface="Arial Narrow" panose="020B0606020202030204" pitchFamily="34" charset="0"/>
                <a:cs typeface="Times New Roman" panose="02020603050405020304" pitchFamily="18" charset="0"/>
              </a:rPr>
              <a:t>accurately annotated image </a:t>
            </a:r>
            <a:r>
              <a:rPr lang="en-US" sz="2000" dirty="0">
                <a:solidFill>
                  <a:srgbClr val="00B0F0"/>
                </a:solidFill>
                <a:latin typeface="Arial Narrow" panose="020B0606020202030204" pitchFamily="34" charset="0"/>
                <a:cs typeface="Times New Roman" panose="02020603050405020304" pitchFamily="18" charset="0"/>
              </a:rPr>
              <a:t>datasets </a:t>
            </a:r>
            <a:r>
              <a:rPr lang="en-US" sz="2000" dirty="0">
                <a:latin typeface="Arial Narrow" panose="020B0606020202030204" pitchFamily="34" charset="0"/>
                <a:cs typeface="Times New Roman" panose="02020603050405020304" pitchFamily="18" charset="0"/>
              </a:rPr>
              <a:t>for supervised learning.</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Synthetic image generation is important in </a:t>
            </a:r>
            <a:r>
              <a:rPr lang="en-US" sz="2000" b="1" dirty="0">
                <a:latin typeface="Arial Narrow" panose="020B0606020202030204" pitchFamily="34" charset="0"/>
              </a:rPr>
              <a:t>computer vision</a:t>
            </a:r>
            <a:r>
              <a:rPr lang="en-US" sz="2000" dirty="0">
                <a:latin typeface="Arial Narrow" panose="020B0606020202030204" pitchFamily="34" charset="0"/>
              </a:rPr>
              <a:t> because collecting and labeling large amounts of real-world visual data is often expensive, slow, difficult, or sometimes impossible.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Synthetic data helps address these challenges by creating artificial images, videos, or sensor data that can be used to train and evaluate vision models.</a:t>
            </a:r>
            <a:endParaRPr lang="en-IN" sz="2000" dirty="0">
              <a:latin typeface="Arial Narrow" panose="020B0606020202030204" pitchFamily="34" charset="0"/>
            </a:endParaRPr>
          </a:p>
        </p:txBody>
      </p:sp>
    </p:spTree>
    <p:extLst>
      <p:ext uri="{BB962C8B-B14F-4D97-AF65-F5344CB8AC3E}">
        <p14:creationId xmlns:p14="http://schemas.microsoft.com/office/powerpoint/2010/main" val="4248220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EE1F-78D5-48D3-9AD4-0D265CB72709}"/>
              </a:ext>
            </a:extLst>
          </p:cNvPr>
          <p:cNvSpPr>
            <a:spLocks noGrp="1"/>
          </p:cNvSpPr>
          <p:nvPr>
            <p:ph type="title"/>
          </p:nvPr>
        </p:nvSpPr>
        <p:spPr/>
        <p:txBody>
          <a:bodyPr>
            <a:normAutofit/>
          </a:bodyPr>
          <a:lstStyle/>
          <a:p>
            <a:r>
              <a:rPr lang="en-US" sz="3600" dirty="0">
                <a:latin typeface="Century" panose="02040604050505020304" pitchFamily="18" charset="0"/>
              </a:rPr>
              <a:t>Why synthetic data is needed?</a:t>
            </a: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ACC21004-D263-4728-B96C-579E7721C2B1}"/>
              </a:ext>
            </a:extLst>
          </p:cNvPr>
          <p:cNvSpPr>
            <a:spLocks noGrp="1"/>
          </p:cNvSpPr>
          <p:nvPr>
            <p:ph idx="1"/>
          </p:nvPr>
        </p:nvSpPr>
        <p:spPr>
          <a:xfrm>
            <a:off x="838200" y="1825625"/>
            <a:ext cx="6557682" cy="4351338"/>
          </a:xfrm>
        </p:spPr>
        <p:txBody>
          <a:bodyPr/>
          <a:lstStyle/>
          <a:p>
            <a:r>
              <a:rPr lang="en-US" sz="2400" dirty="0">
                <a:solidFill>
                  <a:srgbClr val="00B0F0"/>
                </a:solidFill>
                <a:latin typeface="Arial Narrow" panose="020B0606020202030204" pitchFamily="34" charset="0"/>
              </a:rPr>
              <a:t>Reduces data collection costs</a:t>
            </a:r>
            <a:r>
              <a:rPr lang="en-US" sz="2400" b="1" dirty="0">
                <a:latin typeface="Arial Narrow" panose="020B0606020202030204" pitchFamily="34" charset="0"/>
              </a:rPr>
              <a:t>: </a:t>
            </a:r>
            <a:r>
              <a:rPr lang="en-US" sz="2400" dirty="0">
                <a:latin typeface="Arial Narrow" panose="020B0606020202030204" pitchFamily="34" charset="0"/>
              </a:rPr>
              <a:t>Gathering real images and annotating them can require thousands of hours of manual work. For example:</a:t>
            </a:r>
          </a:p>
          <a:p>
            <a:pPr lvl="1"/>
            <a:r>
              <a:rPr lang="en-US" sz="2200" dirty="0">
                <a:latin typeface="Arial Narrow" panose="020B0606020202030204" pitchFamily="34" charset="0"/>
              </a:rPr>
              <a:t>Drawing bounding boxes around pedestrians in millions of frames. </a:t>
            </a:r>
          </a:p>
          <a:p>
            <a:pPr lvl="1"/>
            <a:r>
              <a:rPr lang="en-US" sz="2200" dirty="0">
                <a:latin typeface="Arial Narrow" panose="020B0606020202030204" pitchFamily="34" charset="0"/>
              </a:rPr>
              <a:t>Labeling lane markings for autonomous driving. </a:t>
            </a:r>
          </a:p>
          <a:p>
            <a:pPr lvl="1"/>
            <a:r>
              <a:rPr lang="en-US" sz="2200" dirty="0">
                <a:latin typeface="Arial Narrow" panose="020B0606020202030204" pitchFamily="34" charset="0"/>
              </a:rPr>
              <a:t>Segmenting organs in medical images. </a:t>
            </a:r>
          </a:p>
          <a:p>
            <a:pPr marL="457200" lvl="1" indent="0">
              <a:buNone/>
            </a:pPr>
            <a:endParaRPr lang="en-US" sz="2200" dirty="0">
              <a:latin typeface="Arial Narrow" panose="020B0606020202030204" pitchFamily="34" charset="0"/>
            </a:endParaRPr>
          </a:p>
          <a:p>
            <a:r>
              <a:rPr lang="en-US" sz="2400" dirty="0">
                <a:latin typeface="Arial Narrow" panose="020B0606020202030204" pitchFamily="34" charset="0"/>
              </a:rPr>
              <a:t>Synthetic datasets can automatically generate labels during rendering, eliminating much of the annotation effort.</a:t>
            </a:r>
          </a:p>
          <a:p>
            <a:endParaRPr lang="en-IN" dirty="0"/>
          </a:p>
        </p:txBody>
      </p:sp>
      <p:pic>
        <p:nvPicPr>
          <p:cNvPr id="4" name="Picture 3">
            <a:extLst>
              <a:ext uri="{FF2B5EF4-FFF2-40B4-BE49-F238E27FC236}">
                <a16:creationId xmlns:a16="http://schemas.microsoft.com/office/drawing/2014/main" id="{7058D73D-83CE-4F40-A2A8-75E602FBD56C}"/>
              </a:ext>
            </a:extLst>
          </p:cNvPr>
          <p:cNvPicPr>
            <a:picLocks noChangeAspect="1"/>
          </p:cNvPicPr>
          <p:nvPr/>
        </p:nvPicPr>
        <p:blipFill>
          <a:blip r:embed="rId2"/>
          <a:stretch>
            <a:fillRect/>
          </a:stretch>
        </p:blipFill>
        <p:spPr>
          <a:xfrm>
            <a:off x="8159460" y="1204729"/>
            <a:ext cx="1467055" cy="2610214"/>
          </a:xfrm>
          <a:prstGeom prst="rect">
            <a:avLst/>
          </a:prstGeom>
        </p:spPr>
      </p:pic>
      <p:sp>
        <p:nvSpPr>
          <p:cNvPr id="5" name="Rectangle 4">
            <a:extLst>
              <a:ext uri="{FF2B5EF4-FFF2-40B4-BE49-F238E27FC236}">
                <a16:creationId xmlns:a16="http://schemas.microsoft.com/office/drawing/2014/main" id="{E753D455-B3CA-4701-8E82-0CEAA02DCDF9}"/>
              </a:ext>
            </a:extLst>
          </p:cNvPr>
          <p:cNvSpPr/>
          <p:nvPr/>
        </p:nvSpPr>
        <p:spPr>
          <a:xfrm>
            <a:off x="246529" y="6246654"/>
            <a:ext cx="11698941" cy="246221"/>
          </a:xfrm>
          <a:prstGeom prst="rect">
            <a:avLst/>
          </a:prstGeom>
        </p:spPr>
        <p:txBody>
          <a:bodyPr wrap="square">
            <a:spAutoFit/>
          </a:bodyPr>
          <a:lstStyle/>
          <a:p>
            <a:r>
              <a:rPr lang="en-IN" sz="1000" dirty="0">
                <a:latin typeface="Arial Narrow" panose="020B0606020202030204" pitchFamily="34" charset="0"/>
              </a:rPr>
              <a:t>Image Source: </a:t>
            </a:r>
            <a:r>
              <a:rPr lang="en-IN" sz="1000" dirty="0" err="1">
                <a:latin typeface="Arial Narrow" panose="020B0606020202030204" pitchFamily="34" charset="0"/>
              </a:rPr>
              <a:t>Alfasly</a:t>
            </a:r>
            <a:r>
              <a:rPr lang="en-IN" sz="1000" dirty="0">
                <a:latin typeface="Arial Narrow" panose="020B0606020202030204" pitchFamily="34" charset="0"/>
              </a:rPr>
              <a:t>, </a:t>
            </a:r>
            <a:r>
              <a:rPr lang="en-IN" sz="1000" dirty="0" err="1">
                <a:latin typeface="Arial Narrow" panose="020B0606020202030204" pitchFamily="34" charset="0"/>
              </a:rPr>
              <a:t>Saghir</a:t>
            </a:r>
            <a:r>
              <a:rPr lang="en-IN" sz="1000" dirty="0">
                <a:latin typeface="Arial Narrow" panose="020B0606020202030204" pitchFamily="34" charset="0"/>
              </a:rPr>
              <a:t> &amp; Liu, Beibei &amp; Hu, </a:t>
            </a:r>
            <a:r>
              <a:rPr lang="en-IN" sz="1000" dirty="0" err="1">
                <a:latin typeface="Arial Narrow" panose="020B0606020202030204" pitchFamily="34" charset="0"/>
              </a:rPr>
              <a:t>Yongjian</a:t>
            </a:r>
            <a:r>
              <a:rPr lang="en-IN" sz="1000" dirty="0">
                <a:latin typeface="Arial Narrow" panose="020B0606020202030204" pitchFamily="34" charset="0"/>
              </a:rPr>
              <a:t> &amp; Wang, </a:t>
            </a:r>
            <a:r>
              <a:rPr lang="en-IN" sz="1000" dirty="0" err="1">
                <a:latin typeface="Arial Narrow" panose="020B0606020202030204" pitchFamily="34" charset="0"/>
              </a:rPr>
              <a:t>Yufei</a:t>
            </a:r>
            <a:r>
              <a:rPr lang="en-IN" sz="1000" dirty="0">
                <a:latin typeface="Arial Narrow" panose="020B0606020202030204" pitchFamily="34" charset="0"/>
              </a:rPr>
              <a:t> &amp; Li, Chang-</a:t>
            </a:r>
            <a:r>
              <a:rPr lang="en-IN" sz="1000" dirty="0" err="1">
                <a:latin typeface="Arial Narrow" panose="020B0606020202030204" pitchFamily="34" charset="0"/>
              </a:rPr>
              <a:t>Tsun</a:t>
            </a:r>
            <a:r>
              <a:rPr lang="en-IN" sz="1000" dirty="0">
                <a:latin typeface="Arial Narrow" panose="020B0606020202030204" pitchFamily="34" charset="0"/>
              </a:rPr>
              <a:t>. (2019). Auto-Zooming CNN-Based Framework for Real-Time Pedestrian Detection in Outdoor Surveillance Videos. IEEE Access. </a:t>
            </a:r>
          </a:p>
        </p:txBody>
      </p:sp>
      <p:pic>
        <p:nvPicPr>
          <p:cNvPr id="1026" name="Picture 2" descr="Typical CT scan with manual segmentation. Some organs like the esophagus are especially challenging to segment.">
            <a:extLst>
              <a:ext uri="{FF2B5EF4-FFF2-40B4-BE49-F238E27FC236}">
                <a16:creationId xmlns:a16="http://schemas.microsoft.com/office/drawing/2014/main" id="{352C6707-65E7-48CA-B518-5DB595F97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9519" y="3922992"/>
            <a:ext cx="4524171" cy="203853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B402DF7-38B9-442A-9A13-AE068169FE97}"/>
              </a:ext>
            </a:extLst>
          </p:cNvPr>
          <p:cNvSpPr/>
          <p:nvPr/>
        </p:nvSpPr>
        <p:spPr>
          <a:xfrm>
            <a:off x="246528" y="6492875"/>
            <a:ext cx="9713259" cy="246221"/>
          </a:xfrm>
          <a:prstGeom prst="rect">
            <a:avLst/>
          </a:prstGeom>
        </p:spPr>
        <p:txBody>
          <a:bodyPr wrap="square">
            <a:spAutoFit/>
          </a:bodyPr>
          <a:lstStyle/>
          <a:p>
            <a:r>
              <a:rPr lang="en-IN" sz="1000" dirty="0">
                <a:latin typeface="Arial Narrow" panose="020B0606020202030204" pitchFamily="34" charset="0"/>
              </a:rPr>
              <a:t>Image Source: Trullo, Roger &amp; </a:t>
            </a:r>
            <a:r>
              <a:rPr lang="en-IN" sz="1000" dirty="0" err="1">
                <a:latin typeface="Arial Narrow" panose="020B0606020202030204" pitchFamily="34" charset="0"/>
              </a:rPr>
              <a:t>Petitjean</a:t>
            </a:r>
            <a:r>
              <a:rPr lang="en-IN" sz="1000" dirty="0">
                <a:latin typeface="Arial Narrow" panose="020B0606020202030204" pitchFamily="34" charset="0"/>
              </a:rPr>
              <a:t>, Caroline &amp; Dubray, Bernard &amp; </a:t>
            </a:r>
            <a:r>
              <a:rPr lang="en-IN" sz="1000" dirty="0" err="1">
                <a:latin typeface="Arial Narrow" panose="020B0606020202030204" pitchFamily="34" charset="0"/>
              </a:rPr>
              <a:t>Ruan</a:t>
            </a:r>
            <a:r>
              <a:rPr lang="en-IN" sz="1000" dirty="0">
                <a:latin typeface="Arial Narrow" panose="020B0606020202030204" pitchFamily="34" charset="0"/>
              </a:rPr>
              <a:t>, </a:t>
            </a:r>
            <a:r>
              <a:rPr lang="en-IN" sz="1000" dirty="0" err="1">
                <a:latin typeface="Arial Narrow" panose="020B0606020202030204" pitchFamily="34" charset="0"/>
              </a:rPr>
              <a:t>Su</a:t>
            </a:r>
            <a:r>
              <a:rPr lang="en-IN" sz="1000" dirty="0">
                <a:latin typeface="Arial Narrow" panose="020B0606020202030204" pitchFamily="34" charset="0"/>
              </a:rPr>
              <a:t>. (2019). Multiorgan segmentation using distance-aware adversarial networks. Journal of Medical Imaging. </a:t>
            </a:r>
          </a:p>
        </p:txBody>
      </p:sp>
    </p:spTree>
    <p:extLst>
      <p:ext uri="{BB962C8B-B14F-4D97-AF65-F5344CB8AC3E}">
        <p14:creationId xmlns:p14="http://schemas.microsoft.com/office/powerpoint/2010/main" val="488788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293569-F1A5-466E-9F70-4035315A9949}"/>
              </a:ext>
            </a:extLst>
          </p:cNvPr>
          <p:cNvSpPr>
            <a:spLocks noGrp="1"/>
          </p:cNvSpPr>
          <p:nvPr>
            <p:ph idx="1"/>
          </p:nvPr>
        </p:nvSpPr>
        <p:spPr>
          <a:xfrm>
            <a:off x="838200" y="1861484"/>
            <a:ext cx="10515600" cy="4351338"/>
          </a:xfrm>
        </p:spPr>
        <p:txBody>
          <a:bodyPr>
            <a:normAutofit/>
          </a:bodyPr>
          <a:lstStyle/>
          <a:p>
            <a:pPr algn="just"/>
            <a:r>
              <a:rPr lang="en-US" sz="2000" dirty="0">
                <a:solidFill>
                  <a:srgbClr val="00B0F0"/>
                </a:solidFill>
                <a:latin typeface="Arial Narrow" panose="020B0606020202030204" pitchFamily="34" charset="0"/>
              </a:rPr>
              <a:t>Provides perfect ground truth:</a:t>
            </a:r>
            <a:r>
              <a:rPr lang="en-US" sz="2000" b="1" dirty="0">
                <a:latin typeface="Arial Narrow" panose="020B0606020202030204" pitchFamily="34" charset="0"/>
              </a:rPr>
              <a:t> </a:t>
            </a:r>
            <a:r>
              <a:rPr lang="en-US" sz="2000" dirty="0">
                <a:latin typeface="Arial Narrow" panose="020B0606020202030204" pitchFamily="34" charset="0"/>
              </a:rPr>
              <a:t>When synthetic scenes are generated in a simulator, the exact Object locations, Object identities, Depth information, Surface </a:t>
            </a:r>
            <a:r>
              <a:rPr lang="en-US" sz="2000" dirty="0" err="1">
                <a:latin typeface="Arial Narrow" panose="020B0606020202030204" pitchFamily="34" charset="0"/>
              </a:rPr>
              <a:t>normals</a:t>
            </a:r>
            <a:r>
              <a:rPr lang="en-US" sz="2000" dirty="0">
                <a:latin typeface="Arial Narrow" panose="020B0606020202030204" pitchFamily="34" charset="0"/>
              </a:rPr>
              <a:t>, Segmentation masks, Camera poses are already known. This produces highly accurate labels that are difficult to obtain from real-world data.</a:t>
            </a:r>
          </a:p>
          <a:p>
            <a:pPr algn="just"/>
            <a:endParaRPr lang="en-US" sz="2000" dirty="0">
              <a:latin typeface="Arial Narrow" panose="020B0606020202030204" pitchFamily="34" charset="0"/>
            </a:endParaRPr>
          </a:p>
          <a:p>
            <a:r>
              <a:rPr lang="en-US" sz="2000" dirty="0">
                <a:solidFill>
                  <a:srgbClr val="00B0F0"/>
                </a:solidFill>
                <a:latin typeface="Arial Narrow" panose="020B0606020202030204" pitchFamily="34" charset="0"/>
              </a:rPr>
              <a:t>Solves rare-event problems</a:t>
            </a:r>
            <a:r>
              <a:rPr lang="en-US" sz="2000" dirty="0">
                <a:latin typeface="Arial Narrow" panose="020B0606020202030204" pitchFamily="34" charset="0"/>
              </a:rPr>
              <a:t>: Some important situations occur very infrequently in reality. Examples: </a:t>
            </a:r>
          </a:p>
          <a:p>
            <a:pPr lvl="1"/>
            <a:r>
              <a:rPr lang="en-US" sz="1600" dirty="0">
                <a:latin typeface="Arial Narrow" panose="020B0606020202030204" pitchFamily="34" charset="0"/>
              </a:rPr>
              <a:t>Car accidents, </a:t>
            </a:r>
          </a:p>
          <a:p>
            <a:pPr lvl="1"/>
            <a:r>
              <a:rPr lang="en-US" sz="1600" dirty="0">
                <a:latin typeface="Arial Narrow" panose="020B0606020202030204" pitchFamily="34" charset="0"/>
              </a:rPr>
              <a:t>Pedestrians suddenly crossing roads</a:t>
            </a:r>
          </a:p>
          <a:p>
            <a:pPr lvl="1"/>
            <a:r>
              <a:rPr lang="en-US" sz="1600" dirty="0">
                <a:latin typeface="Arial Narrow" panose="020B0606020202030204" pitchFamily="34" charset="0"/>
              </a:rPr>
              <a:t>Industrial equipment failures</a:t>
            </a:r>
          </a:p>
          <a:p>
            <a:pPr lvl="1"/>
            <a:r>
              <a:rPr lang="en-US" sz="1600" dirty="0">
                <a:latin typeface="Arial Narrow" panose="020B0606020202030204" pitchFamily="34" charset="0"/>
              </a:rPr>
              <a:t>Severe weather conditions</a:t>
            </a:r>
          </a:p>
          <a:p>
            <a:pPr marL="457200" lvl="1" indent="0">
              <a:buNone/>
            </a:pPr>
            <a:endParaRPr lang="en-US" sz="1600" dirty="0">
              <a:latin typeface="Arial Narrow" panose="020B0606020202030204" pitchFamily="34" charset="0"/>
            </a:endParaRPr>
          </a:p>
          <a:p>
            <a:r>
              <a:rPr lang="en-US" sz="2000" dirty="0">
                <a:latin typeface="Arial Narrow" panose="020B0606020202030204" pitchFamily="34" charset="0"/>
              </a:rPr>
              <a:t>A synthetic environment can generate thousands of such scenarios, allowing models to learn from events that are rarely captured in real datasets.</a:t>
            </a:r>
            <a:endParaRPr lang="en-IN" sz="2000" dirty="0">
              <a:latin typeface="Arial Narrow" panose="020B0606020202030204" pitchFamily="34" charset="0"/>
            </a:endParaRPr>
          </a:p>
        </p:txBody>
      </p:sp>
      <p:sp>
        <p:nvSpPr>
          <p:cNvPr id="4" name="Title 1">
            <a:extLst>
              <a:ext uri="{FF2B5EF4-FFF2-40B4-BE49-F238E27FC236}">
                <a16:creationId xmlns:a16="http://schemas.microsoft.com/office/drawing/2014/main" id="{D2C3C658-51BB-47EA-92B8-AFBE6C9759A7}"/>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Why synthetic data is needed?</a:t>
            </a:r>
            <a:endParaRPr lang="en-IN" sz="3600" dirty="0">
              <a:latin typeface="Century" panose="02040604050505020304" pitchFamily="18" charset="0"/>
            </a:endParaRPr>
          </a:p>
        </p:txBody>
      </p:sp>
    </p:spTree>
    <p:extLst>
      <p:ext uri="{BB962C8B-B14F-4D97-AF65-F5344CB8AC3E}">
        <p14:creationId xmlns:p14="http://schemas.microsoft.com/office/powerpoint/2010/main" val="3834258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625A7F-7DAD-4527-B1DC-88DE6D9464C5}"/>
              </a:ext>
            </a:extLst>
          </p:cNvPr>
          <p:cNvSpPr>
            <a:spLocks noGrp="1"/>
          </p:cNvSpPr>
          <p:nvPr>
            <p:ph idx="1"/>
          </p:nvPr>
        </p:nvSpPr>
        <p:spPr/>
        <p:txBody>
          <a:bodyPr>
            <a:normAutofit fontScale="92500" lnSpcReduction="20000"/>
          </a:bodyPr>
          <a:lstStyle/>
          <a:p>
            <a:pPr algn="just"/>
            <a:r>
              <a:rPr lang="en-IN" dirty="0">
                <a:solidFill>
                  <a:srgbClr val="00B0F0"/>
                </a:solidFill>
                <a:latin typeface="Arial Narrow" panose="020B0606020202030204" pitchFamily="34" charset="0"/>
              </a:rPr>
              <a:t>Improves diversity: </a:t>
            </a:r>
            <a:r>
              <a:rPr lang="en-IN" dirty="0">
                <a:latin typeface="Arial Narrow" panose="020B0606020202030204" pitchFamily="34" charset="0"/>
              </a:rPr>
              <a:t>Real datasets may contain biases:</a:t>
            </a:r>
          </a:p>
          <a:p>
            <a:pPr lvl="1" algn="just"/>
            <a:r>
              <a:rPr lang="en-IN" dirty="0">
                <a:latin typeface="Arial Narrow" panose="020B0606020202030204" pitchFamily="34" charset="0"/>
              </a:rPr>
              <a:t>Certain geographic regions </a:t>
            </a:r>
          </a:p>
          <a:p>
            <a:pPr lvl="1" algn="just"/>
            <a:r>
              <a:rPr lang="en-IN" dirty="0">
                <a:latin typeface="Arial Narrow" panose="020B0606020202030204" pitchFamily="34" charset="0"/>
              </a:rPr>
              <a:t>Weather conditions </a:t>
            </a:r>
          </a:p>
          <a:p>
            <a:pPr lvl="1" algn="just"/>
            <a:r>
              <a:rPr lang="en-IN" dirty="0">
                <a:latin typeface="Arial Narrow" panose="020B0606020202030204" pitchFamily="34" charset="0"/>
              </a:rPr>
              <a:t>Lighting situations </a:t>
            </a:r>
          </a:p>
          <a:p>
            <a:pPr lvl="1" algn="just"/>
            <a:r>
              <a:rPr lang="en-IN" dirty="0">
                <a:latin typeface="Arial Narrow" panose="020B0606020202030204" pitchFamily="34" charset="0"/>
              </a:rPr>
              <a:t>Demographics </a:t>
            </a:r>
          </a:p>
          <a:p>
            <a:pPr lvl="1" algn="just"/>
            <a:endParaRPr lang="en-IN" dirty="0">
              <a:latin typeface="Arial Narrow" panose="020B0606020202030204" pitchFamily="34" charset="0"/>
            </a:endParaRPr>
          </a:p>
          <a:p>
            <a:pPr algn="just"/>
            <a:r>
              <a:rPr lang="en-IN" dirty="0">
                <a:solidFill>
                  <a:srgbClr val="00B0F0"/>
                </a:solidFill>
                <a:latin typeface="Arial Narrow" panose="020B0606020202030204" pitchFamily="34" charset="0"/>
              </a:rPr>
              <a:t>Synthetic generation can systematically vary</a:t>
            </a:r>
            <a:r>
              <a:rPr lang="en-IN" dirty="0">
                <a:latin typeface="Arial Narrow" panose="020B0606020202030204" pitchFamily="34" charset="0"/>
              </a:rPr>
              <a:t>:</a:t>
            </a:r>
          </a:p>
          <a:p>
            <a:pPr lvl="1" algn="just"/>
            <a:r>
              <a:rPr lang="en-IN" dirty="0">
                <a:latin typeface="Arial Narrow" panose="020B0606020202030204" pitchFamily="34" charset="0"/>
              </a:rPr>
              <a:t>Rain, fog, snow </a:t>
            </a:r>
          </a:p>
          <a:p>
            <a:pPr lvl="1" algn="just"/>
            <a:r>
              <a:rPr lang="en-IN" dirty="0">
                <a:latin typeface="Arial Narrow" panose="020B0606020202030204" pitchFamily="34" charset="0"/>
              </a:rPr>
              <a:t>Time of day </a:t>
            </a:r>
          </a:p>
          <a:p>
            <a:pPr lvl="1" algn="just"/>
            <a:r>
              <a:rPr lang="en-IN" dirty="0">
                <a:latin typeface="Arial Narrow" panose="020B0606020202030204" pitchFamily="34" charset="0"/>
              </a:rPr>
              <a:t>Camera viewpoints </a:t>
            </a:r>
          </a:p>
          <a:p>
            <a:pPr lvl="1" algn="just"/>
            <a:r>
              <a:rPr lang="en-IN" dirty="0">
                <a:latin typeface="Arial Narrow" panose="020B0606020202030204" pitchFamily="34" charset="0"/>
              </a:rPr>
              <a:t>Object appearances </a:t>
            </a:r>
          </a:p>
          <a:p>
            <a:pPr lvl="1" algn="just"/>
            <a:endParaRPr lang="en-IN" dirty="0">
              <a:latin typeface="Arial Narrow" panose="020B0606020202030204" pitchFamily="34" charset="0"/>
            </a:endParaRPr>
          </a:p>
          <a:p>
            <a:pPr algn="just"/>
            <a:r>
              <a:rPr lang="en-IN" dirty="0">
                <a:latin typeface="Arial Narrow" panose="020B0606020202030204" pitchFamily="34" charset="0"/>
              </a:rPr>
              <a:t>This helps models </a:t>
            </a:r>
            <a:r>
              <a:rPr lang="en-IN" dirty="0">
                <a:solidFill>
                  <a:srgbClr val="00B0F0"/>
                </a:solidFill>
                <a:latin typeface="Arial Narrow" panose="020B0606020202030204" pitchFamily="34" charset="0"/>
              </a:rPr>
              <a:t>generalize</a:t>
            </a:r>
            <a:r>
              <a:rPr lang="en-IN" dirty="0">
                <a:latin typeface="Arial Narrow" panose="020B0606020202030204" pitchFamily="34" charset="0"/>
              </a:rPr>
              <a:t> better.</a:t>
            </a:r>
          </a:p>
          <a:p>
            <a:endParaRPr lang="en-IN" dirty="0"/>
          </a:p>
        </p:txBody>
      </p:sp>
      <p:sp>
        <p:nvSpPr>
          <p:cNvPr id="4" name="Title 1">
            <a:extLst>
              <a:ext uri="{FF2B5EF4-FFF2-40B4-BE49-F238E27FC236}">
                <a16:creationId xmlns:a16="http://schemas.microsoft.com/office/drawing/2014/main" id="{B2C11F0E-1F22-44EC-A3EE-F31850E9A1E9}"/>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Why synthetic data is needed</a:t>
            </a:r>
            <a:endParaRPr lang="en-IN" sz="3600" dirty="0">
              <a:latin typeface="Century" panose="02040604050505020304" pitchFamily="18" charset="0"/>
            </a:endParaRPr>
          </a:p>
        </p:txBody>
      </p:sp>
    </p:spTree>
    <p:extLst>
      <p:ext uri="{BB962C8B-B14F-4D97-AF65-F5344CB8AC3E}">
        <p14:creationId xmlns:p14="http://schemas.microsoft.com/office/powerpoint/2010/main" val="4161599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83A9AC-2842-482F-AF32-D5D2B49CC120}"/>
              </a:ext>
            </a:extLst>
          </p:cNvPr>
          <p:cNvSpPr>
            <a:spLocks noGrp="1"/>
          </p:cNvSpPr>
          <p:nvPr>
            <p:ph idx="1"/>
          </p:nvPr>
        </p:nvSpPr>
        <p:spPr/>
        <p:txBody>
          <a:bodyPr>
            <a:normAutofit lnSpcReduction="10000"/>
          </a:bodyPr>
          <a:lstStyle/>
          <a:p>
            <a:r>
              <a:rPr lang="en-US" sz="2200" dirty="0">
                <a:solidFill>
                  <a:srgbClr val="00B0F0"/>
                </a:solidFill>
                <a:latin typeface="Arial Narrow" panose="020B0606020202030204" pitchFamily="34" charset="0"/>
              </a:rPr>
              <a:t>Enables safe training for dangerous applications:</a:t>
            </a:r>
            <a:r>
              <a:rPr lang="en-US" sz="2200" dirty="0">
                <a:latin typeface="Arial Narrow" panose="020B0606020202030204" pitchFamily="34" charset="0"/>
              </a:rPr>
              <a:t> Some situations are risky to collect in the real world. Examples:</a:t>
            </a:r>
          </a:p>
          <a:p>
            <a:pPr lvl="1"/>
            <a:r>
              <a:rPr lang="en-US" sz="2000" dirty="0">
                <a:latin typeface="Arial Narrow" panose="020B0606020202030204" pitchFamily="34" charset="0"/>
              </a:rPr>
              <a:t>Autonomous vehicle crashes </a:t>
            </a:r>
          </a:p>
          <a:p>
            <a:pPr lvl="1"/>
            <a:r>
              <a:rPr lang="en-US" sz="2000" dirty="0">
                <a:latin typeface="Arial Narrow" panose="020B0606020202030204" pitchFamily="34" charset="0"/>
              </a:rPr>
              <a:t>Military reconnaissance </a:t>
            </a:r>
          </a:p>
          <a:p>
            <a:pPr lvl="1"/>
            <a:r>
              <a:rPr lang="en-US" sz="2000" dirty="0">
                <a:latin typeface="Arial Narrow" panose="020B0606020202030204" pitchFamily="34" charset="0"/>
              </a:rPr>
              <a:t>Disaster response robotics </a:t>
            </a:r>
          </a:p>
          <a:p>
            <a:pPr lvl="1"/>
            <a:r>
              <a:rPr lang="en-US" sz="2000" dirty="0">
                <a:latin typeface="Arial Narrow" panose="020B0606020202030204" pitchFamily="34" charset="0"/>
              </a:rPr>
              <a:t>Drone emergency landings </a:t>
            </a:r>
          </a:p>
          <a:p>
            <a:r>
              <a:rPr lang="en-US" sz="2200" dirty="0">
                <a:latin typeface="Arial Narrow" panose="020B0606020202030204" pitchFamily="34" charset="0"/>
              </a:rPr>
              <a:t>Simulation allows these scenarios to be generated safely.</a:t>
            </a:r>
          </a:p>
          <a:p>
            <a:endParaRPr lang="en-US" sz="2200" dirty="0">
              <a:latin typeface="Arial Narrow" panose="020B0606020202030204" pitchFamily="34" charset="0"/>
            </a:endParaRPr>
          </a:p>
          <a:p>
            <a:r>
              <a:rPr lang="en-US" sz="2200" dirty="0">
                <a:solidFill>
                  <a:srgbClr val="00B0F0"/>
                </a:solidFill>
                <a:latin typeface="Arial Narrow" panose="020B0606020202030204" pitchFamily="34" charset="0"/>
              </a:rPr>
              <a:t>Supports domain adaptation:</a:t>
            </a:r>
            <a:r>
              <a:rPr lang="en-US" sz="2200" b="1" dirty="0">
                <a:latin typeface="Arial Narrow" panose="020B0606020202030204" pitchFamily="34" charset="0"/>
              </a:rPr>
              <a:t> </a:t>
            </a:r>
            <a:r>
              <a:rPr lang="en-US" sz="2200" dirty="0">
                <a:latin typeface="Arial Narrow" panose="020B0606020202030204" pitchFamily="34" charset="0"/>
              </a:rPr>
              <a:t>A common workflow is:</a:t>
            </a:r>
          </a:p>
          <a:p>
            <a:pPr lvl="1"/>
            <a:r>
              <a:rPr lang="en-US" sz="2000" dirty="0">
                <a:latin typeface="Arial Narrow" panose="020B0606020202030204" pitchFamily="34" charset="0"/>
              </a:rPr>
              <a:t>Train on a large synthetic dataset. </a:t>
            </a:r>
          </a:p>
          <a:p>
            <a:pPr lvl="1"/>
            <a:r>
              <a:rPr lang="en-US" sz="2000" dirty="0">
                <a:latin typeface="Arial Narrow" panose="020B0606020202030204" pitchFamily="34" charset="0"/>
              </a:rPr>
              <a:t>Fine-tune on a smaller real dataset. </a:t>
            </a:r>
          </a:p>
          <a:p>
            <a:r>
              <a:rPr lang="en-US" sz="2200" dirty="0">
                <a:latin typeface="Arial Narrow" panose="020B0606020202030204" pitchFamily="34" charset="0"/>
              </a:rPr>
              <a:t>This reduces the amount of real labeled data required while maintaining high performance.</a:t>
            </a:r>
          </a:p>
          <a:p>
            <a:endParaRPr lang="en-IN" dirty="0"/>
          </a:p>
        </p:txBody>
      </p:sp>
      <p:sp>
        <p:nvSpPr>
          <p:cNvPr id="5" name="Title 1">
            <a:extLst>
              <a:ext uri="{FF2B5EF4-FFF2-40B4-BE49-F238E27FC236}">
                <a16:creationId xmlns:a16="http://schemas.microsoft.com/office/drawing/2014/main" id="{E0D7597B-0484-4FAC-99DB-7041CA96A236}"/>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Why synthetic data is needed</a:t>
            </a:r>
            <a:endParaRPr lang="en-IN" sz="3600" dirty="0">
              <a:latin typeface="Century" panose="02040604050505020304" pitchFamily="18" charset="0"/>
            </a:endParaRPr>
          </a:p>
        </p:txBody>
      </p:sp>
    </p:spTree>
    <p:extLst>
      <p:ext uri="{BB962C8B-B14F-4D97-AF65-F5344CB8AC3E}">
        <p14:creationId xmlns:p14="http://schemas.microsoft.com/office/powerpoint/2010/main" val="1568331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D96B59-1106-4099-9841-79E844A18A78}"/>
              </a:ext>
            </a:extLst>
          </p:cNvPr>
          <p:cNvSpPr>
            <a:spLocks noGrp="1"/>
          </p:cNvSpPr>
          <p:nvPr>
            <p:ph idx="1"/>
          </p:nvPr>
        </p:nvSpPr>
        <p:spPr/>
        <p:txBody>
          <a:bodyPr>
            <a:normAutofit/>
          </a:bodyPr>
          <a:lstStyle/>
          <a:p>
            <a:r>
              <a:rPr lang="en-US" sz="2400" dirty="0">
                <a:solidFill>
                  <a:srgbClr val="00B0F0"/>
                </a:solidFill>
                <a:latin typeface="Arial Narrow" panose="020B0606020202030204" pitchFamily="34" charset="0"/>
              </a:rPr>
              <a:t>Helps when privacy is a concern: </a:t>
            </a:r>
            <a:r>
              <a:rPr lang="en-US" sz="2400" dirty="0">
                <a:latin typeface="Arial Narrow" panose="020B0606020202030204" pitchFamily="34" charset="0"/>
              </a:rPr>
              <a:t>In domains such as:</a:t>
            </a:r>
          </a:p>
          <a:p>
            <a:pPr lvl="1"/>
            <a:r>
              <a:rPr lang="en-US" sz="2200" dirty="0">
                <a:latin typeface="Arial Narrow" panose="020B0606020202030204" pitchFamily="34" charset="0"/>
              </a:rPr>
              <a:t>Healthcare </a:t>
            </a:r>
          </a:p>
          <a:p>
            <a:pPr lvl="1"/>
            <a:r>
              <a:rPr lang="en-US" sz="2200" dirty="0">
                <a:latin typeface="Arial Narrow" panose="020B0606020202030204" pitchFamily="34" charset="0"/>
              </a:rPr>
              <a:t>Surveillance </a:t>
            </a:r>
          </a:p>
          <a:p>
            <a:pPr lvl="1"/>
            <a:r>
              <a:rPr lang="en-US" sz="2200" dirty="0">
                <a:latin typeface="Arial Narrow" panose="020B0606020202030204" pitchFamily="34" charset="0"/>
              </a:rPr>
              <a:t>Retail analytics </a:t>
            </a:r>
          </a:p>
          <a:p>
            <a:r>
              <a:rPr lang="en-US" sz="2400" dirty="0">
                <a:latin typeface="Arial Narrow" panose="020B0606020202030204" pitchFamily="34" charset="0"/>
              </a:rPr>
              <a:t>real images may contain sensitive information.</a:t>
            </a:r>
          </a:p>
          <a:p>
            <a:endParaRPr lang="en-US" sz="2400" dirty="0">
              <a:latin typeface="Arial Narrow" panose="020B0606020202030204" pitchFamily="34" charset="0"/>
            </a:endParaRPr>
          </a:p>
          <a:p>
            <a:r>
              <a:rPr lang="en-US" sz="2400" dirty="0">
                <a:latin typeface="Arial Narrow" panose="020B0606020202030204" pitchFamily="34" charset="0"/>
              </a:rPr>
              <a:t>Synthetic data can mimic the statistical properties of real data without exposing actual individuals.</a:t>
            </a:r>
          </a:p>
          <a:p>
            <a:endParaRPr lang="en-US" dirty="0"/>
          </a:p>
          <a:p>
            <a:endParaRPr lang="en-IN" dirty="0"/>
          </a:p>
        </p:txBody>
      </p:sp>
      <p:sp>
        <p:nvSpPr>
          <p:cNvPr id="4" name="Title 1">
            <a:extLst>
              <a:ext uri="{FF2B5EF4-FFF2-40B4-BE49-F238E27FC236}">
                <a16:creationId xmlns:a16="http://schemas.microsoft.com/office/drawing/2014/main" id="{1A17B5B5-F4CE-49A9-820A-C27767DBCADD}"/>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Why synthetic data is needed</a:t>
            </a:r>
            <a:endParaRPr lang="en-IN" sz="3600" dirty="0">
              <a:latin typeface="Century" panose="02040604050505020304" pitchFamily="18" charset="0"/>
            </a:endParaRPr>
          </a:p>
        </p:txBody>
      </p:sp>
    </p:spTree>
    <p:extLst>
      <p:ext uri="{BB962C8B-B14F-4D97-AF65-F5344CB8AC3E}">
        <p14:creationId xmlns:p14="http://schemas.microsoft.com/office/powerpoint/2010/main" val="20221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6888F-69F1-4EE5-B267-A9F3F2BA4DEC}"/>
              </a:ext>
            </a:extLst>
          </p:cNvPr>
          <p:cNvSpPr>
            <a:spLocks noGrp="1"/>
          </p:cNvSpPr>
          <p:nvPr>
            <p:ph type="title"/>
          </p:nvPr>
        </p:nvSpPr>
        <p:spPr/>
        <p:txBody>
          <a:bodyPr>
            <a:normAutofit/>
          </a:bodyPr>
          <a:lstStyle/>
          <a:p>
            <a:r>
              <a:rPr lang="en-IN" sz="3600" dirty="0">
                <a:latin typeface="Century" panose="02040604050505020304" pitchFamily="18" charset="0"/>
              </a:rPr>
              <a:t>Problems with Synthetic Data</a:t>
            </a:r>
          </a:p>
        </p:txBody>
      </p:sp>
      <p:sp>
        <p:nvSpPr>
          <p:cNvPr id="3" name="Content Placeholder 2">
            <a:extLst>
              <a:ext uri="{FF2B5EF4-FFF2-40B4-BE49-F238E27FC236}">
                <a16:creationId xmlns:a16="http://schemas.microsoft.com/office/drawing/2014/main" id="{6F769D5C-83E9-4A21-830C-9139FD449202}"/>
              </a:ext>
            </a:extLst>
          </p:cNvPr>
          <p:cNvSpPr>
            <a:spLocks noGrp="1"/>
          </p:cNvSpPr>
          <p:nvPr>
            <p:ph idx="1"/>
          </p:nvPr>
        </p:nvSpPr>
        <p:spPr/>
        <p:txBody>
          <a:bodyPr>
            <a:normAutofit fontScale="85000" lnSpcReduction="20000"/>
          </a:bodyPr>
          <a:lstStyle/>
          <a:p>
            <a:pPr algn="just"/>
            <a:r>
              <a:rPr lang="en-US" dirty="0">
                <a:latin typeface="Arial Narrow" panose="020B0606020202030204" pitchFamily="34" charset="0"/>
              </a:rPr>
              <a:t>Synthetic data is not a complete replacement for real data because of the </a:t>
            </a:r>
            <a:r>
              <a:rPr lang="en-US" dirty="0">
                <a:solidFill>
                  <a:srgbClr val="00B0F0"/>
                </a:solidFill>
                <a:latin typeface="Arial Narrow" panose="020B0606020202030204" pitchFamily="34" charset="0"/>
              </a:rPr>
              <a:t>simulation-to-reality (Sim2Real) gap</a:t>
            </a:r>
            <a:r>
              <a:rPr lang="en-US" dirty="0">
                <a:latin typeface="Arial Narrow" panose="020B0606020202030204" pitchFamily="34" charset="0"/>
              </a:rPr>
              <a:t>.</a:t>
            </a:r>
          </a:p>
          <a:p>
            <a:endParaRPr lang="en-US" dirty="0">
              <a:latin typeface="Arial Narrow" panose="020B0606020202030204" pitchFamily="34" charset="0"/>
            </a:endParaRPr>
          </a:p>
          <a:p>
            <a:r>
              <a:rPr lang="en-US" dirty="0">
                <a:latin typeface="Arial Narrow" panose="020B0606020202030204" pitchFamily="34" charset="0"/>
              </a:rPr>
              <a:t>Models trained only on synthetic images may struggle with:</a:t>
            </a:r>
          </a:p>
          <a:p>
            <a:pPr lvl="1"/>
            <a:r>
              <a:rPr lang="en-US" dirty="0">
                <a:latin typeface="Arial Narrow" panose="020B0606020202030204" pitchFamily="34" charset="0"/>
              </a:rPr>
              <a:t>Real-world noise </a:t>
            </a:r>
          </a:p>
          <a:p>
            <a:pPr lvl="1"/>
            <a:r>
              <a:rPr lang="en-US" dirty="0">
                <a:latin typeface="Arial Narrow" panose="020B0606020202030204" pitchFamily="34" charset="0"/>
              </a:rPr>
              <a:t>Sensor artifacts </a:t>
            </a:r>
          </a:p>
          <a:p>
            <a:pPr lvl="1"/>
            <a:r>
              <a:rPr lang="en-US" dirty="0">
                <a:latin typeface="Arial Narrow" panose="020B0606020202030204" pitchFamily="34" charset="0"/>
              </a:rPr>
              <a:t>Unexpected object appearances </a:t>
            </a:r>
          </a:p>
          <a:p>
            <a:pPr lvl="1"/>
            <a:r>
              <a:rPr lang="en-US" dirty="0">
                <a:latin typeface="Arial Narrow" panose="020B0606020202030204" pitchFamily="34" charset="0"/>
              </a:rPr>
              <a:t>Complex lighting effects </a:t>
            </a:r>
          </a:p>
          <a:p>
            <a:pPr lvl="1"/>
            <a:endParaRPr lang="en-US" dirty="0">
              <a:latin typeface="Arial Narrow" panose="020B0606020202030204" pitchFamily="34" charset="0"/>
            </a:endParaRPr>
          </a:p>
          <a:p>
            <a:r>
              <a:rPr lang="en-US" dirty="0">
                <a:latin typeface="Arial Narrow" panose="020B0606020202030204" pitchFamily="34" charset="0"/>
              </a:rPr>
              <a:t>To reduce this gap, researchers use techniques such as:</a:t>
            </a:r>
          </a:p>
          <a:p>
            <a:pPr lvl="1"/>
            <a:r>
              <a:rPr lang="en-US" dirty="0">
                <a:latin typeface="Arial Narrow" panose="020B0606020202030204" pitchFamily="34" charset="0"/>
              </a:rPr>
              <a:t>Domain randomization </a:t>
            </a:r>
          </a:p>
          <a:p>
            <a:pPr lvl="1"/>
            <a:r>
              <a:rPr lang="en-US" dirty="0">
                <a:latin typeface="Arial Narrow" panose="020B0606020202030204" pitchFamily="34" charset="0"/>
              </a:rPr>
              <a:t>Photorealistic rendering </a:t>
            </a:r>
          </a:p>
          <a:p>
            <a:pPr lvl="1"/>
            <a:r>
              <a:rPr lang="en-US" dirty="0">
                <a:latin typeface="Arial Narrow" panose="020B0606020202030204" pitchFamily="34" charset="0"/>
              </a:rPr>
              <a:t>Generative AI augmentation </a:t>
            </a:r>
          </a:p>
          <a:p>
            <a:pPr lvl="1"/>
            <a:r>
              <a:rPr lang="en-US" dirty="0">
                <a:latin typeface="Arial Narrow" panose="020B0606020202030204" pitchFamily="34" charset="0"/>
              </a:rPr>
              <a:t>Fine-tuning with real-world samples</a:t>
            </a:r>
          </a:p>
          <a:p>
            <a:endParaRPr lang="en-IN" dirty="0"/>
          </a:p>
        </p:txBody>
      </p:sp>
    </p:spTree>
    <p:extLst>
      <p:ext uri="{BB962C8B-B14F-4D97-AF65-F5344CB8AC3E}">
        <p14:creationId xmlns:p14="http://schemas.microsoft.com/office/powerpoint/2010/main" val="2506897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01021-E116-41B0-A2C1-FF3926F8328B}"/>
              </a:ext>
            </a:extLst>
          </p:cNvPr>
          <p:cNvSpPr>
            <a:spLocks noGrp="1"/>
          </p:cNvSpPr>
          <p:nvPr>
            <p:ph type="title"/>
          </p:nvPr>
        </p:nvSpPr>
        <p:spPr/>
        <p:txBody>
          <a:bodyPr>
            <a:normAutofit/>
          </a:bodyPr>
          <a:lstStyle/>
          <a:p>
            <a:r>
              <a:rPr lang="en-IN" sz="3600" dirty="0">
                <a:latin typeface="Century" panose="02040604050505020304" pitchFamily="18" charset="0"/>
              </a:rPr>
              <a:t>Learning Models</a:t>
            </a:r>
          </a:p>
        </p:txBody>
      </p:sp>
      <p:sp>
        <p:nvSpPr>
          <p:cNvPr id="3" name="Content Placeholder 2">
            <a:extLst>
              <a:ext uri="{FF2B5EF4-FFF2-40B4-BE49-F238E27FC236}">
                <a16:creationId xmlns:a16="http://schemas.microsoft.com/office/drawing/2014/main" id="{41581E67-AD4E-4AAE-95EA-6190586DDF91}"/>
              </a:ext>
            </a:extLst>
          </p:cNvPr>
          <p:cNvSpPr>
            <a:spLocks noGrp="1"/>
          </p:cNvSpPr>
          <p:nvPr>
            <p:ph idx="1"/>
          </p:nvPr>
        </p:nvSpPr>
        <p:spPr/>
        <p:txBody>
          <a:bodyPr>
            <a:normAutofit/>
          </a:bodyPr>
          <a:lstStyle/>
          <a:p>
            <a:r>
              <a:rPr lang="en-US" sz="2000" dirty="0">
                <a:latin typeface="Arial Narrow" panose="020B0606020202030204" pitchFamily="34" charset="0"/>
              </a:rPr>
              <a:t>There are two types of learning models</a:t>
            </a:r>
          </a:p>
          <a:p>
            <a:pPr lvl="1"/>
            <a:r>
              <a:rPr lang="en-US" sz="2000" dirty="0">
                <a:latin typeface="Arial Narrow" panose="020B0606020202030204" pitchFamily="34" charset="0"/>
              </a:rPr>
              <a:t>Discriminative Learning Model</a:t>
            </a:r>
          </a:p>
          <a:p>
            <a:pPr lvl="1"/>
            <a:r>
              <a:rPr lang="en-US" sz="2000" dirty="0">
                <a:latin typeface="Arial Narrow" panose="020B0606020202030204" pitchFamily="34" charset="0"/>
              </a:rPr>
              <a:t>Generative Learning Model</a:t>
            </a:r>
          </a:p>
          <a:p>
            <a:pPr lvl="1"/>
            <a:endParaRPr lang="en-US" sz="2000" dirty="0">
              <a:latin typeface="Arial Narrow" panose="020B0606020202030204" pitchFamily="34" charset="0"/>
            </a:endParaRPr>
          </a:p>
          <a:p>
            <a:pPr algn="just"/>
            <a:r>
              <a:rPr lang="en-US" sz="2000" dirty="0">
                <a:latin typeface="Arial Narrow" panose="020B0606020202030204" pitchFamily="34" charset="0"/>
              </a:rPr>
              <a:t>A </a:t>
            </a:r>
            <a:r>
              <a:rPr lang="en-US" sz="2000" dirty="0">
                <a:solidFill>
                  <a:srgbClr val="00B0F0"/>
                </a:solidFill>
                <a:latin typeface="Arial Narrow" panose="020B0606020202030204" pitchFamily="34" charset="0"/>
              </a:rPr>
              <a:t>discriminative learning model </a:t>
            </a:r>
            <a:r>
              <a:rPr lang="en-US" sz="2000" dirty="0">
                <a:latin typeface="Arial Narrow" panose="020B0606020202030204" pitchFamily="34" charset="0"/>
              </a:rPr>
              <a:t>is a machine learning model that </a:t>
            </a:r>
            <a:r>
              <a:rPr lang="en-US" sz="2000" dirty="0">
                <a:solidFill>
                  <a:srgbClr val="00B0F0"/>
                </a:solidFill>
                <a:latin typeface="Arial Narrow" panose="020B0606020202030204" pitchFamily="34" charset="0"/>
              </a:rPr>
              <a:t>learns by discrimination </a:t>
            </a:r>
            <a:r>
              <a:rPr lang="en-US" sz="2000" dirty="0">
                <a:latin typeface="Arial Narrow" panose="020B0606020202030204" pitchFamily="34" charset="0"/>
              </a:rPr>
              <a:t>that means the </a:t>
            </a:r>
            <a:r>
              <a:rPr lang="en-US" sz="2000" dirty="0">
                <a:solidFill>
                  <a:srgbClr val="00B0F0"/>
                </a:solidFill>
                <a:latin typeface="Arial Narrow" panose="020B0606020202030204" pitchFamily="34" charset="0"/>
              </a:rPr>
              <a:t>boundary or relationship between input features and output labels</a:t>
            </a:r>
            <a:r>
              <a:rPr lang="en-US" sz="2000" dirty="0">
                <a:latin typeface="Arial Narrow" panose="020B0606020202030204" pitchFamily="34" charset="0"/>
              </a:rPr>
              <a:t>. Instead of modeling how the data is generated, it directly learns to predict the target class from the observed data.</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A </a:t>
            </a:r>
            <a:r>
              <a:rPr lang="en-US" sz="2000" dirty="0">
                <a:solidFill>
                  <a:srgbClr val="00B0F0"/>
                </a:solidFill>
                <a:latin typeface="Arial Narrow" panose="020B0606020202030204" pitchFamily="34" charset="0"/>
              </a:rPr>
              <a:t>generative learning model </a:t>
            </a:r>
            <a:r>
              <a:rPr lang="en-US" sz="2000" dirty="0">
                <a:latin typeface="Arial Narrow" panose="020B0606020202030204" pitchFamily="34" charset="0"/>
              </a:rPr>
              <a:t>is a machine learning model that learns </a:t>
            </a:r>
            <a:r>
              <a:rPr lang="en-US" sz="2000" dirty="0">
                <a:solidFill>
                  <a:srgbClr val="00B0F0"/>
                </a:solidFill>
                <a:latin typeface="Arial Narrow" panose="020B0606020202030204" pitchFamily="34" charset="0"/>
              </a:rPr>
              <a:t>how the data is generated</a:t>
            </a:r>
            <a:r>
              <a:rPr lang="en-US" sz="2000" dirty="0">
                <a:latin typeface="Arial Narrow" panose="020B0606020202030204" pitchFamily="34" charset="0"/>
              </a:rPr>
              <a:t>. Instead of only learning the relationship between inputs and labels, it learns the underlying probability distribution of the data.</a:t>
            </a:r>
          </a:p>
          <a:p>
            <a:endParaRPr lang="en-IN" dirty="0"/>
          </a:p>
        </p:txBody>
      </p:sp>
    </p:spTree>
    <p:extLst>
      <p:ext uri="{BB962C8B-B14F-4D97-AF65-F5344CB8AC3E}">
        <p14:creationId xmlns:p14="http://schemas.microsoft.com/office/powerpoint/2010/main" val="106251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4209-893F-4B19-80EF-B4191BFE41F8}"/>
              </a:ext>
            </a:extLst>
          </p:cNvPr>
          <p:cNvSpPr>
            <a:spLocks noGrp="1"/>
          </p:cNvSpPr>
          <p:nvPr>
            <p:ph type="title"/>
          </p:nvPr>
        </p:nvSpPr>
        <p:spPr/>
        <p:txBody>
          <a:bodyPr>
            <a:normAutofit fontScale="90000"/>
          </a:bodyPr>
          <a:lstStyle/>
          <a:p>
            <a:br>
              <a:rPr lang="en-US" sz="4000" dirty="0">
                <a:latin typeface="Century" panose="02040604050505020304" pitchFamily="18" charset="0"/>
              </a:rPr>
            </a:br>
            <a:r>
              <a:rPr lang="en-US" sz="4000" dirty="0">
                <a:latin typeface="Century" panose="02040604050505020304" pitchFamily="18" charset="0"/>
              </a:rPr>
              <a:t>Discriminative Learning Model</a:t>
            </a:r>
            <a:br>
              <a:rPr lang="en-US" dirty="0">
                <a:latin typeface="Arial Narrow" panose="020B0606020202030204" pitchFamily="34" charset="0"/>
              </a:rPr>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C098F5-1115-4E7C-8174-0F172FF2C4C9}"/>
                  </a:ext>
                </a:extLst>
              </p:cNvPr>
              <p:cNvSpPr>
                <a:spLocks noGrp="1"/>
              </p:cNvSpPr>
              <p:nvPr>
                <p:ph idx="1"/>
              </p:nvPr>
            </p:nvSpPr>
            <p:spPr/>
            <p:txBody>
              <a:bodyPr>
                <a:normAutofit/>
              </a:bodyPr>
              <a:lstStyle/>
              <a:p>
                <a:r>
                  <a:rPr lang="en-US" sz="2000" dirty="0">
                    <a:latin typeface="Arial Narrow" panose="020B0606020202030204" pitchFamily="34" charset="0"/>
                  </a:rPr>
                  <a:t>A </a:t>
                </a:r>
                <a:r>
                  <a:rPr lang="en-US" sz="2000" dirty="0">
                    <a:solidFill>
                      <a:srgbClr val="00B0F0"/>
                    </a:solidFill>
                    <a:latin typeface="Arial Narrow" panose="020B0606020202030204" pitchFamily="34" charset="0"/>
                  </a:rPr>
                  <a:t>discriminative model </a:t>
                </a:r>
                <a:r>
                  <a:rPr lang="en-US" sz="2000" dirty="0">
                    <a:latin typeface="Arial Narrow" panose="020B0606020202030204" pitchFamily="34" charset="0"/>
                  </a:rPr>
                  <a:t>focuses on learning the relationship between an input </a:t>
                </a:r>
                <a14:m>
                  <m:oMath xmlns:m="http://schemas.openxmlformats.org/officeDocument/2006/math">
                    <m:r>
                      <a:rPr lang="en-US" sz="2000" i="1" dirty="0" smtClean="0">
                        <a:latin typeface="Cambria Math" panose="02040503050406030204" pitchFamily="18" charset="0"/>
                      </a:rPr>
                      <m:t>𝑋</m:t>
                    </m:r>
                  </m:oMath>
                </a14:m>
                <a:r>
                  <a:rPr lang="en-US" sz="2000" dirty="0">
                    <a:latin typeface="Arial Narrow" panose="020B0606020202030204" pitchFamily="34" charset="0"/>
                  </a:rPr>
                  <a:t> and an output </a:t>
                </a:r>
                <a14:m>
                  <m:oMath xmlns:m="http://schemas.openxmlformats.org/officeDocument/2006/math">
                    <m:r>
                      <a:rPr lang="en-US" sz="2000" i="1" dirty="0" smtClean="0">
                        <a:latin typeface="Cambria Math" panose="02040503050406030204" pitchFamily="18" charset="0"/>
                      </a:rPr>
                      <m:t>𝑌</m:t>
                    </m:r>
                  </m:oMath>
                </a14:m>
                <a:r>
                  <a:rPr lang="en-US" sz="2000" dirty="0">
                    <a:latin typeface="Arial Narrow" panose="020B0606020202030204" pitchFamily="34" charset="0"/>
                  </a:rPr>
                  <a:t> by directly estimating the </a:t>
                </a:r>
                <a:r>
                  <a:rPr lang="en-US" sz="2000" dirty="0">
                    <a:solidFill>
                      <a:srgbClr val="00B0F0"/>
                    </a:solidFill>
                    <a:latin typeface="Arial Narrow" panose="020B0606020202030204" pitchFamily="34" charset="0"/>
                  </a:rPr>
                  <a:t>conditional probability</a:t>
                </a:r>
              </a:p>
              <a:p>
                <a:pPr marL="0" indent="0">
                  <a:buNone/>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𝑃</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𝑌</m:t>
                          </m:r>
                        </m:e>
                        <m:e>
                          <m:r>
                            <a:rPr lang="en-IN" sz="2000" b="0" i="1" smtClean="0">
                              <a:latin typeface="Cambria Math" panose="02040503050406030204" pitchFamily="18" charset="0"/>
                            </a:rPr>
                            <m:t>𝑋</m:t>
                          </m:r>
                        </m:e>
                      </m:d>
                    </m:oMath>
                  </m:oMathPara>
                </a14:m>
                <a:endParaRPr lang="en-IN" sz="2000" b="0" dirty="0">
                  <a:latin typeface="Arial Narrow" panose="020B0606020202030204" pitchFamily="34" charset="0"/>
                </a:endParaRPr>
              </a:p>
              <a:p>
                <a:pPr marL="0" indent="0">
                  <a:buNone/>
                </a:pPr>
                <a:r>
                  <a:rPr lang="en-US" sz="2000" dirty="0">
                    <a:latin typeface="Arial Narrow" panose="020B0606020202030204" pitchFamily="34" charset="0"/>
                  </a:rPr>
                  <a:t>    or by learning a decision function </a:t>
                </a:r>
                <a14:m>
                  <m:oMath xmlns:m="http://schemas.openxmlformats.org/officeDocument/2006/math">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𝑋</m:t>
                    </m:r>
                    <m:r>
                      <a:rPr lang="en-US" sz="2000" i="1" dirty="0" smtClean="0">
                        <a:latin typeface="Cambria Math" panose="02040503050406030204" pitchFamily="18" charset="0"/>
                      </a:rPr>
                      <m:t>)</m:t>
                    </m:r>
                  </m:oMath>
                </a14:m>
                <a:r>
                  <a:rPr lang="en-US" sz="2000" dirty="0">
                    <a:latin typeface="Arial Narrow" panose="020B0606020202030204" pitchFamily="34" charset="0"/>
                  </a:rPr>
                  <a:t> that maps inputs to outputs.</a:t>
                </a:r>
              </a:p>
              <a:p>
                <a:r>
                  <a:rPr lang="en-IN" sz="2000" dirty="0">
                    <a:latin typeface="Arial Narrow" panose="020B0606020202030204" pitchFamily="34" charset="0"/>
                  </a:rPr>
                  <a:t>Statistical Perspective:</a:t>
                </a:r>
              </a:p>
              <a:p>
                <a:r>
                  <a:rPr lang="en-IN" sz="2000" dirty="0">
                    <a:latin typeface="Arial Narrow" panose="020B0606020202030204" pitchFamily="34" charset="0"/>
                  </a:rPr>
                  <a:t>Suppose we have dataset</a:t>
                </a:r>
              </a:p>
              <a:p>
                <a:pPr marL="0" indent="0">
                  <a:buNone/>
                </a:pPr>
                <a:r>
                  <a:rPr lang="en-IN" sz="2000" dirty="0">
                    <a:latin typeface="Arial Narrow" panose="020B0606020202030204" pitchFamily="34" charset="0"/>
                  </a:rPr>
                  <a:t>                                           </a:t>
                </a:r>
                <a14:m>
                  <m:oMath xmlns:m="http://schemas.openxmlformats.org/officeDocument/2006/math">
                    <m:r>
                      <a:rPr lang="en-US" sz="2000" i="1" smtClean="0">
                        <a:latin typeface="Cambria Math" panose="02040503050406030204" pitchFamily="18" charset="0"/>
                      </a:rPr>
                      <m:t>𝐷</m:t>
                    </m:r>
                    <m:r>
                      <a:rPr lang="en-US" sz="2000" i="1" smtClean="0">
                        <a:latin typeface="Cambria Math" panose="02040503050406030204" pitchFamily="18" charset="0"/>
                      </a:rPr>
                      <m:t>=</m:t>
                    </m:r>
                    <m:d>
                      <m:dPr>
                        <m:begChr m:val="{"/>
                        <m:endChr m:val="}"/>
                        <m:ctrlPr>
                          <a:rPr lang="en-US" sz="2000" i="1">
                            <a:latin typeface="Cambria Math" panose="02040503050406030204" pitchFamily="18" charset="0"/>
                          </a:rPr>
                        </m:ctrlPr>
                      </m:d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𝐱</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1</m:t>
                                </m:r>
                              </m:sub>
                            </m:sSub>
                          </m:e>
                        </m:d>
                        <m:r>
                          <a:rPr lang="en-US" sz="2000" i="1">
                            <a:latin typeface="Cambria Math" panose="02040503050406030204" pitchFamily="18" charset="0"/>
                          </a:rPr>
                          <m:t>, ……</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𝐱</m:t>
                                </m:r>
                              </m:e>
                              <m:sub>
                                <m:r>
                                  <a:rPr lang="en-US" sz="2000" i="1">
                                    <a:latin typeface="Cambria Math" panose="02040503050406030204" pitchFamily="18" charset="0"/>
                                  </a:rPr>
                                  <m:t>𝑛</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𝑛</m:t>
                                </m:r>
                              </m:sub>
                            </m:sSub>
                          </m:e>
                        </m:d>
                      </m:e>
                    </m:d>
                  </m:oMath>
                </a14:m>
                <a:endParaRPr lang="en-IN" sz="2000" dirty="0">
                  <a:latin typeface="Arial Narrow" panose="020B0606020202030204" pitchFamily="34" charset="0"/>
                </a:endParaRPr>
              </a:p>
              <a:p>
                <a:pPr marL="0" indent="0">
                  <a:buNone/>
                </a:pPr>
                <a:r>
                  <a:rPr lang="en-US" sz="2000" dirty="0">
                    <a:latin typeface="Arial Narrow" panose="020B0606020202030204" pitchFamily="34" charset="0"/>
                  </a:rPr>
                  <a:t>                                                             where: </a:t>
                </a:r>
                <a14:m>
                  <m:oMath xmlns:m="http://schemas.openxmlformats.org/officeDocument/2006/math">
                    <m:sSub>
                      <m:sSubPr>
                        <m:ctrlPr>
                          <a:rPr lang="en-US" sz="2000" i="1" smtClean="0">
                            <a:latin typeface="Cambria Math" panose="02040503050406030204" pitchFamily="18" charset="0"/>
                          </a:rPr>
                        </m:ctrlPr>
                      </m:sSubPr>
                      <m:e>
                        <m:r>
                          <a:rPr lang="en-US" sz="2000" b="1" i="1">
                            <a:latin typeface="Cambria Math" panose="02040503050406030204" pitchFamily="18" charset="0"/>
                          </a:rPr>
                          <m:t>𝐱</m:t>
                        </m:r>
                      </m:e>
                      <m:sub>
                        <m:r>
                          <a:rPr lang="en-IN" sz="2000" b="0" i="1" smtClean="0">
                            <a:latin typeface="Cambria Math" panose="02040503050406030204" pitchFamily="18" charset="0"/>
                          </a:rPr>
                          <m:t>𝑖</m:t>
                        </m:r>
                      </m:sub>
                    </m:sSub>
                    <m:r>
                      <a:rPr lang="en-US" sz="2000" i="1">
                        <a:latin typeface="Cambria Math" panose="02040503050406030204" pitchFamily="18" charset="0"/>
                      </a:rPr>
                      <m:t> </m:t>
                    </m:r>
                  </m:oMath>
                </a14:m>
                <a:r>
                  <a:rPr lang="en-US" sz="2000" dirty="0">
                    <a:latin typeface="Arial Narrow" panose="020B0606020202030204" pitchFamily="34" charset="0"/>
                  </a:rPr>
                  <a:t>= feature vector,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𝑦</m:t>
                        </m:r>
                      </m:e>
                      <m:sub>
                        <m:r>
                          <a:rPr lang="en-IN" sz="2000" b="0" i="1" smtClean="0">
                            <a:latin typeface="Cambria Math" panose="02040503050406030204" pitchFamily="18" charset="0"/>
                          </a:rPr>
                          <m:t>𝑖</m:t>
                        </m:r>
                      </m:sub>
                    </m:sSub>
                    <m:r>
                      <a:rPr lang="en-US" sz="2000" i="1">
                        <a:latin typeface="Cambria Math" panose="02040503050406030204" pitchFamily="18" charset="0"/>
                      </a:rPr>
                      <m:t> </m:t>
                    </m:r>
                  </m:oMath>
                </a14:m>
                <a:r>
                  <a:rPr lang="en-US" sz="2000" dirty="0">
                    <a:latin typeface="Arial Narrow" panose="020B0606020202030204" pitchFamily="34" charset="0"/>
                  </a:rPr>
                  <a:t>= class label</a:t>
                </a:r>
              </a:p>
              <a:p>
                <a:r>
                  <a:rPr lang="en-US" sz="2000" dirty="0">
                    <a:latin typeface="Arial Narrow" panose="020B0606020202030204" pitchFamily="34" charset="0"/>
                  </a:rPr>
                  <a:t>The goal is to estimate: </a:t>
                </a:r>
                <a:endParaRPr lang="en-IN"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ES" sz="2000" i="1" dirty="0" smtClean="0">
                          <a:latin typeface="Cambria Math" panose="02040503050406030204" pitchFamily="18" charset="0"/>
                        </a:rPr>
                        <m:t>𝑃</m:t>
                      </m:r>
                      <m:r>
                        <a:rPr lang="es-ES" sz="2000" i="1" dirty="0" smtClean="0">
                          <a:latin typeface="Cambria Math" panose="02040503050406030204" pitchFamily="18" charset="0"/>
                        </a:rPr>
                        <m:t>(</m:t>
                      </m:r>
                      <m:r>
                        <a:rPr lang="es-ES" sz="2000" i="1" dirty="0" smtClean="0">
                          <a:latin typeface="Cambria Math" panose="02040503050406030204" pitchFamily="18" charset="0"/>
                        </a:rPr>
                        <m:t>𝑌</m:t>
                      </m:r>
                      <m:r>
                        <a:rPr lang="es-ES" sz="2000" i="1" dirty="0" smtClean="0">
                          <a:latin typeface="Cambria Math" panose="02040503050406030204" pitchFamily="18" charset="0"/>
                        </a:rPr>
                        <m:t>=</m:t>
                      </m:r>
                      <m:r>
                        <a:rPr lang="es-ES" sz="2000" i="1" dirty="0" err="1" smtClean="0">
                          <a:latin typeface="Cambria Math" panose="02040503050406030204" pitchFamily="18" charset="0"/>
                        </a:rPr>
                        <m:t>𝑦</m:t>
                      </m:r>
                      <m:r>
                        <a:rPr lang="es-ES" sz="2000" i="1" dirty="0" err="1" smtClean="0">
                          <a:latin typeface="Cambria Math" panose="02040503050406030204" pitchFamily="18" charset="0"/>
                        </a:rPr>
                        <m:t>∣</m:t>
                      </m:r>
                      <m:r>
                        <a:rPr lang="es-ES" sz="2000" i="1" dirty="0" err="1" smtClean="0">
                          <a:latin typeface="Cambria Math" panose="02040503050406030204" pitchFamily="18" charset="0"/>
                        </a:rPr>
                        <m:t>𝑋</m:t>
                      </m:r>
                      <m:r>
                        <a:rPr lang="es-ES" sz="2000" i="1" dirty="0" smtClean="0">
                          <a:latin typeface="Cambria Math" panose="02040503050406030204" pitchFamily="18" charset="0"/>
                        </a:rPr>
                        <m:t>=</m:t>
                      </m:r>
                      <m:r>
                        <a:rPr lang="es-ES" sz="2000" i="1" dirty="0" smtClean="0">
                          <a:latin typeface="Cambria Math" panose="02040503050406030204" pitchFamily="18" charset="0"/>
                        </a:rPr>
                        <m:t>𝑥</m:t>
                      </m:r>
                      <m:r>
                        <a:rPr lang="es-ES" sz="2000" i="1" dirty="0" smtClean="0">
                          <a:latin typeface="Cambria Math" panose="02040503050406030204" pitchFamily="18" charset="0"/>
                        </a:rPr>
                        <m:t>)</m:t>
                      </m:r>
                    </m:oMath>
                  </m:oMathPara>
                </a14:m>
                <a:endParaRPr lang="en-IN" sz="2000" dirty="0">
                  <a:latin typeface="Arial Narrow" panose="020B0606020202030204" pitchFamily="34" charset="0"/>
                </a:endParaRPr>
              </a:p>
              <a:p>
                <a:pPr marL="0" indent="0">
                  <a:buNone/>
                </a:pPr>
                <a:r>
                  <a:rPr lang="en-IN" sz="2000" dirty="0">
                    <a:latin typeface="Arial Narrow" panose="020B0606020202030204" pitchFamily="34" charset="0"/>
                  </a:rPr>
                  <a:t>                                                                                                  directly from training data.</a:t>
                </a:r>
              </a:p>
              <a:p>
                <a:pPr marL="0" indent="0">
                  <a:buNone/>
                </a:pPr>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05C098F5-1115-4E7C-8174-0F172FF2C4C9}"/>
                  </a:ext>
                </a:extLst>
              </p:cNvPr>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en-IN">
                    <a:noFill/>
                  </a:rPr>
                  <a:t> </a:t>
                </a:r>
              </a:p>
            </p:txBody>
          </p:sp>
        </mc:Fallback>
      </mc:AlternateContent>
    </p:spTree>
    <p:extLst>
      <p:ext uri="{BB962C8B-B14F-4D97-AF65-F5344CB8AC3E}">
        <p14:creationId xmlns:p14="http://schemas.microsoft.com/office/powerpoint/2010/main" val="881712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6E18BF-D540-4687-8AF6-DB3480B23F17}"/>
                  </a:ext>
                </a:extLst>
              </p:cNvPr>
              <p:cNvSpPr>
                <a:spLocks noGrp="1"/>
              </p:cNvSpPr>
              <p:nvPr>
                <p:ph idx="1"/>
              </p:nvPr>
            </p:nvSpPr>
            <p:spPr/>
            <p:txBody>
              <a:bodyPr>
                <a:normAutofit/>
              </a:bodyPr>
              <a:lstStyle/>
              <a:p>
                <a:pPr algn="just"/>
                <a:r>
                  <a:rPr lang="en-US" sz="2000" dirty="0">
                    <a:latin typeface="Arial Narrow" panose="020B0606020202030204" pitchFamily="34" charset="0"/>
                  </a:rPr>
                  <a:t>From the </a:t>
                </a:r>
                <a:r>
                  <a:rPr lang="en-US" sz="2000" dirty="0">
                    <a:solidFill>
                      <a:srgbClr val="00B0F0"/>
                    </a:solidFill>
                    <a:latin typeface="Arial Narrow" panose="020B0606020202030204" pitchFamily="34" charset="0"/>
                  </a:rPr>
                  <a:t>statistical perspective</a:t>
                </a:r>
                <a:r>
                  <a:rPr lang="en-US" sz="2000" dirty="0">
                    <a:latin typeface="Arial Narrow" panose="020B0606020202030204" pitchFamily="34" charset="0"/>
                  </a:rPr>
                  <a:t>, discriminative learning is about estimating the relationship between inputs and outputs directly, without modeling how the inputs themselves are generated.</a:t>
                </a:r>
              </a:p>
              <a:p>
                <a:pPr algn="just"/>
                <a:r>
                  <a:rPr lang="en-IN" sz="2000" dirty="0">
                    <a:latin typeface="Arial Narrow" panose="020B0606020202030204" pitchFamily="34" charset="0"/>
                  </a:rPr>
                  <a:t>Suppose we have data:</a:t>
                </a:r>
              </a:p>
              <a:p>
                <a:pPr marL="0" indent="0">
                  <a:buNone/>
                </a:pPr>
                <a14:m>
                  <m:oMathPara xmlns:m="http://schemas.openxmlformats.org/officeDocument/2006/math">
                    <m:oMathParaPr>
                      <m:jc m:val="centerGroup"/>
                    </m:oMathParaPr>
                    <m:oMath xmlns:m="http://schemas.openxmlformats.org/officeDocument/2006/math">
                      <m:r>
                        <a:rPr lang="en-US" sz="2000" i="1" smtClean="0">
                          <a:solidFill>
                            <a:srgbClr val="00B0F0"/>
                          </a:solidFill>
                          <a:latin typeface="Cambria Math" panose="02040503050406030204" pitchFamily="18" charset="0"/>
                        </a:rPr>
                        <m:t>𝐷</m:t>
                      </m:r>
                      <m:r>
                        <a:rPr lang="en-US" sz="2000" i="1" smtClean="0">
                          <a:solidFill>
                            <a:srgbClr val="00B0F0"/>
                          </a:solidFill>
                          <a:latin typeface="Cambria Math" panose="02040503050406030204" pitchFamily="18" charset="0"/>
                        </a:rPr>
                        <m:t>=</m:t>
                      </m:r>
                      <m:d>
                        <m:dPr>
                          <m:begChr m:val="{"/>
                          <m:endChr m:val="}"/>
                          <m:ctrlPr>
                            <a:rPr lang="en-US" sz="2000" i="1">
                              <a:solidFill>
                                <a:srgbClr val="00B0F0"/>
                              </a:solidFill>
                              <a:latin typeface="Cambria Math" panose="02040503050406030204" pitchFamily="18" charset="0"/>
                            </a:rPr>
                          </m:ctrlPr>
                        </m:dPr>
                        <m:e>
                          <m:d>
                            <m:dPr>
                              <m:ctrlPr>
                                <a:rPr lang="en-US" sz="2000" i="1">
                                  <a:solidFill>
                                    <a:srgbClr val="00B0F0"/>
                                  </a:solidFill>
                                  <a:latin typeface="Cambria Math" panose="02040503050406030204" pitchFamily="18" charset="0"/>
                                </a:rPr>
                              </m:ctrlPr>
                            </m:dPr>
                            <m:e>
                              <m:sSub>
                                <m:sSubPr>
                                  <m:ctrlPr>
                                    <a:rPr lang="en-US" sz="2000" i="1">
                                      <a:solidFill>
                                        <a:srgbClr val="00B0F0"/>
                                      </a:solidFill>
                                      <a:latin typeface="Cambria Math" panose="02040503050406030204" pitchFamily="18" charset="0"/>
                                    </a:rPr>
                                  </m:ctrlPr>
                                </m:sSubPr>
                                <m:e>
                                  <m:r>
                                    <a:rPr lang="en-US" sz="2000" b="1" i="1">
                                      <a:solidFill>
                                        <a:srgbClr val="00B0F0"/>
                                      </a:solidFill>
                                      <a:latin typeface="Cambria Math" panose="02040503050406030204" pitchFamily="18" charset="0"/>
                                    </a:rPr>
                                    <m:t>𝐱</m:t>
                                  </m:r>
                                </m:e>
                                <m:sub>
                                  <m:r>
                                    <a:rPr lang="en-US" sz="2000" i="1">
                                      <a:solidFill>
                                        <a:srgbClr val="00B0F0"/>
                                      </a:solidFill>
                                      <a:latin typeface="Cambria Math" panose="02040503050406030204" pitchFamily="18" charset="0"/>
                                    </a:rPr>
                                    <m:t>1</m:t>
                                  </m:r>
                                </m:sub>
                              </m:sSub>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𝑦</m:t>
                                  </m:r>
                                </m:e>
                                <m:sub>
                                  <m:r>
                                    <a:rPr lang="en-US" sz="2000" i="1">
                                      <a:solidFill>
                                        <a:srgbClr val="00B0F0"/>
                                      </a:solidFill>
                                      <a:latin typeface="Cambria Math" panose="02040503050406030204" pitchFamily="18" charset="0"/>
                                    </a:rPr>
                                    <m:t>1</m:t>
                                  </m:r>
                                </m:sub>
                              </m:sSub>
                            </m:e>
                          </m:d>
                          <m:r>
                            <a:rPr lang="en-US" sz="2000" i="1">
                              <a:solidFill>
                                <a:srgbClr val="00B0F0"/>
                              </a:solidFill>
                              <a:latin typeface="Cambria Math" panose="02040503050406030204" pitchFamily="18" charset="0"/>
                            </a:rPr>
                            <m:t>, ……</m:t>
                          </m:r>
                          <m:d>
                            <m:dPr>
                              <m:ctrlPr>
                                <a:rPr lang="en-US" sz="2000" i="1">
                                  <a:solidFill>
                                    <a:srgbClr val="00B0F0"/>
                                  </a:solidFill>
                                  <a:latin typeface="Cambria Math" panose="02040503050406030204" pitchFamily="18" charset="0"/>
                                </a:rPr>
                              </m:ctrlPr>
                            </m:dPr>
                            <m:e>
                              <m:sSub>
                                <m:sSubPr>
                                  <m:ctrlPr>
                                    <a:rPr lang="en-US" sz="2000" i="1">
                                      <a:solidFill>
                                        <a:srgbClr val="00B0F0"/>
                                      </a:solidFill>
                                      <a:latin typeface="Cambria Math" panose="02040503050406030204" pitchFamily="18" charset="0"/>
                                    </a:rPr>
                                  </m:ctrlPr>
                                </m:sSubPr>
                                <m:e>
                                  <m:r>
                                    <a:rPr lang="en-US" sz="2000" b="1" i="1">
                                      <a:solidFill>
                                        <a:srgbClr val="00B0F0"/>
                                      </a:solidFill>
                                      <a:latin typeface="Cambria Math" panose="02040503050406030204" pitchFamily="18" charset="0"/>
                                    </a:rPr>
                                    <m:t>𝐱</m:t>
                                  </m:r>
                                </m:e>
                                <m:sub>
                                  <m:r>
                                    <a:rPr lang="en-US" sz="2000" i="1">
                                      <a:solidFill>
                                        <a:srgbClr val="00B0F0"/>
                                      </a:solidFill>
                                      <a:latin typeface="Cambria Math" panose="02040503050406030204" pitchFamily="18" charset="0"/>
                                    </a:rPr>
                                    <m:t>𝑛</m:t>
                                  </m:r>
                                </m:sub>
                              </m:sSub>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𝑦</m:t>
                                  </m:r>
                                </m:e>
                                <m:sub>
                                  <m:r>
                                    <a:rPr lang="en-US" sz="2000" i="1">
                                      <a:solidFill>
                                        <a:srgbClr val="00B0F0"/>
                                      </a:solidFill>
                                      <a:latin typeface="Cambria Math" panose="02040503050406030204" pitchFamily="18" charset="0"/>
                                    </a:rPr>
                                    <m:t>𝑛</m:t>
                                  </m:r>
                                </m:sub>
                              </m:sSub>
                            </m:e>
                          </m:d>
                        </m:e>
                      </m:d>
                    </m:oMath>
                  </m:oMathPara>
                </a14:m>
                <a:endParaRPr lang="en-IN" sz="2000" dirty="0">
                  <a:latin typeface="Arial Narrow" panose="020B0606020202030204" pitchFamily="34" charset="0"/>
                </a:endParaRPr>
              </a:p>
              <a:p>
                <a:pPr marL="0" indent="0">
                  <a:buNone/>
                </a:pPr>
                <a:r>
                  <a:rPr lang="en-US" sz="2000" dirty="0">
                    <a:latin typeface="Arial Narrow" panose="020B0606020202030204" pitchFamily="34" charset="0"/>
                  </a:rPr>
                  <a:t>                                                             where: </a:t>
                </a:r>
                <a14:m>
                  <m:oMath xmlns:m="http://schemas.openxmlformats.org/officeDocument/2006/math">
                    <m:sSub>
                      <m:sSubPr>
                        <m:ctrlPr>
                          <a:rPr lang="en-US" sz="2000" i="1" smtClean="0">
                            <a:solidFill>
                              <a:srgbClr val="00B0F0"/>
                            </a:solidFill>
                            <a:latin typeface="Cambria Math" panose="02040503050406030204" pitchFamily="18" charset="0"/>
                          </a:rPr>
                        </m:ctrlPr>
                      </m:sSubPr>
                      <m:e>
                        <m:r>
                          <a:rPr lang="en-US" sz="2000" b="1" i="1">
                            <a:solidFill>
                              <a:srgbClr val="00B0F0"/>
                            </a:solidFill>
                            <a:latin typeface="Cambria Math" panose="02040503050406030204" pitchFamily="18" charset="0"/>
                          </a:rPr>
                          <m:t>𝐱</m:t>
                        </m:r>
                      </m:e>
                      <m:sub>
                        <m:r>
                          <a:rPr lang="en-IN" sz="2000" b="0" i="1" smtClean="0">
                            <a:solidFill>
                              <a:srgbClr val="00B0F0"/>
                            </a:solidFill>
                            <a:latin typeface="Cambria Math" panose="02040503050406030204" pitchFamily="18" charset="0"/>
                          </a:rPr>
                          <m:t>𝑖</m:t>
                        </m:r>
                      </m:sub>
                    </m:sSub>
                    <m:r>
                      <a:rPr lang="en-US" sz="2000" i="1">
                        <a:solidFill>
                          <a:srgbClr val="00B0F0"/>
                        </a:solidFill>
                        <a:latin typeface="Cambria Math" panose="02040503050406030204" pitchFamily="18" charset="0"/>
                      </a:rPr>
                      <m:t> </m:t>
                    </m:r>
                  </m:oMath>
                </a14:m>
                <a:r>
                  <a:rPr lang="en-US" sz="2000" dirty="0">
                    <a:latin typeface="Arial Narrow" panose="020B0606020202030204" pitchFamily="34" charset="0"/>
                  </a:rPr>
                  <a:t>= feature vector (input), </a:t>
                </a:r>
                <a14:m>
                  <m:oMath xmlns:m="http://schemas.openxmlformats.org/officeDocument/2006/math">
                    <m:sSub>
                      <m:sSubPr>
                        <m:ctrlPr>
                          <a:rPr lang="en-US" sz="2000" i="1" smtClean="0">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𝑦</m:t>
                        </m:r>
                      </m:e>
                      <m:sub>
                        <m:r>
                          <a:rPr lang="en-IN" sz="2000" b="0" i="1" smtClean="0">
                            <a:solidFill>
                              <a:srgbClr val="00B0F0"/>
                            </a:solidFill>
                            <a:latin typeface="Cambria Math" panose="02040503050406030204" pitchFamily="18" charset="0"/>
                          </a:rPr>
                          <m:t>𝑖</m:t>
                        </m:r>
                      </m:sub>
                    </m:sSub>
                    <m:r>
                      <a:rPr lang="en-US" sz="2000" i="1">
                        <a:solidFill>
                          <a:srgbClr val="00B0F0"/>
                        </a:solidFill>
                        <a:latin typeface="Cambria Math" panose="02040503050406030204" pitchFamily="18" charset="0"/>
                      </a:rPr>
                      <m:t> </m:t>
                    </m:r>
                  </m:oMath>
                </a14:m>
                <a:r>
                  <a:rPr lang="en-US" sz="2000" dirty="0">
                    <a:latin typeface="Arial Narrow" panose="020B0606020202030204" pitchFamily="34" charset="0"/>
                  </a:rPr>
                  <a:t>= class label (output)</a:t>
                </a:r>
              </a:p>
              <a:p>
                <a:r>
                  <a:rPr lang="en-US" sz="2000" dirty="0">
                    <a:latin typeface="Arial Narrow" panose="020B0606020202030204" pitchFamily="34" charset="0"/>
                  </a:rPr>
                  <a:t>The data are assumed to be drawn from some unknown joint distribution: </a:t>
                </a:r>
                <a14:m>
                  <m:oMath xmlns:m="http://schemas.openxmlformats.org/officeDocument/2006/math">
                    <m:r>
                      <a:rPr lang="en-IN" sz="2000" b="0" i="1" smtClean="0">
                        <a:solidFill>
                          <a:srgbClr val="00B0F0"/>
                        </a:solidFill>
                        <a:latin typeface="Cambria Math" panose="02040503050406030204" pitchFamily="18" charset="0"/>
                      </a:rPr>
                      <m:t>𝑃</m:t>
                    </m:r>
                    <m:d>
                      <m:dPr>
                        <m:ctrlPr>
                          <a:rPr lang="en-IN" sz="2000" b="0" i="1" smtClean="0">
                            <a:solidFill>
                              <a:srgbClr val="00B0F0"/>
                            </a:solidFill>
                            <a:latin typeface="Cambria Math" panose="02040503050406030204" pitchFamily="18" charset="0"/>
                          </a:rPr>
                        </m:ctrlPr>
                      </m:dPr>
                      <m:e>
                        <m:r>
                          <a:rPr lang="en-IN" sz="2000" b="0" i="1" smtClean="0">
                            <a:solidFill>
                              <a:srgbClr val="00B0F0"/>
                            </a:solidFill>
                            <a:latin typeface="Cambria Math" panose="02040503050406030204" pitchFamily="18" charset="0"/>
                          </a:rPr>
                          <m:t>𝑋</m:t>
                        </m:r>
                        <m:r>
                          <a:rPr lang="en-IN" sz="2000" b="0" i="1" smtClean="0">
                            <a:solidFill>
                              <a:srgbClr val="00B0F0"/>
                            </a:solidFill>
                            <a:latin typeface="Cambria Math" panose="02040503050406030204" pitchFamily="18" charset="0"/>
                          </a:rPr>
                          <m:t>,</m:t>
                        </m:r>
                        <m:r>
                          <a:rPr lang="en-IN" sz="2000" b="0" i="1" smtClean="0">
                            <a:solidFill>
                              <a:srgbClr val="00B0F0"/>
                            </a:solidFill>
                            <a:latin typeface="Cambria Math" panose="02040503050406030204" pitchFamily="18" charset="0"/>
                          </a:rPr>
                          <m:t>𝑌</m:t>
                        </m:r>
                      </m:e>
                    </m:d>
                  </m:oMath>
                </a14:m>
                <a:endParaRPr lang="en-IN" sz="2000" b="0" dirty="0">
                  <a:latin typeface="Arial Narrow" panose="020B0606020202030204" pitchFamily="34" charset="0"/>
                </a:endParaRPr>
              </a:p>
              <a:p>
                <a:r>
                  <a:rPr lang="en-US" sz="2000" dirty="0">
                    <a:latin typeface="Arial Narrow" panose="020B0606020202030204" pitchFamily="34" charset="0"/>
                  </a:rPr>
                  <a:t>The task is to predict </a:t>
                </a:r>
                <a14:m>
                  <m:oMath xmlns:m="http://schemas.openxmlformats.org/officeDocument/2006/math">
                    <m:r>
                      <a:rPr lang="en-IN" sz="2000" i="1">
                        <a:solidFill>
                          <a:srgbClr val="00B0F0"/>
                        </a:solidFill>
                        <a:latin typeface="Cambria Math" panose="02040503050406030204" pitchFamily="18" charset="0"/>
                      </a:rPr>
                      <m:t>𝑌</m:t>
                    </m:r>
                  </m:oMath>
                </a14:m>
                <a:r>
                  <a:rPr lang="en-US" sz="2000" dirty="0">
                    <a:latin typeface="Arial Narrow" panose="020B0606020202030204" pitchFamily="34" charset="0"/>
                  </a:rPr>
                  <a:t> from </a:t>
                </a:r>
                <a14:m>
                  <m:oMath xmlns:m="http://schemas.openxmlformats.org/officeDocument/2006/math">
                    <m:r>
                      <a:rPr lang="en-IN" sz="2000" i="1">
                        <a:solidFill>
                          <a:srgbClr val="00B0F0"/>
                        </a:solidFill>
                        <a:latin typeface="Cambria Math" panose="02040503050406030204" pitchFamily="18" charset="0"/>
                      </a:rPr>
                      <m:t>𝑋</m:t>
                    </m:r>
                  </m:oMath>
                </a14:m>
                <a:r>
                  <a:rPr lang="en-US" sz="2000" dirty="0">
                    <a:latin typeface="Arial Narrow" panose="020B0606020202030204" pitchFamily="34" charset="0"/>
                  </a:rPr>
                  <a:t>.</a:t>
                </a:r>
              </a:p>
              <a:p>
                <a:r>
                  <a:rPr lang="en-US" sz="2000" dirty="0">
                    <a:latin typeface="Arial Narrow" panose="020B0606020202030204" pitchFamily="34" charset="0"/>
                  </a:rPr>
                  <a:t>A discriminative model focuses only on the conditional probability: </a:t>
                </a:r>
                <a14:m>
                  <m:oMath xmlns:m="http://schemas.openxmlformats.org/officeDocument/2006/math">
                    <m:r>
                      <a:rPr lang="en-IN" sz="2000" i="1">
                        <a:solidFill>
                          <a:srgbClr val="00B0F0"/>
                        </a:solidFill>
                        <a:latin typeface="Cambria Math" panose="02040503050406030204" pitchFamily="18" charset="0"/>
                      </a:rPr>
                      <m:t>𝑃</m:t>
                    </m:r>
                    <m:d>
                      <m:dPr>
                        <m:ctrlPr>
                          <a:rPr lang="en-IN" sz="2000" i="1">
                            <a:solidFill>
                              <a:srgbClr val="00B0F0"/>
                            </a:solidFill>
                            <a:latin typeface="Cambria Math" panose="02040503050406030204" pitchFamily="18" charset="0"/>
                          </a:rPr>
                        </m:ctrlPr>
                      </m:dPr>
                      <m:e>
                        <m:r>
                          <a:rPr lang="en-IN" sz="2000" i="1">
                            <a:solidFill>
                              <a:srgbClr val="00B0F0"/>
                            </a:solidFill>
                            <a:latin typeface="Cambria Math" panose="02040503050406030204" pitchFamily="18" charset="0"/>
                          </a:rPr>
                          <m:t>𝑌</m:t>
                        </m:r>
                      </m:e>
                      <m:e>
                        <m:r>
                          <a:rPr lang="en-IN" sz="2000" i="1">
                            <a:solidFill>
                              <a:srgbClr val="00B0F0"/>
                            </a:solidFill>
                            <a:latin typeface="Cambria Math" panose="02040503050406030204" pitchFamily="18" charset="0"/>
                          </a:rPr>
                          <m:t>𝑋</m:t>
                        </m:r>
                      </m:e>
                    </m:d>
                  </m:oMath>
                </a14:m>
                <a:r>
                  <a:rPr lang="en-IN" sz="2000" b="0" dirty="0">
                    <a:latin typeface="Arial Narrow" panose="020B0606020202030204" pitchFamily="34" charset="0"/>
                  </a:rPr>
                  <a:t> without </a:t>
                </a:r>
                <a:r>
                  <a:rPr lang="en-US" sz="2000" dirty="0">
                    <a:latin typeface="Arial Narrow" panose="020B0606020202030204" pitchFamily="34" charset="0"/>
                  </a:rPr>
                  <a:t>modeling the distribution of the predictors </a:t>
                </a:r>
                <a14:m>
                  <m:oMath xmlns:m="http://schemas.openxmlformats.org/officeDocument/2006/math">
                    <m:r>
                      <a:rPr lang="en-IN" sz="2000" i="1">
                        <a:solidFill>
                          <a:srgbClr val="00B0F0"/>
                        </a:solidFill>
                        <a:latin typeface="Cambria Math" panose="02040503050406030204" pitchFamily="18" charset="0"/>
                      </a:rPr>
                      <m:t>𝑃</m:t>
                    </m:r>
                    <m:r>
                      <a:rPr lang="en-IN" sz="2000" b="0" i="1" smtClean="0">
                        <a:solidFill>
                          <a:srgbClr val="00B0F0"/>
                        </a:solidFill>
                        <a:latin typeface="Cambria Math" panose="02040503050406030204" pitchFamily="18" charset="0"/>
                      </a:rPr>
                      <m:t>(</m:t>
                    </m:r>
                    <m:r>
                      <a:rPr lang="en-IN" sz="2000" b="0" i="1" smtClean="0">
                        <a:solidFill>
                          <a:srgbClr val="00B0F0"/>
                        </a:solidFill>
                        <a:latin typeface="Cambria Math" panose="02040503050406030204" pitchFamily="18" charset="0"/>
                      </a:rPr>
                      <m:t>𝑋</m:t>
                    </m:r>
                    <m:r>
                      <a:rPr lang="en-IN" sz="2000" b="0" i="1" smtClean="0">
                        <a:solidFill>
                          <a:srgbClr val="00B0F0"/>
                        </a:solidFill>
                        <a:latin typeface="Cambria Math" panose="02040503050406030204" pitchFamily="18" charset="0"/>
                      </a:rPr>
                      <m:t>)</m:t>
                    </m:r>
                  </m:oMath>
                </a14:m>
                <a:r>
                  <a:rPr lang="en-IN" sz="2000" b="0" dirty="0">
                    <a:latin typeface="Arial Narrow" panose="020B0606020202030204" pitchFamily="34" charset="0"/>
                  </a:rPr>
                  <a:t>.</a:t>
                </a:r>
              </a:p>
              <a:p>
                <a:r>
                  <a:rPr lang="en-IN" sz="2000" dirty="0">
                    <a:latin typeface="Arial Narrow" panose="020B0606020202030204" pitchFamily="34" charset="0"/>
                  </a:rPr>
                  <a:t>A discriminative model learns by directly estimating: </a:t>
                </a:r>
                <a14:m>
                  <m:oMath xmlns:m="http://schemas.openxmlformats.org/officeDocument/2006/math">
                    <m:r>
                      <a:rPr lang="en-IN" sz="2000" b="0" i="1" smtClean="0">
                        <a:solidFill>
                          <a:srgbClr val="00B0F0"/>
                        </a:solidFill>
                        <a:latin typeface="Cambria Math" panose="02040503050406030204" pitchFamily="18" charset="0"/>
                      </a:rPr>
                      <m:t>𝑃</m:t>
                    </m:r>
                    <m:d>
                      <m:dPr>
                        <m:ctrlPr>
                          <a:rPr lang="en-IN" sz="2000" b="0" i="1" smtClean="0">
                            <a:solidFill>
                              <a:srgbClr val="00B0F0"/>
                            </a:solidFill>
                            <a:latin typeface="Cambria Math" panose="02040503050406030204" pitchFamily="18" charset="0"/>
                          </a:rPr>
                        </m:ctrlPr>
                      </m:dPr>
                      <m:e>
                        <m:r>
                          <a:rPr lang="en-IN" sz="2000" b="0" i="1" smtClean="0">
                            <a:solidFill>
                              <a:srgbClr val="00B0F0"/>
                            </a:solidFill>
                            <a:latin typeface="Cambria Math" panose="02040503050406030204" pitchFamily="18" charset="0"/>
                          </a:rPr>
                          <m:t>𝑌</m:t>
                        </m:r>
                      </m:e>
                      <m:e>
                        <m:r>
                          <a:rPr lang="en-IN" sz="2000" b="0" i="1" smtClean="0">
                            <a:solidFill>
                              <a:srgbClr val="00B0F0"/>
                            </a:solidFill>
                            <a:latin typeface="Cambria Math" panose="02040503050406030204" pitchFamily="18" charset="0"/>
                          </a:rPr>
                          <m:t>𝑋</m:t>
                        </m:r>
                      </m:e>
                    </m:d>
                  </m:oMath>
                </a14:m>
                <a:endParaRPr lang="en-IN" sz="2000" b="0" dirty="0">
                  <a:latin typeface="Arial Narrow" panose="020B0606020202030204" pitchFamily="34" charset="0"/>
                </a:endParaRPr>
              </a:p>
              <a:p>
                <a:r>
                  <a:rPr lang="en-US" sz="2000" dirty="0">
                    <a:latin typeface="Arial Narrow" panose="020B0606020202030204" pitchFamily="34" charset="0"/>
                  </a:rPr>
                  <a:t>or equivalently learns a decision function: </a:t>
                </a:r>
                <a14:m>
                  <m:oMath xmlns:m="http://schemas.openxmlformats.org/officeDocument/2006/math">
                    <m:r>
                      <a:rPr lang="en-IN" sz="2000" b="0" i="1" smtClean="0">
                        <a:solidFill>
                          <a:srgbClr val="00B0F0"/>
                        </a:solidFill>
                        <a:latin typeface="Cambria Math" panose="02040503050406030204" pitchFamily="18" charset="0"/>
                      </a:rPr>
                      <m:t>𝑓</m:t>
                    </m:r>
                    <m:d>
                      <m:dPr>
                        <m:ctrlPr>
                          <a:rPr lang="en-IN" sz="2000" b="0" i="1" smtClean="0">
                            <a:solidFill>
                              <a:srgbClr val="00B0F0"/>
                            </a:solidFill>
                            <a:latin typeface="Cambria Math" panose="02040503050406030204" pitchFamily="18" charset="0"/>
                          </a:rPr>
                        </m:ctrlPr>
                      </m:dPr>
                      <m:e>
                        <m:r>
                          <a:rPr lang="en-IN" sz="2000" b="0" i="1" smtClean="0">
                            <a:solidFill>
                              <a:srgbClr val="00B0F0"/>
                            </a:solidFill>
                            <a:latin typeface="Cambria Math" panose="02040503050406030204" pitchFamily="18" charset="0"/>
                          </a:rPr>
                          <m:t>𝑋</m:t>
                        </m:r>
                      </m:e>
                    </m:d>
                    <m:r>
                      <a:rPr lang="en-IN" sz="2000" b="0" i="1" smtClean="0">
                        <a:solidFill>
                          <a:srgbClr val="00B0F0"/>
                        </a:solidFill>
                        <a:latin typeface="Cambria Math" panose="02040503050406030204" pitchFamily="18" charset="0"/>
                      </a:rPr>
                      <m:t>→</m:t>
                    </m:r>
                    <m:r>
                      <a:rPr lang="en-IN" sz="2000" b="0" i="1" smtClean="0">
                        <a:solidFill>
                          <a:srgbClr val="00B0F0"/>
                        </a:solidFill>
                        <a:latin typeface="Cambria Math" panose="02040503050406030204" pitchFamily="18" charset="0"/>
                      </a:rPr>
                      <m:t>𝑌</m:t>
                    </m:r>
                  </m:oMath>
                </a14:m>
                <a:endParaRPr lang="en-IN" sz="2000" b="0" dirty="0">
                  <a:solidFill>
                    <a:srgbClr val="00B0F0"/>
                  </a:solidFill>
                  <a:latin typeface="Arial Narrow" panose="020B0606020202030204" pitchFamily="34" charset="0"/>
                </a:endParaRPr>
              </a:p>
              <a:p>
                <a:pPr marL="0" indent="0">
                  <a:buNone/>
                </a:pPr>
                <a:endParaRPr lang="en-IN" sz="2000" b="0" dirty="0">
                  <a:latin typeface="Arial Narrow" panose="020B0606020202030204" pitchFamily="34" charset="0"/>
                </a:endParaRPr>
              </a:p>
              <a:p>
                <a:endParaRPr lang="en-US" sz="2000" dirty="0">
                  <a:latin typeface="Arial Narrow" panose="020B0606020202030204" pitchFamily="34" charset="0"/>
                </a:endParaRPr>
              </a:p>
              <a:p>
                <a:pPr marL="0" indent="0">
                  <a:buNone/>
                </a:pPr>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666E18BF-D540-4687-8AF6-DB3480B23F17}"/>
                  </a:ext>
                </a:extLst>
              </p:cNvPr>
              <p:cNvSpPr>
                <a:spLocks noGrp="1" noRot="1" noChangeAspect="1" noMove="1" noResize="1" noEditPoints="1" noAdjustHandles="1" noChangeArrowheads="1" noChangeShapeType="1" noTextEdit="1"/>
              </p:cNvSpPr>
              <p:nvPr>
                <p:ph idx="1"/>
              </p:nvPr>
            </p:nvSpPr>
            <p:spPr>
              <a:blipFill>
                <a:blip r:embed="rId2"/>
                <a:stretch>
                  <a:fillRect l="-522" t="-1401" r="-580"/>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AD82B04B-E1E5-4B68-9177-359B4CF3FB81}"/>
              </a:ext>
            </a:extLst>
          </p:cNvPr>
          <p:cNvSpPr>
            <a:spLocks noGrp="1"/>
          </p:cNvSpPr>
          <p:nvPr>
            <p:ph type="title"/>
          </p:nvPr>
        </p:nvSpPr>
        <p:spPr>
          <a:xfrm>
            <a:off x="838200" y="365125"/>
            <a:ext cx="10515600" cy="1325563"/>
          </a:xfrm>
        </p:spPr>
        <p:txBody>
          <a:bodyPr>
            <a:normAutofit fontScale="90000"/>
          </a:bodyPr>
          <a:lstStyle/>
          <a:p>
            <a:br>
              <a:rPr lang="en-US" sz="4000" dirty="0">
                <a:latin typeface="Century" panose="02040604050505020304" pitchFamily="18" charset="0"/>
              </a:rPr>
            </a:br>
            <a:r>
              <a:rPr lang="en-US" sz="4000" dirty="0">
                <a:latin typeface="Century" panose="02040604050505020304" pitchFamily="18" charset="0"/>
              </a:rPr>
              <a:t>Discriminative Learning</a:t>
            </a:r>
            <a:br>
              <a:rPr lang="en-US" sz="4000" dirty="0">
                <a:latin typeface="Century" panose="02040604050505020304" pitchFamily="18" charset="0"/>
              </a:rPr>
            </a:br>
            <a:r>
              <a:rPr lang="en-US" sz="2700" dirty="0">
                <a:latin typeface="Century" panose="02040604050505020304" pitchFamily="18" charset="0"/>
              </a:rPr>
              <a:t>Statistical Understanding</a:t>
            </a:r>
            <a:br>
              <a:rPr lang="en-US" dirty="0">
                <a:latin typeface="Arial Narrow" panose="020B0606020202030204" pitchFamily="34" charset="0"/>
              </a:rPr>
            </a:br>
            <a:endParaRPr lang="en-IN" dirty="0"/>
          </a:p>
        </p:txBody>
      </p:sp>
    </p:spTree>
    <p:extLst>
      <p:ext uri="{BB962C8B-B14F-4D97-AF65-F5344CB8AC3E}">
        <p14:creationId xmlns:p14="http://schemas.microsoft.com/office/powerpoint/2010/main" val="1573267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AC35A6-B3C1-4E06-8ADC-03176BE51FCE}"/>
                  </a:ext>
                </a:extLst>
              </p:cNvPr>
              <p:cNvSpPr>
                <a:spLocks noGrp="1"/>
              </p:cNvSpPr>
              <p:nvPr>
                <p:ph idx="1"/>
              </p:nvPr>
            </p:nvSpPr>
            <p:spPr>
              <a:xfrm>
                <a:off x="838201" y="1825625"/>
                <a:ext cx="5664416" cy="4351338"/>
              </a:xfrm>
            </p:spPr>
            <p:txBody>
              <a:bodyPr>
                <a:normAutofit/>
              </a:bodyPr>
              <a:lstStyle/>
              <a:p>
                <a:r>
                  <a:rPr lang="en-US" sz="2000" dirty="0">
                    <a:latin typeface="Arial Narrow" panose="020B0606020202030204" pitchFamily="34" charset="0"/>
                  </a:rPr>
                  <a:t>A discriminative model aims to find a boundary that separates classes.</a:t>
                </a:r>
              </a:p>
              <a:p>
                <a:pPr marL="0" indent="0">
                  <a:buNone/>
                </a:pPr>
                <a:endParaRPr lang="en-US" sz="2000" dirty="0">
                  <a:latin typeface="Arial Narrow" panose="020B0606020202030204" pitchFamily="34" charset="0"/>
                </a:endParaRPr>
              </a:p>
              <a:p>
                <a:r>
                  <a:rPr lang="en-US" sz="2000" dirty="0">
                    <a:latin typeface="Arial Narrow" panose="020B0606020202030204" pitchFamily="34" charset="0"/>
                  </a:rPr>
                  <a:t>For example, in logistic regression:</a:t>
                </a:r>
              </a:p>
              <a:p>
                <a:pPr marL="0" indent="0">
                  <a:buNone/>
                </a:pPr>
                <a:r>
                  <a:rPr lang="en-US" sz="2000" dirty="0">
                    <a:latin typeface="Arial Narrow" panose="020B0606020202030204" pitchFamily="34" charset="0"/>
                  </a:rPr>
                  <a:t>                        </a:t>
                </a:r>
                <a14:m>
                  <m:oMath xmlns:m="http://schemas.openxmlformats.org/officeDocument/2006/math">
                    <m:sSub>
                      <m:sSubPr>
                        <m:ctrlPr>
                          <a:rPr lang="en-IN" sz="2000" i="1" smtClean="0">
                            <a:latin typeface="Cambria Math" panose="02040503050406030204" pitchFamily="18" charset="0"/>
                          </a:rPr>
                        </m:ctrlPr>
                      </m:sSubPr>
                      <m:e>
                        <m:r>
                          <a:rPr lang="en-IN" sz="2000" i="1" smtClean="0">
                            <a:latin typeface="Cambria Math" panose="02040503050406030204" pitchFamily="18" charset="0"/>
                            <a:ea typeface="Cambria Math" panose="02040503050406030204" pitchFamily="18" charset="0"/>
                          </a:rPr>
                          <m:t>𝛽</m:t>
                        </m:r>
                      </m:e>
                      <m:sub>
                        <m:r>
                          <a:rPr lang="en-IN" sz="2000" b="0" i="1" smtClean="0">
                            <a:latin typeface="Cambria Math" panose="02040503050406030204" pitchFamily="18" charset="0"/>
                          </a:rPr>
                          <m:t>0</m:t>
                        </m:r>
                      </m:sub>
                    </m:sSub>
                    <m:r>
                      <a:rPr lang="en-IN" sz="2000" b="0" i="1" smtClean="0">
                        <a:latin typeface="Cambria Math" panose="02040503050406030204" pitchFamily="18" charset="0"/>
                      </a:rPr>
                      <m:t>+</m:t>
                    </m:r>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ea typeface="Cambria Math" panose="02040503050406030204" pitchFamily="18" charset="0"/>
                          </a:rPr>
                          <m:t>𝛽</m:t>
                        </m:r>
                      </m:e>
                      <m:sup>
                        <m:r>
                          <a:rPr lang="en-IN" sz="2000" b="0" i="1" smtClean="0">
                            <a:latin typeface="Cambria Math" panose="02040503050406030204" pitchFamily="18" charset="0"/>
                          </a:rPr>
                          <m:t>𝑇</m:t>
                        </m:r>
                      </m:sup>
                    </m:sSup>
                    <m:r>
                      <a:rPr lang="en-IN" sz="2000" b="0" i="1" smtClean="0">
                        <a:latin typeface="Cambria Math" panose="02040503050406030204" pitchFamily="18" charset="0"/>
                      </a:rPr>
                      <m:t>𝑥</m:t>
                    </m:r>
                    <m:r>
                      <a:rPr lang="en-IN" sz="2000" b="0" i="1" smtClean="0">
                        <a:latin typeface="Cambria Math" panose="02040503050406030204" pitchFamily="18" charset="0"/>
                      </a:rPr>
                      <m:t>=0</m:t>
                    </m:r>
                  </m:oMath>
                </a14:m>
                <a:endParaRPr lang="en-IN" sz="2000" b="0" dirty="0">
                  <a:latin typeface="Arial Narrow" panose="020B0606020202030204" pitchFamily="34" charset="0"/>
                </a:endParaRPr>
              </a:p>
              <a:p>
                <a:pPr marL="0" indent="0">
                  <a:buNone/>
                </a:pPr>
                <a:r>
                  <a:rPr lang="en-IN" sz="2000" dirty="0">
                    <a:latin typeface="Arial Narrow" panose="020B0606020202030204" pitchFamily="34" charset="0"/>
                  </a:rPr>
                  <a:t>	                       defines the decision boundary.</a:t>
                </a:r>
              </a:p>
              <a:p>
                <a:pPr marL="0" indent="0">
                  <a:buNone/>
                </a:pPr>
                <a:endParaRPr lang="en-IN" sz="2000" dirty="0">
                  <a:latin typeface="Arial Narrow" panose="020B0606020202030204" pitchFamily="34" charset="0"/>
                </a:endParaRPr>
              </a:p>
              <a:p>
                <a:r>
                  <a:rPr lang="en-US" sz="2000" dirty="0">
                    <a:latin typeface="Arial Narrow" panose="020B0606020202030204" pitchFamily="34" charset="0"/>
                  </a:rPr>
                  <a:t>The model is concerned with distinguishing classes rather than explaining how observations were generated.</a:t>
                </a:r>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8DAC35A6-B3C1-4E06-8ADC-03176BE51FCE}"/>
                  </a:ext>
                </a:extLst>
              </p:cNvPr>
              <p:cNvSpPr>
                <a:spLocks noGrp="1" noRot="1" noChangeAspect="1" noMove="1" noResize="1" noEditPoints="1" noAdjustHandles="1" noChangeArrowheads="1" noChangeShapeType="1" noTextEdit="1"/>
              </p:cNvSpPr>
              <p:nvPr>
                <p:ph idx="1"/>
              </p:nvPr>
            </p:nvSpPr>
            <p:spPr>
              <a:xfrm>
                <a:off x="838201" y="1825625"/>
                <a:ext cx="5664416" cy="4351338"/>
              </a:xfrm>
              <a:blipFill>
                <a:blip r:embed="rId2"/>
                <a:stretch>
                  <a:fillRect l="-969" t="-1401" r="-1076"/>
                </a:stretch>
              </a:blipFill>
            </p:spPr>
            <p:txBody>
              <a:bodyPr/>
              <a:lstStyle/>
              <a:p>
                <a:r>
                  <a:rPr lang="en-IN">
                    <a:noFill/>
                  </a:rPr>
                  <a:t> </a:t>
                </a:r>
              </a:p>
            </p:txBody>
          </p:sp>
        </mc:Fallback>
      </mc:AlternateContent>
      <p:cxnSp>
        <p:nvCxnSpPr>
          <p:cNvPr id="4" name="Straight Arrow Connector 3">
            <a:extLst>
              <a:ext uri="{FF2B5EF4-FFF2-40B4-BE49-F238E27FC236}">
                <a16:creationId xmlns:a16="http://schemas.microsoft.com/office/drawing/2014/main" id="{4F32CB03-5017-47B1-AEB3-23CEF1E0A872}"/>
              </a:ext>
            </a:extLst>
          </p:cNvPr>
          <p:cNvCxnSpPr/>
          <p:nvPr/>
        </p:nvCxnSpPr>
        <p:spPr>
          <a:xfrm>
            <a:off x="8451110" y="4991158"/>
            <a:ext cx="3621352" cy="144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CB9DFF46-1955-47A1-9725-3470BC0C5F3C}"/>
              </a:ext>
            </a:extLst>
          </p:cNvPr>
          <p:cNvCxnSpPr/>
          <p:nvPr/>
        </p:nvCxnSpPr>
        <p:spPr>
          <a:xfrm rot="5400000" flipH="1" flipV="1">
            <a:off x="7347124" y="3848444"/>
            <a:ext cx="3114657" cy="13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 Box 18">
            <a:extLst>
              <a:ext uri="{FF2B5EF4-FFF2-40B4-BE49-F238E27FC236}">
                <a16:creationId xmlns:a16="http://schemas.microsoft.com/office/drawing/2014/main" id="{0C0B2692-36B0-4BE3-A447-23D4687E5418}"/>
              </a:ext>
            </a:extLst>
          </p:cNvPr>
          <p:cNvSpPr txBox="1">
            <a:spLocks noChangeArrowheads="1"/>
          </p:cNvSpPr>
          <p:nvPr/>
        </p:nvSpPr>
        <p:spPr bwMode="auto">
          <a:xfrm>
            <a:off x="10304517" y="5000045"/>
            <a:ext cx="797940" cy="3077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fontAlgn="base">
              <a:spcBef>
                <a:spcPct val="0"/>
              </a:spcBef>
              <a:spcAft>
                <a:spcPts val="1000"/>
              </a:spcAft>
            </a:pPr>
            <a:r>
              <a:rPr lang="en-US" sz="1400" dirty="0">
                <a:latin typeface="Times New Roman" panose="02020603050405020304" pitchFamily="18" charset="0"/>
                <a:cs typeface="Times New Roman" panose="02020603050405020304" pitchFamily="18" charset="0"/>
              </a:rPr>
              <a:t>Size</a:t>
            </a:r>
          </a:p>
        </p:txBody>
      </p:sp>
      <p:sp>
        <p:nvSpPr>
          <p:cNvPr id="7" name="Text Box 18">
            <a:extLst>
              <a:ext uri="{FF2B5EF4-FFF2-40B4-BE49-F238E27FC236}">
                <a16:creationId xmlns:a16="http://schemas.microsoft.com/office/drawing/2014/main" id="{8E28F23A-09C7-46C8-9BF8-EFD46E40DFBF}"/>
              </a:ext>
            </a:extLst>
          </p:cNvPr>
          <p:cNvSpPr txBox="1">
            <a:spLocks noChangeArrowheads="1"/>
          </p:cNvSpPr>
          <p:nvPr/>
        </p:nvSpPr>
        <p:spPr bwMode="auto">
          <a:xfrm>
            <a:off x="8063109" y="3330008"/>
            <a:ext cx="1177478" cy="3077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fontAlgn="base">
              <a:spcBef>
                <a:spcPct val="0"/>
              </a:spcBef>
              <a:spcAft>
                <a:spcPts val="1000"/>
              </a:spcAft>
            </a:pPr>
            <a:r>
              <a:rPr lang="en-US" sz="1400" dirty="0">
                <a:latin typeface="Times New Roman" panose="02020603050405020304" pitchFamily="18" charset="0"/>
                <a:cs typeface="Times New Roman" panose="02020603050405020304" pitchFamily="18" charset="0"/>
              </a:rPr>
              <a:t>Weight</a:t>
            </a:r>
          </a:p>
        </p:txBody>
      </p:sp>
      <p:cxnSp>
        <p:nvCxnSpPr>
          <p:cNvPr id="8" name="Straight Connector 7">
            <a:extLst>
              <a:ext uri="{FF2B5EF4-FFF2-40B4-BE49-F238E27FC236}">
                <a16:creationId xmlns:a16="http://schemas.microsoft.com/office/drawing/2014/main" id="{A7168BC3-7D0F-4B5E-A28D-F783BD33B6D1}"/>
              </a:ext>
            </a:extLst>
          </p:cNvPr>
          <p:cNvCxnSpPr/>
          <p:nvPr/>
        </p:nvCxnSpPr>
        <p:spPr>
          <a:xfrm rot="16200000" flipH="1">
            <a:off x="9091959" y="2773017"/>
            <a:ext cx="2145653" cy="1875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6403338-C615-4C38-8A96-77B1B8921653}"/>
              </a:ext>
            </a:extLst>
          </p:cNvPr>
          <p:cNvSpPr txBox="1"/>
          <p:nvPr/>
        </p:nvSpPr>
        <p:spPr>
          <a:xfrm>
            <a:off x="10664395" y="2414540"/>
            <a:ext cx="1685484" cy="531168"/>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Two features </a:t>
            </a:r>
          </a:p>
          <a:p>
            <a:pPr algn="ctr"/>
            <a:r>
              <a:rPr lang="en-US" sz="1400" dirty="0">
                <a:latin typeface="Times New Roman" panose="02020603050405020304" pitchFamily="18" charset="0"/>
                <a:cs typeface="Times New Roman" panose="02020603050405020304" pitchFamily="18" charset="0"/>
              </a:rPr>
              <a:t>examples</a:t>
            </a:r>
          </a:p>
        </p:txBody>
      </p:sp>
      <p:pic>
        <p:nvPicPr>
          <p:cNvPr id="10" name="Picture 9">
            <a:extLst>
              <a:ext uri="{FF2B5EF4-FFF2-40B4-BE49-F238E27FC236}">
                <a16:creationId xmlns:a16="http://schemas.microsoft.com/office/drawing/2014/main" id="{F44475D4-E04A-4808-B5C3-DC1030467D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73785" y="2810304"/>
            <a:ext cx="388373" cy="415685"/>
          </a:xfrm>
          <a:prstGeom prst="rect">
            <a:avLst/>
          </a:prstGeom>
        </p:spPr>
      </p:pic>
      <p:pic>
        <p:nvPicPr>
          <p:cNvPr id="11" name="Picture 10">
            <a:extLst>
              <a:ext uri="{FF2B5EF4-FFF2-40B4-BE49-F238E27FC236}">
                <a16:creationId xmlns:a16="http://schemas.microsoft.com/office/drawing/2014/main" id="{D15B42CC-A9E7-467D-9959-FF9F8502A0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09371" y="2994533"/>
            <a:ext cx="404169" cy="432591"/>
          </a:xfrm>
          <a:prstGeom prst="rect">
            <a:avLst/>
          </a:prstGeom>
        </p:spPr>
      </p:pic>
      <p:pic>
        <p:nvPicPr>
          <p:cNvPr id="12" name="Picture 11">
            <a:extLst>
              <a:ext uri="{FF2B5EF4-FFF2-40B4-BE49-F238E27FC236}">
                <a16:creationId xmlns:a16="http://schemas.microsoft.com/office/drawing/2014/main" id="{2CC64B11-6F1B-4140-A98D-8405330EE26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2220" y="3475950"/>
            <a:ext cx="306741" cy="358656"/>
          </a:xfrm>
          <a:prstGeom prst="rect">
            <a:avLst/>
          </a:prstGeom>
        </p:spPr>
      </p:pic>
      <p:pic>
        <p:nvPicPr>
          <p:cNvPr id="13" name="Picture 12">
            <a:extLst>
              <a:ext uri="{FF2B5EF4-FFF2-40B4-BE49-F238E27FC236}">
                <a16:creationId xmlns:a16="http://schemas.microsoft.com/office/drawing/2014/main" id="{3823BE97-3B11-41C0-9183-CFEF593AAECC}"/>
              </a:ext>
            </a:extLst>
          </p:cNvPr>
          <p:cNvPicPr>
            <a:picLocks noChangeAspect="1"/>
          </p:cNvPicPr>
          <p:nvPr/>
        </p:nvPicPr>
        <p:blipFill>
          <a:blip r:embed="rId6"/>
          <a:stretch>
            <a:fillRect/>
          </a:stretch>
        </p:blipFill>
        <p:spPr>
          <a:xfrm>
            <a:off x="10803598" y="3985642"/>
            <a:ext cx="307245" cy="381467"/>
          </a:xfrm>
          <a:prstGeom prst="rect">
            <a:avLst/>
          </a:prstGeom>
        </p:spPr>
      </p:pic>
      <p:pic>
        <p:nvPicPr>
          <p:cNvPr id="14" name="Picture 13">
            <a:extLst>
              <a:ext uri="{FF2B5EF4-FFF2-40B4-BE49-F238E27FC236}">
                <a16:creationId xmlns:a16="http://schemas.microsoft.com/office/drawing/2014/main" id="{B13BA43E-10EF-4619-8B4C-760D3BF46E4D}"/>
              </a:ext>
            </a:extLst>
          </p:cNvPr>
          <p:cNvPicPr>
            <a:picLocks noChangeAspect="1"/>
          </p:cNvPicPr>
          <p:nvPr/>
        </p:nvPicPr>
        <p:blipFill>
          <a:blip r:embed="rId7"/>
          <a:stretch>
            <a:fillRect/>
          </a:stretch>
        </p:blipFill>
        <p:spPr>
          <a:xfrm>
            <a:off x="10344937" y="2684127"/>
            <a:ext cx="305047" cy="348012"/>
          </a:xfrm>
          <a:prstGeom prst="rect">
            <a:avLst/>
          </a:prstGeom>
        </p:spPr>
      </p:pic>
      <p:pic>
        <p:nvPicPr>
          <p:cNvPr id="15" name="Picture 14">
            <a:extLst>
              <a:ext uri="{FF2B5EF4-FFF2-40B4-BE49-F238E27FC236}">
                <a16:creationId xmlns:a16="http://schemas.microsoft.com/office/drawing/2014/main" id="{5A86F671-9D3A-4B47-B35D-EAF84776BB57}"/>
              </a:ext>
            </a:extLst>
          </p:cNvPr>
          <p:cNvPicPr>
            <a:picLocks noChangeAspect="1"/>
          </p:cNvPicPr>
          <p:nvPr/>
        </p:nvPicPr>
        <p:blipFill>
          <a:blip r:embed="rId8"/>
          <a:stretch>
            <a:fillRect/>
          </a:stretch>
        </p:blipFill>
        <p:spPr>
          <a:xfrm>
            <a:off x="9526571" y="2485192"/>
            <a:ext cx="315142" cy="390906"/>
          </a:xfrm>
          <a:prstGeom prst="rect">
            <a:avLst/>
          </a:prstGeom>
        </p:spPr>
      </p:pic>
      <p:pic>
        <p:nvPicPr>
          <p:cNvPr id="16" name="Picture 15">
            <a:extLst>
              <a:ext uri="{FF2B5EF4-FFF2-40B4-BE49-F238E27FC236}">
                <a16:creationId xmlns:a16="http://schemas.microsoft.com/office/drawing/2014/main" id="{436DB143-24E8-4740-AD5F-7625A23FED8E}"/>
              </a:ext>
            </a:extLst>
          </p:cNvPr>
          <p:cNvPicPr>
            <a:picLocks noChangeAspect="1"/>
          </p:cNvPicPr>
          <p:nvPr/>
        </p:nvPicPr>
        <p:blipFill>
          <a:blip r:embed="rId9"/>
          <a:stretch>
            <a:fillRect/>
          </a:stretch>
        </p:blipFill>
        <p:spPr>
          <a:xfrm>
            <a:off x="9166339" y="3087955"/>
            <a:ext cx="411055" cy="411910"/>
          </a:xfrm>
          <a:prstGeom prst="rect">
            <a:avLst/>
          </a:prstGeom>
        </p:spPr>
      </p:pic>
      <p:pic>
        <p:nvPicPr>
          <p:cNvPr id="17" name="Picture 16">
            <a:extLst>
              <a:ext uri="{FF2B5EF4-FFF2-40B4-BE49-F238E27FC236}">
                <a16:creationId xmlns:a16="http://schemas.microsoft.com/office/drawing/2014/main" id="{7FB5EC20-A575-42F0-9AE2-3C77462EAE57}"/>
              </a:ext>
            </a:extLst>
          </p:cNvPr>
          <p:cNvPicPr>
            <a:picLocks noChangeAspect="1"/>
          </p:cNvPicPr>
          <p:nvPr/>
        </p:nvPicPr>
        <p:blipFill>
          <a:blip r:embed="rId10"/>
          <a:stretch>
            <a:fillRect/>
          </a:stretch>
        </p:blipFill>
        <p:spPr>
          <a:xfrm>
            <a:off x="9526571" y="3459007"/>
            <a:ext cx="350999" cy="289361"/>
          </a:xfrm>
          <a:prstGeom prst="rect">
            <a:avLst/>
          </a:prstGeom>
        </p:spPr>
      </p:pic>
      <p:pic>
        <p:nvPicPr>
          <p:cNvPr id="18" name="Picture 17">
            <a:extLst>
              <a:ext uri="{FF2B5EF4-FFF2-40B4-BE49-F238E27FC236}">
                <a16:creationId xmlns:a16="http://schemas.microsoft.com/office/drawing/2014/main" id="{4567A167-F960-4545-B406-612C497C6110}"/>
              </a:ext>
            </a:extLst>
          </p:cNvPr>
          <p:cNvPicPr>
            <a:picLocks noChangeAspect="1"/>
          </p:cNvPicPr>
          <p:nvPr/>
        </p:nvPicPr>
        <p:blipFill>
          <a:blip r:embed="rId11"/>
          <a:stretch>
            <a:fillRect/>
          </a:stretch>
        </p:blipFill>
        <p:spPr>
          <a:xfrm>
            <a:off x="9798696" y="3783685"/>
            <a:ext cx="310657" cy="372404"/>
          </a:xfrm>
          <a:prstGeom prst="rect">
            <a:avLst/>
          </a:prstGeom>
        </p:spPr>
      </p:pic>
      <p:pic>
        <p:nvPicPr>
          <p:cNvPr id="19" name="Picture 18">
            <a:extLst>
              <a:ext uri="{FF2B5EF4-FFF2-40B4-BE49-F238E27FC236}">
                <a16:creationId xmlns:a16="http://schemas.microsoft.com/office/drawing/2014/main" id="{ABD88D10-64D9-4796-993B-C6130608FF90}"/>
              </a:ext>
            </a:extLst>
          </p:cNvPr>
          <p:cNvPicPr>
            <a:picLocks noChangeAspect="1"/>
          </p:cNvPicPr>
          <p:nvPr/>
        </p:nvPicPr>
        <p:blipFill>
          <a:blip r:embed="rId12"/>
          <a:stretch>
            <a:fillRect/>
          </a:stretch>
        </p:blipFill>
        <p:spPr>
          <a:xfrm>
            <a:off x="9333910" y="3774883"/>
            <a:ext cx="285599" cy="307891"/>
          </a:xfrm>
          <a:prstGeom prst="rect">
            <a:avLst/>
          </a:prstGeom>
        </p:spPr>
      </p:pic>
      <p:pic>
        <p:nvPicPr>
          <p:cNvPr id="20" name="Picture 19">
            <a:extLst>
              <a:ext uri="{FF2B5EF4-FFF2-40B4-BE49-F238E27FC236}">
                <a16:creationId xmlns:a16="http://schemas.microsoft.com/office/drawing/2014/main" id="{99C5CBA6-D2B4-4F96-AEE5-6EAF594D44A7}"/>
              </a:ext>
            </a:extLst>
          </p:cNvPr>
          <p:cNvPicPr>
            <a:picLocks noChangeAspect="1"/>
          </p:cNvPicPr>
          <p:nvPr/>
        </p:nvPicPr>
        <p:blipFill>
          <a:blip r:embed="rId13"/>
          <a:stretch>
            <a:fillRect/>
          </a:stretch>
        </p:blipFill>
        <p:spPr>
          <a:xfrm>
            <a:off x="10139125" y="4168638"/>
            <a:ext cx="345413" cy="349612"/>
          </a:xfrm>
          <a:prstGeom prst="rect">
            <a:avLst/>
          </a:prstGeom>
        </p:spPr>
      </p:pic>
      <p:pic>
        <p:nvPicPr>
          <p:cNvPr id="21" name="Picture 20">
            <a:extLst>
              <a:ext uri="{FF2B5EF4-FFF2-40B4-BE49-F238E27FC236}">
                <a16:creationId xmlns:a16="http://schemas.microsoft.com/office/drawing/2014/main" id="{61839512-2160-4D45-B507-30ED75E3A3E9}"/>
              </a:ext>
            </a:extLst>
          </p:cNvPr>
          <p:cNvPicPr>
            <a:picLocks noChangeAspect="1"/>
          </p:cNvPicPr>
          <p:nvPr/>
        </p:nvPicPr>
        <p:blipFill>
          <a:blip r:embed="rId14"/>
          <a:stretch>
            <a:fillRect/>
          </a:stretch>
        </p:blipFill>
        <p:spPr>
          <a:xfrm>
            <a:off x="9556665" y="4209505"/>
            <a:ext cx="375571" cy="375800"/>
          </a:xfrm>
          <a:prstGeom prst="rect">
            <a:avLst/>
          </a:prstGeom>
        </p:spPr>
      </p:pic>
      <p:sp>
        <p:nvSpPr>
          <p:cNvPr id="22" name="TextBox 21">
            <a:extLst>
              <a:ext uri="{FF2B5EF4-FFF2-40B4-BE49-F238E27FC236}">
                <a16:creationId xmlns:a16="http://schemas.microsoft.com/office/drawing/2014/main" id="{11E87288-9D24-4D87-AD18-E51847CB9DFE}"/>
              </a:ext>
            </a:extLst>
          </p:cNvPr>
          <p:cNvSpPr txBox="1"/>
          <p:nvPr/>
        </p:nvSpPr>
        <p:spPr>
          <a:xfrm>
            <a:off x="6518376" y="2920218"/>
            <a:ext cx="161876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What is          ? </a:t>
            </a:r>
          </a:p>
        </p:txBody>
      </p:sp>
      <p:pic>
        <p:nvPicPr>
          <p:cNvPr id="23" name="Picture 22">
            <a:extLst>
              <a:ext uri="{FF2B5EF4-FFF2-40B4-BE49-F238E27FC236}">
                <a16:creationId xmlns:a16="http://schemas.microsoft.com/office/drawing/2014/main" id="{492B22C8-2BD3-409B-82FF-7738EA624372}"/>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228519" y="2891022"/>
            <a:ext cx="341768" cy="366168"/>
          </a:xfrm>
          <a:prstGeom prst="rect">
            <a:avLst/>
          </a:prstGeom>
        </p:spPr>
      </p:pic>
      <p:sp>
        <p:nvSpPr>
          <p:cNvPr id="24" name="TextBox 23">
            <a:extLst>
              <a:ext uri="{FF2B5EF4-FFF2-40B4-BE49-F238E27FC236}">
                <a16:creationId xmlns:a16="http://schemas.microsoft.com/office/drawing/2014/main" id="{5775178F-3FC3-4BC4-A4C9-77DB3B3EBB34}"/>
              </a:ext>
            </a:extLst>
          </p:cNvPr>
          <p:cNvSpPr txBox="1"/>
          <p:nvPr/>
        </p:nvSpPr>
        <p:spPr>
          <a:xfrm>
            <a:off x="6518376" y="2311476"/>
            <a:ext cx="2021847" cy="523220"/>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Given this supervised classifier?</a:t>
            </a:r>
          </a:p>
        </p:txBody>
      </p:sp>
      <p:pic>
        <p:nvPicPr>
          <p:cNvPr id="25" name="Picture 24">
            <a:extLst>
              <a:ext uri="{FF2B5EF4-FFF2-40B4-BE49-F238E27FC236}">
                <a16:creationId xmlns:a16="http://schemas.microsoft.com/office/drawing/2014/main" id="{0D8CA290-4FA6-4C63-B061-DB368E58BC89}"/>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200623" y="3091729"/>
            <a:ext cx="341768" cy="366168"/>
          </a:xfrm>
          <a:prstGeom prst="rect">
            <a:avLst/>
          </a:prstGeom>
        </p:spPr>
      </p:pic>
      <p:cxnSp>
        <p:nvCxnSpPr>
          <p:cNvPr id="26" name="Straight Arrow Connector 25">
            <a:extLst>
              <a:ext uri="{FF2B5EF4-FFF2-40B4-BE49-F238E27FC236}">
                <a16:creationId xmlns:a16="http://schemas.microsoft.com/office/drawing/2014/main" id="{2BC87B21-31F5-4F51-9D4D-5731FC4B72F4}"/>
              </a:ext>
            </a:extLst>
          </p:cNvPr>
          <p:cNvCxnSpPr/>
          <p:nvPr/>
        </p:nvCxnSpPr>
        <p:spPr>
          <a:xfrm>
            <a:off x="7755604" y="3210829"/>
            <a:ext cx="2365880" cy="119179"/>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AC8B4C0-84BF-49D1-A807-39E857A4EA5C}"/>
              </a:ext>
            </a:extLst>
          </p:cNvPr>
          <p:cNvSpPr txBox="1"/>
          <p:nvPr/>
        </p:nvSpPr>
        <p:spPr>
          <a:xfrm>
            <a:off x="6656152" y="4084951"/>
            <a:ext cx="161876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This is an Apple, </a:t>
            </a:r>
          </a:p>
        </p:txBody>
      </p:sp>
      <p:sp>
        <p:nvSpPr>
          <p:cNvPr id="28" name="TextBox 27">
            <a:extLst>
              <a:ext uri="{FF2B5EF4-FFF2-40B4-BE49-F238E27FC236}">
                <a16:creationId xmlns:a16="http://schemas.microsoft.com/office/drawing/2014/main" id="{85BDDDC3-28D7-412E-AAC3-D16CB4878D3A}"/>
              </a:ext>
            </a:extLst>
          </p:cNvPr>
          <p:cNvSpPr txBox="1"/>
          <p:nvPr/>
        </p:nvSpPr>
        <p:spPr>
          <a:xfrm>
            <a:off x="11077424" y="4367109"/>
            <a:ext cx="1220287" cy="430887"/>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Decision Boundary</a:t>
            </a:r>
          </a:p>
        </p:txBody>
      </p:sp>
      <p:pic>
        <p:nvPicPr>
          <p:cNvPr id="29" name="Picture 28">
            <a:extLst>
              <a:ext uri="{FF2B5EF4-FFF2-40B4-BE49-F238E27FC236}">
                <a16:creationId xmlns:a16="http://schemas.microsoft.com/office/drawing/2014/main" id="{F3B45F65-6964-410D-A5B7-66D2F7D653F5}"/>
              </a:ext>
            </a:extLst>
          </p:cNvPr>
          <p:cNvPicPr>
            <a:picLocks noChangeAspect="1"/>
          </p:cNvPicPr>
          <p:nvPr/>
        </p:nvPicPr>
        <p:blipFill>
          <a:blip r:embed="rId8"/>
          <a:stretch>
            <a:fillRect/>
          </a:stretch>
        </p:blipFill>
        <p:spPr>
          <a:xfrm>
            <a:off x="9526571" y="2488674"/>
            <a:ext cx="315142" cy="390906"/>
          </a:xfrm>
          <a:prstGeom prst="rect">
            <a:avLst/>
          </a:prstGeom>
        </p:spPr>
      </p:pic>
      <p:sp>
        <p:nvSpPr>
          <p:cNvPr id="30" name="Title 1">
            <a:extLst>
              <a:ext uri="{FF2B5EF4-FFF2-40B4-BE49-F238E27FC236}">
                <a16:creationId xmlns:a16="http://schemas.microsoft.com/office/drawing/2014/main" id="{FED4DD5D-CC78-4A3C-9F43-629E6B7C1D91}"/>
              </a:ext>
            </a:extLst>
          </p:cNvPr>
          <p:cNvSpPr txBox="1">
            <a:spLocks/>
          </p:cNvSpPr>
          <p:nvPr/>
        </p:nvSpPr>
        <p:spPr>
          <a:xfrm>
            <a:off x="838200" y="2272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latin typeface="Century" panose="02040604050505020304" pitchFamily="18" charset="0"/>
              </a:rPr>
              <a:t>Logistic Regression</a:t>
            </a:r>
            <a:br>
              <a:rPr lang="en-IN" sz="3600" dirty="0">
                <a:latin typeface="Century" panose="02040604050505020304" pitchFamily="18" charset="0"/>
              </a:rPr>
            </a:br>
            <a:r>
              <a:rPr lang="en-IN" sz="2800" dirty="0">
                <a:latin typeface="Century" panose="02040604050505020304" pitchFamily="18" charset="0"/>
              </a:rPr>
              <a:t>Decision Boundary</a:t>
            </a:r>
          </a:p>
        </p:txBody>
      </p:sp>
    </p:spTree>
    <p:extLst>
      <p:ext uri="{BB962C8B-B14F-4D97-AF65-F5344CB8AC3E}">
        <p14:creationId xmlns:p14="http://schemas.microsoft.com/office/powerpoint/2010/main" val="317028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ircle(in)">
                                      <p:cBhvr>
                                        <p:cTn id="7" dur="2000"/>
                                        <p:tgtEl>
                                          <p:spTgt spid="26"/>
                                        </p:tgtEl>
                                      </p:cBhvr>
                                    </p:animEffect>
                                  </p:childTnLst>
                                </p:cTn>
                              </p:par>
                              <p:par>
                                <p:cTn id="8" presetID="6" presetClass="entr" presetSubtype="16"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circle(in)">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circle(in)">
                                      <p:cBhvr>
                                        <p:cTn id="15"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D084-BC15-4F7A-BF72-6C0436B14CE3}"/>
              </a:ext>
            </a:extLst>
          </p:cNvPr>
          <p:cNvSpPr>
            <a:spLocks noGrp="1"/>
          </p:cNvSpPr>
          <p:nvPr>
            <p:ph type="title"/>
          </p:nvPr>
        </p:nvSpPr>
        <p:spPr/>
        <p:txBody>
          <a:bodyPr>
            <a:normAutofit/>
          </a:bodyPr>
          <a:lstStyle/>
          <a:p>
            <a:r>
              <a:rPr lang="en-IN" sz="3600" dirty="0">
                <a:latin typeface="Century" panose="02040604050505020304" pitchFamily="18" charset="0"/>
              </a:rPr>
              <a:t>Linear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5DF466-7984-47CC-B621-BC14DB27AE43}"/>
                  </a:ext>
                </a:extLst>
              </p:cNvPr>
              <p:cNvSpPr>
                <a:spLocks noGrp="1"/>
              </p:cNvSpPr>
              <p:nvPr>
                <p:ph idx="1"/>
              </p:nvPr>
            </p:nvSpPr>
            <p:spPr>
              <a:xfrm>
                <a:off x="838199" y="1825625"/>
                <a:ext cx="5992991" cy="4351338"/>
              </a:xfrm>
            </p:spPr>
            <p:txBody>
              <a:bodyPr>
                <a:normAutofit fontScale="92500" lnSpcReduction="10000"/>
              </a:bodyPr>
              <a:lstStyle/>
              <a:p>
                <a:pPr algn="just"/>
                <a:r>
                  <a:rPr lang="en-US" sz="2200" dirty="0">
                    <a:latin typeface="Arial Narrow" panose="020B0606020202030204" pitchFamily="34" charset="0"/>
                    <a:cs typeface="Times New Roman" panose="02020603050405020304" pitchFamily="18" charset="0"/>
                  </a:rPr>
                  <a:t>The data points </a:t>
                </a:r>
                <a14:m>
                  <m:oMath xmlns:m="http://schemas.openxmlformats.org/officeDocument/2006/math">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1" i="1">
                                <a:latin typeface="Cambria Math" panose="02040503050406030204" pitchFamily="18" charset="0"/>
                              </a:rPr>
                              <m:t>𝐱</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1</m:t>
                            </m:r>
                          </m:sub>
                        </m:sSub>
                      </m:e>
                    </m:d>
                  </m:oMath>
                </a14:m>
                <a:r>
                  <a:rPr lang="en-US" sz="2200" dirty="0">
                    <a:latin typeface="Arial Narrow" panose="020B0606020202030204" pitchFamily="34" charset="0"/>
                    <a:cs typeface="Times New Roman" panose="02020603050405020304" pitchFamily="18" charset="0"/>
                  </a:rPr>
                  <a:t>are drawn from some (unknown) distribution </a:t>
                </a:r>
                <a14:m>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𝑥</m:t>
                        </m:r>
                        <m:r>
                          <a:rPr lang="en-US" sz="2200">
                            <a:latin typeface="Cambria Math" panose="02040503050406030204" pitchFamily="18" charset="0"/>
                          </a:rPr>
                          <m:t>,</m:t>
                        </m:r>
                        <m:r>
                          <a:rPr lang="en-US" sz="2200" i="1">
                            <a:latin typeface="Cambria Math" panose="02040503050406030204" pitchFamily="18" charset="0"/>
                          </a:rPr>
                          <m:t>𝑦</m:t>
                        </m:r>
                      </m:e>
                    </m:d>
                  </m:oMath>
                </a14:m>
                <a:r>
                  <a:rPr lang="en-US" sz="2200" dirty="0">
                    <a:latin typeface="Arial Narrow" panose="020B0606020202030204" pitchFamily="34" charset="0"/>
                    <a:cs typeface="Times New Roman" panose="02020603050405020304" pitchFamily="18" charset="0"/>
                  </a:rPr>
                  <a:t>. </a:t>
                </a:r>
              </a:p>
              <a:p>
                <a:pPr algn="just"/>
                <a:endParaRPr lang="en-US" sz="2200" dirty="0">
                  <a:latin typeface="Arial Narrow" panose="020B0606020202030204" pitchFamily="34" charset="0"/>
                  <a:cs typeface="Times New Roman" panose="02020603050405020304" pitchFamily="18" charset="0"/>
                </a:endParaRPr>
              </a:p>
              <a:p>
                <a:pPr algn="just"/>
                <a:r>
                  <a:rPr lang="en-US" sz="2200" dirty="0">
                    <a:latin typeface="Arial Narrow" panose="020B0606020202030204" pitchFamily="34" charset="0"/>
                    <a:cs typeface="Times New Roman" panose="02020603050405020304" pitchFamily="18" charset="0"/>
                  </a:rPr>
                  <a:t>Ultimately we would like to learn a function </a:t>
                </a:r>
                <a14:m>
                  <m:oMath xmlns:m="http://schemas.openxmlformats.org/officeDocument/2006/math">
                    <m:r>
                      <a:rPr lang="en-US" sz="2200" i="1" dirty="0" smtClean="0">
                        <a:latin typeface="Cambria Math" panose="02040503050406030204" pitchFamily="18" charset="0"/>
                        <a:cs typeface="Times New Roman" panose="02020603050405020304" pitchFamily="18" charset="0"/>
                      </a:rPr>
                      <m:t>h</m:t>
                    </m:r>
                  </m:oMath>
                </a14:m>
                <a:r>
                  <a:rPr lang="en-US" sz="2200" dirty="0">
                    <a:latin typeface="Arial Narrow" panose="020B0606020202030204" pitchFamily="34" charset="0"/>
                    <a:cs typeface="Times New Roman" panose="02020603050405020304" pitchFamily="18" charset="0"/>
                  </a:rPr>
                  <a:t> such that for a new pair, we have </a:t>
                </a:r>
                <a14:m>
                  <m:oMath xmlns:m="http://schemas.openxmlformats.org/officeDocument/2006/math">
                    <m:r>
                      <a:rPr lang="en-US" sz="2200" i="1" dirty="0" smtClean="0">
                        <a:latin typeface="Cambria Math" panose="02040503050406030204" pitchFamily="18" charset="0"/>
                        <a:cs typeface="Times New Roman" panose="02020603050405020304" pitchFamily="18" charset="0"/>
                      </a:rPr>
                      <m:t>h</m:t>
                    </m:r>
                    <m:r>
                      <a:rPr lang="en-US" sz="2200" i="1" dirty="0" smtClean="0">
                        <a:latin typeface="Cambria Math" panose="02040503050406030204" pitchFamily="18" charset="0"/>
                        <a:cs typeface="Times New Roman" panose="02020603050405020304" pitchFamily="18" charset="0"/>
                      </a:rPr>
                      <m:t>(</m:t>
                    </m:r>
                    <m:r>
                      <a:rPr lang="en-US" sz="2200" i="1" dirty="0" smtClean="0">
                        <a:latin typeface="Cambria Math" panose="02040503050406030204" pitchFamily="18" charset="0"/>
                        <a:cs typeface="Times New Roman" panose="02020603050405020304" pitchFamily="18" charset="0"/>
                      </a:rPr>
                      <m:t>𝑥</m:t>
                    </m:r>
                    <m:r>
                      <a:rPr lang="en-US" sz="2200" i="1" dirty="0" smtClean="0">
                        <a:latin typeface="Cambria Math" panose="02040503050406030204" pitchFamily="18" charset="0"/>
                        <a:cs typeface="Times New Roman" panose="02020603050405020304" pitchFamily="18" charset="0"/>
                      </a:rPr>
                      <m:t>)=</m:t>
                    </m:r>
                    <m:r>
                      <a:rPr lang="en-US" sz="2200" i="1" dirty="0" smtClean="0">
                        <a:latin typeface="Cambria Math" panose="02040503050406030204" pitchFamily="18" charset="0"/>
                        <a:cs typeface="Times New Roman" panose="02020603050405020304" pitchFamily="18" charset="0"/>
                      </a:rPr>
                      <m:t>𝑦</m:t>
                    </m:r>
                    <m:r>
                      <a:rPr lang="en-US" sz="2200" i="1" dirty="0" smtClean="0">
                        <a:latin typeface="Cambria Math" panose="02040503050406030204" pitchFamily="18" charset="0"/>
                        <a:cs typeface="Times New Roman" panose="02020603050405020304" pitchFamily="18" charset="0"/>
                      </a:rPr>
                      <m:t> </m:t>
                    </m:r>
                  </m:oMath>
                </a14:m>
                <a:r>
                  <a:rPr lang="en-US" sz="2200" dirty="0">
                    <a:latin typeface="Arial Narrow" panose="020B0606020202030204" pitchFamily="34" charset="0"/>
                    <a:cs typeface="Times New Roman" panose="02020603050405020304" pitchFamily="18" charset="0"/>
                  </a:rPr>
                  <a:t>with high probability (or </a:t>
                </a:r>
                <a14:m>
                  <m:oMath xmlns:m="http://schemas.openxmlformats.org/officeDocument/2006/math">
                    <m:r>
                      <a:rPr lang="en-US" sz="2200" i="1" dirty="0" smtClean="0">
                        <a:latin typeface="Cambria Math" panose="02040503050406030204" pitchFamily="18" charset="0"/>
                        <a:cs typeface="Times New Roman" panose="02020603050405020304" pitchFamily="18" charset="0"/>
                      </a:rPr>
                      <m:t>h</m:t>
                    </m:r>
                    <m:r>
                      <a:rPr lang="en-US" sz="2200" i="1" dirty="0" smtClean="0">
                        <a:latin typeface="Cambria Math" panose="02040503050406030204" pitchFamily="18" charset="0"/>
                        <a:cs typeface="Times New Roman" panose="02020603050405020304" pitchFamily="18" charset="0"/>
                      </a:rPr>
                      <m:t>(</m:t>
                    </m:r>
                    <m:r>
                      <a:rPr lang="en-US" sz="2200" i="1" dirty="0" smtClean="0">
                        <a:latin typeface="Cambria Math" panose="02040503050406030204" pitchFamily="18" charset="0"/>
                        <a:cs typeface="Times New Roman" panose="02020603050405020304" pitchFamily="18" charset="0"/>
                      </a:rPr>
                      <m:t>𝑥</m:t>
                    </m:r>
                    <m:r>
                      <a:rPr lang="en-US" sz="2200" i="1" dirty="0" smtClean="0">
                        <a:latin typeface="Cambria Math" panose="02040503050406030204" pitchFamily="18" charset="0"/>
                        <a:cs typeface="Times New Roman" panose="02020603050405020304" pitchFamily="18" charset="0"/>
                      </a:rPr>
                      <m:t>)≈</m:t>
                    </m:r>
                    <m:r>
                      <a:rPr lang="en-US" sz="2200" i="1" dirty="0" smtClean="0">
                        <a:latin typeface="Cambria Math" panose="02040503050406030204" pitchFamily="18" charset="0"/>
                        <a:cs typeface="Times New Roman" panose="02020603050405020304" pitchFamily="18" charset="0"/>
                      </a:rPr>
                      <m:t>𝑦</m:t>
                    </m:r>
                  </m:oMath>
                </a14:m>
                <a:r>
                  <a:rPr lang="en-US" sz="2200" dirty="0">
                    <a:latin typeface="Arial Narrow" panose="020B0606020202030204" pitchFamily="34" charset="0"/>
                    <a:cs typeface="Times New Roman" panose="02020603050405020304" pitchFamily="18" charset="0"/>
                  </a:rPr>
                  <a:t>). </a:t>
                </a:r>
              </a:p>
              <a:p>
                <a:pPr algn="just"/>
                <a:endParaRPr lang="en-US" sz="2200" dirty="0">
                  <a:latin typeface="Arial Narrow" panose="020B0606020202030204" pitchFamily="34" charset="0"/>
                  <a:cs typeface="Times New Roman" panose="02020603050405020304" pitchFamily="18" charset="0"/>
                </a:endParaRPr>
              </a:p>
              <a:p>
                <a:pPr algn="just"/>
                <a:r>
                  <a:rPr lang="en-US" sz="2200" dirty="0">
                    <a:latin typeface="Arial Narrow" panose="020B0606020202030204" pitchFamily="34" charset="0"/>
                    <a:cs typeface="Times New Roman" panose="02020603050405020304" pitchFamily="18" charset="0"/>
                  </a:rPr>
                  <a:t>Here, is called hypothesis function and since this function is linear, it is called linear regression.</a:t>
                </a:r>
              </a:p>
              <a:p>
                <a:pPr algn="just"/>
                <a:endParaRPr lang="en-US" sz="2200" dirty="0">
                  <a:latin typeface="Arial Narrow" panose="020B0606020202030204" pitchFamily="34" charset="0"/>
                  <a:cs typeface="Times New Roman" panose="02020603050405020304" pitchFamily="18" charset="0"/>
                </a:endParaRPr>
              </a:p>
              <a:p>
                <a:pPr algn="just"/>
                <a:r>
                  <a:rPr lang="en-US" sz="2200" dirty="0">
                    <a:latin typeface="Arial Narrow" panose="020B0606020202030204" pitchFamily="34" charset="0"/>
                    <a:cs typeface="Times New Roman" panose="02020603050405020304" pitchFamily="18" charset="0"/>
                  </a:rPr>
                  <a:t>Linear regression is a simple example of  discriminative learning (supervised) where we hypothesize a decision function from a set of training data.  </a:t>
                </a:r>
              </a:p>
              <a:p>
                <a:endParaRPr lang="en-IN" dirty="0"/>
              </a:p>
            </p:txBody>
          </p:sp>
        </mc:Choice>
        <mc:Fallback xmlns="">
          <p:sp>
            <p:nvSpPr>
              <p:cNvPr id="3" name="Content Placeholder 2">
                <a:extLst>
                  <a:ext uri="{FF2B5EF4-FFF2-40B4-BE49-F238E27FC236}">
                    <a16:creationId xmlns:a16="http://schemas.microsoft.com/office/drawing/2014/main" id="{6B5DF466-7984-47CC-B621-BC14DB27AE43}"/>
                  </a:ext>
                </a:extLst>
              </p:cNvPr>
              <p:cNvSpPr>
                <a:spLocks noGrp="1" noRot="1" noChangeAspect="1" noMove="1" noResize="1" noEditPoints="1" noAdjustHandles="1" noChangeArrowheads="1" noChangeShapeType="1" noTextEdit="1"/>
              </p:cNvSpPr>
              <p:nvPr>
                <p:ph idx="1"/>
              </p:nvPr>
            </p:nvSpPr>
            <p:spPr>
              <a:xfrm>
                <a:off x="838199" y="1825625"/>
                <a:ext cx="5992991" cy="4351338"/>
              </a:xfrm>
              <a:blipFill>
                <a:blip r:embed="rId2"/>
                <a:stretch>
                  <a:fillRect l="-813" t="-2101" r="-1016"/>
                </a:stretch>
              </a:blipFill>
            </p:spPr>
            <p:txBody>
              <a:bodyPr/>
              <a:lstStyle/>
              <a:p>
                <a:r>
                  <a:rPr lang="en-IN">
                    <a:noFill/>
                  </a:rPr>
                  <a:t> </a:t>
                </a:r>
              </a:p>
            </p:txBody>
          </p:sp>
        </mc:Fallback>
      </mc:AlternateContent>
      <p:grpSp>
        <p:nvGrpSpPr>
          <p:cNvPr id="28" name="Group 27">
            <a:extLst>
              <a:ext uri="{FF2B5EF4-FFF2-40B4-BE49-F238E27FC236}">
                <a16:creationId xmlns:a16="http://schemas.microsoft.com/office/drawing/2014/main" id="{810F47E1-877D-4A3F-9B1B-7A5CFC5D3635}"/>
              </a:ext>
            </a:extLst>
          </p:cNvPr>
          <p:cNvGrpSpPr/>
          <p:nvPr/>
        </p:nvGrpSpPr>
        <p:grpSpPr>
          <a:xfrm>
            <a:off x="6964541" y="2790649"/>
            <a:ext cx="4565564" cy="3702226"/>
            <a:chOff x="8820236" y="2270100"/>
            <a:chExt cx="4565564" cy="3702226"/>
          </a:xfrm>
        </p:grpSpPr>
        <p:sp>
          <p:nvSpPr>
            <p:cNvPr id="29" name="Oval 28">
              <a:extLst>
                <a:ext uri="{FF2B5EF4-FFF2-40B4-BE49-F238E27FC236}">
                  <a16:creationId xmlns:a16="http://schemas.microsoft.com/office/drawing/2014/main" id="{067AA57F-DE70-4D24-AAF9-2FC51E8AD46D}"/>
                </a:ext>
              </a:extLst>
            </p:cNvPr>
            <p:cNvSpPr/>
            <p:nvPr/>
          </p:nvSpPr>
          <p:spPr>
            <a:xfrm rot="19488290">
              <a:off x="9026945" y="3383882"/>
              <a:ext cx="4294520" cy="736137"/>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FFD47D4D-CAA5-45DA-B438-CD4D4DF2BFD7}"/>
                </a:ext>
              </a:extLst>
            </p:cNvPr>
            <p:cNvSpPr/>
            <p:nvPr/>
          </p:nvSpPr>
          <p:spPr>
            <a:xfrm>
              <a:off x="11197938" y="3398770"/>
              <a:ext cx="107728" cy="146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2A53DA69-3CE9-4687-92A1-441E16478BC5}"/>
                </a:ext>
              </a:extLst>
            </p:cNvPr>
            <p:cNvSpPr/>
            <p:nvPr/>
          </p:nvSpPr>
          <p:spPr>
            <a:xfrm>
              <a:off x="11019181" y="3780088"/>
              <a:ext cx="107728" cy="146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F655DB20-2A66-4FC2-AFB4-9A65A4297F83}"/>
                </a:ext>
              </a:extLst>
            </p:cNvPr>
            <p:cNvSpPr/>
            <p:nvPr/>
          </p:nvSpPr>
          <p:spPr>
            <a:xfrm>
              <a:off x="10101983" y="4435370"/>
              <a:ext cx="107728" cy="146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CF70B263-9DD8-42FB-8BC2-DF1D521B190C}"/>
                </a:ext>
              </a:extLst>
            </p:cNvPr>
            <p:cNvSpPr/>
            <p:nvPr/>
          </p:nvSpPr>
          <p:spPr>
            <a:xfrm>
              <a:off x="11534266" y="3222911"/>
              <a:ext cx="107728" cy="146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05C8C7E5-52B3-4809-A139-B0BD6EC599D7}"/>
                </a:ext>
              </a:extLst>
            </p:cNvPr>
            <p:cNvSpPr/>
            <p:nvPr/>
          </p:nvSpPr>
          <p:spPr>
            <a:xfrm>
              <a:off x="10473851" y="4044893"/>
              <a:ext cx="107728" cy="146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2A613DE3-84B9-40C5-A5E2-3F69DE34EDA1}"/>
                </a:ext>
              </a:extLst>
            </p:cNvPr>
            <p:cNvSpPr/>
            <p:nvPr/>
          </p:nvSpPr>
          <p:spPr>
            <a:xfrm>
              <a:off x="12147370" y="2992502"/>
              <a:ext cx="107728" cy="146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Arrow Connector 35">
              <a:extLst>
                <a:ext uri="{FF2B5EF4-FFF2-40B4-BE49-F238E27FC236}">
                  <a16:creationId xmlns:a16="http://schemas.microsoft.com/office/drawing/2014/main" id="{492EC250-0D1B-40A2-B769-D9168AEA41F2}"/>
                </a:ext>
              </a:extLst>
            </p:cNvPr>
            <p:cNvCxnSpPr/>
            <p:nvPr/>
          </p:nvCxnSpPr>
          <p:spPr>
            <a:xfrm>
              <a:off x="9207336" y="5486400"/>
              <a:ext cx="417846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5B6489B-3A63-4E10-9F52-EA3E9141F947}"/>
                </a:ext>
              </a:extLst>
            </p:cNvPr>
            <p:cNvCxnSpPr/>
            <p:nvPr/>
          </p:nvCxnSpPr>
          <p:spPr>
            <a:xfrm flipV="1">
              <a:off x="9207336" y="2270100"/>
              <a:ext cx="0" cy="32163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269FA234-1EDE-40F6-8F79-F9AF4727E6E8}"/>
                </a:ext>
              </a:extLst>
            </p:cNvPr>
            <p:cNvSpPr txBox="1"/>
            <p:nvPr/>
          </p:nvSpPr>
          <p:spPr>
            <a:xfrm>
              <a:off x="9986687" y="5466750"/>
              <a:ext cx="381000" cy="369332"/>
            </a:xfrm>
            <a:prstGeom prst="rect">
              <a:avLst/>
            </a:prstGeom>
            <a:noFill/>
          </p:spPr>
          <p:txBody>
            <a:bodyPr wrap="square" rtlCol="0">
              <a:spAutoFit/>
            </a:bodyPr>
            <a:lstStyle/>
            <a:p>
              <a:r>
                <a:rPr lang="en-IN" dirty="0"/>
                <a:t>x</a:t>
              </a:r>
              <a:r>
                <a:rPr lang="en-IN" baseline="-25000" dirty="0"/>
                <a:t>1</a:t>
              </a:r>
            </a:p>
          </p:txBody>
        </p:sp>
        <p:sp>
          <p:nvSpPr>
            <p:cNvPr id="39" name="TextBox 38">
              <a:extLst>
                <a:ext uri="{FF2B5EF4-FFF2-40B4-BE49-F238E27FC236}">
                  <a16:creationId xmlns:a16="http://schemas.microsoft.com/office/drawing/2014/main" id="{DF642028-C42A-4163-8740-DC32C8B1E1E2}"/>
                </a:ext>
              </a:extLst>
            </p:cNvPr>
            <p:cNvSpPr txBox="1"/>
            <p:nvPr/>
          </p:nvSpPr>
          <p:spPr>
            <a:xfrm>
              <a:off x="10391079" y="5469216"/>
              <a:ext cx="381000" cy="369332"/>
            </a:xfrm>
            <a:prstGeom prst="rect">
              <a:avLst/>
            </a:prstGeom>
            <a:noFill/>
          </p:spPr>
          <p:txBody>
            <a:bodyPr wrap="square" rtlCol="0">
              <a:spAutoFit/>
            </a:bodyPr>
            <a:lstStyle/>
            <a:p>
              <a:r>
                <a:rPr lang="en-IN" dirty="0"/>
                <a:t>x</a:t>
              </a:r>
              <a:r>
                <a:rPr lang="en-IN" baseline="-25000" dirty="0"/>
                <a:t>2</a:t>
              </a:r>
            </a:p>
          </p:txBody>
        </p:sp>
        <p:sp>
          <p:nvSpPr>
            <p:cNvPr id="40" name="TextBox 39">
              <a:extLst>
                <a:ext uri="{FF2B5EF4-FFF2-40B4-BE49-F238E27FC236}">
                  <a16:creationId xmlns:a16="http://schemas.microsoft.com/office/drawing/2014/main" id="{58B4C3BB-BE60-401A-BF81-F4D647417839}"/>
                </a:ext>
              </a:extLst>
            </p:cNvPr>
            <p:cNvSpPr txBox="1"/>
            <p:nvPr/>
          </p:nvSpPr>
          <p:spPr>
            <a:xfrm>
              <a:off x="12019642" y="5503136"/>
              <a:ext cx="381000" cy="369332"/>
            </a:xfrm>
            <a:prstGeom prst="rect">
              <a:avLst/>
            </a:prstGeom>
            <a:noFill/>
          </p:spPr>
          <p:txBody>
            <a:bodyPr wrap="square" rtlCol="0">
              <a:spAutoFit/>
            </a:bodyPr>
            <a:lstStyle/>
            <a:p>
              <a:r>
                <a:rPr lang="en-IN" dirty="0"/>
                <a:t>x</a:t>
              </a:r>
              <a:r>
                <a:rPr lang="en-IN" baseline="-25000" dirty="0"/>
                <a:t>6</a:t>
              </a:r>
            </a:p>
          </p:txBody>
        </p:sp>
        <p:cxnSp>
          <p:nvCxnSpPr>
            <p:cNvPr id="41" name="Straight Connector 40">
              <a:extLst>
                <a:ext uri="{FF2B5EF4-FFF2-40B4-BE49-F238E27FC236}">
                  <a16:creationId xmlns:a16="http://schemas.microsoft.com/office/drawing/2014/main" id="{728D08EB-8A92-461E-8897-A077B8F0439D}"/>
                </a:ext>
              </a:extLst>
            </p:cNvPr>
            <p:cNvCxnSpPr/>
            <p:nvPr/>
          </p:nvCxnSpPr>
          <p:spPr>
            <a:xfrm>
              <a:off x="10155281" y="4508504"/>
              <a:ext cx="0" cy="977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1D66FE7-CC02-451F-AC43-755E0ECC8599}"/>
                </a:ext>
              </a:extLst>
            </p:cNvPr>
            <p:cNvCxnSpPr>
              <a:cxnSpLocks/>
            </p:cNvCxnSpPr>
            <p:nvPr/>
          </p:nvCxnSpPr>
          <p:spPr>
            <a:xfrm>
              <a:off x="10527715" y="4154389"/>
              <a:ext cx="0" cy="1312361"/>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C8D71E8-A3A0-45D1-8BCA-02848E8EC6CA}"/>
                </a:ext>
              </a:extLst>
            </p:cNvPr>
            <p:cNvCxnSpPr/>
            <p:nvPr/>
          </p:nvCxnSpPr>
          <p:spPr>
            <a:xfrm>
              <a:off x="12210142" y="3138770"/>
              <a:ext cx="0" cy="2347630"/>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AF868AC-CFB2-4B70-8F9C-C7E0CF1F56FF}"/>
                </a:ext>
              </a:extLst>
            </p:cNvPr>
            <p:cNvSpPr txBox="1"/>
            <p:nvPr/>
          </p:nvSpPr>
          <p:spPr>
            <a:xfrm>
              <a:off x="10958170" y="5264440"/>
              <a:ext cx="661489" cy="707886"/>
            </a:xfrm>
            <a:prstGeom prst="rect">
              <a:avLst/>
            </a:prstGeom>
            <a:noFill/>
          </p:spPr>
          <p:txBody>
            <a:bodyPr wrap="square" rtlCol="0">
              <a:spAutoFit/>
            </a:bodyPr>
            <a:lstStyle/>
            <a:p>
              <a:pPr algn="ctr"/>
              <a:r>
                <a:rPr lang="en-IN" sz="4000" dirty="0"/>
                <a:t>…</a:t>
              </a:r>
            </a:p>
          </p:txBody>
        </p:sp>
        <p:cxnSp>
          <p:nvCxnSpPr>
            <p:cNvPr id="45" name="Straight Connector 44">
              <a:extLst>
                <a:ext uri="{FF2B5EF4-FFF2-40B4-BE49-F238E27FC236}">
                  <a16:creationId xmlns:a16="http://schemas.microsoft.com/office/drawing/2014/main" id="{17258BDD-7E40-4E1B-AB21-51530BF068D2}"/>
                </a:ext>
              </a:extLst>
            </p:cNvPr>
            <p:cNvCxnSpPr/>
            <p:nvPr/>
          </p:nvCxnSpPr>
          <p:spPr>
            <a:xfrm flipH="1">
              <a:off x="9207336" y="4118027"/>
              <a:ext cx="13203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7A7B579-124F-4984-828B-3523CD075ACD}"/>
                </a:ext>
              </a:extLst>
            </p:cNvPr>
            <p:cNvCxnSpPr/>
            <p:nvPr/>
          </p:nvCxnSpPr>
          <p:spPr>
            <a:xfrm flipH="1">
              <a:off x="9207336" y="4508504"/>
              <a:ext cx="9479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08EAC9-AD1D-49AB-9DDF-BBA456019F9B}"/>
                </a:ext>
              </a:extLst>
            </p:cNvPr>
            <p:cNvCxnSpPr/>
            <p:nvPr/>
          </p:nvCxnSpPr>
          <p:spPr>
            <a:xfrm flipH="1">
              <a:off x="9207336" y="3046932"/>
              <a:ext cx="3002806"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D8CD0A24-3572-479B-867E-4F0F6242BD62}"/>
                </a:ext>
              </a:extLst>
            </p:cNvPr>
            <p:cNvSpPr txBox="1"/>
            <p:nvPr/>
          </p:nvSpPr>
          <p:spPr>
            <a:xfrm>
              <a:off x="8851953" y="4311126"/>
              <a:ext cx="381000" cy="369332"/>
            </a:xfrm>
            <a:prstGeom prst="rect">
              <a:avLst/>
            </a:prstGeom>
            <a:noFill/>
          </p:spPr>
          <p:txBody>
            <a:bodyPr wrap="square" rtlCol="0">
              <a:spAutoFit/>
            </a:bodyPr>
            <a:lstStyle/>
            <a:p>
              <a:r>
                <a:rPr lang="en-IN" dirty="0"/>
                <a:t>y</a:t>
              </a:r>
              <a:r>
                <a:rPr lang="en-IN" baseline="-25000" dirty="0"/>
                <a:t>1</a:t>
              </a:r>
            </a:p>
          </p:txBody>
        </p:sp>
        <p:sp>
          <p:nvSpPr>
            <p:cNvPr id="49" name="TextBox 48">
              <a:extLst>
                <a:ext uri="{FF2B5EF4-FFF2-40B4-BE49-F238E27FC236}">
                  <a16:creationId xmlns:a16="http://schemas.microsoft.com/office/drawing/2014/main" id="{B4CC9E3B-F785-459F-AAE3-004161EE8498}"/>
                </a:ext>
              </a:extLst>
            </p:cNvPr>
            <p:cNvSpPr txBox="1"/>
            <p:nvPr/>
          </p:nvSpPr>
          <p:spPr>
            <a:xfrm>
              <a:off x="8855045" y="3886200"/>
              <a:ext cx="381000" cy="369332"/>
            </a:xfrm>
            <a:prstGeom prst="rect">
              <a:avLst/>
            </a:prstGeom>
            <a:noFill/>
          </p:spPr>
          <p:txBody>
            <a:bodyPr wrap="square" rtlCol="0">
              <a:spAutoFit/>
            </a:bodyPr>
            <a:lstStyle/>
            <a:p>
              <a:r>
                <a:rPr lang="en-IN" dirty="0"/>
                <a:t>y</a:t>
              </a:r>
              <a:r>
                <a:rPr lang="en-IN" baseline="-25000" dirty="0"/>
                <a:t>2</a:t>
              </a:r>
            </a:p>
          </p:txBody>
        </p:sp>
        <p:sp>
          <p:nvSpPr>
            <p:cNvPr id="50" name="TextBox 49">
              <a:extLst>
                <a:ext uri="{FF2B5EF4-FFF2-40B4-BE49-F238E27FC236}">
                  <a16:creationId xmlns:a16="http://schemas.microsoft.com/office/drawing/2014/main" id="{FF9BB424-010C-468A-ABB6-A049D297BC61}"/>
                </a:ext>
              </a:extLst>
            </p:cNvPr>
            <p:cNvSpPr txBox="1"/>
            <p:nvPr/>
          </p:nvSpPr>
          <p:spPr>
            <a:xfrm>
              <a:off x="8820236" y="2838139"/>
              <a:ext cx="381000" cy="276999"/>
            </a:xfrm>
            <a:prstGeom prst="rect">
              <a:avLst/>
            </a:prstGeom>
            <a:noFill/>
          </p:spPr>
          <p:txBody>
            <a:bodyPr wrap="square" rtlCol="0">
              <a:spAutoFit/>
            </a:bodyPr>
            <a:lstStyle/>
            <a:p>
              <a:r>
                <a:rPr lang="en-IN" baseline="-25000" dirty="0"/>
                <a:t>y6</a:t>
              </a:r>
            </a:p>
          </p:txBody>
        </p:sp>
        <p:sp>
          <p:nvSpPr>
            <p:cNvPr id="51" name="Oval 50">
              <a:extLst>
                <a:ext uri="{FF2B5EF4-FFF2-40B4-BE49-F238E27FC236}">
                  <a16:creationId xmlns:a16="http://schemas.microsoft.com/office/drawing/2014/main" id="{9C3A1DA2-7AC8-4927-ADB5-34C819BE5D97}"/>
                </a:ext>
              </a:extLst>
            </p:cNvPr>
            <p:cNvSpPr/>
            <p:nvPr/>
          </p:nvSpPr>
          <p:spPr>
            <a:xfrm>
              <a:off x="10708739" y="3683502"/>
              <a:ext cx="107728" cy="14626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53" name="Straight Connector 52">
            <a:extLst>
              <a:ext uri="{FF2B5EF4-FFF2-40B4-BE49-F238E27FC236}">
                <a16:creationId xmlns:a16="http://schemas.microsoft.com/office/drawing/2014/main" id="{2309298D-1FA5-443F-9AED-A3E8CE1C9864}"/>
              </a:ext>
            </a:extLst>
          </p:cNvPr>
          <p:cNvCxnSpPr>
            <a:cxnSpLocks/>
          </p:cNvCxnSpPr>
          <p:nvPr/>
        </p:nvCxnSpPr>
        <p:spPr>
          <a:xfrm flipV="1">
            <a:off x="7386450" y="2788025"/>
            <a:ext cx="3967350" cy="282695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98D66A20-FC73-421F-88E8-F5400986FA62}"/>
                  </a:ext>
                </a:extLst>
              </p:cNvPr>
              <p:cNvSpPr/>
              <p:nvPr/>
            </p:nvSpPr>
            <p:spPr>
              <a:xfrm>
                <a:off x="11066789" y="2910959"/>
                <a:ext cx="6925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cs typeface="Times New Roman" panose="02020603050405020304" pitchFamily="18" charset="0"/>
                        </a:rPr>
                        <m:t>h</m:t>
                      </m:r>
                      <m:r>
                        <a:rPr lang="en-US" i="1" dirty="0">
                          <a:latin typeface="Cambria Math" panose="02040503050406030204" pitchFamily="18" charset="0"/>
                          <a:cs typeface="Times New Roman" panose="02020603050405020304" pitchFamily="18" charset="0"/>
                        </a:rPr>
                        <m:t>(</m:t>
                      </m:r>
                      <m:r>
                        <a:rPr lang="en-US" i="1" dirty="0">
                          <a:latin typeface="Cambria Math" panose="02040503050406030204" pitchFamily="18" charset="0"/>
                          <a:cs typeface="Times New Roman" panose="02020603050405020304" pitchFamily="18" charset="0"/>
                        </a:rPr>
                        <m:t>𝑥</m:t>
                      </m:r>
                      <m:r>
                        <a:rPr lang="en-US" i="1" dirty="0">
                          <a:latin typeface="Cambria Math" panose="02040503050406030204" pitchFamily="18" charset="0"/>
                          <a:cs typeface="Times New Roman" panose="02020603050405020304" pitchFamily="18" charset="0"/>
                        </a:rPr>
                        <m:t>)</m:t>
                      </m:r>
                    </m:oMath>
                  </m:oMathPara>
                </a14:m>
                <a:endParaRPr lang="en-IN" dirty="0"/>
              </a:p>
            </p:txBody>
          </p:sp>
        </mc:Choice>
        <mc:Fallback xmlns="">
          <p:sp>
            <p:nvSpPr>
              <p:cNvPr id="55" name="Rectangle 54">
                <a:extLst>
                  <a:ext uri="{FF2B5EF4-FFF2-40B4-BE49-F238E27FC236}">
                    <a16:creationId xmlns:a16="http://schemas.microsoft.com/office/drawing/2014/main" id="{98D66A20-FC73-421F-88E8-F5400986FA62}"/>
                  </a:ext>
                </a:extLst>
              </p:cNvPr>
              <p:cNvSpPr>
                <a:spLocks noRot="1" noChangeAspect="1" noMove="1" noResize="1" noEditPoints="1" noAdjustHandles="1" noChangeArrowheads="1" noChangeShapeType="1" noTextEdit="1"/>
              </p:cNvSpPr>
              <p:nvPr/>
            </p:nvSpPr>
            <p:spPr>
              <a:xfrm>
                <a:off x="11066789" y="2910959"/>
                <a:ext cx="692562" cy="369332"/>
              </a:xfrm>
              <a:prstGeom prst="rect">
                <a:avLst/>
              </a:prstGeom>
              <a:blipFill>
                <a:blip r:embed="rId3"/>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9E6B33F7-AC69-46F1-BD9B-366C41B00F01}"/>
                  </a:ext>
                </a:extLst>
              </p:cNvPr>
              <p:cNvSpPr/>
              <p:nvPr/>
            </p:nvSpPr>
            <p:spPr>
              <a:xfrm>
                <a:off x="8732391" y="6005121"/>
                <a:ext cx="3679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C00000"/>
                          </a:solidFill>
                          <a:latin typeface="Cambria Math" panose="02040503050406030204" pitchFamily="18" charset="0"/>
                          <a:cs typeface="Times New Roman" panose="02020603050405020304" pitchFamily="18" charset="0"/>
                        </a:rPr>
                        <m:t>𝒙</m:t>
                      </m:r>
                    </m:oMath>
                  </m:oMathPara>
                </a14:m>
                <a:endParaRPr lang="en-IN" b="1" dirty="0">
                  <a:solidFill>
                    <a:srgbClr val="C00000"/>
                  </a:solidFill>
                </a:endParaRPr>
              </a:p>
            </p:txBody>
          </p:sp>
        </mc:Choice>
        <mc:Fallback xmlns="">
          <p:sp>
            <p:nvSpPr>
              <p:cNvPr id="56" name="Rectangle 55">
                <a:extLst>
                  <a:ext uri="{FF2B5EF4-FFF2-40B4-BE49-F238E27FC236}">
                    <a16:creationId xmlns:a16="http://schemas.microsoft.com/office/drawing/2014/main" id="{9E6B33F7-AC69-46F1-BD9B-366C41B00F01}"/>
                  </a:ext>
                </a:extLst>
              </p:cNvPr>
              <p:cNvSpPr>
                <a:spLocks noRot="1" noChangeAspect="1" noMove="1" noResize="1" noEditPoints="1" noAdjustHandles="1" noChangeArrowheads="1" noChangeShapeType="1" noTextEdit="1"/>
              </p:cNvSpPr>
              <p:nvPr/>
            </p:nvSpPr>
            <p:spPr>
              <a:xfrm>
                <a:off x="8732391" y="6005121"/>
                <a:ext cx="367985" cy="369332"/>
              </a:xfrm>
              <a:prstGeom prst="rect">
                <a:avLst/>
              </a:prstGeom>
              <a:blipFill>
                <a:blip r:embed="rId4"/>
                <a:stretch>
                  <a:fillRect/>
                </a:stretch>
              </a:blipFill>
            </p:spPr>
            <p:txBody>
              <a:bodyPr/>
              <a:lstStyle/>
              <a:p>
                <a:r>
                  <a:rPr lang="en-IN">
                    <a:noFill/>
                  </a:rPr>
                  <a:t> </a:t>
                </a:r>
              </a:p>
            </p:txBody>
          </p:sp>
        </mc:Fallback>
      </mc:AlternateContent>
      <p:cxnSp>
        <p:nvCxnSpPr>
          <p:cNvPr id="60" name="Straight Connector 59">
            <a:extLst>
              <a:ext uri="{FF2B5EF4-FFF2-40B4-BE49-F238E27FC236}">
                <a16:creationId xmlns:a16="http://schemas.microsoft.com/office/drawing/2014/main" id="{055CE3A5-74BB-4EC7-9301-CEDDEF426906}"/>
              </a:ext>
            </a:extLst>
          </p:cNvPr>
          <p:cNvCxnSpPr>
            <a:cxnSpLocks/>
            <a:stCxn id="51" idx="4"/>
          </p:cNvCxnSpPr>
          <p:nvPr/>
        </p:nvCxnSpPr>
        <p:spPr>
          <a:xfrm>
            <a:off x="8906908" y="4350319"/>
            <a:ext cx="9476" cy="1673366"/>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ECB55C3-F25D-4B65-9716-07798A8B34FE}"/>
              </a:ext>
            </a:extLst>
          </p:cNvPr>
          <p:cNvCxnSpPr>
            <a:cxnSpLocks/>
          </p:cNvCxnSpPr>
          <p:nvPr/>
        </p:nvCxnSpPr>
        <p:spPr>
          <a:xfrm flipV="1">
            <a:off x="7345541" y="4270403"/>
            <a:ext cx="1541161" cy="9870"/>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7F1031FA-4E20-4701-B1A1-5DC653BABDC5}"/>
                  </a:ext>
                </a:extLst>
              </p:cNvPr>
              <p:cNvSpPr/>
              <p:nvPr/>
            </p:nvSpPr>
            <p:spPr>
              <a:xfrm>
                <a:off x="7043597" y="4073258"/>
                <a:ext cx="37542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C00000"/>
                          </a:solidFill>
                          <a:latin typeface="Cambria Math" panose="02040503050406030204" pitchFamily="18" charset="0"/>
                          <a:cs typeface="Times New Roman" panose="02020603050405020304" pitchFamily="18" charset="0"/>
                        </a:rPr>
                        <m:t>𝒚</m:t>
                      </m:r>
                    </m:oMath>
                  </m:oMathPara>
                </a14:m>
                <a:endParaRPr lang="en-IN" b="1" dirty="0">
                  <a:solidFill>
                    <a:srgbClr val="C00000"/>
                  </a:solidFill>
                </a:endParaRPr>
              </a:p>
            </p:txBody>
          </p:sp>
        </mc:Choice>
        <mc:Fallback xmlns="">
          <p:sp>
            <p:nvSpPr>
              <p:cNvPr id="66" name="Rectangle 65">
                <a:extLst>
                  <a:ext uri="{FF2B5EF4-FFF2-40B4-BE49-F238E27FC236}">
                    <a16:creationId xmlns:a16="http://schemas.microsoft.com/office/drawing/2014/main" id="{7F1031FA-4E20-4701-B1A1-5DC653BABDC5}"/>
                  </a:ext>
                </a:extLst>
              </p:cNvPr>
              <p:cNvSpPr>
                <a:spLocks noRot="1" noChangeAspect="1" noMove="1" noResize="1" noEditPoints="1" noAdjustHandles="1" noChangeArrowheads="1" noChangeShapeType="1" noTextEdit="1"/>
              </p:cNvSpPr>
              <p:nvPr/>
            </p:nvSpPr>
            <p:spPr>
              <a:xfrm>
                <a:off x="7043597" y="4073258"/>
                <a:ext cx="375424" cy="369332"/>
              </a:xfrm>
              <a:prstGeom prst="rect">
                <a:avLst/>
              </a:prstGeom>
              <a:blipFill>
                <a:blip r:embed="rId5"/>
                <a:stretch>
                  <a:fillRect b="-6557"/>
                </a:stretch>
              </a:blipFill>
            </p:spPr>
            <p:txBody>
              <a:bodyPr/>
              <a:lstStyle/>
              <a:p>
                <a:r>
                  <a:rPr lang="en-IN">
                    <a:noFill/>
                  </a:rPr>
                  <a:t> </a:t>
                </a:r>
              </a:p>
            </p:txBody>
          </p:sp>
        </mc:Fallback>
      </mc:AlternateContent>
    </p:spTree>
    <p:extLst>
      <p:ext uri="{BB962C8B-B14F-4D97-AF65-F5344CB8AC3E}">
        <p14:creationId xmlns:p14="http://schemas.microsoft.com/office/powerpoint/2010/main" val="1992160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FC159-0AAF-4893-B722-8E2AA7BBB98E}"/>
              </a:ext>
            </a:extLst>
          </p:cNvPr>
          <p:cNvSpPr>
            <a:spLocks noGrp="1"/>
          </p:cNvSpPr>
          <p:nvPr>
            <p:ph type="title"/>
          </p:nvPr>
        </p:nvSpPr>
        <p:spPr/>
        <p:txBody>
          <a:bodyPr>
            <a:normAutofit/>
          </a:bodyPr>
          <a:lstStyle/>
          <a:p>
            <a:r>
              <a:rPr lang="en-IN" sz="3600" dirty="0">
                <a:latin typeface="Century" panose="02040604050505020304" pitchFamily="18" charset="0"/>
              </a:rPr>
              <a:t>Generative Modelling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448A79-8D34-4A37-ACD2-E4B63D899884}"/>
                  </a:ext>
                </a:extLst>
              </p:cNvPr>
              <p:cNvSpPr>
                <a:spLocks noGrp="1"/>
              </p:cNvSpPr>
              <p:nvPr>
                <p:ph idx="1"/>
              </p:nvPr>
            </p:nvSpPr>
            <p:spPr/>
            <p:txBody>
              <a:bodyPr>
                <a:normAutofit/>
              </a:bodyPr>
              <a:lstStyle/>
              <a:p>
                <a:r>
                  <a:rPr lang="en-US" sz="2000" dirty="0">
                    <a:latin typeface="Arial Narrow" panose="020B0606020202030204" pitchFamily="34" charset="0"/>
                  </a:rPr>
                  <a:t>A </a:t>
                </a:r>
                <a:r>
                  <a:rPr lang="en-US" sz="2000" dirty="0">
                    <a:solidFill>
                      <a:srgbClr val="00B0F0"/>
                    </a:solidFill>
                    <a:latin typeface="Arial Narrow" panose="020B0606020202030204" pitchFamily="34" charset="0"/>
                  </a:rPr>
                  <a:t>generative model </a:t>
                </a:r>
                <a:r>
                  <a:rPr lang="en-US" sz="2000" dirty="0">
                    <a:latin typeface="Arial Narrow" panose="020B0606020202030204" pitchFamily="34" charset="0"/>
                  </a:rPr>
                  <a:t>is a statistical model that learns the </a:t>
                </a:r>
                <a:r>
                  <a:rPr lang="en-US" sz="2000" dirty="0">
                    <a:solidFill>
                      <a:srgbClr val="00B0F0"/>
                    </a:solidFill>
                    <a:latin typeface="Arial Narrow" panose="020B0606020202030204" pitchFamily="34" charset="0"/>
                  </a:rPr>
                  <a:t>joint probability distribution </a:t>
                </a:r>
                <a:r>
                  <a:rPr lang="en-US" sz="2000" dirty="0">
                    <a:latin typeface="Arial Narrow" panose="020B0606020202030204" pitchFamily="34" charset="0"/>
                  </a:rPr>
                  <a:t>of the data and the target variable: </a:t>
                </a:r>
              </a:p>
              <a:p>
                <a:pPr marL="0" indent="0">
                  <a:buNone/>
                </a:pPr>
                <a14:m>
                  <m:oMathPara xmlns:m="http://schemas.openxmlformats.org/officeDocument/2006/math">
                    <m:oMathParaPr>
                      <m:jc m:val="centerGroup"/>
                    </m:oMathParaPr>
                    <m:oMath xmlns:m="http://schemas.openxmlformats.org/officeDocument/2006/math">
                      <m:r>
                        <a:rPr lang="en-IN" sz="2000" i="1">
                          <a:solidFill>
                            <a:srgbClr val="00B0F0"/>
                          </a:solidFill>
                          <a:latin typeface="Cambria Math" panose="02040503050406030204" pitchFamily="18" charset="0"/>
                        </a:rPr>
                        <m:t>𝑃</m:t>
                      </m:r>
                      <m:d>
                        <m:dPr>
                          <m:ctrlPr>
                            <a:rPr lang="en-IN" sz="2000" i="1">
                              <a:solidFill>
                                <a:srgbClr val="00B0F0"/>
                              </a:solidFill>
                              <a:latin typeface="Cambria Math" panose="02040503050406030204" pitchFamily="18" charset="0"/>
                            </a:rPr>
                          </m:ctrlPr>
                        </m:dPr>
                        <m:e>
                          <m:r>
                            <a:rPr lang="en-IN" sz="2000" i="1">
                              <a:solidFill>
                                <a:srgbClr val="00B0F0"/>
                              </a:solidFill>
                              <a:latin typeface="Cambria Math" panose="02040503050406030204" pitchFamily="18" charset="0"/>
                            </a:rPr>
                            <m:t>𝑋</m:t>
                          </m:r>
                          <m:r>
                            <a:rPr lang="en-IN" sz="2000" i="1">
                              <a:solidFill>
                                <a:srgbClr val="00B0F0"/>
                              </a:solidFill>
                              <a:latin typeface="Cambria Math" panose="02040503050406030204" pitchFamily="18" charset="0"/>
                            </a:rPr>
                            <m:t>,</m:t>
                          </m:r>
                          <m:r>
                            <a:rPr lang="en-IN" sz="2000" i="1">
                              <a:solidFill>
                                <a:srgbClr val="00B0F0"/>
                              </a:solidFill>
                              <a:latin typeface="Cambria Math" panose="02040503050406030204" pitchFamily="18" charset="0"/>
                            </a:rPr>
                            <m:t>𝑌</m:t>
                          </m:r>
                        </m:e>
                      </m:d>
                    </m:oMath>
                  </m:oMathPara>
                </a14:m>
                <a:endParaRPr lang="en-IN" sz="2000" dirty="0">
                  <a:latin typeface="Arial Narrow" panose="020B0606020202030204" pitchFamily="34" charset="0"/>
                </a:endParaRPr>
              </a:p>
              <a:p>
                <a:pPr marL="0" indent="0">
                  <a:buNone/>
                </a:pPr>
                <a:r>
                  <a:rPr lang="en-IN" sz="2000" dirty="0">
                    <a:latin typeface="Arial Narrow" panose="020B0606020202030204" pitchFamily="34" charset="0"/>
                  </a:rPr>
                  <a:t>				Or equivalently, </a:t>
                </a:r>
                <a14:m>
                  <m:oMath xmlns:m="http://schemas.openxmlformats.org/officeDocument/2006/math">
                    <m:r>
                      <a:rPr lang="en-IN" sz="2000" i="1">
                        <a:solidFill>
                          <a:srgbClr val="00B0F0"/>
                        </a:solidFill>
                        <a:latin typeface="Cambria Math" panose="02040503050406030204" pitchFamily="18" charset="0"/>
                      </a:rPr>
                      <m:t>𝑃</m:t>
                    </m:r>
                    <m:d>
                      <m:dPr>
                        <m:ctrlPr>
                          <a:rPr lang="en-IN" sz="2000" i="1">
                            <a:solidFill>
                              <a:srgbClr val="00B0F0"/>
                            </a:solidFill>
                            <a:latin typeface="Cambria Math" panose="02040503050406030204" pitchFamily="18" charset="0"/>
                          </a:rPr>
                        </m:ctrlPr>
                      </m:dPr>
                      <m:e>
                        <m:r>
                          <a:rPr lang="en-IN" sz="2000" b="0" i="1" smtClean="0">
                            <a:solidFill>
                              <a:srgbClr val="00B0F0"/>
                            </a:solidFill>
                            <a:latin typeface="Cambria Math" panose="02040503050406030204" pitchFamily="18" charset="0"/>
                          </a:rPr>
                          <m:t>𝑋</m:t>
                        </m:r>
                      </m:e>
                      <m:e>
                        <m:r>
                          <a:rPr lang="en-IN" sz="2000" b="0" i="1" smtClean="0">
                            <a:solidFill>
                              <a:srgbClr val="00B0F0"/>
                            </a:solidFill>
                            <a:latin typeface="Cambria Math" panose="02040503050406030204" pitchFamily="18" charset="0"/>
                          </a:rPr>
                          <m:t>𝑌</m:t>
                        </m:r>
                      </m:e>
                    </m:d>
                    <m:r>
                      <a:rPr lang="en-IN" sz="2000" b="0" i="1" smtClean="0">
                        <a:solidFill>
                          <a:srgbClr val="00B0F0"/>
                        </a:solidFill>
                        <a:latin typeface="Cambria Math" panose="02040503050406030204" pitchFamily="18" charset="0"/>
                      </a:rPr>
                      <m:t> </m:t>
                    </m:r>
                    <m:r>
                      <a:rPr lang="en-IN" sz="2000" b="0" i="1" smtClean="0">
                        <a:solidFill>
                          <a:srgbClr val="00B0F0"/>
                        </a:solidFill>
                        <a:latin typeface="Cambria Math" panose="02040503050406030204" pitchFamily="18" charset="0"/>
                      </a:rPr>
                      <m:t>𝑃</m:t>
                    </m:r>
                    <m:r>
                      <a:rPr lang="en-IN" sz="2000" b="0" i="1" smtClean="0">
                        <a:solidFill>
                          <a:srgbClr val="00B0F0"/>
                        </a:solidFill>
                        <a:latin typeface="Cambria Math" panose="02040503050406030204" pitchFamily="18" charset="0"/>
                      </a:rPr>
                      <m:t>(</m:t>
                    </m:r>
                    <m:r>
                      <a:rPr lang="en-IN" sz="2000" b="0" i="1" smtClean="0">
                        <a:solidFill>
                          <a:srgbClr val="00B0F0"/>
                        </a:solidFill>
                        <a:latin typeface="Cambria Math" panose="02040503050406030204" pitchFamily="18" charset="0"/>
                      </a:rPr>
                      <m:t>𝑌</m:t>
                    </m:r>
                    <m:r>
                      <a:rPr lang="en-IN" sz="2000" b="0" i="1" smtClean="0">
                        <a:solidFill>
                          <a:srgbClr val="00B0F0"/>
                        </a:solidFill>
                        <a:latin typeface="Cambria Math" panose="02040503050406030204" pitchFamily="18" charset="0"/>
                      </a:rPr>
                      <m:t>)</m:t>
                    </m:r>
                  </m:oMath>
                </a14:m>
                <a:endParaRPr lang="en-IN" sz="2000" dirty="0">
                  <a:latin typeface="Arial Narrow" panose="020B0606020202030204" pitchFamily="34" charset="0"/>
                </a:endParaRPr>
              </a:p>
              <a:p>
                <a:pPr marL="0" indent="0">
                  <a:buNone/>
                </a:pPr>
                <a:endParaRPr lang="en-IN" sz="2000" dirty="0">
                  <a:latin typeface="Arial Narrow" panose="020B0606020202030204" pitchFamily="34" charset="0"/>
                </a:endParaRPr>
              </a:p>
              <a:p>
                <a:r>
                  <a:rPr lang="en-US" sz="2000" dirty="0">
                    <a:latin typeface="Arial Narrow" panose="020B0606020202030204" pitchFamily="34" charset="0"/>
                  </a:rPr>
                  <a:t>Unlike discriminative models, which learn </a:t>
                </a:r>
                <a14:m>
                  <m:oMath xmlns:m="http://schemas.openxmlformats.org/officeDocument/2006/math">
                    <m:r>
                      <a:rPr lang="en-IN" sz="2000" i="1">
                        <a:solidFill>
                          <a:srgbClr val="00B0F0"/>
                        </a:solidFill>
                        <a:latin typeface="Cambria Math" panose="02040503050406030204" pitchFamily="18" charset="0"/>
                      </a:rPr>
                      <m:t>𝑃</m:t>
                    </m:r>
                    <m:d>
                      <m:dPr>
                        <m:ctrlPr>
                          <a:rPr lang="en-IN" sz="2000" i="1">
                            <a:solidFill>
                              <a:srgbClr val="00B0F0"/>
                            </a:solidFill>
                            <a:latin typeface="Cambria Math" panose="02040503050406030204" pitchFamily="18" charset="0"/>
                          </a:rPr>
                        </m:ctrlPr>
                      </m:dPr>
                      <m:e>
                        <m:r>
                          <a:rPr lang="en-IN" sz="2000" i="1">
                            <a:solidFill>
                              <a:srgbClr val="00B0F0"/>
                            </a:solidFill>
                            <a:latin typeface="Cambria Math" panose="02040503050406030204" pitchFamily="18" charset="0"/>
                          </a:rPr>
                          <m:t>𝑌</m:t>
                        </m:r>
                      </m:e>
                      <m:e>
                        <m:r>
                          <a:rPr lang="en-IN" sz="2000" i="1">
                            <a:solidFill>
                              <a:srgbClr val="00B0F0"/>
                            </a:solidFill>
                            <a:latin typeface="Cambria Math" panose="02040503050406030204" pitchFamily="18" charset="0"/>
                          </a:rPr>
                          <m:t>𝑋</m:t>
                        </m:r>
                      </m:e>
                    </m:d>
                  </m:oMath>
                </a14:m>
                <a:r>
                  <a:rPr lang="en-IN" sz="2000" dirty="0">
                    <a:latin typeface="Arial Narrow" panose="020B0606020202030204" pitchFamily="34" charset="0"/>
                  </a:rPr>
                  <a:t> directly from given data samples, </a:t>
                </a:r>
                <a:r>
                  <a:rPr lang="en-US" sz="2000" dirty="0">
                    <a:solidFill>
                      <a:srgbClr val="00B0F0"/>
                    </a:solidFill>
                    <a:latin typeface="Arial Narrow" panose="020B0606020202030204" pitchFamily="34" charset="0"/>
                  </a:rPr>
                  <a:t>generative models attempt to explain how the data are generated</a:t>
                </a:r>
                <a:r>
                  <a:rPr lang="en-US" sz="2000" dirty="0">
                    <a:latin typeface="Arial Narrow" panose="020B0606020202030204" pitchFamily="34" charset="0"/>
                  </a:rPr>
                  <a:t>.</a:t>
                </a:r>
              </a:p>
              <a:p>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FC448A79-8D34-4A37-ACD2-E4B63D899884}"/>
                  </a:ext>
                </a:extLst>
              </p:cNvPr>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en-IN">
                    <a:noFill/>
                  </a:rPr>
                  <a:t> </a:t>
                </a:r>
              </a:p>
            </p:txBody>
          </p:sp>
        </mc:Fallback>
      </mc:AlternateContent>
    </p:spTree>
    <p:extLst>
      <p:ext uri="{BB962C8B-B14F-4D97-AF65-F5344CB8AC3E}">
        <p14:creationId xmlns:p14="http://schemas.microsoft.com/office/powerpoint/2010/main" val="1020602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E635-1ED7-49FF-AE12-EC60C27A1651}"/>
              </a:ext>
            </a:extLst>
          </p:cNvPr>
          <p:cNvSpPr>
            <a:spLocks noGrp="1"/>
          </p:cNvSpPr>
          <p:nvPr>
            <p:ph type="title"/>
          </p:nvPr>
        </p:nvSpPr>
        <p:spPr/>
        <p:txBody>
          <a:bodyPr>
            <a:normAutofit/>
          </a:bodyPr>
          <a:lstStyle/>
          <a:p>
            <a:r>
              <a:rPr lang="en-US" sz="4000" dirty="0">
                <a:latin typeface="Century" panose="02040604050505020304" pitchFamily="18" charset="0"/>
              </a:rPr>
              <a:t>Generative Learning</a:t>
            </a:r>
            <a:br>
              <a:rPr lang="en-US" sz="6000" dirty="0">
                <a:latin typeface="Century" panose="02040604050505020304" pitchFamily="18" charset="0"/>
              </a:rPr>
            </a:br>
            <a:r>
              <a:rPr lang="en-US" sz="2400" dirty="0">
                <a:latin typeface="Century" panose="02040604050505020304" pitchFamily="18" charset="0"/>
              </a:rPr>
              <a:t>Statistical Understanding</a:t>
            </a:r>
            <a:endParaRPr lang="en-IN" sz="24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E984A6-AF3D-4B2C-A0B0-88601F325339}"/>
                  </a:ext>
                </a:extLst>
              </p:cNvPr>
              <p:cNvSpPr>
                <a:spLocks noGrp="1"/>
              </p:cNvSpPr>
              <p:nvPr>
                <p:ph idx="1"/>
              </p:nvPr>
            </p:nvSpPr>
            <p:spPr/>
            <p:txBody>
              <a:bodyPr/>
              <a:lstStyle/>
              <a:p>
                <a:pPr algn="just"/>
                <a:r>
                  <a:rPr lang="en-IN" sz="2000" dirty="0">
                    <a:latin typeface="Arial Narrow" panose="020B0606020202030204" pitchFamily="34" charset="0"/>
                  </a:rPr>
                  <a:t>Suppose we have data:</a:t>
                </a:r>
              </a:p>
              <a:p>
                <a:pPr marL="0" indent="0">
                  <a:buNone/>
                </a:pPr>
                <a14:m>
                  <m:oMathPara xmlns:m="http://schemas.openxmlformats.org/officeDocument/2006/math">
                    <m:oMathParaPr>
                      <m:jc m:val="centerGroup"/>
                    </m:oMathParaPr>
                    <m:oMath xmlns:m="http://schemas.openxmlformats.org/officeDocument/2006/math">
                      <m:r>
                        <a:rPr lang="en-US" sz="2000" i="1">
                          <a:solidFill>
                            <a:srgbClr val="00B0F0"/>
                          </a:solidFill>
                          <a:latin typeface="Cambria Math" panose="02040503050406030204" pitchFamily="18" charset="0"/>
                        </a:rPr>
                        <m:t>𝐷</m:t>
                      </m:r>
                      <m:r>
                        <a:rPr lang="en-US" sz="2000" i="1">
                          <a:solidFill>
                            <a:srgbClr val="00B0F0"/>
                          </a:solidFill>
                          <a:latin typeface="Cambria Math" panose="02040503050406030204" pitchFamily="18" charset="0"/>
                        </a:rPr>
                        <m:t>=</m:t>
                      </m:r>
                      <m:d>
                        <m:dPr>
                          <m:begChr m:val="{"/>
                          <m:endChr m:val="}"/>
                          <m:ctrlPr>
                            <a:rPr lang="en-US" sz="2000" i="1">
                              <a:solidFill>
                                <a:srgbClr val="00B0F0"/>
                              </a:solidFill>
                              <a:latin typeface="Cambria Math" panose="02040503050406030204" pitchFamily="18" charset="0"/>
                            </a:rPr>
                          </m:ctrlPr>
                        </m:dPr>
                        <m:e>
                          <m:d>
                            <m:dPr>
                              <m:ctrlPr>
                                <a:rPr lang="en-US" sz="2000" i="1">
                                  <a:solidFill>
                                    <a:srgbClr val="00B0F0"/>
                                  </a:solidFill>
                                  <a:latin typeface="Cambria Math" panose="02040503050406030204" pitchFamily="18" charset="0"/>
                                </a:rPr>
                              </m:ctrlPr>
                            </m:dPr>
                            <m:e>
                              <m:sSub>
                                <m:sSubPr>
                                  <m:ctrlPr>
                                    <a:rPr lang="en-US" sz="2000" i="1">
                                      <a:solidFill>
                                        <a:srgbClr val="00B0F0"/>
                                      </a:solidFill>
                                      <a:latin typeface="Cambria Math" panose="02040503050406030204" pitchFamily="18" charset="0"/>
                                    </a:rPr>
                                  </m:ctrlPr>
                                </m:sSubPr>
                                <m:e>
                                  <m:r>
                                    <a:rPr lang="en-US" sz="2000" b="1" i="1">
                                      <a:solidFill>
                                        <a:srgbClr val="00B0F0"/>
                                      </a:solidFill>
                                      <a:latin typeface="Cambria Math" panose="02040503050406030204" pitchFamily="18" charset="0"/>
                                    </a:rPr>
                                    <m:t>𝐱</m:t>
                                  </m:r>
                                </m:e>
                                <m:sub>
                                  <m:r>
                                    <a:rPr lang="en-US" sz="2000" i="1">
                                      <a:solidFill>
                                        <a:srgbClr val="00B0F0"/>
                                      </a:solidFill>
                                      <a:latin typeface="Cambria Math" panose="02040503050406030204" pitchFamily="18" charset="0"/>
                                    </a:rPr>
                                    <m:t>1</m:t>
                                  </m:r>
                                </m:sub>
                              </m:sSub>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𝑦</m:t>
                                  </m:r>
                                </m:e>
                                <m:sub>
                                  <m:r>
                                    <a:rPr lang="en-US" sz="2000" i="1">
                                      <a:solidFill>
                                        <a:srgbClr val="00B0F0"/>
                                      </a:solidFill>
                                      <a:latin typeface="Cambria Math" panose="02040503050406030204" pitchFamily="18" charset="0"/>
                                    </a:rPr>
                                    <m:t>1</m:t>
                                  </m:r>
                                </m:sub>
                              </m:sSub>
                            </m:e>
                          </m:d>
                          <m:r>
                            <a:rPr lang="en-US" sz="2000" i="1">
                              <a:solidFill>
                                <a:srgbClr val="00B0F0"/>
                              </a:solidFill>
                              <a:latin typeface="Cambria Math" panose="02040503050406030204" pitchFamily="18" charset="0"/>
                            </a:rPr>
                            <m:t>, ……</m:t>
                          </m:r>
                          <m:d>
                            <m:dPr>
                              <m:ctrlPr>
                                <a:rPr lang="en-US" sz="2000" i="1">
                                  <a:solidFill>
                                    <a:srgbClr val="00B0F0"/>
                                  </a:solidFill>
                                  <a:latin typeface="Cambria Math" panose="02040503050406030204" pitchFamily="18" charset="0"/>
                                </a:rPr>
                              </m:ctrlPr>
                            </m:dPr>
                            <m:e>
                              <m:sSub>
                                <m:sSubPr>
                                  <m:ctrlPr>
                                    <a:rPr lang="en-US" sz="2000" i="1">
                                      <a:solidFill>
                                        <a:srgbClr val="00B0F0"/>
                                      </a:solidFill>
                                      <a:latin typeface="Cambria Math" panose="02040503050406030204" pitchFamily="18" charset="0"/>
                                    </a:rPr>
                                  </m:ctrlPr>
                                </m:sSubPr>
                                <m:e>
                                  <m:r>
                                    <a:rPr lang="en-US" sz="2000" b="1" i="1">
                                      <a:solidFill>
                                        <a:srgbClr val="00B0F0"/>
                                      </a:solidFill>
                                      <a:latin typeface="Cambria Math" panose="02040503050406030204" pitchFamily="18" charset="0"/>
                                    </a:rPr>
                                    <m:t>𝐱</m:t>
                                  </m:r>
                                </m:e>
                                <m:sub>
                                  <m:r>
                                    <a:rPr lang="en-US" sz="2000" i="1">
                                      <a:solidFill>
                                        <a:srgbClr val="00B0F0"/>
                                      </a:solidFill>
                                      <a:latin typeface="Cambria Math" panose="02040503050406030204" pitchFamily="18" charset="0"/>
                                    </a:rPr>
                                    <m:t>𝑛</m:t>
                                  </m:r>
                                </m:sub>
                              </m:sSub>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𝑦</m:t>
                                  </m:r>
                                </m:e>
                                <m:sub>
                                  <m:r>
                                    <a:rPr lang="en-US" sz="2000" i="1">
                                      <a:solidFill>
                                        <a:srgbClr val="00B0F0"/>
                                      </a:solidFill>
                                      <a:latin typeface="Cambria Math" panose="02040503050406030204" pitchFamily="18" charset="0"/>
                                    </a:rPr>
                                    <m:t>𝑛</m:t>
                                  </m:r>
                                </m:sub>
                              </m:sSub>
                            </m:e>
                          </m:d>
                        </m:e>
                      </m:d>
                    </m:oMath>
                  </m:oMathPara>
                </a14:m>
                <a:endParaRPr lang="en-IN" sz="2000" dirty="0">
                  <a:latin typeface="Arial Narrow" panose="020B0606020202030204" pitchFamily="34" charset="0"/>
                </a:endParaRPr>
              </a:p>
              <a:p>
                <a:pPr marL="0" indent="0">
                  <a:buNone/>
                </a:pPr>
                <a:r>
                  <a:rPr lang="en-US" sz="2000" dirty="0">
                    <a:latin typeface="Arial Narrow" panose="020B0606020202030204" pitchFamily="34" charset="0"/>
                  </a:rPr>
                  <a:t>                                                                     where: </a:t>
                </a:r>
                <a14:m>
                  <m:oMath xmlns:m="http://schemas.openxmlformats.org/officeDocument/2006/math">
                    <m:sSub>
                      <m:sSubPr>
                        <m:ctrlPr>
                          <a:rPr lang="en-US" sz="2000" i="1">
                            <a:solidFill>
                              <a:srgbClr val="00B0F0"/>
                            </a:solidFill>
                            <a:latin typeface="Cambria Math" panose="02040503050406030204" pitchFamily="18" charset="0"/>
                          </a:rPr>
                        </m:ctrlPr>
                      </m:sSubPr>
                      <m:e>
                        <m:r>
                          <a:rPr lang="en-US" sz="2000" b="1" i="1">
                            <a:solidFill>
                              <a:srgbClr val="00B0F0"/>
                            </a:solidFill>
                            <a:latin typeface="Cambria Math" panose="02040503050406030204" pitchFamily="18" charset="0"/>
                          </a:rPr>
                          <m:t>𝐱</m:t>
                        </m:r>
                      </m:e>
                      <m:sub>
                        <m:r>
                          <a:rPr lang="en-IN" sz="2000" i="1">
                            <a:solidFill>
                              <a:srgbClr val="00B0F0"/>
                            </a:solidFill>
                            <a:latin typeface="Cambria Math" panose="02040503050406030204" pitchFamily="18" charset="0"/>
                          </a:rPr>
                          <m:t>𝑖</m:t>
                        </m:r>
                      </m:sub>
                    </m:sSub>
                    <m:r>
                      <a:rPr lang="en-US" sz="2000" i="1">
                        <a:solidFill>
                          <a:srgbClr val="00B0F0"/>
                        </a:solidFill>
                        <a:latin typeface="Cambria Math" panose="02040503050406030204" pitchFamily="18" charset="0"/>
                      </a:rPr>
                      <m:t> </m:t>
                    </m:r>
                  </m:oMath>
                </a14:m>
                <a:r>
                  <a:rPr lang="en-US" sz="2000" dirty="0">
                    <a:latin typeface="Arial Narrow" panose="020B0606020202030204" pitchFamily="34" charset="0"/>
                  </a:rPr>
                  <a:t>= feature vector (input), </a:t>
                </a:r>
                <a14:m>
                  <m:oMath xmlns:m="http://schemas.openxmlformats.org/officeDocument/2006/math">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𝑦</m:t>
                        </m:r>
                      </m:e>
                      <m:sub>
                        <m:r>
                          <a:rPr lang="en-IN" sz="2000" i="1">
                            <a:solidFill>
                              <a:srgbClr val="00B0F0"/>
                            </a:solidFill>
                            <a:latin typeface="Cambria Math" panose="02040503050406030204" pitchFamily="18" charset="0"/>
                          </a:rPr>
                          <m:t>𝑖</m:t>
                        </m:r>
                      </m:sub>
                    </m:sSub>
                    <m:r>
                      <a:rPr lang="en-US" sz="2000" i="1">
                        <a:solidFill>
                          <a:srgbClr val="00B0F0"/>
                        </a:solidFill>
                        <a:latin typeface="Cambria Math" panose="02040503050406030204" pitchFamily="18" charset="0"/>
                      </a:rPr>
                      <m:t> </m:t>
                    </m:r>
                  </m:oMath>
                </a14:m>
                <a:r>
                  <a:rPr lang="en-US" sz="2000" dirty="0">
                    <a:latin typeface="Arial Narrow" panose="020B0606020202030204" pitchFamily="34" charset="0"/>
                  </a:rPr>
                  <a:t>= class label (output)</a:t>
                </a:r>
              </a:p>
              <a:p>
                <a:r>
                  <a:rPr lang="en-IN" sz="2000" dirty="0">
                    <a:latin typeface="Arial Narrow" panose="020B0606020202030204" pitchFamily="34" charset="0"/>
                  </a:rPr>
                  <a:t>Using Bayes' theorem,</a:t>
                </a:r>
              </a:p>
              <a:p>
                <a:pPr marL="0" indent="0">
                  <a:buNone/>
                </a:pPr>
                <a14:m>
                  <m:oMathPara xmlns:m="http://schemas.openxmlformats.org/officeDocument/2006/math">
                    <m:oMathParaPr>
                      <m:jc m:val="centerGroup"/>
                    </m:oMathParaPr>
                    <m:oMath xmlns:m="http://schemas.openxmlformats.org/officeDocument/2006/math">
                      <m:r>
                        <a:rPr lang="en-IN" sz="2000" i="1">
                          <a:solidFill>
                            <a:srgbClr val="00B0F0"/>
                          </a:solidFill>
                          <a:latin typeface="Cambria Math" panose="02040503050406030204" pitchFamily="18" charset="0"/>
                        </a:rPr>
                        <m:t>𝑃</m:t>
                      </m:r>
                      <m:d>
                        <m:dPr>
                          <m:ctrlPr>
                            <a:rPr lang="en-IN" sz="2000" i="1">
                              <a:solidFill>
                                <a:srgbClr val="00B0F0"/>
                              </a:solidFill>
                              <a:latin typeface="Cambria Math" panose="02040503050406030204" pitchFamily="18" charset="0"/>
                            </a:rPr>
                          </m:ctrlPr>
                        </m:dPr>
                        <m:e>
                          <m:r>
                            <a:rPr lang="en-IN" sz="2000" i="1">
                              <a:solidFill>
                                <a:srgbClr val="00B0F0"/>
                              </a:solidFill>
                              <a:latin typeface="Cambria Math" panose="02040503050406030204" pitchFamily="18" charset="0"/>
                            </a:rPr>
                            <m:t>𝑌</m:t>
                          </m:r>
                        </m:e>
                        <m:e>
                          <m:r>
                            <a:rPr lang="en-IN" sz="2000" i="1">
                              <a:solidFill>
                                <a:srgbClr val="00B0F0"/>
                              </a:solidFill>
                              <a:latin typeface="Cambria Math" panose="02040503050406030204" pitchFamily="18" charset="0"/>
                            </a:rPr>
                            <m:t>𝑋</m:t>
                          </m:r>
                        </m:e>
                      </m:d>
                      <m:r>
                        <a:rPr lang="en-IN" sz="2000" b="0" i="1" smtClean="0">
                          <a:solidFill>
                            <a:srgbClr val="00B0F0"/>
                          </a:solidFill>
                          <a:latin typeface="Cambria Math" panose="02040503050406030204" pitchFamily="18" charset="0"/>
                        </a:rPr>
                        <m:t>=</m:t>
                      </m:r>
                      <m:f>
                        <m:fPr>
                          <m:ctrlPr>
                            <a:rPr lang="en-IN" sz="2000" b="0" i="1" smtClean="0">
                              <a:solidFill>
                                <a:srgbClr val="00B0F0"/>
                              </a:solidFill>
                              <a:latin typeface="Cambria Math" panose="02040503050406030204" pitchFamily="18" charset="0"/>
                            </a:rPr>
                          </m:ctrlPr>
                        </m:fPr>
                        <m:num>
                          <m:r>
                            <a:rPr lang="en-IN" sz="2000" b="0" i="1" smtClean="0">
                              <a:solidFill>
                                <a:srgbClr val="00B0F0"/>
                              </a:solidFill>
                              <a:latin typeface="Cambria Math" panose="02040503050406030204" pitchFamily="18" charset="0"/>
                            </a:rPr>
                            <m:t>𝑃</m:t>
                          </m:r>
                          <m:d>
                            <m:dPr>
                              <m:ctrlPr>
                                <a:rPr lang="en-IN" sz="2000" b="0" i="1" smtClean="0">
                                  <a:solidFill>
                                    <a:srgbClr val="00B0F0"/>
                                  </a:solidFill>
                                  <a:latin typeface="Cambria Math" panose="02040503050406030204" pitchFamily="18" charset="0"/>
                                </a:rPr>
                              </m:ctrlPr>
                            </m:dPr>
                            <m:e>
                              <m:r>
                                <a:rPr lang="en-IN" sz="2000" b="0" i="1" smtClean="0">
                                  <a:solidFill>
                                    <a:srgbClr val="00B0F0"/>
                                  </a:solidFill>
                                  <a:latin typeface="Cambria Math" panose="02040503050406030204" pitchFamily="18" charset="0"/>
                                </a:rPr>
                                <m:t>𝑋</m:t>
                              </m:r>
                            </m:e>
                            <m:e>
                              <m:r>
                                <a:rPr lang="en-IN" sz="2000" b="0" i="1" smtClean="0">
                                  <a:solidFill>
                                    <a:srgbClr val="00B0F0"/>
                                  </a:solidFill>
                                  <a:latin typeface="Cambria Math" panose="02040503050406030204" pitchFamily="18" charset="0"/>
                                </a:rPr>
                                <m:t>𝑌</m:t>
                              </m:r>
                            </m:e>
                          </m:d>
                          <m:r>
                            <a:rPr lang="en-IN" sz="2000" b="0" i="1" smtClean="0">
                              <a:solidFill>
                                <a:srgbClr val="00B0F0"/>
                              </a:solidFill>
                              <a:latin typeface="Cambria Math" panose="02040503050406030204" pitchFamily="18" charset="0"/>
                            </a:rPr>
                            <m:t>𝑃</m:t>
                          </m:r>
                          <m:r>
                            <a:rPr lang="en-IN" sz="2000" b="0" i="1" smtClean="0">
                              <a:solidFill>
                                <a:srgbClr val="00B0F0"/>
                              </a:solidFill>
                              <a:latin typeface="Cambria Math" panose="02040503050406030204" pitchFamily="18" charset="0"/>
                            </a:rPr>
                            <m:t>(</m:t>
                          </m:r>
                          <m:r>
                            <a:rPr lang="en-IN" sz="2000" b="0" i="1" smtClean="0">
                              <a:solidFill>
                                <a:srgbClr val="00B0F0"/>
                              </a:solidFill>
                              <a:latin typeface="Cambria Math" panose="02040503050406030204" pitchFamily="18" charset="0"/>
                            </a:rPr>
                            <m:t>𝑌</m:t>
                          </m:r>
                          <m:r>
                            <a:rPr lang="en-IN" sz="2000" b="0" i="1" smtClean="0">
                              <a:solidFill>
                                <a:srgbClr val="00B0F0"/>
                              </a:solidFill>
                              <a:latin typeface="Cambria Math" panose="02040503050406030204" pitchFamily="18" charset="0"/>
                            </a:rPr>
                            <m:t>)</m:t>
                          </m:r>
                        </m:num>
                        <m:den>
                          <m:r>
                            <a:rPr lang="en-IN" sz="2000" b="0" i="1" smtClean="0">
                              <a:solidFill>
                                <a:srgbClr val="00B0F0"/>
                              </a:solidFill>
                              <a:latin typeface="Cambria Math" panose="02040503050406030204" pitchFamily="18" charset="0"/>
                            </a:rPr>
                            <m:t>𝑃</m:t>
                          </m:r>
                          <m:r>
                            <a:rPr lang="en-IN" sz="2000" b="0" i="1" smtClean="0">
                              <a:solidFill>
                                <a:srgbClr val="00B0F0"/>
                              </a:solidFill>
                              <a:latin typeface="Cambria Math" panose="02040503050406030204" pitchFamily="18" charset="0"/>
                            </a:rPr>
                            <m:t>(</m:t>
                          </m:r>
                          <m:r>
                            <a:rPr lang="en-IN" sz="2000" b="0" i="1" smtClean="0">
                              <a:solidFill>
                                <a:srgbClr val="00B0F0"/>
                              </a:solidFill>
                              <a:latin typeface="Cambria Math" panose="02040503050406030204" pitchFamily="18" charset="0"/>
                            </a:rPr>
                            <m:t>𝑋</m:t>
                          </m:r>
                          <m:r>
                            <a:rPr lang="en-IN" sz="2000" b="0" i="1" smtClean="0">
                              <a:solidFill>
                                <a:srgbClr val="00B0F0"/>
                              </a:solidFill>
                              <a:latin typeface="Cambria Math" panose="02040503050406030204" pitchFamily="18" charset="0"/>
                            </a:rPr>
                            <m:t>)</m:t>
                          </m:r>
                        </m:den>
                      </m:f>
                    </m:oMath>
                  </m:oMathPara>
                </a14:m>
                <a:endParaRPr lang="en-IN" sz="2000" dirty="0">
                  <a:latin typeface="Arial Narrow" panose="020B0606020202030204" pitchFamily="34" charset="0"/>
                </a:endParaRPr>
              </a:p>
              <a:p>
                <a:r>
                  <a:rPr lang="en-IN" sz="2000" dirty="0">
                    <a:latin typeface="Arial Narrow" panose="020B0606020202030204" pitchFamily="34" charset="0"/>
                  </a:rPr>
                  <a:t>A generative model estimates:</a:t>
                </a:r>
              </a:p>
              <a:p>
                <a:pPr lvl="1"/>
                <a:r>
                  <a:rPr lang="en-IN" sz="2000" dirty="0">
                    <a:latin typeface="Arial Narrow" panose="020B0606020202030204" pitchFamily="34" charset="0"/>
                  </a:rPr>
                  <a:t>The prior probability: </a:t>
                </a:r>
                <a14:m>
                  <m:oMath xmlns:m="http://schemas.openxmlformats.org/officeDocument/2006/math">
                    <m:r>
                      <a:rPr lang="en-IN" sz="2000" i="1">
                        <a:solidFill>
                          <a:srgbClr val="00B0F0"/>
                        </a:solidFill>
                        <a:latin typeface="Cambria Math" panose="02040503050406030204" pitchFamily="18" charset="0"/>
                      </a:rPr>
                      <m:t>𝑃</m:t>
                    </m:r>
                    <m:r>
                      <a:rPr lang="en-IN" sz="2000" i="1">
                        <a:solidFill>
                          <a:srgbClr val="00B0F0"/>
                        </a:solidFill>
                        <a:latin typeface="Cambria Math" panose="02040503050406030204" pitchFamily="18" charset="0"/>
                      </a:rPr>
                      <m:t>(</m:t>
                    </m:r>
                    <m:r>
                      <a:rPr lang="en-IN" sz="2000" i="1">
                        <a:solidFill>
                          <a:srgbClr val="00B0F0"/>
                        </a:solidFill>
                        <a:latin typeface="Cambria Math" panose="02040503050406030204" pitchFamily="18" charset="0"/>
                      </a:rPr>
                      <m:t>𝑌</m:t>
                    </m:r>
                    <m:r>
                      <a:rPr lang="en-IN" sz="2000" i="1">
                        <a:solidFill>
                          <a:srgbClr val="00B0F0"/>
                        </a:solidFill>
                        <a:latin typeface="Cambria Math" panose="02040503050406030204" pitchFamily="18" charset="0"/>
                      </a:rPr>
                      <m:t>)</m:t>
                    </m:r>
                  </m:oMath>
                </a14:m>
                <a:endParaRPr lang="en-IN" sz="2000" dirty="0">
                  <a:latin typeface="Arial Narrow" panose="020B0606020202030204" pitchFamily="34" charset="0"/>
                </a:endParaRPr>
              </a:p>
              <a:p>
                <a:pPr lvl="1"/>
                <a:r>
                  <a:rPr lang="en-IN" sz="2000" dirty="0">
                    <a:latin typeface="Arial Narrow" panose="020B0606020202030204" pitchFamily="34" charset="0"/>
                  </a:rPr>
                  <a:t>The class-conditional distribution: </a:t>
                </a:r>
                <a14:m>
                  <m:oMath xmlns:m="http://schemas.openxmlformats.org/officeDocument/2006/math">
                    <m:r>
                      <a:rPr lang="en-IN" sz="2000" i="1">
                        <a:solidFill>
                          <a:srgbClr val="00B0F0"/>
                        </a:solidFill>
                        <a:latin typeface="Cambria Math" panose="02040503050406030204" pitchFamily="18" charset="0"/>
                      </a:rPr>
                      <m:t>𝑃</m:t>
                    </m:r>
                    <m:d>
                      <m:dPr>
                        <m:ctrlPr>
                          <a:rPr lang="en-IN" sz="2000" i="1">
                            <a:solidFill>
                              <a:srgbClr val="00B0F0"/>
                            </a:solidFill>
                            <a:latin typeface="Cambria Math" panose="02040503050406030204" pitchFamily="18" charset="0"/>
                          </a:rPr>
                        </m:ctrlPr>
                      </m:dPr>
                      <m:e>
                        <m:r>
                          <a:rPr lang="en-IN" sz="2000" i="1">
                            <a:solidFill>
                              <a:srgbClr val="00B0F0"/>
                            </a:solidFill>
                            <a:latin typeface="Cambria Math" panose="02040503050406030204" pitchFamily="18" charset="0"/>
                          </a:rPr>
                          <m:t>𝑋</m:t>
                        </m:r>
                      </m:e>
                      <m:e>
                        <m:r>
                          <a:rPr lang="en-IN" sz="2000" i="1">
                            <a:solidFill>
                              <a:srgbClr val="00B0F0"/>
                            </a:solidFill>
                            <a:latin typeface="Cambria Math" panose="02040503050406030204" pitchFamily="18" charset="0"/>
                          </a:rPr>
                          <m:t>𝑌</m:t>
                        </m:r>
                      </m:e>
                    </m:d>
                  </m:oMath>
                </a14:m>
                <a:endParaRPr lang="en-IN" sz="2000" dirty="0">
                  <a:latin typeface="Arial Narrow" panose="020B0606020202030204" pitchFamily="34" charset="0"/>
                </a:endParaRPr>
              </a:p>
              <a:p>
                <a:pPr marL="457200" lvl="1" indent="0">
                  <a:buNone/>
                </a:pPr>
                <a:endParaRPr lang="en-IN" sz="2000" dirty="0">
                  <a:latin typeface="Arial Narrow" panose="020B0606020202030204" pitchFamily="34" charset="0"/>
                </a:endParaRPr>
              </a:p>
              <a:p>
                <a:r>
                  <a:rPr lang="en-IN" sz="2000" dirty="0">
                    <a:latin typeface="Arial Narrow" panose="020B0606020202030204" pitchFamily="34" charset="0"/>
                  </a:rPr>
                  <a:t>Then it computes </a:t>
                </a:r>
                <a14:m>
                  <m:oMath xmlns:m="http://schemas.openxmlformats.org/officeDocument/2006/math">
                    <m:r>
                      <a:rPr lang="en-IN" sz="2000" i="1">
                        <a:solidFill>
                          <a:srgbClr val="00B0F0"/>
                        </a:solidFill>
                        <a:latin typeface="Cambria Math" panose="02040503050406030204" pitchFamily="18" charset="0"/>
                      </a:rPr>
                      <m:t>𝑃</m:t>
                    </m:r>
                    <m:d>
                      <m:dPr>
                        <m:ctrlPr>
                          <a:rPr lang="en-IN" sz="2000" i="1">
                            <a:solidFill>
                              <a:srgbClr val="00B0F0"/>
                            </a:solidFill>
                            <a:latin typeface="Cambria Math" panose="02040503050406030204" pitchFamily="18" charset="0"/>
                          </a:rPr>
                        </m:ctrlPr>
                      </m:dPr>
                      <m:e>
                        <m:r>
                          <a:rPr lang="en-IN" sz="2000" i="1">
                            <a:solidFill>
                              <a:srgbClr val="00B0F0"/>
                            </a:solidFill>
                            <a:latin typeface="Cambria Math" panose="02040503050406030204" pitchFamily="18" charset="0"/>
                          </a:rPr>
                          <m:t>𝑌</m:t>
                        </m:r>
                      </m:e>
                      <m:e>
                        <m:r>
                          <a:rPr lang="en-IN" sz="2000" i="1">
                            <a:solidFill>
                              <a:srgbClr val="00B0F0"/>
                            </a:solidFill>
                            <a:latin typeface="Cambria Math" panose="02040503050406030204" pitchFamily="18" charset="0"/>
                          </a:rPr>
                          <m:t>𝑋</m:t>
                        </m:r>
                      </m:e>
                    </m:d>
                  </m:oMath>
                </a14:m>
                <a:r>
                  <a:rPr lang="en-IN" sz="2000" dirty="0">
                    <a:latin typeface="Arial Narrow" panose="020B0606020202030204" pitchFamily="34" charset="0"/>
                  </a:rPr>
                  <a:t> </a:t>
                </a:r>
                <a:r>
                  <a:rPr lang="en-US" sz="2000" dirty="0">
                    <a:latin typeface="Arial Narrow" panose="020B0606020202030204" pitchFamily="34" charset="0"/>
                  </a:rPr>
                  <a:t>using Bayes' theorem for classification.</a:t>
                </a:r>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14E984A6-AF3D-4B2C-A0B0-88601F325339}"/>
                  </a:ext>
                </a:extLst>
              </p:cNvPr>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en-IN">
                    <a:noFill/>
                  </a:rPr>
                  <a:t> </a:t>
                </a:r>
              </a:p>
            </p:txBody>
          </p:sp>
        </mc:Fallback>
      </mc:AlternateContent>
    </p:spTree>
    <p:extLst>
      <p:ext uri="{BB962C8B-B14F-4D97-AF65-F5344CB8AC3E}">
        <p14:creationId xmlns:p14="http://schemas.microsoft.com/office/powerpoint/2010/main" val="956365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4ACBD-9ABD-4B05-98A8-64989439E21A}"/>
              </a:ext>
            </a:extLst>
          </p:cNvPr>
          <p:cNvSpPr>
            <a:spLocks noGrp="1"/>
          </p:cNvSpPr>
          <p:nvPr>
            <p:ph type="title"/>
          </p:nvPr>
        </p:nvSpPr>
        <p:spPr/>
        <p:txBody>
          <a:bodyPr>
            <a:normAutofit/>
          </a:bodyPr>
          <a:lstStyle/>
          <a:p>
            <a:r>
              <a:rPr lang="en-IN" sz="3600" dirty="0">
                <a:latin typeface="Century" panose="02040604050505020304" pitchFamily="18" charset="0"/>
              </a:rPr>
              <a:t>Generative Models (Statistically)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51AA9A-775B-4941-864C-84C87E752AF4}"/>
                  </a:ext>
                </a:extLst>
              </p:cNvPr>
              <p:cNvSpPr>
                <a:spLocks noGrp="1"/>
              </p:cNvSpPr>
              <p:nvPr>
                <p:ph idx="1"/>
              </p:nvPr>
            </p:nvSpPr>
            <p:spPr>
              <a:xfrm>
                <a:off x="838200" y="1511859"/>
                <a:ext cx="10515600" cy="4981015"/>
              </a:xfrm>
            </p:spPr>
            <p:txBody>
              <a:bodyPr/>
              <a:lstStyle/>
              <a:p>
                <a:r>
                  <a:rPr lang="en-US" sz="2000" dirty="0">
                    <a:latin typeface="Arial Narrow" panose="020B0606020202030204" pitchFamily="34" charset="0"/>
                    <a:cs typeface="Times New Roman" panose="02020603050405020304" pitchFamily="18" charset="0"/>
                  </a:rPr>
                  <a:t>Let data be drawn from an unknown true distribution:</a:t>
                </a:r>
              </a:p>
              <a:p>
                <a:pPr marL="0" indent="0">
                  <a:buNone/>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m:t>
                      </m:r>
                      <m:r>
                        <a:rPr lang="en-IN" sz="2000" b="0" i="1" smtClean="0">
                          <a:latin typeface="Cambria Math" panose="02040503050406030204" pitchFamily="18" charset="0"/>
                        </a:rPr>
                        <m:t>𝑥</m:t>
                      </m:r>
                      <m:r>
                        <a:rPr lang="en-IN" sz="2000" b="0" i="1" smtClean="0">
                          <a:latin typeface="Cambria Math" panose="02040503050406030204" pitchFamily="18" charset="0"/>
                        </a:rPr>
                        <m:t>,</m:t>
                      </m:r>
                      <m:r>
                        <a:rPr lang="en-IN" sz="2000" b="0" i="1" smtClean="0">
                          <a:latin typeface="Cambria Math" panose="02040503050406030204" pitchFamily="18" charset="0"/>
                        </a:rPr>
                        <m:t>𝑦</m:t>
                      </m:r>
                      <m:r>
                        <a:rPr lang="en-IN" sz="2000" b="0" i="1" smtClean="0">
                          <a:latin typeface="Cambria Math" panose="02040503050406030204" pitchFamily="18" charset="0"/>
                        </a:rPr>
                        <m:t>)~</m:t>
                      </m:r>
                      <m:sSub>
                        <m:sSubPr>
                          <m:ctrlPr>
                            <a:rPr lang="en-IN" sz="2000" b="0" i="1" smtClean="0">
                              <a:latin typeface="Cambria Math" panose="02040503050406030204" pitchFamily="18" charset="0"/>
                              <a:ea typeface="Cambria Math" panose="02040503050406030204" pitchFamily="18" charset="0"/>
                            </a:rPr>
                          </m:ctrlPr>
                        </m:sSubPr>
                        <m:e>
                          <m:r>
                            <a:rPr lang="en-IN" sz="2000" b="0" i="1" smtClean="0">
                              <a:latin typeface="Cambria Math" panose="02040503050406030204" pitchFamily="18" charset="0"/>
                              <a:ea typeface="Cambria Math" panose="02040503050406030204" pitchFamily="18" charset="0"/>
                            </a:rPr>
                            <m:t>𝑝</m:t>
                          </m:r>
                        </m:e>
                        <m:sub>
                          <m:r>
                            <a:rPr lang="en-IN" sz="2000" b="0" i="1" smtClean="0">
                              <a:latin typeface="Cambria Math" panose="02040503050406030204" pitchFamily="18" charset="0"/>
                              <a:ea typeface="Cambria Math" panose="02040503050406030204" pitchFamily="18" charset="0"/>
                            </a:rPr>
                            <m:t>𝑑𝑎𝑡𝑎</m:t>
                          </m:r>
                        </m:sub>
                      </m:sSub>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𝑥</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𝑦</m:t>
                      </m:r>
                      <m:r>
                        <a:rPr lang="en-IN" sz="2000" b="0" i="1" smtClean="0">
                          <a:latin typeface="Cambria Math" panose="02040503050406030204" pitchFamily="18" charset="0"/>
                          <a:ea typeface="Cambria Math" panose="02040503050406030204" pitchFamily="18" charset="0"/>
                        </a:rPr>
                        <m:t>)</m:t>
                      </m:r>
                    </m:oMath>
                  </m:oMathPara>
                </a14:m>
                <a:endParaRPr lang="en-IN" sz="2000" dirty="0">
                  <a:latin typeface="Arial Narrow" panose="020B0606020202030204" pitchFamily="34" charset="0"/>
                  <a:cs typeface="Times New Roman" panose="02020603050405020304" pitchFamily="18" charset="0"/>
                </a:endParaRPr>
              </a:p>
              <a:p>
                <a:pPr marL="0" indent="0">
                  <a:buNone/>
                </a:pPr>
                <a:endParaRPr lang="en-IN" sz="2000" dirty="0">
                  <a:latin typeface="Arial Narrow" panose="020B0606020202030204" pitchFamily="34" charset="0"/>
                  <a:cs typeface="Times New Roman" panose="02020603050405020304" pitchFamily="18" charset="0"/>
                </a:endParaRPr>
              </a:p>
              <a:p>
                <a:r>
                  <a:rPr lang="en-US" sz="2000" dirty="0">
                    <a:latin typeface="Arial Narrow" panose="020B0606020202030204" pitchFamily="34" charset="0"/>
                    <a:cs typeface="Times New Roman" panose="02020603050405020304" pitchFamily="18" charset="0"/>
                  </a:rPr>
                  <a:t>A </a:t>
                </a:r>
                <a:r>
                  <a:rPr lang="en-US" sz="2000" dirty="0">
                    <a:solidFill>
                      <a:srgbClr val="00B0F0"/>
                    </a:solidFill>
                    <a:latin typeface="Arial Narrow" panose="020B0606020202030204" pitchFamily="34" charset="0"/>
                    <a:cs typeface="Times New Roman" panose="02020603050405020304" pitchFamily="18" charset="0"/>
                  </a:rPr>
                  <a:t>generative learning method </a:t>
                </a:r>
                <a:r>
                  <a:rPr lang="en-US" sz="2000" dirty="0">
                    <a:latin typeface="Arial Narrow" panose="020B0606020202030204" pitchFamily="34" charset="0"/>
                    <a:cs typeface="Times New Roman" panose="02020603050405020304" pitchFamily="18" charset="0"/>
                  </a:rPr>
                  <a:t>learns parameters </a:t>
                </a:r>
                <a14:m>
                  <m:oMath xmlns:m="http://schemas.openxmlformats.org/officeDocument/2006/math">
                    <m:r>
                      <a:rPr lang="en-US" sz="2000" i="1" smtClean="0">
                        <a:latin typeface="Cambria Math" panose="02040503050406030204" pitchFamily="18" charset="0"/>
                        <a:ea typeface="Cambria Math" panose="02040503050406030204" pitchFamily="18" charset="0"/>
                      </a:rPr>
                      <m:t>𝜃</m:t>
                    </m:r>
                  </m:oMath>
                </a14:m>
                <a:r>
                  <a:rPr lang="en-IN" sz="2000" dirty="0">
                    <a:latin typeface="Arial Narrow" panose="020B0606020202030204" pitchFamily="34" charset="0"/>
                    <a:cs typeface="Times New Roman" panose="02020603050405020304" pitchFamily="18" charset="0"/>
                  </a:rPr>
                  <a:t> of a model</a:t>
                </a:r>
              </a:p>
              <a:p>
                <a:pPr marL="0" indent="0">
                  <a:buNone/>
                </a:pPr>
                <a14:m>
                  <m:oMathPara xmlns:m="http://schemas.openxmlformats.org/officeDocument/2006/math">
                    <m:oMathParaPr>
                      <m:jc m:val="centerGroup"/>
                    </m:oMathParaPr>
                    <m:oMath xmlns:m="http://schemas.openxmlformats.org/officeDocument/2006/math">
                      <m:sSub>
                        <m:sSubPr>
                          <m:ctrlPr>
                            <a:rPr lang="en-IN" sz="2000" b="0" i="1" smtClean="0">
                              <a:latin typeface="Cambria Math" panose="02040503050406030204" pitchFamily="18" charset="0"/>
                              <a:ea typeface="Cambria Math" panose="02040503050406030204" pitchFamily="18" charset="0"/>
                            </a:rPr>
                          </m:ctrlPr>
                        </m:sSubPr>
                        <m:e>
                          <m:r>
                            <a:rPr lang="en-IN" sz="2000" b="0" i="1" smtClean="0">
                              <a:latin typeface="Cambria Math" panose="02040503050406030204" pitchFamily="18" charset="0"/>
                              <a:ea typeface="Cambria Math" panose="02040503050406030204" pitchFamily="18" charset="0"/>
                            </a:rPr>
                            <m:t>𝑝</m:t>
                          </m:r>
                        </m:e>
                        <m:sub>
                          <m:r>
                            <a:rPr lang="en-US" sz="2000" i="1" smtClean="0">
                              <a:latin typeface="Cambria Math" panose="02040503050406030204" pitchFamily="18" charset="0"/>
                              <a:ea typeface="Cambria Math" panose="02040503050406030204" pitchFamily="18" charset="0"/>
                            </a:rPr>
                            <m:t>𝜃</m:t>
                          </m:r>
                        </m:sub>
                      </m:sSub>
                      <m:d>
                        <m:dPr>
                          <m:ctrlPr>
                            <a:rPr lang="en-IN" sz="2000" b="0" i="1" smtClean="0">
                              <a:latin typeface="Cambria Math" panose="02040503050406030204" pitchFamily="18" charset="0"/>
                              <a:ea typeface="Cambria Math" panose="02040503050406030204" pitchFamily="18" charset="0"/>
                            </a:rPr>
                          </m:ctrlPr>
                        </m:dPr>
                        <m:e>
                          <m:r>
                            <a:rPr lang="en-IN" sz="2000" b="0" i="1" smtClean="0">
                              <a:latin typeface="Cambria Math" panose="02040503050406030204" pitchFamily="18" charset="0"/>
                              <a:ea typeface="Cambria Math" panose="02040503050406030204" pitchFamily="18" charset="0"/>
                            </a:rPr>
                            <m:t>𝑥</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𝑦</m:t>
                          </m:r>
                        </m:e>
                      </m:d>
                    </m:oMath>
                  </m:oMathPara>
                </a14:m>
                <a:endParaRPr lang="en-IN" sz="2000" b="0" dirty="0">
                  <a:latin typeface="Arial Narrow" panose="020B0606020202030204" pitchFamily="34" charset="0"/>
                  <a:ea typeface="Cambria Math" panose="02040503050406030204" pitchFamily="18" charset="0"/>
                  <a:cs typeface="Times New Roman" panose="02020603050405020304" pitchFamily="18" charset="0"/>
                </a:endParaRPr>
              </a:p>
              <a:p>
                <a:pPr marL="0" indent="0">
                  <a:buNone/>
                </a:pPr>
                <a:r>
                  <a:rPr lang="en-IN" sz="2000" dirty="0">
                    <a:latin typeface="Arial Narrow" panose="020B0606020202030204" pitchFamily="34" charset="0"/>
                    <a:cs typeface="Times New Roman" panose="02020603050405020304" pitchFamily="18" charset="0"/>
                  </a:rPr>
                  <a:t>                                                 Such that </a:t>
                </a:r>
              </a:p>
              <a:p>
                <a:pPr marL="0" indent="0">
                  <a:buNone/>
                </a:pPr>
                <a14:m>
                  <m:oMathPara xmlns:m="http://schemas.openxmlformats.org/officeDocument/2006/math">
                    <m:oMathParaPr>
                      <m:jc m:val="centerGroup"/>
                    </m:oMathParaPr>
                    <m:oMath xmlns:m="http://schemas.openxmlformats.org/officeDocument/2006/math">
                      <m:sSub>
                        <m:sSubPr>
                          <m:ctrlPr>
                            <a:rPr lang="en-IN" sz="2000" b="0" i="1" smtClean="0">
                              <a:latin typeface="Cambria Math" panose="02040503050406030204" pitchFamily="18" charset="0"/>
                              <a:ea typeface="Cambria Math" panose="02040503050406030204" pitchFamily="18" charset="0"/>
                            </a:rPr>
                          </m:ctrlPr>
                        </m:sSubPr>
                        <m:e>
                          <m:r>
                            <a:rPr lang="en-IN" sz="2000" b="0" i="1" smtClean="0">
                              <a:latin typeface="Cambria Math" panose="02040503050406030204" pitchFamily="18" charset="0"/>
                              <a:ea typeface="Cambria Math" panose="02040503050406030204" pitchFamily="18" charset="0"/>
                            </a:rPr>
                            <m:t>𝑝</m:t>
                          </m:r>
                        </m:e>
                        <m:sub>
                          <m:r>
                            <a:rPr lang="en-US" sz="2000" i="1" smtClean="0">
                              <a:latin typeface="Cambria Math" panose="02040503050406030204" pitchFamily="18" charset="0"/>
                              <a:ea typeface="Cambria Math" panose="02040503050406030204" pitchFamily="18" charset="0"/>
                            </a:rPr>
                            <m:t>𝜃</m:t>
                          </m:r>
                        </m:sub>
                      </m:sSub>
                      <m:d>
                        <m:dPr>
                          <m:ctrlPr>
                            <a:rPr lang="en-IN" sz="2000" b="0" i="1" smtClean="0">
                              <a:latin typeface="Cambria Math" panose="02040503050406030204" pitchFamily="18" charset="0"/>
                              <a:ea typeface="Cambria Math" panose="02040503050406030204" pitchFamily="18" charset="0"/>
                            </a:rPr>
                          </m:ctrlPr>
                        </m:dPr>
                        <m:e>
                          <m:r>
                            <a:rPr lang="en-IN" sz="2000" b="0" i="1" smtClean="0">
                              <a:latin typeface="Cambria Math" panose="02040503050406030204" pitchFamily="18" charset="0"/>
                              <a:ea typeface="Cambria Math" panose="02040503050406030204" pitchFamily="18" charset="0"/>
                            </a:rPr>
                            <m:t>𝑥</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𝑦</m:t>
                          </m:r>
                        </m:e>
                      </m:d>
                      <m:r>
                        <a:rPr lang="en-IN" sz="2000" b="0" i="1" smtClean="0">
                          <a:latin typeface="Cambria Math" panose="02040503050406030204" pitchFamily="18" charset="0"/>
                          <a:ea typeface="Cambria Math" panose="02040503050406030204" pitchFamily="18" charset="0"/>
                        </a:rPr>
                        <m:t>≈</m:t>
                      </m:r>
                      <m:sSub>
                        <m:sSubPr>
                          <m:ctrlPr>
                            <a:rPr lang="en-IN" sz="2000" b="0" i="1" smtClean="0">
                              <a:latin typeface="Cambria Math" panose="02040503050406030204" pitchFamily="18" charset="0"/>
                              <a:ea typeface="Cambria Math" panose="02040503050406030204" pitchFamily="18" charset="0"/>
                            </a:rPr>
                          </m:ctrlPr>
                        </m:sSubPr>
                        <m:e>
                          <m:r>
                            <a:rPr lang="en-IN" sz="2000" b="0" i="1" smtClean="0">
                              <a:latin typeface="Cambria Math" panose="02040503050406030204" pitchFamily="18" charset="0"/>
                              <a:ea typeface="Cambria Math" panose="02040503050406030204" pitchFamily="18" charset="0"/>
                            </a:rPr>
                            <m:t>𝑝</m:t>
                          </m:r>
                        </m:e>
                        <m:sub>
                          <m:r>
                            <a:rPr lang="en-IN" sz="2000" b="0" i="1" smtClean="0">
                              <a:latin typeface="Cambria Math" panose="02040503050406030204" pitchFamily="18" charset="0"/>
                              <a:ea typeface="Cambria Math" panose="02040503050406030204" pitchFamily="18" charset="0"/>
                            </a:rPr>
                            <m:t>𝑑𝑎𝑡𝑎</m:t>
                          </m:r>
                        </m:sub>
                      </m:sSub>
                      <m:d>
                        <m:dPr>
                          <m:ctrlPr>
                            <a:rPr lang="en-IN" sz="2000" b="0" i="1" smtClean="0">
                              <a:latin typeface="Cambria Math" panose="02040503050406030204" pitchFamily="18" charset="0"/>
                              <a:ea typeface="Cambria Math" panose="02040503050406030204" pitchFamily="18" charset="0"/>
                            </a:rPr>
                          </m:ctrlPr>
                        </m:dPr>
                        <m:e>
                          <m:r>
                            <a:rPr lang="en-IN" sz="2000" b="0" i="1" smtClean="0">
                              <a:latin typeface="Cambria Math" panose="02040503050406030204" pitchFamily="18" charset="0"/>
                              <a:ea typeface="Cambria Math" panose="02040503050406030204" pitchFamily="18" charset="0"/>
                            </a:rPr>
                            <m:t>𝑥</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𝑦</m:t>
                          </m:r>
                        </m:e>
                      </m:d>
                    </m:oMath>
                  </m:oMathPara>
                </a14:m>
                <a:endParaRPr lang="en-IN" sz="2000" b="0" dirty="0">
                  <a:latin typeface="Arial Narrow" panose="020B0606020202030204" pitchFamily="34" charset="0"/>
                  <a:ea typeface="Cambria Math" panose="02040503050406030204" pitchFamily="18" charset="0"/>
                </a:endParaRPr>
              </a:p>
              <a:p>
                <a:pPr marL="0" indent="0">
                  <a:buNone/>
                </a:pPr>
                <a:endParaRPr lang="en-IN" sz="2000" dirty="0">
                  <a:latin typeface="Arial Narrow" panose="020B0606020202030204" pitchFamily="34" charset="0"/>
                  <a:cs typeface="Times New Roman" panose="02020603050405020304" pitchFamily="18" charset="0"/>
                </a:endParaRPr>
              </a:p>
              <a:p>
                <a:r>
                  <a:rPr lang="en-US" sz="2000" dirty="0">
                    <a:latin typeface="Arial Narrow" panose="020B0606020202030204" pitchFamily="34" charset="0"/>
                    <a:cs typeface="Times New Roman" panose="02020603050405020304" pitchFamily="18" charset="0"/>
                  </a:rPr>
                  <a:t>Generative learning is the estimation of the </a:t>
                </a:r>
                <a:r>
                  <a:rPr lang="en-US" sz="2000" dirty="0">
                    <a:solidFill>
                      <a:srgbClr val="00B0F0"/>
                    </a:solidFill>
                    <a:latin typeface="Arial Narrow" panose="020B0606020202030204" pitchFamily="34" charset="0"/>
                    <a:cs typeface="Times New Roman" panose="02020603050405020304" pitchFamily="18" charset="0"/>
                  </a:rPr>
                  <a:t>joint probability distribution </a:t>
                </a:r>
                <a14:m>
                  <m:oMath xmlns:m="http://schemas.openxmlformats.org/officeDocument/2006/math">
                    <m:r>
                      <a:rPr lang="en-IN" sz="2000" b="0" i="1" smtClean="0">
                        <a:solidFill>
                          <a:srgbClr val="00B0F0"/>
                        </a:solidFill>
                        <a:latin typeface="Cambria Math" panose="02040503050406030204" pitchFamily="18" charset="0"/>
                      </a:rPr>
                      <m:t>𝑝</m:t>
                    </m:r>
                    <m:r>
                      <a:rPr lang="en-IN" sz="2000" b="0" i="1" smtClean="0">
                        <a:solidFill>
                          <a:srgbClr val="00B0F0"/>
                        </a:solidFill>
                        <a:latin typeface="Cambria Math" panose="02040503050406030204" pitchFamily="18" charset="0"/>
                      </a:rPr>
                      <m:t>(</m:t>
                    </m:r>
                    <m:r>
                      <a:rPr lang="en-IN" sz="2000" b="0" i="1" smtClean="0">
                        <a:solidFill>
                          <a:srgbClr val="00B0F0"/>
                        </a:solidFill>
                        <a:latin typeface="Cambria Math" panose="02040503050406030204" pitchFamily="18" charset="0"/>
                      </a:rPr>
                      <m:t>𝑥</m:t>
                    </m:r>
                    <m:r>
                      <a:rPr lang="en-IN" sz="2000" b="0" i="1" smtClean="0">
                        <a:solidFill>
                          <a:srgbClr val="00B0F0"/>
                        </a:solidFill>
                        <a:latin typeface="Cambria Math" panose="02040503050406030204" pitchFamily="18" charset="0"/>
                      </a:rPr>
                      <m:t>,</m:t>
                    </m:r>
                    <m:r>
                      <a:rPr lang="en-IN" sz="2000" b="0" i="1" smtClean="0">
                        <a:solidFill>
                          <a:srgbClr val="00B0F0"/>
                        </a:solidFill>
                        <a:latin typeface="Cambria Math" panose="02040503050406030204" pitchFamily="18" charset="0"/>
                      </a:rPr>
                      <m:t>𝑦</m:t>
                    </m:r>
                    <m:r>
                      <a:rPr lang="en-IN" sz="2000" b="0" i="1" smtClean="0">
                        <a:solidFill>
                          <a:srgbClr val="00B0F0"/>
                        </a:solidFill>
                        <a:latin typeface="Cambria Math" panose="02040503050406030204" pitchFamily="18" charset="0"/>
                      </a:rPr>
                      <m:t>)</m:t>
                    </m:r>
                  </m:oMath>
                </a14:m>
                <a:r>
                  <a:rPr lang="en-US" sz="2000" dirty="0">
                    <a:latin typeface="Arial Narrow" panose="020B0606020202030204" pitchFamily="34" charset="0"/>
                    <a:cs typeface="Times New Roman" panose="02020603050405020304" pitchFamily="18" charset="0"/>
                  </a:rPr>
                  <a:t> of data.</a:t>
                </a:r>
              </a:p>
              <a:p>
                <a:endParaRPr lang="en-US" sz="2000" dirty="0">
                  <a:latin typeface="Arial Narrow" panose="020B0606020202030204" pitchFamily="34" charset="0"/>
                  <a:cs typeface="Times New Roman" panose="02020603050405020304" pitchFamily="18" charset="0"/>
                </a:endParaRPr>
              </a:p>
              <a:p>
                <a:r>
                  <a:rPr lang="en-US" sz="2000" dirty="0">
                    <a:latin typeface="Arial Narrow" panose="020B0606020202030204" pitchFamily="34" charset="0"/>
                    <a:ea typeface="Cambria Math" panose="02040503050406030204" pitchFamily="18" charset="0"/>
                    <a:cs typeface="Times New Roman" panose="02020603050405020304" pitchFamily="18" charset="0"/>
                  </a:rPr>
                  <a:t>The joint distribution can be written as:</a:t>
                </a:r>
              </a:p>
              <a:p>
                <a:pPr marL="0" indent="0">
                  <a:buNone/>
                </a:pPr>
                <a14:m>
                  <m:oMathPara xmlns:m="http://schemas.openxmlformats.org/officeDocument/2006/math">
                    <m:oMathParaPr>
                      <m:jc m:val="centerGroup"/>
                    </m:oMathParaPr>
                    <m:oMath xmlns:m="http://schemas.openxmlformats.org/officeDocument/2006/math">
                      <m:sSub>
                        <m:sSubPr>
                          <m:ctrlPr>
                            <a:rPr lang="en-IN" sz="2000" b="0" i="1" smtClean="0">
                              <a:solidFill>
                                <a:srgbClr val="00B0F0"/>
                              </a:solidFill>
                              <a:latin typeface="Cambria Math" panose="02040503050406030204" pitchFamily="18" charset="0"/>
                              <a:ea typeface="Cambria Math" panose="02040503050406030204" pitchFamily="18" charset="0"/>
                            </a:rPr>
                          </m:ctrlPr>
                        </m:sSubPr>
                        <m:e>
                          <m:r>
                            <a:rPr lang="en-IN" sz="2000" b="0" i="1" smtClean="0">
                              <a:solidFill>
                                <a:srgbClr val="00B0F0"/>
                              </a:solidFill>
                              <a:latin typeface="Cambria Math" panose="02040503050406030204" pitchFamily="18" charset="0"/>
                              <a:ea typeface="Cambria Math" panose="02040503050406030204" pitchFamily="18" charset="0"/>
                            </a:rPr>
                            <m:t>𝑝</m:t>
                          </m:r>
                        </m:e>
                        <m:sub>
                          <m:r>
                            <a:rPr lang="en-US" sz="2000" i="1" smtClean="0">
                              <a:solidFill>
                                <a:srgbClr val="00B0F0"/>
                              </a:solidFill>
                              <a:latin typeface="Cambria Math" panose="02040503050406030204" pitchFamily="18" charset="0"/>
                              <a:ea typeface="Cambria Math" panose="02040503050406030204" pitchFamily="18" charset="0"/>
                            </a:rPr>
                            <m:t>𝜃</m:t>
                          </m:r>
                        </m:sub>
                      </m:sSub>
                      <m:d>
                        <m:dPr>
                          <m:ctrlPr>
                            <a:rPr lang="en-IN" sz="2000" b="0" i="1" smtClean="0">
                              <a:solidFill>
                                <a:srgbClr val="00B0F0"/>
                              </a:solidFill>
                              <a:latin typeface="Cambria Math" panose="02040503050406030204" pitchFamily="18" charset="0"/>
                              <a:ea typeface="Cambria Math" panose="02040503050406030204" pitchFamily="18" charset="0"/>
                            </a:rPr>
                          </m:ctrlPr>
                        </m:dPr>
                        <m:e>
                          <m:r>
                            <a:rPr lang="en-IN" sz="2000" b="0" i="1" smtClean="0">
                              <a:solidFill>
                                <a:srgbClr val="00B0F0"/>
                              </a:solidFill>
                              <a:latin typeface="Cambria Math" panose="02040503050406030204" pitchFamily="18" charset="0"/>
                              <a:ea typeface="Cambria Math" panose="02040503050406030204" pitchFamily="18" charset="0"/>
                            </a:rPr>
                            <m:t>𝑥</m:t>
                          </m:r>
                          <m:r>
                            <a:rPr lang="en-IN" sz="2000" b="0" i="1" smtClean="0">
                              <a:solidFill>
                                <a:srgbClr val="00B0F0"/>
                              </a:solidFill>
                              <a:latin typeface="Cambria Math" panose="02040503050406030204" pitchFamily="18" charset="0"/>
                              <a:ea typeface="Cambria Math" panose="02040503050406030204" pitchFamily="18" charset="0"/>
                            </a:rPr>
                            <m:t>,</m:t>
                          </m:r>
                          <m:r>
                            <a:rPr lang="en-IN" sz="2000" b="0" i="1" smtClean="0">
                              <a:solidFill>
                                <a:srgbClr val="00B0F0"/>
                              </a:solidFill>
                              <a:latin typeface="Cambria Math" panose="02040503050406030204" pitchFamily="18" charset="0"/>
                              <a:ea typeface="Cambria Math" panose="02040503050406030204" pitchFamily="18" charset="0"/>
                            </a:rPr>
                            <m:t>𝑦</m:t>
                          </m:r>
                        </m:e>
                      </m:d>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2000" b="0" i="1" smtClean="0">
                              <a:solidFill>
                                <a:srgbClr val="00B0F0"/>
                              </a:solidFill>
                              <a:latin typeface="Cambria Math" panose="02040503050406030204" pitchFamily="18" charset="0"/>
                              <a:ea typeface="Cambria Math" panose="02040503050406030204" pitchFamily="18" charset="0"/>
                            </a:rPr>
                          </m:ctrlPr>
                        </m:sSubPr>
                        <m:e>
                          <m:r>
                            <a:rPr lang="en-IN" sz="2000" b="0" i="1" smtClean="0">
                              <a:solidFill>
                                <a:srgbClr val="00B0F0"/>
                              </a:solidFill>
                              <a:latin typeface="Cambria Math" panose="02040503050406030204" pitchFamily="18" charset="0"/>
                              <a:ea typeface="Cambria Math" panose="02040503050406030204" pitchFamily="18" charset="0"/>
                            </a:rPr>
                            <m:t>𝑝</m:t>
                          </m:r>
                        </m:e>
                        <m:sub>
                          <m:r>
                            <a:rPr lang="en-US" sz="2000" i="1" smtClean="0">
                              <a:solidFill>
                                <a:srgbClr val="00B0F0"/>
                              </a:solidFill>
                              <a:latin typeface="Cambria Math" panose="02040503050406030204" pitchFamily="18" charset="0"/>
                              <a:ea typeface="Cambria Math" panose="02040503050406030204" pitchFamily="18" charset="0"/>
                            </a:rPr>
                            <m:t>𝜃</m:t>
                          </m:r>
                        </m:sub>
                      </m:sSub>
                      <m:d>
                        <m:dPr>
                          <m:ctrlP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sSub>
                        <m:sSubPr>
                          <m:ctrlPr>
                            <a:rPr lang="en-IN" sz="2000" b="0" i="1" smtClean="0">
                              <a:solidFill>
                                <a:srgbClr val="00B0F0"/>
                              </a:solidFill>
                              <a:latin typeface="Cambria Math" panose="02040503050406030204" pitchFamily="18" charset="0"/>
                              <a:ea typeface="Cambria Math" panose="02040503050406030204" pitchFamily="18" charset="0"/>
                            </a:rPr>
                          </m:ctrlPr>
                        </m:sSubPr>
                        <m:e>
                          <m:r>
                            <a:rPr lang="en-IN" sz="2000" b="0" i="1" smtClean="0">
                              <a:solidFill>
                                <a:srgbClr val="00B0F0"/>
                              </a:solidFill>
                              <a:latin typeface="Cambria Math" panose="02040503050406030204" pitchFamily="18" charset="0"/>
                              <a:ea typeface="Cambria Math" panose="02040503050406030204" pitchFamily="18" charset="0"/>
                            </a:rPr>
                            <m:t>𝑝</m:t>
                          </m:r>
                        </m:e>
                        <m:sub>
                          <m:r>
                            <a:rPr lang="en-US" sz="2000" i="1" smtClean="0">
                              <a:solidFill>
                                <a:srgbClr val="00B0F0"/>
                              </a:solidFill>
                              <a:latin typeface="Cambria Math" panose="02040503050406030204" pitchFamily="18" charset="0"/>
                              <a:ea typeface="Cambria Math" panose="02040503050406030204" pitchFamily="18" charset="0"/>
                            </a:rPr>
                            <m:t>𝜃</m:t>
                          </m:r>
                        </m:sub>
                      </m:sSub>
                      <m:d>
                        <m:dPr>
                          <m:ctrlP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e>
                        <m:e>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m:oMathPara>
                </a14:m>
                <a:endParaRPr lang="en-IN" sz="2000" b="0" dirty="0">
                  <a:latin typeface="Arial Narrow" panose="020B0606020202030204" pitchFamily="34" charset="0"/>
                  <a:ea typeface="Cambria Math" panose="02040503050406030204" pitchFamily="18" charset="0"/>
                  <a:cs typeface="Times New Roman" panose="02020603050405020304" pitchFamily="18" charset="0"/>
                </a:endParaRPr>
              </a:p>
              <a:p>
                <a:pPr marL="0" indent="0">
                  <a:buNone/>
                </a:pPr>
                <a:r>
                  <a:rPr lang="en-IN" sz="2000" b="0" dirty="0">
                    <a:latin typeface="Arial Narrow" panose="020B0606020202030204" pitchFamily="34" charset="0"/>
                    <a:ea typeface="Cambria Math" panose="02040503050406030204" pitchFamily="18" charset="0"/>
                    <a:cs typeface="Times New Roman" panose="02020603050405020304" pitchFamily="18" charset="0"/>
                  </a:rPr>
                  <a:t>                                                            where </a:t>
                </a:r>
                <a14:m>
                  <m:oMath xmlns:m="http://schemas.openxmlformats.org/officeDocument/2006/math">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𝑝</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IN" sz="2000" b="0" dirty="0">
                    <a:solidFill>
                      <a:srgbClr val="00B0F0"/>
                    </a:solidFill>
                    <a:latin typeface="Arial Narrow" panose="020B0606020202030204" pitchFamily="34" charset="0"/>
                    <a:ea typeface="Cambria Math" panose="02040503050406030204" pitchFamily="18" charset="0"/>
                    <a:cs typeface="Times New Roman" panose="02020603050405020304" pitchFamily="18" charset="0"/>
                  </a:rPr>
                  <a:t> is class prior </a:t>
                </a:r>
                <a:r>
                  <a:rPr lang="en-IN" sz="2000" b="0" dirty="0">
                    <a:latin typeface="Arial Narrow" panose="020B0606020202030204" pitchFamily="34" charset="0"/>
                    <a:ea typeface="Cambria Math" panose="02040503050406030204" pitchFamily="18" charset="0"/>
                    <a:cs typeface="Times New Roman" panose="02020603050405020304" pitchFamily="18" charset="0"/>
                  </a:rPr>
                  <a:t>and </a:t>
                </a:r>
                <a14:m>
                  <m:oMath xmlns:m="http://schemas.openxmlformats.org/officeDocument/2006/math">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𝑝</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IN" sz="2000" b="0" dirty="0">
                    <a:solidFill>
                      <a:srgbClr val="00B0F0"/>
                    </a:solidFill>
                    <a:latin typeface="Arial Narrow" panose="020B0606020202030204" pitchFamily="34" charset="0"/>
                    <a:ea typeface="Cambria Math" panose="02040503050406030204" pitchFamily="18" charset="0"/>
                    <a:cs typeface="Times New Roman" panose="02020603050405020304" pitchFamily="18" charset="0"/>
                  </a:rPr>
                  <a:t> class-conditional density </a:t>
                </a:r>
                <a:endParaRPr lang="en-IN" sz="2000" b="0" dirty="0">
                  <a:latin typeface="Arial Narrow" panose="020B0606020202030204" pitchFamily="34" charset="0"/>
                  <a:ea typeface="Cambria Math" panose="02040503050406030204" pitchFamily="18" charset="0"/>
                  <a:cs typeface="Times New Roman" panose="02020603050405020304" pitchFamily="18" charset="0"/>
                </a:endParaRPr>
              </a:p>
              <a:p>
                <a:endParaRPr lang="en-IN" dirty="0">
                  <a:latin typeface="Arial Narrow" panose="020B0606020202030204" pitchFamily="34" charset="0"/>
                </a:endParaRPr>
              </a:p>
              <a:p>
                <a:endParaRPr lang="en-IN" dirty="0"/>
              </a:p>
            </p:txBody>
          </p:sp>
        </mc:Choice>
        <mc:Fallback xmlns="">
          <p:sp>
            <p:nvSpPr>
              <p:cNvPr id="3" name="Content Placeholder 2">
                <a:extLst>
                  <a:ext uri="{FF2B5EF4-FFF2-40B4-BE49-F238E27FC236}">
                    <a16:creationId xmlns:a16="http://schemas.microsoft.com/office/drawing/2014/main" id="{A751AA9A-775B-4941-864C-84C87E752AF4}"/>
                  </a:ext>
                </a:extLst>
              </p:cNvPr>
              <p:cNvSpPr>
                <a:spLocks noGrp="1" noRot="1" noChangeAspect="1" noMove="1" noResize="1" noEditPoints="1" noAdjustHandles="1" noChangeArrowheads="1" noChangeShapeType="1" noTextEdit="1"/>
              </p:cNvSpPr>
              <p:nvPr>
                <p:ph idx="1"/>
              </p:nvPr>
            </p:nvSpPr>
            <p:spPr>
              <a:xfrm>
                <a:off x="838200" y="1511859"/>
                <a:ext cx="10515600" cy="4981015"/>
              </a:xfrm>
              <a:blipFill>
                <a:blip r:embed="rId2"/>
                <a:stretch>
                  <a:fillRect l="-522" t="-1224"/>
                </a:stretch>
              </a:blipFill>
            </p:spPr>
            <p:txBody>
              <a:bodyPr/>
              <a:lstStyle/>
              <a:p>
                <a:r>
                  <a:rPr lang="en-IN">
                    <a:noFill/>
                  </a:rPr>
                  <a:t> </a:t>
                </a:r>
              </a:p>
            </p:txBody>
          </p:sp>
        </mc:Fallback>
      </mc:AlternateContent>
    </p:spTree>
    <p:extLst>
      <p:ext uri="{BB962C8B-B14F-4D97-AF65-F5344CB8AC3E}">
        <p14:creationId xmlns:p14="http://schemas.microsoft.com/office/powerpoint/2010/main" val="2018050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93">
            <a:extLst>
              <a:ext uri="{FF2B5EF4-FFF2-40B4-BE49-F238E27FC236}">
                <a16:creationId xmlns:a16="http://schemas.microsoft.com/office/drawing/2014/main" id="{135D2CAE-C272-470D-A9B5-2E1B6D46935E}"/>
              </a:ext>
            </a:extLst>
          </p:cNvPr>
          <p:cNvSpPr txBox="1">
            <a:spLocks/>
          </p:cNvSpPr>
          <p:nvPr/>
        </p:nvSpPr>
        <p:spPr>
          <a:xfrm>
            <a:off x="341529" y="4891926"/>
            <a:ext cx="11295920" cy="123972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sz="2000" dirty="0">
                <a:latin typeface="Arial Narrow" panose="020B0606020202030204" pitchFamily="34" charset="0"/>
                <a:cs typeface="Times New Roman" panose="02020603050405020304" pitchFamily="18" charset="0"/>
              </a:rPr>
              <a:t>In generative modelling, we are given a set of data samples drawn from an unknown real data distribution (D). </a:t>
            </a:r>
          </a:p>
          <a:p>
            <a:pPr algn="just"/>
            <a:r>
              <a:rPr lang="en-GB" sz="2000" dirty="0">
                <a:latin typeface="Arial Narrow" panose="020B0606020202030204" pitchFamily="34" charset="0"/>
                <a:cs typeface="Times New Roman" panose="02020603050405020304" pitchFamily="18" charset="0"/>
              </a:rPr>
              <a:t>The objective is to train a neural network, known as the generator, to learn this underlying distribution and produce a new distribution (D') that closely approximates (D).</a:t>
            </a:r>
          </a:p>
          <a:p>
            <a:pPr algn="just"/>
            <a:r>
              <a:rPr lang="en-GB" sz="2000" dirty="0">
                <a:latin typeface="Arial Narrow" panose="020B0606020202030204" pitchFamily="34" charset="0"/>
                <a:cs typeface="Times New Roman" panose="02020603050405020304" pitchFamily="18" charset="0"/>
              </a:rPr>
              <a:t>The generator takes a randomly sampled noise vector (Z) (also called a latent vector) as input and transforms it into synthetic data samples.</a:t>
            </a:r>
            <a:endParaRPr lang="en-IN" sz="2000" dirty="0">
              <a:latin typeface="Arial Narrow" panose="020B0606020202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A4076FE5-48C6-4FC3-B09F-6252EAC96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711" y="1889568"/>
            <a:ext cx="1001917" cy="970721"/>
          </a:xfrm>
          <a:prstGeom prst="rect">
            <a:avLst/>
          </a:prstGeom>
        </p:spPr>
      </p:pic>
      <p:sp>
        <p:nvSpPr>
          <p:cNvPr id="37" name="TextBox 36">
            <a:extLst>
              <a:ext uri="{FF2B5EF4-FFF2-40B4-BE49-F238E27FC236}">
                <a16:creationId xmlns:a16="http://schemas.microsoft.com/office/drawing/2014/main" id="{215D5D96-E306-4D49-9059-2B636A775398}"/>
              </a:ext>
            </a:extLst>
          </p:cNvPr>
          <p:cNvSpPr txBox="1"/>
          <p:nvPr/>
        </p:nvSpPr>
        <p:spPr>
          <a:xfrm>
            <a:off x="7984659" y="2069524"/>
            <a:ext cx="3677752" cy="707886"/>
          </a:xfrm>
          <a:prstGeom prst="rect">
            <a:avLst/>
          </a:prstGeom>
          <a:noFill/>
          <a:ln w="25400">
            <a:solidFill>
              <a:schemeClr val="accent1"/>
            </a:solidFill>
          </a:ln>
        </p:spPr>
        <p:txBody>
          <a:bodyPr wrap="square" rtlCol="0">
            <a:spAutoFit/>
          </a:bodyPr>
          <a:lstStyle/>
          <a:p>
            <a:r>
              <a:rPr lang="en-IN" sz="2000" dirty="0">
                <a:latin typeface="Arial Narrow" panose="020B0606020202030204" pitchFamily="34" charset="0"/>
                <a:cs typeface="Times New Roman" panose="02020603050405020304" pitchFamily="18" charset="0"/>
              </a:rPr>
              <a:t>Loss (Statistical Distance between D and D’ distributions)</a:t>
            </a:r>
          </a:p>
        </p:txBody>
      </p:sp>
      <p:cxnSp>
        <p:nvCxnSpPr>
          <p:cNvPr id="38" name="Straight Arrow Connector 37">
            <a:extLst>
              <a:ext uri="{FF2B5EF4-FFF2-40B4-BE49-F238E27FC236}">
                <a16:creationId xmlns:a16="http://schemas.microsoft.com/office/drawing/2014/main" id="{79A76E61-9E85-4FD2-A210-E5DC2B09C113}"/>
              </a:ext>
            </a:extLst>
          </p:cNvPr>
          <p:cNvCxnSpPr/>
          <p:nvPr/>
        </p:nvCxnSpPr>
        <p:spPr>
          <a:xfrm>
            <a:off x="7067504" y="2418337"/>
            <a:ext cx="76601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95B8782-A17F-4A04-86E5-C650C60342C5}"/>
              </a:ext>
            </a:extLst>
          </p:cNvPr>
          <p:cNvCxnSpPr/>
          <p:nvPr/>
        </p:nvCxnSpPr>
        <p:spPr>
          <a:xfrm>
            <a:off x="2361998" y="2397101"/>
            <a:ext cx="44334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C09B58D-629C-49C8-B6CF-E82199167818}"/>
              </a:ext>
            </a:extLst>
          </p:cNvPr>
          <p:cNvCxnSpPr/>
          <p:nvPr/>
        </p:nvCxnSpPr>
        <p:spPr>
          <a:xfrm>
            <a:off x="4862533" y="2406878"/>
            <a:ext cx="44334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1135841-91AD-443B-B6D6-876E11FDBED3}"/>
              </a:ext>
            </a:extLst>
          </p:cNvPr>
          <p:cNvSpPr txBox="1"/>
          <p:nvPr/>
        </p:nvSpPr>
        <p:spPr>
          <a:xfrm>
            <a:off x="777613" y="3019527"/>
            <a:ext cx="1774815" cy="707886"/>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p(z) ~ Z</a:t>
            </a:r>
          </a:p>
          <a:p>
            <a:pPr algn="ctr"/>
            <a:r>
              <a:rPr lang="en-IN" sz="2000" dirty="0">
                <a:latin typeface="Arial Narrow" panose="020B0606020202030204" pitchFamily="34" charset="0"/>
                <a:cs typeface="Times New Roman" panose="02020603050405020304" pitchFamily="18" charset="0"/>
              </a:rPr>
              <a:t>Random noise</a:t>
            </a:r>
          </a:p>
        </p:txBody>
      </p:sp>
      <p:sp>
        <p:nvSpPr>
          <p:cNvPr id="58" name="TextBox 57">
            <a:extLst>
              <a:ext uri="{FF2B5EF4-FFF2-40B4-BE49-F238E27FC236}">
                <a16:creationId xmlns:a16="http://schemas.microsoft.com/office/drawing/2014/main" id="{27020F0A-48B8-4624-A1A5-6C5F2D84040A}"/>
              </a:ext>
            </a:extLst>
          </p:cNvPr>
          <p:cNvSpPr txBox="1"/>
          <p:nvPr/>
        </p:nvSpPr>
        <p:spPr>
          <a:xfrm>
            <a:off x="2621390" y="3393906"/>
            <a:ext cx="2136535" cy="707886"/>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Generative Model</a:t>
            </a:r>
          </a:p>
          <a:p>
            <a:pPr algn="ctr"/>
            <a:r>
              <a:rPr lang="en-IN" sz="2000" dirty="0">
                <a:latin typeface="Arial Narrow" panose="020B0606020202030204" pitchFamily="34" charset="0"/>
                <a:cs typeface="Times New Roman" panose="02020603050405020304" pitchFamily="18" charset="0"/>
              </a:rPr>
              <a:t>(Neural Net) G</a:t>
            </a:r>
          </a:p>
        </p:txBody>
      </p:sp>
      <p:sp>
        <p:nvSpPr>
          <p:cNvPr id="59" name="TextBox 58">
            <a:extLst>
              <a:ext uri="{FF2B5EF4-FFF2-40B4-BE49-F238E27FC236}">
                <a16:creationId xmlns:a16="http://schemas.microsoft.com/office/drawing/2014/main" id="{43ACD3A4-4A08-4ACF-BFD5-8F3F96F4EA60}"/>
              </a:ext>
            </a:extLst>
          </p:cNvPr>
          <p:cNvSpPr txBox="1"/>
          <p:nvPr/>
        </p:nvSpPr>
        <p:spPr>
          <a:xfrm>
            <a:off x="5138987" y="3407644"/>
            <a:ext cx="1963855" cy="1015663"/>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Generated data </a:t>
            </a:r>
          </a:p>
          <a:p>
            <a:pPr algn="ctr"/>
            <a:r>
              <a:rPr lang="en-IN" sz="2000" dirty="0">
                <a:latin typeface="Arial Narrow" panose="020B0606020202030204" pitchFamily="34" charset="0"/>
                <a:cs typeface="Times New Roman" panose="02020603050405020304" pitchFamily="18" charset="0"/>
              </a:rPr>
              <a:t>distribution </a:t>
            </a:r>
          </a:p>
          <a:p>
            <a:pPr algn="ctr"/>
            <a:r>
              <a:rPr lang="en-IN" sz="2000" dirty="0">
                <a:latin typeface="Arial Narrow" panose="020B0606020202030204" pitchFamily="34" charset="0"/>
                <a:cs typeface="Times New Roman" panose="02020603050405020304" pitchFamily="18" charset="0"/>
              </a:rPr>
              <a:t>D’=G(Z)=I’(x)</a:t>
            </a:r>
          </a:p>
        </p:txBody>
      </p:sp>
      <p:sp>
        <p:nvSpPr>
          <p:cNvPr id="60" name="TextBox 59">
            <a:extLst>
              <a:ext uri="{FF2B5EF4-FFF2-40B4-BE49-F238E27FC236}">
                <a16:creationId xmlns:a16="http://schemas.microsoft.com/office/drawing/2014/main" id="{9DBD2560-2866-45BE-9F86-DB1EE5AA861D}"/>
              </a:ext>
            </a:extLst>
          </p:cNvPr>
          <p:cNvSpPr txBox="1"/>
          <p:nvPr/>
        </p:nvSpPr>
        <p:spPr>
          <a:xfrm>
            <a:off x="8103728" y="4356101"/>
            <a:ext cx="3533721" cy="400110"/>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Real data distribution D=I(x)</a:t>
            </a:r>
          </a:p>
        </p:txBody>
      </p:sp>
      <p:cxnSp>
        <p:nvCxnSpPr>
          <p:cNvPr id="61" name="Straight Arrow Connector 60">
            <a:extLst>
              <a:ext uri="{FF2B5EF4-FFF2-40B4-BE49-F238E27FC236}">
                <a16:creationId xmlns:a16="http://schemas.microsoft.com/office/drawing/2014/main" id="{1A140D25-DBDE-4B77-BB29-3ADBEA8379BE}"/>
              </a:ext>
            </a:extLst>
          </p:cNvPr>
          <p:cNvCxnSpPr>
            <a:cxnSpLocks/>
          </p:cNvCxnSpPr>
          <p:nvPr/>
        </p:nvCxnSpPr>
        <p:spPr>
          <a:xfrm flipV="1">
            <a:off x="9870589" y="2824095"/>
            <a:ext cx="0" cy="4149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939E603-A903-45C6-9422-BD86F24F81A7}"/>
              </a:ext>
            </a:extLst>
          </p:cNvPr>
          <p:cNvCxnSpPr/>
          <p:nvPr/>
        </p:nvCxnSpPr>
        <p:spPr>
          <a:xfrm flipV="1">
            <a:off x="9367063" y="1446510"/>
            <a:ext cx="0" cy="64035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5E5B1CF-F642-4106-9F1D-9054E5D96C76}"/>
              </a:ext>
            </a:extLst>
          </p:cNvPr>
          <p:cNvCxnSpPr/>
          <p:nvPr/>
        </p:nvCxnSpPr>
        <p:spPr>
          <a:xfrm>
            <a:off x="3943351" y="1446511"/>
            <a:ext cx="5435971" cy="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A7D01385-2D83-4CDC-B07A-25EEB99AD0B1}"/>
              </a:ext>
            </a:extLst>
          </p:cNvPr>
          <p:cNvCxnSpPr/>
          <p:nvPr/>
        </p:nvCxnSpPr>
        <p:spPr>
          <a:xfrm>
            <a:off x="3951148" y="1436178"/>
            <a:ext cx="0" cy="3512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65" name="Title 3">
            <a:extLst>
              <a:ext uri="{FF2B5EF4-FFF2-40B4-BE49-F238E27FC236}">
                <a16:creationId xmlns:a16="http://schemas.microsoft.com/office/drawing/2014/main" id="{8909A904-ACD9-4210-8F42-5393F1960092}"/>
              </a:ext>
            </a:extLst>
          </p:cNvPr>
          <p:cNvSpPr txBox="1">
            <a:spLocks/>
          </p:cNvSpPr>
          <p:nvPr/>
        </p:nvSpPr>
        <p:spPr>
          <a:xfrm>
            <a:off x="643125" y="654029"/>
            <a:ext cx="8229600" cy="57442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dirty="0">
                <a:latin typeface="Century" panose="02040604050505020304" pitchFamily="18" charset="0"/>
                <a:cs typeface="Times New Roman" panose="02020603050405020304" pitchFamily="18" charset="0"/>
              </a:rPr>
              <a:t>Generative Modelling</a:t>
            </a:r>
          </a:p>
        </p:txBody>
      </p:sp>
      <p:sp>
        <p:nvSpPr>
          <p:cNvPr id="66" name="Trapezoid 65">
            <a:extLst>
              <a:ext uri="{FF2B5EF4-FFF2-40B4-BE49-F238E27FC236}">
                <a16:creationId xmlns:a16="http://schemas.microsoft.com/office/drawing/2014/main" id="{F57D7293-AC4F-400F-A046-77D2A71C93CA}"/>
              </a:ext>
            </a:extLst>
          </p:cNvPr>
          <p:cNvSpPr/>
          <p:nvPr/>
        </p:nvSpPr>
        <p:spPr>
          <a:xfrm rot="16200000">
            <a:off x="3037311" y="1711509"/>
            <a:ext cx="1467264" cy="1442624"/>
          </a:xfrm>
          <a:prstGeom prst="trapezoi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67" name="TextBox 66">
            <a:extLst>
              <a:ext uri="{FF2B5EF4-FFF2-40B4-BE49-F238E27FC236}">
                <a16:creationId xmlns:a16="http://schemas.microsoft.com/office/drawing/2014/main" id="{C2BCD1D6-BF9F-45C0-BA86-8A6F7628A960}"/>
              </a:ext>
            </a:extLst>
          </p:cNvPr>
          <p:cNvSpPr txBox="1"/>
          <p:nvPr/>
        </p:nvSpPr>
        <p:spPr>
          <a:xfrm>
            <a:off x="3242438" y="2248155"/>
            <a:ext cx="1147300" cy="400110"/>
          </a:xfrm>
          <a:prstGeom prst="rect">
            <a:avLst/>
          </a:prstGeom>
          <a:noFill/>
        </p:spPr>
        <p:txBody>
          <a:bodyPr wrap="square" rtlCol="0">
            <a:spAutoFit/>
          </a:bodyPr>
          <a:lstStyle/>
          <a:p>
            <a:r>
              <a:rPr lang="en-IN" sz="2000" dirty="0">
                <a:latin typeface="Arial Narrow" panose="020B0606020202030204" pitchFamily="34" charset="0"/>
              </a:rPr>
              <a:t>Generator</a:t>
            </a:r>
          </a:p>
        </p:txBody>
      </p:sp>
      <p:pic>
        <p:nvPicPr>
          <p:cNvPr id="68" name="Picture 67">
            <a:extLst>
              <a:ext uri="{FF2B5EF4-FFF2-40B4-BE49-F238E27FC236}">
                <a16:creationId xmlns:a16="http://schemas.microsoft.com/office/drawing/2014/main" id="{10CD9F7D-4C7D-4739-A0E1-62B07E521C02}"/>
              </a:ext>
            </a:extLst>
          </p:cNvPr>
          <p:cNvPicPr>
            <a:picLocks noChangeAspect="1"/>
          </p:cNvPicPr>
          <p:nvPr/>
        </p:nvPicPr>
        <p:blipFill>
          <a:blip r:embed="rId3"/>
          <a:stretch>
            <a:fillRect/>
          </a:stretch>
        </p:blipFill>
        <p:spPr>
          <a:xfrm>
            <a:off x="8872725" y="3310723"/>
            <a:ext cx="2164679" cy="1070898"/>
          </a:xfrm>
          <a:prstGeom prst="rect">
            <a:avLst/>
          </a:prstGeom>
        </p:spPr>
      </p:pic>
      <p:pic>
        <p:nvPicPr>
          <p:cNvPr id="70" name="Picture 69">
            <a:extLst>
              <a:ext uri="{FF2B5EF4-FFF2-40B4-BE49-F238E27FC236}">
                <a16:creationId xmlns:a16="http://schemas.microsoft.com/office/drawing/2014/main" id="{9A084844-CDBD-4D5E-9752-7F8D5F32F72C}"/>
              </a:ext>
            </a:extLst>
          </p:cNvPr>
          <p:cNvPicPr>
            <a:picLocks noChangeAspect="1"/>
          </p:cNvPicPr>
          <p:nvPr/>
        </p:nvPicPr>
        <p:blipFill>
          <a:blip r:embed="rId4"/>
          <a:stretch>
            <a:fillRect/>
          </a:stretch>
        </p:blipFill>
        <p:spPr>
          <a:xfrm>
            <a:off x="5484124" y="2243030"/>
            <a:ext cx="1375838" cy="360657"/>
          </a:xfrm>
          <a:prstGeom prst="rect">
            <a:avLst/>
          </a:prstGeom>
        </p:spPr>
      </p:pic>
      <p:sp>
        <p:nvSpPr>
          <p:cNvPr id="71" name="TextBox 70">
            <a:extLst>
              <a:ext uri="{FF2B5EF4-FFF2-40B4-BE49-F238E27FC236}">
                <a16:creationId xmlns:a16="http://schemas.microsoft.com/office/drawing/2014/main" id="{C0F86B5B-85E4-485C-986F-7B01337D8FCB}"/>
              </a:ext>
            </a:extLst>
          </p:cNvPr>
          <p:cNvSpPr txBox="1"/>
          <p:nvPr/>
        </p:nvSpPr>
        <p:spPr>
          <a:xfrm>
            <a:off x="9269506" y="6511358"/>
            <a:ext cx="2250141" cy="307777"/>
          </a:xfrm>
          <a:prstGeom prst="rect">
            <a:avLst/>
          </a:prstGeom>
          <a:noFill/>
        </p:spPr>
        <p:txBody>
          <a:bodyPr wrap="square" rtlCol="0">
            <a:spAutoFit/>
          </a:bodyPr>
          <a:lstStyle/>
          <a:p>
            <a:r>
              <a:rPr lang="en-GB" sz="1400" dirty="0">
                <a:latin typeface="Arial Narrow" panose="020B0606020202030204" pitchFamily="34" charset="0"/>
              </a:rPr>
              <a:t>Image: MNIST Dataset</a:t>
            </a:r>
          </a:p>
        </p:txBody>
      </p:sp>
    </p:spTree>
    <p:extLst>
      <p:ext uri="{BB962C8B-B14F-4D97-AF65-F5344CB8AC3E}">
        <p14:creationId xmlns:p14="http://schemas.microsoft.com/office/powerpoint/2010/main" val="2276128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93">
            <a:extLst>
              <a:ext uri="{FF2B5EF4-FFF2-40B4-BE49-F238E27FC236}">
                <a16:creationId xmlns:a16="http://schemas.microsoft.com/office/drawing/2014/main" id="{135D2CAE-C272-470D-A9B5-2E1B6D46935E}"/>
              </a:ext>
            </a:extLst>
          </p:cNvPr>
          <p:cNvSpPr txBox="1">
            <a:spLocks/>
          </p:cNvSpPr>
          <p:nvPr/>
        </p:nvSpPr>
        <p:spPr>
          <a:xfrm>
            <a:off x="366491" y="4772799"/>
            <a:ext cx="11295920" cy="171764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sz="1800" dirty="0">
                <a:latin typeface="Arial Narrow" panose="020B0606020202030204" pitchFamily="34" charset="0"/>
                <a:cs typeface="Times New Roman" panose="02020603050405020304" pitchFamily="18" charset="0"/>
              </a:rPr>
              <a:t>During training, the neural network is optimized so that the difference between the real data distribution (D) and the generated data distribution (D') is minimized. </a:t>
            </a:r>
          </a:p>
          <a:p>
            <a:pPr algn="just"/>
            <a:r>
              <a:rPr lang="en-GB" sz="1800" dirty="0">
                <a:latin typeface="Arial Narrow" panose="020B0606020202030204" pitchFamily="34" charset="0"/>
                <a:cs typeface="Times New Roman" panose="02020603050405020304" pitchFamily="18" charset="0"/>
              </a:rPr>
              <a:t>This difference is measured using statistical distance metrics, such as the L1 norm or L2 norm. </a:t>
            </a:r>
          </a:p>
          <a:p>
            <a:pPr algn="just"/>
            <a:r>
              <a:rPr lang="en-GB" sz="1800" dirty="0">
                <a:latin typeface="Arial Narrow" panose="020B0606020202030204" pitchFamily="34" charset="0"/>
                <a:cs typeface="Times New Roman" panose="02020603050405020304" pitchFamily="18" charset="0"/>
              </a:rPr>
              <a:t>As training progresses, the generator gradually learns to produce increasingly realistic samples. </a:t>
            </a:r>
          </a:p>
          <a:p>
            <a:pPr algn="just"/>
            <a:r>
              <a:rPr lang="en-GB" sz="1800" dirty="0">
                <a:latin typeface="Arial Narrow" panose="020B0606020202030204" pitchFamily="34" charset="0"/>
                <a:cs typeface="Times New Roman" panose="02020603050405020304" pitchFamily="18" charset="0"/>
              </a:rPr>
              <a:t>After convergence, the generator can generate new data samples that closely follow the original distribution (D), while being novel and not identical to any of the samples present in the training dataset.</a:t>
            </a:r>
            <a:endParaRPr lang="en-IN" sz="1800" dirty="0">
              <a:solidFill>
                <a:srgbClr val="00B0F0"/>
              </a:solidFill>
              <a:latin typeface="Arial Narrow" panose="020B0606020202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A4076FE5-48C6-4FC3-B09F-6252EAC96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711" y="1970253"/>
            <a:ext cx="1001917" cy="970721"/>
          </a:xfrm>
          <a:prstGeom prst="rect">
            <a:avLst/>
          </a:prstGeom>
        </p:spPr>
      </p:pic>
      <p:sp>
        <p:nvSpPr>
          <p:cNvPr id="37" name="TextBox 36">
            <a:extLst>
              <a:ext uri="{FF2B5EF4-FFF2-40B4-BE49-F238E27FC236}">
                <a16:creationId xmlns:a16="http://schemas.microsoft.com/office/drawing/2014/main" id="{215D5D96-E306-4D49-9059-2B636A775398}"/>
              </a:ext>
            </a:extLst>
          </p:cNvPr>
          <p:cNvSpPr txBox="1"/>
          <p:nvPr/>
        </p:nvSpPr>
        <p:spPr>
          <a:xfrm>
            <a:off x="7984659" y="2150209"/>
            <a:ext cx="3677752" cy="707886"/>
          </a:xfrm>
          <a:prstGeom prst="rect">
            <a:avLst/>
          </a:prstGeom>
          <a:noFill/>
          <a:ln w="25400">
            <a:solidFill>
              <a:schemeClr val="accent1"/>
            </a:solidFill>
          </a:ln>
        </p:spPr>
        <p:txBody>
          <a:bodyPr wrap="square" rtlCol="0">
            <a:spAutoFit/>
          </a:bodyPr>
          <a:lstStyle/>
          <a:p>
            <a:r>
              <a:rPr lang="en-IN" sz="2000" dirty="0">
                <a:latin typeface="Arial Narrow" panose="020B0606020202030204" pitchFamily="34" charset="0"/>
                <a:cs typeface="Times New Roman" panose="02020603050405020304" pitchFamily="18" charset="0"/>
              </a:rPr>
              <a:t>Loss (Statistical Distance between D and D’ distributions)</a:t>
            </a:r>
          </a:p>
        </p:txBody>
      </p:sp>
      <p:cxnSp>
        <p:nvCxnSpPr>
          <p:cNvPr id="38" name="Straight Arrow Connector 37">
            <a:extLst>
              <a:ext uri="{FF2B5EF4-FFF2-40B4-BE49-F238E27FC236}">
                <a16:creationId xmlns:a16="http://schemas.microsoft.com/office/drawing/2014/main" id="{79A76E61-9E85-4FD2-A210-E5DC2B09C113}"/>
              </a:ext>
            </a:extLst>
          </p:cNvPr>
          <p:cNvCxnSpPr/>
          <p:nvPr/>
        </p:nvCxnSpPr>
        <p:spPr>
          <a:xfrm>
            <a:off x="7067504" y="2499022"/>
            <a:ext cx="76601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95B8782-A17F-4A04-86E5-C650C60342C5}"/>
              </a:ext>
            </a:extLst>
          </p:cNvPr>
          <p:cNvCxnSpPr/>
          <p:nvPr/>
        </p:nvCxnSpPr>
        <p:spPr>
          <a:xfrm>
            <a:off x="2361998" y="2477786"/>
            <a:ext cx="44334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C09B58D-629C-49C8-B6CF-E82199167818}"/>
              </a:ext>
            </a:extLst>
          </p:cNvPr>
          <p:cNvCxnSpPr/>
          <p:nvPr/>
        </p:nvCxnSpPr>
        <p:spPr>
          <a:xfrm>
            <a:off x="4862533" y="2487563"/>
            <a:ext cx="44334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1135841-91AD-443B-B6D6-876E11FDBED3}"/>
              </a:ext>
            </a:extLst>
          </p:cNvPr>
          <p:cNvSpPr txBox="1"/>
          <p:nvPr/>
        </p:nvSpPr>
        <p:spPr>
          <a:xfrm>
            <a:off x="777613" y="3100212"/>
            <a:ext cx="1774815" cy="707886"/>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p(z) ~ Z</a:t>
            </a:r>
          </a:p>
          <a:p>
            <a:pPr algn="ctr"/>
            <a:r>
              <a:rPr lang="en-IN" sz="2000" dirty="0">
                <a:latin typeface="Arial Narrow" panose="020B0606020202030204" pitchFamily="34" charset="0"/>
                <a:cs typeface="Times New Roman" panose="02020603050405020304" pitchFamily="18" charset="0"/>
              </a:rPr>
              <a:t>Random noise</a:t>
            </a:r>
          </a:p>
        </p:txBody>
      </p:sp>
      <p:sp>
        <p:nvSpPr>
          <p:cNvPr id="58" name="TextBox 57">
            <a:extLst>
              <a:ext uri="{FF2B5EF4-FFF2-40B4-BE49-F238E27FC236}">
                <a16:creationId xmlns:a16="http://schemas.microsoft.com/office/drawing/2014/main" id="{27020F0A-48B8-4624-A1A5-6C5F2D84040A}"/>
              </a:ext>
            </a:extLst>
          </p:cNvPr>
          <p:cNvSpPr txBox="1"/>
          <p:nvPr/>
        </p:nvSpPr>
        <p:spPr>
          <a:xfrm>
            <a:off x="2621390" y="3295291"/>
            <a:ext cx="2136535" cy="707886"/>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Generative Model</a:t>
            </a:r>
          </a:p>
          <a:p>
            <a:pPr algn="ctr"/>
            <a:r>
              <a:rPr lang="en-IN" sz="2000" dirty="0">
                <a:latin typeface="Arial Narrow" panose="020B0606020202030204" pitchFamily="34" charset="0"/>
                <a:cs typeface="Times New Roman" panose="02020603050405020304" pitchFamily="18" charset="0"/>
              </a:rPr>
              <a:t>(Neural Net) G</a:t>
            </a:r>
          </a:p>
        </p:txBody>
      </p:sp>
      <p:sp>
        <p:nvSpPr>
          <p:cNvPr id="59" name="TextBox 58">
            <a:extLst>
              <a:ext uri="{FF2B5EF4-FFF2-40B4-BE49-F238E27FC236}">
                <a16:creationId xmlns:a16="http://schemas.microsoft.com/office/drawing/2014/main" id="{43ACD3A4-4A08-4ACF-BFD5-8F3F96F4EA60}"/>
              </a:ext>
            </a:extLst>
          </p:cNvPr>
          <p:cNvSpPr txBox="1"/>
          <p:nvPr/>
        </p:nvSpPr>
        <p:spPr>
          <a:xfrm>
            <a:off x="5138987" y="3309029"/>
            <a:ext cx="1963855" cy="1015663"/>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Generated data </a:t>
            </a:r>
          </a:p>
          <a:p>
            <a:pPr algn="ctr"/>
            <a:r>
              <a:rPr lang="en-IN" sz="2000" dirty="0">
                <a:latin typeface="Arial Narrow" panose="020B0606020202030204" pitchFamily="34" charset="0"/>
                <a:cs typeface="Times New Roman" panose="02020603050405020304" pitchFamily="18" charset="0"/>
              </a:rPr>
              <a:t>distribution </a:t>
            </a:r>
          </a:p>
          <a:p>
            <a:pPr algn="ctr"/>
            <a:r>
              <a:rPr lang="en-IN" sz="2000" dirty="0">
                <a:latin typeface="Arial Narrow" panose="020B0606020202030204" pitchFamily="34" charset="0"/>
                <a:cs typeface="Times New Roman" panose="02020603050405020304" pitchFamily="18" charset="0"/>
              </a:rPr>
              <a:t>D’=G(Z)=I’(x)</a:t>
            </a:r>
          </a:p>
        </p:txBody>
      </p:sp>
      <p:sp>
        <p:nvSpPr>
          <p:cNvPr id="60" name="TextBox 59">
            <a:extLst>
              <a:ext uri="{FF2B5EF4-FFF2-40B4-BE49-F238E27FC236}">
                <a16:creationId xmlns:a16="http://schemas.microsoft.com/office/drawing/2014/main" id="{9DBD2560-2866-45BE-9F86-DB1EE5AA861D}"/>
              </a:ext>
            </a:extLst>
          </p:cNvPr>
          <p:cNvSpPr txBox="1"/>
          <p:nvPr/>
        </p:nvSpPr>
        <p:spPr>
          <a:xfrm>
            <a:off x="8103728" y="4351770"/>
            <a:ext cx="3533721" cy="400110"/>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Real data distribution D=I(x)</a:t>
            </a:r>
          </a:p>
        </p:txBody>
      </p:sp>
      <p:cxnSp>
        <p:nvCxnSpPr>
          <p:cNvPr id="61" name="Straight Arrow Connector 60">
            <a:extLst>
              <a:ext uri="{FF2B5EF4-FFF2-40B4-BE49-F238E27FC236}">
                <a16:creationId xmlns:a16="http://schemas.microsoft.com/office/drawing/2014/main" id="{1A140D25-DBDE-4B77-BB29-3ADBEA8379BE}"/>
              </a:ext>
            </a:extLst>
          </p:cNvPr>
          <p:cNvCxnSpPr>
            <a:cxnSpLocks/>
          </p:cNvCxnSpPr>
          <p:nvPr/>
        </p:nvCxnSpPr>
        <p:spPr>
          <a:xfrm flipV="1">
            <a:off x="9870589" y="2859955"/>
            <a:ext cx="0" cy="4149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939E603-A903-45C6-9422-BD86F24F81A7}"/>
              </a:ext>
            </a:extLst>
          </p:cNvPr>
          <p:cNvCxnSpPr/>
          <p:nvPr/>
        </p:nvCxnSpPr>
        <p:spPr>
          <a:xfrm flipV="1">
            <a:off x="9367063" y="1473405"/>
            <a:ext cx="0" cy="64035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5E5B1CF-F642-4106-9F1D-9054E5D96C76}"/>
              </a:ext>
            </a:extLst>
          </p:cNvPr>
          <p:cNvCxnSpPr/>
          <p:nvPr/>
        </p:nvCxnSpPr>
        <p:spPr>
          <a:xfrm>
            <a:off x="3943351" y="1473406"/>
            <a:ext cx="5435971" cy="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A7D01385-2D83-4CDC-B07A-25EEB99AD0B1}"/>
              </a:ext>
            </a:extLst>
          </p:cNvPr>
          <p:cNvCxnSpPr/>
          <p:nvPr/>
        </p:nvCxnSpPr>
        <p:spPr>
          <a:xfrm>
            <a:off x="3951148" y="1463073"/>
            <a:ext cx="0" cy="3512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65" name="Title 3">
            <a:extLst>
              <a:ext uri="{FF2B5EF4-FFF2-40B4-BE49-F238E27FC236}">
                <a16:creationId xmlns:a16="http://schemas.microsoft.com/office/drawing/2014/main" id="{8909A904-ACD9-4210-8F42-5393F1960092}"/>
              </a:ext>
            </a:extLst>
          </p:cNvPr>
          <p:cNvSpPr txBox="1">
            <a:spLocks/>
          </p:cNvSpPr>
          <p:nvPr/>
        </p:nvSpPr>
        <p:spPr>
          <a:xfrm>
            <a:off x="643125" y="654029"/>
            <a:ext cx="8229600" cy="57442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dirty="0">
                <a:latin typeface="Century" panose="02040604050505020304" pitchFamily="18" charset="0"/>
                <a:cs typeface="Times New Roman" panose="02020603050405020304" pitchFamily="18" charset="0"/>
              </a:rPr>
              <a:t>Generative Modelling</a:t>
            </a:r>
          </a:p>
        </p:txBody>
      </p:sp>
      <p:sp>
        <p:nvSpPr>
          <p:cNvPr id="66" name="Trapezoid 65">
            <a:extLst>
              <a:ext uri="{FF2B5EF4-FFF2-40B4-BE49-F238E27FC236}">
                <a16:creationId xmlns:a16="http://schemas.microsoft.com/office/drawing/2014/main" id="{F57D7293-AC4F-400F-A046-77D2A71C93CA}"/>
              </a:ext>
            </a:extLst>
          </p:cNvPr>
          <p:cNvSpPr/>
          <p:nvPr/>
        </p:nvSpPr>
        <p:spPr>
          <a:xfrm rot="16200000">
            <a:off x="3037311" y="1792194"/>
            <a:ext cx="1467264" cy="1442624"/>
          </a:xfrm>
          <a:prstGeom prst="trapezoi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67" name="TextBox 66">
            <a:extLst>
              <a:ext uri="{FF2B5EF4-FFF2-40B4-BE49-F238E27FC236}">
                <a16:creationId xmlns:a16="http://schemas.microsoft.com/office/drawing/2014/main" id="{C2BCD1D6-BF9F-45C0-BA86-8A6F7628A960}"/>
              </a:ext>
            </a:extLst>
          </p:cNvPr>
          <p:cNvSpPr txBox="1"/>
          <p:nvPr/>
        </p:nvSpPr>
        <p:spPr>
          <a:xfrm>
            <a:off x="3242438" y="2328840"/>
            <a:ext cx="1147300" cy="400110"/>
          </a:xfrm>
          <a:prstGeom prst="rect">
            <a:avLst/>
          </a:prstGeom>
          <a:noFill/>
        </p:spPr>
        <p:txBody>
          <a:bodyPr wrap="square" rtlCol="0">
            <a:spAutoFit/>
          </a:bodyPr>
          <a:lstStyle/>
          <a:p>
            <a:r>
              <a:rPr lang="en-IN" sz="2000" dirty="0">
                <a:latin typeface="Arial Narrow" panose="020B0606020202030204" pitchFamily="34" charset="0"/>
              </a:rPr>
              <a:t>Generator</a:t>
            </a:r>
          </a:p>
        </p:txBody>
      </p:sp>
      <p:pic>
        <p:nvPicPr>
          <p:cNvPr id="68" name="Picture 67">
            <a:extLst>
              <a:ext uri="{FF2B5EF4-FFF2-40B4-BE49-F238E27FC236}">
                <a16:creationId xmlns:a16="http://schemas.microsoft.com/office/drawing/2014/main" id="{10CD9F7D-4C7D-4739-A0E1-62B07E521C02}"/>
              </a:ext>
            </a:extLst>
          </p:cNvPr>
          <p:cNvPicPr>
            <a:picLocks noChangeAspect="1"/>
          </p:cNvPicPr>
          <p:nvPr/>
        </p:nvPicPr>
        <p:blipFill>
          <a:blip r:embed="rId3"/>
          <a:stretch>
            <a:fillRect/>
          </a:stretch>
        </p:blipFill>
        <p:spPr>
          <a:xfrm>
            <a:off x="8872725" y="3256933"/>
            <a:ext cx="2164679" cy="1070898"/>
          </a:xfrm>
          <a:prstGeom prst="rect">
            <a:avLst/>
          </a:prstGeom>
        </p:spPr>
      </p:pic>
      <p:pic>
        <p:nvPicPr>
          <p:cNvPr id="70" name="Picture 69">
            <a:extLst>
              <a:ext uri="{FF2B5EF4-FFF2-40B4-BE49-F238E27FC236}">
                <a16:creationId xmlns:a16="http://schemas.microsoft.com/office/drawing/2014/main" id="{9A084844-CDBD-4D5E-9752-7F8D5F32F72C}"/>
              </a:ext>
            </a:extLst>
          </p:cNvPr>
          <p:cNvPicPr>
            <a:picLocks noChangeAspect="1"/>
          </p:cNvPicPr>
          <p:nvPr/>
        </p:nvPicPr>
        <p:blipFill>
          <a:blip r:embed="rId4"/>
          <a:stretch>
            <a:fillRect/>
          </a:stretch>
        </p:blipFill>
        <p:spPr>
          <a:xfrm>
            <a:off x="5484124" y="2323715"/>
            <a:ext cx="1375838" cy="360657"/>
          </a:xfrm>
          <a:prstGeom prst="rect">
            <a:avLst/>
          </a:prstGeom>
        </p:spPr>
      </p:pic>
      <p:sp>
        <p:nvSpPr>
          <p:cNvPr id="4" name="TextBox 3">
            <a:extLst>
              <a:ext uri="{FF2B5EF4-FFF2-40B4-BE49-F238E27FC236}">
                <a16:creationId xmlns:a16="http://schemas.microsoft.com/office/drawing/2014/main" id="{79153DF2-AD86-4BD1-8F4D-4C715A493F5E}"/>
              </a:ext>
            </a:extLst>
          </p:cNvPr>
          <p:cNvSpPr txBox="1"/>
          <p:nvPr/>
        </p:nvSpPr>
        <p:spPr>
          <a:xfrm>
            <a:off x="9269506" y="6511358"/>
            <a:ext cx="2250141" cy="307777"/>
          </a:xfrm>
          <a:prstGeom prst="rect">
            <a:avLst/>
          </a:prstGeom>
          <a:noFill/>
        </p:spPr>
        <p:txBody>
          <a:bodyPr wrap="square" rtlCol="0">
            <a:spAutoFit/>
          </a:bodyPr>
          <a:lstStyle/>
          <a:p>
            <a:r>
              <a:rPr lang="en-GB" sz="1400" dirty="0">
                <a:latin typeface="Arial Narrow" panose="020B0606020202030204" pitchFamily="34" charset="0"/>
              </a:rPr>
              <a:t>Image: MNIST Dataset</a:t>
            </a:r>
          </a:p>
        </p:txBody>
      </p:sp>
    </p:spTree>
    <p:extLst>
      <p:ext uri="{BB962C8B-B14F-4D97-AF65-F5344CB8AC3E}">
        <p14:creationId xmlns:p14="http://schemas.microsoft.com/office/powerpoint/2010/main" val="808414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9F110D-0BF7-44BC-9685-749D7DFBA3F4}"/>
              </a:ext>
            </a:extLst>
          </p:cNvPr>
          <p:cNvSpPr txBox="1"/>
          <p:nvPr/>
        </p:nvSpPr>
        <p:spPr>
          <a:xfrm>
            <a:off x="1049142" y="5973007"/>
            <a:ext cx="4311752" cy="830997"/>
          </a:xfrm>
          <a:prstGeom prst="rect">
            <a:avLst/>
          </a:prstGeom>
          <a:noFill/>
        </p:spPr>
        <p:txBody>
          <a:bodyPr wrap="square" rtlCol="0">
            <a:spAutoFit/>
          </a:bodyPr>
          <a:lstStyle/>
          <a:p>
            <a:r>
              <a:rPr lang="en-IN" sz="2400" dirty="0">
                <a:latin typeface="Arial Narrow" panose="020B0606020202030204" pitchFamily="34" charset="0"/>
                <a:cs typeface="Times New Roman" panose="02020603050405020304" pitchFamily="18" charset="0"/>
              </a:rPr>
              <a:t>   P(Y =       | X = Dog) = 0.95  </a:t>
            </a:r>
          </a:p>
          <a:p>
            <a:endParaRPr lang="en-IN" sz="2400" dirty="0">
              <a:latin typeface="Arial Narrow" panose="020B0606020202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 Placeholder 25">
                <a:extLst>
                  <a:ext uri="{FF2B5EF4-FFF2-40B4-BE49-F238E27FC236}">
                    <a16:creationId xmlns:a16="http://schemas.microsoft.com/office/drawing/2014/main" id="{1F300CE9-8AF8-433C-8106-8C917C14274B}"/>
                  </a:ext>
                </a:extLst>
              </p:cNvPr>
              <p:cNvSpPr txBox="1">
                <a:spLocks/>
              </p:cNvSpPr>
              <p:nvPr/>
            </p:nvSpPr>
            <p:spPr>
              <a:xfrm>
                <a:off x="5451417" y="2229157"/>
                <a:ext cx="6659897" cy="434901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Arial Narrow" panose="020B0606020202030204" pitchFamily="34" charset="0"/>
                    <a:cs typeface="Times New Roman" panose="02020603050405020304" pitchFamily="18" charset="0"/>
                  </a:rPr>
                  <a:t>Let data be drawn from an unknown true distribution:</a:t>
                </a:r>
              </a:p>
              <a:p>
                <a:pPr marL="0" indent="0">
                  <a:buNone/>
                </a:pPr>
                <a14:m>
                  <m:oMathPara xmlns:m="http://schemas.openxmlformats.org/officeDocument/2006/math">
                    <m:oMathParaPr>
                      <m:jc m:val="centerGroup"/>
                    </m:oMathParaPr>
                    <m:oMath xmlns:m="http://schemas.openxmlformats.org/officeDocument/2006/math">
                      <m:d>
                        <m:dPr>
                          <m:ctrlPr>
                            <a:rPr lang="en-IN" sz="2000" i="1">
                              <a:latin typeface="Cambria Math" panose="02040503050406030204" pitchFamily="18" charset="0"/>
                            </a:rPr>
                          </m:ctrlPr>
                        </m:dPr>
                        <m:e>
                          <m:r>
                            <a:rPr lang="en-IN" sz="2000" i="1">
                              <a:latin typeface="Cambria Math" panose="02040503050406030204" pitchFamily="18" charset="0"/>
                            </a:rPr>
                            <m:t>𝑥</m:t>
                          </m:r>
                          <m:r>
                            <a:rPr lang="en-IN" sz="2000" i="1">
                              <a:latin typeface="Cambria Math" panose="02040503050406030204" pitchFamily="18" charset="0"/>
                            </a:rPr>
                            <m:t>,</m:t>
                          </m:r>
                          <m:r>
                            <a:rPr lang="en-IN" sz="2000" i="1">
                              <a:latin typeface="Cambria Math" panose="02040503050406030204" pitchFamily="18" charset="0"/>
                            </a:rPr>
                            <m:t>𝑦</m:t>
                          </m:r>
                        </m:e>
                      </m:d>
                      <m:r>
                        <a:rPr lang="en-IN" sz="2000" i="1">
                          <a:latin typeface="Cambria Math" panose="02040503050406030204" pitchFamily="18" charset="0"/>
                        </a:rPr>
                        <m:t>~</m:t>
                      </m:r>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IN" sz="2000" i="1">
                              <a:latin typeface="Cambria Math" panose="02040503050406030204" pitchFamily="18" charset="0"/>
                              <a:ea typeface="Cambria Math" panose="02040503050406030204" pitchFamily="18" charset="0"/>
                            </a:rPr>
                            <m:t>𝑑𝑎𝑡𝑎</m:t>
                          </m:r>
                        </m:sub>
                      </m:sSub>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𝑥</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𝑦</m:t>
                          </m:r>
                        </m:e>
                      </m:d>
                    </m:oMath>
                  </m:oMathPara>
                </a14:m>
                <a:endParaRPr lang="en-IN" sz="2000" dirty="0">
                  <a:latin typeface="Arial Narrow" panose="020B0606020202030204" pitchFamily="34" charset="0"/>
                  <a:ea typeface="Cambria Math" panose="02040503050406030204" pitchFamily="18" charset="0"/>
                </a:endParaRPr>
              </a:p>
              <a:p>
                <a:pPr marL="0" indent="0">
                  <a:buNone/>
                </a:pPr>
                <a:endParaRPr lang="en-IN" sz="2000" dirty="0">
                  <a:latin typeface="Arial Narrow" panose="020B0606020202030204" pitchFamily="34" charset="0"/>
                  <a:cs typeface="Times New Roman" panose="02020603050405020304" pitchFamily="18" charset="0"/>
                </a:endParaRPr>
              </a:p>
              <a:p>
                <a:r>
                  <a:rPr lang="en-US" sz="2000" dirty="0">
                    <a:latin typeface="Arial Narrow" panose="020B0606020202030204" pitchFamily="34" charset="0"/>
                    <a:cs typeface="Times New Roman" panose="02020603050405020304" pitchFamily="18" charset="0"/>
                  </a:rPr>
                  <a:t>A </a:t>
                </a:r>
                <a:r>
                  <a:rPr lang="en-US" sz="2000" dirty="0">
                    <a:solidFill>
                      <a:srgbClr val="00B0F0"/>
                    </a:solidFill>
                    <a:latin typeface="Arial Narrow" panose="020B0606020202030204" pitchFamily="34" charset="0"/>
                    <a:cs typeface="Times New Roman" panose="02020603050405020304" pitchFamily="18" charset="0"/>
                  </a:rPr>
                  <a:t>generative learning method </a:t>
                </a:r>
                <a:r>
                  <a:rPr lang="en-US" sz="2000" dirty="0">
                    <a:latin typeface="Arial Narrow" panose="020B0606020202030204" pitchFamily="34" charset="0"/>
                    <a:cs typeface="Times New Roman" panose="02020603050405020304" pitchFamily="18" charset="0"/>
                  </a:rPr>
                  <a:t>learns parameters </a:t>
                </a:r>
                <a14:m>
                  <m:oMath xmlns:m="http://schemas.openxmlformats.org/officeDocument/2006/math">
                    <m:r>
                      <a:rPr lang="en-US" sz="2000" i="1">
                        <a:latin typeface="Cambria Math" panose="02040503050406030204" pitchFamily="18" charset="0"/>
                        <a:ea typeface="Cambria Math" panose="02040503050406030204" pitchFamily="18" charset="0"/>
                      </a:rPr>
                      <m:t>𝜃</m:t>
                    </m:r>
                  </m:oMath>
                </a14:m>
                <a:r>
                  <a:rPr lang="en-IN" sz="2000" dirty="0">
                    <a:latin typeface="Arial Narrow" panose="020B0606020202030204" pitchFamily="34" charset="0"/>
                    <a:cs typeface="Times New Roman" panose="02020603050405020304" pitchFamily="18" charset="0"/>
                  </a:rPr>
                  <a:t> of a model </a:t>
                </a:r>
                <a14:m>
                  <m:oMath xmlns:m="http://schemas.openxmlformats.org/officeDocument/2006/math">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𝜃</m:t>
                        </m:r>
                      </m:sub>
                    </m:sSub>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𝑥</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𝑦</m:t>
                        </m:r>
                      </m:e>
                    </m:d>
                  </m:oMath>
                </a14:m>
                <a:r>
                  <a:rPr lang="en-IN" sz="2000" dirty="0">
                    <a:latin typeface="Arial Narrow" panose="020B0606020202030204" pitchFamily="34" charset="0"/>
                    <a:ea typeface="Cambria Math" panose="02040503050406030204" pitchFamily="18" charset="0"/>
                    <a:cs typeface="Times New Roman" panose="02020603050405020304" pitchFamily="18" charset="0"/>
                  </a:rPr>
                  <a:t> s</a:t>
                </a:r>
                <a:r>
                  <a:rPr lang="en-IN" sz="2000" dirty="0">
                    <a:latin typeface="Arial Narrow" panose="020B0606020202030204" pitchFamily="34" charset="0"/>
                    <a:cs typeface="Times New Roman" panose="02020603050405020304" pitchFamily="18" charset="0"/>
                  </a:rPr>
                  <a:t>uch that           </a:t>
                </a:r>
              </a:p>
              <a:p>
                <a:pPr marL="0" indent="0">
                  <a:buNone/>
                </a:pPr>
                <a14:m>
                  <m:oMathPara xmlns:m="http://schemas.openxmlformats.org/officeDocument/2006/math">
                    <m:oMathParaPr>
                      <m:jc m:val="centerGroup"/>
                    </m:oMathParaPr>
                    <m:oMath xmlns:m="http://schemas.openxmlformats.org/officeDocument/2006/math">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𝜃</m:t>
                          </m:r>
                        </m:sub>
                      </m:sSub>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𝑥</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𝑦</m:t>
                          </m:r>
                        </m:e>
                      </m:d>
                      <m:r>
                        <a:rPr lang="en-IN" sz="2000" i="1">
                          <a:latin typeface="Cambria Math" panose="02040503050406030204" pitchFamily="18" charset="0"/>
                          <a:ea typeface="Cambria Math" panose="02040503050406030204" pitchFamily="18" charset="0"/>
                        </a:rPr>
                        <m:t>≈</m:t>
                      </m:r>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IN" sz="2000" i="1">
                              <a:latin typeface="Cambria Math" panose="02040503050406030204" pitchFamily="18" charset="0"/>
                              <a:ea typeface="Cambria Math" panose="02040503050406030204" pitchFamily="18" charset="0"/>
                            </a:rPr>
                            <m:t>𝑑𝑎𝑡𝑎</m:t>
                          </m:r>
                        </m:sub>
                      </m:sSub>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𝑥</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𝑦</m:t>
                          </m:r>
                        </m:e>
                      </m:d>
                    </m:oMath>
                  </m:oMathPara>
                </a14:m>
                <a:endParaRPr lang="en-IN" sz="2000" dirty="0">
                  <a:latin typeface="Arial Narrow" panose="020B0606020202030204" pitchFamily="34" charset="0"/>
                  <a:ea typeface="Cambria Math" panose="02040503050406030204" pitchFamily="18" charset="0"/>
                </a:endParaRPr>
              </a:p>
              <a:p>
                <a:pPr marL="0" indent="0">
                  <a:buNone/>
                </a:pPr>
                <a:endParaRPr lang="en-IN" sz="2000" dirty="0">
                  <a:latin typeface="Arial Narrow" panose="020B0606020202030204" pitchFamily="34" charset="0"/>
                  <a:ea typeface="Cambria Math" panose="02040503050406030204" pitchFamily="18" charset="0"/>
                </a:endParaRPr>
              </a:p>
              <a:p>
                <a:r>
                  <a:rPr lang="en-US" sz="2000" dirty="0">
                    <a:latin typeface="Arial Narrow" panose="020B0606020202030204" pitchFamily="34" charset="0"/>
                    <a:cs typeface="Times New Roman" panose="02020603050405020304" pitchFamily="18" charset="0"/>
                  </a:rPr>
                  <a:t>Generative learning is the estimation of the joint probability distribution </a:t>
                </a:r>
                <a14:m>
                  <m:oMath xmlns:m="http://schemas.openxmlformats.org/officeDocument/2006/math">
                    <m:r>
                      <a:rPr lang="en-IN" sz="2000" i="1">
                        <a:latin typeface="Cambria Math" panose="02040503050406030204" pitchFamily="18" charset="0"/>
                      </a:rPr>
                      <m:t>𝑝</m:t>
                    </m:r>
                    <m:r>
                      <a:rPr lang="en-IN" sz="2000" i="1">
                        <a:latin typeface="Cambria Math" panose="02040503050406030204" pitchFamily="18" charset="0"/>
                      </a:rPr>
                      <m:t>(</m:t>
                    </m:r>
                    <m:r>
                      <a:rPr lang="en-IN" sz="2000" i="1">
                        <a:latin typeface="Cambria Math" panose="02040503050406030204" pitchFamily="18" charset="0"/>
                      </a:rPr>
                      <m:t>𝑥</m:t>
                    </m:r>
                    <m:r>
                      <a:rPr lang="en-IN" sz="2000" i="1">
                        <a:latin typeface="Cambria Math" panose="02040503050406030204" pitchFamily="18" charset="0"/>
                      </a:rPr>
                      <m:t>,</m:t>
                    </m:r>
                    <m:r>
                      <a:rPr lang="en-IN" sz="2000" i="1">
                        <a:latin typeface="Cambria Math" panose="02040503050406030204" pitchFamily="18" charset="0"/>
                      </a:rPr>
                      <m:t>𝑦</m:t>
                    </m:r>
                    <m:r>
                      <a:rPr lang="en-IN" sz="2000" i="1">
                        <a:latin typeface="Cambria Math" panose="02040503050406030204" pitchFamily="18" charset="0"/>
                      </a:rPr>
                      <m:t>)</m:t>
                    </m:r>
                  </m:oMath>
                </a14:m>
                <a:r>
                  <a:rPr lang="en-US" sz="2000" dirty="0">
                    <a:latin typeface="Arial Narrow" panose="020B0606020202030204" pitchFamily="34" charset="0"/>
                    <a:cs typeface="Times New Roman" panose="02020603050405020304" pitchFamily="18" charset="0"/>
                  </a:rPr>
                  <a:t> of data.</a:t>
                </a:r>
              </a:p>
              <a:p>
                <a:endParaRPr lang="en-US" sz="2000" dirty="0">
                  <a:latin typeface="Arial Narrow" panose="020B0606020202030204" pitchFamily="34" charset="0"/>
                  <a:cs typeface="Times New Roman" panose="02020603050405020304" pitchFamily="18" charset="0"/>
                </a:endParaRPr>
              </a:p>
              <a:p>
                <a:r>
                  <a:rPr lang="en-US" sz="2000" dirty="0">
                    <a:latin typeface="Arial Narrow" panose="020B0606020202030204" pitchFamily="34" charset="0"/>
                    <a:ea typeface="Cambria Math" panose="02040503050406030204" pitchFamily="18" charset="0"/>
                    <a:cs typeface="Times New Roman" panose="02020603050405020304" pitchFamily="18" charset="0"/>
                  </a:rPr>
                  <a:t>The joint distribution can be written as:</a:t>
                </a:r>
              </a:p>
              <a:p>
                <a:pPr marL="0" indent="0">
                  <a:buNone/>
                </a:pPr>
                <a14:m>
                  <m:oMathPara xmlns:m="http://schemas.openxmlformats.org/officeDocument/2006/math">
                    <m:oMathParaPr>
                      <m:jc m:val="centerGroup"/>
                    </m:oMathParaPr>
                    <m:oMath xmlns:m="http://schemas.openxmlformats.org/officeDocument/2006/math">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𝜃</m:t>
                          </m:r>
                        </m:sub>
                      </m:sSub>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𝑥</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𝑦</m:t>
                          </m:r>
                        </m:e>
                      </m:d>
                      <m:r>
                        <a:rPr lang="en-IN" sz="20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𝜃</m:t>
                          </m:r>
                        </m:sub>
                      </m:sSub>
                      <m:d>
                        <m:dPr>
                          <m:ctrlPr>
                            <a:rPr lang="en-IN" sz="2000" i="1">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latin typeface="Cambria Math" panose="02040503050406030204" pitchFamily="18" charset="0"/>
                              <a:ea typeface="Cambria Math" panose="02040503050406030204" pitchFamily="18" charset="0"/>
                              <a:cs typeface="Times New Roman" panose="02020603050405020304" pitchFamily="18" charset="0"/>
                            </a:rPr>
                            <m:t>𝑦</m:t>
                          </m:r>
                        </m:e>
                      </m:d>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𝜃</m:t>
                          </m:r>
                        </m:sub>
                      </m:sSub>
                      <m:d>
                        <m:dPr>
                          <m:ctrlPr>
                            <a:rPr lang="en-IN" sz="2000" i="1">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latin typeface="Cambria Math" panose="02040503050406030204" pitchFamily="18" charset="0"/>
                              <a:ea typeface="Cambria Math" panose="02040503050406030204" pitchFamily="18" charset="0"/>
                              <a:cs typeface="Times New Roman" panose="02020603050405020304" pitchFamily="18" charset="0"/>
                            </a:rPr>
                            <m:t>𝑥</m:t>
                          </m:r>
                          <m:r>
                            <a:rPr lang="en-IN" sz="2000" i="1">
                              <a:latin typeface="Cambria Math" panose="02040503050406030204" pitchFamily="18" charset="0"/>
                              <a:ea typeface="Cambria Math" panose="02040503050406030204" pitchFamily="18" charset="0"/>
                              <a:cs typeface="Times New Roman" panose="02020603050405020304" pitchFamily="18" charset="0"/>
                            </a:rPr>
                            <m:t> </m:t>
                          </m:r>
                        </m:e>
                        <m:e>
                          <m:r>
                            <a:rPr lang="en-IN" sz="2000" i="1">
                              <a:latin typeface="Cambria Math" panose="02040503050406030204" pitchFamily="18" charset="0"/>
                              <a:ea typeface="Cambria Math" panose="02040503050406030204" pitchFamily="18" charset="0"/>
                              <a:cs typeface="Times New Roman" panose="02020603050405020304" pitchFamily="18" charset="0"/>
                            </a:rPr>
                            <m:t> </m:t>
                          </m:r>
                          <m:r>
                            <a:rPr lang="en-IN" sz="2000" i="1">
                              <a:latin typeface="Cambria Math" panose="02040503050406030204" pitchFamily="18" charset="0"/>
                              <a:ea typeface="Cambria Math" panose="02040503050406030204" pitchFamily="18" charset="0"/>
                              <a:cs typeface="Times New Roman" panose="02020603050405020304" pitchFamily="18" charset="0"/>
                            </a:rPr>
                            <m:t>𝑦</m:t>
                          </m:r>
                        </m:e>
                      </m:d>
                    </m:oMath>
                  </m:oMathPara>
                </a14:m>
                <a:endParaRPr lang="en-IN" sz="2000" dirty="0">
                  <a:latin typeface="Arial Narrow" panose="020B0606020202030204" pitchFamily="34" charset="0"/>
                  <a:ea typeface="Cambria Math" panose="02040503050406030204" pitchFamily="18" charset="0"/>
                  <a:cs typeface="Times New Roman" panose="02020603050405020304" pitchFamily="18" charset="0"/>
                </a:endParaRPr>
              </a:p>
              <a:p>
                <a:pPr marL="0" indent="0">
                  <a:buNone/>
                </a:pPr>
                <a:r>
                  <a:rPr lang="en-IN" sz="2000" dirty="0">
                    <a:latin typeface="Arial Narrow" panose="020B0606020202030204" pitchFamily="34" charset="0"/>
                    <a:ea typeface="Cambria Math" panose="02040503050406030204" pitchFamily="18" charset="0"/>
                    <a:cs typeface="Times New Roman" panose="02020603050405020304" pitchFamily="18" charset="0"/>
                  </a:rPr>
                  <a:t>  where </a:t>
                </a:r>
                <a14:m>
                  <m:oMath xmlns:m="http://schemas.openxmlformats.org/officeDocument/2006/math">
                    <m:r>
                      <a:rPr lang="en-IN" sz="2000" i="1">
                        <a:latin typeface="Cambria Math" panose="02040503050406030204" pitchFamily="18" charset="0"/>
                        <a:ea typeface="Cambria Math" panose="02040503050406030204" pitchFamily="18" charset="0"/>
                        <a:cs typeface="Times New Roman" panose="02020603050405020304" pitchFamily="18" charset="0"/>
                      </a:rPr>
                      <m:t>𝑝</m:t>
                    </m:r>
                    <m:r>
                      <a:rPr lang="en-IN" sz="2000" i="1">
                        <a:latin typeface="Cambria Math" panose="02040503050406030204" pitchFamily="18" charset="0"/>
                        <a:ea typeface="Cambria Math" panose="02040503050406030204" pitchFamily="18" charset="0"/>
                        <a:cs typeface="Times New Roman" panose="02020603050405020304" pitchFamily="18" charset="0"/>
                      </a:rPr>
                      <m:t>(</m:t>
                    </m:r>
                    <m:r>
                      <a:rPr lang="en-IN" sz="2000" i="1">
                        <a:latin typeface="Cambria Math" panose="02040503050406030204" pitchFamily="18" charset="0"/>
                        <a:ea typeface="Cambria Math" panose="02040503050406030204" pitchFamily="18" charset="0"/>
                        <a:cs typeface="Times New Roman" panose="02020603050405020304" pitchFamily="18" charset="0"/>
                      </a:rPr>
                      <m:t>𝑦</m:t>
                    </m:r>
                    <m:r>
                      <a:rPr lang="en-IN" sz="2000" i="1">
                        <a:latin typeface="Cambria Math" panose="02040503050406030204" pitchFamily="18" charset="0"/>
                        <a:ea typeface="Cambria Math" panose="02040503050406030204" pitchFamily="18" charset="0"/>
                        <a:cs typeface="Times New Roman" panose="02020603050405020304" pitchFamily="18" charset="0"/>
                      </a:rPr>
                      <m:t>)</m:t>
                    </m:r>
                  </m:oMath>
                </a14:m>
                <a:r>
                  <a:rPr lang="en-IN" sz="2000" dirty="0">
                    <a:latin typeface="Arial Narrow" panose="020B0606020202030204" pitchFamily="34" charset="0"/>
                    <a:ea typeface="Cambria Math" panose="02040503050406030204" pitchFamily="18" charset="0"/>
                    <a:cs typeface="Times New Roman" panose="02020603050405020304" pitchFamily="18" charset="0"/>
                  </a:rPr>
                  <a:t> is class prior and </a:t>
                </a:r>
                <a14:m>
                  <m:oMath xmlns:m="http://schemas.openxmlformats.org/officeDocument/2006/math">
                    <m:r>
                      <a:rPr lang="en-IN" sz="2000" i="1">
                        <a:latin typeface="Cambria Math" panose="02040503050406030204" pitchFamily="18" charset="0"/>
                        <a:ea typeface="Cambria Math" panose="02040503050406030204" pitchFamily="18" charset="0"/>
                        <a:cs typeface="Times New Roman" panose="02020603050405020304" pitchFamily="18" charset="0"/>
                      </a:rPr>
                      <m:t>𝑝</m:t>
                    </m:r>
                    <m:r>
                      <a:rPr lang="en-IN" sz="2000" i="1">
                        <a:latin typeface="Cambria Math" panose="02040503050406030204" pitchFamily="18" charset="0"/>
                        <a:ea typeface="Cambria Math" panose="02040503050406030204" pitchFamily="18" charset="0"/>
                        <a:cs typeface="Times New Roman" panose="02020603050405020304" pitchFamily="18" charset="0"/>
                      </a:rPr>
                      <m:t>(</m:t>
                    </m:r>
                    <m:r>
                      <a:rPr lang="en-IN" sz="2000" i="1">
                        <a:latin typeface="Cambria Math" panose="02040503050406030204" pitchFamily="18" charset="0"/>
                        <a:ea typeface="Cambria Math" panose="02040503050406030204" pitchFamily="18" charset="0"/>
                        <a:cs typeface="Times New Roman" panose="02020603050405020304" pitchFamily="18" charset="0"/>
                      </a:rPr>
                      <m:t>𝑥</m:t>
                    </m:r>
                    <m:r>
                      <a:rPr lang="en-IN" sz="2000" i="1">
                        <a:latin typeface="Cambria Math" panose="02040503050406030204" pitchFamily="18" charset="0"/>
                        <a:ea typeface="Cambria Math" panose="02040503050406030204" pitchFamily="18" charset="0"/>
                        <a:cs typeface="Times New Roman" panose="02020603050405020304" pitchFamily="18" charset="0"/>
                      </a:rPr>
                      <m:t>|</m:t>
                    </m:r>
                    <m:r>
                      <a:rPr lang="en-IN" sz="2000" i="1">
                        <a:latin typeface="Cambria Math" panose="02040503050406030204" pitchFamily="18" charset="0"/>
                        <a:ea typeface="Cambria Math" panose="02040503050406030204" pitchFamily="18" charset="0"/>
                        <a:cs typeface="Times New Roman" panose="02020603050405020304" pitchFamily="18" charset="0"/>
                      </a:rPr>
                      <m:t>𝑦</m:t>
                    </m:r>
                    <m:r>
                      <a:rPr lang="en-IN" sz="2000" i="1">
                        <a:latin typeface="Cambria Math" panose="02040503050406030204" pitchFamily="18" charset="0"/>
                        <a:ea typeface="Cambria Math" panose="02040503050406030204" pitchFamily="18" charset="0"/>
                        <a:cs typeface="Times New Roman" panose="02020603050405020304" pitchFamily="18" charset="0"/>
                      </a:rPr>
                      <m:t>)</m:t>
                    </m:r>
                  </m:oMath>
                </a14:m>
                <a:r>
                  <a:rPr lang="en-IN" sz="2000" dirty="0">
                    <a:latin typeface="Arial Narrow" panose="020B0606020202030204" pitchFamily="34" charset="0"/>
                    <a:ea typeface="Cambria Math" panose="02040503050406030204" pitchFamily="18" charset="0"/>
                    <a:cs typeface="Times New Roman" panose="02020603050405020304" pitchFamily="18" charset="0"/>
                  </a:rPr>
                  <a:t> class-conditional density</a:t>
                </a:r>
                <a:endParaRPr lang="en-IN" sz="2000" dirty="0">
                  <a:latin typeface="Arial Narrow" panose="020B0606020202030204" pitchFamily="34" charset="0"/>
                  <a:cs typeface="Times New Roman" panose="02020603050405020304" pitchFamily="18" charset="0"/>
                </a:endParaRPr>
              </a:p>
            </p:txBody>
          </p:sp>
        </mc:Choice>
        <mc:Fallback xmlns="">
          <p:sp>
            <p:nvSpPr>
              <p:cNvPr id="6" name="Text Placeholder 25">
                <a:extLst>
                  <a:ext uri="{FF2B5EF4-FFF2-40B4-BE49-F238E27FC236}">
                    <a16:creationId xmlns:a16="http://schemas.microsoft.com/office/drawing/2014/main" id="{1F300CE9-8AF8-433C-8106-8C917C14274B}"/>
                  </a:ext>
                </a:extLst>
              </p:cNvPr>
              <p:cNvSpPr txBox="1">
                <a:spLocks noRot="1" noChangeAspect="1" noMove="1" noResize="1" noEditPoints="1" noAdjustHandles="1" noChangeArrowheads="1" noChangeShapeType="1" noTextEdit="1"/>
              </p:cNvSpPr>
              <p:nvPr/>
            </p:nvSpPr>
            <p:spPr>
              <a:xfrm>
                <a:off x="5451417" y="2229157"/>
                <a:ext cx="6659897" cy="4349018"/>
              </a:xfrm>
              <a:prstGeom prst="rect">
                <a:avLst/>
              </a:prstGeom>
              <a:blipFill>
                <a:blip r:embed="rId2"/>
                <a:stretch>
                  <a:fillRect l="-823" t="-1543" b="-7153"/>
                </a:stretch>
              </a:blipFill>
            </p:spPr>
            <p:txBody>
              <a:bodyPr/>
              <a:lstStyle/>
              <a:p>
                <a:r>
                  <a:rPr lang="en-IN">
                    <a:noFill/>
                  </a:rPr>
                  <a:t> </a:t>
                </a:r>
              </a:p>
            </p:txBody>
          </p:sp>
        </mc:Fallback>
      </mc:AlternateContent>
      <p:sp>
        <p:nvSpPr>
          <p:cNvPr id="7" name="Title 3">
            <a:extLst>
              <a:ext uri="{FF2B5EF4-FFF2-40B4-BE49-F238E27FC236}">
                <a16:creationId xmlns:a16="http://schemas.microsoft.com/office/drawing/2014/main" id="{55F29FE0-C551-47EB-B3FB-DD07C429EB91}"/>
              </a:ext>
            </a:extLst>
          </p:cNvPr>
          <p:cNvSpPr txBox="1">
            <a:spLocks/>
          </p:cNvSpPr>
          <p:nvPr/>
        </p:nvSpPr>
        <p:spPr>
          <a:xfrm>
            <a:off x="686391" y="503386"/>
            <a:ext cx="8229600" cy="574423"/>
          </a:xfrm>
          <a:prstGeom prst="rect">
            <a:avLst/>
          </a:prstGeom>
        </p:spPr>
        <p:txBody>
          <a:bodyP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200" dirty="0">
                <a:latin typeface="Century" panose="02040604050505020304" pitchFamily="18" charset="0"/>
                <a:cs typeface="Times New Roman" panose="02020603050405020304" pitchFamily="18" charset="0"/>
              </a:rPr>
              <a:t>Discriminative vs. Generative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34FD7AA-D748-404B-B50E-F183A3835515}"/>
                  </a:ext>
                </a:extLst>
              </p:cNvPr>
              <p:cNvSpPr txBox="1"/>
              <p:nvPr/>
            </p:nvSpPr>
            <p:spPr>
              <a:xfrm>
                <a:off x="706055" y="1250950"/>
                <a:ext cx="4657164" cy="1384995"/>
              </a:xfrm>
              <a:prstGeom prst="rect">
                <a:avLst/>
              </a:prstGeom>
              <a:noFill/>
            </p:spPr>
            <p:txBody>
              <a:bodyPr wrap="square" rtlCol="0">
                <a:spAutoFit/>
              </a:bodyPr>
              <a:lstStyle/>
              <a:p>
                <a:pPr algn="just"/>
                <a:r>
                  <a:rPr lang="en-IN" sz="2000" dirty="0">
                    <a:latin typeface="Arial Narrow" panose="020B0606020202030204" pitchFamily="34" charset="0"/>
                    <a:cs typeface="Times New Roman" panose="02020603050405020304" pitchFamily="18" charset="0"/>
                  </a:rPr>
                  <a:t>Discriminative models are trained to find </a:t>
                </a:r>
                <a:r>
                  <a:rPr lang="en-IN" sz="2000" dirty="0">
                    <a:solidFill>
                      <a:srgbClr val="00B0F0"/>
                    </a:solidFill>
                    <a:latin typeface="Arial Narrow" panose="020B0606020202030204" pitchFamily="34" charset="0"/>
                    <a:cs typeface="Times New Roman" panose="02020603050405020304" pitchFamily="18" charset="0"/>
                  </a:rPr>
                  <a:t>conditional distribution </a:t>
                </a:r>
                <a:r>
                  <a:rPr lang="en-IN" sz="2000" dirty="0">
                    <a:latin typeface="Arial Narrow" panose="020B0606020202030204" pitchFamily="34" charset="0"/>
                    <a:cs typeface="Times New Roman" panose="02020603050405020304" pitchFamily="18" charset="0"/>
                  </a:rPr>
                  <a:t>i.e. </a:t>
                </a:r>
                <a14:m>
                  <m:oMath xmlns:m="http://schemas.openxmlformats.org/officeDocument/2006/math">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𝑝</m:t>
                        </m:r>
                      </m:e>
                      <m:sub>
                        <m:r>
                          <a:rPr lang="en-IN" sz="2000" i="1" dirty="0" smtClean="0">
                            <a:latin typeface="Cambria Math" panose="02040503050406030204" pitchFamily="18" charset="0"/>
                            <a:ea typeface="Cambria Math" panose="02040503050406030204" pitchFamily="18" charset="0"/>
                            <a:cs typeface="Times New Roman" panose="02020603050405020304" pitchFamily="18" charset="0"/>
                          </a:rPr>
                          <m:t>𝜃</m:t>
                        </m:r>
                      </m:sub>
                    </m:sSub>
                    <m:d>
                      <m:dPr>
                        <m:ctrlPr>
                          <a:rPr lang="en-IN" sz="2000" b="0" i="1" dirty="0" smtClean="0">
                            <a:latin typeface="Cambria Math" panose="02040503050406030204" pitchFamily="18" charset="0"/>
                            <a:cs typeface="Times New Roman" panose="02020603050405020304" pitchFamily="18" charset="0"/>
                          </a:rPr>
                        </m:ctrlPr>
                      </m:dPr>
                      <m:e>
                        <m:r>
                          <a:rPr lang="en-IN" sz="2000" b="0" i="1" dirty="0" smtClean="0">
                            <a:latin typeface="Cambria Math" panose="02040503050406030204" pitchFamily="18" charset="0"/>
                            <a:cs typeface="Times New Roman" panose="02020603050405020304" pitchFamily="18" charset="0"/>
                          </a:rPr>
                          <m:t>𝑦</m:t>
                        </m:r>
                      </m:e>
                      <m:e>
                        <m:r>
                          <a:rPr lang="en-IN" sz="2000" b="0" i="1" dirty="0" smtClean="0">
                            <a:latin typeface="Cambria Math" panose="02040503050406030204" pitchFamily="18" charset="0"/>
                            <a:cs typeface="Times New Roman" panose="02020603050405020304" pitchFamily="18" charset="0"/>
                          </a:rPr>
                          <m:t>𝑥</m:t>
                        </m:r>
                      </m:e>
                    </m:d>
                  </m:oMath>
                </a14:m>
                <a:r>
                  <a:rPr lang="en-IN" sz="2000" dirty="0">
                    <a:latin typeface="Arial Narrow" panose="020B0606020202030204" pitchFamily="34" charset="0"/>
                    <a:cs typeface="Times New Roman" panose="02020603050405020304" pitchFamily="18" charset="0"/>
                  </a:rPr>
                  <a:t> by maximizing </a:t>
                </a:r>
                <a14:m>
                  <m:oMath xmlns:m="http://schemas.openxmlformats.org/officeDocument/2006/math">
                    <m:nary>
                      <m:naryPr>
                        <m:chr m:val="∑"/>
                        <m:subHide m:val="on"/>
                        <m:supHide m:val="on"/>
                        <m:ctrlPr>
                          <a:rPr lang="en-IN" sz="2000" i="1" smtClean="0">
                            <a:latin typeface="Cambria Math" panose="02040503050406030204" pitchFamily="18" charset="0"/>
                            <a:cs typeface="Times New Roman" panose="02020603050405020304" pitchFamily="18" charset="0"/>
                          </a:rPr>
                        </m:ctrlPr>
                      </m:naryPr>
                      <m:sub/>
                      <m:sup/>
                      <m:e>
                        <m:func>
                          <m:funcPr>
                            <m:ctrlPr>
                              <a:rPr lang="en-IN" sz="2000" b="0" i="1" smtClean="0">
                                <a:latin typeface="Cambria Math" panose="02040503050406030204" pitchFamily="18" charset="0"/>
                                <a:cs typeface="Times New Roman" panose="02020603050405020304" pitchFamily="18" charset="0"/>
                              </a:rPr>
                            </m:ctrlPr>
                          </m:funcPr>
                          <m:fName>
                            <m:r>
                              <m:rPr>
                                <m:sty m:val="p"/>
                              </m:rPr>
                              <a:rPr lang="en-IN" sz="2000" b="0" i="0" smtClean="0">
                                <a:latin typeface="Cambria Math" panose="02040503050406030204" pitchFamily="18" charset="0"/>
                                <a:cs typeface="Times New Roman" panose="02020603050405020304" pitchFamily="18" charset="0"/>
                              </a:rPr>
                              <m:t>log</m:t>
                            </m:r>
                          </m:fName>
                          <m:e>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𝑝</m:t>
                                </m:r>
                              </m:e>
                              <m:sub>
                                <m:r>
                                  <a:rPr lang="en-IN" sz="2000" i="1" dirty="0" smtClean="0">
                                    <a:latin typeface="Cambria Math" panose="02040503050406030204" pitchFamily="18" charset="0"/>
                                    <a:ea typeface="Cambria Math" panose="02040503050406030204" pitchFamily="18" charset="0"/>
                                    <a:cs typeface="Times New Roman" panose="02020603050405020304" pitchFamily="18" charset="0"/>
                                  </a:rPr>
                                  <m:t>𝜃</m:t>
                                </m:r>
                              </m:sub>
                            </m:sSub>
                            <m:r>
                              <a:rPr lang="en-IN" sz="2000" b="0" i="1" smtClean="0">
                                <a:latin typeface="Cambria Math" panose="02040503050406030204" pitchFamily="18" charset="0"/>
                                <a:cs typeface="Times New Roman" panose="02020603050405020304" pitchFamily="18" charset="0"/>
                              </a:rPr>
                              <m:t>(</m:t>
                            </m:r>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𝑦</m:t>
                                </m:r>
                              </m:e>
                              <m:sub>
                                <m:r>
                                  <a:rPr lang="en-IN" sz="2000" b="0" i="1" smtClean="0">
                                    <a:latin typeface="Cambria Math" panose="02040503050406030204" pitchFamily="18" charset="0"/>
                                    <a:cs typeface="Times New Roman" panose="02020603050405020304" pitchFamily="18" charset="0"/>
                                  </a:rPr>
                                  <m:t>𝑖</m:t>
                                </m:r>
                              </m:sub>
                            </m:sSub>
                            <m:r>
                              <a:rPr lang="en-IN" sz="2000" b="0" i="1" smtClean="0">
                                <a:latin typeface="Cambria Math" panose="02040503050406030204" pitchFamily="18" charset="0"/>
                                <a:cs typeface="Times New Roman" panose="02020603050405020304" pitchFamily="18" charset="0"/>
                              </a:rPr>
                              <m:t>|</m:t>
                            </m:r>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𝑖</m:t>
                                </m:r>
                              </m:sub>
                            </m:sSub>
                            <m:r>
                              <a:rPr lang="en-IN" sz="2000" b="0" i="1" smtClean="0">
                                <a:latin typeface="Cambria Math" panose="02040503050406030204" pitchFamily="18" charset="0"/>
                                <a:cs typeface="Times New Roman" panose="02020603050405020304" pitchFamily="18" charset="0"/>
                              </a:rPr>
                              <m:t>)</m:t>
                            </m:r>
                          </m:e>
                        </m:func>
                      </m:e>
                    </m:nary>
                  </m:oMath>
                </a14:m>
                <a:endParaRPr lang="en-IN" sz="2000" dirty="0">
                  <a:latin typeface="Arial Narrow" panose="020B0606020202030204" pitchFamily="34"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434FD7AA-D748-404B-B50E-F183A3835515}"/>
                  </a:ext>
                </a:extLst>
              </p:cNvPr>
              <p:cNvSpPr txBox="1">
                <a:spLocks noRot="1" noChangeAspect="1" noMove="1" noResize="1" noEditPoints="1" noAdjustHandles="1" noChangeArrowheads="1" noChangeShapeType="1" noTextEdit="1"/>
              </p:cNvSpPr>
              <p:nvPr/>
            </p:nvSpPr>
            <p:spPr>
              <a:xfrm>
                <a:off x="706055" y="1250950"/>
                <a:ext cx="4657164" cy="1384995"/>
              </a:xfrm>
              <a:prstGeom prst="rect">
                <a:avLst/>
              </a:prstGeom>
              <a:blipFill>
                <a:blip r:embed="rId3"/>
                <a:stretch>
                  <a:fillRect l="-1440" t="-2203" r="-1309" b="-26872"/>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0699FBC5-6A40-4769-8945-1CE3825FFF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5394" y="5974268"/>
            <a:ext cx="422655" cy="422655"/>
          </a:xfrm>
          <a:prstGeom prst="rect">
            <a:avLst/>
          </a:prstGeom>
        </p:spPr>
      </p:pic>
      <p:cxnSp>
        <p:nvCxnSpPr>
          <p:cNvPr id="10" name="Straight Connector 9">
            <a:extLst>
              <a:ext uri="{FF2B5EF4-FFF2-40B4-BE49-F238E27FC236}">
                <a16:creationId xmlns:a16="http://schemas.microsoft.com/office/drawing/2014/main" id="{206C80BF-C273-441F-8323-9FD7BB2D8CB4}"/>
              </a:ext>
            </a:extLst>
          </p:cNvPr>
          <p:cNvCxnSpPr/>
          <p:nvPr/>
        </p:nvCxnSpPr>
        <p:spPr>
          <a:xfrm>
            <a:off x="1090619" y="2822007"/>
            <a:ext cx="3141683" cy="3071911"/>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A72809D-D585-4AF9-9CC6-9B9198F687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17200" y="4418512"/>
            <a:ext cx="593121" cy="654096"/>
          </a:xfrm>
          <a:prstGeom prst="rect">
            <a:avLst/>
          </a:prstGeom>
        </p:spPr>
      </p:pic>
      <p:pic>
        <p:nvPicPr>
          <p:cNvPr id="12" name="Picture 11">
            <a:extLst>
              <a:ext uri="{FF2B5EF4-FFF2-40B4-BE49-F238E27FC236}">
                <a16:creationId xmlns:a16="http://schemas.microsoft.com/office/drawing/2014/main" id="{D63190D8-FE79-43FC-8CB4-5D11F78589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53715" y="3023745"/>
            <a:ext cx="521907" cy="521907"/>
          </a:xfrm>
          <a:prstGeom prst="rect">
            <a:avLst/>
          </a:prstGeom>
        </p:spPr>
      </p:pic>
      <p:pic>
        <p:nvPicPr>
          <p:cNvPr id="13" name="Picture 12">
            <a:extLst>
              <a:ext uri="{FF2B5EF4-FFF2-40B4-BE49-F238E27FC236}">
                <a16:creationId xmlns:a16="http://schemas.microsoft.com/office/drawing/2014/main" id="{7445A887-411E-4C4F-8A0F-7D886347C7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0486" y="3583713"/>
            <a:ext cx="483229" cy="719592"/>
          </a:xfrm>
          <a:prstGeom prst="rect">
            <a:avLst/>
          </a:prstGeom>
        </p:spPr>
      </p:pic>
      <p:pic>
        <p:nvPicPr>
          <p:cNvPr id="14" name="Picture 13">
            <a:extLst>
              <a:ext uri="{FF2B5EF4-FFF2-40B4-BE49-F238E27FC236}">
                <a16:creationId xmlns:a16="http://schemas.microsoft.com/office/drawing/2014/main" id="{08A3E4A9-00DF-4721-8853-4D76532A57C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74243" y="3719353"/>
            <a:ext cx="583952" cy="583952"/>
          </a:xfrm>
          <a:prstGeom prst="rect">
            <a:avLst/>
          </a:prstGeom>
        </p:spPr>
      </p:pic>
      <p:pic>
        <p:nvPicPr>
          <p:cNvPr id="15" name="Picture 14">
            <a:extLst>
              <a:ext uri="{FF2B5EF4-FFF2-40B4-BE49-F238E27FC236}">
                <a16:creationId xmlns:a16="http://schemas.microsoft.com/office/drawing/2014/main" id="{2B465D7B-6DD9-42BC-9D0C-71C8A9A4048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91138" y="2665269"/>
            <a:ext cx="763731" cy="763731"/>
          </a:xfrm>
          <a:prstGeom prst="rect">
            <a:avLst/>
          </a:prstGeom>
        </p:spPr>
      </p:pic>
      <p:pic>
        <p:nvPicPr>
          <p:cNvPr id="16" name="Picture 15">
            <a:extLst>
              <a:ext uri="{FF2B5EF4-FFF2-40B4-BE49-F238E27FC236}">
                <a16:creationId xmlns:a16="http://schemas.microsoft.com/office/drawing/2014/main" id="{A25115F8-4FF4-447B-AB55-CDEAB55AAB9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989" y="3276837"/>
            <a:ext cx="704955" cy="537631"/>
          </a:xfrm>
          <a:prstGeom prst="rect">
            <a:avLst/>
          </a:prstGeom>
        </p:spPr>
      </p:pic>
      <p:pic>
        <p:nvPicPr>
          <p:cNvPr id="17" name="Picture 16">
            <a:extLst>
              <a:ext uri="{FF2B5EF4-FFF2-40B4-BE49-F238E27FC236}">
                <a16:creationId xmlns:a16="http://schemas.microsoft.com/office/drawing/2014/main" id="{EC5DEED3-B1C2-4089-BE13-785A7A0BDB1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38612" y="4944197"/>
            <a:ext cx="521907" cy="521907"/>
          </a:xfrm>
          <a:prstGeom prst="rect">
            <a:avLst/>
          </a:prstGeom>
        </p:spPr>
      </p:pic>
      <p:pic>
        <p:nvPicPr>
          <p:cNvPr id="18" name="Picture 17">
            <a:extLst>
              <a:ext uri="{FF2B5EF4-FFF2-40B4-BE49-F238E27FC236}">
                <a16:creationId xmlns:a16="http://schemas.microsoft.com/office/drawing/2014/main" id="{F009E74E-5DCF-4A7F-A072-81FA704F05D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35273" y="4028429"/>
            <a:ext cx="943784" cy="510572"/>
          </a:xfrm>
          <a:prstGeom prst="rect">
            <a:avLst/>
          </a:prstGeom>
        </p:spPr>
      </p:pic>
      <p:pic>
        <p:nvPicPr>
          <p:cNvPr id="19" name="Picture 18">
            <a:extLst>
              <a:ext uri="{FF2B5EF4-FFF2-40B4-BE49-F238E27FC236}">
                <a16:creationId xmlns:a16="http://schemas.microsoft.com/office/drawing/2014/main" id="{72032D41-1213-435B-9FA1-41DE2EBC33F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859041" y="4821818"/>
            <a:ext cx="572707" cy="530921"/>
          </a:xfrm>
          <a:prstGeom prst="rect">
            <a:avLst/>
          </a:prstGeom>
        </p:spPr>
      </p:pic>
      <p:pic>
        <p:nvPicPr>
          <p:cNvPr id="20" name="Picture 19">
            <a:extLst>
              <a:ext uri="{FF2B5EF4-FFF2-40B4-BE49-F238E27FC236}">
                <a16:creationId xmlns:a16="http://schemas.microsoft.com/office/drawing/2014/main" id="{E982DDEE-531A-40D3-9124-F99EED537F5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44959" y="4672647"/>
            <a:ext cx="790024" cy="392528"/>
          </a:xfrm>
          <a:prstGeom prst="rect">
            <a:avLst/>
          </a:prstGeom>
        </p:spPr>
      </p:pic>
      <p:sp>
        <p:nvSpPr>
          <p:cNvPr id="21" name="TextBox 20">
            <a:extLst>
              <a:ext uri="{FF2B5EF4-FFF2-40B4-BE49-F238E27FC236}">
                <a16:creationId xmlns:a16="http://schemas.microsoft.com/office/drawing/2014/main" id="{9AEF8B0F-B8B6-4B79-A7DD-94A15BB955F2}"/>
              </a:ext>
            </a:extLst>
          </p:cNvPr>
          <p:cNvSpPr txBox="1"/>
          <p:nvPr/>
        </p:nvSpPr>
        <p:spPr>
          <a:xfrm>
            <a:off x="5432607" y="1215090"/>
            <a:ext cx="6284555" cy="707886"/>
          </a:xfrm>
          <a:prstGeom prst="rect">
            <a:avLst/>
          </a:prstGeom>
          <a:noFill/>
        </p:spPr>
        <p:txBody>
          <a:bodyPr wrap="square" rtlCol="0">
            <a:spAutoFit/>
          </a:bodyPr>
          <a:lstStyle/>
          <a:p>
            <a:pPr algn="just"/>
            <a:r>
              <a:rPr lang="en-IN" sz="2000" dirty="0">
                <a:latin typeface="Arial Narrow" panose="020B0606020202030204" pitchFamily="34" charset="0"/>
                <a:cs typeface="Times New Roman" panose="02020603050405020304" pitchFamily="18" charset="0"/>
              </a:rPr>
              <a:t>Generative models are trained to </a:t>
            </a:r>
            <a:r>
              <a:rPr lang="en-IN" sz="2000" dirty="0">
                <a:solidFill>
                  <a:srgbClr val="00B0F0"/>
                </a:solidFill>
                <a:latin typeface="Arial Narrow" panose="020B0606020202030204" pitchFamily="34" charset="0"/>
                <a:cs typeface="Times New Roman" panose="02020603050405020304" pitchFamily="18" charset="0"/>
              </a:rPr>
              <a:t>generate samples from a distribution</a:t>
            </a:r>
            <a:r>
              <a:rPr lang="en-IN" sz="2000" dirty="0">
                <a:latin typeface="Arial Narrow" panose="020B0606020202030204" pitchFamily="34" charset="0"/>
                <a:cs typeface="Times New Roman" panose="02020603050405020304" pitchFamily="18" charset="0"/>
              </a:rPr>
              <a:t> which is </a:t>
            </a:r>
            <a:r>
              <a:rPr lang="en-IN" sz="2000" dirty="0">
                <a:solidFill>
                  <a:srgbClr val="00B0F0"/>
                </a:solidFill>
                <a:latin typeface="Arial Narrow" panose="020B0606020202030204" pitchFamily="34" charset="0"/>
                <a:cs typeface="Times New Roman" panose="02020603050405020304" pitchFamily="18" charset="0"/>
              </a:rPr>
              <a:t>similar to a given distribution</a:t>
            </a:r>
            <a:r>
              <a:rPr lang="en-IN" sz="2000" dirty="0">
                <a:latin typeface="Arial Narrow" panose="020B0606020202030204" pitchFamily="34" charset="0"/>
                <a:cs typeface="Times New Roman" panose="02020603050405020304" pitchFamily="18" charset="0"/>
              </a:rPr>
              <a:t>. Statistically,             </a:t>
            </a:r>
          </a:p>
        </p:txBody>
      </p:sp>
      <p:sp>
        <p:nvSpPr>
          <p:cNvPr id="24" name="Oval 23">
            <a:extLst>
              <a:ext uri="{FF2B5EF4-FFF2-40B4-BE49-F238E27FC236}">
                <a16:creationId xmlns:a16="http://schemas.microsoft.com/office/drawing/2014/main" id="{3535F26F-47FA-4732-8049-0C5A619E4BEB}"/>
              </a:ext>
            </a:extLst>
          </p:cNvPr>
          <p:cNvSpPr/>
          <p:nvPr/>
        </p:nvSpPr>
        <p:spPr>
          <a:xfrm>
            <a:off x="4061563" y="2742918"/>
            <a:ext cx="1075804" cy="61870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6D171B1B-002F-4A8C-A9C6-0C63DA9C8753}"/>
              </a:ext>
            </a:extLst>
          </p:cNvPr>
          <p:cNvSpPr txBox="1"/>
          <p:nvPr/>
        </p:nvSpPr>
        <p:spPr>
          <a:xfrm>
            <a:off x="4310899" y="2861707"/>
            <a:ext cx="720120" cy="338554"/>
          </a:xfrm>
          <a:prstGeom prst="rect">
            <a:avLst/>
          </a:prstGeom>
          <a:noFill/>
        </p:spPr>
        <p:txBody>
          <a:bodyPr wrap="square" rtlCol="0">
            <a:spAutoFit/>
          </a:bodyPr>
          <a:lstStyle/>
          <a:p>
            <a:r>
              <a:rPr lang="en-IN" sz="1600" dirty="0">
                <a:solidFill>
                  <a:srgbClr val="00B050"/>
                </a:solidFill>
                <a:latin typeface="Arial Narrow" panose="020B0606020202030204" pitchFamily="34" charset="0"/>
                <a:cs typeface="Times New Roman" panose="02020603050405020304" pitchFamily="18" charset="0"/>
              </a:rPr>
              <a:t>Dog</a:t>
            </a:r>
          </a:p>
        </p:txBody>
      </p:sp>
      <p:sp>
        <p:nvSpPr>
          <p:cNvPr id="26" name="Oval 25">
            <a:extLst>
              <a:ext uri="{FF2B5EF4-FFF2-40B4-BE49-F238E27FC236}">
                <a16:creationId xmlns:a16="http://schemas.microsoft.com/office/drawing/2014/main" id="{F28148DC-C3A8-4E4D-8C5E-39A95FE27212}"/>
              </a:ext>
            </a:extLst>
          </p:cNvPr>
          <p:cNvSpPr/>
          <p:nvPr/>
        </p:nvSpPr>
        <p:spPr>
          <a:xfrm>
            <a:off x="454441" y="5210379"/>
            <a:ext cx="1075804" cy="6174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424CC713-5187-4ABD-918B-A8C813DE8990}"/>
              </a:ext>
            </a:extLst>
          </p:cNvPr>
          <p:cNvSpPr txBox="1"/>
          <p:nvPr/>
        </p:nvSpPr>
        <p:spPr>
          <a:xfrm>
            <a:off x="741982" y="5221913"/>
            <a:ext cx="750787" cy="584775"/>
          </a:xfrm>
          <a:prstGeom prst="rect">
            <a:avLst/>
          </a:prstGeom>
          <a:noFill/>
        </p:spPr>
        <p:txBody>
          <a:bodyPr wrap="square" rtlCol="0">
            <a:spAutoFit/>
          </a:bodyPr>
          <a:lstStyle/>
          <a:p>
            <a:r>
              <a:rPr lang="en-IN" sz="1600" dirty="0">
                <a:solidFill>
                  <a:srgbClr val="FF0000"/>
                </a:solidFill>
                <a:latin typeface="Times New Roman" panose="02020603050405020304" pitchFamily="18" charset="0"/>
                <a:cs typeface="Times New Roman" panose="02020603050405020304" pitchFamily="18" charset="0"/>
              </a:rPr>
              <a:t>Non Dog</a:t>
            </a:r>
          </a:p>
        </p:txBody>
      </p:sp>
    </p:spTree>
    <p:extLst>
      <p:ext uri="{BB962C8B-B14F-4D97-AF65-F5344CB8AC3E}">
        <p14:creationId xmlns:p14="http://schemas.microsoft.com/office/powerpoint/2010/main" val="853350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77B3-BB0C-E8EF-D796-A0B6C8D4107F}"/>
              </a:ext>
            </a:extLst>
          </p:cNvPr>
          <p:cNvSpPr>
            <a:spLocks noGrp="1"/>
          </p:cNvSpPr>
          <p:nvPr>
            <p:ph type="title"/>
          </p:nvPr>
        </p:nvSpPr>
        <p:spPr/>
        <p:txBody>
          <a:bodyPr>
            <a:normAutofit/>
          </a:bodyPr>
          <a:lstStyle/>
          <a:p>
            <a:r>
              <a:rPr lang="en-US" sz="3600">
                <a:latin typeface="Century" panose="02040604050505020304" pitchFamily="18" charset="0"/>
                <a:ea typeface="Calibri Light"/>
                <a:cs typeface="Calibri Light"/>
              </a:rPr>
              <a:t>Summary</a:t>
            </a:r>
            <a:endParaRPr lang="en-US" sz="3600" dirty="0">
              <a:latin typeface="Century" panose="02040604050505020304" pitchFamily="18" charset="0"/>
              <a:ea typeface="Calibri Light"/>
              <a:cs typeface="Calibri Light"/>
            </a:endParaRPr>
          </a:p>
        </p:txBody>
      </p:sp>
      <p:sp>
        <p:nvSpPr>
          <p:cNvPr id="3" name="Content Placeholder 2">
            <a:extLst>
              <a:ext uri="{FF2B5EF4-FFF2-40B4-BE49-F238E27FC236}">
                <a16:creationId xmlns:a16="http://schemas.microsoft.com/office/drawing/2014/main" id="{79001286-9349-A4FD-CF1F-79D5D7F990F7}"/>
              </a:ext>
            </a:extLst>
          </p:cNvPr>
          <p:cNvSpPr>
            <a:spLocks noGrp="1"/>
          </p:cNvSpPr>
          <p:nvPr>
            <p:ph idx="1"/>
          </p:nvPr>
        </p:nvSpPr>
        <p:spPr/>
        <p:txBody>
          <a:bodyPr vert="horz" lIns="91440" tIns="45720" rIns="91440" bIns="45720" rtlCol="0" anchor="t">
            <a:normAutofit/>
          </a:bodyPr>
          <a:lstStyle/>
          <a:p>
            <a:r>
              <a:rPr lang="en-US" sz="2200" dirty="0">
                <a:latin typeface="Arial Narrow" panose="020B0606020202030204" pitchFamily="34" charset="0"/>
                <a:ea typeface="+mn-lt"/>
                <a:cs typeface="+mn-lt"/>
              </a:rPr>
              <a:t>Generative Modelling</a:t>
            </a:r>
          </a:p>
          <a:p>
            <a:endParaRPr lang="en-US" sz="2200" dirty="0">
              <a:latin typeface="Arial Narrow" panose="020B0606020202030204" pitchFamily="34" charset="0"/>
              <a:ea typeface="+mn-lt"/>
              <a:cs typeface="+mn-lt"/>
            </a:endParaRPr>
          </a:p>
          <a:p>
            <a:r>
              <a:rPr lang="en-IN" sz="2200" dirty="0">
                <a:latin typeface="Arial Narrow" panose="020B0606020202030204" pitchFamily="34" charset="0"/>
              </a:rPr>
              <a:t>Synthetic Data Generation</a:t>
            </a:r>
          </a:p>
          <a:p>
            <a:endParaRPr lang="en-IN" sz="2200" dirty="0">
              <a:latin typeface="Arial Narrow" panose="020B0606020202030204" pitchFamily="34" charset="0"/>
            </a:endParaRPr>
          </a:p>
          <a:p>
            <a:r>
              <a:rPr lang="en-IN" sz="2200" dirty="0">
                <a:latin typeface="Arial Narrow" panose="020B0606020202030204" pitchFamily="34" charset="0"/>
              </a:rPr>
              <a:t>Discriminative Learning </a:t>
            </a:r>
          </a:p>
          <a:p>
            <a:pPr marL="0" indent="0">
              <a:buNone/>
            </a:pPr>
            <a:endParaRPr lang="en-IN" sz="2200" dirty="0">
              <a:latin typeface="Arial Narrow" panose="020B0606020202030204" pitchFamily="34" charset="0"/>
            </a:endParaRPr>
          </a:p>
          <a:p>
            <a:r>
              <a:rPr lang="en-IN" sz="2200" dirty="0">
                <a:latin typeface="Arial Narrow" panose="020B0606020202030204" pitchFamily="34" charset="0"/>
              </a:rPr>
              <a:t>Generative Learning</a:t>
            </a:r>
          </a:p>
          <a:p>
            <a:endParaRPr lang="en-IN" sz="2200" dirty="0">
              <a:latin typeface="Arial Narrow" panose="020B0606020202030204" pitchFamily="34" charset="0"/>
            </a:endParaRPr>
          </a:p>
          <a:p>
            <a:r>
              <a:rPr lang="en-US" sz="2200" dirty="0">
                <a:latin typeface="Arial Narrow" panose="020B0606020202030204" pitchFamily="34" charset="0"/>
                <a:ea typeface="+mn-lt"/>
                <a:cs typeface="+mn-lt"/>
              </a:rPr>
              <a:t>Generative vs Discriminative Learning</a:t>
            </a:r>
          </a:p>
        </p:txBody>
      </p:sp>
    </p:spTree>
    <p:extLst>
      <p:ext uri="{BB962C8B-B14F-4D97-AF65-F5344CB8AC3E}">
        <p14:creationId xmlns:p14="http://schemas.microsoft.com/office/powerpoint/2010/main" val="672942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543688"/>
            <a:ext cx="9144000" cy="2387600"/>
          </a:xfrm>
        </p:spPr>
        <p:txBody>
          <a:bodyPr>
            <a:normAutofit/>
          </a:bodyPr>
          <a:lstStyle/>
          <a:p>
            <a:r>
              <a:rPr lang="en-IN" sz="4000" dirty="0">
                <a:solidFill>
                  <a:srgbClr val="002060"/>
                </a:solidFill>
                <a:latin typeface="Arial Narrow" panose="020B0606020202030204" pitchFamily="34" charset="0"/>
              </a:rPr>
              <a:t>Generative Vision Models</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1:Part 3</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17407</TotalTime>
  <Words>1996</Words>
  <Application>Microsoft Office PowerPoint</Application>
  <PresentationFormat>Widescreen</PresentationFormat>
  <Paragraphs>264</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Narrow</vt:lpstr>
      <vt:lpstr>Book Antiqua</vt:lpstr>
      <vt:lpstr>Calibri</vt:lpstr>
      <vt:lpstr>Calibri Light</vt:lpstr>
      <vt:lpstr>Cambria Math</vt:lpstr>
      <vt:lpstr>Century</vt:lpstr>
      <vt:lpstr>Times New Roman</vt:lpstr>
      <vt:lpstr>Office Theme</vt:lpstr>
      <vt:lpstr>Generative Modelling </vt:lpstr>
      <vt:lpstr>Content</vt:lpstr>
      <vt:lpstr>Generative Modelling</vt:lpstr>
      <vt:lpstr>Generative Modelling</vt:lpstr>
      <vt:lpstr>Why Synthetic Image Generation is required?</vt:lpstr>
      <vt:lpstr>Why synthetic data is needed?</vt:lpstr>
      <vt:lpstr>Why synthetic data is needed?</vt:lpstr>
      <vt:lpstr>Why synthetic data is needed</vt:lpstr>
      <vt:lpstr>Why synthetic data is needed</vt:lpstr>
      <vt:lpstr>Why synthetic data is needed</vt:lpstr>
      <vt:lpstr>Problems with Synthetic Data</vt:lpstr>
      <vt:lpstr>Learning Models</vt:lpstr>
      <vt:lpstr> Discriminative Learning Model </vt:lpstr>
      <vt:lpstr> Discriminative Learning Statistical Understanding </vt:lpstr>
      <vt:lpstr>PowerPoint Presentation</vt:lpstr>
      <vt:lpstr>Linear Regression</vt:lpstr>
      <vt:lpstr>Generative Modelling</vt:lpstr>
      <vt:lpstr>Generative Learning Statistical Understanding</vt:lpstr>
      <vt:lpstr>Generative Models (Statistically)</vt:lpstr>
      <vt:lpstr>PowerPoint Presentation</vt:lpstr>
      <vt:lpstr>PowerPoint Presentation</vt:lpstr>
      <vt:lpstr>PowerPoint Presentation</vt:lpstr>
      <vt:lpstr>Summary</vt:lpstr>
      <vt:lpstr>Generative Vision Models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Modelling</dc:title>
  <dc:creator>IITG</dc:creator>
  <cp:lastModifiedBy>HP</cp:lastModifiedBy>
  <cp:revision>55</cp:revision>
  <dcterms:created xsi:type="dcterms:W3CDTF">2026-06-04T04:25:01Z</dcterms:created>
  <dcterms:modified xsi:type="dcterms:W3CDTF">2026-07-08T09:06:25Z</dcterms:modified>
</cp:coreProperties>
</file>