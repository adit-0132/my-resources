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82" r:id="rId4"/>
    <p:sldId id="283" r:id="rId5"/>
    <p:sldId id="285" r:id="rId6"/>
    <p:sldId id="287" r:id="rId7"/>
    <p:sldId id="293" r:id="rId8"/>
    <p:sldId id="294" r:id="rId9"/>
    <p:sldId id="288" r:id="rId10"/>
    <p:sldId id="257" r:id="rId11"/>
    <p:sldId id="261" r:id="rId12"/>
    <p:sldId id="260" r:id="rId13"/>
    <p:sldId id="266" r:id="rId14"/>
    <p:sldId id="267" r:id="rId15"/>
    <p:sldId id="291" r:id="rId16"/>
    <p:sldId id="292" r:id="rId17"/>
    <p:sldId id="295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3932-0A31-4ADC-87D9-3AC15FF02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9C175-616F-49FE-B0D5-EEA16DA35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88F73-667F-4B5E-9082-3757234C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5B25D-F38A-4458-ABE7-7455C594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56318-AE0A-4467-A2F9-2DE889D6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58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0181-84D0-4058-A0A5-DA8438D7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7F5B-A8A1-45A0-803F-8635A2D5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E7FC-037E-434E-8774-F5DA2F1E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D6FD0-A4BA-4072-8CB2-CA7B4D20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B7F86-012A-4310-BD24-F935858D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8E46-3257-4095-8830-843CA55B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471B0-B57E-4472-AFE5-C8526E4DD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CE1E5-0C5E-4071-84C5-C6100486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6873-0AAC-4191-9702-F28F604F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4CB7-1EFB-49C5-9B56-D88D41B8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19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9257-8C3D-49E0-99B3-9B8072B61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3F9B-ADCB-4CCC-B00B-58D5A19E1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9DD5F-328F-4FA7-BA6D-91F26E984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977DD-2BB6-44D7-92CE-FD8CD0C4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AAD1-3C2C-40C3-84BE-44B3FAB7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66014-A199-4AA5-8DE0-460FA90B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37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241C-1352-4005-BEB7-FDC6DBB2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7EC7-5B3B-4359-894F-70E709866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4B0BF-0E86-4824-866F-B7CB5E4D0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841E1-C43D-42F3-8DD6-07470FE23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F38BE-0B51-4031-8F22-7A40EEE92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29AEA-D7AC-4769-97B7-0D3935E3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D2E37-532D-4993-B954-CB5F5819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88D2B-64F8-4AE0-A55C-5B1B0202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2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1FE2-9CB1-4E9E-9BAE-49654E31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98785-B543-4B87-9176-AFA5E039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A1B40-BC3D-4ED5-B978-AB78D1F9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5C62F-117F-412C-B9BD-3A98FABD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CD103-9C48-4684-9336-7BB5E81B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45CDD-40F1-4427-8869-D0D7B695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CF7BB-5AED-4243-BD69-14581D06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6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AF79-9F74-4940-97F0-86EF1502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2202B-F8D7-4EA1-B714-F711BEFE5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B2133-3A0F-44A4-9CBE-4E47F250F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1166B-F014-4986-94E7-958F88C6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222AF-8A68-4427-A384-674166BD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603D2-7C08-4C02-ACE0-32709BCE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87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FBAB-BE03-4598-B3C5-CDD1289B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04769-F5D2-4943-9C49-B00E800DA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A37BB-51CA-41D9-A97D-A6147DD93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6D625-27D2-4AB9-8D01-F52A2E2E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031E8-DA59-4657-BB69-AF6911C4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50334-111F-4657-8BB8-2549AB6D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57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F38B-D7AA-4938-AC33-7E5B2F39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6D07D-1BFA-4AA7-AE20-72969D7B4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67762-D8D5-495D-AEE9-447359A6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D958-CA51-4372-ADD4-D75E7CA2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EF41-1CE2-4B04-9179-E04E34A4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1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456E9-9981-4BB5-A531-2EB1FE141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8AA3A-F6A1-475A-B158-693F94165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0AE77-6711-4514-8FBE-F1DC096C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3420-6AEF-439C-A696-D9A4D067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D62AA-F0C7-4F8E-934C-53420AAD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7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1E75A-8984-4ECB-8DE8-73030235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6F582-11B5-4639-85E1-A09EF7EEB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A8E6E-8EE3-4E65-B24D-D28AAB168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AAF6C-C2C2-4682-ACC0-6B4988EDEB9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DCF14-3DE5-429B-817F-53E90A35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08780-77E5-4432-B9E5-1F74AC95C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C28FD-E596-4842-9F16-15A492D64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5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704462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Mathematical Preliminaries –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(</a:t>
            </a:r>
            <a:r>
              <a:rPr lang="en-IN" sz="3600" dirty="0">
                <a:solidFill>
                  <a:srgbClr val="002060"/>
                </a:solidFill>
                <a:latin typeface="Arial Narrow" panose="020B0606020202030204" pitchFamily="34" charset="0"/>
              </a:rPr>
              <a:t>Basic Probability - II</a:t>
            </a: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)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1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2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F12D-6A40-428B-8A86-E52B1B89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F38412-46DA-44F4-89B6-A0FBA85FD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rial Narrow" panose="020B0606020202030204" pitchFamily="34" charset="0"/>
              </a:rPr>
              <a:t>Joint Probability Distribution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Correlation and Covariance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Maximum Likelihood Estimation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Bayesian Learning 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36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C275-D329-436E-AA7C-A7458EE0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Joint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5480F-F92F-4174-A19E-1A50FCC31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Joint Probability Distribution (JPD) </a:t>
                </a:r>
                <a:r>
                  <a:rPr lang="en-US" sz="2000" dirty="0">
                    <a:latin typeface="Arial Narrow" panose="020B0606020202030204" pitchFamily="34" charset="0"/>
                  </a:rPr>
                  <a:t>describes the probability of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two or more random variables occurring together</a:t>
                </a:r>
                <a:r>
                  <a:rPr lang="en-US" sz="2000" dirty="0">
                    <a:latin typeface="Arial Narrow" panose="020B0606020202030204" pitchFamily="34" charset="0"/>
                  </a:rPr>
                  <a:t>. It gives the probability of every possible combination of values of the variables.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two events or random variables A and B, The joint probability is written as: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 represents the probability that both A and B occur simultaneously</a:t>
                </a: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For Independent Variables (when events A and B are independent):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For dependent variables (when events A and B are dependent):  </a:t>
                </a:r>
              </a:p>
              <a:p>
                <a:pPr marL="0" indent="0" algn="just">
                  <a:buNone/>
                </a:pPr>
                <a:r>
                  <a:rPr lang="en-IN" sz="2000" dirty="0">
                    <a:ea typeface="Cambria Math" panose="02040503050406030204" pitchFamily="18" charset="0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         or          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C5480F-F92F-4174-A19E-1A50FCC31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98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F793-D63D-4965-BE4A-BA01E26E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Marginal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FF86A-3817-4343-9490-E3A87C410A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5458"/>
                <a:ext cx="10515600" cy="47735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Marginal Probability Distribution is the probability distribution of one random variable, obtained by summing or integrating over the other variables in a joint probability distribution.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For discrete random variables: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X and Y are two random variables with joint probability distribution P(X,Y), then the marginal probability of X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Similarly, the marginal probability of 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continuous random variables, summation is replaced by integration: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FF86A-3817-4343-9490-E3A87C410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5458"/>
                <a:ext cx="10515600" cy="4773583"/>
              </a:xfrm>
              <a:blipFill>
                <a:blip r:embed="rId2"/>
                <a:stretch>
                  <a:fillRect l="-522" t="-1276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50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2641-1D40-4AEC-A0EA-020A344E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94BAE-21FF-4D8E-BC57-EAC3A4079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8585" y="1532326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Chain Rule of Probability </a:t>
                </a:r>
                <a:r>
                  <a:rPr lang="en-US" sz="2000" dirty="0">
                    <a:latin typeface="Arial Narrow" panose="020B0606020202030204" pitchFamily="34" charset="0"/>
                  </a:rPr>
                  <a:t>expresses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joint probability </a:t>
                </a:r>
                <a:r>
                  <a:rPr lang="en-US" sz="2000" dirty="0">
                    <a:latin typeface="Arial Narrow" panose="020B0606020202030204" pitchFamily="34" charset="0"/>
                  </a:rPr>
                  <a:t>of multiple random variables as a product of conditional probabilities. It is a fundamental concept in probability theory and machine learning.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N random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)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|</m:t>
                    </m:r>
                    <m:r>
                      <m:rPr>
                        <m:nor/>
                      </m:rPr>
                      <a:rPr lang="en-IN" sz="2000" dirty="0"/>
                      <m:t>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)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|</m:t>
                    </m:r>
                    <m:r>
                      <m:rPr>
                        <m:nor/>
                      </m:rPr>
                      <a:rPr lang="en-IN" sz="2000" dirty="0"/>
                      <m:t>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)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|</m:t>
                    </m:r>
                    <m:r>
                      <m:rPr>
                        <m:nor/>
                      </m:rPr>
                      <a:rPr lang="en-IN" sz="2000" dirty="0"/>
                      <m:t>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                  That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IN" sz="2000" dirty="0">
                              <a:latin typeface="Arial Narrow" panose="020B0606020202030204" pitchFamily="34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IN" sz="2000" dirty="0"/>
                            <m:t> 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IN" sz="2000" dirty="0">
                              <a:latin typeface="Arial Narrow" panose="020B0606020202030204" pitchFamily="34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chain rule is used to: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Break a complex joint probability into simpler conditional probabilities.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Build probabilistic models.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Develop machine learning algorithms such as Bayesian Networks, Hidden Markov Models (HMMs), and language models.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Form the basis for many generative learning methods.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94BAE-21FF-4D8E-BC57-EAC3A4079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8585" y="1532326"/>
                <a:ext cx="10515600" cy="4667250"/>
              </a:xfrm>
              <a:blipFill>
                <a:blip r:embed="rId2"/>
                <a:stretch>
                  <a:fillRect l="-522" t="-1305" r="-290" b="-16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87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BB37-9B42-460D-97C9-8F5D2F41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41AA06-7912-40FC-8B74-FD48087F9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Covariance</a:t>
                </a:r>
                <a:r>
                  <a:rPr lang="en-US" sz="2000" dirty="0">
                    <a:latin typeface="Arial Narrow" panose="020B0606020202030204" pitchFamily="34" charset="0"/>
                  </a:rPr>
                  <a:t> is a statistical measure that indicates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how two random variables change together.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both variables tend to increase or decrease together, the covariance is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positive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one variable tends to increase while the other decreases, the covariance is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negative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there is no consistent relationship, the covariance is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approximately zero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two random variables X and 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mean of 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e>
                    </m:d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mean of 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0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the expected value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a sample of n observations: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where: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=Sample mean of X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= Sample mean of 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41AA06-7912-40FC-8B74-FD48087F9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6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2168-C5A3-4BDB-8424-404A5E5E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Correlations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BB6E2-E15E-47FC-878B-6C52C32F1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2327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Correlation is a statistical measure that describes the strength and direction of the linear relationship between two variables.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Unlike covariance, correlation is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standardized</a:t>
                </a:r>
                <a:r>
                  <a:rPr lang="en-US" sz="2000" dirty="0">
                    <a:latin typeface="Arial Narrow" panose="020B0606020202030204" pitchFamily="34" charset="0"/>
                  </a:rPr>
                  <a:t>, so its value always lies between -1 and +1.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Pearson correlation coefficient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a sample, it is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∑"/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where: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=</a:t>
                </a:r>
                <a:r>
                  <a:rPr lang="en-US" sz="2000" dirty="0">
                    <a:latin typeface="Arial Narrow" panose="020B0606020202030204" pitchFamily="34" charset="0"/>
                  </a:rPr>
                  <a:t>covariance between X and 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=</a:t>
                </a:r>
                <a:r>
                  <a:rPr lang="en-US" sz="2000" dirty="0">
                    <a:latin typeface="Arial Narrow" panose="020B0606020202030204" pitchFamily="34" charset="0"/>
                  </a:rPr>
                  <a:t>standard deviations of X and Y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BB6E2-E15E-47FC-878B-6C52C32F1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2327"/>
                <a:ext cx="10515600" cy="4351338"/>
              </a:xfrm>
              <a:blipFill>
                <a:blip r:embed="rId2"/>
                <a:stretch>
                  <a:fillRect l="-522" t="-1401" r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76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F036-BA4B-47DD-BACE-7B76F68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77DA0E-D7EE-4F97-A404-53B792A76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Likelihood</a:t>
                </a:r>
                <a:r>
                  <a:rPr lang="en-US" sz="2000" dirty="0">
                    <a:latin typeface="Arial Narrow" panose="020B0606020202030204" pitchFamily="34" charset="0"/>
                  </a:rPr>
                  <a:t> is a measure of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how well a particular parameter value explains the observed data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It is a fundamental concept in statistics and machine learning and is the basis of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Maximum Likelihood Estimation (MLE)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Suppose: X = observed data, θ = parameter of a probability model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The likelihood function is: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where: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= likelihood of the parameter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= probability of observing the data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if the parameter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77DA0E-D7EE-4F97-A404-53B792A76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58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0D91-9CDA-469E-B81F-1385F1F5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Maximum Likelihood Estimation (MLE)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0990C-EC03-43C7-BB6F-C9550835D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84084"/>
                <a:ext cx="10686691" cy="4790835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Maximum Likelihood Estimation (MLE)</a:t>
                </a:r>
                <a:r>
                  <a:rPr lang="en-US" sz="2000" dirty="0">
                    <a:latin typeface="Arial Narrow" panose="020B0606020202030204" pitchFamily="34" charset="0"/>
                  </a:rPr>
                  <a:t> is a statistical method used to estimate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parameters of a probability distribution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from observed data. It chooses the parameter values that make the observed data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most likely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Let, Observed data: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a probability distribution with parameter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the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likelihood function </a:t>
                </a:r>
                <a:r>
                  <a:rPr lang="en-IN" sz="2000" dirty="0">
                    <a:latin typeface="Arial Narrow" panose="020B0606020202030204" pitchFamily="34" charset="0"/>
                  </a:rPr>
                  <a:t>is: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= likelihood of the parameter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= probability of observing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given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parameter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</a:t>
                </a:r>
              </a:p>
              <a:p>
                <a:pPr algn="just"/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Log Likelihood</a:t>
                </a:r>
                <a:r>
                  <a:rPr lang="en-US" sz="2000" dirty="0">
                    <a:latin typeface="Arial Narrow" panose="020B0606020202030204" pitchFamily="34" charset="0"/>
                  </a:rPr>
                  <a:t>: Since multiplying many probabilities can be difficult, we usually maximize the log-likelihood instead.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𝓁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Because the logarithm is a monotonically increasing function, maximizing the log-likelihood gives the same parameter estimate as maximizing the likelihood.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0990C-EC03-43C7-BB6F-C9550835D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84084"/>
                <a:ext cx="10686691" cy="4790835"/>
              </a:xfrm>
              <a:blipFill>
                <a:blip r:embed="rId2"/>
                <a:stretch>
                  <a:fillRect l="-456" t="-2036" r="-570" b="-2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22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538" y="373773"/>
            <a:ext cx="10515600" cy="64240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Bayes Theorem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5320" y="4479154"/>
            <a:ext cx="11336383" cy="213065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P(h)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= prior probability of hypothesis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h or </a:t>
            </a:r>
            <a:r>
              <a:rPr lang="en-US" altLang="en-US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class prior probability</a:t>
            </a:r>
            <a:endParaRPr lang="en-US" altLang="en-US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P(D)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= prior probability of training data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D or </a:t>
            </a:r>
            <a:r>
              <a:rPr lang="en-US" altLang="en-US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Predictor prior probability</a:t>
            </a:r>
            <a:endParaRPr lang="en-US" altLang="en-US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P(</a:t>
            </a:r>
            <a:r>
              <a:rPr lang="en-US" altLang="en-US" i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h|D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= probability of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given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D, it is called </a:t>
            </a:r>
            <a:r>
              <a:rPr lang="en-US" altLang="en-US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posterior probability</a:t>
            </a:r>
            <a:endParaRPr lang="en-US" altLang="en-US" i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P(</a:t>
            </a:r>
            <a:r>
              <a:rPr lang="en-US" altLang="en-US" i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D|h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= probability of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D</a:t>
            </a: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given </a:t>
            </a:r>
            <a:r>
              <a:rPr lang="en-US" altLang="en-US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h, or </a:t>
            </a:r>
            <a:r>
              <a:rPr lang="en-US" altLang="en-US" i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If the hypothesis is true, what is the likelihood of that data being generated</a:t>
            </a:r>
            <a:endParaRPr lang="en-US" altLang="en-US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>
            <p:extLst/>
          </p:nvPr>
        </p:nvGraphicFramePr>
        <p:xfrm>
          <a:off x="3962400" y="2225040"/>
          <a:ext cx="42672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1498320" imgH="419040" progId="Equation.3">
                  <p:embed/>
                </p:oleObj>
              </mc:Choice>
              <mc:Fallback>
                <p:oleObj name="Equation" r:id="rId3" imgW="1498320" imgH="419040" progId="Equation.3">
                  <p:embed/>
                  <p:pic>
                    <p:nvPicPr>
                      <p:cNvPr id="121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25040"/>
                        <a:ext cx="42672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265715" y="3402149"/>
            <a:ext cx="2207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posterior probability</a:t>
            </a:r>
            <a:endParaRPr lang="en-US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376057" y="3069771"/>
            <a:ext cx="209006" cy="34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0" y="1011853"/>
            <a:ext cx="4822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the likelihood of that data being generated if hypothesis h is true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9402" y="1239666"/>
            <a:ext cx="220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prior probability of hypothesis h</a:t>
            </a:r>
            <a:endParaRPr lang="en-US" i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06789" y="3440634"/>
            <a:ext cx="220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prior probability of training data D</a:t>
            </a:r>
            <a:endParaRPr lang="en-US" i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229600" y="1925670"/>
            <a:ext cx="1719944" cy="505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506789" y="3226526"/>
            <a:ext cx="252548" cy="214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353607" y="1442097"/>
            <a:ext cx="329581" cy="782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614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Can Bayes theorem be applied to find the suitable hypothesis?</a:t>
            </a:r>
          </a:p>
          <a:p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Maximum a Posteriori (MAP) is a probabilistic framework that finds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most probable hypothesis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that describes the training dataset.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8909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Bayesian Learning</a:t>
            </a:r>
            <a:endParaRPr lang="en-US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20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33252" y="339102"/>
            <a:ext cx="10515600" cy="730495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Choosing Hypotheses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797" y="1748540"/>
            <a:ext cx="11691256" cy="5109460"/>
          </a:xfrm>
        </p:spPr>
        <p:txBody>
          <a:bodyPr>
            <a:normAutofit lnSpcReduction="10000"/>
          </a:bodyPr>
          <a:lstStyle/>
          <a:p>
            <a:pPr algn="just"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Generally want the most probable hypothesis given the training data </a:t>
            </a:r>
            <a:r>
              <a:rPr lang="en-US" altLang="en-US" sz="2200" i="1" dirty="0">
                <a:solidFill>
                  <a:schemeClr val="hlin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Maximum a posteriori</a:t>
            </a:r>
            <a:r>
              <a:rPr lang="en-US" alt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 hypothesis </a:t>
            </a:r>
            <a:r>
              <a:rPr lang="en-US" altLang="en-US" sz="2200" i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US" altLang="en-US" sz="2200" i="1" baseline="-25000" dirty="0" err="1">
                <a:solidFill>
                  <a:schemeClr val="hlin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MAP</a:t>
            </a:r>
            <a:r>
              <a:rPr lang="en-US" alt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. In </a:t>
            </a:r>
            <a:r>
              <a:rPr lang="en-US" altLang="en-US" sz="2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otherwords</a:t>
            </a:r>
            <a:r>
              <a:rPr lang="en-US" alt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, the map hypothesis is given by that value of h for which probability h given data is maximized.</a:t>
            </a:r>
          </a:p>
          <a:p>
            <a:endParaRPr lang="en-US" altLang="en-US" sz="2400" dirty="0">
              <a:latin typeface="Arial Narrow" panose="020B0606020202030204" pitchFamily="34" charset="0"/>
            </a:endParaRPr>
          </a:p>
          <a:p>
            <a:endParaRPr lang="en-US" altLang="en-US" sz="2400" dirty="0">
              <a:latin typeface="Arial Narrow" panose="020B0606020202030204" pitchFamily="34" charset="0"/>
            </a:endParaRPr>
          </a:p>
          <a:p>
            <a:pPr>
              <a:buFontTx/>
              <a:buNone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>
              <a:buFontTx/>
              <a:buNone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If for all hypothesis functions, P(h)s are equal, i.e. we assume </a:t>
            </a:r>
            <a:r>
              <a:rPr lang="en-US" altLang="en-US" sz="24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P(h</a:t>
            </a:r>
            <a:r>
              <a:rPr lang="en-US" altLang="en-US" sz="2400" i="1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i</a:t>
            </a:r>
            <a:r>
              <a:rPr lang="en-US" altLang="en-US" sz="24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)=P(</a:t>
            </a:r>
            <a:r>
              <a:rPr lang="en-US" altLang="en-US" sz="2400" i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US" altLang="en-US" sz="2400" i="1" baseline="-250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</a:t>
            </a:r>
            <a:r>
              <a:rPr lang="en-US" altLang="en-US" sz="24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then can further simplify, and choose the </a:t>
            </a:r>
            <a:r>
              <a:rPr lang="en-US" altLang="en-US" sz="2400" i="1" dirty="0">
                <a:solidFill>
                  <a:schemeClr val="hlin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Maximum likelihood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(ML) hypothesis </a:t>
            </a:r>
          </a:p>
          <a:p>
            <a:pPr>
              <a:buFontTx/>
              <a:buNone/>
            </a:pPr>
            <a:endParaRPr lang="en-US" alt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                                            when the prior probability of the all hypothesis are equal. </a:t>
            </a:r>
            <a:endParaRPr lang="en-US" alt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>
            <p:extLst/>
          </p:nvPr>
        </p:nvGraphicFramePr>
        <p:xfrm>
          <a:off x="4724400" y="849123"/>
          <a:ext cx="32766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3" imgW="1498320" imgH="419040" progId="Equation.3">
                  <p:embed/>
                </p:oleObj>
              </mc:Choice>
              <mc:Fallback>
                <p:oleObj name="Equation" r:id="rId3" imgW="1498320" imgH="419040" progId="Equation.3">
                  <p:embed/>
                  <p:pic>
                    <p:nvPicPr>
                      <p:cNvPr id="1228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849123"/>
                        <a:ext cx="32766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>
            <p:extLst/>
          </p:nvPr>
        </p:nvGraphicFramePr>
        <p:xfrm>
          <a:off x="4403725" y="2700684"/>
          <a:ext cx="3327400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5" imgW="1777680" imgH="1002960" progId="Equation.3">
                  <p:embed/>
                </p:oleObj>
              </mc:Choice>
              <mc:Fallback>
                <p:oleObj name="Equation" r:id="rId5" imgW="1777680" imgH="1002960" progId="Equation.3">
                  <p:embed/>
                  <p:pic>
                    <p:nvPicPr>
                      <p:cNvPr id="1228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2700684"/>
                        <a:ext cx="3327400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/>
          <p:cNvGraphicFramePr>
            <a:graphicFrameLocks noChangeAspect="1"/>
          </p:cNvGraphicFramePr>
          <p:nvPr>
            <p:extLst/>
          </p:nvPr>
        </p:nvGraphicFramePr>
        <p:xfrm>
          <a:off x="4724400" y="5509508"/>
          <a:ext cx="26860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7" imgW="1434960" imgH="291960" progId="Equation.3">
                  <p:embed/>
                </p:oleObj>
              </mc:Choice>
              <mc:Fallback>
                <p:oleObj name="Equation" r:id="rId7" imgW="1434960" imgH="291960" progId="Equation.3">
                  <p:embed/>
                  <p:pic>
                    <p:nvPicPr>
                      <p:cNvPr id="1228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509508"/>
                        <a:ext cx="26860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8527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1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Bayes Optimal Classifier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94228"/>
            <a:ext cx="10515600" cy="5198647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So far, we have studied several fundamental concepts in probabilistic machine learning.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Bayes' Theorem </a:t>
            </a:r>
            <a:r>
              <a:rPr lang="en-GB" sz="2000" dirty="0">
                <a:latin typeface="Arial Narrow" panose="020B0606020202030204" pitchFamily="34" charset="0"/>
              </a:rPr>
              <a:t>provides a principled framework for computing conditional probabilities by updating prior beliefs in light of new evidence, resulting in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posterior probability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Building on this foundation,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Maximum a Posteriori (MAP)</a:t>
            </a:r>
            <a:r>
              <a:rPr lang="en-GB" sz="2000" dirty="0">
                <a:latin typeface="Arial Narrow" panose="020B0606020202030204" pitchFamily="34" charset="0"/>
              </a:rPr>
              <a:t> framework identifies the hypothesis that has the highest posterior probability given the training data, making it the most probable explanation for the observed dataset.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Extending this idea further,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Bayes Optimal Classifier </a:t>
            </a:r>
            <a:r>
              <a:rPr lang="en-GB" sz="2000" dirty="0">
                <a:latin typeface="Arial Narrow" panose="020B0606020202030204" pitchFamily="34" charset="0"/>
              </a:rPr>
              <a:t>considers the entire space of possible hypotheses and predicts the class label for a new data instance by combining their predictions according to their posterior probabilities.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As a result, it provides the theoretically optimal classification by minimizing the expected prediction error.</a:t>
            </a:r>
            <a:endParaRPr lang="en-US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3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4043"/>
            <a:ext cx="10515600" cy="100647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" panose="02040604050505020304" pitchFamily="18" charset="0"/>
                <a:cs typeface="Times New Roman" panose="02020603050405020304" pitchFamily="18" charset="0"/>
              </a:rPr>
              <a:t>Difference between MAP and Bayes Optimal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35280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MAP and MLE frameworks answer the following question:</a:t>
            </a:r>
          </a:p>
          <a:p>
            <a:pPr lvl="1"/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What is the most probable </a:t>
            </a:r>
            <a:r>
              <a:rPr lang="en-US" sz="2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hypothesis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given the training data?</a:t>
            </a:r>
          </a:p>
          <a:p>
            <a:r>
              <a:rPr lang="en-US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 Bayes optimal classifier answers</a:t>
            </a:r>
          </a:p>
          <a:p>
            <a:pPr lvl="1"/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What is the most probable </a:t>
            </a:r>
            <a:r>
              <a:rPr lang="en-US" sz="2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classification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of the new instance given the training data?</a:t>
            </a:r>
          </a:p>
          <a:p>
            <a:pPr lvl="1"/>
            <a:endParaRPr lang="en-US" sz="2000" b="1" i="1" dirty="0">
              <a:solidFill>
                <a:srgbClr val="00B0F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is different from the MAP framework that seeks the most probable hypothesis (model). Instead, we are interested in making a specific prediction.</a:t>
            </a:r>
          </a:p>
          <a:p>
            <a:pPr lvl="1"/>
            <a:r>
              <a:rPr lang="en-US" sz="2000" i="1" dirty="0">
                <a:solidFill>
                  <a:schemeClr val="accent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 general, the most probable classification of the new instance is obtained by combining the predictions of all hypotheses, weighted by their posterior probabilities.</a:t>
            </a:r>
            <a:endParaRPr lang="en-US" sz="2000" dirty="0">
              <a:solidFill>
                <a:schemeClr val="accent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639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1434" cy="474550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Let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three candidate hypothesis 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l-GR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ϵ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</a:t>
                </a:r>
              </a:p>
              <a:p>
                <a:endPara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Let 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 = 0.4,  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 = 0.3 and  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|D)=0.3</a:t>
                </a:r>
              </a:p>
              <a:p>
                <a:endPara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So,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is MAP hypothesis because it has maximum posterior probability</a:t>
                </a:r>
              </a:p>
              <a:p>
                <a:endPara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 consider a new data </a:t>
                </a:r>
                <a:r>
                  <a:rPr lang="en-US" sz="2000" dirty="0">
                    <a:solidFill>
                      <a:schemeClr val="accent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so that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(x) = +,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(x) = - and 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(x) = -</a:t>
                </a:r>
              </a:p>
              <a:p>
                <a:endPara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Question is what is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most probable classification 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of </a:t>
                </a:r>
                <a:r>
                  <a:rPr lang="en-US" sz="2000" dirty="0">
                    <a:solidFill>
                      <a:schemeClr val="accent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x?</a:t>
                </a:r>
              </a:p>
              <a:p>
                <a:endParaRPr lang="en-US" sz="2000" dirty="0">
                  <a:solidFill>
                    <a:schemeClr val="accent1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dirty="0">
                    <a:solidFill>
                      <a:schemeClr val="accent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most probable classification of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will be </a:t>
                </a:r>
                <a:r>
                  <a:rPr lang="en-US" sz="2000" dirty="0">
                    <a:solidFill>
                      <a:srgbClr val="FF000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negative</a:t>
                </a:r>
                <a:r>
                  <a:rPr lang="en-US" sz="2000" dirty="0">
                    <a:solidFill>
                      <a:schemeClr val="accent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as</a:t>
                </a:r>
                <a:r>
                  <a:rPr lang="en-US" sz="2000" dirty="0">
                    <a:solidFill>
                      <a:schemeClr val="accent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             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|D)+p(h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 &gt; p(h</a:t>
                </a:r>
                <a:r>
                  <a:rPr lang="en-US" sz="2000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|D)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1434" cy="4745504"/>
              </a:xfrm>
              <a:blipFill>
                <a:blip r:embed="rId2"/>
                <a:stretch>
                  <a:fillRect l="-502" t="-19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830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00317" y="6380164"/>
            <a:ext cx="4047565" cy="365125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latin typeface="Arial Narrow" panose="020B0606020202030204" pitchFamily="34" charset="0"/>
              </a:rPr>
              <a:t>Source: CS 8751 ML &amp; KDD, Bayesian Methods</a:t>
            </a:r>
          </a:p>
          <a:p>
            <a:endParaRPr lang="en-US" altLang="en-US" sz="1400" dirty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28098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Bayes Optimal Classifier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2339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Bayes optimal classification</a:t>
            </a:r>
          </a:p>
          <a:p>
            <a:endParaRPr lang="en-US" altLang="en-US" sz="1600" dirty="0">
              <a:latin typeface="Arial Narrow" panose="020B0606020202030204" pitchFamily="34" charset="0"/>
            </a:endParaRPr>
          </a:p>
          <a:p>
            <a:pPr>
              <a:buFontTx/>
              <a:buNone/>
            </a:pPr>
            <a:endParaRPr lang="en-US" altLang="en-US" sz="1600" dirty="0">
              <a:latin typeface="Arial Narrow" panose="020B0606020202030204" pitchFamily="34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P(h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|D)=.4, P(-|h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)=0, P(+|h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)=1 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P(h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|D)=.3, P(-|h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)=1, P(+|h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)=0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P(h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|D)=.3, P(-|h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)=1, P(+|h</a:t>
            </a:r>
            <a:r>
              <a:rPr lang="en-US" altLang="en-US" sz="2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)=0</a:t>
            </a: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therefore</a:t>
            </a:r>
          </a:p>
          <a:p>
            <a:pPr>
              <a:buFontTx/>
              <a:buNone/>
            </a:pPr>
            <a:endParaRPr lang="en-US" alt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en-US" sz="9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and</a:t>
            </a:r>
          </a:p>
          <a:p>
            <a:pPr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415" name="Object 4"/>
          <p:cNvGraphicFramePr>
            <a:graphicFrameLocks noChangeAspect="1"/>
          </p:cNvGraphicFramePr>
          <p:nvPr>
            <p:extLst/>
          </p:nvPr>
        </p:nvGraphicFramePr>
        <p:xfrm>
          <a:off x="3581400" y="1798867"/>
          <a:ext cx="36576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Equation" r:id="rId3" imgW="1816100" imgH="368300" progId="Equation.3">
                  <p:embed/>
                </p:oleObj>
              </mc:Choice>
              <mc:Fallback>
                <p:oleObj name="Equation" r:id="rId3" imgW="1816100" imgH="368300" progId="Equation.3">
                  <p:embed/>
                  <p:pic>
                    <p:nvPicPr>
                      <p:cNvPr id="174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798867"/>
                        <a:ext cx="36576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5"/>
          <p:cNvGraphicFramePr>
            <a:graphicFrameLocks noChangeAspect="1"/>
          </p:cNvGraphicFramePr>
          <p:nvPr/>
        </p:nvGraphicFramePr>
        <p:xfrm>
          <a:off x="2895601" y="5638801"/>
          <a:ext cx="419417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5" imgW="2082800" imgH="368300" progId="Equation.3">
                  <p:embed/>
                </p:oleObj>
              </mc:Choice>
              <mc:Fallback>
                <p:oleObj name="Equation" r:id="rId5" imgW="2082800" imgH="368300" progId="Equation.3">
                  <p:embed/>
                  <p:pic>
                    <p:nvPicPr>
                      <p:cNvPr id="174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5638801"/>
                        <a:ext cx="4194175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6"/>
          <p:cNvGraphicFramePr>
            <a:graphicFrameLocks noChangeAspect="1"/>
          </p:cNvGraphicFramePr>
          <p:nvPr/>
        </p:nvGraphicFramePr>
        <p:xfrm>
          <a:off x="2819400" y="4267201"/>
          <a:ext cx="25908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7" imgW="1536700" imgH="736600" progId="Equation.3">
                  <p:embed/>
                </p:oleObj>
              </mc:Choice>
              <mc:Fallback>
                <p:oleObj name="Equation" r:id="rId7" imgW="1536700" imgH="736600" progId="Equation.3">
                  <p:embed/>
                  <p:pic>
                    <p:nvPicPr>
                      <p:cNvPr id="1741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1"/>
                        <a:ext cx="259080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905205" y="1874837"/>
            <a:ext cx="4112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set of all possible classes</a:t>
            </a:r>
          </a:p>
        </p:txBody>
      </p:sp>
    </p:spTree>
    <p:extLst>
      <p:ext uri="{BB962C8B-B14F-4D97-AF65-F5344CB8AC3E}">
        <p14:creationId xmlns:p14="http://schemas.microsoft.com/office/powerpoint/2010/main" val="1332734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F12D-6A40-428B-8A86-E52B1B89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F38412-46DA-44F4-89B6-A0FBA85FD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Joint Probability Distribution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Correlation and Covariance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Maximum Likelihood Estimation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Bayesian Learning </a:t>
            </a:r>
          </a:p>
          <a:p>
            <a:pPr marL="0" indent="0">
              <a:buNone/>
            </a:pP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711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Neural Network Fundamentals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1559</Words>
  <Application>Microsoft Office PowerPoint</Application>
  <PresentationFormat>Widescreen</PresentationFormat>
  <Paragraphs>166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Equation</vt:lpstr>
      <vt:lpstr>   Mathematical Preliminaries – II (Basic Probability - II) </vt:lpstr>
      <vt:lpstr>Outline</vt:lpstr>
      <vt:lpstr>Joint Probability Distribution</vt:lpstr>
      <vt:lpstr>Marginal Probability Distribution</vt:lpstr>
      <vt:lpstr>Chain Rule</vt:lpstr>
      <vt:lpstr>Covariance</vt:lpstr>
      <vt:lpstr>Correlations</vt:lpstr>
      <vt:lpstr>Likelihood</vt:lpstr>
      <vt:lpstr>Maximum Likelihood Estimation (MLE)</vt:lpstr>
      <vt:lpstr>Bayes Theorem</vt:lpstr>
      <vt:lpstr>Bayesian Learning</vt:lpstr>
      <vt:lpstr>Choosing Hypotheses</vt:lpstr>
      <vt:lpstr>Bayes Optimal Classifier</vt:lpstr>
      <vt:lpstr>Difference between MAP and Bayes Optimal Classifier</vt:lpstr>
      <vt:lpstr>Example</vt:lpstr>
      <vt:lpstr>Bayes Optimal Classifier</vt:lpstr>
      <vt:lpstr>Summary</vt:lpstr>
      <vt:lpstr>Neural Network Fundamentals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Mathematical Preliminaries – II (Basic Probability) </dc:title>
  <dc:creator>IITG</dc:creator>
  <cp:lastModifiedBy>HP</cp:lastModifiedBy>
  <cp:revision>9</cp:revision>
  <dcterms:created xsi:type="dcterms:W3CDTF">2026-07-07T08:22:35Z</dcterms:created>
  <dcterms:modified xsi:type="dcterms:W3CDTF">2026-07-08T08:58:11Z</dcterms:modified>
</cp:coreProperties>
</file>